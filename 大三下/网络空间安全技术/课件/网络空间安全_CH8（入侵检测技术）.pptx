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4"/>
  </p:notesMasterIdLst>
  <p:sldIdLst>
    <p:sldId id="558" r:id="rId2"/>
    <p:sldId id="559" r:id="rId3"/>
    <p:sldId id="378" r:id="rId4"/>
    <p:sldId id="475" r:id="rId5"/>
    <p:sldId id="520" r:id="rId6"/>
    <p:sldId id="521" r:id="rId7"/>
    <p:sldId id="522" r:id="rId8"/>
    <p:sldId id="525" r:id="rId9"/>
    <p:sldId id="523" r:id="rId10"/>
    <p:sldId id="635" r:id="rId11"/>
    <p:sldId id="524" r:id="rId12"/>
    <p:sldId id="556" r:id="rId13"/>
    <p:sldId id="557" r:id="rId14"/>
    <p:sldId id="381" r:id="rId15"/>
    <p:sldId id="382" r:id="rId16"/>
    <p:sldId id="473" r:id="rId17"/>
    <p:sldId id="383" r:id="rId18"/>
    <p:sldId id="384" r:id="rId19"/>
    <p:sldId id="385" r:id="rId20"/>
    <p:sldId id="386" r:id="rId21"/>
    <p:sldId id="387" r:id="rId22"/>
    <p:sldId id="388" r:id="rId23"/>
    <p:sldId id="574" r:id="rId24"/>
    <p:sldId id="577" r:id="rId25"/>
    <p:sldId id="560" r:id="rId26"/>
    <p:sldId id="391" r:id="rId27"/>
    <p:sldId id="562" r:id="rId28"/>
    <p:sldId id="563" r:id="rId29"/>
    <p:sldId id="564" r:id="rId30"/>
    <p:sldId id="565" r:id="rId31"/>
    <p:sldId id="561" r:id="rId32"/>
    <p:sldId id="576" r:id="rId33"/>
    <p:sldId id="566" r:id="rId34"/>
    <p:sldId id="567" r:id="rId35"/>
    <p:sldId id="568" r:id="rId36"/>
    <p:sldId id="569" r:id="rId37"/>
    <p:sldId id="580" r:id="rId38"/>
    <p:sldId id="575" r:id="rId39"/>
    <p:sldId id="570" r:id="rId40"/>
    <p:sldId id="571" r:id="rId41"/>
    <p:sldId id="572" r:id="rId42"/>
    <p:sldId id="573" r:id="rId43"/>
    <p:sldId id="581" r:id="rId44"/>
    <p:sldId id="582" r:id="rId45"/>
    <p:sldId id="392" r:id="rId46"/>
    <p:sldId id="486" r:id="rId47"/>
    <p:sldId id="487" r:id="rId48"/>
    <p:sldId id="585" r:id="rId49"/>
    <p:sldId id="394" r:id="rId50"/>
    <p:sldId id="586" r:id="rId51"/>
    <p:sldId id="395" r:id="rId52"/>
    <p:sldId id="396" r:id="rId53"/>
    <p:sldId id="587" r:id="rId54"/>
    <p:sldId id="588" r:id="rId55"/>
    <p:sldId id="589" r:id="rId56"/>
    <p:sldId id="590" r:id="rId57"/>
    <p:sldId id="636" r:id="rId58"/>
    <p:sldId id="591" r:id="rId59"/>
    <p:sldId id="637" r:id="rId60"/>
    <p:sldId id="638" r:id="rId61"/>
    <p:sldId id="592" r:id="rId62"/>
    <p:sldId id="397" r:id="rId63"/>
    <p:sldId id="593" r:id="rId64"/>
    <p:sldId id="398" r:id="rId65"/>
    <p:sldId id="603" r:id="rId66"/>
    <p:sldId id="602" r:id="rId67"/>
    <p:sldId id="600" r:id="rId68"/>
    <p:sldId id="604" r:id="rId69"/>
    <p:sldId id="399" r:id="rId70"/>
    <p:sldId id="594" r:id="rId71"/>
    <p:sldId id="595" r:id="rId72"/>
    <p:sldId id="596" r:id="rId73"/>
    <p:sldId id="400" r:id="rId74"/>
    <p:sldId id="401" r:id="rId75"/>
    <p:sldId id="402" r:id="rId76"/>
    <p:sldId id="597" r:id="rId77"/>
    <p:sldId id="599" r:id="rId78"/>
    <p:sldId id="403" r:id="rId79"/>
    <p:sldId id="404" r:id="rId80"/>
    <p:sldId id="405" r:id="rId81"/>
    <p:sldId id="406" r:id="rId82"/>
    <p:sldId id="495" r:id="rId83"/>
    <p:sldId id="496" r:id="rId84"/>
    <p:sldId id="526" r:id="rId85"/>
    <p:sldId id="497" r:id="rId86"/>
    <p:sldId id="528" r:id="rId87"/>
    <p:sldId id="626" r:id="rId88"/>
    <p:sldId id="653" r:id="rId89"/>
    <p:sldId id="615" r:id="rId90"/>
    <p:sldId id="531" r:id="rId91"/>
    <p:sldId id="628" r:id="rId92"/>
    <p:sldId id="627" r:id="rId93"/>
    <p:sldId id="634" r:id="rId94"/>
    <p:sldId id="629" r:id="rId95"/>
    <p:sldId id="630" r:id="rId96"/>
    <p:sldId id="642" r:id="rId97"/>
    <p:sldId id="654" r:id="rId98"/>
    <p:sldId id="655" r:id="rId99"/>
    <p:sldId id="656" r:id="rId100"/>
    <p:sldId id="657" r:id="rId101"/>
    <p:sldId id="643" r:id="rId102"/>
    <p:sldId id="644" r:id="rId103"/>
    <p:sldId id="645" r:id="rId104"/>
    <p:sldId id="648" r:id="rId105"/>
    <p:sldId id="649" r:id="rId106"/>
    <p:sldId id="650" r:id="rId107"/>
    <p:sldId id="652" r:id="rId108"/>
    <p:sldId id="658" r:id="rId109"/>
    <p:sldId id="651" r:id="rId110"/>
    <p:sldId id="632" r:id="rId111"/>
    <p:sldId id="659" r:id="rId112"/>
    <p:sldId id="660" r:id="rId113"/>
    <p:sldId id="661" r:id="rId114"/>
    <p:sldId id="639" r:id="rId115"/>
    <p:sldId id="640" r:id="rId116"/>
    <p:sldId id="641" r:id="rId117"/>
    <p:sldId id="662" r:id="rId118"/>
    <p:sldId id="633" r:id="rId119"/>
    <p:sldId id="616" r:id="rId120"/>
    <p:sldId id="533" r:id="rId121"/>
    <p:sldId id="534" r:id="rId122"/>
    <p:sldId id="535" r:id="rId123"/>
    <p:sldId id="621" r:id="rId124"/>
    <p:sldId id="622" r:id="rId125"/>
    <p:sldId id="624" r:id="rId126"/>
    <p:sldId id="504" r:id="rId127"/>
    <p:sldId id="505" r:id="rId128"/>
    <p:sldId id="506" r:id="rId129"/>
    <p:sldId id="507" r:id="rId130"/>
    <p:sldId id="508" r:id="rId131"/>
    <p:sldId id="509" r:id="rId132"/>
    <p:sldId id="510" r:id="rId133"/>
    <p:sldId id="511" r:id="rId134"/>
    <p:sldId id="512" r:id="rId135"/>
    <p:sldId id="513" r:id="rId136"/>
    <p:sldId id="514" r:id="rId137"/>
    <p:sldId id="515" r:id="rId138"/>
    <p:sldId id="516" r:id="rId139"/>
    <p:sldId id="517" r:id="rId140"/>
    <p:sldId id="518" r:id="rId141"/>
    <p:sldId id="606" r:id="rId142"/>
    <p:sldId id="607" r:id="rId143"/>
    <p:sldId id="608" r:id="rId144"/>
    <p:sldId id="609" r:id="rId145"/>
    <p:sldId id="611" r:id="rId146"/>
    <p:sldId id="612" r:id="rId147"/>
    <p:sldId id="613" r:id="rId148"/>
    <p:sldId id="614" r:id="rId149"/>
    <p:sldId id="407" r:id="rId150"/>
    <p:sldId id="408" r:id="rId151"/>
    <p:sldId id="409" r:id="rId152"/>
    <p:sldId id="605" r:id="rId153"/>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0033CC"/>
    <a:srgbClr val="ECEEE4"/>
    <a:srgbClr val="008000"/>
    <a:srgbClr val="808080"/>
    <a:srgbClr val="5F5F5F"/>
    <a:srgbClr val="FFCC00"/>
    <a:srgbClr val="3399FF"/>
    <a:srgbClr val="66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37" autoAdjust="0"/>
    <p:restoredTop sz="78659" autoAdjust="0"/>
  </p:normalViewPr>
  <p:slideViewPr>
    <p:cSldViewPr>
      <p:cViewPr varScale="1">
        <p:scale>
          <a:sx n="89" d="100"/>
          <a:sy n="89" d="100"/>
        </p:scale>
        <p:origin x="2337" y="42"/>
      </p:cViewPr>
      <p:guideLst>
        <p:guide orient="horz" pos="2160"/>
        <p:guide pos="2880"/>
      </p:guideLst>
    </p:cSldViewPr>
  </p:slideViewPr>
  <p:outlineViewPr>
    <p:cViewPr>
      <p:scale>
        <a:sx n="33" d="100"/>
        <a:sy n="33" d="100"/>
      </p:scale>
      <p:origin x="18" y="66168"/>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Lst>
  </p:outlineViewPr>
  <p:notesTextViewPr>
    <p:cViewPr>
      <p:scale>
        <a:sx n="100" d="100"/>
        <a:sy n="100" d="100"/>
      </p:scale>
      <p:origin x="0" y="0"/>
    </p:cViewPr>
  </p:notesTextViewPr>
  <p:sorterViewPr>
    <p:cViewPr>
      <p:scale>
        <a:sx n="66" d="100"/>
        <a:sy n="66" d="100"/>
      </p:scale>
      <p:origin x="0" y="0"/>
    </p:cViewPr>
  </p:sorterViewPr>
  <p:gridSpacing cx="36004" cy="36004"/>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presProps" Target="pres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notesMaster" Target="notesMasters/notesMaster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_rels/viewProps.xml.rels><?xml version="1.0" encoding="UTF-8" standalone="yes"?>
<Relationships xmlns="http://schemas.openxmlformats.org/package/2006/relationships"><Relationship Id="rId13" Type="http://schemas.openxmlformats.org/officeDocument/2006/relationships/slide" Target="slides/slide41.xml"/><Relationship Id="rId18" Type="http://schemas.openxmlformats.org/officeDocument/2006/relationships/slide" Target="slides/slide126.xml"/><Relationship Id="rId26" Type="http://schemas.openxmlformats.org/officeDocument/2006/relationships/slide" Target="slides/slide134.xml"/><Relationship Id="rId3" Type="http://schemas.openxmlformats.org/officeDocument/2006/relationships/slide" Target="slides/slide28.xml"/><Relationship Id="rId21" Type="http://schemas.openxmlformats.org/officeDocument/2006/relationships/slide" Target="slides/slide129.xml"/><Relationship Id="rId7" Type="http://schemas.openxmlformats.org/officeDocument/2006/relationships/slide" Target="slides/slide33.xml"/><Relationship Id="rId12" Type="http://schemas.openxmlformats.org/officeDocument/2006/relationships/slide" Target="slides/slide40.xml"/><Relationship Id="rId17" Type="http://schemas.openxmlformats.org/officeDocument/2006/relationships/slide" Target="slides/slide85.xml"/><Relationship Id="rId25" Type="http://schemas.openxmlformats.org/officeDocument/2006/relationships/slide" Target="slides/slide133.xml"/><Relationship Id="rId33" Type="http://schemas.openxmlformats.org/officeDocument/2006/relationships/slide" Target="slides/slide145.xml"/><Relationship Id="rId2" Type="http://schemas.openxmlformats.org/officeDocument/2006/relationships/slide" Target="slides/slide27.xml"/><Relationship Id="rId16" Type="http://schemas.openxmlformats.org/officeDocument/2006/relationships/slide" Target="slides/slide83.xml"/><Relationship Id="rId20" Type="http://schemas.openxmlformats.org/officeDocument/2006/relationships/slide" Target="slides/slide128.xml"/><Relationship Id="rId29" Type="http://schemas.openxmlformats.org/officeDocument/2006/relationships/slide" Target="slides/slide137.xml"/><Relationship Id="rId1" Type="http://schemas.openxmlformats.org/officeDocument/2006/relationships/slide" Target="slides/slide25.xml"/><Relationship Id="rId6" Type="http://schemas.openxmlformats.org/officeDocument/2006/relationships/slide" Target="slides/slide31.xml"/><Relationship Id="rId11" Type="http://schemas.openxmlformats.org/officeDocument/2006/relationships/slide" Target="slides/slide39.xml"/><Relationship Id="rId24" Type="http://schemas.openxmlformats.org/officeDocument/2006/relationships/slide" Target="slides/slide132.xml"/><Relationship Id="rId32" Type="http://schemas.openxmlformats.org/officeDocument/2006/relationships/slide" Target="slides/slide140.xml"/><Relationship Id="rId5" Type="http://schemas.openxmlformats.org/officeDocument/2006/relationships/slide" Target="slides/slide30.xml"/><Relationship Id="rId15" Type="http://schemas.openxmlformats.org/officeDocument/2006/relationships/slide" Target="slides/slide82.xml"/><Relationship Id="rId23" Type="http://schemas.openxmlformats.org/officeDocument/2006/relationships/slide" Target="slides/slide131.xml"/><Relationship Id="rId28" Type="http://schemas.openxmlformats.org/officeDocument/2006/relationships/slide" Target="slides/slide136.xml"/><Relationship Id="rId10" Type="http://schemas.openxmlformats.org/officeDocument/2006/relationships/slide" Target="slides/slide36.xml"/><Relationship Id="rId19" Type="http://schemas.openxmlformats.org/officeDocument/2006/relationships/slide" Target="slides/slide127.xml"/><Relationship Id="rId31" Type="http://schemas.openxmlformats.org/officeDocument/2006/relationships/slide" Target="slides/slide139.xml"/><Relationship Id="rId4" Type="http://schemas.openxmlformats.org/officeDocument/2006/relationships/slide" Target="slides/slide29.xml"/><Relationship Id="rId9" Type="http://schemas.openxmlformats.org/officeDocument/2006/relationships/slide" Target="slides/slide35.xml"/><Relationship Id="rId14" Type="http://schemas.openxmlformats.org/officeDocument/2006/relationships/slide" Target="slides/slide42.xml"/><Relationship Id="rId22" Type="http://schemas.openxmlformats.org/officeDocument/2006/relationships/slide" Target="slides/slide130.xml"/><Relationship Id="rId27" Type="http://schemas.openxmlformats.org/officeDocument/2006/relationships/slide" Target="slides/slide135.xml"/><Relationship Id="rId30" Type="http://schemas.openxmlformats.org/officeDocument/2006/relationships/slide" Target="slides/slide138.xml"/><Relationship Id="rId8"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wmf"/><Relationship Id="rId6" Type="http://schemas.openxmlformats.org/officeDocument/2006/relationships/image" Target="../media/image7.wmf"/><Relationship Id="rId5" Type="http://schemas.openxmlformats.org/officeDocument/2006/relationships/image" Target="../media/image6.png"/><Relationship Id="rId4" Type="http://schemas.openxmlformats.org/officeDocument/2006/relationships/image" Target="../media/image5.png"/></Relationships>
</file>

<file path=ppt/drawings/_rels/vmlDrawing2.v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image" Target="../media/image59.emf"/><Relationship Id="rId1" Type="http://schemas.openxmlformats.org/officeDocument/2006/relationships/image" Target="../media/image58.emf"/><Relationship Id="rId4" Type="http://schemas.openxmlformats.org/officeDocument/2006/relationships/image" Target="../media/image6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p:cNvSpPr>
            <a:spLocks noGrp="1" noChangeArrowheads="1"/>
          </p:cNvSpPr>
          <p:nvPr>
            <p:ph type="hdr" sz="quarter"/>
          </p:nvPr>
        </p:nvSpPr>
        <p:spPr bwMode="auto">
          <a:xfrm>
            <a:off x="0" y="0"/>
            <a:ext cx="3170238" cy="479425"/>
          </a:xfrm>
          <a:prstGeom prst="rect">
            <a:avLst/>
          </a:prstGeom>
          <a:noFill/>
          <a:ln w="9525">
            <a:noFill/>
            <a:miter lim="800000"/>
          </a:ln>
          <a:effectLst/>
        </p:spPr>
        <p:txBody>
          <a:bodyPr vert="horz" wrap="square" lIns="91440" tIns="45720" rIns="91440" bIns="45720" numCol="1" anchor="t" anchorCtr="0" compatLnSpc="1"/>
          <a:lstStyle>
            <a:lvl1pPr>
              <a:defRPr sz="1200">
                <a:latin typeface="Arial" panose="020B0604020202020204" pitchFamily="34" charset="0"/>
                <a:ea typeface="+mn-ea"/>
              </a:defRPr>
            </a:lvl1pPr>
          </a:lstStyle>
          <a:p>
            <a:pPr>
              <a:defRPr/>
            </a:pPr>
            <a:endParaRPr lang="zh-CN" altLang="en-US"/>
          </a:p>
        </p:txBody>
      </p:sp>
      <p:sp>
        <p:nvSpPr>
          <p:cNvPr id="159747" name="Rectangle 3"/>
          <p:cNvSpPr>
            <a:spLocks noGrp="1" noChangeArrowheads="1"/>
          </p:cNvSpPr>
          <p:nvPr>
            <p:ph type="dt" idx="1"/>
          </p:nvPr>
        </p:nvSpPr>
        <p:spPr bwMode="auto">
          <a:xfrm>
            <a:off x="4143375" y="0"/>
            <a:ext cx="3170238" cy="479425"/>
          </a:xfrm>
          <a:prstGeom prst="rect">
            <a:avLst/>
          </a:prstGeom>
          <a:noFill/>
          <a:ln w="9525">
            <a:noFill/>
            <a:miter lim="800000"/>
          </a:ln>
          <a:effectLst/>
        </p:spPr>
        <p:txBody>
          <a:bodyPr vert="horz" wrap="square" lIns="91440" tIns="45720" rIns="91440" bIns="45720" numCol="1" anchor="t" anchorCtr="0" compatLnSpc="1"/>
          <a:lstStyle>
            <a:lvl1pPr algn="r">
              <a:defRPr sz="1200">
                <a:latin typeface="Arial" panose="020B0604020202020204" pitchFamily="34" charset="0"/>
                <a:ea typeface="+mn-ea"/>
              </a:defRPr>
            </a:lvl1pPr>
          </a:lstStyle>
          <a:p>
            <a:pPr>
              <a:defRPr/>
            </a:pPr>
            <a:endParaRPr lang="en-US" altLang="zh-CN"/>
          </a:p>
        </p:txBody>
      </p:sp>
      <p:sp>
        <p:nvSpPr>
          <p:cNvPr id="102404"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ln>
        </p:spPr>
      </p:sp>
      <p:sp>
        <p:nvSpPr>
          <p:cNvPr id="159749" name="Rectangle 5"/>
          <p:cNvSpPr>
            <a:spLocks noGrp="1" noChangeArrowheads="1"/>
          </p:cNvSpPr>
          <p:nvPr>
            <p:ph type="body" sz="quarter" idx="3"/>
          </p:nvPr>
        </p:nvSpPr>
        <p:spPr bwMode="auto">
          <a:xfrm>
            <a:off x="731838" y="4560888"/>
            <a:ext cx="5851525" cy="4319587"/>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59750" name="Rectangle 6"/>
          <p:cNvSpPr>
            <a:spLocks noGrp="1" noChangeArrowheads="1"/>
          </p:cNvSpPr>
          <p:nvPr>
            <p:ph type="ftr" sz="quarter" idx="4"/>
          </p:nvPr>
        </p:nvSpPr>
        <p:spPr bwMode="auto">
          <a:xfrm>
            <a:off x="0" y="9120188"/>
            <a:ext cx="3170238" cy="479425"/>
          </a:xfrm>
          <a:prstGeom prst="rect">
            <a:avLst/>
          </a:prstGeom>
          <a:noFill/>
          <a:ln w="9525">
            <a:noFill/>
            <a:miter lim="800000"/>
          </a:ln>
          <a:effectLst/>
        </p:spPr>
        <p:txBody>
          <a:bodyPr vert="horz" wrap="square" lIns="91440" tIns="45720" rIns="91440" bIns="45720" numCol="1" anchor="b" anchorCtr="0" compatLnSpc="1"/>
          <a:lstStyle>
            <a:lvl1pPr>
              <a:defRPr sz="1200">
                <a:latin typeface="Arial" panose="020B0604020202020204" pitchFamily="34" charset="0"/>
                <a:ea typeface="+mn-ea"/>
              </a:defRPr>
            </a:lvl1pPr>
          </a:lstStyle>
          <a:p>
            <a:pPr>
              <a:defRPr/>
            </a:pPr>
            <a:endParaRPr lang="en-US" altLang="zh-CN"/>
          </a:p>
        </p:txBody>
      </p:sp>
      <p:sp>
        <p:nvSpPr>
          <p:cNvPr id="159751" name="Rectangle 7"/>
          <p:cNvSpPr>
            <a:spLocks noGrp="1" noChangeArrowheads="1"/>
          </p:cNvSpPr>
          <p:nvPr>
            <p:ph type="sldNum" sz="quarter" idx="5"/>
          </p:nvPr>
        </p:nvSpPr>
        <p:spPr bwMode="auto">
          <a:xfrm>
            <a:off x="4143375" y="9120188"/>
            <a:ext cx="3170238" cy="479425"/>
          </a:xfrm>
          <a:prstGeom prst="rect">
            <a:avLst/>
          </a:prstGeom>
          <a:noFill/>
          <a:ln w="9525">
            <a:noFill/>
            <a:miter lim="800000"/>
          </a:ln>
          <a:effectLst/>
        </p:spPr>
        <p:txBody>
          <a:bodyPr vert="horz" wrap="square" lIns="91440" tIns="45720" rIns="91440" bIns="45720" numCol="1" anchor="b" anchorCtr="0" compatLnSpc="1"/>
          <a:lstStyle>
            <a:lvl1pPr algn="r">
              <a:defRPr sz="1200">
                <a:latin typeface="Arial" panose="020B0604020202020204" pitchFamily="34" charset="0"/>
                <a:ea typeface="+mn-ea"/>
              </a:defRPr>
            </a:lvl1pPr>
          </a:lstStyle>
          <a:p>
            <a:pPr>
              <a:defRPr/>
            </a:pPr>
            <a:fld id="{B487D939-5749-4C63-8AED-0305FE88E523}" type="slidenum">
              <a:rPr lang="zh-CN" altLang="en-US"/>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3" Type="http://schemas.openxmlformats.org/officeDocument/2006/relationships/hyperlink" Target="http://www.shenmeshi.com/Computer/Computer_20090312145821.html" TargetMode="External"/><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87D939-5749-4C63-8AED-0305FE88E523}" type="slidenum">
              <a:rPr lang="zh-CN" altLang="en-US" smtClean="0"/>
              <a:t>2</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B487D939-5749-4C63-8AED-0305FE88E523}" type="slidenum">
              <a:rPr lang="zh-CN" altLang="en-US" smtClean="0"/>
              <a:t>10</a:t>
            </a:fld>
            <a:endParaRPr lang="en-US" altLang="zh-CN"/>
          </a:p>
        </p:txBody>
      </p:sp>
    </p:spTree>
    <p:extLst>
      <p:ext uri="{BB962C8B-B14F-4D97-AF65-F5344CB8AC3E}">
        <p14:creationId xmlns:p14="http://schemas.microsoft.com/office/powerpoint/2010/main" val="42312305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Rot="1" noChangeAspect="1" noChangeArrowheads="1" noTextEdit="1"/>
          </p:cNvSpPr>
          <p:nvPr>
            <p:ph type="sldImg"/>
          </p:nvPr>
        </p:nvSpPr>
        <p:spPr/>
      </p:sp>
      <p:sp>
        <p:nvSpPr>
          <p:cNvPr id="120835" name="Rectangle 3"/>
          <p:cNvSpPr>
            <a:spLocks noGrp="1" noChangeArrowheads="1"/>
          </p:cNvSpPr>
          <p:nvPr>
            <p:ph type="body" idx="1"/>
          </p:nvPr>
        </p:nvSpPr>
        <p:spPr>
          <a:noFill/>
        </p:spPr>
        <p:txBody>
          <a:bodyPr/>
          <a:lstStyle/>
          <a:p>
            <a:pPr eaLnBrk="1" hangingPunct="1">
              <a:spcBef>
                <a:spcPct val="0"/>
              </a:spcBef>
            </a:pPr>
            <a:r>
              <a:rPr lang="zh-CN" altLang="en-US"/>
              <a:t>在介绍入侵检测系统前先来了解一些背景知识</a:t>
            </a:r>
          </a:p>
          <a:p>
            <a:pPr eaLnBrk="1" hangingPunct="1">
              <a:spcBef>
                <a:spcPct val="0"/>
              </a:spcBef>
            </a:pPr>
            <a:r>
              <a:rPr lang="zh-CN" altLang="en-US"/>
              <a:t>网络入侵</a:t>
            </a:r>
            <a:r>
              <a:rPr lang="en-US" altLang="zh-CN"/>
              <a:t>(hacking)</a:t>
            </a:r>
            <a:r>
              <a:rPr lang="zh-CN" altLang="en-US"/>
              <a:t>通常是指具有熟练地编写和调试计算机程序的技巧</a:t>
            </a:r>
            <a:r>
              <a:rPr lang="en-US" altLang="zh-CN"/>
              <a:t>,</a:t>
            </a:r>
            <a:r>
              <a:rPr lang="zh-CN" altLang="en-US"/>
              <a:t>并使用这些技巧来获得非法或未授权的网络或文件访问</a:t>
            </a:r>
            <a:r>
              <a:rPr lang="en-US" altLang="zh-CN"/>
              <a:t>,</a:t>
            </a:r>
            <a:r>
              <a:rPr lang="zh-CN" altLang="en-US"/>
              <a:t>入侵进入公司内部网的行为。早先对计算机的非授权访问称为破解</a:t>
            </a:r>
            <a:r>
              <a:rPr lang="en-US" altLang="zh-CN"/>
              <a:t>(cracking),</a:t>
            </a:r>
            <a:r>
              <a:rPr lang="zh-CN" altLang="en-US"/>
              <a:t>而</a:t>
            </a:r>
            <a:r>
              <a:rPr lang="en-US" altLang="zh-CN"/>
              <a:t>hacking</a:t>
            </a:r>
            <a:r>
              <a:rPr lang="zh-CN" altLang="en-US"/>
              <a:t>则指那些熟练运用计算机的高手对计算机技术的运用。而随着时间的推移</a:t>
            </a:r>
            <a:r>
              <a:rPr lang="en-US" altLang="zh-CN"/>
              <a:t>,</a:t>
            </a:r>
            <a:r>
              <a:rPr lang="zh-CN" altLang="en-US"/>
              <a:t>媒体宣传导致了</a:t>
            </a:r>
            <a:r>
              <a:rPr lang="en-US" altLang="zh-CN"/>
              <a:t>hacking</a:t>
            </a:r>
            <a:r>
              <a:rPr lang="zh-CN" altLang="en-US"/>
              <a:t>变成了入侵的含义。</a:t>
            </a:r>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Rot="1" noChangeAspect="1" noChangeArrowheads="1" noTextEdit="1"/>
          </p:cNvSpPr>
          <p:nvPr>
            <p:ph type="sldImg"/>
          </p:nvPr>
        </p:nvSpPr>
        <p:spPr/>
      </p:sp>
      <p:sp>
        <p:nvSpPr>
          <p:cNvPr id="121859" name="Rectangle 3"/>
          <p:cNvSpPr>
            <a:spLocks noGrp="1" noChangeArrowheads="1"/>
          </p:cNvSpPr>
          <p:nvPr>
            <p:ph type="body" idx="1"/>
          </p:nvPr>
        </p:nvSpPr>
        <p:spPr>
          <a:noFill/>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B487D939-5749-4C63-8AED-0305FE88E523}" type="slidenum">
              <a:rPr lang="zh-CN" altLang="en-US" smtClean="0"/>
              <a:t>16</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Rot="1" noChangeAspect="1" noChangeArrowheads="1" noTextEdit="1"/>
          </p:cNvSpPr>
          <p:nvPr>
            <p:ph type="sldImg"/>
          </p:nvPr>
        </p:nvSpPr>
        <p:spPr/>
      </p:sp>
      <p:sp>
        <p:nvSpPr>
          <p:cNvPr id="122883" name="Rectangle 3"/>
          <p:cNvSpPr>
            <a:spLocks noGrp="1" noChangeArrowheads="1"/>
          </p:cNvSpPr>
          <p:nvPr>
            <p:ph type="body" idx="1"/>
          </p:nvPr>
        </p:nvSpPr>
        <p:spPr>
          <a:noFill/>
        </p:spPr>
        <p:txBody>
          <a:bodyPr/>
          <a:lstStyle/>
          <a:p>
            <a:r>
              <a:rPr lang="zh-CN" altLang="en-US" dirty="0"/>
              <a:t>在深度防御的安全架构中要想做到防止入侵要从三个方面着手。</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Rot="1" noChangeAspect="1" noChangeArrowheads="1" noTextEdit="1"/>
          </p:cNvSpPr>
          <p:nvPr>
            <p:ph type="sldImg"/>
          </p:nvPr>
        </p:nvSpPr>
        <p:spPr/>
      </p:sp>
      <p:sp>
        <p:nvSpPr>
          <p:cNvPr id="123907" name="Rectangle 3"/>
          <p:cNvSpPr>
            <a:spLocks noGrp="1" noChangeArrowheads="1"/>
          </p:cNvSpPr>
          <p:nvPr>
            <p:ph type="body" idx="1"/>
          </p:nvPr>
        </p:nvSpPr>
        <p:spPr>
          <a:noFill/>
        </p:spPr>
        <p:txBody>
          <a:bodyPr/>
          <a:lstStyle/>
          <a:p>
            <a:r>
              <a:rPr lang="zh-CN" altLang="en-US"/>
              <a:t>防火墙做为第一道安全屏障仍存在许多不足</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Rot="1" noChangeAspect="1" noChangeArrowheads="1" noTextEdit="1"/>
          </p:cNvSpPr>
          <p:nvPr>
            <p:ph type="sldImg"/>
          </p:nvPr>
        </p:nvSpPr>
        <p:spPr/>
      </p:sp>
      <p:sp>
        <p:nvSpPr>
          <p:cNvPr id="124931" name="Rectangle 3"/>
          <p:cNvSpPr>
            <a:spLocks noGrp="1" noChangeArrowheads="1"/>
          </p:cNvSpPr>
          <p:nvPr>
            <p:ph type="body" idx="1"/>
          </p:nvPr>
        </p:nvSpPr>
        <p:spPr>
          <a:noFill/>
        </p:spPr>
        <p:txBody>
          <a:bodyPr/>
          <a:lstStyle/>
          <a:p>
            <a:r>
              <a:rPr lang="zh-CN" altLang="en-US"/>
              <a:t>对于入侵行为需要做到实时发现并将其阻断。防火墙只能阻止某些攻击而不是全部</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Rot="1" noChangeAspect="1" noChangeArrowheads="1" noTextEdit="1"/>
          </p:cNvSpPr>
          <p:nvPr>
            <p:ph type="sldImg"/>
          </p:nvPr>
        </p:nvSpPr>
        <p:spPr/>
      </p:sp>
      <p:sp>
        <p:nvSpPr>
          <p:cNvPr id="125955" name="Rectangle 3"/>
          <p:cNvSpPr>
            <a:spLocks noGrp="1" noChangeArrowheads="1"/>
          </p:cNvSpPr>
          <p:nvPr>
            <p:ph type="body" idx="1"/>
          </p:nvPr>
        </p:nvSpPr>
        <p:spPr>
          <a:noFill/>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Rot="1" noChangeAspect="1" noChangeArrowheads="1" noTextEdit="1"/>
          </p:cNvSpPr>
          <p:nvPr>
            <p:ph type="sldImg"/>
          </p:nvPr>
        </p:nvSpPr>
        <p:spPr/>
      </p:sp>
      <p:sp>
        <p:nvSpPr>
          <p:cNvPr id="126979" name="Rectangle 3"/>
          <p:cNvSpPr>
            <a:spLocks noGrp="1" noChangeArrowheads="1"/>
          </p:cNvSpPr>
          <p:nvPr>
            <p:ph type="body" idx="1"/>
          </p:nvPr>
        </p:nvSpPr>
        <p:spPr>
          <a:noFill/>
        </p:spPr>
        <p:txBody>
          <a:bodyPr/>
          <a:lstStyle/>
          <a:p>
            <a:r>
              <a:rPr lang="zh-CN" altLang="en-US" dirty="0"/>
              <a:t>有了以上的背景知识以后，让我们来认识什么是入侵检测系统，它在安全框架中所起作用。</a:t>
            </a:r>
          </a:p>
          <a:p>
            <a:pPr>
              <a:spcBef>
                <a:spcPct val="20000"/>
              </a:spcBef>
              <a:buClr>
                <a:srgbClr val="3399FF"/>
              </a:buClr>
              <a:buFont typeface="Wingdings" panose="05000000000000000000" pitchFamily="2" charset="2"/>
              <a:buNone/>
            </a:pPr>
            <a:r>
              <a:rPr lang="zh-CN" altLang="en-US" b="1" dirty="0"/>
              <a:t>入侵检测是一项重要的安全监控技术</a:t>
            </a:r>
            <a:r>
              <a:rPr lang="en-US" altLang="zh-CN" b="1" dirty="0"/>
              <a:t>,</a:t>
            </a:r>
            <a:r>
              <a:rPr lang="zh-CN" altLang="en-US" b="1" dirty="0"/>
              <a:t>其目的是识别系统中入侵者的非授权使用及系统合法用户的滥用行为</a:t>
            </a:r>
            <a:r>
              <a:rPr lang="en-US" altLang="zh-CN" b="1" dirty="0"/>
              <a:t>,</a:t>
            </a:r>
            <a:r>
              <a:rPr lang="zh-CN" altLang="en-US" b="1" dirty="0"/>
              <a:t>尽量发现系统因软件错误、认证模块的失效、不适当的系统管理而引起的安全性缺陷并采取相应的补救措施。</a:t>
            </a:r>
          </a:p>
          <a:p>
            <a:pPr>
              <a:spcBef>
                <a:spcPct val="20000"/>
              </a:spcBef>
              <a:buClr>
                <a:srgbClr val="3399FF"/>
              </a:buClr>
              <a:buFont typeface="Wingdings" panose="05000000000000000000" pitchFamily="2" charset="2"/>
              <a:buChar char="v"/>
            </a:pPr>
            <a:r>
              <a:rPr lang="zh-CN" altLang="en-US" b="1" dirty="0"/>
              <a:t>作为防火墙的补充</a:t>
            </a:r>
          </a:p>
          <a:p>
            <a:pPr>
              <a:spcBef>
                <a:spcPct val="20000"/>
              </a:spcBef>
              <a:buClr>
                <a:srgbClr val="3399FF"/>
              </a:buClr>
              <a:buFont typeface="Wingdings" panose="05000000000000000000" pitchFamily="2" charset="2"/>
              <a:buChar char="v"/>
            </a:pPr>
            <a:r>
              <a:rPr lang="zh-CN" altLang="en-US" b="1" dirty="0"/>
              <a:t>检测来自内部网络的攻击</a:t>
            </a:r>
          </a:p>
          <a:p>
            <a:pPr>
              <a:spcBef>
                <a:spcPct val="20000"/>
              </a:spcBef>
              <a:buClr>
                <a:srgbClr val="3399FF"/>
              </a:buClr>
              <a:buFont typeface="Wingdings" panose="05000000000000000000" pitchFamily="2" charset="2"/>
              <a:buNone/>
            </a:pPr>
            <a:endParaRPr lang="zh-CN" altLang="en-US" b="1" dirty="0"/>
          </a:p>
          <a:p>
            <a:pPr>
              <a:spcBef>
                <a:spcPct val="20000"/>
              </a:spcBef>
              <a:buClr>
                <a:srgbClr val="3399FF"/>
              </a:buClr>
              <a:buFont typeface="Wingdings" panose="05000000000000000000" pitchFamily="2" charset="2"/>
              <a:buNone/>
            </a:pPr>
            <a:endParaRPr lang="zh-CN" altLang="en-US" b="1" dirty="0"/>
          </a:p>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幻灯片图像占位符 1"/>
          <p:cNvSpPr>
            <a:spLocks noGrp="1" noRot="1" noChangeAspect="1" noTextEdit="1"/>
          </p:cNvSpPr>
          <p:nvPr>
            <p:ph type="sldImg"/>
          </p:nvPr>
        </p:nvSpPr>
        <p:spPr/>
      </p:sp>
      <p:sp>
        <p:nvSpPr>
          <p:cNvPr id="1064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650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8055">
              <a:defRPr sz="2400">
                <a:solidFill>
                  <a:schemeClr val="tx1"/>
                </a:solidFill>
                <a:latin typeface="Times New Roman" panose="02020603050405020304" pitchFamily="18" charset="0"/>
                <a:ea typeface="宋体" panose="02010600030101010101" pitchFamily="2" charset="-122"/>
              </a:defRPr>
            </a:lvl1pPr>
            <a:lvl2pPr marL="742950" indent="-285750" defTabSz="948055">
              <a:defRPr sz="2400">
                <a:solidFill>
                  <a:schemeClr val="tx1"/>
                </a:solidFill>
                <a:latin typeface="Times New Roman" panose="02020603050405020304" pitchFamily="18" charset="0"/>
                <a:ea typeface="宋体" panose="02010600030101010101" pitchFamily="2" charset="-122"/>
              </a:defRPr>
            </a:lvl2pPr>
            <a:lvl3pPr marL="1143000" indent="-228600" defTabSz="948055">
              <a:defRPr sz="2400">
                <a:solidFill>
                  <a:schemeClr val="tx1"/>
                </a:solidFill>
                <a:latin typeface="Times New Roman" panose="02020603050405020304" pitchFamily="18" charset="0"/>
                <a:ea typeface="宋体" panose="02010600030101010101" pitchFamily="2" charset="-122"/>
              </a:defRPr>
            </a:lvl3pPr>
            <a:lvl4pPr marL="1600200" indent="-228600" defTabSz="948055">
              <a:defRPr sz="2400">
                <a:solidFill>
                  <a:schemeClr val="tx1"/>
                </a:solidFill>
                <a:latin typeface="Times New Roman" panose="02020603050405020304" pitchFamily="18" charset="0"/>
                <a:ea typeface="宋体" panose="02010600030101010101" pitchFamily="2" charset="-122"/>
              </a:defRPr>
            </a:lvl4pPr>
            <a:lvl5pPr marL="2057400" indent="-228600" defTabSz="948055">
              <a:defRPr sz="2400">
                <a:solidFill>
                  <a:schemeClr val="tx1"/>
                </a:solidFill>
                <a:latin typeface="Times New Roman" panose="02020603050405020304" pitchFamily="18" charset="0"/>
                <a:ea typeface="宋体" panose="02010600030101010101" pitchFamily="2" charset="-122"/>
              </a:defRPr>
            </a:lvl5pPr>
            <a:lvl6pPr marL="25146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fld id="{360C8E8A-6B09-4D1A-8636-FC53FD1EBB75}" type="slidenum">
              <a:rPr lang="zh-CN" altLang="en-US" sz="1200"/>
              <a:t>24</a:t>
            </a:fld>
            <a:endParaRPr lang="en-US" altLang="zh-CN"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Rot="1" noChangeAspect="1" noChangeArrowheads="1" noTextEdit="1"/>
          </p:cNvSpPr>
          <p:nvPr>
            <p:ph type="sldImg"/>
          </p:nvPr>
        </p:nvSpPr>
        <p:spPr/>
      </p:sp>
      <p:sp>
        <p:nvSpPr>
          <p:cNvPr id="130051" name="Rectangle 3"/>
          <p:cNvSpPr>
            <a:spLocks noGrp="1" noChangeArrowheads="1"/>
          </p:cNvSpPr>
          <p:nvPr>
            <p:ph type="body" idx="1"/>
          </p:nvPr>
        </p:nvSpPr>
        <p:spPr>
          <a:noFill/>
        </p:spPr>
        <p:txBody>
          <a:bodyPr/>
          <a:lstStyle/>
          <a:p>
            <a:r>
              <a:rPr lang="zh-CN" altLang="en-US"/>
              <a:t>在一些系统中，响应器和管理器的功能由同一个模块执行，即可称为响应器</a:t>
            </a:r>
            <a:r>
              <a:rPr lang="en-US" altLang="zh-CN"/>
              <a:t>,</a:t>
            </a:r>
            <a:r>
              <a:rPr lang="zh-CN" altLang="en-US"/>
              <a:t>也可称为管理器</a:t>
            </a:r>
            <a:r>
              <a:rPr lang="en-US" altLang="zh-CN"/>
              <a:t>.</a:t>
            </a:r>
          </a:p>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幻灯片图像占位符 1"/>
          <p:cNvSpPr>
            <a:spLocks noGrp="1" noRot="1" noChangeAspect="1" noTextEdit="1"/>
          </p:cNvSpPr>
          <p:nvPr>
            <p:ph type="sldImg"/>
          </p:nvPr>
        </p:nvSpPr>
        <p:spPr/>
      </p:sp>
      <p:sp>
        <p:nvSpPr>
          <p:cNvPr id="1126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26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8055">
              <a:defRPr sz="2400">
                <a:solidFill>
                  <a:schemeClr val="tx1"/>
                </a:solidFill>
                <a:latin typeface="Times New Roman" panose="02020603050405020304" pitchFamily="18" charset="0"/>
                <a:ea typeface="宋体" panose="02010600030101010101" pitchFamily="2" charset="-122"/>
              </a:defRPr>
            </a:lvl1pPr>
            <a:lvl2pPr marL="742950" indent="-285750" defTabSz="948055">
              <a:defRPr sz="2400">
                <a:solidFill>
                  <a:schemeClr val="tx1"/>
                </a:solidFill>
                <a:latin typeface="Times New Roman" panose="02020603050405020304" pitchFamily="18" charset="0"/>
                <a:ea typeface="宋体" panose="02010600030101010101" pitchFamily="2" charset="-122"/>
              </a:defRPr>
            </a:lvl2pPr>
            <a:lvl3pPr marL="1143000" indent="-228600" defTabSz="948055">
              <a:defRPr sz="2400">
                <a:solidFill>
                  <a:schemeClr val="tx1"/>
                </a:solidFill>
                <a:latin typeface="Times New Roman" panose="02020603050405020304" pitchFamily="18" charset="0"/>
                <a:ea typeface="宋体" panose="02010600030101010101" pitchFamily="2" charset="-122"/>
              </a:defRPr>
            </a:lvl3pPr>
            <a:lvl4pPr marL="1600200" indent="-228600" defTabSz="948055">
              <a:defRPr sz="2400">
                <a:solidFill>
                  <a:schemeClr val="tx1"/>
                </a:solidFill>
                <a:latin typeface="Times New Roman" panose="02020603050405020304" pitchFamily="18" charset="0"/>
                <a:ea typeface="宋体" panose="02010600030101010101" pitchFamily="2" charset="-122"/>
              </a:defRPr>
            </a:lvl4pPr>
            <a:lvl5pPr marL="2057400" indent="-228600" defTabSz="948055">
              <a:defRPr sz="2400">
                <a:solidFill>
                  <a:schemeClr val="tx1"/>
                </a:solidFill>
                <a:latin typeface="Times New Roman" panose="02020603050405020304" pitchFamily="18" charset="0"/>
                <a:ea typeface="宋体" panose="02010600030101010101" pitchFamily="2" charset="-122"/>
              </a:defRPr>
            </a:lvl5pPr>
            <a:lvl6pPr marL="25146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fld id="{F714A1F6-342F-4D86-BAFE-B2696DEB6855}" type="slidenum">
              <a:rPr lang="zh-CN" altLang="en-US" sz="1200"/>
              <a:t>37</a:t>
            </a:fld>
            <a:endParaRPr lang="en-US" altLang="zh-CN"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8055">
              <a:defRPr sz="2400">
                <a:solidFill>
                  <a:schemeClr val="tx1"/>
                </a:solidFill>
                <a:latin typeface="Times New Roman" panose="02020603050405020304" pitchFamily="18" charset="0"/>
                <a:ea typeface="宋体" panose="02010600030101010101" pitchFamily="2" charset="-122"/>
              </a:defRPr>
            </a:lvl1pPr>
            <a:lvl2pPr marL="742950" indent="-285750" defTabSz="948055">
              <a:defRPr sz="2400">
                <a:solidFill>
                  <a:schemeClr val="tx1"/>
                </a:solidFill>
                <a:latin typeface="Times New Roman" panose="02020603050405020304" pitchFamily="18" charset="0"/>
                <a:ea typeface="宋体" panose="02010600030101010101" pitchFamily="2" charset="-122"/>
              </a:defRPr>
            </a:lvl2pPr>
            <a:lvl3pPr marL="1143000" indent="-228600" defTabSz="948055">
              <a:defRPr sz="2400">
                <a:solidFill>
                  <a:schemeClr val="tx1"/>
                </a:solidFill>
                <a:latin typeface="Times New Roman" panose="02020603050405020304" pitchFamily="18" charset="0"/>
                <a:ea typeface="宋体" panose="02010600030101010101" pitchFamily="2" charset="-122"/>
              </a:defRPr>
            </a:lvl3pPr>
            <a:lvl4pPr marL="1600200" indent="-228600" defTabSz="948055">
              <a:defRPr sz="2400">
                <a:solidFill>
                  <a:schemeClr val="tx1"/>
                </a:solidFill>
                <a:latin typeface="Times New Roman" panose="02020603050405020304" pitchFamily="18" charset="0"/>
                <a:ea typeface="宋体" panose="02010600030101010101" pitchFamily="2" charset="-122"/>
              </a:defRPr>
            </a:lvl4pPr>
            <a:lvl5pPr marL="2057400" indent="-228600" defTabSz="948055">
              <a:defRPr sz="2400">
                <a:solidFill>
                  <a:schemeClr val="tx1"/>
                </a:solidFill>
                <a:latin typeface="Times New Roman" panose="02020603050405020304" pitchFamily="18" charset="0"/>
                <a:ea typeface="宋体" panose="02010600030101010101" pitchFamily="2" charset="-122"/>
              </a:defRPr>
            </a:lvl5pPr>
            <a:lvl6pPr marL="25146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fld id="{C3A7F5EF-7F13-4E2F-BA7F-5F1B8DF53A95}" type="slidenum">
              <a:rPr lang="zh-CN" altLang="en-US" sz="1200"/>
              <a:t>44</a:t>
            </a:fld>
            <a:endParaRPr lang="en-US" altLang="zh-CN" sz="1200"/>
          </a:p>
        </p:txBody>
      </p:sp>
      <p:sp>
        <p:nvSpPr>
          <p:cNvPr id="194563" name="Rectangle 2"/>
          <p:cNvSpPr>
            <a:spLocks noGrp="1" noRot="1" noChangeAspect="1" noChangeArrowheads="1" noTextEdit="1"/>
          </p:cNvSpPr>
          <p:nvPr>
            <p:ph type="sldImg"/>
          </p:nvPr>
        </p:nvSpPr>
        <p:spPr>
          <a:xfrm>
            <a:off x="3335338" y="2606675"/>
            <a:ext cx="0" cy="0"/>
          </a:xfrm>
        </p:spPr>
      </p:sp>
      <p:sp>
        <p:nvSpPr>
          <p:cNvPr id="194564" name="Rectangle 3"/>
          <p:cNvSpPr>
            <a:spLocks noGrp="1" noChangeArrowheads="1"/>
          </p:cNvSpPr>
          <p:nvPr>
            <p:ph type="body" idx="1"/>
          </p:nvPr>
        </p:nvSpPr>
        <p:spPr>
          <a:xfrm>
            <a:off x="889000" y="6799263"/>
            <a:ext cx="1365250" cy="2984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p:cNvSpPr>
            <a:spLocks noGrp="1" noRot="1" noChangeAspect="1" noTextEdit="1"/>
          </p:cNvSpPr>
          <p:nvPr>
            <p:ph type="sldImg"/>
          </p:nvPr>
        </p:nvSpPr>
        <p:spPr/>
      </p:sp>
      <p:sp>
        <p:nvSpPr>
          <p:cNvPr id="3072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72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8055">
              <a:defRPr sz="2400">
                <a:solidFill>
                  <a:schemeClr val="tx1"/>
                </a:solidFill>
                <a:latin typeface="Times New Roman" panose="02020603050405020304" pitchFamily="18" charset="0"/>
                <a:ea typeface="宋体" panose="02010600030101010101" pitchFamily="2" charset="-122"/>
              </a:defRPr>
            </a:lvl1pPr>
            <a:lvl2pPr marL="742950" indent="-285750" defTabSz="948055">
              <a:defRPr sz="2400">
                <a:solidFill>
                  <a:schemeClr val="tx1"/>
                </a:solidFill>
                <a:latin typeface="Times New Roman" panose="02020603050405020304" pitchFamily="18" charset="0"/>
                <a:ea typeface="宋体" panose="02010600030101010101" pitchFamily="2" charset="-122"/>
              </a:defRPr>
            </a:lvl2pPr>
            <a:lvl3pPr marL="1143000" indent="-228600" defTabSz="948055">
              <a:defRPr sz="2400">
                <a:solidFill>
                  <a:schemeClr val="tx1"/>
                </a:solidFill>
                <a:latin typeface="Times New Roman" panose="02020603050405020304" pitchFamily="18" charset="0"/>
                <a:ea typeface="宋体" panose="02010600030101010101" pitchFamily="2" charset="-122"/>
              </a:defRPr>
            </a:lvl3pPr>
            <a:lvl4pPr marL="1600200" indent="-228600" defTabSz="948055">
              <a:defRPr sz="2400">
                <a:solidFill>
                  <a:schemeClr val="tx1"/>
                </a:solidFill>
                <a:latin typeface="Times New Roman" panose="02020603050405020304" pitchFamily="18" charset="0"/>
                <a:ea typeface="宋体" panose="02010600030101010101" pitchFamily="2" charset="-122"/>
              </a:defRPr>
            </a:lvl4pPr>
            <a:lvl5pPr marL="2057400" indent="-228600" defTabSz="948055">
              <a:defRPr sz="2400">
                <a:solidFill>
                  <a:schemeClr val="tx1"/>
                </a:solidFill>
                <a:latin typeface="Times New Roman" panose="02020603050405020304" pitchFamily="18" charset="0"/>
                <a:ea typeface="宋体" panose="02010600030101010101" pitchFamily="2" charset="-122"/>
              </a:defRPr>
            </a:lvl5pPr>
            <a:lvl6pPr marL="25146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fld id="{392F7186-855B-4EFB-95FF-4E70913EBF04}" type="slidenum">
              <a:rPr lang="zh-CN" altLang="en-US" sz="1200"/>
              <a:t>48</a:t>
            </a:fld>
            <a:endParaRPr lang="en-US" altLang="zh-CN"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p:cNvSpPr>
            <a:spLocks noGrp="1" noRot="1" noChangeAspect="1" noTextEdit="1"/>
          </p:cNvSpPr>
          <p:nvPr>
            <p:ph type="sldImg"/>
          </p:nvPr>
        </p:nvSpPr>
        <p:spPr/>
      </p:sp>
      <p:sp>
        <p:nvSpPr>
          <p:cNvPr id="368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686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8055">
              <a:defRPr sz="2400">
                <a:solidFill>
                  <a:schemeClr val="tx1"/>
                </a:solidFill>
                <a:latin typeface="Times New Roman" panose="02020603050405020304" pitchFamily="18" charset="0"/>
                <a:ea typeface="宋体" panose="02010600030101010101" pitchFamily="2" charset="-122"/>
              </a:defRPr>
            </a:lvl1pPr>
            <a:lvl2pPr marL="742950" indent="-285750" defTabSz="948055">
              <a:defRPr sz="2400">
                <a:solidFill>
                  <a:schemeClr val="tx1"/>
                </a:solidFill>
                <a:latin typeface="Times New Roman" panose="02020603050405020304" pitchFamily="18" charset="0"/>
                <a:ea typeface="宋体" panose="02010600030101010101" pitchFamily="2" charset="-122"/>
              </a:defRPr>
            </a:lvl2pPr>
            <a:lvl3pPr marL="1143000" indent="-228600" defTabSz="948055">
              <a:defRPr sz="2400">
                <a:solidFill>
                  <a:schemeClr val="tx1"/>
                </a:solidFill>
                <a:latin typeface="Times New Roman" panose="02020603050405020304" pitchFamily="18" charset="0"/>
                <a:ea typeface="宋体" panose="02010600030101010101" pitchFamily="2" charset="-122"/>
              </a:defRPr>
            </a:lvl3pPr>
            <a:lvl4pPr marL="1600200" indent="-228600" defTabSz="948055">
              <a:defRPr sz="2400">
                <a:solidFill>
                  <a:schemeClr val="tx1"/>
                </a:solidFill>
                <a:latin typeface="Times New Roman" panose="02020603050405020304" pitchFamily="18" charset="0"/>
                <a:ea typeface="宋体" panose="02010600030101010101" pitchFamily="2" charset="-122"/>
              </a:defRPr>
            </a:lvl4pPr>
            <a:lvl5pPr marL="2057400" indent="-228600" defTabSz="948055">
              <a:defRPr sz="2400">
                <a:solidFill>
                  <a:schemeClr val="tx1"/>
                </a:solidFill>
                <a:latin typeface="Times New Roman" panose="02020603050405020304" pitchFamily="18" charset="0"/>
                <a:ea typeface="宋体" panose="02010600030101010101" pitchFamily="2" charset="-122"/>
              </a:defRPr>
            </a:lvl5pPr>
            <a:lvl6pPr marL="25146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fld id="{49170216-27B3-4B8F-AC5C-DBD6A3AA4F31}" type="slidenum">
              <a:rPr lang="zh-CN" altLang="en-US" sz="1200"/>
              <a:t>50</a:t>
            </a:fld>
            <a:endParaRPr lang="en-US" altLang="zh-CN"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Rot="1" noChangeAspect="1" noChangeArrowheads="1" noTextEdit="1"/>
          </p:cNvSpPr>
          <p:nvPr>
            <p:ph type="sldImg"/>
          </p:nvPr>
        </p:nvSpPr>
        <p:spPr/>
      </p:sp>
      <p:sp>
        <p:nvSpPr>
          <p:cNvPr id="132099" name="Rectangle 3"/>
          <p:cNvSpPr>
            <a:spLocks noGrp="1" noChangeArrowheads="1"/>
          </p:cNvSpPr>
          <p:nvPr>
            <p:ph type="body" idx="1"/>
          </p:nvPr>
        </p:nvSpPr>
        <p:spPr>
          <a:noFill/>
        </p:spPr>
        <p:txBody>
          <a:bodyPr/>
          <a:lstStyle/>
          <a:p>
            <a:r>
              <a:rPr lang="zh-CN" altLang="en-US" dirty="0"/>
              <a:t>异常检测是指根据非正常行为</a:t>
            </a:r>
            <a:r>
              <a:rPr lang="en-US" altLang="zh-CN" dirty="0"/>
              <a:t>(</a:t>
            </a:r>
            <a:r>
              <a:rPr lang="zh-CN" altLang="en-US" dirty="0"/>
              <a:t>系统或用户</a:t>
            </a:r>
            <a:r>
              <a:rPr lang="en-US" altLang="zh-CN" dirty="0"/>
              <a:t>)</a:t>
            </a:r>
            <a:r>
              <a:rPr lang="zh-CN" altLang="en-US" dirty="0"/>
              <a:t>和使用计算机非正常资源来检测入侵行为。</a:t>
            </a:r>
          </a:p>
          <a:p>
            <a:r>
              <a:rPr lang="zh-CN" altLang="en-US" dirty="0"/>
              <a:t>关键在于建立用户及系统正常行为模型</a:t>
            </a:r>
            <a:r>
              <a:rPr lang="en-US" altLang="zh-CN" dirty="0"/>
              <a:t>,</a:t>
            </a:r>
            <a:r>
              <a:rPr lang="zh-CN" altLang="en-US" dirty="0"/>
              <a:t>检测实际活动以判断是否背离正常的行为模型。</a:t>
            </a:r>
          </a:p>
          <a:p>
            <a:pPr lvl="1"/>
            <a:r>
              <a:rPr lang="zh-CN" altLang="en-US" dirty="0"/>
              <a:t>漏报、误报率高</a:t>
            </a:r>
          </a:p>
          <a:p>
            <a:pPr lvl="2"/>
            <a:r>
              <a:rPr lang="zh-CN" altLang="en-US" dirty="0"/>
              <a:t>入侵者可以逐渐改变自己的行为模式来逃避检测</a:t>
            </a:r>
          </a:p>
          <a:p>
            <a:pPr lvl="2"/>
            <a:r>
              <a:rPr lang="zh-CN" altLang="en-US" dirty="0"/>
              <a:t>合法用户正常行为的突然改变也会造成误警 </a:t>
            </a:r>
          </a:p>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p:sp>
      <p:sp>
        <p:nvSpPr>
          <p:cNvPr id="3891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891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8055">
              <a:defRPr sz="2400">
                <a:solidFill>
                  <a:schemeClr val="tx1"/>
                </a:solidFill>
                <a:latin typeface="Times New Roman" panose="02020603050405020304" pitchFamily="18" charset="0"/>
                <a:ea typeface="宋体" panose="02010600030101010101" pitchFamily="2" charset="-122"/>
              </a:defRPr>
            </a:lvl1pPr>
            <a:lvl2pPr marL="742950" indent="-285750" defTabSz="948055">
              <a:defRPr sz="2400">
                <a:solidFill>
                  <a:schemeClr val="tx1"/>
                </a:solidFill>
                <a:latin typeface="Times New Roman" panose="02020603050405020304" pitchFamily="18" charset="0"/>
                <a:ea typeface="宋体" panose="02010600030101010101" pitchFamily="2" charset="-122"/>
              </a:defRPr>
            </a:lvl2pPr>
            <a:lvl3pPr marL="1143000" indent="-228600" defTabSz="948055">
              <a:defRPr sz="2400">
                <a:solidFill>
                  <a:schemeClr val="tx1"/>
                </a:solidFill>
                <a:latin typeface="Times New Roman" panose="02020603050405020304" pitchFamily="18" charset="0"/>
                <a:ea typeface="宋体" panose="02010600030101010101" pitchFamily="2" charset="-122"/>
              </a:defRPr>
            </a:lvl3pPr>
            <a:lvl4pPr marL="1600200" indent="-228600" defTabSz="948055">
              <a:defRPr sz="2400">
                <a:solidFill>
                  <a:schemeClr val="tx1"/>
                </a:solidFill>
                <a:latin typeface="Times New Roman" panose="02020603050405020304" pitchFamily="18" charset="0"/>
                <a:ea typeface="宋体" panose="02010600030101010101" pitchFamily="2" charset="-122"/>
              </a:defRPr>
            </a:lvl4pPr>
            <a:lvl5pPr marL="2057400" indent="-228600" defTabSz="948055">
              <a:defRPr sz="2400">
                <a:solidFill>
                  <a:schemeClr val="tx1"/>
                </a:solidFill>
                <a:latin typeface="Times New Roman" panose="02020603050405020304" pitchFamily="18" charset="0"/>
                <a:ea typeface="宋体" panose="02010600030101010101" pitchFamily="2" charset="-122"/>
              </a:defRPr>
            </a:lvl5pPr>
            <a:lvl6pPr marL="25146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fld id="{DDCC362B-CE0F-4D02-852B-0CC338B978A8}" type="slidenum">
              <a:rPr lang="zh-CN" altLang="en-US" sz="1200"/>
              <a:t>53</a:t>
            </a:fld>
            <a:endParaRPr lang="en-US" altLang="zh-CN"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p:cNvSpPr>
            <a:spLocks noGrp="1" noRot="1" noChangeAspect="1" noTextEdit="1"/>
          </p:cNvSpPr>
          <p:nvPr>
            <p:ph type="sldImg"/>
          </p:nvPr>
        </p:nvSpPr>
        <p:spPr/>
      </p:sp>
      <p:sp>
        <p:nvSpPr>
          <p:cNvPr id="409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09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8055">
              <a:defRPr sz="2400">
                <a:solidFill>
                  <a:schemeClr val="tx1"/>
                </a:solidFill>
                <a:latin typeface="Times New Roman" panose="02020603050405020304" pitchFamily="18" charset="0"/>
                <a:ea typeface="宋体" panose="02010600030101010101" pitchFamily="2" charset="-122"/>
              </a:defRPr>
            </a:lvl1pPr>
            <a:lvl2pPr marL="742950" indent="-285750" defTabSz="948055">
              <a:defRPr sz="2400">
                <a:solidFill>
                  <a:schemeClr val="tx1"/>
                </a:solidFill>
                <a:latin typeface="Times New Roman" panose="02020603050405020304" pitchFamily="18" charset="0"/>
                <a:ea typeface="宋体" panose="02010600030101010101" pitchFamily="2" charset="-122"/>
              </a:defRPr>
            </a:lvl2pPr>
            <a:lvl3pPr marL="1143000" indent="-228600" defTabSz="948055">
              <a:defRPr sz="2400">
                <a:solidFill>
                  <a:schemeClr val="tx1"/>
                </a:solidFill>
                <a:latin typeface="Times New Roman" panose="02020603050405020304" pitchFamily="18" charset="0"/>
                <a:ea typeface="宋体" panose="02010600030101010101" pitchFamily="2" charset="-122"/>
              </a:defRPr>
            </a:lvl3pPr>
            <a:lvl4pPr marL="1600200" indent="-228600" defTabSz="948055">
              <a:defRPr sz="2400">
                <a:solidFill>
                  <a:schemeClr val="tx1"/>
                </a:solidFill>
                <a:latin typeface="Times New Roman" panose="02020603050405020304" pitchFamily="18" charset="0"/>
                <a:ea typeface="宋体" panose="02010600030101010101" pitchFamily="2" charset="-122"/>
              </a:defRPr>
            </a:lvl4pPr>
            <a:lvl5pPr marL="2057400" indent="-228600" defTabSz="948055">
              <a:defRPr sz="2400">
                <a:solidFill>
                  <a:schemeClr val="tx1"/>
                </a:solidFill>
                <a:latin typeface="Times New Roman" panose="02020603050405020304" pitchFamily="18" charset="0"/>
                <a:ea typeface="宋体" panose="02010600030101010101" pitchFamily="2" charset="-122"/>
              </a:defRPr>
            </a:lvl5pPr>
            <a:lvl6pPr marL="25146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fld id="{B0FD19DA-285A-49B3-9741-94A5D07643F1}" type="slidenum">
              <a:rPr lang="zh-CN" altLang="en-US" sz="1200"/>
              <a:t>54</a:t>
            </a:fld>
            <a:endParaRPr lang="en-US" altLang="zh-CN"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TextEdit="1"/>
          </p:cNvSpPr>
          <p:nvPr>
            <p:ph type="sldImg"/>
          </p:nvPr>
        </p:nvSpPr>
        <p:spPr/>
      </p:sp>
      <p:sp>
        <p:nvSpPr>
          <p:cNvPr id="4301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301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8055">
              <a:defRPr sz="2400">
                <a:solidFill>
                  <a:schemeClr val="tx1"/>
                </a:solidFill>
                <a:latin typeface="Times New Roman" panose="02020603050405020304" pitchFamily="18" charset="0"/>
                <a:ea typeface="宋体" panose="02010600030101010101" pitchFamily="2" charset="-122"/>
              </a:defRPr>
            </a:lvl1pPr>
            <a:lvl2pPr marL="742950" indent="-285750" defTabSz="948055">
              <a:defRPr sz="2400">
                <a:solidFill>
                  <a:schemeClr val="tx1"/>
                </a:solidFill>
                <a:latin typeface="Times New Roman" panose="02020603050405020304" pitchFamily="18" charset="0"/>
                <a:ea typeface="宋体" panose="02010600030101010101" pitchFamily="2" charset="-122"/>
              </a:defRPr>
            </a:lvl2pPr>
            <a:lvl3pPr marL="1143000" indent="-228600" defTabSz="948055">
              <a:defRPr sz="2400">
                <a:solidFill>
                  <a:schemeClr val="tx1"/>
                </a:solidFill>
                <a:latin typeface="Times New Roman" panose="02020603050405020304" pitchFamily="18" charset="0"/>
                <a:ea typeface="宋体" panose="02010600030101010101" pitchFamily="2" charset="-122"/>
              </a:defRPr>
            </a:lvl3pPr>
            <a:lvl4pPr marL="1600200" indent="-228600" defTabSz="948055">
              <a:defRPr sz="2400">
                <a:solidFill>
                  <a:schemeClr val="tx1"/>
                </a:solidFill>
                <a:latin typeface="Times New Roman" panose="02020603050405020304" pitchFamily="18" charset="0"/>
                <a:ea typeface="宋体" panose="02010600030101010101" pitchFamily="2" charset="-122"/>
              </a:defRPr>
            </a:lvl4pPr>
            <a:lvl5pPr marL="2057400" indent="-228600" defTabSz="948055">
              <a:defRPr sz="2400">
                <a:solidFill>
                  <a:schemeClr val="tx1"/>
                </a:solidFill>
                <a:latin typeface="Times New Roman" panose="02020603050405020304" pitchFamily="18" charset="0"/>
                <a:ea typeface="宋体" panose="02010600030101010101" pitchFamily="2" charset="-122"/>
              </a:defRPr>
            </a:lvl5pPr>
            <a:lvl6pPr marL="25146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fld id="{6B459F4B-8485-4A24-9C5E-B758AA2EE9B9}" type="slidenum">
              <a:rPr lang="zh-CN" altLang="en-US" sz="1200"/>
              <a:t>55</a:t>
            </a:fld>
            <a:endParaRPr lang="en-US" altLang="zh-CN" sz="1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p:sp>
      <p:sp>
        <p:nvSpPr>
          <p:cNvPr id="4505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506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8055">
              <a:defRPr sz="2400">
                <a:solidFill>
                  <a:schemeClr val="tx1"/>
                </a:solidFill>
                <a:latin typeface="Times New Roman" panose="02020603050405020304" pitchFamily="18" charset="0"/>
                <a:ea typeface="宋体" panose="02010600030101010101" pitchFamily="2" charset="-122"/>
              </a:defRPr>
            </a:lvl1pPr>
            <a:lvl2pPr marL="742950" indent="-285750" defTabSz="948055">
              <a:defRPr sz="2400">
                <a:solidFill>
                  <a:schemeClr val="tx1"/>
                </a:solidFill>
                <a:latin typeface="Times New Roman" panose="02020603050405020304" pitchFamily="18" charset="0"/>
                <a:ea typeface="宋体" panose="02010600030101010101" pitchFamily="2" charset="-122"/>
              </a:defRPr>
            </a:lvl2pPr>
            <a:lvl3pPr marL="1143000" indent="-228600" defTabSz="948055">
              <a:defRPr sz="2400">
                <a:solidFill>
                  <a:schemeClr val="tx1"/>
                </a:solidFill>
                <a:latin typeface="Times New Roman" panose="02020603050405020304" pitchFamily="18" charset="0"/>
                <a:ea typeface="宋体" panose="02010600030101010101" pitchFamily="2" charset="-122"/>
              </a:defRPr>
            </a:lvl3pPr>
            <a:lvl4pPr marL="1600200" indent="-228600" defTabSz="948055">
              <a:defRPr sz="2400">
                <a:solidFill>
                  <a:schemeClr val="tx1"/>
                </a:solidFill>
                <a:latin typeface="Times New Roman" panose="02020603050405020304" pitchFamily="18" charset="0"/>
                <a:ea typeface="宋体" panose="02010600030101010101" pitchFamily="2" charset="-122"/>
              </a:defRPr>
            </a:lvl4pPr>
            <a:lvl5pPr marL="2057400" indent="-228600" defTabSz="948055">
              <a:defRPr sz="2400">
                <a:solidFill>
                  <a:schemeClr val="tx1"/>
                </a:solidFill>
                <a:latin typeface="Times New Roman" panose="02020603050405020304" pitchFamily="18" charset="0"/>
                <a:ea typeface="宋体" panose="02010600030101010101" pitchFamily="2" charset="-122"/>
              </a:defRPr>
            </a:lvl5pPr>
            <a:lvl6pPr marL="25146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fld id="{20044F25-F4D3-4383-AD40-2EE21C091FD3}" type="slidenum">
              <a:rPr lang="zh-CN" altLang="en-US" sz="1200"/>
              <a:t>56</a:t>
            </a:fld>
            <a:endParaRPr lang="en-US" altLang="zh-CN" sz="12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p:sp>
      <p:sp>
        <p:nvSpPr>
          <p:cNvPr id="4505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4506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8055">
              <a:defRPr sz="2400">
                <a:solidFill>
                  <a:schemeClr val="tx1"/>
                </a:solidFill>
                <a:latin typeface="Times New Roman" panose="02020603050405020304" pitchFamily="18" charset="0"/>
                <a:ea typeface="宋体" panose="02010600030101010101" pitchFamily="2" charset="-122"/>
              </a:defRPr>
            </a:lvl1pPr>
            <a:lvl2pPr marL="742950" indent="-285750" defTabSz="948055">
              <a:defRPr sz="2400">
                <a:solidFill>
                  <a:schemeClr val="tx1"/>
                </a:solidFill>
                <a:latin typeface="Times New Roman" panose="02020603050405020304" pitchFamily="18" charset="0"/>
                <a:ea typeface="宋体" panose="02010600030101010101" pitchFamily="2" charset="-122"/>
              </a:defRPr>
            </a:lvl2pPr>
            <a:lvl3pPr marL="1143000" indent="-228600" defTabSz="948055">
              <a:defRPr sz="2400">
                <a:solidFill>
                  <a:schemeClr val="tx1"/>
                </a:solidFill>
                <a:latin typeface="Times New Roman" panose="02020603050405020304" pitchFamily="18" charset="0"/>
                <a:ea typeface="宋体" panose="02010600030101010101" pitchFamily="2" charset="-122"/>
              </a:defRPr>
            </a:lvl3pPr>
            <a:lvl4pPr marL="1600200" indent="-228600" defTabSz="948055">
              <a:defRPr sz="2400">
                <a:solidFill>
                  <a:schemeClr val="tx1"/>
                </a:solidFill>
                <a:latin typeface="Times New Roman" panose="02020603050405020304" pitchFamily="18" charset="0"/>
                <a:ea typeface="宋体" panose="02010600030101010101" pitchFamily="2" charset="-122"/>
              </a:defRPr>
            </a:lvl4pPr>
            <a:lvl5pPr marL="2057400" indent="-228600" defTabSz="948055">
              <a:defRPr sz="2400">
                <a:solidFill>
                  <a:schemeClr val="tx1"/>
                </a:solidFill>
                <a:latin typeface="Times New Roman" panose="02020603050405020304" pitchFamily="18" charset="0"/>
                <a:ea typeface="宋体" panose="02010600030101010101" pitchFamily="2" charset="-122"/>
              </a:defRPr>
            </a:lvl5pPr>
            <a:lvl6pPr marL="25146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fld id="{20044F25-F4D3-4383-AD40-2EE21C091FD3}" type="slidenum">
              <a:rPr lang="zh-CN" altLang="en-US" sz="1200"/>
              <a:t>57</a:t>
            </a:fld>
            <a:endParaRPr lang="en-US" altLang="zh-CN" sz="1200"/>
          </a:p>
        </p:txBody>
      </p:sp>
    </p:spTree>
    <p:extLst>
      <p:ext uri="{BB962C8B-B14F-4D97-AF65-F5344CB8AC3E}">
        <p14:creationId xmlns:p14="http://schemas.microsoft.com/office/powerpoint/2010/main" val="11936183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TextEdit="1"/>
          </p:cNvSpPr>
          <p:nvPr>
            <p:ph type="sldImg"/>
          </p:nvPr>
        </p:nvSpPr>
        <p:spPr/>
      </p:sp>
      <p:sp>
        <p:nvSpPr>
          <p:cNvPr id="4710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71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8055">
              <a:defRPr sz="2400">
                <a:solidFill>
                  <a:schemeClr val="tx1"/>
                </a:solidFill>
                <a:latin typeface="Times New Roman" panose="02020603050405020304" pitchFamily="18" charset="0"/>
                <a:ea typeface="宋体" panose="02010600030101010101" pitchFamily="2" charset="-122"/>
              </a:defRPr>
            </a:lvl1pPr>
            <a:lvl2pPr marL="742950" indent="-285750" defTabSz="948055">
              <a:defRPr sz="2400">
                <a:solidFill>
                  <a:schemeClr val="tx1"/>
                </a:solidFill>
                <a:latin typeface="Times New Roman" panose="02020603050405020304" pitchFamily="18" charset="0"/>
                <a:ea typeface="宋体" panose="02010600030101010101" pitchFamily="2" charset="-122"/>
              </a:defRPr>
            </a:lvl2pPr>
            <a:lvl3pPr marL="1143000" indent="-228600" defTabSz="948055">
              <a:defRPr sz="2400">
                <a:solidFill>
                  <a:schemeClr val="tx1"/>
                </a:solidFill>
                <a:latin typeface="Times New Roman" panose="02020603050405020304" pitchFamily="18" charset="0"/>
                <a:ea typeface="宋体" panose="02010600030101010101" pitchFamily="2" charset="-122"/>
              </a:defRPr>
            </a:lvl3pPr>
            <a:lvl4pPr marL="1600200" indent="-228600" defTabSz="948055">
              <a:defRPr sz="2400">
                <a:solidFill>
                  <a:schemeClr val="tx1"/>
                </a:solidFill>
                <a:latin typeface="Times New Roman" panose="02020603050405020304" pitchFamily="18" charset="0"/>
                <a:ea typeface="宋体" panose="02010600030101010101" pitchFamily="2" charset="-122"/>
              </a:defRPr>
            </a:lvl4pPr>
            <a:lvl5pPr marL="2057400" indent="-228600" defTabSz="948055">
              <a:defRPr sz="2400">
                <a:solidFill>
                  <a:schemeClr val="tx1"/>
                </a:solidFill>
                <a:latin typeface="Times New Roman" panose="02020603050405020304" pitchFamily="18" charset="0"/>
                <a:ea typeface="宋体" panose="02010600030101010101" pitchFamily="2" charset="-122"/>
              </a:defRPr>
            </a:lvl5pPr>
            <a:lvl6pPr marL="25146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fld id="{DF42230A-C53C-45E9-A340-B2E17B2B80B6}" type="slidenum">
              <a:rPr lang="zh-CN" altLang="en-US" sz="1200"/>
              <a:t>58</a:t>
            </a:fld>
            <a:endParaRPr lang="en-US" altLang="zh-CN"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TextEdit="1"/>
          </p:cNvSpPr>
          <p:nvPr>
            <p:ph type="sldImg"/>
          </p:nvPr>
        </p:nvSpPr>
        <p:spPr/>
      </p:sp>
      <p:sp>
        <p:nvSpPr>
          <p:cNvPr id="4710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71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8055">
              <a:defRPr sz="2400">
                <a:solidFill>
                  <a:schemeClr val="tx1"/>
                </a:solidFill>
                <a:latin typeface="Times New Roman" panose="02020603050405020304" pitchFamily="18" charset="0"/>
                <a:ea typeface="宋体" panose="02010600030101010101" pitchFamily="2" charset="-122"/>
              </a:defRPr>
            </a:lvl1pPr>
            <a:lvl2pPr marL="742950" indent="-285750" defTabSz="948055">
              <a:defRPr sz="2400">
                <a:solidFill>
                  <a:schemeClr val="tx1"/>
                </a:solidFill>
                <a:latin typeface="Times New Roman" panose="02020603050405020304" pitchFamily="18" charset="0"/>
                <a:ea typeface="宋体" panose="02010600030101010101" pitchFamily="2" charset="-122"/>
              </a:defRPr>
            </a:lvl2pPr>
            <a:lvl3pPr marL="1143000" indent="-228600" defTabSz="948055">
              <a:defRPr sz="2400">
                <a:solidFill>
                  <a:schemeClr val="tx1"/>
                </a:solidFill>
                <a:latin typeface="Times New Roman" panose="02020603050405020304" pitchFamily="18" charset="0"/>
                <a:ea typeface="宋体" panose="02010600030101010101" pitchFamily="2" charset="-122"/>
              </a:defRPr>
            </a:lvl3pPr>
            <a:lvl4pPr marL="1600200" indent="-228600" defTabSz="948055">
              <a:defRPr sz="2400">
                <a:solidFill>
                  <a:schemeClr val="tx1"/>
                </a:solidFill>
                <a:latin typeface="Times New Roman" panose="02020603050405020304" pitchFamily="18" charset="0"/>
                <a:ea typeface="宋体" panose="02010600030101010101" pitchFamily="2" charset="-122"/>
              </a:defRPr>
            </a:lvl4pPr>
            <a:lvl5pPr marL="2057400" indent="-228600" defTabSz="948055">
              <a:defRPr sz="2400">
                <a:solidFill>
                  <a:schemeClr val="tx1"/>
                </a:solidFill>
                <a:latin typeface="Times New Roman" panose="02020603050405020304" pitchFamily="18" charset="0"/>
                <a:ea typeface="宋体" panose="02010600030101010101" pitchFamily="2" charset="-122"/>
              </a:defRPr>
            </a:lvl5pPr>
            <a:lvl6pPr marL="25146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fld id="{DF42230A-C53C-45E9-A340-B2E17B2B80B6}" type="slidenum">
              <a:rPr lang="zh-CN" altLang="en-US" sz="1200"/>
              <a:t>59</a:t>
            </a:fld>
            <a:endParaRPr lang="en-US" altLang="zh-CN" sz="1200"/>
          </a:p>
        </p:txBody>
      </p:sp>
    </p:spTree>
    <p:extLst>
      <p:ext uri="{BB962C8B-B14F-4D97-AF65-F5344CB8AC3E}">
        <p14:creationId xmlns:p14="http://schemas.microsoft.com/office/powerpoint/2010/main" val="28109248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TextEdit="1"/>
          </p:cNvSpPr>
          <p:nvPr>
            <p:ph type="sldImg"/>
          </p:nvPr>
        </p:nvSpPr>
        <p:spPr/>
      </p:sp>
      <p:sp>
        <p:nvSpPr>
          <p:cNvPr id="4710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71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8055">
              <a:defRPr sz="2400">
                <a:solidFill>
                  <a:schemeClr val="tx1"/>
                </a:solidFill>
                <a:latin typeface="Times New Roman" panose="02020603050405020304" pitchFamily="18" charset="0"/>
                <a:ea typeface="宋体" panose="02010600030101010101" pitchFamily="2" charset="-122"/>
              </a:defRPr>
            </a:lvl1pPr>
            <a:lvl2pPr marL="742950" indent="-285750" defTabSz="948055">
              <a:defRPr sz="2400">
                <a:solidFill>
                  <a:schemeClr val="tx1"/>
                </a:solidFill>
                <a:latin typeface="Times New Roman" panose="02020603050405020304" pitchFamily="18" charset="0"/>
                <a:ea typeface="宋体" panose="02010600030101010101" pitchFamily="2" charset="-122"/>
              </a:defRPr>
            </a:lvl2pPr>
            <a:lvl3pPr marL="1143000" indent="-228600" defTabSz="948055">
              <a:defRPr sz="2400">
                <a:solidFill>
                  <a:schemeClr val="tx1"/>
                </a:solidFill>
                <a:latin typeface="Times New Roman" panose="02020603050405020304" pitchFamily="18" charset="0"/>
                <a:ea typeface="宋体" panose="02010600030101010101" pitchFamily="2" charset="-122"/>
              </a:defRPr>
            </a:lvl3pPr>
            <a:lvl4pPr marL="1600200" indent="-228600" defTabSz="948055">
              <a:defRPr sz="2400">
                <a:solidFill>
                  <a:schemeClr val="tx1"/>
                </a:solidFill>
                <a:latin typeface="Times New Roman" panose="02020603050405020304" pitchFamily="18" charset="0"/>
                <a:ea typeface="宋体" panose="02010600030101010101" pitchFamily="2" charset="-122"/>
              </a:defRPr>
            </a:lvl4pPr>
            <a:lvl5pPr marL="2057400" indent="-228600" defTabSz="948055">
              <a:defRPr sz="2400">
                <a:solidFill>
                  <a:schemeClr val="tx1"/>
                </a:solidFill>
                <a:latin typeface="Times New Roman" panose="02020603050405020304" pitchFamily="18" charset="0"/>
                <a:ea typeface="宋体" panose="02010600030101010101" pitchFamily="2" charset="-122"/>
              </a:defRPr>
            </a:lvl5pPr>
            <a:lvl6pPr marL="25146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fld id="{DF42230A-C53C-45E9-A340-B2E17B2B80B6}" type="slidenum">
              <a:rPr lang="zh-CN" altLang="en-US" sz="1200"/>
              <a:t>60</a:t>
            </a:fld>
            <a:endParaRPr lang="en-US" altLang="zh-CN" sz="1200"/>
          </a:p>
        </p:txBody>
      </p:sp>
    </p:spTree>
    <p:extLst>
      <p:ext uri="{BB962C8B-B14F-4D97-AF65-F5344CB8AC3E}">
        <p14:creationId xmlns:p14="http://schemas.microsoft.com/office/powerpoint/2010/main" val="30051268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TextEdit="1"/>
          </p:cNvSpPr>
          <p:nvPr>
            <p:ph type="sldImg"/>
          </p:nvPr>
        </p:nvSpPr>
        <p:spPr/>
      </p:sp>
      <p:sp>
        <p:nvSpPr>
          <p:cNvPr id="491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91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8055">
              <a:defRPr sz="2400">
                <a:solidFill>
                  <a:schemeClr val="tx1"/>
                </a:solidFill>
                <a:latin typeface="Times New Roman" panose="02020603050405020304" pitchFamily="18" charset="0"/>
                <a:ea typeface="宋体" panose="02010600030101010101" pitchFamily="2" charset="-122"/>
              </a:defRPr>
            </a:lvl1pPr>
            <a:lvl2pPr marL="742950" indent="-285750" defTabSz="948055">
              <a:defRPr sz="2400">
                <a:solidFill>
                  <a:schemeClr val="tx1"/>
                </a:solidFill>
                <a:latin typeface="Times New Roman" panose="02020603050405020304" pitchFamily="18" charset="0"/>
                <a:ea typeface="宋体" panose="02010600030101010101" pitchFamily="2" charset="-122"/>
              </a:defRPr>
            </a:lvl2pPr>
            <a:lvl3pPr marL="1143000" indent="-228600" defTabSz="948055">
              <a:defRPr sz="2400">
                <a:solidFill>
                  <a:schemeClr val="tx1"/>
                </a:solidFill>
                <a:latin typeface="Times New Roman" panose="02020603050405020304" pitchFamily="18" charset="0"/>
                <a:ea typeface="宋体" panose="02010600030101010101" pitchFamily="2" charset="-122"/>
              </a:defRPr>
            </a:lvl3pPr>
            <a:lvl4pPr marL="1600200" indent="-228600" defTabSz="948055">
              <a:defRPr sz="2400">
                <a:solidFill>
                  <a:schemeClr val="tx1"/>
                </a:solidFill>
                <a:latin typeface="Times New Roman" panose="02020603050405020304" pitchFamily="18" charset="0"/>
                <a:ea typeface="宋体" panose="02010600030101010101" pitchFamily="2" charset="-122"/>
              </a:defRPr>
            </a:lvl4pPr>
            <a:lvl5pPr marL="2057400" indent="-228600" defTabSz="948055">
              <a:defRPr sz="2400">
                <a:solidFill>
                  <a:schemeClr val="tx1"/>
                </a:solidFill>
                <a:latin typeface="Times New Roman" panose="02020603050405020304" pitchFamily="18" charset="0"/>
                <a:ea typeface="宋体" panose="02010600030101010101" pitchFamily="2" charset="-122"/>
              </a:defRPr>
            </a:lvl5pPr>
            <a:lvl6pPr marL="25146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fld id="{B693EB67-CF4A-43A2-9357-C7442060055D}" type="slidenum">
              <a:rPr lang="zh-CN" altLang="en-US" sz="1200"/>
              <a:t>61</a:t>
            </a:fld>
            <a:endParaRPr lang="en-US" altLang="zh-CN" sz="120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Rot="1" noChangeAspect="1" noChangeArrowheads="1" noTextEdit="1"/>
          </p:cNvSpPr>
          <p:nvPr>
            <p:ph type="sldImg"/>
          </p:nvPr>
        </p:nvSpPr>
        <p:spPr/>
      </p:sp>
      <p:sp>
        <p:nvSpPr>
          <p:cNvPr id="133123" name="Rectangle 3"/>
          <p:cNvSpPr>
            <a:spLocks noGrp="1" noChangeArrowheads="1"/>
          </p:cNvSpPr>
          <p:nvPr>
            <p:ph type="body" idx="1"/>
          </p:nvPr>
        </p:nvSpPr>
        <p:spPr>
          <a:noFill/>
        </p:spPr>
        <p:txBody>
          <a:bodyPr/>
          <a:lstStyle/>
          <a:p>
            <a:r>
              <a:rPr lang="zh-CN" altLang="en-US" dirty="0"/>
              <a:t>特征检测是指运用已知攻击方法</a:t>
            </a:r>
            <a:r>
              <a:rPr lang="en-US" altLang="zh-CN" dirty="0"/>
              <a:t>,</a:t>
            </a:r>
            <a:r>
              <a:rPr lang="zh-CN" altLang="en-US" dirty="0"/>
              <a:t>根据已定义好的入侵模式</a:t>
            </a:r>
            <a:r>
              <a:rPr lang="en-US" altLang="zh-CN" dirty="0"/>
              <a:t>,</a:t>
            </a:r>
            <a:r>
              <a:rPr lang="zh-CN" altLang="en-US" dirty="0"/>
              <a:t>通过判断这些入侵模式是否出现来检测 </a:t>
            </a:r>
          </a:p>
          <a:p>
            <a:r>
              <a:rPr lang="zh-CN" altLang="en-US" dirty="0"/>
              <a:t>准确性高</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Rot="1" noChangeAspect="1" noChangeArrowheads="1" noTextEdit="1"/>
          </p:cNvSpPr>
          <p:nvPr>
            <p:ph type="sldImg"/>
          </p:nvPr>
        </p:nvSpPr>
        <p:spPr/>
      </p:sp>
      <p:sp>
        <p:nvSpPr>
          <p:cNvPr id="134147" name="Rectangle 3"/>
          <p:cNvSpPr>
            <a:spLocks noGrp="1" noChangeArrowheads="1"/>
          </p:cNvSpPr>
          <p:nvPr>
            <p:ph type="body" idx="1"/>
          </p:nvPr>
        </p:nvSpPr>
        <p:spPr>
          <a:noFill/>
        </p:spPr>
        <p:txBody>
          <a:bodyPr/>
          <a:lstStyle/>
          <a:p>
            <a:r>
              <a:rPr lang="zh-CN" altLang="en-US"/>
              <a:t>特征检测是指运用已知攻击方法</a:t>
            </a:r>
            <a:r>
              <a:rPr lang="en-US" altLang="zh-CN"/>
              <a:t>,</a:t>
            </a:r>
            <a:r>
              <a:rPr lang="zh-CN" altLang="en-US"/>
              <a:t>根据已定义好的入侵模式</a:t>
            </a:r>
            <a:r>
              <a:rPr lang="en-US" altLang="zh-CN"/>
              <a:t>,</a:t>
            </a:r>
            <a:r>
              <a:rPr lang="zh-CN" altLang="en-US"/>
              <a:t>通过判断这些入侵模式是否出现来检测 </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Rot="1" noChangeAspect="1" noChangeArrowheads="1" noTextEdit="1"/>
          </p:cNvSpPr>
          <p:nvPr>
            <p:ph type="sldImg"/>
          </p:nvPr>
        </p:nvSpPr>
        <p:spPr/>
      </p:sp>
      <p:sp>
        <p:nvSpPr>
          <p:cNvPr id="135171" name="Rectangle 3"/>
          <p:cNvSpPr>
            <a:spLocks noGrp="1" noChangeArrowheads="1"/>
          </p:cNvSpPr>
          <p:nvPr>
            <p:ph type="body" idx="1"/>
          </p:nvPr>
        </p:nvSpPr>
        <p:spPr>
          <a:noFill/>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p:sp>
      <p:sp>
        <p:nvSpPr>
          <p:cNvPr id="5734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734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8055">
              <a:defRPr sz="2400">
                <a:solidFill>
                  <a:schemeClr val="tx1"/>
                </a:solidFill>
                <a:latin typeface="Times New Roman" panose="02020603050405020304" pitchFamily="18" charset="0"/>
                <a:ea typeface="宋体" panose="02010600030101010101" pitchFamily="2" charset="-122"/>
              </a:defRPr>
            </a:lvl1pPr>
            <a:lvl2pPr marL="742950" indent="-285750" defTabSz="948055">
              <a:defRPr sz="2400">
                <a:solidFill>
                  <a:schemeClr val="tx1"/>
                </a:solidFill>
                <a:latin typeface="Times New Roman" panose="02020603050405020304" pitchFamily="18" charset="0"/>
                <a:ea typeface="宋体" panose="02010600030101010101" pitchFamily="2" charset="-122"/>
              </a:defRPr>
            </a:lvl2pPr>
            <a:lvl3pPr marL="1143000" indent="-228600" defTabSz="948055">
              <a:defRPr sz="2400">
                <a:solidFill>
                  <a:schemeClr val="tx1"/>
                </a:solidFill>
                <a:latin typeface="Times New Roman" panose="02020603050405020304" pitchFamily="18" charset="0"/>
                <a:ea typeface="宋体" panose="02010600030101010101" pitchFamily="2" charset="-122"/>
              </a:defRPr>
            </a:lvl3pPr>
            <a:lvl4pPr marL="1600200" indent="-228600" defTabSz="948055">
              <a:defRPr sz="2400">
                <a:solidFill>
                  <a:schemeClr val="tx1"/>
                </a:solidFill>
                <a:latin typeface="Times New Roman" panose="02020603050405020304" pitchFamily="18" charset="0"/>
                <a:ea typeface="宋体" panose="02010600030101010101" pitchFamily="2" charset="-122"/>
              </a:defRPr>
            </a:lvl4pPr>
            <a:lvl5pPr marL="2057400" indent="-228600" defTabSz="948055">
              <a:defRPr sz="2400">
                <a:solidFill>
                  <a:schemeClr val="tx1"/>
                </a:solidFill>
                <a:latin typeface="Times New Roman" panose="02020603050405020304" pitchFamily="18" charset="0"/>
                <a:ea typeface="宋体" panose="02010600030101010101" pitchFamily="2" charset="-122"/>
              </a:defRPr>
            </a:lvl5pPr>
            <a:lvl6pPr marL="25146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fld id="{C37A020B-282C-4722-9E47-6A7B3ACCC432}" type="slidenum">
              <a:rPr lang="zh-CN" altLang="en-US" sz="1200"/>
              <a:t>70</a:t>
            </a:fld>
            <a:endParaRPr lang="en-US" altLang="zh-CN"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p:cNvSpPr>
            <a:spLocks noGrp="1" noRot="1" noChangeAspect="1" noTextEdit="1"/>
          </p:cNvSpPr>
          <p:nvPr>
            <p:ph type="sldImg"/>
          </p:nvPr>
        </p:nvSpPr>
        <p:spPr/>
      </p:sp>
      <p:sp>
        <p:nvSpPr>
          <p:cNvPr id="593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939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8055">
              <a:defRPr sz="2400">
                <a:solidFill>
                  <a:schemeClr val="tx1"/>
                </a:solidFill>
                <a:latin typeface="Times New Roman" panose="02020603050405020304" pitchFamily="18" charset="0"/>
                <a:ea typeface="宋体" panose="02010600030101010101" pitchFamily="2" charset="-122"/>
              </a:defRPr>
            </a:lvl1pPr>
            <a:lvl2pPr marL="742950" indent="-285750" defTabSz="948055">
              <a:defRPr sz="2400">
                <a:solidFill>
                  <a:schemeClr val="tx1"/>
                </a:solidFill>
                <a:latin typeface="Times New Roman" panose="02020603050405020304" pitchFamily="18" charset="0"/>
                <a:ea typeface="宋体" panose="02010600030101010101" pitchFamily="2" charset="-122"/>
              </a:defRPr>
            </a:lvl2pPr>
            <a:lvl3pPr marL="1143000" indent="-228600" defTabSz="948055">
              <a:defRPr sz="2400">
                <a:solidFill>
                  <a:schemeClr val="tx1"/>
                </a:solidFill>
                <a:latin typeface="Times New Roman" panose="02020603050405020304" pitchFamily="18" charset="0"/>
                <a:ea typeface="宋体" panose="02010600030101010101" pitchFamily="2" charset="-122"/>
              </a:defRPr>
            </a:lvl3pPr>
            <a:lvl4pPr marL="1600200" indent="-228600" defTabSz="948055">
              <a:defRPr sz="2400">
                <a:solidFill>
                  <a:schemeClr val="tx1"/>
                </a:solidFill>
                <a:latin typeface="Times New Roman" panose="02020603050405020304" pitchFamily="18" charset="0"/>
                <a:ea typeface="宋体" panose="02010600030101010101" pitchFamily="2" charset="-122"/>
              </a:defRPr>
            </a:lvl4pPr>
            <a:lvl5pPr marL="2057400" indent="-228600" defTabSz="948055">
              <a:defRPr sz="2400">
                <a:solidFill>
                  <a:schemeClr val="tx1"/>
                </a:solidFill>
                <a:latin typeface="Times New Roman" panose="02020603050405020304" pitchFamily="18" charset="0"/>
                <a:ea typeface="宋体" panose="02010600030101010101" pitchFamily="2" charset="-122"/>
              </a:defRPr>
            </a:lvl5pPr>
            <a:lvl6pPr marL="25146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fld id="{8A569E15-045B-4250-9F0E-586F11789CFF}" type="slidenum">
              <a:rPr lang="zh-CN" altLang="en-US" sz="1200"/>
              <a:t>71</a:t>
            </a:fld>
            <a:endParaRPr lang="en-US" altLang="zh-CN"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幻灯片图像占位符 1"/>
          <p:cNvSpPr>
            <a:spLocks noGrp="1" noRot="1" noChangeAspect="1" noTextEdit="1"/>
          </p:cNvSpPr>
          <p:nvPr>
            <p:ph type="sldImg"/>
          </p:nvPr>
        </p:nvSpPr>
        <p:spPr/>
      </p:sp>
      <p:sp>
        <p:nvSpPr>
          <p:cNvPr id="614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14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8055">
              <a:defRPr sz="2400">
                <a:solidFill>
                  <a:schemeClr val="tx1"/>
                </a:solidFill>
                <a:latin typeface="Times New Roman" panose="02020603050405020304" pitchFamily="18" charset="0"/>
                <a:ea typeface="宋体" panose="02010600030101010101" pitchFamily="2" charset="-122"/>
              </a:defRPr>
            </a:lvl1pPr>
            <a:lvl2pPr marL="742950" indent="-285750" defTabSz="948055">
              <a:defRPr sz="2400">
                <a:solidFill>
                  <a:schemeClr val="tx1"/>
                </a:solidFill>
                <a:latin typeface="Times New Roman" panose="02020603050405020304" pitchFamily="18" charset="0"/>
                <a:ea typeface="宋体" panose="02010600030101010101" pitchFamily="2" charset="-122"/>
              </a:defRPr>
            </a:lvl2pPr>
            <a:lvl3pPr marL="1143000" indent="-228600" defTabSz="948055">
              <a:defRPr sz="2400">
                <a:solidFill>
                  <a:schemeClr val="tx1"/>
                </a:solidFill>
                <a:latin typeface="Times New Roman" panose="02020603050405020304" pitchFamily="18" charset="0"/>
                <a:ea typeface="宋体" panose="02010600030101010101" pitchFamily="2" charset="-122"/>
              </a:defRPr>
            </a:lvl3pPr>
            <a:lvl4pPr marL="1600200" indent="-228600" defTabSz="948055">
              <a:defRPr sz="2400">
                <a:solidFill>
                  <a:schemeClr val="tx1"/>
                </a:solidFill>
                <a:latin typeface="Times New Roman" panose="02020603050405020304" pitchFamily="18" charset="0"/>
                <a:ea typeface="宋体" panose="02010600030101010101" pitchFamily="2" charset="-122"/>
              </a:defRPr>
            </a:lvl4pPr>
            <a:lvl5pPr marL="2057400" indent="-228600" defTabSz="948055">
              <a:defRPr sz="2400">
                <a:solidFill>
                  <a:schemeClr val="tx1"/>
                </a:solidFill>
                <a:latin typeface="Times New Roman" panose="02020603050405020304" pitchFamily="18" charset="0"/>
                <a:ea typeface="宋体" panose="02010600030101010101" pitchFamily="2" charset="-122"/>
              </a:defRPr>
            </a:lvl5pPr>
            <a:lvl6pPr marL="25146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fld id="{CB5F6552-17EA-4999-AD32-579477C70D5C}" type="slidenum">
              <a:rPr lang="zh-CN" altLang="en-US" sz="1200"/>
              <a:t>72</a:t>
            </a:fld>
            <a:endParaRPr lang="en-US" altLang="zh-CN"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Rot="1" noChangeAspect="1" noChangeArrowheads="1" noTextEdit="1"/>
          </p:cNvSpPr>
          <p:nvPr>
            <p:ph type="sldImg"/>
          </p:nvPr>
        </p:nvSpPr>
        <p:spPr/>
      </p:sp>
      <p:sp>
        <p:nvSpPr>
          <p:cNvPr id="136195" name="Rectangle 3"/>
          <p:cNvSpPr>
            <a:spLocks noGrp="1" noChangeArrowheads="1"/>
          </p:cNvSpPr>
          <p:nvPr>
            <p:ph type="body" idx="1"/>
          </p:nvPr>
        </p:nvSpPr>
        <p:spPr>
          <a:noFill/>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Rot="1" noChangeAspect="1" noChangeArrowheads="1" noTextEdit="1"/>
          </p:cNvSpPr>
          <p:nvPr>
            <p:ph type="sldImg"/>
          </p:nvPr>
        </p:nvSpPr>
        <p:spPr/>
      </p:sp>
      <p:sp>
        <p:nvSpPr>
          <p:cNvPr id="137219" name="Rectangle 3"/>
          <p:cNvSpPr>
            <a:spLocks noGrp="1" noChangeArrowheads="1"/>
          </p:cNvSpPr>
          <p:nvPr>
            <p:ph type="body" idx="1"/>
          </p:nvPr>
        </p:nvSpPr>
        <p:spPr>
          <a:noFill/>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Rot="1" noChangeAspect="1" noChangeArrowheads="1" noTextEdit="1"/>
          </p:cNvSpPr>
          <p:nvPr>
            <p:ph type="sldImg"/>
          </p:nvPr>
        </p:nvSpPr>
        <p:spPr/>
      </p:sp>
      <p:sp>
        <p:nvSpPr>
          <p:cNvPr id="138243" name="Rectangle 3"/>
          <p:cNvSpPr>
            <a:spLocks noGrp="1" noChangeArrowheads="1"/>
          </p:cNvSpPr>
          <p:nvPr>
            <p:ph type="body" idx="1"/>
          </p:nvPr>
        </p:nvSpPr>
        <p:spPr>
          <a:noFill/>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02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8055">
              <a:defRPr sz="2400">
                <a:solidFill>
                  <a:schemeClr val="tx1"/>
                </a:solidFill>
                <a:latin typeface="Times New Roman" panose="02020603050405020304" pitchFamily="18" charset="0"/>
                <a:ea typeface="宋体" panose="02010600030101010101" pitchFamily="2" charset="-122"/>
              </a:defRPr>
            </a:lvl1pPr>
            <a:lvl2pPr marL="742950" indent="-285750" defTabSz="948055">
              <a:defRPr sz="2400">
                <a:solidFill>
                  <a:schemeClr val="tx1"/>
                </a:solidFill>
                <a:latin typeface="Times New Roman" panose="02020603050405020304" pitchFamily="18" charset="0"/>
                <a:ea typeface="宋体" panose="02010600030101010101" pitchFamily="2" charset="-122"/>
              </a:defRPr>
            </a:lvl2pPr>
            <a:lvl3pPr marL="1143000" indent="-228600" defTabSz="948055">
              <a:defRPr sz="2400">
                <a:solidFill>
                  <a:schemeClr val="tx1"/>
                </a:solidFill>
                <a:latin typeface="Times New Roman" panose="02020603050405020304" pitchFamily="18" charset="0"/>
                <a:ea typeface="宋体" panose="02010600030101010101" pitchFamily="2" charset="-122"/>
              </a:defRPr>
            </a:lvl3pPr>
            <a:lvl4pPr marL="1600200" indent="-228600" defTabSz="948055">
              <a:defRPr sz="2400">
                <a:solidFill>
                  <a:schemeClr val="tx1"/>
                </a:solidFill>
                <a:latin typeface="Times New Roman" panose="02020603050405020304" pitchFamily="18" charset="0"/>
                <a:ea typeface="宋体" panose="02010600030101010101" pitchFamily="2" charset="-122"/>
              </a:defRPr>
            </a:lvl4pPr>
            <a:lvl5pPr marL="2057400" indent="-228600" defTabSz="948055">
              <a:defRPr sz="2400">
                <a:solidFill>
                  <a:schemeClr val="tx1"/>
                </a:solidFill>
                <a:latin typeface="Times New Roman" panose="02020603050405020304" pitchFamily="18" charset="0"/>
                <a:ea typeface="宋体" panose="02010600030101010101" pitchFamily="2" charset="-122"/>
              </a:defRPr>
            </a:lvl5pPr>
            <a:lvl6pPr marL="25146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defTabSz="948055"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fld id="{5A9EBC16-F52C-413E-9D3A-F7B5ED12953A}" type="slidenum">
              <a:rPr lang="zh-CN" altLang="en-US" sz="1200"/>
              <a:t>76</a:t>
            </a:fld>
            <a:endParaRPr lang="en-US" altLang="zh-CN"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Rot="1" noChangeAspect="1" noChangeArrowheads="1" noTextEdit="1"/>
          </p:cNvSpPr>
          <p:nvPr>
            <p:ph type="sldImg"/>
          </p:nvPr>
        </p:nvSpPr>
        <p:spPr/>
      </p:sp>
      <p:sp>
        <p:nvSpPr>
          <p:cNvPr id="139267" name="Rectangle 3"/>
          <p:cNvSpPr>
            <a:spLocks noGrp="1" noChangeArrowheads="1"/>
          </p:cNvSpPr>
          <p:nvPr>
            <p:ph type="body" idx="1"/>
          </p:nvPr>
        </p:nvSpPr>
        <p:spPr>
          <a:noFill/>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Rot="1" noChangeAspect="1" noChangeArrowheads="1" noTextEdit="1"/>
          </p:cNvSpPr>
          <p:nvPr>
            <p:ph type="sldImg"/>
          </p:nvPr>
        </p:nvSpPr>
        <p:spPr/>
      </p:sp>
      <p:sp>
        <p:nvSpPr>
          <p:cNvPr id="140291" name="Rectangle 3"/>
          <p:cNvSpPr>
            <a:spLocks noGrp="1" noChangeArrowheads="1"/>
          </p:cNvSpPr>
          <p:nvPr>
            <p:ph type="body" idx="1"/>
          </p:nvPr>
        </p:nvSpPr>
        <p:spPr>
          <a:noFill/>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Rot="1" noChangeAspect="1" noChangeArrowheads="1" noTextEdit="1"/>
          </p:cNvSpPr>
          <p:nvPr>
            <p:ph type="sldImg"/>
          </p:nvPr>
        </p:nvSpPr>
        <p:spPr/>
      </p:sp>
      <p:sp>
        <p:nvSpPr>
          <p:cNvPr id="141315" name="Rectangle 3"/>
          <p:cNvSpPr>
            <a:spLocks noGrp="1" noChangeArrowheads="1"/>
          </p:cNvSpPr>
          <p:nvPr>
            <p:ph type="body" idx="1"/>
          </p:nvPr>
        </p:nvSpPr>
        <p:spPr>
          <a:noFill/>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Rot="1" noChangeAspect="1" noChangeArrowheads="1" noTextEdit="1"/>
          </p:cNvSpPr>
          <p:nvPr>
            <p:ph type="sldImg"/>
          </p:nvPr>
        </p:nvSpPr>
        <p:spPr/>
      </p:sp>
      <p:sp>
        <p:nvSpPr>
          <p:cNvPr id="142339" name="Rectangle 3"/>
          <p:cNvSpPr>
            <a:spLocks noGrp="1" noChangeArrowheads="1"/>
          </p:cNvSpPr>
          <p:nvPr>
            <p:ph type="body" idx="1"/>
          </p:nvPr>
        </p:nvSpPr>
        <p:spPr>
          <a:noFill/>
        </p:spPr>
        <p:txBody>
          <a:bodyPr/>
          <a:lstStyle/>
          <a:p>
            <a:r>
              <a:rPr lang="zh-CN" altLang="en-AU" sz="1200" b="1" dirty="0">
                <a:latin typeface="宋体" panose="02010600030101010101" pitchFamily="2" charset="-122"/>
              </a:rPr>
              <a:t>以</a:t>
            </a:r>
            <a:r>
              <a:rPr lang="zh-CN" altLang="en-US" sz="1200" b="1" dirty="0">
                <a:latin typeface="宋体" panose="02010600030101010101" pitchFamily="2" charset="-122"/>
              </a:rPr>
              <a:t>防止</a:t>
            </a:r>
            <a:r>
              <a:rPr lang="zh-CN" altLang="en-AU" sz="1200" b="1" dirty="0">
                <a:latin typeface="宋体" panose="02010600030101010101" pitchFamily="2" charset="-122"/>
              </a:rPr>
              <a:t>响应机制被入侵者利用，导致拒绝服务。</a:t>
            </a:r>
            <a:endParaRPr lang="zh-CN"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B487D939-5749-4C63-8AED-0305FE88E523}" type="slidenum">
              <a:rPr lang="zh-CN" altLang="en-US" smtClean="0"/>
              <a:t>83</a:t>
            </a:fld>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miter lim="800000"/>
          </a:ln>
        </p:spPr>
        <p:txBody>
          <a:bodyPr/>
          <a:lstStyle/>
          <a:p>
            <a:fld id="{95F5FE24-EE70-4639-BDB9-DE52F4812F4F}" type="slidenum">
              <a:rPr lang="en-US" altLang="zh-CN"/>
              <a:t>84</a:t>
            </a:fld>
            <a:endParaRPr lang="en-US" altLang="zh-CN"/>
          </a:p>
        </p:txBody>
      </p:sp>
      <p:sp>
        <p:nvSpPr>
          <p:cNvPr id="91139" name="Rectangle 2"/>
          <p:cNvSpPr>
            <a:spLocks noGrp="1" noRot="1" noChangeAspect="1" noChangeArrowheads="1" noTextEdit="1"/>
          </p:cNvSpPr>
          <p:nvPr>
            <p:ph type="sldImg"/>
          </p:nvPr>
        </p:nvSpPr>
        <p:spPr>
          <a:xfrm>
            <a:off x="1422400" y="841375"/>
            <a:ext cx="4471988" cy="3354388"/>
          </a:xfrm>
        </p:spPr>
      </p:sp>
      <p:sp>
        <p:nvSpPr>
          <p:cNvPr id="91140"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20999706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B487D939-5749-4C63-8AED-0305FE88E523}" type="slidenum">
              <a:rPr lang="zh-CN" altLang="en-US" smtClean="0"/>
              <a:t>85</a:t>
            </a:fld>
            <a:endParaRPr lang="en-US" altLang="zh-CN"/>
          </a:p>
        </p:txBody>
      </p:sp>
    </p:spTree>
    <p:extLst>
      <p:ext uri="{BB962C8B-B14F-4D97-AF65-F5344CB8AC3E}">
        <p14:creationId xmlns:p14="http://schemas.microsoft.com/office/powerpoint/2010/main" val="128896289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miter lim="800000"/>
          </a:ln>
        </p:spPr>
        <p:txBody>
          <a:bodyPr/>
          <a:lstStyle/>
          <a:p>
            <a:fld id="{AD3DFDED-1953-4350-B4D6-A47A01F964B9}" type="slidenum">
              <a:rPr lang="en-US" altLang="zh-CN"/>
              <a:t>86</a:t>
            </a:fld>
            <a:endParaRPr lang="en-US" altLang="zh-CN"/>
          </a:p>
        </p:txBody>
      </p:sp>
      <p:sp>
        <p:nvSpPr>
          <p:cNvPr id="93187" name="Rectangle 2"/>
          <p:cNvSpPr>
            <a:spLocks noGrp="1" noRot="1" noChangeAspect="1" noChangeArrowheads="1" noTextEdit="1"/>
          </p:cNvSpPr>
          <p:nvPr>
            <p:ph type="sldImg"/>
          </p:nvPr>
        </p:nvSpPr>
        <p:spPr>
          <a:xfrm>
            <a:off x="1422400" y="841375"/>
            <a:ext cx="4471988" cy="3354388"/>
          </a:xfrm>
        </p:spPr>
      </p:sp>
      <p:sp>
        <p:nvSpPr>
          <p:cNvPr id="93188"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349057742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miter lim="800000"/>
          </a:ln>
        </p:spPr>
        <p:txBody>
          <a:bodyPr/>
          <a:lstStyle/>
          <a:p>
            <a:fld id="{AD3DFDED-1953-4350-B4D6-A47A01F964B9}" type="slidenum">
              <a:rPr lang="en-US" altLang="zh-CN"/>
              <a:t>87</a:t>
            </a:fld>
            <a:endParaRPr lang="en-US" altLang="zh-CN"/>
          </a:p>
        </p:txBody>
      </p:sp>
      <p:sp>
        <p:nvSpPr>
          <p:cNvPr id="93187" name="Rectangle 2"/>
          <p:cNvSpPr>
            <a:spLocks noGrp="1" noRot="1" noChangeAspect="1" noChangeArrowheads="1" noTextEdit="1"/>
          </p:cNvSpPr>
          <p:nvPr>
            <p:ph type="sldImg"/>
          </p:nvPr>
        </p:nvSpPr>
        <p:spPr>
          <a:xfrm>
            <a:off x="1422400" y="841375"/>
            <a:ext cx="4471988" cy="3354388"/>
          </a:xfrm>
        </p:spPr>
      </p:sp>
      <p:sp>
        <p:nvSpPr>
          <p:cNvPr id="93188"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31660831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miter lim="800000"/>
          </a:ln>
        </p:spPr>
        <p:txBody>
          <a:bodyPr/>
          <a:lstStyle/>
          <a:p>
            <a:fld id="{24E6BEDF-664F-45E0-9BB6-581137CD9BA5}" type="slidenum">
              <a:rPr lang="en-US" altLang="zh-CN"/>
              <a:t>88</a:t>
            </a:fld>
            <a:endParaRPr lang="en-US" altLang="zh-CN"/>
          </a:p>
        </p:txBody>
      </p:sp>
      <p:sp>
        <p:nvSpPr>
          <p:cNvPr id="115715" name="Rectangle 2"/>
          <p:cNvSpPr>
            <a:spLocks noGrp="1" noRot="1" noChangeAspect="1" noChangeArrowheads="1" noTextEdit="1"/>
          </p:cNvSpPr>
          <p:nvPr>
            <p:ph type="sldImg"/>
          </p:nvPr>
        </p:nvSpPr>
        <p:spPr>
          <a:xfrm>
            <a:off x="1422400" y="841375"/>
            <a:ext cx="4471988" cy="3354388"/>
          </a:xfrm>
        </p:spPr>
      </p:sp>
      <p:sp>
        <p:nvSpPr>
          <p:cNvPr id="115716"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186542382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miter lim="800000"/>
          </a:ln>
        </p:spPr>
        <p:txBody>
          <a:bodyPr/>
          <a:lstStyle/>
          <a:p>
            <a:fld id="{852E739A-D083-4ADA-A862-715C2CE7DAA6}" type="slidenum">
              <a:rPr lang="en-US" altLang="zh-CN"/>
              <a:t>89</a:t>
            </a:fld>
            <a:endParaRPr lang="en-US" altLang="zh-CN"/>
          </a:p>
        </p:txBody>
      </p:sp>
      <p:sp>
        <p:nvSpPr>
          <p:cNvPr id="94211" name="Rectangle 2"/>
          <p:cNvSpPr>
            <a:spLocks noGrp="1" noRot="1" noChangeAspect="1" noChangeArrowheads="1" noTextEdit="1"/>
          </p:cNvSpPr>
          <p:nvPr>
            <p:ph type="sldImg"/>
          </p:nvPr>
        </p:nvSpPr>
        <p:spPr>
          <a:xfrm>
            <a:off x="1422400" y="841375"/>
            <a:ext cx="4471988" cy="3354388"/>
          </a:xfrm>
        </p:spPr>
      </p:sp>
      <p:sp>
        <p:nvSpPr>
          <p:cNvPr id="94212" name="Rectangle 3"/>
          <p:cNvSpPr>
            <a:spLocks noGrp="1" noChangeArrowheads="1"/>
          </p:cNvSpPr>
          <p:nvPr>
            <p:ph type="body" idx="1"/>
          </p:nvPr>
        </p:nvSpPr>
        <p:spPr>
          <a:xfrm>
            <a:off x="975361" y="4562238"/>
            <a:ext cx="5362787" cy="4043839"/>
          </a:xfrm>
          <a:noFill/>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sz="1200" b="0" i="0" kern="1200">
                <a:solidFill>
                  <a:schemeClr val="tx1"/>
                </a:solidFill>
                <a:effectLst/>
                <a:latin typeface="Arial" panose="020B0604020202020204" pitchFamily="34" charset="0"/>
                <a:ea typeface="+mn-ea"/>
                <a:cs typeface="+mn-cs"/>
              </a:rPr>
              <a:t>与</a:t>
            </a:r>
            <a:r>
              <a:rPr lang="en-US" altLang="zh-CN" sz="1200" b="0" i="0" kern="1200">
                <a:solidFill>
                  <a:schemeClr val="tx1"/>
                </a:solidFill>
                <a:effectLst/>
                <a:latin typeface="Arial" panose="020B0604020202020204" pitchFamily="34" charset="0"/>
                <a:ea typeface="+mn-ea"/>
                <a:cs typeface="+mn-cs"/>
              </a:rPr>
              <a:t>libpcap</a:t>
            </a:r>
            <a:r>
              <a:rPr lang="zh-CN" altLang="en-US" sz="1200" b="0" i="0" kern="1200">
                <a:solidFill>
                  <a:schemeClr val="tx1"/>
                </a:solidFill>
                <a:effectLst/>
                <a:latin typeface="Arial" panose="020B0604020202020204" pitchFamily="34" charset="0"/>
                <a:ea typeface="+mn-ea"/>
                <a:cs typeface="+mn-cs"/>
              </a:rPr>
              <a:t>类似，常用来编写有关网络测试、网络监控的工具</a:t>
            </a:r>
            <a:endParaRPr lang="zh-CN" altLang="zh-CN"/>
          </a:p>
        </p:txBody>
      </p:sp>
    </p:spTree>
    <p:extLst>
      <p:ext uri="{BB962C8B-B14F-4D97-AF65-F5344CB8AC3E}">
        <p14:creationId xmlns:p14="http://schemas.microsoft.com/office/powerpoint/2010/main" val="337002295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miter lim="800000"/>
          </a:ln>
        </p:spPr>
        <p:txBody>
          <a:bodyPr/>
          <a:lstStyle/>
          <a:p>
            <a:fld id="{C464D3C7-E309-43F9-A16E-8C3E0A7057FD}" type="slidenum">
              <a:rPr lang="en-US" altLang="zh-CN"/>
              <a:t>90</a:t>
            </a:fld>
            <a:endParaRPr lang="en-US" altLang="zh-CN"/>
          </a:p>
        </p:txBody>
      </p:sp>
      <p:sp>
        <p:nvSpPr>
          <p:cNvPr id="96259" name="Rectangle 2"/>
          <p:cNvSpPr>
            <a:spLocks noGrp="1" noRot="1" noChangeAspect="1" noChangeArrowheads="1" noTextEdit="1"/>
          </p:cNvSpPr>
          <p:nvPr>
            <p:ph type="sldImg"/>
          </p:nvPr>
        </p:nvSpPr>
        <p:spPr>
          <a:xfrm>
            <a:off x="1422400" y="841375"/>
            <a:ext cx="4471988" cy="3354388"/>
          </a:xfrm>
        </p:spPr>
      </p:sp>
      <p:sp>
        <p:nvSpPr>
          <p:cNvPr id="96260"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257402429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miter lim="800000"/>
          </a:ln>
        </p:spPr>
        <p:txBody>
          <a:bodyPr/>
          <a:lstStyle/>
          <a:p>
            <a:fld id="{C464D3C7-E309-43F9-A16E-8C3E0A7057FD}" type="slidenum">
              <a:rPr lang="en-US" altLang="zh-CN"/>
              <a:t>91</a:t>
            </a:fld>
            <a:endParaRPr lang="en-US" altLang="zh-CN"/>
          </a:p>
        </p:txBody>
      </p:sp>
      <p:sp>
        <p:nvSpPr>
          <p:cNvPr id="96259" name="Rectangle 2"/>
          <p:cNvSpPr>
            <a:spLocks noGrp="1" noRot="1" noChangeAspect="1" noChangeArrowheads="1" noTextEdit="1"/>
          </p:cNvSpPr>
          <p:nvPr>
            <p:ph type="sldImg"/>
          </p:nvPr>
        </p:nvSpPr>
        <p:spPr>
          <a:xfrm>
            <a:off x="1422400" y="841375"/>
            <a:ext cx="4471988" cy="3354388"/>
          </a:xfrm>
        </p:spPr>
      </p:sp>
      <p:sp>
        <p:nvSpPr>
          <p:cNvPr id="96260"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392281754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miter lim="800000"/>
          </a:ln>
        </p:spPr>
        <p:txBody>
          <a:bodyPr/>
          <a:lstStyle/>
          <a:p>
            <a:fld id="{C464D3C7-E309-43F9-A16E-8C3E0A7057FD}" type="slidenum">
              <a:rPr lang="en-US" altLang="zh-CN"/>
              <a:t>92</a:t>
            </a:fld>
            <a:endParaRPr lang="en-US" altLang="zh-CN"/>
          </a:p>
        </p:txBody>
      </p:sp>
      <p:sp>
        <p:nvSpPr>
          <p:cNvPr id="96259" name="Rectangle 2"/>
          <p:cNvSpPr>
            <a:spLocks noGrp="1" noRot="1" noChangeAspect="1" noChangeArrowheads="1" noTextEdit="1"/>
          </p:cNvSpPr>
          <p:nvPr>
            <p:ph type="sldImg"/>
          </p:nvPr>
        </p:nvSpPr>
        <p:spPr>
          <a:xfrm>
            <a:off x="1422400" y="841375"/>
            <a:ext cx="4471988" cy="3354388"/>
          </a:xfrm>
        </p:spPr>
      </p:sp>
      <p:sp>
        <p:nvSpPr>
          <p:cNvPr id="96260"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38101391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miter lim="800000"/>
          </a:ln>
        </p:spPr>
        <p:txBody>
          <a:bodyPr/>
          <a:lstStyle/>
          <a:p>
            <a:fld id="{C464D3C7-E309-43F9-A16E-8C3E0A7057FD}" type="slidenum">
              <a:rPr lang="en-US" altLang="zh-CN"/>
              <a:t>93</a:t>
            </a:fld>
            <a:endParaRPr lang="en-US" altLang="zh-CN"/>
          </a:p>
        </p:txBody>
      </p:sp>
      <p:sp>
        <p:nvSpPr>
          <p:cNvPr id="96259" name="Rectangle 2"/>
          <p:cNvSpPr>
            <a:spLocks noGrp="1" noRot="1" noChangeAspect="1" noChangeArrowheads="1" noTextEdit="1"/>
          </p:cNvSpPr>
          <p:nvPr>
            <p:ph type="sldImg"/>
          </p:nvPr>
        </p:nvSpPr>
        <p:spPr>
          <a:xfrm>
            <a:off x="1422400" y="841375"/>
            <a:ext cx="4471988" cy="3354388"/>
          </a:xfrm>
        </p:spPr>
      </p:sp>
      <p:sp>
        <p:nvSpPr>
          <p:cNvPr id="96260"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237473809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miter lim="800000"/>
          </a:ln>
        </p:spPr>
        <p:txBody>
          <a:bodyPr/>
          <a:lstStyle/>
          <a:p>
            <a:fld id="{C464D3C7-E309-43F9-A16E-8C3E0A7057FD}" type="slidenum">
              <a:rPr lang="en-US" altLang="zh-CN"/>
              <a:t>94</a:t>
            </a:fld>
            <a:endParaRPr lang="en-US" altLang="zh-CN"/>
          </a:p>
        </p:txBody>
      </p:sp>
      <p:sp>
        <p:nvSpPr>
          <p:cNvPr id="96259" name="Rectangle 2"/>
          <p:cNvSpPr>
            <a:spLocks noGrp="1" noRot="1" noChangeAspect="1" noChangeArrowheads="1" noTextEdit="1"/>
          </p:cNvSpPr>
          <p:nvPr>
            <p:ph type="sldImg"/>
          </p:nvPr>
        </p:nvSpPr>
        <p:spPr>
          <a:xfrm>
            <a:off x="1422400" y="841375"/>
            <a:ext cx="4471988" cy="3354388"/>
          </a:xfrm>
        </p:spPr>
      </p:sp>
      <p:sp>
        <p:nvSpPr>
          <p:cNvPr id="96260"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222376767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miter lim="800000"/>
          </a:ln>
        </p:spPr>
        <p:txBody>
          <a:bodyPr/>
          <a:lstStyle/>
          <a:p>
            <a:fld id="{C464D3C7-E309-43F9-A16E-8C3E0A7057FD}" type="slidenum">
              <a:rPr lang="en-US" altLang="zh-CN"/>
              <a:t>95</a:t>
            </a:fld>
            <a:endParaRPr lang="en-US" altLang="zh-CN"/>
          </a:p>
        </p:txBody>
      </p:sp>
      <p:sp>
        <p:nvSpPr>
          <p:cNvPr id="96259" name="Rectangle 2"/>
          <p:cNvSpPr>
            <a:spLocks noGrp="1" noRot="1" noChangeAspect="1" noChangeArrowheads="1" noTextEdit="1"/>
          </p:cNvSpPr>
          <p:nvPr>
            <p:ph type="sldImg"/>
          </p:nvPr>
        </p:nvSpPr>
        <p:spPr>
          <a:xfrm>
            <a:off x="1422400" y="841375"/>
            <a:ext cx="4471988" cy="3354388"/>
          </a:xfrm>
        </p:spPr>
      </p:sp>
      <p:sp>
        <p:nvSpPr>
          <p:cNvPr id="96260"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356587304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miter lim="800000"/>
          </a:ln>
        </p:spPr>
        <p:txBody>
          <a:bodyPr/>
          <a:lstStyle/>
          <a:p>
            <a:fld id="{C464D3C7-E309-43F9-A16E-8C3E0A7057FD}" type="slidenum">
              <a:rPr lang="en-US" altLang="zh-CN"/>
              <a:t>96</a:t>
            </a:fld>
            <a:endParaRPr lang="en-US" altLang="zh-CN"/>
          </a:p>
        </p:txBody>
      </p:sp>
      <p:sp>
        <p:nvSpPr>
          <p:cNvPr id="96259" name="Rectangle 2"/>
          <p:cNvSpPr>
            <a:spLocks noGrp="1" noRot="1" noChangeAspect="1" noChangeArrowheads="1" noTextEdit="1"/>
          </p:cNvSpPr>
          <p:nvPr>
            <p:ph type="sldImg"/>
          </p:nvPr>
        </p:nvSpPr>
        <p:spPr>
          <a:xfrm>
            <a:off x="1422400" y="841375"/>
            <a:ext cx="4471988" cy="3354388"/>
          </a:xfrm>
        </p:spPr>
      </p:sp>
      <p:sp>
        <p:nvSpPr>
          <p:cNvPr id="96260"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371282178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miter lim="800000"/>
          </a:ln>
        </p:spPr>
        <p:txBody>
          <a:bodyPr/>
          <a:lstStyle/>
          <a:p>
            <a:fld id="{C464D3C7-E309-43F9-A16E-8C3E0A7057FD}" type="slidenum">
              <a:rPr lang="en-US" altLang="zh-CN"/>
              <a:t>97</a:t>
            </a:fld>
            <a:endParaRPr lang="en-US" altLang="zh-CN"/>
          </a:p>
        </p:txBody>
      </p:sp>
      <p:sp>
        <p:nvSpPr>
          <p:cNvPr id="96259" name="Rectangle 2"/>
          <p:cNvSpPr>
            <a:spLocks noGrp="1" noRot="1" noChangeAspect="1" noChangeArrowheads="1" noTextEdit="1"/>
          </p:cNvSpPr>
          <p:nvPr>
            <p:ph type="sldImg"/>
          </p:nvPr>
        </p:nvSpPr>
        <p:spPr>
          <a:xfrm>
            <a:off x="1422400" y="841375"/>
            <a:ext cx="4471988" cy="3354388"/>
          </a:xfrm>
        </p:spPr>
      </p:sp>
      <p:sp>
        <p:nvSpPr>
          <p:cNvPr id="96260"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225023079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miter lim="800000"/>
          </a:ln>
        </p:spPr>
        <p:txBody>
          <a:bodyPr/>
          <a:lstStyle/>
          <a:p>
            <a:fld id="{C464D3C7-E309-43F9-A16E-8C3E0A7057FD}" type="slidenum">
              <a:rPr lang="en-US" altLang="zh-CN"/>
              <a:t>98</a:t>
            </a:fld>
            <a:endParaRPr lang="en-US" altLang="zh-CN"/>
          </a:p>
        </p:txBody>
      </p:sp>
      <p:sp>
        <p:nvSpPr>
          <p:cNvPr id="96259" name="Rectangle 2"/>
          <p:cNvSpPr>
            <a:spLocks noGrp="1" noRot="1" noChangeAspect="1" noChangeArrowheads="1" noTextEdit="1"/>
          </p:cNvSpPr>
          <p:nvPr>
            <p:ph type="sldImg"/>
          </p:nvPr>
        </p:nvSpPr>
        <p:spPr>
          <a:xfrm>
            <a:off x="1422400" y="841375"/>
            <a:ext cx="4471988" cy="3354388"/>
          </a:xfrm>
        </p:spPr>
      </p:sp>
      <p:sp>
        <p:nvSpPr>
          <p:cNvPr id="96260"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105569829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miter lim="800000"/>
          </a:ln>
        </p:spPr>
        <p:txBody>
          <a:bodyPr/>
          <a:lstStyle/>
          <a:p>
            <a:fld id="{C464D3C7-E309-43F9-A16E-8C3E0A7057FD}" type="slidenum">
              <a:rPr lang="en-US" altLang="zh-CN"/>
              <a:t>99</a:t>
            </a:fld>
            <a:endParaRPr lang="en-US" altLang="zh-CN"/>
          </a:p>
        </p:txBody>
      </p:sp>
      <p:sp>
        <p:nvSpPr>
          <p:cNvPr id="96259" name="Rectangle 2"/>
          <p:cNvSpPr>
            <a:spLocks noGrp="1" noRot="1" noChangeAspect="1" noChangeArrowheads="1" noTextEdit="1"/>
          </p:cNvSpPr>
          <p:nvPr>
            <p:ph type="sldImg"/>
          </p:nvPr>
        </p:nvSpPr>
        <p:spPr>
          <a:xfrm>
            <a:off x="1422400" y="841375"/>
            <a:ext cx="4471988" cy="3354388"/>
          </a:xfrm>
        </p:spPr>
      </p:sp>
      <p:sp>
        <p:nvSpPr>
          <p:cNvPr id="96260" name="Rectangle 3"/>
          <p:cNvSpPr>
            <a:spLocks noGrp="1" noChangeArrowheads="1"/>
          </p:cNvSpPr>
          <p:nvPr>
            <p:ph type="body" idx="1"/>
          </p:nvPr>
        </p:nvSpPr>
        <p:spPr>
          <a:xfrm>
            <a:off x="975361" y="4562238"/>
            <a:ext cx="5362787" cy="4043839"/>
          </a:xfrm>
          <a:noFill/>
        </p:spPr>
        <p:txBody>
          <a:bodyPr/>
          <a:lstStyle/>
          <a:p>
            <a:pPr eaLnBrk="1" hangingPunct="1"/>
            <a:r>
              <a:rPr lang="en-US" altLang="zh-CN" sz="1200" b="0" i="0" kern="1200">
                <a:solidFill>
                  <a:schemeClr val="tx1"/>
                </a:solidFill>
                <a:effectLst/>
                <a:latin typeface="Arial" panose="020B0604020202020204" pitchFamily="34" charset="0"/>
                <a:ea typeface="+mn-ea"/>
                <a:cs typeface="+mn-cs"/>
              </a:rPr>
              <a:t>chmod</a:t>
            </a:r>
            <a:r>
              <a:rPr lang="en-US" altLang="zh-CN" sz="1200" b="0" i="0" kern="1200" baseline="0">
                <a:solidFill>
                  <a:schemeClr val="tx1"/>
                </a:solidFill>
                <a:effectLst/>
                <a:latin typeface="Arial" panose="020B0604020202020204" pitchFamily="34" charset="0"/>
                <a:ea typeface="+mn-ea"/>
                <a:cs typeface="+mn-cs"/>
              </a:rPr>
              <a:t> 8</a:t>
            </a:r>
            <a:r>
              <a:rPr lang="zh-CN" altLang="en-US" sz="1200" b="0" i="0" kern="1200" baseline="0">
                <a:solidFill>
                  <a:schemeClr val="tx1"/>
                </a:solidFill>
                <a:effectLst/>
                <a:latin typeface="Arial" panose="020B0604020202020204" pitchFamily="34" charset="0"/>
                <a:ea typeface="+mn-ea"/>
                <a:cs typeface="+mn-cs"/>
              </a:rPr>
              <a:t>进制数字表示权限</a:t>
            </a:r>
            <a:endParaRPr lang="en-US" altLang="zh-CN" sz="1200" b="0" i="0" kern="1200">
              <a:solidFill>
                <a:schemeClr val="tx1"/>
              </a:solidFill>
              <a:effectLst/>
              <a:latin typeface="Arial" panose="020B0604020202020204" pitchFamily="34" charset="0"/>
              <a:ea typeface="+mn-ea"/>
              <a:cs typeface="+mn-cs"/>
            </a:endParaRPr>
          </a:p>
          <a:p>
            <a:pPr eaLnBrk="1" hangingPunct="1"/>
            <a:r>
              <a:rPr lang="zh-CN" altLang="en-US" sz="1200" b="0" i="0" kern="1200">
                <a:solidFill>
                  <a:schemeClr val="tx1"/>
                </a:solidFill>
                <a:effectLst/>
                <a:latin typeface="Arial" panose="020B0604020202020204" pitchFamily="34" charset="0"/>
                <a:ea typeface="+mn-ea"/>
                <a:cs typeface="+mn-cs"/>
              </a:rPr>
              <a:t>权限分为三种：读（</a:t>
            </a:r>
            <a:r>
              <a:rPr lang="en-US" altLang="zh-CN" sz="1200" b="0" i="0" kern="1200">
                <a:solidFill>
                  <a:schemeClr val="tx1"/>
                </a:solidFill>
                <a:effectLst/>
                <a:latin typeface="Arial" panose="020B0604020202020204" pitchFamily="34" charset="0"/>
                <a:ea typeface="+mn-ea"/>
                <a:cs typeface="+mn-cs"/>
              </a:rPr>
              <a:t>r=4</a:t>
            </a:r>
            <a:r>
              <a:rPr lang="zh-CN" altLang="en-US" sz="1200" b="0" i="0" kern="1200">
                <a:solidFill>
                  <a:schemeClr val="tx1"/>
                </a:solidFill>
                <a:effectLst/>
                <a:latin typeface="Arial" panose="020B0604020202020204" pitchFamily="34" charset="0"/>
                <a:ea typeface="+mn-ea"/>
                <a:cs typeface="+mn-cs"/>
              </a:rPr>
              <a:t>），写（</a:t>
            </a:r>
            <a:r>
              <a:rPr lang="en-US" altLang="zh-CN" sz="1200" b="0" i="0" kern="1200">
                <a:solidFill>
                  <a:schemeClr val="tx1"/>
                </a:solidFill>
                <a:effectLst/>
                <a:latin typeface="Arial" panose="020B0604020202020204" pitchFamily="34" charset="0"/>
                <a:ea typeface="+mn-ea"/>
                <a:cs typeface="+mn-cs"/>
              </a:rPr>
              <a:t>w=2</a:t>
            </a:r>
            <a:r>
              <a:rPr lang="zh-CN" altLang="en-US" sz="1200" b="0" i="0" kern="1200">
                <a:solidFill>
                  <a:schemeClr val="tx1"/>
                </a:solidFill>
                <a:effectLst/>
                <a:latin typeface="Arial" panose="020B0604020202020204" pitchFamily="34" charset="0"/>
                <a:ea typeface="+mn-ea"/>
                <a:cs typeface="+mn-cs"/>
              </a:rPr>
              <a:t>），执行（</a:t>
            </a:r>
            <a:r>
              <a:rPr lang="en-US" altLang="zh-CN" sz="1200" b="0" i="0" kern="1200">
                <a:solidFill>
                  <a:schemeClr val="tx1"/>
                </a:solidFill>
                <a:effectLst/>
                <a:latin typeface="Arial" panose="020B0604020202020204" pitchFamily="34" charset="0"/>
                <a:ea typeface="+mn-ea"/>
                <a:cs typeface="+mn-cs"/>
              </a:rPr>
              <a:t>x=1</a:t>
            </a:r>
            <a:r>
              <a:rPr lang="zh-CN" altLang="en-US" sz="1200" b="0" i="0" kern="1200">
                <a:solidFill>
                  <a:schemeClr val="tx1"/>
                </a:solidFill>
                <a:effectLst/>
                <a:latin typeface="Arial" panose="020B0604020202020204" pitchFamily="34" charset="0"/>
                <a:ea typeface="+mn-ea"/>
                <a:cs typeface="+mn-cs"/>
              </a:rPr>
              <a:t>） 。 综合起来还有可读可执行（</a:t>
            </a:r>
            <a:r>
              <a:rPr lang="en-US" altLang="zh-CN" sz="1200" b="0" i="0" kern="1200">
                <a:solidFill>
                  <a:schemeClr val="tx1"/>
                </a:solidFill>
                <a:effectLst/>
                <a:latin typeface="Arial" panose="020B0604020202020204" pitchFamily="34" charset="0"/>
                <a:ea typeface="+mn-ea"/>
                <a:cs typeface="+mn-cs"/>
              </a:rPr>
              <a:t>rx=5=4+1</a:t>
            </a:r>
            <a:r>
              <a:rPr lang="zh-CN" altLang="en-US" sz="1200" b="0" i="0" kern="1200">
                <a:solidFill>
                  <a:schemeClr val="tx1"/>
                </a:solidFill>
                <a:effectLst/>
                <a:latin typeface="Arial" panose="020B0604020202020204" pitchFamily="34" charset="0"/>
                <a:ea typeface="+mn-ea"/>
                <a:cs typeface="+mn-cs"/>
              </a:rPr>
              <a:t>）、可读可写（</a:t>
            </a:r>
            <a:r>
              <a:rPr lang="en-US" altLang="zh-CN" sz="1200" b="0" i="0" kern="1200">
                <a:solidFill>
                  <a:schemeClr val="tx1"/>
                </a:solidFill>
                <a:effectLst/>
                <a:latin typeface="Arial" panose="020B0604020202020204" pitchFamily="34" charset="0"/>
                <a:ea typeface="+mn-ea"/>
                <a:cs typeface="+mn-cs"/>
              </a:rPr>
              <a:t>rw=6=4+2</a:t>
            </a:r>
            <a:r>
              <a:rPr lang="zh-CN" altLang="en-US" sz="1200" b="0" i="0" kern="1200">
                <a:solidFill>
                  <a:schemeClr val="tx1"/>
                </a:solidFill>
                <a:effectLst/>
                <a:latin typeface="Arial" panose="020B0604020202020204" pitchFamily="34" charset="0"/>
                <a:ea typeface="+mn-ea"/>
                <a:cs typeface="+mn-cs"/>
              </a:rPr>
              <a:t>）、可读可写可执行</a:t>
            </a:r>
            <a:r>
              <a:rPr lang="en-US" altLang="zh-CN" sz="1200" b="0" i="0" kern="1200">
                <a:solidFill>
                  <a:schemeClr val="tx1"/>
                </a:solidFill>
                <a:effectLst/>
                <a:latin typeface="Arial" panose="020B0604020202020204" pitchFamily="34" charset="0"/>
                <a:ea typeface="+mn-ea"/>
                <a:cs typeface="+mn-cs"/>
              </a:rPr>
              <a:t>(rwx=7=4+2+1)</a:t>
            </a:r>
            <a:r>
              <a:rPr lang="zh-CN" altLang="en-US" sz="1200" b="0" i="0" kern="1200">
                <a:solidFill>
                  <a:schemeClr val="tx1"/>
                </a:solidFill>
                <a:effectLst/>
                <a:latin typeface="Arial" panose="020B0604020202020204" pitchFamily="34" charset="0"/>
                <a:ea typeface="+mn-ea"/>
                <a:cs typeface="+mn-cs"/>
              </a:rPr>
              <a:t>。</a:t>
            </a:r>
            <a:endParaRPr lang="en-US" altLang="zh-CN" sz="1200" b="0" i="0" kern="1200">
              <a:solidFill>
                <a:schemeClr val="tx1"/>
              </a:solidFill>
              <a:effectLst/>
              <a:latin typeface="Arial" panose="020B0604020202020204" pitchFamily="34" charset="0"/>
              <a:ea typeface="+mn-ea"/>
              <a:cs typeface="+mn-cs"/>
            </a:endParaRPr>
          </a:p>
          <a:p>
            <a:pPr eaLnBrk="1" hangingPunct="1"/>
            <a:endParaRPr lang="en-US" altLang="zh-CN" sz="1200" b="0" i="0" kern="1200">
              <a:solidFill>
                <a:schemeClr val="tx1"/>
              </a:solidFill>
              <a:effectLst/>
              <a:latin typeface="Arial" panose="020B0604020202020204" pitchFamily="34" charset="0"/>
              <a:ea typeface="+mn-ea"/>
              <a:cs typeface="+mn-cs"/>
            </a:endParaRPr>
          </a:p>
          <a:p>
            <a:pPr eaLnBrk="1" hangingPunct="1"/>
            <a:r>
              <a:rPr lang="zh-CN" altLang="en-US" sz="1200" b="0" i="0" kern="1200">
                <a:solidFill>
                  <a:schemeClr val="tx1"/>
                </a:solidFill>
                <a:effectLst/>
                <a:latin typeface="Arial" panose="020B0604020202020204" pitchFamily="34" charset="0"/>
                <a:ea typeface="+mn-ea"/>
                <a:cs typeface="+mn-cs"/>
              </a:rPr>
              <a:t>对文件所有者和用户组可读可写可执行，对其他用户可读可执行</a:t>
            </a:r>
            <a:endParaRPr lang="en-US" altLang="zh-CN" sz="1200" b="0" i="0" kern="1200">
              <a:solidFill>
                <a:schemeClr val="tx1"/>
              </a:solidFill>
              <a:effectLst/>
              <a:latin typeface="Arial" panose="020B0604020202020204" pitchFamily="34" charset="0"/>
              <a:ea typeface="+mn-ea"/>
              <a:cs typeface="+mn-cs"/>
            </a:endParaRPr>
          </a:p>
          <a:p>
            <a:pPr eaLnBrk="1" hangingPunct="1"/>
            <a:r>
              <a:rPr lang="zh-CN" altLang="en-US"/>
              <a:t>文件在执行阶段具有文件所有者的权限，</a:t>
            </a:r>
            <a:r>
              <a:rPr lang="zh-CN" altLang="en-US" sz="1200" b="0" i="0" kern="1200">
                <a:solidFill>
                  <a:schemeClr val="tx1"/>
                </a:solidFill>
                <a:effectLst/>
                <a:latin typeface="Arial" panose="020B0604020202020204" pitchFamily="34" charset="0"/>
                <a:ea typeface="+mn-ea"/>
                <a:cs typeface="+mn-cs"/>
              </a:rPr>
              <a:t>且不可被没有写权限的用户删除</a:t>
            </a:r>
            <a:endParaRPr lang="zh-CN" altLang="zh-CN"/>
          </a:p>
        </p:txBody>
      </p:sp>
    </p:spTree>
    <p:extLst>
      <p:ext uri="{BB962C8B-B14F-4D97-AF65-F5344CB8AC3E}">
        <p14:creationId xmlns:p14="http://schemas.microsoft.com/office/powerpoint/2010/main" val="241299878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miter lim="800000"/>
          </a:ln>
        </p:spPr>
        <p:txBody>
          <a:bodyPr/>
          <a:lstStyle/>
          <a:p>
            <a:fld id="{C464D3C7-E309-43F9-A16E-8C3E0A7057FD}" type="slidenum">
              <a:rPr lang="en-US" altLang="zh-CN"/>
              <a:t>100</a:t>
            </a:fld>
            <a:endParaRPr lang="en-US" altLang="zh-CN"/>
          </a:p>
        </p:txBody>
      </p:sp>
      <p:sp>
        <p:nvSpPr>
          <p:cNvPr id="96259" name="Rectangle 2"/>
          <p:cNvSpPr>
            <a:spLocks noGrp="1" noRot="1" noChangeAspect="1" noChangeArrowheads="1" noTextEdit="1"/>
          </p:cNvSpPr>
          <p:nvPr>
            <p:ph type="sldImg"/>
          </p:nvPr>
        </p:nvSpPr>
        <p:spPr>
          <a:xfrm>
            <a:off x="1422400" y="841375"/>
            <a:ext cx="4471988" cy="3354388"/>
          </a:xfrm>
        </p:spPr>
      </p:sp>
      <p:sp>
        <p:nvSpPr>
          <p:cNvPr id="96260"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31544815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miter lim="800000"/>
          </a:ln>
        </p:spPr>
        <p:txBody>
          <a:bodyPr/>
          <a:lstStyle/>
          <a:p>
            <a:fld id="{C464D3C7-E309-43F9-A16E-8C3E0A7057FD}" type="slidenum">
              <a:rPr lang="en-US" altLang="zh-CN"/>
              <a:t>101</a:t>
            </a:fld>
            <a:endParaRPr lang="en-US" altLang="zh-CN"/>
          </a:p>
        </p:txBody>
      </p:sp>
      <p:sp>
        <p:nvSpPr>
          <p:cNvPr id="96259" name="Rectangle 2"/>
          <p:cNvSpPr>
            <a:spLocks noGrp="1" noRot="1" noChangeAspect="1" noChangeArrowheads="1" noTextEdit="1"/>
          </p:cNvSpPr>
          <p:nvPr>
            <p:ph type="sldImg"/>
          </p:nvPr>
        </p:nvSpPr>
        <p:spPr>
          <a:xfrm>
            <a:off x="1422400" y="841375"/>
            <a:ext cx="4471988" cy="3354388"/>
          </a:xfrm>
        </p:spPr>
      </p:sp>
      <p:sp>
        <p:nvSpPr>
          <p:cNvPr id="96260" name="Rectangle 3"/>
          <p:cNvSpPr>
            <a:spLocks noGrp="1" noChangeArrowheads="1"/>
          </p:cNvSpPr>
          <p:nvPr>
            <p:ph type="body" idx="1"/>
          </p:nvPr>
        </p:nvSpPr>
        <p:spPr>
          <a:xfrm>
            <a:off x="975361" y="4562238"/>
            <a:ext cx="5362787" cy="4043839"/>
          </a:xfrm>
          <a:noFill/>
        </p:spPr>
        <p:txBody>
          <a:bodyPr/>
          <a:lstStyle/>
          <a:p>
            <a:pPr eaLnBrk="1" hangingPunct="1"/>
            <a:endParaRPr lang="zh-CN" altLang="zh-CN" dirty="0"/>
          </a:p>
        </p:txBody>
      </p:sp>
    </p:spTree>
    <p:extLst>
      <p:ext uri="{BB962C8B-B14F-4D97-AF65-F5344CB8AC3E}">
        <p14:creationId xmlns:p14="http://schemas.microsoft.com/office/powerpoint/2010/main" val="200544960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miter lim="800000"/>
          </a:ln>
        </p:spPr>
        <p:txBody>
          <a:bodyPr/>
          <a:lstStyle/>
          <a:p>
            <a:fld id="{C464D3C7-E309-43F9-A16E-8C3E0A7057FD}" type="slidenum">
              <a:rPr lang="en-US" altLang="zh-CN"/>
              <a:t>102</a:t>
            </a:fld>
            <a:endParaRPr lang="en-US" altLang="zh-CN"/>
          </a:p>
        </p:txBody>
      </p:sp>
      <p:sp>
        <p:nvSpPr>
          <p:cNvPr id="96259" name="Rectangle 2"/>
          <p:cNvSpPr>
            <a:spLocks noGrp="1" noRot="1" noChangeAspect="1" noChangeArrowheads="1" noTextEdit="1"/>
          </p:cNvSpPr>
          <p:nvPr>
            <p:ph type="sldImg"/>
          </p:nvPr>
        </p:nvSpPr>
        <p:spPr>
          <a:xfrm>
            <a:off x="1422400" y="841375"/>
            <a:ext cx="4471988" cy="3354388"/>
          </a:xfrm>
        </p:spPr>
      </p:sp>
      <p:sp>
        <p:nvSpPr>
          <p:cNvPr id="96260" name="Rectangle 3"/>
          <p:cNvSpPr>
            <a:spLocks noGrp="1" noChangeArrowheads="1"/>
          </p:cNvSpPr>
          <p:nvPr>
            <p:ph type="body" idx="1"/>
          </p:nvPr>
        </p:nvSpPr>
        <p:spPr>
          <a:xfrm>
            <a:off x="975361" y="4562238"/>
            <a:ext cx="5362787" cy="4043839"/>
          </a:xfrm>
          <a:noFill/>
        </p:spPr>
        <p:txBody>
          <a:bodyPr/>
          <a:lstStyle/>
          <a:p>
            <a:pPr eaLnBrk="1" hangingPunct="1"/>
            <a:endParaRPr lang="zh-CN" altLang="zh-CN" dirty="0"/>
          </a:p>
        </p:txBody>
      </p:sp>
    </p:spTree>
    <p:extLst>
      <p:ext uri="{BB962C8B-B14F-4D97-AF65-F5344CB8AC3E}">
        <p14:creationId xmlns:p14="http://schemas.microsoft.com/office/powerpoint/2010/main" val="40152746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miter lim="800000"/>
          </a:ln>
        </p:spPr>
        <p:txBody>
          <a:bodyPr/>
          <a:lstStyle/>
          <a:p>
            <a:fld id="{9AE7B544-58D7-4CF9-974C-1F91C797900F}" type="slidenum">
              <a:rPr lang="en-US" altLang="zh-CN"/>
              <a:t>103</a:t>
            </a:fld>
            <a:endParaRPr lang="en-US" altLang="zh-CN"/>
          </a:p>
        </p:txBody>
      </p:sp>
      <p:sp>
        <p:nvSpPr>
          <p:cNvPr id="102403" name="Rectangle 2"/>
          <p:cNvSpPr>
            <a:spLocks noGrp="1" noRot="1" noChangeAspect="1" noChangeArrowheads="1" noTextEdit="1"/>
          </p:cNvSpPr>
          <p:nvPr>
            <p:ph type="sldImg"/>
          </p:nvPr>
        </p:nvSpPr>
        <p:spPr>
          <a:xfrm>
            <a:off x="1422400" y="841375"/>
            <a:ext cx="4471988" cy="3354388"/>
          </a:xfrm>
        </p:spPr>
      </p:sp>
      <p:sp>
        <p:nvSpPr>
          <p:cNvPr id="102404"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11819305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miter lim="800000"/>
          </a:ln>
        </p:spPr>
        <p:txBody>
          <a:bodyPr/>
          <a:lstStyle/>
          <a:p>
            <a:fld id="{1023D8A8-0935-4BC7-B9EA-6454D8ED168D}" type="slidenum">
              <a:rPr lang="en-US" altLang="zh-CN"/>
              <a:t>104</a:t>
            </a:fld>
            <a:endParaRPr lang="en-US" altLang="zh-CN"/>
          </a:p>
        </p:txBody>
      </p:sp>
      <p:sp>
        <p:nvSpPr>
          <p:cNvPr id="112643" name="Rectangle 2"/>
          <p:cNvSpPr>
            <a:spLocks noGrp="1" noRot="1" noChangeAspect="1" noChangeArrowheads="1" noTextEdit="1"/>
          </p:cNvSpPr>
          <p:nvPr>
            <p:ph type="sldImg"/>
          </p:nvPr>
        </p:nvSpPr>
        <p:spPr>
          <a:xfrm>
            <a:off x="1422400" y="841375"/>
            <a:ext cx="4471988" cy="3354388"/>
          </a:xfrm>
        </p:spPr>
      </p:sp>
      <p:sp>
        <p:nvSpPr>
          <p:cNvPr id="112644"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343398325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miter lim="800000"/>
          </a:ln>
        </p:spPr>
        <p:txBody>
          <a:bodyPr/>
          <a:lstStyle/>
          <a:p>
            <a:fld id="{5960DD04-DD32-4F8E-8823-25FD1228C05A}" type="slidenum">
              <a:rPr lang="en-US" altLang="zh-CN"/>
              <a:t>105</a:t>
            </a:fld>
            <a:endParaRPr lang="en-US" altLang="zh-CN"/>
          </a:p>
        </p:txBody>
      </p:sp>
      <p:sp>
        <p:nvSpPr>
          <p:cNvPr id="113667" name="Rectangle 2"/>
          <p:cNvSpPr>
            <a:spLocks noGrp="1" noRot="1" noChangeAspect="1" noChangeArrowheads="1" noTextEdit="1"/>
          </p:cNvSpPr>
          <p:nvPr>
            <p:ph type="sldImg"/>
          </p:nvPr>
        </p:nvSpPr>
        <p:spPr>
          <a:xfrm>
            <a:off x="1422400" y="841375"/>
            <a:ext cx="4471988" cy="3354388"/>
          </a:xfrm>
        </p:spPr>
      </p:sp>
      <p:sp>
        <p:nvSpPr>
          <p:cNvPr id="113668"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21713317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miter lim="800000"/>
          </a:ln>
        </p:spPr>
        <p:txBody>
          <a:bodyPr/>
          <a:lstStyle/>
          <a:p>
            <a:fld id="{EE50C92D-FD82-4FD4-BA15-A181DD1DBEA1}" type="slidenum">
              <a:rPr lang="en-US" altLang="zh-CN"/>
              <a:t>106</a:t>
            </a:fld>
            <a:endParaRPr lang="en-US" altLang="zh-CN"/>
          </a:p>
        </p:txBody>
      </p:sp>
      <p:sp>
        <p:nvSpPr>
          <p:cNvPr id="114691" name="Rectangle 2"/>
          <p:cNvSpPr>
            <a:spLocks noGrp="1" noRot="1" noChangeAspect="1" noChangeArrowheads="1" noTextEdit="1"/>
          </p:cNvSpPr>
          <p:nvPr>
            <p:ph type="sldImg"/>
          </p:nvPr>
        </p:nvSpPr>
        <p:spPr>
          <a:xfrm>
            <a:off x="1422400" y="841375"/>
            <a:ext cx="4471988" cy="3354388"/>
          </a:xfrm>
        </p:spPr>
      </p:sp>
      <p:sp>
        <p:nvSpPr>
          <p:cNvPr id="114692"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298791567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miter lim="800000"/>
          </a:ln>
        </p:spPr>
        <p:txBody>
          <a:bodyPr/>
          <a:lstStyle/>
          <a:p>
            <a:fld id="{EE50C92D-FD82-4FD4-BA15-A181DD1DBEA1}" type="slidenum">
              <a:rPr lang="en-US" altLang="zh-CN"/>
              <a:t>107</a:t>
            </a:fld>
            <a:endParaRPr lang="en-US" altLang="zh-CN"/>
          </a:p>
        </p:txBody>
      </p:sp>
      <p:sp>
        <p:nvSpPr>
          <p:cNvPr id="114691" name="Rectangle 2"/>
          <p:cNvSpPr>
            <a:spLocks noGrp="1" noRot="1" noChangeAspect="1" noChangeArrowheads="1" noTextEdit="1"/>
          </p:cNvSpPr>
          <p:nvPr>
            <p:ph type="sldImg"/>
          </p:nvPr>
        </p:nvSpPr>
        <p:spPr>
          <a:xfrm>
            <a:off x="1422400" y="841375"/>
            <a:ext cx="4471988" cy="3354388"/>
          </a:xfrm>
        </p:spPr>
      </p:sp>
      <p:sp>
        <p:nvSpPr>
          <p:cNvPr id="114692"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93056182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miter lim="800000"/>
          </a:ln>
        </p:spPr>
        <p:txBody>
          <a:bodyPr/>
          <a:lstStyle/>
          <a:p>
            <a:fld id="{EE50C92D-FD82-4FD4-BA15-A181DD1DBEA1}" type="slidenum">
              <a:rPr lang="en-US" altLang="zh-CN"/>
              <a:t>108</a:t>
            </a:fld>
            <a:endParaRPr lang="en-US" altLang="zh-CN"/>
          </a:p>
        </p:txBody>
      </p:sp>
      <p:sp>
        <p:nvSpPr>
          <p:cNvPr id="114691" name="Rectangle 2"/>
          <p:cNvSpPr>
            <a:spLocks noGrp="1" noRot="1" noChangeAspect="1" noChangeArrowheads="1" noTextEdit="1"/>
          </p:cNvSpPr>
          <p:nvPr>
            <p:ph type="sldImg"/>
          </p:nvPr>
        </p:nvSpPr>
        <p:spPr>
          <a:xfrm>
            <a:off x="1422400" y="841375"/>
            <a:ext cx="4471988" cy="3354388"/>
          </a:xfrm>
        </p:spPr>
      </p:sp>
      <p:sp>
        <p:nvSpPr>
          <p:cNvPr id="114692"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45468451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miter lim="800000"/>
          </a:ln>
        </p:spPr>
        <p:txBody>
          <a:bodyPr/>
          <a:lstStyle/>
          <a:p>
            <a:fld id="{3E6B5571-0E0F-4742-BFB6-69F16F1C5020}" type="slidenum">
              <a:rPr lang="en-US" altLang="zh-CN"/>
              <a:t>109</a:t>
            </a:fld>
            <a:endParaRPr lang="en-US" altLang="zh-CN"/>
          </a:p>
        </p:txBody>
      </p:sp>
      <p:sp>
        <p:nvSpPr>
          <p:cNvPr id="117763" name="Rectangle 2"/>
          <p:cNvSpPr>
            <a:spLocks noGrp="1" noRot="1" noChangeAspect="1" noChangeArrowheads="1" noTextEdit="1"/>
          </p:cNvSpPr>
          <p:nvPr>
            <p:ph type="sldImg"/>
          </p:nvPr>
        </p:nvSpPr>
        <p:spPr>
          <a:xfrm>
            <a:off x="1422400" y="841375"/>
            <a:ext cx="4471988" cy="3354388"/>
          </a:xfrm>
        </p:spPr>
      </p:sp>
      <p:sp>
        <p:nvSpPr>
          <p:cNvPr id="117764"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371866539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miter lim="800000"/>
          </a:ln>
        </p:spPr>
        <p:txBody>
          <a:bodyPr/>
          <a:lstStyle/>
          <a:p>
            <a:fld id="{C464D3C7-E309-43F9-A16E-8C3E0A7057FD}" type="slidenum">
              <a:rPr lang="en-US" altLang="zh-CN"/>
              <a:t>110</a:t>
            </a:fld>
            <a:endParaRPr lang="en-US" altLang="zh-CN"/>
          </a:p>
        </p:txBody>
      </p:sp>
      <p:sp>
        <p:nvSpPr>
          <p:cNvPr id="96259" name="Rectangle 2"/>
          <p:cNvSpPr>
            <a:spLocks noGrp="1" noRot="1" noChangeAspect="1" noChangeArrowheads="1" noTextEdit="1"/>
          </p:cNvSpPr>
          <p:nvPr>
            <p:ph type="sldImg"/>
          </p:nvPr>
        </p:nvSpPr>
        <p:spPr>
          <a:xfrm>
            <a:off x="1422400" y="841375"/>
            <a:ext cx="4471988" cy="3354388"/>
          </a:xfrm>
        </p:spPr>
      </p:sp>
      <p:sp>
        <p:nvSpPr>
          <p:cNvPr id="96260"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239799140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miter lim="800000"/>
          </a:ln>
        </p:spPr>
        <p:txBody>
          <a:bodyPr/>
          <a:lstStyle/>
          <a:p>
            <a:fld id="{C464D3C7-E309-43F9-A16E-8C3E0A7057FD}" type="slidenum">
              <a:rPr lang="en-US" altLang="zh-CN"/>
              <a:t>111</a:t>
            </a:fld>
            <a:endParaRPr lang="en-US" altLang="zh-CN"/>
          </a:p>
        </p:txBody>
      </p:sp>
      <p:sp>
        <p:nvSpPr>
          <p:cNvPr id="96259" name="Rectangle 2"/>
          <p:cNvSpPr>
            <a:spLocks noGrp="1" noRot="1" noChangeAspect="1" noChangeArrowheads="1" noTextEdit="1"/>
          </p:cNvSpPr>
          <p:nvPr>
            <p:ph type="sldImg"/>
          </p:nvPr>
        </p:nvSpPr>
        <p:spPr>
          <a:xfrm>
            <a:off x="1422400" y="841375"/>
            <a:ext cx="4471988" cy="3354388"/>
          </a:xfrm>
        </p:spPr>
      </p:sp>
      <p:sp>
        <p:nvSpPr>
          <p:cNvPr id="96260"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417652034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miter lim="800000"/>
          </a:ln>
        </p:spPr>
        <p:txBody>
          <a:bodyPr/>
          <a:lstStyle/>
          <a:p>
            <a:fld id="{C464D3C7-E309-43F9-A16E-8C3E0A7057FD}" type="slidenum">
              <a:rPr lang="en-US" altLang="zh-CN"/>
              <a:t>112</a:t>
            </a:fld>
            <a:endParaRPr lang="en-US" altLang="zh-CN"/>
          </a:p>
        </p:txBody>
      </p:sp>
      <p:sp>
        <p:nvSpPr>
          <p:cNvPr id="96259" name="Rectangle 2"/>
          <p:cNvSpPr>
            <a:spLocks noGrp="1" noRot="1" noChangeAspect="1" noChangeArrowheads="1" noTextEdit="1"/>
          </p:cNvSpPr>
          <p:nvPr>
            <p:ph type="sldImg"/>
          </p:nvPr>
        </p:nvSpPr>
        <p:spPr>
          <a:xfrm>
            <a:off x="1422400" y="841375"/>
            <a:ext cx="4471988" cy="3354388"/>
          </a:xfrm>
        </p:spPr>
      </p:sp>
      <p:sp>
        <p:nvSpPr>
          <p:cNvPr id="96260"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21174227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miter lim="800000"/>
          </a:ln>
        </p:spPr>
        <p:txBody>
          <a:bodyPr/>
          <a:lstStyle/>
          <a:p>
            <a:fld id="{C464D3C7-E309-43F9-A16E-8C3E0A7057FD}" type="slidenum">
              <a:rPr lang="en-US" altLang="zh-CN"/>
              <a:t>113</a:t>
            </a:fld>
            <a:endParaRPr lang="en-US" altLang="zh-CN"/>
          </a:p>
        </p:txBody>
      </p:sp>
      <p:sp>
        <p:nvSpPr>
          <p:cNvPr id="96259" name="Rectangle 2"/>
          <p:cNvSpPr>
            <a:spLocks noGrp="1" noRot="1" noChangeAspect="1" noChangeArrowheads="1" noTextEdit="1"/>
          </p:cNvSpPr>
          <p:nvPr>
            <p:ph type="sldImg"/>
          </p:nvPr>
        </p:nvSpPr>
        <p:spPr>
          <a:xfrm>
            <a:off x="1422400" y="841375"/>
            <a:ext cx="4471988" cy="3354388"/>
          </a:xfrm>
        </p:spPr>
      </p:sp>
      <p:sp>
        <p:nvSpPr>
          <p:cNvPr id="96260"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189568386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miter lim="800000"/>
          </a:ln>
        </p:spPr>
        <p:txBody>
          <a:bodyPr/>
          <a:lstStyle/>
          <a:p>
            <a:fld id="{C464D3C7-E309-43F9-A16E-8C3E0A7057FD}" type="slidenum">
              <a:rPr lang="en-US" altLang="zh-CN"/>
              <a:t>114</a:t>
            </a:fld>
            <a:endParaRPr lang="en-US" altLang="zh-CN"/>
          </a:p>
        </p:txBody>
      </p:sp>
      <p:sp>
        <p:nvSpPr>
          <p:cNvPr id="96259" name="Rectangle 2"/>
          <p:cNvSpPr>
            <a:spLocks noGrp="1" noRot="1" noChangeAspect="1" noChangeArrowheads="1" noTextEdit="1"/>
          </p:cNvSpPr>
          <p:nvPr>
            <p:ph type="sldImg"/>
          </p:nvPr>
        </p:nvSpPr>
        <p:spPr>
          <a:xfrm>
            <a:off x="1422400" y="841375"/>
            <a:ext cx="4471988" cy="3354388"/>
          </a:xfrm>
        </p:spPr>
      </p:sp>
      <p:sp>
        <p:nvSpPr>
          <p:cNvPr id="96260"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83579662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miter lim="800000"/>
          </a:ln>
        </p:spPr>
        <p:txBody>
          <a:bodyPr/>
          <a:lstStyle/>
          <a:p>
            <a:fld id="{C464D3C7-E309-43F9-A16E-8C3E0A7057FD}" type="slidenum">
              <a:rPr lang="en-US" altLang="zh-CN"/>
              <a:t>115</a:t>
            </a:fld>
            <a:endParaRPr lang="en-US" altLang="zh-CN"/>
          </a:p>
        </p:txBody>
      </p:sp>
      <p:sp>
        <p:nvSpPr>
          <p:cNvPr id="96259" name="Rectangle 2"/>
          <p:cNvSpPr>
            <a:spLocks noGrp="1" noRot="1" noChangeAspect="1" noChangeArrowheads="1" noTextEdit="1"/>
          </p:cNvSpPr>
          <p:nvPr>
            <p:ph type="sldImg"/>
          </p:nvPr>
        </p:nvSpPr>
        <p:spPr>
          <a:xfrm>
            <a:off x="1422400" y="841375"/>
            <a:ext cx="4471988" cy="3354388"/>
          </a:xfrm>
        </p:spPr>
      </p:sp>
      <p:sp>
        <p:nvSpPr>
          <p:cNvPr id="96260"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171269115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miter lim="800000"/>
          </a:ln>
        </p:spPr>
        <p:txBody>
          <a:bodyPr/>
          <a:lstStyle/>
          <a:p>
            <a:fld id="{C464D3C7-E309-43F9-A16E-8C3E0A7057FD}" type="slidenum">
              <a:rPr lang="en-US" altLang="zh-CN"/>
              <a:t>116</a:t>
            </a:fld>
            <a:endParaRPr lang="en-US" altLang="zh-CN"/>
          </a:p>
        </p:txBody>
      </p:sp>
      <p:sp>
        <p:nvSpPr>
          <p:cNvPr id="96259" name="Rectangle 2"/>
          <p:cNvSpPr>
            <a:spLocks noGrp="1" noRot="1" noChangeAspect="1" noChangeArrowheads="1" noTextEdit="1"/>
          </p:cNvSpPr>
          <p:nvPr>
            <p:ph type="sldImg"/>
          </p:nvPr>
        </p:nvSpPr>
        <p:spPr>
          <a:xfrm>
            <a:off x="1422400" y="841375"/>
            <a:ext cx="4471988" cy="3354388"/>
          </a:xfrm>
        </p:spPr>
      </p:sp>
      <p:sp>
        <p:nvSpPr>
          <p:cNvPr id="96260"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376039820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miter lim="800000"/>
          </a:ln>
        </p:spPr>
        <p:txBody>
          <a:bodyPr/>
          <a:lstStyle/>
          <a:p>
            <a:fld id="{C464D3C7-E309-43F9-A16E-8C3E0A7057FD}" type="slidenum">
              <a:rPr lang="en-US" altLang="zh-CN"/>
              <a:t>117</a:t>
            </a:fld>
            <a:endParaRPr lang="en-US" altLang="zh-CN"/>
          </a:p>
        </p:txBody>
      </p:sp>
      <p:sp>
        <p:nvSpPr>
          <p:cNvPr id="96259" name="Rectangle 2"/>
          <p:cNvSpPr>
            <a:spLocks noGrp="1" noRot="1" noChangeAspect="1" noChangeArrowheads="1" noTextEdit="1"/>
          </p:cNvSpPr>
          <p:nvPr>
            <p:ph type="sldImg"/>
          </p:nvPr>
        </p:nvSpPr>
        <p:spPr>
          <a:xfrm>
            <a:off x="1422400" y="841375"/>
            <a:ext cx="4471988" cy="3354388"/>
          </a:xfrm>
        </p:spPr>
      </p:sp>
      <p:sp>
        <p:nvSpPr>
          <p:cNvPr id="96260"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371786757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miter lim="800000"/>
          </a:ln>
        </p:spPr>
        <p:txBody>
          <a:bodyPr/>
          <a:lstStyle/>
          <a:p>
            <a:fld id="{C464D3C7-E309-43F9-A16E-8C3E0A7057FD}" type="slidenum">
              <a:rPr lang="en-US" altLang="zh-CN"/>
              <a:t>118</a:t>
            </a:fld>
            <a:endParaRPr lang="en-US" altLang="zh-CN"/>
          </a:p>
        </p:txBody>
      </p:sp>
      <p:sp>
        <p:nvSpPr>
          <p:cNvPr id="96259" name="Rectangle 2"/>
          <p:cNvSpPr>
            <a:spLocks noGrp="1" noRot="1" noChangeAspect="1" noChangeArrowheads="1" noTextEdit="1"/>
          </p:cNvSpPr>
          <p:nvPr>
            <p:ph type="sldImg"/>
          </p:nvPr>
        </p:nvSpPr>
        <p:spPr>
          <a:xfrm>
            <a:off x="1422400" y="841375"/>
            <a:ext cx="4471988" cy="3354388"/>
          </a:xfrm>
        </p:spPr>
      </p:sp>
      <p:sp>
        <p:nvSpPr>
          <p:cNvPr id="96260" name="Rectangle 3"/>
          <p:cNvSpPr>
            <a:spLocks noGrp="1" noChangeArrowheads="1"/>
          </p:cNvSpPr>
          <p:nvPr>
            <p:ph type="body" idx="1"/>
          </p:nvPr>
        </p:nvSpPr>
        <p:spPr>
          <a:xfrm>
            <a:off x="975361" y="4562238"/>
            <a:ext cx="5362787" cy="4043839"/>
          </a:xfrm>
          <a:noFill/>
        </p:spPr>
        <p:txBody>
          <a:bodyPr/>
          <a:lstStyle/>
          <a:p>
            <a:pPr eaLnBrk="1" hangingPunct="1"/>
            <a:r>
              <a:rPr lang="zh-CN" altLang="en-US"/>
              <a:t>使用</a:t>
            </a:r>
            <a:r>
              <a:rPr lang="en-US" altLang="zh-CN"/>
              <a:t>cat</a:t>
            </a:r>
            <a:r>
              <a:rPr lang="zh-CN" altLang="en-US"/>
              <a:t>命令重定向文件输出</a:t>
            </a:r>
            <a:endParaRPr lang="en-US" altLang="zh-CN"/>
          </a:p>
        </p:txBody>
      </p:sp>
    </p:spTree>
    <p:extLst>
      <p:ext uri="{BB962C8B-B14F-4D97-AF65-F5344CB8AC3E}">
        <p14:creationId xmlns:p14="http://schemas.microsoft.com/office/powerpoint/2010/main" val="215518562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miter lim="800000"/>
          </a:ln>
        </p:spPr>
        <p:txBody>
          <a:bodyPr/>
          <a:lstStyle/>
          <a:p>
            <a:fld id="{FAD1A387-6E2B-4332-BAD4-4F2BF195DD8E}" type="slidenum">
              <a:rPr lang="en-US" altLang="zh-CN"/>
              <a:t>119</a:t>
            </a:fld>
            <a:endParaRPr lang="en-US" altLang="zh-CN"/>
          </a:p>
        </p:txBody>
      </p:sp>
      <p:sp>
        <p:nvSpPr>
          <p:cNvPr id="98307" name="Rectangle 2"/>
          <p:cNvSpPr>
            <a:spLocks noGrp="1" noRot="1" noChangeAspect="1" noChangeArrowheads="1" noTextEdit="1"/>
          </p:cNvSpPr>
          <p:nvPr>
            <p:ph type="sldImg"/>
          </p:nvPr>
        </p:nvSpPr>
        <p:spPr>
          <a:xfrm>
            <a:off x="1422400" y="841375"/>
            <a:ext cx="4471988" cy="3354388"/>
          </a:xfrm>
        </p:spPr>
      </p:sp>
      <p:sp>
        <p:nvSpPr>
          <p:cNvPr id="98308"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235427468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miter lim="800000"/>
          </a:ln>
        </p:spPr>
        <p:txBody>
          <a:bodyPr/>
          <a:lstStyle/>
          <a:p>
            <a:fld id="{FAD1A387-6E2B-4332-BAD4-4F2BF195DD8E}" type="slidenum">
              <a:rPr lang="en-US" altLang="zh-CN"/>
              <a:t>120</a:t>
            </a:fld>
            <a:endParaRPr lang="en-US" altLang="zh-CN"/>
          </a:p>
        </p:txBody>
      </p:sp>
      <p:sp>
        <p:nvSpPr>
          <p:cNvPr id="98307" name="Rectangle 2"/>
          <p:cNvSpPr>
            <a:spLocks noGrp="1" noRot="1" noChangeAspect="1" noChangeArrowheads="1" noTextEdit="1"/>
          </p:cNvSpPr>
          <p:nvPr>
            <p:ph type="sldImg"/>
          </p:nvPr>
        </p:nvSpPr>
        <p:spPr>
          <a:xfrm>
            <a:off x="1422400" y="841375"/>
            <a:ext cx="4471988" cy="3354388"/>
          </a:xfrm>
        </p:spPr>
      </p:sp>
      <p:sp>
        <p:nvSpPr>
          <p:cNvPr id="98308"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336910194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miter lim="800000"/>
          </a:ln>
        </p:spPr>
        <p:txBody>
          <a:bodyPr/>
          <a:lstStyle/>
          <a:p>
            <a:fld id="{228DADA0-0B54-4F03-90E9-5059ACBA78D0}" type="slidenum">
              <a:rPr lang="en-US" altLang="zh-CN"/>
              <a:t>121</a:t>
            </a:fld>
            <a:endParaRPr lang="en-US" altLang="zh-CN"/>
          </a:p>
        </p:txBody>
      </p:sp>
      <p:sp>
        <p:nvSpPr>
          <p:cNvPr id="99331" name="Rectangle 2"/>
          <p:cNvSpPr>
            <a:spLocks noGrp="1" noRot="1" noChangeAspect="1" noChangeArrowheads="1" noTextEdit="1"/>
          </p:cNvSpPr>
          <p:nvPr>
            <p:ph type="sldImg"/>
          </p:nvPr>
        </p:nvSpPr>
        <p:spPr>
          <a:xfrm>
            <a:off x="1422400" y="841375"/>
            <a:ext cx="4471988" cy="3354388"/>
          </a:xfrm>
        </p:spPr>
      </p:sp>
      <p:sp>
        <p:nvSpPr>
          <p:cNvPr id="99332"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261406480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miter lim="800000"/>
          </a:ln>
        </p:spPr>
        <p:txBody>
          <a:bodyPr/>
          <a:lstStyle/>
          <a:p>
            <a:fld id="{9F91CFF4-4AA0-4014-9C23-0D1108DAA6E5}" type="slidenum">
              <a:rPr lang="en-US" altLang="zh-CN"/>
              <a:t>122</a:t>
            </a:fld>
            <a:endParaRPr lang="en-US" altLang="zh-CN"/>
          </a:p>
        </p:txBody>
      </p:sp>
      <p:sp>
        <p:nvSpPr>
          <p:cNvPr id="100355" name="Rectangle 2"/>
          <p:cNvSpPr>
            <a:spLocks noGrp="1" noRot="1" noChangeAspect="1" noChangeArrowheads="1" noTextEdit="1"/>
          </p:cNvSpPr>
          <p:nvPr>
            <p:ph type="sldImg"/>
          </p:nvPr>
        </p:nvSpPr>
        <p:spPr>
          <a:xfrm>
            <a:off x="1422400" y="841375"/>
            <a:ext cx="4471988" cy="3354388"/>
          </a:xfrm>
        </p:spPr>
      </p:sp>
      <p:sp>
        <p:nvSpPr>
          <p:cNvPr id="100356"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9210481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miter lim="800000"/>
          </a:ln>
        </p:spPr>
        <p:txBody>
          <a:bodyPr/>
          <a:lstStyle/>
          <a:p>
            <a:fld id="{9F91CFF4-4AA0-4014-9C23-0D1108DAA6E5}" type="slidenum">
              <a:rPr lang="en-US" altLang="zh-CN"/>
              <a:t>123</a:t>
            </a:fld>
            <a:endParaRPr lang="en-US" altLang="zh-CN"/>
          </a:p>
        </p:txBody>
      </p:sp>
      <p:sp>
        <p:nvSpPr>
          <p:cNvPr id="100355" name="Rectangle 2"/>
          <p:cNvSpPr>
            <a:spLocks noGrp="1" noRot="1" noChangeAspect="1" noChangeArrowheads="1" noTextEdit="1"/>
          </p:cNvSpPr>
          <p:nvPr>
            <p:ph type="sldImg"/>
          </p:nvPr>
        </p:nvSpPr>
        <p:spPr>
          <a:xfrm>
            <a:off x="1422400" y="841375"/>
            <a:ext cx="4471988" cy="3354388"/>
          </a:xfrm>
        </p:spPr>
      </p:sp>
      <p:sp>
        <p:nvSpPr>
          <p:cNvPr id="100356"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229658078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miter lim="800000"/>
          </a:ln>
        </p:spPr>
        <p:txBody>
          <a:bodyPr/>
          <a:lstStyle/>
          <a:p>
            <a:fld id="{9F91CFF4-4AA0-4014-9C23-0D1108DAA6E5}" type="slidenum">
              <a:rPr lang="en-US" altLang="zh-CN"/>
              <a:t>124</a:t>
            </a:fld>
            <a:endParaRPr lang="en-US" altLang="zh-CN"/>
          </a:p>
        </p:txBody>
      </p:sp>
      <p:sp>
        <p:nvSpPr>
          <p:cNvPr id="100355" name="Rectangle 2"/>
          <p:cNvSpPr>
            <a:spLocks noGrp="1" noRot="1" noChangeAspect="1" noChangeArrowheads="1" noTextEdit="1"/>
          </p:cNvSpPr>
          <p:nvPr>
            <p:ph type="sldImg"/>
          </p:nvPr>
        </p:nvSpPr>
        <p:spPr>
          <a:xfrm>
            <a:off x="1422400" y="841375"/>
            <a:ext cx="4471988" cy="3354388"/>
          </a:xfrm>
        </p:spPr>
      </p:sp>
      <p:sp>
        <p:nvSpPr>
          <p:cNvPr id="100356"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218736375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miter lim="800000"/>
          </a:ln>
        </p:spPr>
        <p:txBody>
          <a:bodyPr/>
          <a:lstStyle/>
          <a:p>
            <a:fld id="{9F91CFF4-4AA0-4014-9C23-0D1108DAA6E5}" type="slidenum">
              <a:rPr lang="en-US" altLang="zh-CN"/>
              <a:t>125</a:t>
            </a:fld>
            <a:endParaRPr lang="en-US" altLang="zh-CN"/>
          </a:p>
        </p:txBody>
      </p:sp>
      <p:sp>
        <p:nvSpPr>
          <p:cNvPr id="100355" name="Rectangle 2"/>
          <p:cNvSpPr>
            <a:spLocks noGrp="1" noRot="1" noChangeAspect="1" noChangeArrowheads="1" noTextEdit="1"/>
          </p:cNvSpPr>
          <p:nvPr>
            <p:ph type="sldImg"/>
          </p:nvPr>
        </p:nvSpPr>
        <p:spPr>
          <a:xfrm>
            <a:off x="1422400" y="841375"/>
            <a:ext cx="4471988" cy="3354388"/>
          </a:xfrm>
        </p:spPr>
      </p:sp>
      <p:sp>
        <p:nvSpPr>
          <p:cNvPr id="100356" name="Rectangle 3"/>
          <p:cNvSpPr>
            <a:spLocks noGrp="1" noChangeArrowheads="1"/>
          </p:cNvSpPr>
          <p:nvPr>
            <p:ph type="body" idx="1"/>
          </p:nvPr>
        </p:nvSpPr>
        <p:spPr>
          <a:xfrm>
            <a:off x="975361" y="4562238"/>
            <a:ext cx="5362787" cy="4043839"/>
          </a:xfrm>
          <a:noFill/>
        </p:spPr>
        <p:txBody>
          <a:bodyPr/>
          <a:lstStyle/>
          <a:p>
            <a:pPr eaLnBrk="1" hangingPunct="1"/>
            <a:endParaRPr lang="zh-CN" altLang="zh-CN"/>
          </a:p>
        </p:txBody>
      </p:sp>
    </p:spTree>
    <p:extLst>
      <p:ext uri="{BB962C8B-B14F-4D97-AF65-F5344CB8AC3E}">
        <p14:creationId xmlns:p14="http://schemas.microsoft.com/office/powerpoint/2010/main" val="107687902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Rot="1" noChangeAspect="1" noChangeArrowheads="1" noTextEdit="1"/>
          </p:cNvSpPr>
          <p:nvPr>
            <p:ph type="sldImg"/>
          </p:nvPr>
        </p:nvSpPr>
        <p:spPr/>
      </p:sp>
      <p:sp>
        <p:nvSpPr>
          <p:cNvPr id="128003" name="Rectangle 3"/>
          <p:cNvSpPr>
            <a:spLocks noGrp="1" noChangeArrowheads="1"/>
          </p:cNvSpPr>
          <p:nvPr>
            <p:ph type="body" idx="1"/>
          </p:nvPr>
        </p:nvSpPr>
        <p:spPr>
          <a:noFill/>
        </p:spPr>
        <p:txBody>
          <a:bodyPr/>
          <a:lstStyle/>
          <a:p>
            <a:r>
              <a:rPr lang="zh-CN" altLang="en-US"/>
              <a:t>通过交换机接入需做端口镜像</a:t>
            </a: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p>
            <a:fld id="{A47708CD-8B15-4D9D-988E-83A39C5E52E5}" type="slidenum">
              <a:rPr lang="en-US" altLang="zh-CN"/>
              <a:t>145</a:t>
            </a:fld>
            <a:endParaRPr lang="en-US" altLang="zh-CN"/>
          </a:p>
        </p:txBody>
      </p:sp>
      <p:sp>
        <p:nvSpPr>
          <p:cNvPr id="91139" name="Rectangle 2"/>
          <p:cNvSpPr>
            <a:spLocks noGrp="1" noRot="1" noChangeAspect="1" noChangeArrowheads="1" noTextEdit="1"/>
          </p:cNvSpPr>
          <p:nvPr>
            <p:ph type="sldImg"/>
          </p:nvPr>
        </p:nvSpPr>
        <p:spPr/>
      </p:sp>
      <p:sp>
        <p:nvSpPr>
          <p:cNvPr id="91140" name="Rectangle 3"/>
          <p:cNvSpPr>
            <a:spLocks noGrp="1" noChangeArrowheads="1"/>
          </p:cNvSpPr>
          <p:nvPr>
            <p:ph type="body" idx="1"/>
          </p:nvPr>
        </p:nvSpPr>
        <p:spPr>
          <a:xfrm>
            <a:off x="975360" y="4560570"/>
            <a:ext cx="5364480" cy="4320540"/>
          </a:xfrm>
          <a:noFill/>
        </p:spPr>
        <p:txBody>
          <a:bodyPr/>
          <a:lstStyle/>
          <a:p>
            <a:pPr eaLnBrk="1" hangingPunct="1"/>
            <a:endParaRPr lang="zh-CN" altLang="zh-CN"/>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Rot="1" noChangeAspect="1" noChangeArrowheads="1" noTextEdit="1"/>
          </p:cNvSpPr>
          <p:nvPr>
            <p:ph type="sldImg"/>
          </p:nvPr>
        </p:nvSpPr>
        <p:spPr/>
      </p:sp>
      <p:sp>
        <p:nvSpPr>
          <p:cNvPr id="143363" name="Rectangle 3"/>
          <p:cNvSpPr>
            <a:spLocks noGrp="1" noChangeArrowheads="1"/>
          </p:cNvSpPr>
          <p:nvPr>
            <p:ph type="body" idx="1"/>
          </p:nvPr>
        </p:nvSpPr>
        <p:spPr>
          <a:noFill/>
        </p:spPr>
        <p:txBody>
          <a:bodyPr/>
          <a:lstStyle/>
          <a:p>
            <a:pPr eaLnBrk="1" hangingPunct="1">
              <a:buFontTx/>
              <a:buChar char="•"/>
            </a:pPr>
            <a:r>
              <a:rPr lang="zh-CN" altLang="en-US" sz="800" b="1">
                <a:latin typeface="楷体_GB2312" pitchFamily="49" charset="-122"/>
                <a:ea typeface="楷体_GB2312" pitchFamily="49" charset="-122"/>
              </a:rPr>
              <a:t>控制台主机的安全脆弱性</a:t>
            </a:r>
            <a:br>
              <a:rPr lang="zh-CN" altLang="en-US" sz="800" b="1">
                <a:latin typeface="楷体_GB2312" pitchFamily="49" charset="-122"/>
                <a:ea typeface="楷体_GB2312" pitchFamily="49" charset="-122"/>
              </a:rPr>
            </a:br>
            <a:r>
              <a:rPr lang="zh-CN" altLang="en-US" sz="800" b="1">
                <a:latin typeface="楷体_GB2312" pitchFamily="49" charset="-122"/>
                <a:ea typeface="楷体_GB2312" pitchFamily="49" charset="-122"/>
              </a:rPr>
              <a:t>如果攻击者能够控制控制台所在的主机，就可以对整个</a:t>
            </a:r>
            <a:r>
              <a:rPr lang="en-US" altLang="zh-CN" sz="800" b="1">
                <a:latin typeface="楷体_GB2312" pitchFamily="49" charset="-122"/>
                <a:ea typeface="楷体_GB2312" pitchFamily="49" charset="-122"/>
              </a:rPr>
              <a:t>IDS</a:t>
            </a:r>
            <a:r>
              <a:rPr lang="zh-CN" altLang="en-US" sz="800" b="1">
                <a:latin typeface="楷体_GB2312" pitchFamily="49" charset="-122"/>
                <a:ea typeface="楷体_GB2312" pitchFamily="49" charset="-122"/>
              </a:rPr>
              <a:t>系统进行控制。</a:t>
            </a:r>
          </a:p>
          <a:p>
            <a:pPr eaLnBrk="1" hangingPunct="1">
              <a:buFontTx/>
              <a:buChar char="•"/>
            </a:pPr>
            <a:r>
              <a:rPr lang="zh-CN" altLang="en-US" sz="800" b="1"/>
              <a:t> </a:t>
            </a:r>
            <a:r>
              <a:rPr lang="zh-CN" altLang="en-US" sz="800" b="1">
                <a:latin typeface="楷体_GB2312" pitchFamily="49" charset="-122"/>
                <a:ea typeface="楷体_GB2312" pitchFamily="49" charset="-122"/>
              </a:rPr>
              <a:t>感应器与控制台通信的安全性问题</a:t>
            </a:r>
            <a:br>
              <a:rPr lang="zh-CN" altLang="en-US" sz="800" b="1">
                <a:latin typeface="楷体_GB2312" pitchFamily="49" charset="-122"/>
                <a:ea typeface="楷体_GB2312" pitchFamily="49" charset="-122"/>
              </a:rPr>
            </a:br>
            <a:r>
              <a:rPr lang="zh-CN" altLang="en-US" sz="800" b="1">
                <a:latin typeface="楷体_GB2312" pitchFamily="49" charset="-122"/>
                <a:ea typeface="楷体_GB2312" pitchFamily="49" charset="-122"/>
              </a:rPr>
              <a:t>如果感应器与控制台间的通信可以被攻击者成功攻击，将影响系统正常使用。例如进行</a:t>
            </a:r>
            <a:r>
              <a:rPr lang="en-US" altLang="zh-CN" sz="800" b="1">
                <a:latin typeface="楷体_GB2312" pitchFamily="49" charset="-122"/>
                <a:ea typeface="楷体_GB2312" pitchFamily="49" charset="-122"/>
              </a:rPr>
              <a:t>ARP</a:t>
            </a:r>
            <a:r>
              <a:rPr lang="zh-CN" altLang="en-US" sz="800" b="1">
                <a:latin typeface="楷体_GB2312" pitchFamily="49" charset="-122"/>
                <a:ea typeface="楷体_GB2312" pitchFamily="49" charset="-122"/>
              </a:rPr>
              <a:t>欺骗或者</a:t>
            </a:r>
            <a:r>
              <a:rPr lang="en-US" altLang="zh-CN" sz="800" b="1">
                <a:latin typeface="楷体_GB2312" pitchFamily="49" charset="-122"/>
                <a:ea typeface="楷体_GB2312" pitchFamily="49" charset="-122"/>
              </a:rPr>
              <a:t>SYN_Flooding</a:t>
            </a:r>
            <a:r>
              <a:rPr lang="zh-CN" altLang="en-US" sz="800" b="1">
                <a:latin typeface="楷体_GB2312" pitchFamily="49" charset="-122"/>
                <a:ea typeface="楷体_GB2312" pitchFamily="49" charset="-122"/>
              </a:rPr>
              <a:t>。</a:t>
            </a:r>
            <a:br>
              <a:rPr lang="zh-CN" altLang="en-US" sz="800" b="1">
                <a:latin typeface="楷体_GB2312" pitchFamily="49" charset="-122"/>
                <a:ea typeface="楷体_GB2312" pitchFamily="49" charset="-122"/>
              </a:rPr>
            </a:br>
            <a:r>
              <a:rPr lang="zh-CN" altLang="en-US" sz="800" b="1">
                <a:latin typeface="楷体_GB2312" pitchFamily="49" charset="-122"/>
                <a:ea typeface="楷体_GB2312" pitchFamily="49" charset="-122"/>
              </a:rPr>
              <a:t>如果感应器与控制台间的通信采用明文通信或者只是简单的加密，则可能受到</a:t>
            </a:r>
            <a:r>
              <a:rPr lang="en-US" altLang="zh-CN" sz="800" b="1">
                <a:latin typeface="楷体_GB2312" pitchFamily="49" charset="-122"/>
                <a:ea typeface="楷体_GB2312" pitchFamily="49" charset="-122"/>
              </a:rPr>
              <a:t>IP</a:t>
            </a:r>
            <a:r>
              <a:rPr lang="zh-CN" altLang="en-US" sz="800" b="1">
                <a:latin typeface="楷体_GB2312" pitchFamily="49" charset="-122"/>
                <a:ea typeface="楷体_GB2312" pitchFamily="49" charset="-122"/>
              </a:rPr>
              <a:t>欺骗攻击或者重放攻击。</a:t>
            </a:r>
          </a:p>
          <a:p>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准确性（</a:t>
            </a:r>
            <a:r>
              <a:rPr lang="en-US" altLang="zh-CN" dirty="0"/>
              <a:t>Accuracy</a:t>
            </a:r>
            <a:r>
              <a:rPr lang="zh-CN" altLang="en-US" dirty="0"/>
              <a:t>）：指</a:t>
            </a:r>
            <a:r>
              <a:rPr lang="en-US" altLang="zh-CN" dirty="0"/>
              <a:t>IDS</a:t>
            </a:r>
            <a:r>
              <a:rPr lang="zh-CN" altLang="en-US" dirty="0"/>
              <a:t>从各种行为中正确地识别入侵的能力，当一个</a:t>
            </a:r>
            <a:r>
              <a:rPr lang="en-US" altLang="zh-CN" dirty="0"/>
              <a:t>IDS</a:t>
            </a:r>
            <a:r>
              <a:rPr lang="zh-CN" altLang="en-US" dirty="0"/>
              <a:t>的检测不准确时，就有可能把系统中的合法活动当作入侵行为并标识为异常（虚警现象）。 </a:t>
            </a:r>
            <a:r>
              <a:rPr lang="en-US" altLang="zh-CN" dirty="0"/>
              <a:t>·</a:t>
            </a:r>
          </a:p>
          <a:p>
            <a:r>
              <a:rPr lang="zh-CN" altLang="en-US" dirty="0"/>
              <a:t>处理性能（</a:t>
            </a:r>
            <a:r>
              <a:rPr lang="en-US" altLang="zh-CN" dirty="0"/>
              <a:t>Performance</a:t>
            </a:r>
            <a:r>
              <a:rPr lang="zh-CN" altLang="en-US" dirty="0"/>
              <a:t>）：指一个</a:t>
            </a:r>
            <a:r>
              <a:rPr lang="en-US" altLang="zh-CN" dirty="0"/>
              <a:t>IDS</a:t>
            </a:r>
            <a:r>
              <a:rPr lang="zh-CN" altLang="en-US" dirty="0"/>
              <a:t>处理数据源数据的速度。显然，当</a:t>
            </a:r>
            <a:r>
              <a:rPr lang="en-US" altLang="zh-CN" dirty="0"/>
              <a:t>IDS</a:t>
            </a:r>
            <a:r>
              <a:rPr lang="zh-CN" altLang="en-US" dirty="0"/>
              <a:t>的处理性能较差时，它就不可能实现实时的</a:t>
            </a:r>
            <a:r>
              <a:rPr lang="en-US" altLang="zh-CN" dirty="0"/>
              <a:t>IDS</a:t>
            </a:r>
            <a:r>
              <a:rPr lang="zh-CN" altLang="en-US" dirty="0"/>
              <a:t>，并有可能成为整个系统的瓶颈，进而严重影响整个系统的性能。 </a:t>
            </a:r>
            <a:r>
              <a:rPr lang="en-US" altLang="zh-CN" dirty="0"/>
              <a:t>·</a:t>
            </a:r>
          </a:p>
          <a:p>
            <a:r>
              <a:rPr lang="zh-CN" altLang="en-US" dirty="0"/>
              <a:t>完备性（</a:t>
            </a:r>
            <a:r>
              <a:rPr lang="en-US" altLang="zh-CN" dirty="0"/>
              <a:t>Completeness</a:t>
            </a:r>
            <a:r>
              <a:rPr lang="zh-CN" altLang="en-US" dirty="0"/>
              <a:t>）：指</a:t>
            </a:r>
            <a:r>
              <a:rPr lang="en-US" altLang="zh-CN" dirty="0"/>
              <a:t>IDS</a:t>
            </a:r>
            <a:r>
              <a:rPr lang="zh-CN" altLang="en-US" dirty="0"/>
              <a:t>能够检测出所有攻击行为的能力。如果存在一个攻击行为，无法被</a:t>
            </a:r>
            <a:r>
              <a:rPr lang="en-US" altLang="zh-CN" dirty="0"/>
              <a:t>IDS</a:t>
            </a:r>
            <a:r>
              <a:rPr lang="zh-CN" altLang="en-US" dirty="0"/>
              <a:t>检测出来，那么该</a:t>
            </a:r>
            <a:r>
              <a:rPr lang="en-US" altLang="zh-CN" dirty="0"/>
              <a:t>JDS</a:t>
            </a:r>
            <a:r>
              <a:rPr lang="zh-CN" altLang="en-US" dirty="0"/>
              <a:t>就不具有检测完备性。也就是说，它把对系统的入侵活动当作正常行为（漏报现象）。由于在一般情况下，攻击类型、攻击手段的变化很快，我们很难得到关于攻击行为的所有知识，所以关于</a:t>
            </a:r>
            <a:r>
              <a:rPr lang="en-US" altLang="zh-CN" dirty="0"/>
              <a:t>IDS</a:t>
            </a:r>
            <a:r>
              <a:rPr lang="zh-CN" altLang="en-US" dirty="0"/>
              <a:t>的检测完备性的评估相对比较困难。</a:t>
            </a:r>
            <a:br>
              <a:rPr lang="en-US" altLang="zh-CN" dirty="0"/>
            </a:br>
            <a:r>
              <a:rPr lang="en-US" altLang="zh-CN" dirty="0"/>
              <a:t>·</a:t>
            </a:r>
            <a:r>
              <a:rPr lang="zh-CN" altLang="en-US" dirty="0"/>
              <a:t>容错性</a:t>
            </a:r>
            <a:r>
              <a:rPr lang="en-US" altLang="zh-CN" dirty="0"/>
              <a:t>(Fault Tolerance):</a:t>
            </a:r>
            <a:r>
              <a:rPr lang="zh-CN" altLang="en-US" dirty="0"/>
              <a:t>由于</a:t>
            </a:r>
            <a:r>
              <a:rPr lang="en-US" altLang="zh-CN" dirty="0"/>
              <a:t>IDS</a:t>
            </a:r>
            <a:r>
              <a:rPr lang="zh-CN" altLang="en-US" dirty="0"/>
              <a:t>是检测入侵的重要手段</a:t>
            </a:r>
            <a:r>
              <a:rPr lang="en-US" altLang="zh-CN" dirty="0"/>
              <a:t>/</a:t>
            </a:r>
            <a:r>
              <a:rPr lang="zh-CN" altLang="en-US" dirty="0"/>
              <a:t>所以它也就成为很多入侵者攻击的首选目标。</a:t>
            </a:r>
            <a:r>
              <a:rPr lang="en-US" altLang="zh-CN" dirty="0"/>
              <a:t>IDS</a:t>
            </a:r>
            <a:r>
              <a:rPr lang="zh-CN" altLang="en-US" dirty="0"/>
              <a:t>自身必须能够抵御对它自身的攻击，特别是拒绝服务</a:t>
            </a:r>
            <a:r>
              <a:rPr lang="en-US" altLang="zh-CN" dirty="0"/>
              <a:t>(Denial-of-Service)</a:t>
            </a:r>
            <a:r>
              <a:rPr lang="zh-CN" altLang="en-US" dirty="0"/>
              <a:t>攻击。由于大多数的</a:t>
            </a:r>
            <a:r>
              <a:rPr lang="en-US" altLang="zh-CN" dirty="0"/>
              <a:t>IDS</a:t>
            </a:r>
            <a:r>
              <a:rPr lang="zh-CN" altLang="en-US" dirty="0"/>
              <a:t>是运行在极易遭受攻击的操作系统和硬件</a:t>
            </a:r>
            <a:r>
              <a:rPr lang="zh-CN" altLang="en-US" dirty="0">
                <a:hlinkClick r:id="rId3"/>
              </a:rPr>
              <a:t>平台</a:t>
            </a:r>
            <a:r>
              <a:rPr lang="zh-CN" altLang="en-US" dirty="0"/>
              <a:t>上，这就使得系统的容错性变得特别重要，在测试评估</a:t>
            </a:r>
            <a:r>
              <a:rPr lang="en-US" altLang="zh-CN" dirty="0"/>
              <a:t>IDS</a:t>
            </a:r>
            <a:r>
              <a:rPr lang="zh-CN" altLang="en-US" dirty="0"/>
              <a:t>时必须考虑这一点。</a:t>
            </a:r>
          </a:p>
          <a:p>
            <a:r>
              <a:rPr lang="en-US" altLang="zh-CN" dirty="0"/>
              <a:t>·</a:t>
            </a:r>
            <a:r>
              <a:rPr lang="zh-CN" altLang="en-US" dirty="0"/>
              <a:t>及时性</a:t>
            </a:r>
            <a:r>
              <a:rPr lang="en-US" altLang="zh-CN" dirty="0"/>
              <a:t>(Timeliness):</a:t>
            </a:r>
            <a:r>
              <a:rPr lang="zh-CN" altLang="en-US" dirty="0"/>
              <a:t>及时性要求</a:t>
            </a:r>
            <a:r>
              <a:rPr lang="en-US" altLang="zh-CN" dirty="0"/>
              <a:t>IDS</a:t>
            </a:r>
            <a:r>
              <a:rPr lang="zh-CN" altLang="en-US" dirty="0"/>
              <a:t>必须尽快地分析数据并把分析结果传播出去，以使系统安全管理者能够在入侵攻击尚未造成更大危害以前做出反应，阻止入侵者进一步的破坏活动，和上面的处理性能因素相比，及时性的要求更高。它不仅要求</a:t>
            </a:r>
            <a:r>
              <a:rPr lang="en-US" altLang="zh-CN" dirty="0"/>
              <a:t>IDS</a:t>
            </a:r>
            <a:r>
              <a:rPr lang="zh-CN" altLang="en-US" dirty="0"/>
              <a:t>的处理速度要尽可能地快，而且要求传播、反应检测结果信息的时间尽可能少。</a:t>
            </a:r>
          </a:p>
          <a:p>
            <a:r>
              <a:rPr lang="zh-CN" altLang="en-US" dirty="0"/>
              <a:t> </a:t>
            </a:r>
          </a:p>
        </p:txBody>
      </p:sp>
      <p:sp>
        <p:nvSpPr>
          <p:cNvPr id="4" name="灯片编号占位符 3"/>
          <p:cNvSpPr>
            <a:spLocks noGrp="1"/>
          </p:cNvSpPr>
          <p:nvPr>
            <p:ph type="sldNum" sz="quarter" idx="10"/>
          </p:nvPr>
        </p:nvSpPr>
        <p:spPr/>
        <p:txBody>
          <a:bodyPr/>
          <a:lstStyle/>
          <a:p>
            <a:pPr>
              <a:defRPr/>
            </a:pPr>
            <a:fld id="{B487D939-5749-4C63-8AED-0305FE88E523}" type="slidenum">
              <a:rPr lang="zh-CN" altLang="en-US" smtClean="0"/>
              <a:t>151</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bg bwMode="gray">
      <p:bgPr>
        <a:solidFill>
          <a:schemeClr val="accent2"/>
        </a:solidFill>
        <a:effectLst/>
      </p:bgPr>
    </p:bg>
    <p:spTree>
      <p:nvGrpSpPr>
        <p:cNvPr id="1" name=""/>
        <p:cNvGrpSpPr/>
        <p:nvPr/>
      </p:nvGrpSpPr>
      <p:grpSpPr>
        <a:xfrm>
          <a:off x="0" y="0"/>
          <a:ext cx="0" cy="0"/>
          <a:chOff x="0" y="0"/>
          <a:chExt cx="0" cy="0"/>
        </a:xfrm>
      </p:grpSpPr>
      <p:sp>
        <p:nvSpPr>
          <p:cNvPr id="4" name="Rectangle 102"/>
          <p:cNvSpPr>
            <a:spLocks noChangeArrowheads="1"/>
          </p:cNvSpPr>
          <p:nvPr/>
        </p:nvSpPr>
        <p:spPr bwMode="gray">
          <a:xfrm>
            <a:off x="0" y="0"/>
            <a:ext cx="9144000" cy="3068638"/>
          </a:xfrm>
          <a:prstGeom prst="rect">
            <a:avLst/>
          </a:prstGeom>
          <a:solidFill>
            <a:schemeClr val="accent1"/>
          </a:solidFill>
          <a:ln w="9525">
            <a:noFill/>
            <a:miter lim="800000"/>
          </a:ln>
          <a:effectLst/>
        </p:spPr>
        <p:txBody>
          <a:bodyPr wrap="none" anchor="ctr"/>
          <a:lstStyle/>
          <a:p>
            <a:pPr algn="ctr">
              <a:defRPr/>
            </a:pPr>
            <a:endParaRPr lang="zh-CN" altLang="en-US"/>
          </a:p>
        </p:txBody>
      </p:sp>
      <p:sp>
        <p:nvSpPr>
          <p:cNvPr id="5" name="AutoShape 103"/>
          <p:cNvSpPr>
            <a:spLocks noChangeArrowheads="1"/>
          </p:cNvSpPr>
          <p:nvPr/>
        </p:nvSpPr>
        <p:spPr bwMode="gray">
          <a:xfrm>
            <a:off x="2819400" y="3113088"/>
            <a:ext cx="5867400" cy="838200"/>
          </a:xfrm>
          <a:prstGeom prst="roundRect">
            <a:avLst>
              <a:gd name="adj" fmla="val 50000"/>
            </a:avLst>
          </a:prstGeom>
          <a:solidFill>
            <a:schemeClr val="tx2"/>
          </a:solidFill>
          <a:ln w="9525">
            <a:noFill/>
            <a:round/>
          </a:ln>
          <a:effectLst/>
        </p:spPr>
        <p:txBody>
          <a:bodyPr wrap="none" anchor="ctr"/>
          <a:lstStyle/>
          <a:p>
            <a:pPr>
              <a:defRPr/>
            </a:pPr>
            <a:endParaRPr lang="zh-CN" altLang="en-US">
              <a:ea typeface="+mn-ea"/>
            </a:endParaRPr>
          </a:p>
        </p:txBody>
      </p:sp>
      <p:sp>
        <p:nvSpPr>
          <p:cNvPr id="6" name="Rectangle 105"/>
          <p:cNvSpPr>
            <a:spLocks noChangeArrowheads="1"/>
          </p:cNvSpPr>
          <p:nvPr/>
        </p:nvSpPr>
        <p:spPr bwMode="gray">
          <a:xfrm>
            <a:off x="7696200" y="1741488"/>
            <a:ext cx="533400" cy="838200"/>
          </a:xfrm>
          <a:prstGeom prst="rect">
            <a:avLst/>
          </a:prstGeom>
          <a:noFill/>
          <a:ln w="9525">
            <a:solidFill>
              <a:srgbClr val="FFFFFF">
                <a:alpha val="50000"/>
              </a:srgbClr>
            </a:solidFill>
            <a:miter lim="800000"/>
          </a:ln>
          <a:effectLst/>
        </p:spPr>
        <p:txBody>
          <a:bodyPr wrap="none" anchor="ctr"/>
          <a:lstStyle/>
          <a:p>
            <a:pPr>
              <a:defRPr/>
            </a:pPr>
            <a:endParaRPr lang="zh-CN" altLang="en-US">
              <a:ea typeface="+mn-ea"/>
            </a:endParaRPr>
          </a:p>
        </p:txBody>
      </p:sp>
      <p:sp>
        <p:nvSpPr>
          <p:cNvPr id="7" name="Rectangle 106"/>
          <p:cNvSpPr>
            <a:spLocks noChangeArrowheads="1"/>
          </p:cNvSpPr>
          <p:nvPr/>
        </p:nvSpPr>
        <p:spPr bwMode="gray">
          <a:xfrm>
            <a:off x="6934200" y="1131888"/>
            <a:ext cx="914400" cy="838200"/>
          </a:xfrm>
          <a:prstGeom prst="rect">
            <a:avLst/>
          </a:prstGeom>
          <a:noFill/>
          <a:ln w="9525">
            <a:solidFill>
              <a:srgbClr val="FFFFFF">
                <a:alpha val="50000"/>
              </a:srgbClr>
            </a:solidFill>
            <a:miter lim="800000"/>
          </a:ln>
          <a:effectLst/>
        </p:spPr>
        <p:txBody>
          <a:bodyPr wrap="none" anchor="ctr"/>
          <a:lstStyle/>
          <a:p>
            <a:pPr>
              <a:defRPr/>
            </a:pPr>
            <a:endParaRPr lang="zh-CN" altLang="en-US">
              <a:ea typeface="+mn-ea"/>
            </a:endParaRPr>
          </a:p>
        </p:txBody>
      </p:sp>
      <p:sp>
        <p:nvSpPr>
          <p:cNvPr id="8" name="Rectangle 107"/>
          <p:cNvSpPr>
            <a:spLocks noChangeArrowheads="1"/>
          </p:cNvSpPr>
          <p:nvPr/>
        </p:nvSpPr>
        <p:spPr bwMode="gray">
          <a:xfrm>
            <a:off x="8077200" y="141288"/>
            <a:ext cx="914400" cy="1524000"/>
          </a:xfrm>
          <a:prstGeom prst="rect">
            <a:avLst/>
          </a:prstGeom>
          <a:noFill/>
          <a:ln w="9525">
            <a:solidFill>
              <a:srgbClr val="FFFFFF">
                <a:alpha val="50000"/>
              </a:srgbClr>
            </a:solidFill>
            <a:miter lim="800000"/>
          </a:ln>
          <a:effectLst/>
        </p:spPr>
        <p:txBody>
          <a:bodyPr wrap="none" anchor="ctr"/>
          <a:lstStyle/>
          <a:p>
            <a:pPr>
              <a:defRPr/>
            </a:pPr>
            <a:endParaRPr lang="zh-CN" altLang="en-US">
              <a:ea typeface="+mn-ea"/>
            </a:endParaRPr>
          </a:p>
        </p:txBody>
      </p:sp>
      <p:sp>
        <p:nvSpPr>
          <p:cNvPr id="9" name="Rectangle 108"/>
          <p:cNvSpPr>
            <a:spLocks noChangeArrowheads="1"/>
          </p:cNvSpPr>
          <p:nvPr/>
        </p:nvSpPr>
        <p:spPr bwMode="gray">
          <a:xfrm>
            <a:off x="6553200" y="750888"/>
            <a:ext cx="533400" cy="533400"/>
          </a:xfrm>
          <a:prstGeom prst="rect">
            <a:avLst/>
          </a:prstGeom>
          <a:noFill/>
          <a:ln w="9525">
            <a:solidFill>
              <a:srgbClr val="FFFFFF">
                <a:alpha val="50000"/>
              </a:srgbClr>
            </a:solidFill>
            <a:miter lim="800000"/>
          </a:ln>
          <a:effectLst/>
        </p:spPr>
        <p:txBody>
          <a:bodyPr wrap="none" anchor="ctr"/>
          <a:lstStyle/>
          <a:p>
            <a:pPr>
              <a:defRPr/>
            </a:pPr>
            <a:endParaRPr lang="zh-CN" altLang="en-US">
              <a:ea typeface="+mn-ea"/>
            </a:endParaRPr>
          </a:p>
        </p:txBody>
      </p:sp>
      <p:sp>
        <p:nvSpPr>
          <p:cNvPr id="10" name="Rectangle 110"/>
          <p:cNvSpPr>
            <a:spLocks noChangeArrowheads="1"/>
          </p:cNvSpPr>
          <p:nvPr/>
        </p:nvSpPr>
        <p:spPr bwMode="gray">
          <a:xfrm>
            <a:off x="6324600" y="2884488"/>
            <a:ext cx="533400" cy="533400"/>
          </a:xfrm>
          <a:prstGeom prst="rect">
            <a:avLst/>
          </a:prstGeom>
          <a:noFill/>
          <a:ln w="9525">
            <a:solidFill>
              <a:srgbClr val="FFFFFF">
                <a:alpha val="50000"/>
              </a:srgbClr>
            </a:solidFill>
            <a:miter lim="800000"/>
          </a:ln>
          <a:effectLst/>
        </p:spPr>
        <p:txBody>
          <a:bodyPr wrap="none" anchor="ctr"/>
          <a:lstStyle/>
          <a:p>
            <a:pPr>
              <a:defRPr/>
            </a:pPr>
            <a:endParaRPr lang="zh-CN" altLang="en-US">
              <a:ea typeface="+mn-ea"/>
            </a:endParaRPr>
          </a:p>
        </p:txBody>
      </p:sp>
      <p:sp>
        <p:nvSpPr>
          <p:cNvPr id="11" name="Rectangle 114"/>
          <p:cNvSpPr>
            <a:spLocks noChangeArrowheads="1"/>
          </p:cNvSpPr>
          <p:nvPr/>
        </p:nvSpPr>
        <p:spPr bwMode="gray">
          <a:xfrm>
            <a:off x="3810000" y="2655888"/>
            <a:ext cx="152400" cy="152400"/>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12" name="Rectangle 120"/>
          <p:cNvSpPr>
            <a:spLocks noChangeArrowheads="1"/>
          </p:cNvSpPr>
          <p:nvPr/>
        </p:nvSpPr>
        <p:spPr bwMode="gray">
          <a:xfrm>
            <a:off x="4267200" y="2655888"/>
            <a:ext cx="152400" cy="152400"/>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13" name="Rectangle 124"/>
          <p:cNvSpPr>
            <a:spLocks noChangeArrowheads="1"/>
          </p:cNvSpPr>
          <p:nvPr/>
        </p:nvSpPr>
        <p:spPr bwMode="gray">
          <a:xfrm>
            <a:off x="4495800" y="2655888"/>
            <a:ext cx="152400" cy="152400"/>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14" name="Rectangle 126"/>
          <p:cNvSpPr>
            <a:spLocks noChangeArrowheads="1"/>
          </p:cNvSpPr>
          <p:nvPr/>
        </p:nvSpPr>
        <p:spPr bwMode="gray">
          <a:xfrm>
            <a:off x="4724400" y="2655888"/>
            <a:ext cx="152400" cy="152400"/>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grpSp>
        <p:nvGrpSpPr>
          <p:cNvPr id="15" name="Group 211"/>
          <p:cNvGrpSpPr/>
          <p:nvPr/>
        </p:nvGrpSpPr>
        <p:grpSpPr bwMode="auto">
          <a:xfrm>
            <a:off x="4724400" y="1741488"/>
            <a:ext cx="1295400" cy="838200"/>
            <a:chOff x="2976" y="1440"/>
            <a:chExt cx="816" cy="528"/>
          </a:xfrm>
        </p:grpSpPr>
        <p:sp>
          <p:nvSpPr>
            <p:cNvPr id="16" name="Rectangle 104"/>
            <p:cNvSpPr>
              <a:spLocks noChangeArrowheads="1"/>
            </p:cNvSpPr>
            <p:nvPr/>
          </p:nvSpPr>
          <p:spPr bwMode="gray">
            <a:xfrm>
              <a:off x="3120" y="1440"/>
              <a:ext cx="96" cy="96"/>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17" name="Rectangle 125"/>
            <p:cNvSpPr>
              <a:spLocks noChangeArrowheads="1"/>
            </p:cNvSpPr>
            <p:nvPr/>
          </p:nvSpPr>
          <p:spPr bwMode="gray">
            <a:xfrm>
              <a:off x="2976" y="1728"/>
              <a:ext cx="96" cy="96"/>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18" name="Rectangle 127"/>
            <p:cNvSpPr>
              <a:spLocks noChangeArrowheads="1"/>
            </p:cNvSpPr>
            <p:nvPr/>
          </p:nvSpPr>
          <p:spPr bwMode="gray">
            <a:xfrm>
              <a:off x="3120" y="1584"/>
              <a:ext cx="96" cy="96"/>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19" name="Rectangle 128"/>
            <p:cNvSpPr>
              <a:spLocks noChangeArrowheads="1"/>
            </p:cNvSpPr>
            <p:nvPr/>
          </p:nvSpPr>
          <p:spPr bwMode="gray">
            <a:xfrm>
              <a:off x="3120" y="1728"/>
              <a:ext cx="96" cy="96"/>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20" name="Rectangle 129"/>
            <p:cNvSpPr>
              <a:spLocks noChangeArrowheads="1"/>
            </p:cNvSpPr>
            <p:nvPr/>
          </p:nvSpPr>
          <p:spPr bwMode="gray">
            <a:xfrm>
              <a:off x="3120" y="1872"/>
              <a:ext cx="96" cy="96"/>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21" name="Rectangle 130"/>
            <p:cNvSpPr>
              <a:spLocks noChangeArrowheads="1"/>
            </p:cNvSpPr>
            <p:nvPr/>
          </p:nvSpPr>
          <p:spPr bwMode="gray">
            <a:xfrm>
              <a:off x="3264" y="1584"/>
              <a:ext cx="96" cy="96"/>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22" name="Rectangle 131"/>
            <p:cNvSpPr>
              <a:spLocks noChangeArrowheads="1"/>
            </p:cNvSpPr>
            <p:nvPr/>
          </p:nvSpPr>
          <p:spPr bwMode="gray">
            <a:xfrm>
              <a:off x="3264" y="1872"/>
              <a:ext cx="96" cy="96"/>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23" name="Rectangle 132"/>
            <p:cNvSpPr>
              <a:spLocks noChangeArrowheads="1"/>
            </p:cNvSpPr>
            <p:nvPr/>
          </p:nvSpPr>
          <p:spPr bwMode="gray">
            <a:xfrm>
              <a:off x="3408" y="1440"/>
              <a:ext cx="96" cy="96"/>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24" name="Rectangle 133"/>
            <p:cNvSpPr>
              <a:spLocks noChangeArrowheads="1"/>
            </p:cNvSpPr>
            <p:nvPr/>
          </p:nvSpPr>
          <p:spPr bwMode="gray">
            <a:xfrm>
              <a:off x="3408" y="1584"/>
              <a:ext cx="96" cy="96"/>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25" name="Rectangle 134"/>
            <p:cNvSpPr>
              <a:spLocks noChangeArrowheads="1"/>
            </p:cNvSpPr>
            <p:nvPr/>
          </p:nvSpPr>
          <p:spPr bwMode="gray">
            <a:xfrm>
              <a:off x="3408" y="1728"/>
              <a:ext cx="96" cy="96"/>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26" name="Rectangle 135"/>
            <p:cNvSpPr>
              <a:spLocks noChangeArrowheads="1"/>
            </p:cNvSpPr>
            <p:nvPr/>
          </p:nvSpPr>
          <p:spPr bwMode="gray">
            <a:xfrm>
              <a:off x="3408" y="1872"/>
              <a:ext cx="96" cy="96"/>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27" name="Rectangle 136"/>
            <p:cNvSpPr>
              <a:spLocks noChangeArrowheads="1"/>
            </p:cNvSpPr>
            <p:nvPr/>
          </p:nvSpPr>
          <p:spPr bwMode="gray">
            <a:xfrm>
              <a:off x="3552" y="1440"/>
              <a:ext cx="96" cy="96"/>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28" name="Rectangle 137"/>
            <p:cNvSpPr>
              <a:spLocks noChangeArrowheads="1"/>
            </p:cNvSpPr>
            <p:nvPr/>
          </p:nvSpPr>
          <p:spPr bwMode="gray">
            <a:xfrm>
              <a:off x="3552" y="1728"/>
              <a:ext cx="96" cy="96"/>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29" name="Rectangle 138"/>
            <p:cNvSpPr>
              <a:spLocks noChangeArrowheads="1"/>
            </p:cNvSpPr>
            <p:nvPr/>
          </p:nvSpPr>
          <p:spPr bwMode="gray">
            <a:xfrm>
              <a:off x="3696" y="1584"/>
              <a:ext cx="96" cy="96"/>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30" name="Rectangle 139"/>
            <p:cNvSpPr>
              <a:spLocks noChangeArrowheads="1"/>
            </p:cNvSpPr>
            <p:nvPr/>
          </p:nvSpPr>
          <p:spPr bwMode="gray">
            <a:xfrm>
              <a:off x="3696" y="1728"/>
              <a:ext cx="96" cy="96"/>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31" name="Rectangle 140"/>
            <p:cNvSpPr>
              <a:spLocks noChangeArrowheads="1"/>
            </p:cNvSpPr>
            <p:nvPr/>
          </p:nvSpPr>
          <p:spPr bwMode="gray">
            <a:xfrm>
              <a:off x="3696" y="1872"/>
              <a:ext cx="96" cy="96"/>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grpSp>
      <p:grpSp>
        <p:nvGrpSpPr>
          <p:cNvPr id="32" name="Group 212"/>
          <p:cNvGrpSpPr/>
          <p:nvPr/>
        </p:nvGrpSpPr>
        <p:grpSpPr bwMode="auto">
          <a:xfrm>
            <a:off x="3352800" y="1970088"/>
            <a:ext cx="1295400" cy="609600"/>
            <a:chOff x="2112" y="1584"/>
            <a:chExt cx="816" cy="384"/>
          </a:xfrm>
        </p:grpSpPr>
        <p:sp>
          <p:nvSpPr>
            <p:cNvPr id="33" name="Rectangle 112"/>
            <p:cNvSpPr>
              <a:spLocks noChangeArrowheads="1"/>
            </p:cNvSpPr>
            <p:nvPr/>
          </p:nvSpPr>
          <p:spPr bwMode="gray">
            <a:xfrm>
              <a:off x="2400" y="1584"/>
              <a:ext cx="96" cy="96"/>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34" name="Rectangle 113"/>
            <p:cNvSpPr>
              <a:spLocks noChangeArrowheads="1"/>
            </p:cNvSpPr>
            <p:nvPr/>
          </p:nvSpPr>
          <p:spPr bwMode="gray">
            <a:xfrm>
              <a:off x="2400" y="1872"/>
              <a:ext cx="96" cy="96"/>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35" name="Rectangle 115"/>
            <p:cNvSpPr>
              <a:spLocks noChangeArrowheads="1"/>
            </p:cNvSpPr>
            <p:nvPr/>
          </p:nvSpPr>
          <p:spPr bwMode="gray">
            <a:xfrm>
              <a:off x="2544" y="1584"/>
              <a:ext cx="96" cy="96"/>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36" name="Rectangle 116"/>
            <p:cNvSpPr>
              <a:spLocks noChangeArrowheads="1"/>
            </p:cNvSpPr>
            <p:nvPr/>
          </p:nvSpPr>
          <p:spPr bwMode="gray">
            <a:xfrm>
              <a:off x="2544" y="1728"/>
              <a:ext cx="96" cy="96"/>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37" name="Rectangle 117"/>
            <p:cNvSpPr>
              <a:spLocks noChangeArrowheads="1"/>
            </p:cNvSpPr>
            <p:nvPr/>
          </p:nvSpPr>
          <p:spPr bwMode="gray">
            <a:xfrm>
              <a:off x="2544" y="1872"/>
              <a:ext cx="96" cy="96"/>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38" name="Rectangle 118"/>
            <p:cNvSpPr>
              <a:spLocks noChangeArrowheads="1"/>
            </p:cNvSpPr>
            <p:nvPr/>
          </p:nvSpPr>
          <p:spPr bwMode="gray">
            <a:xfrm>
              <a:off x="2688" y="1584"/>
              <a:ext cx="96" cy="96"/>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39" name="Rectangle 119"/>
            <p:cNvSpPr>
              <a:spLocks noChangeArrowheads="1"/>
            </p:cNvSpPr>
            <p:nvPr/>
          </p:nvSpPr>
          <p:spPr bwMode="gray">
            <a:xfrm>
              <a:off x="2688" y="1872"/>
              <a:ext cx="96" cy="96"/>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40" name="Rectangle 121"/>
            <p:cNvSpPr>
              <a:spLocks noChangeArrowheads="1"/>
            </p:cNvSpPr>
            <p:nvPr/>
          </p:nvSpPr>
          <p:spPr bwMode="gray">
            <a:xfrm>
              <a:off x="2832" y="1584"/>
              <a:ext cx="96" cy="96"/>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41" name="Rectangle 122"/>
            <p:cNvSpPr>
              <a:spLocks noChangeArrowheads="1"/>
            </p:cNvSpPr>
            <p:nvPr/>
          </p:nvSpPr>
          <p:spPr bwMode="gray">
            <a:xfrm>
              <a:off x="2832" y="1728"/>
              <a:ext cx="96" cy="96"/>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42" name="Rectangle 123"/>
            <p:cNvSpPr>
              <a:spLocks noChangeArrowheads="1"/>
            </p:cNvSpPr>
            <p:nvPr/>
          </p:nvSpPr>
          <p:spPr bwMode="gray">
            <a:xfrm>
              <a:off x="2832" y="1872"/>
              <a:ext cx="96" cy="96"/>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43" name="Rectangle 141"/>
            <p:cNvSpPr>
              <a:spLocks noChangeArrowheads="1"/>
            </p:cNvSpPr>
            <p:nvPr/>
          </p:nvSpPr>
          <p:spPr bwMode="gray">
            <a:xfrm>
              <a:off x="2256" y="1872"/>
              <a:ext cx="96" cy="96"/>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44" name="Rectangle 142"/>
            <p:cNvSpPr>
              <a:spLocks noChangeArrowheads="1"/>
            </p:cNvSpPr>
            <p:nvPr/>
          </p:nvSpPr>
          <p:spPr bwMode="gray">
            <a:xfrm>
              <a:off x="2112" y="1872"/>
              <a:ext cx="96" cy="96"/>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grpSp>
      <p:grpSp>
        <p:nvGrpSpPr>
          <p:cNvPr id="45" name="Group 143"/>
          <p:cNvGrpSpPr/>
          <p:nvPr/>
        </p:nvGrpSpPr>
        <p:grpSpPr bwMode="auto">
          <a:xfrm>
            <a:off x="762000" y="3570288"/>
            <a:ext cx="1905000" cy="762000"/>
            <a:chOff x="2112" y="1632"/>
            <a:chExt cx="1680" cy="672"/>
          </a:xfrm>
        </p:grpSpPr>
        <p:sp>
          <p:nvSpPr>
            <p:cNvPr id="46" name="Rectangle 144"/>
            <p:cNvSpPr>
              <a:spLocks noChangeArrowheads="1"/>
            </p:cNvSpPr>
            <p:nvPr userDrawn="1"/>
          </p:nvSpPr>
          <p:spPr bwMode="gray">
            <a:xfrm>
              <a:off x="2400" y="1776"/>
              <a:ext cx="95" cy="95"/>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47" name="Rectangle 145"/>
            <p:cNvSpPr>
              <a:spLocks noChangeArrowheads="1"/>
            </p:cNvSpPr>
            <p:nvPr userDrawn="1"/>
          </p:nvSpPr>
          <p:spPr bwMode="gray">
            <a:xfrm>
              <a:off x="2400" y="2065"/>
              <a:ext cx="95" cy="95"/>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48" name="Rectangle 146"/>
            <p:cNvSpPr>
              <a:spLocks noChangeArrowheads="1"/>
            </p:cNvSpPr>
            <p:nvPr userDrawn="1"/>
          </p:nvSpPr>
          <p:spPr bwMode="gray">
            <a:xfrm>
              <a:off x="2400" y="2207"/>
              <a:ext cx="95" cy="97"/>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49" name="Rectangle 147"/>
            <p:cNvSpPr>
              <a:spLocks noChangeArrowheads="1"/>
            </p:cNvSpPr>
            <p:nvPr userDrawn="1"/>
          </p:nvSpPr>
          <p:spPr bwMode="gray">
            <a:xfrm>
              <a:off x="2545" y="1776"/>
              <a:ext cx="95" cy="95"/>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50" name="Rectangle 148"/>
            <p:cNvSpPr>
              <a:spLocks noChangeArrowheads="1"/>
            </p:cNvSpPr>
            <p:nvPr userDrawn="1"/>
          </p:nvSpPr>
          <p:spPr bwMode="gray">
            <a:xfrm>
              <a:off x="2545" y="1920"/>
              <a:ext cx="95" cy="95"/>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51" name="Rectangle 149"/>
            <p:cNvSpPr>
              <a:spLocks noChangeArrowheads="1"/>
            </p:cNvSpPr>
            <p:nvPr userDrawn="1"/>
          </p:nvSpPr>
          <p:spPr bwMode="gray">
            <a:xfrm>
              <a:off x="2545" y="2065"/>
              <a:ext cx="95" cy="95"/>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52" name="Rectangle 150"/>
            <p:cNvSpPr>
              <a:spLocks noChangeArrowheads="1"/>
            </p:cNvSpPr>
            <p:nvPr userDrawn="1"/>
          </p:nvSpPr>
          <p:spPr bwMode="gray">
            <a:xfrm>
              <a:off x="2687" y="1776"/>
              <a:ext cx="97" cy="95"/>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53" name="Rectangle 151"/>
            <p:cNvSpPr>
              <a:spLocks noChangeArrowheads="1"/>
            </p:cNvSpPr>
            <p:nvPr userDrawn="1"/>
          </p:nvSpPr>
          <p:spPr bwMode="gray">
            <a:xfrm>
              <a:off x="2687" y="2065"/>
              <a:ext cx="97" cy="95"/>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54" name="Rectangle 152"/>
            <p:cNvSpPr>
              <a:spLocks noChangeArrowheads="1"/>
            </p:cNvSpPr>
            <p:nvPr userDrawn="1"/>
          </p:nvSpPr>
          <p:spPr bwMode="gray">
            <a:xfrm>
              <a:off x="2687" y="2207"/>
              <a:ext cx="97" cy="97"/>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55" name="Rectangle 153"/>
            <p:cNvSpPr>
              <a:spLocks noChangeArrowheads="1"/>
            </p:cNvSpPr>
            <p:nvPr userDrawn="1"/>
          </p:nvSpPr>
          <p:spPr bwMode="gray">
            <a:xfrm>
              <a:off x="2832" y="1776"/>
              <a:ext cx="98" cy="95"/>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56" name="Rectangle 154"/>
            <p:cNvSpPr>
              <a:spLocks noChangeArrowheads="1"/>
            </p:cNvSpPr>
            <p:nvPr userDrawn="1"/>
          </p:nvSpPr>
          <p:spPr bwMode="gray">
            <a:xfrm>
              <a:off x="2832" y="1920"/>
              <a:ext cx="98" cy="95"/>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57" name="Rectangle 155"/>
            <p:cNvSpPr>
              <a:spLocks noChangeArrowheads="1"/>
            </p:cNvSpPr>
            <p:nvPr userDrawn="1"/>
          </p:nvSpPr>
          <p:spPr bwMode="gray">
            <a:xfrm>
              <a:off x="2832" y="2065"/>
              <a:ext cx="98" cy="95"/>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58" name="Rectangle 156"/>
            <p:cNvSpPr>
              <a:spLocks noChangeArrowheads="1"/>
            </p:cNvSpPr>
            <p:nvPr userDrawn="1"/>
          </p:nvSpPr>
          <p:spPr bwMode="gray">
            <a:xfrm>
              <a:off x="2832" y="2207"/>
              <a:ext cx="98" cy="97"/>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59" name="Rectangle 157"/>
            <p:cNvSpPr>
              <a:spLocks noChangeArrowheads="1"/>
            </p:cNvSpPr>
            <p:nvPr userDrawn="1"/>
          </p:nvSpPr>
          <p:spPr bwMode="gray">
            <a:xfrm>
              <a:off x="2976" y="1920"/>
              <a:ext cx="97" cy="95"/>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60" name="Rectangle 158"/>
            <p:cNvSpPr>
              <a:spLocks noChangeArrowheads="1"/>
            </p:cNvSpPr>
            <p:nvPr userDrawn="1"/>
          </p:nvSpPr>
          <p:spPr bwMode="gray">
            <a:xfrm>
              <a:off x="2976" y="2207"/>
              <a:ext cx="97" cy="97"/>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61" name="Rectangle 159"/>
            <p:cNvSpPr>
              <a:spLocks noChangeArrowheads="1"/>
            </p:cNvSpPr>
            <p:nvPr userDrawn="1"/>
          </p:nvSpPr>
          <p:spPr bwMode="gray">
            <a:xfrm>
              <a:off x="3120" y="1776"/>
              <a:ext cx="97" cy="95"/>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62" name="Rectangle 160"/>
            <p:cNvSpPr>
              <a:spLocks noChangeArrowheads="1"/>
            </p:cNvSpPr>
            <p:nvPr userDrawn="1"/>
          </p:nvSpPr>
          <p:spPr bwMode="gray">
            <a:xfrm>
              <a:off x="3120" y="1920"/>
              <a:ext cx="97" cy="95"/>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63" name="Rectangle 161"/>
            <p:cNvSpPr>
              <a:spLocks noChangeArrowheads="1"/>
            </p:cNvSpPr>
            <p:nvPr userDrawn="1"/>
          </p:nvSpPr>
          <p:spPr bwMode="gray">
            <a:xfrm>
              <a:off x="3120" y="2065"/>
              <a:ext cx="97" cy="95"/>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64" name="Rectangle 162"/>
            <p:cNvSpPr>
              <a:spLocks noChangeArrowheads="1"/>
            </p:cNvSpPr>
            <p:nvPr userDrawn="1"/>
          </p:nvSpPr>
          <p:spPr bwMode="gray">
            <a:xfrm>
              <a:off x="3264" y="1776"/>
              <a:ext cx="95" cy="95"/>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65" name="Rectangle 163"/>
            <p:cNvSpPr>
              <a:spLocks noChangeArrowheads="1"/>
            </p:cNvSpPr>
            <p:nvPr userDrawn="1"/>
          </p:nvSpPr>
          <p:spPr bwMode="gray">
            <a:xfrm>
              <a:off x="3264" y="2065"/>
              <a:ext cx="95" cy="95"/>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66" name="Rectangle 164"/>
            <p:cNvSpPr>
              <a:spLocks noChangeArrowheads="1"/>
            </p:cNvSpPr>
            <p:nvPr userDrawn="1"/>
          </p:nvSpPr>
          <p:spPr bwMode="gray">
            <a:xfrm>
              <a:off x="3408" y="1632"/>
              <a:ext cx="95" cy="97"/>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67" name="Rectangle 165"/>
            <p:cNvSpPr>
              <a:spLocks noChangeArrowheads="1"/>
            </p:cNvSpPr>
            <p:nvPr userDrawn="1"/>
          </p:nvSpPr>
          <p:spPr bwMode="gray">
            <a:xfrm>
              <a:off x="3408" y="1776"/>
              <a:ext cx="95" cy="95"/>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68" name="Rectangle 166"/>
            <p:cNvSpPr>
              <a:spLocks noChangeArrowheads="1"/>
            </p:cNvSpPr>
            <p:nvPr userDrawn="1"/>
          </p:nvSpPr>
          <p:spPr bwMode="gray">
            <a:xfrm>
              <a:off x="3408" y="1920"/>
              <a:ext cx="95" cy="95"/>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69" name="Rectangle 167"/>
            <p:cNvSpPr>
              <a:spLocks noChangeArrowheads="1"/>
            </p:cNvSpPr>
            <p:nvPr userDrawn="1"/>
          </p:nvSpPr>
          <p:spPr bwMode="gray">
            <a:xfrm>
              <a:off x="3408" y="2065"/>
              <a:ext cx="95" cy="95"/>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70" name="Rectangle 168"/>
            <p:cNvSpPr>
              <a:spLocks noChangeArrowheads="1"/>
            </p:cNvSpPr>
            <p:nvPr userDrawn="1"/>
          </p:nvSpPr>
          <p:spPr bwMode="gray">
            <a:xfrm>
              <a:off x="3553" y="1632"/>
              <a:ext cx="95" cy="97"/>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71" name="Rectangle 169"/>
            <p:cNvSpPr>
              <a:spLocks noChangeArrowheads="1"/>
            </p:cNvSpPr>
            <p:nvPr userDrawn="1"/>
          </p:nvSpPr>
          <p:spPr bwMode="gray">
            <a:xfrm>
              <a:off x="3553" y="1920"/>
              <a:ext cx="95" cy="95"/>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72" name="Rectangle 170"/>
            <p:cNvSpPr>
              <a:spLocks noChangeArrowheads="1"/>
            </p:cNvSpPr>
            <p:nvPr userDrawn="1"/>
          </p:nvSpPr>
          <p:spPr bwMode="gray">
            <a:xfrm>
              <a:off x="3695" y="1776"/>
              <a:ext cx="97" cy="95"/>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73" name="Rectangle 171"/>
            <p:cNvSpPr>
              <a:spLocks noChangeArrowheads="1"/>
            </p:cNvSpPr>
            <p:nvPr userDrawn="1"/>
          </p:nvSpPr>
          <p:spPr bwMode="gray">
            <a:xfrm>
              <a:off x="3695" y="1920"/>
              <a:ext cx="97" cy="95"/>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74" name="Rectangle 172"/>
            <p:cNvSpPr>
              <a:spLocks noChangeArrowheads="1"/>
            </p:cNvSpPr>
            <p:nvPr userDrawn="1"/>
          </p:nvSpPr>
          <p:spPr bwMode="gray">
            <a:xfrm>
              <a:off x="3695" y="2065"/>
              <a:ext cx="97" cy="95"/>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75" name="Rectangle 173"/>
            <p:cNvSpPr>
              <a:spLocks noChangeArrowheads="1"/>
            </p:cNvSpPr>
            <p:nvPr userDrawn="1"/>
          </p:nvSpPr>
          <p:spPr bwMode="gray">
            <a:xfrm>
              <a:off x="2256" y="2065"/>
              <a:ext cx="95" cy="95"/>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76" name="Rectangle 174"/>
            <p:cNvSpPr>
              <a:spLocks noChangeArrowheads="1"/>
            </p:cNvSpPr>
            <p:nvPr userDrawn="1"/>
          </p:nvSpPr>
          <p:spPr bwMode="gray">
            <a:xfrm>
              <a:off x="2112" y="2065"/>
              <a:ext cx="97" cy="95"/>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grpSp>
      <p:grpSp>
        <p:nvGrpSpPr>
          <p:cNvPr id="77" name="Group 175"/>
          <p:cNvGrpSpPr/>
          <p:nvPr/>
        </p:nvGrpSpPr>
        <p:grpSpPr bwMode="auto">
          <a:xfrm>
            <a:off x="5486400" y="827088"/>
            <a:ext cx="2667000" cy="1066800"/>
            <a:chOff x="2112" y="1632"/>
            <a:chExt cx="1680" cy="672"/>
          </a:xfrm>
        </p:grpSpPr>
        <p:sp>
          <p:nvSpPr>
            <p:cNvPr id="78" name="Rectangle 176"/>
            <p:cNvSpPr>
              <a:spLocks noChangeArrowheads="1"/>
            </p:cNvSpPr>
            <p:nvPr userDrawn="1"/>
          </p:nvSpPr>
          <p:spPr bwMode="gray">
            <a:xfrm>
              <a:off x="2400" y="1776"/>
              <a:ext cx="96" cy="96"/>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79" name="Rectangle 177"/>
            <p:cNvSpPr>
              <a:spLocks noChangeArrowheads="1"/>
            </p:cNvSpPr>
            <p:nvPr userDrawn="1"/>
          </p:nvSpPr>
          <p:spPr bwMode="gray">
            <a:xfrm>
              <a:off x="2400" y="2064"/>
              <a:ext cx="96" cy="96"/>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80" name="Rectangle 178"/>
            <p:cNvSpPr>
              <a:spLocks noChangeArrowheads="1"/>
            </p:cNvSpPr>
            <p:nvPr userDrawn="1"/>
          </p:nvSpPr>
          <p:spPr bwMode="gray">
            <a:xfrm>
              <a:off x="2400" y="2208"/>
              <a:ext cx="96" cy="96"/>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81" name="Rectangle 179"/>
            <p:cNvSpPr>
              <a:spLocks noChangeArrowheads="1"/>
            </p:cNvSpPr>
            <p:nvPr userDrawn="1"/>
          </p:nvSpPr>
          <p:spPr bwMode="gray">
            <a:xfrm>
              <a:off x="2544" y="1776"/>
              <a:ext cx="96" cy="96"/>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82" name="Rectangle 180"/>
            <p:cNvSpPr>
              <a:spLocks noChangeArrowheads="1"/>
            </p:cNvSpPr>
            <p:nvPr userDrawn="1"/>
          </p:nvSpPr>
          <p:spPr bwMode="gray">
            <a:xfrm>
              <a:off x="2544" y="1920"/>
              <a:ext cx="96" cy="96"/>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83" name="Rectangle 181"/>
            <p:cNvSpPr>
              <a:spLocks noChangeArrowheads="1"/>
            </p:cNvSpPr>
            <p:nvPr userDrawn="1"/>
          </p:nvSpPr>
          <p:spPr bwMode="gray">
            <a:xfrm>
              <a:off x="2544" y="2064"/>
              <a:ext cx="96" cy="96"/>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84" name="Rectangle 182"/>
            <p:cNvSpPr>
              <a:spLocks noChangeArrowheads="1"/>
            </p:cNvSpPr>
            <p:nvPr userDrawn="1"/>
          </p:nvSpPr>
          <p:spPr bwMode="gray">
            <a:xfrm>
              <a:off x="2688" y="1776"/>
              <a:ext cx="96" cy="96"/>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85" name="Rectangle 183"/>
            <p:cNvSpPr>
              <a:spLocks noChangeArrowheads="1"/>
            </p:cNvSpPr>
            <p:nvPr userDrawn="1"/>
          </p:nvSpPr>
          <p:spPr bwMode="gray">
            <a:xfrm>
              <a:off x="2688" y="2064"/>
              <a:ext cx="96" cy="96"/>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86" name="Rectangle 184"/>
            <p:cNvSpPr>
              <a:spLocks noChangeArrowheads="1"/>
            </p:cNvSpPr>
            <p:nvPr userDrawn="1"/>
          </p:nvSpPr>
          <p:spPr bwMode="gray">
            <a:xfrm>
              <a:off x="2688" y="2208"/>
              <a:ext cx="96" cy="96"/>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87" name="Rectangle 185"/>
            <p:cNvSpPr>
              <a:spLocks noChangeArrowheads="1"/>
            </p:cNvSpPr>
            <p:nvPr userDrawn="1"/>
          </p:nvSpPr>
          <p:spPr bwMode="gray">
            <a:xfrm>
              <a:off x="2832" y="1776"/>
              <a:ext cx="96" cy="96"/>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88" name="Rectangle 186"/>
            <p:cNvSpPr>
              <a:spLocks noChangeArrowheads="1"/>
            </p:cNvSpPr>
            <p:nvPr userDrawn="1"/>
          </p:nvSpPr>
          <p:spPr bwMode="gray">
            <a:xfrm>
              <a:off x="2832" y="1920"/>
              <a:ext cx="96" cy="96"/>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89" name="Rectangle 187"/>
            <p:cNvSpPr>
              <a:spLocks noChangeArrowheads="1"/>
            </p:cNvSpPr>
            <p:nvPr userDrawn="1"/>
          </p:nvSpPr>
          <p:spPr bwMode="gray">
            <a:xfrm>
              <a:off x="2832" y="2064"/>
              <a:ext cx="96" cy="96"/>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90" name="Rectangle 188"/>
            <p:cNvSpPr>
              <a:spLocks noChangeArrowheads="1"/>
            </p:cNvSpPr>
            <p:nvPr userDrawn="1"/>
          </p:nvSpPr>
          <p:spPr bwMode="gray">
            <a:xfrm>
              <a:off x="2832" y="2208"/>
              <a:ext cx="96" cy="96"/>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91" name="Rectangle 189"/>
            <p:cNvSpPr>
              <a:spLocks noChangeArrowheads="1"/>
            </p:cNvSpPr>
            <p:nvPr userDrawn="1"/>
          </p:nvSpPr>
          <p:spPr bwMode="gray">
            <a:xfrm>
              <a:off x="2976" y="1920"/>
              <a:ext cx="96" cy="96"/>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92" name="Rectangle 190"/>
            <p:cNvSpPr>
              <a:spLocks noChangeArrowheads="1"/>
            </p:cNvSpPr>
            <p:nvPr userDrawn="1"/>
          </p:nvSpPr>
          <p:spPr bwMode="gray">
            <a:xfrm>
              <a:off x="2976" y="2208"/>
              <a:ext cx="96" cy="96"/>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93" name="Rectangle 191"/>
            <p:cNvSpPr>
              <a:spLocks noChangeArrowheads="1"/>
            </p:cNvSpPr>
            <p:nvPr userDrawn="1"/>
          </p:nvSpPr>
          <p:spPr bwMode="gray">
            <a:xfrm>
              <a:off x="3120" y="1776"/>
              <a:ext cx="96" cy="96"/>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94" name="Rectangle 192"/>
            <p:cNvSpPr>
              <a:spLocks noChangeArrowheads="1"/>
            </p:cNvSpPr>
            <p:nvPr userDrawn="1"/>
          </p:nvSpPr>
          <p:spPr bwMode="gray">
            <a:xfrm>
              <a:off x="3120" y="1920"/>
              <a:ext cx="96" cy="96"/>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95" name="Rectangle 193"/>
            <p:cNvSpPr>
              <a:spLocks noChangeArrowheads="1"/>
            </p:cNvSpPr>
            <p:nvPr userDrawn="1"/>
          </p:nvSpPr>
          <p:spPr bwMode="gray">
            <a:xfrm>
              <a:off x="3120" y="2064"/>
              <a:ext cx="96" cy="96"/>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96" name="Rectangle 194"/>
            <p:cNvSpPr>
              <a:spLocks noChangeArrowheads="1"/>
            </p:cNvSpPr>
            <p:nvPr userDrawn="1"/>
          </p:nvSpPr>
          <p:spPr bwMode="gray">
            <a:xfrm>
              <a:off x="3264" y="1776"/>
              <a:ext cx="96" cy="96"/>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97" name="Rectangle 195"/>
            <p:cNvSpPr>
              <a:spLocks noChangeArrowheads="1"/>
            </p:cNvSpPr>
            <p:nvPr userDrawn="1"/>
          </p:nvSpPr>
          <p:spPr bwMode="gray">
            <a:xfrm>
              <a:off x="3264" y="2064"/>
              <a:ext cx="96" cy="96"/>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98" name="Rectangle 196"/>
            <p:cNvSpPr>
              <a:spLocks noChangeArrowheads="1"/>
            </p:cNvSpPr>
            <p:nvPr userDrawn="1"/>
          </p:nvSpPr>
          <p:spPr bwMode="gray">
            <a:xfrm>
              <a:off x="3408" y="1632"/>
              <a:ext cx="96" cy="96"/>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99" name="Rectangle 197"/>
            <p:cNvSpPr>
              <a:spLocks noChangeArrowheads="1"/>
            </p:cNvSpPr>
            <p:nvPr userDrawn="1"/>
          </p:nvSpPr>
          <p:spPr bwMode="gray">
            <a:xfrm>
              <a:off x="3408" y="1776"/>
              <a:ext cx="96" cy="96"/>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100" name="Rectangle 198"/>
            <p:cNvSpPr>
              <a:spLocks noChangeArrowheads="1"/>
            </p:cNvSpPr>
            <p:nvPr userDrawn="1"/>
          </p:nvSpPr>
          <p:spPr bwMode="gray">
            <a:xfrm>
              <a:off x="3408" y="1920"/>
              <a:ext cx="96" cy="96"/>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101" name="Rectangle 199"/>
            <p:cNvSpPr>
              <a:spLocks noChangeArrowheads="1"/>
            </p:cNvSpPr>
            <p:nvPr userDrawn="1"/>
          </p:nvSpPr>
          <p:spPr bwMode="gray">
            <a:xfrm>
              <a:off x="3408" y="2064"/>
              <a:ext cx="96" cy="96"/>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102" name="Rectangle 200"/>
            <p:cNvSpPr>
              <a:spLocks noChangeArrowheads="1"/>
            </p:cNvSpPr>
            <p:nvPr userDrawn="1"/>
          </p:nvSpPr>
          <p:spPr bwMode="gray">
            <a:xfrm>
              <a:off x="3552" y="1632"/>
              <a:ext cx="96" cy="96"/>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103" name="Rectangle 201"/>
            <p:cNvSpPr>
              <a:spLocks noChangeArrowheads="1"/>
            </p:cNvSpPr>
            <p:nvPr userDrawn="1"/>
          </p:nvSpPr>
          <p:spPr bwMode="gray">
            <a:xfrm>
              <a:off x="3552" y="1920"/>
              <a:ext cx="96" cy="96"/>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104" name="Rectangle 202"/>
            <p:cNvSpPr>
              <a:spLocks noChangeArrowheads="1"/>
            </p:cNvSpPr>
            <p:nvPr userDrawn="1"/>
          </p:nvSpPr>
          <p:spPr bwMode="gray">
            <a:xfrm>
              <a:off x="3696" y="1776"/>
              <a:ext cx="96" cy="96"/>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105" name="Rectangle 203"/>
            <p:cNvSpPr>
              <a:spLocks noChangeArrowheads="1"/>
            </p:cNvSpPr>
            <p:nvPr userDrawn="1"/>
          </p:nvSpPr>
          <p:spPr bwMode="gray">
            <a:xfrm>
              <a:off x="3696" y="1920"/>
              <a:ext cx="96" cy="96"/>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106" name="Rectangle 204"/>
            <p:cNvSpPr>
              <a:spLocks noChangeArrowheads="1"/>
            </p:cNvSpPr>
            <p:nvPr userDrawn="1"/>
          </p:nvSpPr>
          <p:spPr bwMode="gray">
            <a:xfrm>
              <a:off x="3696" y="2064"/>
              <a:ext cx="96" cy="96"/>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107" name="Rectangle 205"/>
            <p:cNvSpPr>
              <a:spLocks noChangeArrowheads="1"/>
            </p:cNvSpPr>
            <p:nvPr userDrawn="1"/>
          </p:nvSpPr>
          <p:spPr bwMode="gray">
            <a:xfrm>
              <a:off x="2256" y="2064"/>
              <a:ext cx="96" cy="96"/>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108" name="Rectangle 206"/>
            <p:cNvSpPr>
              <a:spLocks noChangeArrowheads="1"/>
            </p:cNvSpPr>
            <p:nvPr userDrawn="1"/>
          </p:nvSpPr>
          <p:spPr bwMode="gray">
            <a:xfrm>
              <a:off x="2112" y="2064"/>
              <a:ext cx="96" cy="96"/>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grpSp>
      <p:sp>
        <p:nvSpPr>
          <p:cNvPr id="109" name="AutoShape 207"/>
          <p:cNvSpPr>
            <a:spLocks noChangeArrowheads="1"/>
          </p:cNvSpPr>
          <p:nvPr/>
        </p:nvSpPr>
        <p:spPr bwMode="gray">
          <a:xfrm>
            <a:off x="533400" y="2655888"/>
            <a:ext cx="7696200" cy="838200"/>
          </a:xfrm>
          <a:prstGeom prst="roundRect">
            <a:avLst>
              <a:gd name="adj" fmla="val 50000"/>
            </a:avLst>
          </a:prstGeom>
          <a:solidFill>
            <a:srgbClr val="FFFFFF"/>
          </a:solidFill>
          <a:ln w="9525">
            <a:noFill/>
            <a:round/>
          </a:ln>
          <a:effectLst/>
        </p:spPr>
        <p:txBody>
          <a:bodyPr wrap="none" anchor="ctr"/>
          <a:lstStyle/>
          <a:p>
            <a:pPr>
              <a:defRPr/>
            </a:pPr>
            <a:endParaRPr lang="zh-CN" altLang="en-US">
              <a:ea typeface="+mn-ea"/>
            </a:endParaRPr>
          </a:p>
        </p:txBody>
      </p:sp>
      <p:sp>
        <p:nvSpPr>
          <p:cNvPr id="110" name="Rectangle 208"/>
          <p:cNvSpPr>
            <a:spLocks noChangeArrowheads="1"/>
          </p:cNvSpPr>
          <p:nvPr/>
        </p:nvSpPr>
        <p:spPr bwMode="gray">
          <a:xfrm>
            <a:off x="2057400" y="4256088"/>
            <a:ext cx="533400" cy="533400"/>
          </a:xfrm>
          <a:prstGeom prst="rect">
            <a:avLst/>
          </a:prstGeom>
          <a:noFill/>
          <a:ln w="9525">
            <a:solidFill>
              <a:srgbClr val="FFFFFF">
                <a:alpha val="50000"/>
              </a:srgbClr>
            </a:solidFill>
            <a:miter lim="800000"/>
          </a:ln>
          <a:effectLst/>
        </p:spPr>
        <p:txBody>
          <a:bodyPr wrap="none" anchor="ctr"/>
          <a:lstStyle/>
          <a:p>
            <a:pPr>
              <a:defRPr/>
            </a:pPr>
            <a:endParaRPr lang="zh-CN" altLang="en-US">
              <a:ea typeface="+mn-ea"/>
            </a:endParaRPr>
          </a:p>
        </p:txBody>
      </p:sp>
      <p:sp>
        <p:nvSpPr>
          <p:cNvPr id="111" name="Rectangle 209"/>
          <p:cNvSpPr>
            <a:spLocks noChangeArrowheads="1"/>
          </p:cNvSpPr>
          <p:nvPr/>
        </p:nvSpPr>
        <p:spPr bwMode="gray">
          <a:xfrm>
            <a:off x="1752600" y="4789488"/>
            <a:ext cx="228600" cy="228600"/>
          </a:xfrm>
          <a:prstGeom prst="rect">
            <a:avLst/>
          </a:prstGeom>
          <a:noFill/>
          <a:ln w="9525">
            <a:solidFill>
              <a:srgbClr val="FFFFFF">
                <a:alpha val="50000"/>
              </a:srgbClr>
            </a:solidFill>
            <a:miter lim="800000"/>
          </a:ln>
          <a:effectLst/>
        </p:spPr>
        <p:txBody>
          <a:bodyPr wrap="none" anchor="ctr"/>
          <a:lstStyle/>
          <a:p>
            <a:pPr>
              <a:defRPr/>
            </a:pPr>
            <a:endParaRPr lang="zh-CN" altLang="en-US">
              <a:ea typeface="+mn-ea"/>
            </a:endParaRPr>
          </a:p>
        </p:txBody>
      </p:sp>
      <p:sp>
        <p:nvSpPr>
          <p:cNvPr id="112" name="Rectangle 210"/>
          <p:cNvSpPr>
            <a:spLocks noChangeArrowheads="1"/>
          </p:cNvSpPr>
          <p:nvPr/>
        </p:nvSpPr>
        <p:spPr bwMode="gray">
          <a:xfrm>
            <a:off x="1524000" y="4941888"/>
            <a:ext cx="304800" cy="304800"/>
          </a:xfrm>
          <a:prstGeom prst="rect">
            <a:avLst/>
          </a:prstGeom>
          <a:noFill/>
          <a:ln w="9525">
            <a:solidFill>
              <a:srgbClr val="FFFFFF">
                <a:alpha val="50000"/>
              </a:srgbClr>
            </a:solidFill>
            <a:miter lim="800000"/>
          </a:ln>
          <a:effectLst/>
        </p:spPr>
        <p:txBody>
          <a:bodyPr wrap="none" anchor="ctr"/>
          <a:lstStyle/>
          <a:p>
            <a:pPr>
              <a:defRPr/>
            </a:pPr>
            <a:endParaRPr lang="zh-CN" altLang="en-US">
              <a:ea typeface="+mn-ea"/>
            </a:endParaRPr>
          </a:p>
        </p:txBody>
      </p:sp>
      <p:sp>
        <p:nvSpPr>
          <p:cNvPr id="3074" name="Rectangle 2"/>
          <p:cNvSpPr>
            <a:spLocks noGrp="1" noChangeArrowheads="1"/>
          </p:cNvSpPr>
          <p:nvPr>
            <p:ph type="ctrTitle"/>
          </p:nvPr>
        </p:nvSpPr>
        <p:spPr>
          <a:xfrm>
            <a:off x="1066800" y="2732088"/>
            <a:ext cx="6629400" cy="685800"/>
          </a:xfrm>
        </p:spPr>
        <p:txBody>
          <a:bodyPr/>
          <a:lstStyle>
            <a:lvl1pPr>
              <a:defRPr sz="3600">
                <a:solidFill>
                  <a:schemeClr val="tx2"/>
                </a:solidFill>
              </a:defRPr>
            </a:lvl1pPr>
          </a:lstStyle>
          <a:p>
            <a:r>
              <a:rPr lang="zh-CN" altLang="en-US"/>
              <a:t>单击此处编辑母版标题样式</a:t>
            </a:r>
          </a:p>
        </p:txBody>
      </p:sp>
      <p:sp>
        <p:nvSpPr>
          <p:cNvPr id="3075" name="Rectangle 3"/>
          <p:cNvSpPr>
            <a:spLocks noGrp="1" noChangeArrowheads="1"/>
          </p:cNvSpPr>
          <p:nvPr>
            <p:ph type="subTitle" idx="1"/>
          </p:nvPr>
        </p:nvSpPr>
        <p:spPr>
          <a:xfrm>
            <a:off x="2819400" y="3494088"/>
            <a:ext cx="5638800" cy="381000"/>
          </a:xfrm>
        </p:spPr>
        <p:txBody>
          <a:bodyPr/>
          <a:lstStyle>
            <a:lvl1pPr marL="0" indent="0" algn="ctr">
              <a:buFont typeface="Wingdings" panose="05000000000000000000" pitchFamily="2" charset="2"/>
              <a:buNone/>
              <a:defRPr sz="2400">
                <a:solidFill>
                  <a:schemeClr val="bg1"/>
                </a:solidFill>
              </a:defRPr>
            </a:lvl1pPr>
          </a:lstStyle>
          <a:p>
            <a:r>
              <a:rPr lang="zh-CN" altLang="en-US"/>
              <a:t>单击此处编辑母版副标题样式</a:t>
            </a:r>
          </a:p>
        </p:txBody>
      </p:sp>
      <p:sp>
        <p:nvSpPr>
          <p:cNvPr id="114" name="Rectangle 4"/>
          <p:cNvSpPr>
            <a:spLocks noGrp="1" noChangeArrowheads="1"/>
          </p:cNvSpPr>
          <p:nvPr>
            <p:ph type="dt" sz="half" idx="10"/>
          </p:nvPr>
        </p:nvSpPr>
        <p:spPr>
          <a:xfrm>
            <a:off x="1066800" y="6461125"/>
            <a:ext cx="1981200" cy="244475"/>
          </a:xfrm>
        </p:spPr>
        <p:txBody>
          <a:bodyPr/>
          <a:lstStyle>
            <a:lvl1pPr>
              <a:defRPr sz="1200">
                <a:solidFill>
                  <a:schemeClr val="bg1"/>
                </a:solidFill>
              </a:defRPr>
            </a:lvl1pPr>
          </a:lstStyle>
          <a:p>
            <a:pPr>
              <a:defRPr/>
            </a:pPr>
            <a:endParaRPr lang="en-US" altLang="zh-CN"/>
          </a:p>
        </p:txBody>
      </p:sp>
      <p:sp>
        <p:nvSpPr>
          <p:cNvPr id="115" name="Rectangle 6"/>
          <p:cNvSpPr>
            <a:spLocks noGrp="1" noChangeArrowheads="1"/>
          </p:cNvSpPr>
          <p:nvPr>
            <p:ph type="sldNum" sz="quarter" idx="11"/>
          </p:nvPr>
        </p:nvSpPr>
        <p:spPr>
          <a:xfrm>
            <a:off x="609600" y="6461125"/>
            <a:ext cx="381000" cy="244475"/>
          </a:xfrm>
        </p:spPr>
        <p:txBody>
          <a:bodyPr/>
          <a:lstStyle>
            <a:lvl1pPr>
              <a:defRPr sz="1200">
                <a:solidFill>
                  <a:schemeClr val="bg1"/>
                </a:solidFill>
              </a:defRPr>
            </a:lvl1pPr>
          </a:lstStyle>
          <a:p>
            <a:pPr>
              <a:defRPr/>
            </a:pPr>
            <a:fld id="{8EDAFEB1-C219-4CA1-8CA8-A823C1158887}" type="slidenum">
              <a:rPr lang="zh-CN" altLang="en-US"/>
              <a:t>‹#›</a:t>
            </a:fld>
            <a:endParaRPr lang="en-US" altLang="zh-CN"/>
          </a:p>
        </p:txBody>
      </p:sp>
      <p:pic>
        <p:nvPicPr>
          <p:cNvPr id="116" name="图片 115">
            <a:extLst>
              <a:ext uri="{FF2B5EF4-FFF2-40B4-BE49-F238E27FC236}">
                <a16:creationId xmlns:a16="http://schemas.microsoft.com/office/drawing/2014/main" id="{6ED5B437-6F19-59B4-4D3E-574CF959378C}"/>
              </a:ext>
            </a:extLst>
          </p:cNvPr>
          <p:cNvPicPr>
            <a:picLocks noChangeAspect="1"/>
          </p:cNvPicPr>
          <p:nvPr userDrawn="1"/>
        </p:nvPicPr>
        <p:blipFill>
          <a:blip r:embed="rId2"/>
          <a:stretch>
            <a:fillRect/>
          </a:stretch>
        </p:blipFill>
        <p:spPr>
          <a:xfrm>
            <a:off x="0" y="-7352"/>
            <a:ext cx="9144000" cy="6865351"/>
          </a:xfrm>
          <a:prstGeom prst="rect">
            <a:avLst/>
          </a:prstGeom>
        </p:spPr>
      </p:pic>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p:txBody>
          <a:bodyPr/>
          <a:lstStyle>
            <a:lvl1pPr>
              <a:defRPr/>
            </a:lvl1pPr>
          </a:lstStyle>
          <a:p>
            <a:pPr>
              <a:defRPr/>
            </a:pPr>
            <a:fld id="{655A080B-5019-4254-B519-7842F631F6FA}" type="slidenum">
              <a:rPr lang="zh-CN" altLang="en-US"/>
              <a:t>‹#›</a:t>
            </a:fld>
            <a:endParaRPr lang="en-US" altLang="zh-CN"/>
          </a:p>
        </p:txBody>
      </p:sp>
      <p:sp>
        <p:nvSpPr>
          <p:cNvPr id="5" name="Rectangle 4"/>
          <p:cNvSpPr>
            <a:spLocks noGrp="1" noChangeArrowheads="1"/>
          </p:cNvSpPr>
          <p:nvPr>
            <p:ph type="dt" sz="half" idx="11"/>
          </p:nvPr>
        </p:nvSpPr>
        <p:spPr/>
        <p:txBody>
          <a:bodyPr/>
          <a:lstStyle>
            <a:lvl1pPr>
              <a:defRPr/>
            </a:lvl1pPr>
          </a:lstStyle>
          <a:p>
            <a:pPr>
              <a:defRPr/>
            </a:pPr>
            <a:endParaRPr lang="en-US" altLang="zh-CN"/>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p:txBody>
          <a:bodyPr/>
          <a:lstStyle>
            <a:lvl1pPr>
              <a:defRPr/>
            </a:lvl1pPr>
          </a:lstStyle>
          <a:p>
            <a:pPr>
              <a:defRPr/>
            </a:pPr>
            <a:fld id="{6CEF8F26-12F2-4C9D-ADB9-4D71A38F7FB5}" type="slidenum">
              <a:rPr lang="zh-CN" altLang="en-US"/>
              <a:t>‹#›</a:t>
            </a:fld>
            <a:endParaRPr lang="en-US" altLang="zh-CN"/>
          </a:p>
        </p:txBody>
      </p:sp>
      <p:sp>
        <p:nvSpPr>
          <p:cNvPr id="3" name="Rectangle 4"/>
          <p:cNvSpPr>
            <a:spLocks noGrp="1" noChangeArrowheads="1"/>
          </p:cNvSpPr>
          <p:nvPr>
            <p:ph type="dt" sz="half" idx="11"/>
          </p:nvPr>
        </p:nvSpPr>
        <p:spPr/>
        <p:txBody>
          <a:bodyPr/>
          <a:lstStyle>
            <a:lvl1pPr>
              <a:defRPr/>
            </a:lvl1pPr>
          </a:lstStyle>
          <a:p>
            <a:pPr>
              <a:defRPr/>
            </a:pPr>
            <a:endParaRPr lang="en-US" altLang="zh-CN"/>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grpSp>
        <p:nvGrpSpPr>
          <p:cNvPr id="9220" name="Group 120"/>
          <p:cNvGrpSpPr/>
          <p:nvPr/>
        </p:nvGrpSpPr>
        <p:grpSpPr bwMode="auto">
          <a:xfrm>
            <a:off x="6877050" y="152400"/>
            <a:ext cx="1905000" cy="762000"/>
            <a:chOff x="2112" y="1632"/>
            <a:chExt cx="1680" cy="672"/>
          </a:xfrm>
        </p:grpSpPr>
        <p:sp>
          <p:nvSpPr>
            <p:cNvPr id="1145" name="Rectangle 121"/>
            <p:cNvSpPr>
              <a:spLocks noChangeArrowheads="1"/>
            </p:cNvSpPr>
            <p:nvPr userDrawn="1"/>
          </p:nvSpPr>
          <p:spPr bwMode="gray">
            <a:xfrm>
              <a:off x="2400" y="1776"/>
              <a:ext cx="95" cy="95"/>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1146" name="Rectangle 122"/>
            <p:cNvSpPr>
              <a:spLocks noChangeArrowheads="1"/>
            </p:cNvSpPr>
            <p:nvPr userDrawn="1"/>
          </p:nvSpPr>
          <p:spPr bwMode="gray">
            <a:xfrm>
              <a:off x="2400" y="2065"/>
              <a:ext cx="95" cy="95"/>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1147" name="Rectangle 123"/>
            <p:cNvSpPr>
              <a:spLocks noChangeArrowheads="1"/>
            </p:cNvSpPr>
            <p:nvPr userDrawn="1"/>
          </p:nvSpPr>
          <p:spPr bwMode="gray">
            <a:xfrm>
              <a:off x="2400" y="2207"/>
              <a:ext cx="95" cy="97"/>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1148" name="Rectangle 124"/>
            <p:cNvSpPr>
              <a:spLocks noChangeArrowheads="1"/>
            </p:cNvSpPr>
            <p:nvPr userDrawn="1"/>
          </p:nvSpPr>
          <p:spPr bwMode="gray">
            <a:xfrm>
              <a:off x="2545" y="1776"/>
              <a:ext cx="95" cy="95"/>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1149" name="Rectangle 125"/>
            <p:cNvSpPr>
              <a:spLocks noChangeArrowheads="1"/>
            </p:cNvSpPr>
            <p:nvPr userDrawn="1"/>
          </p:nvSpPr>
          <p:spPr bwMode="gray">
            <a:xfrm>
              <a:off x="2545" y="1920"/>
              <a:ext cx="95" cy="95"/>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1150" name="Rectangle 126"/>
            <p:cNvSpPr>
              <a:spLocks noChangeArrowheads="1"/>
            </p:cNvSpPr>
            <p:nvPr userDrawn="1"/>
          </p:nvSpPr>
          <p:spPr bwMode="gray">
            <a:xfrm>
              <a:off x="2545" y="2065"/>
              <a:ext cx="95" cy="95"/>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1151" name="Rectangle 127"/>
            <p:cNvSpPr>
              <a:spLocks noChangeArrowheads="1"/>
            </p:cNvSpPr>
            <p:nvPr userDrawn="1"/>
          </p:nvSpPr>
          <p:spPr bwMode="gray">
            <a:xfrm>
              <a:off x="2687" y="1776"/>
              <a:ext cx="97" cy="95"/>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1152" name="Rectangle 128"/>
            <p:cNvSpPr>
              <a:spLocks noChangeArrowheads="1"/>
            </p:cNvSpPr>
            <p:nvPr userDrawn="1"/>
          </p:nvSpPr>
          <p:spPr bwMode="gray">
            <a:xfrm>
              <a:off x="2687" y="2065"/>
              <a:ext cx="97" cy="95"/>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1153" name="Rectangle 129"/>
            <p:cNvSpPr>
              <a:spLocks noChangeArrowheads="1"/>
            </p:cNvSpPr>
            <p:nvPr userDrawn="1"/>
          </p:nvSpPr>
          <p:spPr bwMode="gray">
            <a:xfrm>
              <a:off x="2687" y="2207"/>
              <a:ext cx="97" cy="97"/>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1154" name="Rectangle 130"/>
            <p:cNvSpPr>
              <a:spLocks noChangeArrowheads="1"/>
            </p:cNvSpPr>
            <p:nvPr userDrawn="1"/>
          </p:nvSpPr>
          <p:spPr bwMode="gray">
            <a:xfrm>
              <a:off x="2832" y="1776"/>
              <a:ext cx="98" cy="95"/>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1155" name="Rectangle 131"/>
            <p:cNvSpPr>
              <a:spLocks noChangeArrowheads="1"/>
            </p:cNvSpPr>
            <p:nvPr userDrawn="1"/>
          </p:nvSpPr>
          <p:spPr bwMode="gray">
            <a:xfrm>
              <a:off x="2832" y="1920"/>
              <a:ext cx="98" cy="95"/>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1156" name="Rectangle 132"/>
            <p:cNvSpPr>
              <a:spLocks noChangeArrowheads="1"/>
            </p:cNvSpPr>
            <p:nvPr userDrawn="1"/>
          </p:nvSpPr>
          <p:spPr bwMode="gray">
            <a:xfrm>
              <a:off x="2832" y="2065"/>
              <a:ext cx="98" cy="95"/>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1157" name="Rectangle 133"/>
            <p:cNvSpPr>
              <a:spLocks noChangeArrowheads="1"/>
            </p:cNvSpPr>
            <p:nvPr userDrawn="1"/>
          </p:nvSpPr>
          <p:spPr bwMode="gray">
            <a:xfrm>
              <a:off x="2832" y="2207"/>
              <a:ext cx="98" cy="97"/>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1158" name="Rectangle 134"/>
            <p:cNvSpPr>
              <a:spLocks noChangeArrowheads="1"/>
            </p:cNvSpPr>
            <p:nvPr userDrawn="1"/>
          </p:nvSpPr>
          <p:spPr bwMode="gray">
            <a:xfrm>
              <a:off x="2976" y="1920"/>
              <a:ext cx="97" cy="95"/>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1159" name="Rectangle 135"/>
            <p:cNvSpPr>
              <a:spLocks noChangeArrowheads="1"/>
            </p:cNvSpPr>
            <p:nvPr userDrawn="1"/>
          </p:nvSpPr>
          <p:spPr bwMode="gray">
            <a:xfrm>
              <a:off x="2976" y="2207"/>
              <a:ext cx="97" cy="97"/>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1160" name="Rectangle 136"/>
            <p:cNvSpPr>
              <a:spLocks noChangeArrowheads="1"/>
            </p:cNvSpPr>
            <p:nvPr userDrawn="1"/>
          </p:nvSpPr>
          <p:spPr bwMode="gray">
            <a:xfrm>
              <a:off x="3120" y="1776"/>
              <a:ext cx="97" cy="95"/>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1161" name="Rectangle 137"/>
            <p:cNvSpPr>
              <a:spLocks noChangeArrowheads="1"/>
            </p:cNvSpPr>
            <p:nvPr userDrawn="1"/>
          </p:nvSpPr>
          <p:spPr bwMode="gray">
            <a:xfrm>
              <a:off x="3120" y="1920"/>
              <a:ext cx="97" cy="95"/>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1162" name="Rectangle 138"/>
            <p:cNvSpPr>
              <a:spLocks noChangeArrowheads="1"/>
            </p:cNvSpPr>
            <p:nvPr userDrawn="1"/>
          </p:nvSpPr>
          <p:spPr bwMode="gray">
            <a:xfrm>
              <a:off x="3120" y="2065"/>
              <a:ext cx="97" cy="95"/>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1163" name="Rectangle 139"/>
            <p:cNvSpPr>
              <a:spLocks noChangeArrowheads="1"/>
            </p:cNvSpPr>
            <p:nvPr userDrawn="1"/>
          </p:nvSpPr>
          <p:spPr bwMode="gray">
            <a:xfrm>
              <a:off x="3264" y="1776"/>
              <a:ext cx="95" cy="95"/>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1164" name="Rectangle 140"/>
            <p:cNvSpPr>
              <a:spLocks noChangeArrowheads="1"/>
            </p:cNvSpPr>
            <p:nvPr userDrawn="1"/>
          </p:nvSpPr>
          <p:spPr bwMode="gray">
            <a:xfrm>
              <a:off x="3264" y="2065"/>
              <a:ext cx="95" cy="95"/>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1165" name="Rectangle 141"/>
            <p:cNvSpPr>
              <a:spLocks noChangeArrowheads="1"/>
            </p:cNvSpPr>
            <p:nvPr userDrawn="1"/>
          </p:nvSpPr>
          <p:spPr bwMode="gray">
            <a:xfrm>
              <a:off x="3408" y="1632"/>
              <a:ext cx="95" cy="97"/>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1166" name="Rectangle 142"/>
            <p:cNvSpPr>
              <a:spLocks noChangeArrowheads="1"/>
            </p:cNvSpPr>
            <p:nvPr userDrawn="1"/>
          </p:nvSpPr>
          <p:spPr bwMode="gray">
            <a:xfrm>
              <a:off x="3408" y="1776"/>
              <a:ext cx="95" cy="95"/>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1167" name="Rectangle 143"/>
            <p:cNvSpPr>
              <a:spLocks noChangeArrowheads="1"/>
            </p:cNvSpPr>
            <p:nvPr userDrawn="1"/>
          </p:nvSpPr>
          <p:spPr bwMode="gray">
            <a:xfrm>
              <a:off x="3408" y="1920"/>
              <a:ext cx="95" cy="95"/>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1168" name="Rectangle 144"/>
            <p:cNvSpPr>
              <a:spLocks noChangeArrowheads="1"/>
            </p:cNvSpPr>
            <p:nvPr userDrawn="1"/>
          </p:nvSpPr>
          <p:spPr bwMode="gray">
            <a:xfrm>
              <a:off x="3408" y="2065"/>
              <a:ext cx="95" cy="95"/>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1169" name="Rectangle 145"/>
            <p:cNvSpPr>
              <a:spLocks noChangeArrowheads="1"/>
            </p:cNvSpPr>
            <p:nvPr userDrawn="1"/>
          </p:nvSpPr>
          <p:spPr bwMode="gray">
            <a:xfrm>
              <a:off x="3553" y="1632"/>
              <a:ext cx="95" cy="97"/>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1170" name="Rectangle 146"/>
            <p:cNvSpPr>
              <a:spLocks noChangeArrowheads="1"/>
            </p:cNvSpPr>
            <p:nvPr userDrawn="1"/>
          </p:nvSpPr>
          <p:spPr bwMode="gray">
            <a:xfrm>
              <a:off x="3553" y="1920"/>
              <a:ext cx="95" cy="95"/>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1171" name="Rectangle 147"/>
            <p:cNvSpPr>
              <a:spLocks noChangeArrowheads="1"/>
            </p:cNvSpPr>
            <p:nvPr userDrawn="1"/>
          </p:nvSpPr>
          <p:spPr bwMode="gray">
            <a:xfrm>
              <a:off x="3695" y="1776"/>
              <a:ext cx="97" cy="95"/>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1172" name="Rectangle 148"/>
            <p:cNvSpPr>
              <a:spLocks noChangeArrowheads="1"/>
            </p:cNvSpPr>
            <p:nvPr userDrawn="1"/>
          </p:nvSpPr>
          <p:spPr bwMode="gray">
            <a:xfrm>
              <a:off x="3695" y="1920"/>
              <a:ext cx="97" cy="95"/>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1173" name="Rectangle 149"/>
            <p:cNvSpPr>
              <a:spLocks noChangeArrowheads="1"/>
            </p:cNvSpPr>
            <p:nvPr userDrawn="1"/>
          </p:nvSpPr>
          <p:spPr bwMode="gray">
            <a:xfrm>
              <a:off x="3695" y="2065"/>
              <a:ext cx="97" cy="95"/>
            </a:xfrm>
            <a:prstGeom prst="rect">
              <a:avLst/>
            </a:prstGeom>
            <a:solidFill>
              <a:srgbClr val="FFFFFF">
                <a:alpha val="28999"/>
              </a:srgbClr>
            </a:solidFill>
            <a:ln w="9525">
              <a:noFill/>
              <a:miter lim="800000"/>
            </a:ln>
            <a:effectLst/>
          </p:spPr>
          <p:txBody>
            <a:bodyPr wrap="none" anchor="ctr"/>
            <a:lstStyle/>
            <a:p>
              <a:pPr>
                <a:defRPr/>
              </a:pPr>
              <a:endParaRPr lang="zh-CN" altLang="en-US">
                <a:ea typeface="+mn-ea"/>
              </a:endParaRPr>
            </a:p>
          </p:txBody>
        </p:sp>
        <p:sp>
          <p:nvSpPr>
            <p:cNvPr id="1174" name="Rectangle 150"/>
            <p:cNvSpPr>
              <a:spLocks noChangeArrowheads="1"/>
            </p:cNvSpPr>
            <p:nvPr userDrawn="1"/>
          </p:nvSpPr>
          <p:spPr bwMode="gray">
            <a:xfrm>
              <a:off x="2256" y="2065"/>
              <a:ext cx="95" cy="95"/>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sp>
          <p:nvSpPr>
            <p:cNvPr id="1175" name="Rectangle 151"/>
            <p:cNvSpPr>
              <a:spLocks noChangeArrowheads="1"/>
            </p:cNvSpPr>
            <p:nvPr userDrawn="1"/>
          </p:nvSpPr>
          <p:spPr bwMode="gray">
            <a:xfrm>
              <a:off x="2112" y="2065"/>
              <a:ext cx="97" cy="95"/>
            </a:xfrm>
            <a:prstGeom prst="rect">
              <a:avLst/>
            </a:prstGeom>
            <a:solidFill>
              <a:srgbClr val="FFFFFF">
                <a:alpha val="50000"/>
              </a:srgbClr>
            </a:solidFill>
            <a:ln w="9525">
              <a:noFill/>
              <a:miter lim="800000"/>
            </a:ln>
            <a:effectLst/>
          </p:spPr>
          <p:txBody>
            <a:bodyPr wrap="none" anchor="ctr"/>
            <a:lstStyle/>
            <a:p>
              <a:pPr>
                <a:defRPr/>
              </a:pPr>
              <a:endParaRPr lang="zh-CN" altLang="en-US">
                <a:ea typeface="+mn-ea"/>
              </a:endParaRPr>
            </a:p>
          </p:txBody>
        </p:sp>
      </p:grpSp>
      <p:sp>
        <p:nvSpPr>
          <p:cNvPr id="1176" name="Rectangle 152"/>
          <p:cNvSpPr>
            <a:spLocks noChangeArrowheads="1"/>
          </p:cNvSpPr>
          <p:nvPr/>
        </p:nvSpPr>
        <p:spPr bwMode="gray">
          <a:xfrm>
            <a:off x="6553200" y="76200"/>
            <a:ext cx="228600" cy="381000"/>
          </a:xfrm>
          <a:prstGeom prst="rect">
            <a:avLst/>
          </a:prstGeom>
          <a:noFill/>
          <a:ln w="9525">
            <a:solidFill>
              <a:srgbClr val="FFFFFF">
                <a:alpha val="50000"/>
              </a:srgbClr>
            </a:solidFill>
            <a:miter lim="800000"/>
          </a:ln>
          <a:effectLst/>
        </p:spPr>
        <p:txBody>
          <a:bodyPr wrap="none" anchor="ctr"/>
          <a:lstStyle/>
          <a:p>
            <a:pPr>
              <a:defRPr/>
            </a:pPr>
            <a:endParaRPr lang="zh-CN" altLang="en-US">
              <a:ea typeface="+mn-ea"/>
            </a:endParaRPr>
          </a:p>
        </p:txBody>
      </p:sp>
      <p:sp>
        <p:nvSpPr>
          <p:cNvPr id="1177" name="Rectangle 153"/>
          <p:cNvSpPr>
            <a:spLocks noChangeArrowheads="1"/>
          </p:cNvSpPr>
          <p:nvPr/>
        </p:nvSpPr>
        <p:spPr bwMode="gray">
          <a:xfrm>
            <a:off x="6705600" y="228600"/>
            <a:ext cx="228600" cy="152400"/>
          </a:xfrm>
          <a:prstGeom prst="rect">
            <a:avLst/>
          </a:prstGeom>
          <a:noFill/>
          <a:ln w="9525">
            <a:solidFill>
              <a:srgbClr val="FFFFFF">
                <a:alpha val="50000"/>
              </a:srgbClr>
            </a:solidFill>
            <a:miter lim="800000"/>
          </a:ln>
          <a:effectLst/>
        </p:spPr>
        <p:txBody>
          <a:bodyPr wrap="none" anchor="ctr"/>
          <a:lstStyle/>
          <a:p>
            <a:pPr>
              <a:defRPr/>
            </a:pPr>
            <a:endParaRPr lang="zh-CN" altLang="en-US">
              <a:ea typeface="+mn-ea"/>
            </a:endParaRPr>
          </a:p>
        </p:txBody>
      </p:sp>
      <p:sp>
        <p:nvSpPr>
          <p:cNvPr id="1178" name="Rectangle 154"/>
          <p:cNvSpPr>
            <a:spLocks noChangeArrowheads="1"/>
          </p:cNvSpPr>
          <p:nvPr/>
        </p:nvSpPr>
        <p:spPr bwMode="gray">
          <a:xfrm>
            <a:off x="6858000" y="304800"/>
            <a:ext cx="304800" cy="304800"/>
          </a:xfrm>
          <a:prstGeom prst="rect">
            <a:avLst/>
          </a:prstGeom>
          <a:noFill/>
          <a:ln w="9525">
            <a:solidFill>
              <a:srgbClr val="FFFFFF">
                <a:alpha val="50000"/>
              </a:srgbClr>
            </a:solidFill>
            <a:miter lim="800000"/>
          </a:ln>
          <a:effectLst/>
        </p:spPr>
        <p:txBody>
          <a:bodyPr wrap="none" anchor="ctr"/>
          <a:lstStyle/>
          <a:p>
            <a:pPr>
              <a:defRPr/>
            </a:pPr>
            <a:endParaRPr lang="zh-CN" altLang="en-US">
              <a:ea typeface="+mn-ea"/>
            </a:endParaRPr>
          </a:p>
        </p:txBody>
      </p:sp>
      <p:sp>
        <p:nvSpPr>
          <p:cNvPr id="9224" name="Rectangle 3"/>
          <p:cNvSpPr>
            <a:spLocks noGrp="1" noChangeArrowheads="1"/>
          </p:cNvSpPr>
          <p:nvPr>
            <p:ph type="body" idx="1"/>
          </p:nvPr>
        </p:nvSpPr>
        <p:spPr bwMode="gray">
          <a:xfrm>
            <a:off x="533400" y="1295400"/>
            <a:ext cx="8191500" cy="5105400"/>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30" name="Rectangle 6"/>
          <p:cNvSpPr>
            <a:spLocks noGrp="1" noChangeArrowheads="1"/>
          </p:cNvSpPr>
          <p:nvPr>
            <p:ph type="sldNum" sz="quarter" idx="4"/>
          </p:nvPr>
        </p:nvSpPr>
        <p:spPr bwMode="gray">
          <a:xfrm>
            <a:off x="4191000" y="6505575"/>
            <a:ext cx="838200" cy="261938"/>
          </a:xfrm>
          <a:prstGeom prst="rect">
            <a:avLst/>
          </a:prstGeom>
          <a:noFill/>
          <a:ln w="9525">
            <a:noFill/>
            <a:miter lim="800000"/>
          </a:ln>
          <a:effectLst/>
        </p:spPr>
        <p:txBody>
          <a:bodyPr vert="horz" wrap="square" lIns="91440" tIns="45720" rIns="91440" bIns="45720" numCol="1" anchor="t" anchorCtr="0" compatLnSpc="1"/>
          <a:lstStyle>
            <a:lvl1pPr algn="ctr">
              <a:defRPr sz="1000">
                <a:latin typeface="Arial" panose="020B0604020202020204" pitchFamily="34" charset="0"/>
                <a:ea typeface="宋体" panose="02010600030101010101" pitchFamily="2" charset="-122"/>
              </a:defRPr>
            </a:lvl1pPr>
          </a:lstStyle>
          <a:p>
            <a:pPr>
              <a:defRPr/>
            </a:pPr>
            <a:fld id="{48202818-BF81-436D-9D06-7FD86271C6A6}" type="slidenum">
              <a:rPr lang="zh-CN" altLang="en-US"/>
              <a:t>‹#›</a:t>
            </a:fld>
            <a:endParaRPr lang="en-US" altLang="zh-CN"/>
          </a:p>
        </p:txBody>
      </p:sp>
      <p:sp>
        <p:nvSpPr>
          <p:cNvPr id="2" name="Rectangle 4"/>
          <p:cNvSpPr>
            <a:spLocks noGrp="1" noChangeArrowheads="1"/>
          </p:cNvSpPr>
          <p:nvPr>
            <p:ph type="dt" sz="half" idx="2"/>
          </p:nvPr>
        </p:nvSpPr>
        <p:spPr bwMode="gray">
          <a:xfrm>
            <a:off x="381000" y="6505575"/>
            <a:ext cx="1905000" cy="261938"/>
          </a:xfrm>
          <a:prstGeom prst="rect">
            <a:avLst/>
          </a:prstGeom>
          <a:noFill/>
          <a:ln w="9525">
            <a:noFill/>
            <a:miter lim="800000"/>
          </a:ln>
          <a:effectLst/>
        </p:spPr>
        <p:txBody>
          <a:bodyPr vert="horz" wrap="square" lIns="91440" tIns="45720" rIns="91440" bIns="45720" numCol="1" anchor="t" anchorCtr="0" compatLnSpc="1"/>
          <a:lstStyle>
            <a:lvl1pPr>
              <a:defRPr sz="1000">
                <a:latin typeface="Arial" panose="020B0604020202020204" pitchFamily="34" charset="0"/>
                <a:ea typeface="宋体" panose="02010600030101010101" pitchFamily="2" charset="-122"/>
              </a:defRPr>
            </a:lvl1pPr>
          </a:lstStyle>
          <a:p>
            <a:pPr>
              <a:defRPr/>
            </a:pPr>
            <a:endParaRPr lang="en-US" altLang="zh-CN"/>
          </a:p>
        </p:txBody>
      </p:sp>
      <p:sp>
        <p:nvSpPr>
          <p:cNvPr id="9228" name="Rectangle 2"/>
          <p:cNvSpPr>
            <a:spLocks noGrp="1" noChangeArrowheads="1"/>
          </p:cNvSpPr>
          <p:nvPr>
            <p:ph type="title"/>
          </p:nvPr>
        </p:nvSpPr>
        <p:spPr bwMode="gray">
          <a:xfrm>
            <a:off x="1116013" y="260350"/>
            <a:ext cx="6513512" cy="487363"/>
          </a:xfrm>
          <a:prstGeom prst="rect">
            <a:avLst/>
          </a:prstGeom>
          <a:noFill/>
          <a:ln w="9525">
            <a:noFill/>
            <a:miter lim="800000"/>
          </a:ln>
        </p:spPr>
        <p:txBody>
          <a:bodyPr vert="horz" wrap="square" lIns="91440" tIns="45720" rIns="91440" bIns="45720" numCol="1" anchor="ctr" anchorCtr="0" compatLnSpc="1"/>
          <a:lstStyle/>
          <a:p>
            <a:pPr lvl="0"/>
            <a:r>
              <a:rPr lang="zh-CN" altLang="en-US" dirty="0"/>
              <a:t>单击此处编辑母版标题样式</a:t>
            </a:r>
          </a:p>
        </p:txBody>
      </p:sp>
      <p:sp>
        <p:nvSpPr>
          <p:cNvPr id="45" name="Rectangle 2"/>
          <p:cNvSpPr txBox="1">
            <a:spLocks noChangeArrowheads="1"/>
          </p:cNvSpPr>
          <p:nvPr userDrawn="1"/>
        </p:nvSpPr>
        <p:spPr>
          <a:xfrm>
            <a:off x="1066800" y="2732088"/>
            <a:ext cx="6889750" cy="685800"/>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0" cap="none" spc="0" normalizeH="0" baseline="0" noProof="0">
                <a:ln>
                  <a:noFill/>
                </a:ln>
                <a:solidFill>
                  <a:srgbClr val="FFFFFF"/>
                </a:solidFill>
                <a:effectLst/>
                <a:uLnTx/>
                <a:uFillTx/>
                <a:latin typeface="+mj-lt"/>
                <a:ea typeface="+mj-ea"/>
                <a:cs typeface="+mj-cs"/>
              </a:rPr>
              <a:t>网络安全设备</a:t>
            </a:r>
            <a:endParaRPr kumimoji="0" lang="zh-CN" altLang="en-US" sz="3200" b="1" i="0" u="none" strike="noStrike" kern="0" cap="none" spc="0" normalizeH="0" baseline="0" noProof="0" dirty="0">
              <a:ln>
                <a:noFill/>
              </a:ln>
              <a:solidFill>
                <a:srgbClr val="FFFFFF"/>
              </a:solidFill>
              <a:effectLst/>
              <a:uLnTx/>
              <a:uFillTx/>
              <a:latin typeface="+mj-lt"/>
              <a:ea typeface="+mj-ea"/>
              <a:cs typeface="+mj-cs"/>
            </a:endParaRPr>
          </a:p>
        </p:txBody>
      </p:sp>
      <p:pic>
        <p:nvPicPr>
          <p:cNvPr id="46" name="图片 45">
            <a:extLst>
              <a:ext uri="{FF2B5EF4-FFF2-40B4-BE49-F238E27FC236}">
                <a16:creationId xmlns:a16="http://schemas.microsoft.com/office/drawing/2014/main" id="{14DA89C2-13D3-637B-93FE-9421D331D3FE}"/>
              </a:ext>
            </a:extLst>
          </p:cNvPr>
          <p:cNvPicPr>
            <a:picLocks noChangeAspect="1"/>
          </p:cNvPicPr>
          <p:nvPr userDrawn="1"/>
        </p:nvPicPr>
        <p:blipFill>
          <a:blip r:embed="rId5"/>
          <a:stretch>
            <a:fillRect/>
          </a:stretch>
        </p:blipFill>
        <p:spPr>
          <a:xfrm>
            <a:off x="0" y="-7352"/>
            <a:ext cx="9144000" cy="640815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p:fade/>
  </p:transition>
  <p:hf hdr="0" ftr="0"/>
  <p:txStyles>
    <p:title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2pPr>
      <a:lvl3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3pPr>
      <a:lvl4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4pPr>
      <a:lvl5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5pPr>
      <a:lvl6pPr marL="4572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6pPr>
      <a:lvl7pPr marL="9144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7pPr>
      <a:lvl8pPr marL="13716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8pPr>
      <a:lvl9pPr marL="18288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9pPr>
    </p:titleStyle>
    <p:bodyStyle>
      <a:lvl1pPr marL="342900" indent="-342900" algn="l" rtl="0" eaLnBrk="0" fontAlgn="base" hangingPunct="0">
        <a:spcBef>
          <a:spcPct val="20000"/>
        </a:spcBef>
        <a:spcAft>
          <a:spcPct val="0"/>
        </a:spcAft>
        <a:buClr>
          <a:srgbClr val="3399FF"/>
        </a:buClr>
        <a:buFont typeface="Wingdings" panose="05000000000000000000"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9900"/>
        </a:buClr>
        <a:buFont typeface="Wingdings" panose="05000000000000000000" pitchFamily="2" charset="2"/>
        <a:buChar char="§"/>
        <a:defRPr sz="2600">
          <a:solidFill>
            <a:schemeClr val="tx1"/>
          </a:solidFill>
          <a:latin typeface="+mn-lt"/>
          <a:ea typeface="+mn-ea"/>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defRPr>
      </a:lvl5pPr>
      <a:lvl6pPr marL="2514600" indent="-228600" algn="l" rtl="0" fontAlgn="base">
        <a:spcBef>
          <a:spcPct val="20000"/>
        </a:spcBef>
        <a:spcAft>
          <a:spcPct val="0"/>
        </a:spcAft>
        <a:buChar char="»"/>
        <a:defRPr sz="2000">
          <a:solidFill>
            <a:schemeClr val="tx1"/>
          </a:solidFill>
          <a:latin typeface="Arial" panose="020B0604020202020204" pitchFamily="34" charset="0"/>
          <a:ea typeface="+mn-ea"/>
        </a:defRPr>
      </a:lvl6pPr>
      <a:lvl7pPr marL="2971800" indent="-228600" algn="l" rtl="0" fontAlgn="base">
        <a:spcBef>
          <a:spcPct val="20000"/>
        </a:spcBef>
        <a:spcAft>
          <a:spcPct val="0"/>
        </a:spcAft>
        <a:buChar char="»"/>
        <a:defRPr sz="2000">
          <a:solidFill>
            <a:schemeClr val="tx1"/>
          </a:solidFill>
          <a:latin typeface="Arial" panose="020B0604020202020204" pitchFamily="34" charset="0"/>
          <a:ea typeface="+mn-ea"/>
        </a:defRPr>
      </a:lvl7pPr>
      <a:lvl8pPr marL="3429000" indent="-228600" algn="l" rtl="0" fontAlgn="base">
        <a:spcBef>
          <a:spcPct val="20000"/>
        </a:spcBef>
        <a:spcAft>
          <a:spcPct val="0"/>
        </a:spcAft>
        <a:buChar char="»"/>
        <a:defRPr sz="2000">
          <a:solidFill>
            <a:schemeClr val="tx1"/>
          </a:solidFill>
          <a:latin typeface="Arial" panose="020B0604020202020204" pitchFamily="34" charset="0"/>
          <a:ea typeface="+mn-ea"/>
        </a:defRPr>
      </a:lvl8pPr>
      <a:lvl9pPr marL="3886200" indent="-228600" algn="l" rtl="0" fontAlgn="base">
        <a:spcBef>
          <a:spcPct val="20000"/>
        </a:spcBef>
        <a:spcAft>
          <a:spcPct val="0"/>
        </a:spcAft>
        <a:buChar char="»"/>
        <a:defRPr sz="2000">
          <a:solidFill>
            <a:schemeClr val="tx1"/>
          </a:solidFill>
          <a:latin typeface="Arial" panose="020B0604020202020204" pitchFamily="34"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2.bin"/><Relationship Id="rId13" Type="http://schemas.openxmlformats.org/officeDocument/2006/relationships/image" Target="../media/image5.png"/><Relationship Id="rId18" Type="http://schemas.openxmlformats.org/officeDocument/2006/relationships/oleObject" Target="../embeddings/oleObject7.bin"/><Relationship Id="rId3" Type="http://schemas.openxmlformats.org/officeDocument/2006/relationships/audio" Target="../media/audio1.wav"/><Relationship Id="rId7" Type="http://schemas.openxmlformats.org/officeDocument/2006/relationships/image" Target="../media/image2.wmf"/><Relationship Id="rId12" Type="http://schemas.openxmlformats.org/officeDocument/2006/relationships/oleObject" Target="../embeddings/oleObject4.bin"/><Relationship Id="rId17" Type="http://schemas.openxmlformats.org/officeDocument/2006/relationships/image" Target="../media/image7.wmf"/><Relationship Id="rId2" Type="http://schemas.openxmlformats.org/officeDocument/2006/relationships/slideLayout" Target="../slideLayouts/slideLayout3.xml"/><Relationship Id="rId16" Type="http://schemas.openxmlformats.org/officeDocument/2006/relationships/oleObject" Target="../embeddings/oleObject6.bin"/><Relationship Id="rId20" Type="http://schemas.openxmlformats.org/officeDocument/2006/relationships/oleObject" Target="../embeddings/oleObject9.bin"/><Relationship Id="rId1" Type="http://schemas.openxmlformats.org/officeDocument/2006/relationships/vmlDrawing" Target="../drawings/vmlDrawing1.vml"/><Relationship Id="rId6" Type="http://schemas.openxmlformats.org/officeDocument/2006/relationships/oleObject" Target="../embeddings/oleObject1.bin"/><Relationship Id="rId11" Type="http://schemas.openxmlformats.org/officeDocument/2006/relationships/image" Target="../media/image4.png"/><Relationship Id="rId5" Type="http://schemas.openxmlformats.org/officeDocument/2006/relationships/audio" Target="../media/audio3.wav"/><Relationship Id="rId15" Type="http://schemas.openxmlformats.org/officeDocument/2006/relationships/image" Target="../media/image6.png"/><Relationship Id="rId10" Type="http://schemas.openxmlformats.org/officeDocument/2006/relationships/oleObject" Target="../embeddings/oleObject3.bin"/><Relationship Id="rId19" Type="http://schemas.openxmlformats.org/officeDocument/2006/relationships/oleObject" Target="../embeddings/oleObject8.bin"/><Relationship Id="rId4" Type="http://schemas.openxmlformats.org/officeDocument/2006/relationships/audio" Target="../media/audio2.wav"/><Relationship Id="rId9" Type="http://schemas.openxmlformats.org/officeDocument/2006/relationships/image" Target="../media/image3.png"/><Relationship Id="rId14" Type="http://schemas.openxmlformats.org/officeDocument/2006/relationships/oleObject" Target="../embeddings/oleObject5.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slide" Target="slide126.xml"/><Relationship Id="rId4" Type="http://schemas.openxmlformats.org/officeDocument/2006/relationships/image" Target="../media/image23.jpeg"/></Relationships>
</file>

<file path=ppt/slides/_rels/slide85.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86.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87.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jpeg"/></Relationships>
</file>

<file path=ppt/slides/_rels/slide88.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89.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90.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hyperlink" Target="https://snort.org/downloads/snort/daq-2.0.7.tar.gz" TargetMode="External"/><Relationship Id="rId4" Type="http://schemas.openxmlformats.org/officeDocument/2006/relationships/image" Target="../media/image23.jpeg"/></Relationships>
</file>

<file path=ppt/slides/_rels/slide91.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92.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93.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3.jpeg"/></Relationships>
</file>

<file path=ppt/slides/_rels/slide94.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95.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3.jpeg"/></Relationships>
</file>

<file path=ppt/slides/_rels/slide96.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97.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98.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99.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57.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3.jpeg"/></Relationships>
</file>

<file path=ppt/slides/_rels/slide100.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58.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3.jpeg"/></Relationships>
</file>

<file path=ppt/slides/_rels/slide101.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hyperlink" Target="/" TargetMode="External"/><Relationship Id="rId7" Type="http://schemas.openxmlformats.org/officeDocument/2006/relationships/image" Target="../media/image32.png"/><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3.jpeg"/><Relationship Id="rId9" Type="http://schemas.openxmlformats.org/officeDocument/2006/relationships/image" Target="../media/image34.png"/></Relationships>
</file>

<file path=ppt/slides/_rels/slide102.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60.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23.jpeg"/></Relationships>
</file>

<file path=ppt/slides/_rels/slide103.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104.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105.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106.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107.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108.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109.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110.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68.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23.jpeg"/></Relationships>
</file>

<file path=ppt/slides/_rels/slide111.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69.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23.jpeg"/></Relationships>
</file>

<file path=ppt/slides/_rels/slide112.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70.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23.jpeg"/></Relationships>
</file>

<file path=ppt/slides/_rels/slide113.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71.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40.png"/><Relationship Id="rId4" Type="http://schemas.openxmlformats.org/officeDocument/2006/relationships/image" Target="../media/image23.jpeg"/></Relationships>
</file>

<file path=ppt/slides/_rels/slide114.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72.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23.jpeg"/></Relationships>
</file>

<file path=ppt/slides/_rels/slide115.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73.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42.png"/><Relationship Id="rId4" Type="http://schemas.openxmlformats.org/officeDocument/2006/relationships/image" Target="../media/image23.jpeg"/></Relationships>
</file>

<file path=ppt/slides/_rels/slide116.xml.rels><?xml version="1.0" encoding="UTF-8" standalone="yes"?>
<Relationships xmlns="http://schemas.openxmlformats.org/package/2006/relationships"><Relationship Id="rId3" Type="http://schemas.openxmlformats.org/officeDocument/2006/relationships/hyperlink" Target="/" TargetMode="External"/><Relationship Id="rId7" Type="http://schemas.openxmlformats.org/officeDocument/2006/relationships/image" Target="../media/image45.png"/><Relationship Id="rId2" Type="http://schemas.openxmlformats.org/officeDocument/2006/relationships/notesSlide" Target="../notesSlides/notesSlide74.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23.jpeg"/></Relationships>
</file>

<file path=ppt/slides/_rels/slide117.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75.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46.png"/><Relationship Id="rId4" Type="http://schemas.openxmlformats.org/officeDocument/2006/relationships/image" Target="../media/image23.jpeg"/></Relationships>
</file>

<file path=ppt/slides/_rels/slide118.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76.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23.jpeg"/></Relationships>
</file>

<file path=ppt/slides/_rels/slide119.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120.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hyperlink" Target="https://www.snort.org/" TargetMode="External"/><Relationship Id="rId7" Type="http://schemas.openxmlformats.org/officeDocument/2006/relationships/hyperlink" Target="/" TargetMode="External"/><Relationship Id="rId2" Type="http://schemas.openxmlformats.org/officeDocument/2006/relationships/notesSlide" Target="../notesSlides/notesSlide78.xml"/><Relationship Id="rId1" Type="http://schemas.openxmlformats.org/officeDocument/2006/relationships/slideLayout" Target="../slideLayouts/slideLayout2.xml"/><Relationship Id="rId6" Type="http://schemas.openxmlformats.org/officeDocument/2006/relationships/hyperlink" Target="https://link.zhihu.com/?target=https://nmap.org/npcap/dist/npcap-1.31.exe" TargetMode="External"/><Relationship Id="rId5" Type="http://schemas.openxmlformats.org/officeDocument/2006/relationships/hyperlink" Target="https://www.winpcap.org/" TargetMode="External"/><Relationship Id="rId4" Type="http://schemas.openxmlformats.org/officeDocument/2006/relationships/hyperlink" Target="https://www.snort.org/downloads/archive/snort/Snort_2.9.17_Installer.x86.exe" TargetMode="External"/></Relationships>
</file>

<file path=ppt/slides/_rels/slide121.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79.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122.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80.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123.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81.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23.jpeg"/></Relationships>
</file>

<file path=ppt/slides/_rels/slide124.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82.xml"/><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23.jpeg"/></Relationships>
</file>

<file path=ppt/slides/_rels/slide125.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Slide" Target="../notesSlides/notesSlide83.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8" Type="http://schemas.openxmlformats.org/officeDocument/2006/relationships/image" Target="../media/image59.emf"/><Relationship Id="rId13" Type="http://schemas.openxmlformats.org/officeDocument/2006/relationships/oleObject" Target="../embeddings/oleObject15.bin"/><Relationship Id="rId3" Type="http://schemas.openxmlformats.org/officeDocument/2006/relationships/notesSlide" Target="../notesSlides/notesSlide84.xml"/><Relationship Id="rId7" Type="http://schemas.openxmlformats.org/officeDocument/2006/relationships/oleObject" Target="../embeddings/oleObject11.bin"/><Relationship Id="rId12" Type="http://schemas.openxmlformats.org/officeDocument/2006/relationships/image" Target="../media/image60.emf"/><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image" Target="../media/image58.emf"/><Relationship Id="rId11" Type="http://schemas.openxmlformats.org/officeDocument/2006/relationships/oleObject" Target="../embeddings/oleObject14.bin"/><Relationship Id="rId5" Type="http://schemas.openxmlformats.org/officeDocument/2006/relationships/oleObject" Target="../embeddings/oleObject10.bin"/><Relationship Id="rId15" Type="http://schemas.openxmlformats.org/officeDocument/2006/relationships/image" Target="../media/image61.emf"/><Relationship Id="rId10" Type="http://schemas.openxmlformats.org/officeDocument/2006/relationships/oleObject" Target="../embeddings/oleObject13.bin"/><Relationship Id="rId4" Type="http://schemas.openxmlformats.org/officeDocument/2006/relationships/image" Target="../media/image62.wmf"/><Relationship Id="rId9" Type="http://schemas.openxmlformats.org/officeDocument/2006/relationships/oleObject" Target="../embeddings/oleObject12.bin"/><Relationship Id="rId14" Type="http://schemas.openxmlformats.org/officeDocument/2006/relationships/oleObject" Target="../embeddings/oleObject16.bin"/></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3.x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slideLayout" Target="../slideLayouts/slideLayout2.xml"/><Relationship Id="rId6" Type="http://schemas.openxmlformats.org/officeDocument/2006/relationships/image" Target="../media/image67.wmf"/><Relationship Id="rId5" Type="http://schemas.openxmlformats.org/officeDocument/2006/relationships/image" Target="../media/image66.wmf"/><Relationship Id="rId4" Type="http://schemas.openxmlformats.org/officeDocument/2006/relationships/image" Target="../media/image65.wmf"/></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notesSlide" Target="../notesSlides/notesSlide85.xml"/><Relationship Id="rId1" Type="http://schemas.openxmlformats.org/officeDocument/2006/relationships/slideLayout" Target="../slideLayouts/slideLayout3.xml"/><Relationship Id="rId4" Type="http://schemas.openxmlformats.org/officeDocument/2006/relationships/image" Target="../media/image69.png"/></Relationships>
</file>

<file path=ppt/slides/_rels/slide146.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oleObject" Target="../embeddings/oleObject17.bin"/><Relationship Id="rId7"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18.bin"/><Relationship Id="rId5" Type="http://schemas.openxmlformats.org/officeDocument/2006/relationships/image" Target="../media/image71.wmf"/><Relationship Id="rId10" Type="http://schemas.openxmlformats.org/officeDocument/2006/relationships/image" Target="../media/image72.emf"/><Relationship Id="rId4" Type="http://schemas.openxmlformats.org/officeDocument/2006/relationships/image" Target="../media/image70.wmf"/><Relationship Id="rId9" Type="http://schemas.openxmlformats.org/officeDocument/2006/relationships/oleObject" Target="../embeddings/oleObject21.bin"/></Relationships>
</file>

<file path=ppt/slides/_rels/slide147.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oleObject" Target="../embeddings/oleObject22.bin"/><Relationship Id="rId7"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23.bin"/><Relationship Id="rId5" Type="http://schemas.openxmlformats.org/officeDocument/2006/relationships/image" Target="../media/image71.wmf"/><Relationship Id="rId10" Type="http://schemas.openxmlformats.org/officeDocument/2006/relationships/image" Target="../media/image73.emf"/><Relationship Id="rId4" Type="http://schemas.openxmlformats.org/officeDocument/2006/relationships/image" Target="../media/image70.wmf"/><Relationship Id="rId9" Type="http://schemas.openxmlformats.org/officeDocument/2006/relationships/oleObject" Target="../embeddings/oleObject26.bin"/></Relationships>
</file>

<file path=ppt/slides/_rels/slide148.xml.rels><?xml version="1.0" encoding="UTF-8" standalone="yes"?>
<Relationships xmlns="http://schemas.openxmlformats.org/package/2006/relationships"><Relationship Id="rId8" Type="http://schemas.openxmlformats.org/officeDocument/2006/relationships/oleObject" Target="../embeddings/oleObject30.bin"/><Relationship Id="rId3" Type="http://schemas.openxmlformats.org/officeDocument/2006/relationships/image" Target="../media/image71.wmf"/><Relationship Id="rId7"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28.bin"/><Relationship Id="rId5" Type="http://schemas.openxmlformats.org/officeDocument/2006/relationships/image" Target="../media/image70.wmf"/><Relationship Id="rId10" Type="http://schemas.openxmlformats.org/officeDocument/2006/relationships/image" Target="../media/image74.emf"/><Relationship Id="rId4" Type="http://schemas.openxmlformats.org/officeDocument/2006/relationships/oleObject" Target="../embeddings/oleObject27.bin"/><Relationship Id="rId9" Type="http://schemas.openxmlformats.org/officeDocument/2006/relationships/oleObject" Target="../embeddings/oleObject31.bin"/></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ChangeArrowheads="1"/>
          </p:cNvSpPr>
          <p:nvPr/>
        </p:nvSpPr>
        <p:spPr bwMode="auto">
          <a:xfrm>
            <a:off x="973138" y="2611438"/>
            <a:ext cx="7485062" cy="879475"/>
          </a:xfrm>
          <a:prstGeom prst="rect">
            <a:avLst/>
          </a:prstGeom>
          <a:noFill/>
          <a:ln w="9525">
            <a:noFill/>
            <a:miter lim="800000"/>
          </a:ln>
        </p:spPr>
        <p:txBody>
          <a:bodyPr>
            <a:spAutoFit/>
          </a:bodyPr>
          <a:lstStyle/>
          <a:p>
            <a:pPr algn="ctr" eaLnBrk="1" hangingPunct="1">
              <a:lnSpc>
                <a:spcPct val="120000"/>
              </a:lnSpc>
              <a:spcBef>
                <a:spcPct val="20000"/>
              </a:spcBef>
              <a:buClr>
                <a:schemeClr val="folHlink"/>
              </a:buClr>
              <a:buSzPct val="60000"/>
              <a:defRPr/>
            </a:pPr>
            <a:r>
              <a:rPr kumimoji="1" lang="zh-CN" altLang="en-US" sz="4800" b="1" dirty="0">
                <a:solidFill>
                  <a:srgbClr val="000000"/>
                </a:solidFill>
                <a:effectLst>
                  <a:outerShdw blurRad="38100" dist="38100" dir="2700000" algn="tl">
                    <a:srgbClr val="000000">
                      <a:alpha val="43137"/>
                    </a:srgbClr>
                  </a:outerShdw>
                </a:effectLst>
                <a:latin typeface="Tahoma" panose="020B0604030504040204" pitchFamily="34" charset="0"/>
                <a:ea typeface="黑体" panose="02010609060101010101" pitchFamily="2" charset="-122"/>
              </a:rPr>
              <a:t>网络空间安全技术</a:t>
            </a:r>
            <a:endParaRPr kumimoji="1" lang="en-US" altLang="zh-CN" sz="4800" b="1" dirty="0">
              <a:solidFill>
                <a:srgbClr val="000000"/>
              </a:solidFill>
              <a:effectLst>
                <a:outerShdw blurRad="38100" dist="38100" dir="2700000" algn="tl">
                  <a:srgbClr val="000000">
                    <a:alpha val="43137"/>
                  </a:srgbClr>
                </a:outerShdw>
              </a:effectLst>
              <a:latin typeface="Tahoma" panose="020B0604030504040204" pitchFamily="34" charset="0"/>
              <a:ea typeface="黑体" panose="02010609060101010101" pitchFamily="2" charset="-122"/>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txBox="1">
            <a:spLocks noChangeArrowheads="1"/>
          </p:cNvSpPr>
          <p:nvPr/>
        </p:nvSpPr>
        <p:spPr bwMode="gray">
          <a:xfrm>
            <a:off x="1619672" y="2780928"/>
            <a:ext cx="6889750" cy="685800"/>
          </a:xfrm>
          <a:prstGeom prst="rect">
            <a:avLst/>
          </a:prstGeom>
          <a:noFill/>
          <a:ln w="9525">
            <a:noFill/>
            <a:miter lim="800000"/>
          </a:ln>
        </p:spPr>
        <p:txBody>
          <a:bodyPr anchor="ctr"/>
          <a:lstStyle/>
          <a:p>
            <a:pPr algn="ctr" eaLnBrk="1" hangingPunct="1">
              <a:lnSpc>
                <a:spcPct val="120000"/>
              </a:lnSpc>
              <a:spcBef>
                <a:spcPct val="20000"/>
              </a:spcBef>
              <a:buClr>
                <a:schemeClr val="folHlink"/>
              </a:buClr>
              <a:buSzPct val="60000"/>
              <a:defRPr/>
            </a:pPr>
            <a:r>
              <a:rPr kumimoji="1" lang="zh-CN" altLang="en-US" sz="4400" b="1" dirty="0">
                <a:solidFill>
                  <a:srgbClr val="000000"/>
                </a:solidFill>
                <a:effectLst>
                  <a:outerShdw blurRad="38100" dist="38100" dir="2700000" algn="tl">
                    <a:srgbClr val="000000">
                      <a:alpha val="43137"/>
                    </a:srgbClr>
                  </a:outerShdw>
                </a:effectLst>
                <a:latin typeface="Tahoma" panose="020B0604030504040204" pitchFamily="34" charset="0"/>
                <a:ea typeface="黑体" panose="02010609060101010101" pitchFamily="2" charset="-122"/>
              </a:rPr>
              <a:t>入侵检测技术及其发展</a:t>
            </a:r>
          </a:p>
        </p:txBody>
      </p:sp>
      <p:sp>
        <p:nvSpPr>
          <p:cNvPr id="2" name="矩形 1"/>
          <p:cNvSpPr/>
          <p:nvPr/>
        </p:nvSpPr>
        <p:spPr>
          <a:xfrm>
            <a:off x="1419225" y="1497013"/>
            <a:ext cx="2044700" cy="830262"/>
          </a:xfrm>
          <a:prstGeom prst="rect">
            <a:avLst/>
          </a:prstGeom>
        </p:spPr>
        <p:txBody>
          <a:bodyPr wrap="none">
            <a:spAutoFit/>
          </a:bodyPr>
          <a:lstStyle/>
          <a:p>
            <a:pPr>
              <a:defRPr/>
            </a:pPr>
            <a:r>
              <a:rPr kumimoji="1" lang="zh-CN" altLang="en-US" sz="4800" b="1" dirty="0">
                <a:solidFill>
                  <a:srgbClr val="000000"/>
                </a:solidFill>
                <a:effectLst>
                  <a:outerShdw blurRad="38100" dist="38100" dir="2700000" algn="tl">
                    <a:srgbClr val="000000">
                      <a:alpha val="43137"/>
                    </a:srgbClr>
                  </a:outerShdw>
                </a:effectLst>
                <a:latin typeface="+mn-ea"/>
                <a:ea typeface="+mn-ea"/>
              </a:rPr>
              <a:t>第</a:t>
            </a:r>
            <a:r>
              <a:rPr kumimoji="1" lang="en-US" altLang="zh-CN" sz="4800" b="1" dirty="0">
                <a:solidFill>
                  <a:srgbClr val="000000"/>
                </a:solidFill>
                <a:effectLst>
                  <a:outerShdw blurRad="38100" dist="38100" dir="2700000" algn="tl">
                    <a:srgbClr val="000000">
                      <a:alpha val="43137"/>
                    </a:srgbClr>
                  </a:outerShdw>
                </a:effectLst>
                <a:latin typeface="+mn-ea"/>
                <a:ea typeface="+mn-ea"/>
              </a:rPr>
              <a:t>8</a:t>
            </a:r>
            <a:r>
              <a:rPr kumimoji="1" lang="zh-CN" altLang="en-US" sz="4800" b="1" dirty="0">
                <a:solidFill>
                  <a:srgbClr val="000000"/>
                </a:solidFill>
                <a:effectLst>
                  <a:outerShdw blurRad="38100" dist="38100" dir="2700000" algn="tl">
                    <a:srgbClr val="000000">
                      <a:alpha val="43137"/>
                    </a:srgbClr>
                  </a:outerShdw>
                </a:effectLst>
                <a:latin typeface="+mn-ea"/>
                <a:ea typeface="+mn-ea"/>
              </a:rPr>
              <a:t>章 </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03548" y="1016732"/>
            <a:ext cx="6513512" cy="487363"/>
          </a:xfrm>
        </p:spPr>
        <p:txBody>
          <a:bodyPr/>
          <a:lstStyle/>
          <a:p>
            <a:r>
              <a:rPr lang="zh-CN" altLang="en-US" dirty="0">
                <a:solidFill>
                  <a:srgbClr val="0033CC"/>
                </a:solidFill>
                <a:effectLst>
                  <a:outerShdw blurRad="38100" dist="38100" dir="2700000" algn="tl">
                    <a:srgbClr val="000000">
                      <a:alpha val="43137"/>
                    </a:srgbClr>
                  </a:outerShdw>
                </a:effectLst>
              </a:rPr>
              <a:t>知识域：入侵检测技术</a:t>
            </a:r>
          </a:p>
        </p:txBody>
      </p:sp>
      <p:sp>
        <p:nvSpPr>
          <p:cNvPr id="5" name="内容占位符 4"/>
          <p:cNvSpPr>
            <a:spLocks noGrp="1"/>
          </p:cNvSpPr>
          <p:nvPr>
            <p:ph idx="1"/>
          </p:nvPr>
        </p:nvSpPr>
        <p:spPr>
          <a:xfrm>
            <a:off x="611560" y="2024844"/>
            <a:ext cx="8191500" cy="2781672"/>
          </a:xfrm>
        </p:spPr>
        <p:txBody>
          <a:bodyPr/>
          <a:lstStyle/>
          <a:p>
            <a:r>
              <a:rPr lang="zh-CN" altLang="zh-CN" b="1" dirty="0">
                <a:effectLst>
                  <a:outerShdw blurRad="38100" dist="38100" dir="2700000" algn="tl">
                    <a:srgbClr val="000000">
                      <a:alpha val="43137"/>
                    </a:srgbClr>
                  </a:outerShdw>
                </a:effectLst>
              </a:rPr>
              <a:t>理解审计和监控的基本概念</a:t>
            </a:r>
          </a:p>
          <a:p>
            <a:r>
              <a:rPr lang="zh-CN" altLang="zh-CN" b="1" dirty="0">
                <a:effectLst>
                  <a:outerShdw blurRad="38100" dist="38100" dir="2700000" algn="tl">
                    <a:srgbClr val="000000">
                      <a:alpha val="43137"/>
                    </a:srgbClr>
                  </a:outerShdw>
                </a:effectLst>
              </a:rPr>
              <a:t>理解入侵检测基本概念和工作原理</a:t>
            </a:r>
          </a:p>
          <a:p>
            <a:r>
              <a:rPr lang="zh-CN" altLang="zh-CN" b="1" dirty="0">
                <a:effectLst>
                  <a:outerShdw blurRad="38100" dist="38100" dir="2700000" algn="tl">
                    <a:srgbClr val="000000">
                      <a:alpha val="43137"/>
                    </a:srgbClr>
                  </a:outerShdw>
                </a:effectLst>
              </a:rPr>
              <a:t>理解入侵检测的分类</a:t>
            </a:r>
            <a:endParaRPr lang="en-US" altLang="zh-CN" b="1" dirty="0">
              <a:effectLst>
                <a:outerShdw blurRad="38100" dist="38100" dir="2700000" algn="tl">
                  <a:srgbClr val="000000">
                    <a:alpha val="43137"/>
                  </a:srgbClr>
                </a:outerShdw>
              </a:effectLst>
            </a:endParaRPr>
          </a:p>
          <a:p>
            <a:r>
              <a:rPr lang="zh-CN" altLang="en-US" b="1" dirty="0">
                <a:effectLst>
                  <a:outerShdw blurRad="38100" dist="38100" dir="2700000" algn="tl">
                    <a:srgbClr val="000000">
                      <a:alpha val="43137"/>
                    </a:srgbClr>
                  </a:outerShdw>
                </a:effectLst>
              </a:rPr>
              <a:t>理解各类入侵检测技术的实现流程和关键点</a:t>
            </a:r>
            <a:endParaRPr lang="zh-CN" altLang="zh-CN" b="1" dirty="0">
              <a:effectLst>
                <a:outerShdw blurRad="38100" dist="38100" dir="2700000" algn="tl">
                  <a:srgbClr val="000000">
                    <a:alpha val="43137"/>
                  </a:srgbClr>
                </a:outerShdw>
              </a:effectLst>
            </a:endParaRPr>
          </a:p>
          <a:p>
            <a:r>
              <a:rPr lang="zh-CN" altLang="zh-CN" b="1" dirty="0">
                <a:effectLst>
                  <a:outerShdw blurRad="38100" dist="38100" dir="2700000" algn="tl">
                    <a:srgbClr val="000000">
                      <a:alpha val="43137"/>
                    </a:srgbClr>
                  </a:outerShdw>
                </a:effectLst>
              </a:rPr>
              <a:t>掌握入侵检测系统选择和使用中的基本注意事项</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 calcmode="lin" valueType="num">
                                      <p:cBhvr additive="base">
                                        <p:cTn id="12"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 calcmode="lin" valueType="num">
                                      <p:cBhvr additive="base">
                                        <p:cTn id="1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anim calcmode="lin" valueType="num">
                                      <p:cBhvr additive="base">
                                        <p:cTn id="23"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par>
                          <p:cTn id="25" fill="hold">
                            <p:stCondLst>
                              <p:cond delay="500"/>
                            </p:stCondLst>
                            <p:childTnLst>
                              <p:par>
                                <p:cTn id="26" presetID="2" presetClass="entr" presetSubtype="4" fill="hold" grpId="0" nodeType="afterEffect">
                                  <p:stCondLst>
                                    <p:cond delay="0"/>
                                  </p:stCondLst>
                                  <p:childTnLst>
                                    <p:set>
                                      <p:cBhvr>
                                        <p:cTn id="27" dur="1" fill="hold">
                                          <p:stCondLst>
                                            <p:cond delay="0"/>
                                          </p:stCondLst>
                                        </p:cTn>
                                        <p:tgtEl>
                                          <p:spTgt spid="5">
                                            <p:txEl>
                                              <p:pRg st="4" end="4"/>
                                            </p:txEl>
                                          </p:spTgt>
                                        </p:tgtEl>
                                        <p:attrNameLst>
                                          <p:attrName>style.visibility</p:attrName>
                                        </p:attrNameLst>
                                      </p:cBhvr>
                                      <p:to>
                                        <p:strVal val="visible"/>
                                      </p:to>
                                    </p:set>
                                    <p:anim calcmode="lin" valueType="num">
                                      <p:cBhvr additive="base">
                                        <p:cTn id="28"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Line 4"/>
          <p:cNvSpPr>
            <a:spLocks noChangeShapeType="1"/>
          </p:cNvSpPr>
          <p:nvPr/>
        </p:nvSpPr>
        <p:spPr bwMode="auto">
          <a:xfrm>
            <a:off x="838200" y="3713820"/>
            <a:ext cx="7696200" cy="0"/>
          </a:xfrm>
          <a:prstGeom prst="line">
            <a:avLst/>
          </a:prstGeom>
          <a:noFill/>
          <a:ln w="57150" cap="sq">
            <a:solidFill>
              <a:schemeClr val="tx1"/>
            </a:solidFill>
            <a:round/>
            <a:headEnd type="none" w="sm" len="sm"/>
            <a:tailEnd type="triangle" w="med" len="med"/>
          </a:ln>
        </p:spPr>
        <p:txBody>
          <a:bodyPr wrap="none" anchor="ctr"/>
          <a:lstStyle/>
          <a:p>
            <a:endParaRPr lang="zh-CN" altLang="en-US"/>
          </a:p>
        </p:txBody>
      </p:sp>
      <p:sp>
        <p:nvSpPr>
          <p:cNvPr id="5" name="Text Box 5"/>
          <p:cNvSpPr txBox="1">
            <a:spLocks noChangeArrowheads="1"/>
          </p:cNvSpPr>
          <p:nvPr/>
        </p:nvSpPr>
        <p:spPr bwMode="auto">
          <a:xfrm>
            <a:off x="7696200" y="3104220"/>
            <a:ext cx="793750" cy="457200"/>
          </a:xfrm>
          <a:prstGeom prst="rect">
            <a:avLst/>
          </a:prstGeom>
          <a:noFill/>
          <a:ln w="12700" cap="sq">
            <a:noFill/>
            <a:miter lim="800000"/>
            <a:headEnd type="none" w="sm" len="sm"/>
            <a:tailEnd type="none" w="sm" len="sm"/>
          </a:ln>
        </p:spPr>
        <p:txBody>
          <a:bodyPr wrap="none">
            <a:spAutoFit/>
          </a:bodyPr>
          <a:lstStyle/>
          <a:p>
            <a:pPr algn="l"/>
            <a:r>
              <a:rPr kumimoji="1" lang="zh-CN" altLang="en-US" sz="2400" b="0">
                <a:latin typeface="Times New Roman" panose="02020603050405020304" pitchFamily="18" charset="0"/>
              </a:rPr>
              <a:t>时间</a:t>
            </a:r>
          </a:p>
        </p:txBody>
      </p:sp>
      <p:graphicFrame>
        <p:nvGraphicFramePr>
          <p:cNvPr id="6" name="Object 6"/>
          <p:cNvGraphicFramePr>
            <a:graphicFrameLocks noChangeAspect="1"/>
          </p:cNvGraphicFramePr>
          <p:nvPr/>
        </p:nvGraphicFramePr>
        <p:xfrm>
          <a:off x="4953000" y="2647020"/>
          <a:ext cx="796925" cy="976313"/>
        </p:xfrm>
        <a:graphic>
          <a:graphicData uri="http://schemas.openxmlformats.org/presentationml/2006/ole">
            <mc:AlternateContent xmlns:mc="http://schemas.openxmlformats.org/markup-compatibility/2006">
              <mc:Choice xmlns:v="urn:schemas-microsoft-com:vml" Requires="v">
                <p:oleObj spid="_x0000_s1187" name="剪辑" r:id="rId6" imgW="3212465" imgH="3935730" progId="">
                  <p:embed/>
                </p:oleObj>
              </mc:Choice>
              <mc:Fallback>
                <p:oleObj name="剪辑" r:id="rId6" imgW="3212465" imgH="3935730" progId="">
                  <p:embed/>
                  <p:pic>
                    <p:nvPicPr>
                      <p:cNvPr id="6"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53000" y="2647020"/>
                        <a:ext cx="796925" cy="976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 name="Group 7"/>
          <p:cNvGrpSpPr/>
          <p:nvPr/>
        </p:nvGrpSpPr>
        <p:grpSpPr bwMode="auto">
          <a:xfrm>
            <a:off x="3733800" y="3866220"/>
            <a:ext cx="1828800" cy="914400"/>
            <a:chOff x="2352" y="2784"/>
            <a:chExt cx="1371" cy="696"/>
          </a:xfrm>
        </p:grpSpPr>
        <p:graphicFrame>
          <p:nvGraphicFramePr>
            <p:cNvPr id="8" name="Object 8"/>
            <p:cNvGraphicFramePr>
              <a:graphicFrameLocks noChangeAspect="1"/>
            </p:cNvGraphicFramePr>
            <p:nvPr/>
          </p:nvGraphicFramePr>
          <p:xfrm>
            <a:off x="2352" y="2784"/>
            <a:ext cx="864" cy="678"/>
          </p:xfrm>
          <a:graphic>
            <a:graphicData uri="http://schemas.openxmlformats.org/presentationml/2006/ole">
              <mc:AlternateContent xmlns:mc="http://schemas.openxmlformats.org/markup-compatibility/2006">
                <mc:Choice xmlns:v="urn:schemas-microsoft-com:vml" Requires="v">
                  <p:oleObj spid="_x0000_s1188" name="剪辑" r:id="rId8" imgW="971550" imgH="762000" progId="">
                    <p:embed/>
                  </p:oleObj>
                </mc:Choice>
                <mc:Fallback>
                  <p:oleObj name="剪辑" r:id="rId8" imgW="971550" imgH="762000" progId="">
                    <p:embed/>
                    <p:pic>
                      <p:nvPicPr>
                        <p:cNvPr id="8"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52" y="2784"/>
                          <a:ext cx="864" cy="67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9"/>
            <p:cNvGraphicFramePr>
              <a:graphicFrameLocks noChangeAspect="1"/>
            </p:cNvGraphicFramePr>
            <p:nvPr/>
          </p:nvGraphicFramePr>
          <p:xfrm>
            <a:off x="3120" y="2832"/>
            <a:ext cx="603" cy="648"/>
          </p:xfrm>
          <a:graphic>
            <a:graphicData uri="http://schemas.openxmlformats.org/presentationml/2006/ole">
              <mc:AlternateContent xmlns:mc="http://schemas.openxmlformats.org/markup-compatibility/2006">
                <mc:Choice xmlns:v="urn:schemas-microsoft-com:vml" Requires="v">
                  <p:oleObj spid="_x0000_s1189" name="剪辑" r:id="rId10" imgW="885825" imgH="952500" progId="">
                    <p:embed/>
                  </p:oleObj>
                </mc:Choice>
                <mc:Fallback>
                  <p:oleObj name="剪辑" r:id="rId10" imgW="885825" imgH="952500" progId="">
                    <p:embed/>
                    <p:pic>
                      <p:nvPicPr>
                        <p:cNvPr id="9"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20" y="2832"/>
                          <a:ext cx="603" cy="6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0" name="Object 10"/>
          <p:cNvGraphicFramePr>
            <a:graphicFrameLocks noChangeAspect="1"/>
          </p:cNvGraphicFramePr>
          <p:nvPr/>
        </p:nvGraphicFramePr>
        <p:xfrm>
          <a:off x="1752600" y="3866220"/>
          <a:ext cx="1066800" cy="809625"/>
        </p:xfrm>
        <a:graphic>
          <a:graphicData uri="http://schemas.openxmlformats.org/presentationml/2006/ole">
            <mc:AlternateContent xmlns:mc="http://schemas.openxmlformats.org/markup-compatibility/2006">
              <mc:Choice xmlns:v="urn:schemas-microsoft-com:vml" Requires="v">
                <p:oleObj spid="_x0000_s1190" name="剪辑" r:id="rId12" imgW="952500" imgH="723900" progId="">
                  <p:embed/>
                </p:oleObj>
              </mc:Choice>
              <mc:Fallback>
                <p:oleObj name="剪辑" r:id="rId12" imgW="952500" imgH="723900" progId="">
                  <p:embed/>
                  <p:pic>
                    <p:nvPicPr>
                      <p:cNvPr id="10" name="Object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52600" y="3866220"/>
                        <a:ext cx="1066800" cy="809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1"/>
          <p:cNvGraphicFramePr>
            <a:graphicFrameLocks noChangeAspect="1"/>
          </p:cNvGraphicFramePr>
          <p:nvPr/>
        </p:nvGraphicFramePr>
        <p:xfrm>
          <a:off x="6781800" y="2875620"/>
          <a:ext cx="639763" cy="733425"/>
        </p:xfrm>
        <a:graphic>
          <a:graphicData uri="http://schemas.openxmlformats.org/presentationml/2006/ole">
            <mc:AlternateContent xmlns:mc="http://schemas.openxmlformats.org/markup-compatibility/2006">
              <mc:Choice xmlns:v="urn:schemas-microsoft-com:vml" Requires="v">
                <p:oleObj spid="_x0000_s1191" name="剪辑" r:id="rId14" imgW="838200" imgH="962025" progId="">
                  <p:embed/>
                </p:oleObj>
              </mc:Choice>
              <mc:Fallback>
                <p:oleObj name="剪辑" r:id="rId14" imgW="838200" imgH="962025" progId="">
                  <p:embed/>
                  <p:pic>
                    <p:nvPicPr>
                      <p:cNvPr id="11" name="Object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781800" y="2875620"/>
                        <a:ext cx="639763" cy="733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2" name="Group 12"/>
          <p:cNvGrpSpPr/>
          <p:nvPr/>
        </p:nvGrpSpPr>
        <p:grpSpPr bwMode="auto">
          <a:xfrm>
            <a:off x="1295400" y="2647020"/>
            <a:ext cx="5562600" cy="1047750"/>
            <a:chOff x="816" y="1728"/>
            <a:chExt cx="3658" cy="948"/>
          </a:xfrm>
        </p:grpSpPr>
        <p:graphicFrame>
          <p:nvGraphicFramePr>
            <p:cNvPr id="13" name="Object 13"/>
            <p:cNvGraphicFramePr>
              <a:graphicFrameLocks noChangeAspect="1"/>
            </p:cNvGraphicFramePr>
            <p:nvPr/>
          </p:nvGraphicFramePr>
          <p:xfrm>
            <a:off x="816" y="1728"/>
            <a:ext cx="634" cy="948"/>
          </p:xfrm>
          <a:graphic>
            <a:graphicData uri="http://schemas.openxmlformats.org/presentationml/2006/ole">
              <mc:AlternateContent xmlns:mc="http://schemas.openxmlformats.org/markup-compatibility/2006">
                <mc:Choice xmlns:v="urn:schemas-microsoft-com:vml" Requires="v">
                  <p:oleObj spid="_x0000_s1192" name="剪辑" r:id="rId16" imgW="3032125" imgH="4533900" progId="">
                    <p:embed/>
                  </p:oleObj>
                </mc:Choice>
                <mc:Fallback>
                  <p:oleObj name="剪辑" r:id="rId16" imgW="3032125" imgH="4533900" progId="">
                    <p:embed/>
                    <p:pic>
                      <p:nvPicPr>
                        <p:cNvPr id="13" name="Object 1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16" y="1728"/>
                          <a:ext cx="634" cy="9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14"/>
            <p:cNvGraphicFramePr>
              <a:graphicFrameLocks noChangeAspect="1"/>
            </p:cNvGraphicFramePr>
            <p:nvPr/>
          </p:nvGraphicFramePr>
          <p:xfrm>
            <a:off x="1728" y="1728"/>
            <a:ext cx="634" cy="948"/>
          </p:xfrm>
          <a:graphic>
            <a:graphicData uri="http://schemas.openxmlformats.org/presentationml/2006/ole">
              <mc:AlternateContent xmlns:mc="http://schemas.openxmlformats.org/markup-compatibility/2006">
                <mc:Choice xmlns:v="urn:schemas-microsoft-com:vml" Requires="v">
                  <p:oleObj spid="_x0000_s1193" name="剪辑" r:id="rId18" imgW="3032125" imgH="4533900" progId="">
                    <p:embed/>
                  </p:oleObj>
                </mc:Choice>
                <mc:Fallback>
                  <p:oleObj name="剪辑" r:id="rId18" imgW="3032125" imgH="4533900" progId="">
                    <p:embed/>
                    <p:pic>
                      <p:nvPicPr>
                        <p:cNvPr id="14" name="Object 1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28" y="1728"/>
                          <a:ext cx="634" cy="9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Object 15"/>
            <p:cNvGraphicFramePr>
              <a:graphicFrameLocks noChangeAspect="1"/>
            </p:cNvGraphicFramePr>
            <p:nvPr/>
          </p:nvGraphicFramePr>
          <p:xfrm>
            <a:off x="2400" y="1728"/>
            <a:ext cx="634" cy="948"/>
          </p:xfrm>
          <a:graphic>
            <a:graphicData uri="http://schemas.openxmlformats.org/presentationml/2006/ole">
              <mc:AlternateContent xmlns:mc="http://schemas.openxmlformats.org/markup-compatibility/2006">
                <mc:Choice xmlns:v="urn:schemas-microsoft-com:vml" Requires="v">
                  <p:oleObj spid="_x0000_s1194" name="剪辑" r:id="rId19" imgW="3032125" imgH="4533900" progId="">
                    <p:embed/>
                  </p:oleObj>
                </mc:Choice>
                <mc:Fallback>
                  <p:oleObj name="剪辑" r:id="rId19" imgW="3032125" imgH="4533900" progId="">
                    <p:embed/>
                    <p:pic>
                      <p:nvPicPr>
                        <p:cNvPr id="15" name="Object 1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400" y="1728"/>
                          <a:ext cx="634" cy="9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16"/>
            <p:cNvGraphicFramePr>
              <a:graphicFrameLocks noChangeAspect="1"/>
            </p:cNvGraphicFramePr>
            <p:nvPr/>
          </p:nvGraphicFramePr>
          <p:xfrm>
            <a:off x="3840" y="1728"/>
            <a:ext cx="634" cy="948"/>
          </p:xfrm>
          <a:graphic>
            <a:graphicData uri="http://schemas.openxmlformats.org/presentationml/2006/ole">
              <mc:AlternateContent xmlns:mc="http://schemas.openxmlformats.org/markup-compatibility/2006">
                <mc:Choice xmlns:v="urn:schemas-microsoft-com:vml" Requires="v">
                  <p:oleObj spid="_x0000_s1195" name="剪辑" r:id="rId20" imgW="3032125" imgH="4533900" progId="">
                    <p:embed/>
                  </p:oleObj>
                </mc:Choice>
                <mc:Fallback>
                  <p:oleObj name="剪辑" r:id="rId20" imgW="3032125" imgH="4533900" progId="">
                    <p:embed/>
                    <p:pic>
                      <p:nvPicPr>
                        <p:cNvPr id="16" name="Object 1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840" y="1728"/>
                          <a:ext cx="634" cy="9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7" name="Line 17"/>
          <p:cNvSpPr>
            <a:spLocks noChangeShapeType="1"/>
          </p:cNvSpPr>
          <p:nvPr/>
        </p:nvSpPr>
        <p:spPr bwMode="auto">
          <a:xfrm>
            <a:off x="838200" y="3104220"/>
            <a:ext cx="0" cy="1219200"/>
          </a:xfrm>
          <a:prstGeom prst="line">
            <a:avLst/>
          </a:prstGeom>
          <a:noFill/>
          <a:ln w="57150" cap="sq">
            <a:solidFill>
              <a:schemeClr val="tx1"/>
            </a:solidFill>
            <a:round/>
            <a:headEnd type="none" w="sm" len="sm"/>
            <a:tailEnd type="none" w="sm" len="sm"/>
          </a:ln>
        </p:spPr>
        <p:txBody>
          <a:bodyPr wrap="none" anchor="ctr"/>
          <a:lstStyle/>
          <a:p>
            <a:endParaRPr lang="zh-CN" altLang="en-US"/>
          </a:p>
        </p:txBody>
      </p:sp>
      <p:grpSp>
        <p:nvGrpSpPr>
          <p:cNvPr id="18" name="Group 18"/>
          <p:cNvGrpSpPr/>
          <p:nvPr/>
        </p:nvGrpSpPr>
        <p:grpSpPr bwMode="auto">
          <a:xfrm>
            <a:off x="914400" y="1808820"/>
            <a:ext cx="6096000" cy="3613150"/>
            <a:chOff x="576" y="1152"/>
            <a:chExt cx="3840" cy="2276"/>
          </a:xfrm>
        </p:grpSpPr>
        <p:sp>
          <p:nvSpPr>
            <p:cNvPr id="19" name="Text Box 19"/>
            <p:cNvSpPr txBox="1">
              <a:spLocks noChangeArrowheads="1"/>
            </p:cNvSpPr>
            <p:nvPr/>
          </p:nvSpPr>
          <p:spPr bwMode="auto">
            <a:xfrm>
              <a:off x="2256" y="1152"/>
              <a:ext cx="383" cy="442"/>
            </a:xfrm>
            <a:prstGeom prst="rect">
              <a:avLst/>
            </a:prstGeom>
            <a:noFill/>
            <a:ln w="12700" cap="sq">
              <a:noFill/>
              <a:miter lim="800000"/>
              <a:headEnd type="none" w="sm" len="sm"/>
              <a:tailEnd type="none" w="sm" len="sm"/>
            </a:ln>
          </p:spPr>
          <p:txBody>
            <a:bodyPr wrap="none">
              <a:spAutoFit/>
            </a:bodyPr>
            <a:lstStyle/>
            <a:p>
              <a:pPr algn="l"/>
              <a:r>
                <a:rPr kumimoji="1" lang="en-US" altLang="zh-CN" sz="4000" b="0">
                  <a:latin typeface="Times New Roman" panose="02020603050405020304" pitchFamily="18" charset="0"/>
                </a:rPr>
                <a:t>Pt</a:t>
              </a:r>
            </a:p>
          </p:txBody>
        </p:sp>
        <p:sp>
          <p:nvSpPr>
            <p:cNvPr id="20" name="Text Box 20"/>
            <p:cNvSpPr txBox="1">
              <a:spLocks noChangeArrowheads="1"/>
            </p:cNvSpPr>
            <p:nvPr/>
          </p:nvSpPr>
          <p:spPr bwMode="auto">
            <a:xfrm>
              <a:off x="1152" y="3004"/>
              <a:ext cx="404" cy="404"/>
            </a:xfrm>
            <a:prstGeom prst="rect">
              <a:avLst/>
            </a:prstGeom>
            <a:noFill/>
            <a:ln w="12700" cap="sq">
              <a:noFill/>
              <a:miter lim="800000"/>
              <a:headEnd type="none" w="sm" len="sm"/>
              <a:tailEnd type="none" w="sm" len="sm"/>
            </a:ln>
          </p:spPr>
          <p:txBody>
            <a:bodyPr wrap="none">
              <a:spAutoFit/>
            </a:bodyPr>
            <a:lstStyle/>
            <a:p>
              <a:pPr algn="l"/>
              <a:r>
                <a:rPr kumimoji="1" lang="en-US" altLang="zh-CN" sz="3600" b="0">
                  <a:latin typeface="Times New Roman" panose="02020603050405020304" pitchFamily="18" charset="0"/>
                </a:rPr>
                <a:t>Dt</a:t>
              </a:r>
            </a:p>
          </p:txBody>
        </p:sp>
        <p:sp>
          <p:nvSpPr>
            <p:cNvPr id="21" name="Text Box 21"/>
            <p:cNvSpPr txBox="1">
              <a:spLocks noChangeArrowheads="1"/>
            </p:cNvSpPr>
            <p:nvPr/>
          </p:nvSpPr>
          <p:spPr bwMode="auto">
            <a:xfrm>
              <a:off x="2640" y="3024"/>
              <a:ext cx="388" cy="404"/>
            </a:xfrm>
            <a:prstGeom prst="rect">
              <a:avLst/>
            </a:prstGeom>
            <a:noFill/>
            <a:ln w="12700" cap="sq">
              <a:noFill/>
              <a:miter lim="800000"/>
              <a:headEnd type="none" w="sm" len="sm"/>
              <a:tailEnd type="none" w="sm" len="sm"/>
            </a:ln>
          </p:spPr>
          <p:txBody>
            <a:bodyPr wrap="none">
              <a:spAutoFit/>
            </a:bodyPr>
            <a:lstStyle/>
            <a:p>
              <a:pPr algn="l"/>
              <a:r>
                <a:rPr kumimoji="1" lang="en-US" altLang="zh-CN" sz="3600" b="0">
                  <a:latin typeface="Times New Roman" panose="02020603050405020304" pitchFamily="18" charset="0"/>
                </a:rPr>
                <a:t>Rt</a:t>
              </a:r>
            </a:p>
          </p:txBody>
        </p:sp>
        <p:sp>
          <p:nvSpPr>
            <p:cNvPr id="22" name="Line 22"/>
            <p:cNvSpPr>
              <a:spLocks noChangeShapeType="1"/>
            </p:cNvSpPr>
            <p:nvPr/>
          </p:nvSpPr>
          <p:spPr bwMode="auto">
            <a:xfrm>
              <a:off x="576" y="1536"/>
              <a:ext cx="3840" cy="0"/>
            </a:xfrm>
            <a:prstGeom prst="line">
              <a:avLst/>
            </a:prstGeom>
            <a:noFill/>
            <a:ln w="76200" cap="sq">
              <a:solidFill>
                <a:schemeClr val="tx1"/>
              </a:solidFill>
              <a:round/>
              <a:headEnd type="triangle" w="med" len="med"/>
              <a:tailEnd type="triangle" w="med" len="med"/>
            </a:ln>
          </p:spPr>
          <p:txBody>
            <a:bodyPr wrap="none" anchor="ctr"/>
            <a:lstStyle/>
            <a:p>
              <a:endParaRPr lang="zh-CN" altLang="en-US"/>
            </a:p>
          </p:txBody>
        </p:sp>
        <p:sp>
          <p:nvSpPr>
            <p:cNvPr id="23" name="Line 23"/>
            <p:cNvSpPr>
              <a:spLocks noChangeShapeType="1"/>
            </p:cNvSpPr>
            <p:nvPr/>
          </p:nvSpPr>
          <p:spPr bwMode="auto">
            <a:xfrm>
              <a:off x="624" y="3072"/>
              <a:ext cx="1536" cy="0"/>
            </a:xfrm>
            <a:prstGeom prst="line">
              <a:avLst/>
            </a:prstGeom>
            <a:noFill/>
            <a:ln w="76200" cap="sq">
              <a:solidFill>
                <a:schemeClr val="tx1"/>
              </a:solidFill>
              <a:round/>
              <a:headEnd type="triangle" w="med" len="med"/>
              <a:tailEnd type="triangle" w="med" len="med"/>
            </a:ln>
          </p:spPr>
          <p:txBody>
            <a:bodyPr wrap="none" anchor="ctr"/>
            <a:lstStyle/>
            <a:p>
              <a:endParaRPr lang="zh-CN" altLang="en-US"/>
            </a:p>
          </p:txBody>
        </p:sp>
        <p:sp>
          <p:nvSpPr>
            <p:cNvPr id="24" name="Line 24"/>
            <p:cNvSpPr>
              <a:spLocks noChangeShapeType="1"/>
            </p:cNvSpPr>
            <p:nvPr/>
          </p:nvSpPr>
          <p:spPr bwMode="auto">
            <a:xfrm>
              <a:off x="2304" y="3072"/>
              <a:ext cx="1296" cy="0"/>
            </a:xfrm>
            <a:prstGeom prst="line">
              <a:avLst/>
            </a:prstGeom>
            <a:noFill/>
            <a:ln w="76200" cap="sq">
              <a:solidFill>
                <a:schemeClr val="tx1"/>
              </a:solidFill>
              <a:round/>
              <a:headEnd type="triangle" w="med" len="med"/>
              <a:tailEnd type="triangle" w="med" len="med"/>
            </a:ln>
          </p:spPr>
          <p:txBody>
            <a:bodyPr wrap="none" anchor="ctr"/>
            <a:lstStyle/>
            <a:p>
              <a:endParaRPr lang="zh-CN" altLang="en-US"/>
            </a:p>
          </p:txBody>
        </p:sp>
      </p:grpSp>
      <p:sp>
        <p:nvSpPr>
          <p:cNvPr id="25" name="Rectangle 25"/>
          <p:cNvSpPr>
            <a:spLocks noChangeArrowheads="1"/>
          </p:cNvSpPr>
          <p:nvPr/>
        </p:nvSpPr>
        <p:spPr bwMode="auto">
          <a:xfrm>
            <a:off x="4064260" y="5595900"/>
            <a:ext cx="4648200" cy="533400"/>
          </a:xfrm>
          <a:prstGeom prst="rect">
            <a:avLst/>
          </a:prstGeom>
          <a:noFill/>
          <a:ln w="9525">
            <a:noFill/>
            <a:miter lim="800000"/>
          </a:ln>
        </p:spPr>
        <p:txBody>
          <a:bodyPr/>
          <a:lstStyle/>
          <a:p>
            <a:pPr marL="342900" indent="-342900" algn="l">
              <a:lnSpc>
                <a:spcPct val="90000"/>
              </a:lnSpc>
              <a:spcBef>
                <a:spcPct val="20000"/>
              </a:spcBef>
              <a:buSzPct val="90000"/>
            </a:pPr>
            <a:r>
              <a:rPr kumimoji="1" lang="zh-CN" altLang="en-US" sz="3200" b="0" dirty="0">
                <a:latin typeface="Arial Black" panose="020B0A04020102020204" pitchFamily="34" charset="0"/>
              </a:rPr>
              <a:t>新定义：</a:t>
            </a:r>
            <a:r>
              <a:rPr kumimoji="1" lang="en-US" altLang="zh-CN" sz="3200" b="0" dirty="0">
                <a:latin typeface="Arial Black" panose="020B0A04020102020204" pitchFamily="34" charset="0"/>
              </a:rPr>
              <a:t>Pt &gt; </a:t>
            </a:r>
            <a:r>
              <a:rPr kumimoji="1" lang="en-US" altLang="zh-CN" sz="3200" b="0" dirty="0" err="1">
                <a:latin typeface="Arial Black" panose="020B0A04020102020204" pitchFamily="34" charset="0"/>
              </a:rPr>
              <a:t>Dt</a:t>
            </a:r>
            <a:r>
              <a:rPr kumimoji="1" lang="en-US" altLang="zh-CN" sz="3200" b="0" dirty="0">
                <a:latin typeface="Arial Black" panose="020B0A04020102020204" pitchFamily="34" charset="0"/>
              </a:rPr>
              <a:t> + </a:t>
            </a:r>
            <a:r>
              <a:rPr kumimoji="1" lang="en-US" altLang="zh-CN" sz="3200" b="0" dirty="0" err="1">
                <a:latin typeface="Arial Black" panose="020B0A04020102020204" pitchFamily="34" charset="0"/>
              </a:rPr>
              <a:t>Rt</a:t>
            </a:r>
            <a:endParaRPr kumimoji="1" lang="en-US" altLang="zh-CN" sz="7200" dirty="0">
              <a:latin typeface="Times New Roman" panose="02020603050405020304" pitchFamily="18" charset="0"/>
            </a:endParaRPr>
          </a:p>
        </p:txBody>
      </p:sp>
      <p:sp>
        <p:nvSpPr>
          <p:cNvPr id="26" name="Rectangle 2"/>
          <p:cNvSpPr txBox="1">
            <a:spLocks noChangeArrowheads="1"/>
          </p:cNvSpPr>
          <p:nvPr/>
        </p:nvSpPr>
        <p:spPr bwMode="gray">
          <a:xfrm>
            <a:off x="602456" y="721605"/>
            <a:ext cx="7793038" cy="918356"/>
          </a:xfrm>
          <a:prstGeom prst="rect">
            <a:avLst/>
          </a:prstGeom>
          <a:noFill/>
          <a:ln w="9525">
            <a:noFill/>
            <a:miter lim="800000"/>
          </a:ln>
        </p:spPr>
        <p:txBody>
          <a:bodyPr vert="horz" wrap="square" lIns="91440" tIns="45720" rIns="91440" bIns="45720" numCol="1" anchor="ctr" anchorCtr="0" compatLnSpc="1"/>
          <a:lstStyle>
            <a:lvl1pPr eaLnBrk="0" hangingPunct="0">
              <a:defRPr sz="3200" b="1">
                <a:solidFill>
                  <a:srgbClr val="0033CC"/>
                </a:solidFill>
                <a:effectLst>
                  <a:outerShdw blurRad="38100" dist="38100" dir="2700000" algn="tl">
                    <a:srgbClr val="000000">
                      <a:alpha val="43137"/>
                    </a:srgbClr>
                  </a:outerShdw>
                </a:effectLst>
                <a:latin typeface="+mj-lt"/>
                <a:ea typeface="+mj-ea"/>
                <a:cs typeface="+mj-cs"/>
              </a:defRPr>
            </a:lvl1pPr>
            <a:lvl2pPr eaLnBrk="0" hangingPunct="0">
              <a:defRPr sz="3200" b="1">
                <a:solidFill>
                  <a:srgbClr val="FFFFFF"/>
                </a:solidFill>
                <a:latin typeface="黑体" panose="02010609060101010101" pitchFamily="2" charset="-122"/>
                <a:ea typeface="黑体" panose="02010609060101010101" pitchFamily="2" charset="-122"/>
              </a:defRPr>
            </a:lvl2pPr>
            <a:lvl3pPr eaLnBrk="0" hangingPunct="0">
              <a:defRPr sz="3200" b="1">
                <a:solidFill>
                  <a:srgbClr val="FFFFFF"/>
                </a:solidFill>
                <a:latin typeface="黑体" panose="02010609060101010101" pitchFamily="2" charset="-122"/>
                <a:ea typeface="黑体" panose="02010609060101010101" pitchFamily="2" charset="-122"/>
              </a:defRPr>
            </a:lvl3pPr>
            <a:lvl4pPr eaLnBrk="0" hangingPunct="0">
              <a:defRPr sz="3200" b="1">
                <a:solidFill>
                  <a:srgbClr val="FFFFFF"/>
                </a:solidFill>
                <a:latin typeface="黑体" panose="02010609060101010101" pitchFamily="2" charset="-122"/>
                <a:ea typeface="黑体" panose="02010609060101010101" pitchFamily="2" charset="-122"/>
              </a:defRPr>
            </a:lvl4pPr>
            <a:lvl5pPr eaLnBrk="0" hangingPunct="0">
              <a:defRPr sz="3200" b="1">
                <a:solidFill>
                  <a:srgbClr val="FFFFFF"/>
                </a:solidFill>
                <a:latin typeface="黑体" panose="02010609060101010101" pitchFamily="2" charset="-122"/>
                <a:ea typeface="黑体" panose="02010609060101010101" pitchFamily="2" charset="-122"/>
              </a:defRPr>
            </a:lvl5pPr>
            <a:lvl6pPr marL="45720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6pPr>
            <a:lvl7pPr marL="91440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7pPr>
            <a:lvl8pPr marL="137160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8pPr>
            <a:lvl9pPr marL="182880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9pPr>
          </a:lstStyle>
          <a:p>
            <a:r>
              <a:rPr lang="zh-CN" altLang="en-US" dirty="0"/>
              <a:t>网络安全时间定义：及时检测和响应</a:t>
            </a:r>
            <a:endParaRPr lang="en-US" altLang="zh-CN"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slide(fromBottom)">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glass.wav"/>
                                        </p:tgtEl>
                                      </p:cMediaNode>
                                    </p:audio>
                                  </p:sub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499"/>
                                          </p:stCondLst>
                                        </p:cTn>
                                        <p:tgtEl>
                                          <p:spTgt spid="10"/>
                                        </p:tgtEl>
                                        <p:attrNameLst>
                                          <p:attrName>style.visibility</p:attrName>
                                        </p:attrNameLst>
                                      </p:cBhvr>
                                      <p:to>
                                        <p:strVal val="visible"/>
                                      </p:to>
                                    </p:set>
                                  </p:childTnLst>
                                  <p:subTnLst>
                                    <p:audio>
                                      <p:cMediaNode>
                                        <p:cTn display="0" masterRel="sameClick">
                                          <p:stCondLst>
                                            <p:cond evt="begin" delay="0">
                                              <p:tn val="16"/>
                                            </p:cond>
                                          </p:stCondLst>
                                          <p:endCondLst>
                                            <p:cond evt="onStopAudio" delay="0">
                                              <p:tgtEl>
                                                <p:sldTgt/>
                                              </p:tgtEl>
                                            </p:cond>
                                          </p:endCondLst>
                                        </p:cTn>
                                        <p:tgtEl>
                                          <p:sndTgt r:embed="rId4" name="CAMERA.WAV"/>
                                        </p:tgtEl>
                                      </p:cMediaNode>
                                    </p:audio>
                                  </p:sub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499"/>
                                          </p:stCondLst>
                                        </p:cTn>
                                        <p:tgtEl>
                                          <p:spTgt spid="7"/>
                                        </p:tgtEl>
                                        <p:attrNameLst>
                                          <p:attrName>style.visibility</p:attrName>
                                        </p:attrNameLst>
                                      </p:cBhvr>
                                      <p:to>
                                        <p:strVal val="visible"/>
                                      </p:to>
                                    </p:set>
                                  </p:childTnLst>
                                  <p:subTnLst>
                                    <p:audio>
                                      <p:cMediaNode>
                                        <p:cTn display="0" masterRel="sameClick">
                                          <p:stCondLst>
                                            <p:cond evt="begin" delay="0">
                                              <p:tn val="20"/>
                                            </p:cond>
                                          </p:stCondLst>
                                          <p:endCondLst>
                                            <p:cond evt="onStopAudio" delay="0">
                                              <p:tgtEl>
                                                <p:sldTgt/>
                                              </p:tgtEl>
                                            </p:cond>
                                          </p:endCondLst>
                                        </p:cTn>
                                        <p:tgtEl>
                                          <p:sndTgt r:embed="rId5" name="carbrake.wav"/>
                                        </p:tgtEl>
                                      </p:cMediaNode>
                                    </p:audio>
                                  </p:sub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499"/>
                                          </p:stCondLst>
                                        </p:cTn>
                                        <p:tgtEl>
                                          <p:spTgt spid="1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25"/>
                                        </p:tgtEl>
                                        <p:attrNameLst>
                                          <p:attrName>style.visibility</p:attrName>
                                        </p:attrNameLst>
                                      </p:cBhvr>
                                      <p:to>
                                        <p:strVal val="visible"/>
                                      </p:to>
                                    </p:set>
                                    <p:anim calcmode="lin" valueType="num">
                                      <p:cBhvr additive="base">
                                        <p:cTn id="30" dur="500" fill="hold"/>
                                        <p:tgtEl>
                                          <p:spTgt spid="25"/>
                                        </p:tgtEl>
                                        <p:attrNameLst>
                                          <p:attrName>ppt_x</p:attrName>
                                        </p:attrNameLst>
                                      </p:cBhvr>
                                      <p:tavLst>
                                        <p:tav tm="0">
                                          <p:val>
                                            <p:strVal val="1+#ppt_w/2"/>
                                          </p:val>
                                        </p:tav>
                                        <p:tav tm="100000">
                                          <p:val>
                                            <p:strVal val="#ppt_x"/>
                                          </p:val>
                                        </p:tav>
                                      </p:tavLst>
                                    </p:anim>
                                    <p:anim calcmode="lin" valueType="num">
                                      <p:cBhvr additive="base">
                                        <p:cTn id="31" dur="50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026"/>
          <p:cNvSpPr>
            <a:spLocks noGrp="1" noChangeArrowheads="1"/>
          </p:cNvSpPr>
          <p:nvPr>
            <p:ph type="title"/>
          </p:nvPr>
        </p:nvSpPr>
        <p:spPr>
          <a:xfrm>
            <a:off x="827584" y="980728"/>
            <a:ext cx="6513512" cy="487363"/>
          </a:xfrm>
          <a:noFill/>
          <a:ln w="9525">
            <a:noFill/>
            <a:miter lim="800000"/>
          </a:ln>
        </p:spPr>
        <p:txBody>
          <a:bodyPr vert="horz" wrap="square" lIns="91440" tIns="45720" rIns="91440" bIns="45720" numCol="1" anchor="ctr" anchorCtr="0" compatLnSpc="1"/>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IDS</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存在与发展的必然性</a:t>
            </a:r>
          </a:p>
        </p:txBody>
      </p:sp>
      <p:sp>
        <p:nvSpPr>
          <p:cNvPr id="6147" name="Rectangle 1027"/>
          <p:cNvSpPr>
            <a:spLocks noGrp="1" noChangeArrowheads="1"/>
          </p:cNvSpPr>
          <p:nvPr>
            <p:ph type="body" idx="1"/>
          </p:nvPr>
        </p:nvSpPr>
        <p:spPr>
          <a:xfrm>
            <a:off x="1079612" y="1840362"/>
            <a:ext cx="6883896" cy="648072"/>
          </a:xfrm>
        </p:spPr>
        <p:txBody>
          <a:bodyPr/>
          <a:lstStyle/>
          <a:p>
            <a:pPr eaLnBrk="1" hangingPunct="1">
              <a:buFont typeface="Wingdings" panose="05000000000000000000" pitchFamily="2" charset="2"/>
              <a:buChar char="u"/>
            </a:pPr>
            <a:r>
              <a:rPr lang="zh-CN" altLang="en-US" b="1" dirty="0"/>
              <a:t>网络攻击造成的破坏性和损失日益严重</a:t>
            </a:r>
          </a:p>
        </p:txBody>
      </p:sp>
      <p:sp>
        <p:nvSpPr>
          <p:cNvPr id="2" name="矩形 1"/>
          <p:cNvSpPr/>
          <p:nvPr/>
        </p:nvSpPr>
        <p:spPr>
          <a:xfrm>
            <a:off x="1079612" y="3140968"/>
            <a:ext cx="6670416" cy="523220"/>
          </a:xfrm>
          <a:prstGeom prst="rect">
            <a:avLst/>
          </a:prstGeom>
        </p:spPr>
        <p:txBody>
          <a:bodyPr wrap="none">
            <a:spAutoFit/>
          </a:bodyPr>
          <a:lstStyle/>
          <a:p>
            <a:pPr marL="342900" indent="-342900">
              <a:spcBef>
                <a:spcPct val="20000"/>
              </a:spcBef>
              <a:buClr>
                <a:srgbClr val="3399FF"/>
              </a:buClr>
              <a:buFont typeface="Wingdings" panose="05000000000000000000" pitchFamily="2" charset="2"/>
              <a:buChar char="u"/>
            </a:pPr>
            <a:r>
              <a:rPr lang="zh-CN" altLang="en-US" sz="2800" b="1" dirty="0">
                <a:latin typeface="+mn-lt"/>
                <a:ea typeface="+mn-ea"/>
              </a:rPr>
              <a:t>单纯的防火墙无法防范复杂多变的攻击</a:t>
            </a:r>
          </a:p>
        </p:txBody>
      </p:sp>
      <p:sp>
        <p:nvSpPr>
          <p:cNvPr id="3" name="矩形 2"/>
          <p:cNvSpPr/>
          <p:nvPr/>
        </p:nvSpPr>
        <p:spPr>
          <a:xfrm>
            <a:off x="1079612" y="2481030"/>
            <a:ext cx="4145687" cy="523220"/>
          </a:xfrm>
          <a:prstGeom prst="rect">
            <a:avLst/>
          </a:prstGeom>
        </p:spPr>
        <p:txBody>
          <a:bodyPr wrap="none">
            <a:spAutoFit/>
          </a:bodyPr>
          <a:lstStyle/>
          <a:p>
            <a:pPr marL="342900" indent="-342900">
              <a:spcBef>
                <a:spcPct val="20000"/>
              </a:spcBef>
              <a:buClr>
                <a:srgbClr val="3399FF"/>
              </a:buClr>
              <a:buFont typeface="Wingdings" panose="05000000000000000000" pitchFamily="2" charset="2"/>
              <a:buChar char="u"/>
            </a:pPr>
            <a:r>
              <a:rPr lang="zh-CN" altLang="en-US" sz="2800" b="1" dirty="0">
                <a:latin typeface="+mn-lt"/>
                <a:ea typeface="+mn-ea"/>
              </a:rPr>
              <a:t>网络安全威胁日益增长</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 calcmode="lin" valueType="num">
                                      <p:cBhvr additive="base">
                                        <p:cTn id="7" dur="500" fill="hold"/>
                                        <p:tgtEl>
                                          <p:spTgt spid="614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147">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000" fill="hold"/>
                                        <p:tgtEl>
                                          <p:spTgt spid="3"/>
                                        </p:tgtEl>
                                        <p:attrNameLst>
                                          <p:attrName>ppt_x</p:attrName>
                                        </p:attrNameLst>
                                      </p:cBhvr>
                                      <p:tavLst>
                                        <p:tav tm="0">
                                          <p:val>
                                            <p:strVal val="1+#ppt_w/2"/>
                                          </p:val>
                                        </p:tav>
                                        <p:tav tm="100000">
                                          <p:val>
                                            <p:strVal val="#ppt_x"/>
                                          </p:val>
                                        </p:tav>
                                      </p:tavLst>
                                    </p:anim>
                                    <p:anim calcmode="lin" valueType="num">
                                      <p:cBhvr additive="base">
                                        <p:cTn id="13" dur="1000" fill="hold"/>
                                        <p:tgtEl>
                                          <p:spTgt spid="3"/>
                                        </p:tgtEl>
                                        <p:attrNameLst>
                                          <p:attrName>ppt_y</p:attrName>
                                        </p:attrNameLst>
                                      </p:cBhvr>
                                      <p:tavLst>
                                        <p:tav tm="0">
                                          <p:val>
                                            <p:strVal val="#ppt_y"/>
                                          </p:val>
                                        </p:tav>
                                        <p:tav tm="100000">
                                          <p:val>
                                            <p:strVal val="#ppt_y"/>
                                          </p:val>
                                        </p:tav>
                                      </p:tavLst>
                                    </p:anim>
                                  </p:childTnLst>
                                </p:cTn>
                              </p:par>
                            </p:childTnLst>
                          </p:cTn>
                        </p:par>
                        <p:par>
                          <p:cTn id="14" fill="hold">
                            <p:stCondLst>
                              <p:cond delay="1500"/>
                            </p:stCondLst>
                            <p:childTnLst>
                              <p:par>
                                <p:cTn id="15" presetID="2" presetClass="entr" presetSubtype="2" fill="hold" grpId="0"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1000" fill="hold"/>
                                        <p:tgtEl>
                                          <p:spTgt spid="2"/>
                                        </p:tgtEl>
                                        <p:attrNameLst>
                                          <p:attrName>ppt_x</p:attrName>
                                        </p:attrNameLst>
                                      </p:cBhvr>
                                      <p:tavLst>
                                        <p:tav tm="0">
                                          <p:val>
                                            <p:strVal val="1+#ppt_w/2"/>
                                          </p:val>
                                        </p:tav>
                                        <p:tav tm="100000">
                                          <p:val>
                                            <p:strVal val="#ppt_x"/>
                                          </p:val>
                                        </p:tav>
                                      </p:tavLst>
                                    </p:anim>
                                    <p:anim calcmode="lin" valueType="num">
                                      <p:cBhvr additive="base">
                                        <p:cTn id="18" dur="10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P spid="2" grpId="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23528" y="800708"/>
            <a:ext cx="6513512" cy="487363"/>
          </a:xfrm>
          <a:noFill/>
          <a:ln w="9525">
            <a:noFill/>
            <a:miter lim="800000"/>
          </a:ln>
        </p:spPr>
        <p:txBody>
          <a:bodyPr vert="horz" wrap="square" lIns="91440" tIns="45720" rIns="91440" bIns="45720" numCol="1" anchor="ctr" anchorCtr="0" compatLnSpc="1"/>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IDS</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的作用</a:t>
            </a:r>
          </a:p>
        </p:txBody>
      </p:sp>
      <p:pic>
        <p:nvPicPr>
          <p:cNvPr id="7172" name="Picture 4"/>
          <p:cNvPicPr>
            <a:picLocks noChangeAspect="1" noChangeArrowheads="1"/>
          </p:cNvPicPr>
          <p:nvPr/>
        </p:nvPicPr>
        <p:blipFill>
          <a:blip r:embed="rId2"/>
          <a:srcRect/>
          <a:stretch>
            <a:fillRect/>
          </a:stretch>
        </p:blipFill>
        <p:spPr bwMode="auto">
          <a:xfrm>
            <a:off x="251520" y="1448780"/>
            <a:ext cx="8676964" cy="4761749"/>
          </a:xfrm>
          <a:prstGeom prst="rect">
            <a:avLst/>
          </a:prstGeom>
        </p:spPr>
        <p:style>
          <a:lnRef idx="0">
            <a:schemeClr val="accent2"/>
          </a:lnRef>
          <a:fillRef idx="3">
            <a:schemeClr val="accent2"/>
          </a:fillRef>
          <a:effectRef idx="3">
            <a:schemeClr val="accent2"/>
          </a:effectRef>
          <a:fontRef idx="minor">
            <a:schemeClr val="lt1"/>
          </a:fontRef>
        </p:style>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7172"/>
                                        </p:tgtEl>
                                        <p:attrNameLst>
                                          <p:attrName>style.visibility</p:attrName>
                                        </p:attrNameLst>
                                      </p:cBhvr>
                                      <p:to>
                                        <p:strVal val="visible"/>
                                      </p:to>
                                    </p:set>
                                    <p:anim calcmode="lin" valueType="num">
                                      <p:cBhvr>
                                        <p:cTn id="7" dur="1000" fill="hold"/>
                                        <p:tgtEl>
                                          <p:spTgt spid="7172"/>
                                        </p:tgtEl>
                                        <p:attrNameLst>
                                          <p:attrName>ppt_w</p:attrName>
                                        </p:attrNameLst>
                                      </p:cBhvr>
                                      <p:tavLst>
                                        <p:tav tm="0">
                                          <p:val>
                                            <p:fltVal val="0"/>
                                          </p:val>
                                        </p:tav>
                                        <p:tav tm="100000">
                                          <p:val>
                                            <p:strVal val="#ppt_w"/>
                                          </p:val>
                                        </p:tav>
                                      </p:tavLst>
                                    </p:anim>
                                    <p:anim calcmode="lin" valueType="num">
                                      <p:cBhvr>
                                        <p:cTn id="8" dur="1000" fill="hold"/>
                                        <p:tgtEl>
                                          <p:spTgt spid="7172"/>
                                        </p:tgtEl>
                                        <p:attrNameLst>
                                          <p:attrName>ppt_h</p:attrName>
                                        </p:attrNameLst>
                                      </p:cBhvr>
                                      <p:tavLst>
                                        <p:tav tm="0">
                                          <p:val>
                                            <p:fltVal val="0"/>
                                          </p:val>
                                        </p:tav>
                                        <p:tav tm="100000">
                                          <p:val>
                                            <p:strVal val="#ppt_h"/>
                                          </p:val>
                                        </p:tav>
                                      </p:tavLst>
                                    </p:anim>
                                    <p:anim calcmode="lin" valueType="num">
                                      <p:cBhvr>
                                        <p:cTn id="9" dur="1000" fill="hold"/>
                                        <p:tgtEl>
                                          <p:spTgt spid="7172"/>
                                        </p:tgtEl>
                                        <p:attrNameLst>
                                          <p:attrName>style.rotation</p:attrName>
                                        </p:attrNameLst>
                                      </p:cBhvr>
                                      <p:tavLst>
                                        <p:tav tm="0">
                                          <p:val>
                                            <p:fltVal val="90"/>
                                          </p:val>
                                        </p:tav>
                                        <p:tav tm="100000">
                                          <p:val>
                                            <p:fltVal val="0"/>
                                          </p:val>
                                        </p:tav>
                                      </p:tavLst>
                                    </p:anim>
                                    <p:animEffect transition="in" filter="fade">
                                      <p:cBhvr>
                                        <p:cTn id="10" dur="1000"/>
                                        <p:tgtEl>
                                          <p:spTgt spid="7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026"/>
          <p:cNvSpPr>
            <a:spLocks noGrp="1" noChangeArrowheads="1"/>
          </p:cNvSpPr>
          <p:nvPr>
            <p:ph type="title"/>
          </p:nvPr>
        </p:nvSpPr>
        <p:spPr>
          <a:xfrm>
            <a:off x="863588" y="908720"/>
            <a:ext cx="6369496" cy="487363"/>
          </a:xfrm>
          <a:noFill/>
          <a:ln w="9525">
            <a:noFill/>
            <a:miter lim="800000"/>
          </a:ln>
        </p:spPr>
        <p:txBody>
          <a:bodyPr vert="horz" wrap="square" lIns="91440" tIns="45720" rIns="91440" bIns="45720" numCol="1" anchor="ctr" anchorCtr="0" compatLnSpc="1"/>
          <a:lstStyle/>
          <a:p>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为什么需要</a:t>
            </a:r>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IDS</a:t>
            </a:r>
          </a:p>
        </p:txBody>
      </p:sp>
      <p:sp>
        <p:nvSpPr>
          <p:cNvPr id="8195" name="Rectangle 1027"/>
          <p:cNvSpPr>
            <a:spLocks noGrp="1" noChangeArrowheads="1"/>
          </p:cNvSpPr>
          <p:nvPr>
            <p:ph type="body" idx="1"/>
          </p:nvPr>
        </p:nvSpPr>
        <p:spPr>
          <a:xfrm>
            <a:off x="1259632" y="1772816"/>
            <a:ext cx="6365875" cy="576064"/>
          </a:xfrm>
        </p:spPr>
        <p:txBody>
          <a:bodyPr/>
          <a:lstStyle/>
          <a:p>
            <a:pPr eaLnBrk="1" hangingPunct="1">
              <a:lnSpc>
                <a:spcPts val="3200"/>
              </a:lnSpc>
            </a:pPr>
            <a:r>
              <a:rPr lang="zh-CN" altLang="en-US" sz="3200" b="1" dirty="0">
                <a:effectLst>
                  <a:outerShdw blurRad="38100" dist="38100" dir="2700000" algn="tl">
                    <a:srgbClr val="000000">
                      <a:alpha val="43137"/>
                    </a:srgbClr>
                  </a:outerShdw>
                </a:effectLst>
              </a:rPr>
              <a:t>单一防护产品的弱点</a:t>
            </a:r>
          </a:p>
        </p:txBody>
      </p:sp>
      <p:sp>
        <p:nvSpPr>
          <p:cNvPr id="2" name="矩形 1"/>
          <p:cNvSpPr/>
          <p:nvPr/>
        </p:nvSpPr>
        <p:spPr>
          <a:xfrm>
            <a:off x="1253647" y="2456892"/>
            <a:ext cx="6371859" cy="1438855"/>
          </a:xfrm>
          <a:prstGeom prst="rect">
            <a:avLst/>
          </a:prstGeom>
        </p:spPr>
        <p:txBody>
          <a:bodyPr wrap="square">
            <a:spAutoFit/>
          </a:bodyPr>
          <a:lstStyle/>
          <a:p>
            <a:pPr lvl="1" eaLnBrk="1" hangingPunct="1">
              <a:lnSpc>
                <a:spcPts val="3500"/>
              </a:lnSpc>
              <a:buClr>
                <a:srgbClr val="FFC000"/>
              </a:buClr>
              <a:buFont typeface="Wingdings" panose="05000000000000000000" pitchFamily="2" charset="2"/>
              <a:buChar char="u"/>
            </a:pPr>
            <a:r>
              <a:rPr lang="zh-CN" altLang="en-US" sz="2800" b="1" dirty="0">
                <a:effectLst>
                  <a:outerShdw blurRad="38100" dist="38100" dir="2700000" algn="tl">
                    <a:srgbClr val="000000">
                      <a:alpha val="43137"/>
                    </a:srgbClr>
                  </a:outerShdw>
                </a:effectLst>
                <a:latin typeface="+mn-ea"/>
                <a:ea typeface="+mn-ea"/>
              </a:rPr>
              <a:t>防御方法和防御策略的有限性</a:t>
            </a:r>
          </a:p>
          <a:p>
            <a:pPr lvl="1" eaLnBrk="1" hangingPunct="1">
              <a:lnSpc>
                <a:spcPts val="3500"/>
              </a:lnSpc>
              <a:buClr>
                <a:srgbClr val="FFC000"/>
              </a:buClr>
              <a:buFont typeface="Wingdings" panose="05000000000000000000" pitchFamily="2" charset="2"/>
              <a:buChar char="u"/>
            </a:pPr>
            <a:r>
              <a:rPr lang="zh-CN" altLang="en-US" sz="2800" b="1" dirty="0">
                <a:effectLst>
                  <a:outerShdw blurRad="38100" dist="38100" dir="2700000" algn="tl">
                    <a:srgbClr val="000000">
                      <a:alpha val="43137"/>
                    </a:srgbClr>
                  </a:outerShdw>
                </a:effectLst>
                <a:latin typeface="+mn-ea"/>
                <a:ea typeface="+mn-ea"/>
              </a:rPr>
              <a:t>动态多变的网络环境</a:t>
            </a:r>
          </a:p>
          <a:p>
            <a:pPr lvl="1" eaLnBrk="1" hangingPunct="1">
              <a:lnSpc>
                <a:spcPts val="3500"/>
              </a:lnSpc>
              <a:buClr>
                <a:srgbClr val="FFC000"/>
              </a:buClr>
              <a:buFont typeface="Wingdings" panose="05000000000000000000" pitchFamily="2" charset="2"/>
              <a:buChar char="u"/>
            </a:pPr>
            <a:r>
              <a:rPr lang="zh-CN" altLang="en-US" sz="2800" b="1" dirty="0">
                <a:effectLst>
                  <a:outerShdw blurRad="38100" dist="38100" dir="2700000" algn="tl">
                    <a:srgbClr val="000000">
                      <a:alpha val="43137"/>
                    </a:srgbClr>
                  </a:outerShdw>
                </a:effectLst>
                <a:latin typeface="+mn-ea"/>
                <a:ea typeface="+mn-ea"/>
              </a:rPr>
              <a:t>来自外部和内部的威胁</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up)">
                                      <p:cBhvr>
                                        <p:cTn id="7" dur="500"/>
                                        <p:tgtEl>
                                          <p:spTgt spid="8195">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050"/>
          <p:cNvSpPr>
            <a:spLocks noGrp="1" noChangeArrowheads="1"/>
          </p:cNvSpPr>
          <p:nvPr>
            <p:ph type="title"/>
          </p:nvPr>
        </p:nvSpPr>
        <p:spPr>
          <a:xfrm>
            <a:off x="431540" y="872716"/>
            <a:ext cx="8100900" cy="487363"/>
          </a:xfrm>
          <a:noFill/>
          <a:ln w="9525">
            <a:noFill/>
            <a:miter lim="800000"/>
          </a:ln>
        </p:spPr>
        <p:txBody>
          <a:bodyPr vert="horz" wrap="square" lIns="91440" tIns="45720" rIns="91440" bIns="45720" numCol="1" anchor="ctr" anchorCtr="0" compatLnSpc="1"/>
          <a:lstStyle/>
          <a:p>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为什么需要</a:t>
            </a:r>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IDS</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：网络安全工具的局限性</a:t>
            </a:r>
          </a:p>
        </p:txBody>
      </p:sp>
      <p:graphicFrame>
        <p:nvGraphicFramePr>
          <p:cNvPr id="273446" name="Group 2086"/>
          <p:cNvGraphicFramePr>
            <a:graphicFrameLocks noGrp="1"/>
          </p:cNvGraphicFramePr>
          <p:nvPr>
            <p:ph type="tbl" idx="1"/>
          </p:nvPr>
        </p:nvGraphicFramePr>
        <p:xfrm>
          <a:off x="431540" y="1700808"/>
          <a:ext cx="8352928" cy="3596640"/>
        </p:xfrm>
        <a:graphic>
          <a:graphicData uri="http://schemas.openxmlformats.org/drawingml/2006/table">
            <a:tbl>
              <a:tblPr>
                <a:effectLst>
                  <a:innerShdw blurRad="114300">
                    <a:prstClr val="black"/>
                  </a:innerShdw>
                </a:effectLst>
              </a:tblPr>
              <a:tblGrid>
                <a:gridCol w="1447800">
                  <a:extLst>
                    <a:ext uri="{9D8B030D-6E8A-4147-A177-3AD203B41FA5}">
                      <a16:colId xmlns:a16="http://schemas.microsoft.com/office/drawing/2014/main" val="20000"/>
                    </a:ext>
                  </a:extLst>
                </a:gridCol>
                <a:gridCol w="3530600">
                  <a:extLst>
                    <a:ext uri="{9D8B030D-6E8A-4147-A177-3AD203B41FA5}">
                      <a16:colId xmlns:a16="http://schemas.microsoft.com/office/drawing/2014/main" val="20001"/>
                    </a:ext>
                  </a:extLst>
                </a:gridCol>
                <a:gridCol w="3374528">
                  <a:extLst>
                    <a:ext uri="{9D8B030D-6E8A-4147-A177-3AD203B41FA5}">
                      <a16:colId xmlns:a16="http://schemas.microsoft.com/office/drawing/2014/main" val="20002"/>
                    </a:ext>
                  </a:extLst>
                </a:gridCol>
              </a:tblGrid>
              <a:tr h="2444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tab pos="1798320" algn="l"/>
                        </a:tabLst>
                      </a:pPr>
                      <a:endParaRPr kumimoji="0" lang="zh-CN" altLang="zh-CN" sz="20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tab pos="1798320" algn="l"/>
                        </a:tabLst>
                      </a:pPr>
                      <a:r>
                        <a:rPr kumimoji="0" lang="zh-CN" altLang="en-US" sz="20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优点</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tab pos="1798320" algn="l"/>
                        </a:tabLst>
                      </a:pPr>
                      <a:r>
                        <a:rPr kumimoji="0" lang="zh-CN" altLang="en-US" sz="20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局限性</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0000"/>
                  </a:ext>
                </a:extLst>
              </a:tr>
              <a:tr h="3349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tab pos="1798320" algn="l"/>
                        </a:tabLst>
                      </a:pPr>
                      <a:r>
                        <a:rPr kumimoji="0" lang="zh-CN" altLang="en-US" sz="20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防火墙</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tab pos="1798320" algn="l"/>
                        </a:tabLst>
                      </a:pPr>
                      <a:r>
                        <a:rPr kumimoji="0" lang="zh-CN" altLang="en-US" sz="20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可简化网络管理，产品成熟</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tab pos="1798320" algn="l"/>
                        </a:tabLst>
                      </a:pPr>
                      <a:r>
                        <a:rPr kumimoji="0" lang="zh-CN" altLang="en-US" sz="20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无法处理网络内部的攻击</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0001"/>
                  </a:ext>
                </a:extLst>
              </a:tr>
              <a:tr h="5873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tab pos="1798320" algn="l"/>
                        </a:tabLst>
                      </a:pPr>
                      <a:r>
                        <a:rPr kumimoji="0" lang="en-US" altLang="zh-CN" sz="20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IDS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tab pos="1798320" algn="l"/>
                        </a:tabLst>
                      </a:pPr>
                      <a:r>
                        <a:rPr kumimoji="0" lang="zh-CN" altLang="en-US" sz="20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实时监控网络安全状态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tab pos="1798320" algn="l"/>
                        </a:tabLst>
                      </a:pPr>
                      <a:r>
                        <a:rPr kumimoji="0" lang="zh-CN" altLang="en-US" sz="20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误警率高，缓慢攻击，新的攻击模式</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0002"/>
                  </a:ext>
                </a:extLst>
              </a:tr>
              <a:tr h="5873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tab pos="1798320" algn="l"/>
                        </a:tabLst>
                      </a:pPr>
                      <a:r>
                        <a:rPr kumimoji="0" lang="en-US" altLang="zh-CN" sz="20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Scanner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tab pos="1798320" algn="l"/>
                        </a:tabLst>
                      </a:pPr>
                      <a:r>
                        <a:rPr kumimoji="0" lang="zh-CN" altLang="en-US" sz="20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完全主动式安全工具，能够了解网络现有的安全水平，简单可操作，帮助系统管理员和安全服务人员解决实际问题，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tab pos="1798320" algn="l"/>
                        </a:tabLst>
                      </a:pPr>
                      <a:r>
                        <a:rPr kumimoji="0" lang="zh-CN" altLang="en-US" sz="20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并不能真正了解网络上即时发生的攻击</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0003"/>
                  </a:ext>
                </a:extLst>
              </a:tr>
              <a:tr h="3952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tab pos="1798320" algn="l"/>
                        </a:tabLst>
                      </a:pPr>
                      <a:r>
                        <a:rPr kumimoji="0" lang="en-US" altLang="zh-CN" sz="20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VPN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tab pos="1798320" algn="l"/>
                        </a:tabLst>
                      </a:pPr>
                      <a:r>
                        <a:rPr kumimoji="0" lang="zh-CN" altLang="en-US" sz="20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保护公网上的内部通信</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tab pos="1798320" algn="l"/>
                        </a:tabLst>
                      </a:pPr>
                      <a:r>
                        <a:rPr kumimoji="0" lang="zh-CN" altLang="en-US" sz="20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可视为防火墙上的一个漏洞</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0004"/>
                  </a:ext>
                </a:extLst>
              </a:tr>
              <a:tr h="34131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tab pos="1798320" algn="l"/>
                        </a:tabLst>
                      </a:pPr>
                      <a:r>
                        <a:rPr kumimoji="0" lang="zh-CN" altLang="en-US" sz="20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防病毒</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tab pos="1798320" algn="l"/>
                        </a:tabLst>
                      </a:pPr>
                      <a:r>
                        <a:rPr kumimoji="0" lang="zh-CN" altLang="en-US" sz="20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针对文件与邮件，产品成熟</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tab pos="1798320" algn="l"/>
                        </a:tabLst>
                      </a:pPr>
                      <a:r>
                        <a:rPr kumimoji="0" lang="zh-CN" altLang="en-US" sz="20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功能单一</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0005"/>
                  </a:ext>
                </a:extLst>
              </a:tr>
            </a:tbl>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73446"/>
                                        </p:tgtEl>
                                        <p:attrNameLst>
                                          <p:attrName>style.visibility</p:attrName>
                                        </p:attrNameLst>
                                      </p:cBhvr>
                                      <p:to>
                                        <p:strVal val="visible"/>
                                      </p:to>
                                    </p:set>
                                    <p:animEffect transition="in" filter="wipe(up)">
                                      <p:cBhvr>
                                        <p:cTn id="7" dur="500"/>
                                        <p:tgtEl>
                                          <p:spTgt spid="2734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503548" y="800708"/>
            <a:ext cx="6513512" cy="487363"/>
          </a:xfrm>
          <a:noFill/>
          <a:ln w="9525">
            <a:noFill/>
            <a:miter lim="800000"/>
          </a:ln>
        </p:spPr>
        <p:txBody>
          <a:bodyPr vert="horz" wrap="square" lIns="91440" tIns="45720" rIns="91440" bIns="45720" numCol="1" anchor="ctr" anchorCtr="0" compatLnSpc="1"/>
          <a:lstStyle/>
          <a:p>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为什么需要</a:t>
            </a:r>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IDS</a:t>
            </a:r>
          </a:p>
        </p:txBody>
      </p:sp>
      <p:sp>
        <p:nvSpPr>
          <p:cNvPr id="9219" name="Rectangle 3"/>
          <p:cNvSpPr>
            <a:spLocks noGrp="1" noChangeArrowheads="1"/>
          </p:cNvSpPr>
          <p:nvPr>
            <p:ph type="body" idx="1"/>
          </p:nvPr>
        </p:nvSpPr>
        <p:spPr>
          <a:xfrm>
            <a:off x="755576" y="2204864"/>
            <a:ext cx="8244916" cy="3204356"/>
          </a:xfrm>
        </p:spPr>
        <p:txBody>
          <a:bodyPr/>
          <a:lstStyle/>
          <a:p>
            <a:pPr lvl="1" eaLnBrk="1" hangingPunct="1">
              <a:lnSpc>
                <a:spcPct val="90000"/>
              </a:lnSpc>
              <a:buFont typeface="Wingdings" panose="05000000000000000000" pitchFamily="2" charset="2"/>
              <a:buChar char="u"/>
            </a:pPr>
            <a:r>
              <a:rPr lang="zh-CN" altLang="en-US" sz="2800" b="1" dirty="0">
                <a:effectLst>
                  <a:outerShdw blurRad="38100" dist="38100" dir="2700000" algn="tl">
                    <a:srgbClr val="000000">
                      <a:alpha val="43137"/>
                    </a:srgbClr>
                  </a:outerShdw>
                </a:effectLst>
              </a:rPr>
              <a:t>网络边界的设备，只能抵挡外部來的入侵行为</a:t>
            </a:r>
          </a:p>
          <a:p>
            <a:pPr lvl="1" eaLnBrk="1" hangingPunct="1">
              <a:lnSpc>
                <a:spcPct val="90000"/>
              </a:lnSpc>
              <a:buFont typeface="Wingdings" panose="05000000000000000000" pitchFamily="2" charset="2"/>
              <a:buChar char="u"/>
            </a:pPr>
            <a:r>
              <a:rPr lang="zh-CN" altLang="en-US" sz="2800" b="1" dirty="0">
                <a:effectLst>
                  <a:outerShdw blurRad="38100" dist="38100" dir="2700000" algn="tl">
                    <a:srgbClr val="000000">
                      <a:alpha val="43137"/>
                    </a:srgbClr>
                  </a:outerShdw>
                </a:effectLst>
              </a:rPr>
              <a:t>自身存在弱点，也可能被攻破</a:t>
            </a:r>
          </a:p>
          <a:p>
            <a:pPr lvl="1" eaLnBrk="1" hangingPunct="1">
              <a:lnSpc>
                <a:spcPct val="90000"/>
              </a:lnSpc>
              <a:buFont typeface="Wingdings" panose="05000000000000000000" pitchFamily="2" charset="2"/>
              <a:buChar char="u"/>
            </a:pPr>
            <a:r>
              <a:rPr lang="zh-CN" altLang="en-US" sz="2800" b="1" dirty="0">
                <a:effectLst>
                  <a:outerShdw blurRad="38100" dist="38100" dir="2700000" algn="tl">
                    <a:srgbClr val="000000">
                      <a:alpha val="43137"/>
                    </a:srgbClr>
                  </a:outerShdw>
                </a:effectLst>
              </a:rPr>
              <a:t>对某些攻击保护很弱</a:t>
            </a:r>
          </a:p>
          <a:p>
            <a:pPr lvl="1" eaLnBrk="1" hangingPunct="1">
              <a:lnSpc>
                <a:spcPct val="90000"/>
              </a:lnSpc>
              <a:buFont typeface="Wingdings" panose="05000000000000000000" pitchFamily="2" charset="2"/>
              <a:buChar char="u"/>
            </a:pPr>
            <a:r>
              <a:rPr lang="zh-CN" altLang="en-US" sz="2800" b="1" dirty="0">
                <a:effectLst>
                  <a:outerShdw blurRad="38100" dist="38100" dir="2700000" algn="tl">
                    <a:srgbClr val="000000">
                      <a:alpha val="43137"/>
                    </a:srgbClr>
                  </a:outerShdw>
                </a:effectLst>
              </a:rPr>
              <a:t>即使透过防火墙的保护，合法的使用者仍会非法地使用系统，甚至提升自己的权限</a:t>
            </a:r>
          </a:p>
          <a:p>
            <a:pPr lvl="1" eaLnBrk="1" hangingPunct="1">
              <a:lnSpc>
                <a:spcPct val="90000"/>
              </a:lnSpc>
              <a:buFont typeface="Wingdings" panose="05000000000000000000" pitchFamily="2" charset="2"/>
              <a:buChar char="u"/>
            </a:pPr>
            <a:r>
              <a:rPr lang="zh-CN" altLang="en-US" sz="2800" b="1" dirty="0">
                <a:effectLst>
                  <a:outerShdw blurRad="38100" dist="38100" dir="2700000" algn="tl">
                    <a:srgbClr val="000000">
                      <a:alpha val="43137"/>
                    </a:srgbClr>
                  </a:outerShdw>
                </a:effectLst>
              </a:rPr>
              <a:t>仅能拒绝非法的连接請求，但是对于入侵者的攻击行为仍一无所知</a:t>
            </a:r>
            <a:endParaRPr lang="en-US" altLang="zh-CN" sz="2800" b="1" dirty="0">
              <a:effectLst>
                <a:outerShdw blurRad="38100" dist="38100" dir="2700000" algn="tl">
                  <a:srgbClr val="000000">
                    <a:alpha val="43137"/>
                  </a:srgbClr>
                </a:outerShdw>
              </a:effectLst>
            </a:endParaRPr>
          </a:p>
        </p:txBody>
      </p:sp>
      <p:sp>
        <p:nvSpPr>
          <p:cNvPr id="2" name="矩形 1"/>
          <p:cNvSpPr/>
          <p:nvPr/>
        </p:nvSpPr>
        <p:spPr>
          <a:xfrm>
            <a:off x="863588" y="1592796"/>
            <a:ext cx="2610010" cy="502702"/>
          </a:xfrm>
          <a:prstGeom prst="rect">
            <a:avLst/>
          </a:prstGeom>
        </p:spPr>
        <p:txBody>
          <a:bodyPr wrap="none">
            <a:spAutoFit/>
          </a:bodyPr>
          <a:lstStyle/>
          <a:p>
            <a:pPr marL="342900" indent="-342900">
              <a:lnSpc>
                <a:spcPts val="3200"/>
              </a:lnSpc>
              <a:spcBef>
                <a:spcPct val="20000"/>
              </a:spcBef>
              <a:buClr>
                <a:srgbClr val="3399FF"/>
              </a:buClr>
              <a:buFont typeface="Wingdings" panose="05000000000000000000" pitchFamily="2" charset="2"/>
              <a:buChar char="v"/>
            </a:pPr>
            <a:r>
              <a:rPr lang="zh-CN" altLang="en-US" sz="3200" b="1" dirty="0">
                <a:effectLst>
                  <a:outerShdw blurRad="38100" dist="38100" dir="2700000" algn="tl">
                    <a:srgbClr val="000000">
                      <a:alpha val="43137"/>
                    </a:srgbClr>
                  </a:outerShdw>
                </a:effectLst>
                <a:latin typeface="+mn-lt"/>
                <a:ea typeface="+mn-ea"/>
              </a:rPr>
              <a:t>关于防火墙</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9219">
                                            <p:txEl>
                                              <p:pRg st="0" end="0"/>
                                            </p:txEl>
                                          </p:spTgt>
                                        </p:tgtEl>
                                        <p:attrNameLst>
                                          <p:attrName>style.visibility</p:attrName>
                                        </p:attrNameLst>
                                      </p:cBhvr>
                                      <p:to>
                                        <p:strVal val="visible"/>
                                      </p:to>
                                    </p:set>
                                    <p:animEffect transition="in" filter="wipe(up)">
                                      <p:cBhvr>
                                        <p:cTn id="11" dur="500"/>
                                        <p:tgtEl>
                                          <p:spTgt spid="9219">
                                            <p:txEl>
                                              <p:pRg st="0" end="0"/>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9219">
                                            <p:txEl>
                                              <p:pRg st="1" end="1"/>
                                            </p:txEl>
                                          </p:spTgt>
                                        </p:tgtEl>
                                        <p:attrNameLst>
                                          <p:attrName>style.visibility</p:attrName>
                                        </p:attrNameLst>
                                      </p:cBhvr>
                                      <p:to>
                                        <p:strVal val="visible"/>
                                      </p:to>
                                    </p:set>
                                    <p:animEffect transition="in" filter="wipe(up)">
                                      <p:cBhvr>
                                        <p:cTn id="15" dur="500"/>
                                        <p:tgtEl>
                                          <p:spTgt spid="9219">
                                            <p:txEl>
                                              <p:pRg st="1" end="1"/>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9219">
                                            <p:txEl>
                                              <p:pRg st="2" end="2"/>
                                            </p:txEl>
                                          </p:spTgt>
                                        </p:tgtEl>
                                        <p:attrNameLst>
                                          <p:attrName>style.visibility</p:attrName>
                                        </p:attrNameLst>
                                      </p:cBhvr>
                                      <p:to>
                                        <p:strVal val="visible"/>
                                      </p:to>
                                    </p:set>
                                    <p:animEffect transition="in" filter="wipe(up)">
                                      <p:cBhvr>
                                        <p:cTn id="19" dur="500"/>
                                        <p:tgtEl>
                                          <p:spTgt spid="9219">
                                            <p:txEl>
                                              <p:pRg st="2" end="2"/>
                                            </p:txEl>
                                          </p:spTgt>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9219">
                                            <p:txEl>
                                              <p:pRg st="3" end="3"/>
                                            </p:txEl>
                                          </p:spTgt>
                                        </p:tgtEl>
                                        <p:attrNameLst>
                                          <p:attrName>style.visibility</p:attrName>
                                        </p:attrNameLst>
                                      </p:cBhvr>
                                      <p:to>
                                        <p:strVal val="visible"/>
                                      </p:to>
                                    </p:set>
                                    <p:animEffect transition="in" filter="wipe(up)">
                                      <p:cBhvr>
                                        <p:cTn id="23" dur="500"/>
                                        <p:tgtEl>
                                          <p:spTgt spid="9219">
                                            <p:txEl>
                                              <p:pRg st="3" end="3"/>
                                            </p:txEl>
                                          </p:spTgt>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9219">
                                            <p:txEl>
                                              <p:pRg st="4" end="4"/>
                                            </p:txEl>
                                          </p:spTgt>
                                        </p:tgtEl>
                                        <p:attrNameLst>
                                          <p:attrName>style.visibility</p:attrName>
                                        </p:attrNameLst>
                                      </p:cBhvr>
                                      <p:to>
                                        <p:strVal val="visible"/>
                                      </p:to>
                                    </p:set>
                                    <p:animEffect transition="in" filter="wipe(up)">
                                      <p:cBhvr>
                                        <p:cTn id="27" dur="500"/>
                                        <p:tgtEl>
                                          <p:spTgt spid="92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503548" y="800708"/>
            <a:ext cx="6513512" cy="487363"/>
          </a:xfrm>
          <a:noFill/>
          <a:ln w="9525">
            <a:noFill/>
            <a:miter lim="800000"/>
          </a:ln>
        </p:spPr>
        <p:txBody>
          <a:bodyPr vert="horz" wrap="square" lIns="91440" tIns="45720" rIns="91440" bIns="45720" numCol="1" anchor="ctr" anchorCtr="0" compatLnSpc="1"/>
          <a:lstStyle/>
          <a:p>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为什么需要</a:t>
            </a:r>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IDS</a:t>
            </a:r>
          </a:p>
        </p:txBody>
      </p:sp>
      <p:sp>
        <p:nvSpPr>
          <p:cNvPr id="9219" name="Rectangle 3"/>
          <p:cNvSpPr>
            <a:spLocks noGrp="1" noChangeArrowheads="1"/>
          </p:cNvSpPr>
          <p:nvPr>
            <p:ph type="body" idx="1"/>
          </p:nvPr>
        </p:nvSpPr>
        <p:spPr>
          <a:xfrm>
            <a:off x="449542" y="1520788"/>
            <a:ext cx="8244916" cy="502702"/>
          </a:xfrm>
        </p:spPr>
        <p:txBody>
          <a:bodyPr/>
          <a:lstStyle/>
          <a:p>
            <a:pPr lvl="1" eaLnBrk="1" hangingPunct="1">
              <a:lnSpc>
                <a:spcPct val="90000"/>
              </a:lnSpc>
              <a:buFont typeface="Wingdings" panose="05000000000000000000" pitchFamily="2" charset="2"/>
              <a:buChar char="u"/>
            </a:pPr>
            <a:r>
              <a:rPr lang="zh-CN" altLang="en-US" sz="2800" b="1" dirty="0">
                <a:effectLst>
                  <a:outerShdw blurRad="38100" dist="38100" dir="2700000" algn="tl">
                    <a:srgbClr val="000000">
                      <a:alpha val="43137"/>
                    </a:srgbClr>
                  </a:outerShdw>
                </a:effectLst>
              </a:rPr>
              <a:t>防火墙对某些攻击保护很弱，例如</a:t>
            </a:r>
            <a:r>
              <a:rPr lang="en-US" altLang="zh-CN" sz="2800" b="1" dirty="0">
                <a:effectLst>
                  <a:outerShdw blurRad="38100" dist="38100" dir="2700000" algn="tl">
                    <a:srgbClr val="000000">
                      <a:alpha val="43137"/>
                    </a:srgbClr>
                  </a:outerShdw>
                </a:effectLst>
              </a:rPr>
              <a:t>APT</a:t>
            </a:r>
            <a:r>
              <a:rPr lang="zh-CN" altLang="en-US" sz="2800" b="1" dirty="0">
                <a:effectLst>
                  <a:outerShdw blurRad="38100" dist="38100" dir="2700000" algn="tl">
                    <a:srgbClr val="000000">
                      <a:alpha val="43137"/>
                    </a:srgbClr>
                  </a:outerShdw>
                </a:effectLst>
              </a:rPr>
              <a:t>攻击</a:t>
            </a:r>
          </a:p>
        </p:txBody>
      </p:sp>
      <p:pic>
        <p:nvPicPr>
          <p:cNvPr id="301058" name="Picture 2" descr="APT攻击链">
            <a:extLst>
              <a:ext uri="{FF2B5EF4-FFF2-40B4-BE49-F238E27FC236}">
                <a16:creationId xmlns:a16="http://schemas.microsoft.com/office/drawing/2014/main" id="{CFBD5BFE-3539-C343-B6FD-4B1619190E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145" y="2065598"/>
            <a:ext cx="8153400" cy="1790700"/>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CCFEEA72-3F6E-394B-9E6C-6384FFD1BD15}"/>
              </a:ext>
            </a:extLst>
          </p:cNvPr>
          <p:cNvSpPr txBox="1"/>
          <p:nvPr/>
        </p:nvSpPr>
        <p:spPr>
          <a:xfrm>
            <a:off x="380374" y="3898406"/>
            <a:ext cx="8383252" cy="1791516"/>
          </a:xfrm>
          <a:prstGeom prst="rect">
            <a:avLst/>
          </a:prstGeom>
          <a:noFill/>
        </p:spPr>
        <p:txBody>
          <a:bodyPr wrap="square" rtlCol="0">
            <a:spAutoFit/>
          </a:bodyPr>
          <a:lstStyle/>
          <a:p>
            <a:pPr>
              <a:lnSpc>
                <a:spcPct val="125000"/>
              </a:lnSpc>
            </a:pPr>
            <a:r>
              <a:rPr lang="en" altLang="zh-CN" b="0" i="0" u="none" strike="noStrike" dirty="0">
                <a:solidFill>
                  <a:srgbClr val="494949"/>
                </a:solidFill>
                <a:effectLst/>
                <a:latin typeface="Microsoft YaHei" panose="020B0503020204020204" pitchFamily="34" charset="-122"/>
                <a:ea typeface="Microsoft YaHei" panose="020B0503020204020204" pitchFamily="34" charset="-122"/>
              </a:rPr>
              <a:t>Google Aurora</a:t>
            </a:r>
            <a:r>
              <a:rPr lang="zh-CN" altLang="en-US" b="0" i="0" u="none" strike="noStrike" dirty="0">
                <a:solidFill>
                  <a:srgbClr val="494949"/>
                </a:solidFill>
                <a:effectLst/>
                <a:latin typeface="Microsoft YaHei" panose="020B0503020204020204" pitchFamily="34" charset="-122"/>
                <a:ea typeface="Microsoft YaHei" panose="020B0503020204020204" pitchFamily="34" charset="-122"/>
              </a:rPr>
              <a:t>极光攻击，由网络犯罪团伙精心策划，向</a:t>
            </a:r>
            <a:r>
              <a:rPr lang="en" altLang="zh-CN" b="0" i="0" u="none" strike="noStrike" dirty="0">
                <a:solidFill>
                  <a:srgbClr val="494949"/>
                </a:solidFill>
                <a:effectLst/>
                <a:latin typeface="Microsoft YaHei" panose="020B0503020204020204" pitchFamily="34" charset="-122"/>
                <a:ea typeface="Microsoft YaHei" panose="020B0503020204020204" pitchFamily="34" charset="-122"/>
              </a:rPr>
              <a:t>Google</a:t>
            </a:r>
            <a:r>
              <a:rPr lang="zh-CN" altLang="en" b="0" i="0" u="none" strike="noStrike" dirty="0">
                <a:solidFill>
                  <a:srgbClr val="494949"/>
                </a:solidFill>
                <a:effectLst/>
                <a:latin typeface="Microsoft YaHei" panose="020B0503020204020204" pitchFamily="34" charset="-122"/>
                <a:ea typeface="Microsoft YaHei" panose="020B0503020204020204" pitchFamily="34" charset="-122"/>
              </a:rPr>
              <a:t>员工</a:t>
            </a:r>
            <a:r>
              <a:rPr lang="zh-CN" altLang="en-US" dirty="0">
                <a:solidFill>
                  <a:srgbClr val="494949"/>
                </a:solidFill>
                <a:latin typeface="Microsoft YaHei" panose="020B0503020204020204" pitchFamily="34" charset="-122"/>
                <a:ea typeface="Microsoft YaHei" panose="020B0503020204020204" pitchFamily="34" charset="-122"/>
              </a:rPr>
              <a:t>发送了一条带有恶意连接的消息，当员工点击后，自动向攻击者的</a:t>
            </a:r>
            <a:r>
              <a:rPr lang="en" altLang="zh-CN" dirty="0">
                <a:solidFill>
                  <a:srgbClr val="494949"/>
                </a:solidFill>
                <a:latin typeface="Microsoft YaHei" panose="020B0503020204020204" pitchFamily="34" charset="-122"/>
                <a:ea typeface="Microsoft YaHei" panose="020B0503020204020204" pitchFamily="34" charset="-122"/>
              </a:rPr>
              <a:t>C&amp;C Server</a:t>
            </a:r>
            <a:r>
              <a:rPr lang="zh-CN" altLang="en" dirty="0">
                <a:solidFill>
                  <a:srgbClr val="494949"/>
                </a:solidFill>
                <a:latin typeface="Microsoft YaHei" panose="020B0503020204020204" pitchFamily="34" charset="-122"/>
                <a:ea typeface="Microsoft YaHei" panose="020B0503020204020204" pitchFamily="34" charset="-122"/>
              </a:rPr>
              <a:t>（</a:t>
            </a:r>
            <a:r>
              <a:rPr lang="en" altLang="zh-CN" dirty="0">
                <a:solidFill>
                  <a:srgbClr val="494949"/>
                </a:solidFill>
                <a:latin typeface="Microsoft YaHei" panose="020B0503020204020204" pitchFamily="34" charset="-122"/>
                <a:ea typeface="Microsoft YaHei" panose="020B0503020204020204" pitchFamily="34" charset="-122"/>
              </a:rPr>
              <a:t>Command and Control Server</a:t>
            </a:r>
            <a:r>
              <a:rPr lang="zh-CN" altLang="en" dirty="0">
                <a:solidFill>
                  <a:srgbClr val="494949"/>
                </a:solidFill>
                <a:latin typeface="Microsoft YaHei" panose="020B0503020204020204" pitchFamily="34" charset="-122"/>
                <a:ea typeface="Microsoft YaHei" panose="020B0503020204020204" pitchFamily="34" charset="-122"/>
              </a:rPr>
              <a:t>）</a:t>
            </a:r>
            <a:r>
              <a:rPr lang="zh-CN" altLang="en-US" dirty="0">
                <a:solidFill>
                  <a:srgbClr val="494949"/>
                </a:solidFill>
                <a:latin typeface="Microsoft YaHei" panose="020B0503020204020204" pitchFamily="34" charset="-122"/>
                <a:ea typeface="Microsoft YaHei" panose="020B0503020204020204" pitchFamily="34" charset="-122"/>
              </a:rPr>
              <a:t>发送一个指令，并下载远程控制木马到电脑上，成为“肉鸡”，再利用内网渗透、暴力破解等方式</a:t>
            </a:r>
            <a:r>
              <a:rPr lang="zh-CN" altLang="en-US" b="0" i="0" u="none" strike="noStrike" dirty="0">
                <a:solidFill>
                  <a:srgbClr val="494949"/>
                </a:solidFill>
                <a:effectLst/>
                <a:latin typeface="Microsoft YaHei" panose="020B0503020204020204" pitchFamily="34" charset="-122"/>
                <a:ea typeface="Microsoft YaHei" panose="020B0503020204020204" pitchFamily="34" charset="-122"/>
              </a:rPr>
              <a:t>获取服务器的管理员权限，员工电脑被远程控制长达数月之久，其被窃取的资料数不胜数，造成不可估量的损失。</a:t>
            </a:r>
            <a:endParaRPr kumimoji="1" lang="zh-CN" altLang="en-US" dirty="0"/>
          </a:p>
        </p:txBody>
      </p:sp>
      <p:sp>
        <p:nvSpPr>
          <p:cNvPr id="6" name="文本框 5">
            <a:extLst>
              <a:ext uri="{FF2B5EF4-FFF2-40B4-BE49-F238E27FC236}">
                <a16:creationId xmlns:a16="http://schemas.microsoft.com/office/drawing/2014/main" id="{D247094B-2BD8-344D-9A3D-173DB0393E76}"/>
              </a:ext>
            </a:extLst>
          </p:cNvPr>
          <p:cNvSpPr txBox="1"/>
          <p:nvPr/>
        </p:nvSpPr>
        <p:spPr>
          <a:xfrm>
            <a:off x="6367037" y="1207337"/>
            <a:ext cx="2262158" cy="369332"/>
          </a:xfrm>
          <a:prstGeom prst="rect">
            <a:avLst/>
          </a:prstGeom>
          <a:noFill/>
        </p:spPr>
        <p:txBody>
          <a:bodyPr wrap="none" rtlCol="0">
            <a:spAutoFit/>
          </a:bodyPr>
          <a:lstStyle/>
          <a:p>
            <a:r>
              <a:rPr kumimoji="1" lang="zh-CN" altLang="en-US" dirty="0"/>
              <a:t>（高级持续性威胁）</a:t>
            </a:r>
          </a:p>
        </p:txBody>
      </p:sp>
      <p:sp>
        <p:nvSpPr>
          <p:cNvPr id="7" name="文本框 6">
            <a:extLst>
              <a:ext uri="{FF2B5EF4-FFF2-40B4-BE49-F238E27FC236}">
                <a16:creationId xmlns:a16="http://schemas.microsoft.com/office/drawing/2014/main" id="{2EE654BB-D0AD-914A-8591-292223113728}"/>
              </a:ext>
            </a:extLst>
          </p:cNvPr>
          <p:cNvSpPr txBox="1"/>
          <p:nvPr/>
        </p:nvSpPr>
        <p:spPr>
          <a:xfrm>
            <a:off x="924848" y="5770261"/>
            <a:ext cx="3647152" cy="369332"/>
          </a:xfrm>
          <a:prstGeom prst="rect">
            <a:avLst/>
          </a:prstGeom>
          <a:noFill/>
        </p:spPr>
        <p:txBody>
          <a:bodyPr wrap="none" rtlCol="0">
            <a:spAutoFit/>
          </a:bodyPr>
          <a:lstStyle/>
          <a:p>
            <a:r>
              <a:rPr kumimoji="1" lang="zh-CN" altLang="en-US" dirty="0"/>
              <a:t>关联分析、威胁溯源、攻击链挖掘</a:t>
            </a:r>
          </a:p>
        </p:txBody>
      </p:sp>
    </p:spTree>
    <p:extLst>
      <p:ext uri="{BB962C8B-B14F-4D97-AF65-F5344CB8AC3E}">
        <p14:creationId xmlns:p14="http://schemas.microsoft.com/office/powerpoint/2010/main" val="16349653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wipe(up)">
                                      <p:cBhvr>
                                        <p:cTn id="7" dur="500"/>
                                        <p:tgtEl>
                                          <p:spTgt spid="92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755576" y="872716"/>
            <a:ext cx="6513512" cy="487363"/>
          </a:xfrm>
          <a:noFill/>
          <a:ln w="9525">
            <a:noFill/>
            <a:miter lim="800000"/>
          </a:ln>
        </p:spPr>
        <p:txBody>
          <a:bodyPr vert="horz" wrap="square" lIns="91440" tIns="45720" rIns="91440" bIns="45720" numCol="1" anchor="ctr" anchorCtr="0" compatLnSpc="1"/>
          <a:lstStyle/>
          <a:p>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为什么需要</a:t>
            </a:r>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IDS</a:t>
            </a:r>
          </a:p>
        </p:txBody>
      </p:sp>
      <p:sp>
        <p:nvSpPr>
          <p:cNvPr id="10243" name="Rectangle 3"/>
          <p:cNvSpPr>
            <a:spLocks noGrp="1" noChangeArrowheads="1"/>
          </p:cNvSpPr>
          <p:nvPr>
            <p:ph type="body" idx="1"/>
          </p:nvPr>
        </p:nvSpPr>
        <p:spPr>
          <a:xfrm>
            <a:off x="1435291" y="2456892"/>
            <a:ext cx="6365875" cy="1836204"/>
          </a:xfrm>
        </p:spPr>
        <p:txBody>
          <a:bodyPr/>
          <a:lstStyle/>
          <a:p>
            <a:pPr lvl="1" eaLnBrk="1" hangingPunct="1">
              <a:lnSpc>
                <a:spcPct val="90000"/>
              </a:lnSpc>
              <a:buFont typeface="Wingdings" panose="05000000000000000000" pitchFamily="2" charset="2"/>
              <a:buChar char="u"/>
            </a:pPr>
            <a:r>
              <a:rPr lang="zh-CN" altLang="en-US" sz="2800" b="1" dirty="0">
                <a:effectLst>
                  <a:outerShdw blurRad="38100" dist="38100" dir="2700000" algn="tl">
                    <a:srgbClr val="000000">
                      <a:alpha val="43137"/>
                    </a:srgbClr>
                  </a:outerShdw>
                </a:effectLst>
              </a:rPr>
              <a:t>入侵教程随处可见</a:t>
            </a:r>
          </a:p>
          <a:p>
            <a:pPr lvl="1" eaLnBrk="1" hangingPunct="1">
              <a:lnSpc>
                <a:spcPct val="90000"/>
              </a:lnSpc>
              <a:buFont typeface="Wingdings" panose="05000000000000000000" pitchFamily="2" charset="2"/>
              <a:buChar char="u"/>
            </a:pPr>
            <a:r>
              <a:rPr lang="zh-CN" altLang="en-US" sz="2800" b="1" dirty="0">
                <a:effectLst>
                  <a:outerShdw blurRad="38100" dist="38100" dir="2700000" algn="tl">
                    <a:srgbClr val="000000">
                      <a:alpha val="43137"/>
                    </a:srgbClr>
                  </a:outerShdw>
                </a:effectLst>
              </a:rPr>
              <a:t>各种工具唾手可得</a:t>
            </a:r>
          </a:p>
        </p:txBody>
      </p:sp>
      <p:sp>
        <p:nvSpPr>
          <p:cNvPr id="2" name="矩形 1"/>
          <p:cNvSpPr/>
          <p:nvPr/>
        </p:nvSpPr>
        <p:spPr>
          <a:xfrm>
            <a:off x="1439652" y="1714343"/>
            <a:ext cx="3433953" cy="502702"/>
          </a:xfrm>
          <a:prstGeom prst="rect">
            <a:avLst/>
          </a:prstGeom>
        </p:spPr>
        <p:txBody>
          <a:bodyPr wrap="none">
            <a:spAutoFit/>
          </a:bodyPr>
          <a:lstStyle/>
          <a:p>
            <a:pPr marL="342900" indent="-342900" eaLnBrk="1" hangingPunct="1">
              <a:lnSpc>
                <a:spcPts val="3200"/>
              </a:lnSpc>
              <a:spcBef>
                <a:spcPct val="20000"/>
              </a:spcBef>
              <a:buClr>
                <a:srgbClr val="3399FF"/>
              </a:buClr>
              <a:buFont typeface="Wingdings" panose="05000000000000000000" pitchFamily="2" charset="2"/>
              <a:buChar char="v"/>
            </a:pPr>
            <a:r>
              <a:rPr lang="zh-CN" altLang="en-US" sz="3200" b="1" dirty="0">
                <a:effectLst>
                  <a:outerShdw blurRad="38100" dist="38100" dir="2700000" algn="tl">
                    <a:srgbClr val="000000">
                      <a:alpha val="43137"/>
                    </a:srgbClr>
                  </a:outerShdw>
                </a:effectLst>
                <a:latin typeface="+mn-lt"/>
                <a:ea typeface="+mn-ea"/>
              </a:rPr>
              <a:t>入侵入门很容易</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6CEF8F26-12F2-4C9D-ADB9-4D71A38F7FB5}" type="slidenum">
              <a:rPr lang="zh-CN" altLang="en-US" smtClean="0"/>
              <a:t>12</a:t>
            </a:fld>
            <a:endParaRPr lang="en-US" altLang="zh-CN"/>
          </a:p>
        </p:txBody>
      </p:sp>
      <p:sp>
        <p:nvSpPr>
          <p:cNvPr id="4" name="Rectangle 2"/>
          <p:cNvSpPr txBox="1">
            <a:spLocks noChangeArrowheads="1"/>
          </p:cNvSpPr>
          <p:nvPr/>
        </p:nvSpPr>
        <p:spPr bwMode="gray">
          <a:xfrm>
            <a:off x="671904" y="653870"/>
            <a:ext cx="7793038" cy="918356"/>
          </a:xfrm>
          <a:prstGeom prst="rect">
            <a:avLst/>
          </a:prstGeom>
          <a:noFill/>
          <a:ln w="9525">
            <a:noFill/>
            <a:miter lim="800000"/>
          </a:ln>
        </p:spPr>
        <p:txBody>
          <a:bodyPr vert="horz" wrap="square" lIns="91440" tIns="45720" rIns="91440" bIns="45720" numCol="1" anchor="ctr" anchorCtr="0" compatLnSpc="1"/>
          <a:lstStyle>
            <a:lvl1pPr eaLnBrk="0" hangingPunct="0">
              <a:defRPr sz="3200" b="1">
                <a:solidFill>
                  <a:srgbClr val="0033CC"/>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defRPr>
            </a:lvl1pPr>
            <a:lvl2pPr eaLnBrk="0" hangingPunct="0">
              <a:defRPr sz="3200" b="1">
                <a:solidFill>
                  <a:srgbClr val="FFFFFF"/>
                </a:solidFill>
                <a:latin typeface="黑体" panose="02010609060101010101" pitchFamily="2" charset="-122"/>
                <a:ea typeface="黑体" panose="02010609060101010101" pitchFamily="2" charset="-122"/>
              </a:defRPr>
            </a:lvl2pPr>
            <a:lvl3pPr eaLnBrk="0" hangingPunct="0">
              <a:defRPr sz="3200" b="1">
                <a:solidFill>
                  <a:srgbClr val="FFFFFF"/>
                </a:solidFill>
                <a:latin typeface="黑体" panose="02010609060101010101" pitchFamily="2" charset="-122"/>
                <a:ea typeface="黑体" panose="02010609060101010101" pitchFamily="2" charset="-122"/>
              </a:defRPr>
            </a:lvl3pPr>
            <a:lvl4pPr eaLnBrk="0" hangingPunct="0">
              <a:defRPr sz="3200" b="1">
                <a:solidFill>
                  <a:srgbClr val="FFFFFF"/>
                </a:solidFill>
                <a:latin typeface="黑体" panose="02010609060101010101" pitchFamily="2" charset="-122"/>
                <a:ea typeface="黑体" panose="02010609060101010101" pitchFamily="2" charset="-122"/>
              </a:defRPr>
            </a:lvl4pPr>
            <a:lvl5pPr eaLnBrk="0" hangingPunct="0">
              <a:defRPr sz="3200" b="1">
                <a:solidFill>
                  <a:srgbClr val="FFFFFF"/>
                </a:solidFill>
                <a:latin typeface="黑体" panose="02010609060101010101" pitchFamily="2" charset="-122"/>
                <a:ea typeface="黑体" panose="02010609060101010101" pitchFamily="2" charset="-122"/>
              </a:defRPr>
            </a:lvl5pPr>
            <a:lvl6pPr marL="45720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6pPr>
            <a:lvl7pPr marL="91440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7pPr>
            <a:lvl8pPr marL="137160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8pPr>
            <a:lvl9pPr marL="182880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9pPr>
          </a:lstStyle>
          <a:p>
            <a:r>
              <a:rPr lang="zh-CN" altLang="en-US" dirty="0"/>
              <a:t>为什么需要</a:t>
            </a:r>
            <a:r>
              <a:rPr lang="en-US" altLang="zh-CN" dirty="0"/>
              <a:t>IDS?</a:t>
            </a:r>
          </a:p>
        </p:txBody>
      </p:sp>
      <p:sp>
        <p:nvSpPr>
          <p:cNvPr id="5" name="Rectangle 5"/>
          <p:cNvSpPr>
            <a:spLocks noChangeArrowheads="1"/>
          </p:cNvSpPr>
          <p:nvPr/>
        </p:nvSpPr>
        <p:spPr bwMode="auto">
          <a:xfrm>
            <a:off x="809504" y="1616925"/>
            <a:ext cx="7517838" cy="1733808"/>
          </a:xfrm>
          <a:prstGeom prst="rect">
            <a:avLst/>
          </a:prstGeom>
          <a:noFill/>
          <a:ln w="9525">
            <a:noFill/>
            <a:miter lim="800000"/>
          </a:ln>
        </p:spPr>
        <p:txBody>
          <a:bodyPr wrap="square">
            <a:spAutoFit/>
          </a:bodyPr>
          <a:lstStyle/>
          <a:p>
            <a:pPr marL="342900" indent="-342900" eaLnBrk="0" hangingPunct="0">
              <a:lnSpc>
                <a:spcPts val="3200"/>
              </a:lnSpc>
              <a:spcBef>
                <a:spcPct val="20000"/>
              </a:spcBef>
              <a:buClr>
                <a:srgbClr val="3399FF"/>
              </a:buClr>
              <a:buFont typeface="Wingdings" panose="05000000000000000000" pitchFamily="2" charset="2"/>
              <a:buChar char="v"/>
            </a:pPr>
            <a:r>
              <a:rPr lang="zh-CN" altLang="en-US" sz="2400" b="1" dirty="0">
                <a:effectLst>
                  <a:outerShdw blurRad="38100" dist="38100" dir="2700000" algn="tl">
                    <a:srgbClr val="000000">
                      <a:alpha val="43137"/>
                    </a:srgbClr>
                  </a:outerShdw>
                </a:effectLst>
                <a:latin typeface="+mn-ea"/>
                <a:ea typeface="+mn-ea"/>
              </a:rPr>
              <a:t>传统的信息安全方法采用严格的访问控制和数据加密策略来保护，但在复杂系统中，这些策略是不充分的，它们是系统安全不可缺的部分但不能完全保证系统的安全。</a:t>
            </a:r>
          </a:p>
        </p:txBody>
      </p:sp>
      <p:sp>
        <p:nvSpPr>
          <p:cNvPr id="7" name="Rectangle 5"/>
          <p:cNvSpPr>
            <a:spLocks noChangeArrowheads="1"/>
          </p:cNvSpPr>
          <p:nvPr/>
        </p:nvSpPr>
        <p:spPr bwMode="auto">
          <a:xfrm>
            <a:off x="935596" y="3197269"/>
            <a:ext cx="4896544" cy="715581"/>
          </a:xfrm>
          <a:prstGeom prst="rect">
            <a:avLst/>
          </a:prstGeom>
          <a:noFill/>
          <a:ln w="9525">
            <a:noFill/>
            <a:miter lim="800000"/>
          </a:ln>
        </p:spPr>
        <p:txBody>
          <a:bodyPr wrap="square">
            <a:spAutoFit/>
          </a:bodyPr>
          <a:lstStyle/>
          <a:p>
            <a:pPr eaLnBrk="0" hangingPunct="0">
              <a:lnSpc>
                <a:spcPct val="150000"/>
              </a:lnSpc>
              <a:spcBef>
                <a:spcPct val="20000"/>
              </a:spcBef>
              <a:buClr>
                <a:srgbClr val="3399FF"/>
              </a:buClr>
              <a:buFont typeface="Wingdings" panose="05000000000000000000" pitchFamily="2" charset="2"/>
              <a:buChar char="v"/>
            </a:pPr>
            <a:r>
              <a:rPr lang="zh-CN" altLang="en-US" sz="3200" b="1" dirty="0">
                <a:solidFill>
                  <a:srgbClr val="FF0000"/>
                </a:solidFill>
                <a:effectLst>
                  <a:outerShdw blurRad="38100" dist="38100" dir="2700000" algn="tl">
                    <a:srgbClr val="000000">
                      <a:alpha val="43137"/>
                    </a:srgbClr>
                  </a:outerShdw>
                </a:effectLst>
                <a:latin typeface="+mn-ea"/>
                <a:ea typeface="+mn-ea"/>
              </a:rPr>
              <a:t>安全是过程</a:t>
            </a:r>
          </a:p>
        </p:txBody>
      </p:sp>
      <p:sp>
        <p:nvSpPr>
          <p:cNvPr id="8" name="Rectangle 5"/>
          <p:cNvSpPr>
            <a:spLocks noChangeArrowheads="1"/>
          </p:cNvSpPr>
          <p:nvPr/>
        </p:nvSpPr>
        <p:spPr bwMode="auto">
          <a:xfrm>
            <a:off x="1148071" y="3969060"/>
            <a:ext cx="3351921" cy="646331"/>
          </a:xfrm>
          <a:prstGeom prst="rect">
            <a:avLst/>
          </a:prstGeom>
          <a:noFill/>
          <a:ln w="9525">
            <a:noFill/>
            <a:miter lim="800000"/>
          </a:ln>
        </p:spPr>
        <p:txBody>
          <a:bodyPr wrap="square">
            <a:spAutoFit/>
          </a:bodyPr>
          <a:lstStyle/>
          <a:p>
            <a:pPr eaLnBrk="0" hangingPunct="0">
              <a:lnSpc>
                <a:spcPct val="150000"/>
              </a:lnSpc>
              <a:spcBef>
                <a:spcPct val="20000"/>
              </a:spcBef>
              <a:buClr>
                <a:srgbClr val="3399FF"/>
              </a:buClr>
              <a:buFont typeface="Wingdings" panose="05000000000000000000" pitchFamily="2" charset="2"/>
              <a:buChar char="v"/>
            </a:pPr>
            <a:r>
              <a:rPr lang="zh-CN" altLang="en-US" sz="2400" b="1" dirty="0">
                <a:effectLst>
                  <a:outerShdw blurRad="38100" dist="38100" dir="2700000" algn="tl">
                    <a:srgbClr val="000000">
                      <a:alpha val="43137"/>
                    </a:srgbClr>
                  </a:outerShdw>
                </a:effectLst>
                <a:latin typeface="+mn-ea"/>
                <a:ea typeface="+mn-ea"/>
              </a:rPr>
              <a:t>不仅仅是人！</a:t>
            </a:r>
          </a:p>
        </p:txBody>
      </p:sp>
      <p:sp>
        <p:nvSpPr>
          <p:cNvPr id="9" name="Rectangle 5"/>
          <p:cNvSpPr>
            <a:spLocks noChangeArrowheads="1"/>
          </p:cNvSpPr>
          <p:nvPr/>
        </p:nvSpPr>
        <p:spPr bwMode="auto">
          <a:xfrm>
            <a:off x="1148071" y="4509120"/>
            <a:ext cx="3351921" cy="646331"/>
          </a:xfrm>
          <a:prstGeom prst="rect">
            <a:avLst/>
          </a:prstGeom>
          <a:noFill/>
          <a:ln w="9525">
            <a:noFill/>
            <a:miter lim="800000"/>
          </a:ln>
        </p:spPr>
        <p:txBody>
          <a:bodyPr wrap="square">
            <a:spAutoFit/>
          </a:bodyPr>
          <a:lstStyle/>
          <a:p>
            <a:pPr eaLnBrk="0" hangingPunct="0">
              <a:lnSpc>
                <a:spcPct val="150000"/>
              </a:lnSpc>
              <a:spcBef>
                <a:spcPct val="20000"/>
              </a:spcBef>
              <a:buClr>
                <a:srgbClr val="3399FF"/>
              </a:buClr>
              <a:buFont typeface="Wingdings" panose="05000000000000000000" pitchFamily="2" charset="2"/>
              <a:buChar char="v"/>
            </a:pPr>
            <a:r>
              <a:rPr lang="zh-CN" altLang="en-US" sz="2400" b="1" dirty="0">
                <a:effectLst>
                  <a:outerShdw blurRad="38100" dist="38100" dir="2700000" algn="tl">
                    <a:srgbClr val="000000">
                      <a:alpha val="43137"/>
                    </a:srgbClr>
                  </a:outerShdw>
                </a:effectLst>
                <a:latin typeface="+mn-ea"/>
                <a:ea typeface="+mn-ea"/>
              </a:rPr>
              <a:t>不仅仅是设备！</a:t>
            </a:r>
          </a:p>
        </p:txBody>
      </p:sp>
      <p:sp>
        <p:nvSpPr>
          <p:cNvPr id="10" name="Rectangle 5"/>
          <p:cNvSpPr>
            <a:spLocks noChangeArrowheads="1"/>
          </p:cNvSpPr>
          <p:nvPr/>
        </p:nvSpPr>
        <p:spPr bwMode="auto">
          <a:xfrm>
            <a:off x="1151620" y="5013176"/>
            <a:ext cx="3564396" cy="646331"/>
          </a:xfrm>
          <a:prstGeom prst="rect">
            <a:avLst/>
          </a:prstGeom>
          <a:noFill/>
          <a:ln w="9525">
            <a:noFill/>
            <a:miter lim="800000"/>
          </a:ln>
        </p:spPr>
        <p:txBody>
          <a:bodyPr wrap="square">
            <a:spAutoFit/>
          </a:bodyPr>
          <a:lstStyle/>
          <a:p>
            <a:pPr eaLnBrk="0" hangingPunct="0">
              <a:lnSpc>
                <a:spcPct val="150000"/>
              </a:lnSpc>
              <a:spcBef>
                <a:spcPct val="20000"/>
              </a:spcBef>
              <a:buClr>
                <a:srgbClr val="3399FF"/>
              </a:buClr>
              <a:buFont typeface="Wingdings" panose="05000000000000000000" pitchFamily="2" charset="2"/>
              <a:buChar char="v"/>
            </a:pPr>
            <a:r>
              <a:rPr lang="en-US" altLang="zh-CN" sz="2400" b="1" dirty="0">
                <a:effectLst>
                  <a:outerShdw blurRad="38100" dist="38100" dir="2700000" algn="tl">
                    <a:srgbClr val="000000">
                      <a:alpha val="43137"/>
                    </a:srgbClr>
                  </a:outerShdw>
                </a:effectLst>
                <a:latin typeface="+mn-ea"/>
                <a:ea typeface="+mn-ea"/>
              </a:rPr>
              <a:t>IDS</a:t>
            </a:r>
            <a:r>
              <a:rPr lang="zh-CN" altLang="en-US" sz="2400" b="1" dirty="0">
                <a:effectLst>
                  <a:outerShdw blurRad="38100" dist="38100" dir="2700000" algn="tl">
                    <a:srgbClr val="000000">
                      <a:alpha val="43137"/>
                    </a:srgbClr>
                  </a:outerShdw>
                </a:effectLst>
                <a:latin typeface="+mn-ea"/>
                <a:ea typeface="+mn-ea"/>
              </a:rPr>
              <a:t>是安全的一部分！</a:t>
            </a: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24128" y="3770866"/>
            <a:ext cx="3133725" cy="2314575"/>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2"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1+#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childTnLst>
                          </p:cTn>
                        </p:par>
                        <p:par>
                          <p:cTn id="16" fill="hold">
                            <p:stCondLst>
                              <p:cond delay="500"/>
                            </p:stCondLst>
                            <p:childTnLst>
                              <p:par>
                                <p:cTn id="17" presetID="53" presetClass="entr" presetSubtype="16"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500" fill="hold"/>
                                        <p:tgtEl>
                                          <p:spTgt spid="8"/>
                                        </p:tgtEl>
                                        <p:attrNameLst>
                                          <p:attrName>ppt_w</p:attrName>
                                        </p:attrNameLst>
                                      </p:cBhvr>
                                      <p:tavLst>
                                        <p:tav tm="0">
                                          <p:val>
                                            <p:fltVal val="0"/>
                                          </p:val>
                                        </p:tav>
                                        <p:tav tm="100000">
                                          <p:val>
                                            <p:strVal val="#ppt_w"/>
                                          </p:val>
                                        </p:tav>
                                      </p:tavLst>
                                    </p:anim>
                                    <p:anim calcmode="lin" valueType="num">
                                      <p:cBhvr>
                                        <p:cTn id="20" dur="500" fill="hold"/>
                                        <p:tgtEl>
                                          <p:spTgt spid="8"/>
                                        </p:tgtEl>
                                        <p:attrNameLst>
                                          <p:attrName>ppt_h</p:attrName>
                                        </p:attrNameLst>
                                      </p:cBhvr>
                                      <p:tavLst>
                                        <p:tav tm="0">
                                          <p:val>
                                            <p:fltVal val="0"/>
                                          </p:val>
                                        </p:tav>
                                        <p:tav tm="100000">
                                          <p:val>
                                            <p:strVal val="#ppt_h"/>
                                          </p:val>
                                        </p:tav>
                                      </p:tavLst>
                                    </p:anim>
                                    <p:animEffect transition="in" filter="fade">
                                      <p:cBhvr>
                                        <p:cTn id="21" dur="500"/>
                                        <p:tgtEl>
                                          <p:spTgt spid="8"/>
                                        </p:tgtEl>
                                      </p:cBhvr>
                                    </p:animEffect>
                                  </p:childTnLst>
                                </p:cTn>
                              </p:par>
                            </p:childTnLst>
                          </p:cTn>
                        </p:par>
                        <p:par>
                          <p:cTn id="22" fill="hold">
                            <p:stCondLst>
                              <p:cond delay="1000"/>
                            </p:stCondLst>
                            <p:childTnLst>
                              <p:par>
                                <p:cTn id="23" presetID="53" presetClass="entr" presetSubtype="16"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p:cTn id="25" dur="500" fill="hold"/>
                                        <p:tgtEl>
                                          <p:spTgt spid="9"/>
                                        </p:tgtEl>
                                        <p:attrNameLst>
                                          <p:attrName>ppt_w</p:attrName>
                                        </p:attrNameLst>
                                      </p:cBhvr>
                                      <p:tavLst>
                                        <p:tav tm="0">
                                          <p:val>
                                            <p:fltVal val="0"/>
                                          </p:val>
                                        </p:tav>
                                        <p:tav tm="100000">
                                          <p:val>
                                            <p:strVal val="#ppt_w"/>
                                          </p:val>
                                        </p:tav>
                                      </p:tavLst>
                                    </p:anim>
                                    <p:anim calcmode="lin" valueType="num">
                                      <p:cBhvr>
                                        <p:cTn id="26" dur="500" fill="hold"/>
                                        <p:tgtEl>
                                          <p:spTgt spid="9"/>
                                        </p:tgtEl>
                                        <p:attrNameLst>
                                          <p:attrName>ppt_h</p:attrName>
                                        </p:attrNameLst>
                                      </p:cBhvr>
                                      <p:tavLst>
                                        <p:tav tm="0">
                                          <p:val>
                                            <p:fltVal val="0"/>
                                          </p:val>
                                        </p:tav>
                                        <p:tav tm="100000">
                                          <p:val>
                                            <p:strVal val="#ppt_h"/>
                                          </p:val>
                                        </p:tav>
                                      </p:tavLst>
                                    </p:anim>
                                    <p:animEffect transition="in" filter="fade">
                                      <p:cBhvr>
                                        <p:cTn id="27" dur="500"/>
                                        <p:tgtEl>
                                          <p:spTgt spid="9"/>
                                        </p:tgtEl>
                                      </p:cBhvr>
                                    </p:animEffect>
                                  </p:childTnLst>
                                </p:cTn>
                              </p:par>
                            </p:childTnLst>
                          </p:cTn>
                        </p:par>
                        <p:par>
                          <p:cTn id="28" fill="hold">
                            <p:stCondLst>
                              <p:cond delay="1500"/>
                            </p:stCondLst>
                            <p:childTnLst>
                              <p:par>
                                <p:cTn id="29" presetID="53" presetClass="entr" presetSubtype="16" fill="hold" grpId="0" nodeType="after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p:cTn id="31" dur="500" fill="hold"/>
                                        <p:tgtEl>
                                          <p:spTgt spid="10"/>
                                        </p:tgtEl>
                                        <p:attrNameLst>
                                          <p:attrName>ppt_w</p:attrName>
                                        </p:attrNameLst>
                                      </p:cBhvr>
                                      <p:tavLst>
                                        <p:tav tm="0">
                                          <p:val>
                                            <p:fltVal val="0"/>
                                          </p:val>
                                        </p:tav>
                                        <p:tav tm="100000">
                                          <p:val>
                                            <p:strVal val="#ppt_w"/>
                                          </p:val>
                                        </p:tav>
                                      </p:tavLst>
                                    </p:anim>
                                    <p:anim calcmode="lin" valueType="num">
                                      <p:cBhvr>
                                        <p:cTn id="32" dur="500" fill="hold"/>
                                        <p:tgtEl>
                                          <p:spTgt spid="10"/>
                                        </p:tgtEl>
                                        <p:attrNameLst>
                                          <p:attrName>ppt_h</p:attrName>
                                        </p:attrNameLst>
                                      </p:cBhvr>
                                      <p:tavLst>
                                        <p:tav tm="0">
                                          <p:val>
                                            <p:fltVal val="0"/>
                                          </p:val>
                                        </p:tav>
                                        <p:tav tm="100000">
                                          <p:val>
                                            <p:strVal val="#ppt_h"/>
                                          </p:val>
                                        </p:tav>
                                      </p:tavLst>
                                    </p:anim>
                                    <p:animEffect transition="in" filter="fade">
                                      <p:cBhvr>
                                        <p:cTn id="3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idx="4294967295"/>
          </p:nvPr>
        </p:nvSpPr>
        <p:spPr>
          <a:xfrm>
            <a:off x="503548" y="872716"/>
            <a:ext cx="4648200" cy="584684"/>
          </a:xfrm>
          <a:noFill/>
          <a:ln w="9525">
            <a:noFill/>
            <a:miter lim="800000"/>
          </a:ln>
        </p:spPr>
        <p:txBody>
          <a:bodyPr vert="horz" wrap="square" lIns="91440" tIns="45720" rIns="91440" bIns="45720" numCol="1" anchor="ctr" anchorCtr="0" compatLnSpc="1"/>
          <a:lstStyle/>
          <a:p>
            <a:r>
              <a:rPr lang="zh-CN" altLang="en-US" kern="1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入侵检测技术</a:t>
            </a:r>
          </a:p>
        </p:txBody>
      </p:sp>
      <p:sp>
        <p:nvSpPr>
          <p:cNvPr id="35845" name="Rectangle 5"/>
          <p:cNvSpPr>
            <a:spLocks noChangeArrowheads="1"/>
          </p:cNvSpPr>
          <p:nvPr/>
        </p:nvSpPr>
        <p:spPr bwMode="auto">
          <a:xfrm>
            <a:off x="3635896" y="1534664"/>
            <a:ext cx="4094162" cy="4893647"/>
          </a:xfrm>
          <a:prstGeom prst="rect">
            <a:avLst/>
          </a:prstGeom>
          <a:noFill/>
          <a:ln w="9525">
            <a:noFill/>
            <a:miter lim="800000"/>
          </a:ln>
        </p:spPr>
        <p:txBody>
          <a:bodyPr wrap="square">
            <a:spAutoFit/>
          </a:bodyPr>
          <a:lstStyle/>
          <a:p>
            <a:pPr eaLnBrk="0" hangingPunct="0">
              <a:spcBef>
                <a:spcPct val="20000"/>
              </a:spcBef>
              <a:buClr>
                <a:srgbClr val="3399FF"/>
              </a:buClr>
              <a:buFont typeface="Wingdings" panose="05000000000000000000" pitchFamily="2" charset="2"/>
              <a:buChar char="v"/>
            </a:pPr>
            <a:r>
              <a:rPr lang="zh-CN" altLang="en-US" sz="2400" b="1" dirty="0">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什么是入侵？</a:t>
            </a:r>
          </a:p>
          <a:p>
            <a:pPr eaLnBrk="0" hangingPunct="0">
              <a:spcBef>
                <a:spcPct val="20000"/>
              </a:spcBef>
              <a:buClr>
                <a:srgbClr val="3399FF"/>
              </a:buClr>
              <a:buFont typeface="Wingdings" panose="05000000000000000000" pitchFamily="2" charset="2"/>
              <a:buChar char="v"/>
            </a:pPr>
            <a:r>
              <a:rPr lang="zh-CN" altLang="en-US" sz="2400" b="1" dirty="0">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入侵的分类</a:t>
            </a:r>
          </a:p>
          <a:p>
            <a:pPr eaLnBrk="0" hangingPunct="0">
              <a:spcBef>
                <a:spcPct val="20000"/>
              </a:spcBef>
              <a:buClr>
                <a:srgbClr val="3399FF"/>
              </a:buClr>
              <a:buFont typeface="Wingdings" panose="05000000000000000000" pitchFamily="2" charset="2"/>
              <a:buChar char="v"/>
            </a:pPr>
            <a:r>
              <a:rPr lang="zh-CN" altLang="en-US" sz="2400" b="1" dirty="0">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针对入侵构建防御系统</a:t>
            </a:r>
          </a:p>
          <a:p>
            <a:pPr eaLnBrk="0" hangingPunct="0">
              <a:spcBef>
                <a:spcPct val="20000"/>
              </a:spcBef>
              <a:buClr>
                <a:srgbClr val="3399FF"/>
              </a:buClr>
              <a:buFont typeface="Wingdings" panose="05000000000000000000" pitchFamily="2" charset="2"/>
              <a:buChar char="v"/>
            </a:pPr>
            <a:r>
              <a:rPr lang="zh-CN" altLang="en-US" sz="2400" b="1" dirty="0">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入侵检测系统的作用</a:t>
            </a:r>
          </a:p>
          <a:p>
            <a:pPr eaLnBrk="0" hangingPunct="0">
              <a:spcBef>
                <a:spcPct val="20000"/>
              </a:spcBef>
              <a:buClr>
                <a:srgbClr val="3399FF"/>
              </a:buClr>
              <a:buFont typeface="Wingdings" panose="05000000000000000000" pitchFamily="2" charset="2"/>
              <a:buChar char="v"/>
            </a:pPr>
            <a:r>
              <a:rPr lang="zh-CN" altLang="en-US" sz="2400" b="1" dirty="0">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入侵检测系统的功能</a:t>
            </a:r>
          </a:p>
          <a:p>
            <a:pPr eaLnBrk="0" hangingPunct="0">
              <a:spcBef>
                <a:spcPct val="20000"/>
              </a:spcBef>
              <a:buClr>
                <a:srgbClr val="3399FF"/>
              </a:buClr>
              <a:buFont typeface="Wingdings" panose="05000000000000000000" pitchFamily="2" charset="2"/>
              <a:buChar char="v"/>
            </a:pPr>
            <a:r>
              <a:rPr lang="zh-CN" altLang="en-US" sz="2400" b="1" dirty="0">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入侵检测系统的典型部署</a:t>
            </a:r>
          </a:p>
          <a:p>
            <a:pPr eaLnBrk="0" hangingPunct="0">
              <a:spcBef>
                <a:spcPct val="20000"/>
              </a:spcBef>
              <a:buClr>
                <a:srgbClr val="3399FF"/>
              </a:buClr>
              <a:buFont typeface="Wingdings" panose="05000000000000000000" pitchFamily="2" charset="2"/>
              <a:buChar char="v"/>
            </a:pPr>
            <a:r>
              <a:rPr lang="zh-CN" altLang="en-US" sz="2400" b="1" dirty="0">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入侵检测模型</a:t>
            </a:r>
          </a:p>
          <a:p>
            <a:pPr eaLnBrk="0" hangingPunct="0">
              <a:spcBef>
                <a:spcPct val="20000"/>
              </a:spcBef>
              <a:buClr>
                <a:srgbClr val="3399FF"/>
              </a:buClr>
              <a:buFont typeface="Wingdings" panose="05000000000000000000" pitchFamily="2" charset="2"/>
              <a:buChar char="v"/>
            </a:pPr>
            <a:r>
              <a:rPr lang="zh-CN" altLang="en-US" sz="2400" b="1" dirty="0">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入侵检测系统的分类</a:t>
            </a:r>
          </a:p>
          <a:p>
            <a:pPr eaLnBrk="0" hangingPunct="0">
              <a:spcBef>
                <a:spcPct val="20000"/>
              </a:spcBef>
              <a:buClr>
                <a:srgbClr val="3399FF"/>
              </a:buClr>
              <a:buFont typeface="Wingdings" panose="05000000000000000000" pitchFamily="2" charset="2"/>
              <a:buChar char="v"/>
            </a:pPr>
            <a:r>
              <a:rPr lang="zh-CN" altLang="en-US" sz="2400" b="1" dirty="0">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异常检测</a:t>
            </a:r>
          </a:p>
          <a:p>
            <a:pPr eaLnBrk="0" hangingPunct="0">
              <a:spcBef>
                <a:spcPct val="20000"/>
              </a:spcBef>
              <a:buClr>
                <a:srgbClr val="3399FF"/>
              </a:buClr>
              <a:buFont typeface="Wingdings" panose="05000000000000000000" pitchFamily="2" charset="2"/>
              <a:buChar char="v"/>
            </a:pPr>
            <a:r>
              <a:rPr lang="zh-CN" altLang="en-US" sz="2400" b="1" dirty="0">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特征检测</a:t>
            </a:r>
          </a:p>
          <a:p>
            <a:pPr eaLnBrk="0" hangingPunct="0">
              <a:spcBef>
                <a:spcPct val="20000"/>
              </a:spcBef>
              <a:buClr>
                <a:srgbClr val="3399FF"/>
              </a:buClr>
              <a:buFont typeface="Wingdings" panose="05000000000000000000" pitchFamily="2" charset="2"/>
              <a:buChar char="v"/>
            </a:pPr>
            <a:endParaRPr lang="zh-CN" altLang="en-US" sz="2400" b="1" dirty="0">
              <a:effectLst>
                <a:outerShdw blurRad="38100" dist="38100" dir="2700000" algn="tl">
                  <a:srgbClr val="000000">
                    <a:alpha val="43137"/>
                  </a:srgbClr>
                </a:outerShdw>
              </a:effectLst>
              <a:latin typeface="黑体" panose="02010609060101010101" pitchFamily="2" charset="-122"/>
              <a:ea typeface="黑体" panose="02010609060101010101" pitchFamily="2" charset="-122"/>
            </a:endParaRPr>
          </a:p>
        </p:txBody>
      </p:sp>
      <p:sp>
        <p:nvSpPr>
          <p:cNvPr id="6" name="Rectangle 2"/>
          <p:cNvSpPr txBox="1">
            <a:spLocks noChangeArrowheads="1"/>
          </p:cNvSpPr>
          <p:nvPr/>
        </p:nvSpPr>
        <p:spPr bwMode="gray">
          <a:xfrm>
            <a:off x="1385900" y="3176972"/>
            <a:ext cx="1800200" cy="908720"/>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2pPr>
            <a:lvl3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3pPr>
            <a:lvl4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4pPr>
            <a:lvl5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5pPr>
            <a:lvl6pPr marL="4572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6pPr>
            <a:lvl7pPr marL="9144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7pPr>
            <a:lvl8pPr marL="13716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8pPr>
            <a:lvl9pPr marL="18288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9pPr>
          </a:lstStyle>
          <a:p>
            <a:r>
              <a:rPr lang="zh-CN" altLang="en-US" sz="40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知识点</a:t>
            </a:r>
            <a:endParaRPr lang="zh-CN" altLang="en-US" sz="4000"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 name="左大括号 1"/>
          <p:cNvSpPr/>
          <p:nvPr/>
        </p:nvSpPr>
        <p:spPr>
          <a:xfrm>
            <a:off x="3100704" y="1700808"/>
            <a:ext cx="504056" cy="4032448"/>
          </a:xfrm>
          <a:prstGeom prst="leftBrace">
            <a:avLst/>
          </a:prstGeom>
          <a:solidFill>
            <a:schemeClr val="bg1"/>
          </a:solidFill>
          <a:ln w="57150">
            <a:solidFill>
              <a:srgbClr val="0033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par>
                          <p:cTn id="10" fill="hold">
                            <p:stCondLst>
                              <p:cond delay="500"/>
                            </p:stCondLst>
                            <p:childTnLst>
                              <p:par>
                                <p:cTn id="11" presetID="22" presetClass="entr" presetSubtype="1" fill="hold" grpId="0"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up)">
                                      <p:cBhvr>
                                        <p:cTn id="13" dur="500"/>
                                        <p:tgtEl>
                                          <p:spTgt spid="2"/>
                                        </p:tgtEl>
                                      </p:cBhvr>
                                    </p:animEffect>
                                  </p:childTnLst>
                                </p:cTn>
                              </p:par>
                            </p:childTnLst>
                          </p:cTn>
                        </p:par>
                        <p:par>
                          <p:cTn id="14" fill="hold">
                            <p:stCondLst>
                              <p:cond delay="1000"/>
                            </p:stCondLst>
                            <p:childTnLst>
                              <p:par>
                                <p:cTn id="15" presetID="22" presetClass="entr" presetSubtype="1" fill="hold" grpId="0" nodeType="afterEffect">
                                  <p:stCondLst>
                                    <p:cond delay="0"/>
                                  </p:stCondLst>
                                  <p:childTnLst>
                                    <p:set>
                                      <p:cBhvr>
                                        <p:cTn id="16" dur="1" fill="hold">
                                          <p:stCondLst>
                                            <p:cond delay="0"/>
                                          </p:stCondLst>
                                        </p:cTn>
                                        <p:tgtEl>
                                          <p:spTgt spid="35845"/>
                                        </p:tgtEl>
                                        <p:attrNameLst>
                                          <p:attrName>style.visibility</p:attrName>
                                        </p:attrNameLst>
                                      </p:cBhvr>
                                      <p:to>
                                        <p:strVal val="visible"/>
                                      </p:to>
                                    </p:set>
                                    <p:animEffect transition="in" filter="wipe(up)">
                                      <p:cBhvr>
                                        <p:cTn id="17" dur="500"/>
                                        <p:tgtEl>
                                          <p:spTgt spid="358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5" grpId="0"/>
      <p:bldP spid="6" grpId="0"/>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a:xfrm>
            <a:off x="647564" y="764704"/>
            <a:ext cx="4284476" cy="684076"/>
          </a:xfrm>
          <a:noFill/>
          <a:ln w="9525">
            <a:noFill/>
            <a:miter lim="800000"/>
          </a:ln>
        </p:spPr>
        <p:txBody>
          <a:bodyPr vert="horz" wrap="square" lIns="91440" tIns="45720" rIns="91440" bIns="45720" numCol="1" anchor="ctr" anchorCtr="0" compatLnSpc="1"/>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8.1 </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什么是入侵？</a:t>
            </a:r>
            <a:endPar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7893" name="Rectangle 5"/>
          <p:cNvSpPr>
            <a:spLocks noChangeArrowheads="1"/>
          </p:cNvSpPr>
          <p:nvPr/>
        </p:nvSpPr>
        <p:spPr bwMode="auto">
          <a:xfrm>
            <a:off x="647564" y="1628800"/>
            <a:ext cx="7955067" cy="1733808"/>
          </a:xfrm>
          <a:prstGeom prst="rect">
            <a:avLst/>
          </a:prstGeom>
          <a:noFill/>
          <a:ln w="9525">
            <a:noFill/>
            <a:miter lim="800000"/>
          </a:ln>
        </p:spPr>
        <p:txBody>
          <a:bodyPr wrap="square">
            <a:spAutoFit/>
          </a:bodyPr>
          <a:lstStyle/>
          <a:p>
            <a:pPr marL="342900" indent="-342900" eaLnBrk="0" hangingPunct="0">
              <a:lnSpc>
                <a:spcPts val="3200"/>
              </a:lnSpc>
              <a:spcBef>
                <a:spcPct val="20000"/>
              </a:spcBef>
              <a:buClr>
                <a:srgbClr val="3399FF"/>
              </a:buClr>
              <a:buFont typeface="Wingdings" panose="05000000000000000000" pitchFamily="2" charset="2"/>
              <a:buChar char="v"/>
            </a:pPr>
            <a:r>
              <a:rPr lang="zh-CN" altLang="en-AU" sz="28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入侵</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Intrusion</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r>
              <a:rPr lang="zh-CN" altLang="en-AU"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是指在</a:t>
            </a:r>
            <a:r>
              <a:rPr lang="zh-CN" altLang="en-AU"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非法或未经授权</a:t>
            </a:r>
            <a:r>
              <a:rPr lang="zh-CN" altLang="en-AU"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的情况下，试图存取或处理系统或网络中的信息，或破坏系统或网络正常运行，致使系统或网络的</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机密性、完整行和可用性受到破坏</a:t>
            </a:r>
            <a:r>
              <a:rPr lang="zh-CN" altLang="en-AU"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的故意行为。</a:t>
            </a:r>
          </a:p>
        </p:txBody>
      </p:sp>
      <p:pic>
        <p:nvPicPr>
          <p:cNvPr id="3" name="图片 2"/>
          <p:cNvPicPr>
            <a:picLocks noChangeAspect="1"/>
          </p:cNvPicPr>
          <p:nvPr/>
        </p:nvPicPr>
        <p:blipFill>
          <a:blip r:embed="rId3"/>
          <a:stretch>
            <a:fillRect/>
          </a:stretch>
        </p:blipFill>
        <p:spPr>
          <a:xfrm>
            <a:off x="5724128" y="3212976"/>
            <a:ext cx="3191247" cy="2988059"/>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7893"/>
                                        </p:tgtEl>
                                        <p:attrNameLst>
                                          <p:attrName>style.visibility</p:attrName>
                                        </p:attrNameLst>
                                      </p:cBhvr>
                                      <p:to>
                                        <p:strVal val="visible"/>
                                      </p:to>
                                    </p:set>
                                    <p:anim calcmode="lin" valueType="num">
                                      <p:cBhvr>
                                        <p:cTn id="7" dur="500" fill="hold"/>
                                        <p:tgtEl>
                                          <p:spTgt spid="37893"/>
                                        </p:tgtEl>
                                        <p:attrNameLst>
                                          <p:attrName>ppt_w</p:attrName>
                                        </p:attrNameLst>
                                      </p:cBhvr>
                                      <p:tavLst>
                                        <p:tav tm="0">
                                          <p:val>
                                            <p:fltVal val="0"/>
                                          </p:val>
                                        </p:tav>
                                        <p:tav tm="100000">
                                          <p:val>
                                            <p:strVal val="#ppt_w"/>
                                          </p:val>
                                        </p:tav>
                                      </p:tavLst>
                                    </p:anim>
                                    <p:anim calcmode="lin" valueType="num">
                                      <p:cBhvr>
                                        <p:cTn id="8" dur="500" fill="hold"/>
                                        <p:tgtEl>
                                          <p:spTgt spid="37893"/>
                                        </p:tgtEl>
                                        <p:attrNameLst>
                                          <p:attrName>ppt_h</p:attrName>
                                        </p:attrNameLst>
                                      </p:cBhvr>
                                      <p:tavLst>
                                        <p:tav tm="0">
                                          <p:val>
                                            <p:fltVal val="0"/>
                                          </p:val>
                                        </p:tav>
                                        <p:tav tm="100000">
                                          <p:val>
                                            <p:strVal val="#ppt_h"/>
                                          </p:val>
                                        </p:tav>
                                      </p:tavLst>
                                    </p:anim>
                                    <p:animEffect transition="in" filter="fade">
                                      <p:cBhvr>
                                        <p:cTn id="9" dur="500"/>
                                        <p:tgtEl>
                                          <p:spTgt spid="378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idx="4294967295"/>
          </p:nvPr>
        </p:nvSpPr>
        <p:spPr>
          <a:xfrm>
            <a:off x="460098" y="779689"/>
            <a:ext cx="4183340" cy="669091"/>
          </a:xfrm>
          <a:noFill/>
          <a:ln w="9525">
            <a:noFill/>
            <a:miter lim="800000"/>
          </a:ln>
        </p:spPr>
        <p:txBody>
          <a:bodyPr vert="horz" wrap="square" lIns="91440" tIns="45720" rIns="91440" bIns="45720" numCol="1" anchor="ctr" anchorCtr="0" compatLnSpc="1"/>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8.2 </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入侵的分类</a:t>
            </a:r>
            <a:endPar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8917" name="Rectangle 5"/>
          <p:cNvSpPr>
            <a:spLocks noChangeArrowheads="1"/>
          </p:cNvSpPr>
          <p:nvPr/>
        </p:nvSpPr>
        <p:spPr bwMode="auto">
          <a:xfrm>
            <a:off x="935038" y="1628775"/>
            <a:ext cx="6985000" cy="1274195"/>
          </a:xfrm>
          <a:prstGeom prst="rect">
            <a:avLst/>
          </a:prstGeom>
          <a:noFill/>
          <a:ln w="9525">
            <a:noFill/>
            <a:miter lim="800000"/>
          </a:ln>
        </p:spPr>
        <p:txBody>
          <a:bodyPr>
            <a:spAutoFit/>
          </a:bodyPr>
          <a:lstStyle/>
          <a:p>
            <a:pPr eaLnBrk="0" hangingPunct="0">
              <a:spcBef>
                <a:spcPct val="20000"/>
              </a:spcBef>
              <a:buClr>
                <a:srgbClr val="3399FF"/>
              </a:buClr>
              <a:buFont typeface="Wingdings" panose="05000000000000000000" pitchFamily="2" charset="2"/>
              <a:buChar char="v"/>
            </a:pPr>
            <a:endParaRPr lang="en-AU" altLang="zh-CN" sz="2400" b="1">
              <a:latin typeface="+mn-ea"/>
              <a:ea typeface="+mn-ea"/>
            </a:endParaRPr>
          </a:p>
          <a:p>
            <a:pPr algn="just">
              <a:spcBef>
                <a:spcPct val="20000"/>
              </a:spcBef>
            </a:pPr>
            <a:endParaRPr lang="zh-CN" altLang="en-US" sz="2400" b="1">
              <a:latin typeface="+mn-ea"/>
              <a:ea typeface="+mn-ea"/>
            </a:endParaRPr>
          </a:p>
          <a:p>
            <a:r>
              <a:rPr lang="zh-CN" altLang="en-US" sz="2400" b="1">
                <a:latin typeface="+mn-ea"/>
                <a:ea typeface="+mn-ea"/>
              </a:rPr>
              <a:t>    </a:t>
            </a:r>
          </a:p>
        </p:txBody>
      </p:sp>
      <p:sp>
        <p:nvSpPr>
          <p:cNvPr id="38918" name="Rectangle 6"/>
          <p:cNvSpPr>
            <a:spLocks noChangeArrowheads="1"/>
          </p:cNvSpPr>
          <p:nvPr/>
        </p:nvSpPr>
        <p:spPr bwMode="auto">
          <a:xfrm>
            <a:off x="468313" y="1628775"/>
            <a:ext cx="4038600" cy="3204381"/>
          </a:xfrm>
          <a:prstGeom prst="rect">
            <a:avLst/>
          </a:prstGeom>
          <a:noFill/>
          <a:ln w="9525">
            <a:noFill/>
            <a:miter lim="800000"/>
          </a:ln>
        </p:spPr>
        <p:txBody>
          <a:bodyPr/>
          <a:lstStyle/>
          <a:p>
            <a:pPr marL="342900" indent="-342900" eaLnBrk="0" hangingPunct="0">
              <a:lnSpc>
                <a:spcPts val="3500"/>
              </a:lnSpc>
              <a:spcBef>
                <a:spcPct val="20000"/>
              </a:spcBef>
              <a:buClr>
                <a:srgbClr val="3399FF"/>
              </a:buClr>
              <a:buFont typeface="Wingdings" panose="05000000000000000000" pitchFamily="2" charset="2"/>
              <a:buChar char="v"/>
            </a:pPr>
            <a:r>
              <a:rPr lang="zh-CN" altLang="en-AU" sz="2400" b="1" dirty="0">
                <a:effectLst>
                  <a:outerShdw blurRad="38100" dist="38100" dir="2700000" algn="tl">
                    <a:srgbClr val="000000">
                      <a:alpha val="43137"/>
                    </a:srgbClr>
                  </a:outerShdw>
                </a:effectLst>
                <a:latin typeface="+mn-ea"/>
                <a:ea typeface="+mn-ea"/>
              </a:rPr>
              <a:t>攻击的类型：</a:t>
            </a:r>
            <a:endParaRPr lang="en-AU" altLang="zh-CN" sz="2400" b="1" dirty="0">
              <a:effectLst>
                <a:outerShdw blurRad="38100" dist="38100" dir="2700000" algn="tl">
                  <a:srgbClr val="000000">
                    <a:alpha val="43137"/>
                  </a:srgbClr>
                </a:outerShdw>
              </a:effectLst>
              <a:latin typeface="+mn-ea"/>
              <a:ea typeface="+mn-ea"/>
            </a:endParaRPr>
          </a:p>
          <a:p>
            <a:pPr marL="742950" lvl="1" indent="-285750" eaLnBrk="0" hangingPunct="0">
              <a:lnSpc>
                <a:spcPts val="3500"/>
              </a:lnSpc>
              <a:spcBef>
                <a:spcPct val="20000"/>
              </a:spcBef>
              <a:buClr>
                <a:srgbClr val="FF9900"/>
              </a:buClr>
              <a:buFont typeface="Wingdings" panose="05000000000000000000" pitchFamily="2" charset="2"/>
              <a:buChar char="§"/>
            </a:pPr>
            <a:r>
              <a:rPr lang="zh-CN" altLang="en-AU" sz="2400" b="1" dirty="0">
                <a:effectLst>
                  <a:outerShdw blurRad="38100" dist="38100" dir="2700000" algn="tl">
                    <a:srgbClr val="000000">
                      <a:alpha val="43137"/>
                    </a:srgbClr>
                  </a:outerShdw>
                </a:effectLst>
                <a:latin typeface="+mn-ea"/>
                <a:ea typeface="+mn-ea"/>
              </a:rPr>
              <a:t>网络嗅探</a:t>
            </a:r>
          </a:p>
          <a:p>
            <a:pPr marL="742950" lvl="1" indent="-285750" eaLnBrk="0" hangingPunct="0">
              <a:lnSpc>
                <a:spcPts val="3500"/>
              </a:lnSpc>
              <a:spcBef>
                <a:spcPct val="20000"/>
              </a:spcBef>
              <a:buClr>
                <a:srgbClr val="FF9900"/>
              </a:buClr>
              <a:buFont typeface="Wingdings" panose="05000000000000000000" pitchFamily="2" charset="2"/>
              <a:buChar char="§"/>
            </a:pPr>
            <a:r>
              <a:rPr lang="zh-CN" altLang="en-AU" sz="2400" b="1" dirty="0">
                <a:effectLst>
                  <a:outerShdw blurRad="38100" dist="38100" dir="2700000" algn="tl">
                    <a:srgbClr val="000000">
                      <a:alpha val="43137"/>
                    </a:srgbClr>
                  </a:outerShdw>
                </a:effectLst>
                <a:latin typeface="+mn-ea"/>
                <a:ea typeface="+mn-ea"/>
              </a:rPr>
              <a:t>利用</a:t>
            </a:r>
          </a:p>
          <a:p>
            <a:pPr marL="1143000" lvl="2" indent="-228600" eaLnBrk="0" hangingPunct="0">
              <a:lnSpc>
                <a:spcPts val="3500"/>
              </a:lnSpc>
              <a:spcBef>
                <a:spcPct val="20000"/>
              </a:spcBef>
              <a:buClr>
                <a:schemeClr val="accent2"/>
              </a:buClr>
              <a:buFontTx/>
              <a:buChar char="•"/>
            </a:pPr>
            <a:r>
              <a:rPr lang="zh-CN" altLang="en-AU" sz="2400" b="1" dirty="0">
                <a:effectLst>
                  <a:outerShdw blurRad="38100" dist="38100" dir="2700000" algn="tl">
                    <a:srgbClr val="000000">
                      <a:alpha val="43137"/>
                    </a:srgbClr>
                  </a:outerShdw>
                </a:effectLst>
                <a:latin typeface="+mn-ea"/>
                <a:ea typeface="+mn-ea"/>
              </a:rPr>
              <a:t>设计缺陷</a:t>
            </a:r>
          </a:p>
          <a:p>
            <a:pPr marL="1143000" lvl="2" indent="-228600" eaLnBrk="0" hangingPunct="0">
              <a:lnSpc>
                <a:spcPts val="3500"/>
              </a:lnSpc>
              <a:spcBef>
                <a:spcPct val="20000"/>
              </a:spcBef>
              <a:buClr>
                <a:schemeClr val="accent2"/>
              </a:buClr>
              <a:buFontTx/>
              <a:buChar char="•"/>
            </a:pPr>
            <a:r>
              <a:rPr lang="zh-CN" altLang="en-AU" sz="2400" b="1" dirty="0">
                <a:effectLst>
                  <a:outerShdw blurRad="38100" dist="38100" dir="2700000" algn="tl">
                    <a:srgbClr val="000000">
                      <a:alpha val="43137"/>
                    </a:srgbClr>
                  </a:outerShdw>
                </a:effectLst>
                <a:latin typeface="+mn-ea"/>
                <a:ea typeface="+mn-ea"/>
              </a:rPr>
              <a:t>实现缺陷</a:t>
            </a:r>
          </a:p>
          <a:p>
            <a:pPr marL="742950" lvl="1" indent="-285750" eaLnBrk="0" hangingPunct="0">
              <a:lnSpc>
                <a:spcPts val="3500"/>
              </a:lnSpc>
              <a:spcBef>
                <a:spcPct val="20000"/>
              </a:spcBef>
              <a:buClr>
                <a:srgbClr val="FF9900"/>
              </a:buClr>
              <a:buFont typeface="Wingdings" panose="05000000000000000000" pitchFamily="2" charset="2"/>
              <a:buChar char="§"/>
            </a:pPr>
            <a:r>
              <a:rPr lang="zh-CN" altLang="en-AU" sz="2400" b="1" dirty="0">
                <a:effectLst>
                  <a:outerShdw blurRad="38100" dist="38100" dir="2700000" algn="tl">
                    <a:srgbClr val="000000">
                      <a:alpha val="43137"/>
                    </a:srgbClr>
                  </a:outerShdw>
                </a:effectLst>
                <a:latin typeface="+mn-ea"/>
                <a:ea typeface="+mn-ea"/>
              </a:rPr>
              <a:t>拒绝服务</a:t>
            </a:r>
          </a:p>
        </p:txBody>
      </p:sp>
      <p:sp>
        <p:nvSpPr>
          <p:cNvPr id="38919" name="Rectangle 7"/>
          <p:cNvSpPr>
            <a:spLocks noChangeArrowheads="1"/>
          </p:cNvSpPr>
          <p:nvPr/>
        </p:nvSpPr>
        <p:spPr bwMode="auto">
          <a:xfrm>
            <a:off x="4643438" y="1628775"/>
            <a:ext cx="4038600" cy="2808337"/>
          </a:xfrm>
          <a:prstGeom prst="rect">
            <a:avLst/>
          </a:prstGeom>
          <a:noFill/>
          <a:ln w="9525">
            <a:noFill/>
            <a:miter lim="800000"/>
          </a:ln>
        </p:spPr>
        <p:txBody>
          <a:bodyPr/>
          <a:lstStyle/>
          <a:p>
            <a:pPr marL="342900" indent="-342900" eaLnBrk="0" hangingPunct="0">
              <a:lnSpc>
                <a:spcPct val="150000"/>
              </a:lnSpc>
              <a:spcBef>
                <a:spcPct val="20000"/>
              </a:spcBef>
              <a:buClr>
                <a:srgbClr val="3399FF"/>
              </a:buClr>
              <a:buFont typeface="Wingdings" panose="05000000000000000000" pitchFamily="2" charset="2"/>
              <a:buChar char="v"/>
            </a:pPr>
            <a:r>
              <a:rPr lang="zh-CN" altLang="en-AU" sz="2400" b="1" dirty="0">
                <a:effectLst>
                  <a:outerShdw blurRad="38100" dist="38100" dir="2700000" algn="tl">
                    <a:srgbClr val="000000">
                      <a:alpha val="43137"/>
                    </a:srgbClr>
                  </a:outerShdw>
                </a:effectLst>
                <a:latin typeface="+mn-ea"/>
                <a:ea typeface="+mn-ea"/>
              </a:rPr>
              <a:t>攻击针对以下方面：</a:t>
            </a:r>
          </a:p>
          <a:p>
            <a:pPr marL="742950" lvl="1" indent="-285750" eaLnBrk="0" hangingPunct="0">
              <a:lnSpc>
                <a:spcPts val="3500"/>
              </a:lnSpc>
              <a:spcBef>
                <a:spcPct val="20000"/>
              </a:spcBef>
              <a:buClr>
                <a:srgbClr val="FF9900"/>
              </a:buClr>
              <a:buFont typeface="Wingdings" panose="05000000000000000000" pitchFamily="2" charset="2"/>
              <a:buChar char="§"/>
            </a:pPr>
            <a:r>
              <a:rPr lang="zh-CN" altLang="en-AU" sz="2400" b="1" dirty="0">
                <a:effectLst>
                  <a:outerShdw blurRad="38100" dist="38100" dir="2700000" algn="tl">
                    <a:srgbClr val="000000">
                      <a:alpha val="43137"/>
                    </a:srgbClr>
                  </a:outerShdw>
                </a:effectLst>
                <a:latin typeface="+mn-ea"/>
                <a:ea typeface="+mn-ea"/>
              </a:rPr>
              <a:t>网络</a:t>
            </a:r>
          </a:p>
          <a:p>
            <a:pPr marL="742950" lvl="1" indent="-285750" eaLnBrk="0" hangingPunct="0">
              <a:lnSpc>
                <a:spcPts val="3500"/>
              </a:lnSpc>
              <a:spcBef>
                <a:spcPct val="20000"/>
              </a:spcBef>
              <a:buClr>
                <a:srgbClr val="FF9900"/>
              </a:buClr>
              <a:buFont typeface="Wingdings" panose="05000000000000000000" pitchFamily="2" charset="2"/>
              <a:buChar char="§"/>
            </a:pPr>
            <a:r>
              <a:rPr lang="zh-CN" altLang="en-AU" sz="2400" b="1" dirty="0">
                <a:effectLst>
                  <a:outerShdw blurRad="38100" dist="38100" dir="2700000" algn="tl">
                    <a:srgbClr val="000000">
                      <a:alpha val="43137"/>
                    </a:srgbClr>
                  </a:outerShdw>
                </a:effectLst>
                <a:latin typeface="+mn-ea"/>
                <a:ea typeface="+mn-ea"/>
              </a:rPr>
              <a:t>操作系统</a:t>
            </a:r>
          </a:p>
          <a:p>
            <a:pPr marL="742950" lvl="1" indent="-285750" eaLnBrk="0" hangingPunct="0">
              <a:lnSpc>
                <a:spcPts val="3500"/>
              </a:lnSpc>
              <a:spcBef>
                <a:spcPct val="20000"/>
              </a:spcBef>
              <a:buClr>
                <a:srgbClr val="FF9900"/>
              </a:buClr>
              <a:buFont typeface="Wingdings" panose="05000000000000000000" pitchFamily="2" charset="2"/>
              <a:buChar char="§"/>
            </a:pPr>
            <a:r>
              <a:rPr lang="zh-CN" altLang="en-AU" sz="2400" b="1" dirty="0">
                <a:effectLst>
                  <a:outerShdw blurRad="38100" dist="38100" dir="2700000" algn="tl">
                    <a:srgbClr val="000000">
                      <a:alpha val="43137"/>
                    </a:srgbClr>
                  </a:outerShdw>
                </a:effectLst>
                <a:latin typeface="+mn-ea"/>
                <a:ea typeface="+mn-ea"/>
              </a:rPr>
              <a:t>应用</a:t>
            </a:r>
            <a:endParaRPr lang="en-AU" altLang="zh-CN" sz="2400" b="1" dirty="0">
              <a:effectLst>
                <a:outerShdw blurRad="38100" dist="38100" dir="2700000" algn="tl">
                  <a:srgbClr val="000000">
                    <a:alpha val="43137"/>
                  </a:srgbClr>
                </a:outerShdw>
              </a:effectLst>
              <a:latin typeface="+mn-ea"/>
              <a:ea typeface="+mn-ea"/>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204" y="1616909"/>
            <a:ext cx="8361264" cy="4022564"/>
          </a:xfrm>
          <a:prstGeom prst="rect">
            <a:avLst/>
          </a:prstGeom>
          <a:solidFill>
            <a:schemeClr val="tx2">
              <a:lumMod val="20000"/>
              <a:lumOff val="80000"/>
            </a:schemeClr>
          </a:solidFill>
          <a:ln w="38100">
            <a:solidFill>
              <a:srgbClr val="FF0000"/>
            </a:solidFill>
          </a:ln>
          <a:effectLst>
            <a:outerShdw blurRad="63500" sx="102000" sy="102000" algn="ctr" rotWithShape="0">
              <a:prstClr val="black">
                <a:alpha val="40000"/>
              </a:prstClr>
            </a:outerShdw>
          </a:effec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8918"/>
                                        </p:tgtEl>
                                        <p:attrNameLst>
                                          <p:attrName>style.visibility</p:attrName>
                                        </p:attrNameLst>
                                      </p:cBhvr>
                                      <p:to>
                                        <p:strVal val="visible"/>
                                      </p:to>
                                    </p:set>
                                    <p:animEffect transition="in" filter="wipe(up)">
                                      <p:cBhvr>
                                        <p:cTn id="7" dur="500"/>
                                        <p:tgtEl>
                                          <p:spTgt spid="38918"/>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8919"/>
                                        </p:tgtEl>
                                        <p:attrNameLst>
                                          <p:attrName>style.visibility</p:attrName>
                                        </p:attrNameLst>
                                      </p:cBhvr>
                                      <p:to>
                                        <p:strVal val="visible"/>
                                      </p:to>
                                    </p:set>
                                    <p:animEffect transition="in" filter="wipe(up)">
                                      <p:cBhvr>
                                        <p:cTn id="11" dur="500"/>
                                        <p:tgtEl>
                                          <p:spTgt spid="3891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up)">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8" grpId="0"/>
      <p:bldP spid="3891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gray">
          <a:xfrm>
            <a:off x="503548" y="764704"/>
            <a:ext cx="7793038" cy="626597"/>
          </a:xfrm>
          <a:prstGeom prst="rect">
            <a:avLst/>
          </a:prstGeom>
          <a:noFill/>
          <a:ln w="9525">
            <a:noFill/>
            <a:miter lim="800000"/>
          </a:ln>
        </p:spPr>
        <p:txBody>
          <a:bodyPr vert="horz" wrap="square" lIns="91440" tIns="45720" rIns="91440" bIns="45720" numCol="1" anchor="ctr" anchorCtr="0" compatLnSpc="1"/>
          <a:lstStyle>
            <a:lvl1pPr eaLnBrk="0" hangingPunct="0">
              <a:defRPr sz="3200" b="1">
                <a:solidFill>
                  <a:srgbClr val="0033CC"/>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defRPr>
            </a:lvl1pPr>
            <a:lvl2pPr eaLnBrk="0" hangingPunct="0">
              <a:defRPr sz="3200" b="1">
                <a:solidFill>
                  <a:srgbClr val="FFFFFF"/>
                </a:solidFill>
                <a:latin typeface="黑体" panose="02010609060101010101" pitchFamily="2" charset="-122"/>
                <a:ea typeface="黑体" panose="02010609060101010101" pitchFamily="2" charset="-122"/>
              </a:defRPr>
            </a:lvl2pPr>
            <a:lvl3pPr eaLnBrk="0" hangingPunct="0">
              <a:defRPr sz="3200" b="1">
                <a:solidFill>
                  <a:srgbClr val="FFFFFF"/>
                </a:solidFill>
                <a:latin typeface="黑体" panose="02010609060101010101" pitchFamily="2" charset="-122"/>
                <a:ea typeface="黑体" panose="02010609060101010101" pitchFamily="2" charset="-122"/>
              </a:defRPr>
            </a:lvl3pPr>
            <a:lvl4pPr eaLnBrk="0" hangingPunct="0">
              <a:defRPr sz="3200" b="1">
                <a:solidFill>
                  <a:srgbClr val="FFFFFF"/>
                </a:solidFill>
                <a:latin typeface="黑体" panose="02010609060101010101" pitchFamily="2" charset="-122"/>
                <a:ea typeface="黑体" panose="02010609060101010101" pitchFamily="2" charset="-122"/>
              </a:defRPr>
            </a:lvl4pPr>
            <a:lvl5pPr eaLnBrk="0" hangingPunct="0">
              <a:defRPr sz="3200" b="1">
                <a:solidFill>
                  <a:srgbClr val="FFFFFF"/>
                </a:solidFill>
                <a:latin typeface="黑体" panose="02010609060101010101" pitchFamily="2" charset="-122"/>
                <a:ea typeface="黑体" panose="02010609060101010101" pitchFamily="2" charset="-122"/>
              </a:defRPr>
            </a:lvl5pPr>
            <a:lvl6pPr marL="45720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6pPr>
            <a:lvl7pPr marL="91440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7pPr>
            <a:lvl8pPr marL="137160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8pPr>
            <a:lvl9pPr marL="182880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9pPr>
          </a:lstStyle>
          <a:p>
            <a:r>
              <a:rPr lang="zh-CN" altLang="en-US" dirty="0"/>
              <a:t>入侵检测与入侵检测系统</a:t>
            </a:r>
            <a:endParaRPr lang="en-US" altLang="zh-CN" dirty="0"/>
          </a:p>
        </p:txBody>
      </p:sp>
      <p:sp>
        <p:nvSpPr>
          <p:cNvPr id="5" name="Rectangle 5"/>
          <p:cNvSpPr>
            <a:spLocks noChangeArrowheads="1"/>
          </p:cNvSpPr>
          <p:nvPr/>
        </p:nvSpPr>
        <p:spPr bwMode="auto">
          <a:xfrm>
            <a:off x="635596" y="1571436"/>
            <a:ext cx="7992888" cy="1733808"/>
          </a:xfrm>
          <a:prstGeom prst="rect">
            <a:avLst/>
          </a:prstGeom>
          <a:noFill/>
          <a:ln w="9525">
            <a:noFill/>
            <a:miter lim="800000"/>
          </a:ln>
        </p:spPr>
        <p:txBody>
          <a:bodyPr wrap="square">
            <a:spAutoFit/>
          </a:bodyPr>
          <a:lstStyle/>
          <a:p>
            <a:pPr marL="342900" indent="-342900" eaLnBrk="0" hangingPunct="0">
              <a:lnSpc>
                <a:spcPts val="3200"/>
              </a:lnSpc>
              <a:spcBef>
                <a:spcPct val="20000"/>
              </a:spcBef>
              <a:buClr>
                <a:srgbClr val="3399FF"/>
              </a:buClr>
              <a:buFont typeface="Wingdings" panose="05000000000000000000" pitchFamily="2" charset="2"/>
              <a:buChar char="v"/>
            </a:pPr>
            <a:r>
              <a:rPr lang="zh-CN" altLang="en-AU"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入侵</a:t>
            </a: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检测（</a:t>
            </a:r>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Intrusion Detection</a:t>
            </a: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r>
              <a:rPr lang="zh-CN" altLang="en-AU"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是</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对入侵行为的发觉。通过计算机网络或计算机系统的关键点采集信息并进行分析，从中发现网络或系统中否有违反安全策略的行为和被攻击的迹象。</a:t>
            </a:r>
          </a:p>
        </p:txBody>
      </p:sp>
      <p:sp>
        <p:nvSpPr>
          <p:cNvPr id="6" name="Rectangle 5"/>
          <p:cNvSpPr>
            <a:spLocks noChangeArrowheads="1"/>
          </p:cNvSpPr>
          <p:nvPr/>
        </p:nvSpPr>
        <p:spPr bwMode="auto">
          <a:xfrm>
            <a:off x="635596" y="3305244"/>
            <a:ext cx="7992888" cy="913070"/>
          </a:xfrm>
          <a:prstGeom prst="rect">
            <a:avLst/>
          </a:prstGeom>
          <a:noFill/>
          <a:ln w="9525">
            <a:noFill/>
            <a:miter lim="800000"/>
          </a:ln>
        </p:spPr>
        <p:txBody>
          <a:bodyPr wrap="square">
            <a:spAutoFit/>
          </a:bodyPr>
          <a:lstStyle/>
          <a:p>
            <a:pPr marL="342900" indent="-342900" eaLnBrk="0" hangingPunct="0">
              <a:lnSpc>
                <a:spcPts val="3200"/>
              </a:lnSpc>
              <a:spcBef>
                <a:spcPct val="20000"/>
              </a:spcBef>
              <a:buClr>
                <a:srgbClr val="3399FF"/>
              </a:buClr>
              <a:buFont typeface="Wingdings" panose="05000000000000000000" pitchFamily="2" charset="2"/>
              <a:buChar char="v"/>
            </a:pPr>
            <a:r>
              <a:rPr lang="zh-CN" altLang="en-AU"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入侵</a:t>
            </a: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检测系统（</a:t>
            </a:r>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Intrusion Detection System</a:t>
            </a: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，简称</a:t>
            </a:r>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IDS</a:t>
            </a: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r>
              <a:rPr lang="zh-CN" altLang="en-US" sz="2400" b="1"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是指实现入侵检测功能的软件和硬件的集合</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a:xfrm>
            <a:off x="611560" y="837579"/>
            <a:ext cx="6012668" cy="800708"/>
          </a:xfrm>
          <a:noFill/>
          <a:ln w="9525">
            <a:noFill/>
            <a:miter lim="800000"/>
          </a:ln>
        </p:spPr>
        <p:txBody>
          <a:bodyPr vert="horz" wrap="square" lIns="91440" tIns="45720" rIns="91440" bIns="45720" numCol="1" anchor="ctr" anchorCtr="0" compatLnSpc="1"/>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8.3 </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针对入侵构建防御系统</a:t>
            </a:r>
            <a:endPar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9941" name="Rectangle 5"/>
          <p:cNvSpPr>
            <a:spLocks noChangeArrowheads="1"/>
          </p:cNvSpPr>
          <p:nvPr/>
        </p:nvSpPr>
        <p:spPr bwMode="auto">
          <a:xfrm>
            <a:off x="935038" y="1628775"/>
            <a:ext cx="6985000" cy="1260475"/>
          </a:xfrm>
          <a:prstGeom prst="rect">
            <a:avLst/>
          </a:prstGeom>
          <a:noFill/>
          <a:ln w="9525">
            <a:noFill/>
            <a:miter lim="800000"/>
          </a:ln>
        </p:spPr>
        <p:txBody>
          <a:bodyPr>
            <a:spAutoFit/>
          </a:bodyPr>
          <a:lstStyle/>
          <a:p>
            <a:pPr eaLnBrk="0" hangingPunct="0">
              <a:spcBef>
                <a:spcPct val="20000"/>
              </a:spcBef>
              <a:buClr>
                <a:srgbClr val="3399FF"/>
              </a:buClr>
              <a:buFont typeface="Wingdings" panose="05000000000000000000" pitchFamily="2" charset="2"/>
              <a:buChar char="v"/>
            </a:pPr>
            <a:endParaRPr lang="en-AU" altLang="zh-CN" sz="2400" b="1">
              <a:latin typeface="宋体" panose="02010600030101010101" pitchFamily="2" charset="-122"/>
            </a:endParaRPr>
          </a:p>
          <a:p>
            <a:pPr algn="just">
              <a:spcBef>
                <a:spcPct val="20000"/>
              </a:spcBef>
            </a:pPr>
            <a:endParaRPr lang="zh-CN" altLang="en-US" sz="2400" b="1">
              <a:latin typeface="宋体" panose="02010600030101010101" pitchFamily="2" charset="-122"/>
            </a:endParaRPr>
          </a:p>
          <a:p>
            <a:r>
              <a:rPr lang="zh-CN" altLang="en-US" sz="2400" b="1">
                <a:latin typeface="宋体" panose="02010600030101010101" pitchFamily="2" charset="-122"/>
              </a:rPr>
              <a:t>    </a:t>
            </a:r>
          </a:p>
        </p:txBody>
      </p:sp>
      <p:sp>
        <p:nvSpPr>
          <p:cNvPr id="39942" name="Rectangle 6"/>
          <p:cNvSpPr>
            <a:spLocks noChangeArrowheads="1"/>
          </p:cNvSpPr>
          <p:nvPr/>
        </p:nvSpPr>
        <p:spPr bwMode="auto">
          <a:xfrm>
            <a:off x="1115616" y="1952935"/>
            <a:ext cx="7344816" cy="1764097"/>
          </a:xfrm>
          <a:prstGeom prst="rect">
            <a:avLst/>
          </a:prstGeom>
          <a:noFill/>
          <a:ln w="9525">
            <a:noFill/>
            <a:miter lim="800000"/>
          </a:ln>
        </p:spPr>
        <p:txBody>
          <a:bodyPr/>
          <a:lstStyle/>
          <a:p>
            <a:pPr eaLnBrk="0" hangingPunct="0">
              <a:spcBef>
                <a:spcPct val="20000"/>
              </a:spcBef>
              <a:buClr>
                <a:srgbClr val="3399FF"/>
              </a:buClr>
            </a:pPr>
            <a:r>
              <a:rPr lang="zh-CN" altLang="en-US" sz="2800" dirty="0">
                <a:effectLst>
                  <a:outerShdw blurRad="38100" dist="38100" dir="2700000" algn="tl">
                    <a:srgbClr val="000000">
                      <a:alpha val="43137"/>
                    </a:srgbClr>
                  </a:outerShdw>
                </a:effectLst>
                <a:latin typeface="+mn-ea"/>
                <a:ea typeface="+mn-ea"/>
              </a:rPr>
              <a:t>在深度防御的安全架构中要想做到防止入侵要从三个方面着手：</a:t>
            </a:r>
            <a:endParaRPr lang="en-US" altLang="zh-CN" sz="2800" dirty="0">
              <a:effectLst>
                <a:outerShdw blurRad="38100" dist="38100" dir="2700000" algn="tl">
                  <a:srgbClr val="000000">
                    <a:alpha val="43137"/>
                  </a:srgbClr>
                </a:outerShdw>
              </a:effectLst>
              <a:latin typeface="+mn-ea"/>
              <a:ea typeface="+mn-ea"/>
            </a:endParaRPr>
          </a:p>
          <a:p>
            <a:pPr eaLnBrk="0" hangingPunct="0">
              <a:spcBef>
                <a:spcPct val="20000"/>
              </a:spcBef>
              <a:buClr>
                <a:srgbClr val="3399FF"/>
              </a:buClr>
            </a:pPr>
            <a:endParaRPr lang="en-US" altLang="zh-CN" sz="2800" dirty="0">
              <a:effectLst>
                <a:outerShdw blurRad="38100" dist="38100" dir="2700000" algn="tl">
                  <a:srgbClr val="000000">
                    <a:alpha val="43137"/>
                  </a:srgbClr>
                </a:outerShdw>
              </a:effectLst>
              <a:latin typeface="+mn-ea"/>
              <a:ea typeface="+mn-ea"/>
            </a:endParaRPr>
          </a:p>
          <a:p>
            <a:pPr marL="342900" indent="-342900" eaLnBrk="0" hangingPunct="0">
              <a:spcBef>
                <a:spcPct val="20000"/>
              </a:spcBef>
              <a:buClr>
                <a:srgbClr val="3399FF"/>
              </a:buClr>
              <a:buFont typeface="Wingdings" panose="05000000000000000000" pitchFamily="2" charset="2"/>
              <a:buChar char="v"/>
            </a:pPr>
            <a:r>
              <a:rPr lang="zh-CN" altLang="en-AU" sz="2800" dirty="0">
                <a:effectLst>
                  <a:outerShdw blurRad="38100" dist="38100" dir="2700000" algn="tl">
                    <a:srgbClr val="000000">
                      <a:alpha val="43137"/>
                    </a:srgbClr>
                  </a:outerShdw>
                </a:effectLst>
                <a:latin typeface="+mn-ea"/>
                <a:ea typeface="+mn-ea"/>
              </a:rPr>
              <a:t>预防入侵</a:t>
            </a:r>
            <a:endParaRPr lang="en-AU" altLang="zh-CN" sz="2800" dirty="0">
              <a:effectLst>
                <a:outerShdw blurRad="38100" dist="38100" dir="2700000" algn="tl">
                  <a:srgbClr val="000000">
                    <a:alpha val="43137"/>
                  </a:srgbClr>
                </a:outerShdw>
              </a:effectLst>
              <a:latin typeface="+mn-ea"/>
              <a:ea typeface="+mn-ea"/>
            </a:endParaRPr>
          </a:p>
          <a:p>
            <a:pPr marL="342900" indent="-342900" eaLnBrk="0" hangingPunct="0">
              <a:spcBef>
                <a:spcPct val="20000"/>
              </a:spcBef>
              <a:buClr>
                <a:srgbClr val="3399FF"/>
              </a:buClr>
              <a:buFont typeface="Wingdings" panose="05000000000000000000" pitchFamily="2" charset="2"/>
              <a:buChar char="v"/>
            </a:pPr>
            <a:r>
              <a:rPr lang="zh-CN" altLang="en-AU" sz="2800" dirty="0">
                <a:effectLst>
                  <a:outerShdw blurRad="38100" dist="38100" dir="2700000" algn="tl">
                    <a:srgbClr val="000000">
                      <a:alpha val="43137"/>
                    </a:srgbClr>
                  </a:outerShdw>
                </a:effectLst>
                <a:latin typeface="+mn-ea"/>
                <a:ea typeface="+mn-ea"/>
              </a:rPr>
              <a:t>检测入侵</a:t>
            </a:r>
            <a:endParaRPr lang="en-AU" altLang="zh-CN" sz="2800" dirty="0">
              <a:effectLst>
                <a:outerShdw blurRad="38100" dist="38100" dir="2700000" algn="tl">
                  <a:srgbClr val="000000">
                    <a:alpha val="43137"/>
                  </a:srgbClr>
                </a:outerShdw>
              </a:effectLst>
              <a:latin typeface="+mn-ea"/>
              <a:ea typeface="+mn-ea"/>
            </a:endParaRPr>
          </a:p>
          <a:p>
            <a:pPr marL="342900" indent="-342900" eaLnBrk="0" hangingPunct="0">
              <a:spcBef>
                <a:spcPct val="20000"/>
              </a:spcBef>
              <a:buClr>
                <a:srgbClr val="3399FF"/>
              </a:buClr>
              <a:buFont typeface="Wingdings" panose="05000000000000000000" pitchFamily="2" charset="2"/>
              <a:buChar char="v"/>
            </a:pPr>
            <a:r>
              <a:rPr lang="zh-CN" altLang="en-AU" sz="2800" dirty="0">
                <a:effectLst>
                  <a:outerShdw blurRad="38100" dist="38100" dir="2700000" algn="tl">
                    <a:srgbClr val="000000">
                      <a:alpha val="43137"/>
                    </a:srgbClr>
                  </a:outerShdw>
                </a:effectLst>
                <a:latin typeface="+mn-ea"/>
                <a:ea typeface="+mn-ea"/>
              </a:rPr>
              <a:t>对入侵做出响应</a:t>
            </a: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374103" y="702319"/>
            <a:ext cx="5854081" cy="595612"/>
          </a:xfrm>
          <a:noFill/>
          <a:ln w="9525">
            <a:noFill/>
            <a:miter lim="800000"/>
          </a:ln>
        </p:spPr>
        <p:txBody>
          <a:bodyPr vert="horz" wrap="square" lIns="91440" tIns="45720" rIns="91440" bIns="45720" numCol="1" anchor="ctr" anchorCtr="0" compatLnSpc="1"/>
          <a:lstStyle/>
          <a:p>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针对入侵构建防御系统</a:t>
            </a:r>
            <a:endPar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0965" name="Rectangle 5"/>
          <p:cNvSpPr>
            <a:spLocks noChangeArrowheads="1"/>
          </p:cNvSpPr>
          <p:nvPr/>
        </p:nvSpPr>
        <p:spPr bwMode="auto">
          <a:xfrm>
            <a:off x="935038" y="1628775"/>
            <a:ext cx="6985000" cy="1260475"/>
          </a:xfrm>
          <a:prstGeom prst="rect">
            <a:avLst/>
          </a:prstGeom>
          <a:noFill/>
          <a:ln w="9525">
            <a:noFill/>
            <a:miter lim="800000"/>
          </a:ln>
        </p:spPr>
        <p:txBody>
          <a:bodyPr>
            <a:spAutoFit/>
          </a:bodyPr>
          <a:lstStyle/>
          <a:p>
            <a:pPr eaLnBrk="0" hangingPunct="0">
              <a:spcBef>
                <a:spcPct val="20000"/>
              </a:spcBef>
              <a:buClr>
                <a:srgbClr val="3399FF"/>
              </a:buClr>
              <a:buFont typeface="Wingdings" panose="05000000000000000000" pitchFamily="2" charset="2"/>
              <a:buChar char="v"/>
            </a:pPr>
            <a:endParaRPr lang="en-AU" altLang="zh-CN" sz="2400" b="1" dirty="0">
              <a:latin typeface="宋体" panose="02010600030101010101" pitchFamily="2" charset="-122"/>
            </a:endParaRPr>
          </a:p>
          <a:p>
            <a:pPr algn="just">
              <a:spcBef>
                <a:spcPct val="20000"/>
              </a:spcBef>
            </a:pPr>
            <a:endParaRPr lang="zh-CN" altLang="en-US" sz="2400" b="1" dirty="0">
              <a:latin typeface="宋体" panose="02010600030101010101" pitchFamily="2" charset="-122"/>
            </a:endParaRPr>
          </a:p>
          <a:p>
            <a:r>
              <a:rPr lang="zh-CN" altLang="en-US" sz="2400" b="1" dirty="0">
                <a:latin typeface="宋体" panose="02010600030101010101" pitchFamily="2" charset="-122"/>
              </a:rPr>
              <a:t>    </a:t>
            </a:r>
          </a:p>
        </p:txBody>
      </p:sp>
      <p:sp>
        <p:nvSpPr>
          <p:cNvPr id="40966" name="Rectangle 6"/>
          <p:cNvSpPr>
            <a:spLocks noChangeArrowheads="1"/>
          </p:cNvSpPr>
          <p:nvPr/>
        </p:nvSpPr>
        <p:spPr bwMode="auto">
          <a:xfrm>
            <a:off x="773628" y="2041694"/>
            <a:ext cx="8064574" cy="3151502"/>
          </a:xfrm>
          <a:prstGeom prst="rect">
            <a:avLst/>
          </a:prstGeom>
          <a:noFill/>
          <a:ln w="9525" algn="ctr">
            <a:noFill/>
            <a:miter lim="800000"/>
          </a:ln>
        </p:spPr>
        <p:txBody>
          <a:bodyPr/>
          <a:lstStyle/>
          <a:p>
            <a:pPr marL="800100" lvl="1" indent="-342900" eaLnBrk="0" hangingPunct="0">
              <a:lnSpc>
                <a:spcPts val="3400"/>
              </a:lnSpc>
              <a:spcBef>
                <a:spcPct val="20000"/>
              </a:spcBef>
              <a:buClr>
                <a:srgbClr val="FF9900"/>
              </a:buClr>
              <a:buFont typeface="Wingdings" panose="05000000000000000000" pitchFamily="2" charset="2"/>
              <a:buChar char="u"/>
            </a:pPr>
            <a:r>
              <a:rPr lang="zh-CN" altLang="en-AU" sz="2400" b="1" dirty="0">
                <a:effectLst>
                  <a:outerShdw blurRad="38100" dist="38100" dir="2700000" algn="tl">
                    <a:srgbClr val="000000">
                      <a:alpha val="43137"/>
                    </a:srgbClr>
                  </a:outerShdw>
                </a:effectLst>
                <a:latin typeface="+mn-ea"/>
                <a:ea typeface="+mn-ea"/>
              </a:rPr>
              <a:t>非常重要的第一步；</a:t>
            </a:r>
          </a:p>
          <a:p>
            <a:pPr marL="800100" lvl="1" indent="-342900" eaLnBrk="0" hangingPunct="0">
              <a:lnSpc>
                <a:spcPts val="3400"/>
              </a:lnSpc>
              <a:spcBef>
                <a:spcPct val="20000"/>
              </a:spcBef>
              <a:buClr>
                <a:srgbClr val="FF9900"/>
              </a:buClr>
              <a:buFont typeface="Wingdings" panose="05000000000000000000" pitchFamily="2" charset="2"/>
              <a:buChar char="u"/>
            </a:pPr>
            <a:r>
              <a:rPr lang="zh-CN" altLang="en-AU" sz="2400" b="1" dirty="0">
                <a:effectLst>
                  <a:outerShdw blurRad="38100" dist="38100" dir="2700000" algn="tl">
                    <a:srgbClr val="000000">
                      <a:alpha val="43137"/>
                    </a:srgbClr>
                  </a:outerShdw>
                </a:effectLst>
                <a:latin typeface="+mn-ea"/>
                <a:ea typeface="+mn-ea"/>
              </a:rPr>
              <a:t>阻止某些不良企图，例如防火墙</a:t>
            </a:r>
            <a:r>
              <a:rPr lang="zh-CN" altLang="en-US" sz="2400" b="1" dirty="0">
                <a:effectLst>
                  <a:outerShdw blurRad="38100" dist="38100" dir="2700000" algn="tl">
                    <a:srgbClr val="000000">
                      <a:alpha val="43137"/>
                    </a:srgbClr>
                  </a:outerShdw>
                </a:effectLst>
                <a:latin typeface="+mn-ea"/>
                <a:ea typeface="+mn-ea"/>
              </a:rPr>
              <a:t>无法检查和控制的</a:t>
            </a:r>
            <a:r>
              <a:rPr lang="zh-CN" altLang="en-AU" sz="2400" b="1" dirty="0">
                <a:effectLst>
                  <a:outerShdw blurRad="38100" dist="38100" dir="2700000" algn="tl">
                    <a:srgbClr val="000000">
                      <a:alpha val="43137"/>
                    </a:srgbClr>
                  </a:outerShdw>
                </a:effectLst>
                <a:latin typeface="+mn-ea"/>
                <a:ea typeface="+mn-ea"/>
              </a:rPr>
              <a:t>；</a:t>
            </a:r>
            <a:endParaRPr lang="en-AU" altLang="zh-CN" sz="2400" b="1" dirty="0">
              <a:effectLst>
                <a:outerShdw blurRad="38100" dist="38100" dir="2700000" algn="tl">
                  <a:srgbClr val="000000">
                    <a:alpha val="43137"/>
                  </a:srgbClr>
                </a:outerShdw>
              </a:effectLst>
              <a:latin typeface="+mn-ea"/>
              <a:ea typeface="+mn-ea"/>
            </a:endParaRPr>
          </a:p>
          <a:p>
            <a:pPr marL="800100" lvl="1" indent="-342900" eaLnBrk="0" hangingPunct="0">
              <a:lnSpc>
                <a:spcPts val="3400"/>
              </a:lnSpc>
              <a:spcBef>
                <a:spcPct val="20000"/>
              </a:spcBef>
              <a:buClr>
                <a:srgbClr val="FF9900"/>
              </a:buClr>
              <a:buFont typeface="Wingdings" panose="05000000000000000000" pitchFamily="2" charset="2"/>
              <a:buChar char="u"/>
            </a:pPr>
            <a:r>
              <a:rPr lang="zh-CN" altLang="en-AU" sz="2400" b="1" dirty="0">
                <a:effectLst>
                  <a:outerShdw blurRad="38100" dist="38100" dir="2700000" algn="tl">
                    <a:srgbClr val="000000">
                      <a:alpha val="43137"/>
                    </a:srgbClr>
                  </a:outerShdw>
                </a:effectLst>
                <a:latin typeface="+mn-ea"/>
                <a:ea typeface="+mn-ea"/>
              </a:rPr>
              <a:t>但是攻击仍然发生：</a:t>
            </a:r>
            <a:endParaRPr lang="en-AU" altLang="zh-CN" sz="2400" b="1" dirty="0">
              <a:effectLst>
                <a:outerShdw blurRad="38100" dist="38100" dir="2700000" algn="tl">
                  <a:srgbClr val="000000">
                    <a:alpha val="43137"/>
                  </a:srgbClr>
                </a:outerShdw>
              </a:effectLst>
              <a:latin typeface="+mn-ea"/>
              <a:ea typeface="+mn-ea"/>
            </a:endParaRPr>
          </a:p>
          <a:p>
            <a:pPr marL="1257300" lvl="2" indent="-342900" eaLnBrk="0" hangingPunct="0">
              <a:lnSpc>
                <a:spcPts val="3400"/>
              </a:lnSpc>
              <a:spcBef>
                <a:spcPct val="20000"/>
              </a:spcBef>
              <a:buClr>
                <a:srgbClr val="FF9900"/>
              </a:buClr>
              <a:buFont typeface="Wingdings" panose="05000000000000000000" pitchFamily="2" charset="2"/>
              <a:buChar char="n"/>
            </a:pPr>
            <a:r>
              <a:rPr lang="zh-CN" altLang="en-AU" sz="2400" b="1" dirty="0">
                <a:solidFill>
                  <a:srgbClr val="0033CC"/>
                </a:solidFill>
                <a:effectLst>
                  <a:outerShdw blurRad="38100" dist="38100" dir="2700000" algn="tl">
                    <a:srgbClr val="000000">
                      <a:alpha val="43137"/>
                    </a:srgbClr>
                  </a:outerShdw>
                </a:effectLst>
                <a:latin typeface="+mn-ea"/>
                <a:ea typeface="+mn-ea"/>
              </a:rPr>
              <a:t>网络、操作系统和应用在设计和实现上的缺陷；</a:t>
            </a:r>
            <a:endParaRPr lang="en-AU" altLang="zh-CN" sz="2400" b="1" dirty="0">
              <a:solidFill>
                <a:srgbClr val="0033CC"/>
              </a:solidFill>
              <a:effectLst>
                <a:outerShdw blurRad="38100" dist="38100" dir="2700000" algn="tl">
                  <a:srgbClr val="000000">
                    <a:alpha val="43137"/>
                  </a:srgbClr>
                </a:outerShdw>
              </a:effectLst>
              <a:latin typeface="+mn-ea"/>
              <a:ea typeface="+mn-ea"/>
            </a:endParaRPr>
          </a:p>
          <a:p>
            <a:pPr marL="1257300" lvl="2" indent="-342900" eaLnBrk="0" hangingPunct="0">
              <a:lnSpc>
                <a:spcPts val="3400"/>
              </a:lnSpc>
              <a:spcBef>
                <a:spcPct val="20000"/>
              </a:spcBef>
              <a:buClr>
                <a:srgbClr val="FF9900"/>
              </a:buClr>
              <a:buFont typeface="Wingdings" panose="05000000000000000000" pitchFamily="2" charset="2"/>
              <a:buChar char="n"/>
            </a:pPr>
            <a:r>
              <a:rPr lang="zh-CN" altLang="en-AU" sz="2400" b="1" dirty="0">
                <a:solidFill>
                  <a:srgbClr val="0033CC"/>
                </a:solidFill>
                <a:effectLst>
                  <a:outerShdw blurRad="38100" dist="38100" dir="2700000" algn="tl">
                    <a:srgbClr val="000000">
                      <a:alpha val="43137"/>
                    </a:srgbClr>
                  </a:outerShdw>
                </a:effectLst>
                <a:latin typeface="+mn-ea"/>
                <a:ea typeface="+mn-ea"/>
              </a:rPr>
              <a:t>隧道技术；</a:t>
            </a:r>
          </a:p>
          <a:p>
            <a:pPr marL="1257300" lvl="2" indent="-342900" eaLnBrk="0" hangingPunct="0">
              <a:lnSpc>
                <a:spcPts val="3400"/>
              </a:lnSpc>
              <a:spcBef>
                <a:spcPct val="20000"/>
              </a:spcBef>
              <a:buClr>
                <a:srgbClr val="FF9900"/>
              </a:buClr>
              <a:buFont typeface="Wingdings" panose="05000000000000000000" pitchFamily="2" charset="2"/>
              <a:buChar char="n"/>
            </a:pPr>
            <a:r>
              <a:rPr lang="zh-CN" altLang="en-AU" sz="2400" b="1" dirty="0">
                <a:solidFill>
                  <a:srgbClr val="0033CC"/>
                </a:solidFill>
                <a:effectLst>
                  <a:outerShdw blurRad="38100" dist="38100" dir="2700000" algn="tl">
                    <a:srgbClr val="000000">
                      <a:alpha val="43137"/>
                    </a:srgbClr>
                  </a:outerShdw>
                </a:effectLst>
                <a:latin typeface="+mn-ea"/>
                <a:ea typeface="+mn-ea"/>
              </a:rPr>
              <a:t>来自网络内部的攻击。</a:t>
            </a:r>
            <a:endParaRPr lang="en-AU" altLang="zh-CN" sz="2400" b="1" dirty="0">
              <a:solidFill>
                <a:srgbClr val="0033CC"/>
              </a:solidFill>
              <a:effectLst>
                <a:outerShdw blurRad="38100" dist="38100" dir="2700000" algn="tl">
                  <a:srgbClr val="000000">
                    <a:alpha val="43137"/>
                  </a:srgbClr>
                </a:outerShdw>
              </a:effectLst>
              <a:latin typeface="+mn-ea"/>
              <a:ea typeface="+mn-ea"/>
            </a:endParaRPr>
          </a:p>
        </p:txBody>
      </p:sp>
      <p:sp>
        <p:nvSpPr>
          <p:cNvPr id="2" name="矩形 1"/>
          <p:cNvSpPr/>
          <p:nvPr/>
        </p:nvSpPr>
        <p:spPr>
          <a:xfrm>
            <a:off x="791580" y="1483849"/>
            <a:ext cx="1973617" cy="479940"/>
          </a:xfrm>
          <a:prstGeom prst="rect">
            <a:avLst/>
          </a:prstGeom>
        </p:spPr>
        <p:txBody>
          <a:bodyPr wrap="none">
            <a:spAutoFit/>
          </a:bodyPr>
          <a:lstStyle/>
          <a:p>
            <a:pPr marL="342900" indent="-342900" eaLnBrk="0" hangingPunct="0">
              <a:lnSpc>
                <a:spcPts val="3400"/>
              </a:lnSpc>
              <a:spcBef>
                <a:spcPct val="20000"/>
              </a:spcBef>
              <a:buClr>
                <a:srgbClr val="3399FF"/>
              </a:buClr>
              <a:buFont typeface="Wingdings" panose="05000000000000000000" pitchFamily="2" charset="2"/>
              <a:buChar char="v"/>
            </a:pPr>
            <a:r>
              <a:rPr lang="zh-CN" altLang="en-AU" sz="2800" b="1" dirty="0">
                <a:solidFill>
                  <a:srgbClr val="FF0000"/>
                </a:solidFill>
                <a:effectLst>
                  <a:outerShdw blurRad="38100" dist="38100" dir="2700000" algn="tl">
                    <a:srgbClr val="000000">
                      <a:alpha val="43137"/>
                    </a:srgbClr>
                  </a:outerShdw>
                </a:effectLst>
                <a:latin typeface="+mn-ea"/>
                <a:ea typeface="+mn-ea"/>
              </a:rPr>
              <a:t>预防入侵</a:t>
            </a:r>
            <a:endParaRPr lang="en-AU" altLang="zh-CN" sz="2800" b="1" dirty="0">
              <a:solidFill>
                <a:srgbClr val="FF0000"/>
              </a:solidFill>
              <a:effectLst>
                <a:outerShdw blurRad="38100" dist="38100" dir="2700000" algn="tl">
                  <a:srgbClr val="000000">
                    <a:alpha val="43137"/>
                  </a:srgbClr>
                </a:outerShdw>
              </a:effectLst>
              <a:latin typeface="+mn-ea"/>
              <a:ea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40966"/>
                                        </p:tgtEl>
                                        <p:attrNameLst>
                                          <p:attrName>style.visibility</p:attrName>
                                        </p:attrNameLst>
                                      </p:cBhvr>
                                      <p:to>
                                        <p:strVal val="visible"/>
                                      </p:to>
                                    </p:set>
                                    <p:animEffect transition="in" filter="wipe(up)">
                                      <p:cBhvr>
                                        <p:cTn id="14" dur="500"/>
                                        <p:tgtEl>
                                          <p:spTgt spid="409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6" grpId="0"/>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idx="4294967295"/>
          </p:nvPr>
        </p:nvSpPr>
        <p:spPr>
          <a:xfrm>
            <a:off x="323850" y="756183"/>
            <a:ext cx="4804706" cy="656692"/>
          </a:xfrm>
          <a:noFill/>
          <a:ln w="9525">
            <a:noFill/>
            <a:miter lim="800000"/>
          </a:ln>
        </p:spPr>
        <p:txBody>
          <a:bodyPr vert="horz" wrap="square" lIns="91440" tIns="45720" rIns="91440" bIns="45720" numCol="1" anchor="ctr" anchorCtr="0" compatLnSpc="1"/>
          <a:lstStyle/>
          <a:p>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针对入侵构建防御系统</a:t>
            </a:r>
            <a:endPar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1990" name="Rectangle 6"/>
          <p:cNvSpPr>
            <a:spLocks noChangeArrowheads="1"/>
          </p:cNvSpPr>
          <p:nvPr/>
        </p:nvSpPr>
        <p:spPr bwMode="auto">
          <a:xfrm>
            <a:off x="611560" y="2132856"/>
            <a:ext cx="7488498" cy="3096344"/>
          </a:xfrm>
          <a:prstGeom prst="rect">
            <a:avLst/>
          </a:prstGeom>
          <a:noFill/>
          <a:ln w="9525" algn="ctr">
            <a:noFill/>
            <a:miter lim="800000"/>
          </a:ln>
        </p:spPr>
        <p:txBody>
          <a:bodyPr/>
          <a:lstStyle/>
          <a:p>
            <a:pPr marL="800100" lvl="1" indent="-342900" eaLnBrk="0" hangingPunct="0">
              <a:lnSpc>
                <a:spcPts val="3400"/>
              </a:lnSpc>
              <a:spcBef>
                <a:spcPct val="20000"/>
              </a:spcBef>
              <a:buClr>
                <a:srgbClr val="FF9900"/>
              </a:buClr>
              <a:buFont typeface="Wingdings" panose="05000000000000000000" pitchFamily="2" charset="2"/>
              <a:buChar char="u"/>
            </a:pPr>
            <a:r>
              <a:rPr lang="zh-CN" altLang="en-US" sz="2400" b="1" dirty="0">
                <a:effectLst>
                  <a:outerShdw blurRad="38100" dist="38100" dir="2700000" algn="tl">
                    <a:srgbClr val="000000">
                      <a:alpha val="43137"/>
                    </a:srgbClr>
                  </a:outerShdw>
                </a:effectLst>
                <a:latin typeface="+mn-ea"/>
                <a:ea typeface="+mn-ea"/>
              </a:rPr>
              <a:t>采取预防措施阻止某些攻击</a:t>
            </a:r>
            <a:r>
              <a:rPr lang="en-US" altLang="zh-CN" sz="2400" b="1" dirty="0">
                <a:effectLst>
                  <a:outerShdw blurRad="38100" dist="38100" dir="2700000" algn="tl">
                    <a:srgbClr val="000000">
                      <a:alpha val="43137"/>
                    </a:srgbClr>
                  </a:outerShdw>
                </a:effectLst>
                <a:latin typeface="+mn-ea"/>
                <a:ea typeface="+mn-ea"/>
              </a:rPr>
              <a:t>;</a:t>
            </a:r>
          </a:p>
          <a:p>
            <a:pPr marL="800100" lvl="1" indent="-342900" eaLnBrk="0" hangingPunct="0">
              <a:lnSpc>
                <a:spcPts val="3400"/>
              </a:lnSpc>
              <a:spcBef>
                <a:spcPct val="20000"/>
              </a:spcBef>
              <a:buClr>
                <a:srgbClr val="FF9900"/>
              </a:buClr>
              <a:buFont typeface="Wingdings" panose="05000000000000000000" pitchFamily="2" charset="2"/>
              <a:buChar char="u"/>
            </a:pPr>
            <a:r>
              <a:rPr lang="zh-CN" altLang="en-US" sz="2400" b="1" dirty="0">
                <a:effectLst>
                  <a:outerShdw blurRad="38100" dist="38100" dir="2700000" algn="tl">
                    <a:srgbClr val="000000">
                      <a:alpha val="43137"/>
                    </a:srgbClr>
                  </a:outerShdw>
                </a:effectLst>
                <a:latin typeface="+mn-ea"/>
                <a:ea typeface="+mn-ea"/>
              </a:rPr>
              <a:t>是否能够实时检测到剩余的攻击</a:t>
            </a:r>
            <a:r>
              <a:rPr lang="en-US" altLang="zh-CN" sz="2400" b="1" dirty="0">
                <a:effectLst>
                  <a:outerShdw blurRad="38100" dist="38100" dir="2700000" algn="tl">
                    <a:srgbClr val="000000">
                      <a:alpha val="43137"/>
                    </a:srgbClr>
                  </a:outerShdw>
                </a:effectLst>
                <a:latin typeface="+mn-ea"/>
                <a:ea typeface="+mn-ea"/>
              </a:rPr>
              <a:t>?</a:t>
            </a:r>
          </a:p>
          <a:p>
            <a:pPr marL="800100" lvl="1" indent="-342900" eaLnBrk="0" hangingPunct="0">
              <a:lnSpc>
                <a:spcPts val="3400"/>
              </a:lnSpc>
              <a:spcBef>
                <a:spcPct val="20000"/>
              </a:spcBef>
              <a:buClr>
                <a:srgbClr val="FF9900"/>
              </a:buClr>
              <a:buFont typeface="Wingdings" panose="05000000000000000000" pitchFamily="2" charset="2"/>
              <a:buChar char="u"/>
            </a:pPr>
            <a:r>
              <a:rPr lang="zh-CN" altLang="en-US" sz="2400" b="1" dirty="0">
                <a:effectLst>
                  <a:outerShdw blurRad="38100" dist="38100" dir="2700000" algn="tl">
                    <a:srgbClr val="000000">
                      <a:alpha val="43137"/>
                    </a:srgbClr>
                  </a:outerShdw>
                </a:effectLst>
                <a:latin typeface="+mn-ea"/>
                <a:ea typeface="+mn-ea"/>
              </a:rPr>
              <a:t>监控各种恶意行为：</a:t>
            </a:r>
          </a:p>
          <a:p>
            <a:pPr marL="1257300" lvl="2" indent="-342900" eaLnBrk="0" hangingPunct="0">
              <a:lnSpc>
                <a:spcPts val="3400"/>
              </a:lnSpc>
              <a:spcBef>
                <a:spcPct val="20000"/>
              </a:spcBef>
              <a:buClr>
                <a:srgbClr val="FF9900"/>
              </a:buClr>
              <a:buFont typeface="Wingdings" panose="05000000000000000000" pitchFamily="2" charset="2"/>
              <a:buChar char="n"/>
            </a:pPr>
            <a:r>
              <a:rPr lang="zh-CN" altLang="en-US" sz="2400" b="1" dirty="0">
                <a:effectLst>
                  <a:outerShdw blurRad="38100" dist="38100" dir="2700000" algn="tl">
                    <a:srgbClr val="000000">
                      <a:alpha val="43137"/>
                    </a:srgbClr>
                  </a:outerShdw>
                </a:effectLst>
                <a:latin typeface="+mn-ea"/>
                <a:ea typeface="+mn-ea"/>
              </a:rPr>
              <a:t>网络流量</a:t>
            </a:r>
            <a:r>
              <a:rPr lang="en-US" altLang="zh-CN" sz="2400" b="1" dirty="0">
                <a:effectLst>
                  <a:outerShdw blurRad="38100" dist="38100" dir="2700000" algn="tl">
                    <a:srgbClr val="000000">
                      <a:alpha val="43137"/>
                    </a:srgbClr>
                  </a:outerShdw>
                </a:effectLst>
                <a:latin typeface="+mn-ea"/>
                <a:ea typeface="+mn-ea"/>
              </a:rPr>
              <a:t>;</a:t>
            </a:r>
          </a:p>
          <a:p>
            <a:pPr marL="1257300" lvl="2" indent="-342900" eaLnBrk="0" hangingPunct="0">
              <a:lnSpc>
                <a:spcPts val="3400"/>
              </a:lnSpc>
              <a:spcBef>
                <a:spcPct val="20000"/>
              </a:spcBef>
              <a:buClr>
                <a:srgbClr val="FF9900"/>
              </a:buClr>
              <a:buFont typeface="Wingdings" panose="05000000000000000000" pitchFamily="2" charset="2"/>
              <a:buChar char="n"/>
            </a:pPr>
            <a:r>
              <a:rPr lang="zh-CN" altLang="en-US" sz="2400" b="1" dirty="0">
                <a:effectLst>
                  <a:outerShdw blurRad="38100" dist="38100" dir="2700000" algn="tl">
                    <a:srgbClr val="000000">
                      <a:alpha val="43137"/>
                    </a:srgbClr>
                  </a:outerShdw>
                </a:effectLst>
                <a:latin typeface="+mn-ea"/>
                <a:ea typeface="+mn-ea"/>
              </a:rPr>
              <a:t>主机中的行为</a:t>
            </a:r>
            <a:r>
              <a:rPr lang="en-US" altLang="zh-CN" sz="2400" b="1" dirty="0">
                <a:effectLst>
                  <a:outerShdw blurRad="38100" dist="38100" dir="2700000" algn="tl">
                    <a:srgbClr val="000000">
                      <a:alpha val="43137"/>
                    </a:srgbClr>
                  </a:outerShdw>
                </a:effectLst>
                <a:latin typeface="+mn-ea"/>
                <a:ea typeface="+mn-ea"/>
              </a:rPr>
              <a:t>;</a:t>
            </a:r>
          </a:p>
          <a:p>
            <a:pPr marL="800100" lvl="1" indent="-342900" eaLnBrk="0" hangingPunct="0">
              <a:lnSpc>
                <a:spcPts val="3400"/>
              </a:lnSpc>
              <a:spcBef>
                <a:spcPct val="20000"/>
              </a:spcBef>
              <a:buClr>
                <a:srgbClr val="FF9900"/>
              </a:buClr>
              <a:buFont typeface="Wingdings" panose="05000000000000000000" pitchFamily="2" charset="2"/>
              <a:buChar char="u"/>
            </a:pPr>
            <a:r>
              <a:rPr lang="zh-CN" altLang="en-US" sz="2400" b="1" dirty="0">
                <a:effectLst>
                  <a:outerShdw blurRad="38100" dist="38100" dir="2700000" algn="tl">
                    <a:srgbClr val="000000">
                      <a:alpha val="43137"/>
                    </a:srgbClr>
                  </a:outerShdw>
                </a:effectLst>
                <a:latin typeface="+mn-ea"/>
                <a:ea typeface="+mn-ea"/>
              </a:rPr>
              <a:t>实时分析大量的审计数据，来识别入侵或误用。</a:t>
            </a:r>
            <a:endParaRPr lang="en-AU" altLang="zh-CN" sz="2400" b="1" dirty="0">
              <a:effectLst>
                <a:outerShdw blurRad="38100" dist="38100" dir="2700000" algn="tl">
                  <a:srgbClr val="000000">
                    <a:alpha val="43137"/>
                  </a:srgbClr>
                </a:outerShdw>
              </a:effectLst>
              <a:latin typeface="+mn-ea"/>
              <a:ea typeface="+mn-ea"/>
            </a:endParaRPr>
          </a:p>
        </p:txBody>
      </p:sp>
      <p:sp>
        <p:nvSpPr>
          <p:cNvPr id="2" name="矩形 1"/>
          <p:cNvSpPr/>
          <p:nvPr/>
        </p:nvSpPr>
        <p:spPr>
          <a:xfrm>
            <a:off x="611560" y="1606982"/>
            <a:ext cx="1973617" cy="479940"/>
          </a:xfrm>
          <a:prstGeom prst="rect">
            <a:avLst/>
          </a:prstGeom>
        </p:spPr>
        <p:txBody>
          <a:bodyPr wrap="none">
            <a:spAutoFit/>
          </a:bodyPr>
          <a:lstStyle/>
          <a:p>
            <a:pPr marL="342900" indent="-342900" eaLnBrk="0" hangingPunct="0">
              <a:lnSpc>
                <a:spcPts val="3400"/>
              </a:lnSpc>
              <a:spcBef>
                <a:spcPct val="20000"/>
              </a:spcBef>
              <a:buClr>
                <a:srgbClr val="3399FF"/>
              </a:buClr>
              <a:buFont typeface="Wingdings" panose="05000000000000000000" pitchFamily="2" charset="2"/>
              <a:buChar char="v"/>
            </a:pPr>
            <a:r>
              <a:rPr lang="zh-CN" altLang="en-AU" sz="2800" b="1" dirty="0">
                <a:solidFill>
                  <a:srgbClr val="FF0000"/>
                </a:solidFill>
                <a:effectLst>
                  <a:outerShdw blurRad="38100" dist="38100" dir="2700000" algn="tl">
                    <a:srgbClr val="000000">
                      <a:alpha val="43137"/>
                    </a:srgbClr>
                  </a:outerShdw>
                </a:effectLst>
                <a:latin typeface="+mn-ea"/>
                <a:ea typeface="+mn-ea"/>
              </a:rPr>
              <a:t>检测入侵</a:t>
            </a:r>
            <a:endParaRPr lang="en-AU" altLang="zh-CN" sz="2800" b="1" dirty="0">
              <a:solidFill>
                <a:srgbClr val="FF0000"/>
              </a:solidFill>
              <a:effectLst>
                <a:outerShdw blurRad="38100" dist="38100" dir="2700000" algn="tl">
                  <a:srgbClr val="000000">
                    <a:alpha val="43137"/>
                  </a:srgbClr>
                </a:outerShdw>
              </a:effectLst>
              <a:latin typeface="+mn-ea"/>
              <a:ea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41990"/>
                                        </p:tgtEl>
                                        <p:attrNameLst>
                                          <p:attrName>style.visibility</p:attrName>
                                        </p:attrNameLst>
                                      </p:cBhvr>
                                      <p:to>
                                        <p:strVal val="visible"/>
                                      </p:to>
                                    </p:set>
                                    <p:animEffect transition="in" filter="wipe(up)">
                                      <p:cBhvr>
                                        <p:cTn id="14" dur="500"/>
                                        <p:tgtEl>
                                          <p:spTgt spid="419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90" grpId="0"/>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idx="4294967295"/>
          </p:nvPr>
        </p:nvSpPr>
        <p:spPr>
          <a:xfrm>
            <a:off x="675481" y="755092"/>
            <a:ext cx="4976639" cy="656692"/>
          </a:xfrm>
          <a:noFill/>
          <a:ln w="9525">
            <a:noFill/>
            <a:miter lim="800000"/>
          </a:ln>
        </p:spPr>
        <p:txBody>
          <a:bodyPr vert="horz" wrap="square" lIns="91440" tIns="45720" rIns="91440" bIns="45720" numCol="1" anchor="ctr" anchorCtr="0" compatLnSpc="1"/>
          <a:lstStyle/>
          <a:p>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针对入侵构建防御系统</a:t>
            </a:r>
            <a:endPar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3013" name="Rectangle 5"/>
          <p:cNvSpPr>
            <a:spLocks noChangeArrowheads="1"/>
          </p:cNvSpPr>
          <p:nvPr/>
        </p:nvSpPr>
        <p:spPr bwMode="auto">
          <a:xfrm>
            <a:off x="935038" y="1628775"/>
            <a:ext cx="6985000" cy="1260475"/>
          </a:xfrm>
          <a:prstGeom prst="rect">
            <a:avLst/>
          </a:prstGeom>
          <a:noFill/>
          <a:ln w="9525">
            <a:noFill/>
            <a:miter lim="800000"/>
          </a:ln>
        </p:spPr>
        <p:txBody>
          <a:bodyPr>
            <a:spAutoFit/>
          </a:bodyPr>
          <a:lstStyle/>
          <a:p>
            <a:pPr eaLnBrk="0" hangingPunct="0">
              <a:spcBef>
                <a:spcPct val="20000"/>
              </a:spcBef>
              <a:buClr>
                <a:srgbClr val="3399FF"/>
              </a:buClr>
              <a:buFont typeface="Wingdings" panose="05000000000000000000" pitchFamily="2" charset="2"/>
              <a:buChar char="v"/>
            </a:pPr>
            <a:endParaRPr lang="en-AU" altLang="zh-CN" sz="2400" b="1" dirty="0">
              <a:latin typeface="宋体" panose="02010600030101010101" pitchFamily="2" charset="-122"/>
            </a:endParaRPr>
          </a:p>
          <a:p>
            <a:pPr algn="just">
              <a:spcBef>
                <a:spcPct val="20000"/>
              </a:spcBef>
            </a:pPr>
            <a:endParaRPr lang="zh-CN" altLang="en-US" sz="2400" b="1" dirty="0">
              <a:latin typeface="宋体" panose="02010600030101010101" pitchFamily="2" charset="-122"/>
            </a:endParaRPr>
          </a:p>
          <a:p>
            <a:r>
              <a:rPr lang="zh-CN" altLang="en-US" sz="2400" b="1" dirty="0">
                <a:latin typeface="宋体" panose="02010600030101010101" pitchFamily="2" charset="-122"/>
              </a:rPr>
              <a:t>    </a:t>
            </a:r>
          </a:p>
        </p:txBody>
      </p:sp>
      <p:sp>
        <p:nvSpPr>
          <p:cNvPr id="43014" name="Rectangle 6"/>
          <p:cNvSpPr>
            <a:spLocks noChangeArrowheads="1"/>
          </p:cNvSpPr>
          <p:nvPr/>
        </p:nvSpPr>
        <p:spPr bwMode="auto">
          <a:xfrm>
            <a:off x="827584" y="2255772"/>
            <a:ext cx="8064896" cy="1622507"/>
          </a:xfrm>
          <a:prstGeom prst="rect">
            <a:avLst/>
          </a:prstGeom>
          <a:noFill/>
          <a:ln w="9525">
            <a:noFill/>
            <a:miter lim="800000"/>
          </a:ln>
        </p:spPr>
        <p:txBody>
          <a:bodyPr/>
          <a:lstStyle/>
          <a:p>
            <a:pPr marL="800100" lvl="1" indent="-342900" eaLnBrk="0" hangingPunct="0">
              <a:lnSpc>
                <a:spcPts val="3400"/>
              </a:lnSpc>
              <a:spcBef>
                <a:spcPct val="20000"/>
              </a:spcBef>
              <a:buClr>
                <a:srgbClr val="FF9900"/>
              </a:buClr>
              <a:buFont typeface="Wingdings" panose="05000000000000000000" pitchFamily="2" charset="2"/>
              <a:buChar char="u"/>
            </a:pPr>
            <a:r>
              <a:rPr lang="zh-CN" altLang="en-AU" sz="2400" b="1" dirty="0">
                <a:effectLst>
                  <a:outerShdw blurRad="38100" dist="38100" dir="2700000" algn="tl">
                    <a:srgbClr val="000000">
                      <a:alpha val="43137"/>
                    </a:srgbClr>
                  </a:outerShdw>
                </a:effectLst>
                <a:latin typeface="+mn-ea"/>
                <a:ea typeface="+mn-ea"/>
              </a:rPr>
              <a:t>实时响应；</a:t>
            </a:r>
          </a:p>
          <a:p>
            <a:pPr marL="800100" lvl="1" indent="-342900" eaLnBrk="0" hangingPunct="0">
              <a:lnSpc>
                <a:spcPts val="3400"/>
              </a:lnSpc>
              <a:spcBef>
                <a:spcPct val="20000"/>
              </a:spcBef>
              <a:buClr>
                <a:srgbClr val="FF9900"/>
              </a:buClr>
              <a:buFont typeface="Wingdings" panose="05000000000000000000" pitchFamily="2" charset="2"/>
              <a:buChar char="u"/>
            </a:pPr>
            <a:r>
              <a:rPr lang="zh-CN" altLang="en-AU" sz="2400" b="1" dirty="0">
                <a:effectLst>
                  <a:outerShdw blurRad="38100" dist="38100" dir="2700000" algn="tl">
                    <a:srgbClr val="000000">
                      <a:alpha val="43137"/>
                    </a:srgbClr>
                  </a:outerShdw>
                </a:effectLst>
                <a:latin typeface="+mn-ea"/>
                <a:ea typeface="+mn-ea"/>
              </a:rPr>
              <a:t>识别入侵并做出响应；</a:t>
            </a:r>
          </a:p>
          <a:p>
            <a:pPr marL="800100" lvl="1" indent="-342900" eaLnBrk="0" hangingPunct="0">
              <a:lnSpc>
                <a:spcPts val="3400"/>
              </a:lnSpc>
              <a:spcBef>
                <a:spcPct val="20000"/>
              </a:spcBef>
              <a:buClr>
                <a:srgbClr val="FF9900"/>
              </a:buClr>
              <a:buFont typeface="Wingdings" panose="05000000000000000000" pitchFamily="2" charset="2"/>
              <a:buChar char="u"/>
            </a:pPr>
            <a:r>
              <a:rPr lang="zh-CN" altLang="en-AU" sz="2400" b="1" dirty="0">
                <a:effectLst>
                  <a:outerShdw blurRad="38100" dist="38100" dir="2700000" algn="tl">
                    <a:srgbClr val="000000">
                      <a:alpha val="43137"/>
                    </a:srgbClr>
                  </a:outerShdw>
                </a:effectLst>
                <a:latin typeface="+mn-ea"/>
                <a:ea typeface="+mn-ea"/>
              </a:rPr>
              <a:t>做出反应以减小入侵造成的响应，并尽快恢复服务。</a:t>
            </a:r>
          </a:p>
        </p:txBody>
      </p:sp>
      <p:sp>
        <p:nvSpPr>
          <p:cNvPr id="2" name="矩形 1"/>
          <p:cNvSpPr/>
          <p:nvPr/>
        </p:nvSpPr>
        <p:spPr>
          <a:xfrm>
            <a:off x="935038" y="1641367"/>
            <a:ext cx="3055645" cy="528350"/>
          </a:xfrm>
          <a:prstGeom prst="rect">
            <a:avLst/>
          </a:prstGeom>
        </p:spPr>
        <p:txBody>
          <a:bodyPr wrap="none">
            <a:spAutoFit/>
          </a:bodyPr>
          <a:lstStyle/>
          <a:p>
            <a:pPr marL="342900" indent="-342900" eaLnBrk="0" hangingPunct="0">
              <a:lnSpc>
                <a:spcPts val="3400"/>
              </a:lnSpc>
              <a:spcBef>
                <a:spcPct val="20000"/>
              </a:spcBef>
              <a:buClr>
                <a:srgbClr val="3399FF"/>
              </a:buClr>
              <a:buFont typeface="Wingdings" panose="05000000000000000000" pitchFamily="2" charset="2"/>
              <a:buChar char="v"/>
            </a:pPr>
            <a:r>
              <a:rPr lang="zh-CN" altLang="en-AU" sz="2800" b="1" dirty="0">
                <a:solidFill>
                  <a:srgbClr val="FF0000"/>
                </a:solidFill>
                <a:effectLst>
                  <a:outerShdw blurRad="38100" dist="38100" dir="2700000" algn="tl">
                    <a:srgbClr val="000000">
                      <a:alpha val="43137"/>
                    </a:srgbClr>
                  </a:outerShdw>
                </a:effectLst>
                <a:latin typeface="+mn-ea"/>
                <a:ea typeface="+mn-ea"/>
              </a:rPr>
              <a:t>对入侵做出响应</a:t>
            </a:r>
            <a:endParaRPr lang="en-AU" altLang="zh-CN" sz="2800" b="1" dirty="0">
              <a:solidFill>
                <a:srgbClr val="FF0000"/>
              </a:solidFill>
              <a:effectLst>
                <a:outerShdw blurRad="38100" dist="38100" dir="2700000" algn="tl">
                  <a:srgbClr val="000000">
                    <a:alpha val="43137"/>
                  </a:srgbClr>
                </a:outerShdw>
              </a:effectLst>
              <a:latin typeface="+mn-ea"/>
              <a:ea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43014"/>
                                        </p:tgtEl>
                                        <p:attrNameLst>
                                          <p:attrName>style.visibility</p:attrName>
                                        </p:attrNameLst>
                                      </p:cBhvr>
                                      <p:to>
                                        <p:strVal val="visible"/>
                                      </p:to>
                                    </p:set>
                                    <p:animEffect transition="in" filter="wipe(up)">
                                      <p:cBhvr>
                                        <p:cTn id="14" dur="500"/>
                                        <p:tgtEl>
                                          <p:spTgt spid="430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4" grpId="0"/>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idx="4294967295"/>
          </p:nvPr>
        </p:nvSpPr>
        <p:spPr>
          <a:xfrm>
            <a:off x="539552" y="728700"/>
            <a:ext cx="7793038" cy="620688"/>
          </a:xfrm>
          <a:noFill/>
          <a:ln w="9525">
            <a:noFill/>
            <a:miter lim="800000"/>
          </a:ln>
        </p:spPr>
        <p:txBody>
          <a:bodyPr vert="horz" wrap="square" lIns="91440" tIns="45720" rIns="91440" bIns="45720" numCol="1" anchor="ctr" anchorCtr="0" compatLnSpc="1"/>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8.4 </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入侵检测系统的作用</a:t>
            </a:r>
            <a:endPar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4037" name="Rectangle 5"/>
          <p:cNvSpPr>
            <a:spLocks noChangeArrowheads="1"/>
          </p:cNvSpPr>
          <p:nvPr/>
        </p:nvSpPr>
        <p:spPr bwMode="auto">
          <a:xfrm>
            <a:off x="917575" y="3032956"/>
            <a:ext cx="7308850" cy="2946832"/>
          </a:xfrm>
          <a:prstGeom prst="rect">
            <a:avLst/>
          </a:prstGeom>
          <a:noFill/>
          <a:ln w="9525">
            <a:noFill/>
            <a:miter lim="800000"/>
          </a:ln>
        </p:spPr>
        <p:txBody>
          <a:bodyPr>
            <a:spAutoFit/>
          </a:bodyPr>
          <a:lstStyle/>
          <a:p>
            <a:pPr marL="361950" indent="-361950" eaLnBrk="0" hangingPunct="0">
              <a:lnSpc>
                <a:spcPts val="3400"/>
              </a:lnSpc>
              <a:spcBef>
                <a:spcPct val="20000"/>
              </a:spcBef>
              <a:buClr>
                <a:srgbClr val="3399FF"/>
              </a:buClr>
              <a:buFont typeface="Wingdings" panose="05000000000000000000" pitchFamily="2" charset="2"/>
              <a:buChar char="v"/>
            </a:pPr>
            <a:r>
              <a:rPr lang="zh-CN" altLang="en-US" sz="2400" b="1" dirty="0">
                <a:effectLst>
                  <a:outerShdw blurRad="38100" dist="38100" dir="2700000" algn="tl">
                    <a:srgbClr val="000000">
                      <a:alpha val="43137"/>
                    </a:srgbClr>
                  </a:outerShdw>
                </a:effectLst>
                <a:latin typeface="+mn-ea"/>
                <a:ea typeface="+mn-ea"/>
              </a:rPr>
              <a:t>作为防火墙的补充；</a:t>
            </a:r>
          </a:p>
          <a:p>
            <a:pPr marL="361950" indent="-361950" eaLnBrk="0" hangingPunct="0">
              <a:lnSpc>
                <a:spcPts val="3400"/>
              </a:lnSpc>
              <a:spcBef>
                <a:spcPct val="20000"/>
              </a:spcBef>
              <a:buClr>
                <a:srgbClr val="3399FF"/>
              </a:buClr>
              <a:buFont typeface="Wingdings" panose="05000000000000000000" pitchFamily="2" charset="2"/>
              <a:buChar char="v"/>
            </a:pPr>
            <a:r>
              <a:rPr lang="zh-CN" altLang="en-US" sz="2400" b="1" dirty="0">
                <a:effectLst>
                  <a:outerShdw blurRad="38100" dist="38100" dir="2700000" algn="tl">
                    <a:srgbClr val="000000">
                      <a:alpha val="43137"/>
                    </a:srgbClr>
                  </a:outerShdw>
                </a:effectLst>
                <a:latin typeface="+mn-ea"/>
                <a:ea typeface="+mn-ea"/>
              </a:rPr>
              <a:t>检测来自内部网络的攻击；</a:t>
            </a:r>
            <a:endParaRPr lang="en-US" altLang="zh-CN" sz="2400" b="1" dirty="0">
              <a:effectLst>
                <a:outerShdw blurRad="38100" dist="38100" dir="2700000" algn="tl">
                  <a:srgbClr val="000000">
                    <a:alpha val="43137"/>
                  </a:srgbClr>
                </a:outerShdw>
              </a:effectLst>
              <a:latin typeface="+mn-ea"/>
              <a:ea typeface="+mn-ea"/>
            </a:endParaRPr>
          </a:p>
          <a:p>
            <a:pPr marL="361950" indent="-361950" eaLnBrk="0" hangingPunct="0">
              <a:lnSpc>
                <a:spcPts val="3400"/>
              </a:lnSpc>
              <a:spcBef>
                <a:spcPct val="20000"/>
              </a:spcBef>
              <a:buClr>
                <a:srgbClr val="3399FF"/>
              </a:buClr>
              <a:buFont typeface="Wingdings" panose="05000000000000000000" pitchFamily="2" charset="2"/>
              <a:buChar char="v"/>
            </a:pPr>
            <a:r>
              <a:rPr lang="zh-CN" altLang="en-AU" sz="2400" b="1" dirty="0">
                <a:effectLst>
                  <a:outerShdw blurRad="38100" dist="38100" dir="2700000" algn="tl">
                    <a:srgbClr val="000000">
                      <a:alpha val="43137"/>
                    </a:srgbClr>
                  </a:outerShdw>
                </a:effectLst>
                <a:latin typeface="+mn-ea"/>
                <a:ea typeface="+mn-ea"/>
              </a:rPr>
              <a:t>克服某些传统的防御机制的限制；</a:t>
            </a:r>
          </a:p>
          <a:p>
            <a:pPr marL="361950" indent="-361950" eaLnBrk="0" hangingPunct="0">
              <a:lnSpc>
                <a:spcPts val="3400"/>
              </a:lnSpc>
              <a:spcBef>
                <a:spcPct val="20000"/>
              </a:spcBef>
              <a:buClr>
                <a:srgbClr val="3399FF"/>
              </a:buClr>
              <a:buFont typeface="Wingdings" panose="05000000000000000000" pitchFamily="2" charset="2"/>
              <a:buChar char="v"/>
            </a:pPr>
            <a:r>
              <a:rPr lang="zh-CN" altLang="en-AU" sz="2400" b="1" dirty="0">
                <a:effectLst>
                  <a:outerShdw blurRad="38100" dist="38100" dir="2700000" algn="tl">
                    <a:srgbClr val="000000">
                      <a:alpha val="43137"/>
                    </a:srgbClr>
                  </a:outerShdw>
                </a:effectLst>
                <a:latin typeface="+mn-ea"/>
                <a:ea typeface="+mn-ea"/>
              </a:rPr>
              <a:t>在“深度防御”的基础上成为安全框架的一部分；</a:t>
            </a:r>
          </a:p>
          <a:p>
            <a:pPr marL="361950" indent="-361950" eaLnBrk="0" hangingPunct="0">
              <a:lnSpc>
                <a:spcPts val="3400"/>
              </a:lnSpc>
              <a:spcBef>
                <a:spcPct val="20000"/>
              </a:spcBef>
              <a:buClr>
                <a:srgbClr val="3399FF"/>
              </a:buClr>
              <a:buFont typeface="Wingdings" panose="05000000000000000000" pitchFamily="2" charset="2"/>
              <a:buChar char="v"/>
            </a:pPr>
            <a:r>
              <a:rPr lang="zh-CN" altLang="en-AU" sz="2400" b="1" dirty="0">
                <a:effectLst>
                  <a:outerShdw blurRad="38100" dist="38100" dir="2700000" algn="tl">
                    <a:srgbClr val="000000">
                      <a:alpha val="43137"/>
                    </a:srgbClr>
                  </a:outerShdw>
                </a:effectLst>
                <a:latin typeface="+mn-ea"/>
                <a:ea typeface="+mn-ea"/>
              </a:rPr>
              <a:t>在整个组织的网络中能够识别入侵或违反安全策略的行为，并能够做出回应。</a:t>
            </a:r>
            <a:endParaRPr lang="en-US" altLang="zh-CN" sz="2400" b="1" dirty="0">
              <a:effectLst>
                <a:outerShdw blurRad="38100" dist="38100" dir="2700000" algn="tl">
                  <a:srgbClr val="000000">
                    <a:alpha val="43137"/>
                  </a:srgbClr>
                </a:outerShdw>
              </a:effectLst>
              <a:latin typeface="+mn-ea"/>
              <a:ea typeface="+mn-ea"/>
            </a:endParaRPr>
          </a:p>
        </p:txBody>
      </p:sp>
      <p:sp>
        <p:nvSpPr>
          <p:cNvPr id="4" name="Rectangle 5">
            <a:extLst>
              <a:ext uri="{FF2B5EF4-FFF2-40B4-BE49-F238E27FC236}">
                <a16:creationId xmlns:a16="http://schemas.microsoft.com/office/drawing/2014/main" id="{DF7D31A2-6068-FB46-A695-BE1B8346DD3A}"/>
              </a:ext>
            </a:extLst>
          </p:cNvPr>
          <p:cNvSpPr>
            <a:spLocks noChangeArrowheads="1"/>
          </p:cNvSpPr>
          <p:nvPr/>
        </p:nvSpPr>
        <p:spPr bwMode="auto">
          <a:xfrm>
            <a:off x="917575" y="1394390"/>
            <a:ext cx="7308850" cy="1590692"/>
          </a:xfrm>
          <a:prstGeom prst="rect">
            <a:avLst/>
          </a:prstGeom>
          <a:noFill/>
          <a:ln w="9525">
            <a:noFill/>
            <a:miter lim="800000"/>
          </a:ln>
        </p:spPr>
        <p:txBody>
          <a:bodyPr>
            <a:spAutoFit/>
          </a:bodyPr>
          <a:lstStyle/>
          <a:p>
            <a:pPr>
              <a:lnSpc>
                <a:spcPct val="125000"/>
              </a:lnSpc>
              <a:spcBef>
                <a:spcPct val="20000"/>
              </a:spcBef>
              <a:buClr>
                <a:srgbClr val="3399FF"/>
              </a:buClr>
              <a:buFont typeface="Wingdings" panose="05000000000000000000" pitchFamily="2" charset="2"/>
              <a:buNone/>
            </a:pPr>
            <a:r>
              <a:rPr lang="zh-CN" altLang="en-US" sz="2000" b="1" dirty="0"/>
              <a:t>入侵检测是一项重要的安全监控技术，目的是识别系统中入侵者的非授权使用及系统合法用户的滥用行为，尽量发现系统因软件错误、认证模块的失效、不适当的系统管理而引起的安全性缺陷并采取相应的补救措施。</a:t>
            </a: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idx="4294967295"/>
          </p:nvPr>
        </p:nvSpPr>
        <p:spPr>
          <a:xfrm>
            <a:off x="420576" y="799108"/>
            <a:ext cx="4608624" cy="548680"/>
          </a:xfrm>
          <a:noFill/>
          <a:ln w="9525">
            <a:noFill/>
            <a:miter lim="800000"/>
          </a:ln>
        </p:spPr>
        <p:txBody>
          <a:bodyPr vert="horz" wrap="square" lIns="91440" tIns="45720" rIns="91440" bIns="45720" numCol="1" anchor="ctr" anchorCtr="0" compatLnSpc="1"/>
          <a:lstStyle/>
          <a:p>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入侵检测系统的功能</a:t>
            </a:r>
            <a:endPar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5061" name="Rectangle 23"/>
          <p:cNvSpPr>
            <a:spLocks noChangeArrowheads="1"/>
          </p:cNvSpPr>
          <p:nvPr/>
        </p:nvSpPr>
        <p:spPr bwMode="auto">
          <a:xfrm>
            <a:off x="1007604" y="1556792"/>
            <a:ext cx="7453312" cy="4056495"/>
          </a:xfrm>
          <a:prstGeom prst="rect">
            <a:avLst/>
          </a:prstGeom>
          <a:noFill/>
          <a:ln w="9525">
            <a:noFill/>
            <a:miter lim="800000"/>
          </a:ln>
        </p:spPr>
        <p:txBody>
          <a:bodyPr>
            <a:spAutoFit/>
          </a:bodyPr>
          <a:lstStyle/>
          <a:p>
            <a:pPr marL="361950" indent="-361950" eaLnBrk="0" hangingPunct="0">
              <a:spcBef>
                <a:spcPct val="20000"/>
              </a:spcBef>
              <a:buClr>
                <a:srgbClr val="3399FF"/>
              </a:buClr>
              <a:buFont typeface="Wingdings" panose="05000000000000000000" pitchFamily="2" charset="2"/>
              <a:buChar char="v"/>
            </a:pPr>
            <a:r>
              <a:rPr lang="zh-CN" altLang="en-US" sz="28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自动检测入侵行为；</a:t>
            </a:r>
          </a:p>
          <a:p>
            <a:pPr marL="361950" indent="-361950" eaLnBrk="0" hangingPunct="0">
              <a:spcBef>
                <a:spcPct val="20000"/>
              </a:spcBef>
              <a:buClr>
                <a:srgbClr val="3399FF"/>
              </a:buClr>
              <a:buFont typeface="Wingdings" panose="05000000000000000000" pitchFamily="2" charset="2"/>
              <a:buChar char="v"/>
            </a:pPr>
            <a:r>
              <a:rPr lang="zh-CN" altLang="en-US" sz="28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监视网络流量（</a:t>
            </a:r>
            <a:r>
              <a:rPr lang="en-US" altLang="zh-CN" sz="28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Network IDS)</a:t>
            </a:r>
            <a:r>
              <a:rPr lang="zh-CN" altLang="en-US" sz="28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和主机</a:t>
            </a:r>
            <a:r>
              <a:rPr lang="en-US" altLang="zh-CN" sz="28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(Host IDS)</a:t>
            </a:r>
            <a:r>
              <a:rPr lang="zh-CN" altLang="en-US" sz="28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中的操作；</a:t>
            </a:r>
          </a:p>
          <a:p>
            <a:pPr marL="361950" indent="-361950" eaLnBrk="0" hangingPunct="0">
              <a:spcBef>
                <a:spcPct val="20000"/>
              </a:spcBef>
              <a:buClr>
                <a:srgbClr val="3399FF"/>
              </a:buClr>
              <a:buFont typeface="Wingdings" panose="05000000000000000000" pitchFamily="2" charset="2"/>
              <a:buChar char="v"/>
            </a:pPr>
            <a:r>
              <a:rPr lang="zh-CN" altLang="en-AU" sz="28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分析入侵行为：</a:t>
            </a:r>
          </a:p>
          <a:p>
            <a:pPr marL="998855" lvl="1" indent="-457200" eaLnBrk="0" hangingPunct="0">
              <a:spcBef>
                <a:spcPct val="20000"/>
              </a:spcBef>
              <a:buClr>
                <a:srgbClr val="FF9900"/>
              </a:buClr>
              <a:buSzPct val="50000"/>
              <a:buFont typeface="Wingdings" panose="05000000000000000000" pitchFamily="2" charset="2"/>
              <a:buChar char="n"/>
            </a:pPr>
            <a:r>
              <a:rPr lang="zh-CN" altLang="en-AU" sz="28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基于特征</a:t>
            </a:r>
          </a:p>
          <a:p>
            <a:pPr marL="998855" lvl="1" indent="-457200" eaLnBrk="0" hangingPunct="0">
              <a:spcBef>
                <a:spcPct val="20000"/>
              </a:spcBef>
              <a:buClr>
                <a:srgbClr val="FF9900"/>
              </a:buClr>
              <a:buSzPct val="50000"/>
              <a:buFont typeface="Wingdings" panose="05000000000000000000" pitchFamily="2" charset="2"/>
              <a:buChar char="n"/>
            </a:pPr>
            <a:r>
              <a:rPr lang="zh-CN" altLang="en-AU" sz="28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基本异常</a:t>
            </a:r>
          </a:p>
          <a:p>
            <a:pPr marL="361950" indent="-361950" eaLnBrk="0" hangingPunct="0">
              <a:spcBef>
                <a:spcPct val="20000"/>
              </a:spcBef>
              <a:buClr>
                <a:srgbClr val="3399FF"/>
              </a:buClr>
              <a:buFont typeface="Wingdings" panose="05000000000000000000" pitchFamily="2" charset="2"/>
              <a:buChar char="v"/>
            </a:pPr>
            <a:r>
              <a:rPr lang="zh-CN" altLang="en-AU" sz="28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按预定的规则做出响应：</a:t>
            </a:r>
          </a:p>
          <a:p>
            <a:pPr marL="998855" lvl="1" indent="-457200" eaLnBrk="0" hangingPunct="0">
              <a:spcBef>
                <a:spcPct val="20000"/>
              </a:spcBef>
              <a:buClr>
                <a:srgbClr val="FF9900"/>
              </a:buClr>
              <a:buSzPct val="50000"/>
              <a:buFont typeface="Wingdings" panose="05000000000000000000" pitchFamily="2" charset="2"/>
              <a:buChar char="n"/>
            </a:pPr>
            <a:r>
              <a:rPr lang="zh-CN" altLang="en-AU" sz="28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阻止指定的行为。</a:t>
            </a:r>
            <a:endParaRPr lang="zh-CN" altLang="en-US" sz="28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gray">
          <a:xfrm>
            <a:off x="575556" y="728700"/>
            <a:ext cx="5292588" cy="687388"/>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2pPr>
            <a:lvl3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3pPr>
            <a:lvl4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4pPr>
            <a:lvl5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5pPr>
            <a:lvl6pPr marL="4572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6pPr>
            <a:lvl7pPr marL="9144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7pPr>
            <a:lvl8pPr marL="13716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8pPr>
            <a:lvl9pPr marL="18288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9pPr>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8.5  </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入侵检测模型（分类）</a:t>
            </a:r>
            <a:endPar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Rectangle 2"/>
          <p:cNvSpPr txBox="1">
            <a:spLocks noChangeArrowheads="1"/>
          </p:cNvSpPr>
          <p:nvPr/>
        </p:nvSpPr>
        <p:spPr bwMode="gray">
          <a:xfrm>
            <a:off x="1331640" y="1700808"/>
            <a:ext cx="6804756" cy="687388"/>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2pPr>
            <a:lvl3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3pPr>
            <a:lvl4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4pPr>
            <a:lvl5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5pPr>
            <a:lvl6pPr marL="4572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6pPr>
            <a:lvl7pPr marL="9144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7pPr>
            <a:lvl8pPr marL="13716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8pPr>
            <a:lvl9pPr marL="18288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9pPr>
          </a:lstStyle>
          <a:p>
            <a:pPr marL="457200" indent="-457200">
              <a:buFont typeface="Wingdings" panose="05000000000000000000" pitchFamily="2" charset="2"/>
              <a:buChar char="p"/>
            </a:pPr>
            <a:r>
              <a:rPr lang="zh-CN" altLang="en-US" sz="28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通用入侵检测模型（</a:t>
            </a:r>
            <a:r>
              <a:rPr lang="en-US" altLang="zh-CN" sz="28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Denning</a:t>
            </a:r>
            <a:r>
              <a:rPr lang="zh-CN" altLang="en-US" sz="28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模型</a:t>
            </a:r>
            <a:r>
              <a:rPr lang="zh-CN" altLang="en-US" sz="28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en-US" altLang="zh-CN" sz="2800" kern="12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Rectangle 2"/>
          <p:cNvSpPr txBox="1">
            <a:spLocks noRot="1" noChangeArrowheads="1"/>
          </p:cNvSpPr>
          <p:nvPr/>
        </p:nvSpPr>
        <p:spPr bwMode="gray">
          <a:xfrm>
            <a:off x="1349036" y="2404805"/>
            <a:ext cx="5455212" cy="648370"/>
          </a:xfrm>
          <a:prstGeom prst="rect">
            <a:avLst/>
          </a:prstGeom>
          <a:noFill/>
          <a:ln w="9525">
            <a:noFill/>
            <a:miter lim="800000"/>
          </a:ln>
        </p:spPr>
        <p:txBody>
          <a:bodyPr vert="horz" wrap="square" lIns="91440" tIns="45720" rIns="91440" bIns="45720" numCol="1" anchor="ctr" anchorCtr="0" compatLnSpc="1"/>
          <a:lstStyle>
            <a:defPPr>
              <a:defRPr lang="en-US"/>
            </a:defPPr>
            <a:lvl1pPr eaLnBrk="0" hangingPunct="0">
              <a:defRPr sz="2800" b="1">
                <a:solidFill>
                  <a:srgbClr val="0033CC"/>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defRPr>
            </a:lvl1pPr>
            <a:lvl2pPr eaLnBrk="0" hangingPunct="0">
              <a:defRPr sz="3200" b="1">
                <a:solidFill>
                  <a:srgbClr val="FFFFFF"/>
                </a:solidFill>
                <a:latin typeface="黑体" panose="02010609060101010101" pitchFamily="2" charset="-122"/>
                <a:ea typeface="黑体" panose="02010609060101010101" pitchFamily="2" charset="-122"/>
              </a:defRPr>
            </a:lvl2pPr>
            <a:lvl3pPr eaLnBrk="0" hangingPunct="0">
              <a:defRPr sz="3200" b="1">
                <a:solidFill>
                  <a:srgbClr val="FFFFFF"/>
                </a:solidFill>
                <a:latin typeface="黑体" panose="02010609060101010101" pitchFamily="2" charset="-122"/>
                <a:ea typeface="黑体" panose="02010609060101010101" pitchFamily="2" charset="-122"/>
              </a:defRPr>
            </a:lvl3pPr>
            <a:lvl4pPr eaLnBrk="0" hangingPunct="0">
              <a:defRPr sz="3200" b="1">
                <a:solidFill>
                  <a:srgbClr val="FFFFFF"/>
                </a:solidFill>
                <a:latin typeface="黑体" panose="02010609060101010101" pitchFamily="2" charset="-122"/>
                <a:ea typeface="黑体" panose="02010609060101010101" pitchFamily="2" charset="-122"/>
              </a:defRPr>
            </a:lvl4pPr>
            <a:lvl5pPr eaLnBrk="0" hangingPunct="0">
              <a:defRPr sz="3200" b="1">
                <a:solidFill>
                  <a:srgbClr val="FFFFFF"/>
                </a:solidFill>
                <a:latin typeface="黑体" panose="02010609060101010101" pitchFamily="2" charset="-122"/>
                <a:ea typeface="黑体" panose="02010609060101010101" pitchFamily="2" charset="-122"/>
              </a:defRPr>
            </a:lvl5pPr>
            <a:lvl6pPr marL="45720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6pPr>
            <a:lvl7pPr marL="91440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7pPr>
            <a:lvl8pPr marL="137160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8pPr>
            <a:lvl9pPr marL="182880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9pPr>
          </a:lstStyle>
          <a:p>
            <a:pPr marL="457200" indent="-457200">
              <a:buFont typeface="Wingdings" panose="05000000000000000000" pitchFamily="2" charset="2"/>
              <a:buChar char="p"/>
            </a:pPr>
            <a:r>
              <a:rPr lang="zh-CN" altLang="en-US" dirty="0">
                <a:solidFill>
                  <a:schemeClr val="tx1"/>
                </a:solidFill>
              </a:rPr>
              <a:t>层次化入侵检测模型（</a:t>
            </a:r>
            <a:r>
              <a:rPr lang="en-US" altLang="zh-CN" dirty="0">
                <a:solidFill>
                  <a:srgbClr val="FF0000"/>
                </a:solidFill>
              </a:rPr>
              <a:t>IDM</a:t>
            </a:r>
            <a:r>
              <a:rPr lang="zh-CN" altLang="en-US" dirty="0">
                <a:solidFill>
                  <a:schemeClr val="tx1"/>
                </a:solidFill>
              </a:rPr>
              <a:t>）</a:t>
            </a:r>
            <a:endParaRPr lang="en-US" altLang="zh-CN" dirty="0">
              <a:solidFill>
                <a:schemeClr val="tx1"/>
              </a:solidFill>
            </a:endParaRPr>
          </a:p>
        </p:txBody>
      </p:sp>
      <p:sp>
        <p:nvSpPr>
          <p:cNvPr id="7" name="矩形 6"/>
          <p:cNvSpPr/>
          <p:nvPr/>
        </p:nvSpPr>
        <p:spPr>
          <a:xfrm>
            <a:off x="1367644" y="3168538"/>
            <a:ext cx="6876764" cy="523220"/>
          </a:xfrm>
          <a:prstGeom prst="rect">
            <a:avLst/>
          </a:prstGeom>
          <a:noFill/>
          <a:ln w="9525">
            <a:noFill/>
            <a:miter lim="800000"/>
          </a:ln>
        </p:spPr>
        <p:txBody>
          <a:bodyPr vert="horz" wrap="square" lIns="91440" tIns="45720" rIns="91440" bIns="45720" numCol="1" anchor="ctr" anchorCtr="0" compatLnSpc="1"/>
          <a:lstStyle/>
          <a:p>
            <a:pPr marL="457200" indent="-457200" eaLnBrk="0" hangingPunct="0">
              <a:buFont typeface="Wingdings" panose="05000000000000000000" pitchFamily="2" charset="2"/>
              <a:buChar char="p"/>
            </a:pPr>
            <a:r>
              <a:rPr lang="zh-CN" altLang="en-US" sz="28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管理式入侵检测模型（</a:t>
            </a:r>
            <a:r>
              <a:rPr lang="en-US" altLang="zh-CN" sz="2800" b="1" dirty="0">
                <a:solidFill>
                  <a:srgbClr val="FF0000"/>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SNMP-IDSM</a:t>
            </a:r>
            <a:r>
              <a:rPr lang="zh-CN" altLang="en-US" sz="28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Effect transition="in" filter="fade">
                                      <p:cBhvr>
                                        <p:cTn id="15" dur="500"/>
                                        <p:tgtEl>
                                          <p:spTgt spid="6"/>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animEffect transition="in" filter="fade">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3"/>
          <p:cNvSpPr>
            <a:spLocks noGrp="1" noChangeArrowheads="1"/>
          </p:cNvSpPr>
          <p:nvPr>
            <p:ph type="body" idx="1"/>
          </p:nvPr>
        </p:nvSpPr>
        <p:spPr>
          <a:xfrm>
            <a:off x="394294" y="1592796"/>
            <a:ext cx="8191500" cy="4113820"/>
          </a:xfrm>
        </p:spPr>
        <p:txBody>
          <a:bodyPr/>
          <a:lstStyle/>
          <a:p>
            <a:pPr lvl="1" eaLnBrk="1" hangingPunct="1">
              <a:buFont typeface="Wingdings" panose="05000000000000000000" pitchFamily="2" charset="2"/>
              <a:buChar char="u"/>
            </a:pP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在</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1984</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年</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-1986</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年，在美国海军空间和海军战争系统司令部的资助下，</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Dorothy Denning</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给出了通用入侵检测系统模型。</a:t>
            </a:r>
          </a:p>
          <a:p>
            <a:pPr lvl="1" eaLnBrk="1" hangingPunct="1">
              <a:buFont typeface="Wingdings" panose="05000000000000000000" pitchFamily="2" charset="2"/>
              <a:buChar char="u"/>
            </a:pP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Denning</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提出了</a:t>
            </a:r>
            <a:r>
              <a:rPr lang="zh-CN" altLang="en-US" sz="24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异常活动和计算机不当使用之间的相关性</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，该模型</a:t>
            </a:r>
            <a:r>
              <a:rPr lang="zh-CN" altLang="en-US" sz="24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独立</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于任何特殊系统、应用环境、系统脆弱性或入侵种类，是一通用的入侵检测框架。</a:t>
            </a:r>
          </a:p>
          <a:p>
            <a:pPr lvl="1" eaLnBrk="1" hangingPunct="1">
              <a:buFont typeface="Wingdings" panose="05000000000000000000" pitchFamily="2" charset="2"/>
              <a:buChar char="u"/>
            </a:pP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能够检测出</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Hacker</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入侵、越权操作及其它种类的非正常使用计算机系统的行为。</a:t>
            </a:r>
          </a:p>
          <a:p>
            <a:pPr lvl="1" eaLnBrk="1" hangingPunct="1">
              <a:buFont typeface="Wingdings" panose="05000000000000000000" pitchFamily="2" charset="2"/>
              <a:buChar char="u"/>
            </a:pP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模型假设：入侵行为可以通过检查一个系统的</a:t>
            </a:r>
            <a:r>
              <a:rPr lang="zh-CN" altLang="en-US" sz="24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审计记录</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、从中识别异常使用系统的入侵行为。</a:t>
            </a:r>
          </a:p>
        </p:txBody>
      </p:sp>
      <p:sp>
        <p:nvSpPr>
          <p:cNvPr id="6" name="Rectangle 2"/>
          <p:cNvSpPr txBox="1">
            <a:spLocks noChangeArrowheads="1"/>
          </p:cNvSpPr>
          <p:nvPr/>
        </p:nvSpPr>
        <p:spPr bwMode="gray">
          <a:xfrm>
            <a:off x="575556" y="764704"/>
            <a:ext cx="7020780" cy="687388"/>
          </a:xfrm>
          <a:prstGeom prst="rect">
            <a:avLst/>
          </a:prstGeom>
          <a:noFill/>
          <a:ln w="9525">
            <a:noFill/>
            <a:miter lim="800000"/>
          </a:ln>
        </p:spPr>
        <p:txBody>
          <a:bodyPr vert="horz" wrap="square" lIns="91440" tIns="45720" rIns="91440" bIns="45720" numCol="1" anchor="ctr" anchorCtr="0" compatLnSpc="1"/>
          <a:lstStyle>
            <a:lvl1pPr eaLnBrk="0" hangingPunct="0">
              <a:defRPr sz="2800" b="1">
                <a:solidFill>
                  <a:srgbClr val="0033CC"/>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defRPr>
            </a:lvl1pPr>
            <a:lvl2pPr eaLnBrk="0" hangingPunct="0">
              <a:defRPr sz="3200" b="1">
                <a:solidFill>
                  <a:srgbClr val="FFFFFF"/>
                </a:solidFill>
                <a:latin typeface="黑体" panose="02010609060101010101" pitchFamily="2" charset="-122"/>
                <a:ea typeface="黑体" panose="02010609060101010101" pitchFamily="2" charset="-122"/>
              </a:defRPr>
            </a:lvl2pPr>
            <a:lvl3pPr eaLnBrk="0" hangingPunct="0">
              <a:defRPr sz="3200" b="1">
                <a:solidFill>
                  <a:srgbClr val="FFFFFF"/>
                </a:solidFill>
                <a:latin typeface="黑体" panose="02010609060101010101" pitchFamily="2" charset="-122"/>
                <a:ea typeface="黑体" panose="02010609060101010101" pitchFamily="2" charset="-122"/>
              </a:defRPr>
            </a:lvl3pPr>
            <a:lvl4pPr eaLnBrk="0" hangingPunct="0">
              <a:defRPr sz="3200" b="1">
                <a:solidFill>
                  <a:srgbClr val="FFFFFF"/>
                </a:solidFill>
                <a:latin typeface="黑体" panose="02010609060101010101" pitchFamily="2" charset="-122"/>
                <a:ea typeface="黑体" panose="02010609060101010101" pitchFamily="2" charset="-122"/>
              </a:defRPr>
            </a:lvl4pPr>
            <a:lvl5pPr eaLnBrk="0" hangingPunct="0">
              <a:defRPr sz="3200" b="1">
                <a:solidFill>
                  <a:srgbClr val="FFFFFF"/>
                </a:solidFill>
                <a:latin typeface="黑体" panose="02010609060101010101" pitchFamily="2" charset="-122"/>
                <a:ea typeface="黑体" panose="02010609060101010101" pitchFamily="2" charset="-122"/>
              </a:defRPr>
            </a:lvl5pPr>
            <a:lvl6pPr marL="45720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6pPr>
            <a:lvl7pPr marL="91440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7pPr>
            <a:lvl8pPr marL="137160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8pPr>
            <a:lvl9pPr marL="182880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9pPr>
          </a:lstStyle>
          <a:p>
            <a:r>
              <a:rPr lang="zh-CN" altLang="en-US" dirty="0"/>
              <a:t>通用入侵检测模型（</a:t>
            </a:r>
            <a:r>
              <a:rPr lang="en-US" altLang="zh-CN" dirty="0"/>
              <a:t>Denning</a:t>
            </a:r>
            <a:r>
              <a:rPr lang="zh-CN" altLang="en-US" dirty="0"/>
              <a:t>模型） </a:t>
            </a:r>
            <a:endParaRPr lang="en-US" altLang="zh-CN" dirty="0"/>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Rot="1" noChangeArrowheads="1"/>
          </p:cNvSpPr>
          <p:nvPr>
            <p:ph type="title"/>
          </p:nvPr>
        </p:nvSpPr>
        <p:spPr>
          <a:xfrm>
            <a:off x="381000" y="729072"/>
            <a:ext cx="6426088" cy="575692"/>
          </a:xfrm>
          <a:noFill/>
          <a:ln w="9525">
            <a:noFill/>
            <a:miter lim="800000"/>
          </a:ln>
        </p:spPr>
        <p:txBody>
          <a:bodyPr vert="horz" wrap="square" lIns="91440" tIns="45720" rIns="91440" bIns="45720" numCol="1" anchor="ctr" anchorCtr="0" compatLnSpc="1"/>
          <a:lstStyle/>
          <a:p>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通用入侵检测模型（</a:t>
            </a:r>
            <a:r>
              <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Denning</a:t>
            </a:r>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模型） </a:t>
            </a:r>
          </a:p>
        </p:txBody>
      </p:sp>
      <p:sp>
        <p:nvSpPr>
          <p:cNvPr id="12291" name="Rectangle 3"/>
          <p:cNvSpPr>
            <a:spLocks noGrp="1" noRot="1" noChangeArrowheads="1"/>
          </p:cNvSpPr>
          <p:nvPr>
            <p:ph type="body" idx="1"/>
          </p:nvPr>
        </p:nvSpPr>
        <p:spPr>
          <a:xfrm>
            <a:off x="611560" y="2464410"/>
            <a:ext cx="7524836" cy="1708256"/>
          </a:xfrm>
        </p:spPr>
        <p:txBody>
          <a:bodyPr/>
          <a:lstStyle/>
          <a:p>
            <a:pPr eaLnBrk="1" hangingPunct="1">
              <a:lnSpc>
                <a:spcPct val="90000"/>
              </a:lnSpc>
              <a:buFont typeface="Wingdings" panose="05000000000000000000" pitchFamily="2" charset="2"/>
              <a:buChar char="u"/>
            </a:pPr>
            <a:r>
              <a:rPr lang="zh-CN" altLang="en-US" sz="2400" b="1" dirty="0">
                <a:solidFill>
                  <a:srgbClr val="FF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可检测的</a:t>
            </a:r>
            <a:r>
              <a:rPr lang="zh-CN" altLang="en-US" sz="2400" dirty="0">
                <a:solidFill>
                  <a:srgbClr val="00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异常使用系统的行为：</a:t>
            </a:r>
          </a:p>
          <a:p>
            <a:pPr eaLnBrk="1" hangingPunct="1">
              <a:lnSpc>
                <a:spcPct val="90000"/>
              </a:lnSpc>
              <a:buFont typeface="Wingdings" panose="05000000000000000000" pitchFamily="2" charset="2"/>
              <a:buNone/>
            </a:pPr>
            <a:r>
              <a:rPr lang="en-US" altLang="zh-CN" dirty="0">
                <a:solidFill>
                  <a:srgbClr val="000000"/>
                </a:solidFill>
                <a:latin typeface="黑体" panose="02010609060101010101" pitchFamily="2" charset="-122"/>
                <a:ea typeface="黑体" panose="02010609060101010101" pitchFamily="2" charset="-122"/>
              </a:rPr>
              <a:t>  </a:t>
            </a:r>
            <a:r>
              <a:rPr lang="en-US" altLang="zh-CN" sz="2400" b="1" dirty="0">
                <a:solidFill>
                  <a:srgbClr val="000000"/>
                </a:solidFill>
                <a:effectLst>
                  <a:outerShdw blurRad="38100" dist="38100" dir="2700000" algn="tl">
                    <a:srgbClr val="000000">
                      <a:alpha val="43137"/>
                    </a:srgbClr>
                  </a:outerShdw>
                </a:effectLst>
                <a:latin typeface="+mn-ea"/>
              </a:rPr>
              <a:t>– </a:t>
            </a:r>
            <a:r>
              <a:rPr lang="zh-CN" altLang="en-US" sz="2400" b="1" dirty="0">
                <a:solidFill>
                  <a:srgbClr val="000000"/>
                </a:solidFill>
                <a:effectLst>
                  <a:outerShdw blurRad="38100" dist="38100" dir="2700000" algn="tl">
                    <a:srgbClr val="000000">
                      <a:alpha val="43137"/>
                    </a:srgbClr>
                  </a:outerShdw>
                </a:effectLst>
                <a:latin typeface="+mn-ea"/>
              </a:rPr>
              <a:t>黑客入侵</a:t>
            </a:r>
          </a:p>
          <a:p>
            <a:pPr eaLnBrk="1" hangingPunct="1">
              <a:lnSpc>
                <a:spcPct val="90000"/>
              </a:lnSpc>
              <a:buFont typeface="Wingdings" panose="05000000000000000000" pitchFamily="2" charset="2"/>
              <a:buNone/>
            </a:pPr>
            <a:r>
              <a:rPr lang="en-US" altLang="zh-CN" sz="2400" b="1" dirty="0">
                <a:solidFill>
                  <a:srgbClr val="000000"/>
                </a:solidFill>
                <a:effectLst>
                  <a:outerShdw blurRad="38100" dist="38100" dir="2700000" algn="tl">
                    <a:srgbClr val="000000">
                      <a:alpha val="43137"/>
                    </a:srgbClr>
                  </a:outerShdw>
                </a:effectLst>
                <a:latin typeface="+mn-ea"/>
              </a:rPr>
              <a:t>  – </a:t>
            </a:r>
            <a:r>
              <a:rPr lang="zh-CN" altLang="en-US" sz="2400" b="1" dirty="0">
                <a:solidFill>
                  <a:srgbClr val="000000"/>
                </a:solidFill>
                <a:effectLst>
                  <a:outerShdw blurRad="38100" dist="38100" dir="2700000" algn="tl">
                    <a:srgbClr val="000000">
                      <a:alpha val="43137"/>
                    </a:srgbClr>
                  </a:outerShdw>
                </a:effectLst>
                <a:latin typeface="+mn-ea"/>
              </a:rPr>
              <a:t>未授权操作或越权操作 </a:t>
            </a:r>
          </a:p>
          <a:p>
            <a:pPr eaLnBrk="1" hangingPunct="1">
              <a:lnSpc>
                <a:spcPct val="90000"/>
              </a:lnSpc>
              <a:buFont typeface="Wingdings" panose="05000000000000000000" pitchFamily="2" charset="2"/>
              <a:buNone/>
            </a:pPr>
            <a:r>
              <a:rPr lang="en-US" altLang="zh-CN" sz="2400" b="1" dirty="0">
                <a:solidFill>
                  <a:srgbClr val="000000"/>
                </a:solidFill>
                <a:effectLst>
                  <a:outerShdw blurRad="38100" dist="38100" dir="2700000" algn="tl">
                    <a:srgbClr val="000000">
                      <a:alpha val="43137"/>
                    </a:srgbClr>
                  </a:outerShdw>
                </a:effectLst>
                <a:latin typeface="+mn-ea"/>
              </a:rPr>
              <a:t>  – </a:t>
            </a:r>
            <a:r>
              <a:rPr lang="zh-CN" altLang="en-US" sz="2400" b="1" dirty="0">
                <a:solidFill>
                  <a:srgbClr val="000000"/>
                </a:solidFill>
                <a:effectLst>
                  <a:outerShdw blurRad="38100" dist="38100" dir="2700000" algn="tl">
                    <a:srgbClr val="000000">
                      <a:alpha val="43137"/>
                    </a:srgbClr>
                  </a:outerShdw>
                </a:effectLst>
                <a:latin typeface="+mn-ea"/>
              </a:rPr>
              <a:t>其他</a:t>
            </a:r>
            <a:endParaRPr lang="zh-CN" altLang="en-US" sz="2400" b="1" dirty="0">
              <a:effectLst>
                <a:outerShdw blurRad="38100" dist="38100" dir="2700000" algn="tl">
                  <a:srgbClr val="000000">
                    <a:alpha val="43137"/>
                  </a:srgbClr>
                </a:outerShdw>
              </a:effectLst>
              <a:latin typeface="+mn-ea"/>
            </a:endParaRPr>
          </a:p>
        </p:txBody>
      </p:sp>
      <p:sp>
        <p:nvSpPr>
          <p:cNvPr id="12292" name="Rectangle 4"/>
          <p:cNvSpPr>
            <a:spLocks noChangeArrowheads="1"/>
          </p:cNvSpPr>
          <p:nvPr/>
        </p:nvSpPr>
        <p:spPr bwMode="auto">
          <a:xfrm>
            <a:off x="2667000" y="433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b="0"/>
          </a:p>
        </p:txBody>
      </p:sp>
      <p:sp>
        <p:nvSpPr>
          <p:cNvPr id="2" name="矩形 1"/>
          <p:cNvSpPr/>
          <p:nvPr/>
        </p:nvSpPr>
        <p:spPr>
          <a:xfrm>
            <a:off x="611560" y="1530047"/>
            <a:ext cx="7776864" cy="757130"/>
          </a:xfrm>
          <a:prstGeom prst="rect">
            <a:avLst/>
          </a:prstGeom>
        </p:spPr>
        <p:txBody>
          <a:bodyPr wrap="square">
            <a:spAutoFit/>
          </a:bodyPr>
          <a:lstStyle/>
          <a:p>
            <a:pPr marL="342900" indent="-342900">
              <a:lnSpc>
                <a:spcPct val="90000"/>
              </a:lnSpc>
              <a:spcBef>
                <a:spcPct val="20000"/>
              </a:spcBef>
              <a:buClr>
                <a:srgbClr val="3399FF"/>
              </a:buClr>
              <a:buFont typeface="Wingdings" panose="05000000000000000000" pitchFamily="2" charset="2"/>
              <a:buChar char="u"/>
            </a:pPr>
            <a:r>
              <a:rPr lang="zh-CN" altLang="en-US" sz="2400" b="1" dirty="0">
                <a:solidFill>
                  <a:srgbClr val="FF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假设：</a:t>
            </a:r>
            <a:r>
              <a:rPr lang="zh-CN" altLang="en-US" sz="2400" b="1" dirty="0">
                <a:solidFill>
                  <a:srgbClr val="00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异常使用系统的入侵行为可以通过检查一个系统的审计记录来识别。 </a:t>
            </a:r>
          </a:p>
        </p:txBody>
      </p:sp>
      <p:sp>
        <p:nvSpPr>
          <p:cNvPr id="3" name="矩形 2"/>
          <p:cNvSpPr/>
          <p:nvPr/>
        </p:nvSpPr>
        <p:spPr>
          <a:xfrm>
            <a:off x="755576" y="4335752"/>
            <a:ext cx="7632848" cy="424732"/>
          </a:xfrm>
          <a:prstGeom prst="rect">
            <a:avLst/>
          </a:prstGeom>
        </p:spPr>
        <p:txBody>
          <a:bodyPr wrap="square">
            <a:spAutoFit/>
          </a:bodyPr>
          <a:lstStyle/>
          <a:p>
            <a:pPr marL="342900" indent="-342900" eaLnBrk="1" hangingPunct="1">
              <a:lnSpc>
                <a:spcPct val="90000"/>
              </a:lnSpc>
              <a:spcBef>
                <a:spcPct val="20000"/>
              </a:spcBef>
              <a:buClr>
                <a:srgbClr val="3399FF"/>
              </a:buClr>
              <a:buFont typeface="Wingdings" panose="05000000000000000000" pitchFamily="2" charset="2"/>
              <a:buChar char="u"/>
            </a:pPr>
            <a:r>
              <a:rPr lang="en-US" altLang="zh-CN" sz="2400" b="1" dirty="0">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Denning</a:t>
            </a:r>
            <a:r>
              <a:rPr lang="zh-CN" altLang="en-US" sz="2400" b="1" dirty="0">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模型实际上是一个</a:t>
            </a: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基于规则的模式匹配系统</a:t>
            </a:r>
          </a:p>
        </p:txBody>
      </p:sp>
      <p:sp>
        <p:nvSpPr>
          <p:cNvPr id="4" name="矩形 3"/>
          <p:cNvSpPr/>
          <p:nvPr/>
        </p:nvSpPr>
        <p:spPr>
          <a:xfrm>
            <a:off x="755576" y="4934246"/>
            <a:ext cx="7380820" cy="424732"/>
          </a:xfrm>
          <a:prstGeom prst="rect">
            <a:avLst/>
          </a:prstGeom>
        </p:spPr>
        <p:txBody>
          <a:bodyPr wrap="square">
            <a:spAutoFit/>
          </a:bodyPr>
          <a:lstStyle/>
          <a:p>
            <a:pPr marL="342900" indent="-342900" eaLnBrk="1" hangingPunct="1">
              <a:lnSpc>
                <a:spcPct val="90000"/>
              </a:lnSpc>
              <a:spcBef>
                <a:spcPct val="20000"/>
              </a:spcBef>
              <a:buClr>
                <a:srgbClr val="3399FF"/>
              </a:buClr>
              <a:buFont typeface="Wingdings" panose="05000000000000000000" pitchFamily="2" charset="2"/>
              <a:buChar char="u"/>
            </a:pPr>
            <a:r>
              <a:rPr lang="zh-CN" altLang="en-US" sz="2400" b="1" dirty="0">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该模型</a:t>
            </a:r>
            <a:r>
              <a:rPr lang="zh-CN" altLang="en-US" sz="2400" b="1" dirty="0">
                <a:solidFill>
                  <a:srgbClr val="FF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未包含</a:t>
            </a:r>
            <a:r>
              <a:rPr lang="zh-CN" altLang="en-US" sz="2400" b="1" dirty="0">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已知系统漏洞或攻击方法方面的知识</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291">
                                            <p:txEl>
                                              <p:pRg st="0" end="0"/>
                                            </p:txEl>
                                          </p:spTgt>
                                        </p:tgtEl>
                                        <p:attrNameLst>
                                          <p:attrName>style.visibility</p:attrName>
                                        </p:attrNameLst>
                                      </p:cBhvr>
                                      <p:to>
                                        <p:strVal val="visible"/>
                                      </p:to>
                                    </p:set>
                                    <p:animEffect transition="in" filter="wipe(up)">
                                      <p:cBhvr>
                                        <p:cTn id="12" dur="500"/>
                                        <p:tgtEl>
                                          <p:spTgt spid="1229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2291">
                                            <p:txEl>
                                              <p:pRg st="1" end="1"/>
                                            </p:txEl>
                                          </p:spTgt>
                                        </p:tgtEl>
                                        <p:attrNameLst>
                                          <p:attrName>style.visibility</p:attrName>
                                        </p:attrNameLst>
                                      </p:cBhvr>
                                      <p:to>
                                        <p:strVal val="visible"/>
                                      </p:to>
                                    </p:set>
                                    <p:animEffect transition="in" filter="wipe(up)">
                                      <p:cBhvr>
                                        <p:cTn id="17" dur="500"/>
                                        <p:tgtEl>
                                          <p:spTgt spid="1229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2291">
                                            <p:txEl>
                                              <p:pRg st="2" end="2"/>
                                            </p:txEl>
                                          </p:spTgt>
                                        </p:tgtEl>
                                        <p:attrNameLst>
                                          <p:attrName>style.visibility</p:attrName>
                                        </p:attrNameLst>
                                      </p:cBhvr>
                                      <p:to>
                                        <p:strVal val="visible"/>
                                      </p:to>
                                    </p:set>
                                    <p:animEffect transition="in" filter="wipe(up)">
                                      <p:cBhvr>
                                        <p:cTn id="22" dur="500"/>
                                        <p:tgtEl>
                                          <p:spTgt spid="1229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2291">
                                            <p:txEl>
                                              <p:pRg st="3" end="3"/>
                                            </p:txEl>
                                          </p:spTgt>
                                        </p:tgtEl>
                                        <p:attrNameLst>
                                          <p:attrName>style.visibility</p:attrName>
                                        </p:attrNameLst>
                                      </p:cBhvr>
                                      <p:to>
                                        <p:strVal val="visible"/>
                                      </p:to>
                                    </p:set>
                                    <p:animEffect transition="in" filter="wipe(up)">
                                      <p:cBhvr>
                                        <p:cTn id="27" dur="500"/>
                                        <p:tgtEl>
                                          <p:spTgt spid="12291">
                                            <p:txEl>
                                              <p:pRg st="3" end="3"/>
                                            </p:txEl>
                                          </p:spTgt>
                                        </p:tgtEl>
                                      </p:cBhvr>
                                    </p:animEffect>
                                  </p:childTnLst>
                                </p:cTn>
                              </p:par>
                            </p:childTnLst>
                          </p:cTn>
                        </p:par>
                        <p:par>
                          <p:cTn id="28" fill="hold">
                            <p:stCondLst>
                              <p:cond delay="500"/>
                            </p:stCondLst>
                            <p:childTnLst>
                              <p:par>
                                <p:cTn id="29" presetID="22" presetClass="entr" presetSubtype="1" fill="hold" grpId="0" nodeType="after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ipe(up)">
                                      <p:cBhvr>
                                        <p:cTn id="31" dur="500"/>
                                        <p:tgtEl>
                                          <p:spTgt spid="3"/>
                                        </p:tgtEl>
                                      </p:cBhvr>
                                    </p:animEffect>
                                  </p:childTnLst>
                                </p:cTn>
                              </p:par>
                            </p:childTnLst>
                          </p:cTn>
                        </p:par>
                        <p:par>
                          <p:cTn id="32" fill="hold">
                            <p:stCondLst>
                              <p:cond delay="1000"/>
                            </p:stCondLst>
                            <p:childTnLst>
                              <p:par>
                                <p:cTn id="33" presetID="22" presetClass="entr" presetSubtype="1" fill="hold" grpId="0" nodeType="after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wipe(up)">
                                      <p:cBhvr>
                                        <p:cTn id="3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P spid="2" grpId="0"/>
      <p:bldP spid="3" grpId="0"/>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2"/>
          <p:cNvSpPr txBox="1">
            <a:spLocks noChangeArrowheads="1"/>
          </p:cNvSpPr>
          <p:nvPr/>
        </p:nvSpPr>
        <p:spPr bwMode="gray">
          <a:xfrm>
            <a:off x="575556" y="764704"/>
            <a:ext cx="7020780" cy="687388"/>
          </a:xfrm>
          <a:prstGeom prst="rect">
            <a:avLst/>
          </a:prstGeom>
          <a:noFill/>
          <a:ln w="9525">
            <a:noFill/>
            <a:miter lim="800000"/>
          </a:ln>
        </p:spPr>
        <p:txBody>
          <a:bodyPr vert="horz" wrap="square" lIns="91440" tIns="45720" rIns="91440" bIns="45720" numCol="1" anchor="ctr" anchorCtr="0" compatLnSpc="1"/>
          <a:lstStyle>
            <a:lvl1pPr eaLnBrk="0" hangingPunct="0">
              <a:defRPr sz="2800" b="1">
                <a:solidFill>
                  <a:srgbClr val="0033CC"/>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defRPr>
            </a:lvl1pPr>
            <a:lvl2pPr eaLnBrk="0" hangingPunct="0">
              <a:defRPr sz="3200" b="1">
                <a:solidFill>
                  <a:srgbClr val="FFFFFF"/>
                </a:solidFill>
                <a:latin typeface="黑体" panose="02010609060101010101" pitchFamily="2" charset="-122"/>
                <a:ea typeface="黑体" panose="02010609060101010101" pitchFamily="2" charset="-122"/>
              </a:defRPr>
            </a:lvl2pPr>
            <a:lvl3pPr eaLnBrk="0" hangingPunct="0">
              <a:defRPr sz="3200" b="1">
                <a:solidFill>
                  <a:srgbClr val="FFFFFF"/>
                </a:solidFill>
                <a:latin typeface="黑体" panose="02010609060101010101" pitchFamily="2" charset="-122"/>
                <a:ea typeface="黑体" panose="02010609060101010101" pitchFamily="2" charset="-122"/>
              </a:defRPr>
            </a:lvl3pPr>
            <a:lvl4pPr eaLnBrk="0" hangingPunct="0">
              <a:defRPr sz="3200" b="1">
                <a:solidFill>
                  <a:srgbClr val="FFFFFF"/>
                </a:solidFill>
                <a:latin typeface="黑体" panose="02010609060101010101" pitchFamily="2" charset="-122"/>
                <a:ea typeface="黑体" panose="02010609060101010101" pitchFamily="2" charset="-122"/>
              </a:defRPr>
            </a:lvl4pPr>
            <a:lvl5pPr eaLnBrk="0" hangingPunct="0">
              <a:defRPr sz="3200" b="1">
                <a:solidFill>
                  <a:srgbClr val="FFFFFF"/>
                </a:solidFill>
                <a:latin typeface="黑体" panose="02010609060101010101" pitchFamily="2" charset="-122"/>
                <a:ea typeface="黑体" panose="02010609060101010101" pitchFamily="2" charset="-122"/>
              </a:defRPr>
            </a:lvl5pPr>
            <a:lvl6pPr marL="45720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6pPr>
            <a:lvl7pPr marL="91440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7pPr>
            <a:lvl8pPr marL="137160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8pPr>
            <a:lvl9pPr marL="182880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9pPr>
          </a:lstStyle>
          <a:p>
            <a:r>
              <a:rPr lang="zh-CN" altLang="en-US" dirty="0"/>
              <a:t>通用入侵检测模型（</a:t>
            </a:r>
            <a:r>
              <a:rPr lang="en-US" altLang="zh-CN" dirty="0"/>
              <a:t>Denning</a:t>
            </a:r>
            <a:r>
              <a:rPr lang="zh-CN" altLang="en-US" dirty="0"/>
              <a:t>模型） </a:t>
            </a:r>
            <a:endParaRPr lang="en-US" altLang="zh-CN" dirty="0"/>
          </a:p>
        </p:txBody>
      </p:sp>
      <p:pic>
        <p:nvPicPr>
          <p:cNvPr id="4" name="图片 3"/>
          <p:cNvPicPr>
            <a:picLocks noChangeAspect="1"/>
          </p:cNvPicPr>
          <p:nvPr/>
        </p:nvPicPr>
        <p:blipFill>
          <a:blip r:embed="rId3"/>
          <a:stretch>
            <a:fillRect/>
          </a:stretch>
        </p:blipFill>
        <p:spPr>
          <a:xfrm>
            <a:off x="863588" y="1664804"/>
            <a:ext cx="7429500" cy="4229100"/>
          </a:xfrm>
          <a:prstGeom prst="rect">
            <a:avLst/>
          </a:prstGeom>
        </p:spPr>
      </p:pic>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Rot="1" noChangeArrowheads="1"/>
          </p:cNvSpPr>
          <p:nvPr>
            <p:ph type="title" idx="4294967295"/>
          </p:nvPr>
        </p:nvSpPr>
        <p:spPr>
          <a:xfrm>
            <a:off x="440531" y="692696"/>
            <a:ext cx="4887553" cy="576362"/>
          </a:xfrm>
          <a:noFill/>
          <a:ln w="9525">
            <a:noFill/>
            <a:miter lim="800000"/>
          </a:ln>
        </p:spPr>
        <p:txBody>
          <a:bodyPr vert="horz" wrap="square" lIns="91440" tIns="45720" rIns="91440" bIns="45720" numCol="1" anchor="ctr" anchorCtr="0" compatLnSpc="1"/>
          <a:lstStyle/>
          <a:p>
            <a:r>
              <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Denning</a:t>
            </a:r>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模型：审计记录</a:t>
            </a:r>
          </a:p>
        </p:txBody>
      </p:sp>
      <p:sp>
        <p:nvSpPr>
          <p:cNvPr id="384003" name="Rectangle 3"/>
          <p:cNvSpPr>
            <a:spLocks noGrp="1" noRot="1" noChangeArrowheads="1"/>
          </p:cNvSpPr>
          <p:nvPr>
            <p:ph type="body" idx="4294967295"/>
          </p:nvPr>
        </p:nvSpPr>
        <p:spPr>
          <a:xfrm>
            <a:off x="457385" y="2157550"/>
            <a:ext cx="8409149" cy="3600400"/>
          </a:xfrm>
        </p:spPr>
        <p:txBody>
          <a:bodyPr/>
          <a:lstStyle/>
          <a:p>
            <a:pPr eaLnBrk="1" hangingPunct="1">
              <a:buFont typeface="Wingdings" panose="05000000000000000000" pitchFamily="2" charset="2"/>
              <a:buChar char="u"/>
            </a:pPr>
            <a:r>
              <a:rPr lang="zh-CN" altLang="en-US" sz="2400" kern="1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格式：</a:t>
            </a:r>
            <a:r>
              <a:rPr lang="en-US" altLang="zh-CN" sz="24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&lt;Subject, Action, Object, Exception-Condition, Resource-Usage, Time-Stamp&gt;</a:t>
            </a:r>
            <a:endParaRPr lang="zh-CN" altLang="en-US" sz="24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3" eaLnBrk="1" hangingPunct="1">
              <a:buClr>
                <a:schemeClr val="tx1"/>
              </a:buClr>
              <a:buFont typeface="Wingdings" panose="05000000000000000000" pitchFamily="2" charset="2"/>
              <a:buChar char="Ø"/>
            </a:pPr>
            <a:r>
              <a:rPr lang="en-US" altLang="zh-CN" sz="2400" dirty="0">
                <a:solidFill>
                  <a:schemeClr val="hlink"/>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4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Subject</a:t>
            </a:r>
            <a:r>
              <a:rPr lang="zh-CN" altLang="en-US" sz="24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主体，</a:t>
            </a:r>
            <a:r>
              <a:rPr lang="zh-CN" altLang="en-US" sz="24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活动的发起者</a:t>
            </a:r>
          </a:p>
          <a:p>
            <a:pPr lvl="3" eaLnBrk="1" hangingPunct="1">
              <a:buClr>
                <a:schemeClr val="tx1"/>
              </a:buClr>
              <a:buFont typeface="Wingdings" panose="05000000000000000000" pitchFamily="2" charset="2"/>
              <a:buChar char="Ø"/>
            </a:pPr>
            <a:r>
              <a:rPr lang="en-US" altLang="zh-CN" sz="24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4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Action</a:t>
            </a:r>
            <a:r>
              <a:rPr lang="zh-CN" altLang="en-US" sz="24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4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主体对目标实施的操作</a:t>
            </a:r>
          </a:p>
          <a:p>
            <a:pPr lvl="3" eaLnBrk="1" hangingPunct="1">
              <a:buClr>
                <a:schemeClr val="tx1"/>
              </a:buClr>
              <a:buFont typeface="Wingdings" panose="05000000000000000000" pitchFamily="2" charset="2"/>
              <a:buChar char="Ø"/>
            </a:pPr>
            <a:r>
              <a:rPr lang="en-US" altLang="zh-CN" sz="24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4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Object</a:t>
            </a:r>
            <a:r>
              <a:rPr lang="zh-CN" altLang="en-US" sz="24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客体，</a:t>
            </a:r>
            <a:r>
              <a:rPr lang="zh-CN" altLang="en-US" sz="24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活动的承受者 </a:t>
            </a:r>
          </a:p>
          <a:p>
            <a:pPr lvl="3" eaLnBrk="1" hangingPunct="1">
              <a:buClr>
                <a:schemeClr val="tx1"/>
              </a:buClr>
              <a:buFont typeface="Wingdings" panose="05000000000000000000" pitchFamily="2" charset="2"/>
              <a:buChar char="Ø"/>
            </a:pPr>
            <a:r>
              <a:rPr lang="en-US" altLang="zh-CN" sz="24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4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Exception-Condition</a:t>
            </a:r>
            <a:r>
              <a:rPr lang="zh-CN" altLang="en-US" sz="24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4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系统对主体活动的异常报告</a:t>
            </a:r>
          </a:p>
          <a:p>
            <a:pPr lvl="3" eaLnBrk="1" hangingPunct="1">
              <a:buClr>
                <a:schemeClr val="tx1"/>
              </a:buClr>
              <a:buFont typeface="Wingdings" panose="05000000000000000000" pitchFamily="2" charset="2"/>
              <a:buChar char="Ø"/>
            </a:pPr>
            <a:r>
              <a:rPr lang="en-US" altLang="zh-CN" sz="24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Resource-Usage</a:t>
            </a:r>
            <a:r>
              <a:rPr lang="zh-CN" altLang="en-US" sz="24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4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系统的资源消耗情况</a:t>
            </a:r>
          </a:p>
          <a:p>
            <a:pPr lvl="3" eaLnBrk="1" hangingPunct="1">
              <a:buClr>
                <a:schemeClr val="tx1"/>
              </a:buClr>
              <a:buFont typeface="Wingdings" panose="05000000000000000000" pitchFamily="2" charset="2"/>
              <a:buChar char="Ø"/>
            </a:pPr>
            <a:r>
              <a:rPr lang="en-US" altLang="zh-CN" sz="24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4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Time-Stamp</a:t>
            </a:r>
            <a:r>
              <a:rPr lang="zh-CN" altLang="en-US" sz="24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4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活动的发生时间</a:t>
            </a:r>
            <a:r>
              <a:rPr lang="zh-CN" alt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sz="24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en-US" altLang="zh-CN" sz="24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84004" name="Rectangle 4"/>
          <p:cNvSpPr>
            <a:spLocks noChangeArrowheads="1"/>
          </p:cNvSpPr>
          <p:nvPr/>
        </p:nvSpPr>
        <p:spPr bwMode="auto">
          <a:xfrm>
            <a:off x="2667000" y="433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b="0"/>
          </a:p>
        </p:txBody>
      </p:sp>
      <p:sp>
        <p:nvSpPr>
          <p:cNvPr id="2" name="矩形 1"/>
          <p:cNvSpPr/>
          <p:nvPr/>
        </p:nvSpPr>
        <p:spPr>
          <a:xfrm>
            <a:off x="457385" y="1545482"/>
            <a:ext cx="6147837" cy="461665"/>
          </a:xfrm>
          <a:prstGeom prst="rect">
            <a:avLst/>
          </a:prstGeom>
        </p:spPr>
        <p:txBody>
          <a:bodyPr wrap="none">
            <a:spAutoFit/>
          </a:bodyPr>
          <a:lstStyle/>
          <a:p>
            <a:pPr marL="342900" indent="-342900">
              <a:spcBef>
                <a:spcPct val="20000"/>
              </a:spcBef>
              <a:buClr>
                <a:srgbClr val="3399FF"/>
              </a:buClr>
              <a:buFont typeface="Wingdings" panose="05000000000000000000" pitchFamily="2" charset="2"/>
              <a:buChar char="u"/>
            </a:pPr>
            <a:r>
              <a:rPr lang="zh-CN" altLang="en-US" sz="2400"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事件：</a:t>
            </a:r>
            <a:r>
              <a:rPr lang="zh-CN" altLang="en-US" sz="2400"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用户注册、命令执行、文件访问等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84003">
                                            <p:txEl>
                                              <p:pRg st="0" end="0"/>
                                            </p:txEl>
                                          </p:spTgt>
                                        </p:tgtEl>
                                        <p:attrNameLst>
                                          <p:attrName>style.visibility</p:attrName>
                                        </p:attrNameLst>
                                      </p:cBhvr>
                                      <p:to>
                                        <p:strVal val="visible"/>
                                      </p:to>
                                    </p:set>
                                    <p:animEffect transition="in" filter="wipe(up)">
                                      <p:cBhvr>
                                        <p:cTn id="12" dur="500"/>
                                        <p:tgtEl>
                                          <p:spTgt spid="384003">
                                            <p:txEl>
                                              <p:pRg st="0" end="0"/>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384003">
                                            <p:txEl>
                                              <p:pRg st="1" end="1"/>
                                            </p:txEl>
                                          </p:spTgt>
                                        </p:tgtEl>
                                        <p:attrNameLst>
                                          <p:attrName>style.visibility</p:attrName>
                                        </p:attrNameLst>
                                      </p:cBhvr>
                                      <p:to>
                                        <p:strVal val="visible"/>
                                      </p:to>
                                    </p:set>
                                    <p:animEffect transition="in" filter="wipe(up)">
                                      <p:cBhvr>
                                        <p:cTn id="15" dur="500"/>
                                        <p:tgtEl>
                                          <p:spTgt spid="384003">
                                            <p:txEl>
                                              <p:pRg st="1" end="1"/>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384003">
                                            <p:txEl>
                                              <p:pRg st="2" end="2"/>
                                            </p:txEl>
                                          </p:spTgt>
                                        </p:tgtEl>
                                        <p:attrNameLst>
                                          <p:attrName>style.visibility</p:attrName>
                                        </p:attrNameLst>
                                      </p:cBhvr>
                                      <p:to>
                                        <p:strVal val="visible"/>
                                      </p:to>
                                    </p:set>
                                    <p:animEffect transition="in" filter="wipe(up)">
                                      <p:cBhvr>
                                        <p:cTn id="18" dur="500"/>
                                        <p:tgtEl>
                                          <p:spTgt spid="384003">
                                            <p:txEl>
                                              <p:pRg st="2" end="2"/>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384003">
                                            <p:txEl>
                                              <p:pRg st="3" end="3"/>
                                            </p:txEl>
                                          </p:spTgt>
                                        </p:tgtEl>
                                        <p:attrNameLst>
                                          <p:attrName>style.visibility</p:attrName>
                                        </p:attrNameLst>
                                      </p:cBhvr>
                                      <p:to>
                                        <p:strVal val="visible"/>
                                      </p:to>
                                    </p:set>
                                    <p:animEffect transition="in" filter="wipe(up)">
                                      <p:cBhvr>
                                        <p:cTn id="21" dur="500"/>
                                        <p:tgtEl>
                                          <p:spTgt spid="384003">
                                            <p:txEl>
                                              <p:pRg st="3" end="3"/>
                                            </p:txEl>
                                          </p:spTgt>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384003">
                                            <p:txEl>
                                              <p:pRg st="4" end="4"/>
                                            </p:txEl>
                                          </p:spTgt>
                                        </p:tgtEl>
                                        <p:attrNameLst>
                                          <p:attrName>style.visibility</p:attrName>
                                        </p:attrNameLst>
                                      </p:cBhvr>
                                      <p:to>
                                        <p:strVal val="visible"/>
                                      </p:to>
                                    </p:set>
                                    <p:animEffect transition="in" filter="wipe(up)">
                                      <p:cBhvr>
                                        <p:cTn id="24" dur="500"/>
                                        <p:tgtEl>
                                          <p:spTgt spid="384003">
                                            <p:txEl>
                                              <p:pRg st="4" end="4"/>
                                            </p:txEl>
                                          </p:spTgt>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384003">
                                            <p:txEl>
                                              <p:pRg st="5" end="5"/>
                                            </p:txEl>
                                          </p:spTgt>
                                        </p:tgtEl>
                                        <p:attrNameLst>
                                          <p:attrName>style.visibility</p:attrName>
                                        </p:attrNameLst>
                                      </p:cBhvr>
                                      <p:to>
                                        <p:strVal val="visible"/>
                                      </p:to>
                                    </p:set>
                                    <p:animEffect transition="in" filter="wipe(up)">
                                      <p:cBhvr>
                                        <p:cTn id="27" dur="500"/>
                                        <p:tgtEl>
                                          <p:spTgt spid="384003">
                                            <p:txEl>
                                              <p:pRg st="5" end="5"/>
                                            </p:txEl>
                                          </p:spTgt>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384003">
                                            <p:txEl>
                                              <p:pRg st="6" end="6"/>
                                            </p:txEl>
                                          </p:spTgt>
                                        </p:tgtEl>
                                        <p:attrNameLst>
                                          <p:attrName>style.visibility</p:attrName>
                                        </p:attrNameLst>
                                      </p:cBhvr>
                                      <p:to>
                                        <p:strVal val="visible"/>
                                      </p:to>
                                    </p:set>
                                    <p:animEffect transition="in" filter="wipe(up)">
                                      <p:cBhvr>
                                        <p:cTn id="30" dur="500"/>
                                        <p:tgtEl>
                                          <p:spTgt spid="38400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003" grpId="0" build="p"/>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2"/>
          <p:cNvSpPr>
            <a:spLocks noGrp="1" noRot="1" noChangeArrowheads="1"/>
          </p:cNvSpPr>
          <p:nvPr>
            <p:ph type="title" idx="4294967295"/>
          </p:nvPr>
        </p:nvSpPr>
        <p:spPr>
          <a:xfrm>
            <a:off x="493038" y="693068"/>
            <a:ext cx="8393112" cy="648370"/>
          </a:xfrm>
          <a:noFill/>
          <a:ln w="9525">
            <a:noFill/>
            <a:miter lim="800000"/>
          </a:ln>
        </p:spPr>
        <p:txBody>
          <a:bodyPr vert="horz" wrap="square" lIns="91440" tIns="45720" rIns="91440" bIns="45720" numCol="1" anchor="ctr" anchorCtr="0" compatLnSpc="1"/>
          <a:lstStyle/>
          <a:p>
            <a:r>
              <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Denning</a:t>
            </a:r>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模型：活动剖面</a:t>
            </a:r>
          </a:p>
        </p:txBody>
      </p:sp>
      <p:sp>
        <p:nvSpPr>
          <p:cNvPr id="385027" name="Rectangle 3"/>
          <p:cNvSpPr>
            <a:spLocks noGrp="1" noRot="1" noChangeArrowheads="1"/>
          </p:cNvSpPr>
          <p:nvPr>
            <p:ph type="body" idx="4294967295"/>
          </p:nvPr>
        </p:nvSpPr>
        <p:spPr>
          <a:xfrm>
            <a:off x="433506" y="2706004"/>
            <a:ext cx="8512175" cy="2938572"/>
          </a:xfrm>
        </p:spPr>
        <p:txBody>
          <a:bodyPr/>
          <a:lstStyle/>
          <a:p>
            <a:pPr eaLnBrk="1" hangingPunct="1">
              <a:lnSpc>
                <a:spcPct val="120000"/>
              </a:lnSpc>
              <a:buFont typeface="Wingdings" panose="05000000000000000000" pitchFamily="2" charset="2"/>
              <a:buChar char="u"/>
            </a:pP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定义了三种类型的随机变量</a:t>
            </a:r>
          </a:p>
          <a:p>
            <a:pPr lvl="3" eaLnBrk="1" hangingPunct="1">
              <a:lnSpc>
                <a:spcPct val="120000"/>
              </a:lnSpc>
              <a:buClr>
                <a:schemeClr val="tx1"/>
              </a:buClr>
              <a:buFont typeface="Wingdings" panose="05000000000000000000" pitchFamily="2" charset="2"/>
              <a:buChar char="Ø"/>
            </a:pP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事件计数器：</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记录特定事件的发生次数</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3" eaLnBrk="1" hangingPunct="1">
              <a:lnSpc>
                <a:spcPct val="120000"/>
              </a:lnSpc>
              <a:buClr>
                <a:schemeClr val="tx1"/>
              </a:buClr>
              <a:buFont typeface="Wingdings" panose="05000000000000000000" pitchFamily="2" charset="2"/>
              <a:buChar char="Ø"/>
            </a:pP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间隔计时器：</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记录两次连续发生事件之间的时间间隔</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3" eaLnBrk="1" hangingPunct="1">
              <a:lnSpc>
                <a:spcPct val="120000"/>
              </a:lnSpc>
              <a:buClr>
                <a:schemeClr val="tx1"/>
              </a:buClr>
              <a:buFont typeface="Wingdings" panose="05000000000000000000" pitchFamily="2" charset="2"/>
              <a:buChar char="Ø"/>
            </a:pP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资源计量器：</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记录某个时间段特定动作所消耗的资源量</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85028" name="Rectangle 4"/>
          <p:cNvSpPr>
            <a:spLocks noChangeArrowheads="1"/>
          </p:cNvSpPr>
          <p:nvPr/>
        </p:nvSpPr>
        <p:spPr bwMode="auto">
          <a:xfrm>
            <a:off x="2667000" y="433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b="0"/>
          </a:p>
        </p:txBody>
      </p:sp>
      <p:sp>
        <p:nvSpPr>
          <p:cNvPr id="2" name="矩形 1"/>
          <p:cNvSpPr/>
          <p:nvPr/>
        </p:nvSpPr>
        <p:spPr>
          <a:xfrm>
            <a:off x="433463" y="1612128"/>
            <a:ext cx="7956884" cy="978729"/>
          </a:xfrm>
          <a:prstGeom prst="rect">
            <a:avLst/>
          </a:prstGeom>
        </p:spPr>
        <p:txBody>
          <a:bodyPr wrap="square">
            <a:spAutoFit/>
          </a:bodyPr>
          <a:lstStyle/>
          <a:p>
            <a:pPr marL="342900" indent="-342900">
              <a:lnSpc>
                <a:spcPct val="120000"/>
              </a:lnSpc>
              <a:spcBef>
                <a:spcPct val="20000"/>
              </a:spcBef>
              <a:buClr>
                <a:srgbClr val="3399FF"/>
              </a:buClr>
              <a:buFont typeface="Wingdings" panose="05000000000000000000" pitchFamily="2" charset="2"/>
              <a:buChar char="u"/>
            </a:pP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具体实现依赖于</a:t>
            </a: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检测方法</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；如采用统计方法，则可以从事件数量、频度、资源消耗等方面度量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85027">
                                            <p:txEl>
                                              <p:pRg st="0" end="0"/>
                                            </p:txEl>
                                          </p:spTgt>
                                        </p:tgtEl>
                                        <p:attrNameLst>
                                          <p:attrName>style.visibility</p:attrName>
                                        </p:attrNameLst>
                                      </p:cBhvr>
                                      <p:to>
                                        <p:strVal val="visible"/>
                                      </p:to>
                                    </p:set>
                                    <p:animEffect transition="in" filter="wipe(up)">
                                      <p:cBhvr>
                                        <p:cTn id="12" dur="500"/>
                                        <p:tgtEl>
                                          <p:spTgt spid="38502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85027">
                                            <p:txEl>
                                              <p:pRg st="1" end="1"/>
                                            </p:txEl>
                                          </p:spTgt>
                                        </p:tgtEl>
                                        <p:attrNameLst>
                                          <p:attrName>style.visibility</p:attrName>
                                        </p:attrNameLst>
                                      </p:cBhvr>
                                      <p:to>
                                        <p:strVal val="visible"/>
                                      </p:to>
                                    </p:set>
                                    <p:animEffect transition="in" filter="wipe(up)">
                                      <p:cBhvr>
                                        <p:cTn id="17" dur="500"/>
                                        <p:tgtEl>
                                          <p:spTgt spid="38502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85027">
                                            <p:txEl>
                                              <p:pRg st="2" end="2"/>
                                            </p:txEl>
                                          </p:spTgt>
                                        </p:tgtEl>
                                        <p:attrNameLst>
                                          <p:attrName>style.visibility</p:attrName>
                                        </p:attrNameLst>
                                      </p:cBhvr>
                                      <p:to>
                                        <p:strVal val="visible"/>
                                      </p:to>
                                    </p:set>
                                    <p:animEffect transition="in" filter="wipe(up)">
                                      <p:cBhvr>
                                        <p:cTn id="22" dur="500"/>
                                        <p:tgtEl>
                                          <p:spTgt spid="38502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85027">
                                            <p:txEl>
                                              <p:pRg st="3" end="3"/>
                                            </p:txEl>
                                          </p:spTgt>
                                        </p:tgtEl>
                                        <p:attrNameLst>
                                          <p:attrName>style.visibility</p:attrName>
                                        </p:attrNameLst>
                                      </p:cBhvr>
                                      <p:to>
                                        <p:strVal val="visible"/>
                                      </p:to>
                                    </p:set>
                                    <p:animEffect transition="in" filter="wipe(up)">
                                      <p:cBhvr>
                                        <p:cTn id="27" dur="500"/>
                                        <p:tgtEl>
                                          <p:spTgt spid="38502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027" grpId="0" build="p"/>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Rot="1" noChangeArrowheads="1"/>
          </p:cNvSpPr>
          <p:nvPr>
            <p:ph type="title" idx="4294967295"/>
          </p:nvPr>
        </p:nvSpPr>
        <p:spPr>
          <a:xfrm>
            <a:off x="440531" y="728700"/>
            <a:ext cx="4851549" cy="468350"/>
          </a:xfrm>
          <a:noFill/>
          <a:ln w="9525">
            <a:noFill/>
            <a:miter lim="800000"/>
          </a:ln>
        </p:spPr>
        <p:txBody>
          <a:bodyPr vert="horz" wrap="square" lIns="91440" tIns="45720" rIns="91440" bIns="45720" numCol="1" anchor="ctr" anchorCtr="0" compatLnSpc="1"/>
          <a:lstStyle/>
          <a:p>
            <a:r>
              <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Denning</a:t>
            </a:r>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模型：活动剖面</a:t>
            </a:r>
          </a:p>
        </p:txBody>
      </p:sp>
      <p:sp>
        <p:nvSpPr>
          <p:cNvPr id="386051" name="Rectangle 3"/>
          <p:cNvSpPr>
            <a:spLocks noGrp="1" noRot="1" noChangeArrowheads="1"/>
          </p:cNvSpPr>
          <p:nvPr>
            <p:ph type="body" idx="4294967295"/>
          </p:nvPr>
        </p:nvSpPr>
        <p:spPr>
          <a:xfrm>
            <a:off x="359532" y="1492361"/>
            <a:ext cx="8512175" cy="4571838"/>
          </a:xfrm>
        </p:spPr>
        <p:txBody>
          <a:bodyPr/>
          <a:lstStyle/>
          <a:p>
            <a:pPr eaLnBrk="1" hangingPunct="1">
              <a:lnSpc>
                <a:spcPct val="90000"/>
              </a:lnSpc>
              <a:buFont typeface="Wingdings" panose="05000000000000000000" pitchFamily="2" charset="2"/>
              <a:buChar char="u"/>
            </a:pP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格式：</a:t>
            </a:r>
            <a:r>
              <a:rPr lang="en-US" altLang="zh-CN" sz="2400" b="1" dirty="0">
                <a:solidFill>
                  <a:srgbClr val="0033CC"/>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&lt;Variable-name, Action-pattern, Exception-pattern, Resource-usage-pattern, Period, Variable-type, Threshold, Subject-pattern, Object-pattern, Value&gt;</a:t>
            </a:r>
          </a:p>
          <a:p>
            <a:pPr lvl="1" eaLnBrk="1" hangingPunct="1">
              <a:lnSpc>
                <a:spcPct val="90000"/>
              </a:lnSpc>
              <a:buClr>
                <a:schemeClr val="tx1"/>
              </a:buClr>
              <a:buFont typeface="Wingdings" panose="05000000000000000000" pitchFamily="2" charset="2"/>
              <a:buChar char="Ø"/>
            </a:pPr>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Variable-name</a:t>
            </a:r>
            <a:r>
              <a:rPr lang="zh-CN" altLang="en-US"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a:t>
            </a:r>
            <a:r>
              <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识别活动剖面的标志</a:t>
            </a:r>
          </a:p>
          <a:p>
            <a:pPr lvl="1" eaLnBrk="1" hangingPunct="1">
              <a:lnSpc>
                <a:spcPct val="90000"/>
              </a:lnSpc>
              <a:buClr>
                <a:schemeClr val="tx1"/>
              </a:buClr>
              <a:buFont typeface="Wingdings" panose="05000000000000000000" pitchFamily="2" charset="2"/>
              <a:buChar char="Ø"/>
            </a:pPr>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Action-pattern </a:t>
            </a:r>
            <a:r>
              <a:rPr lang="zh-CN" altLang="en-US"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a:t>
            </a:r>
            <a:r>
              <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用来匹配审计记录中的活动模式</a:t>
            </a:r>
          </a:p>
          <a:p>
            <a:pPr lvl="1" eaLnBrk="1" hangingPunct="1">
              <a:lnSpc>
                <a:spcPct val="90000"/>
              </a:lnSpc>
              <a:buClr>
                <a:schemeClr val="tx1"/>
              </a:buClr>
              <a:buFont typeface="Wingdings" panose="05000000000000000000" pitchFamily="2" charset="2"/>
              <a:buChar char="Ø"/>
            </a:pPr>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Exception-pattern </a:t>
            </a:r>
            <a:r>
              <a:rPr lang="zh-CN" altLang="en-US"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a:t>
            </a:r>
            <a:r>
              <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用来匹配审计记录中的异常情况模式</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a:p>
            <a:pPr lvl="1" eaLnBrk="1" hangingPunct="1">
              <a:lnSpc>
                <a:spcPct val="90000"/>
              </a:lnSpc>
              <a:buClr>
                <a:schemeClr val="tx1"/>
              </a:buClr>
              <a:buFont typeface="Wingdings" panose="05000000000000000000" pitchFamily="2" charset="2"/>
              <a:buChar char="Ø"/>
            </a:pPr>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Resource-usage-pattern </a:t>
            </a:r>
            <a:r>
              <a:rPr lang="zh-CN" altLang="en-US"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a:t>
            </a:r>
            <a:r>
              <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用来匹配审计记录中的资源使用模式</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a:p>
            <a:pPr lvl="1" eaLnBrk="1" hangingPunct="1">
              <a:lnSpc>
                <a:spcPct val="90000"/>
              </a:lnSpc>
              <a:buClr>
                <a:schemeClr val="tx1"/>
              </a:buClr>
              <a:buFont typeface="Wingdings" panose="05000000000000000000" pitchFamily="2" charset="2"/>
              <a:buChar char="Ø"/>
            </a:pPr>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Period</a:t>
            </a:r>
            <a:r>
              <a:rPr lang="zh-CN" altLang="en-US"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a:t>
            </a:r>
            <a:r>
              <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测量的间隔时间或采样时间 </a:t>
            </a:r>
          </a:p>
          <a:p>
            <a:pPr lvl="1" eaLnBrk="1" hangingPunct="1">
              <a:lnSpc>
                <a:spcPct val="90000"/>
              </a:lnSpc>
              <a:buClr>
                <a:schemeClr val="tx1"/>
              </a:buClr>
              <a:buFont typeface="Wingdings" panose="05000000000000000000" pitchFamily="2" charset="2"/>
              <a:buChar char="Ø"/>
            </a:pPr>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Variable-type</a:t>
            </a:r>
            <a:r>
              <a:rPr lang="zh-CN" altLang="en-US"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a:t>
            </a:r>
            <a:r>
              <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用来定义一种特定的变量和统计模型 </a:t>
            </a:r>
          </a:p>
          <a:p>
            <a:pPr lvl="1" eaLnBrk="1" hangingPunct="1">
              <a:lnSpc>
                <a:spcPct val="90000"/>
              </a:lnSpc>
              <a:buClr>
                <a:schemeClr val="tx1"/>
              </a:buClr>
              <a:buFont typeface="Wingdings" panose="05000000000000000000" pitchFamily="2" charset="2"/>
              <a:buChar char="Ø"/>
            </a:pPr>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Threshold</a:t>
            </a:r>
            <a:r>
              <a:rPr lang="zh-CN" altLang="en-US"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a:t>
            </a:r>
            <a:r>
              <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统计测试中一种表示异常的参数值 </a:t>
            </a:r>
          </a:p>
          <a:p>
            <a:pPr lvl="1" eaLnBrk="1" hangingPunct="1">
              <a:lnSpc>
                <a:spcPct val="90000"/>
              </a:lnSpc>
              <a:buClr>
                <a:schemeClr val="tx1"/>
              </a:buClr>
              <a:buFont typeface="Wingdings" panose="05000000000000000000" pitchFamily="2" charset="2"/>
              <a:buChar char="Ø"/>
            </a:pPr>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Subject-pattern</a:t>
            </a:r>
            <a:r>
              <a:rPr lang="zh-CN" altLang="en-US"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a:t>
            </a:r>
            <a:r>
              <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用来匹配审计记录中主体的模式</a:t>
            </a:r>
          </a:p>
          <a:p>
            <a:pPr lvl="1" eaLnBrk="1" hangingPunct="1">
              <a:lnSpc>
                <a:spcPct val="90000"/>
              </a:lnSpc>
              <a:buClr>
                <a:schemeClr val="tx1"/>
              </a:buClr>
              <a:buFont typeface="Wingdings" panose="05000000000000000000" pitchFamily="2" charset="2"/>
              <a:buChar char="Ø"/>
            </a:pPr>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Object-pattern </a:t>
            </a:r>
            <a:r>
              <a:rPr lang="zh-CN" altLang="en-US"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a:t>
            </a:r>
            <a:r>
              <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用来匹配审计记录中对象的模式 </a:t>
            </a:r>
          </a:p>
          <a:p>
            <a:pPr lvl="1" eaLnBrk="1" hangingPunct="1">
              <a:lnSpc>
                <a:spcPct val="90000"/>
              </a:lnSpc>
              <a:buClr>
                <a:schemeClr val="tx1"/>
              </a:buClr>
              <a:buFont typeface="Wingdings" panose="05000000000000000000" pitchFamily="2" charset="2"/>
              <a:buChar char="Ø"/>
            </a:pPr>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Value</a:t>
            </a:r>
            <a:r>
              <a:rPr lang="zh-CN" altLang="en-US"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a:t>
            </a:r>
            <a:r>
              <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当前观测值和统计模型所用的参数值</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en-US" altLang="zh-CN" sz="32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endParaRPr>
          </a:p>
        </p:txBody>
      </p:sp>
      <p:sp>
        <p:nvSpPr>
          <p:cNvPr id="386052" name="Rectangle 4"/>
          <p:cNvSpPr>
            <a:spLocks noChangeArrowheads="1"/>
          </p:cNvSpPr>
          <p:nvPr/>
        </p:nvSpPr>
        <p:spPr bwMode="auto">
          <a:xfrm>
            <a:off x="2667000" y="433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b="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86051">
                                            <p:txEl>
                                              <p:pRg st="0" end="0"/>
                                            </p:txEl>
                                          </p:spTgt>
                                        </p:tgtEl>
                                        <p:attrNameLst>
                                          <p:attrName>style.visibility</p:attrName>
                                        </p:attrNameLst>
                                      </p:cBhvr>
                                      <p:to>
                                        <p:strVal val="visible"/>
                                      </p:to>
                                    </p:set>
                                    <p:animEffect transition="in" filter="wipe(up)">
                                      <p:cBhvr>
                                        <p:cTn id="7" dur="500"/>
                                        <p:tgtEl>
                                          <p:spTgt spid="386051">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86051">
                                            <p:txEl>
                                              <p:pRg st="1" end="1"/>
                                            </p:txEl>
                                          </p:spTgt>
                                        </p:tgtEl>
                                        <p:attrNameLst>
                                          <p:attrName>style.visibility</p:attrName>
                                        </p:attrNameLst>
                                      </p:cBhvr>
                                      <p:to>
                                        <p:strVal val="visible"/>
                                      </p:to>
                                    </p:set>
                                    <p:animEffect transition="in" filter="wipe(up)">
                                      <p:cBhvr>
                                        <p:cTn id="11" dur="500"/>
                                        <p:tgtEl>
                                          <p:spTgt spid="386051">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386051">
                                            <p:txEl>
                                              <p:pRg st="2" end="2"/>
                                            </p:txEl>
                                          </p:spTgt>
                                        </p:tgtEl>
                                        <p:attrNameLst>
                                          <p:attrName>style.visibility</p:attrName>
                                        </p:attrNameLst>
                                      </p:cBhvr>
                                      <p:to>
                                        <p:strVal val="visible"/>
                                      </p:to>
                                    </p:set>
                                    <p:animEffect transition="in" filter="wipe(up)">
                                      <p:cBhvr>
                                        <p:cTn id="15" dur="500"/>
                                        <p:tgtEl>
                                          <p:spTgt spid="386051">
                                            <p:txEl>
                                              <p:pRg st="2" end="2"/>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386051">
                                            <p:txEl>
                                              <p:pRg st="3" end="3"/>
                                            </p:txEl>
                                          </p:spTgt>
                                        </p:tgtEl>
                                        <p:attrNameLst>
                                          <p:attrName>style.visibility</p:attrName>
                                        </p:attrNameLst>
                                      </p:cBhvr>
                                      <p:to>
                                        <p:strVal val="visible"/>
                                      </p:to>
                                    </p:set>
                                    <p:animEffect transition="in" filter="wipe(up)">
                                      <p:cBhvr>
                                        <p:cTn id="19" dur="500"/>
                                        <p:tgtEl>
                                          <p:spTgt spid="386051">
                                            <p:txEl>
                                              <p:pRg st="3" end="3"/>
                                            </p:txEl>
                                          </p:spTgt>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386051">
                                            <p:txEl>
                                              <p:pRg st="4" end="4"/>
                                            </p:txEl>
                                          </p:spTgt>
                                        </p:tgtEl>
                                        <p:attrNameLst>
                                          <p:attrName>style.visibility</p:attrName>
                                        </p:attrNameLst>
                                      </p:cBhvr>
                                      <p:to>
                                        <p:strVal val="visible"/>
                                      </p:to>
                                    </p:set>
                                    <p:animEffect transition="in" filter="wipe(up)">
                                      <p:cBhvr>
                                        <p:cTn id="23" dur="500"/>
                                        <p:tgtEl>
                                          <p:spTgt spid="386051">
                                            <p:txEl>
                                              <p:pRg st="4" end="4"/>
                                            </p:txEl>
                                          </p:spTgt>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386051">
                                            <p:txEl>
                                              <p:pRg st="5" end="5"/>
                                            </p:txEl>
                                          </p:spTgt>
                                        </p:tgtEl>
                                        <p:attrNameLst>
                                          <p:attrName>style.visibility</p:attrName>
                                        </p:attrNameLst>
                                      </p:cBhvr>
                                      <p:to>
                                        <p:strVal val="visible"/>
                                      </p:to>
                                    </p:set>
                                    <p:animEffect transition="in" filter="wipe(up)">
                                      <p:cBhvr>
                                        <p:cTn id="27" dur="500"/>
                                        <p:tgtEl>
                                          <p:spTgt spid="386051">
                                            <p:txEl>
                                              <p:pRg st="5" end="5"/>
                                            </p:txEl>
                                          </p:spTgt>
                                        </p:tgtEl>
                                      </p:cBhvr>
                                    </p:animEffect>
                                  </p:childTnLst>
                                </p:cTn>
                              </p:par>
                            </p:childTnLst>
                          </p:cTn>
                        </p:par>
                        <p:par>
                          <p:cTn id="28" fill="hold">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386051">
                                            <p:txEl>
                                              <p:pRg st="6" end="6"/>
                                            </p:txEl>
                                          </p:spTgt>
                                        </p:tgtEl>
                                        <p:attrNameLst>
                                          <p:attrName>style.visibility</p:attrName>
                                        </p:attrNameLst>
                                      </p:cBhvr>
                                      <p:to>
                                        <p:strVal val="visible"/>
                                      </p:to>
                                    </p:set>
                                    <p:animEffect transition="in" filter="wipe(up)">
                                      <p:cBhvr>
                                        <p:cTn id="31" dur="500"/>
                                        <p:tgtEl>
                                          <p:spTgt spid="386051">
                                            <p:txEl>
                                              <p:pRg st="6" end="6"/>
                                            </p:txEl>
                                          </p:spTgt>
                                        </p:tgtEl>
                                      </p:cBhvr>
                                    </p:animEffect>
                                  </p:childTnLst>
                                </p:cTn>
                              </p:par>
                            </p:childTnLst>
                          </p:cTn>
                        </p:par>
                        <p:par>
                          <p:cTn id="32" fill="hold">
                            <p:stCondLst>
                              <p:cond delay="3500"/>
                            </p:stCondLst>
                            <p:childTnLst>
                              <p:par>
                                <p:cTn id="33" presetID="22" presetClass="entr" presetSubtype="1" fill="hold" grpId="0" nodeType="afterEffect">
                                  <p:stCondLst>
                                    <p:cond delay="0"/>
                                  </p:stCondLst>
                                  <p:childTnLst>
                                    <p:set>
                                      <p:cBhvr>
                                        <p:cTn id="34" dur="1" fill="hold">
                                          <p:stCondLst>
                                            <p:cond delay="0"/>
                                          </p:stCondLst>
                                        </p:cTn>
                                        <p:tgtEl>
                                          <p:spTgt spid="386051">
                                            <p:txEl>
                                              <p:pRg st="7" end="7"/>
                                            </p:txEl>
                                          </p:spTgt>
                                        </p:tgtEl>
                                        <p:attrNameLst>
                                          <p:attrName>style.visibility</p:attrName>
                                        </p:attrNameLst>
                                      </p:cBhvr>
                                      <p:to>
                                        <p:strVal val="visible"/>
                                      </p:to>
                                    </p:set>
                                    <p:animEffect transition="in" filter="wipe(up)">
                                      <p:cBhvr>
                                        <p:cTn id="35" dur="500"/>
                                        <p:tgtEl>
                                          <p:spTgt spid="386051">
                                            <p:txEl>
                                              <p:pRg st="7" end="7"/>
                                            </p:txEl>
                                          </p:spTgt>
                                        </p:tgtEl>
                                      </p:cBhvr>
                                    </p:animEffect>
                                  </p:childTnLst>
                                </p:cTn>
                              </p:par>
                            </p:childTnLst>
                          </p:cTn>
                        </p:par>
                        <p:par>
                          <p:cTn id="36" fill="hold">
                            <p:stCondLst>
                              <p:cond delay="4000"/>
                            </p:stCondLst>
                            <p:childTnLst>
                              <p:par>
                                <p:cTn id="37" presetID="22" presetClass="entr" presetSubtype="1" fill="hold" grpId="0" nodeType="afterEffect">
                                  <p:stCondLst>
                                    <p:cond delay="0"/>
                                  </p:stCondLst>
                                  <p:childTnLst>
                                    <p:set>
                                      <p:cBhvr>
                                        <p:cTn id="38" dur="1" fill="hold">
                                          <p:stCondLst>
                                            <p:cond delay="0"/>
                                          </p:stCondLst>
                                        </p:cTn>
                                        <p:tgtEl>
                                          <p:spTgt spid="386051">
                                            <p:txEl>
                                              <p:pRg st="8" end="8"/>
                                            </p:txEl>
                                          </p:spTgt>
                                        </p:tgtEl>
                                        <p:attrNameLst>
                                          <p:attrName>style.visibility</p:attrName>
                                        </p:attrNameLst>
                                      </p:cBhvr>
                                      <p:to>
                                        <p:strVal val="visible"/>
                                      </p:to>
                                    </p:set>
                                    <p:animEffect transition="in" filter="wipe(up)">
                                      <p:cBhvr>
                                        <p:cTn id="39" dur="500"/>
                                        <p:tgtEl>
                                          <p:spTgt spid="386051">
                                            <p:txEl>
                                              <p:pRg st="8" end="8"/>
                                            </p:txEl>
                                          </p:spTgt>
                                        </p:tgtEl>
                                      </p:cBhvr>
                                    </p:animEffect>
                                  </p:childTnLst>
                                </p:cTn>
                              </p:par>
                            </p:childTnLst>
                          </p:cTn>
                        </p:par>
                        <p:par>
                          <p:cTn id="40" fill="hold">
                            <p:stCondLst>
                              <p:cond delay="4500"/>
                            </p:stCondLst>
                            <p:childTnLst>
                              <p:par>
                                <p:cTn id="41" presetID="22" presetClass="entr" presetSubtype="1" fill="hold" grpId="0" nodeType="afterEffect">
                                  <p:stCondLst>
                                    <p:cond delay="0"/>
                                  </p:stCondLst>
                                  <p:childTnLst>
                                    <p:set>
                                      <p:cBhvr>
                                        <p:cTn id="42" dur="1" fill="hold">
                                          <p:stCondLst>
                                            <p:cond delay="0"/>
                                          </p:stCondLst>
                                        </p:cTn>
                                        <p:tgtEl>
                                          <p:spTgt spid="386051">
                                            <p:txEl>
                                              <p:pRg st="9" end="9"/>
                                            </p:txEl>
                                          </p:spTgt>
                                        </p:tgtEl>
                                        <p:attrNameLst>
                                          <p:attrName>style.visibility</p:attrName>
                                        </p:attrNameLst>
                                      </p:cBhvr>
                                      <p:to>
                                        <p:strVal val="visible"/>
                                      </p:to>
                                    </p:set>
                                    <p:animEffect transition="in" filter="wipe(up)">
                                      <p:cBhvr>
                                        <p:cTn id="43" dur="500"/>
                                        <p:tgtEl>
                                          <p:spTgt spid="386051">
                                            <p:txEl>
                                              <p:pRg st="9" end="9"/>
                                            </p:txEl>
                                          </p:spTgt>
                                        </p:tgtEl>
                                      </p:cBhvr>
                                    </p:animEffect>
                                  </p:childTnLst>
                                </p:cTn>
                              </p:par>
                            </p:childTnLst>
                          </p:cTn>
                        </p:par>
                        <p:par>
                          <p:cTn id="44" fill="hold">
                            <p:stCondLst>
                              <p:cond delay="5000"/>
                            </p:stCondLst>
                            <p:childTnLst>
                              <p:par>
                                <p:cTn id="45" presetID="22" presetClass="entr" presetSubtype="1" fill="hold" grpId="0" nodeType="afterEffect">
                                  <p:stCondLst>
                                    <p:cond delay="0"/>
                                  </p:stCondLst>
                                  <p:childTnLst>
                                    <p:set>
                                      <p:cBhvr>
                                        <p:cTn id="46" dur="1" fill="hold">
                                          <p:stCondLst>
                                            <p:cond delay="0"/>
                                          </p:stCondLst>
                                        </p:cTn>
                                        <p:tgtEl>
                                          <p:spTgt spid="386051">
                                            <p:txEl>
                                              <p:pRg st="10" end="10"/>
                                            </p:txEl>
                                          </p:spTgt>
                                        </p:tgtEl>
                                        <p:attrNameLst>
                                          <p:attrName>style.visibility</p:attrName>
                                        </p:attrNameLst>
                                      </p:cBhvr>
                                      <p:to>
                                        <p:strVal val="visible"/>
                                      </p:to>
                                    </p:set>
                                    <p:animEffect transition="in" filter="wipe(up)">
                                      <p:cBhvr>
                                        <p:cTn id="47" dur="500"/>
                                        <p:tgtEl>
                                          <p:spTgt spid="38605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51"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2"/>
          <p:cNvSpPr>
            <a:spLocks noGrp="1" noRot="1" noChangeArrowheads="1"/>
          </p:cNvSpPr>
          <p:nvPr>
            <p:ph type="title" idx="4294967295"/>
          </p:nvPr>
        </p:nvSpPr>
        <p:spPr>
          <a:xfrm>
            <a:off x="440531" y="692398"/>
            <a:ext cx="6399721" cy="612366"/>
          </a:xfrm>
          <a:noFill/>
          <a:ln w="9525">
            <a:noFill/>
            <a:miter lim="800000"/>
          </a:ln>
        </p:spPr>
        <p:txBody>
          <a:bodyPr vert="horz" wrap="square" lIns="91440" tIns="45720" rIns="91440" bIns="45720" numCol="1" anchor="ctr" anchorCtr="0" compatLnSpc="1"/>
          <a:lstStyle/>
          <a:p>
            <a:r>
              <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Denning</a:t>
            </a:r>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模型：异常记录和活动规则</a:t>
            </a:r>
            <a:endPar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87075" name="Rectangle 3"/>
          <p:cNvSpPr>
            <a:spLocks noGrp="1" noRot="1" noChangeArrowheads="1"/>
          </p:cNvSpPr>
          <p:nvPr>
            <p:ph type="body" idx="4294967295"/>
          </p:nvPr>
        </p:nvSpPr>
        <p:spPr>
          <a:xfrm>
            <a:off x="440531" y="3248980"/>
            <a:ext cx="8512175" cy="2809643"/>
          </a:xfrm>
        </p:spPr>
        <p:txBody>
          <a:bodyPr/>
          <a:lstStyle/>
          <a:p>
            <a:pPr eaLnBrk="1" hangingPunct="1">
              <a:lnSpc>
                <a:spcPct val="110000"/>
              </a:lnSpc>
              <a:buFont typeface="Wingdings" panose="05000000000000000000" pitchFamily="2" charset="2"/>
              <a:buChar char="u"/>
            </a:pP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活动规则：</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当一个审计记录或异常记录产生时应采取的动作，类型包括</a:t>
            </a:r>
          </a:p>
          <a:p>
            <a:pPr lvl="1" eaLnBrk="1" hangingPunct="1">
              <a:lnSpc>
                <a:spcPct val="110000"/>
              </a:lnSpc>
              <a:buClr>
                <a:schemeClr val="tx1"/>
              </a:buClr>
              <a:buFont typeface="Wingdings" panose="05000000000000000000" pitchFamily="2" charset="2"/>
              <a:buChar char="n"/>
            </a:pPr>
            <a:r>
              <a:rPr lang="zh-CN" altLang="en-US"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审计记录规则：</a:t>
            </a:r>
            <a:r>
              <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触发新生成审计记录和动态的活动剖面之间匹配，以及更新活动剖面和检测异常行为</a:t>
            </a:r>
          </a:p>
          <a:p>
            <a:pPr lvl="1" eaLnBrk="1" hangingPunct="1">
              <a:lnSpc>
                <a:spcPct val="110000"/>
              </a:lnSpc>
              <a:buClr>
                <a:schemeClr val="tx1"/>
              </a:buClr>
              <a:buFont typeface="Wingdings" panose="05000000000000000000" pitchFamily="2" charset="2"/>
              <a:buChar char="n"/>
            </a:pPr>
            <a:r>
              <a:rPr lang="zh-CN" altLang="en-US"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异常记录规则：</a:t>
            </a:r>
            <a:r>
              <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触发异常事件的产生，并将异常事件报告给安全管理员</a:t>
            </a:r>
          </a:p>
          <a:p>
            <a:pPr lvl="1" eaLnBrk="1" hangingPunct="1">
              <a:lnSpc>
                <a:spcPct val="110000"/>
              </a:lnSpc>
              <a:buClr>
                <a:schemeClr val="tx1"/>
              </a:buClr>
              <a:buFont typeface="Wingdings" panose="05000000000000000000" pitchFamily="2" charset="2"/>
              <a:buChar char="n"/>
            </a:pPr>
            <a:r>
              <a:rPr lang="zh-CN" altLang="en-US"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定期异常分析规则：</a:t>
            </a:r>
            <a:r>
              <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定期触发产生当前的安全状态报告</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en-US" altLang="zh-CN"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endParaRPr>
          </a:p>
        </p:txBody>
      </p:sp>
      <p:sp>
        <p:nvSpPr>
          <p:cNvPr id="387076" name="Rectangle 4"/>
          <p:cNvSpPr>
            <a:spLocks noChangeArrowheads="1"/>
          </p:cNvSpPr>
          <p:nvPr/>
        </p:nvSpPr>
        <p:spPr bwMode="auto">
          <a:xfrm>
            <a:off x="2667000" y="433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b="0"/>
          </a:p>
        </p:txBody>
      </p:sp>
      <p:sp>
        <p:nvSpPr>
          <p:cNvPr id="2" name="矩形 1"/>
          <p:cNvSpPr/>
          <p:nvPr/>
        </p:nvSpPr>
        <p:spPr>
          <a:xfrm>
            <a:off x="359532" y="1413399"/>
            <a:ext cx="7883130" cy="1698927"/>
          </a:xfrm>
          <a:prstGeom prst="rect">
            <a:avLst/>
          </a:prstGeom>
        </p:spPr>
        <p:txBody>
          <a:bodyPr wrap="square">
            <a:spAutoFit/>
          </a:bodyPr>
          <a:lstStyle/>
          <a:p>
            <a:pPr eaLnBrk="1" hangingPunct="1">
              <a:lnSpc>
                <a:spcPct val="110000"/>
              </a:lnSpc>
              <a:buFont typeface="Wingdings" panose="05000000000000000000" pitchFamily="2" charset="2"/>
              <a:buChar char="u"/>
            </a:pP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异常记录格式：</a:t>
            </a:r>
            <a:r>
              <a:rPr lang="en-US" altLang="zh-CN"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&lt;Event, Time-stamp, Profile&gt;</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742950" lvl="1" indent="-285750">
              <a:lnSpc>
                <a:spcPct val="110000"/>
              </a:lnSpc>
              <a:spcBef>
                <a:spcPct val="20000"/>
              </a:spcBef>
              <a:buClr>
                <a:schemeClr val="tx1"/>
              </a:buClr>
              <a:buFont typeface="Wingdings" panose="05000000000000000000" pitchFamily="2" charset="2"/>
              <a:buChar char="n"/>
            </a:pPr>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Event</a:t>
            </a:r>
            <a:r>
              <a:rPr lang="zh-CN" altLang="en-US"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a:t>
            </a:r>
            <a:r>
              <a:rPr lang="zh-CN" altLang="en-US" sz="2000" b="1" dirty="0">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导致异常的事件</a:t>
            </a:r>
          </a:p>
          <a:p>
            <a:pPr marL="742950" lvl="1" indent="-285750">
              <a:lnSpc>
                <a:spcPct val="110000"/>
              </a:lnSpc>
              <a:spcBef>
                <a:spcPct val="20000"/>
              </a:spcBef>
              <a:buClr>
                <a:schemeClr val="tx1"/>
              </a:buClr>
              <a:buFont typeface="Wingdings" panose="05000000000000000000" pitchFamily="2" charset="2"/>
              <a:buChar char="n"/>
            </a:pPr>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Time-stamp</a:t>
            </a:r>
            <a:r>
              <a:rPr lang="zh-CN" altLang="en-US"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a:t>
            </a:r>
            <a:r>
              <a:rPr lang="zh-CN" altLang="en-US" sz="2000" b="1" dirty="0">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产生异常事件的时间戳</a:t>
            </a:r>
          </a:p>
          <a:p>
            <a:pPr marL="742950" lvl="1" indent="-285750">
              <a:lnSpc>
                <a:spcPct val="110000"/>
              </a:lnSpc>
              <a:spcBef>
                <a:spcPct val="20000"/>
              </a:spcBef>
              <a:buClr>
                <a:schemeClr val="tx1"/>
              </a:buClr>
              <a:buFont typeface="Wingdings" panose="05000000000000000000" pitchFamily="2" charset="2"/>
              <a:buChar char="n"/>
            </a:pPr>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Profile</a:t>
            </a:r>
            <a:r>
              <a:rPr lang="zh-CN" altLang="en-US"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a:t>
            </a:r>
            <a:r>
              <a:rPr lang="zh-CN" altLang="en-US" sz="2000" b="1" dirty="0">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检测到异常事件的活动剖面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87075">
                                            <p:txEl>
                                              <p:pRg st="0" end="0"/>
                                            </p:txEl>
                                          </p:spTgt>
                                        </p:tgtEl>
                                        <p:attrNameLst>
                                          <p:attrName>style.visibility</p:attrName>
                                        </p:attrNameLst>
                                      </p:cBhvr>
                                      <p:to>
                                        <p:strVal val="visible"/>
                                      </p:to>
                                    </p:set>
                                    <p:animEffect transition="in" filter="wipe(up)">
                                      <p:cBhvr>
                                        <p:cTn id="12" dur="500"/>
                                        <p:tgtEl>
                                          <p:spTgt spid="387075">
                                            <p:txEl>
                                              <p:pRg st="0" end="0"/>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387075">
                                            <p:txEl>
                                              <p:pRg st="1" end="1"/>
                                            </p:txEl>
                                          </p:spTgt>
                                        </p:tgtEl>
                                        <p:attrNameLst>
                                          <p:attrName>style.visibility</p:attrName>
                                        </p:attrNameLst>
                                      </p:cBhvr>
                                      <p:to>
                                        <p:strVal val="visible"/>
                                      </p:to>
                                    </p:set>
                                    <p:animEffect transition="in" filter="wipe(up)">
                                      <p:cBhvr>
                                        <p:cTn id="15" dur="500"/>
                                        <p:tgtEl>
                                          <p:spTgt spid="387075">
                                            <p:txEl>
                                              <p:pRg st="1" end="1"/>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387075">
                                            <p:txEl>
                                              <p:pRg st="2" end="2"/>
                                            </p:txEl>
                                          </p:spTgt>
                                        </p:tgtEl>
                                        <p:attrNameLst>
                                          <p:attrName>style.visibility</p:attrName>
                                        </p:attrNameLst>
                                      </p:cBhvr>
                                      <p:to>
                                        <p:strVal val="visible"/>
                                      </p:to>
                                    </p:set>
                                    <p:animEffect transition="in" filter="wipe(up)">
                                      <p:cBhvr>
                                        <p:cTn id="18" dur="500"/>
                                        <p:tgtEl>
                                          <p:spTgt spid="387075">
                                            <p:txEl>
                                              <p:pRg st="2" end="2"/>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387075">
                                            <p:txEl>
                                              <p:pRg st="3" end="3"/>
                                            </p:txEl>
                                          </p:spTgt>
                                        </p:tgtEl>
                                        <p:attrNameLst>
                                          <p:attrName>style.visibility</p:attrName>
                                        </p:attrNameLst>
                                      </p:cBhvr>
                                      <p:to>
                                        <p:strVal val="visible"/>
                                      </p:to>
                                    </p:set>
                                    <p:animEffect transition="in" filter="wipe(up)">
                                      <p:cBhvr>
                                        <p:cTn id="21" dur="500"/>
                                        <p:tgtEl>
                                          <p:spTgt spid="3870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7075" grpId="0" build="p"/>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p:cNvSpPr>
            <a:spLocks noGrp="1" noRot="1" noChangeArrowheads="1"/>
          </p:cNvSpPr>
          <p:nvPr>
            <p:ph type="title" idx="4294967295"/>
          </p:nvPr>
        </p:nvSpPr>
        <p:spPr>
          <a:xfrm>
            <a:off x="491197" y="760123"/>
            <a:ext cx="3864779" cy="612366"/>
          </a:xfrm>
          <a:noFill/>
          <a:ln w="9525">
            <a:noFill/>
            <a:miter lim="800000"/>
          </a:ln>
        </p:spPr>
        <p:txBody>
          <a:bodyPr vert="horz" wrap="square" lIns="91440" tIns="45720" rIns="91440" bIns="45720" numCol="1" anchor="ctr" anchorCtr="0" compatLnSpc="1"/>
          <a:lstStyle/>
          <a:p>
            <a:r>
              <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Denning</a:t>
            </a:r>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模型图示</a:t>
            </a:r>
          </a:p>
        </p:txBody>
      </p:sp>
      <p:sp>
        <p:nvSpPr>
          <p:cNvPr id="382979" name="Rectangle 3"/>
          <p:cNvSpPr>
            <a:spLocks noGrp="1" noRot="1" noChangeArrowheads="1"/>
          </p:cNvSpPr>
          <p:nvPr>
            <p:ph type="body" idx="4294967295"/>
          </p:nvPr>
        </p:nvSpPr>
        <p:spPr>
          <a:xfrm>
            <a:off x="5040052" y="1304764"/>
            <a:ext cx="3960440" cy="4823866"/>
          </a:xfrm>
        </p:spPr>
        <p:txBody>
          <a:bodyPr/>
          <a:lstStyle/>
          <a:p>
            <a:pPr eaLnBrk="1" hangingPunct="1">
              <a:buFont typeface="Wingdings" panose="05000000000000000000" pitchFamily="2" charset="2"/>
              <a:buChar char="u"/>
            </a:pPr>
            <a:r>
              <a:rPr lang="zh-CN" altLang="en-US" sz="2000" b="1" dirty="0">
                <a:solidFill>
                  <a:srgbClr val="FF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主体：</a:t>
            </a:r>
            <a:r>
              <a:rPr lang="zh-CN" altLang="en-US" sz="2000" b="1" dirty="0">
                <a:solidFill>
                  <a:srgbClr val="00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系统操作的主动发起者，如进程、连接</a:t>
            </a:r>
          </a:p>
          <a:p>
            <a:pPr eaLnBrk="1" hangingPunct="1">
              <a:buFont typeface="Wingdings" panose="05000000000000000000" pitchFamily="2" charset="2"/>
              <a:buChar char="u"/>
            </a:pPr>
            <a:r>
              <a:rPr lang="zh-CN" altLang="en-US" sz="2000" b="1" dirty="0">
                <a:solidFill>
                  <a:srgbClr val="FF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对象：</a:t>
            </a:r>
            <a:r>
              <a:rPr lang="zh-CN" altLang="en-US" sz="2000" b="1" dirty="0">
                <a:solidFill>
                  <a:srgbClr val="00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系统所管理的资源</a:t>
            </a:r>
            <a:endParaRPr lang="zh-CN" altLang="en-US" sz="2800" b="1" dirty="0">
              <a:effectLst>
                <a:outerShdw blurRad="38100" dist="38100" dir="2700000" algn="tl">
                  <a:srgbClr val="000000">
                    <a:alpha val="43137"/>
                  </a:srgbClr>
                </a:outerShdw>
              </a:effectLst>
              <a:latin typeface="黑体" panose="02010609060101010101" pitchFamily="2" charset="-122"/>
              <a:ea typeface="黑体" panose="02010609060101010101" pitchFamily="2" charset="-122"/>
            </a:endParaRPr>
          </a:p>
          <a:p>
            <a:pPr eaLnBrk="1" hangingPunct="1">
              <a:buFont typeface="Wingdings" panose="05000000000000000000" pitchFamily="2" charset="2"/>
              <a:buChar char="u"/>
            </a:pPr>
            <a:r>
              <a:rPr lang="zh-CN" altLang="en-US" sz="2000" b="1" dirty="0">
                <a:solidFill>
                  <a:srgbClr val="FF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审计记录：</a:t>
            </a:r>
            <a:r>
              <a:rPr lang="zh-CN" altLang="en-US" sz="2000" b="1" dirty="0">
                <a:solidFill>
                  <a:srgbClr val="00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主体对对象实施操作时系统所产生的数据</a:t>
            </a:r>
          </a:p>
          <a:p>
            <a:pPr eaLnBrk="1" hangingPunct="1">
              <a:buFont typeface="Wingdings" panose="05000000000000000000" pitchFamily="2" charset="2"/>
              <a:buChar char="u"/>
            </a:pPr>
            <a:r>
              <a:rPr lang="zh-CN" altLang="en-US" sz="2000" b="1" dirty="0">
                <a:solidFill>
                  <a:srgbClr val="FF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活动剖面</a:t>
            </a:r>
            <a:r>
              <a:rPr lang="en-US" altLang="zh-CN" sz="2000" b="1" dirty="0">
                <a:solidFill>
                  <a:srgbClr val="FF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a:t>
            </a:r>
            <a:r>
              <a:rPr lang="zh-CN" altLang="en-US" sz="2000" b="1" dirty="0">
                <a:solidFill>
                  <a:srgbClr val="FF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简档：</a:t>
            </a:r>
            <a:r>
              <a:rPr lang="zh-CN" altLang="en-US" sz="2000" b="1" dirty="0">
                <a:solidFill>
                  <a:srgbClr val="00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保存活动剖面</a:t>
            </a:r>
            <a:r>
              <a:rPr lang="en-US" altLang="zh-CN" sz="2000" b="1" dirty="0">
                <a:solidFill>
                  <a:srgbClr val="00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 </a:t>
            </a:r>
            <a:r>
              <a:rPr lang="zh-CN" altLang="en-US" sz="2000" b="1" dirty="0">
                <a:solidFill>
                  <a:srgbClr val="00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主体正常活动的有关信息</a:t>
            </a:r>
          </a:p>
          <a:p>
            <a:pPr eaLnBrk="1" hangingPunct="1">
              <a:buFont typeface="Wingdings" panose="05000000000000000000" pitchFamily="2" charset="2"/>
              <a:buChar char="u"/>
            </a:pPr>
            <a:r>
              <a:rPr lang="zh-CN" altLang="en-US" sz="2000" b="1" dirty="0">
                <a:solidFill>
                  <a:srgbClr val="FF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异常记录：</a:t>
            </a:r>
            <a:r>
              <a:rPr lang="zh-CN" altLang="en-US" sz="2000" b="1" dirty="0">
                <a:solidFill>
                  <a:srgbClr val="00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记录异常事件的发生情况</a:t>
            </a:r>
            <a:r>
              <a:rPr lang="zh-CN" altLang="en-US" sz="2800" b="1" dirty="0">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 </a:t>
            </a:r>
          </a:p>
          <a:p>
            <a:pPr eaLnBrk="1" hangingPunct="1">
              <a:buFont typeface="Wingdings" panose="05000000000000000000" pitchFamily="2" charset="2"/>
              <a:buChar char="u"/>
            </a:pPr>
            <a:r>
              <a:rPr lang="zh-CN" altLang="en-US" sz="2000" b="1" dirty="0">
                <a:solidFill>
                  <a:srgbClr val="FF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规则集处理引擎 ：</a:t>
            </a:r>
            <a:r>
              <a:rPr lang="zh-CN" altLang="en-US" sz="2000" b="1" dirty="0">
                <a:solidFill>
                  <a:srgbClr val="00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结合活动剖面分析接收到的审计记录，调整内部规则或统计信息，在有入侵时采取措施</a:t>
            </a:r>
          </a:p>
        </p:txBody>
      </p:sp>
      <p:sp>
        <p:nvSpPr>
          <p:cNvPr id="382980" name="Rectangle 4"/>
          <p:cNvSpPr>
            <a:spLocks noChangeArrowheads="1"/>
          </p:cNvSpPr>
          <p:nvPr/>
        </p:nvSpPr>
        <p:spPr bwMode="auto">
          <a:xfrm>
            <a:off x="2667000" y="433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b="0"/>
          </a:p>
        </p:txBody>
      </p:sp>
      <p:pic>
        <p:nvPicPr>
          <p:cNvPr id="38298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1700213"/>
            <a:ext cx="4537075" cy="3784600"/>
          </a:xfrm>
          <a:prstGeom prst="rect">
            <a:avLst/>
          </a:prstGeom>
        </p:spPr>
        <p:style>
          <a:lnRef idx="0">
            <a:schemeClr val="accent1"/>
          </a:lnRef>
          <a:fillRef idx="3">
            <a:schemeClr val="accent1"/>
          </a:fillRef>
          <a:effectRef idx="3">
            <a:schemeClr val="accent1"/>
          </a:effectRef>
          <a:fontRef idx="minor">
            <a:schemeClr val="lt1"/>
          </a:fontRef>
        </p:style>
      </p:pic>
      <p:sp>
        <p:nvSpPr>
          <p:cNvPr id="6" name="AutoShape 10"/>
          <p:cNvSpPr>
            <a:spLocks noChangeArrowheads="1"/>
          </p:cNvSpPr>
          <p:nvPr/>
        </p:nvSpPr>
        <p:spPr bwMode="auto">
          <a:xfrm>
            <a:off x="340953" y="2116138"/>
            <a:ext cx="8532812" cy="2952750"/>
          </a:xfrm>
          <a:prstGeom prst="horizontalScroll">
            <a:avLst>
              <a:gd name="adj" fmla="val 12500"/>
            </a:avLst>
          </a:prstGeom>
          <a:solidFill>
            <a:srgbClr val="0066FF"/>
          </a:solidFill>
          <a:ln w="12700">
            <a:solidFill>
              <a:schemeClr val="tx1"/>
            </a:solidFill>
            <a:round/>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zh-CN" altLang="en-US" sz="2800" b="1">
                <a:solidFill>
                  <a:srgbClr val="99FF66"/>
                </a:solidFill>
                <a:effectLst>
                  <a:outerShdw blurRad="38100" dist="38100" dir="2700000" algn="tl">
                    <a:srgbClr val="000000">
                      <a:alpha val="43137"/>
                    </a:srgbClr>
                  </a:outerShdw>
                </a:effectLst>
                <a:latin typeface="+mn-ea"/>
                <a:ea typeface="+mn-ea"/>
              </a:rPr>
              <a:t>这是一个基于规则的模式匹配系统，</a:t>
            </a:r>
          </a:p>
          <a:p>
            <a:r>
              <a:rPr lang="zh-CN" altLang="en-US" sz="2800" b="1">
                <a:solidFill>
                  <a:srgbClr val="99FF66"/>
                </a:solidFill>
                <a:effectLst>
                  <a:outerShdw blurRad="38100" dist="38100" dir="2700000" algn="tl">
                    <a:srgbClr val="000000">
                      <a:alpha val="43137"/>
                    </a:srgbClr>
                  </a:outerShdw>
                </a:effectLst>
                <a:latin typeface="+mn-ea"/>
                <a:ea typeface="+mn-ea"/>
              </a:rPr>
              <a:t>该模型最大缺限</a:t>
            </a:r>
          </a:p>
          <a:p>
            <a:r>
              <a:rPr lang="zh-CN" altLang="en-US" sz="2800" b="1">
                <a:solidFill>
                  <a:srgbClr val="99FF66"/>
                </a:solidFill>
                <a:effectLst>
                  <a:outerShdw blurRad="38100" dist="38100" dir="2700000" algn="tl">
                    <a:srgbClr val="000000">
                      <a:alpha val="43137"/>
                    </a:srgbClr>
                  </a:outerShdw>
                </a:effectLst>
                <a:latin typeface="+mn-ea"/>
                <a:ea typeface="+mn-ea"/>
              </a:rPr>
              <a:t>在于它没有包含已知系统漏洞或攻击方法的知识</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82981"/>
                                        </p:tgtEl>
                                        <p:attrNameLst>
                                          <p:attrName>style.visibility</p:attrName>
                                        </p:attrNameLst>
                                      </p:cBhvr>
                                      <p:to>
                                        <p:strVal val="visible"/>
                                      </p:to>
                                    </p:set>
                                    <p:anim calcmode="lin" valueType="num">
                                      <p:cBhvr additive="base">
                                        <p:cTn id="7" dur="500" fill="hold"/>
                                        <p:tgtEl>
                                          <p:spTgt spid="382981"/>
                                        </p:tgtEl>
                                        <p:attrNameLst>
                                          <p:attrName>ppt_x</p:attrName>
                                        </p:attrNameLst>
                                      </p:cBhvr>
                                      <p:tavLst>
                                        <p:tav tm="0">
                                          <p:val>
                                            <p:strVal val="0-#ppt_w/2"/>
                                          </p:val>
                                        </p:tav>
                                        <p:tav tm="100000">
                                          <p:val>
                                            <p:strVal val="#ppt_x"/>
                                          </p:val>
                                        </p:tav>
                                      </p:tavLst>
                                    </p:anim>
                                    <p:anim calcmode="lin" valueType="num">
                                      <p:cBhvr additive="base">
                                        <p:cTn id="8" dur="500" fill="hold"/>
                                        <p:tgtEl>
                                          <p:spTgt spid="38298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382979">
                                            <p:txEl>
                                              <p:pRg st="0" end="0"/>
                                            </p:txEl>
                                          </p:spTgt>
                                        </p:tgtEl>
                                        <p:attrNameLst>
                                          <p:attrName>style.visibility</p:attrName>
                                        </p:attrNameLst>
                                      </p:cBhvr>
                                      <p:to>
                                        <p:strVal val="visible"/>
                                      </p:to>
                                    </p:set>
                                    <p:animEffect transition="in" filter="wipe(up)">
                                      <p:cBhvr>
                                        <p:cTn id="13" dur="500"/>
                                        <p:tgtEl>
                                          <p:spTgt spid="382979">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382979">
                                            <p:txEl>
                                              <p:pRg st="1" end="1"/>
                                            </p:txEl>
                                          </p:spTgt>
                                        </p:tgtEl>
                                        <p:attrNameLst>
                                          <p:attrName>style.visibility</p:attrName>
                                        </p:attrNameLst>
                                      </p:cBhvr>
                                      <p:to>
                                        <p:strVal val="visible"/>
                                      </p:to>
                                    </p:set>
                                    <p:animEffect transition="in" filter="wipe(up)">
                                      <p:cBhvr>
                                        <p:cTn id="18" dur="500"/>
                                        <p:tgtEl>
                                          <p:spTgt spid="382979">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382979">
                                            <p:txEl>
                                              <p:pRg st="2" end="2"/>
                                            </p:txEl>
                                          </p:spTgt>
                                        </p:tgtEl>
                                        <p:attrNameLst>
                                          <p:attrName>style.visibility</p:attrName>
                                        </p:attrNameLst>
                                      </p:cBhvr>
                                      <p:to>
                                        <p:strVal val="visible"/>
                                      </p:to>
                                    </p:set>
                                    <p:animEffect transition="in" filter="wipe(up)">
                                      <p:cBhvr>
                                        <p:cTn id="23" dur="500"/>
                                        <p:tgtEl>
                                          <p:spTgt spid="382979">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382979">
                                            <p:txEl>
                                              <p:pRg st="3" end="3"/>
                                            </p:txEl>
                                          </p:spTgt>
                                        </p:tgtEl>
                                        <p:attrNameLst>
                                          <p:attrName>style.visibility</p:attrName>
                                        </p:attrNameLst>
                                      </p:cBhvr>
                                      <p:to>
                                        <p:strVal val="visible"/>
                                      </p:to>
                                    </p:set>
                                    <p:animEffect transition="in" filter="wipe(up)">
                                      <p:cBhvr>
                                        <p:cTn id="28" dur="500"/>
                                        <p:tgtEl>
                                          <p:spTgt spid="382979">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382979">
                                            <p:txEl>
                                              <p:pRg st="4" end="4"/>
                                            </p:txEl>
                                          </p:spTgt>
                                        </p:tgtEl>
                                        <p:attrNameLst>
                                          <p:attrName>style.visibility</p:attrName>
                                        </p:attrNameLst>
                                      </p:cBhvr>
                                      <p:to>
                                        <p:strVal val="visible"/>
                                      </p:to>
                                    </p:set>
                                    <p:animEffect transition="in" filter="wipe(up)">
                                      <p:cBhvr>
                                        <p:cTn id="33" dur="500"/>
                                        <p:tgtEl>
                                          <p:spTgt spid="382979">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382979">
                                            <p:txEl>
                                              <p:pRg st="5" end="5"/>
                                            </p:txEl>
                                          </p:spTgt>
                                        </p:tgtEl>
                                        <p:attrNameLst>
                                          <p:attrName>style.visibility</p:attrName>
                                        </p:attrNameLst>
                                      </p:cBhvr>
                                      <p:to>
                                        <p:strVal val="visible"/>
                                      </p:to>
                                    </p:set>
                                    <p:animEffect transition="in" filter="wipe(up)">
                                      <p:cBhvr>
                                        <p:cTn id="38" dur="500"/>
                                        <p:tgtEl>
                                          <p:spTgt spid="382979">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8" presetClass="entr" presetSubtype="16"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diamond(in)">
                                      <p:cBhvr>
                                        <p:cTn id="43"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2979" grpId="0" build="p"/>
      <p:bldP spid="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Rot="1" noChangeArrowheads="1"/>
          </p:cNvSpPr>
          <p:nvPr/>
        </p:nvSpPr>
        <p:spPr bwMode="gray">
          <a:xfrm>
            <a:off x="381000" y="800708"/>
            <a:ext cx="6099212" cy="648370"/>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2pPr>
            <a:lvl3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3pPr>
            <a:lvl4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4pPr>
            <a:lvl5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5pPr>
            <a:lvl6pPr marL="4572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6pPr>
            <a:lvl7pPr marL="9144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7pPr>
            <a:lvl8pPr marL="13716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8pPr>
            <a:lvl9pPr marL="18288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9pPr>
          </a:lstStyle>
          <a:p>
            <a:r>
              <a:rPr lang="zh-CN" altLang="en-US" sz="2800"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层次化入侵检测模型</a:t>
            </a:r>
            <a:r>
              <a:rPr lang="en-US" altLang="zh-CN" sz="2800"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IDM</a:t>
            </a:r>
            <a:endPar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7" name="矩形 6"/>
          <p:cNvSpPr/>
          <p:nvPr/>
        </p:nvSpPr>
        <p:spPr>
          <a:xfrm>
            <a:off x="1043608" y="5121188"/>
            <a:ext cx="7416824" cy="1015663"/>
          </a:xfrm>
          <a:prstGeom prst="rect">
            <a:avLst/>
          </a:prstGeom>
        </p:spPr>
        <p:txBody>
          <a:bodyPr wrap="square">
            <a:spAutoFit/>
          </a:bodyPr>
          <a:lstStyle/>
          <a:p>
            <a:r>
              <a:rPr lang="en-US" altLang="zh-CN" sz="20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IDM</a:t>
            </a:r>
            <a:r>
              <a:rPr lang="zh-CN" altLang="en-US" sz="20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模型给出了在推断网络中的计算机受攻击时数据的抽象过程，即</a:t>
            </a:r>
            <a:r>
              <a:rPr lang="en-US" altLang="zh-CN" sz="20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IDM</a:t>
            </a:r>
            <a:r>
              <a:rPr lang="zh-CN" altLang="en-US" sz="20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给出了将分散的原始数据转换为高层次的有关入侵和被监测环境的全部安全假设过程</a:t>
            </a:r>
          </a:p>
        </p:txBody>
      </p:sp>
      <p:sp>
        <p:nvSpPr>
          <p:cNvPr id="4" name="矩形 3"/>
          <p:cNvSpPr/>
          <p:nvPr/>
        </p:nvSpPr>
        <p:spPr>
          <a:xfrm>
            <a:off x="2786844" y="4266688"/>
            <a:ext cx="3693368" cy="540060"/>
          </a:xfrm>
          <a:prstGeom prst="rect">
            <a:avLst/>
          </a:prstGeom>
          <a:solidFill>
            <a:srgbClr val="FFFF00"/>
          </a:solidFill>
        </p:spPr>
        <p:style>
          <a:lnRef idx="1">
            <a:schemeClr val="accent2"/>
          </a:lnRef>
          <a:fillRef idx="2">
            <a:schemeClr val="accent2"/>
          </a:fillRef>
          <a:effectRef idx="1">
            <a:schemeClr val="accent2"/>
          </a:effectRef>
          <a:fontRef idx="minor">
            <a:schemeClr val="dk1"/>
          </a:fontRef>
        </p:style>
        <p:txBody>
          <a:bodyPr rtlCol="0" anchor="ctr"/>
          <a:lstStyle/>
          <a:p>
            <a:pPr lvl="1" eaLnBrk="1" hangingPunct="1">
              <a:lnSpc>
                <a:spcPct val="110000"/>
              </a:lnSpc>
              <a:buClr>
                <a:schemeClr val="tx1"/>
              </a:buClr>
            </a:pPr>
            <a:r>
              <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数据</a:t>
            </a:r>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(Data)</a:t>
            </a:r>
            <a:r>
              <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层</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endParaRPr>
          </a:p>
        </p:txBody>
      </p:sp>
      <p:sp>
        <p:nvSpPr>
          <p:cNvPr id="8" name="矩形 7"/>
          <p:cNvSpPr/>
          <p:nvPr/>
        </p:nvSpPr>
        <p:spPr>
          <a:xfrm>
            <a:off x="2786844" y="3753035"/>
            <a:ext cx="3693368" cy="496423"/>
          </a:xfrm>
          <a:prstGeom prst="rect">
            <a:avLst/>
          </a:prstGeom>
          <a:solidFill>
            <a:schemeClr val="tx2">
              <a:lumMod val="40000"/>
              <a:lumOff val="60000"/>
            </a:schemeClr>
          </a:solidFill>
        </p:spPr>
        <p:style>
          <a:lnRef idx="1">
            <a:schemeClr val="accent2"/>
          </a:lnRef>
          <a:fillRef idx="2">
            <a:schemeClr val="accent2"/>
          </a:fillRef>
          <a:effectRef idx="1">
            <a:schemeClr val="accent2"/>
          </a:effectRef>
          <a:fontRef idx="minor">
            <a:schemeClr val="dk1"/>
          </a:fontRef>
        </p:style>
        <p:txBody>
          <a:bodyPr rtlCol="0" anchor="ctr"/>
          <a:lstStyle/>
          <a:p>
            <a:pPr lvl="1" eaLnBrk="1" hangingPunct="1">
              <a:lnSpc>
                <a:spcPct val="110000"/>
              </a:lnSpc>
              <a:buClr>
                <a:schemeClr val="tx1"/>
              </a:buClr>
            </a:pPr>
            <a:r>
              <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事件</a:t>
            </a:r>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(Event)</a:t>
            </a:r>
            <a:r>
              <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层 </a:t>
            </a:r>
          </a:p>
        </p:txBody>
      </p:sp>
      <p:sp>
        <p:nvSpPr>
          <p:cNvPr id="9" name="矩形 8"/>
          <p:cNvSpPr/>
          <p:nvPr/>
        </p:nvSpPr>
        <p:spPr>
          <a:xfrm>
            <a:off x="2786844" y="3225929"/>
            <a:ext cx="3693368" cy="496423"/>
          </a:xfrm>
          <a:prstGeom prst="rect">
            <a:avLst/>
          </a:prstGeom>
          <a:solidFill>
            <a:srgbClr val="FFC000"/>
          </a:solidFill>
        </p:spPr>
        <p:style>
          <a:lnRef idx="1">
            <a:schemeClr val="accent2"/>
          </a:lnRef>
          <a:fillRef idx="2">
            <a:schemeClr val="accent2"/>
          </a:fillRef>
          <a:effectRef idx="1">
            <a:schemeClr val="accent2"/>
          </a:effectRef>
          <a:fontRef idx="minor">
            <a:schemeClr val="dk1"/>
          </a:fontRef>
        </p:style>
        <p:txBody>
          <a:bodyPr rtlCol="0" anchor="ctr"/>
          <a:lstStyle/>
          <a:p>
            <a:pPr lvl="1" eaLnBrk="1" hangingPunct="1">
              <a:lnSpc>
                <a:spcPct val="110000"/>
              </a:lnSpc>
              <a:buClr>
                <a:schemeClr val="tx1"/>
              </a:buClr>
            </a:pPr>
            <a:r>
              <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主体</a:t>
            </a:r>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(Subject)</a:t>
            </a:r>
            <a:r>
              <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层 </a:t>
            </a:r>
          </a:p>
        </p:txBody>
      </p:sp>
      <p:sp>
        <p:nvSpPr>
          <p:cNvPr id="10" name="矩形 9"/>
          <p:cNvSpPr/>
          <p:nvPr/>
        </p:nvSpPr>
        <p:spPr>
          <a:xfrm>
            <a:off x="2786844" y="2752613"/>
            <a:ext cx="3693368" cy="496423"/>
          </a:xfrm>
          <a:prstGeom prst="rect">
            <a:avLst/>
          </a:prstGeom>
          <a:solidFill>
            <a:srgbClr val="92D050"/>
          </a:solidFill>
        </p:spPr>
        <p:style>
          <a:lnRef idx="1">
            <a:schemeClr val="accent2"/>
          </a:lnRef>
          <a:fillRef idx="2">
            <a:schemeClr val="accent2"/>
          </a:fillRef>
          <a:effectRef idx="1">
            <a:schemeClr val="accent2"/>
          </a:effectRef>
          <a:fontRef idx="minor">
            <a:schemeClr val="dk1"/>
          </a:fontRef>
        </p:style>
        <p:txBody>
          <a:bodyPr rtlCol="0" anchor="ctr"/>
          <a:lstStyle/>
          <a:p>
            <a:pPr lvl="1">
              <a:lnSpc>
                <a:spcPct val="110000"/>
              </a:lnSpc>
              <a:buClr>
                <a:schemeClr val="tx1"/>
              </a:buClr>
            </a:pPr>
            <a:r>
              <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上下文</a:t>
            </a:r>
            <a:r>
              <a:rPr lang="en-US" altLang="zh-CN"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(Context)</a:t>
            </a:r>
            <a:r>
              <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层 </a:t>
            </a:r>
          </a:p>
        </p:txBody>
      </p:sp>
      <p:sp>
        <p:nvSpPr>
          <p:cNvPr id="11" name="矩形 10"/>
          <p:cNvSpPr/>
          <p:nvPr/>
        </p:nvSpPr>
        <p:spPr>
          <a:xfrm>
            <a:off x="2786844" y="2225507"/>
            <a:ext cx="3693368" cy="496423"/>
          </a:xfrm>
          <a:prstGeom prst="rect">
            <a:avLst/>
          </a:prstGeom>
          <a:solidFill>
            <a:schemeClr val="tx2">
              <a:lumMod val="20000"/>
              <a:lumOff val="80000"/>
            </a:schemeClr>
          </a:solidFill>
        </p:spPr>
        <p:style>
          <a:lnRef idx="1">
            <a:schemeClr val="accent2"/>
          </a:lnRef>
          <a:fillRef idx="2">
            <a:schemeClr val="accent2"/>
          </a:fillRef>
          <a:effectRef idx="1">
            <a:schemeClr val="accent2"/>
          </a:effectRef>
          <a:fontRef idx="minor">
            <a:schemeClr val="dk1"/>
          </a:fontRef>
        </p:style>
        <p:txBody>
          <a:bodyPr rtlCol="0" anchor="ctr"/>
          <a:lstStyle/>
          <a:p>
            <a:pPr lvl="1" eaLnBrk="1" hangingPunct="1">
              <a:lnSpc>
                <a:spcPct val="110000"/>
              </a:lnSpc>
              <a:buClr>
                <a:schemeClr val="tx1"/>
              </a:buClr>
            </a:pPr>
            <a:r>
              <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威胁</a:t>
            </a:r>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(Thread)</a:t>
            </a:r>
            <a:r>
              <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层 </a:t>
            </a:r>
          </a:p>
        </p:txBody>
      </p:sp>
      <p:sp>
        <p:nvSpPr>
          <p:cNvPr id="12" name="矩形 11"/>
          <p:cNvSpPr/>
          <p:nvPr/>
        </p:nvSpPr>
        <p:spPr>
          <a:xfrm>
            <a:off x="2786844" y="1734072"/>
            <a:ext cx="3693368" cy="496423"/>
          </a:xfrm>
          <a:prstGeom prst="rect">
            <a:avLst/>
          </a:prstGeom>
          <a:solidFill>
            <a:srgbClr val="00B050"/>
          </a:solidFill>
        </p:spPr>
        <p:style>
          <a:lnRef idx="1">
            <a:schemeClr val="accent2"/>
          </a:lnRef>
          <a:fillRef idx="2">
            <a:schemeClr val="accent2"/>
          </a:fillRef>
          <a:effectRef idx="1">
            <a:schemeClr val="accent2"/>
          </a:effectRef>
          <a:fontRef idx="minor">
            <a:schemeClr val="dk1"/>
          </a:fontRef>
        </p:style>
        <p:txBody>
          <a:bodyPr rtlCol="0" anchor="ctr"/>
          <a:lstStyle/>
          <a:p>
            <a:pPr lvl="1" eaLnBrk="1" hangingPunct="1">
              <a:lnSpc>
                <a:spcPct val="110000"/>
              </a:lnSpc>
              <a:buClr>
                <a:schemeClr val="tx1"/>
              </a:buClr>
            </a:pPr>
            <a:r>
              <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安全状态</a:t>
            </a:r>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(Security State)</a:t>
            </a:r>
            <a:r>
              <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层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down)">
                                      <p:cBhvr>
                                        <p:cTn id="11" dur="500"/>
                                        <p:tgtEl>
                                          <p:spTgt spid="8"/>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down)">
                                      <p:cBhvr>
                                        <p:cTn id="15" dur="500"/>
                                        <p:tgtEl>
                                          <p:spTgt spid="9"/>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down)">
                                      <p:cBhvr>
                                        <p:cTn id="19" dur="500"/>
                                        <p:tgtEl>
                                          <p:spTgt spid="10"/>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down)">
                                      <p:cBhvr>
                                        <p:cTn id="23" dur="500"/>
                                        <p:tgtEl>
                                          <p:spTgt spid="11"/>
                                        </p:tgtEl>
                                      </p:cBhvr>
                                    </p:animEffect>
                                  </p:childTnLst>
                                </p:cTn>
                              </p:par>
                            </p:childTnLst>
                          </p:cTn>
                        </p:par>
                        <p:par>
                          <p:cTn id="24" fill="hold">
                            <p:stCondLst>
                              <p:cond delay="2500"/>
                            </p:stCondLst>
                            <p:childTnLst>
                              <p:par>
                                <p:cTn id="25" presetID="22" presetClass="entr" presetSubtype="4"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down)">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500" fill="hold"/>
                                        <p:tgtEl>
                                          <p:spTgt spid="7"/>
                                        </p:tgtEl>
                                        <p:attrNameLst>
                                          <p:attrName>ppt_x</p:attrName>
                                        </p:attrNameLst>
                                      </p:cBhvr>
                                      <p:tavLst>
                                        <p:tav tm="0">
                                          <p:val>
                                            <p:strVal val="#ppt_x"/>
                                          </p:val>
                                        </p:tav>
                                        <p:tav tm="100000">
                                          <p:val>
                                            <p:strVal val="#ppt_x"/>
                                          </p:val>
                                        </p:tav>
                                      </p:tavLst>
                                    </p:anim>
                                    <p:anim calcmode="lin" valueType="num">
                                      <p:cBhvr additive="base">
                                        <p:cTn id="3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 grpId="0" animBg="1"/>
      <p:bldP spid="8" grpId="0" animBg="1"/>
      <p:bldP spid="9" grpId="0" animBg="1"/>
      <p:bldP spid="10" grpId="0" animBg="1"/>
      <p:bldP spid="11" grpId="0" animBg="1"/>
      <p:bldP spid="1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2"/>
          <p:cNvSpPr>
            <a:spLocks noGrp="1" noRot="1" noChangeArrowheads="1"/>
          </p:cNvSpPr>
          <p:nvPr>
            <p:ph type="title" idx="4294967295"/>
          </p:nvPr>
        </p:nvSpPr>
        <p:spPr>
          <a:xfrm>
            <a:off x="382840" y="620390"/>
            <a:ext cx="6099212" cy="648370"/>
          </a:xfrm>
          <a:noFill/>
          <a:ln w="9525">
            <a:noFill/>
            <a:miter lim="800000"/>
          </a:ln>
        </p:spPr>
        <p:txBody>
          <a:bodyPr vert="horz" wrap="square" lIns="91440" tIns="45720" rIns="91440" bIns="45720" numCol="1" anchor="ctr" anchorCtr="0" compatLnSpc="1"/>
          <a:lstStyle/>
          <a:p>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层次化入侵检测模型</a:t>
            </a:r>
            <a:r>
              <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IDM</a:t>
            </a:r>
          </a:p>
        </p:txBody>
      </p:sp>
      <p:sp>
        <p:nvSpPr>
          <p:cNvPr id="388099" name="Rectangle 3"/>
          <p:cNvSpPr>
            <a:spLocks noGrp="1" noRot="1" noChangeArrowheads="1"/>
          </p:cNvSpPr>
          <p:nvPr>
            <p:ph type="body" idx="4294967295"/>
          </p:nvPr>
        </p:nvSpPr>
        <p:spPr>
          <a:xfrm>
            <a:off x="381000" y="1341438"/>
            <a:ext cx="8512175" cy="3383706"/>
          </a:xfrm>
        </p:spPr>
        <p:txBody>
          <a:bodyPr/>
          <a:lstStyle/>
          <a:p>
            <a:pPr eaLnBrk="1" hangingPunct="1">
              <a:lnSpc>
                <a:spcPct val="110000"/>
              </a:lnSpc>
              <a:buFont typeface="Wingdings" panose="05000000000000000000" pitchFamily="2" charset="2"/>
              <a:buChar char="u"/>
            </a:pPr>
            <a:r>
              <a:rPr lang="en-US" altLang="zh-CN"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IDM</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将</a:t>
            </a:r>
            <a:r>
              <a:rPr lang="en-US" altLang="zh-CN"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IDS</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分为</a:t>
            </a: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六个</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层次（由低至高）：</a:t>
            </a:r>
            <a:endPar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lnSpc>
                <a:spcPct val="110000"/>
              </a:lnSpc>
              <a:buClr>
                <a:schemeClr val="tx1"/>
              </a:buClr>
              <a:buFont typeface="Wingdings" panose="05000000000000000000" pitchFamily="2" charset="2"/>
              <a:buChar char="Ø"/>
            </a:pP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数据</a:t>
            </a:r>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(Data)</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层</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endParaRPr>
          </a:p>
          <a:p>
            <a:pPr lvl="1" eaLnBrk="1" hangingPunct="1">
              <a:lnSpc>
                <a:spcPct val="110000"/>
              </a:lnSpc>
              <a:buClr>
                <a:schemeClr val="tx1"/>
              </a:buClr>
              <a:buFont typeface="Wingdings" panose="05000000000000000000" pitchFamily="2" charset="2"/>
              <a:buChar char="Ø"/>
            </a:pP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事件</a:t>
            </a:r>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(Event)</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层 </a:t>
            </a:r>
          </a:p>
          <a:p>
            <a:pPr lvl="1" eaLnBrk="1" hangingPunct="1">
              <a:lnSpc>
                <a:spcPct val="110000"/>
              </a:lnSpc>
              <a:buClr>
                <a:schemeClr val="tx1"/>
              </a:buClr>
              <a:buFont typeface="Wingdings" panose="05000000000000000000" pitchFamily="2" charset="2"/>
              <a:buChar char="Ø"/>
            </a:pP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主体</a:t>
            </a:r>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(Subject)</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层 </a:t>
            </a:r>
          </a:p>
          <a:p>
            <a:pPr lvl="1" eaLnBrk="1" hangingPunct="1">
              <a:lnSpc>
                <a:spcPct val="110000"/>
              </a:lnSpc>
              <a:buClr>
                <a:schemeClr val="tx1"/>
              </a:buClr>
              <a:buFont typeface="Wingdings" panose="05000000000000000000" pitchFamily="2" charset="2"/>
              <a:buChar char="Ø"/>
            </a:pP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上下文</a:t>
            </a:r>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(Context)</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层 </a:t>
            </a:r>
          </a:p>
          <a:p>
            <a:pPr lvl="1" eaLnBrk="1" hangingPunct="1">
              <a:lnSpc>
                <a:spcPct val="110000"/>
              </a:lnSpc>
              <a:buClr>
                <a:schemeClr val="tx1"/>
              </a:buClr>
              <a:buFont typeface="Wingdings" panose="05000000000000000000" pitchFamily="2" charset="2"/>
              <a:buChar char="Ø"/>
            </a:pP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威胁</a:t>
            </a:r>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(Thread)</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层 </a:t>
            </a:r>
          </a:p>
          <a:p>
            <a:pPr lvl="1" eaLnBrk="1" hangingPunct="1">
              <a:lnSpc>
                <a:spcPct val="110000"/>
              </a:lnSpc>
              <a:buClr>
                <a:schemeClr val="tx1"/>
              </a:buClr>
              <a:buFont typeface="Wingdings" panose="05000000000000000000" pitchFamily="2" charset="2"/>
              <a:buChar char="Ø"/>
            </a:pP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安全状态</a:t>
            </a:r>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(Security State)</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层 </a:t>
            </a:r>
          </a:p>
        </p:txBody>
      </p:sp>
      <p:sp>
        <p:nvSpPr>
          <p:cNvPr id="388100" name="Rectangle 4"/>
          <p:cNvSpPr>
            <a:spLocks noChangeArrowheads="1"/>
          </p:cNvSpPr>
          <p:nvPr/>
        </p:nvSpPr>
        <p:spPr bwMode="auto">
          <a:xfrm>
            <a:off x="2667000" y="433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b="0"/>
          </a:p>
        </p:txBody>
      </p:sp>
      <p:sp>
        <p:nvSpPr>
          <p:cNvPr id="2" name="矩形 1"/>
          <p:cNvSpPr/>
          <p:nvPr/>
        </p:nvSpPr>
        <p:spPr>
          <a:xfrm>
            <a:off x="611560" y="4841136"/>
            <a:ext cx="7956884" cy="904863"/>
          </a:xfrm>
          <a:prstGeom prst="rect">
            <a:avLst/>
          </a:prstGeom>
        </p:spPr>
        <p:txBody>
          <a:bodyPr wrap="square">
            <a:spAutoFit/>
          </a:bodyPr>
          <a:lstStyle/>
          <a:p>
            <a:pPr marL="342900" indent="-342900">
              <a:lnSpc>
                <a:spcPct val="110000"/>
              </a:lnSpc>
              <a:spcBef>
                <a:spcPct val="20000"/>
              </a:spcBef>
              <a:buClr>
                <a:srgbClr val="3399FF"/>
              </a:buClr>
              <a:buFont typeface="Wingdings" panose="05000000000000000000" pitchFamily="2" charset="2"/>
              <a:buChar char="u"/>
            </a:pPr>
            <a:r>
              <a:rPr lang="en-US" altLang="zh-CN"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IDM</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通过把收集到的分散数据进行</a:t>
            </a: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加工抽象和数据关联</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操作，简化了对跨越单机的入侵行为的识别</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88099">
                                            <p:txEl>
                                              <p:pRg st="0" end="0"/>
                                            </p:txEl>
                                          </p:spTgt>
                                        </p:tgtEl>
                                        <p:attrNameLst>
                                          <p:attrName>style.visibility</p:attrName>
                                        </p:attrNameLst>
                                      </p:cBhvr>
                                      <p:to>
                                        <p:strVal val="visible"/>
                                      </p:to>
                                    </p:set>
                                    <p:animEffect transition="in" filter="wipe(up)">
                                      <p:cBhvr>
                                        <p:cTn id="7" dur="500"/>
                                        <p:tgtEl>
                                          <p:spTgt spid="388099">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88099">
                                            <p:txEl>
                                              <p:pRg st="1" end="1"/>
                                            </p:txEl>
                                          </p:spTgt>
                                        </p:tgtEl>
                                        <p:attrNameLst>
                                          <p:attrName>style.visibility</p:attrName>
                                        </p:attrNameLst>
                                      </p:cBhvr>
                                      <p:to>
                                        <p:strVal val="visible"/>
                                      </p:to>
                                    </p:set>
                                    <p:animEffect transition="in" filter="wipe(up)">
                                      <p:cBhvr>
                                        <p:cTn id="11" dur="500"/>
                                        <p:tgtEl>
                                          <p:spTgt spid="388099">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388099">
                                            <p:txEl>
                                              <p:pRg st="2" end="2"/>
                                            </p:txEl>
                                          </p:spTgt>
                                        </p:tgtEl>
                                        <p:attrNameLst>
                                          <p:attrName>style.visibility</p:attrName>
                                        </p:attrNameLst>
                                      </p:cBhvr>
                                      <p:to>
                                        <p:strVal val="visible"/>
                                      </p:to>
                                    </p:set>
                                    <p:animEffect transition="in" filter="wipe(up)">
                                      <p:cBhvr>
                                        <p:cTn id="15" dur="500"/>
                                        <p:tgtEl>
                                          <p:spTgt spid="388099">
                                            <p:txEl>
                                              <p:pRg st="2" end="2"/>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388099">
                                            <p:txEl>
                                              <p:pRg st="3" end="3"/>
                                            </p:txEl>
                                          </p:spTgt>
                                        </p:tgtEl>
                                        <p:attrNameLst>
                                          <p:attrName>style.visibility</p:attrName>
                                        </p:attrNameLst>
                                      </p:cBhvr>
                                      <p:to>
                                        <p:strVal val="visible"/>
                                      </p:to>
                                    </p:set>
                                    <p:animEffect transition="in" filter="wipe(up)">
                                      <p:cBhvr>
                                        <p:cTn id="19" dur="500"/>
                                        <p:tgtEl>
                                          <p:spTgt spid="388099">
                                            <p:txEl>
                                              <p:pRg st="3" end="3"/>
                                            </p:txEl>
                                          </p:spTgt>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388099">
                                            <p:txEl>
                                              <p:pRg st="4" end="4"/>
                                            </p:txEl>
                                          </p:spTgt>
                                        </p:tgtEl>
                                        <p:attrNameLst>
                                          <p:attrName>style.visibility</p:attrName>
                                        </p:attrNameLst>
                                      </p:cBhvr>
                                      <p:to>
                                        <p:strVal val="visible"/>
                                      </p:to>
                                    </p:set>
                                    <p:animEffect transition="in" filter="wipe(up)">
                                      <p:cBhvr>
                                        <p:cTn id="23" dur="500"/>
                                        <p:tgtEl>
                                          <p:spTgt spid="388099">
                                            <p:txEl>
                                              <p:pRg st="4" end="4"/>
                                            </p:txEl>
                                          </p:spTgt>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388099">
                                            <p:txEl>
                                              <p:pRg st="5" end="5"/>
                                            </p:txEl>
                                          </p:spTgt>
                                        </p:tgtEl>
                                        <p:attrNameLst>
                                          <p:attrName>style.visibility</p:attrName>
                                        </p:attrNameLst>
                                      </p:cBhvr>
                                      <p:to>
                                        <p:strVal val="visible"/>
                                      </p:to>
                                    </p:set>
                                    <p:animEffect transition="in" filter="wipe(up)">
                                      <p:cBhvr>
                                        <p:cTn id="27" dur="500"/>
                                        <p:tgtEl>
                                          <p:spTgt spid="388099">
                                            <p:txEl>
                                              <p:pRg st="5" end="5"/>
                                            </p:txEl>
                                          </p:spTgt>
                                        </p:tgtEl>
                                      </p:cBhvr>
                                    </p:animEffect>
                                  </p:childTnLst>
                                </p:cTn>
                              </p:par>
                            </p:childTnLst>
                          </p:cTn>
                        </p:par>
                        <p:par>
                          <p:cTn id="28" fill="hold">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388099">
                                            <p:txEl>
                                              <p:pRg st="6" end="6"/>
                                            </p:txEl>
                                          </p:spTgt>
                                        </p:tgtEl>
                                        <p:attrNameLst>
                                          <p:attrName>style.visibility</p:attrName>
                                        </p:attrNameLst>
                                      </p:cBhvr>
                                      <p:to>
                                        <p:strVal val="visible"/>
                                      </p:to>
                                    </p:set>
                                    <p:animEffect transition="in" filter="wipe(up)">
                                      <p:cBhvr>
                                        <p:cTn id="31" dur="500"/>
                                        <p:tgtEl>
                                          <p:spTgt spid="388099">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wipe(up)">
                                      <p:cBhvr>
                                        <p:cTn id="3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099" grpId="0" build="p"/>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p:cNvSpPr>
            <a:spLocks noGrp="1" noRot="1" noChangeArrowheads="1"/>
          </p:cNvSpPr>
          <p:nvPr>
            <p:ph type="title" idx="4294967295"/>
          </p:nvPr>
        </p:nvSpPr>
        <p:spPr>
          <a:xfrm>
            <a:off x="389573" y="692696"/>
            <a:ext cx="5152057" cy="576362"/>
          </a:xfrm>
          <a:noFill/>
          <a:ln w="9525">
            <a:noFill/>
            <a:miter lim="800000"/>
          </a:ln>
        </p:spPr>
        <p:txBody>
          <a:bodyPr vert="horz" wrap="square" lIns="91440" tIns="45720" rIns="91440" bIns="45720" numCol="1" anchor="ctr" anchorCtr="0" compatLnSpc="1"/>
          <a:lstStyle/>
          <a:p>
            <a:r>
              <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IDM</a:t>
            </a:r>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模型：数据层和事件层</a:t>
            </a:r>
            <a:endPar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389123" name="Rectangle 3"/>
          <p:cNvSpPr>
            <a:spLocks noGrp="1" noRot="1" noChangeArrowheads="1"/>
          </p:cNvSpPr>
          <p:nvPr>
            <p:ph type="body" idx="4294967295"/>
          </p:nvPr>
        </p:nvSpPr>
        <p:spPr>
          <a:xfrm>
            <a:off x="683568" y="3307869"/>
            <a:ext cx="7812868" cy="2667945"/>
          </a:xfrm>
        </p:spPr>
        <p:txBody>
          <a:bodyPr/>
          <a:lstStyle/>
          <a:p>
            <a:pPr eaLnBrk="1" hangingPunct="1">
              <a:lnSpc>
                <a:spcPct val="110000"/>
              </a:lnSpc>
              <a:buFont typeface="Wingdings" panose="05000000000000000000" pitchFamily="2" charset="2"/>
              <a:buChar char="u"/>
            </a:pP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事件层：</a:t>
            </a:r>
          </a:p>
          <a:p>
            <a:pPr lvl="1" eaLnBrk="1" hangingPunct="1">
              <a:lnSpc>
                <a:spcPct val="110000"/>
              </a:lnSpc>
              <a:buClr>
                <a:schemeClr val="tx1"/>
              </a:buClr>
              <a:buFont typeface="Wingdings" panose="05000000000000000000" pitchFamily="2" charset="2"/>
              <a:buChar char="Ø"/>
            </a:pPr>
            <a:r>
              <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事件描述数据层的客体内容所表示的含义和固有的特征性质</a:t>
            </a:r>
          </a:p>
          <a:p>
            <a:pPr lvl="1" eaLnBrk="1" hangingPunct="1">
              <a:lnSpc>
                <a:spcPct val="110000"/>
              </a:lnSpc>
              <a:buClr>
                <a:schemeClr val="tx1"/>
              </a:buClr>
              <a:buFont typeface="Wingdings" panose="05000000000000000000" pitchFamily="2" charset="2"/>
              <a:buChar char="Ø"/>
            </a:pPr>
            <a:r>
              <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数据域：</a:t>
            </a:r>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&lt;Action, Domain&gt;</a:t>
            </a:r>
            <a:br>
              <a:rPr lang="en-US" altLang="zh-CN" sz="2000" b="1" dirty="0">
                <a:solidFill>
                  <a:schemeClr val="hlink"/>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br>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-Action</a:t>
            </a:r>
            <a:r>
              <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描述了审计记录的动态特征，如进程执行、会话开始 </a:t>
            </a:r>
          </a:p>
          <a:p>
            <a:pPr lvl="1" eaLnBrk="1" hangingPunct="1">
              <a:lnSpc>
                <a:spcPct val="110000"/>
              </a:lnSpc>
              <a:buClr>
                <a:schemeClr val="tx1"/>
              </a:buClr>
              <a:buNone/>
            </a:pPr>
            <a:r>
              <a:rPr lang="zh-CN" altLang="en-US"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    </a:t>
            </a:r>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-Domain</a:t>
            </a:r>
            <a:r>
              <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描述了审计记录的对象的特征，如标签、鉴别、审计、网络、系统、系统信息、用户信息、应用工具、拥有者和非拥有者等</a:t>
            </a:r>
            <a:endParaRPr lang="en-US" altLang="zh-CN"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endParaRPr>
          </a:p>
        </p:txBody>
      </p:sp>
      <p:sp>
        <p:nvSpPr>
          <p:cNvPr id="389124" name="Rectangle 4"/>
          <p:cNvSpPr>
            <a:spLocks noChangeArrowheads="1"/>
          </p:cNvSpPr>
          <p:nvPr/>
        </p:nvSpPr>
        <p:spPr bwMode="auto">
          <a:xfrm>
            <a:off x="2667000" y="433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b="0"/>
          </a:p>
        </p:txBody>
      </p:sp>
      <p:sp>
        <p:nvSpPr>
          <p:cNvPr id="2" name="矩形 1"/>
          <p:cNvSpPr/>
          <p:nvPr/>
        </p:nvSpPr>
        <p:spPr>
          <a:xfrm>
            <a:off x="683568" y="1511318"/>
            <a:ext cx="6810719" cy="1698927"/>
          </a:xfrm>
          <a:prstGeom prst="rect">
            <a:avLst/>
          </a:prstGeom>
        </p:spPr>
        <p:txBody>
          <a:bodyPr wrap="square">
            <a:spAutoFit/>
          </a:bodyPr>
          <a:lstStyle/>
          <a:p>
            <a:pPr marL="342900" indent="-342900">
              <a:lnSpc>
                <a:spcPct val="110000"/>
              </a:lnSpc>
              <a:spcBef>
                <a:spcPct val="20000"/>
              </a:spcBef>
              <a:buClr>
                <a:srgbClr val="3399FF"/>
              </a:buClr>
              <a:buFont typeface="Wingdings" panose="05000000000000000000" pitchFamily="2" charset="2"/>
              <a:buChar char="u"/>
            </a:pPr>
            <a:r>
              <a:rPr lang="zh-CN" altLang="en-US" sz="2400" b="1" dirty="0">
                <a:solidFill>
                  <a:srgbClr val="FF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数据层：</a:t>
            </a:r>
            <a:endParaRPr lang="en-US" altLang="zh-CN" sz="2400" b="1" dirty="0">
              <a:solidFill>
                <a:srgbClr val="FF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endParaRPr>
          </a:p>
          <a:p>
            <a:pPr marL="742950" lvl="1" indent="-285750">
              <a:lnSpc>
                <a:spcPct val="110000"/>
              </a:lnSpc>
              <a:spcBef>
                <a:spcPct val="20000"/>
              </a:spcBef>
              <a:buClr>
                <a:schemeClr val="tx1"/>
              </a:buClr>
              <a:buFont typeface="Wingdings" panose="05000000000000000000" pitchFamily="2" charset="2"/>
              <a:buChar char="Ø"/>
            </a:pPr>
            <a:r>
              <a:rPr lang="zh-CN" altLang="en-US" sz="2000" b="1" dirty="0">
                <a:solidFill>
                  <a:srgbClr val="00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主机操作系统的审计记录</a:t>
            </a:r>
          </a:p>
          <a:p>
            <a:pPr marL="742950" lvl="1" indent="-285750">
              <a:lnSpc>
                <a:spcPct val="110000"/>
              </a:lnSpc>
              <a:spcBef>
                <a:spcPct val="20000"/>
              </a:spcBef>
              <a:buClr>
                <a:schemeClr val="tx1"/>
              </a:buClr>
              <a:buFont typeface="Wingdings" panose="05000000000000000000" pitchFamily="2" charset="2"/>
              <a:buChar char="Ø"/>
            </a:pPr>
            <a:r>
              <a:rPr lang="zh-CN" altLang="en-US" sz="2000" b="1" dirty="0">
                <a:solidFill>
                  <a:srgbClr val="00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局域网监视器结果</a:t>
            </a:r>
          </a:p>
          <a:p>
            <a:pPr marL="742950" lvl="1" indent="-285750">
              <a:lnSpc>
                <a:spcPct val="110000"/>
              </a:lnSpc>
              <a:spcBef>
                <a:spcPct val="20000"/>
              </a:spcBef>
              <a:buClr>
                <a:schemeClr val="tx1"/>
              </a:buClr>
              <a:buFont typeface="Wingdings" panose="05000000000000000000" pitchFamily="2" charset="2"/>
              <a:buChar char="Ø"/>
            </a:pPr>
            <a:r>
              <a:rPr lang="zh-CN" altLang="en-US" sz="2000" b="1" dirty="0">
                <a:solidFill>
                  <a:srgbClr val="00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第三方审计软件包提供的数据</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89123">
                                            <p:txEl>
                                              <p:pRg st="0" end="0"/>
                                            </p:txEl>
                                          </p:spTgt>
                                        </p:tgtEl>
                                        <p:attrNameLst>
                                          <p:attrName>style.visibility</p:attrName>
                                        </p:attrNameLst>
                                      </p:cBhvr>
                                      <p:to>
                                        <p:strVal val="visible"/>
                                      </p:to>
                                    </p:set>
                                    <p:animEffect transition="in" filter="wipe(up)">
                                      <p:cBhvr>
                                        <p:cTn id="12" dur="500"/>
                                        <p:tgtEl>
                                          <p:spTgt spid="389123">
                                            <p:txEl>
                                              <p:pRg st="0" end="0"/>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389123">
                                            <p:txEl>
                                              <p:pRg st="1" end="1"/>
                                            </p:txEl>
                                          </p:spTgt>
                                        </p:tgtEl>
                                        <p:attrNameLst>
                                          <p:attrName>style.visibility</p:attrName>
                                        </p:attrNameLst>
                                      </p:cBhvr>
                                      <p:to>
                                        <p:strVal val="visible"/>
                                      </p:to>
                                    </p:set>
                                    <p:animEffect transition="in" filter="wipe(up)">
                                      <p:cBhvr>
                                        <p:cTn id="15" dur="500"/>
                                        <p:tgtEl>
                                          <p:spTgt spid="389123">
                                            <p:txEl>
                                              <p:pRg st="1" end="1"/>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389123">
                                            <p:txEl>
                                              <p:pRg st="2" end="2"/>
                                            </p:txEl>
                                          </p:spTgt>
                                        </p:tgtEl>
                                        <p:attrNameLst>
                                          <p:attrName>style.visibility</p:attrName>
                                        </p:attrNameLst>
                                      </p:cBhvr>
                                      <p:to>
                                        <p:strVal val="visible"/>
                                      </p:to>
                                    </p:set>
                                    <p:animEffect transition="in" filter="wipe(up)">
                                      <p:cBhvr>
                                        <p:cTn id="18" dur="500"/>
                                        <p:tgtEl>
                                          <p:spTgt spid="389123">
                                            <p:txEl>
                                              <p:pRg st="2" end="2"/>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389123">
                                            <p:txEl>
                                              <p:pRg st="3" end="3"/>
                                            </p:txEl>
                                          </p:spTgt>
                                        </p:tgtEl>
                                        <p:attrNameLst>
                                          <p:attrName>style.visibility</p:attrName>
                                        </p:attrNameLst>
                                      </p:cBhvr>
                                      <p:to>
                                        <p:strVal val="visible"/>
                                      </p:to>
                                    </p:set>
                                    <p:animEffect transition="in" filter="wipe(up)">
                                      <p:cBhvr>
                                        <p:cTn id="21" dur="500"/>
                                        <p:tgtEl>
                                          <p:spTgt spid="3891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23" grpId="0" build="p"/>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Rot="1" noChangeArrowheads="1"/>
          </p:cNvSpPr>
          <p:nvPr>
            <p:ph type="title" idx="4294967295"/>
          </p:nvPr>
        </p:nvSpPr>
        <p:spPr>
          <a:xfrm>
            <a:off x="539552" y="656394"/>
            <a:ext cx="6196173" cy="720378"/>
          </a:xfrm>
          <a:noFill/>
          <a:ln w="9525">
            <a:noFill/>
            <a:miter lim="800000"/>
          </a:ln>
        </p:spPr>
        <p:txBody>
          <a:bodyPr vert="horz" wrap="square" lIns="91440" tIns="45720" rIns="91440" bIns="45720" numCol="1" anchor="ctr" anchorCtr="0" compatLnSpc="1"/>
          <a:lstStyle/>
          <a:p>
            <a:r>
              <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IDM</a:t>
            </a:r>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模型：主体层和上下文层</a:t>
            </a:r>
            <a:endPar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390147" name="Rectangle 3"/>
          <p:cNvSpPr>
            <a:spLocks noGrp="1" noRot="1" noChangeArrowheads="1"/>
          </p:cNvSpPr>
          <p:nvPr>
            <p:ph type="body" idx="4294967295"/>
          </p:nvPr>
        </p:nvSpPr>
        <p:spPr>
          <a:xfrm>
            <a:off x="431540" y="2564904"/>
            <a:ext cx="8512175" cy="3132348"/>
          </a:xfrm>
        </p:spPr>
        <p:txBody>
          <a:bodyPr/>
          <a:lstStyle/>
          <a:p>
            <a:pPr eaLnBrk="1" hangingPunct="1">
              <a:lnSpc>
                <a:spcPct val="110000"/>
              </a:lnSpc>
              <a:spcBef>
                <a:spcPct val="0"/>
              </a:spcBef>
              <a:buFont typeface="Wingdings" panose="05000000000000000000" pitchFamily="2" charset="2"/>
              <a:buChar char="u"/>
            </a:pPr>
            <a:r>
              <a:rPr lang="zh-CN" altLang="en-US" sz="2400" b="1" kern="1200" dirty="0">
                <a:solidFill>
                  <a:srgbClr val="FF0000"/>
                </a:solidFill>
                <a:effectLst>
                  <a:outerShdw blurRad="38100" dist="38100" dir="2700000" algn="tl">
                    <a:srgbClr val="000000">
                      <a:alpha val="43137"/>
                    </a:srgbClr>
                  </a:outerShdw>
                </a:effectLst>
                <a:latin typeface="+mn-ea"/>
              </a:rPr>
              <a:t>上下文层：</a:t>
            </a:r>
          </a:p>
          <a:p>
            <a:pPr lvl="1" eaLnBrk="1" hangingPunct="1">
              <a:lnSpc>
                <a:spcPct val="110000"/>
              </a:lnSpc>
              <a:buClr>
                <a:schemeClr val="tx1"/>
              </a:buClr>
              <a:buFont typeface="Wingdings" panose="05000000000000000000" pitchFamily="2" charset="2"/>
              <a:buChar char="Ø"/>
            </a:pPr>
            <a:r>
              <a:rPr lang="zh-CN" altLang="en-US" sz="2000" b="1" dirty="0">
                <a:solidFill>
                  <a:srgbClr val="000000"/>
                </a:solidFill>
                <a:effectLst>
                  <a:outerShdw blurRad="38100" dist="38100" dir="2700000" algn="tl">
                    <a:srgbClr val="000000">
                      <a:alpha val="43137"/>
                    </a:srgbClr>
                  </a:outerShdw>
                </a:effectLst>
                <a:latin typeface="+mn-ea"/>
              </a:rPr>
              <a:t>上下文用来说明事件发生时所处的环境，或者给出事件产生的背景</a:t>
            </a:r>
            <a:r>
              <a:rPr lang="zh-CN" altLang="en-US" sz="2000" b="1" dirty="0">
                <a:effectLst>
                  <a:outerShdw blurRad="38100" dist="38100" dir="2700000" algn="tl">
                    <a:srgbClr val="000000">
                      <a:alpha val="43137"/>
                    </a:srgbClr>
                  </a:outerShdw>
                </a:effectLst>
                <a:latin typeface="+mn-ea"/>
              </a:rPr>
              <a:t> </a:t>
            </a:r>
            <a:endParaRPr lang="zh-CN" altLang="en-US" sz="2000" b="1" dirty="0">
              <a:solidFill>
                <a:srgbClr val="000000"/>
              </a:solidFill>
              <a:effectLst>
                <a:outerShdw blurRad="38100" dist="38100" dir="2700000" algn="tl">
                  <a:srgbClr val="000000">
                    <a:alpha val="43137"/>
                  </a:srgbClr>
                </a:outerShdw>
              </a:effectLst>
              <a:latin typeface="+mn-ea"/>
            </a:endParaRPr>
          </a:p>
          <a:p>
            <a:pPr lvl="1" eaLnBrk="1" hangingPunct="1">
              <a:lnSpc>
                <a:spcPct val="110000"/>
              </a:lnSpc>
              <a:buClr>
                <a:schemeClr val="tx1"/>
              </a:buClr>
              <a:buFont typeface="Wingdings" panose="05000000000000000000" pitchFamily="2" charset="2"/>
              <a:buChar char="Ø"/>
            </a:pPr>
            <a:r>
              <a:rPr lang="zh-CN" altLang="en-US" sz="2000" b="1" dirty="0">
                <a:solidFill>
                  <a:srgbClr val="000000"/>
                </a:solidFill>
                <a:effectLst>
                  <a:outerShdw blurRad="38100" dist="38100" dir="2700000" algn="tl">
                    <a:srgbClr val="000000">
                      <a:alpha val="43137"/>
                    </a:srgbClr>
                  </a:outerShdw>
                </a:effectLst>
                <a:latin typeface="+mn-ea"/>
              </a:rPr>
              <a:t>类型</a:t>
            </a:r>
          </a:p>
          <a:p>
            <a:pPr lvl="1">
              <a:lnSpc>
                <a:spcPct val="90000"/>
              </a:lnSpc>
              <a:buFont typeface="Wingdings" panose="05000000000000000000" pitchFamily="2" charset="2"/>
              <a:buNone/>
            </a:pPr>
            <a:r>
              <a:rPr lang="en-US" altLang="zh-CN" sz="2000" b="1" dirty="0">
                <a:solidFill>
                  <a:srgbClr val="000000"/>
                </a:solidFill>
                <a:effectLst>
                  <a:outerShdw blurRad="38100" dist="38100" dir="2700000" algn="tl">
                    <a:srgbClr val="000000">
                      <a:alpha val="43137"/>
                    </a:srgbClr>
                  </a:outerShdw>
                </a:effectLst>
                <a:latin typeface="+mn-ea"/>
              </a:rPr>
              <a:t>  </a:t>
            </a:r>
            <a:r>
              <a:rPr lang="en-US" altLang="zh-CN" sz="2000" b="1" dirty="0">
                <a:solidFill>
                  <a:srgbClr val="FF0000"/>
                </a:solidFill>
                <a:effectLst>
                  <a:outerShdw blurRad="38100" dist="38100" dir="2700000" algn="tl">
                    <a:srgbClr val="000000">
                      <a:alpha val="43137"/>
                    </a:srgbClr>
                  </a:outerShdw>
                </a:effectLst>
                <a:latin typeface="+mn-ea"/>
              </a:rPr>
              <a:t>-</a:t>
            </a:r>
            <a:r>
              <a:rPr lang="zh-CN" altLang="en-US" sz="2000" b="1" dirty="0">
                <a:solidFill>
                  <a:srgbClr val="FF0000"/>
                </a:solidFill>
                <a:effectLst>
                  <a:outerShdw blurRad="38100" dist="38100" dir="2700000" algn="tl">
                    <a:srgbClr val="000000">
                      <a:alpha val="43137"/>
                    </a:srgbClr>
                  </a:outerShdw>
                </a:effectLst>
                <a:latin typeface="+mn-ea"/>
              </a:rPr>
              <a:t>时间型：</a:t>
            </a:r>
            <a:r>
              <a:rPr lang="zh-CN" altLang="en-US" sz="2000" b="1" dirty="0">
                <a:solidFill>
                  <a:srgbClr val="000000"/>
                </a:solidFill>
                <a:effectLst>
                  <a:outerShdw blurRad="38100" dist="38100" dir="2700000" algn="tl">
                    <a:srgbClr val="000000">
                      <a:alpha val="43137"/>
                    </a:srgbClr>
                  </a:outerShdw>
                </a:effectLst>
                <a:latin typeface="+mn-ea"/>
              </a:rPr>
              <a:t>以某个时间为参考点，利用相关的事件信息来检测入侵，如正常工作时不出现的操作在下班时出现</a:t>
            </a:r>
          </a:p>
          <a:p>
            <a:pPr lvl="1" eaLnBrk="1" hangingPunct="1">
              <a:lnSpc>
                <a:spcPct val="110000"/>
              </a:lnSpc>
              <a:buClr>
                <a:schemeClr val="tx1"/>
              </a:buClr>
              <a:buFont typeface="Wingdings" panose="05000000000000000000" pitchFamily="2" charset="2"/>
              <a:buNone/>
            </a:pPr>
            <a:r>
              <a:rPr lang="zh-CN" altLang="en-US" sz="2000" b="1" dirty="0">
                <a:solidFill>
                  <a:srgbClr val="000000"/>
                </a:solidFill>
                <a:effectLst>
                  <a:outerShdw blurRad="38100" dist="38100" dir="2700000" algn="tl">
                    <a:srgbClr val="000000">
                      <a:alpha val="43137"/>
                    </a:srgbClr>
                  </a:outerShdw>
                </a:effectLst>
                <a:latin typeface="+mn-ea"/>
              </a:rPr>
              <a:t>  </a:t>
            </a:r>
            <a:r>
              <a:rPr lang="en-US" altLang="zh-CN" sz="2000" b="1" dirty="0">
                <a:solidFill>
                  <a:srgbClr val="FF0000"/>
                </a:solidFill>
                <a:effectLst>
                  <a:outerShdw blurRad="38100" dist="38100" dir="2700000" algn="tl">
                    <a:srgbClr val="000000">
                      <a:alpha val="43137"/>
                    </a:srgbClr>
                  </a:outerShdw>
                </a:effectLst>
                <a:latin typeface="+mn-ea"/>
              </a:rPr>
              <a:t>-</a:t>
            </a:r>
            <a:r>
              <a:rPr lang="zh-CN" altLang="en-US" sz="2000" b="1" dirty="0">
                <a:solidFill>
                  <a:srgbClr val="FF0000"/>
                </a:solidFill>
                <a:effectLst>
                  <a:outerShdw blurRad="38100" dist="38100" dir="2700000" algn="tl">
                    <a:srgbClr val="000000">
                      <a:alpha val="43137"/>
                    </a:srgbClr>
                  </a:outerShdw>
                </a:effectLst>
                <a:latin typeface="+mn-ea"/>
              </a:rPr>
              <a:t>空间型：</a:t>
            </a:r>
            <a:r>
              <a:rPr lang="zh-CN" altLang="en-US" sz="2000" b="1" dirty="0">
                <a:solidFill>
                  <a:srgbClr val="000000"/>
                </a:solidFill>
                <a:effectLst>
                  <a:outerShdw blurRad="38100" dist="38100" dir="2700000" algn="tl">
                    <a:srgbClr val="000000">
                      <a:alpha val="43137"/>
                    </a:srgbClr>
                  </a:outerShdw>
                </a:effectLst>
                <a:latin typeface="+mn-ea"/>
              </a:rPr>
              <a:t>说明事件的来源与入侵行为的相关性，事件与特别的用户或主机相关联</a:t>
            </a:r>
          </a:p>
          <a:p>
            <a:pPr lvl="1" eaLnBrk="1" hangingPunct="1">
              <a:lnSpc>
                <a:spcPct val="110000"/>
              </a:lnSpc>
              <a:buClr>
                <a:schemeClr val="tx1"/>
              </a:buClr>
              <a:buFont typeface="Wingdings" panose="05000000000000000000" pitchFamily="2" charset="2"/>
              <a:buChar char="Ø"/>
            </a:pPr>
            <a:r>
              <a:rPr lang="zh-CN" altLang="en-US" sz="2000" b="1" dirty="0">
                <a:solidFill>
                  <a:srgbClr val="000000"/>
                </a:solidFill>
                <a:effectLst>
                  <a:outerShdw blurRad="38100" dist="38100" dir="2700000" algn="tl">
                    <a:srgbClr val="000000">
                      <a:alpha val="43137"/>
                    </a:srgbClr>
                  </a:outerShdw>
                </a:effectLst>
                <a:latin typeface="+mn-ea"/>
              </a:rPr>
              <a:t>事件上下文使得可以对</a:t>
            </a:r>
            <a:r>
              <a:rPr lang="zh-CN" altLang="en-US" sz="2000" b="1" dirty="0">
                <a:solidFill>
                  <a:srgbClr val="FF0000"/>
                </a:solidFill>
                <a:effectLst>
                  <a:outerShdw blurRad="38100" dist="38100" dir="2700000" algn="tl">
                    <a:srgbClr val="000000">
                      <a:alpha val="43137"/>
                    </a:srgbClr>
                  </a:outerShdw>
                </a:effectLst>
                <a:latin typeface="+mn-ea"/>
              </a:rPr>
              <a:t>多个事件</a:t>
            </a:r>
            <a:r>
              <a:rPr lang="zh-CN" altLang="en-US" sz="2000" b="1" dirty="0">
                <a:solidFill>
                  <a:srgbClr val="000000"/>
                </a:solidFill>
                <a:effectLst>
                  <a:outerShdw blurRad="38100" dist="38100" dir="2700000" algn="tl">
                    <a:srgbClr val="000000">
                      <a:alpha val="43137"/>
                    </a:srgbClr>
                  </a:outerShdw>
                </a:effectLst>
                <a:latin typeface="+mn-ea"/>
              </a:rPr>
              <a:t>进行相关性入侵检测 </a:t>
            </a:r>
            <a:br>
              <a:rPr lang="zh-CN" altLang="en-US" sz="2400" b="1" dirty="0">
                <a:solidFill>
                  <a:srgbClr val="000000"/>
                </a:solidFill>
                <a:effectLst>
                  <a:outerShdw blurRad="38100" dist="38100" dir="2700000" algn="tl">
                    <a:srgbClr val="000000">
                      <a:alpha val="43137"/>
                    </a:srgbClr>
                  </a:outerShdw>
                </a:effectLst>
                <a:latin typeface="+mn-ea"/>
              </a:rPr>
            </a:br>
            <a:endParaRPr lang="en-US" altLang="zh-CN" sz="2400" b="1" dirty="0">
              <a:solidFill>
                <a:srgbClr val="000000"/>
              </a:solidFill>
              <a:effectLst>
                <a:outerShdw blurRad="38100" dist="38100" dir="2700000" algn="tl">
                  <a:srgbClr val="000000">
                    <a:alpha val="43137"/>
                  </a:srgbClr>
                </a:outerShdw>
              </a:effectLst>
              <a:latin typeface="+mn-ea"/>
            </a:endParaRPr>
          </a:p>
        </p:txBody>
      </p:sp>
      <p:sp>
        <p:nvSpPr>
          <p:cNvPr id="390148" name="Rectangle 4"/>
          <p:cNvSpPr>
            <a:spLocks noChangeArrowheads="1"/>
          </p:cNvSpPr>
          <p:nvPr/>
        </p:nvSpPr>
        <p:spPr bwMode="auto">
          <a:xfrm>
            <a:off x="2667000" y="433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b="0"/>
          </a:p>
        </p:txBody>
      </p:sp>
      <p:sp>
        <p:nvSpPr>
          <p:cNvPr id="2" name="矩形 1"/>
          <p:cNvSpPr/>
          <p:nvPr/>
        </p:nvSpPr>
        <p:spPr>
          <a:xfrm>
            <a:off x="431540" y="1529109"/>
            <a:ext cx="7308812" cy="837152"/>
          </a:xfrm>
          <a:prstGeom prst="rect">
            <a:avLst/>
          </a:prstGeom>
        </p:spPr>
        <p:txBody>
          <a:bodyPr wrap="square">
            <a:spAutoFit/>
          </a:bodyPr>
          <a:lstStyle/>
          <a:p>
            <a:pPr eaLnBrk="1" hangingPunct="1">
              <a:lnSpc>
                <a:spcPct val="110000"/>
              </a:lnSpc>
              <a:buFont typeface="Wingdings" panose="05000000000000000000" pitchFamily="2" charset="2"/>
              <a:buChar char="u"/>
            </a:pPr>
            <a:r>
              <a:rPr lang="zh-CN" altLang="en-US" sz="2400" b="1" dirty="0">
                <a:solidFill>
                  <a:srgbClr val="FF0000"/>
                </a:solidFill>
                <a:effectLst>
                  <a:outerShdw blurRad="38100" dist="38100" dir="2700000" algn="tl">
                    <a:srgbClr val="000000">
                      <a:alpha val="43137"/>
                    </a:srgbClr>
                  </a:outerShdw>
                </a:effectLst>
                <a:latin typeface="+mn-ea"/>
                <a:ea typeface="+mn-ea"/>
              </a:rPr>
              <a:t>主体层：</a:t>
            </a:r>
            <a:endParaRPr lang="en-US" altLang="zh-CN" sz="2400" b="1" dirty="0">
              <a:solidFill>
                <a:srgbClr val="FF0000"/>
              </a:solidFill>
              <a:effectLst>
                <a:outerShdw blurRad="38100" dist="38100" dir="2700000" algn="tl">
                  <a:srgbClr val="000000">
                    <a:alpha val="43137"/>
                  </a:srgbClr>
                </a:outerShdw>
              </a:effectLst>
              <a:latin typeface="+mn-ea"/>
              <a:ea typeface="+mn-ea"/>
            </a:endParaRPr>
          </a:p>
          <a:p>
            <a:pPr lvl="1" eaLnBrk="1" hangingPunct="1">
              <a:lnSpc>
                <a:spcPct val="110000"/>
              </a:lnSpc>
              <a:buClr>
                <a:schemeClr val="tx1"/>
              </a:buClr>
              <a:buFont typeface="Wingdings" panose="05000000000000000000" pitchFamily="2" charset="2"/>
              <a:buChar char="Ø"/>
            </a:pPr>
            <a:r>
              <a:rPr lang="zh-CN" altLang="en-US" sz="2000" b="1" dirty="0">
                <a:solidFill>
                  <a:srgbClr val="000000"/>
                </a:solidFill>
                <a:effectLst>
                  <a:outerShdw blurRad="38100" dist="38100" dir="2700000" algn="tl">
                    <a:srgbClr val="000000">
                      <a:alpha val="43137"/>
                    </a:srgbClr>
                  </a:outerShdw>
                </a:effectLst>
                <a:latin typeface="+mn-ea"/>
                <a:ea typeface="+mn-ea"/>
              </a:rPr>
              <a:t>主体用来标识网络中跨越多台主机使用的用户</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90147">
                                            <p:txEl>
                                              <p:pRg st="0" end="0"/>
                                            </p:txEl>
                                          </p:spTgt>
                                        </p:tgtEl>
                                        <p:attrNameLst>
                                          <p:attrName>style.visibility</p:attrName>
                                        </p:attrNameLst>
                                      </p:cBhvr>
                                      <p:to>
                                        <p:strVal val="visible"/>
                                      </p:to>
                                    </p:set>
                                    <p:animEffect transition="in" filter="wipe(up)">
                                      <p:cBhvr>
                                        <p:cTn id="12" dur="500"/>
                                        <p:tgtEl>
                                          <p:spTgt spid="390147">
                                            <p:txEl>
                                              <p:pRg st="0" end="0"/>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390147">
                                            <p:txEl>
                                              <p:pRg st="1" end="1"/>
                                            </p:txEl>
                                          </p:spTgt>
                                        </p:tgtEl>
                                        <p:attrNameLst>
                                          <p:attrName>style.visibility</p:attrName>
                                        </p:attrNameLst>
                                      </p:cBhvr>
                                      <p:to>
                                        <p:strVal val="visible"/>
                                      </p:to>
                                    </p:set>
                                    <p:animEffect transition="in" filter="wipe(up)">
                                      <p:cBhvr>
                                        <p:cTn id="15" dur="500"/>
                                        <p:tgtEl>
                                          <p:spTgt spid="390147">
                                            <p:txEl>
                                              <p:pRg st="1" end="1"/>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390147">
                                            <p:txEl>
                                              <p:pRg st="2" end="2"/>
                                            </p:txEl>
                                          </p:spTgt>
                                        </p:tgtEl>
                                        <p:attrNameLst>
                                          <p:attrName>style.visibility</p:attrName>
                                        </p:attrNameLst>
                                      </p:cBhvr>
                                      <p:to>
                                        <p:strVal val="visible"/>
                                      </p:to>
                                    </p:set>
                                    <p:animEffect transition="in" filter="wipe(up)">
                                      <p:cBhvr>
                                        <p:cTn id="18" dur="500"/>
                                        <p:tgtEl>
                                          <p:spTgt spid="390147">
                                            <p:txEl>
                                              <p:pRg st="2" end="2"/>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390147">
                                            <p:txEl>
                                              <p:pRg st="3" end="3"/>
                                            </p:txEl>
                                          </p:spTgt>
                                        </p:tgtEl>
                                        <p:attrNameLst>
                                          <p:attrName>style.visibility</p:attrName>
                                        </p:attrNameLst>
                                      </p:cBhvr>
                                      <p:to>
                                        <p:strVal val="visible"/>
                                      </p:to>
                                    </p:set>
                                    <p:animEffect transition="in" filter="wipe(up)">
                                      <p:cBhvr>
                                        <p:cTn id="21" dur="500"/>
                                        <p:tgtEl>
                                          <p:spTgt spid="390147">
                                            <p:txEl>
                                              <p:pRg st="3" end="3"/>
                                            </p:txEl>
                                          </p:spTgt>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390147">
                                            <p:txEl>
                                              <p:pRg st="4" end="4"/>
                                            </p:txEl>
                                          </p:spTgt>
                                        </p:tgtEl>
                                        <p:attrNameLst>
                                          <p:attrName>style.visibility</p:attrName>
                                        </p:attrNameLst>
                                      </p:cBhvr>
                                      <p:to>
                                        <p:strVal val="visible"/>
                                      </p:to>
                                    </p:set>
                                    <p:animEffect transition="in" filter="wipe(up)">
                                      <p:cBhvr>
                                        <p:cTn id="24" dur="500"/>
                                        <p:tgtEl>
                                          <p:spTgt spid="390147">
                                            <p:txEl>
                                              <p:pRg st="4" end="4"/>
                                            </p:txEl>
                                          </p:spTgt>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390147">
                                            <p:txEl>
                                              <p:pRg st="5" end="5"/>
                                            </p:txEl>
                                          </p:spTgt>
                                        </p:tgtEl>
                                        <p:attrNameLst>
                                          <p:attrName>style.visibility</p:attrName>
                                        </p:attrNameLst>
                                      </p:cBhvr>
                                      <p:to>
                                        <p:strVal val="visible"/>
                                      </p:to>
                                    </p:set>
                                    <p:animEffect transition="in" filter="wipe(up)">
                                      <p:cBhvr>
                                        <p:cTn id="27" dur="500"/>
                                        <p:tgtEl>
                                          <p:spTgt spid="3901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147" grpId="0" build="p"/>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Rot="1" noChangeArrowheads="1"/>
          </p:cNvSpPr>
          <p:nvPr>
            <p:ph type="title" idx="4294967295"/>
          </p:nvPr>
        </p:nvSpPr>
        <p:spPr>
          <a:xfrm>
            <a:off x="381000" y="764704"/>
            <a:ext cx="5991200" cy="503684"/>
          </a:xfrm>
          <a:noFill/>
          <a:ln w="9525">
            <a:noFill/>
            <a:miter lim="800000"/>
          </a:ln>
        </p:spPr>
        <p:txBody>
          <a:bodyPr vert="horz" wrap="square" lIns="91440" tIns="45720" rIns="91440" bIns="45720" numCol="1" anchor="ctr" anchorCtr="0" compatLnSpc="1"/>
          <a:lstStyle/>
          <a:p>
            <a:r>
              <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IDM</a:t>
            </a:r>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模型：威胁层和安全状态层</a:t>
            </a:r>
            <a:endPar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391171" name="Rectangle 3"/>
          <p:cNvSpPr>
            <a:spLocks noGrp="1" noRot="1" noChangeArrowheads="1"/>
          </p:cNvSpPr>
          <p:nvPr>
            <p:ph type="body" idx="4294967295"/>
          </p:nvPr>
        </p:nvSpPr>
        <p:spPr>
          <a:xfrm>
            <a:off x="381000" y="1341438"/>
            <a:ext cx="8512175" cy="3419710"/>
          </a:xfrm>
        </p:spPr>
        <p:txBody>
          <a:bodyPr/>
          <a:lstStyle/>
          <a:p>
            <a:pPr eaLnBrk="1" hangingPunct="1">
              <a:buFont typeface="Wingdings" panose="05000000000000000000" pitchFamily="2" charset="2"/>
              <a:buChar char="u"/>
            </a:pPr>
            <a:r>
              <a:rPr lang="zh-CN" altLang="en-US" sz="2400" b="1" dirty="0">
                <a:solidFill>
                  <a:srgbClr val="FF0000"/>
                </a:solidFill>
                <a:effectLst>
                  <a:outerShdw blurRad="38100" dist="38100" dir="2700000" algn="tl">
                    <a:srgbClr val="000000">
                      <a:alpha val="43137"/>
                    </a:srgbClr>
                  </a:outerShdw>
                </a:effectLst>
                <a:latin typeface="+mn-ea"/>
              </a:rPr>
              <a:t>威胁层：</a:t>
            </a:r>
            <a:endParaRPr lang="en-US" altLang="zh-CN" sz="2400" b="1" dirty="0">
              <a:solidFill>
                <a:srgbClr val="FF0000"/>
              </a:solidFill>
              <a:effectLst>
                <a:outerShdw blurRad="38100" dist="38100" dir="2700000" algn="tl">
                  <a:srgbClr val="000000">
                    <a:alpha val="43137"/>
                  </a:srgbClr>
                </a:outerShdw>
              </a:effectLst>
              <a:latin typeface="+mn-ea"/>
            </a:endParaRPr>
          </a:p>
          <a:p>
            <a:pPr lvl="1" eaLnBrk="1" hangingPunct="1">
              <a:buClr>
                <a:schemeClr val="tx1"/>
              </a:buClr>
              <a:buFont typeface="Wingdings" panose="05000000000000000000" pitchFamily="2" charset="2"/>
              <a:buChar char="Ø"/>
            </a:pPr>
            <a:r>
              <a:rPr lang="zh-CN" altLang="en-US" sz="2000" b="1" dirty="0">
                <a:solidFill>
                  <a:srgbClr val="000000"/>
                </a:solidFill>
                <a:effectLst>
                  <a:outerShdw blurRad="38100" dist="38100" dir="2700000" algn="tl">
                    <a:srgbClr val="000000">
                      <a:alpha val="43137"/>
                    </a:srgbClr>
                  </a:outerShdw>
                </a:effectLst>
                <a:latin typeface="+mn-ea"/>
              </a:rPr>
              <a:t>可以根据</a:t>
            </a:r>
            <a:r>
              <a:rPr lang="zh-CN" altLang="en-US" sz="2000" b="1" dirty="0">
                <a:solidFill>
                  <a:srgbClr val="FF0000"/>
                </a:solidFill>
                <a:effectLst>
                  <a:outerShdw blurRad="38100" dist="38100" dir="2700000" algn="tl">
                    <a:srgbClr val="000000">
                      <a:alpha val="43137"/>
                    </a:srgbClr>
                  </a:outerShdw>
                </a:effectLst>
                <a:latin typeface="+mn-ea"/>
              </a:rPr>
              <a:t>滥用的特征和对象</a:t>
            </a:r>
            <a:r>
              <a:rPr lang="zh-CN" altLang="en-US" sz="2000" b="1" dirty="0">
                <a:solidFill>
                  <a:srgbClr val="000000"/>
                </a:solidFill>
                <a:effectLst>
                  <a:outerShdw blurRad="38100" dist="38100" dir="2700000" algn="tl">
                    <a:srgbClr val="000000">
                      <a:alpha val="43137"/>
                    </a:srgbClr>
                  </a:outerShdw>
                </a:effectLst>
                <a:latin typeface="+mn-ea"/>
              </a:rPr>
              <a:t>对威胁进行分类</a:t>
            </a:r>
          </a:p>
          <a:p>
            <a:pPr lvl="1" eaLnBrk="1" hangingPunct="1">
              <a:buClr>
                <a:schemeClr val="tx1"/>
              </a:buClr>
              <a:buFont typeface="Wingdings" panose="05000000000000000000" pitchFamily="2" charset="2"/>
              <a:buChar char="Ø"/>
            </a:pPr>
            <a:r>
              <a:rPr lang="zh-CN" altLang="en-US" sz="2000" b="1" dirty="0">
                <a:solidFill>
                  <a:srgbClr val="000000"/>
                </a:solidFill>
                <a:effectLst>
                  <a:outerShdw blurRad="38100" dist="38100" dir="2700000" algn="tl">
                    <a:srgbClr val="000000">
                      <a:alpha val="43137"/>
                    </a:srgbClr>
                  </a:outerShdw>
                </a:effectLst>
                <a:latin typeface="+mn-ea"/>
              </a:rPr>
              <a:t>滥用类型</a:t>
            </a:r>
          </a:p>
          <a:p>
            <a:pPr lvl="1" eaLnBrk="1" hangingPunct="1">
              <a:buClr>
                <a:schemeClr val="tx1"/>
              </a:buClr>
              <a:buFont typeface="Wingdings" panose="05000000000000000000" pitchFamily="2" charset="2"/>
              <a:buNone/>
            </a:pPr>
            <a:r>
              <a:rPr lang="zh-CN" altLang="en-US" sz="2000" b="1" dirty="0">
                <a:solidFill>
                  <a:schemeClr val="hlink"/>
                </a:solidFill>
                <a:effectLst>
                  <a:outerShdw blurRad="38100" dist="38100" dir="2700000" algn="tl">
                    <a:srgbClr val="000000">
                      <a:alpha val="43137"/>
                    </a:srgbClr>
                  </a:outerShdw>
                </a:effectLst>
                <a:latin typeface="+mn-ea"/>
              </a:rPr>
              <a:t>  </a:t>
            </a:r>
            <a:r>
              <a:rPr lang="en-US" altLang="zh-CN" sz="2000" b="1" dirty="0">
                <a:solidFill>
                  <a:srgbClr val="FF0000"/>
                </a:solidFill>
                <a:effectLst>
                  <a:outerShdw blurRad="38100" dist="38100" dir="2700000" algn="tl">
                    <a:srgbClr val="000000">
                      <a:alpha val="43137"/>
                    </a:srgbClr>
                  </a:outerShdw>
                </a:effectLst>
                <a:latin typeface="+mn-ea"/>
              </a:rPr>
              <a:t>-</a:t>
            </a:r>
            <a:r>
              <a:rPr lang="zh-CN" altLang="en-US" sz="2000" b="1" dirty="0">
                <a:solidFill>
                  <a:srgbClr val="FF0000"/>
                </a:solidFill>
                <a:effectLst>
                  <a:outerShdw blurRad="38100" dist="38100" dir="2700000" algn="tl">
                    <a:srgbClr val="000000">
                      <a:alpha val="43137"/>
                    </a:srgbClr>
                  </a:outerShdw>
                </a:effectLst>
                <a:latin typeface="+mn-ea"/>
              </a:rPr>
              <a:t>攻击：</a:t>
            </a:r>
            <a:r>
              <a:rPr lang="zh-CN" altLang="en-US" sz="2000" b="1" dirty="0">
                <a:solidFill>
                  <a:srgbClr val="000000"/>
                </a:solidFill>
                <a:effectLst>
                  <a:outerShdw blurRad="38100" dist="38100" dir="2700000" algn="tl">
                    <a:srgbClr val="000000">
                      <a:alpha val="43137"/>
                    </a:srgbClr>
                  </a:outerShdw>
                </a:effectLst>
                <a:latin typeface="+mn-ea"/>
              </a:rPr>
              <a:t>表明机器的状态发生了改变</a:t>
            </a:r>
          </a:p>
          <a:p>
            <a:pPr lvl="1" eaLnBrk="1" hangingPunct="1">
              <a:buClr>
                <a:schemeClr val="tx1"/>
              </a:buClr>
              <a:buFont typeface="Wingdings" panose="05000000000000000000" pitchFamily="2" charset="2"/>
              <a:buNone/>
            </a:pPr>
            <a:r>
              <a:rPr lang="en-US" altLang="zh-CN" sz="2000" b="1" dirty="0">
                <a:solidFill>
                  <a:schemeClr val="hlink"/>
                </a:solidFill>
                <a:effectLst>
                  <a:outerShdw blurRad="38100" dist="38100" dir="2700000" algn="tl">
                    <a:srgbClr val="000000">
                      <a:alpha val="43137"/>
                    </a:srgbClr>
                  </a:outerShdw>
                </a:effectLst>
                <a:latin typeface="+mn-ea"/>
              </a:rPr>
              <a:t>  </a:t>
            </a:r>
            <a:r>
              <a:rPr lang="en-US" altLang="zh-CN" sz="2000" b="1" dirty="0">
                <a:solidFill>
                  <a:srgbClr val="FF0000"/>
                </a:solidFill>
                <a:effectLst>
                  <a:outerShdw blurRad="38100" dist="38100" dir="2700000" algn="tl">
                    <a:srgbClr val="000000">
                      <a:alpha val="43137"/>
                    </a:srgbClr>
                  </a:outerShdw>
                </a:effectLst>
                <a:latin typeface="+mn-ea"/>
              </a:rPr>
              <a:t>-</a:t>
            </a:r>
            <a:r>
              <a:rPr lang="zh-CN" altLang="en-US" sz="2000" b="1" dirty="0">
                <a:solidFill>
                  <a:srgbClr val="FF0000"/>
                </a:solidFill>
                <a:effectLst>
                  <a:outerShdw blurRad="38100" dist="38100" dir="2700000" algn="tl">
                    <a:srgbClr val="000000">
                      <a:alpha val="43137"/>
                    </a:srgbClr>
                  </a:outerShdw>
                </a:effectLst>
                <a:latin typeface="+mn-ea"/>
              </a:rPr>
              <a:t>误用：</a:t>
            </a:r>
            <a:r>
              <a:rPr lang="zh-CN" altLang="en-US" sz="2000" b="1" dirty="0">
                <a:solidFill>
                  <a:srgbClr val="000000"/>
                </a:solidFill>
                <a:effectLst>
                  <a:outerShdw blurRad="38100" dist="38100" dir="2700000" algn="tl">
                    <a:srgbClr val="000000">
                      <a:alpha val="43137"/>
                    </a:srgbClr>
                  </a:outerShdw>
                </a:effectLst>
                <a:latin typeface="+mn-ea"/>
              </a:rPr>
              <a:t>表示越权行为</a:t>
            </a:r>
          </a:p>
          <a:p>
            <a:pPr lvl="1" eaLnBrk="1" hangingPunct="1">
              <a:buClr>
                <a:schemeClr val="tx1"/>
              </a:buClr>
              <a:buFont typeface="Wingdings" panose="05000000000000000000" pitchFamily="2" charset="2"/>
              <a:buNone/>
            </a:pPr>
            <a:r>
              <a:rPr lang="zh-CN" altLang="en-US" sz="2000" b="1" dirty="0">
                <a:solidFill>
                  <a:schemeClr val="hlink"/>
                </a:solidFill>
                <a:effectLst>
                  <a:outerShdw blurRad="38100" dist="38100" dir="2700000" algn="tl">
                    <a:srgbClr val="000000">
                      <a:alpha val="43137"/>
                    </a:srgbClr>
                  </a:outerShdw>
                </a:effectLst>
                <a:latin typeface="+mn-ea"/>
              </a:rPr>
              <a:t>  </a:t>
            </a:r>
            <a:r>
              <a:rPr lang="en-US" altLang="zh-CN" sz="2000" b="1" dirty="0">
                <a:solidFill>
                  <a:srgbClr val="FF0000"/>
                </a:solidFill>
                <a:effectLst>
                  <a:outerShdw blurRad="38100" dist="38100" dir="2700000" algn="tl">
                    <a:srgbClr val="000000">
                      <a:alpha val="43137"/>
                    </a:srgbClr>
                  </a:outerShdw>
                </a:effectLst>
                <a:latin typeface="+mn-ea"/>
              </a:rPr>
              <a:t>-</a:t>
            </a:r>
            <a:r>
              <a:rPr lang="zh-CN" altLang="en-US" sz="2000" b="1" dirty="0">
                <a:solidFill>
                  <a:srgbClr val="FF0000"/>
                </a:solidFill>
                <a:effectLst>
                  <a:outerShdw blurRad="38100" dist="38100" dir="2700000" algn="tl">
                    <a:srgbClr val="000000">
                      <a:alpha val="43137"/>
                    </a:srgbClr>
                  </a:outerShdw>
                </a:effectLst>
                <a:latin typeface="+mn-ea"/>
              </a:rPr>
              <a:t>可疑：</a:t>
            </a:r>
            <a:r>
              <a:rPr lang="zh-CN" altLang="en-US" sz="2000" b="1" dirty="0">
                <a:solidFill>
                  <a:srgbClr val="000000"/>
                </a:solidFill>
                <a:effectLst>
                  <a:outerShdw blurRad="38100" dist="38100" dir="2700000" algn="tl">
                    <a:srgbClr val="000000">
                      <a:alpha val="43137"/>
                    </a:srgbClr>
                  </a:outerShdw>
                </a:effectLst>
                <a:latin typeface="+mn-ea"/>
              </a:rPr>
              <a:t>入侵检测感兴趣的事件</a:t>
            </a:r>
          </a:p>
          <a:p>
            <a:pPr lvl="1" eaLnBrk="1" hangingPunct="1">
              <a:buClr>
                <a:schemeClr val="tx1"/>
              </a:buClr>
              <a:buFont typeface="Wingdings" panose="05000000000000000000" pitchFamily="2" charset="2"/>
              <a:buChar char="Ø"/>
            </a:pPr>
            <a:r>
              <a:rPr lang="zh-CN" altLang="en-US" sz="2000" b="1" dirty="0">
                <a:solidFill>
                  <a:srgbClr val="000000"/>
                </a:solidFill>
                <a:effectLst>
                  <a:outerShdw blurRad="38100" dist="38100" dir="2700000" algn="tl">
                    <a:srgbClr val="000000">
                      <a:alpha val="43137"/>
                    </a:srgbClr>
                  </a:outerShdw>
                </a:effectLst>
                <a:latin typeface="+mn-ea"/>
              </a:rPr>
              <a:t>滥用对象</a:t>
            </a:r>
          </a:p>
          <a:p>
            <a:pPr lvl="1" eaLnBrk="1" hangingPunct="1">
              <a:buClr>
                <a:schemeClr val="tx1"/>
              </a:buClr>
              <a:buFont typeface="Wingdings" panose="05000000000000000000" pitchFamily="2" charset="2"/>
              <a:buNone/>
            </a:pPr>
            <a:r>
              <a:rPr lang="zh-CN" altLang="en-US" sz="2000" b="1" dirty="0">
                <a:solidFill>
                  <a:srgbClr val="000000"/>
                </a:solidFill>
                <a:effectLst>
                  <a:outerShdw blurRad="38100" dist="38100" dir="2700000" algn="tl">
                    <a:srgbClr val="000000">
                      <a:alpha val="43137"/>
                    </a:srgbClr>
                  </a:outerShdw>
                </a:effectLst>
                <a:latin typeface="+mn-ea"/>
              </a:rPr>
              <a:t>  </a:t>
            </a:r>
            <a:r>
              <a:rPr lang="en-US" altLang="zh-CN" sz="2000" b="1" dirty="0">
                <a:solidFill>
                  <a:schemeClr val="hlink"/>
                </a:solidFill>
                <a:effectLst>
                  <a:outerShdw blurRad="38100" dist="38100" dir="2700000" algn="tl">
                    <a:srgbClr val="000000">
                      <a:alpha val="43137"/>
                    </a:srgbClr>
                  </a:outerShdw>
                </a:effectLst>
                <a:latin typeface="+mn-ea"/>
              </a:rPr>
              <a:t>-</a:t>
            </a:r>
            <a:r>
              <a:rPr lang="zh-CN" altLang="en-US" sz="2000" b="1" dirty="0">
                <a:solidFill>
                  <a:srgbClr val="000000"/>
                </a:solidFill>
                <a:effectLst>
                  <a:outerShdw blurRad="38100" dist="38100" dir="2700000" algn="tl">
                    <a:srgbClr val="000000">
                      <a:alpha val="43137"/>
                    </a:srgbClr>
                  </a:outerShdw>
                </a:effectLst>
                <a:latin typeface="+mn-ea"/>
              </a:rPr>
              <a:t>系统对象、用户对象（如无权限的用户）</a:t>
            </a:r>
          </a:p>
          <a:p>
            <a:pPr lvl="1" eaLnBrk="1" hangingPunct="1">
              <a:buClr>
                <a:schemeClr val="tx1"/>
              </a:buClr>
              <a:buFont typeface="Wingdings" panose="05000000000000000000" pitchFamily="2" charset="2"/>
              <a:buNone/>
            </a:pPr>
            <a:r>
              <a:rPr lang="en-US" altLang="zh-CN" sz="2000" b="1" dirty="0">
                <a:solidFill>
                  <a:schemeClr val="hlink"/>
                </a:solidFill>
                <a:effectLst>
                  <a:outerShdw blurRad="38100" dist="38100" dir="2700000" algn="tl">
                    <a:srgbClr val="000000">
                      <a:alpha val="43137"/>
                    </a:srgbClr>
                  </a:outerShdw>
                </a:effectLst>
                <a:latin typeface="+mn-ea"/>
              </a:rPr>
              <a:t>  -</a:t>
            </a:r>
            <a:r>
              <a:rPr lang="zh-CN" altLang="en-US" sz="2000" b="1" dirty="0">
                <a:solidFill>
                  <a:srgbClr val="000000"/>
                </a:solidFill>
                <a:effectLst>
                  <a:outerShdw blurRad="38100" dist="38100" dir="2700000" algn="tl">
                    <a:srgbClr val="000000">
                      <a:alpha val="43137"/>
                    </a:srgbClr>
                  </a:outerShdw>
                </a:effectLst>
                <a:latin typeface="+mn-ea"/>
              </a:rPr>
              <a:t>被动对象（文件）、主动对象（运行的进程） </a:t>
            </a:r>
          </a:p>
        </p:txBody>
      </p:sp>
      <p:sp>
        <p:nvSpPr>
          <p:cNvPr id="391172" name="Rectangle 4"/>
          <p:cNvSpPr>
            <a:spLocks noChangeArrowheads="1"/>
          </p:cNvSpPr>
          <p:nvPr/>
        </p:nvSpPr>
        <p:spPr bwMode="auto">
          <a:xfrm>
            <a:off x="2667000" y="433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b="0"/>
          </a:p>
        </p:txBody>
      </p:sp>
      <p:sp>
        <p:nvSpPr>
          <p:cNvPr id="3" name="矩形 2"/>
          <p:cNvSpPr/>
          <p:nvPr/>
        </p:nvSpPr>
        <p:spPr>
          <a:xfrm>
            <a:off x="503548" y="4850351"/>
            <a:ext cx="7848872" cy="1077218"/>
          </a:xfrm>
          <a:prstGeom prst="rect">
            <a:avLst/>
          </a:prstGeom>
        </p:spPr>
        <p:txBody>
          <a:bodyPr wrap="square">
            <a:spAutoFit/>
          </a:bodyPr>
          <a:lstStyle/>
          <a:p>
            <a:pPr eaLnBrk="1" hangingPunct="1">
              <a:buFont typeface="Wingdings" panose="05000000000000000000" pitchFamily="2" charset="2"/>
              <a:buChar char="u"/>
            </a:pPr>
            <a:r>
              <a:rPr lang="zh-CN" altLang="en-US" sz="2400" b="1" dirty="0">
                <a:solidFill>
                  <a:srgbClr val="FF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安全状态层：</a:t>
            </a:r>
          </a:p>
          <a:p>
            <a:pPr lvl="1" eaLnBrk="1" hangingPunct="1">
              <a:buClr>
                <a:schemeClr val="tx1"/>
              </a:buClr>
              <a:buFont typeface="Wingdings" panose="05000000000000000000" pitchFamily="2" charset="2"/>
              <a:buChar char="Ø"/>
            </a:pPr>
            <a:r>
              <a:rPr lang="zh-CN" altLang="en-US" sz="2000" b="1" dirty="0">
                <a:solidFill>
                  <a:srgbClr val="00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用</a:t>
            </a:r>
            <a:r>
              <a:rPr lang="en-US" altLang="zh-CN" sz="2000" b="1" dirty="0">
                <a:solidFill>
                  <a:srgbClr val="FF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1-100</a:t>
            </a:r>
            <a:r>
              <a:rPr lang="zh-CN" altLang="en-US" sz="2000" b="1" dirty="0">
                <a:solidFill>
                  <a:srgbClr val="FF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之间</a:t>
            </a:r>
            <a:r>
              <a:rPr lang="zh-CN" altLang="en-US" sz="2000" b="1" dirty="0">
                <a:solidFill>
                  <a:srgbClr val="00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的某个数值来表示网络的安全状态，数字越大表示越不安全 </a:t>
            </a:r>
            <a:endParaRPr lang="en-US" altLang="zh-CN" sz="2000" b="1" dirty="0">
              <a:solidFill>
                <a:srgbClr val="00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91171">
                                            <p:txEl>
                                              <p:pRg st="0" end="0"/>
                                            </p:txEl>
                                          </p:spTgt>
                                        </p:tgtEl>
                                        <p:attrNameLst>
                                          <p:attrName>style.visibility</p:attrName>
                                        </p:attrNameLst>
                                      </p:cBhvr>
                                      <p:to>
                                        <p:strVal val="visible"/>
                                      </p:to>
                                    </p:set>
                                    <p:animEffect transition="in" filter="wipe(up)">
                                      <p:cBhvr>
                                        <p:cTn id="7" dur="500"/>
                                        <p:tgtEl>
                                          <p:spTgt spid="391171">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91171">
                                            <p:txEl>
                                              <p:pRg st="1" end="1"/>
                                            </p:txEl>
                                          </p:spTgt>
                                        </p:tgtEl>
                                        <p:attrNameLst>
                                          <p:attrName>style.visibility</p:attrName>
                                        </p:attrNameLst>
                                      </p:cBhvr>
                                      <p:to>
                                        <p:strVal val="visible"/>
                                      </p:to>
                                    </p:set>
                                    <p:animEffect transition="in" filter="wipe(up)">
                                      <p:cBhvr>
                                        <p:cTn id="11" dur="500"/>
                                        <p:tgtEl>
                                          <p:spTgt spid="391171">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391171">
                                            <p:txEl>
                                              <p:pRg st="2" end="2"/>
                                            </p:txEl>
                                          </p:spTgt>
                                        </p:tgtEl>
                                        <p:attrNameLst>
                                          <p:attrName>style.visibility</p:attrName>
                                        </p:attrNameLst>
                                      </p:cBhvr>
                                      <p:to>
                                        <p:strVal val="visible"/>
                                      </p:to>
                                    </p:set>
                                    <p:animEffect transition="in" filter="wipe(up)">
                                      <p:cBhvr>
                                        <p:cTn id="15" dur="500"/>
                                        <p:tgtEl>
                                          <p:spTgt spid="391171">
                                            <p:txEl>
                                              <p:pRg st="2" end="2"/>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391171">
                                            <p:txEl>
                                              <p:pRg st="3" end="3"/>
                                            </p:txEl>
                                          </p:spTgt>
                                        </p:tgtEl>
                                        <p:attrNameLst>
                                          <p:attrName>style.visibility</p:attrName>
                                        </p:attrNameLst>
                                      </p:cBhvr>
                                      <p:to>
                                        <p:strVal val="visible"/>
                                      </p:to>
                                    </p:set>
                                    <p:animEffect transition="in" filter="wipe(up)">
                                      <p:cBhvr>
                                        <p:cTn id="19" dur="500"/>
                                        <p:tgtEl>
                                          <p:spTgt spid="391171">
                                            <p:txEl>
                                              <p:pRg st="3" end="3"/>
                                            </p:txEl>
                                          </p:spTgt>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391171">
                                            <p:txEl>
                                              <p:pRg st="4" end="4"/>
                                            </p:txEl>
                                          </p:spTgt>
                                        </p:tgtEl>
                                        <p:attrNameLst>
                                          <p:attrName>style.visibility</p:attrName>
                                        </p:attrNameLst>
                                      </p:cBhvr>
                                      <p:to>
                                        <p:strVal val="visible"/>
                                      </p:to>
                                    </p:set>
                                    <p:animEffect transition="in" filter="wipe(up)">
                                      <p:cBhvr>
                                        <p:cTn id="23" dur="500"/>
                                        <p:tgtEl>
                                          <p:spTgt spid="391171">
                                            <p:txEl>
                                              <p:pRg st="4" end="4"/>
                                            </p:txEl>
                                          </p:spTgt>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391171">
                                            <p:txEl>
                                              <p:pRg st="5" end="5"/>
                                            </p:txEl>
                                          </p:spTgt>
                                        </p:tgtEl>
                                        <p:attrNameLst>
                                          <p:attrName>style.visibility</p:attrName>
                                        </p:attrNameLst>
                                      </p:cBhvr>
                                      <p:to>
                                        <p:strVal val="visible"/>
                                      </p:to>
                                    </p:set>
                                    <p:animEffect transition="in" filter="wipe(up)">
                                      <p:cBhvr>
                                        <p:cTn id="27" dur="500"/>
                                        <p:tgtEl>
                                          <p:spTgt spid="391171">
                                            <p:txEl>
                                              <p:pRg st="5" end="5"/>
                                            </p:txEl>
                                          </p:spTgt>
                                        </p:tgtEl>
                                      </p:cBhvr>
                                    </p:animEffect>
                                  </p:childTnLst>
                                </p:cTn>
                              </p:par>
                            </p:childTnLst>
                          </p:cTn>
                        </p:par>
                        <p:par>
                          <p:cTn id="28" fill="hold">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391171">
                                            <p:txEl>
                                              <p:pRg st="6" end="6"/>
                                            </p:txEl>
                                          </p:spTgt>
                                        </p:tgtEl>
                                        <p:attrNameLst>
                                          <p:attrName>style.visibility</p:attrName>
                                        </p:attrNameLst>
                                      </p:cBhvr>
                                      <p:to>
                                        <p:strVal val="visible"/>
                                      </p:to>
                                    </p:set>
                                    <p:animEffect transition="in" filter="wipe(up)">
                                      <p:cBhvr>
                                        <p:cTn id="31" dur="500"/>
                                        <p:tgtEl>
                                          <p:spTgt spid="391171">
                                            <p:txEl>
                                              <p:pRg st="6" end="6"/>
                                            </p:txEl>
                                          </p:spTgt>
                                        </p:tgtEl>
                                      </p:cBhvr>
                                    </p:animEffect>
                                  </p:childTnLst>
                                </p:cTn>
                              </p:par>
                            </p:childTnLst>
                          </p:cTn>
                        </p:par>
                        <p:par>
                          <p:cTn id="32" fill="hold">
                            <p:stCondLst>
                              <p:cond delay="3500"/>
                            </p:stCondLst>
                            <p:childTnLst>
                              <p:par>
                                <p:cTn id="33" presetID="22" presetClass="entr" presetSubtype="1" fill="hold" grpId="0" nodeType="afterEffect">
                                  <p:stCondLst>
                                    <p:cond delay="0"/>
                                  </p:stCondLst>
                                  <p:childTnLst>
                                    <p:set>
                                      <p:cBhvr>
                                        <p:cTn id="34" dur="1" fill="hold">
                                          <p:stCondLst>
                                            <p:cond delay="0"/>
                                          </p:stCondLst>
                                        </p:cTn>
                                        <p:tgtEl>
                                          <p:spTgt spid="391171">
                                            <p:txEl>
                                              <p:pRg st="7" end="7"/>
                                            </p:txEl>
                                          </p:spTgt>
                                        </p:tgtEl>
                                        <p:attrNameLst>
                                          <p:attrName>style.visibility</p:attrName>
                                        </p:attrNameLst>
                                      </p:cBhvr>
                                      <p:to>
                                        <p:strVal val="visible"/>
                                      </p:to>
                                    </p:set>
                                    <p:animEffect transition="in" filter="wipe(up)">
                                      <p:cBhvr>
                                        <p:cTn id="35" dur="500"/>
                                        <p:tgtEl>
                                          <p:spTgt spid="391171">
                                            <p:txEl>
                                              <p:pRg st="7" end="7"/>
                                            </p:txEl>
                                          </p:spTgt>
                                        </p:tgtEl>
                                      </p:cBhvr>
                                    </p:animEffect>
                                  </p:childTnLst>
                                </p:cTn>
                              </p:par>
                            </p:childTnLst>
                          </p:cTn>
                        </p:par>
                        <p:par>
                          <p:cTn id="36" fill="hold">
                            <p:stCondLst>
                              <p:cond delay="4000"/>
                            </p:stCondLst>
                            <p:childTnLst>
                              <p:par>
                                <p:cTn id="37" presetID="22" presetClass="entr" presetSubtype="1" fill="hold" grpId="0" nodeType="afterEffect">
                                  <p:stCondLst>
                                    <p:cond delay="0"/>
                                  </p:stCondLst>
                                  <p:childTnLst>
                                    <p:set>
                                      <p:cBhvr>
                                        <p:cTn id="38" dur="1" fill="hold">
                                          <p:stCondLst>
                                            <p:cond delay="0"/>
                                          </p:stCondLst>
                                        </p:cTn>
                                        <p:tgtEl>
                                          <p:spTgt spid="391171">
                                            <p:txEl>
                                              <p:pRg st="8" end="8"/>
                                            </p:txEl>
                                          </p:spTgt>
                                        </p:tgtEl>
                                        <p:attrNameLst>
                                          <p:attrName>style.visibility</p:attrName>
                                        </p:attrNameLst>
                                      </p:cBhvr>
                                      <p:to>
                                        <p:strVal val="visible"/>
                                      </p:to>
                                    </p:set>
                                    <p:animEffect transition="in" filter="wipe(up)">
                                      <p:cBhvr>
                                        <p:cTn id="39" dur="500"/>
                                        <p:tgtEl>
                                          <p:spTgt spid="391171">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wipe(up)">
                                      <p:cBhvr>
                                        <p:cTn id="4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1171" grpId="0" build="p"/>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3"/>
          <p:cNvSpPr>
            <a:spLocks noGrp="1" noChangeArrowheads="1"/>
          </p:cNvSpPr>
          <p:nvPr>
            <p:ph type="body" idx="1"/>
          </p:nvPr>
        </p:nvSpPr>
        <p:spPr>
          <a:xfrm>
            <a:off x="575556" y="1628800"/>
            <a:ext cx="7704856" cy="1404156"/>
          </a:xfrm>
        </p:spPr>
        <p:txBody>
          <a:bodyPr/>
          <a:lstStyle/>
          <a:p>
            <a:pPr eaLnBrk="1" hangingPunct="1"/>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北卡罗莱那州立大学的</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Felix Wu</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等人从</a:t>
            </a:r>
            <a:r>
              <a:rPr lang="zh-CN" altLang="en-US" sz="24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网络管理</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的角度考虑</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模型，提出基于</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SNMP</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的</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模型，简称</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SNMP-IDSM</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eaLnBrk="1" hangingPunct="1"/>
            <a:endPar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矩形 5"/>
          <p:cNvSpPr/>
          <p:nvPr/>
        </p:nvSpPr>
        <p:spPr>
          <a:xfrm>
            <a:off x="683568" y="836712"/>
            <a:ext cx="6317755" cy="523220"/>
          </a:xfrm>
          <a:prstGeom prst="rect">
            <a:avLst/>
          </a:prstGeom>
          <a:noFill/>
          <a:ln w="9525">
            <a:noFill/>
            <a:miter lim="800000"/>
          </a:ln>
        </p:spPr>
        <p:txBody>
          <a:bodyPr vert="horz" wrap="square" lIns="91440" tIns="45720" rIns="91440" bIns="45720" numCol="1" anchor="ctr" anchorCtr="0" compatLnSpc="1"/>
          <a:lstStyle/>
          <a:p>
            <a:pPr eaLnBrk="0" hangingPunct="0"/>
            <a:r>
              <a:rPr lang="zh-CN" altLang="en-US" sz="2800" b="1"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管理式入侵检测模型（</a:t>
            </a:r>
            <a:r>
              <a:rPr lang="en-US" altLang="zh-CN" sz="2800" b="1"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SNMP-IDSM</a:t>
            </a:r>
            <a:r>
              <a:rPr lang="zh-CN" altLang="en-US" sz="2800" b="1"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 </a:t>
            </a:r>
          </a:p>
        </p:txBody>
      </p:sp>
      <p:sp>
        <p:nvSpPr>
          <p:cNvPr id="3" name="矩形 2"/>
          <p:cNvSpPr/>
          <p:nvPr/>
        </p:nvSpPr>
        <p:spPr>
          <a:xfrm>
            <a:off x="570035" y="3032956"/>
            <a:ext cx="7939472" cy="1200329"/>
          </a:xfrm>
          <a:prstGeom prst="rect">
            <a:avLst/>
          </a:prstGeom>
        </p:spPr>
        <p:txBody>
          <a:bodyPr wrap="square">
            <a:spAutoFit/>
          </a:bodyPr>
          <a:lstStyle/>
          <a:p>
            <a:pPr marL="342900" indent="-342900">
              <a:spcBef>
                <a:spcPct val="20000"/>
              </a:spcBef>
              <a:buClr>
                <a:srgbClr val="3399FF"/>
              </a:buClr>
              <a:buFont typeface="Wingdings" panose="05000000000000000000" pitchFamily="2" charset="2"/>
              <a:buChar char="v"/>
            </a:pPr>
            <a:r>
              <a:rPr lang="en-US" altLang="zh-CN"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SNMP-IDSM</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以</a:t>
            </a:r>
            <a:r>
              <a:rPr lang="en-US" altLang="zh-CN"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SNMP</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为公共语言来实现</a:t>
            </a:r>
            <a:r>
              <a:rPr lang="en-US" altLang="zh-CN"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IDS</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系统之间的信息交换和协同检测，它定义了</a:t>
            </a:r>
            <a:r>
              <a:rPr lang="en-US" altLang="zh-CN"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IDS-MIB</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，使得</a:t>
            </a:r>
            <a:r>
              <a:rPr lang="zh-CN" altLang="en-US" sz="2400" b="1" dirty="0">
                <a:solidFill>
                  <a:srgbClr val="C0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原始事件和抽象事件之间关系明确</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，并且易于扩展这些关系。</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4340">
                                            <p:txEl>
                                              <p:pRg st="0" end="0"/>
                                            </p:txEl>
                                          </p:spTgt>
                                        </p:tgtEl>
                                        <p:attrNameLst>
                                          <p:attrName>style.visibility</p:attrName>
                                        </p:attrNameLst>
                                      </p:cBhvr>
                                      <p:to>
                                        <p:strVal val="visible"/>
                                      </p:to>
                                    </p:set>
                                    <p:anim calcmode="lin" valueType="num">
                                      <p:cBhvr>
                                        <p:cTn id="7" dur="500" fill="hold"/>
                                        <p:tgtEl>
                                          <p:spTgt spid="14340">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4340">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14340">
                                            <p:txEl>
                                              <p:pRg st="0" end="0"/>
                                            </p:txEl>
                                          </p:spTgt>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build="p"/>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935596" y="1556792"/>
            <a:ext cx="7162800" cy="4305300"/>
          </a:xfrm>
          <a:prstGeom prst="rect">
            <a:avLst/>
          </a:prstGeom>
        </p:spPr>
      </p:pic>
      <p:sp>
        <p:nvSpPr>
          <p:cNvPr id="6" name="矩形 5"/>
          <p:cNvSpPr/>
          <p:nvPr/>
        </p:nvSpPr>
        <p:spPr>
          <a:xfrm>
            <a:off x="732115" y="980728"/>
            <a:ext cx="6317755" cy="523220"/>
          </a:xfrm>
          <a:prstGeom prst="rect">
            <a:avLst/>
          </a:prstGeom>
          <a:noFill/>
          <a:ln w="9525">
            <a:noFill/>
            <a:miter lim="800000"/>
          </a:ln>
        </p:spPr>
        <p:txBody>
          <a:bodyPr vert="horz" wrap="square" lIns="91440" tIns="45720" rIns="91440" bIns="45720" numCol="1" anchor="ctr" anchorCtr="0" compatLnSpc="1"/>
          <a:lstStyle/>
          <a:p>
            <a:pPr eaLnBrk="0" hangingPunct="0"/>
            <a:r>
              <a:rPr lang="zh-CN" altLang="en-US" sz="2800" b="1"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管理式入侵检测模型（</a:t>
            </a:r>
            <a:r>
              <a:rPr lang="en-US" altLang="zh-CN" sz="2800" b="1"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SNMP-IDSM</a:t>
            </a:r>
            <a:r>
              <a:rPr lang="zh-CN" altLang="en-US" sz="2800" b="1"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p:cNvSpPr>
            <a:spLocks noGrp="1" noRot="1" noChangeArrowheads="1"/>
          </p:cNvSpPr>
          <p:nvPr>
            <p:ph type="title" idx="4294967295"/>
          </p:nvPr>
        </p:nvSpPr>
        <p:spPr>
          <a:xfrm>
            <a:off x="395536" y="754197"/>
            <a:ext cx="6916014" cy="576362"/>
          </a:xfrm>
          <a:noFill/>
          <a:ln w="9525">
            <a:noFill/>
            <a:miter lim="800000"/>
          </a:ln>
        </p:spPr>
        <p:txBody>
          <a:bodyPr vert="horz" wrap="square" lIns="91440" tIns="45720" rIns="91440" bIns="45720" numCol="1" anchor="ctr" anchorCtr="0" compatLnSpc="1"/>
          <a:lstStyle/>
          <a:p>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管理式入侵检测模型（</a:t>
            </a:r>
            <a:r>
              <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SNMP-IDSM</a:t>
            </a:r>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 </a:t>
            </a:r>
          </a:p>
        </p:txBody>
      </p:sp>
      <p:sp>
        <p:nvSpPr>
          <p:cNvPr id="392195" name="Rectangle 3"/>
          <p:cNvSpPr>
            <a:spLocks noGrp="1" noRot="1" noChangeArrowheads="1"/>
          </p:cNvSpPr>
          <p:nvPr>
            <p:ph type="body" idx="4294967295"/>
          </p:nvPr>
        </p:nvSpPr>
        <p:spPr>
          <a:xfrm>
            <a:off x="500301" y="2456892"/>
            <a:ext cx="6303946" cy="1692188"/>
          </a:xfrm>
        </p:spPr>
        <p:txBody>
          <a:bodyPr/>
          <a:lstStyle/>
          <a:p>
            <a:pPr eaLnBrk="1" hangingPunct="1">
              <a:buFont typeface="Wingdings" panose="05000000000000000000" pitchFamily="2" charset="2"/>
              <a:buChar char="u"/>
            </a:pPr>
            <a:r>
              <a:rPr lang="zh-CN" altLang="en-US" sz="2400" b="1" dirty="0">
                <a:solidFill>
                  <a:srgbClr val="FF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问题：</a:t>
            </a:r>
            <a:r>
              <a:rPr lang="zh-CN" altLang="en-US" sz="2400" b="1" dirty="0">
                <a:solidFill>
                  <a:srgbClr val="00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不同</a:t>
            </a:r>
            <a:r>
              <a:rPr lang="en-US" altLang="zh-CN" sz="2400" b="1" dirty="0">
                <a:solidFill>
                  <a:srgbClr val="00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IDS</a:t>
            </a:r>
            <a:r>
              <a:rPr lang="zh-CN" altLang="en-US" sz="2400" b="1" dirty="0">
                <a:solidFill>
                  <a:srgbClr val="00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之间信息交换困难</a:t>
            </a:r>
          </a:p>
          <a:p>
            <a:pPr eaLnBrk="1" hangingPunct="1">
              <a:buFont typeface="Wingdings" panose="05000000000000000000" pitchFamily="2" charset="2"/>
              <a:buNone/>
            </a:pPr>
            <a:r>
              <a:rPr lang="en-US" altLang="zh-CN" sz="2400" b="1" dirty="0">
                <a:solidFill>
                  <a:srgbClr val="0033CC"/>
                </a:solidFill>
                <a:effectLst>
                  <a:outerShdw blurRad="38100" dist="38100" dir="2700000" algn="tl">
                    <a:srgbClr val="000000">
                      <a:alpha val="43137"/>
                    </a:srgbClr>
                  </a:outerShdw>
                </a:effectLst>
                <a:latin typeface="+mn-ea"/>
              </a:rPr>
              <a:t>  – </a:t>
            </a:r>
            <a:r>
              <a:rPr lang="zh-CN" altLang="en-US" sz="2400" b="1" dirty="0">
                <a:solidFill>
                  <a:srgbClr val="0033CC"/>
                </a:solidFill>
                <a:effectLst>
                  <a:outerShdw blurRad="38100" dist="38100" dir="2700000" algn="tl">
                    <a:srgbClr val="000000">
                      <a:alpha val="43137"/>
                    </a:srgbClr>
                  </a:outerShdw>
                </a:effectLst>
                <a:latin typeface="+mn-ea"/>
              </a:rPr>
              <a:t>数据格式？</a:t>
            </a:r>
          </a:p>
          <a:p>
            <a:pPr eaLnBrk="1" hangingPunct="1">
              <a:buFont typeface="Wingdings" panose="05000000000000000000" pitchFamily="2" charset="2"/>
              <a:buNone/>
            </a:pPr>
            <a:r>
              <a:rPr lang="en-US" altLang="zh-CN" sz="2400" b="1" dirty="0">
                <a:solidFill>
                  <a:srgbClr val="0033CC"/>
                </a:solidFill>
                <a:effectLst>
                  <a:outerShdw blurRad="38100" dist="38100" dir="2700000" algn="tl">
                    <a:srgbClr val="000000">
                      <a:alpha val="43137"/>
                    </a:srgbClr>
                  </a:outerShdw>
                </a:effectLst>
                <a:latin typeface="+mn-ea"/>
              </a:rPr>
              <a:t>  – </a:t>
            </a:r>
            <a:r>
              <a:rPr lang="zh-CN" altLang="en-US" sz="2400" b="1" dirty="0">
                <a:solidFill>
                  <a:srgbClr val="0033CC"/>
                </a:solidFill>
                <a:effectLst>
                  <a:outerShdw blurRad="38100" dist="38100" dir="2700000" algn="tl">
                    <a:srgbClr val="000000">
                      <a:alpha val="43137"/>
                    </a:srgbClr>
                  </a:outerShdw>
                </a:effectLst>
                <a:latin typeface="+mn-ea"/>
              </a:rPr>
              <a:t>语言？</a:t>
            </a:r>
          </a:p>
        </p:txBody>
      </p:sp>
      <p:sp>
        <p:nvSpPr>
          <p:cNvPr id="392196" name="Rectangle 4"/>
          <p:cNvSpPr>
            <a:spLocks noChangeArrowheads="1"/>
          </p:cNvSpPr>
          <p:nvPr/>
        </p:nvSpPr>
        <p:spPr bwMode="auto">
          <a:xfrm>
            <a:off x="2667000" y="433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b="0"/>
          </a:p>
        </p:txBody>
      </p:sp>
      <p:sp>
        <p:nvSpPr>
          <p:cNvPr id="2" name="矩形 1"/>
          <p:cNvSpPr/>
          <p:nvPr/>
        </p:nvSpPr>
        <p:spPr>
          <a:xfrm>
            <a:off x="500301" y="1801243"/>
            <a:ext cx="8032139" cy="461665"/>
          </a:xfrm>
          <a:prstGeom prst="rect">
            <a:avLst/>
          </a:prstGeom>
        </p:spPr>
        <p:txBody>
          <a:bodyPr wrap="square">
            <a:spAutoFit/>
          </a:bodyPr>
          <a:lstStyle/>
          <a:p>
            <a:pPr eaLnBrk="1" hangingPunct="1">
              <a:buFont typeface="Wingdings" panose="05000000000000000000" pitchFamily="2" charset="2"/>
              <a:buChar char="u"/>
            </a:pP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对于多个</a:t>
            </a:r>
            <a:r>
              <a:rPr lang="en-US" altLang="zh-CN"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IDS</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的协同工作，从</a:t>
            </a: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网络管理角度</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出发来建模 </a:t>
            </a:r>
          </a:p>
        </p:txBody>
      </p:sp>
      <p:sp>
        <p:nvSpPr>
          <p:cNvPr id="3" name="矩形 2"/>
          <p:cNvSpPr/>
          <p:nvPr/>
        </p:nvSpPr>
        <p:spPr>
          <a:xfrm>
            <a:off x="500300" y="3974622"/>
            <a:ext cx="8032139" cy="830997"/>
          </a:xfrm>
          <a:prstGeom prst="rect">
            <a:avLst/>
          </a:prstGeom>
        </p:spPr>
        <p:txBody>
          <a:bodyPr wrap="square">
            <a:spAutoFit/>
          </a:bodyPr>
          <a:lstStyle/>
          <a:p>
            <a:pPr marL="342900" indent="-342900">
              <a:buFont typeface="Wingdings" panose="05000000000000000000" pitchFamily="2" charset="2"/>
              <a:buChar char="u"/>
            </a:pPr>
            <a:r>
              <a:rPr lang="en-US" altLang="zh-CN"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SNMP-IDSM</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以</a:t>
            </a:r>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SNMP</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为公共语言来实现</a:t>
            </a:r>
            <a:r>
              <a:rPr lang="en-US" altLang="zh-CN"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IDS</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之间的消息交换和协同检测</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392195">
                                            <p:txEl>
                                              <p:pRg st="0" end="0"/>
                                            </p:txEl>
                                          </p:spTgt>
                                        </p:tgtEl>
                                        <p:attrNameLst>
                                          <p:attrName>style.visibility</p:attrName>
                                        </p:attrNameLst>
                                      </p:cBhvr>
                                      <p:to>
                                        <p:strVal val="visible"/>
                                      </p:to>
                                    </p:set>
                                    <p:animEffect transition="in" filter="blinds(horizontal)">
                                      <p:cBhvr>
                                        <p:cTn id="13" dur="500"/>
                                        <p:tgtEl>
                                          <p:spTgt spid="392195">
                                            <p:txEl>
                                              <p:pRg st="0" end="0"/>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92195">
                                            <p:txEl>
                                              <p:pRg st="1" end="1"/>
                                            </p:txEl>
                                          </p:spTgt>
                                        </p:tgtEl>
                                        <p:attrNameLst>
                                          <p:attrName>style.visibility</p:attrName>
                                        </p:attrNameLst>
                                      </p:cBhvr>
                                      <p:to>
                                        <p:strVal val="visible"/>
                                      </p:to>
                                    </p:set>
                                    <p:animEffect transition="in" filter="blinds(horizontal)">
                                      <p:cBhvr>
                                        <p:cTn id="16" dur="500"/>
                                        <p:tgtEl>
                                          <p:spTgt spid="392195">
                                            <p:txEl>
                                              <p:pRg st="1" end="1"/>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92195">
                                            <p:txEl>
                                              <p:pRg st="2" end="2"/>
                                            </p:txEl>
                                          </p:spTgt>
                                        </p:tgtEl>
                                        <p:attrNameLst>
                                          <p:attrName>style.visibility</p:attrName>
                                        </p:attrNameLst>
                                      </p:cBhvr>
                                      <p:to>
                                        <p:strVal val="visible"/>
                                      </p:to>
                                    </p:set>
                                    <p:animEffect transition="in" filter="blinds(horizontal)">
                                      <p:cBhvr>
                                        <p:cTn id="19" dur="500"/>
                                        <p:tgtEl>
                                          <p:spTgt spid="392195">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ppt_x"/>
                                          </p:val>
                                        </p:tav>
                                        <p:tav tm="100000">
                                          <p:val>
                                            <p:strVal val="#ppt_x"/>
                                          </p:val>
                                        </p:tav>
                                      </p:tavLst>
                                    </p:anim>
                                    <p:anim calcmode="lin" valueType="num">
                                      <p:cBhvr additive="base">
                                        <p:cTn id="2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2"/>
          <p:cNvSpPr>
            <a:spLocks noGrp="1" noRot="1" noChangeArrowheads="1"/>
          </p:cNvSpPr>
          <p:nvPr>
            <p:ph type="title" idx="4294967295"/>
          </p:nvPr>
        </p:nvSpPr>
        <p:spPr>
          <a:xfrm>
            <a:off x="539552" y="737918"/>
            <a:ext cx="4707533" cy="576362"/>
          </a:xfrm>
          <a:noFill/>
          <a:ln w="9525">
            <a:noFill/>
            <a:miter lim="800000"/>
          </a:ln>
        </p:spPr>
        <p:txBody>
          <a:bodyPr vert="horz" wrap="square" lIns="91440" tIns="45720" rIns="91440" bIns="45720" numCol="1" anchor="ctr" anchorCtr="0" compatLnSpc="1"/>
          <a:lstStyle/>
          <a:p>
            <a:r>
              <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SNMP-IDSM</a:t>
            </a:r>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概念</a:t>
            </a:r>
          </a:p>
        </p:txBody>
      </p:sp>
      <p:sp>
        <p:nvSpPr>
          <p:cNvPr id="393219" name="Rectangle 3"/>
          <p:cNvSpPr>
            <a:spLocks noGrp="1" noRot="1" noChangeArrowheads="1"/>
          </p:cNvSpPr>
          <p:nvPr>
            <p:ph type="body" idx="4294967295"/>
          </p:nvPr>
        </p:nvSpPr>
        <p:spPr>
          <a:xfrm>
            <a:off x="443252" y="3279689"/>
            <a:ext cx="7488832" cy="2402802"/>
          </a:xfrm>
        </p:spPr>
        <p:txBody>
          <a:bodyPr/>
          <a:lstStyle/>
          <a:p>
            <a:pPr eaLnBrk="1" hangingPunct="1">
              <a:buFont typeface="Wingdings" panose="05000000000000000000" pitchFamily="2" charset="2"/>
              <a:buChar char="u"/>
            </a:pPr>
            <a:r>
              <a:rPr lang="zh-CN" altLang="en-US" sz="2400" b="1" dirty="0">
                <a:solidFill>
                  <a:srgbClr val="FF0000"/>
                </a:solidFill>
                <a:latin typeface="Times New Roman" panose="02020603050405020304" pitchFamily="18" charset="0"/>
                <a:cs typeface="Times New Roman" panose="02020603050405020304" pitchFamily="18" charset="0"/>
              </a:rPr>
              <a:t>攻击事件描述：</a:t>
            </a:r>
            <a:r>
              <a:rPr lang="en-US" altLang="zh-CN" sz="2400" b="1" dirty="0">
                <a:solidFill>
                  <a:srgbClr val="0033CC"/>
                </a:solidFill>
                <a:latin typeface="Times New Roman" panose="02020603050405020304" pitchFamily="18" charset="0"/>
                <a:cs typeface="Times New Roman" panose="02020603050405020304" pitchFamily="18" charset="0"/>
              </a:rPr>
              <a:t>&lt;where, when, who, what, how&gt;</a:t>
            </a:r>
            <a:endParaRPr lang="zh-CN" altLang="en-US" sz="2400" b="1" dirty="0">
              <a:solidFill>
                <a:srgbClr val="0033CC"/>
              </a:solidFill>
              <a:latin typeface="Times New Roman" panose="02020603050405020304" pitchFamily="18" charset="0"/>
              <a:cs typeface="Times New Roman" panose="02020603050405020304" pitchFamily="18" charset="0"/>
            </a:endParaRPr>
          </a:p>
          <a:p>
            <a:pPr lvl="1" eaLnBrk="1" hangingPunct="1">
              <a:buClr>
                <a:schemeClr val="tx1"/>
              </a:buClr>
              <a:buFont typeface="Wingdings" panose="05000000000000000000" pitchFamily="2" charset="2"/>
              <a:buChar char="Ø"/>
            </a:pPr>
            <a:r>
              <a:rPr lang="en-US" altLang="zh-CN" sz="2000" b="1" dirty="0">
                <a:solidFill>
                  <a:srgbClr val="FF0000"/>
                </a:solidFill>
                <a:latin typeface="Times New Roman" panose="02020603050405020304" pitchFamily="18" charset="0"/>
                <a:cs typeface="Times New Roman" panose="02020603050405020304" pitchFamily="18" charset="0"/>
              </a:rPr>
              <a:t>Where: </a:t>
            </a:r>
            <a:r>
              <a:rPr lang="zh-CN" altLang="en-US" sz="2000" b="1" dirty="0">
                <a:solidFill>
                  <a:srgbClr val="000000"/>
                </a:solidFill>
                <a:latin typeface="Times New Roman" panose="02020603050405020304" pitchFamily="18" charset="0"/>
                <a:cs typeface="Times New Roman" panose="02020603050405020304" pitchFamily="18" charset="0"/>
              </a:rPr>
              <a:t>描述产生攻击的位置</a:t>
            </a:r>
          </a:p>
          <a:p>
            <a:pPr lvl="1" eaLnBrk="1" hangingPunct="1">
              <a:buClr>
                <a:schemeClr val="tx1"/>
              </a:buClr>
              <a:buFont typeface="Wingdings" panose="05000000000000000000" pitchFamily="2" charset="2"/>
              <a:buChar char="Ø"/>
            </a:pPr>
            <a:r>
              <a:rPr lang="en-US" altLang="zh-CN" sz="2000" b="1" dirty="0">
                <a:solidFill>
                  <a:srgbClr val="FF0000"/>
                </a:solidFill>
                <a:latin typeface="Times New Roman" panose="02020603050405020304" pitchFamily="18" charset="0"/>
                <a:cs typeface="Times New Roman" panose="02020603050405020304" pitchFamily="18" charset="0"/>
              </a:rPr>
              <a:t>When: </a:t>
            </a:r>
            <a:r>
              <a:rPr lang="zh-CN" altLang="en-US" sz="2000" b="1" dirty="0">
                <a:solidFill>
                  <a:srgbClr val="000000"/>
                </a:solidFill>
                <a:latin typeface="Times New Roman" panose="02020603050405020304" pitchFamily="18" charset="0"/>
                <a:cs typeface="Times New Roman" panose="02020603050405020304" pitchFamily="18" charset="0"/>
              </a:rPr>
              <a:t>用来描述事件的发生时间、终止时间、信息频度 </a:t>
            </a:r>
          </a:p>
          <a:p>
            <a:pPr lvl="1" eaLnBrk="1" hangingPunct="1">
              <a:buClr>
                <a:schemeClr val="tx1"/>
              </a:buClr>
              <a:buFont typeface="Wingdings" panose="05000000000000000000" pitchFamily="2" charset="2"/>
              <a:buChar char="Ø"/>
            </a:pPr>
            <a:r>
              <a:rPr lang="en-US" altLang="zh-CN" sz="2000" b="1" dirty="0">
                <a:solidFill>
                  <a:srgbClr val="FF0000"/>
                </a:solidFill>
                <a:latin typeface="Times New Roman" panose="02020603050405020304" pitchFamily="18" charset="0"/>
                <a:cs typeface="Times New Roman" panose="02020603050405020304" pitchFamily="18" charset="0"/>
              </a:rPr>
              <a:t>Who: </a:t>
            </a:r>
            <a:r>
              <a:rPr lang="zh-CN" altLang="en-US" sz="2000" b="1" dirty="0">
                <a:solidFill>
                  <a:srgbClr val="000000"/>
                </a:solidFill>
                <a:latin typeface="Times New Roman" panose="02020603050405020304" pitchFamily="18" charset="0"/>
                <a:cs typeface="Times New Roman" panose="02020603050405020304" pitchFamily="18" charset="0"/>
              </a:rPr>
              <a:t>表示</a:t>
            </a:r>
            <a:r>
              <a:rPr lang="en-US" altLang="zh-CN" sz="2000" b="1" dirty="0">
                <a:solidFill>
                  <a:srgbClr val="000000"/>
                </a:solidFill>
                <a:latin typeface="Times New Roman" panose="02020603050405020304" pitchFamily="18" charset="0"/>
                <a:cs typeface="Times New Roman" panose="02020603050405020304" pitchFamily="18" charset="0"/>
              </a:rPr>
              <a:t>IDS</a:t>
            </a:r>
            <a:r>
              <a:rPr lang="zh-CN" altLang="en-US" sz="2000" b="1" dirty="0">
                <a:solidFill>
                  <a:srgbClr val="000000"/>
                </a:solidFill>
                <a:latin typeface="Times New Roman" panose="02020603050405020304" pitchFamily="18" charset="0"/>
                <a:cs typeface="Times New Roman" panose="02020603050405020304" pitchFamily="18" charset="0"/>
              </a:rPr>
              <a:t>检测到的事件</a:t>
            </a:r>
          </a:p>
          <a:p>
            <a:pPr lvl="1" eaLnBrk="1" hangingPunct="1">
              <a:buClr>
                <a:schemeClr val="tx1"/>
              </a:buClr>
              <a:buFont typeface="Wingdings" panose="05000000000000000000" pitchFamily="2" charset="2"/>
              <a:buChar char="Ø"/>
            </a:pPr>
            <a:r>
              <a:rPr lang="en-US" altLang="zh-CN" sz="2000" b="1" dirty="0">
                <a:solidFill>
                  <a:srgbClr val="FF0000"/>
                </a:solidFill>
                <a:latin typeface="Times New Roman" panose="02020603050405020304" pitchFamily="18" charset="0"/>
                <a:cs typeface="Times New Roman" panose="02020603050405020304" pitchFamily="18" charset="0"/>
              </a:rPr>
              <a:t>What: </a:t>
            </a:r>
            <a:r>
              <a:rPr lang="zh-CN" altLang="en-US" sz="2000" b="1" dirty="0">
                <a:solidFill>
                  <a:srgbClr val="000000"/>
                </a:solidFill>
                <a:latin typeface="Times New Roman" panose="02020603050405020304" pitchFamily="18" charset="0"/>
                <a:cs typeface="Times New Roman" panose="02020603050405020304" pitchFamily="18" charset="0"/>
              </a:rPr>
              <a:t>记录详细信息，如协议类型、协议说明</a:t>
            </a:r>
          </a:p>
          <a:p>
            <a:pPr lvl="1" eaLnBrk="1" hangingPunct="1">
              <a:buClr>
                <a:schemeClr val="tx1"/>
              </a:buClr>
              <a:buFont typeface="Wingdings" panose="05000000000000000000" pitchFamily="2" charset="2"/>
              <a:buChar char="Ø"/>
            </a:pPr>
            <a:r>
              <a:rPr lang="en-US" altLang="zh-CN" sz="2000" b="1" dirty="0">
                <a:solidFill>
                  <a:srgbClr val="FF0000"/>
                </a:solidFill>
                <a:latin typeface="Times New Roman" panose="02020603050405020304" pitchFamily="18" charset="0"/>
                <a:cs typeface="Times New Roman" panose="02020603050405020304" pitchFamily="18" charset="0"/>
              </a:rPr>
              <a:t>How: </a:t>
            </a:r>
            <a:r>
              <a:rPr lang="zh-CN" altLang="en-US" sz="2000" b="1" dirty="0">
                <a:solidFill>
                  <a:srgbClr val="000000"/>
                </a:solidFill>
                <a:latin typeface="Times New Roman" panose="02020603050405020304" pitchFamily="18" charset="0"/>
                <a:cs typeface="Times New Roman" panose="02020603050405020304" pitchFamily="18" charset="0"/>
              </a:rPr>
              <a:t>用来连接原始事件和抽象事件</a:t>
            </a:r>
            <a:br>
              <a:rPr lang="zh-CN" altLang="en-US" sz="2400" b="1" dirty="0">
                <a:solidFill>
                  <a:srgbClr val="000000"/>
                </a:solidFill>
                <a:latin typeface="Times New Roman" panose="02020603050405020304" pitchFamily="18" charset="0"/>
                <a:cs typeface="Times New Roman" panose="02020603050405020304" pitchFamily="18" charset="0"/>
              </a:rPr>
            </a:br>
            <a:r>
              <a:rPr lang="zh-CN" altLang="en-US" sz="2400" b="1" dirty="0">
                <a:solidFill>
                  <a:srgbClr val="000000"/>
                </a:solidFill>
                <a:latin typeface="Times New Roman" panose="02020603050405020304" pitchFamily="18" charset="0"/>
                <a:cs typeface="Times New Roman" panose="02020603050405020304" pitchFamily="18" charset="0"/>
              </a:rPr>
              <a:t> </a:t>
            </a:r>
            <a:endParaRPr lang="en-US" altLang="zh-CN" sz="2400" b="1" dirty="0">
              <a:solidFill>
                <a:srgbClr val="000000"/>
              </a:solidFill>
              <a:latin typeface="Times New Roman" panose="02020603050405020304" pitchFamily="18" charset="0"/>
              <a:cs typeface="Times New Roman" panose="02020603050405020304" pitchFamily="18" charset="0"/>
            </a:endParaRPr>
          </a:p>
        </p:txBody>
      </p:sp>
      <p:sp>
        <p:nvSpPr>
          <p:cNvPr id="393220" name="Rectangle 4"/>
          <p:cNvSpPr>
            <a:spLocks noChangeArrowheads="1"/>
          </p:cNvSpPr>
          <p:nvPr/>
        </p:nvSpPr>
        <p:spPr bwMode="auto">
          <a:xfrm>
            <a:off x="2667000" y="433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b="0"/>
          </a:p>
        </p:txBody>
      </p:sp>
      <p:sp>
        <p:nvSpPr>
          <p:cNvPr id="2" name="矩形 1"/>
          <p:cNvSpPr/>
          <p:nvPr/>
        </p:nvSpPr>
        <p:spPr>
          <a:xfrm>
            <a:off x="431540" y="1463894"/>
            <a:ext cx="6984776" cy="461665"/>
          </a:xfrm>
          <a:prstGeom prst="rect">
            <a:avLst/>
          </a:prstGeom>
        </p:spPr>
        <p:txBody>
          <a:bodyPr wrap="square">
            <a:spAutoFit/>
          </a:bodyPr>
          <a:lstStyle/>
          <a:p>
            <a:pPr marL="285750" indent="-285750">
              <a:buFont typeface="Wingdings" panose="05000000000000000000" pitchFamily="2" charset="2"/>
              <a:buChar char="u"/>
            </a:pPr>
            <a:r>
              <a:rPr lang="zh-CN" altLang="en-US" sz="2400" b="1" dirty="0">
                <a:latin typeface="Times New Roman" panose="02020603050405020304" pitchFamily="18" charset="0"/>
                <a:ea typeface="+mn-ea"/>
                <a:cs typeface="Times New Roman" panose="02020603050405020304" pitchFamily="18" charset="0"/>
              </a:rPr>
              <a:t>定义了用来描述入侵事件的</a:t>
            </a:r>
            <a:r>
              <a:rPr lang="zh-CN" altLang="en-US" sz="2400" b="1" dirty="0">
                <a:solidFill>
                  <a:srgbClr val="FF0000"/>
                </a:solidFill>
                <a:latin typeface="Times New Roman" panose="02020603050405020304" pitchFamily="18" charset="0"/>
                <a:ea typeface="+mn-ea"/>
                <a:cs typeface="Times New Roman" panose="02020603050405020304" pitchFamily="18" charset="0"/>
              </a:rPr>
              <a:t>管理信息库（</a:t>
            </a:r>
            <a:r>
              <a:rPr lang="en-US" altLang="zh-CN" sz="2400" b="1" dirty="0">
                <a:solidFill>
                  <a:srgbClr val="FF0000"/>
                </a:solidFill>
                <a:latin typeface="Times New Roman" panose="02020603050405020304" pitchFamily="18" charset="0"/>
                <a:ea typeface="+mn-ea"/>
                <a:cs typeface="Times New Roman" panose="02020603050405020304" pitchFamily="18" charset="0"/>
              </a:rPr>
              <a:t>MIB</a:t>
            </a:r>
            <a:r>
              <a:rPr lang="zh-CN" altLang="en-US" sz="2400" b="1" dirty="0">
                <a:solidFill>
                  <a:srgbClr val="FF0000"/>
                </a:solidFill>
                <a:latin typeface="Times New Roman" panose="02020603050405020304" pitchFamily="18" charset="0"/>
                <a:ea typeface="+mn-ea"/>
                <a:cs typeface="Times New Roman" panose="02020603050405020304" pitchFamily="18" charset="0"/>
              </a:rPr>
              <a:t>） </a:t>
            </a:r>
          </a:p>
        </p:txBody>
      </p:sp>
      <p:sp>
        <p:nvSpPr>
          <p:cNvPr id="3" name="矩形 2"/>
          <p:cNvSpPr/>
          <p:nvPr/>
        </p:nvSpPr>
        <p:spPr>
          <a:xfrm>
            <a:off x="431540" y="2064015"/>
            <a:ext cx="8136904" cy="1077218"/>
          </a:xfrm>
          <a:prstGeom prst="rect">
            <a:avLst/>
          </a:prstGeom>
        </p:spPr>
        <p:txBody>
          <a:bodyPr wrap="square">
            <a:spAutoFit/>
          </a:bodyPr>
          <a:lstStyle/>
          <a:p>
            <a:pPr eaLnBrk="1" hangingPunct="1">
              <a:buFont typeface="Wingdings" panose="05000000000000000000" pitchFamily="2" charset="2"/>
              <a:buChar char="u"/>
            </a:pPr>
            <a:r>
              <a:rPr lang="zh-CN" altLang="en-US" sz="2400" b="1" dirty="0">
                <a:solidFill>
                  <a:srgbClr val="FF0000"/>
                </a:solidFill>
                <a:latin typeface="Times New Roman" panose="02020603050405020304" pitchFamily="18" charset="0"/>
                <a:ea typeface="+mn-ea"/>
                <a:cs typeface="Times New Roman" panose="02020603050405020304" pitchFamily="18" charset="0"/>
              </a:rPr>
              <a:t>入侵事件</a:t>
            </a:r>
            <a:r>
              <a:rPr lang="zh-CN" altLang="en-US" sz="2400" b="1" dirty="0">
                <a:solidFill>
                  <a:srgbClr val="000000"/>
                </a:solidFill>
                <a:latin typeface="Times New Roman" panose="02020603050405020304" pitchFamily="18" charset="0"/>
                <a:ea typeface="+mn-ea"/>
                <a:cs typeface="Times New Roman" panose="02020603050405020304" pitchFamily="18" charset="0"/>
              </a:rPr>
              <a:t>分类</a:t>
            </a:r>
          </a:p>
          <a:p>
            <a:pPr lvl="1" eaLnBrk="1" hangingPunct="1">
              <a:buClr>
                <a:schemeClr val="tx1"/>
              </a:buClr>
              <a:buFont typeface="Wingdings" panose="05000000000000000000" pitchFamily="2" charset="2"/>
              <a:buChar char="Ø"/>
            </a:pPr>
            <a:r>
              <a:rPr lang="zh-CN" altLang="en-US" sz="2000" b="1" dirty="0">
                <a:solidFill>
                  <a:srgbClr val="FF0000"/>
                </a:solidFill>
                <a:latin typeface="Times New Roman" panose="02020603050405020304" pitchFamily="18" charset="0"/>
                <a:ea typeface="+mn-ea"/>
                <a:cs typeface="Times New Roman" panose="02020603050405020304" pitchFamily="18" charset="0"/>
              </a:rPr>
              <a:t>原始事件：</a:t>
            </a:r>
            <a:r>
              <a:rPr lang="zh-CN" altLang="en-US" sz="2000" b="1" dirty="0">
                <a:solidFill>
                  <a:srgbClr val="000000"/>
                </a:solidFill>
                <a:latin typeface="Times New Roman" panose="02020603050405020304" pitchFamily="18" charset="0"/>
                <a:ea typeface="+mn-ea"/>
                <a:cs typeface="Times New Roman" panose="02020603050405020304" pitchFamily="18" charset="0"/>
              </a:rPr>
              <a:t>引起安全状态迁移的事件或表示单个变量偏移的事件</a:t>
            </a:r>
            <a:r>
              <a:rPr lang="zh-CN" altLang="en-US" sz="2000" b="1" dirty="0">
                <a:latin typeface="Times New Roman" panose="02020603050405020304" pitchFamily="18" charset="0"/>
                <a:ea typeface="+mn-ea"/>
                <a:cs typeface="Times New Roman" panose="02020603050405020304" pitchFamily="18" charset="0"/>
              </a:rPr>
              <a:t> </a:t>
            </a:r>
            <a:endParaRPr lang="zh-CN" altLang="en-US" sz="2000" b="1" dirty="0">
              <a:solidFill>
                <a:srgbClr val="000000"/>
              </a:solidFill>
              <a:latin typeface="Times New Roman" panose="02020603050405020304" pitchFamily="18" charset="0"/>
              <a:ea typeface="+mn-ea"/>
              <a:cs typeface="Times New Roman" panose="02020603050405020304" pitchFamily="18" charset="0"/>
            </a:endParaRPr>
          </a:p>
          <a:p>
            <a:pPr lvl="1" eaLnBrk="1" hangingPunct="1">
              <a:buClr>
                <a:schemeClr val="tx1"/>
              </a:buClr>
              <a:buFont typeface="Wingdings" panose="05000000000000000000" pitchFamily="2" charset="2"/>
              <a:buChar char="Ø"/>
            </a:pPr>
            <a:r>
              <a:rPr lang="zh-CN" altLang="en-US" sz="2000" b="1" dirty="0">
                <a:solidFill>
                  <a:srgbClr val="FF0000"/>
                </a:solidFill>
                <a:latin typeface="Times New Roman" panose="02020603050405020304" pitchFamily="18" charset="0"/>
                <a:ea typeface="+mn-ea"/>
                <a:cs typeface="Times New Roman" panose="02020603050405020304" pitchFamily="18" charset="0"/>
              </a:rPr>
              <a:t>抽象事件：</a:t>
            </a:r>
            <a:r>
              <a:rPr lang="zh-CN" altLang="en-US" sz="2000" b="1" dirty="0">
                <a:solidFill>
                  <a:srgbClr val="000000"/>
                </a:solidFill>
                <a:latin typeface="Times New Roman" panose="02020603050405020304" pitchFamily="18" charset="0"/>
                <a:ea typeface="+mn-ea"/>
                <a:cs typeface="Times New Roman" panose="02020603050405020304" pitchFamily="18" charset="0"/>
              </a:rPr>
              <a:t>分析原始事件所产生的事件</a:t>
            </a:r>
          </a:p>
        </p:txBody>
      </p:sp>
      <p:sp>
        <p:nvSpPr>
          <p:cNvPr id="4" name="文本框 3">
            <a:extLst>
              <a:ext uri="{FF2B5EF4-FFF2-40B4-BE49-F238E27FC236}">
                <a16:creationId xmlns:a16="http://schemas.microsoft.com/office/drawing/2014/main" id="{832A5847-7613-324B-BAAC-C198DA41D203}"/>
              </a:ext>
            </a:extLst>
          </p:cNvPr>
          <p:cNvSpPr txBox="1"/>
          <p:nvPr/>
        </p:nvSpPr>
        <p:spPr>
          <a:xfrm>
            <a:off x="827584" y="5761954"/>
            <a:ext cx="2095445" cy="369332"/>
          </a:xfrm>
          <a:prstGeom prst="rect">
            <a:avLst/>
          </a:prstGeom>
          <a:noFill/>
        </p:spPr>
        <p:txBody>
          <a:bodyPr wrap="none" rtlCol="0">
            <a:spAutoFit/>
          </a:bodyPr>
          <a:lstStyle/>
          <a:p>
            <a:r>
              <a:rPr kumimoji="1" lang="zh-CN" altLang="en-US" dirty="0"/>
              <a:t>类似威胁</a:t>
            </a:r>
            <a:r>
              <a:rPr kumimoji="1" lang="en-US" altLang="zh-CN" dirty="0"/>
              <a:t>/</a:t>
            </a:r>
            <a:r>
              <a:rPr kumimoji="1" lang="zh-CN" altLang="en-US" dirty="0"/>
              <a:t>漏洞报告</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up)">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393219">
                                            <p:txEl>
                                              <p:pRg st="0" end="0"/>
                                            </p:txEl>
                                          </p:spTgt>
                                        </p:tgtEl>
                                        <p:attrNameLst>
                                          <p:attrName>style.visibility</p:attrName>
                                        </p:attrNameLst>
                                      </p:cBhvr>
                                      <p:to>
                                        <p:strVal val="visible"/>
                                      </p:to>
                                    </p:set>
                                    <p:animEffect transition="in" filter="wipe(up)">
                                      <p:cBhvr>
                                        <p:cTn id="19" dur="500"/>
                                        <p:tgtEl>
                                          <p:spTgt spid="393219">
                                            <p:txEl>
                                              <p:pRg st="0" end="0"/>
                                            </p:txEl>
                                          </p:spTgt>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393219">
                                            <p:txEl>
                                              <p:pRg st="1" end="1"/>
                                            </p:txEl>
                                          </p:spTgt>
                                        </p:tgtEl>
                                        <p:attrNameLst>
                                          <p:attrName>style.visibility</p:attrName>
                                        </p:attrNameLst>
                                      </p:cBhvr>
                                      <p:to>
                                        <p:strVal val="visible"/>
                                      </p:to>
                                    </p:set>
                                    <p:animEffect transition="in" filter="wipe(up)">
                                      <p:cBhvr>
                                        <p:cTn id="22" dur="500"/>
                                        <p:tgtEl>
                                          <p:spTgt spid="393219">
                                            <p:txEl>
                                              <p:pRg st="1" end="1"/>
                                            </p:txEl>
                                          </p:spTgt>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393219">
                                            <p:txEl>
                                              <p:pRg st="2" end="2"/>
                                            </p:txEl>
                                          </p:spTgt>
                                        </p:tgtEl>
                                        <p:attrNameLst>
                                          <p:attrName>style.visibility</p:attrName>
                                        </p:attrNameLst>
                                      </p:cBhvr>
                                      <p:to>
                                        <p:strVal val="visible"/>
                                      </p:to>
                                    </p:set>
                                    <p:animEffect transition="in" filter="wipe(up)">
                                      <p:cBhvr>
                                        <p:cTn id="25" dur="500"/>
                                        <p:tgtEl>
                                          <p:spTgt spid="393219">
                                            <p:txEl>
                                              <p:pRg st="2" end="2"/>
                                            </p:txEl>
                                          </p:spTgt>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393219">
                                            <p:txEl>
                                              <p:pRg st="3" end="3"/>
                                            </p:txEl>
                                          </p:spTgt>
                                        </p:tgtEl>
                                        <p:attrNameLst>
                                          <p:attrName>style.visibility</p:attrName>
                                        </p:attrNameLst>
                                      </p:cBhvr>
                                      <p:to>
                                        <p:strVal val="visible"/>
                                      </p:to>
                                    </p:set>
                                    <p:animEffect transition="in" filter="wipe(up)">
                                      <p:cBhvr>
                                        <p:cTn id="28" dur="500"/>
                                        <p:tgtEl>
                                          <p:spTgt spid="393219">
                                            <p:txEl>
                                              <p:pRg st="3" end="3"/>
                                            </p:txEl>
                                          </p:spTgt>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393219">
                                            <p:txEl>
                                              <p:pRg st="4" end="4"/>
                                            </p:txEl>
                                          </p:spTgt>
                                        </p:tgtEl>
                                        <p:attrNameLst>
                                          <p:attrName>style.visibility</p:attrName>
                                        </p:attrNameLst>
                                      </p:cBhvr>
                                      <p:to>
                                        <p:strVal val="visible"/>
                                      </p:to>
                                    </p:set>
                                    <p:animEffect transition="in" filter="wipe(up)">
                                      <p:cBhvr>
                                        <p:cTn id="31" dur="500"/>
                                        <p:tgtEl>
                                          <p:spTgt spid="393219">
                                            <p:txEl>
                                              <p:pRg st="4" end="4"/>
                                            </p:txEl>
                                          </p:spTgt>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393219">
                                            <p:txEl>
                                              <p:pRg st="5" end="5"/>
                                            </p:txEl>
                                          </p:spTgt>
                                        </p:tgtEl>
                                        <p:attrNameLst>
                                          <p:attrName>style.visibility</p:attrName>
                                        </p:attrNameLst>
                                      </p:cBhvr>
                                      <p:to>
                                        <p:strVal val="visible"/>
                                      </p:to>
                                    </p:set>
                                    <p:animEffect transition="in" filter="wipe(up)">
                                      <p:cBhvr>
                                        <p:cTn id="34" dur="500"/>
                                        <p:tgtEl>
                                          <p:spTgt spid="3932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3219" grpId="0" build="p"/>
      <p:bldP spid="2" grpId="0"/>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Rot="1" noChangeArrowheads="1"/>
          </p:cNvSpPr>
          <p:nvPr>
            <p:ph type="title" idx="4294967295"/>
          </p:nvPr>
        </p:nvSpPr>
        <p:spPr>
          <a:xfrm>
            <a:off x="500062" y="728700"/>
            <a:ext cx="4792018" cy="545338"/>
          </a:xfrm>
          <a:noFill/>
          <a:ln w="9525">
            <a:noFill/>
            <a:miter lim="800000"/>
          </a:ln>
        </p:spPr>
        <p:txBody>
          <a:bodyPr vert="horz" wrap="square" lIns="91440" tIns="45720" rIns="91440" bIns="45720" numCol="1" anchor="ctr" anchorCtr="0" compatLnSpc="1"/>
          <a:lstStyle/>
          <a:p>
            <a:r>
              <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SNMP-IDSM</a:t>
            </a:r>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工作原理</a:t>
            </a:r>
          </a:p>
        </p:txBody>
      </p:sp>
      <p:sp>
        <p:nvSpPr>
          <p:cNvPr id="395267" name="Rectangle 3"/>
          <p:cNvSpPr>
            <a:spLocks noGrp="1" noRot="1" noChangeArrowheads="1"/>
          </p:cNvSpPr>
          <p:nvPr>
            <p:ph type="body" idx="4294967295"/>
          </p:nvPr>
        </p:nvSpPr>
        <p:spPr>
          <a:xfrm>
            <a:off x="1079612" y="4005064"/>
            <a:ext cx="7128792" cy="2159000"/>
          </a:xfrm>
        </p:spPr>
        <p:txBody>
          <a:bodyPr/>
          <a:lstStyle/>
          <a:p>
            <a:pPr eaLnBrk="1" hangingPunct="1">
              <a:buFont typeface="Wingdings" panose="05000000000000000000" pitchFamily="2" charset="2"/>
              <a:buChar char="u"/>
            </a:pPr>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IDS B</a:t>
            </a: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监视主机</a:t>
            </a:r>
            <a:r>
              <a:rPr lang="en-US" altLang="zh-CN"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、请求最新</a:t>
            </a:r>
            <a:r>
              <a:rPr lang="en-US" altLang="zh-CN"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IDS</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事件 </a:t>
            </a:r>
          </a:p>
          <a:p>
            <a:pPr eaLnBrk="1" hangingPunct="1">
              <a:buFont typeface="Wingdings" panose="05000000000000000000" pitchFamily="2" charset="2"/>
              <a:buChar char="u"/>
            </a:pPr>
            <a:r>
              <a:rPr lang="en-US" altLang="zh-CN"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IDS A</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观察到一个来自主机</a:t>
            </a:r>
            <a:r>
              <a:rPr lang="en-US" altLang="zh-CN"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的攻击企图：</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buClr>
                <a:schemeClr val="tx1"/>
              </a:buClr>
              <a:buFont typeface="Wingdings" panose="05000000000000000000" pitchFamily="2" charset="2"/>
              <a:buChar char="p"/>
            </a:pPr>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IDS A</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与</a:t>
            </a:r>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IDS B</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联系； </a:t>
            </a:r>
          </a:p>
          <a:p>
            <a:pPr lvl="1" eaLnBrk="1" hangingPunct="1">
              <a:buClr>
                <a:schemeClr val="tx1"/>
              </a:buClr>
              <a:buFont typeface="Wingdings" panose="05000000000000000000" pitchFamily="2" charset="2"/>
              <a:buChar char="p"/>
            </a:pPr>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IDS B</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响应</a:t>
            </a:r>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IDS A</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的请求； </a:t>
            </a:r>
          </a:p>
          <a:p>
            <a:pPr lvl="1" eaLnBrk="1" hangingPunct="1">
              <a:buClr>
                <a:schemeClr val="tx1"/>
              </a:buClr>
              <a:buFont typeface="Wingdings" panose="05000000000000000000" pitchFamily="2" charset="2"/>
              <a:buChar char="p"/>
            </a:pPr>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IDS B</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发布异常活动事件； </a:t>
            </a:r>
            <a:endParaRPr lang="en-US" altLang="zh-CN"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95268" name="Rectangle 4"/>
          <p:cNvSpPr>
            <a:spLocks noChangeArrowheads="1"/>
          </p:cNvSpPr>
          <p:nvPr/>
        </p:nvSpPr>
        <p:spPr bwMode="auto">
          <a:xfrm>
            <a:off x="2667000" y="433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b="0"/>
          </a:p>
        </p:txBody>
      </p:sp>
      <p:pic>
        <p:nvPicPr>
          <p:cNvPr id="39526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1400517"/>
            <a:ext cx="7451725" cy="24122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395269"/>
                                        </p:tgtEl>
                                        <p:attrNameLst>
                                          <p:attrName>style.visibility</p:attrName>
                                        </p:attrNameLst>
                                      </p:cBhvr>
                                      <p:to>
                                        <p:strVal val="visible"/>
                                      </p:to>
                                    </p:set>
                                    <p:anim calcmode="lin" valueType="num">
                                      <p:cBhvr>
                                        <p:cTn id="7" dur="1000" fill="hold"/>
                                        <p:tgtEl>
                                          <p:spTgt spid="395269"/>
                                        </p:tgtEl>
                                        <p:attrNameLst>
                                          <p:attrName>ppt_w</p:attrName>
                                        </p:attrNameLst>
                                      </p:cBhvr>
                                      <p:tavLst>
                                        <p:tav tm="0">
                                          <p:val>
                                            <p:fltVal val="0"/>
                                          </p:val>
                                        </p:tav>
                                        <p:tav tm="100000">
                                          <p:val>
                                            <p:strVal val="#ppt_w"/>
                                          </p:val>
                                        </p:tav>
                                      </p:tavLst>
                                    </p:anim>
                                    <p:anim calcmode="lin" valueType="num">
                                      <p:cBhvr>
                                        <p:cTn id="8" dur="1000" fill="hold"/>
                                        <p:tgtEl>
                                          <p:spTgt spid="395269"/>
                                        </p:tgtEl>
                                        <p:attrNameLst>
                                          <p:attrName>ppt_h</p:attrName>
                                        </p:attrNameLst>
                                      </p:cBhvr>
                                      <p:tavLst>
                                        <p:tav tm="0">
                                          <p:val>
                                            <p:fltVal val="0"/>
                                          </p:val>
                                        </p:tav>
                                        <p:tav tm="100000">
                                          <p:val>
                                            <p:strVal val="#ppt_h"/>
                                          </p:val>
                                        </p:tav>
                                      </p:tavLst>
                                    </p:anim>
                                    <p:anim calcmode="lin" valueType="num">
                                      <p:cBhvr>
                                        <p:cTn id="9" dur="1000" fill="hold"/>
                                        <p:tgtEl>
                                          <p:spTgt spid="395269"/>
                                        </p:tgtEl>
                                        <p:attrNameLst>
                                          <p:attrName>style.rotation</p:attrName>
                                        </p:attrNameLst>
                                      </p:cBhvr>
                                      <p:tavLst>
                                        <p:tav tm="0">
                                          <p:val>
                                            <p:fltVal val="90"/>
                                          </p:val>
                                        </p:tav>
                                        <p:tav tm="100000">
                                          <p:val>
                                            <p:fltVal val="0"/>
                                          </p:val>
                                        </p:tav>
                                      </p:tavLst>
                                    </p:anim>
                                    <p:animEffect transition="in" filter="fade">
                                      <p:cBhvr>
                                        <p:cTn id="10" dur="1000"/>
                                        <p:tgtEl>
                                          <p:spTgt spid="39526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395267">
                                            <p:txEl>
                                              <p:pRg st="0" end="0"/>
                                            </p:txEl>
                                          </p:spTgt>
                                        </p:tgtEl>
                                        <p:attrNameLst>
                                          <p:attrName>style.visibility</p:attrName>
                                        </p:attrNameLst>
                                      </p:cBhvr>
                                      <p:to>
                                        <p:strVal val="visible"/>
                                      </p:to>
                                    </p:set>
                                    <p:animEffect transition="in" filter="wipe(up)">
                                      <p:cBhvr>
                                        <p:cTn id="15" dur="500"/>
                                        <p:tgtEl>
                                          <p:spTgt spid="39526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395267">
                                            <p:txEl>
                                              <p:pRg st="1" end="1"/>
                                            </p:txEl>
                                          </p:spTgt>
                                        </p:tgtEl>
                                        <p:attrNameLst>
                                          <p:attrName>style.visibility</p:attrName>
                                        </p:attrNameLst>
                                      </p:cBhvr>
                                      <p:to>
                                        <p:strVal val="visible"/>
                                      </p:to>
                                    </p:set>
                                    <p:animEffect transition="in" filter="wipe(up)">
                                      <p:cBhvr>
                                        <p:cTn id="20" dur="500"/>
                                        <p:tgtEl>
                                          <p:spTgt spid="395267">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395267">
                                            <p:txEl>
                                              <p:pRg st="2" end="2"/>
                                            </p:txEl>
                                          </p:spTgt>
                                        </p:tgtEl>
                                        <p:attrNameLst>
                                          <p:attrName>style.visibility</p:attrName>
                                        </p:attrNameLst>
                                      </p:cBhvr>
                                      <p:to>
                                        <p:strVal val="visible"/>
                                      </p:to>
                                    </p:set>
                                    <p:animEffect transition="in" filter="wipe(up)">
                                      <p:cBhvr>
                                        <p:cTn id="25" dur="500"/>
                                        <p:tgtEl>
                                          <p:spTgt spid="395267">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395267">
                                            <p:txEl>
                                              <p:pRg st="3" end="3"/>
                                            </p:txEl>
                                          </p:spTgt>
                                        </p:tgtEl>
                                        <p:attrNameLst>
                                          <p:attrName>style.visibility</p:attrName>
                                        </p:attrNameLst>
                                      </p:cBhvr>
                                      <p:to>
                                        <p:strVal val="visible"/>
                                      </p:to>
                                    </p:set>
                                    <p:animEffect transition="in" filter="wipe(up)">
                                      <p:cBhvr>
                                        <p:cTn id="30" dur="500"/>
                                        <p:tgtEl>
                                          <p:spTgt spid="395267">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395267">
                                            <p:txEl>
                                              <p:pRg st="4" end="4"/>
                                            </p:txEl>
                                          </p:spTgt>
                                        </p:tgtEl>
                                        <p:attrNameLst>
                                          <p:attrName>style.visibility</p:attrName>
                                        </p:attrNameLst>
                                      </p:cBhvr>
                                      <p:to>
                                        <p:strVal val="visible"/>
                                      </p:to>
                                    </p:set>
                                    <p:animEffect transition="in" filter="wipe(up)">
                                      <p:cBhvr>
                                        <p:cTn id="35" dur="500"/>
                                        <p:tgtEl>
                                          <p:spTgt spid="39526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67"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Rot="1" noChangeArrowheads="1"/>
          </p:cNvSpPr>
          <p:nvPr>
            <p:ph type="title" idx="4294967295"/>
          </p:nvPr>
        </p:nvSpPr>
        <p:spPr>
          <a:xfrm>
            <a:off x="467544" y="785265"/>
            <a:ext cx="4503985" cy="494630"/>
          </a:xfrm>
          <a:noFill/>
          <a:ln w="9525">
            <a:noFill/>
            <a:miter lim="800000"/>
          </a:ln>
        </p:spPr>
        <p:txBody>
          <a:bodyPr vert="horz" wrap="square" lIns="91440" tIns="45720" rIns="91440" bIns="45720" numCol="1" anchor="ctr" anchorCtr="0" compatLnSpc="1"/>
          <a:lstStyle/>
          <a:p>
            <a:r>
              <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SNMP-IDSM</a:t>
            </a:r>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工作原理</a:t>
            </a:r>
          </a:p>
        </p:txBody>
      </p:sp>
      <p:sp>
        <p:nvSpPr>
          <p:cNvPr id="396291" name="Rectangle 3"/>
          <p:cNvSpPr>
            <a:spLocks noGrp="1" noRot="1" noChangeArrowheads="1"/>
          </p:cNvSpPr>
          <p:nvPr>
            <p:ph type="body" idx="4294967295"/>
          </p:nvPr>
        </p:nvSpPr>
        <p:spPr>
          <a:xfrm>
            <a:off x="467544" y="4221088"/>
            <a:ext cx="8512175" cy="1764196"/>
          </a:xfrm>
        </p:spPr>
        <p:txBody>
          <a:bodyPr/>
          <a:lstStyle/>
          <a:p>
            <a:pPr eaLnBrk="1" hangingPunct="1">
              <a:buFont typeface="Wingdings" panose="05000000000000000000" pitchFamily="2" charset="2"/>
              <a:buChar char="u"/>
            </a:pPr>
            <a:r>
              <a:rPr lang="en-US" altLang="zh-CN"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IDS A</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观察到一个来自主机</a:t>
            </a:r>
            <a:r>
              <a:rPr lang="en-US" altLang="zh-CN"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B</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的攻击企图：</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endParaRPr>
          </a:p>
          <a:p>
            <a:pPr lvl="1" eaLnBrk="1" hangingPunct="1">
              <a:buClr>
                <a:schemeClr val="tx1"/>
              </a:buClr>
              <a:buFont typeface="Wingdings" panose="05000000000000000000" pitchFamily="2" charset="2"/>
              <a:buChar char="p"/>
            </a:pPr>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IDS A</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使用</a:t>
            </a:r>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MIB</a:t>
            </a: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脚本</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发送代码给</a:t>
            </a:r>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IDS B</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，用于收集主机</a:t>
            </a:r>
            <a:r>
              <a:rPr lang="en-US" altLang="zh-CN"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B</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的网络活动和用户活动信息； </a:t>
            </a:r>
          </a:p>
          <a:p>
            <a:pPr lvl="1" eaLnBrk="1" hangingPunct="1">
              <a:buClr>
                <a:schemeClr val="tx1"/>
              </a:buClr>
              <a:buFont typeface="Wingdings" panose="05000000000000000000" pitchFamily="2" charset="2"/>
              <a:buChar char="p"/>
            </a:pPr>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IDS A</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根据所收集的信息进行入侵分析。</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96292" name="Rectangle 4"/>
          <p:cNvSpPr>
            <a:spLocks noChangeArrowheads="1"/>
          </p:cNvSpPr>
          <p:nvPr/>
        </p:nvSpPr>
        <p:spPr bwMode="auto">
          <a:xfrm>
            <a:off x="2667000" y="433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b="0"/>
          </a:p>
        </p:txBody>
      </p:sp>
      <p:pic>
        <p:nvPicPr>
          <p:cNvPr id="39629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1412875"/>
            <a:ext cx="7560840" cy="259218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396294"/>
                                        </p:tgtEl>
                                        <p:attrNameLst>
                                          <p:attrName>style.visibility</p:attrName>
                                        </p:attrNameLst>
                                      </p:cBhvr>
                                      <p:to>
                                        <p:strVal val="visible"/>
                                      </p:to>
                                    </p:set>
                                    <p:anim calcmode="lin" valueType="num">
                                      <p:cBhvr>
                                        <p:cTn id="7" dur="1000" fill="hold"/>
                                        <p:tgtEl>
                                          <p:spTgt spid="396294"/>
                                        </p:tgtEl>
                                        <p:attrNameLst>
                                          <p:attrName>ppt_w</p:attrName>
                                        </p:attrNameLst>
                                      </p:cBhvr>
                                      <p:tavLst>
                                        <p:tav tm="0">
                                          <p:val>
                                            <p:fltVal val="0"/>
                                          </p:val>
                                        </p:tav>
                                        <p:tav tm="100000">
                                          <p:val>
                                            <p:strVal val="#ppt_w"/>
                                          </p:val>
                                        </p:tav>
                                      </p:tavLst>
                                    </p:anim>
                                    <p:anim calcmode="lin" valueType="num">
                                      <p:cBhvr>
                                        <p:cTn id="8" dur="1000" fill="hold"/>
                                        <p:tgtEl>
                                          <p:spTgt spid="396294"/>
                                        </p:tgtEl>
                                        <p:attrNameLst>
                                          <p:attrName>ppt_h</p:attrName>
                                        </p:attrNameLst>
                                      </p:cBhvr>
                                      <p:tavLst>
                                        <p:tav tm="0">
                                          <p:val>
                                            <p:fltVal val="0"/>
                                          </p:val>
                                        </p:tav>
                                        <p:tav tm="100000">
                                          <p:val>
                                            <p:strVal val="#ppt_h"/>
                                          </p:val>
                                        </p:tav>
                                      </p:tavLst>
                                    </p:anim>
                                    <p:anim calcmode="lin" valueType="num">
                                      <p:cBhvr>
                                        <p:cTn id="9" dur="1000" fill="hold"/>
                                        <p:tgtEl>
                                          <p:spTgt spid="396294"/>
                                        </p:tgtEl>
                                        <p:attrNameLst>
                                          <p:attrName>style.rotation</p:attrName>
                                        </p:attrNameLst>
                                      </p:cBhvr>
                                      <p:tavLst>
                                        <p:tav tm="0">
                                          <p:val>
                                            <p:fltVal val="90"/>
                                          </p:val>
                                        </p:tav>
                                        <p:tav tm="100000">
                                          <p:val>
                                            <p:fltVal val="0"/>
                                          </p:val>
                                        </p:tav>
                                      </p:tavLst>
                                    </p:anim>
                                    <p:animEffect transition="in" filter="fade">
                                      <p:cBhvr>
                                        <p:cTn id="10" dur="1000"/>
                                        <p:tgtEl>
                                          <p:spTgt spid="39629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396291">
                                            <p:txEl>
                                              <p:pRg st="0" end="0"/>
                                            </p:txEl>
                                          </p:spTgt>
                                        </p:tgtEl>
                                        <p:attrNameLst>
                                          <p:attrName>style.visibility</p:attrName>
                                        </p:attrNameLst>
                                      </p:cBhvr>
                                      <p:to>
                                        <p:strVal val="visible"/>
                                      </p:to>
                                    </p:set>
                                    <p:animEffect transition="in" filter="wipe(up)">
                                      <p:cBhvr>
                                        <p:cTn id="15" dur="500"/>
                                        <p:tgtEl>
                                          <p:spTgt spid="396291">
                                            <p:txEl>
                                              <p:pRg st="0" end="0"/>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396291">
                                            <p:txEl>
                                              <p:pRg st="1" end="1"/>
                                            </p:txEl>
                                          </p:spTgt>
                                        </p:tgtEl>
                                        <p:attrNameLst>
                                          <p:attrName>style.visibility</p:attrName>
                                        </p:attrNameLst>
                                      </p:cBhvr>
                                      <p:to>
                                        <p:strVal val="visible"/>
                                      </p:to>
                                    </p:set>
                                    <p:animEffect transition="in" filter="wipe(up)">
                                      <p:cBhvr>
                                        <p:cTn id="18" dur="500"/>
                                        <p:tgtEl>
                                          <p:spTgt spid="396291">
                                            <p:txEl>
                                              <p:pRg st="1" end="1"/>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396291">
                                            <p:txEl>
                                              <p:pRg st="2" end="2"/>
                                            </p:txEl>
                                          </p:spTgt>
                                        </p:tgtEl>
                                        <p:attrNameLst>
                                          <p:attrName>style.visibility</p:attrName>
                                        </p:attrNameLst>
                                      </p:cBhvr>
                                      <p:to>
                                        <p:strVal val="visible"/>
                                      </p:to>
                                    </p:set>
                                    <p:animEffect transition="in" filter="wipe(up)">
                                      <p:cBhvr>
                                        <p:cTn id="21" dur="500"/>
                                        <p:tgtEl>
                                          <p:spTgt spid="39629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6291"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64" name="Group 18"/>
          <p:cNvGrpSpPr/>
          <p:nvPr/>
        </p:nvGrpSpPr>
        <p:grpSpPr bwMode="auto">
          <a:xfrm>
            <a:off x="1556971" y="1694389"/>
            <a:ext cx="5688012" cy="3168650"/>
            <a:chOff x="839" y="1162"/>
            <a:chExt cx="3583" cy="1996"/>
          </a:xfrm>
        </p:grpSpPr>
        <p:sp>
          <p:nvSpPr>
            <p:cNvPr id="15370" name="Rectangle 5"/>
            <p:cNvSpPr>
              <a:spLocks noChangeArrowheads="1"/>
            </p:cNvSpPr>
            <p:nvPr/>
          </p:nvSpPr>
          <p:spPr bwMode="auto">
            <a:xfrm>
              <a:off x="839" y="1162"/>
              <a:ext cx="453" cy="1996"/>
            </a:xfrm>
            <a:prstGeom prst="rect">
              <a:avLst/>
            </a:prstGeom>
            <a:solidFill>
              <a:srgbClr val="92D050"/>
            </a:solidFill>
            <a:ln w="12700">
              <a:solidFill>
                <a:schemeClr val="tx1"/>
              </a:solidFill>
              <a:miter lim="800000"/>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a:r>
                <a:rPr lang="zh-CN" altLang="en-US" sz="2000" b="1">
                  <a:effectLst>
                    <a:outerShdw blurRad="38100" dist="38100" dir="2700000" algn="tl">
                      <a:srgbClr val="000000">
                        <a:alpha val="43137"/>
                      </a:srgbClr>
                    </a:outerShdw>
                  </a:effectLst>
                </a:rPr>
                <a:t>主机</a:t>
              </a:r>
            </a:p>
            <a:p>
              <a:pPr algn="ctr"/>
              <a:r>
                <a:rPr lang="en-US" altLang="zh-CN" sz="2000" b="1">
                  <a:effectLst>
                    <a:outerShdw blurRad="38100" dist="38100" dir="2700000" algn="tl">
                      <a:srgbClr val="000000">
                        <a:alpha val="43137"/>
                      </a:srgbClr>
                    </a:outerShdw>
                  </a:effectLst>
                </a:rPr>
                <a:t>A</a:t>
              </a:r>
            </a:p>
          </p:txBody>
        </p:sp>
        <p:sp>
          <p:nvSpPr>
            <p:cNvPr id="15371" name="Rectangle 6"/>
            <p:cNvSpPr>
              <a:spLocks noChangeArrowheads="1"/>
            </p:cNvSpPr>
            <p:nvPr/>
          </p:nvSpPr>
          <p:spPr bwMode="auto">
            <a:xfrm>
              <a:off x="3969" y="1162"/>
              <a:ext cx="453" cy="1996"/>
            </a:xfrm>
            <a:prstGeom prst="rect">
              <a:avLst/>
            </a:prstGeom>
            <a:solidFill>
              <a:srgbClr val="92D050"/>
            </a:solidFill>
            <a:ln w="12700">
              <a:solidFill>
                <a:schemeClr val="tx1"/>
              </a:solidFill>
              <a:miter lim="800000"/>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a:r>
                <a:rPr lang="zh-CN" altLang="en-US" sz="2000" b="1">
                  <a:effectLst>
                    <a:outerShdw blurRad="38100" dist="38100" dir="2700000" algn="tl">
                      <a:srgbClr val="000000">
                        <a:alpha val="43137"/>
                      </a:srgbClr>
                    </a:outerShdw>
                  </a:effectLst>
                </a:rPr>
                <a:t>主机</a:t>
              </a:r>
            </a:p>
            <a:p>
              <a:pPr algn="ctr"/>
              <a:r>
                <a:rPr lang="en-US" altLang="zh-CN" sz="2000" b="1">
                  <a:effectLst>
                    <a:outerShdw blurRad="38100" dist="38100" dir="2700000" algn="tl">
                      <a:srgbClr val="000000">
                        <a:alpha val="43137"/>
                      </a:srgbClr>
                    </a:outerShdw>
                  </a:effectLst>
                </a:rPr>
                <a:t>B</a:t>
              </a:r>
            </a:p>
          </p:txBody>
        </p:sp>
        <p:sp>
          <p:nvSpPr>
            <p:cNvPr id="15372" name="Rectangle 7"/>
            <p:cNvSpPr>
              <a:spLocks noChangeArrowheads="1"/>
            </p:cNvSpPr>
            <p:nvPr/>
          </p:nvSpPr>
          <p:spPr bwMode="auto">
            <a:xfrm>
              <a:off x="1292" y="1434"/>
              <a:ext cx="273" cy="1452"/>
            </a:xfrm>
            <a:prstGeom prst="rect">
              <a:avLst/>
            </a:prstGeom>
            <a:solidFill>
              <a:srgbClr val="FFFF00"/>
            </a:solidFill>
            <a:ln w="12700">
              <a:solidFill>
                <a:schemeClr val="tx1"/>
              </a:solidFill>
              <a:miter lim="800000"/>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a:r>
                <a:rPr lang="en-US" altLang="zh-CN" sz="2000" b="1">
                  <a:effectLst>
                    <a:outerShdw blurRad="38100" dist="38100" dir="2700000" algn="tl">
                      <a:srgbClr val="000000">
                        <a:alpha val="43137"/>
                      </a:srgbClr>
                    </a:outerShdw>
                  </a:effectLst>
                </a:rPr>
                <a:t>I</a:t>
              </a:r>
            </a:p>
            <a:p>
              <a:pPr algn="ctr"/>
              <a:r>
                <a:rPr lang="en-US" altLang="zh-CN" sz="2000" b="1">
                  <a:effectLst>
                    <a:outerShdw blurRad="38100" dist="38100" dir="2700000" algn="tl">
                      <a:srgbClr val="000000">
                        <a:alpha val="43137"/>
                      </a:srgbClr>
                    </a:outerShdw>
                  </a:effectLst>
                </a:rPr>
                <a:t>D</a:t>
              </a:r>
            </a:p>
            <a:p>
              <a:pPr algn="ctr"/>
              <a:r>
                <a:rPr lang="en-US" altLang="zh-CN" sz="2000" b="1">
                  <a:effectLst>
                    <a:outerShdw blurRad="38100" dist="38100" dir="2700000" algn="tl">
                      <a:srgbClr val="000000">
                        <a:alpha val="43137"/>
                      </a:srgbClr>
                    </a:outerShdw>
                  </a:effectLst>
                </a:rPr>
                <a:t>S</a:t>
              </a:r>
            </a:p>
            <a:p>
              <a:pPr algn="ctr"/>
              <a:r>
                <a:rPr lang="en-US" altLang="zh-CN" sz="2000" b="1">
                  <a:effectLst>
                    <a:outerShdw blurRad="38100" dist="38100" dir="2700000" algn="tl">
                      <a:srgbClr val="000000">
                        <a:alpha val="43137"/>
                      </a:srgbClr>
                    </a:outerShdw>
                  </a:effectLst>
                </a:rPr>
                <a:t>A</a:t>
              </a:r>
            </a:p>
          </p:txBody>
        </p:sp>
        <p:sp>
          <p:nvSpPr>
            <p:cNvPr id="15373" name="Rectangle 9"/>
            <p:cNvSpPr>
              <a:spLocks noChangeArrowheads="1"/>
            </p:cNvSpPr>
            <p:nvPr/>
          </p:nvSpPr>
          <p:spPr bwMode="auto">
            <a:xfrm>
              <a:off x="3696" y="1434"/>
              <a:ext cx="273" cy="1452"/>
            </a:xfrm>
            <a:prstGeom prst="rect">
              <a:avLst/>
            </a:prstGeom>
            <a:solidFill>
              <a:srgbClr val="FFFF00"/>
            </a:solidFill>
            <a:ln w="12700">
              <a:solidFill>
                <a:schemeClr val="tx1"/>
              </a:solidFill>
              <a:miter lim="800000"/>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a:r>
                <a:rPr lang="en-US" altLang="zh-CN" sz="2000" b="1">
                  <a:effectLst>
                    <a:outerShdw blurRad="38100" dist="38100" dir="2700000" algn="tl">
                      <a:srgbClr val="000000">
                        <a:alpha val="43137"/>
                      </a:srgbClr>
                    </a:outerShdw>
                  </a:effectLst>
                </a:rPr>
                <a:t>I</a:t>
              </a:r>
            </a:p>
            <a:p>
              <a:pPr algn="ctr"/>
              <a:r>
                <a:rPr lang="en-US" altLang="zh-CN" sz="2000" b="1">
                  <a:effectLst>
                    <a:outerShdw blurRad="38100" dist="38100" dir="2700000" algn="tl">
                      <a:srgbClr val="000000">
                        <a:alpha val="43137"/>
                      </a:srgbClr>
                    </a:outerShdw>
                  </a:effectLst>
                </a:rPr>
                <a:t>D</a:t>
              </a:r>
            </a:p>
            <a:p>
              <a:pPr algn="ctr"/>
              <a:r>
                <a:rPr lang="en-US" altLang="zh-CN" sz="2000" b="1">
                  <a:effectLst>
                    <a:outerShdw blurRad="38100" dist="38100" dir="2700000" algn="tl">
                      <a:srgbClr val="000000">
                        <a:alpha val="43137"/>
                      </a:srgbClr>
                    </a:outerShdw>
                  </a:effectLst>
                </a:rPr>
                <a:t>S</a:t>
              </a:r>
            </a:p>
            <a:p>
              <a:pPr algn="ctr"/>
              <a:r>
                <a:rPr lang="en-US" altLang="zh-CN" sz="2000" b="1">
                  <a:effectLst>
                    <a:outerShdw blurRad="38100" dist="38100" dir="2700000" algn="tl">
                      <a:srgbClr val="000000">
                        <a:alpha val="43137"/>
                      </a:srgbClr>
                    </a:outerShdw>
                  </a:effectLst>
                </a:rPr>
                <a:t>B</a:t>
              </a:r>
            </a:p>
          </p:txBody>
        </p:sp>
        <p:sp>
          <p:nvSpPr>
            <p:cNvPr id="15374" name="Line 10"/>
            <p:cNvSpPr>
              <a:spLocks noChangeShapeType="1"/>
            </p:cNvSpPr>
            <p:nvPr/>
          </p:nvSpPr>
          <p:spPr bwMode="auto">
            <a:xfrm>
              <a:off x="1565" y="1661"/>
              <a:ext cx="2131"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000" b="1">
                <a:effectLst>
                  <a:outerShdw blurRad="38100" dist="38100" dir="2700000" algn="tl">
                    <a:srgbClr val="000000">
                      <a:alpha val="43137"/>
                    </a:srgbClr>
                  </a:outerShdw>
                </a:effectLst>
              </a:endParaRPr>
            </a:p>
          </p:txBody>
        </p:sp>
        <p:sp>
          <p:nvSpPr>
            <p:cNvPr id="15375" name="Text Box 11"/>
            <p:cNvSpPr txBox="1">
              <a:spLocks noChangeArrowheads="1"/>
            </p:cNvSpPr>
            <p:nvPr/>
          </p:nvSpPr>
          <p:spPr bwMode="auto">
            <a:xfrm>
              <a:off x="1777" y="1453"/>
              <a:ext cx="1528"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zh-CN" altLang="en-US" sz="1800" b="1" dirty="0">
                  <a:effectLst>
                    <a:outerShdw blurRad="38100" dist="38100" dir="2700000" algn="tl">
                      <a:srgbClr val="000000">
                        <a:alpha val="43137"/>
                      </a:srgbClr>
                    </a:outerShdw>
                  </a:effectLst>
                  <a:ea typeface="+mn-ea"/>
                  <a:cs typeface="Times New Roman" panose="02020603050405020304" pitchFamily="18" charset="0"/>
                </a:rPr>
                <a:t>从</a:t>
              </a:r>
              <a:r>
                <a:rPr lang="en-US" altLang="zh-CN" sz="1800" b="1" dirty="0">
                  <a:effectLst>
                    <a:outerShdw blurRad="38100" dist="38100" dir="2700000" algn="tl">
                      <a:srgbClr val="000000">
                        <a:alpha val="43137"/>
                      </a:srgbClr>
                    </a:outerShdw>
                  </a:effectLst>
                  <a:ea typeface="+mn-ea"/>
                  <a:cs typeface="Times New Roman" panose="02020603050405020304" pitchFamily="18" charset="0"/>
                </a:rPr>
                <a:t>IDS</a:t>
              </a:r>
              <a:r>
                <a:rPr lang="zh-CN" altLang="en-US" sz="1800" b="1" dirty="0">
                  <a:effectLst>
                    <a:outerShdw blurRad="38100" dist="38100" dir="2700000" algn="tl">
                      <a:srgbClr val="000000">
                        <a:alpha val="43137"/>
                      </a:srgbClr>
                    </a:outerShdw>
                  </a:effectLst>
                  <a:ea typeface="+mn-ea"/>
                  <a:cs typeface="Times New Roman" panose="02020603050405020304" pitchFamily="18" charset="0"/>
                </a:rPr>
                <a:t>事件</a:t>
              </a:r>
              <a:r>
                <a:rPr lang="en-US" altLang="zh-CN" sz="1800" b="1" dirty="0">
                  <a:effectLst>
                    <a:outerShdw blurRad="38100" dist="38100" dir="2700000" algn="tl">
                      <a:srgbClr val="000000">
                        <a:alpha val="43137"/>
                      </a:srgbClr>
                    </a:outerShdw>
                  </a:effectLst>
                  <a:ea typeface="+mn-ea"/>
                  <a:cs typeface="Times New Roman" panose="02020603050405020304" pitchFamily="18" charset="0"/>
                </a:rPr>
                <a:t>MIB</a:t>
              </a:r>
              <a:r>
                <a:rPr lang="zh-CN" altLang="en-US" sz="1800" b="1" dirty="0">
                  <a:effectLst>
                    <a:outerShdw blurRad="38100" dist="38100" dir="2700000" algn="tl">
                      <a:srgbClr val="000000">
                        <a:alpha val="43137"/>
                      </a:srgbClr>
                    </a:outerShdw>
                  </a:effectLst>
                  <a:ea typeface="+mn-ea"/>
                  <a:cs typeface="Times New Roman" panose="02020603050405020304" pitchFamily="18" charset="0"/>
                </a:rPr>
                <a:t>中进行</a:t>
              </a:r>
            </a:p>
            <a:p>
              <a:r>
                <a:rPr lang="en-US" altLang="zh-CN" sz="1800" b="1" dirty="0">
                  <a:effectLst>
                    <a:outerShdw blurRad="38100" dist="38100" dir="2700000" algn="tl">
                      <a:srgbClr val="000000">
                        <a:alpha val="43137"/>
                      </a:srgbClr>
                    </a:outerShdw>
                  </a:effectLst>
                  <a:ea typeface="+mn-ea"/>
                  <a:cs typeface="Times New Roman" panose="02020603050405020304" pitchFamily="18" charset="0"/>
                </a:rPr>
                <a:t>SNMP Get</a:t>
              </a:r>
              <a:r>
                <a:rPr lang="zh-CN" altLang="en-US" sz="1800" b="1" dirty="0">
                  <a:effectLst>
                    <a:outerShdw blurRad="38100" dist="38100" dir="2700000" algn="tl">
                      <a:srgbClr val="000000">
                        <a:alpha val="43137"/>
                      </a:srgbClr>
                    </a:outerShdw>
                  </a:effectLst>
                  <a:ea typeface="+mn-ea"/>
                  <a:cs typeface="Times New Roman" panose="02020603050405020304" pitchFamily="18" charset="0"/>
                </a:rPr>
                <a:t>操作</a:t>
              </a:r>
            </a:p>
          </p:txBody>
        </p:sp>
        <p:sp>
          <p:nvSpPr>
            <p:cNvPr id="15376" name="Line 12"/>
            <p:cNvSpPr>
              <a:spLocks noChangeShapeType="1"/>
            </p:cNvSpPr>
            <p:nvPr/>
          </p:nvSpPr>
          <p:spPr bwMode="auto">
            <a:xfrm flipH="1">
              <a:off x="1565" y="2069"/>
              <a:ext cx="2131"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000" b="1">
                <a:effectLst>
                  <a:outerShdw blurRad="38100" dist="38100" dir="2700000" algn="tl">
                    <a:srgbClr val="000000">
                      <a:alpha val="43137"/>
                    </a:srgbClr>
                  </a:outerShdw>
                </a:effectLst>
              </a:endParaRPr>
            </a:p>
          </p:txBody>
        </p:sp>
        <p:sp>
          <p:nvSpPr>
            <p:cNvPr id="15377" name="Text Box 13"/>
            <p:cNvSpPr txBox="1">
              <a:spLocks noChangeArrowheads="1"/>
            </p:cNvSpPr>
            <p:nvPr/>
          </p:nvSpPr>
          <p:spPr bwMode="auto">
            <a:xfrm>
              <a:off x="1782" y="1879"/>
              <a:ext cx="1580"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zh-CN" altLang="en-US" sz="1800" b="1" dirty="0">
                  <a:effectLst>
                    <a:outerShdw blurRad="38100" dist="38100" dir="2700000" algn="tl">
                      <a:srgbClr val="000000">
                        <a:alpha val="43137"/>
                      </a:srgbClr>
                    </a:outerShdw>
                  </a:effectLst>
                  <a:cs typeface="Times New Roman" panose="02020603050405020304" pitchFamily="18" charset="0"/>
                </a:rPr>
                <a:t>端口扫描事件与用户异</a:t>
              </a:r>
            </a:p>
            <a:p>
              <a:r>
                <a:rPr lang="zh-CN" altLang="en-US" sz="1800" b="1" dirty="0">
                  <a:effectLst>
                    <a:outerShdw blurRad="38100" dist="38100" dir="2700000" algn="tl">
                      <a:srgbClr val="000000">
                        <a:alpha val="43137"/>
                      </a:srgbClr>
                    </a:outerShdw>
                  </a:effectLst>
                  <a:cs typeface="Times New Roman" panose="02020603050405020304" pitchFamily="18" charset="0"/>
                </a:rPr>
                <a:t>常行为事件 </a:t>
              </a:r>
            </a:p>
          </p:txBody>
        </p:sp>
        <p:sp>
          <p:nvSpPr>
            <p:cNvPr id="15378" name="Line 14"/>
            <p:cNvSpPr>
              <a:spLocks noChangeShapeType="1"/>
            </p:cNvSpPr>
            <p:nvPr/>
          </p:nvSpPr>
          <p:spPr bwMode="auto">
            <a:xfrm>
              <a:off x="1565" y="2478"/>
              <a:ext cx="2131"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000" b="1">
                <a:effectLst>
                  <a:outerShdw blurRad="38100" dist="38100" dir="2700000" algn="tl">
                    <a:srgbClr val="000000">
                      <a:alpha val="43137"/>
                    </a:srgbClr>
                  </a:outerShdw>
                </a:effectLst>
              </a:endParaRPr>
            </a:p>
          </p:txBody>
        </p:sp>
        <p:sp>
          <p:nvSpPr>
            <p:cNvPr id="15379" name="Text Box 15"/>
            <p:cNvSpPr txBox="1">
              <a:spLocks noChangeArrowheads="1"/>
            </p:cNvSpPr>
            <p:nvPr/>
          </p:nvSpPr>
          <p:spPr bwMode="auto">
            <a:xfrm>
              <a:off x="1823" y="2287"/>
              <a:ext cx="1139"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zh-CN" altLang="en-US" sz="1800" b="1" dirty="0">
                  <a:effectLst>
                    <a:outerShdw blurRad="38100" dist="38100" dir="2700000" algn="tl">
                      <a:srgbClr val="000000">
                        <a:alpha val="43137"/>
                      </a:srgbClr>
                    </a:outerShdw>
                  </a:effectLst>
                </a:rPr>
                <a:t>向脚本</a:t>
              </a:r>
              <a:r>
                <a:rPr lang="en-US" altLang="zh-CN" sz="1800" b="1" dirty="0">
                  <a:effectLst>
                    <a:outerShdw blurRad="38100" dist="38100" dir="2700000" algn="tl">
                      <a:srgbClr val="000000">
                        <a:alpha val="43137"/>
                      </a:srgbClr>
                    </a:outerShdw>
                  </a:effectLst>
                </a:rPr>
                <a:t>MIB</a:t>
              </a:r>
              <a:r>
                <a:rPr lang="zh-CN" altLang="en-US" sz="1800" b="1" dirty="0">
                  <a:effectLst>
                    <a:outerShdw blurRad="38100" dist="38100" dir="2700000" algn="tl">
                      <a:srgbClr val="000000">
                        <a:alpha val="43137"/>
                      </a:srgbClr>
                    </a:outerShdw>
                  </a:effectLst>
                </a:rPr>
                <a:t>实施</a:t>
              </a:r>
            </a:p>
            <a:p>
              <a:r>
                <a:rPr lang="en-US" altLang="zh-CN" sz="1800" b="1" dirty="0">
                  <a:effectLst>
                    <a:outerShdw blurRad="38100" dist="38100" dir="2700000" algn="tl">
                      <a:srgbClr val="000000">
                        <a:alpha val="43137"/>
                      </a:srgbClr>
                    </a:outerShdw>
                  </a:effectLst>
                </a:rPr>
                <a:t>SNMP Set</a:t>
              </a:r>
              <a:r>
                <a:rPr lang="zh-CN" altLang="en-US" sz="1800" b="1" dirty="0">
                  <a:effectLst>
                    <a:outerShdw blurRad="38100" dist="38100" dir="2700000" algn="tl">
                      <a:srgbClr val="000000">
                        <a:alpha val="43137"/>
                      </a:srgbClr>
                    </a:outerShdw>
                  </a:effectLst>
                </a:rPr>
                <a:t>操作</a:t>
              </a:r>
            </a:p>
          </p:txBody>
        </p:sp>
        <p:sp>
          <p:nvSpPr>
            <p:cNvPr id="15380" name="Line 16"/>
            <p:cNvSpPr>
              <a:spLocks noChangeShapeType="1"/>
            </p:cNvSpPr>
            <p:nvPr/>
          </p:nvSpPr>
          <p:spPr bwMode="auto">
            <a:xfrm flipH="1">
              <a:off x="1565" y="2840"/>
              <a:ext cx="2131"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000" b="1">
                <a:effectLst>
                  <a:outerShdw blurRad="38100" dist="38100" dir="2700000" algn="tl">
                    <a:srgbClr val="000000">
                      <a:alpha val="43137"/>
                    </a:srgbClr>
                  </a:outerShdw>
                </a:effectLst>
              </a:endParaRPr>
            </a:p>
          </p:txBody>
        </p:sp>
        <p:sp>
          <p:nvSpPr>
            <p:cNvPr id="15381" name="Text Box 17"/>
            <p:cNvSpPr txBox="1">
              <a:spLocks noChangeArrowheads="1"/>
            </p:cNvSpPr>
            <p:nvPr/>
          </p:nvSpPr>
          <p:spPr bwMode="auto">
            <a:xfrm>
              <a:off x="1849" y="2792"/>
              <a:ext cx="82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sz="1800" b="1" dirty="0">
                  <a:effectLst>
                    <a:outerShdw blurRad="38100" dist="38100" dir="2700000" algn="tl">
                      <a:srgbClr val="000000">
                        <a:alpha val="43137"/>
                      </a:srgbClr>
                    </a:outerShdw>
                  </a:effectLst>
                </a:rPr>
                <a:t>SNMP</a:t>
              </a:r>
              <a:r>
                <a:rPr lang="zh-CN" altLang="en-US" sz="1800" b="1" dirty="0">
                  <a:effectLst>
                    <a:outerShdw blurRad="38100" dist="38100" dir="2700000" algn="tl">
                      <a:srgbClr val="000000">
                        <a:alpha val="43137"/>
                      </a:srgbClr>
                    </a:outerShdw>
                  </a:effectLst>
                </a:rPr>
                <a:t>通知</a:t>
              </a:r>
            </a:p>
          </p:txBody>
        </p:sp>
      </p:grpSp>
      <p:sp>
        <p:nvSpPr>
          <p:cNvPr id="15365" name="Text Box 20"/>
          <p:cNvSpPr txBox="1">
            <a:spLocks noChangeArrowheads="1"/>
          </p:cNvSpPr>
          <p:nvPr/>
        </p:nvSpPr>
        <p:spPr bwMode="auto">
          <a:xfrm>
            <a:off x="867582" y="672400"/>
            <a:ext cx="688105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b="1" dirty="0">
                <a:solidFill>
                  <a:srgbClr val="0033CC"/>
                </a:solidFill>
                <a:effectLst>
                  <a:outerShdw blurRad="38100" dist="38100" dir="2700000" algn="tl">
                    <a:srgbClr val="000000">
                      <a:alpha val="43137"/>
                    </a:srgbClr>
                  </a:outerShdw>
                </a:effectLst>
                <a:ea typeface="+mn-ea"/>
                <a:cs typeface="Times New Roman" panose="02020603050405020304" pitchFamily="18" charset="0"/>
              </a:rPr>
              <a:t>IDS A\B</a:t>
            </a:r>
            <a:r>
              <a:rPr lang="zh-CN" altLang="en-US" b="1" dirty="0">
                <a:solidFill>
                  <a:srgbClr val="0033CC"/>
                </a:solidFill>
                <a:effectLst>
                  <a:outerShdw blurRad="38100" dist="38100" dir="2700000" algn="tl">
                    <a:srgbClr val="000000">
                      <a:alpha val="43137"/>
                    </a:srgbClr>
                  </a:outerShdw>
                </a:effectLst>
                <a:ea typeface="+mn-ea"/>
                <a:cs typeface="Times New Roman" panose="02020603050405020304" pitchFamily="18" charset="0"/>
              </a:rPr>
              <a:t>负责监视主机</a:t>
            </a:r>
            <a:r>
              <a:rPr lang="en-US" altLang="zh-CN" b="1" dirty="0">
                <a:solidFill>
                  <a:srgbClr val="0033CC"/>
                </a:solidFill>
                <a:effectLst>
                  <a:outerShdw blurRad="38100" dist="38100" dir="2700000" algn="tl">
                    <a:srgbClr val="000000">
                      <a:alpha val="43137"/>
                    </a:srgbClr>
                  </a:outerShdw>
                </a:effectLst>
                <a:ea typeface="+mn-ea"/>
                <a:cs typeface="Times New Roman" panose="02020603050405020304" pitchFamily="18" charset="0"/>
              </a:rPr>
              <a:t>A\B</a:t>
            </a:r>
            <a:r>
              <a:rPr lang="zh-CN" altLang="en-US" b="1" dirty="0">
                <a:solidFill>
                  <a:srgbClr val="0033CC"/>
                </a:solidFill>
                <a:effectLst>
                  <a:outerShdw blurRad="38100" dist="38100" dir="2700000" algn="tl">
                    <a:srgbClr val="000000">
                      <a:alpha val="43137"/>
                    </a:srgbClr>
                  </a:outerShdw>
                </a:effectLst>
                <a:ea typeface="+mn-ea"/>
                <a:cs typeface="Times New Roman" panose="02020603050405020304" pitchFamily="18" charset="0"/>
              </a:rPr>
              <a:t>和请求最新的</a:t>
            </a:r>
            <a:r>
              <a:rPr lang="en-US" altLang="zh-CN" b="1" dirty="0">
                <a:solidFill>
                  <a:srgbClr val="0033CC"/>
                </a:solidFill>
                <a:effectLst>
                  <a:outerShdw blurRad="38100" dist="38100" dir="2700000" algn="tl">
                    <a:srgbClr val="000000">
                      <a:alpha val="43137"/>
                    </a:srgbClr>
                  </a:outerShdw>
                </a:effectLst>
                <a:ea typeface="+mn-ea"/>
                <a:cs typeface="Times New Roman" panose="02020603050405020304" pitchFamily="18" charset="0"/>
              </a:rPr>
              <a:t>IDS</a:t>
            </a:r>
            <a:r>
              <a:rPr lang="zh-CN" altLang="en-US" b="1" dirty="0">
                <a:solidFill>
                  <a:srgbClr val="0033CC"/>
                </a:solidFill>
                <a:effectLst>
                  <a:outerShdw blurRad="38100" dist="38100" dir="2700000" algn="tl">
                    <a:srgbClr val="000000">
                      <a:alpha val="43137"/>
                    </a:srgbClr>
                  </a:outerShdw>
                </a:effectLst>
                <a:ea typeface="+mn-ea"/>
                <a:cs typeface="Times New Roman" panose="02020603050405020304" pitchFamily="18" charset="0"/>
              </a:rPr>
              <a:t>事件。</a:t>
            </a:r>
          </a:p>
          <a:p>
            <a:r>
              <a:rPr lang="zh-CN" altLang="en-US" b="1" dirty="0">
                <a:solidFill>
                  <a:srgbClr val="0033CC"/>
                </a:solidFill>
                <a:effectLst>
                  <a:outerShdw blurRad="38100" dist="38100" dir="2700000" algn="tl">
                    <a:srgbClr val="000000">
                      <a:alpha val="43137"/>
                    </a:srgbClr>
                  </a:outerShdw>
                </a:effectLst>
                <a:ea typeface="+mn-ea"/>
                <a:cs typeface="Times New Roman" panose="02020603050405020304" pitchFamily="18" charset="0"/>
              </a:rPr>
              <a:t>主机</a:t>
            </a:r>
            <a:r>
              <a:rPr lang="en-US" altLang="zh-CN" b="1" dirty="0">
                <a:solidFill>
                  <a:srgbClr val="0033CC"/>
                </a:solidFill>
                <a:effectLst>
                  <a:outerShdw blurRad="38100" dist="38100" dir="2700000" algn="tl">
                    <a:srgbClr val="000000">
                      <a:alpha val="43137"/>
                    </a:srgbClr>
                  </a:outerShdw>
                </a:effectLst>
                <a:ea typeface="+mn-ea"/>
                <a:cs typeface="Times New Roman" panose="02020603050405020304" pitchFamily="18" charset="0"/>
              </a:rPr>
              <a:t>A</a:t>
            </a:r>
            <a:r>
              <a:rPr lang="zh-CN" altLang="en-US" b="1" dirty="0">
                <a:solidFill>
                  <a:srgbClr val="0033CC"/>
                </a:solidFill>
                <a:effectLst>
                  <a:outerShdw blurRad="38100" dist="38100" dir="2700000" algn="tl">
                    <a:srgbClr val="000000">
                      <a:alpha val="43137"/>
                    </a:srgbClr>
                  </a:outerShdw>
                </a:effectLst>
                <a:ea typeface="+mn-ea"/>
                <a:cs typeface="Times New Roman" panose="02020603050405020304" pitchFamily="18" charset="0"/>
              </a:rPr>
              <a:t>的</a:t>
            </a:r>
            <a:r>
              <a:rPr lang="en-US" altLang="zh-CN" b="1" dirty="0">
                <a:solidFill>
                  <a:srgbClr val="0033CC"/>
                </a:solidFill>
                <a:effectLst>
                  <a:outerShdw blurRad="38100" dist="38100" dir="2700000" algn="tl">
                    <a:srgbClr val="000000">
                      <a:alpha val="43137"/>
                    </a:srgbClr>
                  </a:outerShdw>
                </a:effectLst>
                <a:ea typeface="+mn-ea"/>
                <a:cs typeface="Times New Roman" panose="02020603050405020304" pitchFamily="18" charset="0"/>
              </a:rPr>
              <a:t>IDS A</a:t>
            </a:r>
            <a:r>
              <a:rPr lang="zh-CN" altLang="en-US" b="1" dirty="0">
                <a:solidFill>
                  <a:srgbClr val="0033CC"/>
                </a:solidFill>
                <a:effectLst>
                  <a:outerShdw blurRad="38100" dist="38100" dir="2700000" algn="tl">
                    <a:srgbClr val="000000">
                      <a:alpha val="43137"/>
                    </a:srgbClr>
                  </a:outerShdw>
                </a:effectLst>
                <a:ea typeface="+mn-ea"/>
                <a:cs typeface="Times New Roman" panose="02020603050405020304" pitchFamily="18" charset="0"/>
              </a:rPr>
              <a:t>观察到 一个来自主机</a:t>
            </a:r>
            <a:r>
              <a:rPr lang="en-US" altLang="zh-CN" b="1" dirty="0">
                <a:solidFill>
                  <a:srgbClr val="0033CC"/>
                </a:solidFill>
                <a:effectLst>
                  <a:outerShdw blurRad="38100" dist="38100" dir="2700000" algn="tl">
                    <a:srgbClr val="000000">
                      <a:alpha val="43137"/>
                    </a:srgbClr>
                  </a:outerShdw>
                </a:effectLst>
                <a:ea typeface="+mn-ea"/>
                <a:cs typeface="Times New Roman" panose="02020603050405020304" pitchFamily="18" charset="0"/>
              </a:rPr>
              <a:t>B</a:t>
            </a:r>
            <a:r>
              <a:rPr lang="zh-CN" altLang="en-US" b="1" dirty="0">
                <a:solidFill>
                  <a:srgbClr val="0033CC"/>
                </a:solidFill>
                <a:effectLst>
                  <a:outerShdw blurRad="38100" dist="38100" dir="2700000" algn="tl">
                    <a:srgbClr val="000000">
                      <a:alpha val="43137"/>
                    </a:srgbClr>
                  </a:outerShdw>
                </a:effectLst>
                <a:ea typeface="+mn-ea"/>
                <a:cs typeface="Times New Roman" panose="02020603050405020304" pitchFamily="18" charset="0"/>
              </a:rPr>
              <a:t>的攻击企图</a:t>
            </a:r>
          </a:p>
        </p:txBody>
      </p:sp>
      <p:sp>
        <p:nvSpPr>
          <p:cNvPr id="1646613" name="AutoShape 21"/>
          <p:cNvSpPr>
            <a:spLocks noChangeArrowheads="1"/>
          </p:cNvSpPr>
          <p:nvPr/>
        </p:nvSpPr>
        <p:spPr bwMode="auto">
          <a:xfrm>
            <a:off x="7344308" y="1432520"/>
            <a:ext cx="1692275" cy="792162"/>
          </a:xfrm>
          <a:prstGeom prst="wedgeRoundRectCallout">
            <a:avLst>
              <a:gd name="adj1" fmla="val -215240"/>
              <a:gd name="adj2" fmla="val 75661"/>
              <a:gd name="adj3" fmla="val 16667"/>
            </a:avLst>
          </a:prstGeom>
          <a:solidFill>
            <a:srgbClr val="0066FF"/>
          </a:solidFill>
          <a:ln w="12700">
            <a:solidFill>
              <a:schemeClr val="tx1"/>
            </a:solidFill>
            <a:miter lim="800000"/>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a:r>
              <a:rPr lang="en-US" altLang="zh-CN" sz="1800" b="1">
                <a:solidFill>
                  <a:srgbClr val="FFFF00"/>
                </a:solidFill>
              </a:rPr>
              <a:t>IDSA</a:t>
            </a:r>
            <a:r>
              <a:rPr lang="zh-CN" altLang="en-US" sz="1800" b="1">
                <a:solidFill>
                  <a:srgbClr val="FFFF00"/>
                </a:solidFill>
              </a:rPr>
              <a:t>与</a:t>
            </a:r>
            <a:r>
              <a:rPr lang="en-US" altLang="zh-CN" sz="1800" b="1">
                <a:solidFill>
                  <a:srgbClr val="FFFF00"/>
                </a:solidFill>
              </a:rPr>
              <a:t>IDSB</a:t>
            </a:r>
            <a:r>
              <a:rPr lang="zh-CN" altLang="en-US" sz="1800" b="1">
                <a:solidFill>
                  <a:srgbClr val="FFFF00"/>
                </a:solidFill>
              </a:rPr>
              <a:t>联系</a:t>
            </a:r>
          </a:p>
        </p:txBody>
      </p:sp>
      <p:sp>
        <p:nvSpPr>
          <p:cNvPr id="1646614" name="AutoShape 22"/>
          <p:cNvSpPr>
            <a:spLocks noChangeArrowheads="1"/>
          </p:cNvSpPr>
          <p:nvPr/>
        </p:nvSpPr>
        <p:spPr bwMode="auto">
          <a:xfrm>
            <a:off x="7344308" y="2631014"/>
            <a:ext cx="1692276" cy="1800225"/>
          </a:xfrm>
          <a:prstGeom prst="wedgeRoundRectCallout">
            <a:avLst>
              <a:gd name="adj1" fmla="val -188313"/>
              <a:gd name="adj2" fmla="val -25576"/>
              <a:gd name="adj3" fmla="val 16667"/>
            </a:avLst>
          </a:prstGeom>
          <a:gradFill rotWithShape="1">
            <a:gsLst>
              <a:gs pos="0">
                <a:schemeClr val="accent1">
                  <a:alpha val="50000"/>
                </a:schemeClr>
              </a:gs>
              <a:gs pos="100000">
                <a:schemeClr val="accent1">
                  <a:gamma/>
                  <a:shade val="69412"/>
                  <a:invGamma/>
                  <a:alpha val="50000"/>
                </a:schemeClr>
              </a:gs>
            </a:gsLst>
            <a:lin ang="5400000" scaled="1"/>
          </a:gradFill>
          <a:ln w="12700">
            <a:solidFill>
              <a:schemeClr val="tx1"/>
            </a:solidFill>
            <a:miter lim="800000"/>
          </a:ln>
          <a:effectLst/>
        </p:spPr>
        <p:txBody>
          <a:bodyPr/>
          <a:lstStyle/>
          <a:p>
            <a:pPr>
              <a:defRPr/>
            </a:pPr>
            <a:r>
              <a:rPr lang="en-US" altLang="zh-CN" b="1" dirty="0">
                <a:effectLst>
                  <a:outerShdw blurRad="38100" dist="38100" dir="2700000" algn="tl">
                    <a:srgbClr val="000000">
                      <a:alpha val="43137"/>
                    </a:srgbClr>
                  </a:outerShdw>
                </a:effectLst>
              </a:rPr>
              <a:t>IDSB</a:t>
            </a:r>
            <a:r>
              <a:rPr lang="zh-CN" altLang="en-US" b="1" dirty="0">
                <a:effectLst>
                  <a:outerShdw blurRad="38100" dist="38100" dir="2700000" algn="tl">
                    <a:srgbClr val="000000">
                      <a:alpha val="43137"/>
                    </a:srgbClr>
                  </a:outerShdw>
                </a:effectLst>
              </a:rPr>
              <a:t>响应</a:t>
            </a:r>
            <a:r>
              <a:rPr lang="en-US" altLang="zh-CN" b="1" dirty="0">
                <a:effectLst>
                  <a:outerShdw blurRad="38100" dist="38100" dir="2700000" algn="tl">
                    <a:srgbClr val="000000">
                      <a:alpha val="43137"/>
                    </a:srgbClr>
                  </a:outerShdw>
                </a:effectLst>
              </a:rPr>
              <a:t>IDSA</a:t>
            </a:r>
            <a:r>
              <a:rPr lang="zh-CN" altLang="en-US" b="1" dirty="0">
                <a:effectLst>
                  <a:outerShdw blurRad="38100" dist="38100" dir="2700000" algn="tl">
                    <a:srgbClr val="000000">
                      <a:alpha val="43137"/>
                    </a:srgbClr>
                  </a:outerShdw>
                </a:effectLst>
              </a:rPr>
              <a:t>的请求，</a:t>
            </a:r>
            <a:r>
              <a:rPr lang="en-US" altLang="zh-CN" b="1" dirty="0">
                <a:effectLst>
                  <a:outerShdw blurRad="38100" dist="38100" dir="2700000" algn="tl">
                    <a:srgbClr val="000000">
                      <a:alpha val="43137"/>
                    </a:srgbClr>
                  </a:outerShdw>
                </a:effectLst>
              </a:rPr>
              <a:t>IDSB </a:t>
            </a:r>
            <a:r>
              <a:rPr lang="zh-CN" altLang="en-US" b="1" dirty="0">
                <a:effectLst>
                  <a:outerShdw blurRad="38100" dist="38100" dir="2700000" algn="tl">
                    <a:srgbClr val="000000">
                      <a:alpha val="43137"/>
                    </a:srgbClr>
                  </a:outerShdw>
                </a:effectLst>
              </a:rPr>
              <a:t>半小时前发现有人扫描主机</a:t>
            </a:r>
            <a:r>
              <a:rPr lang="en-US" altLang="zh-CN" b="1" dirty="0">
                <a:effectLst>
                  <a:outerShdw blurRad="38100" dist="38100" dir="2700000" algn="tl">
                    <a:srgbClr val="000000">
                      <a:alpha val="43137"/>
                    </a:srgbClr>
                  </a:outerShdw>
                </a:effectLst>
              </a:rPr>
              <a:t>B</a:t>
            </a:r>
          </a:p>
        </p:txBody>
      </p:sp>
      <p:sp>
        <p:nvSpPr>
          <p:cNvPr id="1646615" name="AutoShape 23"/>
          <p:cNvSpPr>
            <a:spLocks noChangeArrowheads="1"/>
          </p:cNvSpPr>
          <p:nvPr/>
        </p:nvSpPr>
        <p:spPr bwMode="auto">
          <a:xfrm>
            <a:off x="3169183" y="5005914"/>
            <a:ext cx="5867400" cy="1085126"/>
          </a:xfrm>
          <a:prstGeom prst="wedgeRoundRectCallout">
            <a:avLst>
              <a:gd name="adj1" fmla="val -21736"/>
              <a:gd name="adj2" fmla="val -159580"/>
              <a:gd name="adj3" fmla="val 16667"/>
            </a:avLst>
          </a:prstGeom>
          <a:gradFill rotWithShape="1">
            <a:gsLst>
              <a:gs pos="0">
                <a:schemeClr val="accent1">
                  <a:alpha val="50998"/>
                </a:schemeClr>
              </a:gs>
              <a:gs pos="100000">
                <a:srgbClr val="0066FF">
                  <a:alpha val="51999"/>
                </a:srgbClr>
              </a:gs>
            </a:gsLst>
            <a:lin ang="5400000" scaled="1"/>
          </a:gradFill>
          <a:ln w="12700">
            <a:solidFill>
              <a:schemeClr val="tx1"/>
            </a:solidFill>
            <a:miter lim="800000"/>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zh-CN" altLang="en-US" sz="1800" b="1" dirty="0">
                <a:effectLst>
                  <a:outerShdw blurRad="38100" dist="38100" dir="2700000" algn="tl">
                    <a:srgbClr val="000000">
                      <a:alpha val="43137"/>
                    </a:srgbClr>
                  </a:outerShdw>
                </a:effectLst>
                <a:cs typeface="Times New Roman" panose="02020603050405020304" pitchFamily="18" charset="0"/>
              </a:rPr>
              <a:t>为了验证和寻找攻击者的来源，</a:t>
            </a:r>
            <a:r>
              <a:rPr lang="en-US" altLang="zh-CN" sz="1800" b="1" dirty="0">
                <a:effectLst>
                  <a:outerShdw blurRad="38100" dist="38100" dir="2700000" algn="tl">
                    <a:srgbClr val="000000">
                      <a:alpha val="43137"/>
                    </a:srgbClr>
                  </a:outerShdw>
                </a:effectLst>
                <a:cs typeface="Times New Roman" panose="02020603050405020304" pitchFamily="18" charset="0"/>
              </a:rPr>
              <a:t>IDSA</a:t>
            </a:r>
            <a:r>
              <a:rPr lang="zh-CN" altLang="en-US" sz="1800" b="1" dirty="0">
                <a:effectLst>
                  <a:outerShdw blurRad="38100" dist="38100" dir="2700000" algn="tl">
                    <a:srgbClr val="000000">
                      <a:alpha val="43137"/>
                    </a:srgbClr>
                  </a:outerShdw>
                </a:effectLst>
                <a:cs typeface="Times New Roman" panose="02020603050405020304" pitchFamily="18" charset="0"/>
              </a:rPr>
              <a:t>使用</a:t>
            </a:r>
            <a:r>
              <a:rPr lang="en-US" altLang="zh-CN" sz="1800" b="1" dirty="0">
                <a:effectLst>
                  <a:outerShdw blurRad="38100" dist="38100" dir="2700000" algn="tl">
                    <a:srgbClr val="000000">
                      <a:alpha val="43137"/>
                    </a:srgbClr>
                  </a:outerShdw>
                </a:effectLst>
                <a:cs typeface="Times New Roman" panose="02020603050405020304" pitchFamily="18" charset="0"/>
              </a:rPr>
              <a:t>MIB</a:t>
            </a:r>
            <a:r>
              <a:rPr lang="zh-CN" altLang="en-US" sz="1800" b="1" dirty="0">
                <a:effectLst>
                  <a:outerShdw blurRad="38100" dist="38100" dir="2700000" algn="tl">
                    <a:srgbClr val="000000">
                      <a:alpha val="43137"/>
                    </a:srgbClr>
                  </a:outerShdw>
                </a:effectLst>
                <a:cs typeface="Times New Roman" panose="02020603050405020304" pitchFamily="18" charset="0"/>
              </a:rPr>
              <a:t>脚本发送一些代码给</a:t>
            </a:r>
            <a:r>
              <a:rPr lang="en-US" altLang="zh-CN" sz="1800" b="1" dirty="0">
                <a:effectLst>
                  <a:outerShdw blurRad="38100" dist="38100" dir="2700000" algn="tl">
                    <a:srgbClr val="000000">
                      <a:alpha val="43137"/>
                    </a:srgbClr>
                  </a:outerShdw>
                </a:effectLst>
                <a:cs typeface="Times New Roman" panose="02020603050405020304" pitchFamily="18" charset="0"/>
              </a:rPr>
              <a:t>IDSB</a:t>
            </a:r>
            <a:r>
              <a:rPr lang="zh-CN" altLang="en-US" sz="1800" b="1" dirty="0">
                <a:effectLst>
                  <a:outerShdw blurRad="38100" dist="38100" dir="2700000" algn="tl">
                    <a:srgbClr val="000000">
                      <a:alpha val="43137"/>
                    </a:srgbClr>
                  </a:outerShdw>
                </a:effectLst>
                <a:cs typeface="Times New Roman" panose="02020603050405020304" pitchFamily="18" charset="0"/>
              </a:rPr>
              <a:t>。这些代码的功能类似于“</a:t>
            </a:r>
            <a:r>
              <a:rPr lang="en-US" altLang="zh-CN" sz="1800" b="1" dirty="0" err="1">
                <a:effectLst>
                  <a:outerShdw blurRad="38100" dist="38100" dir="2700000" algn="tl">
                    <a:srgbClr val="000000">
                      <a:alpha val="43137"/>
                    </a:srgbClr>
                  </a:outerShdw>
                </a:effectLst>
                <a:cs typeface="Times New Roman" panose="02020603050405020304" pitchFamily="18" charset="0"/>
              </a:rPr>
              <a:t>netstat</a:t>
            </a:r>
            <a:r>
              <a:rPr lang="zh-CN" altLang="en-US" sz="1800" b="1" dirty="0">
                <a:effectLst>
                  <a:outerShdw blurRad="38100" dist="38100" dir="2700000" algn="tl">
                    <a:srgbClr val="000000">
                      <a:alpha val="43137"/>
                    </a:srgbClr>
                  </a:outerShdw>
                </a:effectLst>
                <a:cs typeface="Times New Roman" panose="02020603050405020304" pitchFamily="18" charset="0"/>
              </a:rPr>
              <a:t>、</a:t>
            </a:r>
            <a:r>
              <a:rPr lang="en-US" altLang="zh-CN" sz="1800" b="1" dirty="0" err="1">
                <a:effectLst>
                  <a:outerShdw blurRad="38100" dist="38100" dir="2700000" algn="tl">
                    <a:srgbClr val="000000">
                      <a:alpha val="43137"/>
                    </a:srgbClr>
                  </a:outerShdw>
                </a:effectLst>
                <a:cs typeface="Times New Roman" panose="02020603050405020304" pitchFamily="18" charset="0"/>
              </a:rPr>
              <a:t>lsof</a:t>
            </a:r>
            <a:r>
              <a:rPr lang="en-US" altLang="zh-CN" sz="1800" b="1" dirty="0">
                <a:effectLst>
                  <a:outerShdw blurRad="38100" dist="38100" dir="2700000" algn="tl">
                    <a:srgbClr val="000000">
                      <a:alpha val="43137"/>
                    </a:srgbClr>
                  </a:outerShdw>
                </a:effectLst>
                <a:cs typeface="Times New Roman" panose="02020603050405020304" pitchFamily="18" charset="0"/>
              </a:rPr>
              <a:t>”</a:t>
            </a:r>
            <a:r>
              <a:rPr lang="zh-CN" altLang="en-US" sz="1800" b="1" dirty="0">
                <a:effectLst>
                  <a:outerShdw blurRad="38100" dist="38100" dir="2700000" algn="tl">
                    <a:srgbClr val="000000">
                      <a:alpha val="43137"/>
                    </a:srgbClr>
                  </a:outerShdw>
                </a:effectLst>
                <a:cs typeface="Times New Roman" panose="02020603050405020304" pitchFamily="18" charset="0"/>
              </a:rPr>
              <a:t>等，搜集主机</a:t>
            </a:r>
            <a:r>
              <a:rPr lang="en-US" altLang="zh-CN" sz="1800" b="1" dirty="0">
                <a:effectLst>
                  <a:outerShdw blurRad="38100" dist="38100" dir="2700000" algn="tl">
                    <a:srgbClr val="000000">
                      <a:alpha val="43137"/>
                    </a:srgbClr>
                  </a:outerShdw>
                </a:effectLst>
                <a:cs typeface="Times New Roman" panose="02020603050405020304" pitchFamily="18" charset="0"/>
              </a:rPr>
              <a:t>B</a:t>
            </a:r>
            <a:r>
              <a:rPr lang="zh-CN" altLang="en-US" sz="1800" b="1" dirty="0">
                <a:effectLst>
                  <a:outerShdw blurRad="38100" dist="38100" dir="2700000" algn="tl">
                    <a:srgbClr val="000000">
                      <a:alpha val="43137"/>
                    </a:srgbClr>
                  </a:outerShdw>
                </a:effectLst>
                <a:cs typeface="Times New Roman" panose="02020603050405020304" pitchFamily="18" charset="0"/>
              </a:rPr>
              <a:t>的网络活动和用户活动的信息。</a:t>
            </a:r>
          </a:p>
        </p:txBody>
      </p:sp>
      <p:sp>
        <p:nvSpPr>
          <p:cNvPr id="1646616" name="AutoShape 24"/>
          <p:cNvSpPr>
            <a:spLocks noChangeArrowheads="1"/>
          </p:cNvSpPr>
          <p:nvPr/>
        </p:nvSpPr>
        <p:spPr bwMode="auto">
          <a:xfrm>
            <a:off x="103959" y="1694389"/>
            <a:ext cx="1403350" cy="4542337"/>
          </a:xfrm>
          <a:prstGeom prst="wedgeRoundRectCallout">
            <a:avLst>
              <a:gd name="adj1" fmla="val 172402"/>
              <a:gd name="adj2" fmla="val 9550"/>
              <a:gd name="adj3" fmla="val 16667"/>
            </a:avLst>
          </a:prstGeom>
          <a:gradFill rotWithShape="1">
            <a:gsLst>
              <a:gs pos="0">
                <a:srgbClr val="FF9933">
                  <a:alpha val="37000"/>
                </a:srgbClr>
              </a:gs>
              <a:gs pos="100000">
                <a:srgbClr val="764718">
                  <a:alpha val="29999"/>
                </a:srgbClr>
              </a:gs>
            </a:gsLst>
            <a:lin ang="5400000" scaled="1"/>
          </a:gradFill>
          <a:ln w="12700">
            <a:solidFill>
              <a:schemeClr val="tx1"/>
            </a:solidFill>
            <a:miter lim="800000"/>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zh-CN" altLang="en-US" sz="1800" b="1" dirty="0">
                <a:effectLst>
                  <a:outerShdw blurRad="38100" dist="38100" dir="2700000" algn="tl">
                    <a:srgbClr val="000000">
                      <a:alpha val="43137"/>
                    </a:srgbClr>
                  </a:outerShdw>
                </a:effectLst>
              </a:rPr>
              <a:t>这些代码的执行结果表明用户</a:t>
            </a:r>
            <a:r>
              <a:rPr lang="en-US" altLang="zh-CN" sz="1800" b="1" dirty="0">
                <a:effectLst>
                  <a:outerShdw blurRad="38100" dist="38100" dir="2700000" algn="tl">
                    <a:srgbClr val="000000">
                      <a:alpha val="43137"/>
                    </a:srgbClr>
                  </a:outerShdw>
                </a:effectLst>
              </a:rPr>
              <a:t>X</a:t>
            </a:r>
            <a:r>
              <a:rPr lang="zh-CN" altLang="en-US" sz="1800" b="1" dirty="0">
                <a:effectLst>
                  <a:outerShdw blurRad="38100" dist="38100" dir="2700000" algn="tl">
                    <a:srgbClr val="000000">
                      <a:alpha val="43137"/>
                    </a:srgbClr>
                  </a:outerShdw>
                </a:effectLst>
              </a:rPr>
              <a:t>在某个时候攻击主机</a:t>
            </a:r>
            <a:r>
              <a:rPr lang="en-US" altLang="zh-CN" sz="1800" b="1" dirty="0">
                <a:effectLst>
                  <a:outerShdw blurRad="38100" dist="38100" dir="2700000" algn="tl">
                    <a:srgbClr val="000000">
                      <a:alpha val="43137"/>
                    </a:srgbClr>
                  </a:outerShdw>
                </a:effectLst>
              </a:rPr>
              <a:t>A</a:t>
            </a:r>
            <a:r>
              <a:rPr lang="zh-CN" altLang="en-US" sz="1800" b="1" dirty="0">
                <a:effectLst>
                  <a:outerShdw blurRad="38100" dist="38100" dir="2700000" algn="tl">
                    <a:srgbClr val="000000">
                      <a:alpha val="43137"/>
                    </a:srgbClr>
                  </a:outerShdw>
                </a:effectLst>
              </a:rPr>
              <a:t>，且</a:t>
            </a:r>
            <a:r>
              <a:rPr lang="en-US" altLang="zh-CN" sz="1800" b="1" dirty="0">
                <a:effectLst>
                  <a:outerShdw blurRad="38100" dist="38100" dir="2700000" algn="tl">
                    <a:srgbClr val="000000">
                      <a:alpha val="43137"/>
                    </a:srgbClr>
                  </a:outerShdw>
                </a:effectLst>
              </a:rPr>
              <a:t>IDS A</a:t>
            </a:r>
            <a:r>
              <a:rPr lang="zh-CN" altLang="en-US" sz="1800" b="1" dirty="0">
                <a:effectLst>
                  <a:outerShdw blurRad="38100" dist="38100" dir="2700000" algn="tl">
                    <a:srgbClr val="000000">
                      <a:alpha val="43137"/>
                    </a:srgbClr>
                  </a:outerShdw>
                </a:effectLst>
              </a:rPr>
              <a:t>还得知用户</a:t>
            </a:r>
            <a:r>
              <a:rPr lang="en-US" altLang="zh-CN" sz="1800" b="1" dirty="0">
                <a:effectLst>
                  <a:outerShdw blurRad="38100" dist="38100" dir="2700000" algn="tl">
                    <a:srgbClr val="000000">
                      <a:alpha val="43137"/>
                    </a:srgbClr>
                  </a:outerShdw>
                </a:effectLst>
              </a:rPr>
              <a:t>X</a:t>
            </a:r>
            <a:r>
              <a:rPr lang="zh-CN" altLang="en-US" sz="1800" b="1" dirty="0">
                <a:effectLst>
                  <a:outerShdw blurRad="38100" dist="38100" dir="2700000" algn="tl">
                    <a:srgbClr val="000000">
                      <a:alpha val="43137"/>
                    </a:srgbClr>
                  </a:outerShdw>
                </a:effectLst>
              </a:rPr>
              <a:t>来自于主机</a:t>
            </a:r>
            <a:r>
              <a:rPr lang="en-US" altLang="zh-CN" sz="1800" b="1" dirty="0">
                <a:effectLst>
                  <a:outerShdw blurRad="38100" dist="38100" dir="2700000" algn="tl">
                    <a:srgbClr val="000000">
                      <a:alpha val="43137"/>
                    </a:srgbClr>
                  </a:outerShdw>
                </a:effectLst>
              </a:rPr>
              <a:t>C</a:t>
            </a:r>
            <a:r>
              <a:rPr lang="zh-CN" altLang="en-US" sz="1800" b="1" dirty="0">
                <a:effectLst>
                  <a:outerShdw blurRad="38100" dist="38100" dir="2700000" algn="tl">
                    <a:srgbClr val="000000">
                      <a:alpha val="43137"/>
                    </a:srgbClr>
                  </a:outerShdw>
                </a:effectLst>
              </a:rPr>
              <a:t>。</a:t>
            </a:r>
            <a:r>
              <a:rPr lang="en-US" altLang="zh-CN" sz="1800" b="1" dirty="0">
                <a:effectLst>
                  <a:outerShdw blurRad="38100" dist="38100" dir="2700000" algn="tl">
                    <a:srgbClr val="000000">
                      <a:alpha val="43137"/>
                    </a:srgbClr>
                  </a:outerShdw>
                </a:effectLst>
              </a:rPr>
              <a:t>IDS A</a:t>
            </a:r>
            <a:r>
              <a:rPr lang="zh-CN" altLang="en-US" sz="1800" b="1" dirty="0">
                <a:effectLst>
                  <a:outerShdw blurRad="38100" dist="38100" dir="2700000" algn="tl">
                    <a:srgbClr val="000000">
                      <a:alpha val="43137"/>
                    </a:srgbClr>
                  </a:outerShdw>
                </a:effectLst>
              </a:rPr>
              <a:t>与</a:t>
            </a:r>
            <a:r>
              <a:rPr lang="en-US" altLang="zh-CN" sz="1800" b="1" dirty="0">
                <a:effectLst>
                  <a:outerShdw blurRad="38100" dist="38100" dir="2700000" algn="tl">
                    <a:srgbClr val="000000">
                      <a:alpha val="43137"/>
                    </a:srgbClr>
                  </a:outerShdw>
                </a:effectLst>
              </a:rPr>
              <a:t>IDS C</a:t>
            </a:r>
            <a:r>
              <a:rPr lang="zh-CN" altLang="en-US" sz="1800" b="1" dirty="0">
                <a:effectLst>
                  <a:outerShdw blurRad="38100" dist="38100" dir="2700000" algn="tl">
                    <a:srgbClr val="000000">
                      <a:alpha val="43137"/>
                    </a:srgbClr>
                  </a:outerShdw>
                </a:effectLst>
              </a:rPr>
              <a:t>联系，要求主机</a:t>
            </a:r>
            <a:r>
              <a:rPr lang="en-US" altLang="zh-CN" sz="1800" b="1" dirty="0">
                <a:effectLst>
                  <a:outerShdw blurRad="38100" dist="38100" dir="2700000" algn="tl">
                    <a:srgbClr val="000000">
                      <a:alpha val="43137"/>
                    </a:srgbClr>
                  </a:outerShdw>
                </a:effectLst>
              </a:rPr>
              <a:t>C</a:t>
            </a:r>
            <a:r>
              <a:rPr lang="zh-CN" altLang="en-US" sz="1800" b="1" dirty="0">
                <a:effectLst>
                  <a:outerShdw blurRad="38100" dist="38100" dir="2700000" algn="tl">
                    <a:srgbClr val="000000">
                      <a:alpha val="43137"/>
                    </a:srgbClr>
                  </a:outerShdw>
                </a:effectLst>
              </a:rPr>
              <a:t>向</a:t>
            </a:r>
            <a:r>
              <a:rPr lang="en-US" altLang="zh-CN" sz="1800" b="1" dirty="0">
                <a:effectLst>
                  <a:outerShdw blurRad="38100" dist="38100" dir="2700000" algn="tl">
                    <a:srgbClr val="000000">
                      <a:alpha val="43137"/>
                    </a:srgbClr>
                  </a:outerShdw>
                </a:effectLst>
              </a:rPr>
              <a:t>IDS A</a:t>
            </a:r>
            <a:r>
              <a:rPr lang="zh-CN" altLang="en-US" sz="1800" b="1" dirty="0">
                <a:effectLst>
                  <a:outerShdw blurRad="38100" dist="38100" dir="2700000" algn="tl">
                    <a:srgbClr val="000000">
                      <a:alpha val="43137"/>
                    </a:srgbClr>
                  </a:outerShdw>
                </a:effectLst>
              </a:rPr>
              <a:t>报告入侵事件。</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46613"/>
                                        </p:tgtEl>
                                        <p:attrNameLst>
                                          <p:attrName>style.visibility</p:attrName>
                                        </p:attrNameLst>
                                      </p:cBhvr>
                                      <p:to>
                                        <p:strVal val="visible"/>
                                      </p:to>
                                    </p:set>
                                    <p:anim calcmode="lin" valueType="num">
                                      <p:cBhvr additive="base">
                                        <p:cTn id="7" dur="500" fill="hold"/>
                                        <p:tgtEl>
                                          <p:spTgt spid="1646613"/>
                                        </p:tgtEl>
                                        <p:attrNameLst>
                                          <p:attrName>ppt_x</p:attrName>
                                        </p:attrNameLst>
                                      </p:cBhvr>
                                      <p:tavLst>
                                        <p:tav tm="0">
                                          <p:val>
                                            <p:strVal val="#ppt_x"/>
                                          </p:val>
                                        </p:tav>
                                        <p:tav tm="100000">
                                          <p:val>
                                            <p:strVal val="#ppt_x"/>
                                          </p:val>
                                        </p:tav>
                                      </p:tavLst>
                                    </p:anim>
                                    <p:anim calcmode="lin" valueType="num">
                                      <p:cBhvr additive="base">
                                        <p:cTn id="8" dur="500" fill="hold"/>
                                        <p:tgtEl>
                                          <p:spTgt spid="16466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ntr" presetSubtype="16" fill="hold" grpId="0" nodeType="clickEffect">
                                  <p:stCondLst>
                                    <p:cond delay="0"/>
                                  </p:stCondLst>
                                  <p:childTnLst>
                                    <p:set>
                                      <p:cBhvr>
                                        <p:cTn id="12" dur="1" fill="hold">
                                          <p:stCondLst>
                                            <p:cond delay="0"/>
                                          </p:stCondLst>
                                        </p:cTn>
                                        <p:tgtEl>
                                          <p:spTgt spid="1646614"/>
                                        </p:tgtEl>
                                        <p:attrNameLst>
                                          <p:attrName>style.visibility</p:attrName>
                                        </p:attrNameLst>
                                      </p:cBhvr>
                                      <p:to>
                                        <p:strVal val="visible"/>
                                      </p:to>
                                    </p:set>
                                    <p:animEffect transition="in" filter="diamond(in)">
                                      <p:cBhvr>
                                        <p:cTn id="13" dur="2000"/>
                                        <p:tgtEl>
                                          <p:spTgt spid="1646614"/>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646615"/>
                                        </p:tgtEl>
                                        <p:attrNameLst>
                                          <p:attrName>style.visibility</p:attrName>
                                        </p:attrNameLst>
                                      </p:cBhvr>
                                      <p:to>
                                        <p:strVal val="visible"/>
                                      </p:to>
                                    </p:set>
                                    <p:animEffect transition="in" filter="box(in)">
                                      <p:cBhvr>
                                        <p:cTn id="18" dur="500"/>
                                        <p:tgtEl>
                                          <p:spTgt spid="1646615"/>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1646616"/>
                                        </p:tgtEl>
                                        <p:attrNameLst>
                                          <p:attrName>style.visibility</p:attrName>
                                        </p:attrNameLst>
                                      </p:cBhvr>
                                      <p:to>
                                        <p:strVal val="visible"/>
                                      </p:to>
                                    </p:set>
                                    <p:animEffect transition="in" filter="checkerboard(across)">
                                      <p:cBhvr>
                                        <p:cTn id="23" dur="500"/>
                                        <p:tgtEl>
                                          <p:spTgt spid="16466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6613" grpId="0" animBg="1"/>
      <p:bldP spid="1646614" grpId="0" animBg="1"/>
      <p:bldP spid="1646615" grpId="0" animBg="1"/>
      <p:bldP spid="164661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9" name="Rectangle 2"/>
          <p:cNvSpPr>
            <a:spLocks noGrp="1" noChangeArrowheads="1"/>
          </p:cNvSpPr>
          <p:nvPr>
            <p:ph type="subTitle" idx="1"/>
          </p:nvPr>
        </p:nvSpPr>
        <p:spPr>
          <a:xfrm>
            <a:off x="304800" y="1447801"/>
            <a:ext cx="8382000" cy="2305235"/>
          </a:xfrm>
          <a:noFill/>
        </p:spPr>
        <p:txBody>
          <a:bodyPr/>
          <a:lstStyle/>
          <a:p>
            <a:pPr marL="342900" indent="-342900" algn="l" eaLnBrk="1" hangingPunct="1">
              <a:lnSpc>
                <a:spcPct val="90000"/>
              </a:lnSpc>
              <a:buFont typeface="Wingdings" panose="05000000000000000000" pitchFamily="2" charset="2"/>
              <a:buChar char="u"/>
            </a:pPr>
            <a:r>
              <a:rPr lang="en-US" altLang="zh-CN"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CIDF(Common Intrusion Detection Framework</a:t>
            </a:r>
            <a:r>
              <a:rPr lang="zh-CN" altLang="en-US"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a:t>
            </a:r>
            <a:r>
              <a:rPr lang="en-US" altLang="zh-CN"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http</a:t>
            </a:r>
            <a:r>
              <a:rPr lang="zh-CN" altLang="en-US"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a:t>
            </a:r>
            <a:r>
              <a:rPr lang="en-US" altLang="zh-CN"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//www.gidos.org/</a:t>
            </a:r>
            <a:r>
              <a:rPr lang="zh-CN" altLang="en-US"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a:t>
            </a:r>
            <a:endParaRPr lang="en-US" altLang="zh-CN"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endParaRPr>
          </a:p>
          <a:p>
            <a:pPr marL="342900" indent="-342900" algn="l" eaLnBrk="1" hangingPunct="1">
              <a:lnSpc>
                <a:spcPct val="90000"/>
              </a:lnSpc>
              <a:buFont typeface="Wingdings" panose="05000000000000000000" pitchFamily="2" charset="2"/>
              <a:buChar char="u"/>
            </a:pPr>
            <a:r>
              <a:rPr lang="zh-CN" altLang="en-US"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阐述了一个入侵检测系统的通用模型。</a:t>
            </a:r>
            <a:endParaRPr lang="en-US" altLang="zh-CN"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endParaRPr>
          </a:p>
          <a:p>
            <a:pPr marL="342900" indent="-342900" algn="l" eaLnBrk="1" hangingPunct="1">
              <a:lnSpc>
                <a:spcPct val="90000"/>
              </a:lnSpc>
              <a:buFont typeface="Wingdings" panose="05000000000000000000" pitchFamily="2" charset="2"/>
              <a:buChar char="u"/>
            </a:pPr>
            <a:r>
              <a:rPr lang="en-US" altLang="zh-CN"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CIDF</a:t>
            </a:r>
            <a:r>
              <a:rPr lang="zh-CN" altLang="en-US"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将入侵检测系统需要分析的数据统称为</a:t>
            </a:r>
            <a:r>
              <a:rPr lang="zh-CN" altLang="en-US"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事件（</a:t>
            </a:r>
            <a:r>
              <a:rPr lang="en-US" altLang="zh-CN"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Event</a:t>
            </a:r>
            <a:r>
              <a:rPr lang="zh-CN" altLang="en-US"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a:t>
            </a:r>
            <a:r>
              <a:rPr lang="zh-CN" altLang="en-US"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，事件可以是网络中的数据包，也可以是从系统日志等其他途径得到的信息。</a:t>
            </a:r>
          </a:p>
        </p:txBody>
      </p:sp>
      <p:sp>
        <p:nvSpPr>
          <p:cNvPr id="1626115" name="Rectangle 3"/>
          <p:cNvSpPr>
            <a:spLocks noGrp="1" noChangeArrowheads="1"/>
          </p:cNvSpPr>
          <p:nvPr>
            <p:ph type="ctrTitle"/>
          </p:nvPr>
        </p:nvSpPr>
        <p:spPr>
          <a:xfrm>
            <a:off x="481930" y="834739"/>
            <a:ext cx="5222540" cy="479140"/>
          </a:xfrm>
          <a:noFill/>
          <a:ln w="9525">
            <a:noFill/>
            <a:miter lim="800000"/>
          </a:ln>
        </p:spPr>
        <p:txBody>
          <a:bodyPr vert="horz" wrap="square" lIns="91440" tIns="45720" rIns="91440" bIns="45720" numCol="1" anchor="ctr" anchorCtr="0" compatLnSpc="1"/>
          <a:lstStyle/>
          <a:p>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入侵检测系统：</a:t>
            </a:r>
            <a:r>
              <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CIDF</a:t>
            </a:r>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架构</a:t>
            </a:r>
          </a:p>
        </p:txBody>
      </p:sp>
      <p:sp>
        <p:nvSpPr>
          <p:cNvPr id="2" name="矩形 1"/>
          <p:cNvSpPr/>
          <p:nvPr/>
        </p:nvSpPr>
        <p:spPr>
          <a:xfrm>
            <a:off x="304800" y="3753036"/>
            <a:ext cx="8136904" cy="2160591"/>
          </a:xfrm>
          <a:prstGeom prst="rect">
            <a:avLst/>
          </a:prstGeom>
        </p:spPr>
        <p:txBody>
          <a:bodyPr wrap="square">
            <a:spAutoFit/>
          </a:bodyPr>
          <a:lstStyle/>
          <a:p>
            <a:pPr marL="342900" indent="-342900">
              <a:lnSpc>
                <a:spcPct val="90000"/>
              </a:lnSpc>
              <a:spcBef>
                <a:spcPct val="20000"/>
              </a:spcBef>
              <a:buClr>
                <a:srgbClr val="3399FF"/>
              </a:buClr>
              <a:buFont typeface="Wingdings" panose="05000000000000000000" pitchFamily="2" charset="2"/>
              <a:buChar char="u"/>
            </a:pPr>
            <a:r>
              <a:rPr lang="en-US" altLang="zh-CN"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CIDF</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讨论关于入侵检测系统协同的问题，主要介绍一种</a:t>
            </a: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通用入侵说明语言（</a:t>
            </a:r>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CISL</a:t>
            </a: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a:t>
            </a:r>
            <a:r>
              <a:rPr lang="zh-CN" altLang="en-US" sz="2400" b="1" dirty="0">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即系统事件、分析结果及响应指示的通用表示。把入侵检测系统从逻辑上分为面向任务的组件。</a:t>
            </a:r>
            <a:endParaRPr lang="en-US" altLang="zh-CN"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endParaRPr>
          </a:p>
          <a:p>
            <a:pPr marL="342900" indent="-342900">
              <a:lnSpc>
                <a:spcPct val="90000"/>
              </a:lnSpc>
              <a:spcBef>
                <a:spcPct val="20000"/>
              </a:spcBef>
              <a:buClr>
                <a:srgbClr val="3399FF"/>
              </a:buClr>
              <a:buFont typeface="Wingdings" panose="05000000000000000000" pitchFamily="2" charset="2"/>
              <a:buChar char="u"/>
            </a:pPr>
            <a:r>
              <a:rPr lang="en-US" altLang="zh-CN"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CIDF</a:t>
            </a:r>
            <a:r>
              <a:rPr lang="zh-C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试图规范一种通用的语法格式和编码方式以表示在组件边界传递的数据。</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93539">
                                            <p:txEl>
                                              <p:pRg st="0" end="0"/>
                                            </p:txEl>
                                          </p:spTgt>
                                        </p:tgtEl>
                                        <p:attrNameLst>
                                          <p:attrName>style.visibility</p:attrName>
                                        </p:attrNameLst>
                                      </p:cBhvr>
                                      <p:to>
                                        <p:strVal val="visible"/>
                                      </p:to>
                                    </p:set>
                                    <p:animEffect transition="in" filter="wipe(up)">
                                      <p:cBhvr>
                                        <p:cTn id="7" dur="500"/>
                                        <p:tgtEl>
                                          <p:spTgt spid="193539">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93539">
                                            <p:txEl>
                                              <p:pRg st="1" end="1"/>
                                            </p:txEl>
                                          </p:spTgt>
                                        </p:tgtEl>
                                        <p:attrNameLst>
                                          <p:attrName>style.visibility</p:attrName>
                                        </p:attrNameLst>
                                      </p:cBhvr>
                                      <p:to>
                                        <p:strVal val="visible"/>
                                      </p:to>
                                    </p:set>
                                    <p:animEffect transition="in" filter="wipe(up)">
                                      <p:cBhvr>
                                        <p:cTn id="11" dur="500"/>
                                        <p:tgtEl>
                                          <p:spTgt spid="193539">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193539">
                                            <p:txEl>
                                              <p:pRg st="2" end="2"/>
                                            </p:txEl>
                                          </p:spTgt>
                                        </p:tgtEl>
                                        <p:attrNameLst>
                                          <p:attrName>style.visibility</p:attrName>
                                        </p:attrNameLst>
                                      </p:cBhvr>
                                      <p:to>
                                        <p:strVal val="visible"/>
                                      </p:to>
                                    </p:set>
                                    <p:animEffect transition="in" filter="wipe(up)">
                                      <p:cBhvr>
                                        <p:cTn id="15" dur="500"/>
                                        <p:tgtEl>
                                          <p:spTgt spid="193539">
                                            <p:txEl>
                                              <p:pRg st="2" end="2"/>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up)">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39" grpId="0" build="p"/>
      <p:bldP spid="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3" name="Rectangle 5"/>
          <p:cNvSpPr>
            <a:spLocks noChangeArrowheads="1"/>
          </p:cNvSpPr>
          <p:nvPr/>
        </p:nvSpPr>
        <p:spPr bwMode="auto">
          <a:xfrm>
            <a:off x="575556" y="1372032"/>
            <a:ext cx="7453312" cy="1458913"/>
          </a:xfrm>
          <a:prstGeom prst="rect">
            <a:avLst/>
          </a:prstGeom>
          <a:noFill/>
          <a:ln w="9525">
            <a:noFill/>
            <a:miter lim="800000"/>
          </a:ln>
        </p:spPr>
        <p:txBody>
          <a:bodyPr>
            <a:spAutoFit/>
          </a:bodyPr>
          <a:lstStyle/>
          <a:p>
            <a:pPr marL="361950" indent="-361950" eaLnBrk="0" hangingPunct="0">
              <a:spcBef>
                <a:spcPct val="20000"/>
              </a:spcBef>
              <a:buClr>
                <a:srgbClr val="3399FF"/>
              </a:buClr>
              <a:buFont typeface="Wingdings" panose="05000000000000000000" pitchFamily="2" charset="2"/>
              <a:buChar char="v"/>
            </a:pPr>
            <a:endParaRPr lang="zh-CN" altLang="en-AU" sz="2800" b="1">
              <a:latin typeface="宋体" panose="02010600030101010101" pitchFamily="2" charset="-122"/>
            </a:endParaRPr>
          </a:p>
          <a:p>
            <a:pPr marL="361950" indent="-361950" eaLnBrk="0" hangingPunct="0">
              <a:spcBef>
                <a:spcPct val="20000"/>
              </a:spcBef>
              <a:buClr>
                <a:srgbClr val="3399FF"/>
              </a:buClr>
              <a:buFont typeface="Wingdings" panose="05000000000000000000" pitchFamily="2" charset="2"/>
              <a:buNone/>
            </a:pPr>
            <a:endParaRPr lang="zh-CN" altLang="en-US" sz="2800" b="1">
              <a:latin typeface="宋体" panose="02010600030101010101" pitchFamily="2" charset="-122"/>
            </a:endParaRPr>
          </a:p>
          <a:p>
            <a:pPr marL="361950" indent="-361950"/>
            <a:endParaRPr lang="zh-CN" altLang="en-US" sz="2800" b="1">
              <a:latin typeface="宋体" panose="02010600030101010101" pitchFamily="2" charset="-122"/>
            </a:endParaRPr>
          </a:p>
        </p:txBody>
      </p:sp>
      <p:sp>
        <p:nvSpPr>
          <p:cNvPr id="48134" name="Rectangle 3"/>
          <p:cNvSpPr>
            <a:spLocks noRot="1" noChangeArrowheads="1"/>
          </p:cNvSpPr>
          <p:nvPr/>
        </p:nvSpPr>
        <p:spPr bwMode="auto">
          <a:xfrm>
            <a:off x="1853384" y="1494154"/>
            <a:ext cx="4060806" cy="1728192"/>
          </a:xfrm>
          <a:prstGeom prst="rect">
            <a:avLst/>
          </a:prstGeom>
          <a:noFill/>
          <a:ln w="9525">
            <a:noFill/>
            <a:miter lim="800000"/>
          </a:ln>
        </p:spPr>
        <p:txBody>
          <a:bodyPr/>
          <a:lstStyle/>
          <a:p>
            <a:pPr marL="342900" indent="-342900">
              <a:lnSpc>
                <a:spcPct val="90000"/>
              </a:lnSpc>
              <a:spcBef>
                <a:spcPct val="20000"/>
              </a:spcBef>
              <a:buClr>
                <a:srgbClr val="3399FF"/>
              </a:buClr>
              <a:buFont typeface="Wingdings" panose="05000000000000000000" pitchFamily="2" charset="2"/>
              <a:buChar char="v"/>
            </a:pPr>
            <a:r>
              <a:rPr lang="zh-CN" altLang="en-US" sz="2400" b="1" dirty="0">
                <a:latin typeface="楷体_GB2312" pitchFamily="49" charset="-122"/>
                <a:ea typeface="黑体" panose="02010609060101010101" pitchFamily="2" charset="-122"/>
              </a:rPr>
              <a:t>事件生成器</a:t>
            </a:r>
          </a:p>
          <a:p>
            <a:pPr marL="342900" indent="-342900">
              <a:lnSpc>
                <a:spcPct val="90000"/>
              </a:lnSpc>
              <a:spcBef>
                <a:spcPct val="20000"/>
              </a:spcBef>
              <a:buClr>
                <a:srgbClr val="3399FF"/>
              </a:buClr>
              <a:buFont typeface="Wingdings" panose="05000000000000000000" pitchFamily="2" charset="2"/>
              <a:buChar char="v"/>
            </a:pPr>
            <a:r>
              <a:rPr lang="zh-CN" altLang="en-US" sz="2400" b="1" dirty="0">
                <a:latin typeface="楷体_GB2312" pitchFamily="49" charset="-122"/>
                <a:ea typeface="黑体" panose="02010609060101010101" pitchFamily="2" charset="-122"/>
              </a:rPr>
              <a:t>事件分析器</a:t>
            </a:r>
          </a:p>
          <a:p>
            <a:pPr marL="342900" indent="-342900">
              <a:lnSpc>
                <a:spcPct val="90000"/>
              </a:lnSpc>
              <a:spcBef>
                <a:spcPct val="20000"/>
              </a:spcBef>
              <a:buClr>
                <a:srgbClr val="3399FF"/>
              </a:buClr>
              <a:buFont typeface="Wingdings" panose="05000000000000000000" pitchFamily="2" charset="2"/>
              <a:buChar char="v"/>
            </a:pPr>
            <a:r>
              <a:rPr lang="zh-CN" altLang="en-US" sz="2400" b="1" dirty="0">
                <a:latin typeface="楷体_GB2312" pitchFamily="49" charset="-122"/>
                <a:ea typeface="黑体" panose="02010609060101010101" pitchFamily="2" charset="-122"/>
              </a:rPr>
              <a:t>事件响应器</a:t>
            </a:r>
          </a:p>
          <a:p>
            <a:pPr marL="342900" indent="-342900">
              <a:lnSpc>
                <a:spcPct val="90000"/>
              </a:lnSpc>
              <a:spcBef>
                <a:spcPct val="20000"/>
              </a:spcBef>
              <a:buClr>
                <a:srgbClr val="3399FF"/>
              </a:buClr>
              <a:buFont typeface="Wingdings" panose="05000000000000000000" pitchFamily="2" charset="2"/>
              <a:buChar char="v"/>
            </a:pPr>
            <a:r>
              <a:rPr lang="zh-CN" altLang="en-US" sz="2400" b="1" dirty="0">
                <a:latin typeface="楷体_GB2312" pitchFamily="49" charset="-122"/>
                <a:ea typeface="黑体" panose="02010609060101010101" pitchFamily="2" charset="-122"/>
              </a:rPr>
              <a:t>事件数据库</a:t>
            </a:r>
          </a:p>
          <a:p>
            <a:pPr marL="342900" indent="-342900">
              <a:lnSpc>
                <a:spcPct val="90000"/>
              </a:lnSpc>
              <a:spcBef>
                <a:spcPct val="20000"/>
              </a:spcBef>
              <a:buClr>
                <a:srgbClr val="3399FF"/>
              </a:buClr>
              <a:buFont typeface="Wingdings" panose="05000000000000000000" pitchFamily="2" charset="2"/>
              <a:buNone/>
            </a:pPr>
            <a:endParaRPr lang="zh-CN" altLang="en-US" sz="2400" b="1" dirty="0">
              <a:latin typeface="楷体_GB2312" pitchFamily="49" charset="-122"/>
              <a:ea typeface="黑体" panose="02010609060101010101" pitchFamily="2" charset="-122"/>
            </a:endParaRPr>
          </a:p>
        </p:txBody>
      </p:sp>
      <p:sp>
        <p:nvSpPr>
          <p:cNvPr id="2" name="矩形 1"/>
          <p:cNvSpPr/>
          <p:nvPr/>
        </p:nvSpPr>
        <p:spPr>
          <a:xfrm>
            <a:off x="272071" y="753793"/>
            <a:ext cx="5270995" cy="523220"/>
          </a:xfrm>
          <a:prstGeom prst="rect">
            <a:avLst/>
          </a:prstGeom>
          <a:noFill/>
          <a:ln w="9525">
            <a:noFill/>
            <a:miter lim="800000"/>
          </a:ln>
        </p:spPr>
        <p:txBody>
          <a:bodyPr vert="horz" wrap="square" lIns="91440" tIns="45720" rIns="91440" bIns="45720" numCol="1" anchor="ctr" anchorCtr="0" compatLnSpc="1"/>
          <a:lstStyle/>
          <a:p>
            <a:pPr eaLnBrk="0" hangingPunct="0"/>
            <a:r>
              <a:rPr lang="zh-CN" altLang="en-US" sz="2800" b="1"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入侵检测系统的通用模型</a:t>
            </a:r>
            <a:r>
              <a:rPr lang="en-US" altLang="zh-CN" sz="2800" b="1"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(CIDF)</a:t>
            </a:r>
            <a:endParaRPr lang="zh-CN" altLang="en-GB" sz="2800" b="1"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grpSp>
        <p:nvGrpSpPr>
          <p:cNvPr id="6" name="组合 5"/>
          <p:cNvGrpSpPr/>
          <p:nvPr/>
        </p:nvGrpSpPr>
        <p:grpSpPr>
          <a:xfrm>
            <a:off x="503548" y="3537012"/>
            <a:ext cx="8027987" cy="2543175"/>
            <a:chOff x="576263" y="1930400"/>
            <a:chExt cx="8027987" cy="2543175"/>
          </a:xfrm>
        </p:grpSpPr>
        <p:sp>
          <p:nvSpPr>
            <p:cNvPr id="7" name="Rectangle 5"/>
            <p:cNvSpPr>
              <a:spLocks noChangeArrowheads="1"/>
            </p:cNvSpPr>
            <p:nvPr/>
          </p:nvSpPr>
          <p:spPr bwMode="auto">
            <a:xfrm>
              <a:off x="576263" y="1930400"/>
              <a:ext cx="7453312" cy="1458913"/>
            </a:xfrm>
            <a:prstGeom prst="rect">
              <a:avLst/>
            </a:prstGeom>
            <a:noFill/>
            <a:ln w="9525">
              <a:noFill/>
              <a:miter lim="800000"/>
            </a:ln>
          </p:spPr>
          <p:txBody>
            <a:bodyPr>
              <a:spAutoFit/>
            </a:bodyPr>
            <a:lstStyle/>
            <a:p>
              <a:pPr marL="361950" indent="-361950" eaLnBrk="0" hangingPunct="0">
                <a:spcBef>
                  <a:spcPct val="20000"/>
                </a:spcBef>
                <a:buClr>
                  <a:srgbClr val="3399FF"/>
                </a:buClr>
                <a:buFont typeface="Wingdings" panose="05000000000000000000" pitchFamily="2" charset="2"/>
                <a:buChar char="v"/>
              </a:pPr>
              <a:endParaRPr lang="zh-CN" altLang="en-AU" sz="2800" b="1">
                <a:latin typeface="宋体" panose="02010600030101010101" pitchFamily="2" charset="-122"/>
              </a:endParaRPr>
            </a:p>
            <a:p>
              <a:pPr marL="361950" indent="-361950" eaLnBrk="0" hangingPunct="0">
                <a:spcBef>
                  <a:spcPct val="20000"/>
                </a:spcBef>
                <a:buClr>
                  <a:srgbClr val="3399FF"/>
                </a:buClr>
                <a:buFont typeface="Wingdings" panose="05000000000000000000" pitchFamily="2" charset="2"/>
                <a:buNone/>
              </a:pPr>
              <a:endParaRPr lang="zh-CN" altLang="en-US" sz="2800" b="1">
                <a:latin typeface="宋体" panose="02010600030101010101" pitchFamily="2" charset="-122"/>
              </a:endParaRPr>
            </a:p>
            <a:p>
              <a:pPr marL="361950" indent="-361950"/>
              <a:endParaRPr lang="zh-CN" altLang="en-US" sz="2800" b="1">
                <a:latin typeface="宋体" panose="02010600030101010101" pitchFamily="2" charset="-122"/>
              </a:endParaRPr>
            </a:p>
          </p:txBody>
        </p:sp>
        <p:sp>
          <p:nvSpPr>
            <p:cNvPr id="8" name="Text Box 9"/>
            <p:cNvSpPr txBox="1">
              <a:spLocks noChangeArrowheads="1"/>
            </p:cNvSpPr>
            <p:nvPr/>
          </p:nvSpPr>
          <p:spPr bwMode="auto">
            <a:xfrm>
              <a:off x="863600" y="2284413"/>
              <a:ext cx="1390650" cy="392112"/>
            </a:xfrm>
            <a:prstGeom prst="rect">
              <a:avLst/>
            </a:prstGeom>
            <a:noFill/>
            <a:ln w="25400">
              <a:solidFill>
                <a:schemeClr val="accent2"/>
              </a:solidFill>
              <a:miter lim="800000"/>
            </a:ln>
          </p:spPr>
          <p:txBody>
            <a:bodyPr>
              <a:spAutoFit/>
            </a:bodyPr>
            <a:lstStyle/>
            <a:p>
              <a:pPr algn="ctr"/>
              <a:r>
                <a:rPr lang="zh-CN" altLang="en-AU" sz="1800" b="1"/>
                <a:t>事件生成器</a:t>
              </a:r>
            </a:p>
          </p:txBody>
        </p:sp>
        <p:sp>
          <p:nvSpPr>
            <p:cNvPr id="9" name="Text Box 10"/>
            <p:cNvSpPr txBox="1">
              <a:spLocks noChangeArrowheads="1"/>
            </p:cNvSpPr>
            <p:nvPr/>
          </p:nvSpPr>
          <p:spPr bwMode="auto">
            <a:xfrm>
              <a:off x="3600450" y="4081463"/>
              <a:ext cx="1352550" cy="392112"/>
            </a:xfrm>
            <a:prstGeom prst="rect">
              <a:avLst/>
            </a:prstGeom>
            <a:noFill/>
            <a:ln w="25400">
              <a:solidFill>
                <a:schemeClr val="accent2"/>
              </a:solidFill>
              <a:miter lim="800000"/>
            </a:ln>
          </p:spPr>
          <p:txBody>
            <a:bodyPr wrap="none">
              <a:spAutoFit/>
            </a:bodyPr>
            <a:lstStyle/>
            <a:p>
              <a:pPr algn="ctr"/>
              <a:r>
                <a:rPr lang="zh-CN" altLang="en-AU" sz="1800" b="1"/>
                <a:t>事件数据库</a:t>
              </a:r>
              <a:endParaRPr lang="en-AU" altLang="zh-CN" sz="1800" b="1"/>
            </a:p>
          </p:txBody>
        </p:sp>
        <p:sp>
          <p:nvSpPr>
            <p:cNvPr id="10" name="Text Box 12"/>
            <p:cNvSpPr txBox="1">
              <a:spLocks noChangeArrowheads="1"/>
            </p:cNvSpPr>
            <p:nvPr/>
          </p:nvSpPr>
          <p:spPr bwMode="auto">
            <a:xfrm>
              <a:off x="6042025" y="2244725"/>
              <a:ext cx="1352550" cy="392113"/>
            </a:xfrm>
            <a:prstGeom prst="rect">
              <a:avLst/>
            </a:prstGeom>
            <a:noFill/>
            <a:ln w="25400">
              <a:solidFill>
                <a:schemeClr val="accent2"/>
              </a:solidFill>
              <a:miter lim="800000"/>
            </a:ln>
          </p:spPr>
          <p:txBody>
            <a:bodyPr wrap="none">
              <a:spAutoFit/>
            </a:bodyPr>
            <a:lstStyle/>
            <a:p>
              <a:pPr algn="ctr"/>
              <a:r>
                <a:rPr lang="zh-CN" altLang="en-AU" sz="1800" b="1"/>
                <a:t>事件响应器</a:t>
              </a:r>
            </a:p>
          </p:txBody>
        </p:sp>
        <p:sp>
          <p:nvSpPr>
            <p:cNvPr id="11" name="Text Box 13"/>
            <p:cNvSpPr txBox="1">
              <a:spLocks noChangeArrowheads="1"/>
            </p:cNvSpPr>
            <p:nvPr/>
          </p:nvSpPr>
          <p:spPr bwMode="auto">
            <a:xfrm>
              <a:off x="3492500" y="2244725"/>
              <a:ext cx="1436688" cy="392113"/>
            </a:xfrm>
            <a:prstGeom prst="rect">
              <a:avLst/>
            </a:prstGeom>
            <a:noFill/>
            <a:ln w="25400">
              <a:solidFill>
                <a:schemeClr val="accent2"/>
              </a:solidFill>
              <a:miter lim="800000"/>
            </a:ln>
          </p:spPr>
          <p:txBody>
            <a:bodyPr>
              <a:spAutoFit/>
            </a:bodyPr>
            <a:lstStyle/>
            <a:p>
              <a:pPr algn="ctr"/>
              <a:r>
                <a:rPr lang="zh-CN" altLang="en-AU" sz="1800" b="1"/>
                <a:t>事件分析器</a:t>
              </a:r>
            </a:p>
          </p:txBody>
        </p:sp>
        <p:sp>
          <p:nvSpPr>
            <p:cNvPr id="12" name="Line 14"/>
            <p:cNvSpPr>
              <a:spLocks noChangeShapeType="1"/>
            </p:cNvSpPr>
            <p:nvPr/>
          </p:nvSpPr>
          <p:spPr bwMode="auto">
            <a:xfrm>
              <a:off x="2254250" y="2451100"/>
              <a:ext cx="1219200" cy="0"/>
            </a:xfrm>
            <a:prstGeom prst="line">
              <a:avLst/>
            </a:prstGeom>
            <a:noFill/>
            <a:ln w="25400">
              <a:solidFill>
                <a:schemeClr val="accent2"/>
              </a:solidFill>
              <a:round/>
              <a:tailEnd type="stealth" w="med" len="med"/>
            </a:ln>
          </p:spPr>
          <p:txBody>
            <a:bodyPr/>
            <a:lstStyle/>
            <a:p>
              <a:endParaRPr lang="zh-CN" altLang="en-US"/>
            </a:p>
          </p:txBody>
        </p:sp>
        <p:sp>
          <p:nvSpPr>
            <p:cNvPr id="13" name="Line 16"/>
            <p:cNvSpPr>
              <a:spLocks noChangeShapeType="1"/>
            </p:cNvSpPr>
            <p:nvPr/>
          </p:nvSpPr>
          <p:spPr bwMode="auto">
            <a:xfrm flipH="1">
              <a:off x="4211638" y="2636838"/>
              <a:ext cx="0" cy="1008062"/>
            </a:xfrm>
            <a:prstGeom prst="line">
              <a:avLst/>
            </a:prstGeom>
            <a:noFill/>
            <a:ln w="25400">
              <a:solidFill>
                <a:schemeClr val="accent2"/>
              </a:solidFill>
              <a:round/>
              <a:tailEnd type="stealth" w="med" len="med"/>
            </a:ln>
          </p:spPr>
          <p:txBody>
            <a:bodyPr/>
            <a:lstStyle/>
            <a:p>
              <a:endParaRPr lang="zh-CN" altLang="en-US"/>
            </a:p>
          </p:txBody>
        </p:sp>
        <p:sp>
          <p:nvSpPr>
            <p:cNvPr id="14" name="Line 18"/>
            <p:cNvSpPr>
              <a:spLocks noChangeShapeType="1"/>
            </p:cNvSpPr>
            <p:nvPr/>
          </p:nvSpPr>
          <p:spPr bwMode="auto">
            <a:xfrm>
              <a:off x="1727200" y="2708275"/>
              <a:ext cx="2232025" cy="973138"/>
            </a:xfrm>
            <a:prstGeom prst="line">
              <a:avLst/>
            </a:prstGeom>
            <a:noFill/>
            <a:ln w="25400">
              <a:solidFill>
                <a:schemeClr val="accent2"/>
              </a:solidFill>
              <a:round/>
              <a:tailEnd type="stealth" w="med" len="med"/>
            </a:ln>
          </p:spPr>
          <p:txBody>
            <a:bodyPr/>
            <a:lstStyle/>
            <a:p>
              <a:endParaRPr lang="zh-CN" altLang="en-US"/>
            </a:p>
          </p:txBody>
        </p:sp>
        <p:sp>
          <p:nvSpPr>
            <p:cNvPr id="15" name="Line 21"/>
            <p:cNvSpPr>
              <a:spLocks noChangeShapeType="1"/>
            </p:cNvSpPr>
            <p:nvPr/>
          </p:nvSpPr>
          <p:spPr bwMode="auto">
            <a:xfrm flipV="1">
              <a:off x="4572000" y="2708275"/>
              <a:ext cx="2087563" cy="973138"/>
            </a:xfrm>
            <a:prstGeom prst="line">
              <a:avLst/>
            </a:prstGeom>
            <a:noFill/>
            <a:ln w="25400">
              <a:solidFill>
                <a:schemeClr val="accent2"/>
              </a:solidFill>
              <a:round/>
              <a:tailEnd type="stealth" w="med" len="med"/>
            </a:ln>
          </p:spPr>
          <p:txBody>
            <a:bodyPr/>
            <a:lstStyle/>
            <a:p>
              <a:endParaRPr lang="zh-CN" altLang="en-US"/>
            </a:p>
          </p:txBody>
        </p:sp>
        <p:sp>
          <p:nvSpPr>
            <p:cNvPr id="16" name="Line 23"/>
            <p:cNvSpPr>
              <a:spLocks noChangeShapeType="1"/>
            </p:cNvSpPr>
            <p:nvPr/>
          </p:nvSpPr>
          <p:spPr bwMode="auto">
            <a:xfrm>
              <a:off x="7380288" y="2457450"/>
              <a:ext cx="1223962" cy="0"/>
            </a:xfrm>
            <a:prstGeom prst="line">
              <a:avLst/>
            </a:prstGeom>
            <a:noFill/>
            <a:ln w="25400">
              <a:solidFill>
                <a:schemeClr val="accent2"/>
              </a:solidFill>
              <a:round/>
              <a:tailEnd type="stealth" w="med" len="med"/>
            </a:ln>
          </p:spPr>
          <p:txBody>
            <a:bodyPr/>
            <a:lstStyle/>
            <a:p>
              <a:endParaRPr lang="zh-CN" altLang="en-US"/>
            </a:p>
          </p:txBody>
        </p:sp>
        <p:sp>
          <p:nvSpPr>
            <p:cNvPr id="17" name="Text Box 26"/>
            <p:cNvSpPr txBox="1">
              <a:spLocks noChangeArrowheads="1"/>
            </p:cNvSpPr>
            <p:nvPr/>
          </p:nvSpPr>
          <p:spPr bwMode="auto">
            <a:xfrm>
              <a:off x="2376488" y="2024063"/>
              <a:ext cx="996950" cy="336550"/>
            </a:xfrm>
            <a:prstGeom prst="rect">
              <a:avLst/>
            </a:prstGeom>
            <a:noFill/>
            <a:ln w="25400">
              <a:noFill/>
              <a:miter lim="800000"/>
            </a:ln>
          </p:spPr>
          <p:txBody>
            <a:bodyPr wrap="none">
              <a:spAutoFit/>
            </a:bodyPr>
            <a:lstStyle/>
            <a:p>
              <a:pPr algn="ctr"/>
              <a:r>
                <a:rPr lang="zh-CN" altLang="en-AU" sz="1600" b="1">
                  <a:solidFill>
                    <a:srgbClr val="CC0099"/>
                  </a:solidFill>
                </a:rPr>
                <a:t>交互数据</a:t>
              </a:r>
            </a:p>
          </p:txBody>
        </p:sp>
        <p:sp>
          <p:nvSpPr>
            <p:cNvPr id="18" name="Line 32"/>
            <p:cNvSpPr>
              <a:spLocks noChangeShapeType="1"/>
            </p:cNvSpPr>
            <p:nvPr/>
          </p:nvSpPr>
          <p:spPr bwMode="auto">
            <a:xfrm flipV="1">
              <a:off x="4932363" y="2420938"/>
              <a:ext cx="1116012" cy="0"/>
            </a:xfrm>
            <a:prstGeom prst="line">
              <a:avLst/>
            </a:prstGeom>
            <a:noFill/>
            <a:ln w="25400">
              <a:solidFill>
                <a:schemeClr val="accent2"/>
              </a:solidFill>
              <a:round/>
              <a:tailEnd type="stealth" w="med" len="med"/>
            </a:ln>
          </p:spPr>
          <p:txBody>
            <a:bodyPr/>
            <a:lstStyle/>
            <a:p>
              <a:endParaRPr lang="zh-CN" altLang="en-US"/>
            </a:p>
          </p:txBody>
        </p:sp>
        <p:sp>
          <p:nvSpPr>
            <p:cNvPr id="19" name="Text Box 33"/>
            <p:cNvSpPr txBox="1">
              <a:spLocks noChangeArrowheads="1"/>
            </p:cNvSpPr>
            <p:nvPr/>
          </p:nvSpPr>
          <p:spPr bwMode="auto">
            <a:xfrm>
              <a:off x="7691438" y="2012950"/>
              <a:ext cx="590550" cy="336550"/>
            </a:xfrm>
            <a:prstGeom prst="rect">
              <a:avLst/>
            </a:prstGeom>
            <a:noFill/>
            <a:ln w="25400">
              <a:noFill/>
              <a:miter lim="800000"/>
            </a:ln>
          </p:spPr>
          <p:txBody>
            <a:bodyPr wrap="none">
              <a:spAutoFit/>
            </a:bodyPr>
            <a:lstStyle/>
            <a:p>
              <a:pPr algn="ctr"/>
              <a:r>
                <a:rPr lang="zh-CN" altLang="en-AU" sz="1600" b="1">
                  <a:solidFill>
                    <a:srgbClr val="CC0099"/>
                  </a:solidFill>
                </a:rPr>
                <a:t>行动</a:t>
              </a:r>
            </a:p>
          </p:txBody>
        </p:sp>
        <p:sp>
          <p:nvSpPr>
            <p:cNvPr id="20" name="Text Box 34"/>
            <p:cNvSpPr txBox="1">
              <a:spLocks noChangeArrowheads="1"/>
            </p:cNvSpPr>
            <p:nvPr/>
          </p:nvSpPr>
          <p:spPr bwMode="auto">
            <a:xfrm>
              <a:off x="5003800" y="2047875"/>
              <a:ext cx="996950" cy="336550"/>
            </a:xfrm>
            <a:prstGeom prst="rect">
              <a:avLst/>
            </a:prstGeom>
            <a:noFill/>
            <a:ln w="25400">
              <a:noFill/>
              <a:miter lim="800000"/>
            </a:ln>
          </p:spPr>
          <p:txBody>
            <a:bodyPr wrap="none">
              <a:spAutoFit/>
            </a:bodyPr>
            <a:lstStyle/>
            <a:p>
              <a:pPr algn="ctr"/>
              <a:r>
                <a:rPr lang="zh-CN" altLang="en-AU" sz="1600" b="1" dirty="0">
                  <a:solidFill>
                    <a:srgbClr val="CC0099"/>
                  </a:solidFill>
                </a:rPr>
                <a:t>交互数据</a:t>
              </a:r>
            </a:p>
          </p:txBody>
        </p:sp>
        <p:sp>
          <p:nvSpPr>
            <p:cNvPr id="21" name="Text Box 35"/>
            <p:cNvSpPr txBox="1">
              <a:spLocks noChangeArrowheads="1"/>
            </p:cNvSpPr>
            <p:nvPr/>
          </p:nvSpPr>
          <p:spPr bwMode="auto">
            <a:xfrm>
              <a:off x="3779838" y="3668713"/>
              <a:ext cx="996950" cy="336550"/>
            </a:xfrm>
            <a:prstGeom prst="rect">
              <a:avLst/>
            </a:prstGeom>
            <a:noFill/>
            <a:ln w="25400">
              <a:noFill/>
              <a:miter lim="800000"/>
            </a:ln>
          </p:spPr>
          <p:txBody>
            <a:bodyPr wrap="none">
              <a:spAutoFit/>
            </a:bodyPr>
            <a:lstStyle/>
            <a:p>
              <a:pPr algn="ctr"/>
              <a:r>
                <a:rPr lang="zh-CN" altLang="en-AU" sz="1600" b="1">
                  <a:solidFill>
                    <a:srgbClr val="CC0099"/>
                  </a:solidFill>
                </a:rPr>
                <a:t>交互数据</a:t>
              </a:r>
            </a:p>
          </p:txBody>
        </p:sp>
      </p:grpSp>
      <p:sp>
        <p:nvSpPr>
          <p:cNvPr id="3" name="矩形 2"/>
          <p:cNvSpPr/>
          <p:nvPr/>
        </p:nvSpPr>
        <p:spPr>
          <a:xfrm>
            <a:off x="801754" y="1438706"/>
            <a:ext cx="1728887" cy="523220"/>
          </a:xfrm>
          <a:prstGeom prst="rect">
            <a:avLst/>
          </a:prstGeom>
        </p:spPr>
        <p:txBody>
          <a:bodyPr wrap="square">
            <a:spAutoFit/>
          </a:bodyPr>
          <a:lstStyle/>
          <a:p>
            <a:r>
              <a:rPr lang="zh-CN" altLang="en-US" sz="2800" dirty="0">
                <a:solidFill>
                  <a:srgbClr val="FF0000"/>
                </a:solidFill>
                <a:effectLst>
                  <a:outerShdw blurRad="38100" dist="38100" dir="2700000" algn="tl">
                    <a:srgbClr val="000000">
                      <a:alpha val="43137"/>
                    </a:srgbClr>
                  </a:outerShdw>
                </a:effectLst>
                <a:latin typeface="+mn-ea"/>
                <a:ea typeface="+mn-ea"/>
                <a:cs typeface="Times New Roman" panose="02020603050405020304" pitchFamily="18" charset="0"/>
              </a:rPr>
              <a:t>组成：</a:t>
            </a:r>
            <a:endParaRPr lang="zh-CN" altLang="en-US" sz="2800" dirty="0">
              <a:solidFill>
                <a:srgbClr val="FF0000"/>
              </a:solidFill>
              <a:latin typeface="+mn-ea"/>
              <a:ea typeface="+mn-ea"/>
            </a:endParaRPr>
          </a:p>
        </p:txBody>
      </p:sp>
      <p:sp>
        <p:nvSpPr>
          <p:cNvPr id="5" name="矩形标注 4"/>
          <p:cNvSpPr/>
          <p:nvPr/>
        </p:nvSpPr>
        <p:spPr>
          <a:xfrm>
            <a:off x="121680" y="2430101"/>
            <a:ext cx="4361000" cy="1060080"/>
          </a:xfrm>
          <a:prstGeom prst="wedgeRectCallout">
            <a:avLst>
              <a:gd name="adj1" fmla="val -21090"/>
              <a:gd name="adj2" fmla="val 86590"/>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7655" indent="-6350"/>
            <a:r>
              <a:rPr lang="zh-CN" altLang="en-US" sz="1600" dirty="0">
                <a:solidFill>
                  <a:schemeClr val="tx1"/>
                </a:solidFill>
              </a:rPr>
              <a:t>事件产生器采集和监视被保护的系统数据，这些数据可以是网络的数据包，也可以是从系统日志等其他途径搜集到的信息。并且将这个数据进行保存，一般是保存到数据库中。</a:t>
            </a:r>
          </a:p>
        </p:txBody>
      </p:sp>
      <p:sp>
        <p:nvSpPr>
          <p:cNvPr id="25" name="矩形标注 24"/>
          <p:cNvSpPr/>
          <p:nvPr/>
        </p:nvSpPr>
        <p:spPr>
          <a:xfrm>
            <a:off x="2907568" y="1760037"/>
            <a:ext cx="4969921" cy="1507009"/>
          </a:xfrm>
          <a:prstGeom prst="wedgeRectCallout">
            <a:avLst>
              <a:gd name="adj1" fmla="val -21090"/>
              <a:gd name="adj2" fmla="val 86590"/>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7655" indent="-6350"/>
            <a:r>
              <a:rPr lang="zh-CN" altLang="en-US" sz="1600" dirty="0">
                <a:solidFill>
                  <a:schemeClr val="tx1"/>
                </a:solidFill>
              </a:rPr>
              <a:t>事件分析器的功能主要分为两个方面：一是用于分析事件产生器搜集到的数据，区分数据的正确性，发现非法的或者具有潜在危险的、异常的数据现象，通知响应单元做出入侵防范；一是对数据库保存的数据做定期的统计分析，发现某段时期内的异常表现，进而对该时期内的异常数据进行详细分析。</a:t>
            </a:r>
          </a:p>
        </p:txBody>
      </p:sp>
      <p:sp>
        <p:nvSpPr>
          <p:cNvPr id="26" name="矩形标注 25"/>
          <p:cNvSpPr/>
          <p:nvPr/>
        </p:nvSpPr>
        <p:spPr>
          <a:xfrm>
            <a:off x="470088" y="4354573"/>
            <a:ext cx="3640277" cy="1041401"/>
          </a:xfrm>
          <a:prstGeom prst="wedgeRectCallout">
            <a:avLst>
              <a:gd name="adj1" fmla="val 39393"/>
              <a:gd name="adj2" fmla="val 76930"/>
            </a:avLst>
          </a:prstGeom>
          <a:solidFill>
            <a:srgbClr val="ECEEE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7655" indent="-6350"/>
            <a:r>
              <a:rPr lang="zh-CN" altLang="en-US" sz="1600" dirty="0">
                <a:solidFill>
                  <a:schemeClr val="tx1"/>
                </a:solidFill>
              </a:rPr>
              <a:t>事件数据库记录事件分析单元提供的分析结果，同时记录下所有来自于事件产生器的事件，用来进行以后的分析与检查。</a:t>
            </a:r>
          </a:p>
        </p:txBody>
      </p:sp>
      <p:sp>
        <p:nvSpPr>
          <p:cNvPr id="27" name="矩形标注 26"/>
          <p:cNvSpPr/>
          <p:nvPr/>
        </p:nvSpPr>
        <p:spPr>
          <a:xfrm>
            <a:off x="5037447" y="4768912"/>
            <a:ext cx="4016633" cy="1540408"/>
          </a:xfrm>
          <a:prstGeom prst="wedgeRectCallout">
            <a:avLst>
              <a:gd name="adj1" fmla="val 3080"/>
              <a:gd name="adj2" fmla="val -83026"/>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7655" indent="-6350"/>
            <a:r>
              <a:rPr lang="zh-CN" altLang="en-US" sz="1600" dirty="0">
                <a:solidFill>
                  <a:schemeClr val="tx1"/>
                </a:solidFill>
              </a:rPr>
              <a:t>事件响应器是协同事件分析器工作的重要组成部分，一旦事件分析器发现具有入侵企图的异常数据，响应单元就要发挥作用，对具有入侵企图的攻击施以拦截、阻断、反追踪等手段，保护被保护系统免受攻击和破坏。</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8134"/>
                                        </p:tgtEl>
                                        <p:attrNameLst>
                                          <p:attrName>style.visibility</p:attrName>
                                        </p:attrNameLst>
                                      </p:cBhvr>
                                      <p:to>
                                        <p:strVal val="visible"/>
                                      </p:to>
                                    </p:set>
                                    <p:animEffect transition="in" filter="wipe(left)">
                                      <p:cBhvr>
                                        <p:cTn id="11" dur="500"/>
                                        <p:tgtEl>
                                          <p:spTgt spid="48134"/>
                                        </p:tgtEl>
                                      </p:cBhvr>
                                    </p:animEffect>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500" fill="hold"/>
                                        <p:tgtEl>
                                          <p:spTgt spid="6"/>
                                        </p:tgtEl>
                                        <p:attrNameLst>
                                          <p:attrName>ppt_w</p:attrName>
                                        </p:attrNameLst>
                                      </p:cBhvr>
                                      <p:tavLst>
                                        <p:tav tm="0">
                                          <p:val>
                                            <p:fltVal val="0"/>
                                          </p:val>
                                        </p:tav>
                                        <p:tav tm="100000">
                                          <p:val>
                                            <p:strVal val="#ppt_w"/>
                                          </p:val>
                                        </p:tav>
                                      </p:tavLst>
                                    </p:anim>
                                    <p:anim calcmode="lin" valueType="num">
                                      <p:cBhvr>
                                        <p:cTn id="17" dur="500" fill="hold"/>
                                        <p:tgtEl>
                                          <p:spTgt spid="6"/>
                                        </p:tgtEl>
                                        <p:attrNameLst>
                                          <p:attrName>ppt_h</p:attrName>
                                        </p:attrNameLst>
                                      </p:cBhvr>
                                      <p:tavLst>
                                        <p:tav tm="0">
                                          <p:val>
                                            <p:fltVal val="0"/>
                                          </p:val>
                                        </p:tav>
                                        <p:tav tm="100000">
                                          <p:val>
                                            <p:strVal val="#ppt_h"/>
                                          </p:val>
                                        </p:tav>
                                      </p:tavLst>
                                    </p:anim>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up)">
                                      <p:cBhvr>
                                        <p:cTn id="23"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wipe(up)">
                                      <p:cBhvr>
                                        <p:cTn id="28" dur="500"/>
                                        <p:tgtEl>
                                          <p:spTgt spid="25"/>
                                        </p:tgtEl>
                                      </p:cBhvr>
                                    </p:animEffect>
                                  </p:childTnLst>
                                  <p:subTnLst>
                                    <p:set>
                                      <p:cBhvr override="childStyle">
                                        <p:cTn dur="1" fill="hold" display="0" masterRel="nextClick" afterEffect="1"/>
                                        <p:tgtEl>
                                          <p:spTgt spid="25"/>
                                        </p:tgtEl>
                                        <p:attrNameLst>
                                          <p:attrName>style.visibility</p:attrName>
                                        </p:attrNameLst>
                                      </p:cBhvr>
                                      <p:to>
                                        <p:strVal val="hidden"/>
                                      </p:to>
                                    </p:set>
                                  </p:sub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wipe(down)">
                                      <p:cBhvr>
                                        <p:cTn id="33" dur="500"/>
                                        <p:tgtEl>
                                          <p:spTgt spid="27"/>
                                        </p:tgtEl>
                                      </p:cBhvr>
                                    </p:animEffect>
                                  </p:childTnLst>
                                  <p:subTnLst>
                                    <p:set>
                                      <p:cBhvr override="childStyle">
                                        <p:cTn dur="1" fill="hold" display="0" masterRel="nextClick" afterEffect="1"/>
                                        <p:tgtEl>
                                          <p:spTgt spid="27"/>
                                        </p:tgtEl>
                                        <p:attrNameLst>
                                          <p:attrName>style.visibility</p:attrName>
                                        </p:attrNameLst>
                                      </p:cBhvr>
                                      <p:to>
                                        <p:strVal val="hidden"/>
                                      </p:to>
                                    </p:set>
                                  </p:sub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wipe(left)">
                                      <p:cBhvr>
                                        <p:cTn id="38" dur="500"/>
                                        <p:tgtEl>
                                          <p:spTgt spid="26"/>
                                        </p:tgtEl>
                                      </p:cBhvr>
                                    </p:animEffect>
                                  </p:childTnLst>
                                  <p:subTnLst>
                                    <p:set>
                                      <p:cBhvr override="childStyle">
                                        <p:cTn dur="1" fill="hold" display="0" masterRel="nextClick" afterEffect="1"/>
                                        <p:tgtEl>
                                          <p:spTgt spid="2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4" grpId="0"/>
      <p:bldP spid="3" grpId="0"/>
      <p:bldP spid="5" grpId="0" animBg="1"/>
      <p:bldP spid="25" grpId="0" animBg="1"/>
      <p:bldP spid="26" grpId="0" animBg="1"/>
      <p:bldP spid="2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p:cNvGrpSpPr/>
          <p:nvPr/>
        </p:nvGrpSpPr>
        <p:grpSpPr>
          <a:xfrm>
            <a:off x="838200" y="1682080"/>
            <a:ext cx="7694240" cy="4267200"/>
            <a:chOff x="838200" y="1682080"/>
            <a:chExt cx="7694240" cy="4267200"/>
          </a:xfrm>
        </p:grpSpPr>
        <p:sp>
          <p:nvSpPr>
            <p:cNvPr id="4" name="Rectangle 3"/>
            <p:cNvSpPr>
              <a:spLocks noChangeArrowheads="1"/>
            </p:cNvSpPr>
            <p:nvPr/>
          </p:nvSpPr>
          <p:spPr bwMode="auto">
            <a:xfrm>
              <a:off x="3429000" y="1682080"/>
              <a:ext cx="2133600" cy="533400"/>
            </a:xfrm>
            <a:prstGeom prst="rect">
              <a:avLst/>
            </a:prstGeom>
            <a:solidFill>
              <a:srgbClr val="00B050"/>
            </a:solidFill>
            <a:ln w="9525">
              <a:solidFill>
                <a:schemeClr val="tx1"/>
              </a:solidFill>
              <a:miter lim="800000"/>
            </a:ln>
          </p:spPr>
          <p:txBody>
            <a:bodyPr wrap="none" anchor="ctr"/>
            <a:lstStyle/>
            <a:p>
              <a:r>
                <a:rPr kumimoji="1" lang="zh-CN" altLang="en-US" sz="2000" b="1" dirty="0">
                  <a:latin typeface="Times New Roman" panose="02020603050405020304" pitchFamily="18" charset="0"/>
                </a:rPr>
                <a:t>        数据源</a:t>
              </a:r>
            </a:p>
          </p:txBody>
        </p:sp>
        <p:sp>
          <p:nvSpPr>
            <p:cNvPr id="5" name="Rectangle 4"/>
            <p:cNvSpPr>
              <a:spLocks noChangeArrowheads="1"/>
            </p:cNvSpPr>
            <p:nvPr/>
          </p:nvSpPr>
          <p:spPr bwMode="auto">
            <a:xfrm>
              <a:off x="838200" y="2748880"/>
              <a:ext cx="2133600" cy="533400"/>
            </a:xfrm>
            <a:prstGeom prst="rect">
              <a:avLst/>
            </a:prstGeom>
            <a:solidFill>
              <a:srgbClr val="00B0F0"/>
            </a:solidFill>
            <a:ln w="9525">
              <a:solidFill>
                <a:schemeClr val="tx1"/>
              </a:solidFill>
              <a:miter lim="800000"/>
            </a:ln>
          </p:spPr>
          <p:txBody>
            <a:bodyPr wrap="none" anchor="ctr"/>
            <a:lstStyle/>
            <a:p>
              <a:r>
                <a:rPr kumimoji="1" lang="zh-CN" altLang="en-US" sz="2000" b="1" dirty="0">
                  <a:latin typeface="Times New Roman" panose="02020603050405020304" pitchFamily="18" charset="0"/>
                </a:rPr>
                <a:t>     模式匹配器</a:t>
              </a:r>
            </a:p>
          </p:txBody>
        </p:sp>
        <p:sp>
          <p:nvSpPr>
            <p:cNvPr id="6" name="Rectangle 5"/>
            <p:cNvSpPr>
              <a:spLocks noChangeArrowheads="1"/>
            </p:cNvSpPr>
            <p:nvPr/>
          </p:nvSpPr>
          <p:spPr bwMode="auto">
            <a:xfrm>
              <a:off x="6324600" y="2748880"/>
              <a:ext cx="2207840" cy="533400"/>
            </a:xfrm>
            <a:prstGeom prst="rect">
              <a:avLst/>
            </a:prstGeom>
            <a:solidFill>
              <a:srgbClr val="FFC000"/>
            </a:solidFill>
            <a:ln w="9525">
              <a:solidFill>
                <a:schemeClr val="tx1"/>
              </a:solidFill>
              <a:miter lim="800000"/>
            </a:ln>
          </p:spPr>
          <p:txBody>
            <a:bodyPr wrap="none" anchor="ctr"/>
            <a:lstStyle/>
            <a:p>
              <a:r>
                <a:rPr kumimoji="1" lang="zh-CN" altLang="en-US" sz="2000" b="1" dirty="0">
                  <a:latin typeface="Times New Roman" panose="02020603050405020304" pitchFamily="18" charset="0"/>
                </a:rPr>
                <a:t>系统轮廓分析引擎</a:t>
              </a:r>
            </a:p>
          </p:txBody>
        </p:sp>
        <p:sp>
          <p:nvSpPr>
            <p:cNvPr id="7" name="AutoShape 6"/>
            <p:cNvSpPr>
              <a:spLocks noChangeArrowheads="1"/>
            </p:cNvSpPr>
            <p:nvPr/>
          </p:nvSpPr>
          <p:spPr bwMode="auto">
            <a:xfrm>
              <a:off x="3581400" y="2901280"/>
              <a:ext cx="1676400" cy="1600200"/>
            </a:xfrm>
            <a:prstGeom prst="can">
              <a:avLst>
                <a:gd name="adj" fmla="val 25000"/>
              </a:avLst>
            </a:prstGeom>
            <a:solidFill>
              <a:srgbClr val="00B050"/>
            </a:solidFill>
            <a:ln w="9525">
              <a:solidFill>
                <a:schemeClr val="tx1"/>
              </a:solidFill>
              <a:miter lim="800000"/>
            </a:ln>
          </p:spPr>
          <p:txBody>
            <a:bodyPr wrap="none" anchor="ctr"/>
            <a:lstStyle/>
            <a:p>
              <a:r>
                <a:rPr kumimoji="1" lang="zh-CN" altLang="en-US" sz="2000" b="1" dirty="0">
                  <a:latin typeface="Times New Roman" panose="02020603050405020304" pitchFamily="18" charset="0"/>
                </a:rPr>
                <a:t>    数据库</a:t>
              </a:r>
            </a:p>
          </p:txBody>
        </p:sp>
        <p:sp>
          <p:nvSpPr>
            <p:cNvPr id="8" name="AutoShape 7"/>
            <p:cNvSpPr>
              <a:spLocks noChangeArrowheads="1"/>
            </p:cNvSpPr>
            <p:nvPr/>
          </p:nvSpPr>
          <p:spPr bwMode="auto">
            <a:xfrm>
              <a:off x="1219200" y="3815680"/>
              <a:ext cx="1408584" cy="914400"/>
            </a:xfrm>
            <a:prstGeom prst="can">
              <a:avLst>
                <a:gd name="adj" fmla="val 25000"/>
              </a:avLst>
            </a:prstGeom>
            <a:solidFill>
              <a:srgbClr val="00B0F0"/>
            </a:solidFill>
            <a:ln w="9525">
              <a:solidFill>
                <a:schemeClr val="tx1"/>
              </a:solidFill>
              <a:miter lim="800000"/>
            </a:ln>
          </p:spPr>
          <p:txBody>
            <a:bodyPr wrap="none" anchor="ctr"/>
            <a:lstStyle/>
            <a:p>
              <a:r>
                <a:rPr kumimoji="1" lang="zh-CN" altLang="en-US" sz="2000" b="1">
                  <a:latin typeface="Times New Roman" panose="02020603050405020304" pitchFamily="18" charset="0"/>
                </a:rPr>
                <a:t>入侵模式库</a:t>
              </a:r>
            </a:p>
          </p:txBody>
        </p:sp>
        <p:sp>
          <p:nvSpPr>
            <p:cNvPr id="9" name="Rectangle 8"/>
            <p:cNvSpPr>
              <a:spLocks noChangeArrowheads="1"/>
            </p:cNvSpPr>
            <p:nvPr/>
          </p:nvSpPr>
          <p:spPr bwMode="auto">
            <a:xfrm>
              <a:off x="6324600" y="4044280"/>
              <a:ext cx="2133600" cy="533400"/>
            </a:xfrm>
            <a:prstGeom prst="rect">
              <a:avLst/>
            </a:prstGeom>
            <a:solidFill>
              <a:srgbClr val="FFC000"/>
            </a:solidFill>
            <a:ln w="9525">
              <a:solidFill>
                <a:schemeClr val="tx1"/>
              </a:solidFill>
              <a:miter lim="800000"/>
            </a:ln>
          </p:spPr>
          <p:txBody>
            <a:bodyPr wrap="none" anchor="ctr"/>
            <a:lstStyle/>
            <a:p>
              <a:r>
                <a:rPr kumimoji="1" lang="zh-CN" altLang="en-US" sz="2000" b="1" dirty="0">
                  <a:latin typeface="Times New Roman" panose="02020603050405020304" pitchFamily="18" charset="0"/>
                </a:rPr>
                <a:t>      异常检测器</a:t>
              </a:r>
            </a:p>
          </p:txBody>
        </p:sp>
        <p:sp>
          <p:nvSpPr>
            <p:cNvPr id="10" name="Rectangle 9"/>
            <p:cNvSpPr>
              <a:spLocks noChangeArrowheads="1"/>
            </p:cNvSpPr>
            <p:nvPr/>
          </p:nvSpPr>
          <p:spPr bwMode="auto">
            <a:xfrm>
              <a:off x="2895600" y="5263480"/>
              <a:ext cx="2895600" cy="685800"/>
            </a:xfrm>
            <a:prstGeom prst="rect">
              <a:avLst/>
            </a:prstGeom>
            <a:solidFill>
              <a:srgbClr val="00B050"/>
            </a:solidFill>
            <a:ln w="9525">
              <a:solidFill>
                <a:schemeClr val="tx1"/>
              </a:solidFill>
              <a:miter lim="800000"/>
            </a:ln>
          </p:spPr>
          <p:txBody>
            <a:bodyPr wrap="none" anchor="ctr"/>
            <a:lstStyle/>
            <a:p>
              <a:r>
                <a:rPr kumimoji="1" lang="zh-CN" altLang="en-US" sz="2000" b="1" dirty="0">
                  <a:latin typeface="Times New Roman" panose="02020603050405020304" pitchFamily="18" charset="0"/>
                </a:rPr>
                <a:t>    响应和恢复机制</a:t>
              </a:r>
            </a:p>
          </p:txBody>
        </p:sp>
        <p:sp>
          <p:nvSpPr>
            <p:cNvPr id="11" name="Line 10"/>
            <p:cNvSpPr>
              <a:spLocks noChangeShapeType="1"/>
            </p:cNvSpPr>
            <p:nvPr/>
          </p:nvSpPr>
          <p:spPr bwMode="auto">
            <a:xfrm flipH="1">
              <a:off x="1981200" y="2215480"/>
              <a:ext cx="1752600" cy="533400"/>
            </a:xfrm>
            <a:prstGeom prst="line">
              <a:avLst/>
            </a:prstGeom>
            <a:noFill/>
            <a:ln w="38100">
              <a:solidFill>
                <a:schemeClr val="tx1"/>
              </a:solidFill>
              <a:miter lim="800000"/>
              <a:tailEnd type="triangle" w="med" len="med"/>
            </a:ln>
          </p:spPr>
          <p:txBody>
            <a:bodyPr wrap="none"/>
            <a:lstStyle/>
            <a:p>
              <a:endParaRPr lang="zh-CN" altLang="en-US" b="1"/>
            </a:p>
          </p:txBody>
        </p:sp>
        <p:sp>
          <p:nvSpPr>
            <p:cNvPr id="12" name="Line 11"/>
            <p:cNvSpPr>
              <a:spLocks noChangeShapeType="1"/>
            </p:cNvSpPr>
            <p:nvPr/>
          </p:nvSpPr>
          <p:spPr bwMode="auto">
            <a:xfrm>
              <a:off x="5181600" y="2215480"/>
              <a:ext cx="1905000" cy="533400"/>
            </a:xfrm>
            <a:prstGeom prst="line">
              <a:avLst/>
            </a:prstGeom>
            <a:noFill/>
            <a:ln w="38100">
              <a:solidFill>
                <a:srgbClr val="FF0000"/>
              </a:solidFill>
              <a:miter lim="800000"/>
              <a:tailEnd type="triangle" w="med" len="med"/>
            </a:ln>
          </p:spPr>
          <p:txBody>
            <a:bodyPr wrap="none"/>
            <a:lstStyle/>
            <a:p>
              <a:endParaRPr lang="zh-CN" altLang="en-US" b="1"/>
            </a:p>
          </p:txBody>
        </p:sp>
        <p:sp>
          <p:nvSpPr>
            <p:cNvPr id="13" name="Line 12"/>
            <p:cNvSpPr>
              <a:spLocks noChangeShapeType="1"/>
            </p:cNvSpPr>
            <p:nvPr/>
          </p:nvSpPr>
          <p:spPr bwMode="auto">
            <a:xfrm>
              <a:off x="1828800" y="3282280"/>
              <a:ext cx="0" cy="533400"/>
            </a:xfrm>
            <a:prstGeom prst="line">
              <a:avLst/>
            </a:prstGeom>
            <a:noFill/>
            <a:ln w="38100">
              <a:solidFill>
                <a:schemeClr val="tx1"/>
              </a:solidFill>
              <a:miter lim="800000"/>
              <a:headEnd type="triangle" w="med" len="med"/>
            </a:ln>
          </p:spPr>
          <p:txBody>
            <a:bodyPr wrap="none"/>
            <a:lstStyle/>
            <a:p>
              <a:endParaRPr lang="zh-CN" altLang="en-US" b="1"/>
            </a:p>
          </p:txBody>
        </p:sp>
        <p:sp>
          <p:nvSpPr>
            <p:cNvPr id="14" name="Line 13"/>
            <p:cNvSpPr>
              <a:spLocks noChangeShapeType="1"/>
            </p:cNvSpPr>
            <p:nvPr/>
          </p:nvSpPr>
          <p:spPr bwMode="auto">
            <a:xfrm>
              <a:off x="2971800" y="2977480"/>
              <a:ext cx="609600" cy="685800"/>
            </a:xfrm>
            <a:prstGeom prst="line">
              <a:avLst/>
            </a:prstGeom>
            <a:noFill/>
            <a:ln w="38100">
              <a:solidFill>
                <a:schemeClr val="tx1"/>
              </a:solidFill>
              <a:miter lim="800000"/>
              <a:tailEnd type="triangle" w="med" len="med"/>
            </a:ln>
          </p:spPr>
          <p:txBody>
            <a:bodyPr wrap="none"/>
            <a:lstStyle/>
            <a:p>
              <a:endParaRPr lang="zh-CN" altLang="en-US" b="1"/>
            </a:p>
          </p:txBody>
        </p:sp>
        <p:sp>
          <p:nvSpPr>
            <p:cNvPr id="15" name="Line 14"/>
            <p:cNvSpPr>
              <a:spLocks noChangeShapeType="1"/>
            </p:cNvSpPr>
            <p:nvPr/>
          </p:nvSpPr>
          <p:spPr bwMode="auto">
            <a:xfrm>
              <a:off x="2819401" y="3282280"/>
              <a:ext cx="1066799" cy="1981200"/>
            </a:xfrm>
            <a:prstGeom prst="line">
              <a:avLst/>
            </a:prstGeom>
            <a:noFill/>
            <a:ln w="38100">
              <a:solidFill>
                <a:schemeClr val="tx1"/>
              </a:solidFill>
              <a:miter lim="800000"/>
              <a:tailEnd type="triangle" w="med" len="med"/>
            </a:ln>
          </p:spPr>
          <p:txBody>
            <a:bodyPr wrap="none"/>
            <a:lstStyle/>
            <a:p>
              <a:endParaRPr lang="zh-CN" altLang="en-US" b="1"/>
            </a:p>
          </p:txBody>
        </p:sp>
        <p:sp>
          <p:nvSpPr>
            <p:cNvPr id="16" name="Line 15"/>
            <p:cNvSpPr>
              <a:spLocks noChangeShapeType="1"/>
            </p:cNvSpPr>
            <p:nvPr/>
          </p:nvSpPr>
          <p:spPr bwMode="auto">
            <a:xfrm flipV="1">
              <a:off x="4343400" y="4501480"/>
              <a:ext cx="0" cy="762000"/>
            </a:xfrm>
            <a:prstGeom prst="line">
              <a:avLst/>
            </a:prstGeom>
            <a:noFill/>
            <a:ln w="38100">
              <a:solidFill>
                <a:schemeClr val="tx2">
                  <a:lumMod val="60000"/>
                  <a:lumOff val="40000"/>
                </a:schemeClr>
              </a:solidFill>
              <a:miter lim="800000"/>
              <a:tailEnd type="triangle" w="med" len="med"/>
            </a:ln>
          </p:spPr>
          <p:txBody>
            <a:bodyPr wrap="none"/>
            <a:lstStyle/>
            <a:p>
              <a:endParaRPr lang="zh-CN" altLang="en-US" b="1"/>
            </a:p>
          </p:txBody>
        </p:sp>
        <p:sp>
          <p:nvSpPr>
            <p:cNvPr id="17" name="Line 16"/>
            <p:cNvSpPr>
              <a:spLocks noChangeShapeType="1"/>
            </p:cNvSpPr>
            <p:nvPr/>
          </p:nvSpPr>
          <p:spPr bwMode="auto">
            <a:xfrm>
              <a:off x="7391400" y="3282280"/>
              <a:ext cx="0" cy="762000"/>
            </a:xfrm>
            <a:prstGeom prst="line">
              <a:avLst/>
            </a:prstGeom>
            <a:noFill/>
            <a:ln w="38100">
              <a:solidFill>
                <a:srgbClr val="FF0000"/>
              </a:solidFill>
              <a:miter lim="800000"/>
              <a:tailEnd type="triangle" w="med" len="med"/>
            </a:ln>
          </p:spPr>
          <p:txBody>
            <a:bodyPr wrap="none"/>
            <a:lstStyle/>
            <a:p>
              <a:endParaRPr lang="zh-CN" altLang="en-US" b="1"/>
            </a:p>
          </p:txBody>
        </p:sp>
        <p:sp>
          <p:nvSpPr>
            <p:cNvPr id="18" name="Line 17"/>
            <p:cNvSpPr>
              <a:spLocks noChangeShapeType="1"/>
            </p:cNvSpPr>
            <p:nvPr/>
          </p:nvSpPr>
          <p:spPr bwMode="auto">
            <a:xfrm flipH="1">
              <a:off x="4800600" y="4577680"/>
              <a:ext cx="2438400" cy="685800"/>
            </a:xfrm>
            <a:prstGeom prst="line">
              <a:avLst/>
            </a:prstGeom>
            <a:noFill/>
            <a:ln w="38100">
              <a:solidFill>
                <a:srgbClr val="FF0000"/>
              </a:solidFill>
              <a:miter lim="800000"/>
              <a:tailEnd type="triangle" w="med" len="med"/>
            </a:ln>
          </p:spPr>
          <p:txBody>
            <a:bodyPr wrap="none"/>
            <a:lstStyle/>
            <a:p>
              <a:endParaRPr lang="zh-CN" altLang="en-US" b="1"/>
            </a:p>
          </p:txBody>
        </p:sp>
        <p:sp>
          <p:nvSpPr>
            <p:cNvPr id="19" name="Line 18"/>
            <p:cNvSpPr>
              <a:spLocks noChangeShapeType="1"/>
            </p:cNvSpPr>
            <p:nvPr/>
          </p:nvSpPr>
          <p:spPr bwMode="auto">
            <a:xfrm flipH="1" flipV="1">
              <a:off x="5257800" y="3587080"/>
              <a:ext cx="1066800" cy="685800"/>
            </a:xfrm>
            <a:prstGeom prst="line">
              <a:avLst/>
            </a:prstGeom>
            <a:noFill/>
            <a:ln w="38100">
              <a:solidFill>
                <a:srgbClr val="FF0000"/>
              </a:solidFill>
              <a:miter lim="800000"/>
              <a:tailEnd type="triangle" w="med" len="med"/>
            </a:ln>
          </p:spPr>
          <p:txBody>
            <a:bodyPr wrap="none"/>
            <a:lstStyle/>
            <a:p>
              <a:endParaRPr lang="zh-CN" altLang="en-US" b="1"/>
            </a:p>
          </p:txBody>
        </p:sp>
      </p:grpSp>
      <p:sp>
        <p:nvSpPr>
          <p:cNvPr id="20" name="Rectangle 2"/>
          <p:cNvSpPr txBox="1">
            <a:spLocks noChangeArrowheads="1"/>
          </p:cNvSpPr>
          <p:nvPr/>
        </p:nvSpPr>
        <p:spPr bwMode="gray">
          <a:xfrm>
            <a:off x="503548" y="762000"/>
            <a:ext cx="4592638" cy="615280"/>
          </a:xfrm>
          <a:prstGeom prst="rect">
            <a:avLst/>
          </a:prstGeom>
          <a:noFill/>
          <a:ln w="9525">
            <a:noFill/>
            <a:miter lim="800000"/>
          </a:ln>
        </p:spPr>
        <p:txBody>
          <a:bodyPr vert="horz" wrap="square" lIns="91440" tIns="45720" rIns="91440" bIns="45720" numCol="1" anchor="ctr" anchorCtr="0" compatLnSpc="1"/>
          <a:lstStyle>
            <a:defPPr>
              <a:defRPr lang="en-US"/>
            </a:defPPr>
            <a:lvl1pPr eaLnBrk="0" hangingPunct="0">
              <a:defRPr sz="2800" b="1">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defRPr>
            </a:lvl1pPr>
          </a:lstStyle>
          <a:p>
            <a:r>
              <a:rPr lang="zh-CN" altLang="en-US" dirty="0"/>
              <a:t>入侵检测通用模型</a:t>
            </a:r>
            <a:endParaRPr lang="en-US" altLang="zh-CN"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1000" fill="hold"/>
                                        <p:tgtEl>
                                          <p:spTgt spid="23"/>
                                        </p:tgtEl>
                                        <p:attrNameLst>
                                          <p:attrName>ppt_w</p:attrName>
                                        </p:attrNameLst>
                                      </p:cBhvr>
                                      <p:tavLst>
                                        <p:tav tm="0">
                                          <p:val>
                                            <p:fltVal val="0"/>
                                          </p:val>
                                        </p:tav>
                                        <p:tav tm="100000">
                                          <p:val>
                                            <p:strVal val="#ppt_w"/>
                                          </p:val>
                                        </p:tav>
                                      </p:tavLst>
                                    </p:anim>
                                    <p:anim calcmode="lin" valueType="num">
                                      <p:cBhvr>
                                        <p:cTn id="8" dur="1000" fill="hold"/>
                                        <p:tgtEl>
                                          <p:spTgt spid="23"/>
                                        </p:tgtEl>
                                        <p:attrNameLst>
                                          <p:attrName>ppt_h</p:attrName>
                                        </p:attrNameLst>
                                      </p:cBhvr>
                                      <p:tavLst>
                                        <p:tav tm="0">
                                          <p:val>
                                            <p:fltVal val="0"/>
                                          </p:val>
                                        </p:tav>
                                        <p:tav tm="100000">
                                          <p:val>
                                            <p:strVal val="#ppt_h"/>
                                          </p:val>
                                        </p:tav>
                                      </p:tavLst>
                                    </p:anim>
                                    <p:anim calcmode="lin" valueType="num">
                                      <p:cBhvr>
                                        <p:cTn id="9" dur="1000" fill="hold"/>
                                        <p:tgtEl>
                                          <p:spTgt spid="23"/>
                                        </p:tgtEl>
                                        <p:attrNameLst>
                                          <p:attrName>style.rotation</p:attrName>
                                        </p:attrNameLst>
                                      </p:cBhvr>
                                      <p:tavLst>
                                        <p:tav tm="0">
                                          <p:val>
                                            <p:fltVal val="90"/>
                                          </p:val>
                                        </p:tav>
                                        <p:tav tm="100000">
                                          <p:val>
                                            <p:fltVal val="0"/>
                                          </p:val>
                                        </p:tav>
                                      </p:tavLst>
                                    </p:anim>
                                    <p:animEffect transition="in" filter="fade">
                                      <p:cBhvr>
                                        <p:cTn id="10" dur="1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网络引擎"/>
          <p:cNvPicPr>
            <a:picLocks noChangeAspect="1" noChangeArrowheads="1"/>
          </p:cNvPicPr>
          <p:nvPr/>
        </p:nvPicPr>
        <p:blipFill>
          <a:blip r:embed="rId2"/>
          <a:srcRect/>
          <a:stretch>
            <a:fillRect/>
          </a:stretch>
        </p:blipFill>
        <p:spPr bwMode="auto">
          <a:xfrm>
            <a:off x="2069722" y="1700808"/>
            <a:ext cx="5004556" cy="4143375"/>
          </a:xfrm>
          <a:prstGeom prst="rect">
            <a:avLst/>
          </a:prstGeom>
          <a:noFill/>
          <a:ln w="9525">
            <a:noFill/>
            <a:miter lim="800000"/>
            <a:headEnd/>
            <a:tailEnd/>
          </a:ln>
        </p:spPr>
      </p:pic>
      <p:sp>
        <p:nvSpPr>
          <p:cNvPr id="5" name="Rectangle 2"/>
          <p:cNvSpPr txBox="1">
            <a:spLocks noChangeArrowheads="1"/>
          </p:cNvSpPr>
          <p:nvPr/>
        </p:nvSpPr>
        <p:spPr bwMode="gray">
          <a:xfrm>
            <a:off x="683568" y="728700"/>
            <a:ext cx="4536504" cy="692696"/>
          </a:xfrm>
          <a:prstGeom prst="rect">
            <a:avLst/>
          </a:prstGeom>
          <a:noFill/>
          <a:ln w="9525">
            <a:noFill/>
            <a:miter lim="800000"/>
          </a:ln>
        </p:spPr>
        <p:txBody>
          <a:bodyPr vert="horz" wrap="square" lIns="91440" tIns="45720" rIns="91440" bIns="45720" numCol="1" anchor="ctr" anchorCtr="0" compatLnSpc="1"/>
          <a:lstStyle>
            <a:defPPr>
              <a:defRPr lang="en-US"/>
            </a:defPPr>
            <a:lvl1pPr eaLnBrk="0" hangingPunct="0">
              <a:defRPr sz="2800" b="1">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defRPr>
            </a:lvl1pPr>
          </a:lstStyle>
          <a:p>
            <a:r>
              <a:rPr lang="zh-CN" altLang="en-US" dirty="0"/>
              <a:t>入侵检测引擎工作流程</a:t>
            </a:r>
            <a:endParaRPr lang="en-US" altLang="zh-CN" dirty="0"/>
          </a:p>
        </p:txBody>
      </p:sp>
    </p:spTree>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07604" y="3520120"/>
            <a:ext cx="1728192" cy="54006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FF0000"/>
                </a:solidFill>
                <a:effectLst>
                  <a:outerShdw blurRad="38100" dist="38100" dir="2700000" algn="tl">
                    <a:srgbClr val="000000">
                      <a:alpha val="43137"/>
                    </a:srgbClr>
                  </a:outerShdw>
                </a:effectLst>
              </a:rPr>
              <a:t>信息采集</a:t>
            </a:r>
          </a:p>
        </p:txBody>
      </p:sp>
      <p:sp>
        <p:nvSpPr>
          <p:cNvPr id="9" name="矩形 8"/>
          <p:cNvSpPr/>
          <p:nvPr/>
        </p:nvSpPr>
        <p:spPr>
          <a:xfrm>
            <a:off x="3563888" y="3510867"/>
            <a:ext cx="1728192" cy="5400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FF0000"/>
                </a:solidFill>
                <a:effectLst>
                  <a:outerShdw blurRad="38100" dist="38100" dir="2700000" algn="tl">
                    <a:srgbClr val="000000">
                      <a:alpha val="43137"/>
                    </a:srgbClr>
                  </a:outerShdw>
                </a:effectLst>
              </a:rPr>
              <a:t>信息分析</a:t>
            </a:r>
          </a:p>
        </p:txBody>
      </p:sp>
      <p:sp>
        <p:nvSpPr>
          <p:cNvPr id="10" name="矩形 9"/>
          <p:cNvSpPr/>
          <p:nvPr/>
        </p:nvSpPr>
        <p:spPr>
          <a:xfrm>
            <a:off x="6084168" y="3502118"/>
            <a:ext cx="1728192" cy="54006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FF0000"/>
                </a:solidFill>
                <a:effectLst>
                  <a:outerShdw blurRad="38100" dist="38100" dir="2700000" algn="tl">
                    <a:srgbClr val="000000">
                      <a:alpha val="43137"/>
                    </a:srgbClr>
                  </a:outerShdw>
                </a:effectLst>
              </a:rPr>
              <a:t>攻击响应</a:t>
            </a:r>
          </a:p>
        </p:txBody>
      </p:sp>
      <p:cxnSp>
        <p:nvCxnSpPr>
          <p:cNvPr id="8" name="直接箭头连接符 7"/>
          <p:cNvCxnSpPr>
            <a:stCxn id="4" idx="3"/>
            <a:endCxn id="9" idx="1"/>
          </p:cNvCxnSpPr>
          <p:nvPr/>
        </p:nvCxnSpPr>
        <p:spPr>
          <a:xfrm flipV="1">
            <a:off x="2735796" y="3780897"/>
            <a:ext cx="828092" cy="9253"/>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stCxn id="9" idx="3"/>
            <a:endCxn id="10" idx="1"/>
          </p:cNvCxnSpPr>
          <p:nvPr/>
        </p:nvCxnSpPr>
        <p:spPr>
          <a:xfrm flipV="1">
            <a:off x="5292080" y="3772148"/>
            <a:ext cx="792088" cy="8749"/>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4" name="矩形标注 13"/>
          <p:cNvSpPr/>
          <p:nvPr/>
        </p:nvSpPr>
        <p:spPr>
          <a:xfrm>
            <a:off x="316124" y="4750726"/>
            <a:ext cx="7920880" cy="1296144"/>
          </a:xfrm>
          <a:prstGeom prst="wedgeRectCallout">
            <a:avLst>
              <a:gd name="adj1" fmla="val -33691"/>
              <a:gd name="adj2" fmla="val -103967"/>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00150" lvl="2" indent="-285750" eaLnBrk="1" hangingPunct="1">
              <a:buFont typeface="Wingdings" panose="05000000000000000000" pitchFamily="2" charset="2"/>
              <a:buChar char="u"/>
            </a:pPr>
            <a:r>
              <a:rPr lang="zh-CN" altLang="en-US" b="1" dirty="0"/>
              <a:t>系统日志文件信息</a:t>
            </a:r>
          </a:p>
          <a:p>
            <a:pPr marL="1200150" lvl="2" indent="-285750" eaLnBrk="1" hangingPunct="1">
              <a:buFont typeface="Wingdings" panose="05000000000000000000" pitchFamily="2" charset="2"/>
              <a:buChar char="u"/>
            </a:pPr>
            <a:r>
              <a:rPr lang="zh-CN" altLang="en-US" b="1" dirty="0"/>
              <a:t>目录和文件的完整性信息</a:t>
            </a:r>
          </a:p>
          <a:p>
            <a:pPr marL="1200150" lvl="2" indent="-285750" eaLnBrk="1" hangingPunct="1">
              <a:buFont typeface="Wingdings" panose="05000000000000000000" pitchFamily="2" charset="2"/>
              <a:buChar char="u"/>
            </a:pPr>
            <a:r>
              <a:rPr lang="zh-CN" altLang="en-US" b="1" dirty="0"/>
              <a:t>程序执行中的异常行为</a:t>
            </a:r>
          </a:p>
          <a:p>
            <a:pPr marL="1200150" lvl="2" indent="-285750" eaLnBrk="1" hangingPunct="1">
              <a:buFont typeface="Wingdings" panose="05000000000000000000" pitchFamily="2" charset="2"/>
              <a:buChar char="u"/>
            </a:pPr>
            <a:r>
              <a:rPr lang="zh-CN" altLang="en-US" b="1" dirty="0"/>
              <a:t>物理形式的入侵信息(网络硬件连接\未经授权的物理资源访问)</a:t>
            </a:r>
          </a:p>
        </p:txBody>
      </p:sp>
      <p:sp>
        <p:nvSpPr>
          <p:cNvPr id="15" name="矩形标注 14"/>
          <p:cNvSpPr/>
          <p:nvPr/>
        </p:nvSpPr>
        <p:spPr>
          <a:xfrm>
            <a:off x="414123" y="1386631"/>
            <a:ext cx="8424936" cy="1836204"/>
          </a:xfrm>
          <a:prstGeom prst="wedgeRectCallout">
            <a:avLst>
              <a:gd name="adj1" fmla="val -2530"/>
              <a:gd name="adj2" fmla="val 66666"/>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00150" lvl="2" indent="-285750" eaLnBrk="1" hangingPunct="1">
              <a:lnSpc>
                <a:spcPct val="90000"/>
              </a:lnSpc>
              <a:buFont typeface="Wingdings" panose="05000000000000000000" pitchFamily="2" charset="2"/>
              <a:buChar char="n"/>
            </a:pPr>
            <a:r>
              <a:rPr lang="zh-CN" altLang="en-US" b="1" kern="0" dirty="0">
                <a:solidFill>
                  <a:srgbClr val="002060"/>
                </a:solidFill>
              </a:rPr>
              <a:t>模式识别方法:</a:t>
            </a:r>
          </a:p>
          <a:p>
            <a:pPr marL="1200150" lvl="2" indent="-285750" eaLnBrk="1" hangingPunct="1">
              <a:lnSpc>
                <a:spcPct val="90000"/>
              </a:lnSpc>
              <a:buFont typeface="Wingdings" panose="05000000000000000000" pitchFamily="2" charset="2"/>
              <a:buChar char="n"/>
            </a:pPr>
            <a:r>
              <a:rPr lang="zh-CN" altLang="en-US" b="1" kern="0" dirty="0">
                <a:solidFill>
                  <a:srgbClr val="002060"/>
                </a:solidFill>
              </a:rPr>
              <a:t>统计分析方法</a:t>
            </a:r>
          </a:p>
          <a:p>
            <a:pPr marL="1657350" lvl="3" indent="-285750" eaLnBrk="1" hangingPunct="1">
              <a:lnSpc>
                <a:spcPct val="90000"/>
              </a:lnSpc>
              <a:buFont typeface="Wingdings" panose="05000000000000000000" pitchFamily="2" charset="2"/>
              <a:buChar char="u"/>
            </a:pPr>
            <a:r>
              <a:rPr lang="zh-CN" altLang="en-US" sz="1600" b="1" kern="0" dirty="0">
                <a:solidFill>
                  <a:srgbClr val="002060"/>
                </a:solidFill>
              </a:rPr>
              <a:t>基于常规活动的分析方法(</a:t>
            </a:r>
            <a:r>
              <a:rPr lang="en-US" altLang="zh-CN" sz="1600" b="1" kern="0" dirty="0">
                <a:solidFill>
                  <a:srgbClr val="002060"/>
                </a:solidFill>
              </a:rPr>
              <a:t>CPU</a:t>
            </a:r>
            <a:r>
              <a:rPr lang="zh-CN" altLang="en-US" sz="1600" b="1" kern="0" dirty="0">
                <a:solidFill>
                  <a:srgbClr val="002060"/>
                </a:solidFill>
              </a:rPr>
              <a:t>使用\</a:t>
            </a:r>
            <a:r>
              <a:rPr lang="en-US" altLang="zh-CN" sz="1600" b="1" kern="0" dirty="0">
                <a:solidFill>
                  <a:srgbClr val="002060"/>
                </a:solidFill>
              </a:rPr>
              <a:t>I/O</a:t>
            </a:r>
            <a:r>
              <a:rPr lang="zh-CN" altLang="en-US" sz="1600" b="1" kern="0" dirty="0">
                <a:solidFill>
                  <a:srgbClr val="002060"/>
                </a:solidFill>
              </a:rPr>
              <a:t>使用\目录操作\文件操作\网络访问操作\应用系统的启动项调用进行分析与检测)</a:t>
            </a:r>
          </a:p>
          <a:p>
            <a:pPr marL="1657350" lvl="3" indent="-285750" eaLnBrk="1" hangingPunct="1">
              <a:lnSpc>
                <a:spcPct val="90000"/>
              </a:lnSpc>
              <a:buFont typeface="Wingdings" panose="05000000000000000000" pitchFamily="2" charset="2"/>
              <a:buChar char="u"/>
            </a:pPr>
            <a:r>
              <a:rPr lang="zh-CN" altLang="en-US" sz="1600" b="1" kern="0" dirty="0">
                <a:solidFill>
                  <a:srgbClr val="002060"/>
                </a:solidFill>
              </a:rPr>
              <a:t>基于神经网络的分析方法</a:t>
            </a:r>
          </a:p>
          <a:p>
            <a:pPr marL="1657350" lvl="3" indent="-285750" eaLnBrk="1" hangingPunct="1">
              <a:lnSpc>
                <a:spcPct val="90000"/>
              </a:lnSpc>
              <a:buFont typeface="Wingdings" panose="05000000000000000000" pitchFamily="2" charset="2"/>
              <a:buChar char="u"/>
            </a:pPr>
            <a:r>
              <a:rPr lang="zh-CN" altLang="en-US" sz="1600" b="1" kern="0" dirty="0">
                <a:solidFill>
                  <a:srgbClr val="002060"/>
                </a:solidFill>
              </a:rPr>
              <a:t>基于专家系统的分析方法</a:t>
            </a:r>
          </a:p>
          <a:p>
            <a:pPr marL="1657350" lvl="3" indent="-285750" eaLnBrk="1" hangingPunct="1">
              <a:lnSpc>
                <a:spcPct val="90000"/>
              </a:lnSpc>
              <a:buFont typeface="Wingdings" panose="05000000000000000000" pitchFamily="2" charset="2"/>
              <a:buChar char="u"/>
            </a:pPr>
            <a:r>
              <a:rPr lang="zh-CN" altLang="en-US" sz="1600" b="1" kern="0" dirty="0">
                <a:solidFill>
                  <a:srgbClr val="002060"/>
                </a:solidFill>
              </a:rPr>
              <a:t>完整性分析方法</a:t>
            </a:r>
            <a:endParaRPr lang="en-US" altLang="zh-CN" sz="1600" b="1" kern="0" dirty="0">
              <a:solidFill>
                <a:srgbClr val="002060"/>
              </a:solidFill>
            </a:endParaRPr>
          </a:p>
        </p:txBody>
      </p:sp>
      <p:sp>
        <p:nvSpPr>
          <p:cNvPr id="16" name="矩形标注 15"/>
          <p:cNvSpPr/>
          <p:nvPr/>
        </p:nvSpPr>
        <p:spPr>
          <a:xfrm>
            <a:off x="5940152" y="4446971"/>
            <a:ext cx="2898322" cy="1177112"/>
          </a:xfrm>
          <a:prstGeom prst="wedgeRectCallout">
            <a:avLst>
              <a:gd name="adj1" fmla="val -31916"/>
              <a:gd name="adj2" fmla="val -84951"/>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00150" lvl="2" indent="-285750" eaLnBrk="1" hangingPunct="1">
              <a:lnSpc>
                <a:spcPct val="90000"/>
              </a:lnSpc>
              <a:buFont typeface="Wingdings" panose="05000000000000000000" pitchFamily="2" charset="2"/>
              <a:buChar char="u"/>
            </a:pPr>
            <a:r>
              <a:rPr lang="zh-CN" altLang="en-US" kern="0" dirty="0">
                <a:solidFill>
                  <a:srgbClr val="002060"/>
                </a:solidFill>
              </a:rPr>
              <a:t>发出警报</a:t>
            </a:r>
          </a:p>
          <a:p>
            <a:pPr marL="1200150" lvl="2" indent="-285750" eaLnBrk="1" hangingPunct="1">
              <a:lnSpc>
                <a:spcPct val="90000"/>
              </a:lnSpc>
              <a:buFont typeface="Wingdings" panose="05000000000000000000" pitchFamily="2" charset="2"/>
              <a:buChar char="u"/>
            </a:pPr>
            <a:r>
              <a:rPr lang="zh-CN" altLang="en-US" kern="0" dirty="0">
                <a:solidFill>
                  <a:srgbClr val="002060"/>
                </a:solidFill>
              </a:rPr>
              <a:t>终止连接</a:t>
            </a:r>
          </a:p>
          <a:p>
            <a:pPr marL="1200150" lvl="2" indent="-285750" eaLnBrk="1" hangingPunct="1">
              <a:lnSpc>
                <a:spcPct val="90000"/>
              </a:lnSpc>
              <a:buFont typeface="Wingdings" panose="05000000000000000000" pitchFamily="2" charset="2"/>
              <a:buChar char="u"/>
            </a:pPr>
            <a:r>
              <a:rPr lang="zh-CN" altLang="en-US" kern="0" dirty="0">
                <a:solidFill>
                  <a:srgbClr val="002060"/>
                </a:solidFill>
              </a:rPr>
              <a:t>断开链路</a:t>
            </a:r>
          </a:p>
          <a:p>
            <a:pPr marL="1200150" lvl="2" indent="-285750" eaLnBrk="1" hangingPunct="1">
              <a:lnSpc>
                <a:spcPct val="90000"/>
              </a:lnSpc>
              <a:buFont typeface="Wingdings" panose="05000000000000000000" pitchFamily="2" charset="2"/>
              <a:buChar char="u"/>
            </a:pPr>
            <a:r>
              <a:rPr lang="zh-CN" altLang="en-US" kern="0" dirty="0">
                <a:solidFill>
                  <a:srgbClr val="002060"/>
                </a:solidFill>
              </a:rPr>
              <a:t>引入陷阱</a:t>
            </a:r>
          </a:p>
        </p:txBody>
      </p:sp>
      <p:sp>
        <p:nvSpPr>
          <p:cNvPr id="19" name="Rectangle 2"/>
          <p:cNvSpPr txBox="1">
            <a:spLocks noChangeArrowheads="1"/>
          </p:cNvSpPr>
          <p:nvPr/>
        </p:nvSpPr>
        <p:spPr bwMode="gray">
          <a:xfrm>
            <a:off x="316124" y="683119"/>
            <a:ext cx="5192419" cy="568859"/>
          </a:xfrm>
          <a:prstGeom prst="rect">
            <a:avLst/>
          </a:prstGeom>
          <a:noFill/>
          <a:ln w="9525">
            <a:noFill/>
            <a:miter lim="800000"/>
          </a:ln>
        </p:spPr>
        <p:txBody>
          <a:bodyPr vert="horz" wrap="square" lIns="91440" tIns="45720" rIns="91440" bIns="45720" numCol="1" anchor="ctr" anchorCtr="0" compatLnSpc="1"/>
          <a:lstStyle>
            <a:defPPr>
              <a:defRPr lang="en-US"/>
            </a:defPPr>
            <a:lvl1pPr eaLnBrk="0" hangingPunct="0">
              <a:defRPr sz="2800" b="1">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defRPr>
            </a:lvl1pPr>
          </a:lstStyle>
          <a:p>
            <a:r>
              <a:rPr lang="zh-CN" altLang="en-US" dirty="0"/>
              <a:t>入侵检测系统的组成</a:t>
            </a:r>
            <a:endParaRPr lang="en-US" altLang="zh-CN"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par>
                          <p:cTn id="18" fill="hold">
                            <p:stCondLst>
                              <p:cond delay="1000"/>
                            </p:stCondLst>
                            <p:childTnLst>
                              <p:par>
                                <p:cTn id="19" presetID="1" presetClass="entr" presetSubtype="0"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down)">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wipe(up)">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wipe(down)">
                                      <p:cBhvr>
                                        <p:cTn id="3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P spid="10" grpId="0" animBg="1"/>
      <p:bldP spid="14" grpId="0" animBg="1"/>
      <p:bldP spid="15" grpId="0" animBg="1"/>
      <p:bldP spid="1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idx="4294967295"/>
          </p:nvPr>
        </p:nvSpPr>
        <p:spPr>
          <a:xfrm>
            <a:off x="647564" y="800708"/>
            <a:ext cx="6084676" cy="612068"/>
          </a:xfrm>
          <a:noFill/>
          <a:ln w="9525">
            <a:noFill/>
            <a:miter lim="800000"/>
          </a:ln>
        </p:spPr>
        <p:txBody>
          <a:bodyPr vert="horz" wrap="square" lIns="91440" tIns="45720" rIns="91440" bIns="45720" numCol="1" anchor="ctr" anchorCtr="0" compatLnSpc="1"/>
          <a:lstStyle/>
          <a:p>
            <a:r>
              <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8.6 </a:t>
            </a:r>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入侵检测系统的分类</a:t>
            </a:r>
            <a:endPar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50181" name="Rectangle 5"/>
          <p:cNvSpPr>
            <a:spLocks noChangeArrowheads="1"/>
          </p:cNvSpPr>
          <p:nvPr/>
        </p:nvSpPr>
        <p:spPr bwMode="auto">
          <a:xfrm>
            <a:off x="1439652" y="1664804"/>
            <a:ext cx="5220580" cy="1748171"/>
          </a:xfrm>
          <a:prstGeom prst="rect">
            <a:avLst/>
          </a:prstGeom>
          <a:noFill/>
          <a:ln w="9525">
            <a:noFill/>
            <a:miter lim="800000"/>
          </a:ln>
        </p:spPr>
        <p:txBody>
          <a:bodyPr wrap="square">
            <a:spAutoFit/>
          </a:bodyPr>
          <a:lstStyle/>
          <a:p>
            <a:pPr eaLnBrk="0" hangingPunct="0">
              <a:spcBef>
                <a:spcPct val="20000"/>
              </a:spcBef>
              <a:buClr>
                <a:srgbClr val="3399FF"/>
              </a:buClr>
              <a:buFont typeface="Wingdings" panose="05000000000000000000" pitchFamily="2" charset="2"/>
              <a:buChar char="v"/>
            </a:pPr>
            <a:r>
              <a:rPr lang="zh-CN" altLang="en-US" sz="2400" b="1" dirty="0">
                <a:solidFill>
                  <a:srgbClr val="000000"/>
                </a:solidFill>
                <a:effectLst>
                  <a:outerShdw blurRad="38100" dist="38100" dir="2700000" algn="tl">
                    <a:srgbClr val="000000">
                      <a:alpha val="43137"/>
                    </a:srgbClr>
                  </a:outerShdw>
                </a:effectLst>
                <a:latin typeface="+mn-ea"/>
                <a:ea typeface="+mn-ea"/>
              </a:rPr>
              <a:t>按检测分析技术方法</a:t>
            </a:r>
          </a:p>
          <a:p>
            <a:pPr marL="800100" lvl="1" indent="-342900" eaLnBrk="0" hangingPunct="0">
              <a:lnSpc>
                <a:spcPts val="3000"/>
              </a:lnSpc>
              <a:spcBef>
                <a:spcPct val="20000"/>
              </a:spcBef>
              <a:buClr>
                <a:srgbClr val="FF9900"/>
              </a:buClr>
              <a:buSzPct val="50000"/>
              <a:buFont typeface="Wingdings" panose="05000000000000000000" pitchFamily="2" charset="2"/>
              <a:buChar char="u"/>
            </a:pPr>
            <a:r>
              <a:rPr lang="zh-CN" altLang="en-US" sz="2400" b="1" dirty="0">
                <a:solidFill>
                  <a:srgbClr val="000000"/>
                </a:solidFill>
                <a:effectLst>
                  <a:outerShdw blurRad="38100" dist="38100" dir="2700000" algn="tl">
                    <a:srgbClr val="000000">
                      <a:alpha val="43137"/>
                    </a:srgbClr>
                  </a:outerShdw>
                </a:effectLst>
                <a:latin typeface="+mn-ea"/>
                <a:ea typeface="+mn-ea"/>
              </a:rPr>
              <a:t>异常检测</a:t>
            </a:r>
          </a:p>
          <a:p>
            <a:pPr marL="800100" lvl="1" indent="-342900" eaLnBrk="0" hangingPunct="0">
              <a:lnSpc>
                <a:spcPts val="3000"/>
              </a:lnSpc>
              <a:spcBef>
                <a:spcPct val="20000"/>
              </a:spcBef>
              <a:buClr>
                <a:srgbClr val="FF9900"/>
              </a:buClr>
              <a:buSzPct val="50000"/>
              <a:buFont typeface="Wingdings" panose="05000000000000000000" pitchFamily="2" charset="2"/>
              <a:buChar char="u"/>
            </a:pPr>
            <a:r>
              <a:rPr lang="zh-CN" altLang="en-US" sz="2400" b="1" dirty="0">
                <a:solidFill>
                  <a:srgbClr val="000000"/>
                </a:solidFill>
                <a:effectLst>
                  <a:outerShdw blurRad="38100" dist="38100" dir="2700000" algn="tl">
                    <a:srgbClr val="000000">
                      <a:alpha val="43137"/>
                    </a:srgbClr>
                  </a:outerShdw>
                </a:effectLst>
                <a:latin typeface="+mn-ea"/>
                <a:ea typeface="+mn-ea"/>
              </a:rPr>
              <a:t>特征检测 </a:t>
            </a:r>
            <a:endParaRPr lang="zh-CN" altLang="en-US" sz="2400" b="1" dirty="0">
              <a:effectLst>
                <a:outerShdw blurRad="38100" dist="38100" dir="2700000" algn="tl">
                  <a:srgbClr val="000000">
                    <a:alpha val="43137"/>
                  </a:srgbClr>
                </a:outerShdw>
              </a:effectLst>
              <a:latin typeface="+mn-ea"/>
              <a:ea typeface="+mn-ea"/>
            </a:endParaRPr>
          </a:p>
          <a:p>
            <a:endParaRPr lang="zh-CN" altLang="en-US" sz="2400" b="1" dirty="0">
              <a:effectLst>
                <a:outerShdw blurRad="38100" dist="38100" dir="2700000" algn="tl">
                  <a:srgbClr val="000000">
                    <a:alpha val="43137"/>
                  </a:srgbClr>
                </a:outerShdw>
              </a:effectLst>
              <a:latin typeface="+mn-ea"/>
              <a:ea typeface="+mn-ea"/>
            </a:endParaRPr>
          </a:p>
        </p:txBody>
      </p:sp>
      <p:sp>
        <p:nvSpPr>
          <p:cNvPr id="2" name="矩形 1"/>
          <p:cNvSpPr/>
          <p:nvPr/>
        </p:nvSpPr>
        <p:spPr>
          <a:xfrm>
            <a:off x="1439652" y="3152626"/>
            <a:ext cx="3384376" cy="1837426"/>
          </a:xfrm>
          <a:prstGeom prst="rect">
            <a:avLst/>
          </a:prstGeom>
        </p:spPr>
        <p:txBody>
          <a:bodyPr wrap="square">
            <a:spAutoFit/>
          </a:bodyPr>
          <a:lstStyle/>
          <a:p>
            <a:pPr eaLnBrk="0" hangingPunct="0">
              <a:spcBef>
                <a:spcPct val="20000"/>
              </a:spcBef>
              <a:buClr>
                <a:srgbClr val="3399FF"/>
              </a:buClr>
              <a:buFont typeface="Wingdings" panose="05000000000000000000" pitchFamily="2" charset="2"/>
              <a:buChar char="v"/>
            </a:pPr>
            <a:r>
              <a:rPr lang="zh-CN" altLang="en-US" sz="2400" b="1" dirty="0">
                <a:solidFill>
                  <a:srgbClr val="000000"/>
                </a:solidFill>
                <a:effectLst>
                  <a:outerShdw blurRad="38100" dist="38100" dir="2700000" algn="tl">
                    <a:srgbClr val="000000">
                      <a:alpha val="43137"/>
                    </a:srgbClr>
                  </a:outerShdw>
                </a:effectLst>
                <a:latin typeface="+mn-ea"/>
                <a:ea typeface="+mn-ea"/>
              </a:rPr>
              <a:t>按检测范围</a:t>
            </a:r>
          </a:p>
          <a:p>
            <a:pPr marL="800100" lvl="1" indent="-342900" eaLnBrk="0" hangingPunct="0">
              <a:lnSpc>
                <a:spcPts val="3000"/>
              </a:lnSpc>
              <a:spcBef>
                <a:spcPct val="20000"/>
              </a:spcBef>
              <a:buClr>
                <a:srgbClr val="FF9900"/>
              </a:buClr>
              <a:buSzPct val="50000"/>
              <a:buFont typeface="Wingdings" panose="05000000000000000000" pitchFamily="2" charset="2"/>
              <a:buChar char="u"/>
            </a:pPr>
            <a:r>
              <a:rPr lang="zh-CN" altLang="en-US" sz="2400" b="1" dirty="0">
                <a:solidFill>
                  <a:srgbClr val="000000"/>
                </a:solidFill>
                <a:effectLst>
                  <a:outerShdw blurRad="38100" dist="38100" dir="2700000" algn="tl">
                    <a:srgbClr val="000000">
                      <a:alpha val="43137"/>
                    </a:srgbClr>
                  </a:outerShdw>
                </a:effectLst>
                <a:latin typeface="+mn-ea"/>
                <a:ea typeface="+mn-ea"/>
              </a:rPr>
              <a:t>基于主机</a:t>
            </a:r>
          </a:p>
          <a:p>
            <a:pPr marL="800100" lvl="1" indent="-342900" eaLnBrk="0" hangingPunct="0">
              <a:lnSpc>
                <a:spcPts val="3000"/>
              </a:lnSpc>
              <a:spcBef>
                <a:spcPct val="20000"/>
              </a:spcBef>
              <a:buClr>
                <a:srgbClr val="FF9900"/>
              </a:buClr>
              <a:buSzPct val="50000"/>
              <a:buFont typeface="Wingdings" panose="05000000000000000000" pitchFamily="2" charset="2"/>
              <a:buChar char="u"/>
            </a:pPr>
            <a:r>
              <a:rPr lang="zh-CN" altLang="en-US" sz="2400" b="1" dirty="0">
                <a:solidFill>
                  <a:srgbClr val="000000"/>
                </a:solidFill>
                <a:effectLst>
                  <a:outerShdw blurRad="38100" dist="38100" dir="2700000" algn="tl">
                    <a:srgbClr val="000000">
                      <a:alpha val="43137"/>
                    </a:srgbClr>
                  </a:outerShdw>
                </a:effectLst>
                <a:latin typeface="+mn-ea"/>
                <a:ea typeface="+mn-ea"/>
              </a:rPr>
              <a:t>基于网络</a:t>
            </a:r>
          </a:p>
          <a:p>
            <a:pPr marL="800100" lvl="1" indent="-342900" eaLnBrk="0" hangingPunct="0">
              <a:lnSpc>
                <a:spcPts val="3000"/>
              </a:lnSpc>
              <a:spcBef>
                <a:spcPct val="20000"/>
              </a:spcBef>
              <a:buClr>
                <a:srgbClr val="FF9900"/>
              </a:buClr>
              <a:buSzPct val="50000"/>
              <a:buFont typeface="Wingdings" panose="05000000000000000000" pitchFamily="2" charset="2"/>
              <a:buChar char="u"/>
            </a:pPr>
            <a:r>
              <a:rPr lang="zh-CN" altLang="en-US" sz="2400" b="1" dirty="0">
                <a:solidFill>
                  <a:srgbClr val="000000"/>
                </a:solidFill>
                <a:effectLst>
                  <a:outerShdw blurRad="38100" dist="38100" dir="2700000" algn="tl">
                    <a:srgbClr val="000000">
                      <a:alpha val="43137"/>
                    </a:srgbClr>
                  </a:outerShdw>
                </a:effectLst>
                <a:latin typeface="+mn-ea"/>
                <a:ea typeface="+mn-ea"/>
              </a:rPr>
              <a:t>基于网络节点</a:t>
            </a:r>
          </a:p>
        </p:txBody>
      </p:sp>
    </p:spTree>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3"/>
          <p:cNvSpPr>
            <a:spLocks noGrp="1" noChangeArrowheads="1"/>
          </p:cNvSpPr>
          <p:nvPr>
            <p:ph type="body" idx="1"/>
          </p:nvPr>
        </p:nvSpPr>
        <p:spPr>
          <a:xfrm>
            <a:off x="649722" y="1016732"/>
            <a:ext cx="7772400" cy="2133030"/>
          </a:xfrm>
        </p:spPr>
        <p:txBody>
          <a:bodyPr/>
          <a:lstStyle/>
          <a:p>
            <a:pPr eaLnBrk="1" hangingPunct="1"/>
            <a:r>
              <a:rPr lang="en-US" altLang="zh-CN" sz="2800" b="1" dirty="0">
                <a:effectLst>
                  <a:outerShdw blurRad="38100" dist="38100" dir="2700000" algn="tl">
                    <a:srgbClr val="000000">
                      <a:alpha val="43137"/>
                    </a:srgbClr>
                  </a:outerShdw>
                </a:effectLst>
                <a:latin typeface="Arial Black" panose="020B0A04020102020204" pitchFamily="34" charset="0"/>
              </a:rPr>
              <a:t>IDS</a:t>
            </a:r>
            <a:r>
              <a:rPr lang="zh-CN" altLang="en-US" sz="2800" b="1" dirty="0">
                <a:effectLst>
                  <a:outerShdw blurRad="38100" dist="38100" dir="2700000" algn="tl">
                    <a:srgbClr val="000000">
                      <a:alpha val="43137"/>
                    </a:srgbClr>
                  </a:outerShdw>
                </a:effectLst>
                <a:latin typeface="Arial Black" panose="020B0A04020102020204" pitchFamily="34" charset="0"/>
              </a:rPr>
              <a:t>分析技术分类</a:t>
            </a:r>
          </a:p>
          <a:p>
            <a:pPr lvl="1" eaLnBrk="1" hangingPunct="1"/>
            <a:r>
              <a:rPr lang="zh-CN" altLang="en-US" sz="2400" b="1" dirty="0">
                <a:solidFill>
                  <a:srgbClr val="FF0000"/>
                </a:solidFill>
                <a:effectLst>
                  <a:outerShdw blurRad="38100" dist="38100" dir="2700000" algn="tl">
                    <a:srgbClr val="000000">
                      <a:alpha val="43137"/>
                    </a:srgbClr>
                  </a:outerShdw>
                </a:effectLst>
                <a:latin typeface="Arial Black" panose="020B0A04020102020204" pitchFamily="34" charset="0"/>
              </a:rPr>
              <a:t>异常检测：</a:t>
            </a:r>
            <a:r>
              <a:rPr lang="zh-CN" altLang="en-US" sz="2000" b="1" dirty="0">
                <a:effectLst>
                  <a:outerShdw blurRad="38100" dist="38100" dir="2700000" algn="tl">
                    <a:srgbClr val="000000">
                      <a:alpha val="43137"/>
                    </a:srgbClr>
                  </a:outerShdw>
                </a:effectLst>
                <a:latin typeface="Arial Black" panose="020B0A04020102020204" pitchFamily="34" charset="0"/>
              </a:rPr>
              <a:t>通过采集和统计来发现网络或系统中可能出现的异常行为，向管理员提出警告。</a:t>
            </a:r>
          </a:p>
          <a:p>
            <a:pPr lvl="1" eaLnBrk="1" hangingPunct="1"/>
            <a:r>
              <a:rPr lang="zh-CN" altLang="en-US" sz="2400" b="1" dirty="0">
                <a:solidFill>
                  <a:srgbClr val="FF0000"/>
                </a:solidFill>
                <a:effectLst>
                  <a:outerShdw blurRad="38100" dist="38100" dir="2700000" algn="tl">
                    <a:srgbClr val="000000">
                      <a:alpha val="43137"/>
                    </a:srgbClr>
                  </a:outerShdw>
                </a:effectLst>
                <a:latin typeface="Arial Black" panose="020B0A04020102020204" pitchFamily="34" charset="0"/>
              </a:rPr>
              <a:t>特征检测：</a:t>
            </a:r>
            <a:r>
              <a:rPr lang="zh-CN" altLang="en-US" sz="2000" b="1" dirty="0">
                <a:effectLst>
                  <a:outerShdw blurRad="38100" dist="38100" dir="2700000" algn="tl">
                    <a:srgbClr val="000000">
                      <a:alpha val="43137"/>
                    </a:srgbClr>
                  </a:outerShdw>
                </a:effectLst>
                <a:latin typeface="Arial Black" panose="020B0A04020102020204" pitchFamily="34" charset="0"/>
              </a:rPr>
              <a:t>通过对采集的信息按已知的知识进行分析，来发现正在发生和已经发生的入侵行为。</a:t>
            </a:r>
          </a:p>
        </p:txBody>
      </p:sp>
      <p:graphicFrame>
        <p:nvGraphicFramePr>
          <p:cNvPr id="5" name="表格 4"/>
          <p:cNvGraphicFramePr>
            <a:graphicFrameLocks noGrp="1"/>
          </p:cNvGraphicFramePr>
          <p:nvPr/>
        </p:nvGraphicFramePr>
        <p:xfrm>
          <a:off x="755576" y="3429000"/>
          <a:ext cx="7848600" cy="1594389"/>
        </p:xfrm>
        <a:graphic>
          <a:graphicData uri="http://schemas.openxmlformats.org/drawingml/2006/table">
            <a:tbl>
              <a:tblPr firstRow="1" bandRow="1">
                <a:tableStyleId>{5C22544A-7EE6-4342-B048-85BDC9FD1C3A}</a:tableStyleId>
              </a:tblPr>
              <a:tblGrid>
                <a:gridCol w="1978062">
                  <a:extLst>
                    <a:ext uri="{9D8B030D-6E8A-4147-A177-3AD203B41FA5}">
                      <a16:colId xmlns:a16="http://schemas.microsoft.com/office/drawing/2014/main" val="20000"/>
                    </a:ext>
                  </a:extLst>
                </a:gridCol>
                <a:gridCol w="2700300">
                  <a:extLst>
                    <a:ext uri="{9D8B030D-6E8A-4147-A177-3AD203B41FA5}">
                      <a16:colId xmlns:a16="http://schemas.microsoft.com/office/drawing/2014/main" val="20001"/>
                    </a:ext>
                  </a:extLst>
                </a:gridCol>
                <a:gridCol w="3170238">
                  <a:extLst>
                    <a:ext uri="{9D8B030D-6E8A-4147-A177-3AD203B41FA5}">
                      <a16:colId xmlns:a16="http://schemas.microsoft.com/office/drawing/2014/main" val="20002"/>
                    </a:ext>
                  </a:extLst>
                </a:gridCol>
              </a:tblGrid>
              <a:tr h="410991">
                <a:tc>
                  <a:txBody>
                    <a:bodyPr/>
                    <a:lstStyle/>
                    <a:p>
                      <a:r>
                        <a:rPr lang="zh-CN" altLang="en-US" sz="2400" dirty="0"/>
                        <a:t>分析策略</a:t>
                      </a:r>
                    </a:p>
                  </a:txBody>
                  <a:tcPr marL="91437" marR="91437" marT="45724" marB="45724">
                    <a:solidFill>
                      <a:srgbClr val="FF9900"/>
                    </a:solidFill>
                  </a:tcPr>
                </a:tc>
                <a:tc>
                  <a:txBody>
                    <a:bodyPr/>
                    <a:lstStyle/>
                    <a:p>
                      <a:r>
                        <a:rPr lang="zh-CN" altLang="en-US" sz="2400" dirty="0">
                          <a:latin typeface="Arial Black" panose="020B0A04020102020204" pitchFamily="34" charset="0"/>
                        </a:rPr>
                        <a:t>特征检测</a:t>
                      </a:r>
                      <a:endParaRPr lang="zh-CN" altLang="en-US" sz="2400" dirty="0"/>
                    </a:p>
                  </a:txBody>
                  <a:tcPr marL="91437" marR="91437" marT="45724" marB="45724">
                    <a:solidFill>
                      <a:srgbClr val="FF9900"/>
                    </a:solidFill>
                  </a:tcPr>
                </a:tc>
                <a:tc>
                  <a:txBody>
                    <a:bodyPr/>
                    <a:lstStyle/>
                    <a:p>
                      <a:r>
                        <a:rPr lang="zh-CN" altLang="en-US" sz="2400" dirty="0">
                          <a:latin typeface="Arial Black" panose="020B0A04020102020204" pitchFamily="34" charset="0"/>
                        </a:rPr>
                        <a:t>异常检测</a:t>
                      </a:r>
                      <a:endParaRPr lang="zh-CN" altLang="en-US" sz="2400" dirty="0"/>
                    </a:p>
                  </a:txBody>
                  <a:tcPr marL="91437" marR="91437" marT="45724" marB="45724">
                    <a:solidFill>
                      <a:srgbClr val="FF9900"/>
                    </a:solidFill>
                  </a:tcPr>
                </a:tc>
                <a:extLst>
                  <a:ext uri="{0D108BD9-81ED-4DB2-BD59-A6C34878D82A}">
                    <a16:rowId xmlns:a16="http://schemas.microsoft.com/office/drawing/2014/main" val="10000"/>
                  </a:ext>
                </a:extLst>
              </a:tr>
              <a:tr h="527581">
                <a:tc>
                  <a:txBody>
                    <a:bodyPr/>
                    <a:lstStyle/>
                    <a:p>
                      <a:r>
                        <a:rPr lang="zh-CN" altLang="en-US" sz="2000" dirty="0"/>
                        <a:t>缺省即允许</a:t>
                      </a:r>
                    </a:p>
                  </a:txBody>
                  <a:tcPr marL="91437" marR="91437" marT="45724" marB="45724">
                    <a:solidFill>
                      <a:srgbClr val="92D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2000" dirty="0"/>
                        <a:t>基于信号的</a:t>
                      </a:r>
                      <a:r>
                        <a:rPr lang="zh-CN" altLang="en-US" sz="2000" dirty="0">
                          <a:latin typeface="Arial Black" panose="020B0A04020102020204" pitchFamily="34" charset="0"/>
                        </a:rPr>
                        <a:t>特征检测</a:t>
                      </a:r>
                      <a:endParaRPr lang="zh-CN" altLang="en-US" sz="2000" dirty="0"/>
                    </a:p>
                  </a:txBody>
                  <a:tcPr marL="91437" marR="91437" marT="45724" marB="45724">
                    <a:solidFill>
                      <a:srgbClr val="92D050"/>
                    </a:solidFill>
                  </a:tcPr>
                </a:tc>
                <a:tc>
                  <a:txBody>
                    <a:bodyPr/>
                    <a:lstStyle/>
                    <a:p>
                      <a:r>
                        <a:rPr lang="zh-CN" altLang="en-US" sz="2000" dirty="0"/>
                        <a:t>基于机器学习的异常检测</a:t>
                      </a:r>
                    </a:p>
                  </a:txBody>
                  <a:tcPr marL="91437" marR="91437" marT="45724" marB="45724">
                    <a:solidFill>
                      <a:srgbClr val="92D050"/>
                    </a:solidFill>
                  </a:tcPr>
                </a:tc>
                <a:extLst>
                  <a:ext uri="{0D108BD9-81ED-4DB2-BD59-A6C34878D82A}">
                    <a16:rowId xmlns:a16="http://schemas.microsoft.com/office/drawing/2014/main" val="10001"/>
                  </a:ext>
                </a:extLst>
              </a:tr>
              <a:tr h="609600">
                <a:tc>
                  <a:txBody>
                    <a:bodyPr/>
                    <a:lstStyle/>
                    <a:p>
                      <a:r>
                        <a:rPr lang="zh-CN" altLang="en-US" sz="2000" dirty="0"/>
                        <a:t>缺省即禁止</a:t>
                      </a:r>
                    </a:p>
                  </a:txBody>
                  <a:tcPr marL="91437" marR="91437" marT="45724" marB="45724">
                    <a:solidFill>
                      <a:srgbClr val="92D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2000" dirty="0"/>
                        <a:t>基于</a:t>
                      </a:r>
                      <a:r>
                        <a:rPr lang="zh-CN" altLang="en-US" sz="2000"/>
                        <a:t>策略的</a:t>
                      </a:r>
                      <a:r>
                        <a:rPr lang="zh-CN" altLang="en-US" sz="2000">
                          <a:latin typeface="Arial Black" panose="020B0A04020102020204" pitchFamily="34" charset="0"/>
                        </a:rPr>
                        <a:t>特征检测</a:t>
                      </a:r>
                      <a:endParaRPr lang="zh-CN" altLang="en-US" sz="2000" dirty="0"/>
                    </a:p>
                  </a:txBody>
                  <a:tcPr marL="91437" marR="91437" marT="45724" marB="45724">
                    <a:solidFill>
                      <a:srgbClr val="92D050"/>
                    </a:solidFill>
                  </a:tcPr>
                </a:tc>
                <a:tc>
                  <a:txBody>
                    <a:bodyPr/>
                    <a:lstStyle/>
                    <a:p>
                      <a:r>
                        <a:rPr lang="zh-CN" altLang="en-US" sz="2000" dirty="0"/>
                        <a:t>基于轮廓的异常检测</a:t>
                      </a:r>
                    </a:p>
                  </a:txBody>
                  <a:tcPr marL="91437" marR="91437" marT="45724" marB="45724">
                    <a:solidFill>
                      <a:srgbClr val="92D050"/>
                    </a:solidFill>
                  </a:tcPr>
                </a:tc>
                <a:extLst>
                  <a:ext uri="{0D108BD9-81ED-4DB2-BD59-A6C34878D82A}">
                    <a16:rowId xmlns:a16="http://schemas.microsoft.com/office/drawing/2014/main" val="10002"/>
                  </a:ext>
                </a:extLst>
              </a:tr>
            </a:tbl>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5844">
                                            <p:txEl>
                                              <p:pRg st="0" end="0"/>
                                            </p:txEl>
                                          </p:spTgt>
                                        </p:tgtEl>
                                        <p:attrNameLst>
                                          <p:attrName>style.visibility</p:attrName>
                                        </p:attrNameLst>
                                      </p:cBhvr>
                                      <p:to>
                                        <p:strVal val="visible"/>
                                      </p:to>
                                    </p:set>
                                    <p:animEffect transition="in" filter="wipe(up)">
                                      <p:cBhvr>
                                        <p:cTn id="7" dur="500"/>
                                        <p:tgtEl>
                                          <p:spTgt spid="35844">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5844">
                                            <p:txEl>
                                              <p:pRg st="1" end="1"/>
                                            </p:txEl>
                                          </p:spTgt>
                                        </p:tgtEl>
                                        <p:attrNameLst>
                                          <p:attrName>style.visibility</p:attrName>
                                        </p:attrNameLst>
                                      </p:cBhvr>
                                      <p:to>
                                        <p:strVal val="visible"/>
                                      </p:to>
                                    </p:set>
                                    <p:animEffect transition="in" filter="wipe(up)">
                                      <p:cBhvr>
                                        <p:cTn id="11" dur="500"/>
                                        <p:tgtEl>
                                          <p:spTgt spid="35844">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35844">
                                            <p:txEl>
                                              <p:pRg st="2" end="2"/>
                                            </p:txEl>
                                          </p:spTgt>
                                        </p:tgtEl>
                                        <p:attrNameLst>
                                          <p:attrName>style.visibility</p:attrName>
                                        </p:attrNameLst>
                                      </p:cBhvr>
                                      <p:to>
                                        <p:strVal val="visible"/>
                                      </p:to>
                                    </p:set>
                                    <p:animEffect transition="in" filter="wipe(up)">
                                      <p:cBhvr>
                                        <p:cTn id="15" dur="500"/>
                                        <p:tgtEl>
                                          <p:spTgt spid="35844">
                                            <p:txEl>
                                              <p:pRg st="2" end="2"/>
                                            </p:txEl>
                                          </p:spTgt>
                                        </p:tgtEl>
                                      </p:cBhvr>
                                    </p:animEffect>
                                  </p:childTnLst>
                                </p:cTn>
                              </p:par>
                            </p:childTnLst>
                          </p:cTn>
                        </p:par>
                        <p:par>
                          <p:cTn id="16" fill="hold">
                            <p:stCondLst>
                              <p:cond delay="1500"/>
                            </p:stCondLst>
                            <p:childTnLst>
                              <p:par>
                                <p:cTn id="17" presetID="53" presetClass="entr" presetSubtype="16"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fltVal val="0"/>
                                          </p:val>
                                        </p:tav>
                                        <p:tav tm="100000">
                                          <p:val>
                                            <p:strVal val="#ppt_w"/>
                                          </p:val>
                                        </p:tav>
                                      </p:tavLst>
                                    </p:anim>
                                    <p:anim calcmode="lin" valueType="num">
                                      <p:cBhvr>
                                        <p:cTn id="20" dur="500" fill="hold"/>
                                        <p:tgtEl>
                                          <p:spTgt spid="5"/>
                                        </p:tgtEl>
                                        <p:attrNameLst>
                                          <p:attrName>ppt_h</p:attrName>
                                        </p:attrNameLst>
                                      </p:cBhvr>
                                      <p:tavLst>
                                        <p:tav tm="0">
                                          <p:val>
                                            <p:fltVal val="0"/>
                                          </p:val>
                                        </p:tav>
                                        <p:tav tm="100000">
                                          <p:val>
                                            <p:strVal val="#ppt_h"/>
                                          </p:val>
                                        </p:tav>
                                      </p:tavLst>
                                    </p:anim>
                                    <p:animEffect transition="in" filter="fade">
                                      <p:cBhvr>
                                        <p:cTn id="2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idx="4294967295"/>
          </p:nvPr>
        </p:nvSpPr>
        <p:spPr>
          <a:xfrm>
            <a:off x="719572" y="755354"/>
            <a:ext cx="5796644" cy="550515"/>
          </a:xfrm>
          <a:noFill/>
          <a:ln w="9525">
            <a:noFill/>
            <a:miter lim="800000"/>
          </a:ln>
        </p:spPr>
        <p:txBody>
          <a:bodyPr vert="horz" wrap="square" lIns="91440" tIns="45720" rIns="91440" bIns="45720" numCol="1" anchor="ctr" anchorCtr="0" compatLnSpc="1"/>
          <a:lstStyle/>
          <a:p>
            <a:r>
              <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8.7 </a:t>
            </a:r>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异常检测</a:t>
            </a:r>
            <a:r>
              <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(Anomaly Detection)</a:t>
            </a:r>
            <a:endPar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3" name="矩形 2"/>
          <p:cNvSpPr/>
          <p:nvPr/>
        </p:nvSpPr>
        <p:spPr>
          <a:xfrm>
            <a:off x="611560" y="2316649"/>
            <a:ext cx="6912768" cy="2234458"/>
          </a:xfrm>
          <a:prstGeom prst="rect">
            <a:avLst/>
          </a:prstGeom>
        </p:spPr>
        <p:txBody>
          <a:bodyPr wrap="square">
            <a:spAutoFit/>
          </a:bodyPr>
          <a:lstStyle/>
          <a:p>
            <a:pPr marL="285750" indent="-285750" eaLnBrk="0" hangingPunct="0">
              <a:spcBef>
                <a:spcPct val="20000"/>
              </a:spcBef>
              <a:buClr>
                <a:srgbClr val="3399FF"/>
              </a:buClr>
              <a:buFont typeface="Wingdings" panose="05000000000000000000" pitchFamily="2" charset="2"/>
              <a:buChar char="v"/>
            </a:pPr>
            <a:r>
              <a:rPr lang="zh-CN" altLang="en-US" sz="2400" b="1" dirty="0">
                <a:solidFill>
                  <a:srgbClr val="000000"/>
                </a:solidFill>
                <a:effectLst>
                  <a:outerShdw blurRad="38100" dist="38100" dir="2700000" algn="tl">
                    <a:srgbClr val="000000">
                      <a:alpha val="43137"/>
                    </a:srgbClr>
                  </a:outerShdw>
                </a:effectLst>
                <a:latin typeface="+mn-ea"/>
                <a:ea typeface="+mn-ea"/>
              </a:rPr>
              <a:t>也称为基于行为的检测</a:t>
            </a:r>
          </a:p>
          <a:p>
            <a:pPr marL="285750" indent="-285750" eaLnBrk="0" hangingPunct="0">
              <a:spcBef>
                <a:spcPct val="20000"/>
              </a:spcBef>
              <a:buClr>
                <a:srgbClr val="3399FF"/>
              </a:buClr>
              <a:buFont typeface="Wingdings" panose="05000000000000000000" pitchFamily="2" charset="2"/>
              <a:buChar char="v"/>
            </a:pPr>
            <a:r>
              <a:rPr lang="zh-CN" altLang="en-US" sz="2400" b="1" dirty="0">
                <a:solidFill>
                  <a:srgbClr val="000000"/>
                </a:solidFill>
                <a:effectLst>
                  <a:outerShdw blurRad="38100" dist="38100" dir="2700000" algn="tl">
                    <a:srgbClr val="000000">
                      <a:alpha val="43137"/>
                    </a:srgbClr>
                  </a:outerShdw>
                </a:effectLst>
                <a:latin typeface="+mn-ea"/>
                <a:ea typeface="+mn-ea"/>
              </a:rPr>
              <a:t>首先建立起用户的正常使用模式（即知识库）</a:t>
            </a:r>
            <a:endParaRPr lang="en-US" altLang="zh-CN" sz="2400" b="1" dirty="0">
              <a:solidFill>
                <a:srgbClr val="000000"/>
              </a:solidFill>
              <a:effectLst>
                <a:outerShdw blurRad="38100" dist="38100" dir="2700000" algn="tl">
                  <a:srgbClr val="000000">
                    <a:alpha val="43137"/>
                  </a:srgbClr>
                </a:outerShdw>
              </a:effectLst>
              <a:latin typeface="+mn-ea"/>
              <a:ea typeface="+mn-ea"/>
            </a:endParaRPr>
          </a:p>
          <a:p>
            <a:pPr marL="285750" indent="-285750" eaLnBrk="0" hangingPunct="0">
              <a:spcBef>
                <a:spcPct val="20000"/>
              </a:spcBef>
              <a:buClr>
                <a:srgbClr val="3399FF"/>
              </a:buClr>
              <a:buFont typeface="Wingdings" panose="05000000000000000000" pitchFamily="2" charset="2"/>
              <a:buChar char="v"/>
            </a:pPr>
            <a:r>
              <a:rPr lang="zh-CN" altLang="en-US" sz="2400" b="1" dirty="0">
                <a:solidFill>
                  <a:srgbClr val="000000"/>
                </a:solidFill>
                <a:effectLst>
                  <a:outerShdw blurRad="38100" dist="38100" dir="2700000" algn="tl">
                    <a:srgbClr val="000000">
                      <a:alpha val="43137"/>
                    </a:srgbClr>
                  </a:outerShdw>
                </a:effectLst>
                <a:latin typeface="+mn-ea"/>
                <a:ea typeface="+mn-ea"/>
              </a:rPr>
              <a:t>标识出不符合正常模式的行为活动</a:t>
            </a:r>
          </a:p>
          <a:p>
            <a:pPr marL="285750" indent="-285750" eaLnBrk="0" hangingPunct="0">
              <a:spcBef>
                <a:spcPct val="20000"/>
              </a:spcBef>
              <a:buClr>
                <a:srgbClr val="3399FF"/>
              </a:buClr>
              <a:buFont typeface="Wingdings" panose="05000000000000000000" pitchFamily="2" charset="2"/>
              <a:buChar char="v"/>
            </a:pPr>
            <a:r>
              <a:rPr lang="zh-CN" altLang="en-US" sz="2400" b="1" dirty="0">
                <a:solidFill>
                  <a:srgbClr val="000000"/>
                </a:solidFill>
                <a:effectLst>
                  <a:outerShdw blurRad="38100" dist="38100" dir="2700000" algn="tl">
                    <a:srgbClr val="000000">
                      <a:alpha val="43137"/>
                    </a:srgbClr>
                  </a:outerShdw>
                </a:effectLst>
                <a:latin typeface="+mn-ea"/>
                <a:ea typeface="+mn-ea"/>
              </a:rPr>
              <a:t>假设所有的入侵行为是异常的；</a:t>
            </a:r>
          </a:p>
          <a:p>
            <a:pPr marL="285750" indent="-285750" eaLnBrk="0" hangingPunct="0">
              <a:spcBef>
                <a:spcPct val="20000"/>
              </a:spcBef>
              <a:buClr>
                <a:srgbClr val="3399FF"/>
              </a:buClr>
              <a:buFont typeface="Wingdings" panose="05000000000000000000" pitchFamily="2" charset="2"/>
              <a:buChar char="v"/>
            </a:pPr>
            <a:r>
              <a:rPr lang="zh-CN" altLang="en-US" sz="2400" b="1" dirty="0">
                <a:solidFill>
                  <a:srgbClr val="000000"/>
                </a:solidFill>
                <a:effectLst>
                  <a:outerShdw blurRad="38100" dist="38100" dir="2700000" algn="tl">
                    <a:srgbClr val="000000">
                      <a:alpha val="43137"/>
                    </a:srgbClr>
                  </a:outerShdw>
                </a:effectLst>
                <a:latin typeface="+mn-ea"/>
                <a:ea typeface="+mn-ea"/>
              </a:rPr>
              <a:t>基于系统和基于用户的异常</a:t>
            </a:r>
            <a:r>
              <a:rPr lang="zh-CN" altLang="en-US" b="1" dirty="0">
                <a:solidFill>
                  <a:srgbClr val="000000"/>
                </a:solidFill>
                <a:effectLst>
                  <a:outerShdw blurRad="38100" dist="38100" dir="2700000" algn="tl">
                    <a:srgbClr val="000000">
                      <a:alpha val="43137"/>
                    </a:srgbClr>
                  </a:outerShdw>
                </a:effectLst>
                <a:latin typeface="+mn-ea"/>
                <a:ea typeface="+mn-ea"/>
              </a:rPr>
              <a:t>；</a:t>
            </a:r>
            <a:endParaRPr lang="en-US" altLang="zh-CN" b="1" dirty="0">
              <a:solidFill>
                <a:srgbClr val="000000"/>
              </a:solidFill>
              <a:effectLst>
                <a:outerShdw blurRad="38100" dist="38100" dir="2700000" algn="tl">
                  <a:srgbClr val="000000">
                    <a:alpha val="43137"/>
                  </a:srgbClr>
                </a:outerShdw>
              </a:effectLst>
              <a:latin typeface="+mn-ea"/>
              <a:ea typeface="+mn-ea"/>
            </a:endParaRPr>
          </a:p>
        </p:txBody>
      </p:sp>
      <p:sp>
        <p:nvSpPr>
          <p:cNvPr id="5" name="矩形 4"/>
          <p:cNvSpPr/>
          <p:nvPr/>
        </p:nvSpPr>
        <p:spPr>
          <a:xfrm>
            <a:off x="611560" y="4836929"/>
            <a:ext cx="7272808" cy="1343316"/>
          </a:xfrm>
          <a:prstGeom prst="rect">
            <a:avLst/>
          </a:prstGeom>
        </p:spPr>
        <p:txBody>
          <a:bodyPr wrap="square">
            <a:spAutoFit/>
          </a:bodyPr>
          <a:lstStyle/>
          <a:p>
            <a:pPr marL="285750" indent="-285750" eaLnBrk="0" hangingPunct="0">
              <a:lnSpc>
                <a:spcPts val="3400"/>
              </a:lnSpc>
              <a:spcBef>
                <a:spcPct val="20000"/>
              </a:spcBef>
              <a:buClr>
                <a:srgbClr val="3399FF"/>
              </a:buClr>
              <a:buFont typeface="Wingdings" panose="05000000000000000000" pitchFamily="2" charset="2"/>
              <a:buChar char="v"/>
            </a:pPr>
            <a:r>
              <a:rPr lang="zh-CN" altLang="en-US" sz="2400" b="1" dirty="0">
                <a:solidFill>
                  <a:srgbClr val="000000"/>
                </a:solidFill>
                <a:effectLst>
                  <a:outerShdw blurRad="38100" dist="38100" dir="2700000" algn="tl">
                    <a:srgbClr val="000000">
                      <a:alpha val="43137"/>
                    </a:srgbClr>
                  </a:outerShdw>
                </a:effectLst>
                <a:latin typeface="+mn-ea"/>
                <a:ea typeface="+mn-ea"/>
              </a:rPr>
              <a:t>比较符合安全的概念，但是实现难度较大</a:t>
            </a:r>
            <a:endParaRPr lang="zh-CN" altLang="zh-CN" sz="2400" b="1" dirty="0">
              <a:solidFill>
                <a:srgbClr val="000000"/>
              </a:solidFill>
              <a:effectLst>
                <a:outerShdw blurRad="38100" dist="38100" dir="2700000" algn="tl">
                  <a:srgbClr val="000000">
                    <a:alpha val="43137"/>
                  </a:srgbClr>
                </a:outerShdw>
              </a:effectLst>
              <a:latin typeface="+mn-ea"/>
              <a:ea typeface="+mn-ea"/>
            </a:endParaRPr>
          </a:p>
          <a:p>
            <a:pPr marL="800100" lvl="1" indent="-342900" eaLnBrk="1" hangingPunct="1">
              <a:lnSpc>
                <a:spcPts val="3400"/>
              </a:lnSpc>
              <a:buClr>
                <a:srgbClr val="C00000"/>
              </a:buClr>
              <a:buFont typeface="Wingdings" panose="05000000000000000000" pitchFamily="2" charset="2"/>
              <a:buChar char="u"/>
            </a:pPr>
            <a:r>
              <a:rPr lang="zh-CN" altLang="en-US" sz="2400" b="1" dirty="0">
                <a:solidFill>
                  <a:srgbClr val="0033CC"/>
                </a:solidFill>
                <a:effectLst>
                  <a:outerShdw blurRad="38100" dist="38100" dir="2700000" algn="tl">
                    <a:srgbClr val="000000">
                      <a:alpha val="43137"/>
                    </a:srgbClr>
                  </a:outerShdw>
                </a:effectLst>
                <a:latin typeface="+mn-ea"/>
                <a:ea typeface="+mn-ea"/>
              </a:rPr>
              <a:t>正常模式（的知识库）难以建立</a:t>
            </a:r>
          </a:p>
          <a:p>
            <a:pPr marL="800100" lvl="1" indent="-342900" eaLnBrk="1" hangingPunct="1">
              <a:lnSpc>
                <a:spcPts val="3400"/>
              </a:lnSpc>
              <a:buClr>
                <a:srgbClr val="C00000"/>
              </a:buClr>
              <a:buFont typeface="Wingdings" panose="05000000000000000000" pitchFamily="2" charset="2"/>
              <a:buChar char="u"/>
            </a:pPr>
            <a:r>
              <a:rPr lang="zh-CN" altLang="en-US" sz="2400" b="1" dirty="0">
                <a:solidFill>
                  <a:srgbClr val="0033CC"/>
                </a:solidFill>
                <a:effectLst>
                  <a:outerShdw blurRad="38100" dist="38100" dir="2700000" algn="tl">
                    <a:srgbClr val="000000">
                      <a:alpha val="43137"/>
                    </a:srgbClr>
                  </a:outerShdw>
                </a:effectLst>
                <a:latin typeface="+mn-ea"/>
                <a:ea typeface="+mn-ea"/>
              </a:rPr>
              <a:t>难以明确划分正常模式和异常模式</a:t>
            </a:r>
          </a:p>
        </p:txBody>
      </p:sp>
      <p:sp>
        <p:nvSpPr>
          <p:cNvPr id="2" name="文本框 1">
            <a:extLst>
              <a:ext uri="{FF2B5EF4-FFF2-40B4-BE49-F238E27FC236}">
                <a16:creationId xmlns:a16="http://schemas.microsoft.com/office/drawing/2014/main" id="{8164A745-7610-9241-A79B-B52C080F2806}"/>
              </a:ext>
            </a:extLst>
          </p:cNvPr>
          <p:cNvSpPr txBox="1"/>
          <p:nvPr/>
        </p:nvSpPr>
        <p:spPr>
          <a:xfrm>
            <a:off x="323528" y="1488093"/>
            <a:ext cx="9020418" cy="646331"/>
          </a:xfrm>
          <a:prstGeom prst="rect">
            <a:avLst/>
          </a:prstGeom>
          <a:noFill/>
        </p:spPr>
        <p:txBody>
          <a:bodyPr wrap="none" rtlCol="0">
            <a:spAutoFit/>
          </a:bodyPr>
          <a:lstStyle/>
          <a:p>
            <a:r>
              <a:rPr lang="zh-CN" altLang="en-US" dirty="0"/>
              <a:t>异常检测是指根据非正常行为</a:t>
            </a:r>
            <a:r>
              <a:rPr lang="en-US" altLang="zh-CN" dirty="0"/>
              <a:t>(</a:t>
            </a:r>
            <a:r>
              <a:rPr lang="zh-CN" altLang="en-US" dirty="0"/>
              <a:t>系统或用户</a:t>
            </a:r>
            <a:r>
              <a:rPr lang="en-US" altLang="zh-CN" dirty="0"/>
              <a:t>)</a:t>
            </a:r>
            <a:r>
              <a:rPr lang="zh-CN" altLang="en-US" dirty="0"/>
              <a:t>和使用计算机非正常资源来检测入侵行为。</a:t>
            </a:r>
          </a:p>
          <a:p>
            <a:r>
              <a:rPr lang="zh-CN" altLang="en-US" dirty="0"/>
              <a:t>关键在于建立用户及系统正常行为模型</a:t>
            </a:r>
            <a:r>
              <a:rPr lang="en-US" altLang="zh-CN" dirty="0"/>
              <a:t>,</a:t>
            </a:r>
            <a:r>
              <a:rPr lang="zh-CN" altLang="en-US" dirty="0"/>
              <a:t>检测实际活动以判断是否背离正常的行为模型。</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idx="4294967295"/>
          </p:nvPr>
        </p:nvSpPr>
        <p:spPr>
          <a:xfrm>
            <a:off x="503548" y="710432"/>
            <a:ext cx="3154989" cy="620688"/>
          </a:xfrm>
          <a:noFill/>
          <a:ln w="9525">
            <a:noFill/>
            <a:miter lim="800000"/>
          </a:ln>
        </p:spPr>
        <p:txBody>
          <a:bodyPr vert="horz" wrap="square" lIns="91440" tIns="45720" rIns="91440" bIns="45720" numCol="1" anchor="ctr" anchorCtr="0" compatLnSpc="1"/>
          <a:lstStyle/>
          <a:p>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异常检测</a:t>
            </a:r>
            <a:endPar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52229" name="Rectangle 6"/>
          <p:cNvSpPr>
            <a:spLocks noChangeArrowheads="1"/>
          </p:cNvSpPr>
          <p:nvPr/>
        </p:nvSpPr>
        <p:spPr bwMode="auto">
          <a:xfrm>
            <a:off x="215516" y="3642818"/>
            <a:ext cx="4588064" cy="1943670"/>
          </a:xfrm>
          <a:prstGeom prst="rect">
            <a:avLst/>
          </a:prstGeom>
          <a:noFill/>
          <a:ln w="9525">
            <a:noFill/>
            <a:miter lim="800000"/>
          </a:ln>
        </p:spPr>
        <p:txBody>
          <a:bodyPr lIns="92075" tIns="46038" rIns="92075" bIns="46038"/>
          <a:lstStyle/>
          <a:p>
            <a:pPr marL="342900" indent="-342900" eaLnBrk="0" hangingPunct="0">
              <a:lnSpc>
                <a:spcPts val="3400"/>
              </a:lnSpc>
              <a:spcBef>
                <a:spcPct val="20000"/>
              </a:spcBef>
              <a:buClr>
                <a:srgbClr val="3399FF"/>
              </a:buClr>
              <a:buFont typeface="Wingdings" panose="05000000000000000000" pitchFamily="2" charset="2"/>
              <a:buChar char="v"/>
            </a:pPr>
            <a:r>
              <a:rPr lang="zh-CN" altLang="en-US" sz="2600" b="1" dirty="0">
                <a:solidFill>
                  <a:srgbClr val="FF0000"/>
                </a:solidFill>
                <a:effectLst>
                  <a:outerShdw blurRad="38100" dist="38100" dir="2700000" algn="tl">
                    <a:srgbClr val="000000">
                      <a:alpha val="43137"/>
                    </a:srgbClr>
                  </a:outerShdw>
                </a:effectLst>
                <a:latin typeface="+mn-ea"/>
                <a:ea typeface="+mn-ea"/>
              </a:rPr>
              <a:t>使用的检测方法</a:t>
            </a:r>
          </a:p>
          <a:p>
            <a:pPr marL="742950" lvl="1" indent="-285750" eaLnBrk="1" hangingPunct="1">
              <a:lnSpc>
                <a:spcPts val="3000"/>
              </a:lnSpc>
              <a:buClr>
                <a:srgbClr val="FF9900"/>
              </a:buClr>
              <a:buFont typeface="Wingdings" panose="05000000000000000000" pitchFamily="2" charset="2"/>
              <a:buChar char="n"/>
            </a:pPr>
            <a:r>
              <a:rPr lang="zh-CN" altLang="en-US" b="1" dirty="0">
                <a:effectLst>
                  <a:outerShdw blurRad="38100" dist="38100" dir="2700000" algn="tl">
                    <a:srgbClr val="000000">
                      <a:alpha val="43137"/>
                    </a:srgbClr>
                  </a:outerShdw>
                </a:effectLst>
                <a:latin typeface="+mn-ea"/>
                <a:ea typeface="+mn-ea"/>
              </a:rPr>
              <a:t>基于统计方法的入侵检测技术</a:t>
            </a:r>
          </a:p>
          <a:p>
            <a:pPr marL="742950" lvl="1" indent="-285750" eaLnBrk="1" hangingPunct="1">
              <a:lnSpc>
                <a:spcPts val="3000"/>
              </a:lnSpc>
              <a:buClr>
                <a:srgbClr val="FF9900"/>
              </a:buClr>
              <a:buFont typeface="Wingdings" panose="05000000000000000000" pitchFamily="2" charset="2"/>
              <a:buChar char="n"/>
            </a:pPr>
            <a:r>
              <a:rPr lang="zh-CN" altLang="en-US" b="1" dirty="0">
                <a:effectLst>
                  <a:outerShdw blurRad="38100" dist="38100" dir="2700000" algn="tl">
                    <a:srgbClr val="000000">
                      <a:alpha val="43137"/>
                    </a:srgbClr>
                  </a:outerShdw>
                </a:effectLst>
                <a:latin typeface="+mn-ea"/>
                <a:ea typeface="+mn-ea"/>
              </a:rPr>
              <a:t>基于神经网络的入侵检测技术</a:t>
            </a:r>
          </a:p>
          <a:p>
            <a:pPr marL="742950" lvl="1" indent="-285750" eaLnBrk="1" hangingPunct="1">
              <a:lnSpc>
                <a:spcPts val="3000"/>
              </a:lnSpc>
              <a:buClr>
                <a:srgbClr val="FF9900"/>
              </a:buClr>
              <a:buFont typeface="Wingdings" panose="05000000000000000000" pitchFamily="2" charset="2"/>
              <a:buChar char="n"/>
            </a:pPr>
            <a:r>
              <a:rPr lang="zh-CN" altLang="en-US" b="1" dirty="0">
                <a:effectLst>
                  <a:outerShdw blurRad="38100" dist="38100" dir="2700000" algn="tl">
                    <a:srgbClr val="000000">
                      <a:alpha val="43137"/>
                    </a:srgbClr>
                  </a:outerShdw>
                </a:effectLst>
                <a:latin typeface="+mn-ea"/>
                <a:ea typeface="+mn-ea"/>
              </a:rPr>
              <a:t>基于专家系统的入侵检测技术</a:t>
            </a:r>
          </a:p>
          <a:p>
            <a:pPr marL="742950" lvl="1" indent="-285750" eaLnBrk="1" hangingPunct="1">
              <a:lnSpc>
                <a:spcPts val="3000"/>
              </a:lnSpc>
              <a:buClr>
                <a:srgbClr val="FF9900"/>
              </a:buClr>
              <a:buFont typeface="Wingdings" panose="05000000000000000000" pitchFamily="2" charset="2"/>
              <a:buChar char="n"/>
            </a:pPr>
            <a:r>
              <a:rPr lang="zh-CN" altLang="en-US" b="1" dirty="0">
                <a:effectLst>
                  <a:outerShdw blurRad="38100" dist="38100" dir="2700000" algn="tl">
                    <a:srgbClr val="000000">
                      <a:alpha val="43137"/>
                    </a:srgbClr>
                  </a:outerShdw>
                </a:effectLst>
                <a:latin typeface="+mn-ea"/>
                <a:ea typeface="+mn-ea"/>
              </a:rPr>
              <a:t>基于模型推理的入侵检测技术</a:t>
            </a:r>
          </a:p>
        </p:txBody>
      </p:sp>
      <p:sp>
        <p:nvSpPr>
          <p:cNvPr id="2" name="矩形 1"/>
          <p:cNvSpPr/>
          <p:nvPr/>
        </p:nvSpPr>
        <p:spPr>
          <a:xfrm>
            <a:off x="4319972" y="3642818"/>
            <a:ext cx="4521460" cy="1822037"/>
          </a:xfrm>
          <a:prstGeom prst="rect">
            <a:avLst/>
          </a:prstGeom>
        </p:spPr>
        <p:txBody>
          <a:bodyPr wrap="square">
            <a:spAutoFit/>
          </a:bodyPr>
          <a:lstStyle/>
          <a:p>
            <a:pPr marL="342900" indent="-342900" eaLnBrk="0" hangingPunct="0">
              <a:spcBef>
                <a:spcPct val="20000"/>
              </a:spcBef>
              <a:buClr>
                <a:srgbClr val="3399FF"/>
              </a:buClr>
              <a:buFont typeface="Wingdings" panose="05000000000000000000" pitchFamily="2" charset="2"/>
              <a:buChar char="v"/>
            </a:pPr>
            <a:r>
              <a:rPr lang="zh-CN" altLang="en-US" sz="2600" b="1" dirty="0">
                <a:solidFill>
                  <a:srgbClr val="FF0000"/>
                </a:solidFill>
                <a:effectLst>
                  <a:outerShdw blurRad="38100" dist="38100" dir="2700000" algn="tl">
                    <a:srgbClr val="000000">
                      <a:alpha val="43137"/>
                    </a:srgbClr>
                  </a:outerShdw>
                </a:effectLst>
                <a:latin typeface="+mn-ea"/>
                <a:ea typeface="+mn-ea"/>
              </a:rPr>
              <a:t>数据来源</a:t>
            </a:r>
            <a:endParaRPr lang="en-US" altLang="zh-CN" sz="2600" b="1" dirty="0">
              <a:solidFill>
                <a:srgbClr val="FF0000"/>
              </a:solidFill>
              <a:effectLst>
                <a:outerShdw blurRad="38100" dist="38100" dir="2700000" algn="tl">
                  <a:srgbClr val="000000">
                    <a:alpha val="43137"/>
                  </a:srgbClr>
                </a:outerShdw>
              </a:effectLst>
              <a:latin typeface="+mn-ea"/>
              <a:ea typeface="+mn-ea"/>
            </a:endParaRPr>
          </a:p>
          <a:p>
            <a:pPr marL="742950" lvl="1" indent="-285750" eaLnBrk="0" hangingPunct="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mn-ea"/>
                <a:ea typeface="+mn-ea"/>
              </a:rPr>
              <a:t>审计日志或网络流量</a:t>
            </a:r>
          </a:p>
          <a:p>
            <a:pPr marL="742950" lvl="1" indent="-285750" eaLnBrk="0" hangingPunct="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mn-ea"/>
                <a:ea typeface="+mn-ea"/>
              </a:rPr>
              <a:t>特殊用途的数据收集机制</a:t>
            </a:r>
            <a:endParaRPr lang="en-US" altLang="zh-CN" sz="2400" b="1" dirty="0">
              <a:effectLst>
                <a:outerShdw blurRad="38100" dist="38100" dir="2700000" algn="tl">
                  <a:srgbClr val="000000">
                    <a:alpha val="43137"/>
                  </a:srgbClr>
                </a:outerShdw>
              </a:effectLst>
              <a:latin typeface="+mn-ea"/>
              <a:ea typeface="+mn-ea"/>
            </a:endParaRPr>
          </a:p>
          <a:p>
            <a:pPr marL="742950" lvl="1" indent="-285750" eaLnBrk="0" hangingPunct="0">
              <a:spcBef>
                <a:spcPct val="20000"/>
              </a:spcBef>
              <a:buClr>
                <a:srgbClr val="FF9900"/>
              </a:buClr>
              <a:buFont typeface="Wingdings" panose="05000000000000000000" pitchFamily="2" charset="2"/>
              <a:buChar char="§"/>
            </a:pPr>
            <a:r>
              <a:rPr lang="en-US" altLang="zh-CN" sz="2400" b="1" dirty="0">
                <a:effectLst>
                  <a:outerShdw blurRad="38100" dist="38100" dir="2700000" algn="tl">
                    <a:srgbClr val="000000">
                      <a:alpha val="43137"/>
                    </a:srgbClr>
                  </a:outerShdw>
                </a:effectLst>
                <a:latin typeface="+mn-ea"/>
                <a:ea typeface="+mn-ea"/>
              </a:rPr>
              <a:t>……</a:t>
            </a:r>
          </a:p>
        </p:txBody>
      </p:sp>
      <p:sp>
        <p:nvSpPr>
          <p:cNvPr id="7" name="矩形 6"/>
          <p:cNvSpPr/>
          <p:nvPr/>
        </p:nvSpPr>
        <p:spPr>
          <a:xfrm>
            <a:off x="4207463" y="1753738"/>
            <a:ext cx="4923536" cy="1378839"/>
          </a:xfrm>
          <a:prstGeom prst="rect">
            <a:avLst/>
          </a:prstGeom>
        </p:spPr>
        <p:txBody>
          <a:bodyPr wrap="square">
            <a:spAutoFit/>
          </a:bodyPr>
          <a:lstStyle/>
          <a:p>
            <a:pPr eaLnBrk="0" hangingPunct="0">
              <a:spcBef>
                <a:spcPct val="20000"/>
              </a:spcBef>
              <a:buClr>
                <a:srgbClr val="3399FF"/>
              </a:buClr>
              <a:buFont typeface="Wingdings" panose="05000000000000000000" pitchFamily="2" charset="2"/>
              <a:buChar char="v"/>
            </a:pPr>
            <a:r>
              <a:rPr lang="zh-CN" altLang="en-US" sz="2600" b="1" dirty="0">
                <a:solidFill>
                  <a:srgbClr val="FF0000"/>
                </a:solidFill>
                <a:effectLst>
                  <a:outerShdw blurRad="38100" dist="38100" dir="2700000" algn="tl">
                    <a:srgbClr val="000000">
                      <a:alpha val="43137"/>
                    </a:srgbClr>
                  </a:outerShdw>
                </a:effectLst>
                <a:latin typeface="+mn-ea"/>
                <a:ea typeface="+mn-ea"/>
              </a:rPr>
              <a:t>关键问题</a:t>
            </a:r>
            <a:r>
              <a:rPr lang="zh-CN" altLang="en-US" sz="2600" b="1" dirty="0">
                <a:solidFill>
                  <a:srgbClr val="FF0000"/>
                </a:solidFill>
                <a:effectLst>
                  <a:outerShdw blurRad="38100" dist="38100" dir="2700000" algn="tl">
                    <a:srgbClr val="000000">
                      <a:alpha val="43137"/>
                    </a:srgbClr>
                  </a:outerShdw>
                </a:effectLst>
                <a:latin typeface="+mn-ea"/>
              </a:rPr>
              <a:t>：</a:t>
            </a:r>
          </a:p>
          <a:p>
            <a:pPr lvl="1" indent="266700" eaLnBrk="0" hangingPunct="0">
              <a:spcBef>
                <a:spcPct val="20000"/>
              </a:spcBef>
              <a:buClr>
                <a:srgbClr val="FF9900"/>
              </a:buClr>
              <a:buSzPct val="50000"/>
              <a:buFont typeface="Wingdings" panose="05000000000000000000" pitchFamily="2" charset="2"/>
              <a:buChar char="n"/>
            </a:pPr>
            <a:r>
              <a:rPr lang="zh-CN" altLang="en-US" sz="2400" b="1" dirty="0">
                <a:solidFill>
                  <a:srgbClr val="000000"/>
                </a:solidFill>
                <a:effectLst>
                  <a:outerShdw blurRad="38100" dist="38100" dir="2700000" algn="tl">
                    <a:srgbClr val="000000">
                      <a:alpha val="43137"/>
                    </a:srgbClr>
                  </a:outerShdw>
                </a:effectLst>
                <a:latin typeface="+mn-ea"/>
                <a:ea typeface="+mn-ea"/>
              </a:rPr>
              <a:t>“正常”行为特征的选择；</a:t>
            </a:r>
          </a:p>
          <a:p>
            <a:pPr lvl="1" indent="266700" eaLnBrk="0" hangingPunct="0">
              <a:spcBef>
                <a:spcPct val="20000"/>
              </a:spcBef>
              <a:buClr>
                <a:srgbClr val="FF9900"/>
              </a:buClr>
              <a:buSzPct val="50000"/>
              <a:buFont typeface="Wingdings" panose="05000000000000000000" pitchFamily="2" charset="2"/>
              <a:buChar char="n"/>
            </a:pPr>
            <a:r>
              <a:rPr lang="zh-CN" altLang="en-US" sz="2400" b="1" dirty="0">
                <a:solidFill>
                  <a:srgbClr val="000000"/>
                </a:solidFill>
                <a:effectLst>
                  <a:outerShdw blurRad="38100" dist="38100" dir="2700000" algn="tl">
                    <a:srgbClr val="000000">
                      <a:alpha val="43137"/>
                    </a:srgbClr>
                  </a:outerShdw>
                </a:effectLst>
                <a:latin typeface="+mn-ea"/>
                <a:ea typeface="+mn-ea"/>
              </a:rPr>
              <a:t>统计算法、统计点的选取等。</a:t>
            </a:r>
            <a:endParaRPr lang="zh-CN" altLang="en-US" sz="2400" b="1" dirty="0">
              <a:effectLst>
                <a:outerShdw blurRad="38100" dist="38100" dir="2700000" algn="tl">
                  <a:srgbClr val="000000">
                    <a:alpha val="43137"/>
                  </a:srgbClr>
                </a:outerShdw>
              </a:effectLst>
              <a:latin typeface="+mn-ea"/>
              <a:ea typeface="+mn-ea"/>
            </a:endParaRPr>
          </a:p>
        </p:txBody>
      </p:sp>
      <p:sp>
        <p:nvSpPr>
          <p:cNvPr id="8" name="Rectangle 5"/>
          <p:cNvSpPr>
            <a:spLocks noChangeArrowheads="1"/>
          </p:cNvSpPr>
          <p:nvPr/>
        </p:nvSpPr>
        <p:spPr bwMode="auto">
          <a:xfrm>
            <a:off x="223375" y="1547527"/>
            <a:ext cx="4881612" cy="1791260"/>
          </a:xfrm>
          <a:prstGeom prst="rect">
            <a:avLst/>
          </a:prstGeom>
          <a:noFill/>
          <a:ln w="9525">
            <a:noFill/>
            <a:miter lim="800000"/>
          </a:ln>
        </p:spPr>
        <p:txBody>
          <a:bodyPr wrap="square">
            <a:spAutoFit/>
          </a:bodyPr>
          <a:lstStyle/>
          <a:p>
            <a:pPr eaLnBrk="0" hangingPunct="0">
              <a:spcBef>
                <a:spcPct val="20000"/>
              </a:spcBef>
              <a:buClr>
                <a:srgbClr val="3399FF"/>
              </a:buClr>
              <a:buFont typeface="Wingdings" panose="05000000000000000000" pitchFamily="2" charset="2"/>
              <a:buChar char="v"/>
            </a:pPr>
            <a:r>
              <a:rPr lang="zh-CN" altLang="en-US" sz="2400" b="1" dirty="0">
                <a:solidFill>
                  <a:srgbClr val="FF0000"/>
                </a:solidFill>
                <a:effectLst>
                  <a:outerShdw blurRad="38100" dist="38100" dir="2700000" algn="tl">
                    <a:srgbClr val="000000">
                      <a:alpha val="43137"/>
                    </a:srgbClr>
                  </a:outerShdw>
                </a:effectLst>
                <a:latin typeface="+mn-ea"/>
                <a:ea typeface="+mn-ea"/>
              </a:rPr>
              <a:t>优点：</a:t>
            </a:r>
          </a:p>
          <a:p>
            <a:pPr lvl="1" indent="266700" eaLnBrk="0" hangingPunct="0">
              <a:spcBef>
                <a:spcPct val="20000"/>
              </a:spcBef>
              <a:buClr>
                <a:srgbClr val="FF9900"/>
              </a:buClr>
              <a:buSzPct val="50000"/>
              <a:buFont typeface="Wingdings" panose="05000000000000000000" pitchFamily="2" charset="2"/>
              <a:buChar char="n"/>
            </a:pPr>
            <a:r>
              <a:rPr lang="zh-CN" altLang="en-US" sz="2400" b="1" dirty="0">
                <a:solidFill>
                  <a:srgbClr val="000000"/>
                </a:solidFill>
                <a:effectLst>
                  <a:outerShdw blurRad="38100" dist="38100" dir="2700000" algn="tl">
                    <a:srgbClr val="000000">
                      <a:alpha val="43137"/>
                    </a:srgbClr>
                  </a:outerShdw>
                </a:effectLst>
                <a:latin typeface="+mn-ea"/>
                <a:ea typeface="+mn-ea"/>
              </a:rPr>
              <a:t>可检测未知的攻击；</a:t>
            </a:r>
          </a:p>
          <a:p>
            <a:pPr lvl="1" indent="266700" eaLnBrk="0" hangingPunct="0">
              <a:spcBef>
                <a:spcPct val="20000"/>
              </a:spcBef>
              <a:buClr>
                <a:srgbClr val="FF9900"/>
              </a:buClr>
              <a:buSzPct val="50000"/>
              <a:buFont typeface="Wingdings" panose="05000000000000000000" pitchFamily="2" charset="2"/>
              <a:buChar char="n"/>
            </a:pPr>
            <a:r>
              <a:rPr lang="zh-CN" altLang="en-US" sz="2400" b="1" dirty="0">
                <a:solidFill>
                  <a:srgbClr val="000000"/>
                </a:solidFill>
                <a:effectLst>
                  <a:outerShdw blurRad="38100" dist="38100" dir="2700000" algn="tl">
                    <a:srgbClr val="000000">
                      <a:alpha val="43137"/>
                    </a:srgbClr>
                  </a:outerShdw>
                </a:effectLst>
                <a:latin typeface="+mn-ea"/>
                <a:ea typeface="+mn-ea"/>
              </a:rPr>
              <a:t>自适应、自学习功能；</a:t>
            </a:r>
          </a:p>
          <a:p>
            <a:pPr lvl="1" indent="266700" eaLnBrk="0" hangingPunct="0">
              <a:spcBef>
                <a:spcPct val="20000"/>
              </a:spcBef>
              <a:buClr>
                <a:srgbClr val="FF9900"/>
              </a:buClr>
              <a:buSzPct val="50000"/>
              <a:buFont typeface="Wingdings" panose="05000000000000000000" pitchFamily="2" charset="2"/>
              <a:buChar char="n"/>
            </a:pPr>
            <a:r>
              <a:rPr lang="zh-CN" altLang="en-US" sz="2400" b="1" dirty="0">
                <a:solidFill>
                  <a:srgbClr val="000000"/>
                </a:solidFill>
                <a:effectLst>
                  <a:outerShdw blurRad="38100" dist="38100" dir="2700000" algn="tl">
                    <a:srgbClr val="000000">
                      <a:alpha val="43137"/>
                    </a:srgbClr>
                  </a:outerShdw>
                </a:effectLst>
                <a:latin typeface="+mn-ea"/>
                <a:ea typeface="+mn-ea"/>
              </a:rPr>
              <a:t>不需要先验知识。</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2229"/>
                                        </p:tgtEl>
                                        <p:attrNameLst>
                                          <p:attrName>style.visibility</p:attrName>
                                        </p:attrNameLst>
                                      </p:cBhvr>
                                      <p:to>
                                        <p:strVal val="visible"/>
                                      </p:to>
                                    </p:set>
                                    <p:animEffect transition="in" filter="wipe(up)">
                                      <p:cBhvr>
                                        <p:cTn id="17" dur="500"/>
                                        <p:tgtEl>
                                          <p:spTgt spid="5222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up)">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9" grpId="0"/>
      <p:bldP spid="2" grpId="0"/>
      <p:bldP spid="7" grpId="0"/>
      <p:bldP spid="8"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8878" y="802065"/>
            <a:ext cx="4748688" cy="487363"/>
          </a:xfrm>
          <a:noFill/>
          <a:ln w="9525">
            <a:noFill/>
            <a:miter lim="800000"/>
          </a:ln>
        </p:spPr>
        <p:txBody>
          <a:bodyPr vert="horz" wrap="square" lIns="91440" tIns="45720" rIns="91440" bIns="45720" numCol="1" anchor="ctr" anchorCtr="0" compatLnSpc="1"/>
          <a:lstStyle/>
          <a:p>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异常检测常用技术</a:t>
            </a:r>
          </a:p>
        </p:txBody>
      </p:sp>
      <p:sp>
        <p:nvSpPr>
          <p:cNvPr id="37891" name="内容占位符 2"/>
          <p:cNvSpPr>
            <a:spLocks noGrp="1"/>
          </p:cNvSpPr>
          <p:nvPr>
            <p:ph idx="1"/>
          </p:nvPr>
        </p:nvSpPr>
        <p:spPr>
          <a:xfrm>
            <a:off x="642107" y="2856761"/>
            <a:ext cx="7998345" cy="1440160"/>
          </a:xfrm>
        </p:spPr>
        <p:txBody>
          <a:bodyPr/>
          <a:lstStyle/>
          <a:p>
            <a:r>
              <a:rPr lang="zh-CN" altLang="en-US" b="1" dirty="0">
                <a:solidFill>
                  <a:srgbClr val="FF0000"/>
                </a:solidFill>
                <a:effectLst>
                  <a:outerShdw blurRad="38100" dist="38100" dir="2700000" algn="tl">
                    <a:srgbClr val="000000">
                      <a:alpha val="43137"/>
                    </a:srgbClr>
                  </a:outerShdw>
                </a:effectLst>
                <a:latin typeface="+mn-ea"/>
              </a:rPr>
              <a:t>基本假设：</a:t>
            </a:r>
            <a:endParaRPr lang="en-US" altLang="zh-CN" b="1" dirty="0">
              <a:solidFill>
                <a:srgbClr val="FF0000"/>
              </a:solidFill>
              <a:effectLst>
                <a:outerShdw blurRad="38100" dist="38100" dir="2700000" algn="tl">
                  <a:srgbClr val="000000">
                    <a:alpha val="43137"/>
                  </a:srgbClr>
                </a:outerShdw>
              </a:effectLst>
              <a:latin typeface="+mn-ea"/>
            </a:endParaRPr>
          </a:p>
          <a:p>
            <a:pPr lvl="1"/>
            <a:r>
              <a:rPr lang="zh-CN" altLang="en-US" sz="2400" b="1" dirty="0">
                <a:effectLst>
                  <a:outerShdw blurRad="38100" dist="38100" dir="2700000" algn="tl">
                    <a:srgbClr val="000000">
                      <a:alpha val="43137"/>
                    </a:srgbClr>
                  </a:outerShdw>
                </a:effectLst>
                <a:latin typeface="+mn-ea"/>
              </a:rPr>
              <a:t>无论程序还是用户，其行为在时间和空间域中表现出紧密的相关性。</a:t>
            </a:r>
            <a:endParaRPr lang="en-US" altLang="zh-CN" sz="2400" b="1" dirty="0">
              <a:effectLst>
                <a:outerShdw blurRad="38100" dist="38100" dir="2700000" algn="tl">
                  <a:srgbClr val="000000">
                    <a:alpha val="43137"/>
                  </a:srgbClr>
                </a:outerShdw>
              </a:effectLst>
              <a:latin typeface="+mn-ea"/>
            </a:endParaRPr>
          </a:p>
          <a:p>
            <a:pPr>
              <a:buFont typeface="Wingdings" panose="05000000000000000000" pitchFamily="2" charset="2"/>
              <a:buNone/>
            </a:pPr>
            <a:endParaRPr lang="en-US" altLang="zh-CN" b="1" dirty="0">
              <a:effectLst>
                <a:outerShdw blurRad="38100" dist="38100" dir="2700000" algn="tl">
                  <a:srgbClr val="000000">
                    <a:alpha val="43137"/>
                  </a:srgbClr>
                </a:outerShdw>
              </a:effectLst>
              <a:latin typeface="+mn-ea"/>
            </a:endParaRPr>
          </a:p>
        </p:txBody>
      </p:sp>
      <p:sp>
        <p:nvSpPr>
          <p:cNvPr id="3" name="矩形 2"/>
          <p:cNvSpPr/>
          <p:nvPr/>
        </p:nvSpPr>
        <p:spPr>
          <a:xfrm>
            <a:off x="627222" y="1664804"/>
            <a:ext cx="8013230" cy="830997"/>
          </a:xfrm>
          <a:prstGeom prst="rect">
            <a:avLst/>
          </a:prstGeom>
        </p:spPr>
        <p:txBody>
          <a:bodyPr wrap="square">
            <a:spAutoFit/>
          </a:bodyPr>
          <a:lstStyle/>
          <a:p>
            <a:pPr marL="342900" indent="-342900" eaLnBrk="0" hangingPunct="0">
              <a:spcBef>
                <a:spcPct val="20000"/>
              </a:spcBef>
              <a:buClr>
                <a:srgbClr val="3399FF"/>
              </a:buClr>
              <a:buFont typeface="Wingdings" panose="05000000000000000000" pitchFamily="2" charset="2"/>
              <a:buChar char="v"/>
            </a:pPr>
            <a:r>
              <a:rPr lang="zh-CN" altLang="en-US" sz="2400" b="1" dirty="0">
                <a:effectLst>
                  <a:outerShdw blurRad="38100" dist="38100" dir="2700000" algn="tl">
                    <a:srgbClr val="000000">
                      <a:alpha val="43137"/>
                    </a:srgbClr>
                  </a:outerShdw>
                </a:effectLst>
                <a:latin typeface="+mn-ea"/>
                <a:ea typeface="+mn-ea"/>
              </a:rPr>
              <a:t>通过建立</a:t>
            </a:r>
            <a:r>
              <a:rPr lang="zh-CN" altLang="en-US" sz="2400" b="1" dirty="0">
                <a:solidFill>
                  <a:srgbClr val="FF0000"/>
                </a:solidFill>
                <a:effectLst>
                  <a:outerShdw blurRad="38100" dist="38100" dir="2700000" algn="tl">
                    <a:srgbClr val="000000">
                      <a:alpha val="43137"/>
                    </a:srgbClr>
                  </a:outerShdw>
                </a:effectLst>
                <a:latin typeface="+mn-ea"/>
                <a:ea typeface="+mn-ea"/>
              </a:rPr>
              <a:t>主体正常行为模型</a:t>
            </a:r>
            <a:r>
              <a:rPr lang="zh-CN" altLang="en-US" sz="2400" b="1" dirty="0">
                <a:effectLst>
                  <a:outerShdw blurRad="38100" dist="38100" dir="2700000" algn="tl">
                    <a:srgbClr val="000000">
                      <a:alpha val="43137"/>
                    </a:srgbClr>
                  </a:outerShdw>
                </a:effectLst>
                <a:latin typeface="+mn-ea"/>
                <a:ea typeface="+mn-ea"/>
              </a:rPr>
              <a:t>来发现其异常行为，从而达到发现未知攻击的目的</a:t>
            </a:r>
            <a:endParaRPr lang="en-US" altLang="zh-CN" sz="2400" b="1" dirty="0">
              <a:effectLst>
                <a:outerShdw blurRad="38100" dist="38100" dir="2700000" algn="tl">
                  <a:srgbClr val="000000">
                    <a:alpha val="43137"/>
                  </a:srgbClr>
                </a:outerShdw>
              </a:effectLst>
              <a:latin typeface="+mn-ea"/>
              <a:ea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7891">
                                            <p:txEl>
                                              <p:pRg st="0" end="0"/>
                                            </p:txEl>
                                          </p:spTgt>
                                        </p:tgtEl>
                                        <p:attrNameLst>
                                          <p:attrName>style.visibility</p:attrName>
                                        </p:attrNameLst>
                                      </p:cBhvr>
                                      <p:to>
                                        <p:strVal val="visible"/>
                                      </p:to>
                                    </p:set>
                                    <p:anim calcmode="lin" valueType="num">
                                      <p:cBhvr>
                                        <p:cTn id="14" dur="500" fill="hold"/>
                                        <p:tgtEl>
                                          <p:spTgt spid="37891">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37891">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37891">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37891">
                                            <p:txEl>
                                              <p:pRg st="1" end="1"/>
                                            </p:txEl>
                                          </p:spTgt>
                                        </p:tgtEl>
                                        <p:attrNameLst>
                                          <p:attrName>style.visibility</p:attrName>
                                        </p:attrNameLst>
                                      </p:cBhvr>
                                      <p:to>
                                        <p:strVal val="visible"/>
                                      </p:to>
                                    </p:set>
                                    <p:anim calcmode="lin" valueType="num">
                                      <p:cBhvr>
                                        <p:cTn id="21" dur="500" fill="hold"/>
                                        <p:tgtEl>
                                          <p:spTgt spid="37891">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37891">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3789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p:bldP spid="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75556" y="709389"/>
            <a:ext cx="5938428" cy="487363"/>
          </a:xfrm>
          <a:noFill/>
          <a:ln w="9525">
            <a:noFill/>
            <a:miter lim="800000"/>
          </a:ln>
        </p:spPr>
        <p:txBody>
          <a:bodyPr vert="horz" wrap="square" lIns="91440" tIns="45720" rIns="91440" bIns="45720" numCol="1" anchor="ctr" anchorCtr="0" compatLnSpc="1"/>
          <a:lstStyle/>
          <a:p>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异常检测常用技术</a:t>
            </a:r>
          </a:p>
        </p:txBody>
      </p:sp>
      <p:sp>
        <p:nvSpPr>
          <p:cNvPr id="39939" name="内容占位符 2"/>
          <p:cNvSpPr>
            <a:spLocks noGrp="1"/>
          </p:cNvSpPr>
          <p:nvPr>
            <p:ph idx="1"/>
          </p:nvPr>
        </p:nvSpPr>
        <p:spPr>
          <a:xfrm>
            <a:off x="575556" y="2328524"/>
            <a:ext cx="8242684" cy="1990121"/>
          </a:xfrm>
        </p:spPr>
        <p:txBody>
          <a:bodyPr/>
          <a:lstStyle/>
          <a:p>
            <a:pPr marL="914400" lvl="1" indent="-514350">
              <a:buFont typeface="Wingdings" panose="05000000000000000000" pitchFamily="2" charset="2"/>
              <a:buChar char="u"/>
            </a:pPr>
            <a:r>
              <a:rPr lang="zh-CN" altLang="en-US"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目标完整性检测</a:t>
            </a:r>
            <a:endParaRPr lang="en-US" altLang="zh-CN"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1314450" lvl="2" indent="-514350">
              <a:buFont typeface="Wingdings" panose="05000000000000000000" pitchFamily="2" charset="2"/>
              <a:buChar char="n"/>
            </a:pP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系统定时地计算校验值，与预先存储的参考值进行比较，如果检验值超过了指定的阈值，则认为发生异常。</a:t>
            </a:r>
            <a:endPar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1314450" lvl="2" indent="-514350">
              <a:buFont typeface="Wingdings" panose="05000000000000000000" pitchFamily="2" charset="2"/>
              <a:buChar char="n"/>
            </a:pP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最著名的目标完整性检查工具是</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Tripwire</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 altLang="zh-CN" sz="20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unix</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下文件系统完整性检查，对每个要监控的文件产生一个数字签名。</a:t>
            </a:r>
            <a:endPar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1314450" lvl="2" indent="-514350">
              <a:buFont typeface="Wingdings" panose="05000000000000000000" pitchFamily="2" charset="2"/>
              <a:buNone/>
            </a:pP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矩形 2"/>
          <p:cNvSpPr/>
          <p:nvPr/>
        </p:nvSpPr>
        <p:spPr>
          <a:xfrm>
            <a:off x="590441" y="1306328"/>
            <a:ext cx="2694969" cy="523220"/>
          </a:xfrm>
          <a:prstGeom prst="rect">
            <a:avLst/>
          </a:prstGeom>
        </p:spPr>
        <p:txBody>
          <a:bodyPr wrap="none">
            <a:spAutoFit/>
          </a:bodyPr>
          <a:lstStyle/>
          <a:p>
            <a:pPr marL="342900" indent="-342900" eaLnBrk="0" hangingPunct="0">
              <a:spcBef>
                <a:spcPct val="20000"/>
              </a:spcBef>
              <a:buClr>
                <a:srgbClr val="3399FF"/>
              </a:buClr>
              <a:buFont typeface="Wingdings" panose="05000000000000000000" pitchFamily="2" charset="2"/>
              <a:buChar char="v"/>
            </a:pPr>
            <a:r>
              <a:rPr lang="zh-CN" altLang="en-US" sz="2800" b="1" dirty="0">
                <a:solidFill>
                  <a:srgbClr val="FF0000"/>
                </a:solidFill>
                <a:effectLst>
                  <a:outerShdw blurRad="38100" dist="38100" dir="2700000" algn="tl">
                    <a:srgbClr val="000000">
                      <a:alpha val="43137"/>
                    </a:srgbClr>
                  </a:outerShdw>
                </a:effectLst>
                <a:latin typeface="+mn-ea"/>
                <a:ea typeface="+mn-ea"/>
              </a:rPr>
              <a:t>量化分析技术</a:t>
            </a:r>
            <a:endParaRPr lang="en-US" altLang="zh-CN" sz="2800" b="1" dirty="0">
              <a:solidFill>
                <a:srgbClr val="FF0000"/>
              </a:solidFill>
              <a:effectLst>
                <a:outerShdw blurRad="38100" dist="38100" dir="2700000" algn="tl">
                  <a:srgbClr val="000000">
                    <a:alpha val="43137"/>
                  </a:srgbClr>
                </a:outerShdw>
              </a:effectLst>
              <a:latin typeface="+mn-ea"/>
              <a:ea typeface="+mn-ea"/>
            </a:endParaRPr>
          </a:p>
        </p:txBody>
      </p:sp>
      <p:sp>
        <p:nvSpPr>
          <p:cNvPr id="4" name="矩形 3"/>
          <p:cNvSpPr/>
          <p:nvPr/>
        </p:nvSpPr>
        <p:spPr>
          <a:xfrm>
            <a:off x="1079612" y="1797345"/>
            <a:ext cx="5229317" cy="461665"/>
          </a:xfrm>
          <a:prstGeom prst="rect">
            <a:avLst/>
          </a:prstGeom>
        </p:spPr>
        <p:txBody>
          <a:bodyPr wrap="none">
            <a:spAutoFit/>
          </a:bodyPr>
          <a:lstStyle/>
          <a:p>
            <a:pPr marL="400050" lvl="1"/>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使用数字来表征主体的行为属性。</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p:txBody>
      </p:sp>
      <p:sp>
        <p:nvSpPr>
          <p:cNvPr id="5" name="矩形 4"/>
          <p:cNvSpPr/>
          <p:nvPr/>
        </p:nvSpPr>
        <p:spPr>
          <a:xfrm>
            <a:off x="558538" y="4318645"/>
            <a:ext cx="8256649" cy="1846659"/>
          </a:xfrm>
          <a:prstGeom prst="rect">
            <a:avLst/>
          </a:prstGeom>
        </p:spPr>
        <p:txBody>
          <a:bodyPr wrap="square">
            <a:spAutoFit/>
          </a:bodyPr>
          <a:lstStyle/>
          <a:p>
            <a:pPr marL="914400" lvl="1" indent="-514350" eaLnBrk="0" hangingPunct="0">
              <a:spcBef>
                <a:spcPct val="20000"/>
              </a:spcBef>
              <a:buClr>
                <a:srgbClr val="FF9900"/>
              </a:buClr>
              <a:buFont typeface="Wingdings" panose="05000000000000000000" pitchFamily="2" charset="2"/>
              <a:buChar char="u"/>
            </a:pPr>
            <a:r>
              <a:rPr lang="zh-CN" altLang="en-US" sz="26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门限检测</a:t>
            </a:r>
            <a:endParaRPr lang="en-US" altLang="zh-CN" sz="26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a:p>
            <a:pPr marL="1314450" lvl="2" indent="-514350" eaLnBrk="0" hangingPunct="0">
              <a:spcBef>
                <a:spcPct val="20000"/>
              </a:spcBef>
              <a:buClr>
                <a:schemeClr val="accent2"/>
              </a:buClr>
              <a:buFont typeface="Wingdings" panose="05000000000000000000" pitchFamily="2" charset="2"/>
              <a:buChar char="n"/>
            </a:pPr>
            <a:r>
              <a:rPr lang="zh-CN" altLang="en-US" sz="20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记录主体在某一段时间内的行为属性，及变化情况，与预先敲定的门限范围做比较，如果出现较明显的偏差，就认为系统发生了异常。</a:t>
            </a:r>
            <a:endParaRPr lang="en-US" altLang="zh-CN" sz="20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a:p>
            <a:pPr marL="1314450" lvl="2" indent="-514350" eaLnBrk="0" hangingPunct="0">
              <a:spcBef>
                <a:spcPct val="20000"/>
              </a:spcBef>
              <a:buClr>
                <a:schemeClr val="accent2"/>
              </a:buClr>
              <a:buFont typeface="Wingdings" panose="05000000000000000000" pitchFamily="2" charset="2"/>
              <a:buChar char="n"/>
            </a:pPr>
            <a:r>
              <a:rPr lang="zh-CN" altLang="en-US" sz="20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如系统预先敲定某一时间内的合法用户登录次数等</a:t>
            </a:r>
            <a:endParaRPr lang="en-US" altLang="zh-CN" sz="20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ppt_w</p:attrName>
                                        </p:attrNameLst>
                                      </p:cBhvr>
                                      <p:tavLst>
                                        <p:tav tm="0">
                                          <p:val>
                                            <p:fltVal val="0"/>
                                          </p:val>
                                        </p:tav>
                                        <p:tav tm="100000">
                                          <p:val>
                                            <p:strVal val="#ppt_w"/>
                                          </p:val>
                                        </p:tav>
                                      </p:tavLst>
                                    </p:anim>
                                    <p:anim calcmode="lin" valueType="num">
                                      <p:cBhvr>
                                        <p:cTn id="14" dur="500" fill="hold"/>
                                        <p:tgtEl>
                                          <p:spTgt spid="4"/>
                                        </p:tgtEl>
                                        <p:attrNameLst>
                                          <p:attrName>ppt_h</p:attrName>
                                        </p:attrNameLst>
                                      </p:cBhvr>
                                      <p:tavLst>
                                        <p:tav tm="0">
                                          <p:val>
                                            <p:fltVal val="0"/>
                                          </p:val>
                                        </p:tav>
                                        <p:tav tm="100000">
                                          <p:val>
                                            <p:strVal val="#ppt_h"/>
                                          </p:val>
                                        </p:tav>
                                      </p:tavLst>
                                    </p:anim>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39939">
                                            <p:txEl>
                                              <p:pRg st="0" end="0"/>
                                            </p:txEl>
                                          </p:spTgt>
                                        </p:tgtEl>
                                        <p:attrNameLst>
                                          <p:attrName>style.visibility</p:attrName>
                                        </p:attrNameLst>
                                      </p:cBhvr>
                                      <p:to>
                                        <p:strVal val="visible"/>
                                      </p:to>
                                    </p:set>
                                    <p:animEffect transition="in" filter="wipe(up)">
                                      <p:cBhvr>
                                        <p:cTn id="20" dur="500"/>
                                        <p:tgtEl>
                                          <p:spTgt spid="39939">
                                            <p:txEl>
                                              <p:pRg st="0" end="0"/>
                                            </p:txEl>
                                          </p:spTgt>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39939">
                                            <p:txEl>
                                              <p:pRg st="1" end="1"/>
                                            </p:txEl>
                                          </p:spTgt>
                                        </p:tgtEl>
                                        <p:attrNameLst>
                                          <p:attrName>style.visibility</p:attrName>
                                        </p:attrNameLst>
                                      </p:cBhvr>
                                      <p:to>
                                        <p:strVal val="visible"/>
                                      </p:to>
                                    </p:set>
                                    <p:animEffect transition="in" filter="wipe(up)">
                                      <p:cBhvr>
                                        <p:cTn id="23" dur="500"/>
                                        <p:tgtEl>
                                          <p:spTgt spid="39939">
                                            <p:txEl>
                                              <p:pRg st="1" end="1"/>
                                            </p:txEl>
                                          </p:spTgt>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39939">
                                            <p:txEl>
                                              <p:pRg st="2" end="2"/>
                                            </p:txEl>
                                          </p:spTgt>
                                        </p:tgtEl>
                                        <p:attrNameLst>
                                          <p:attrName>style.visibility</p:attrName>
                                        </p:attrNameLst>
                                      </p:cBhvr>
                                      <p:to>
                                        <p:strVal val="visible"/>
                                      </p:to>
                                    </p:set>
                                    <p:animEffect transition="in" filter="wipe(up)">
                                      <p:cBhvr>
                                        <p:cTn id="26" dur="500"/>
                                        <p:tgtEl>
                                          <p:spTgt spid="39939">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up)">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p:bldP spid="3" grpId="0"/>
      <p:bldP spid="4" grpId="0"/>
      <p:bldP spid="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764704"/>
            <a:ext cx="5292588" cy="487363"/>
          </a:xfrm>
          <a:noFill/>
          <a:ln w="9525">
            <a:noFill/>
            <a:miter lim="800000"/>
          </a:ln>
        </p:spPr>
        <p:txBody>
          <a:bodyPr vert="horz" wrap="square" lIns="91440" tIns="45720" rIns="91440" bIns="45720" numCol="1" anchor="ctr" anchorCtr="0" compatLnSpc="1"/>
          <a:lstStyle/>
          <a:p>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异常检测常用技术</a:t>
            </a:r>
          </a:p>
        </p:txBody>
      </p:sp>
      <p:sp>
        <p:nvSpPr>
          <p:cNvPr id="41987" name="内容占位符 2"/>
          <p:cNvSpPr>
            <a:spLocks noGrp="1"/>
          </p:cNvSpPr>
          <p:nvPr>
            <p:ph idx="1"/>
          </p:nvPr>
        </p:nvSpPr>
        <p:spPr>
          <a:xfrm>
            <a:off x="381000" y="2348880"/>
            <a:ext cx="8403468" cy="2484276"/>
          </a:xfrm>
        </p:spPr>
        <p:txBody>
          <a:bodyPr/>
          <a:lstStyle/>
          <a:p>
            <a:pPr marL="914400" lvl="1" indent="-514350">
              <a:buFont typeface="Wingdings" panose="05000000000000000000" pitchFamily="2" charset="2"/>
              <a:buChar char="u"/>
            </a:pP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系统主体（用户、进程等）行为在一定时间内表现出一定的统计规律。监测主体的短期行为与历史行为进行比较来判断是否有入侵。</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914400" lvl="1" indent="-514350">
              <a:buFont typeface="Wingdings" panose="05000000000000000000" pitchFamily="2" charset="2"/>
              <a:buChar char="u"/>
            </a:pP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IDES/NIDES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Intrusion</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Detection</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Expert</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System/Next-generation</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Intrusion</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Detection</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Expert</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System)</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就是采用的这种方式。</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矩形 2"/>
          <p:cNvSpPr/>
          <p:nvPr/>
        </p:nvSpPr>
        <p:spPr>
          <a:xfrm>
            <a:off x="693256" y="1498503"/>
            <a:ext cx="5219699" cy="523220"/>
          </a:xfrm>
          <a:prstGeom prst="rect">
            <a:avLst/>
          </a:prstGeom>
        </p:spPr>
        <p:txBody>
          <a:bodyPr wrap="none">
            <a:spAutoFit/>
          </a:bodyPr>
          <a:lstStyle/>
          <a:p>
            <a:pPr marL="342900" indent="-342900" eaLnBrk="0" hangingPunct="0">
              <a:spcBef>
                <a:spcPct val="20000"/>
              </a:spcBef>
              <a:buClr>
                <a:srgbClr val="3399FF"/>
              </a:buClr>
              <a:buFont typeface="Wingdings" panose="05000000000000000000" pitchFamily="2" charset="2"/>
              <a:buChar char="v"/>
            </a:pPr>
            <a:r>
              <a:rPr lang="zh-CN" altLang="en-US" sz="2800" b="1" dirty="0">
                <a:solidFill>
                  <a:srgbClr val="FF0000"/>
                </a:solidFill>
                <a:effectLst>
                  <a:outerShdw blurRad="38100" dist="38100" dir="2700000" algn="tl">
                    <a:srgbClr val="000000">
                      <a:alpha val="43137"/>
                    </a:srgbClr>
                  </a:outerShdw>
                </a:effectLst>
                <a:latin typeface="+mn-ea"/>
                <a:ea typeface="+mn-ea"/>
              </a:rPr>
              <a:t>基于传统统计方法的异常检测</a:t>
            </a:r>
            <a:endParaRPr lang="en-US" altLang="zh-CN" sz="2800" b="1" dirty="0">
              <a:solidFill>
                <a:srgbClr val="FF0000"/>
              </a:solidFill>
              <a:effectLst>
                <a:outerShdw blurRad="38100" dist="38100" dir="2700000" algn="tl">
                  <a:srgbClr val="000000">
                    <a:alpha val="43137"/>
                  </a:srgbClr>
                </a:outerShdw>
              </a:effectLst>
              <a:latin typeface="+mn-ea"/>
              <a:ea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41987">
                                            <p:txEl>
                                              <p:pRg st="0" end="0"/>
                                            </p:txEl>
                                          </p:spTgt>
                                        </p:tgtEl>
                                        <p:attrNameLst>
                                          <p:attrName>style.visibility</p:attrName>
                                        </p:attrNameLst>
                                      </p:cBhvr>
                                      <p:to>
                                        <p:strVal val="visible"/>
                                      </p:to>
                                    </p:set>
                                    <p:animEffect transition="in" filter="wipe(up)">
                                      <p:cBhvr>
                                        <p:cTn id="12" dur="500"/>
                                        <p:tgtEl>
                                          <p:spTgt spid="41987">
                                            <p:txEl>
                                              <p:pRg st="0" end="0"/>
                                            </p:txEl>
                                          </p:spTgt>
                                        </p:tgtEl>
                                      </p:cBhvr>
                                    </p:animEffect>
                                  </p:childTnLst>
                                </p:cTn>
                              </p:par>
                            </p:childTnLst>
                          </p:cTn>
                        </p:par>
                        <p:par>
                          <p:cTn id="13" fill="hold">
                            <p:stCondLst>
                              <p:cond delay="1000"/>
                            </p:stCondLst>
                            <p:childTnLst>
                              <p:par>
                                <p:cTn id="14" presetID="22" presetClass="entr" presetSubtype="1" fill="hold" grpId="0" nodeType="afterEffect">
                                  <p:stCondLst>
                                    <p:cond delay="0"/>
                                  </p:stCondLst>
                                  <p:childTnLst>
                                    <p:set>
                                      <p:cBhvr>
                                        <p:cTn id="15" dur="1" fill="hold">
                                          <p:stCondLst>
                                            <p:cond delay="0"/>
                                          </p:stCondLst>
                                        </p:cTn>
                                        <p:tgtEl>
                                          <p:spTgt spid="41987">
                                            <p:txEl>
                                              <p:pRg st="1" end="1"/>
                                            </p:txEl>
                                          </p:spTgt>
                                        </p:tgtEl>
                                        <p:attrNameLst>
                                          <p:attrName>style.visibility</p:attrName>
                                        </p:attrNameLst>
                                      </p:cBhvr>
                                      <p:to>
                                        <p:strVal val="visible"/>
                                      </p:to>
                                    </p:set>
                                    <p:animEffect transition="in" filter="wipe(up)">
                                      <p:cBhvr>
                                        <p:cTn id="16" dur="500"/>
                                        <p:tgtEl>
                                          <p:spTgt spid="4198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P spid="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1075" y="763430"/>
            <a:ext cx="6513512" cy="487363"/>
          </a:xfrm>
          <a:noFill/>
          <a:ln w="9525">
            <a:noFill/>
            <a:miter lim="800000"/>
          </a:ln>
        </p:spPr>
        <p:txBody>
          <a:bodyPr vert="horz" wrap="square" lIns="91440" tIns="45720" rIns="91440" bIns="45720" numCol="1" anchor="ctr" anchorCtr="0" compatLnSpc="1"/>
          <a:lstStyle/>
          <a:p>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异常检测常用技术</a:t>
            </a:r>
          </a:p>
        </p:txBody>
      </p:sp>
      <p:sp>
        <p:nvSpPr>
          <p:cNvPr id="44035" name="内容占位符 2"/>
          <p:cNvSpPr>
            <a:spLocks noGrp="1"/>
          </p:cNvSpPr>
          <p:nvPr>
            <p:ph idx="1"/>
          </p:nvPr>
        </p:nvSpPr>
        <p:spPr>
          <a:xfrm>
            <a:off x="389527" y="1957129"/>
            <a:ext cx="7772400" cy="3623958"/>
          </a:xfrm>
        </p:spPr>
        <p:txBody>
          <a:bodyPr/>
          <a:lstStyle/>
          <a:p>
            <a:pPr marL="914400" lvl="1" indent="-514350">
              <a:buFont typeface="Wingdings" panose="05000000000000000000" pitchFamily="2" charset="2"/>
              <a:buChar char="u"/>
            </a:pP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HMM</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是马尔科夫模型的一个扩展，是二维马尔科夫过程，包括具有状态转移概率的马尔科夫链和输出观察值的随机过程。</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914400" lvl="1" indent="-514350">
              <a:buFont typeface="Wingdings" panose="05000000000000000000" pitchFamily="2" charset="2"/>
              <a:buChar char="u"/>
            </a:pP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HMM</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的训练方法有</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Baum</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Welch</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或</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EM</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Expectation</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Maximization)</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算法，以及</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GEM</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Generalized</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EM)</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算法等。</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914400" lvl="1" indent="-514350">
              <a:buFont typeface="Wingdings" panose="05000000000000000000" pitchFamily="2" charset="2"/>
              <a:buChar char="u"/>
            </a:pP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Sung-Bae</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Cho</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应用</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HMM</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构建一</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，其思路是将攻击方的攻击看成是从普通用户或从非法用户转成超级用户的过程</a:t>
            </a:r>
            <a:r>
              <a:rPr lang="zh-CN" altLang="en-US" dirty="0"/>
              <a:t>。</a:t>
            </a:r>
            <a:endParaRPr lang="en-US" altLang="zh-CN" dirty="0"/>
          </a:p>
        </p:txBody>
      </p:sp>
      <p:grpSp>
        <p:nvGrpSpPr>
          <p:cNvPr id="3" name="组合 28"/>
          <p:cNvGrpSpPr/>
          <p:nvPr/>
        </p:nvGrpSpPr>
        <p:grpSpPr bwMode="auto">
          <a:xfrm>
            <a:off x="755650" y="1815577"/>
            <a:ext cx="7632700" cy="4370156"/>
            <a:chOff x="683568" y="1700808"/>
            <a:chExt cx="7632848" cy="4392488"/>
          </a:xfrm>
          <a:solidFill>
            <a:srgbClr val="92D050"/>
          </a:solidFill>
        </p:grpSpPr>
        <p:sp>
          <p:nvSpPr>
            <p:cNvPr id="44039" name="矩形 4"/>
            <p:cNvSpPr>
              <a:spLocks noChangeArrowheads="1"/>
            </p:cNvSpPr>
            <p:nvPr/>
          </p:nvSpPr>
          <p:spPr bwMode="auto">
            <a:xfrm>
              <a:off x="683568" y="1700808"/>
              <a:ext cx="7632848" cy="4392488"/>
            </a:xfrm>
            <a:prstGeom prst="rect">
              <a:avLst/>
            </a:prstGeom>
            <a:grpFill/>
            <a:ln w="12700" algn="ctr">
              <a:solidFill>
                <a:schemeClr val="tx1"/>
              </a:solidFill>
              <a:round/>
            </a:ln>
          </p:spPr>
          <p:txBody>
            <a:bodyPr/>
            <a:lstStyle>
              <a:lvl1pPr>
                <a:spcBef>
                  <a:spcPct val="20000"/>
                </a:spcBef>
                <a:buClr>
                  <a:schemeClr val="hlink"/>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3300"/>
                </a:buClr>
                <a:buFont typeface="Wingdings" panose="05000000000000000000" pitchFamily="2" charset="2"/>
                <a:buChar char="v"/>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339933"/>
                </a:buClr>
                <a:buFont typeface="Wingdings" panose="05000000000000000000" pitchFamily="2" charset="2"/>
                <a:buChar char="Ø"/>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endParaRPr kumimoji="0"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endParaRPr>
            </a:p>
          </p:txBody>
        </p:sp>
        <p:sp>
          <p:nvSpPr>
            <p:cNvPr id="44040" name="矩形 5"/>
            <p:cNvSpPr>
              <a:spLocks noChangeArrowheads="1"/>
            </p:cNvSpPr>
            <p:nvPr/>
          </p:nvSpPr>
          <p:spPr bwMode="auto">
            <a:xfrm>
              <a:off x="1331640" y="2420888"/>
              <a:ext cx="576064" cy="2592288"/>
            </a:xfrm>
            <a:prstGeom prst="rect">
              <a:avLst/>
            </a:prstGeom>
            <a:grpFill/>
            <a:ln w="12700" algn="ctr">
              <a:solidFill>
                <a:schemeClr val="tx1"/>
              </a:solidFill>
              <a:round/>
            </a:ln>
          </p:spPr>
          <p:txBody>
            <a:bodyPr/>
            <a:lstStyle>
              <a:lvl1pPr>
                <a:spcBef>
                  <a:spcPct val="20000"/>
                </a:spcBef>
                <a:buClr>
                  <a:schemeClr val="hlink"/>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3300"/>
                </a:buClr>
                <a:buFont typeface="Wingdings" panose="05000000000000000000" pitchFamily="2" charset="2"/>
                <a:buChar char="v"/>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339933"/>
                </a:buClr>
                <a:buFont typeface="Wingdings" panose="05000000000000000000" pitchFamily="2" charset="2"/>
                <a:buChar char="Ø"/>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endParaRPr kumimoji="0" lang="en-US" altLang="zh-CN" sz="2400" b="1"/>
            </a:p>
            <a:p>
              <a:pPr>
                <a:spcBef>
                  <a:spcPct val="0"/>
                </a:spcBef>
                <a:buClrTx/>
                <a:buFontTx/>
                <a:buNone/>
              </a:pPr>
              <a:r>
                <a:rPr kumimoji="0" lang="en-US" altLang="zh-CN" sz="2400" b="1"/>
                <a:t>BSM</a:t>
              </a:r>
              <a:r>
                <a:rPr kumimoji="0" lang="zh-CN" altLang="en-US" sz="2400" b="1"/>
                <a:t>日志记录</a:t>
              </a:r>
            </a:p>
          </p:txBody>
        </p:sp>
        <p:sp>
          <p:nvSpPr>
            <p:cNvPr id="44041" name="矩形 6"/>
            <p:cNvSpPr>
              <a:spLocks noChangeArrowheads="1"/>
            </p:cNvSpPr>
            <p:nvPr/>
          </p:nvSpPr>
          <p:spPr bwMode="auto">
            <a:xfrm>
              <a:off x="2195736" y="2420888"/>
              <a:ext cx="1584176" cy="2592288"/>
            </a:xfrm>
            <a:prstGeom prst="rect">
              <a:avLst/>
            </a:prstGeom>
            <a:grpFill/>
            <a:ln w="12700" algn="ctr">
              <a:solidFill>
                <a:schemeClr val="tx1"/>
              </a:solidFill>
              <a:round/>
            </a:ln>
          </p:spPr>
          <p:txBody>
            <a:bodyPr/>
            <a:lstStyle>
              <a:lvl1pPr>
                <a:spcBef>
                  <a:spcPct val="20000"/>
                </a:spcBef>
                <a:buClr>
                  <a:schemeClr val="hlink"/>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3300"/>
                </a:buClr>
                <a:buFont typeface="Wingdings" panose="05000000000000000000" pitchFamily="2" charset="2"/>
                <a:buChar char="v"/>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339933"/>
                </a:buClr>
                <a:buFont typeface="Wingdings" panose="05000000000000000000" pitchFamily="2" charset="2"/>
                <a:buChar char="Ø"/>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kumimoji="0" lang="zh-CN" altLang="en-US" sz="2000" b="1"/>
                <a:t>预处理模块</a:t>
              </a:r>
            </a:p>
          </p:txBody>
        </p:sp>
        <p:sp>
          <p:nvSpPr>
            <p:cNvPr id="44042" name="矩形 7"/>
            <p:cNvSpPr>
              <a:spLocks noChangeArrowheads="1"/>
            </p:cNvSpPr>
            <p:nvPr/>
          </p:nvSpPr>
          <p:spPr bwMode="auto">
            <a:xfrm>
              <a:off x="2411760" y="2924944"/>
              <a:ext cx="1008112" cy="1872208"/>
            </a:xfrm>
            <a:prstGeom prst="rect">
              <a:avLst/>
            </a:prstGeom>
            <a:grpFill/>
            <a:ln w="12700" algn="ctr">
              <a:solidFill>
                <a:schemeClr val="tx1"/>
              </a:solidFill>
              <a:round/>
            </a:ln>
          </p:spPr>
          <p:txBody>
            <a:bodyPr/>
            <a:lstStyle>
              <a:lvl1pPr>
                <a:spcBef>
                  <a:spcPct val="20000"/>
                </a:spcBef>
                <a:buClr>
                  <a:schemeClr val="hlink"/>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3300"/>
                </a:buClr>
                <a:buFont typeface="Wingdings" panose="05000000000000000000" pitchFamily="2" charset="2"/>
                <a:buChar char="v"/>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339933"/>
                </a:buClr>
                <a:buFont typeface="Wingdings" panose="05000000000000000000" pitchFamily="2" charset="2"/>
                <a:buChar char="Ø"/>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kumimoji="0" lang="zh-CN" altLang="en-US" sz="1800" b="1"/>
                <a:t>日志记录提取模块</a:t>
              </a:r>
            </a:p>
          </p:txBody>
        </p:sp>
        <p:cxnSp>
          <p:nvCxnSpPr>
            <p:cNvPr id="44043" name="直接连接符 9"/>
            <p:cNvCxnSpPr>
              <a:cxnSpLocks noChangeShapeType="1"/>
              <a:stCxn id="44042" idx="1"/>
            </p:cNvCxnSpPr>
            <p:nvPr/>
          </p:nvCxnSpPr>
          <p:spPr bwMode="auto">
            <a:xfrm rot="10800000" flipH="1">
              <a:off x="2411760" y="3861048"/>
              <a:ext cx="1152128" cy="0"/>
            </a:xfrm>
            <a:prstGeom prst="line">
              <a:avLst/>
            </a:prstGeom>
            <a:grpFill/>
            <a:ln w="12700" algn="ctr">
              <a:solidFill>
                <a:schemeClr val="tx1"/>
              </a:solidFill>
              <a:round/>
            </a:ln>
          </p:spPr>
        </p:cxnSp>
        <p:sp>
          <p:nvSpPr>
            <p:cNvPr id="44044" name="TextBox 11"/>
            <p:cNvSpPr txBox="1">
              <a:spLocks noChangeArrowheads="1"/>
            </p:cNvSpPr>
            <p:nvPr/>
          </p:nvSpPr>
          <p:spPr bwMode="auto">
            <a:xfrm>
              <a:off x="2455892" y="3861048"/>
              <a:ext cx="1107996" cy="92333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3300"/>
                </a:buClr>
                <a:buFont typeface="Wingdings" panose="05000000000000000000" pitchFamily="2" charset="2"/>
                <a:buChar char="v"/>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339933"/>
                </a:buClr>
                <a:buFont typeface="Wingdings" panose="05000000000000000000" pitchFamily="2" charset="2"/>
                <a:buChar char="Ø"/>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kumimoji="0" lang="en-US" altLang="zh-CN" sz="1800" b="1"/>
                <a:t>Privilege</a:t>
              </a:r>
            </a:p>
            <a:p>
              <a:pPr>
                <a:spcBef>
                  <a:spcPct val="0"/>
                </a:spcBef>
                <a:buClrTx/>
                <a:buFontTx/>
                <a:buNone/>
              </a:pPr>
              <a:r>
                <a:rPr kumimoji="0" lang="en-US" altLang="zh-CN" sz="1800" b="1"/>
                <a:t>Flow</a:t>
              </a:r>
            </a:p>
            <a:p>
              <a:pPr>
                <a:spcBef>
                  <a:spcPct val="0"/>
                </a:spcBef>
                <a:buClrTx/>
                <a:buFontTx/>
                <a:buNone/>
              </a:pPr>
              <a:r>
                <a:rPr kumimoji="0" lang="zh-CN" altLang="en-US" sz="1800" b="1"/>
                <a:t>检测模块</a:t>
              </a:r>
            </a:p>
          </p:txBody>
        </p:sp>
        <p:sp>
          <p:nvSpPr>
            <p:cNvPr id="44045" name="矩形 12"/>
            <p:cNvSpPr>
              <a:spLocks noChangeArrowheads="1"/>
            </p:cNvSpPr>
            <p:nvPr/>
          </p:nvSpPr>
          <p:spPr bwMode="auto">
            <a:xfrm>
              <a:off x="5580112" y="1916832"/>
              <a:ext cx="2592288" cy="1872208"/>
            </a:xfrm>
            <a:prstGeom prst="rect">
              <a:avLst/>
            </a:prstGeom>
            <a:grpFill/>
            <a:ln w="12700" algn="ctr">
              <a:solidFill>
                <a:schemeClr val="tx1"/>
              </a:solidFill>
              <a:round/>
            </a:ln>
          </p:spPr>
          <p:txBody>
            <a:bodyPr/>
            <a:lstStyle>
              <a:lvl1pPr>
                <a:spcBef>
                  <a:spcPct val="20000"/>
                </a:spcBef>
                <a:buClr>
                  <a:schemeClr val="hlink"/>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3300"/>
                </a:buClr>
                <a:buFont typeface="Wingdings" panose="05000000000000000000" pitchFamily="2" charset="2"/>
                <a:buChar char="v"/>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339933"/>
                </a:buClr>
                <a:buFont typeface="Wingdings" panose="05000000000000000000" pitchFamily="2" charset="2"/>
                <a:buChar char="Ø"/>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kumimoji="0" lang="zh-CN" altLang="en-US" sz="1800" b="1"/>
                <a:t>正常行为训练模块</a:t>
              </a:r>
            </a:p>
          </p:txBody>
        </p:sp>
        <p:sp>
          <p:nvSpPr>
            <p:cNvPr id="44046" name="矩形 13"/>
            <p:cNvSpPr>
              <a:spLocks noChangeArrowheads="1"/>
            </p:cNvSpPr>
            <p:nvPr/>
          </p:nvSpPr>
          <p:spPr bwMode="auto">
            <a:xfrm>
              <a:off x="5868144" y="2348880"/>
              <a:ext cx="2304256" cy="1368152"/>
            </a:xfrm>
            <a:prstGeom prst="rect">
              <a:avLst/>
            </a:prstGeom>
            <a:grpFill/>
            <a:ln w="12700" algn="ctr">
              <a:solidFill>
                <a:schemeClr val="tx1"/>
              </a:solidFill>
              <a:round/>
            </a:ln>
          </p:spPr>
          <p:txBody>
            <a:bodyPr/>
            <a:lstStyle>
              <a:lvl1pPr>
                <a:spcBef>
                  <a:spcPct val="20000"/>
                </a:spcBef>
                <a:buClr>
                  <a:schemeClr val="hlink"/>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3300"/>
                </a:buClr>
                <a:buFont typeface="Wingdings" panose="05000000000000000000" pitchFamily="2" charset="2"/>
                <a:buChar char="v"/>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339933"/>
                </a:buClr>
                <a:buFont typeface="Wingdings" panose="05000000000000000000" pitchFamily="2" charset="2"/>
                <a:buChar char="Ø"/>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kumimoji="0" lang="en-US" altLang="zh-CN" sz="2400" b="1"/>
                <a:t>BW</a:t>
              </a:r>
              <a:r>
                <a:rPr kumimoji="0" lang="zh-CN" altLang="en-US" sz="2400" b="1"/>
                <a:t>方法</a:t>
              </a:r>
            </a:p>
          </p:txBody>
        </p:sp>
        <p:cxnSp>
          <p:nvCxnSpPr>
            <p:cNvPr id="44047" name="直接连接符 15"/>
            <p:cNvCxnSpPr>
              <a:cxnSpLocks noChangeShapeType="1"/>
            </p:cNvCxnSpPr>
            <p:nvPr/>
          </p:nvCxnSpPr>
          <p:spPr bwMode="auto">
            <a:xfrm rot="10800000" flipH="1">
              <a:off x="5868144" y="3032956"/>
              <a:ext cx="2304256" cy="0"/>
            </a:xfrm>
            <a:prstGeom prst="line">
              <a:avLst/>
            </a:prstGeom>
            <a:grpFill/>
            <a:ln w="12700" algn="ctr">
              <a:solidFill>
                <a:schemeClr val="tx1"/>
              </a:solidFill>
              <a:round/>
            </a:ln>
          </p:spPr>
        </p:cxnSp>
        <p:sp>
          <p:nvSpPr>
            <p:cNvPr id="44048" name="TextBox 16"/>
            <p:cNvSpPr txBox="1">
              <a:spLocks noChangeArrowheads="1"/>
            </p:cNvSpPr>
            <p:nvPr/>
          </p:nvSpPr>
          <p:spPr bwMode="auto">
            <a:xfrm>
              <a:off x="5997059" y="3068960"/>
              <a:ext cx="2031325" cy="4616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3300"/>
                </a:buClr>
                <a:buFont typeface="Wingdings" panose="05000000000000000000" pitchFamily="2" charset="2"/>
                <a:buChar char="v"/>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339933"/>
                </a:buClr>
                <a:buFont typeface="Wingdings" panose="05000000000000000000" pitchFamily="2" charset="2"/>
                <a:buChar char="Ø"/>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kumimoji="0" lang="zh-CN" altLang="en-US" sz="2400" b="1"/>
                <a:t>门限设计模块</a:t>
              </a:r>
            </a:p>
          </p:txBody>
        </p:sp>
        <p:sp>
          <p:nvSpPr>
            <p:cNvPr id="44049" name="矩形 17"/>
            <p:cNvSpPr>
              <a:spLocks noChangeArrowheads="1"/>
            </p:cNvSpPr>
            <p:nvPr/>
          </p:nvSpPr>
          <p:spPr bwMode="auto">
            <a:xfrm>
              <a:off x="5652120" y="4221088"/>
              <a:ext cx="2592288" cy="1656184"/>
            </a:xfrm>
            <a:prstGeom prst="rect">
              <a:avLst/>
            </a:prstGeom>
            <a:grpFill/>
            <a:ln w="12700" algn="ctr">
              <a:solidFill>
                <a:schemeClr val="tx1"/>
              </a:solidFill>
              <a:round/>
            </a:ln>
          </p:spPr>
          <p:txBody>
            <a:bodyPr/>
            <a:lstStyle>
              <a:lvl1pPr>
                <a:spcBef>
                  <a:spcPct val="20000"/>
                </a:spcBef>
                <a:buClr>
                  <a:schemeClr val="hlink"/>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3300"/>
                </a:buClr>
                <a:buFont typeface="Wingdings" panose="05000000000000000000" pitchFamily="2" charset="2"/>
                <a:buChar char="v"/>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339933"/>
                </a:buClr>
                <a:buFont typeface="Wingdings" panose="05000000000000000000" pitchFamily="2" charset="2"/>
                <a:buChar char="Ø"/>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kumimoji="0" lang="zh-CN" altLang="en-US" sz="2400" b="1"/>
                <a:t>异常检测模块</a:t>
              </a:r>
            </a:p>
          </p:txBody>
        </p:sp>
        <p:sp>
          <p:nvSpPr>
            <p:cNvPr id="44050" name="矩形 18"/>
            <p:cNvSpPr>
              <a:spLocks noChangeArrowheads="1"/>
            </p:cNvSpPr>
            <p:nvPr/>
          </p:nvSpPr>
          <p:spPr bwMode="auto">
            <a:xfrm>
              <a:off x="5868144" y="4941168"/>
              <a:ext cx="2232248" cy="792088"/>
            </a:xfrm>
            <a:prstGeom prst="rect">
              <a:avLst/>
            </a:prstGeom>
            <a:grpFill/>
            <a:ln w="12700" algn="ctr">
              <a:solidFill>
                <a:schemeClr val="tx1"/>
              </a:solidFill>
              <a:round/>
            </a:ln>
          </p:spPr>
          <p:txBody>
            <a:bodyPr/>
            <a:lstStyle>
              <a:lvl1pPr>
                <a:spcBef>
                  <a:spcPct val="20000"/>
                </a:spcBef>
                <a:buClr>
                  <a:schemeClr val="hlink"/>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3300"/>
                </a:buClr>
                <a:buFont typeface="Wingdings" panose="05000000000000000000" pitchFamily="2" charset="2"/>
                <a:buChar char="v"/>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339933"/>
                </a:buClr>
                <a:buFont typeface="Wingdings" panose="05000000000000000000" pitchFamily="2" charset="2"/>
                <a:buChar char="Ø"/>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kumimoji="0" lang="zh-CN" altLang="en-US" sz="2400" b="1"/>
                <a:t>分析决策模块</a:t>
              </a:r>
            </a:p>
          </p:txBody>
        </p:sp>
        <p:sp>
          <p:nvSpPr>
            <p:cNvPr id="44051" name="圆角矩形 19"/>
            <p:cNvSpPr>
              <a:spLocks noChangeArrowheads="1"/>
            </p:cNvSpPr>
            <p:nvPr/>
          </p:nvSpPr>
          <p:spPr bwMode="auto">
            <a:xfrm>
              <a:off x="3923928" y="3212976"/>
              <a:ext cx="1368152" cy="1008112"/>
            </a:xfrm>
            <a:prstGeom prst="roundRect">
              <a:avLst>
                <a:gd name="adj" fmla="val 16667"/>
              </a:avLst>
            </a:prstGeom>
            <a:grpFill/>
            <a:ln w="12700" algn="ctr">
              <a:solidFill>
                <a:schemeClr val="tx1"/>
              </a:solidFill>
              <a:round/>
            </a:ln>
          </p:spPr>
          <p:txBody>
            <a:bodyPr/>
            <a:lstStyle>
              <a:lvl1pPr>
                <a:spcBef>
                  <a:spcPct val="20000"/>
                </a:spcBef>
                <a:buClr>
                  <a:schemeClr val="hlink"/>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3300"/>
                </a:buClr>
                <a:buFont typeface="Wingdings" panose="05000000000000000000" pitchFamily="2" charset="2"/>
                <a:buChar char="v"/>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339933"/>
                </a:buClr>
                <a:buFont typeface="Wingdings" panose="05000000000000000000" pitchFamily="2" charset="2"/>
                <a:buChar char="Ø"/>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kumimoji="0" lang="zh-CN" altLang="en-US" sz="1800" b="1"/>
                <a:t>正常</a:t>
              </a:r>
              <a:r>
                <a:rPr kumimoji="0" lang="en-US" altLang="zh-CN" sz="1800" b="1"/>
                <a:t>Privilege</a:t>
              </a:r>
              <a:r>
                <a:rPr kumimoji="0" lang="zh-CN" altLang="en-US" sz="1800" b="1"/>
                <a:t> </a:t>
              </a:r>
              <a:r>
                <a:rPr kumimoji="0" lang="en-US" altLang="zh-CN" sz="1800" b="1"/>
                <a:t>Flows</a:t>
              </a:r>
              <a:r>
                <a:rPr kumimoji="0" lang="zh-CN" altLang="en-US" sz="1800" b="1"/>
                <a:t>轮廓</a:t>
              </a:r>
            </a:p>
          </p:txBody>
        </p:sp>
        <p:cxnSp>
          <p:nvCxnSpPr>
            <p:cNvPr id="44052" name="直接箭头连接符 21"/>
            <p:cNvCxnSpPr>
              <a:cxnSpLocks noChangeShapeType="1"/>
              <a:stCxn id="44040" idx="3"/>
              <a:endCxn id="44041" idx="1"/>
            </p:cNvCxnSpPr>
            <p:nvPr/>
          </p:nvCxnSpPr>
          <p:spPr bwMode="auto">
            <a:xfrm>
              <a:off x="1907704" y="3717032"/>
              <a:ext cx="288032" cy="1588"/>
            </a:xfrm>
            <a:prstGeom prst="straightConnector1">
              <a:avLst/>
            </a:prstGeom>
            <a:grpFill/>
            <a:ln w="12700" algn="ctr">
              <a:solidFill>
                <a:schemeClr val="tx1"/>
              </a:solidFill>
              <a:round/>
              <a:tailEnd type="arrow" w="med" len="med"/>
            </a:ln>
          </p:spPr>
        </p:cxnSp>
        <p:cxnSp>
          <p:nvCxnSpPr>
            <p:cNvPr id="44053" name="直接箭头连接符 23"/>
            <p:cNvCxnSpPr>
              <a:cxnSpLocks noChangeShapeType="1"/>
              <a:stCxn id="44041" idx="3"/>
            </p:cNvCxnSpPr>
            <p:nvPr/>
          </p:nvCxnSpPr>
          <p:spPr bwMode="auto">
            <a:xfrm>
              <a:off x="3779912" y="3717032"/>
              <a:ext cx="144016" cy="1588"/>
            </a:xfrm>
            <a:prstGeom prst="straightConnector1">
              <a:avLst/>
            </a:prstGeom>
            <a:grpFill/>
            <a:ln w="12700" algn="ctr">
              <a:solidFill>
                <a:schemeClr val="tx1"/>
              </a:solidFill>
              <a:round/>
              <a:tailEnd type="arrow" w="med" len="med"/>
            </a:ln>
          </p:spPr>
        </p:cxnSp>
        <p:sp>
          <p:nvSpPr>
            <p:cNvPr id="44054" name="任意多边形 24"/>
            <p:cNvSpPr/>
            <p:nvPr/>
          </p:nvSpPr>
          <p:spPr bwMode="auto">
            <a:xfrm>
              <a:off x="5429250" y="2762250"/>
              <a:ext cx="228600" cy="2209800"/>
            </a:xfrm>
            <a:custGeom>
              <a:avLst/>
              <a:gdLst>
                <a:gd name="T0" fmla="*/ 152400 w 228600"/>
                <a:gd name="T1" fmla="*/ 0 h 2209800"/>
                <a:gd name="T2" fmla="*/ 0 w 228600"/>
                <a:gd name="T3" fmla="*/ 0 h 2209800"/>
                <a:gd name="T4" fmla="*/ 0 w 228600"/>
                <a:gd name="T5" fmla="*/ 2190750 h 2209800"/>
                <a:gd name="T6" fmla="*/ 228600 w 228600"/>
                <a:gd name="T7" fmla="*/ 2209800 h 2209800"/>
                <a:gd name="T8" fmla="*/ 0 60000 65536"/>
                <a:gd name="T9" fmla="*/ 0 60000 65536"/>
                <a:gd name="T10" fmla="*/ 0 60000 65536"/>
                <a:gd name="T11" fmla="*/ 0 60000 65536"/>
                <a:gd name="T12" fmla="*/ 0 w 228600"/>
                <a:gd name="T13" fmla="*/ 0 h 2209800"/>
                <a:gd name="T14" fmla="*/ 228600 w 228600"/>
                <a:gd name="T15" fmla="*/ 2209800 h 2209800"/>
              </a:gdLst>
              <a:ahLst/>
              <a:cxnLst>
                <a:cxn ang="T8">
                  <a:pos x="T0" y="T1"/>
                </a:cxn>
                <a:cxn ang="T9">
                  <a:pos x="T2" y="T3"/>
                </a:cxn>
                <a:cxn ang="T10">
                  <a:pos x="T4" y="T5"/>
                </a:cxn>
                <a:cxn ang="T11">
                  <a:pos x="T6" y="T7"/>
                </a:cxn>
              </a:cxnLst>
              <a:rect l="T12" t="T13" r="T14" b="T15"/>
              <a:pathLst>
                <a:path w="228600" h="2209800">
                  <a:moveTo>
                    <a:pt x="152400" y="0"/>
                  </a:moveTo>
                  <a:lnTo>
                    <a:pt x="0" y="0"/>
                  </a:lnTo>
                  <a:lnTo>
                    <a:pt x="0" y="2190750"/>
                  </a:lnTo>
                  <a:lnTo>
                    <a:pt x="228600" y="2209800"/>
                  </a:lnTo>
                </a:path>
              </a:pathLst>
            </a:custGeom>
            <a:grpFill/>
            <a:ln w="12700" cap="flat" cmpd="sng" algn="ctr">
              <a:solidFill>
                <a:schemeClr val="tx1"/>
              </a:solidFill>
              <a:prstDash val="solid"/>
              <a:round/>
              <a:headEnd type="none" w="med" len="med"/>
              <a:tailEnd type="none" w="med" len="med"/>
            </a:ln>
          </p:spPr>
          <p:txBody>
            <a:bodyPr/>
            <a:lstStyle/>
            <a:p>
              <a:endParaRPr lang="zh-CN" altLang="en-US" b="1"/>
            </a:p>
          </p:txBody>
        </p:sp>
        <p:cxnSp>
          <p:nvCxnSpPr>
            <p:cNvPr id="44055" name="直接箭头连接符 26"/>
            <p:cNvCxnSpPr>
              <a:cxnSpLocks noChangeShapeType="1"/>
              <a:stCxn id="44051" idx="3"/>
            </p:cNvCxnSpPr>
            <p:nvPr/>
          </p:nvCxnSpPr>
          <p:spPr bwMode="auto">
            <a:xfrm>
              <a:off x="5292080" y="3717032"/>
              <a:ext cx="144016" cy="1588"/>
            </a:xfrm>
            <a:prstGeom prst="straightConnector1">
              <a:avLst/>
            </a:prstGeom>
            <a:grpFill/>
            <a:ln w="12700" algn="ctr">
              <a:solidFill>
                <a:schemeClr val="tx1"/>
              </a:solidFill>
              <a:round/>
              <a:tailEnd type="arrow" w="med" len="med"/>
            </a:ln>
          </p:spPr>
        </p:cxnSp>
      </p:grpSp>
      <p:sp>
        <p:nvSpPr>
          <p:cNvPr id="30" name="横卷形 29"/>
          <p:cNvSpPr>
            <a:spLocks noChangeArrowheads="1"/>
          </p:cNvSpPr>
          <p:nvPr/>
        </p:nvSpPr>
        <p:spPr bwMode="auto">
          <a:xfrm>
            <a:off x="251520" y="3013059"/>
            <a:ext cx="8712968" cy="1557337"/>
          </a:xfrm>
          <a:prstGeom prst="horizontalScroll">
            <a:avLst>
              <a:gd name="adj" fmla="val 12500"/>
            </a:avLst>
          </a:prstGeom>
          <a:solidFill>
            <a:srgbClr val="FFC000"/>
          </a:solidFill>
          <a:ln w="12700" algn="ctr">
            <a:solidFill>
              <a:schemeClr val="tx1"/>
            </a:solidFill>
            <a:round/>
          </a:ln>
        </p:spPr>
        <p:txBody>
          <a:bodyPr/>
          <a:lstStyle>
            <a:lvl1pPr>
              <a:spcBef>
                <a:spcPct val="20000"/>
              </a:spcBef>
              <a:buClr>
                <a:schemeClr val="hlink"/>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3300"/>
              </a:buClr>
              <a:buFont typeface="Wingdings" panose="05000000000000000000" pitchFamily="2" charset="2"/>
              <a:buChar char="v"/>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339933"/>
              </a:buClr>
              <a:buFont typeface="Wingdings" panose="05000000000000000000" pitchFamily="2" charset="2"/>
              <a:buChar char="Ø"/>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kumimoji="0" lang="zh-CN" altLang="en-US" sz="2400" b="1" dirty="0">
                <a:cs typeface="Times New Roman" panose="02020603050405020304" pitchFamily="18" charset="0"/>
              </a:rPr>
              <a:t>正常行为训练模块基于所收集的正常日志记录形成正常行为</a:t>
            </a:r>
            <a:r>
              <a:rPr kumimoji="0" lang="en-US" altLang="zh-CN" sz="2400" b="1" dirty="0">
                <a:cs typeface="Times New Roman" panose="02020603050405020304" pitchFamily="18" charset="0"/>
              </a:rPr>
              <a:t>HMM</a:t>
            </a:r>
            <a:r>
              <a:rPr kumimoji="0" lang="zh-CN" altLang="en-US" sz="2400" b="1" dirty="0">
                <a:cs typeface="Times New Roman" panose="02020603050405020304" pitchFamily="18" charset="0"/>
              </a:rPr>
              <a:t>模型，而异常检测模块比较实时行为日志与正常行为的</a:t>
            </a:r>
            <a:r>
              <a:rPr kumimoji="0" lang="en-US" altLang="zh-CN" sz="2400" b="1" dirty="0">
                <a:cs typeface="Times New Roman" panose="02020603050405020304" pitchFamily="18" charset="0"/>
              </a:rPr>
              <a:t>HMM</a:t>
            </a:r>
            <a:r>
              <a:rPr kumimoji="0" lang="zh-CN" altLang="en-US" sz="2400" b="1" dirty="0">
                <a:cs typeface="Times New Roman" panose="02020603050405020304" pitchFamily="18" charset="0"/>
              </a:rPr>
              <a:t>模型，判断是否有异常</a:t>
            </a:r>
          </a:p>
        </p:txBody>
      </p:sp>
      <p:sp>
        <p:nvSpPr>
          <p:cNvPr id="4" name="矩形 3"/>
          <p:cNvSpPr/>
          <p:nvPr/>
        </p:nvSpPr>
        <p:spPr>
          <a:xfrm>
            <a:off x="571591" y="1264099"/>
            <a:ext cx="7884876" cy="523220"/>
          </a:xfrm>
          <a:prstGeom prst="rect">
            <a:avLst/>
          </a:prstGeom>
        </p:spPr>
        <p:txBody>
          <a:bodyPr wrap="square">
            <a:spAutoFit/>
          </a:bodyPr>
          <a:lstStyle/>
          <a:p>
            <a:pPr marL="342900" indent="-342900" eaLnBrk="0" hangingPunct="0">
              <a:spcBef>
                <a:spcPct val="20000"/>
              </a:spcBef>
              <a:buClr>
                <a:srgbClr val="3399FF"/>
              </a:buClr>
              <a:buFont typeface="Wingdings" panose="05000000000000000000" pitchFamily="2" charset="2"/>
              <a:buChar char="v"/>
            </a:pPr>
            <a:r>
              <a:rPr lang="zh-CN" altLang="en-US" sz="2800" b="1" dirty="0">
                <a:solidFill>
                  <a:srgbClr val="FF0000"/>
                </a:solidFill>
                <a:effectLst>
                  <a:outerShdw blurRad="38100" dist="38100" dir="2700000" algn="tl">
                    <a:srgbClr val="000000">
                      <a:alpha val="43137"/>
                    </a:srgbClr>
                  </a:outerShdw>
                </a:effectLst>
                <a:latin typeface="+mn-ea"/>
                <a:ea typeface="+mn-ea"/>
              </a:rPr>
              <a:t>基于（隐）马尔科夫过程的异常检测技术</a:t>
            </a:r>
            <a:endParaRPr lang="en-US" altLang="zh-CN" sz="2800" b="1" dirty="0">
              <a:solidFill>
                <a:srgbClr val="FF0000"/>
              </a:solidFill>
              <a:effectLst>
                <a:outerShdw blurRad="38100" dist="38100" dir="2700000" algn="tl">
                  <a:srgbClr val="000000">
                    <a:alpha val="43137"/>
                  </a:srgbClr>
                </a:outerShdw>
              </a:effectLst>
              <a:latin typeface="+mn-ea"/>
              <a:ea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44035">
                                            <p:txEl>
                                              <p:pRg st="0" end="0"/>
                                            </p:txEl>
                                          </p:spTgt>
                                        </p:tgtEl>
                                        <p:attrNameLst>
                                          <p:attrName>style.visibility</p:attrName>
                                        </p:attrNameLst>
                                      </p:cBhvr>
                                      <p:to>
                                        <p:strVal val="visible"/>
                                      </p:to>
                                    </p:set>
                                    <p:animEffect transition="in" filter="fade">
                                      <p:cBhvr>
                                        <p:cTn id="12" dur="1000"/>
                                        <p:tgtEl>
                                          <p:spTgt spid="44035">
                                            <p:txEl>
                                              <p:pRg st="0" end="0"/>
                                            </p:txEl>
                                          </p:spTgt>
                                        </p:tgtEl>
                                      </p:cBhvr>
                                    </p:animEffect>
                                    <p:anim calcmode="lin" valueType="num">
                                      <p:cBhvr>
                                        <p:cTn id="13" dur="1000" fill="hold"/>
                                        <p:tgtEl>
                                          <p:spTgt spid="44035">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44035">
                                            <p:txEl>
                                              <p:pRg st="0" end="0"/>
                                            </p:txEl>
                                          </p:spTgt>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42" presetClass="entr" presetSubtype="0" fill="hold" grpId="0" nodeType="afterEffect">
                                  <p:stCondLst>
                                    <p:cond delay="0"/>
                                  </p:stCondLst>
                                  <p:childTnLst>
                                    <p:set>
                                      <p:cBhvr>
                                        <p:cTn id="17" dur="1" fill="hold">
                                          <p:stCondLst>
                                            <p:cond delay="0"/>
                                          </p:stCondLst>
                                        </p:cTn>
                                        <p:tgtEl>
                                          <p:spTgt spid="44035">
                                            <p:txEl>
                                              <p:pRg st="1" end="1"/>
                                            </p:txEl>
                                          </p:spTgt>
                                        </p:tgtEl>
                                        <p:attrNameLst>
                                          <p:attrName>style.visibility</p:attrName>
                                        </p:attrNameLst>
                                      </p:cBhvr>
                                      <p:to>
                                        <p:strVal val="visible"/>
                                      </p:to>
                                    </p:set>
                                    <p:animEffect transition="in" filter="fade">
                                      <p:cBhvr>
                                        <p:cTn id="18" dur="1000"/>
                                        <p:tgtEl>
                                          <p:spTgt spid="44035">
                                            <p:txEl>
                                              <p:pRg st="1" end="1"/>
                                            </p:txEl>
                                          </p:spTgt>
                                        </p:tgtEl>
                                      </p:cBhvr>
                                    </p:animEffect>
                                    <p:anim calcmode="lin" valueType="num">
                                      <p:cBhvr>
                                        <p:cTn id="19" dur="1000" fill="hold"/>
                                        <p:tgtEl>
                                          <p:spTgt spid="44035">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44035">
                                            <p:txEl>
                                              <p:pRg st="1" end="1"/>
                                            </p:txEl>
                                          </p:spTgt>
                                        </p:tgtEl>
                                        <p:attrNameLst>
                                          <p:attrName>ppt_y</p:attrName>
                                        </p:attrNameLst>
                                      </p:cBhvr>
                                      <p:tavLst>
                                        <p:tav tm="0">
                                          <p:val>
                                            <p:strVal val="#ppt_y+.1"/>
                                          </p:val>
                                        </p:tav>
                                        <p:tav tm="100000">
                                          <p:val>
                                            <p:strVal val="#ppt_y"/>
                                          </p:val>
                                        </p:tav>
                                      </p:tavLst>
                                    </p:anim>
                                  </p:childTnLst>
                                </p:cTn>
                              </p:par>
                            </p:childTnLst>
                          </p:cTn>
                        </p:par>
                        <p:par>
                          <p:cTn id="21" fill="hold">
                            <p:stCondLst>
                              <p:cond delay="2500"/>
                            </p:stCondLst>
                            <p:childTnLst>
                              <p:par>
                                <p:cTn id="22" presetID="42" presetClass="entr" presetSubtype="0" fill="hold" grpId="0" nodeType="afterEffect">
                                  <p:stCondLst>
                                    <p:cond delay="0"/>
                                  </p:stCondLst>
                                  <p:childTnLst>
                                    <p:set>
                                      <p:cBhvr>
                                        <p:cTn id="23" dur="1" fill="hold">
                                          <p:stCondLst>
                                            <p:cond delay="0"/>
                                          </p:stCondLst>
                                        </p:cTn>
                                        <p:tgtEl>
                                          <p:spTgt spid="44035">
                                            <p:txEl>
                                              <p:pRg st="2" end="2"/>
                                            </p:txEl>
                                          </p:spTgt>
                                        </p:tgtEl>
                                        <p:attrNameLst>
                                          <p:attrName>style.visibility</p:attrName>
                                        </p:attrNameLst>
                                      </p:cBhvr>
                                      <p:to>
                                        <p:strVal val="visible"/>
                                      </p:to>
                                    </p:set>
                                    <p:animEffect transition="in" filter="fade">
                                      <p:cBhvr>
                                        <p:cTn id="24" dur="1000"/>
                                        <p:tgtEl>
                                          <p:spTgt spid="44035">
                                            <p:txEl>
                                              <p:pRg st="2" end="2"/>
                                            </p:txEl>
                                          </p:spTgt>
                                        </p:tgtEl>
                                      </p:cBhvr>
                                    </p:animEffect>
                                    <p:anim calcmode="lin" valueType="num">
                                      <p:cBhvr>
                                        <p:cTn id="25" dur="1000" fill="hold"/>
                                        <p:tgtEl>
                                          <p:spTgt spid="44035">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4403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ipe(up)">
                                      <p:cBhvr>
                                        <p:cTn id="31" dur="500"/>
                                        <p:tgtEl>
                                          <p:spTgt spid="3"/>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30"/>
                                        </p:tgtEl>
                                        <p:attrNameLst>
                                          <p:attrName>style.visibility</p:attrName>
                                        </p:attrNameLst>
                                      </p:cBhvr>
                                      <p:to>
                                        <p:strVal val="visible"/>
                                      </p:to>
                                    </p:set>
                                    <p:anim calcmode="lin" valueType="num">
                                      <p:cBhvr>
                                        <p:cTn id="36" dur="500" fill="hold"/>
                                        <p:tgtEl>
                                          <p:spTgt spid="30"/>
                                        </p:tgtEl>
                                        <p:attrNameLst>
                                          <p:attrName>ppt_w</p:attrName>
                                        </p:attrNameLst>
                                      </p:cBhvr>
                                      <p:tavLst>
                                        <p:tav tm="0">
                                          <p:val>
                                            <p:fltVal val="0"/>
                                          </p:val>
                                        </p:tav>
                                        <p:tav tm="100000">
                                          <p:val>
                                            <p:strVal val="#ppt_w"/>
                                          </p:val>
                                        </p:tav>
                                      </p:tavLst>
                                    </p:anim>
                                    <p:anim calcmode="lin" valueType="num">
                                      <p:cBhvr>
                                        <p:cTn id="37" dur="500" fill="hold"/>
                                        <p:tgtEl>
                                          <p:spTgt spid="30"/>
                                        </p:tgtEl>
                                        <p:attrNameLst>
                                          <p:attrName>ppt_h</p:attrName>
                                        </p:attrNameLst>
                                      </p:cBhvr>
                                      <p:tavLst>
                                        <p:tav tm="0">
                                          <p:val>
                                            <p:fltVal val="0"/>
                                          </p:val>
                                        </p:tav>
                                        <p:tav tm="100000">
                                          <p:val>
                                            <p:strVal val="#ppt_h"/>
                                          </p:val>
                                        </p:tav>
                                      </p:tavLst>
                                    </p:anim>
                                    <p:animEffect transition="in" filter="fade">
                                      <p:cBhvr>
                                        <p:cTn id="3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P spid="30" grpId="0" animBg="1"/>
      <p:bldP spid="4"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1075" y="763430"/>
            <a:ext cx="6513512" cy="487363"/>
          </a:xfrm>
          <a:noFill/>
          <a:ln w="9525">
            <a:noFill/>
            <a:miter lim="800000"/>
          </a:ln>
        </p:spPr>
        <p:txBody>
          <a:bodyPr vert="horz" wrap="square" lIns="91440" tIns="45720" rIns="91440" bIns="45720" numCol="1" anchor="ctr" anchorCtr="0" compatLnSpc="1"/>
          <a:lstStyle/>
          <a:p>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异常检测常用技术</a:t>
            </a:r>
          </a:p>
        </p:txBody>
      </p:sp>
      <p:sp>
        <p:nvSpPr>
          <p:cNvPr id="4" name="矩形 3"/>
          <p:cNvSpPr/>
          <p:nvPr/>
        </p:nvSpPr>
        <p:spPr>
          <a:xfrm>
            <a:off x="571591" y="1264099"/>
            <a:ext cx="7884876" cy="523220"/>
          </a:xfrm>
          <a:prstGeom prst="rect">
            <a:avLst/>
          </a:prstGeom>
        </p:spPr>
        <p:txBody>
          <a:bodyPr wrap="square">
            <a:spAutoFit/>
          </a:bodyPr>
          <a:lstStyle/>
          <a:p>
            <a:pPr marL="342900" indent="-342900" eaLnBrk="0" hangingPunct="0">
              <a:spcBef>
                <a:spcPct val="20000"/>
              </a:spcBef>
              <a:buClr>
                <a:srgbClr val="3399FF"/>
              </a:buClr>
              <a:buFont typeface="Wingdings" panose="05000000000000000000" pitchFamily="2" charset="2"/>
              <a:buChar char="v"/>
            </a:pPr>
            <a:r>
              <a:rPr lang="zh-CN" altLang="en-US" sz="2800" b="1" dirty="0">
                <a:solidFill>
                  <a:srgbClr val="FF0000"/>
                </a:solidFill>
                <a:effectLst>
                  <a:outerShdw blurRad="38100" dist="38100" dir="2700000" algn="tl">
                    <a:srgbClr val="000000">
                      <a:alpha val="43137"/>
                    </a:srgbClr>
                  </a:outerShdw>
                </a:effectLst>
                <a:latin typeface="+mn-ea"/>
                <a:ea typeface="+mn-ea"/>
              </a:rPr>
              <a:t>基于（隐）马尔科夫过程的异常检测技术</a:t>
            </a:r>
            <a:endParaRPr lang="en-US" altLang="zh-CN" sz="2800" b="1" dirty="0">
              <a:solidFill>
                <a:srgbClr val="FF0000"/>
              </a:solidFill>
              <a:effectLst>
                <a:outerShdw blurRad="38100" dist="38100" dir="2700000" algn="tl">
                  <a:srgbClr val="000000">
                    <a:alpha val="43137"/>
                  </a:srgbClr>
                </a:outerShdw>
              </a:effectLst>
              <a:latin typeface="+mn-ea"/>
              <a:ea typeface="+mn-ea"/>
            </a:endParaRPr>
          </a:p>
        </p:txBody>
      </p:sp>
      <p:pic>
        <p:nvPicPr>
          <p:cNvPr id="7170" name="Picture 2">
            <a:extLst>
              <a:ext uri="{FF2B5EF4-FFF2-40B4-BE49-F238E27FC236}">
                <a16:creationId xmlns:a16="http://schemas.microsoft.com/office/drawing/2014/main" id="{281F1646-71F0-A343-A6F9-F10C557AAA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508" y="1952836"/>
            <a:ext cx="4180925" cy="2552832"/>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9EC5EF57-0B33-A74D-9BFA-CE18B4C5F1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77055" y="1952836"/>
            <a:ext cx="4855063" cy="2514350"/>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2E9EF9EB-AB7F-AB44-86BF-14F164553F9C}"/>
              </a:ext>
            </a:extLst>
          </p:cNvPr>
          <p:cNvSpPr txBox="1"/>
          <p:nvPr/>
        </p:nvSpPr>
        <p:spPr>
          <a:xfrm>
            <a:off x="215770" y="4679229"/>
            <a:ext cx="8712460" cy="830997"/>
          </a:xfrm>
          <a:prstGeom prst="rect">
            <a:avLst/>
          </a:prstGeom>
          <a:noFill/>
        </p:spPr>
        <p:txBody>
          <a:bodyPr wrap="square" rtlCol="0">
            <a:spAutoFit/>
          </a:bodyPr>
          <a:lstStyle/>
          <a:p>
            <a:pPr algn="l"/>
            <a:r>
              <a:rPr lang="zh-CN" altLang="en-US" sz="1600" b="0" i="0" u="none" strike="noStrike" dirty="0">
                <a:solidFill>
                  <a:srgbClr val="000000"/>
                </a:solidFill>
                <a:effectLst/>
              </a:rPr>
              <a:t>假设掷骰子，可能得到一串数字（掷</a:t>
            </a:r>
            <a:r>
              <a:rPr lang="en-US" altLang="zh-CN" sz="1600" b="0" i="0" u="none" strike="noStrike" dirty="0">
                <a:solidFill>
                  <a:srgbClr val="000000"/>
                </a:solidFill>
                <a:effectLst/>
              </a:rPr>
              <a:t>10</a:t>
            </a:r>
            <a:r>
              <a:rPr lang="zh-CN" altLang="en-US" sz="1600" b="0" i="0" u="none" strike="noStrike" dirty="0">
                <a:solidFill>
                  <a:srgbClr val="000000"/>
                </a:solidFill>
                <a:effectLst/>
              </a:rPr>
              <a:t>次）：</a:t>
            </a:r>
            <a:r>
              <a:rPr lang="en-US" altLang="zh-CN" sz="1600" b="0" i="0" u="none" strike="noStrike" dirty="0">
                <a:solidFill>
                  <a:srgbClr val="000000"/>
                </a:solidFill>
                <a:effectLst/>
              </a:rPr>
              <a:t>1 6 3 5 2 7 3 5 2 4</a:t>
            </a:r>
            <a:r>
              <a:rPr lang="zh-CN" altLang="en-US" sz="1600" b="0" i="0" u="none" strike="noStrike" dirty="0">
                <a:solidFill>
                  <a:srgbClr val="000000"/>
                </a:solidFill>
                <a:effectLst/>
              </a:rPr>
              <a:t>。这串数字叫做可见状态链，另还有一串隐含状态链，例如隐含状态链就是用的骰子的序列。比如</a:t>
            </a:r>
            <a:r>
              <a:rPr lang="zh-CN" altLang="en-US" sz="1600" dirty="0">
                <a:solidFill>
                  <a:srgbClr val="000000"/>
                </a:solidFill>
              </a:rPr>
              <a:t>，隐含状态链</a:t>
            </a:r>
            <a:r>
              <a:rPr lang="zh-CN" altLang="en-US" sz="1600" b="0" i="0" u="none" strike="noStrike" dirty="0">
                <a:solidFill>
                  <a:srgbClr val="000000"/>
                </a:solidFill>
                <a:effectLst/>
              </a:rPr>
              <a:t>有可能是：</a:t>
            </a:r>
            <a:r>
              <a:rPr lang="en" altLang="zh-CN" sz="1600" b="0" i="0" u="none" strike="noStrike" dirty="0">
                <a:solidFill>
                  <a:srgbClr val="000000"/>
                </a:solidFill>
                <a:effectLst/>
              </a:rPr>
              <a:t>D6 D8 D8 D6 D4 D8 D6 D6 D4 D8</a:t>
            </a:r>
          </a:p>
        </p:txBody>
      </p:sp>
      <p:sp>
        <p:nvSpPr>
          <p:cNvPr id="8" name="文本框 7">
            <a:extLst>
              <a:ext uri="{FF2B5EF4-FFF2-40B4-BE49-F238E27FC236}">
                <a16:creationId xmlns:a16="http://schemas.microsoft.com/office/drawing/2014/main" id="{2E68A9EF-5E02-364C-897C-2E833289D793}"/>
              </a:ext>
            </a:extLst>
          </p:cNvPr>
          <p:cNvSpPr txBox="1"/>
          <p:nvPr/>
        </p:nvSpPr>
        <p:spPr>
          <a:xfrm>
            <a:off x="215770" y="5517232"/>
            <a:ext cx="8712460" cy="830997"/>
          </a:xfrm>
          <a:prstGeom prst="rect">
            <a:avLst/>
          </a:prstGeom>
          <a:noFill/>
        </p:spPr>
        <p:txBody>
          <a:bodyPr wrap="square" rtlCol="0">
            <a:spAutoFit/>
          </a:bodyPr>
          <a:lstStyle/>
          <a:p>
            <a:r>
              <a:rPr lang="zh-CN" altLang="en-US" sz="1600" b="0" i="0" u="none" strike="noStrike" dirty="0">
                <a:solidFill>
                  <a:srgbClr val="121212"/>
                </a:solidFill>
                <a:effectLst/>
                <a:latin typeface="-apple-system"/>
              </a:rPr>
              <a:t>但是应用</a:t>
            </a:r>
            <a:r>
              <a:rPr lang="en" altLang="zh-CN" sz="1600" b="0" i="0" u="none" strike="noStrike" dirty="0">
                <a:solidFill>
                  <a:srgbClr val="121212"/>
                </a:solidFill>
                <a:effectLst/>
                <a:latin typeface="-apple-system"/>
              </a:rPr>
              <a:t>HMM</a:t>
            </a:r>
            <a:r>
              <a:rPr lang="zh-CN" altLang="en-US" sz="1600" b="0" i="0" u="none" strike="noStrike" dirty="0">
                <a:solidFill>
                  <a:srgbClr val="121212"/>
                </a:solidFill>
                <a:effectLst/>
                <a:latin typeface="-apple-system"/>
              </a:rPr>
              <a:t>模型时，往往是缺失了一部分信息，例如知道骰子有几种，每种骰子是什么，但是不知道掷出来的骰子序列；有时候只看到很多次掷骰子的结果，剩下的什么都不知道。如何应用算法去估计这些缺失的信息，就成了一个很重要的问题。</a:t>
            </a:r>
            <a:endParaRPr kumimoji="1" lang="zh-CN" altLang="en-US" sz="1600" dirty="0"/>
          </a:p>
        </p:txBody>
      </p:sp>
    </p:spTree>
    <p:extLst>
      <p:ext uri="{BB962C8B-B14F-4D97-AF65-F5344CB8AC3E}">
        <p14:creationId xmlns:p14="http://schemas.microsoft.com/office/powerpoint/2010/main" val="1885859712"/>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42764" y="755649"/>
            <a:ext cx="6513512" cy="487363"/>
          </a:xfrm>
          <a:noFill/>
          <a:ln w="9525">
            <a:noFill/>
            <a:miter lim="800000"/>
          </a:ln>
        </p:spPr>
        <p:txBody>
          <a:bodyPr vert="horz" wrap="square" lIns="91440" tIns="45720" rIns="91440" bIns="45720" numCol="1" anchor="ctr" anchorCtr="0" compatLnSpc="1"/>
          <a:lstStyle/>
          <a:p>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异常检测常用技术</a:t>
            </a:r>
          </a:p>
        </p:txBody>
      </p:sp>
      <p:sp>
        <p:nvSpPr>
          <p:cNvPr id="46083" name="内容占位符 2"/>
          <p:cNvSpPr>
            <a:spLocks noGrp="1"/>
          </p:cNvSpPr>
          <p:nvPr>
            <p:ph idx="1"/>
          </p:nvPr>
        </p:nvSpPr>
        <p:spPr>
          <a:xfrm>
            <a:off x="533400" y="1295400"/>
            <a:ext cx="8191500" cy="2205608"/>
          </a:xfrm>
        </p:spPr>
        <p:txBody>
          <a:bodyPr/>
          <a:lstStyle/>
          <a:p>
            <a:r>
              <a:rPr lang="zh-CN" altLang="en-US" b="1" kern="1200" dirty="0">
                <a:solidFill>
                  <a:srgbClr val="FF0000"/>
                </a:solidFill>
                <a:effectLst>
                  <a:outerShdw blurRad="38100" dist="38100" dir="2700000" algn="tl">
                    <a:srgbClr val="000000">
                      <a:alpha val="43137"/>
                    </a:srgbClr>
                  </a:outerShdw>
                </a:effectLst>
                <a:latin typeface="+mn-ea"/>
              </a:rPr>
              <a:t>基于神经网络的异常检测技术</a:t>
            </a:r>
            <a:endParaRPr lang="en-US" altLang="zh-CN" b="1" kern="1200" dirty="0">
              <a:solidFill>
                <a:srgbClr val="FF0000"/>
              </a:solidFill>
              <a:effectLst>
                <a:outerShdw blurRad="38100" dist="38100" dir="2700000" algn="tl">
                  <a:srgbClr val="000000">
                    <a:alpha val="43137"/>
                  </a:srgbClr>
                </a:outerShdw>
              </a:effectLst>
              <a:latin typeface="+mn-ea"/>
            </a:endParaRPr>
          </a:p>
          <a:p>
            <a:pPr lvl="1"/>
            <a:r>
              <a:rPr lang="zh-CN" altLang="en-US" sz="2400" b="1" dirty="0">
                <a:effectLst>
                  <a:outerShdw blurRad="38100" dist="38100" dir="2700000" algn="tl">
                    <a:srgbClr val="000000">
                      <a:alpha val="43137"/>
                    </a:srgbClr>
                  </a:outerShdw>
                </a:effectLst>
                <a:latin typeface="+mn-ea"/>
              </a:rPr>
              <a:t>输入数据主要包括三个方面，</a:t>
            </a:r>
            <a:endParaRPr lang="en-US" altLang="zh-CN" sz="2400" b="1" dirty="0">
              <a:effectLst>
                <a:outerShdw blurRad="38100" dist="38100" dir="2700000" algn="tl">
                  <a:srgbClr val="000000">
                    <a:alpha val="43137"/>
                  </a:srgbClr>
                </a:outerShdw>
              </a:effectLst>
              <a:latin typeface="+mn-ea"/>
            </a:endParaRPr>
          </a:p>
          <a:p>
            <a:pPr lvl="2">
              <a:buFont typeface="Wingdings" panose="05000000000000000000" pitchFamily="2" charset="2"/>
              <a:buChar char="Ø"/>
            </a:pPr>
            <a:r>
              <a:rPr lang="zh-CN" altLang="en-US" sz="2200" b="1" dirty="0">
                <a:effectLst>
                  <a:outerShdw blurRad="38100" dist="38100" dir="2700000" algn="tl">
                    <a:srgbClr val="000000">
                      <a:alpha val="43137"/>
                    </a:srgbClr>
                  </a:outerShdw>
                </a:effectLst>
                <a:latin typeface="+mn-ea"/>
              </a:rPr>
              <a:t>在一段时间内进出该网络的数据包数；</a:t>
            </a:r>
            <a:endParaRPr lang="en-US" altLang="zh-CN" sz="2200" b="1" dirty="0">
              <a:effectLst>
                <a:outerShdw blurRad="38100" dist="38100" dir="2700000" algn="tl">
                  <a:srgbClr val="000000">
                    <a:alpha val="43137"/>
                  </a:srgbClr>
                </a:outerShdw>
              </a:effectLst>
              <a:latin typeface="+mn-ea"/>
            </a:endParaRPr>
          </a:p>
          <a:p>
            <a:pPr lvl="2">
              <a:buFont typeface="Wingdings" panose="05000000000000000000" pitchFamily="2" charset="2"/>
              <a:buChar char="Ø"/>
            </a:pPr>
            <a:r>
              <a:rPr lang="zh-CN" altLang="en-US" sz="2200" b="1" dirty="0">
                <a:effectLst>
                  <a:outerShdw blurRad="38100" dist="38100" dir="2700000" algn="tl">
                    <a:srgbClr val="000000">
                      <a:alpha val="43137"/>
                    </a:srgbClr>
                  </a:outerShdw>
                </a:effectLst>
                <a:latin typeface="+mn-ea"/>
              </a:rPr>
              <a:t>网络连接信息；</a:t>
            </a:r>
            <a:endParaRPr lang="en-US" altLang="zh-CN" sz="2200" b="1" dirty="0">
              <a:effectLst>
                <a:outerShdw blurRad="38100" dist="38100" dir="2700000" algn="tl">
                  <a:srgbClr val="000000">
                    <a:alpha val="43137"/>
                  </a:srgbClr>
                </a:outerShdw>
              </a:effectLst>
              <a:latin typeface="+mn-ea"/>
            </a:endParaRPr>
          </a:p>
          <a:p>
            <a:pPr lvl="2">
              <a:buFont typeface="Wingdings" panose="05000000000000000000" pitchFamily="2" charset="2"/>
              <a:buChar char="Ø"/>
            </a:pPr>
            <a:r>
              <a:rPr lang="zh-CN" altLang="en-US" sz="2200" b="1" dirty="0">
                <a:effectLst>
                  <a:outerShdw blurRad="38100" dist="38100" dir="2700000" algn="tl">
                    <a:srgbClr val="000000">
                      <a:alpha val="43137"/>
                    </a:srgbClr>
                  </a:outerShdw>
                </a:effectLst>
                <a:latin typeface="+mn-ea"/>
              </a:rPr>
              <a:t>用户在一定时间内操作的命令。</a:t>
            </a:r>
            <a:endParaRPr lang="en-US" altLang="zh-CN" sz="2200" b="1" dirty="0">
              <a:effectLst>
                <a:outerShdw blurRad="38100" dist="38100" dir="2700000" algn="tl">
                  <a:srgbClr val="000000">
                    <a:alpha val="43137"/>
                  </a:srgbClr>
                </a:outerShdw>
              </a:effectLst>
              <a:latin typeface="+mn-ea"/>
            </a:endParaRPr>
          </a:p>
        </p:txBody>
      </p:sp>
      <p:sp>
        <p:nvSpPr>
          <p:cNvPr id="3" name="矩形 2"/>
          <p:cNvSpPr/>
          <p:nvPr/>
        </p:nvSpPr>
        <p:spPr>
          <a:xfrm>
            <a:off x="542764" y="3553396"/>
            <a:ext cx="8025680" cy="2074414"/>
          </a:xfrm>
          <a:prstGeom prst="rect">
            <a:avLst/>
          </a:prstGeom>
        </p:spPr>
        <p:txBody>
          <a:bodyPr wrap="square">
            <a:spAutoFit/>
          </a:bodyPr>
          <a:lstStyle/>
          <a:p>
            <a:pPr marL="342900" indent="-342900" eaLnBrk="0" hangingPunct="0">
              <a:spcBef>
                <a:spcPct val="20000"/>
              </a:spcBef>
              <a:buClr>
                <a:srgbClr val="3399FF"/>
              </a:buClr>
              <a:buFont typeface="Wingdings" panose="05000000000000000000" pitchFamily="2" charset="2"/>
              <a:buChar char="v"/>
            </a:pPr>
            <a:r>
              <a:rPr lang="zh-CN" altLang="en-US" sz="2800" b="1" dirty="0">
                <a:solidFill>
                  <a:srgbClr val="FF0000"/>
                </a:solidFill>
                <a:effectLst>
                  <a:outerShdw blurRad="38100" dist="38100" dir="2700000" algn="tl">
                    <a:srgbClr val="000000">
                      <a:alpha val="43137"/>
                    </a:srgbClr>
                  </a:outerShdw>
                </a:effectLst>
                <a:latin typeface="+mn-ea"/>
                <a:ea typeface="+mn-ea"/>
              </a:rPr>
              <a:t>基于免疫学的入侵检测</a:t>
            </a:r>
            <a:endParaRPr lang="en-US" altLang="zh-CN" sz="2800" b="1" dirty="0">
              <a:solidFill>
                <a:srgbClr val="FF0000"/>
              </a:solidFill>
              <a:effectLst>
                <a:outerShdw blurRad="38100" dist="38100" dir="2700000" algn="tl">
                  <a:srgbClr val="000000">
                    <a:alpha val="43137"/>
                  </a:srgbClr>
                </a:outerShdw>
              </a:effectLst>
              <a:latin typeface="+mn-ea"/>
              <a:ea typeface="+mn-ea"/>
            </a:endParaRPr>
          </a:p>
          <a:p>
            <a:pPr marL="742950" lvl="1" indent="-285750" eaLnBrk="0" hangingPunct="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mn-ea"/>
                <a:ea typeface="+mn-ea"/>
              </a:rPr>
              <a:t>对于一个特定的进程（程序），系统调用序列是相对稳定的，使用系统调用序列表征主机的“自我”，任何有别于这种“自我”的系统调用认为是非“自我”的。</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Effect transition="in" filter="wipe(up)">
                                      <p:cBhvr>
                                        <p:cTn id="7" dur="500"/>
                                        <p:tgtEl>
                                          <p:spTgt spid="46083">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46083">
                                            <p:txEl>
                                              <p:pRg st="1" end="1"/>
                                            </p:txEl>
                                          </p:spTgt>
                                        </p:tgtEl>
                                        <p:attrNameLst>
                                          <p:attrName>style.visibility</p:attrName>
                                        </p:attrNameLst>
                                      </p:cBhvr>
                                      <p:to>
                                        <p:strVal val="visible"/>
                                      </p:to>
                                    </p:set>
                                    <p:animEffect transition="in" filter="wipe(up)">
                                      <p:cBhvr>
                                        <p:cTn id="11" dur="500"/>
                                        <p:tgtEl>
                                          <p:spTgt spid="46083">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46083">
                                            <p:txEl>
                                              <p:pRg st="2" end="2"/>
                                            </p:txEl>
                                          </p:spTgt>
                                        </p:tgtEl>
                                        <p:attrNameLst>
                                          <p:attrName>style.visibility</p:attrName>
                                        </p:attrNameLst>
                                      </p:cBhvr>
                                      <p:to>
                                        <p:strVal val="visible"/>
                                      </p:to>
                                    </p:set>
                                    <p:animEffect transition="in" filter="wipe(up)">
                                      <p:cBhvr>
                                        <p:cTn id="15" dur="500"/>
                                        <p:tgtEl>
                                          <p:spTgt spid="46083">
                                            <p:txEl>
                                              <p:pRg st="2" end="2"/>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46083">
                                            <p:txEl>
                                              <p:pRg st="3" end="3"/>
                                            </p:txEl>
                                          </p:spTgt>
                                        </p:tgtEl>
                                        <p:attrNameLst>
                                          <p:attrName>style.visibility</p:attrName>
                                        </p:attrNameLst>
                                      </p:cBhvr>
                                      <p:to>
                                        <p:strVal val="visible"/>
                                      </p:to>
                                    </p:set>
                                    <p:animEffect transition="in" filter="wipe(up)">
                                      <p:cBhvr>
                                        <p:cTn id="19" dur="500"/>
                                        <p:tgtEl>
                                          <p:spTgt spid="46083">
                                            <p:txEl>
                                              <p:pRg st="3" end="3"/>
                                            </p:txEl>
                                          </p:spTgt>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46083">
                                            <p:txEl>
                                              <p:pRg st="4" end="4"/>
                                            </p:txEl>
                                          </p:spTgt>
                                        </p:tgtEl>
                                        <p:attrNameLst>
                                          <p:attrName>style.visibility</p:attrName>
                                        </p:attrNameLst>
                                      </p:cBhvr>
                                      <p:to>
                                        <p:strVal val="visible"/>
                                      </p:to>
                                    </p:set>
                                    <p:animEffect transition="in" filter="wipe(up)">
                                      <p:cBhvr>
                                        <p:cTn id="23" dur="500"/>
                                        <p:tgtEl>
                                          <p:spTgt spid="4608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up)">
                                      <p:cBhvr>
                                        <p:cTn id="2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P spid="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42763" y="644176"/>
            <a:ext cx="8025680" cy="523220"/>
          </a:xfrm>
          <a:prstGeom prst="rect">
            <a:avLst/>
          </a:prstGeom>
        </p:spPr>
        <p:txBody>
          <a:bodyPr wrap="square">
            <a:spAutoFit/>
          </a:bodyPr>
          <a:lstStyle/>
          <a:p>
            <a:pPr marL="342900" indent="-342900" eaLnBrk="0" hangingPunct="0">
              <a:spcBef>
                <a:spcPct val="20000"/>
              </a:spcBef>
              <a:buClr>
                <a:srgbClr val="3399FF"/>
              </a:buClr>
              <a:buFont typeface="Wingdings" panose="05000000000000000000" pitchFamily="2" charset="2"/>
              <a:buChar char="v"/>
            </a:pPr>
            <a:r>
              <a:rPr lang="zh-CN" altLang="en-US" sz="2800" b="1" dirty="0">
                <a:solidFill>
                  <a:srgbClr val="FF0000"/>
                </a:solidFill>
                <a:effectLst>
                  <a:outerShdw blurRad="38100" dist="38100" dir="2700000" algn="tl">
                    <a:srgbClr val="000000">
                      <a:alpha val="43137"/>
                    </a:srgbClr>
                  </a:outerShdw>
                </a:effectLst>
                <a:latin typeface="+mn-ea"/>
                <a:ea typeface="+mn-ea"/>
              </a:rPr>
              <a:t>基于免疫学的入侵检测</a:t>
            </a:r>
            <a:endParaRPr lang="en-US" altLang="zh-CN" sz="2800" b="1" dirty="0">
              <a:solidFill>
                <a:srgbClr val="FF0000"/>
              </a:solidFill>
              <a:effectLst>
                <a:outerShdw blurRad="38100" dist="38100" dir="2700000" algn="tl">
                  <a:srgbClr val="000000">
                    <a:alpha val="43137"/>
                  </a:srgbClr>
                </a:outerShdw>
              </a:effectLst>
              <a:latin typeface="+mn-ea"/>
              <a:ea typeface="+mn-ea"/>
            </a:endParaRPr>
          </a:p>
        </p:txBody>
      </p:sp>
      <p:pic>
        <p:nvPicPr>
          <p:cNvPr id="9" name="图片 8">
            <a:extLst>
              <a:ext uri="{FF2B5EF4-FFF2-40B4-BE49-F238E27FC236}">
                <a16:creationId xmlns:a16="http://schemas.microsoft.com/office/drawing/2014/main" id="{5C977ED6-505C-A94D-8676-C4C69292D7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769" y="1268760"/>
            <a:ext cx="6972462" cy="5053181"/>
          </a:xfrm>
          <a:prstGeom prst="rect">
            <a:avLst/>
          </a:prstGeom>
        </p:spPr>
      </p:pic>
    </p:spTree>
    <p:extLst>
      <p:ext uri="{BB962C8B-B14F-4D97-AF65-F5344CB8AC3E}">
        <p14:creationId xmlns:p14="http://schemas.microsoft.com/office/powerpoint/2010/main" val="3522459887"/>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42764" y="755649"/>
            <a:ext cx="6513512" cy="487363"/>
          </a:xfrm>
          <a:noFill/>
          <a:ln w="9525">
            <a:noFill/>
            <a:miter lim="800000"/>
          </a:ln>
        </p:spPr>
        <p:txBody>
          <a:bodyPr vert="horz" wrap="square" lIns="91440" tIns="45720" rIns="91440" bIns="45720" numCol="1" anchor="ctr" anchorCtr="0" compatLnSpc="1"/>
          <a:lstStyle/>
          <a:p>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异常检测常用技术</a:t>
            </a:r>
          </a:p>
        </p:txBody>
      </p:sp>
      <p:sp>
        <p:nvSpPr>
          <p:cNvPr id="3" name="矩形 2"/>
          <p:cNvSpPr/>
          <p:nvPr/>
        </p:nvSpPr>
        <p:spPr>
          <a:xfrm>
            <a:off x="542764" y="1376772"/>
            <a:ext cx="8025680" cy="523220"/>
          </a:xfrm>
          <a:prstGeom prst="rect">
            <a:avLst/>
          </a:prstGeom>
        </p:spPr>
        <p:txBody>
          <a:bodyPr wrap="square">
            <a:spAutoFit/>
          </a:bodyPr>
          <a:lstStyle/>
          <a:p>
            <a:pPr marL="342900" indent="-342900" eaLnBrk="0" hangingPunct="0">
              <a:spcBef>
                <a:spcPct val="20000"/>
              </a:spcBef>
              <a:buClr>
                <a:srgbClr val="3399FF"/>
              </a:buClr>
              <a:buFont typeface="Wingdings" panose="05000000000000000000" pitchFamily="2" charset="2"/>
              <a:buChar char="v"/>
            </a:pPr>
            <a:r>
              <a:rPr lang="zh-CN" altLang="en-US" sz="2800" b="1" dirty="0">
                <a:solidFill>
                  <a:srgbClr val="FF0000"/>
                </a:solidFill>
                <a:effectLst>
                  <a:outerShdw blurRad="38100" dist="38100" dir="2700000" algn="tl">
                    <a:srgbClr val="000000">
                      <a:alpha val="43137"/>
                    </a:srgbClr>
                  </a:outerShdw>
                </a:effectLst>
                <a:latin typeface="+mn-ea"/>
                <a:ea typeface="+mn-ea"/>
              </a:rPr>
              <a:t>基于免疫学的入侵检测</a:t>
            </a:r>
            <a:endParaRPr lang="en-US" altLang="zh-CN" sz="2800" b="1" dirty="0">
              <a:solidFill>
                <a:srgbClr val="FF0000"/>
              </a:solidFill>
              <a:effectLst>
                <a:outerShdw blurRad="38100" dist="38100" dir="2700000" algn="tl">
                  <a:srgbClr val="000000">
                    <a:alpha val="43137"/>
                  </a:srgbClr>
                </a:outerShdw>
              </a:effectLst>
              <a:latin typeface="+mn-ea"/>
              <a:ea typeface="+mn-ea"/>
            </a:endParaRPr>
          </a:p>
        </p:txBody>
      </p:sp>
      <p:pic>
        <p:nvPicPr>
          <p:cNvPr id="7" name="图片 6">
            <a:extLst>
              <a:ext uri="{FF2B5EF4-FFF2-40B4-BE49-F238E27FC236}">
                <a16:creationId xmlns:a16="http://schemas.microsoft.com/office/drawing/2014/main" id="{25012F82-DC99-1F47-B521-B526CD8894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126" y="2033752"/>
            <a:ext cx="7489748" cy="3897487"/>
          </a:xfrm>
          <a:prstGeom prst="rect">
            <a:avLst/>
          </a:prstGeom>
        </p:spPr>
      </p:pic>
    </p:spTree>
    <p:extLst>
      <p:ext uri="{BB962C8B-B14F-4D97-AF65-F5344CB8AC3E}">
        <p14:creationId xmlns:p14="http://schemas.microsoft.com/office/powerpoint/2010/main" val="525823507"/>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44604" y="755649"/>
            <a:ext cx="6513512" cy="487363"/>
          </a:xfrm>
          <a:noFill/>
          <a:ln w="9525">
            <a:noFill/>
            <a:miter lim="800000"/>
          </a:ln>
        </p:spPr>
        <p:txBody>
          <a:bodyPr vert="horz" wrap="square" lIns="91440" tIns="45720" rIns="91440" bIns="45720" numCol="1" anchor="ctr" anchorCtr="0" compatLnSpc="1"/>
          <a:lstStyle/>
          <a:p>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异常检测常用技术</a:t>
            </a:r>
          </a:p>
        </p:txBody>
      </p:sp>
      <p:sp>
        <p:nvSpPr>
          <p:cNvPr id="48131" name="内容占位符 2"/>
          <p:cNvSpPr>
            <a:spLocks noGrp="1"/>
          </p:cNvSpPr>
          <p:nvPr>
            <p:ph idx="1"/>
          </p:nvPr>
        </p:nvSpPr>
        <p:spPr>
          <a:xfrm>
            <a:off x="467544" y="1521667"/>
            <a:ext cx="7745912" cy="1764196"/>
          </a:xfrm>
        </p:spPr>
        <p:txBody>
          <a:bodyPr/>
          <a:lstStyle/>
          <a:p>
            <a:r>
              <a:rPr lang="zh-CN" altLang="en-US" b="1" dirty="0">
                <a:solidFill>
                  <a:srgbClr val="FF0000"/>
                </a:solidFill>
                <a:effectLst>
                  <a:outerShdw blurRad="38100" dist="38100" dir="2700000" algn="tl">
                    <a:srgbClr val="000000">
                      <a:alpha val="43137"/>
                    </a:srgbClr>
                  </a:outerShdw>
                </a:effectLst>
                <a:latin typeface="+mn-ea"/>
              </a:rPr>
              <a:t>基于遗传算法的异常检测技术</a:t>
            </a:r>
            <a:endParaRPr lang="en-US" altLang="zh-CN" b="1" dirty="0">
              <a:solidFill>
                <a:srgbClr val="FF0000"/>
              </a:solidFill>
              <a:effectLst>
                <a:outerShdw blurRad="38100" dist="38100" dir="2700000" algn="tl">
                  <a:srgbClr val="000000">
                    <a:alpha val="43137"/>
                  </a:srgbClr>
                </a:outerShdw>
              </a:effectLst>
              <a:latin typeface="+mn-ea"/>
            </a:endParaRPr>
          </a:p>
          <a:p>
            <a:pPr lvl="1"/>
            <a:r>
              <a:rPr lang="zh-CN" altLang="en-US" sz="2400" b="1" dirty="0">
                <a:solidFill>
                  <a:srgbClr val="0033CC"/>
                </a:solidFill>
                <a:effectLst>
                  <a:outerShdw blurRad="38100" dist="38100" dir="2700000" algn="tl">
                    <a:srgbClr val="000000">
                      <a:alpha val="43137"/>
                    </a:srgbClr>
                  </a:outerShdw>
                </a:effectLst>
                <a:latin typeface="+mn-ea"/>
              </a:rPr>
              <a:t>有两类：</a:t>
            </a:r>
            <a:endParaRPr lang="en-US" altLang="zh-CN" sz="2400" b="1" dirty="0">
              <a:solidFill>
                <a:srgbClr val="0033CC"/>
              </a:solidFill>
              <a:effectLst>
                <a:outerShdw blurRad="38100" dist="38100" dir="2700000" algn="tl">
                  <a:srgbClr val="000000">
                    <a:alpha val="43137"/>
                  </a:srgbClr>
                </a:outerShdw>
              </a:effectLst>
              <a:latin typeface="+mn-ea"/>
            </a:endParaRPr>
          </a:p>
          <a:p>
            <a:pPr lvl="2"/>
            <a:r>
              <a:rPr lang="zh-CN" altLang="en-US" sz="2000" b="1" dirty="0">
                <a:effectLst>
                  <a:outerShdw blurRad="38100" dist="38100" dir="2700000" algn="tl">
                    <a:srgbClr val="000000">
                      <a:alpha val="43137"/>
                    </a:srgbClr>
                  </a:outerShdw>
                </a:effectLst>
                <a:latin typeface="+mn-ea"/>
              </a:rPr>
              <a:t>直接利用遗传算法处理主机获取的信息；</a:t>
            </a:r>
            <a:endParaRPr lang="en-US" altLang="zh-CN" sz="2000" b="1" dirty="0">
              <a:effectLst>
                <a:outerShdw blurRad="38100" dist="38100" dir="2700000" algn="tl">
                  <a:srgbClr val="000000">
                    <a:alpha val="43137"/>
                  </a:srgbClr>
                </a:outerShdw>
              </a:effectLst>
              <a:latin typeface="+mn-ea"/>
            </a:endParaRPr>
          </a:p>
          <a:p>
            <a:pPr lvl="2"/>
            <a:r>
              <a:rPr lang="zh-CN" altLang="en-US" sz="2000" b="1" dirty="0">
                <a:effectLst>
                  <a:outerShdw blurRad="38100" dist="38100" dir="2700000" algn="tl">
                    <a:srgbClr val="000000">
                      <a:alpha val="43137"/>
                    </a:srgbClr>
                  </a:outerShdw>
                </a:effectLst>
                <a:latin typeface="+mn-ea"/>
              </a:rPr>
              <a:t>把遗传算法作为一种辅助手段处理获取的信息</a:t>
            </a:r>
            <a:r>
              <a:rPr lang="zh-CN" altLang="en-US" b="1" dirty="0">
                <a:effectLst>
                  <a:outerShdw blurRad="38100" dist="38100" dir="2700000" algn="tl">
                    <a:srgbClr val="000000">
                      <a:alpha val="43137"/>
                    </a:srgbClr>
                  </a:outerShdw>
                </a:effectLst>
                <a:latin typeface="+mn-ea"/>
              </a:rPr>
              <a:t>。</a:t>
            </a:r>
            <a:endParaRPr lang="en-US" altLang="zh-CN" b="1" dirty="0">
              <a:effectLst>
                <a:outerShdw blurRad="38100" dist="38100" dir="2700000" algn="tl">
                  <a:srgbClr val="000000">
                    <a:alpha val="43137"/>
                  </a:srgbClr>
                </a:outerShdw>
              </a:effectLst>
              <a:latin typeface="+mn-ea"/>
            </a:endParaRPr>
          </a:p>
        </p:txBody>
      </p:sp>
      <p:sp>
        <p:nvSpPr>
          <p:cNvPr id="3" name="矩形 2"/>
          <p:cNvSpPr/>
          <p:nvPr/>
        </p:nvSpPr>
        <p:spPr>
          <a:xfrm>
            <a:off x="544604" y="3465004"/>
            <a:ext cx="7668852" cy="1606594"/>
          </a:xfrm>
          <a:prstGeom prst="rect">
            <a:avLst/>
          </a:prstGeom>
        </p:spPr>
        <p:txBody>
          <a:bodyPr wrap="square">
            <a:spAutoFit/>
          </a:bodyPr>
          <a:lstStyle/>
          <a:p>
            <a:pPr marL="342900" indent="-342900" eaLnBrk="0" hangingPunct="0">
              <a:spcBef>
                <a:spcPct val="20000"/>
              </a:spcBef>
              <a:buClr>
                <a:srgbClr val="3399FF"/>
              </a:buClr>
              <a:buFont typeface="Wingdings" panose="05000000000000000000" pitchFamily="2" charset="2"/>
              <a:buChar char="v"/>
            </a:pPr>
            <a:r>
              <a:rPr lang="zh-CN" altLang="en-US" sz="2800" b="1" dirty="0">
                <a:solidFill>
                  <a:srgbClr val="FF0000"/>
                </a:solidFill>
                <a:effectLst>
                  <a:outerShdw blurRad="38100" dist="38100" dir="2700000" algn="tl">
                    <a:srgbClr val="000000">
                      <a:alpha val="43137"/>
                    </a:srgbClr>
                  </a:outerShdw>
                </a:effectLst>
                <a:latin typeface="+mn-ea"/>
                <a:ea typeface="+mn-ea"/>
              </a:rPr>
              <a:t>基于支持向量机的异常检测技术</a:t>
            </a:r>
            <a:endParaRPr lang="en-US" altLang="zh-CN" sz="2800" b="1" dirty="0">
              <a:solidFill>
                <a:srgbClr val="FF0000"/>
              </a:solidFill>
              <a:effectLst>
                <a:outerShdw blurRad="38100" dist="38100" dir="2700000" algn="tl">
                  <a:srgbClr val="000000">
                    <a:alpha val="43137"/>
                  </a:srgbClr>
                </a:outerShdw>
              </a:effectLst>
              <a:latin typeface="+mn-ea"/>
              <a:ea typeface="+mn-ea"/>
            </a:endParaRPr>
          </a:p>
          <a:p>
            <a:pPr marL="742950" lvl="1" indent="-285750" eaLnBrk="0" hangingPunct="0">
              <a:spcBef>
                <a:spcPct val="20000"/>
              </a:spcBef>
              <a:buClr>
                <a:srgbClr val="FF9900"/>
              </a:buClr>
              <a:buFont typeface="Wingdings" panose="05000000000000000000" pitchFamily="2" charset="2"/>
              <a:buChar char="§"/>
            </a:pPr>
            <a:r>
              <a:rPr lang="zh-CN" altLang="en-US" sz="2200" b="1" dirty="0">
                <a:effectLst>
                  <a:outerShdw blurRad="38100" dist="38100" dir="2700000" algn="tl">
                    <a:srgbClr val="000000">
                      <a:alpha val="43137"/>
                    </a:srgbClr>
                  </a:outerShdw>
                </a:effectLst>
                <a:latin typeface="+mn-ea"/>
                <a:ea typeface="+mn-ea"/>
              </a:rPr>
              <a:t>其理论基础是最在边缘算法，其思想是针对两分类问题，在高维空间中寻找一个超平面作为两类的分割，以保证最小的分类错误率。</a:t>
            </a:r>
            <a:endParaRPr lang="en-US" altLang="zh-CN" sz="2200" b="1" dirty="0">
              <a:effectLst>
                <a:outerShdw blurRad="38100" dist="38100" dir="2700000" algn="tl">
                  <a:srgbClr val="000000">
                    <a:alpha val="43137"/>
                  </a:srgbClr>
                </a:outerShdw>
              </a:effectLst>
              <a:latin typeface="+mn-ea"/>
              <a:ea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animEffect transition="in" filter="wipe(up)">
                                      <p:cBhvr>
                                        <p:cTn id="7" dur="500"/>
                                        <p:tgtEl>
                                          <p:spTgt spid="48131">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48131">
                                            <p:txEl>
                                              <p:pRg st="1" end="1"/>
                                            </p:txEl>
                                          </p:spTgt>
                                        </p:tgtEl>
                                        <p:attrNameLst>
                                          <p:attrName>style.visibility</p:attrName>
                                        </p:attrNameLst>
                                      </p:cBhvr>
                                      <p:to>
                                        <p:strVal val="visible"/>
                                      </p:to>
                                    </p:set>
                                    <p:animEffect transition="in" filter="wipe(up)">
                                      <p:cBhvr>
                                        <p:cTn id="11" dur="500"/>
                                        <p:tgtEl>
                                          <p:spTgt spid="48131">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48131">
                                            <p:txEl>
                                              <p:pRg st="2" end="2"/>
                                            </p:txEl>
                                          </p:spTgt>
                                        </p:tgtEl>
                                        <p:attrNameLst>
                                          <p:attrName>style.visibility</p:attrName>
                                        </p:attrNameLst>
                                      </p:cBhvr>
                                      <p:to>
                                        <p:strVal val="visible"/>
                                      </p:to>
                                    </p:set>
                                    <p:animEffect transition="in" filter="wipe(up)">
                                      <p:cBhvr>
                                        <p:cTn id="15" dur="500"/>
                                        <p:tgtEl>
                                          <p:spTgt spid="48131">
                                            <p:txEl>
                                              <p:pRg st="2" end="2"/>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48131">
                                            <p:txEl>
                                              <p:pRg st="3" end="3"/>
                                            </p:txEl>
                                          </p:spTgt>
                                        </p:tgtEl>
                                        <p:attrNameLst>
                                          <p:attrName>style.visibility</p:attrName>
                                        </p:attrNameLst>
                                      </p:cBhvr>
                                      <p:to>
                                        <p:strVal val="visible"/>
                                      </p:to>
                                    </p:set>
                                    <p:animEffect transition="in" filter="wipe(up)">
                                      <p:cBhvr>
                                        <p:cTn id="19" dur="500"/>
                                        <p:tgtEl>
                                          <p:spTgt spid="48131">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up)">
                                      <p:cBhvr>
                                        <p:cTn id="2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uild="p"/>
      <p:bldP spid="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idx="4294967295"/>
          </p:nvPr>
        </p:nvSpPr>
        <p:spPr>
          <a:xfrm>
            <a:off x="575556" y="836712"/>
            <a:ext cx="6300700" cy="512676"/>
          </a:xfrm>
          <a:noFill/>
          <a:ln w="9525">
            <a:noFill/>
            <a:miter lim="800000"/>
          </a:ln>
        </p:spPr>
        <p:txBody>
          <a:bodyPr vert="horz" wrap="square" lIns="91440" tIns="45720" rIns="91440" bIns="45720" numCol="1" anchor="ctr" anchorCtr="0" compatLnSpc="1"/>
          <a:lstStyle/>
          <a:p>
            <a:r>
              <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8.8 </a:t>
            </a:r>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特征检测</a:t>
            </a:r>
            <a:r>
              <a:rPr lang="en-US" altLang="zh-CN" sz="2800"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(misuse detection)</a:t>
            </a:r>
            <a:endPar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53253" name="Rectangle 6"/>
          <p:cNvSpPr>
            <a:spLocks noChangeArrowheads="1"/>
          </p:cNvSpPr>
          <p:nvPr/>
        </p:nvSpPr>
        <p:spPr bwMode="auto">
          <a:xfrm>
            <a:off x="575556" y="2378784"/>
            <a:ext cx="7668852" cy="3642504"/>
          </a:xfrm>
          <a:prstGeom prst="rect">
            <a:avLst/>
          </a:prstGeom>
          <a:noFill/>
          <a:ln w="9525">
            <a:noFill/>
            <a:miter lim="800000"/>
          </a:ln>
        </p:spPr>
        <p:txBody>
          <a:bodyPr lIns="92075" tIns="46038" rIns="92075" bIns="46038"/>
          <a:lstStyle/>
          <a:p>
            <a:pPr marL="285750" indent="-285750" eaLnBrk="0" hangingPunct="0">
              <a:spcBef>
                <a:spcPct val="20000"/>
              </a:spcBef>
              <a:buClr>
                <a:srgbClr val="3399FF"/>
              </a:buClr>
              <a:buFont typeface="Wingdings" panose="05000000000000000000" pitchFamily="2" charset="2"/>
              <a:buChar char="v"/>
            </a:pPr>
            <a:r>
              <a:rPr lang="zh-CN" altLang="en-US" sz="2200" b="1" dirty="0">
                <a:effectLst>
                  <a:outerShdw blurRad="38100" dist="38100" dir="2700000" algn="tl">
                    <a:srgbClr val="000000">
                      <a:alpha val="43137"/>
                    </a:srgbClr>
                  </a:outerShdw>
                </a:effectLst>
                <a:latin typeface="+mn-ea"/>
                <a:ea typeface="+mn-ea"/>
              </a:rPr>
              <a:t>也称为</a:t>
            </a:r>
            <a:r>
              <a:rPr lang="zh-CN" altLang="en-US" sz="2800" b="1" dirty="0">
                <a:solidFill>
                  <a:srgbClr val="FF0000"/>
                </a:solidFill>
                <a:effectLst>
                  <a:outerShdw blurRad="38100" dist="38100" dir="2700000" algn="tl">
                    <a:srgbClr val="000000">
                      <a:alpha val="43137"/>
                    </a:srgbClr>
                  </a:outerShdw>
                </a:effectLst>
                <a:latin typeface="+mn-ea"/>
                <a:ea typeface="+mn-ea"/>
              </a:rPr>
              <a:t>误用检测</a:t>
            </a:r>
            <a:endParaRPr lang="en-US" altLang="zh-CN" sz="2800" b="1" dirty="0">
              <a:solidFill>
                <a:srgbClr val="FF0000"/>
              </a:solidFill>
              <a:effectLst>
                <a:outerShdw blurRad="38100" dist="38100" dir="2700000" algn="tl">
                  <a:srgbClr val="000000">
                    <a:alpha val="43137"/>
                  </a:srgbClr>
                </a:outerShdw>
              </a:effectLst>
              <a:latin typeface="+mn-ea"/>
              <a:ea typeface="+mn-ea"/>
            </a:endParaRPr>
          </a:p>
          <a:p>
            <a:pPr marL="285750" indent="-285750" eaLnBrk="0" hangingPunct="0">
              <a:spcBef>
                <a:spcPct val="20000"/>
              </a:spcBef>
              <a:buClr>
                <a:srgbClr val="3399FF"/>
              </a:buClr>
              <a:buFont typeface="Wingdings" panose="05000000000000000000" pitchFamily="2" charset="2"/>
              <a:buChar char="v"/>
            </a:pPr>
            <a:r>
              <a:rPr lang="zh-CN" altLang="en-US" sz="2200" b="1" dirty="0">
                <a:effectLst>
                  <a:outerShdw blurRad="38100" dist="38100" dir="2700000" algn="tl">
                    <a:srgbClr val="000000">
                      <a:alpha val="43137"/>
                    </a:srgbClr>
                  </a:outerShdw>
                </a:effectLst>
                <a:latin typeface="+mn-ea"/>
                <a:ea typeface="+mn-ea"/>
              </a:rPr>
              <a:t>是针对已知（类似）的攻击行为和间接的违背系统安全策略行为的检测，攻击和系统漏洞库是特征检测的基础。</a:t>
            </a:r>
            <a:endParaRPr lang="en-US" altLang="zh-CN" sz="2200" b="1" dirty="0">
              <a:effectLst>
                <a:outerShdw blurRad="38100" dist="38100" dir="2700000" algn="tl">
                  <a:srgbClr val="000000">
                    <a:alpha val="43137"/>
                  </a:srgbClr>
                </a:outerShdw>
              </a:effectLst>
              <a:latin typeface="+mn-ea"/>
              <a:ea typeface="+mn-ea"/>
            </a:endParaRPr>
          </a:p>
          <a:p>
            <a:pPr marL="285750" indent="-285750" eaLnBrk="0" hangingPunct="0">
              <a:spcBef>
                <a:spcPct val="20000"/>
              </a:spcBef>
              <a:buClr>
                <a:srgbClr val="3399FF"/>
              </a:buClr>
              <a:buFont typeface="Wingdings" panose="05000000000000000000" pitchFamily="2" charset="2"/>
              <a:buChar char="v"/>
            </a:pPr>
            <a:r>
              <a:rPr lang="zh-CN" altLang="en-US" sz="2200" b="1" dirty="0">
                <a:solidFill>
                  <a:srgbClr val="000000"/>
                </a:solidFill>
                <a:effectLst>
                  <a:outerShdw blurRad="38100" dist="38100" dir="2700000" algn="tl">
                    <a:srgbClr val="000000">
                      <a:alpha val="43137"/>
                    </a:srgbClr>
                  </a:outerShdw>
                </a:effectLst>
                <a:latin typeface="+mn-ea"/>
                <a:ea typeface="+mn-ea"/>
              </a:rPr>
              <a:t>建立入侵行为模型</a:t>
            </a:r>
            <a:r>
              <a:rPr lang="en-US" altLang="zh-CN" sz="2200" b="1" dirty="0">
                <a:solidFill>
                  <a:srgbClr val="000000"/>
                </a:solidFill>
                <a:effectLst>
                  <a:outerShdw blurRad="38100" dist="38100" dir="2700000" algn="tl">
                    <a:srgbClr val="000000">
                      <a:alpha val="43137"/>
                    </a:srgbClr>
                  </a:outerShdw>
                </a:effectLst>
                <a:latin typeface="+mn-ea"/>
                <a:ea typeface="+mn-ea"/>
              </a:rPr>
              <a:t>(</a:t>
            </a:r>
            <a:r>
              <a:rPr lang="zh-CN" altLang="en-US" sz="2200" b="1" dirty="0">
                <a:solidFill>
                  <a:srgbClr val="000000"/>
                </a:solidFill>
                <a:effectLst>
                  <a:outerShdw blurRad="38100" dist="38100" dir="2700000" algn="tl">
                    <a:srgbClr val="000000">
                      <a:alpha val="43137"/>
                    </a:srgbClr>
                  </a:outerShdw>
                </a:effectLst>
                <a:latin typeface="+mn-ea"/>
                <a:ea typeface="+mn-ea"/>
              </a:rPr>
              <a:t>攻击特征库</a:t>
            </a:r>
            <a:r>
              <a:rPr lang="en-US" altLang="zh-CN" sz="2200" b="1" dirty="0">
                <a:solidFill>
                  <a:srgbClr val="000000"/>
                </a:solidFill>
                <a:effectLst>
                  <a:outerShdw blurRad="38100" dist="38100" dir="2700000" algn="tl">
                    <a:srgbClr val="000000">
                      <a:alpha val="43137"/>
                    </a:srgbClr>
                  </a:outerShdw>
                </a:effectLst>
                <a:latin typeface="+mn-ea"/>
                <a:ea typeface="+mn-ea"/>
              </a:rPr>
              <a:t>)</a:t>
            </a:r>
            <a:r>
              <a:rPr lang="zh-CN" altLang="en-US" sz="2200" b="1" dirty="0">
                <a:solidFill>
                  <a:srgbClr val="000000"/>
                </a:solidFill>
                <a:effectLst>
                  <a:outerShdw blurRad="38100" dist="38100" dir="2700000" algn="tl">
                    <a:srgbClr val="000000">
                      <a:alpha val="43137"/>
                    </a:srgbClr>
                  </a:outerShdw>
                </a:effectLst>
                <a:latin typeface="+mn-ea"/>
                <a:ea typeface="+mn-ea"/>
              </a:rPr>
              <a:t>；</a:t>
            </a:r>
            <a:endParaRPr lang="en-US" altLang="zh-CN" sz="2200" b="1" dirty="0">
              <a:solidFill>
                <a:srgbClr val="000000"/>
              </a:solidFill>
              <a:effectLst>
                <a:outerShdw blurRad="38100" dist="38100" dir="2700000" algn="tl">
                  <a:srgbClr val="000000">
                    <a:alpha val="43137"/>
                  </a:srgbClr>
                </a:outerShdw>
              </a:effectLst>
              <a:latin typeface="+mn-ea"/>
              <a:ea typeface="+mn-ea"/>
            </a:endParaRPr>
          </a:p>
          <a:p>
            <a:pPr marL="285750" indent="-285750" eaLnBrk="0" hangingPunct="0">
              <a:spcBef>
                <a:spcPct val="20000"/>
              </a:spcBef>
              <a:buClr>
                <a:srgbClr val="3399FF"/>
              </a:buClr>
              <a:buFont typeface="Wingdings" panose="05000000000000000000" pitchFamily="2" charset="2"/>
              <a:buChar char="v"/>
            </a:pPr>
            <a:r>
              <a:rPr lang="zh-CN" altLang="en-US" sz="2200" b="1" dirty="0">
                <a:solidFill>
                  <a:srgbClr val="000000"/>
                </a:solidFill>
                <a:effectLst>
                  <a:outerShdw blurRad="38100" dist="38100" dir="2700000" algn="tl">
                    <a:srgbClr val="000000">
                      <a:alpha val="43137"/>
                    </a:srgbClr>
                  </a:outerShdw>
                </a:effectLst>
                <a:latin typeface="+mn-ea"/>
                <a:ea typeface="+mn-ea"/>
              </a:rPr>
              <a:t>判别当前行为活动是否符合已知的攻击模式</a:t>
            </a:r>
          </a:p>
          <a:p>
            <a:pPr marL="285750" indent="-285750" eaLnBrk="0" hangingPunct="0">
              <a:spcBef>
                <a:spcPct val="20000"/>
              </a:spcBef>
              <a:buClr>
                <a:srgbClr val="3399FF"/>
              </a:buClr>
              <a:buFont typeface="Wingdings" panose="05000000000000000000" pitchFamily="2" charset="2"/>
              <a:buChar char="v"/>
            </a:pPr>
            <a:r>
              <a:rPr lang="zh-CN" altLang="en-US" sz="2200" b="1" dirty="0">
                <a:solidFill>
                  <a:srgbClr val="000000"/>
                </a:solidFill>
                <a:effectLst>
                  <a:outerShdw blurRad="38100" dist="38100" dir="2700000" algn="tl">
                    <a:srgbClr val="000000">
                      <a:alpha val="43137"/>
                    </a:srgbClr>
                  </a:outerShdw>
                </a:effectLst>
                <a:latin typeface="+mn-ea"/>
                <a:ea typeface="+mn-ea"/>
              </a:rPr>
              <a:t>假设可以识别和表示所有可能的特征；</a:t>
            </a:r>
          </a:p>
          <a:p>
            <a:pPr marL="285750" indent="-285750" eaLnBrk="0" hangingPunct="0">
              <a:spcBef>
                <a:spcPct val="20000"/>
              </a:spcBef>
              <a:buClr>
                <a:srgbClr val="3399FF"/>
              </a:buClr>
              <a:buFont typeface="Wingdings" panose="05000000000000000000" pitchFamily="2" charset="2"/>
              <a:buChar char="v"/>
            </a:pPr>
            <a:r>
              <a:rPr lang="zh-CN" altLang="en-US" sz="2200" b="1" dirty="0">
                <a:solidFill>
                  <a:srgbClr val="000000"/>
                </a:solidFill>
                <a:effectLst>
                  <a:outerShdw blurRad="38100" dist="38100" dir="2700000" algn="tl">
                    <a:srgbClr val="000000">
                      <a:alpha val="43137"/>
                    </a:srgbClr>
                  </a:outerShdw>
                </a:effectLst>
                <a:latin typeface="+mn-ea"/>
                <a:ea typeface="+mn-ea"/>
              </a:rPr>
              <a:t>基于系统的和基于用户；</a:t>
            </a:r>
            <a:endParaRPr lang="en-US" altLang="zh-CN" sz="2200" b="1" dirty="0">
              <a:solidFill>
                <a:srgbClr val="000000"/>
              </a:solidFill>
              <a:effectLst>
                <a:outerShdw blurRad="38100" dist="38100" dir="2700000" algn="tl">
                  <a:srgbClr val="000000">
                    <a:alpha val="43137"/>
                  </a:srgbClr>
                </a:outerShdw>
              </a:effectLst>
              <a:latin typeface="+mn-ea"/>
              <a:ea typeface="+mn-ea"/>
            </a:endParaRPr>
          </a:p>
          <a:p>
            <a:pPr marL="285750" indent="-285750" eaLnBrk="0" hangingPunct="0">
              <a:spcBef>
                <a:spcPct val="20000"/>
              </a:spcBef>
              <a:buClr>
                <a:srgbClr val="3399FF"/>
              </a:buClr>
              <a:buFont typeface="Wingdings" panose="05000000000000000000" pitchFamily="2" charset="2"/>
              <a:buChar char="v"/>
            </a:pPr>
            <a:r>
              <a:rPr lang="zh-CN" altLang="en-US" sz="2200" b="1" dirty="0">
                <a:solidFill>
                  <a:srgbClr val="000000"/>
                </a:solidFill>
                <a:effectLst>
                  <a:outerShdw blurRad="38100" dist="38100" dir="2700000" algn="tl">
                    <a:srgbClr val="000000">
                      <a:alpha val="43137"/>
                    </a:srgbClr>
                  </a:outerShdw>
                </a:effectLst>
                <a:latin typeface="+mn-ea"/>
                <a:ea typeface="+mn-ea"/>
              </a:rPr>
              <a:t>目前研究工作比较多，并且已经进入实用</a:t>
            </a:r>
            <a:endParaRPr lang="zh-CN" altLang="zh-CN" sz="2200" b="1" dirty="0">
              <a:solidFill>
                <a:srgbClr val="000000"/>
              </a:solidFill>
              <a:effectLst>
                <a:outerShdw blurRad="38100" dist="38100" dir="2700000" algn="tl">
                  <a:srgbClr val="000000">
                    <a:alpha val="43137"/>
                  </a:srgbClr>
                </a:outerShdw>
              </a:effectLst>
              <a:latin typeface="+mn-ea"/>
              <a:ea typeface="+mn-ea"/>
            </a:endParaRPr>
          </a:p>
          <a:p>
            <a:pPr marL="285750" indent="-285750" eaLnBrk="0" hangingPunct="0">
              <a:spcBef>
                <a:spcPct val="20000"/>
              </a:spcBef>
              <a:buClr>
                <a:srgbClr val="3399FF"/>
              </a:buClr>
              <a:buFont typeface="Wingdings" panose="05000000000000000000" pitchFamily="2" charset="2"/>
              <a:buChar char="v"/>
            </a:pPr>
            <a:endParaRPr lang="zh-CN" altLang="en-US" sz="2200" b="1" dirty="0">
              <a:solidFill>
                <a:srgbClr val="000000"/>
              </a:solidFill>
              <a:effectLst>
                <a:outerShdw blurRad="38100" dist="38100" dir="2700000" algn="tl">
                  <a:srgbClr val="000000">
                    <a:alpha val="43137"/>
                  </a:srgbClr>
                </a:outerShdw>
              </a:effectLst>
              <a:latin typeface="+mn-ea"/>
              <a:ea typeface="+mn-ea"/>
            </a:endParaRPr>
          </a:p>
        </p:txBody>
      </p:sp>
      <p:sp>
        <p:nvSpPr>
          <p:cNvPr id="2" name="文本框 1">
            <a:extLst>
              <a:ext uri="{FF2B5EF4-FFF2-40B4-BE49-F238E27FC236}">
                <a16:creationId xmlns:a16="http://schemas.microsoft.com/office/drawing/2014/main" id="{C9159C5B-83E3-AD4B-86F3-0C492940A647}"/>
              </a:ext>
            </a:extLst>
          </p:cNvPr>
          <p:cNvSpPr txBox="1"/>
          <p:nvPr/>
        </p:nvSpPr>
        <p:spPr>
          <a:xfrm>
            <a:off x="330350" y="1540920"/>
            <a:ext cx="8483300" cy="646331"/>
          </a:xfrm>
          <a:prstGeom prst="rect">
            <a:avLst/>
          </a:prstGeom>
          <a:noFill/>
        </p:spPr>
        <p:txBody>
          <a:bodyPr wrap="square" rtlCol="0">
            <a:spAutoFit/>
          </a:bodyPr>
          <a:lstStyle/>
          <a:p>
            <a:r>
              <a:rPr lang="zh-CN" altLang="en-US" dirty="0"/>
              <a:t>特征检测是指运用已知攻击方法</a:t>
            </a:r>
            <a:r>
              <a:rPr lang="en-US" altLang="zh-CN" dirty="0"/>
              <a:t>,</a:t>
            </a:r>
            <a:r>
              <a:rPr lang="zh-CN" altLang="en-US" dirty="0"/>
              <a:t>根据已定义好的入侵模式</a:t>
            </a:r>
            <a:r>
              <a:rPr lang="en-US" altLang="zh-CN" dirty="0"/>
              <a:t>,</a:t>
            </a:r>
            <a:r>
              <a:rPr lang="zh-CN" altLang="en-US" dirty="0"/>
              <a:t>通过判断这些入侵模式是否出现来检测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3253"/>
                                        </p:tgtEl>
                                        <p:attrNameLst>
                                          <p:attrName>style.visibility</p:attrName>
                                        </p:attrNameLst>
                                      </p:cBhvr>
                                      <p:to>
                                        <p:strVal val="visible"/>
                                      </p:to>
                                    </p:set>
                                    <p:animEffect transition="in" filter="wipe(up)">
                                      <p:cBhvr>
                                        <p:cTn id="7" dur="500"/>
                                        <p:tgtEl>
                                          <p:spTgt spid="53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3"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6CEF8F26-12F2-4C9D-ADB9-4D71A38F7FB5}" type="slidenum">
              <a:rPr lang="zh-CN" altLang="en-US" smtClean="0"/>
              <a:t>63</a:t>
            </a:fld>
            <a:endParaRPr lang="en-US" altLang="zh-CN"/>
          </a:p>
        </p:txBody>
      </p:sp>
      <p:sp>
        <p:nvSpPr>
          <p:cNvPr id="4" name="矩形 3"/>
          <p:cNvSpPr/>
          <p:nvPr/>
        </p:nvSpPr>
        <p:spPr>
          <a:xfrm>
            <a:off x="671606" y="3836294"/>
            <a:ext cx="6896376" cy="1261884"/>
          </a:xfrm>
          <a:prstGeom prst="rect">
            <a:avLst/>
          </a:prstGeom>
        </p:spPr>
        <p:txBody>
          <a:bodyPr wrap="square">
            <a:spAutoFit/>
          </a:bodyPr>
          <a:lstStyle/>
          <a:p>
            <a:pPr marL="342900" indent="-342900" eaLnBrk="0" hangingPunct="0">
              <a:spcBef>
                <a:spcPct val="20000"/>
              </a:spcBef>
              <a:buClr>
                <a:srgbClr val="3399FF"/>
              </a:buClr>
              <a:buFont typeface="Wingdings" panose="05000000000000000000" pitchFamily="2" charset="2"/>
              <a:buChar char="v"/>
            </a:pPr>
            <a:r>
              <a:rPr lang="zh-CN" altLang="en-US" sz="2400" b="1" dirty="0">
                <a:solidFill>
                  <a:srgbClr val="FF0000"/>
                </a:solidFill>
                <a:effectLst>
                  <a:outerShdw blurRad="38100" dist="38100" dir="2700000" algn="tl">
                    <a:srgbClr val="000000">
                      <a:alpha val="43137"/>
                    </a:srgbClr>
                  </a:outerShdw>
                </a:effectLst>
                <a:latin typeface="+mn-ea"/>
                <a:ea typeface="+mn-ea"/>
              </a:rPr>
              <a:t>数据来源</a:t>
            </a:r>
            <a:r>
              <a:rPr lang="zh-CN" altLang="en-US" sz="2800" b="1" dirty="0">
                <a:latin typeface="宋体" panose="02010600030101010101" pitchFamily="2" charset="-122"/>
              </a:rPr>
              <a:t>	</a:t>
            </a:r>
          </a:p>
          <a:p>
            <a:pPr lvl="1" indent="266700" eaLnBrk="0" hangingPunct="0">
              <a:spcBef>
                <a:spcPct val="20000"/>
              </a:spcBef>
              <a:buClr>
                <a:srgbClr val="FF9900"/>
              </a:buClr>
              <a:buSzPct val="50000"/>
              <a:buFont typeface="Wingdings" panose="05000000000000000000" pitchFamily="2" charset="2"/>
              <a:buChar char="n"/>
            </a:pPr>
            <a:r>
              <a:rPr lang="zh-CN" altLang="en-US" sz="2000" b="1" dirty="0">
                <a:solidFill>
                  <a:srgbClr val="000000"/>
                </a:solidFill>
                <a:effectLst>
                  <a:outerShdw blurRad="38100" dist="38100" dir="2700000" algn="tl">
                    <a:srgbClr val="000000">
                      <a:alpha val="43137"/>
                    </a:srgbClr>
                  </a:outerShdw>
                </a:effectLst>
                <a:latin typeface="+mn-ea"/>
                <a:ea typeface="+mn-ea"/>
              </a:rPr>
              <a:t>审计日志或网络流量</a:t>
            </a:r>
            <a:endParaRPr lang="en-US" altLang="zh-CN" sz="2000" b="1" dirty="0">
              <a:solidFill>
                <a:srgbClr val="000000"/>
              </a:solidFill>
              <a:effectLst>
                <a:outerShdw blurRad="38100" dist="38100" dir="2700000" algn="tl">
                  <a:srgbClr val="000000">
                    <a:alpha val="43137"/>
                  </a:srgbClr>
                </a:outerShdw>
              </a:effectLst>
              <a:latin typeface="+mn-ea"/>
              <a:ea typeface="+mn-ea"/>
            </a:endParaRPr>
          </a:p>
          <a:p>
            <a:pPr lvl="1" indent="266700" eaLnBrk="0" hangingPunct="0">
              <a:spcBef>
                <a:spcPct val="20000"/>
              </a:spcBef>
              <a:buClr>
                <a:srgbClr val="FF9900"/>
              </a:buClr>
              <a:buSzPct val="50000"/>
              <a:buFont typeface="Wingdings" panose="05000000000000000000" pitchFamily="2" charset="2"/>
              <a:buChar char="n"/>
            </a:pPr>
            <a:r>
              <a:rPr lang="zh-CN" altLang="en-US" sz="2000" b="1" dirty="0">
                <a:solidFill>
                  <a:srgbClr val="000000"/>
                </a:solidFill>
                <a:effectLst>
                  <a:outerShdw blurRad="38100" dist="38100" dir="2700000" algn="tl">
                    <a:srgbClr val="000000">
                      <a:alpha val="43137"/>
                    </a:srgbClr>
                  </a:outerShdw>
                </a:effectLst>
                <a:latin typeface="+mn-ea"/>
                <a:ea typeface="+mn-ea"/>
              </a:rPr>
              <a:t>特殊用途的数据收集机制</a:t>
            </a:r>
            <a:endParaRPr lang="en-US" altLang="zh-CN" sz="2000" b="1" dirty="0">
              <a:solidFill>
                <a:srgbClr val="000000"/>
              </a:solidFill>
              <a:effectLst>
                <a:outerShdw blurRad="38100" dist="38100" dir="2700000" algn="tl">
                  <a:srgbClr val="000000">
                    <a:alpha val="43137"/>
                  </a:srgbClr>
                </a:outerShdw>
              </a:effectLst>
              <a:latin typeface="+mn-ea"/>
              <a:ea typeface="+mn-ea"/>
            </a:endParaRPr>
          </a:p>
        </p:txBody>
      </p:sp>
      <p:sp>
        <p:nvSpPr>
          <p:cNvPr id="5" name="矩形 4"/>
          <p:cNvSpPr/>
          <p:nvPr/>
        </p:nvSpPr>
        <p:spPr>
          <a:xfrm>
            <a:off x="647564" y="2276872"/>
            <a:ext cx="7373889" cy="1569660"/>
          </a:xfrm>
          <a:prstGeom prst="rect">
            <a:avLst/>
          </a:prstGeom>
        </p:spPr>
        <p:txBody>
          <a:bodyPr wrap="square">
            <a:spAutoFit/>
          </a:bodyPr>
          <a:lstStyle/>
          <a:p>
            <a:pPr marL="285750" indent="-285750" eaLnBrk="0" hangingPunct="0">
              <a:spcBef>
                <a:spcPct val="20000"/>
              </a:spcBef>
              <a:buClr>
                <a:srgbClr val="3399FF"/>
              </a:buClr>
              <a:buFont typeface="Wingdings" panose="05000000000000000000" pitchFamily="2" charset="2"/>
              <a:buChar char="v"/>
            </a:pPr>
            <a:r>
              <a:rPr lang="zh-CN" altLang="en-US" sz="2400" b="1" dirty="0">
                <a:solidFill>
                  <a:srgbClr val="FF0000"/>
                </a:solidFill>
                <a:effectLst>
                  <a:outerShdw blurRad="38100" dist="38100" dir="2700000" algn="tl">
                    <a:srgbClr val="000000">
                      <a:alpha val="43137"/>
                    </a:srgbClr>
                  </a:outerShdw>
                </a:effectLst>
                <a:latin typeface="+mn-ea"/>
                <a:ea typeface="+mn-ea"/>
              </a:rPr>
              <a:t>关键问题：</a:t>
            </a:r>
          </a:p>
          <a:p>
            <a:pPr lvl="1" indent="266700" eaLnBrk="0" hangingPunct="0">
              <a:spcBef>
                <a:spcPct val="20000"/>
              </a:spcBef>
              <a:buClr>
                <a:srgbClr val="FF9900"/>
              </a:buClr>
              <a:buSzPct val="50000"/>
              <a:buFont typeface="Wingdings" panose="05000000000000000000" pitchFamily="2" charset="2"/>
              <a:buChar char="n"/>
            </a:pPr>
            <a:r>
              <a:rPr lang="zh-CN" altLang="en-US" sz="2000" b="1" dirty="0">
                <a:solidFill>
                  <a:srgbClr val="000000"/>
                </a:solidFill>
                <a:effectLst>
                  <a:outerShdw blurRad="38100" dist="38100" dir="2700000" algn="tl">
                    <a:srgbClr val="000000">
                      <a:alpha val="43137"/>
                    </a:srgbClr>
                  </a:outerShdw>
                </a:effectLst>
                <a:latin typeface="+mn-ea"/>
                <a:ea typeface="+mn-ea"/>
              </a:rPr>
              <a:t>有所有的攻击特征，建立完备的特征库；</a:t>
            </a:r>
          </a:p>
          <a:p>
            <a:pPr lvl="1" indent="266700" eaLnBrk="0" hangingPunct="0">
              <a:spcBef>
                <a:spcPct val="20000"/>
              </a:spcBef>
              <a:buClr>
                <a:srgbClr val="FF9900"/>
              </a:buClr>
              <a:buSzPct val="50000"/>
              <a:buFont typeface="Wingdings" panose="05000000000000000000" pitchFamily="2" charset="2"/>
              <a:buChar char="n"/>
            </a:pPr>
            <a:r>
              <a:rPr lang="zh-CN" altLang="en-US" sz="2000" b="1" dirty="0">
                <a:solidFill>
                  <a:srgbClr val="000000"/>
                </a:solidFill>
                <a:effectLst>
                  <a:outerShdw blurRad="38100" dist="38100" dir="2700000" algn="tl">
                    <a:srgbClr val="000000">
                      <a:alpha val="43137"/>
                    </a:srgbClr>
                  </a:outerShdw>
                </a:effectLst>
                <a:latin typeface="+mn-ea"/>
                <a:ea typeface="+mn-ea"/>
              </a:rPr>
              <a:t>特征库要不断更新（动态性）；</a:t>
            </a:r>
          </a:p>
          <a:p>
            <a:pPr lvl="1" indent="266700" eaLnBrk="0" hangingPunct="0">
              <a:spcBef>
                <a:spcPct val="20000"/>
              </a:spcBef>
              <a:buClr>
                <a:srgbClr val="FF9900"/>
              </a:buClr>
              <a:buSzPct val="50000"/>
              <a:buFont typeface="Wingdings" panose="05000000000000000000" pitchFamily="2" charset="2"/>
              <a:buChar char="n"/>
            </a:pPr>
            <a:r>
              <a:rPr lang="zh-CN" altLang="en-US" sz="2000" b="1" dirty="0">
                <a:solidFill>
                  <a:srgbClr val="000000"/>
                </a:solidFill>
                <a:effectLst>
                  <a:outerShdw blurRad="38100" dist="38100" dir="2700000" algn="tl">
                    <a:srgbClr val="000000">
                      <a:alpha val="43137"/>
                    </a:srgbClr>
                  </a:outerShdw>
                </a:effectLst>
                <a:latin typeface="+mn-ea"/>
                <a:ea typeface="+mn-ea"/>
              </a:rPr>
              <a:t>无法检测新的入侵。</a:t>
            </a:r>
            <a:endParaRPr lang="en-US" altLang="zh-CN" sz="2000" b="1" dirty="0">
              <a:solidFill>
                <a:srgbClr val="000000"/>
              </a:solidFill>
              <a:effectLst>
                <a:outerShdw blurRad="38100" dist="38100" dir="2700000" algn="tl">
                  <a:srgbClr val="000000">
                    <a:alpha val="43137"/>
                  </a:srgbClr>
                </a:outerShdw>
              </a:effectLst>
              <a:latin typeface="+mn-ea"/>
              <a:ea typeface="+mn-ea"/>
            </a:endParaRPr>
          </a:p>
        </p:txBody>
      </p:sp>
      <p:sp>
        <p:nvSpPr>
          <p:cNvPr id="6" name="矩形 5"/>
          <p:cNvSpPr/>
          <p:nvPr/>
        </p:nvSpPr>
        <p:spPr>
          <a:xfrm>
            <a:off x="671606" y="970431"/>
            <a:ext cx="4572000" cy="1200329"/>
          </a:xfrm>
          <a:prstGeom prst="rect">
            <a:avLst/>
          </a:prstGeom>
        </p:spPr>
        <p:txBody>
          <a:bodyPr>
            <a:spAutoFit/>
          </a:bodyPr>
          <a:lstStyle/>
          <a:p>
            <a:pPr marL="285750" indent="-285750" eaLnBrk="0" hangingPunct="0">
              <a:spcBef>
                <a:spcPct val="20000"/>
              </a:spcBef>
              <a:buClr>
                <a:srgbClr val="3399FF"/>
              </a:buClr>
              <a:buFont typeface="Wingdings" panose="05000000000000000000" pitchFamily="2" charset="2"/>
              <a:buChar char="v"/>
            </a:pPr>
            <a:r>
              <a:rPr lang="zh-CN" altLang="en-US" sz="2400" b="1" dirty="0">
                <a:solidFill>
                  <a:srgbClr val="FF0000"/>
                </a:solidFill>
                <a:effectLst>
                  <a:outerShdw blurRad="38100" dist="38100" dir="2700000" algn="tl">
                    <a:srgbClr val="000000">
                      <a:alpha val="43137"/>
                    </a:srgbClr>
                  </a:outerShdw>
                </a:effectLst>
                <a:latin typeface="+mn-ea"/>
                <a:ea typeface="+mn-ea"/>
              </a:rPr>
              <a:t>优点：</a:t>
            </a:r>
            <a:endParaRPr lang="en-US" altLang="zh-CN" sz="2400" b="1" dirty="0">
              <a:solidFill>
                <a:srgbClr val="FF0000"/>
              </a:solidFill>
              <a:effectLst>
                <a:outerShdw blurRad="38100" dist="38100" dir="2700000" algn="tl">
                  <a:srgbClr val="000000">
                    <a:alpha val="43137"/>
                  </a:srgbClr>
                </a:outerShdw>
              </a:effectLst>
              <a:latin typeface="+mn-ea"/>
              <a:ea typeface="+mn-ea"/>
            </a:endParaRPr>
          </a:p>
          <a:p>
            <a:pPr lvl="1" indent="266700" eaLnBrk="0" hangingPunct="0">
              <a:spcBef>
                <a:spcPct val="20000"/>
              </a:spcBef>
              <a:buClr>
                <a:srgbClr val="FF9900"/>
              </a:buClr>
              <a:buSzPct val="50000"/>
              <a:buFont typeface="Wingdings" panose="05000000000000000000" pitchFamily="2" charset="2"/>
              <a:buChar char="n"/>
            </a:pPr>
            <a:r>
              <a:rPr lang="zh-CN" altLang="en-US" sz="2000" b="1" dirty="0">
                <a:solidFill>
                  <a:srgbClr val="000000"/>
                </a:solidFill>
                <a:effectLst>
                  <a:outerShdw blurRad="38100" dist="38100" dir="2700000" algn="tl">
                    <a:srgbClr val="000000">
                      <a:alpha val="43137"/>
                    </a:srgbClr>
                  </a:outerShdw>
                </a:effectLst>
                <a:latin typeface="+mn-ea"/>
                <a:ea typeface="+mn-ea"/>
              </a:rPr>
              <a:t>准确率高；</a:t>
            </a:r>
          </a:p>
          <a:p>
            <a:pPr lvl="1" indent="266700" eaLnBrk="0" hangingPunct="0">
              <a:spcBef>
                <a:spcPct val="20000"/>
              </a:spcBef>
              <a:buClr>
                <a:srgbClr val="FF9900"/>
              </a:buClr>
              <a:buSzPct val="50000"/>
              <a:buFont typeface="Wingdings" panose="05000000000000000000" pitchFamily="2" charset="2"/>
              <a:buChar char="n"/>
            </a:pPr>
            <a:r>
              <a:rPr lang="zh-CN" altLang="en-US" sz="2000" b="1" dirty="0">
                <a:solidFill>
                  <a:srgbClr val="000000"/>
                </a:solidFill>
                <a:effectLst>
                  <a:outerShdw blurRad="38100" dist="38100" dir="2700000" algn="tl">
                    <a:srgbClr val="000000">
                      <a:alpha val="43137"/>
                    </a:srgbClr>
                  </a:outerShdw>
                </a:effectLst>
                <a:latin typeface="+mn-ea"/>
                <a:ea typeface="+mn-ea"/>
              </a:rPr>
              <a:t>算法简单。</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fltVal val="0"/>
                                          </p:val>
                                        </p:tav>
                                        <p:tav tm="100000">
                                          <p:val>
                                            <p:strVal val="#ppt_w"/>
                                          </p:val>
                                        </p:tav>
                                      </p:tavLst>
                                    </p:anim>
                                    <p:anim calcmode="lin" valueType="num">
                                      <p:cBhvr>
                                        <p:cTn id="20" dur="500" fill="hold"/>
                                        <p:tgtEl>
                                          <p:spTgt spid="4"/>
                                        </p:tgtEl>
                                        <p:attrNameLst>
                                          <p:attrName>ppt_h</p:attrName>
                                        </p:attrNameLst>
                                      </p:cBhvr>
                                      <p:tavLst>
                                        <p:tav tm="0">
                                          <p:val>
                                            <p:fltVal val="0"/>
                                          </p:val>
                                        </p:tav>
                                        <p:tav tm="100000">
                                          <p:val>
                                            <p:strVal val="#ppt_h"/>
                                          </p:val>
                                        </p:tav>
                                      </p:tavLst>
                                    </p:anim>
                                    <p:animEffect transition="in" filter="fade">
                                      <p:cBhvr>
                                        <p:cTn id="2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idx="4294967295"/>
          </p:nvPr>
        </p:nvSpPr>
        <p:spPr>
          <a:xfrm>
            <a:off x="520306" y="675768"/>
            <a:ext cx="4082988" cy="584684"/>
          </a:xfrm>
          <a:noFill/>
          <a:ln w="9525">
            <a:noFill/>
            <a:miter lim="800000"/>
          </a:ln>
        </p:spPr>
        <p:txBody>
          <a:bodyPr vert="horz" wrap="square" lIns="91440" tIns="45720" rIns="91440" bIns="45720" numCol="1" anchor="ctr" anchorCtr="0" compatLnSpc="1"/>
          <a:lstStyle/>
          <a:p>
            <a:r>
              <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 </a:t>
            </a:r>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特征检测</a:t>
            </a:r>
            <a:endPar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54277" name="Rectangle 6"/>
          <p:cNvSpPr>
            <a:spLocks noChangeArrowheads="1"/>
          </p:cNvSpPr>
          <p:nvPr/>
        </p:nvSpPr>
        <p:spPr bwMode="auto">
          <a:xfrm>
            <a:off x="359532" y="2160328"/>
            <a:ext cx="8108686" cy="1556704"/>
          </a:xfrm>
          <a:prstGeom prst="rect">
            <a:avLst/>
          </a:prstGeom>
          <a:noFill/>
          <a:ln w="9525">
            <a:noFill/>
            <a:miter lim="800000"/>
          </a:ln>
        </p:spPr>
        <p:txBody>
          <a:bodyPr lIns="92075" tIns="46038" rIns="92075" bIns="46038"/>
          <a:lstStyle/>
          <a:p>
            <a:pPr lvl="1" indent="266700" eaLnBrk="0" hangingPunct="0">
              <a:spcBef>
                <a:spcPct val="20000"/>
              </a:spcBef>
              <a:buClr>
                <a:srgbClr val="FF9900"/>
              </a:buClr>
              <a:buSzPct val="50000"/>
              <a:buFont typeface="Wingdings" panose="05000000000000000000" pitchFamily="2" charset="2"/>
              <a:buChar char="n"/>
            </a:pPr>
            <a:r>
              <a:rPr lang="zh-CN" altLang="en-US" sz="2400" b="1" dirty="0">
                <a:solidFill>
                  <a:srgbClr val="0033CC"/>
                </a:solidFill>
                <a:effectLst>
                  <a:outerShdw blurRad="38100" dist="38100" dir="2700000" algn="tl">
                    <a:srgbClr val="000000">
                      <a:alpha val="43137"/>
                    </a:srgbClr>
                  </a:outerShdw>
                </a:effectLst>
                <a:latin typeface="+mn-ea"/>
                <a:ea typeface="+mn-ea"/>
              </a:rPr>
              <a:t>基于专家系统的检测技术</a:t>
            </a:r>
            <a:endParaRPr lang="en-US" altLang="zh-CN" sz="2400" b="1" dirty="0">
              <a:solidFill>
                <a:srgbClr val="0033CC"/>
              </a:solidFill>
              <a:effectLst>
                <a:outerShdw blurRad="38100" dist="38100" dir="2700000" algn="tl">
                  <a:srgbClr val="000000">
                    <a:alpha val="43137"/>
                  </a:srgbClr>
                </a:outerShdw>
              </a:effectLst>
              <a:latin typeface="+mn-ea"/>
              <a:ea typeface="+mn-ea"/>
            </a:endParaRPr>
          </a:p>
          <a:p>
            <a:pPr marL="1200150" lvl="2" indent="-285750" eaLnBrk="0" hangingPunct="0">
              <a:spcBef>
                <a:spcPct val="20000"/>
              </a:spcBef>
              <a:buClr>
                <a:srgbClr val="FF9900"/>
              </a:buClr>
              <a:buSzPct val="50000"/>
              <a:buFont typeface="Wingdings" panose="05000000000000000000" pitchFamily="2" charset="2"/>
              <a:buChar char="u"/>
            </a:pPr>
            <a:r>
              <a:rPr lang="zh-CN" altLang="en-US" sz="2000" b="1" dirty="0">
                <a:effectLst>
                  <a:outerShdw blurRad="38100" dist="38100" dir="2700000" algn="tl">
                    <a:srgbClr val="000000">
                      <a:alpha val="43137"/>
                    </a:srgbClr>
                  </a:outerShdw>
                </a:effectLst>
                <a:latin typeface="+mn-ea"/>
                <a:ea typeface="+mn-ea"/>
              </a:rPr>
              <a:t>根据安全专家对可疑行为的分析经验来形成一套推理规则，然后再在此基础之上构成相应的专家系统，并应用于入侵检测。基于规则的专家系统或推进系统的也有一定的局限性。</a:t>
            </a:r>
            <a:endParaRPr lang="en-US" altLang="zh-CN" sz="2000" b="1" dirty="0">
              <a:solidFill>
                <a:srgbClr val="0033CC"/>
              </a:solidFill>
              <a:effectLst>
                <a:outerShdw blurRad="38100" dist="38100" dir="2700000" algn="tl">
                  <a:srgbClr val="000000">
                    <a:alpha val="43137"/>
                  </a:srgbClr>
                </a:outerShdw>
              </a:effectLst>
              <a:latin typeface="+mn-ea"/>
              <a:ea typeface="+mn-ea"/>
            </a:endParaRPr>
          </a:p>
          <a:p>
            <a:pPr lvl="1" eaLnBrk="0" hangingPunct="0">
              <a:spcBef>
                <a:spcPct val="20000"/>
              </a:spcBef>
              <a:buClr>
                <a:srgbClr val="FF9900"/>
              </a:buClr>
              <a:buSzPct val="50000"/>
            </a:pPr>
            <a:endParaRPr lang="zh-CN" altLang="en-US" sz="2000" b="1" dirty="0">
              <a:solidFill>
                <a:srgbClr val="000000"/>
              </a:solidFill>
              <a:effectLst>
                <a:outerShdw blurRad="38100" dist="38100" dir="2700000" algn="tl">
                  <a:srgbClr val="000000">
                    <a:alpha val="43137"/>
                  </a:srgbClr>
                </a:outerShdw>
              </a:effectLst>
              <a:latin typeface="+mn-ea"/>
              <a:ea typeface="+mn-ea"/>
            </a:endParaRPr>
          </a:p>
        </p:txBody>
      </p:sp>
      <p:sp>
        <p:nvSpPr>
          <p:cNvPr id="6" name="矩形 5"/>
          <p:cNvSpPr/>
          <p:nvPr/>
        </p:nvSpPr>
        <p:spPr>
          <a:xfrm>
            <a:off x="647564" y="1448780"/>
            <a:ext cx="3029997" cy="523220"/>
          </a:xfrm>
          <a:prstGeom prst="rect">
            <a:avLst/>
          </a:prstGeom>
        </p:spPr>
        <p:txBody>
          <a:bodyPr wrap="none">
            <a:spAutoFit/>
          </a:bodyPr>
          <a:lstStyle/>
          <a:p>
            <a:pPr marL="285750" indent="-285750" eaLnBrk="0" hangingPunct="0">
              <a:spcBef>
                <a:spcPct val="20000"/>
              </a:spcBef>
              <a:buClr>
                <a:srgbClr val="3399FF"/>
              </a:buClr>
              <a:buFont typeface="Wingdings" panose="05000000000000000000" pitchFamily="2" charset="2"/>
              <a:buChar char="v"/>
            </a:pPr>
            <a:r>
              <a:rPr lang="zh-CN" altLang="en-US" sz="2800" b="1" dirty="0">
                <a:solidFill>
                  <a:srgbClr val="FF0000"/>
                </a:solidFill>
                <a:effectLst>
                  <a:outerShdw blurRad="38100" dist="38100" dir="2700000" algn="tl">
                    <a:srgbClr val="000000">
                      <a:alpha val="43137"/>
                    </a:srgbClr>
                  </a:outerShdw>
                </a:effectLst>
                <a:latin typeface="+mn-ea"/>
                <a:ea typeface="+mn-ea"/>
              </a:rPr>
              <a:t>使用的检测方法</a:t>
            </a:r>
          </a:p>
        </p:txBody>
      </p:sp>
      <p:sp>
        <p:nvSpPr>
          <p:cNvPr id="3" name="矩形 2"/>
          <p:cNvSpPr/>
          <p:nvPr/>
        </p:nvSpPr>
        <p:spPr>
          <a:xfrm>
            <a:off x="359197" y="4437112"/>
            <a:ext cx="7305424" cy="1138773"/>
          </a:xfrm>
          <a:prstGeom prst="rect">
            <a:avLst/>
          </a:prstGeom>
        </p:spPr>
        <p:txBody>
          <a:bodyPr wrap="square">
            <a:spAutoFit/>
          </a:bodyPr>
          <a:lstStyle/>
          <a:p>
            <a:pPr lvl="1" indent="266700" eaLnBrk="0" hangingPunct="0">
              <a:spcBef>
                <a:spcPct val="20000"/>
              </a:spcBef>
              <a:buClr>
                <a:srgbClr val="FF9900"/>
              </a:buClr>
              <a:buSzPct val="50000"/>
              <a:buFont typeface="Wingdings" panose="05000000000000000000" pitchFamily="2" charset="2"/>
              <a:buChar char="n"/>
            </a:pPr>
            <a:r>
              <a:rPr lang="zh-CN" altLang="en-US" sz="2400" b="1" dirty="0">
                <a:solidFill>
                  <a:srgbClr val="0033CC"/>
                </a:solidFill>
                <a:effectLst>
                  <a:outerShdw blurRad="38100" dist="38100" dir="2700000" algn="tl">
                    <a:srgbClr val="000000">
                      <a:alpha val="43137"/>
                    </a:srgbClr>
                  </a:outerShdw>
                </a:effectLst>
                <a:latin typeface="+mn-ea"/>
                <a:ea typeface="+mn-ea"/>
              </a:rPr>
              <a:t>基于攻击签名分析的检测技术</a:t>
            </a:r>
            <a:endParaRPr lang="en-US" altLang="zh-CN" sz="2400" b="1" dirty="0">
              <a:solidFill>
                <a:srgbClr val="0033CC"/>
              </a:solidFill>
              <a:effectLst>
                <a:outerShdw blurRad="38100" dist="38100" dir="2700000" algn="tl">
                  <a:srgbClr val="000000">
                    <a:alpha val="43137"/>
                  </a:srgbClr>
                </a:outerShdw>
              </a:effectLst>
              <a:latin typeface="+mn-ea"/>
              <a:ea typeface="+mn-ea"/>
            </a:endParaRPr>
          </a:p>
          <a:p>
            <a:pPr marL="1200150" lvl="2" indent="-285750" eaLnBrk="0" hangingPunct="0">
              <a:spcBef>
                <a:spcPct val="20000"/>
              </a:spcBef>
              <a:buClr>
                <a:srgbClr val="FF9900"/>
              </a:buClr>
              <a:buSzPct val="50000"/>
              <a:buFont typeface="Wingdings" panose="05000000000000000000" pitchFamily="2" charset="2"/>
              <a:buChar char="u"/>
            </a:pPr>
            <a:r>
              <a:rPr lang="zh-CN" altLang="en-US" sz="2000" b="1" dirty="0">
                <a:effectLst>
                  <a:outerShdw blurRad="38100" dist="38100" dir="2700000" algn="tl">
                    <a:srgbClr val="000000">
                      <a:alpha val="43137"/>
                    </a:srgbClr>
                  </a:outerShdw>
                </a:effectLst>
                <a:latin typeface="+mn-ea"/>
              </a:rPr>
              <a:t>把获得的攻击知识翻译成可在系统审计轨迹中直接发现的信息，在检测时不需要语义级的攻击描述</a:t>
            </a:r>
          </a:p>
        </p:txBody>
      </p:sp>
      <p:sp>
        <p:nvSpPr>
          <p:cNvPr id="4" name="矩形 3"/>
          <p:cNvSpPr/>
          <p:nvPr/>
        </p:nvSpPr>
        <p:spPr>
          <a:xfrm>
            <a:off x="359197" y="3684207"/>
            <a:ext cx="7843979" cy="461665"/>
          </a:xfrm>
          <a:prstGeom prst="rect">
            <a:avLst/>
          </a:prstGeom>
        </p:spPr>
        <p:txBody>
          <a:bodyPr wrap="square">
            <a:spAutoFit/>
          </a:bodyPr>
          <a:lstStyle/>
          <a:p>
            <a:pPr lvl="1" indent="266700" eaLnBrk="0" hangingPunct="0">
              <a:spcBef>
                <a:spcPct val="20000"/>
              </a:spcBef>
              <a:buClr>
                <a:srgbClr val="FF9900"/>
              </a:buClr>
              <a:buSzPct val="50000"/>
              <a:buFont typeface="Wingdings" panose="05000000000000000000" pitchFamily="2" charset="2"/>
              <a:buChar char="n"/>
            </a:pPr>
            <a:r>
              <a:rPr lang="zh-CN" altLang="en-US" sz="2400" b="1" dirty="0">
                <a:solidFill>
                  <a:srgbClr val="0033CC"/>
                </a:solidFill>
                <a:effectLst>
                  <a:outerShdw blurRad="38100" dist="38100" dir="2700000" algn="tl">
                    <a:srgbClr val="000000">
                      <a:alpha val="43137"/>
                    </a:srgbClr>
                  </a:outerShdw>
                </a:effectLst>
                <a:latin typeface="+mn-ea"/>
                <a:ea typeface="+mn-ea"/>
              </a:rPr>
              <a:t>基于简单规则的模式匹配技术</a:t>
            </a:r>
            <a:endParaRPr lang="en-US" altLang="zh-CN" sz="2400" b="1" dirty="0">
              <a:solidFill>
                <a:srgbClr val="0033CC"/>
              </a:solidFill>
              <a:effectLst>
                <a:outerShdw blurRad="38100" dist="38100" dir="2700000" algn="tl">
                  <a:srgbClr val="000000">
                    <a:alpha val="43137"/>
                  </a:srgbClr>
                </a:outerShdw>
              </a:effectLst>
              <a:latin typeface="+mn-ea"/>
              <a:ea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4277"/>
                                        </p:tgtEl>
                                        <p:attrNameLst>
                                          <p:attrName>style.visibility</p:attrName>
                                        </p:attrNameLst>
                                      </p:cBhvr>
                                      <p:to>
                                        <p:strVal val="visible"/>
                                      </p:to>
                                    </p:set>
                                    <p:animEffect transition="in" filter="wipe(up)">
                                      <p:cBhvr>
                                        <p:cTn id="7" dur="500"/>
                                        <p:tgtEl>
                                          <p:spTgt spid="5427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7" grpId="0"/>
      <p:bldP spid="3" grpId="0"/>
      <p:bldP spid="4"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1580" y="1988840"/>
            <a:ext cx="7380820" cy="1138773"/>
          </a:xfrm>
          <a:prstGeom prst="rect">
            <a:avLst/>
          </a:prstGeom>
        </p:spPr>
        <p:txBody>
          <a:bodyPr wrap="square">
            <a:spAutoFit/>
          </a:bodyPr>
          <a:lstStyle/>
          <a:p>
            <a:pPr lvl="1" indent="266700" eaLnBrk="0" hangingPunct="0">
              <a:spcBef>
                <a:spcPct val="20000"/>
              </a:spcBef>
              <a:buClr>
                <a:srgbClr val="FF9900"/>
              </a:buClr>
              <a:buSzPct val="50000"/>
              <a:buFont typeface="Wingdings" panose="05000000000000000000" pitchFamily="2" charset="2"/>
              <a:buChar char="n"/>
            </a:pPr>
            <a:r>
              <a:rPr lang="zh-CN" altLang="en-US" sz="2400" b="1" dirty="0">
                <a:solidFill>
                  <a:srgbClr val="0033CC"/>
                </a:solidFill>
                <a:effectLst>
                  <a:outerShdw blurRad="38100" dist="38100" dir="2700000" algn="tl">
                    <a:srgbClr val="000000">
                      <a:alpha val="43137"/>
                    </a:srgbClr>
                  </a:outerShdw>
                </a:effectLst>
                <a:latin typeface="+mn-ea"/>
                <a:ea typeface="+mn-ea"/>
              </a:rPr>
              <a:t>基于统计模式匹配的检测技术</a:t>
            </a:r>
            <a:endParaRPr lang="en-US" altLang="zh-CN" sz="2400" b="1" dirty="0">
              <a:solidFill>
                <a:srgbClr val="0033CC"/>
              </a:solidFill>
              <a:effectLst>
                <a:outerShdw blurRad="38100" dist="38100" dir="2700000" algn="tl">
                  <a:srgbClr val="000000">
                    <a:alpha val="43137"/>
                  </a:srgbClr>
                </a:outerShdw>
              </a:effectLst>
              <a:latin typeface="+mn-ea"/>
              <a:ea typeface="+mn-ea"/>
            </a:endParaRPr>
          </a:p>
          <a:p>
            <a:pPr marL="1200150" lvl="2" indent="-285750" eaLnBrk="0" hangingPunct="0">
              <a:spcBef>
                <a:spcPct val="20000"/>
              </a:spcBef>
              <a:buClr>
                <a:srgbClr val="FF9900"/>
              </a:buClr>
              <a:buSzPct val="50000"/>
              <a:buFont typeface="Wingdings" panose="05000000000000000000" pitchFamily="2" charset="2"/>
              <a:buChar char="u"/>
            </a:pPr>
            <a:r>
              <a:rPr lang="zh-CN" altLang="en-US" sz="2000" b="1" dirty="0">
                <a:effectLst>
                  <a:outerShdw blurRad="38100" dist="38100" dir="2700000" algn="tl">
                    <a:srgbClr val="000000">
                      <a:alpha val="43137"/>
                    </a:srgbClr>
                  </a:outerShdw>
                </a:effectLst>
                <a:latin typeface="+mn-ea"/>
                <a:ea typeface="+mn-ea"/>
              </a:rPr>
              <a:t>把系统审计轨迹视为抽象事件流，使用</a:t>
            </a:r>
            <a:r>
              <a:rPr lang="en-US" altLang="zh-CN" sz="2000" b="1" dirty="0">
                <a:effectLst>
                  <a:outerShdw blurRad="38100" dist="38100" dir="2700000" algn="tl">
                    <a:srgbClr val="000000">
                      <a:alpha val="43137"/>
                    </a:srgbClr>
                  </a:outerShdw>
                </a:effectLst>
                <a:latin typeface="+mn-ea"/>
                <a:ea typeface="+mn-ea"/>
              </a:rPr>
              <a:t>CPN</a:t>
            </a:r>
            <a:r>
              <a:rPr lang="zh-CN" altLang="en-US" sz="2000" b="1" dirty="0">
                <a:effectLst>
                  <a:outerShdw blurRad="38100" dist="38100" dir="2700000" algn="tl">
                    <a:srgbClr val="000000">
                      <a:alpha val="43137"/>
                    </a:srgbClr>
                  </a:outerShdw>
                </a:effectLst>
                <a:latin typeface="+mn-ea"/>
                <a:ea typeface="+mn-ea"/>
              </a:rPr>
              <a:t>来描述攻击者的攻击模式、入侵检测器作用模式匹配器</a:t>
            </a:r>
          </a:p>
        </p:txBody>
      </p:sp>
      <p:sp>
        <p:nvSpPr>
          <p:cNvPr id="5" name="矩形 4"/>
          <p:cNvSpPr/>
          <p:nvPr/>
        </p:nvSpPr>
        <p:spPr>
          <a:xfrm>
            <a:off x="611560" y="1052736"/>
            <a:ext cx="3029997" cy="523220"/>
          </a:xfrm>
          <a:prstGeom prst="rect">
            <a:avLst/>
          </a:prstGeom>
        </p:spPr>
        <p:txBody>
          <a:bodyPr wrap="none">
            <a:spAutoFit/>
          </a:bodyPr>
          <a:lstStyle/>
          <a:p>
            <a:pPr marL="285750" indent="-285750" eaLnBrk="0" hangingPunct="0">
              <a:spcBef>
                <a:spcPct val="20000"/>
              </a:spcBef>
              <a:buClr>
                <a:srgbClr val="3399FF"/>
              </a:buClr>
              <a:buFont typeface="Wingdings" panose="05000000000000000000" pitchFamily="2" charset="2"/>
              <a:buChar char="v"/>
            </a:pPr>
            <a:r>
              <a:rPr lang="zh-CN" altLang="en-US" sz="2800" b="1" dirty="0">
                <a:solidFill>
                  <a:srgbClr val="FF0000"/>
                </a:solidFill>
                <a:effectLst>
                  <a:outerShdw blurRad="38100" dist="38100" dir="2700000" algn="tl">
                    <a:srgbClr val="000000">
                      <a:alpha val="43137"/>
                    </a:srgbClr>
                  </a:outerShdw>
                </a:effectLst>
                <a:latin typeface="+mn-ea"/>
                <a:ea typeface="+mn-ea"/>
              </a:rPr>
              <a:t>使用的检测方法</a:t>
            </a:r>
          </a:p>
        </p:txBody>
      </p:sp>
      <p:sp>
        <p:nvSpPr>
          <p:cNvPr id="6" name="矩形 5"/>
          <p:cNvSpPr/>
          <p:nvPr/>
        </p:nvSpPr>
        <p:spPr>
          <a:xfrm>
            <a:off x="797393" y="3320988"/>
            <a:ext cx="7375007" cy="1138773"/>
          </a:xfrm>
          <a:prstGeom prst="rect">
            <a:avLst/>
          </a:prstGeom>
        </p:spPr>
        <p:txBody>
          <a:bodyPr wrap="square">
            <a:spAutoFit/>
          </a:bodyPr>
          <a:lstStyle/>
          <a:p>
            <a:pPr lvl="1" indent="266700" eaLnBrk="0" hangingPunct="0">
              <a:spcBef>
                <a:spcPct val="20000"/>
              </a:spcBef>
              <a:buClr>
                <a:srgbClr val="FF9900"/>
              </a:buClr>
              <a:buSzPct val="50000"/>
              <a:buFont typeface="Wingdings" panose="05000000000000000000" pitchFamily="2" charset="2"/>
              <a:buChar char="n"/>
            </a:pPr>
            <a:r>
              <a:rPr lang="zh-CN" altLang="en-US" sz="2400" b="1" dirty="0">
                <a:solidFill>
                  <a:srgbClr val="0033CC"/>
                </a:solidFill>
                <a:effectLst>
                  <a:outerShdw blurRad="38100" dist="38100" dir="2700000" algn="tl">
                    <a:srgbClr val="000000">
                      <a:alpha val="43137"/>
                    </a:srgbClr>
                  </a:outerShdw>
                </a:effectLst>
                <a:latin typeface="+mn-ea"/>
                <a:ea typeface="+mn-ea"/>
              </a:rPr>
              <a:t>基于状态转换分析的检测技术</a:t>
            </a:r>
            <a:endParaRPr lang="en-US" altLang="zh-CN" sz="2400" b="1" dirty="0">
              <a:solidFill>
                <a:srgbClr val="0033CC"/>
              </a:solidFill>
              <a:effectLst>
                <a:outerShdw blurRad="38100" dist="38100" dir="2700000" algn="tl">
                  <a:srgbClr val="000000">
                    <a:alpha val="43137"/>
                  </a:srgbClr>
                </a:outerShdw>
              </a:effectLst>
              <a:latin typeface="+mn-ea"/>
              <a:ea typeface="+mn-ea"/>
            </a:endParaRPr>
          </a:p>
          <a:p>
            <a:pPr marL="1200150" lvl="2" indent="-285750" eaLnBrk="0" hangingPunct="0">
              <a:spcBef>
                <a:spcPct val="20000"/>
              </a:spcBef>
              <a:buClr>
                <a:srgbClr val="FF9900"/>
              </a:buClr>
              <a:buSzPct val="50000"/>
              <a:buFont typeface="Wingdings" panose="05000000000000000000" pitchFamily="2" charset="2"/>
              <a:buChar char="u"/>
            </a:pPr>
            <a:r>
              <a:rPr lang="zh-CN" altLang="en-US" sz="2000" b="1" dirty="0">
                <a:effectLst>
                  <a:outerShdw blurRad="38100" dist="38100" dir="2700000" algn="tl">
                    <a:srgbClr val="000000">
                      <a:alpha val="43137"/>
                    </a:srgbClr>
                  </a:outerShdw>
                </a:effectLst>
                <a:latin typeface="+mn-ea"/>
                <a:ea typeface="+mn-ea"/>
              </a:rPr>
              <a:t>考虑攻击行为对每步系统状态转移的影响，可检测协同攻击和利用用户会话的攻击行为</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11560" y="980728"/>
            <a:ext cx="3029997" cy="523220"/>
          </a:xfrm>
          <a:prstGeom prst="rect">
            <a:avLst/>
          </a:prstGeom>
        </p:spPr>
        <p:txBody>
          <a:bodyPr wrap="none">
            <a:spAutoFit/>
          </a:bodyPr>
          <a:lstStyle/>
          <a:p>
            <a:pPr marL="285750" indent="-285750" eaLnBrk="0" hangingPunct="0">
              <a:spcBef>
                <a:spcPct val="20000"/>
              </a:spcBef>
              <a:buClr>
                <a:srgbClr val="3399FF"/>
              </a:buClr>
              <a:buFont typeface="Wingdings" panose="05000000000000000000" pitchFamily="2" charset="2"/>
              <a:buChar char="v"/>
            </a:pPr>
            <a:r>
              <a:rPr lang="zh-CN" altLang="en-US" sz="2800" b="1" dirty="0">
                <a:solidFill>
                  <a:srgbClr val="FF0000"/>
                </a:solidFill>
                <a:effectLst>
                  <a:outerShdw blurRad="38100" dist="38100" dir="2700000" algn="tl">
                    <a:srgbClr val="000000">
                      <a:alpha val="43137"/>
                    </a:srgbClr>
                  </a:outerShdw>
                </a:effectLst>
                <a:latin typeface="+mn-ea"/>
                <a:ea typeface="+mn-ea"/>
              </a:rPr>
              <a:t>使用的检测方法</a:t>
            </a:r>
          </a:p>
        </p:txBody>
      </p:sp>
      <p:sp>
        <p:nvSpPr>
          <p:cNvPr id="6" name="Rectangle 4"/>
          <p:cNvSpPr>
            <a:spLocks noChangeArrowheads="1"/>
          </p:cNvSpPr>
          <p:nvPr/>
        </p:nvSpPr>
        <p:spPr bwMode="auto">
          <a:xfrm>
            <a:off x="623684" y="1681145"/>
            <a:ext cx="5169768" cy="490537"/>
          </a:xfrm>
          <a:prstGeom prst="rect">
            <a:avLst/>
          </a:prstGeom>
          <a:noFill/>
          <a:ln w="9525">
            <a:noFill/>
            <a:miter lim="800000"/>
          </a:ln>
        </p:spPr>
        <p:txBody>
          <a:bodyPr anchor="ctr"/>
          <a:lstStyle/>
          <a:p>
            <a:pPr lvl="1" indent="266700" eaLnBrk="0" hangingPunct="0">
              <a:spcBef>
                <a:spcPct val="20000"/>
              </a:spcBef>
              <a:buClr>
                <a:srgbClr val="FF9900"/>
              </a:buClr>
              <a:buSzPct val="50000"/>
              <a:buFont typeface="Wingdings" panose="05000000000000000000" pitchFamily="2" charset="2"/>
              <a:buChar char="n"/>
            </a:pPr>
            <a:r>
              <a:rPr lang="zh-CN" altLang="en-US" sz="2400" b="1" dirty="0">
                <a:solidFill>
                  <a:srgbClr val="0033CC"/>
                </a:solidFill>
                <a:effectLst>
                  <a:outerShdw blurRad="38100" dist="38100" dir="2700000" algn="tl">
                    <a:srgbClr val="000000">
                      <a:alpha val="43137"/>
                    </a:srgbClr>
                  </a:outerShdw>
                </a:effectLst>
                <a:latin typeface="+mn-ea"/>
                <a:ea typeface="+mn-ea"/>
              </a:rPr>
              <a:t>基于模型推理</a:t>
            </a:r>
          </a:p>
        </p:txBody>
      </p:sp>
      <p:sp>
        <p:nvSpPr>
          <p:cNvPr id="7" name="矩形 6"/>
          <p:cNvSpPr/>
          <p:nvPr/>
        </p:nvSpPr>
        <p:spPr>
          <a:xfrm>
            <a:off x="667662" y="2348880"/>
            <a:ext cx="7884876" cy="1692771"/>
          </a:xfrm>
          <a:prstGeom prst="rect">
            <a:avLst/>
          </a:prstGeom>
        </p:spPr>
        <p:txBody>
          <a:bodyPr wrap="square">
            <a:spAutoFit/>
          </a:bodyPr>
          <a:lstStyle/>
          <a:p>
            <a:pPr marL="800100" lvl="1" indent="-342900" eaLnBrk="0" hangingPunct="0">
              <a:spcBef>
                <a:spcPct val="20000"/>
              </a:spcBef>
              <a:buClr>
                <a:srgbClr val="FF0000"/>
              </a:buClr>
              <a:buSzPct val="50000"/>
              <a:buFont typeface="Wingdings" panose="05000000000000000000" pitchFamily="2" charset="2"/>
              <a:buChar char="u"/>
            </a:pPr>
            <a:r>
              <a:rPr lang="zh-CN" altLang="en-US" sz="2000" b="1" dirty="0">
                <a:effectLst>
                  <a:outerShdw blurRad="38100" dist="38100" dir="2700000" algn="tl">
                    <a:srgbClr val="000000">
                      <a:alpha val="43137"/>
                    </a:srgbClr>
                  </a:outerShdw>
                </a:effectLst>
                <a:latin typeface="+mn-ea"/>
              </a:rPr>
              <a:t>用基于模型的推理方法人们能够为某些行为建立特定的模型，从而能够监视具有特定行为特征的某些活动。根据假设的攻击脚本，这种系统就能检测出非法的用户行为。</a:t>
            </a:r>
            <a:endParaRPr lang="en-US" altLang="zh-CN" sz="2000" b="1" dirty="0">
              <a:effectLst>
                <a:outerShdw blurRad="38100" dist="38100" dir="2700000" algn="tl">
                  <a:srgbClr val="000000">
                    <a:alpha val="43137"/>
                  </a:srgbClr>
                </a:outerShdw>
              </a:effectLst>
              <a:latin typeface="+mn-ea"/>
            </a:endParaRPr>
          </a:p>
          <a:p>
            <a:pPr marL="800100" lvl="1" indent="-342900" eaLnBrk="0" hangingPunct="0">
              <a:spcBef>
                <a:spcPct val="20000"/>
              </a:spcBef>
              <a:buClr>
                <a:srgbClr val="FF0000"/>
              </a:buClr>
              <a:buSzPct val="50000"/>
              <a:buFont typeface="Wingdings" panose="05000000000000000000" pitchFamily="2" charset="2"/>
              <a:buChar char="u"/>
            </a:pPr>
            <a:r>
              <a:rPr lang="zh-CN" altLang="en-US" sz="2000" b="1" dirty="0">
                <a:effectLst>
                  <a:outerShdw blurRad="38100" dist="38100" dir="2700000" algn="tl">
                    <a:srgbClr val="000000">
                      <a:alpha val="43137"/>
                    </a:srgbClr>
                  </a:outerShdw>
                </a:effectLst>
                <a:latin typeface="+mn-ea"/>
              </a:rPr>
              <a:t>一般为了准确判断，要为不同的攻击者和不同的系统建立特定的攻击脚本。</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p:cNvSpPr>
            <a:spLocks noChangeArrowheads="1"/>
          </p:cNvSpPr>
          <p:nvPr/>
        </p:nvSpPr>
        <p:spPr bwMode="auto">
          <a:xfrm>
            <a:off x="287524" y="1628800"/>
            <a:ext cx="8143056" cy="3348372"/>
          </a:xfrm>
          <a:prstGeom prst="rect">
            <a:avLst/>
          </a:prstGeom>
          <a:noFill/>
          <a:ln w="9525">
            <a:noFill/>
            <a:miter lim="800000"/>
          </a:ln>
        </p:spPr>
        <p:txBody>
          <a:bodyPr lIns="92075" tIns="46038" rIns="92075" bIns="46038"/>
          <a:lstStyle/>
          <a:p>
            <a:pPr lvl="1" indent="266700" eaLnBrk="0" hangingPunct="0">
              <a:spcBef>
                <a:spcPct val="20000"/>
              </a:spcBef>
              <a:buClr>
                <a:srgbClr val="FF9900"/>
              </a:buClr>
              <a:buSzPct val="50000"/>
              <a:buFont typeface="Wingdings" panose="05000000000000000000" pitchFamily="2" charset="2"/>
              <a:buChar char="n"/>
            </a:pPr>
            <a:r>
              <a:rPr lang="zh-CN" altLang="en-US" sz="2400" b="1" dirty="0">
                <a:solidFill>
                  <a:srgbClr val="0033CC"/>
                </a:solidFill>
                <a:effectLst>
                  <a:outerShdw blurRad="38100" dist="38100" dir="2700000" algn="tl">
                    <a:srgbClr val="000000">
                      <a:alpha val="43137"/>
                    </a:srgbClr>
                  </a:outerShdw>
                </a:effectLst>
                <a:latin typeface="+mn-ea"/>
                <a:ea typeface="+mn-ea"/>
              </a:rPr>
              <a:t>基于神经网络的检测技术</a:t>
            </a:r>
            <a:endParaRPr lang="en-US" altLang="zh-CN" sz="2400" b="1" dirty="0">
              <a:solidFill>
                <a:srgbClr val="0033CC"/>
              </a:solidFill>
              <a:effectLst>
                <a:outerShdw blurRad="38100" dist="38100" dir="2700000" algn="tl">
                  <a:srgbClr val="000000">
                    <a:alpha val="43137"/>
                  </a:srgbClr>
                </a:outerShdw>
              </a:effectLst>
              <a:latin typeface="+mn-ea"/>
              <a:ea typeface="+mn-ea"/>
            </a:endParaRPr>
          </a:p>
          <a:p>
            <a:pPr lvl="2">
              <a:spcBef>
                <a:spcPct val="20000"/>
              </a:spcBef>
            </a:pPr>
            <a:r>
              <a:rPr lang="zh-CN" altLang="en-US" sz="2000" b="1" dirty="0">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采用神经网络技术，根据实时检测到的信息有效地加以处理作出攻击可能性的判断。神经网络技术可以用于解决传统的统计分析技术所面临的以下问题：</a:t>
            </a:r>
          </a:p>
          <a:p>
            <a:pPr marL="1657350" lvl="3" indent="-285750">
              <a:spcBef>
                <a:spcPct val="20000"/>
              </a:spcBef>
              <a:buFont typeface="Wingdings" panose="05000000000000000000" pitchFamily="2" charset="2"/>
              <a:buChar char="u"/>
            </a:pPr>
            <a:r>
              <a:rPr lang="zh-CN" altLang="en-US" sz="2400" b="1" dirty="0">
                <a:solidFill>
                  <a:srgbClr val="0033CC"/>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难于建立确切的统计分布</a:t>
            </a:r>
          </a:p>
          <a:p>
            <a:pPr marL="1657350" lvl="3" indent="-285750">
              <a:spcBef>
                <a:spcPct val="20000"/>
              </a:spcBef>
              <a:buFont typeface="Wingdings" panose="05000000000000000000" pitchFamily="2" charset="2"/>
              <a:buChar char="u"/>
            </a:pPr>
            <a:r>
              <a:rPr lang="zh-CN" altLang="en-US" sz="2400" b="1" dirty="0">
                <a:solidFill>
                  <a:srgbClr val="0033CC"/>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难于实现方法的普适性</a:t>
            </a:r>
          </a:p>
          <a:p>
            <a:pPr marL="1657350" lvl="3" indent="-285750">
              <a:spcBef>
                <a:spcPct val="20000"/>
              </a:spcBef>
              <a:buFont typeface="Wingdings" panose="05000000000000000000" pitchFamily="2" charset="2"/>
              <a:buChar char="u"/>
            </a:pPr>
            <a:r>
              <a:rPr lang="zh-CN" altLang="en-US" sz="2400" b="1" dirty="0">
                <a:solidFill>
                  <a:srgbClr val="0033CC"/>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算法实现比较昂贵</a:t>
            </a:r>
          </a:p>
          <a:p>
            <a:pPr marL="1657350" lvl="3" indent="-285750">
              <a:spcBef>
                <a:spcPct val="20000"/>
              </a:spcBef>
              <a:buFont typeface="Wingdings" panose="05000000000000000000" pitchFamily="2" charset="2"/>
              <a:buChar char="u"/>
            </a:pPr>
            <a:r>
              <a:rPr lang="zh-CN" altLang="en-US" sz="2400" b="1" dirty="0">
                <a:solidFill>
                  <a:srgbClr val="0033CC"/>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系统臃肿难于剪裁</a:t>
            </a:r>
            <a:endParaRPr lang="en-US" altLang="zh-CN" sz="2400" b="1" dirty="0">
              <a:solidFill>
                <a:srgbClr val="0033CC"/>
              </a:solidFill>
              <a:effectLst>
                <a:outerShdw blurRad="38100" dist="38100" dir="2700000" algn="tl">
                  <a:srgbClr val="000000">
                    <a:alpha val="43137"/>
                  </a:srgbClr>
                </a:outerShdw>
              </a:effectLst>
              <a:latin typeface="+mn-ea"/>
              <a:ea typeface="+mn-ea"/>
            </a:endParaRPr>
          </a:p>
        </p:txBody>
      </p:sp>
      <p:sp>
        <p:nvSpPr>
          <p:cNvPr id="6" name="矩形 5"/>
          <p:cNvSpPr/>
          <p:nvPr/>
        </p:nvSpPr>
        <p:spPr>
          <a:xfrm>
            <a:off x="467544" y="908720"/>
            <a:ext cx="3029997" cy="523220"/>
          </a:xfrm>
          <a:prstGeom prst="rect">
            <a:avLst/>
          </a:prstGeom>
        </p:spPr>
        <p:txBody>
          <a:bodyPr wrap="none">
            <a:spAutoFit/>
          </a:bodyPr>
          <a:lstStyle/>
          <a:p>
            <a:pPr marL="285750" indent="-285750" eaLnBrk="0" hangingPunct="0">
              <a:spcBef>
                <a:spcPct val="20000"/>
              </a:spcBef>
              <a:buClr>
                <a:srgbClr val="3399FF"/>
              </a:buClr>
              <a:buFont typeface="Wingdings" panose="05000000000000000000" pitchFamily="2" charset="2"/>
              <a:buChar char="v"/>
            </a:pPr>
            <a:r>
              <a:rPr lang="zh-CN" altLang="en-US" sz="2800" b="1" dirty="0">
                <a:solidFill>
                  <a:srgbClr val="FF0000"/>
                </a:solidFill>
                <a:effectLst>
                  <a:outerShdw blurRad="38100" dist="38100" dir="2700000" algn="tl">
                    <a:srgbClr val="000000">
                      <a:alpha val="43137"/>
                    </a:srgbClr>
                  </a:outerShdw>
                </a:effectLst>
                <a:latin typeface="+mn-ea"/>
                <a:ea typeface="+mn-ea"/>
              </a:rPr>
              <a:t>使用的检测方法</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1259632" y="1556792"/>
            <a:ext cx="7067550" cy="796925"/>
          </a:xfrm>
        </p:spPr>
        <p:txBody>
          <a:bodyPr/>
          <a:lstStyle/>
          <a:p>
            <a:pPr marL="457200" lvl="1" indent="266700">
              <a:spcBef>
                <a:spcPct val="20000"/>
              </a:spcBef>
              <a:buClr>
                <a:srgbClr val="FF9900"/>
              </a:buClr>
              <a:buSzPct val="50000"/>
              <a:buFont typeface="Wingdings" panose="05000000000000000000" pitchFamily="2" charset="2"/>
              <a:buChar char="n"/>
            </a:pPr>
            <a:r>
              <a:rPr lang="zh-CN" altLang="en-US" sz="2800" kern="1200" dirty="0">
                <a:solidFill>
                  <a:srgbClr val="0033CC"/>
                </a:solidFill>
                <a:effectLst>
                  <a:outerShdw blurRad="38100" dist="38100" dir="2700000" algn="tl">
                    <a:srgbClr val="000000">
                      <a:alpha val="43137"/>
                    </a:srgbClr>
                  </a:outerShdw>
                </a:effectLst>
                <a:latin typeface="+mn-ea"/>
                <a:ea typeface="+mn-ea"/>
                <a:cs typeface="+mn-cs"/>
              </a:rPr>
              <a:t>其他的检测技术</a:t>
            </a:r>
          </a:p>
        </p:txBody>
      </p:sp>
      <p:sp>
        <p:nvSpPr>
          <p:cNvPr id="57347" name="Rectangle 3"/>
          <p:cNvSpPr>
            <a:spLocks noGrp="1" noChangeArrowheads="1"/>
          </p:cNvSpPr>
          <p:nvPr>
            <p:ph type="body" idx="1"/>
          </p:nvPr>
        </p:nvSpPr>
        <p:spPr>
          <a:xfrm>
            <a:off x="2015716" y="2369172"/>
            <a:ext cx="5544616" cy="2966655"/>
          </a:xfrm>
        </p:spPr>
        <p:txBody>
          <a:bodyPr/>
          <a:lstStyle/>
          <a:p>
            <a:pPr eaLnBrk="1" hangingPunct="1"/>
            <a:r>
              <a:rPr lang="zh-CN" altLang="en-US" sz="2400" b="1" dirty="0">
                <a:effectLst>
                  <a:outerShdw blurRad="38100" dist="38100" dir="2700000" algn="tl">
                    <a:srgbClr val="000000">
                      <a:alpha val="43137"/>
                    </a:srgbClr>
                  </a:outerShdw>
                </a:effectLst>
              </a:rPr>
              <a:t>免疫系统方法 </a:t>
            </a:r>
          </a:p>
          <a:p>
            <a:pPr eaLnBrk="1" hangingPunct="1"/>
            <a:r>
              <a:rPr lang="zh-CN" altLang="en-US" sz="2400" b="1" dirty="0">
                <a:effectLst>
                  <a:outerShdw blurRad="38100" dist="38100" dir="2700000" algn="tl">
                    <a:srgbClr val="000000">
                      <a:alpha val="43137"/>
                    </a:srgbClr>
                  </a:outerShdw>
                </a:effectLst>
              </a:rPr>
              <a:t>遗传算法 </a:t>
            </a:r>
          </a:p>
          <a:p>
            <a:pPr eaLnBrk="1" hangingPunct="1"/>
            <a:r>
              <a:rPr lang="zh-CN" altLang="en-US" sz="2400" b="1" dirty="0">
                <a:effectLst>
                  <a:outerShdw blurRad="38100" dist="38100" dir="2700000" algn="tl">
                    <a:srgbClr val="000000">
                      <a:alpha val="43137"/>
                    </a:srgbClr>
                  </a:outerShdw>
                </a:effectLst>
              </a:rPr>
              <a:t>基于代理检测 </a:t>
            </a:r>
          </a:p>
          <a:p>
            <a:pPr eaLnBrk="1" hangingPunct="1"/>
            <a:r>
              <a:rPr lang="zh-CN" altLang="en-US" sz="2400" b="1" dirty="0">
                <a:effectLst>
                  <a:outerShdw blurRad="38100" dist="38100" dir="2700000" algn="tl">
                    <a:srgbClr val="000000">
                      <a:alpha val="43137"/>
                    </a:srgbClr>
                  </a:outerShdw>
                </a:effectLst>
              </a:rPr>
              <a:t>数据挖掘</a:t>
            </a:r>
            <a:endParaRPr lang="en-US" altLang="zh-CN" sz="2400" b="1" dirty="0">
              <a:effectLst>
                <a:outerShdw blurRad="38100" dist="38100" dir="2700000" algn="tl">
                  <a:srgbClr val="000000">
                    <a:alpha val="43137"/>
                  </a:srgbClr>
                </a:outerShdw>
              </a:effectLst>
            </a:endParaRPr>
          </a:p>
          <a:p>
            <a:pPr eaLnBrk="1" hangingPunct="1"/>
            <a:r>
              <a:rPr lang="zh-CN" altLang="en-US" sz="2400" b="1" dirty="0">
                <a:effectLst>
                  <a:outerShdw blurRad="38100" dist="38100" dir="2700000" algn="tl">
                    <a:srgbClr val="000000">
                      <a:alpha val="43137"/>
                    </a:srgbClr>
                  </a:outerShdw>
                </a:effectLst>
              </a:rPr>
              <a:t>机器学习</a:t>
            </a:r>
            <a:endParaRPr lang="en-US" altLang="zh-CN" sz="2400" b="1" dirty="0">
              <a:effectLst>
                <a:outerShdw blurRad="38100" dist="38100" dir="2700000" algn="tl">
                  <a:srgbClr val="000000">
                    <a:alpha val="43137"/>
                  </a:srgbClr>
                </a:outerShdw>
              </a:effectLst>
            </a:endParaRPr>
          </a:p>
          <a:p>
            <a:pPr eaLnBrk="1" hangingPunct="1"/>
            <a:r>
              <a:rPr lang="zh-CN" altLang="en-US" sz="2400" b="1" dirty="0">
                <a:effectLst>
                  <a:outerShdw blurRad="38100" dist="38100" dir="2700000" algn="tl">
                    <a:srgbClr val="000000">
                      <a:alpha val="43137"/>
                    </a:srgbClr>
                  </a:outerShdw>
                </a:effectLst>
              </a:rPr>
              <a:t>模糊数学</a:t>
            </a:r>
          </a:p>
        </p:txBody>
      </p:sp>
      <p:sp>
        <p:nvSpPr>
          <p:cNvPr id="4" name="矩形 3"/>
          <p:cNvSpPr/>
          <p:nvPr/>
        </p:nvSpPr>
        <p:spPr>
          <a:xfrm>
            <a:off x="467544" y="908720"/>
            <a:ext cx="3029997" cy="523220"/>
          </a:xfrm>
          <a:prstGeom prst="rect">
            <a:avLst/>
          </a:prstGeom>
        </p:spPr>
        <p:txBody>
          <a:bodyPr wrap="none">
            <a:spAutoFit/>
          </a:bodyPr>
          <a:lstStyle/>
          <a:p>
            <a:pPr marL="285750" indent="-285750" eaLnBrk="0" hangingPunct="0">
              <a:spcBef>
                <a:spcPct val="20000"/>
              </a:spcBef>
              <a:buClr>
                <a:srgbClr val="3399FF"/>
              </a:buClr>
              <a:buFont typeface="Wingdings" panose="05000000000000000000" pitchFamily="2" charset="2"/>
              <a:buChar char="v"/>
            </a:pPr>
            <a:r>
              <a:rPr lang="zh-CN" altLang="en-US" sz="2800" b="1" dirty="0">
                <a:solidFill>
                  <a:srgbClr val="FF0000"/>
                </a:solidFill>
                <a:effectLst>
                  <a:outerShdw blurRad="38100" dist="38100" dir="2700000" algn="tl">
                    <a:srgbClr val="000000">
                      <a:alpha val="43137"/>
                    </a:srgbClr>
                  </a:outerShdw>
                </a:effectLst>
                <a:latin typeface="+mn-ea"/>
                <a:ea typeface="+mn-ea"/>
              </a:rPr>
              <a:t>使用的检测方法</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7346"/>
                                        </p:tgtEl>
                                        <p:attrNameLst>
                                          <p:attrName>style.visibility</p:attrName>
                                        </p:attrNameLst>
                                      </p:cBhvr>
                                      <p:to>
                                        <p:strVal val="visible"/>
                                      </p:to>
                                    </p:set>
                                    <p:anim calcmode="lin" valueType="num">
                                      <p:cBhvr additive="base">
                                        <p:cTn id="7" dur="500" fill="hold"/>
                                        <p:tgtEl>
                                          <p:spTgt spid="57346"/>
                                        </p:tgtEl>
                                        <p:attrNameLst>
                                          <p:attrName>ppt_x</p:attrName>
                                        </p:attrNameLst>
                                      </p:cBhvr>
                                      <p:tavLst>
                                        <p:tav tm="0">
                                          <p:val>
                                            <p:strVal val="0-#ppt_w/2"/>
                                          </p:val>
                                        </p:tav>
                                        <p:tav tm="100000">
                                          <p:val>
                                            <p:strVal val="#ppt_x"/>
                                          </p:val>
                                        </p:tav>
                                      </p:tavLst>
                                    </p:anim>
                                    <p:anim calcmode="lin" valueType="num">
                                      <p:cBhvr additive="base">
                                        <p:cTn id="8" dur="500" fill="hold"/>
                                        <p:tgtEl>
                                          <p:spTgt spid="5734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57347">
                                            <p:txEl>
                                              <p:pRg st="0" end="0"/>
                                            </p:txEl>
                                          </p:spTgt>
                                        </p:tgtEl>
                                        <p:attrNameLst>
                                          <p:attrName>style.visibility</p:attrName>
                                        </p:attrNameLst>
                                      </p:cBhvr>
                                      <p:to>
                                        <p:strVal val="visible"/>
                                      </p:to>
                                    </p:set>
                                    <p:animEffect transition="in" filter="wipe(up)">
                                      <p:cBhvr>
                                        <p:cTn id="12" dur="500"/>
                                        <p:tgtEl>
                                          <p:spTgt spid="57347">
                                            <p:txEl>
                                              <p:pRg st="0" end="0"/>
                                            </p:txEl>
                                          </p:spTgt>
                                        </p:tgtEl>
                                      </p:cBhvr>
                                    </p:animEffect>
                                  </p:childTnLst>
                                </p:cTn>
                              </p:par>
                            </p:childTnLst>
                          </p:cTn>
                        </p:par>
                        <p:par>
                          <p:cTn id="13" fill="hold">
                            <p:stCondLst>
                              <p:cond delay="1000"/>
                            </p:stCondLst>
                            <p:childTnLst>
                              <p:par>
                                <p:cTn id="14" presetID="22" presetClass="entr" presetSubtype="1" fill="hold" grpId="0" nodeType="afterEffect">
                                  <p:stCondLst>
                                    <p:cond delay="0"/>
                                  </p:stCondLst>
                                  <p:childTnLst>
                                    <p:set>
                                      <p:cBhvr>
                                        <p:cTn id="15" dur="1" fill="hold">
                                          <p:stCondLst>
                                            <p:cond delay="0"/>
                                          </p:stCondLst>
                                        </p:cTn>
                                        <p:tgtEl>
                                          <p:spTgt spid="57347">
                                            <p:txEl>
                                              <p:pRg st="1" end="1"/>
                                            </p:txEl>
                                          </p:spTgt>
                                        </p:tgtEl>
                                        <p:attrNameLst>
                                          <p:attrName>style.visibility</p:attrName>
                                        </p:attrNameLst>
                                      </p:cBhvr>
                                      <p:to>
                                        <p:strVal val="visible"/>
                                      </p:to>
                                    </p:set>
                                    <p:animEffect transition="in" filter="wipe(up)">
                                      <p:cBhvr>
                                        <p:cTn id="16" dur="500"/>
                                        <p:tgtEl>
                                          <p:spTgt spid="57347">
                                            <p:txEl>
                                              <p:pRg st="1" end="1"/>
                                            </p:txEl>
                                          </p:spTgt>
                                        </p:tgtEl>
                                      </p:cBhvr>
                                    </p:animEffect>
                                  </p:childTnLst>
                                </p:cTn>
                              </p:par>
                            </p:childTnLst>
                          </p:cTn>
                        </p:par>
                        <p:par>
                          <p:cTn id="17" fill="hold">
                            <p:stCondLst>
                              <p:cond delay="1500"/>
                            </p:stCondLst>
                            <p:childTnLst>
                              <p:par>
                                <p:cTn id="18" presetID="22" presetClass="entr" presetSubtype="1" fill="hold" grpId="0" nodeType="afterEffect">
                                  <p:stCondLst>
                                    <p:cond delay="0"/>
                                  </p:stCondLst>
                                  <p:childTnLst>
                                    <p:set>
                                      <p:cBhvr>
                                        <p:cTn id="19" dur="1" fill="hold">
                                          <p:stCondLst>
                                            <p:cond delay="0"/>
                                          </p:stCondLst>
                                        </p:cTn>
                                        <p:tgtEl>
                                          <p:spTgt spid="57347">
                                            <p:txEl>
                                              <p:pRg st="2" end="2"/>
                                            </p:txEl>
                                          </p:spTgt>
                                        </p:tgtEl>
                                        <p:attrNameLst>
                                          <p:attrName>style.visibility</p:attrName>
                                        </p:attrNameLst>
                                      </p:cBhvr>
                                      <p:to>
                                        <p:strVal val="visible"/>
                                      </p:to>
                                    </p:set>
                                    <p:animEffect transition="in" filter="wipe(up)">
                                      <p:cBhvr>
                                        <p:cTn id="20" dur="500"/>
                                        <p:tgtEl>
                                          <p:spTgt spid="57347">
                                            <p:txEl>
                                              <p:pRg st="2" end="2"/>
                                            </p:txEl>
                                          </p:spTgt>
                                        </p:tgtEl>
                                      </p:cBhvr>
                                    </p:animEffect>
                                  </p:childTnLst>
                                </p:cTn>
                              </p:par>
                            </p:childTnLst>
                          </p:cTn>
                        </p:par>
                        <p:par>
                          <p:cTn id="21" fill="hold">
                            <p:stCondLst>
                              <p:cond delay="2000"/>
                            </p:stCondLst>
                            <p:childTnLst>
                              <p:par>
                                <p:cTn id="22" presetID="22" presetClass="entr" presetSubtype="1" fill="hold" grpId="0" nodeType="afterEffect">
                                  <p:stCondLst>
                                    <p:cond delay="0"/>
                                  </p:stCondLst>
                                  <p:childTnLst>
                                    <p:set>
                                      <p:cBhvr>
                                        <p:cTn id="23" dur="1" fill="hold">
                                          <p:stCondLst>
                                            <p:cond delay="0"/>
                                          </p:stCondLst>
                                        </p:cTn>
                                        <p:tgtEl>
                                          <p:spTgt spid="57347">
                                            <p:txEl>
                                              <p:pRg st="3" end="3"/>
                                            </p:txEl>
                                          </p:spTgt>
                                        </p:tgtEl>
                                        <p:attrNameLst>
                                          <p:attrName>style.visibility</p:attrName>
                                        </p:attrNameLst>
                                      </p:cBhvr>
                                      <p:to>
                                        <p:strVal val="visible"/>
                                      </p:to>
                                    </p:set>
                                    <p:animEffect transition="in" filter="wipe(up)">
                                      <p:cBhvr>
                                        <p:cTn id="24" dur="500"/>
                                        <p:tgtEl>
                                          <p:spTgt spid="57347">
                                            <p:txEl>
                                              <p:pRg st="3" end="3"/>
                                            </p:txEl>
                                          </p:spTgt>
                                        </p:tgtEl>
                                      </p:cBhvr>
                                    </p:animEffect>
                                  </p:childTnLst>
                                </p:cTn>
                              </p:par>
                            </p:childTnLst>
                          </p:cTn>
                        </p:par>
                        <p:par>
                          <p:cTn id="25" fill="hold">
                            <p:stCondLst>
                              <p:cond delay="2500"/>
                            </p:stCondLst>
                            <p:childTnLst>
                              <p:par>
                                <p:cTn id="26" presetID="22" presetClass="entr" presetSubtype="1" fill="hold" grpId="0" nodeType="afterEffect">
                                  <p:stCondLst>
                                    <p:cond delay="0"/>
                                  </p:stCondLst>
                                  <p:childTnLst>
                                    <p:set>
                                      <p:cBhvr>
                                        <p:cTn id="27" dur="1" fill="hold">
                                          <p:stCondLst>
                                            <p:cond delay="0"/>
                                          </p:stCondLst>
                                        </p:cTn>
                                        <p:tgtEl>
                                          <p:spTgt spid="57347">
                                            <p:txEl>
                                              <p:pRg st="4" end="4"/>
                                            </p:txEl>
                                          </p:spTgt>
                                        </p:tgtEl>
                                        <p:attrNameLst>
                                          <p:attrName>style.visibility</p:attrName>
                                        </p:attrNameLst>
                                      </p:cBhvr>
                                      <p:to>
                                        <p:strVal val="visible"/>
                                      </p:to>
                                    </p:set>
                                    <p:animEffect transition="in" filter="wipe(up)">
                                      <p:cBhvr>
                                        <p:cTn id="28" dur="500"/>
                                        <p:tgtEl>
                                          <p:spTgt spid="57347">
                                            <p:txEl>
                                              <p:pRg st="4" end="4"/>
                                            </p:txEl>
                                          </p:spTgt>
                                        </p:tgtEl>
                                      </p:cBhvr>
                                    </p:animEffect>
                                  </p:childTnLst>
                                </p:cTn>
                              </p:par>
                            </p:childTnLst>
                          </p:cTn>
                        </p:par>
                        <p:par>
                          <p:cTn id="29" fill="hold">
                            <p:stCondLst>
                              <p:cond delay="3000"/>
                            </p:stCondLst>
                            <p:childTnLst>
                              <p:par>
                                <p:cTn id="30" presetID="22" presetClass="entr" presetSubtype="1" fill="hold" grpId="0" nodeType="afterEffect">
                                  <p:stCondLst>
                                    <p:cond delay="0"/>
                                  </p:stCondLst>
                                  <p:childTnLst>
                                    <p:set>
                                      <p:cBhvr>
                                        <p:cTn id="31" dur="1" fill="hold">
                                          <p:stCondLst>
                                            <p:cond delay="0"/>
                                          </p:stCondLst>
                                        </p:cTn>
                                        <p:tgtEl>
                                          <p:spTgt spid="57347">
                                            <p:txEl>
                                              <p:pRg st="5" end="5"/>
                                            </p:txEl>
                                          </p:spTgt>
                                        </p:tgtEl>
                                        <p:attrNameLst>
                                          <p:attrName>style.visibility</p:attrName>
                                        </p:attrNameLst>
                                      </p:cBhvr>
                                      <p:to>
                                        <p:strVal val="visible"/>
                                      </p:to>
                                    </p:set>
                                    <p:animEffect transition="in" filter="wipe(up)">
                                      <p:cBhvr>
                                        <p:cTn id="32" dur="500"/>
                                        <p:tgtEl>
                                          <p:spTgt spid="573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 grpId="0"/>
      <p:bldP spid="57347"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idx="4294967295"/>
          </p:nvPr>
        </p:nvSpPr>
        <p:spPr>
          <a:xfrm>
            <a:off x="656151" y="771569"/>
            <a:ext cx="4716524" cy="728700"/>
          </a:xfrm>
          <a:noFill/>
          <a:ln w="9525">
            <a:noFill/>
            <a:miter lim="800000"/>
          </a:ln>
        </p:spPr>
        <p:txBody>
          <a:bodyPr vert="horz" wrap="square" lIns="91440" tIns="45720" rIns="91440" bIns="45720" numCol="1" anchor="ctr" anchorCtr="0" compatLnSpc="1"/>
          <a:lstStyle/>
          <a:p>
            <a:r>
              <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8.9  </a:t>
            </a:r>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主机入侵检测系统</a:t>
            </a:r>
          </a:p>
        </p:txBody>
      </p:sp>
      <p:sp>
        <p:nvSpPr>
          <p:cNvPr id="55301" name="Rectangle 6"/>
          <p:cNvSpPr>
            <a:spLocks noChangeArrowheads="1"/>
          </p:cNvSpPr>
          <p:nvPr/>
        </p:nvSpPr>
        <p:spPr bwMode="auto">
          <a:xfrm>
            <a:off x="639762" y="1554275"/>
            <a:ext cx="7940675" cy="2126753"/>
          </a:xfrm>
          <a:prstGeom prst="rect">
            <a:avLst/>
          </a:prstGeom>
          <a:noFill/>
          <a:ln w="9525">
            <a:noFill/>
            <a:miter lim="800000"/>
          </a:ln>
        </p:spPr>
        <p:txBody>
          <a:bodyPr lIns="82124" tIns="41061" rIns="82124" bIns="41061"/>
          <a:lstStyle/>
          <a:p>
            <a:pPr marL="342900" indent="-342900" eaLnBrk="0" hangingPunct="0">
              <a:spcBef>
                <a:spcPct val="20000"/>
              </a:spcBef>
              <a:buClr>
                <a:srgbClr val="3399FF"/>
              </a:buClr>
              <a:buFont typeface="Wingdings" panose="05000000000000000000" pitchFamily="2" charset="2"/>
              <a:buChar char="v"/>
            </a:pPr>
            <a:r>
              <a:rPr lang="zh-CN" altLang="en-US" sz="2400" b="1" dirty="0">
                <a:effectLst>
                  <a:outerShdw blurRad="38100" dist="38100" dir="2700000" algn="tl">
                    <a:srgbClr val="000000">
                      <a:alpha val="43137"/>
                    </a:srgbClr>
                  </a:outerShdw>
                </a:effectLst>
                <a:latin typeface="+mn-ea"/>
                <a:ea typeface="+mn-ea"/>
              </a:rPr>
              <a:t>基于主机的入侵检测系统是以代理软件的形式安装在每台主机或服务器上，以监测主机上的各种活动；</a:t>
            </a:r>
            <a:endParaRPr lang="en-US" altLang="zh-CN" sz="2400" b="1" dirty="0">
              <a:effectLst>
                <a:outerShdw blurRad="38100" dist="38100" dir="2700000" algn="tl">
                  <a:srgbClr val="000000">
                    <a:alpha val="43137"/>
                  </a:srgbClr>
                </a:outerShdw>
              </a:effectLst>
              <a:latin typeface="+mn-ea"/>
              <a:ea typeface="+mn-ea"/>
            </a:endParaRPr>
          </a:p>
          <a:p>
            <a:pPr marL="342900" indent="-342900" eaLnBrk="0" hangingPunct="0">
              <a:spcBef>
                <a:spcPct val="20000"/>
              </a:spcBef>
              <a:buClr>
                <a:srgbClr val="3399FF"/>
              </a:buClr>
              <a:buFont typeface="Wingdings" panose="05000000000000000000" pitchFamily="2" charset="2"/>
              <a:buChar char="v"/>
            </a:pPr>
            <a:r>
              <a:rPr lang="zh-CN" altLang="en-US" sz="2400" b="1" dirty="0">
                <a:effectLst>
                  <a:outerShdw blurRad="38100" dist="38100" dir="2700000" algn="tl">
                    <a:srgbClr val="000000">
                      <a:alpha val="43137"/>
                    </a:srgbClr>
                  </a:outerShdw>
                </a:effectLst>
                <a:latin typeface="+mn-ea"/>
                <a:ea typeface="+mn-ea"/>
              </a:rPr>
              <a:t>代理软件实现对入侵的检测分析；</a:t>
            </a:r>
          </a:p>
          <a:p>
            <a:pPr marL="342900" indent="-342900" eaLnBrk="0" hangingPunct="0">
              <a:spcBef>
                <a:spcPct val="20000"/>
              </a:spcBef>
              <a:buClr>
                <a:srgbClr val="3399FF"/>
              </a:buClr>
              <a:buFont typeface="Wingdings" panose="05000000000000000000" pitchFamily="2" charset="2"/>
              <a:buChar char="v"/>
            </a:pPr>
            <a:r>
              <a:rPr lang="zh-CN" altLang="en-US" sz="2400" b="1" dirty="0">
                <a:effectLst>
                  <a:outerShdw blurRad="38100" dist="38100" dir="2700000" algn="tl">
                    <a:srgbClr val="000000">
                      <a:alpha val="43137"/>
                    </a:srgbClr>
                  </a:outerShdw>
                </a:effectLst>
                <a:latin typeface="+mn-ea"/>
                <a:ea typeface="+mn-ea"/>
              </a:rPr>
              <a:t>由代理软件向统一的管理</a:t>
            </a:r>
            <a:r>
              <a:rPr lang="en-US" altLang="zh-CN" sz="2400" b="1" dirty="0">
                <a:effectLst>
                  <a:outerShdw blurRad="38100" dist="38100" dir="2700000" algn="tl">
                    <a:srgbClr val="000000">
                      <a:alpha val="43137"/>
                    </a:srgbClr>
                  </a:outerShdw>
                </a:effectLst>
                <a:latin typeface="+mn-ea"/>
                <a:ea typeface="+mn-ea"/>
              </a:rPr>
              <a:t>/</a:t>
            </a:r>
            <a:r>
              <a:rPr lang="zh-CN" altLang="en-US" sz="2400" b="1" dirty="0">
                <a:effectLst>
                  <a:outerShdw blurRad="38100" dist="38100" dir="2700000" algn="tl">
                    <a:srgbClr val="000000">
                      <a:alpha val="43137"/>
                    </a:srgbClr>
                  </a:outerShdw>
                </a:effectLst>
                <a:latin typeface="+mn-ea"/>
                <a:ea typeface="+mn-ea"/>
              </a:rPr>
              <a:t>策略服务器发送日志和告警信息。</a:t>
            </a:r>
            <a:endParaRPr lang="en-US" altLang="zh-CN" sz="2400" b="1" dirty="0">
              <a:effectLst>
                <a:outerShdw blurRad="38100" dist="38100" dir="2700000" algn="tl">
                  <a:srgbClr val="000000">
                    <a:alpha val="43137"/>
                  </a:srgbClr>
                </a:outerShdw>
              </a:effectLst>
              <a:latin typeface="+mn-ea"/>
              <a:ea typeface="+mn-ea"/>
            </a:endParaRPr>
          </a:p>
        </p:txBody>
      </p:sp>
      <p:sp>
        <p:nvSpPr>
          <p:cNvPr id="2" name="矩形 1"/>
          <p:cNvSpPr/>
          <p:nvPr/>
        </p:nvSpPr>
        <p:spPr>
          <a:xfrm>
            <a:off x="503548" y="3789040"/>
            <a:ext cx="7940675" cy="1717393"/>
          </a:xfrm>
          <a:prstGeom prst="rect">
            <a:avLst/>
          </a:prstGeom>
        </p:spPr>
        <p:txBody>
          <a:bodyPr wrap="square">
            <a:spAutoFit/>
          </a:bodyPr>
          <a:lstStyle/>
          <a:p>
            <a:pPr marL="342900" indent="-342900" eaLnBrk="0" hangingPunct="0">
              <a:spcBef>
                <a:spcPct val="20000"/>
              </a:spcBef>
              <a:buClr>
                <a:srgbClr val="3399FF"/>
              </a:buClr>
              <a:buFont typeface="Wingdings" panose="05000000000000000000" pitchFamily="2" charset="2"/>
              <a:buChar char="v"/>
            </a:pPr>
            <a:r>
              <a:rPr lang="zh-CN" altLang="en-US" sz="2400" b="1" dirty="0">
                <a:effectLst>
                  <a:outerShdw blurRad="38100" dist="38100" dir="2700000" algn="tl">
                    <a:srgbClr val="000000">
                      <a:alpha val="43137"/>
                    </a:srgbClr>
                  </a:outerShdw>
                </a:effectLst>
                <a:latin typeface="+mn-ea"/>
                <a:ea typeface="+mn-ea"/>
              </a:rPr>
              <a:t>按照检测对象的不同，基于主机的入侵检测系统可以分为两类：</a:t>
            </a:r>
            <a:endParaRPr lang="en-US" altLang="zh-CN" sz="2400" b="1" dirty="0">
              <a:effectLst>
                <a:outerShdw blurRad="38100" dist="38100" dir="2700000" algn="tl">
                  <a:srgbClr val="000000">
                    <a:alpha val="43137"/>
                  </a:srgbClr>
                </a:outerShdw>
              </a:effectLst>
              <a:latin typeface="+mn-ea"/>
              <a:ea typeface="+mn-ea"/>
            </a:endParaRPr>
          </a:p>
          <a:p>
            <a:pPr marL="1257300" lvl="2" indent="-342900" eaLnBrk="0" hangingPunct="0">
              <a:spcBef>
                <a:spcPct val="20000"/>
              </a:spcBef>
              <a:buClr>
                <a:srgbClr val="3399FF"/>
              </a:buClr>
              <a:buFont typeface="Wingdings" panose="05000000000000000000" pitchFamily="2" charset="2"/>
              <a:buChar char="u"/>
            </a:pPr>
            <a:r>
              <a:rPr lang="zh-CN" altLang="en-US" sz="2400" b="1" dirty="0">
                <a:solidFill>
                  <a:srgbClr val="FF0000"/>
                </a:solidFill>
                <a:effectLst>
                  <a:outerShdw blurRad="38100" dist="38100" dir="2700000" algn="tl">
                    <a:srgbClr val="000000">
                      <a:alpha val="43137"/>
                    </a:srgbClr>
                  </a:outerShdw>
                </a:effectLst>
                <a:latin typeface="+mn-ea"/>
                <a:ea typeface="+mn-ea"/>
              </a:rPr>
              <a:t>网络连接检测</a:t>
            </a:r>
            <a:endParaRPr lang="en-US" altLang="zh-CN" sz="2400" b="1" dirty="0">
              <a:solidFill>
                <a:srgbClr val="FF0000"/>
              </a:solidFill>
              <a:effectLst>
                <a:outerShdw blurRad="38100" dist="38100" dir="2700000" algn="tl">
                  <a:srgbClr val="000000">
                    <a:alpha val="43137"/>
                  </a:srgbClr>
                </a:outerShdw>
              </a:effectLst>
              <a:latin typeface="+mn-ea"/>
              <a:ea typeface="+mn-ea"/>
            </a:endParaRPr>
          </a:p>
          <a:p>
            <a:pPr marL="1257300" lvl="2" indent="-342900" eaLnBrk="0" hangingPunct="0">
              <a:spcBef>
                <a:spcPct val="20000"/>
              </a:spcBef>
              <a:buClr>
                <a:srgbClr val="3399FF"/>
              </a:buClr>
              <a:buFont typeface="Wingdings" panose="05000000000000000000" pitchFamily="2" charset="2"/>
              <a:buChar char="u"/>
            </a:pPr>
            <a:r>
              <a:rPr lang="zh-CN" altLang="en-US" sz="2400" b="1" dirty="0">
                <a:solidFill>
                  <a:srgbClr val="FF0000"/>
                </a:solidFill>
                <a:effectLst>
                  <a:outerShdw blurRad="38100" dist="38100" dir="2700000" algn="tl">
                    <a:srgbClr val="000000">
                      <a:alpha val="43137"/>
                    </a:srgbClr>
                  </a:outerShdw>
                </a:effectLst>
                <a:latin typeface="+mn-ea"/>
                <a:ea typeface="+mn-ea"/>
              </a:rPr>
              <a:t>主机文件检测</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5301"/>
                                        </p:tgtEl>
                                        <p:attrNameLst>
                                          <p:attrName>style.visibility</p:attrName>
                                        </p:attrNameLst>
                                      </p:cBhvr>
                                      <p:to>
                                        <p:strVal val="visible"/>
                                      </p:to>
                                    </p:set>
                                    <p:animEffect transition="in" filter="wipe(up)">
                                      <p:cBhvr>
                                        <p:cTn id="7" dur="500"/>
                                        <p:tgtEl>
                                          <p:spTgt spid="55301"/>
                                        </p:tgtEl>
                                      </p:cBhvr>
                                    </p:animEffect>
                                  </p:childTnLst>
                                </p:cTn>
                              </p:par>
                            </p:childTnLst>
                          </p:cTn>
                        </p:par>
                        <p:par>
                          <p:cTn id="8" fill="hold">
                            <p:stCondLst>
                              <p:cond delay="500"/>
                            </p:stCondLst>
                            <p:childTnLst>
                              <p:par>
                                <p:cTn id="9" presetID="2" presetClass="entr" presetSubtype="2"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1+#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1" grpId="0"/>
      <p:bldP spid="2"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ChangeArrowheads="1"/>
          </p:cNvSpPr>
          <p:nvPr/>
        </p:nvSpPr>
        <p:spPr bwMode="auto">
          <a:xfrm>
            <a:off x="467544" y="1448781"/>
            <a:ext cx="8382000" cy="18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60680">
              <a:spcBef>
                <a:spcPct val="20000"/>
              </a:spcBef>
              <a:buClr>
                <a:schemeClr val="hlink"/>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3300"/>
              </a:buClr>
              <a:buFont typeface="Wingdings" panose="05000000000000000000" pitchFamily="2" charset="2"/>
              <a:buChar char="v"/>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339933"/>
              </a:buClr>
              <a:buFont typeface="Wingdings" panose="05000000000000000000" pitchFamily="2" charset="2"/>
              <a:buChar char="Ø"/>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703580" indent="-342900" eaLnBrk="1" hangingPunct="1"/>
            <a:r>
              <a:rPr lang="zh-CN" altLang="en-US" sz="2400" b="1" dirty="0">
                <a:effectLst>
                  <a:outerShdw blurRad="38100" dist="38100" dir="2700000" algn="tl">
                    <a:srgbClr val="000000">
                      <a:alpha val="43137"/>
                    </a:srgbClr>
                  </a:outerShdw>
                </a:effectLst>
                <a:latin typeface="+mn-ea"/>
                <a:ea typeface="+mn-ea"/>
              </a:rPr>
              <a:t>网络连接检测是对试图进入该主机的数据流进行检测，分析确定是否有入侵行为。</a:t>
            </a:r>
          </a:p>
          <a:p>
            <a:pPr marL="703580" indent="-342900" eaLnBrk="1" hangingPunct="1"/>
            <a:r>
              <a:rPr lang="zh-CN" altLang="en-US" sz="2400" b="1" dirty="0">
                <a:effectLst>
                  <a:outerShdw blurRad="38100" dist="38100" dir="2700000" algn="tl">
                    <a:srgbClr val="000000">
                      <a:alpha val="43137"/>
                    </a:srgbClr>
                  </a:outerShdw>
                </a:effectLst>
                <a:latin typeface="+mn-ea"/>
                <a:ea typeface="+mn-ea"/>
              </a:rPr>
              <a:t>网络连接检测可以有效地检测出是否存在攻击探测行为。</a:t>
            </a:r>
            <a:endParaRPr lang="en-US" altLang="zh-CN" sz="2400" b="1" dirty="0">
              <a:effectLst>
                <a:outerShdw blurRad="38100" dist="38100" dir="2700000" algn="tl">
                  <a:srgbClr val="000000">
                    <a:alpha val="43137"/>
                  </a:srgbClr>
                </a:outerShdw>
              </a:effectLst>
              <a:latin typeface="+mn-ea"/>
              <a:ea typeface="+mn-ea"/>
            </a:endParaRPr>
          </a:p>
          <a:p>
            <a:pPr marL="703580" indent="-342900" eaLnBrk="1" hangingPunct="1"/>
            <a:r>
              <a:rPr lang="zh-CN" altLang="en-US" sz="2400" b="1" dirty="0">
                <a:effectLst>
                  <a:outerShdw blurRad="38100" dist="38100" dir="2700000" algn="tl">
                    <a:srgbClr val="000000">
                      <a:alpha val="43137"/>
                    </a:srgbClr>
                  </a:outerShdw>
                </a:effectLst>
                <a:latin typeface="+mn-ea"/>
                <a:ea typeface="+mn-ea"/>
              </a:rPr>
              <a:t>攻击探测几乎是所有攻击行为的前奏。</a:t>
            </a:r>
            <a:endParaRPr lang="en-US" altLang="zh-CN" sz="2400" b="1" dirty="0">
              <a:effectLst>
                <a:outerShdw blurRad="38100" dist="38100" dir="2700000" algn="tl">
                  <a:srgbClr val="000000">
                    <a:alpha val="43137"/>
                  </a:srgbClr>
                </a:outerShdw>
              </a:effectLst>
              <a:latin typeface="+mn-ea"/>
              <a:ea typeface="+mn-ea"/>
            </a:endParaRPr>
          </a:p>
        </p:txBody>
      </p:sp>
      <p:sp>
        <p:nvSpPr>
          <p:cNvPr id="2" name="矩形 1"/>
          <p:cNvSpPr/>
          <p:nvPr/>
        </p:nvSpPr>
        <p:spPr>
          <a:xfrm>
            <a:off x="467544" y="836712"/>
            <a:ext cx="2348720" cy="523220"/>
          </a:xfrm>
          <a:prstGeom prst="rect">
            <a:avLst/>
          </a:prstGeom>
          <a:noFill/>
          <a:ln w="9525">
            <a:noFill/>
            <a:miter lim="800000"/>
          </a:ln>
        </p:spPr>
        <p:txBody>
          <a:bodyPr vert="horz" wrap="square" lIns="91440" tIns="45720" rIns="91440" bIns="45720" numCol="1" anchor="ctr" anchorCtr="0" compatLnSpc="1"/>
          <a:lstStyle/>
          <a:p>
            <a:pPr eaLnBrk="0" hangingPunct="0"/>
            <a:r>
              <a:rPr lang="zh-CN" altLang="en-US" sz="2800" b="1"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网络连接检测</a:t>
            </a:r>
          </a:p>
        </p:txBody>
      </p:sp>
      <p:sp>
        <p:nvSpPr>
          <p:cNvPr id="3" name="矩形 2"/>
          <p:cNvSpPr/>
          <p:nvPr/>
        </p:nvSpPr>
        <p:spPr>
          <a:xfrm>
            <a:off x="827584" y="3245289"/>
            <a:ext cx="7380820" cy="1631216"/>
          </a:xfrm>
          <a:prstGeom prst="rect">
            <a:avLst/>
          </a:prstGeom>
        </p:spPr>
        <p:txBody>
          <a:bodyPr wrap="square">
            <a:spAutoFit/>
          </a:bodyPr>
          <a:lstStyle/>
          <a:p>
            <a:pPr marL="703580" indent="-342900" eaLnBrk="1" hangingPunct="1">
              <a:buFont typeface="Wingdings" panose="05000000000000000000" pitchFamily="2" charset="2"/>
              <a:buChar char="n"/>
            </a:pPr>
            <a:r>
              <a:rPr lang="zh-CN" altLang="en-US" sz="2000" b="1" dirty="0">
                <a:effectLst>
                  <a:outerShdw blurRad="38100" dist="38100" dir="2700000" algn="tl">
                    <a:srgbClr val="000000">
                      <a:alpha val="43137"/>
                    </a:srgbClr>
                  </a:outerShdw>
                </a:effectLst>
                <a:latin typeface="+mn-ea"/>
                <a:ea typeface="+mn-ea"/>
              </a:rPr>
              <a:t>系统管理员可以设置好访问控制表，其中包括容易受到攻击探测的网络服务，并且为它们设置好访问权限。如果入侵检测系统发现有对未开放的服务端口进行网络连接，说明有攻击者在寻找系统漏洞，这些探测行为就会被入侵检测系统记录下来。</a:t>
            </a:r>
            <a:endParaRPr lang="zh-CN" altLang="en-US" sz="2000" b="1" dirty="0">
              <a:solidFill>
                <a:srgbClr val="800000"/>
              </a:solidFill>
              <a:effectLst>
                <a:outerShdw blurRad="38100" dist="38100" dir="2700000" algn="tl">
                  <a:srgbClr val="000000">
                    <a:alpha val="43137"/>
                  </a:srgbClr>
                </a:outerShdw>
              </a:effectLst>
              <a:latin typeface="+mn-ea"/>
              <a:ea typeface="+mn-ea"/>
            </a:endParaRPr>
          </a:p>
        </p:txBody>
      </p:sp>
      <p:sp>
        <p:nvSpPr>
          <p:cNvPr id="4" name="矩形 3"/>
          <p:cNvSpPr/>
          <p:nvPr/>
        </p:nvSpPr>
        <p:spPr>
          <a:xfrm>
            <a:off x="476410" y="4894499"/>
            <a:ext cx="5226431" cy="461665"/>
          </a:xfrm>
          <a:prstGeom prst="rect">
            <a:avLst/>
          </a:prstGeom>
        </p:spPr>
        <p:txBody>
          <a:bodyPr wrap="none">
            <a:spAutoFit/>
          </a:bodyPr>
          <a:lstStyle/>
          <a:p>
            <a:pPr marL="703580" indent="-342900">
              <a:spcBef>
                <a:spcPct val="20000"/>
              </a:spcBef>
              <a:buClr>
                <a:schemeClr val="hlink"/>
              </a:buClr>
              <a:buFont typeface="Wingdings" panose="05000000000000000000" pitchFamily="2" charset="2"/>
              <a:buChar char="u"/>
            </a:pPr>
            <a:r>
              <a:rPr kumimoji="1" lang="zh-CN" altLang="en-US" sz="2400" b="1" dirty="0">
                <a:effectLst>
                  <a:outerShdw blurRad="38100" dist="38100" dir="2700000" algn="tl">
                    <a:srgbClr val="000000">
                      <a:alpha val="43137"/>
                    </a:srgbClr>
                  </a:outerShdw>
                </a:effectLst>
                <a:latin typeface="+mn-ea"/>
                <a:ea typeface="+mn-ea"/>
              </a:rPr>
              <a:t>未经授权的连接也列入检测对象</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6323"/>
                                        </p:tgtEl>
                                        <p:attrNameLst>
                                          <p:attrName>style.visibility</p:attrName>
                                        </p:attrNameLst>
                                      </p:cBhvr>
                                      <p:to>
                                        <p:strVal val="visible"/>
                                      </p:to>
                                    </p:set>
                                    <p:animEffect transition="in" filter="wipe(up)">
                                      <p:cBhvr>
                                        <p:cTn id="7" dur="500"/>
                                        <p:tgtEl>
                                          <p:spTgt spid="5632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p:bldP spid="3" grpId="0"/>
      <p:bldP spid="4"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ChangeArrowheads="1"/>
          </p:cNvSpPr>
          <p:nvPr/>
        </p:nvSpPr>
        <p:spPr bwMode="auto">
          <a:xfrm>
            <a:off x="381000" y="1520789"/>
            <a:ext cx="8382000" cy="1656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7655" indent="-6350">
              <a:spcBef>
                <a:spcPct val="20000"/>
              </a:spcBef>
              <a:buClr>
                <a:schemeClr val="hlink"/>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3300"/>
              </a:buClr>
              <a:buFont typeface="Wingdings" panose="05000000000000000000" pitchFamily="2" charset="2"/>
              <a:buChar char="v"/>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339933"/>
              </a:buClr>
              <a:buFont typeface="Wingdings" panose="05000000000000000000" pitchFamily="2" charset="2"/>
              <a:buChar char="Ø"/>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2400" b="1" dirty="0">
                <a:effectLst>
                  <a:outerShdw blurRad="38100" dist="38100" dir="2700000" algn="tl">
                    <a:srgbClr val="000000">
                      <a:alpha val="43137"/>
                    </a:srgbClr>
                  </a:outerShdw>
                </a:effectLst>
                <a:latin typeface="+mn-ea"/>
                <a:ea typeface="+mn-ea"/>
              </a:rPr>
              <a:t>通常入侵行为会在主机的各种相关文件中留下痕迹，主机文件检测能够帮助系统管理员发现入侵行为或入侵企图，及时采取补救措施。</a:t>
            </a:r>
          </a:p>
          <a:p>
            <a:pPr eaLnBrk="1" hangingPunct="1">
              <a:buFont typeface="Wingdings" panose="05000000000000000000" pitchFamily="2" charset="2"/>
              <a:buNone/>
            </a:pPr>
            <a:r>
              <a:rPr lang="zh-CN" altLang="en-US" sz="2400" b="1" dirty="0">
                <a:effectLst>
                  <a:outerShdw blurRad="38100" dist="38100" dir="2700000" algn="tl">
                    <a:srgbClr val="000000">
                      <a:alpha val="43137"/>
                    </a:srgbClr>
                  </a:outerShdw>
                </a:effectLst>
                <a:latin typeface="+mn-ea"/>
                <a:ea typeface="+mn-ea"/>
              </a:rPr>
              <a:t>主机文件检测的检测对象主要包括以下几种：</a:t>
            </a:r>
          </a:p>
        </p:txBody>
      </p:sp>
      <p:sp>
        <p:nvSpPr>
          <p:cNvPr id="2" name="矩形 1"/>
          <p:cNvSpPr/>
          <p:nvPr/>
        </p:nvSpPr>
        <p:spPr>
          <a:xfrm>
            <a:off x="665324" y="764704"/>
            <a:ext cx="2348720" cy="523220"/>
          </a:xfrm>
          <a:prstGeom prst="rect">
            <a:avLst/>
          </a:prstGeom>
          <a:noFill/>
          <a:ln w="9525">
            <a:noFill/>
            <a:miter lim="800000"/>
          </a:ln>
        </p:spPr>
        <p:txBody>
          <a:bodyPr vert="horz" wrap="square" lIns="91440" tIns="45720" rIns="91440" bIns="45720" numCol="1" anchor="ctr" anchorCtr="0" compatLnSpc="1"/>
          <a:lstStyle/>
          <a:p>
            <a:pPr eaLnBrk="0" hangingPunct="0"/>
            <a:r>
              <a:rPr lang="zh-CN" altLang="en-US" sz="2800" b="1"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主机文件检测</a:t>
            </a:r>
          </a:p>
        </p:txBody>
      </p:sp>
      <p:sp>
        <p:nvSpPr>
          <p:cNvPr id="3" name="矩形 2"/>
          <p:cNvSpPr/>
          <p:nvPr/>
        </p:nvSpPr>
        <p:spPr>
          <a:xfrm>
            <a:off x="829424" y="3988223"/>
            <a:ext cx="7611380" cy="1446550"/>
          </a:xfrm>
          <a:prstGeom prst="rect">
            <a:avLst/>
          </a:prstGeom>
        </p:spPr>
        <p:txBody>
          <a:bodyPr wrap="square">
            <a:spAutoFit/>
          </a:bodyPr>
          <a:lstStyle/>
          <a:p>
            <a:pPr eaLnBrk="1" hangingPunct="1">
              <a:buFont typeface="Wingdings" panose="05000000000000000000" pitchFamily="2" charset="2"/>
              <a:buNone/>
            </a:pPr>
            <a:r>
              <a:rPr lang="zh-CN" altLang="en-US" sz="2000" b="1" dirty="0">
                <a:effectLst>
                  <a:outerShdw blurRad="38100" dist="38100" dir="2700000" algn="tl">
                    <a:srgbClr val="000000">
                      <a:alpha val="43137"/>
                    </a:srgbClr>
                  </a:outerShdw>
                </a:effectLst>
                <a:latin typeface="+mn-ea"/>
                <a:ea typeface="+mn-ea"/>
              </a:rPr>
              <a:t>系统日志文件中记录了各种类型的信息，包括各用户的行为记录。如果日志文件中存在着异常的记录，就可以认为已经或正在发生网络入侵行为。这些异常包括</a:t>
            </a:r>
            <a:r>
              <a:rPr lang="zh-CN" altLang="en-US" sz="2400" b="1" dirty="0">
                <a:solidFill>
                  <a:srgbClr val="FF0000"/>
                </a:solidFill>
                <a:effectLst>
                  <a:outerShdw blurRad="38100" dist="38100" dir="2700000" algn="tl">
                    <a:srgbClr val="000000">
                      <a:alpha val="43137"/>
                    </a:srgbClr>
                  </a:outerShdw>
                </a:effectLst>
                <a:latin typeface="+mn-ea"/>
                <a:ea typeface="+mn-ea"/>
              </a:rPr>
              <a:t>不正常的反复登录失败记录</a:t>
            </a:r>
            <a:r>
              <a:rPr lang="zh-CN" altLang="en-US" sz="2400" b="1" dirty="0">
                <a:effectLst>
                  <a:outerShdw blurRad="38100" dist="38100" dir="2700000" algn="tl">
                    <a:srgbClr val="000000">
                      <a:alpha val="43137"/>
                    </a:srgbClr>
                  </a:outerShdw>
                </a:effectLst>
                <a:latin typeface="+mn-ea"/>
                <a:ea typeface="+mn-ea"/>
              </a:rPr>
              <a:t>、</a:t>
            </a:r>
            <a:r>
              <a:rPr lang="zh-CN" altLang="en-US" sz="2400" b="1" dirty="0">
                <a:solidFill>
                  <a:srgbClr val="FF0000"/>
                </a:solidFill>
                <a:effectLst>
                  <a:outerShdw blurRad="38100" dist="38100" dir="2700000" algn="tl">
                    <a:srgbClr val="000000">
                      <a:alpha val="43137"/>
                    </a:srgbClr>
                  </a:outerShdw>
                </a:effectLst>
                <a:latin typeface="+mn-ea"/>
                <a:ea typeface="+mn-ea"/>
              </a:rPr>
              <a:t>未授权用户越权访问重要文件、非正常登录行为</a:t>
            </a:r>
            <a:r>
              <a:rPr lang="zh-CN" altLang="en-US" sz="2000" b="1" dirty="0">
                <a:effectLst>
                  <a:outerShdw blurRad="38100" dist="38100" dir="2700000" algn="tl">
                    <a:srgbClr val="000000">
                      <a:alpha val="43137"/>
                    </a:srgbClr>
                  </a:outerShdw>
                </a:effectLst>
                <a:latin typeface="+mn-ea"/>
                <a:ea typeface="+mn-ea"/>
              </a:rPr>
              <a:t>等。</a:t>
            </a:r>
          </a:p>
        </p:txBody>
      </p:sp>
      <p:sp>
        <p:nvSpPr>
          <p:cNvPr id="4" name="矩形 3"/>
          <p:cNvSpPr/>
          <p:nvPr/>
        </p:nvSpPr>
        <p:spPr>
          <a:xfrm>
            <a:off x="575556" y="3320988"/>
            <a:ext cx="2528256" cy="523220"/>
          </a:xfrm>
          <a:prstGeom prst="rect">
            <a:avLst/>
          </a:prstGeom>
          <a:noFill/>
          <a:ln w="9525">
            <a:noFill/>
            <a:miter lim="800000"/>
          </a:ln>
        </p:spPr>
        <p:txBody>
          <a:bodyPr vert="horz" wrap="square" lIns="91440" tIns="45720" rIns="91440" bIns="45720" numCol="1" anchor="ctr" anchorCtr="0" compatLnSpc="1"/>
          <a:lstStyle/>
          <a:p>
            <a:pPr eaLnBrk="0" hangingPunct="0"/>
            <a:r>
              <a:rPr lang="zh-CN" altLang="en-US" sz="2800" b="1"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r>
              <a:rPr lang="en-US" altLang="zh-CN" sz="2800" b="1"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1</a:t>
            </a:r>
            <a:r>
              <a:rPr lang="zh-CN" altLang="en-US" sz="2800" b="1"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）系统日志</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8371"/>
                                        </p:tgtEl>
                                        <p:attrNameLst>
                                          <p:attrName>style.visibility</p:attrName>
                                        </p:attrNameLst>
                                      </p:cBhvr>
                                      <p:to>
                                        <p:strVal val="visible"/>
                                      </p:to>
                                    </p:set>
                                    <p:animEffect transition="in" filter="wipe(up)">
                                      <p:cBhvr>
                                        <p:cTn id="7" dur="500"/>
                                        <p:tgtEl>
                                          <p:spTgt spid="58371"/>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ppt_w</p:attrName>
                                        </p:attrNameLst>
                                      </p:cBhvr>
                                      <p:tavLst>
                                        <p:tav tm="0">
                                          <p:val>
                                            <p:fltVal val="0"/>
                                          </p:val>
                                        </p:tav>
                                        <p:tav tm="100000">
                                          <p:val>
                                            <p:strVal val="#ppt_w"/>
                                          </p:val>
                                        </p:tav>
                                      </p:tavLst>
                                    </p:anim>
                                    <p:anim calcmode="lin" valueType="num">
                                      <p:cBhvr>
                                        <p:cTn id="12" dur="500" fill="hold"/>
                                        <p:tgtEl>
                                          <p:spTgt spid="4"/>
                                        </p:tgtEl>
                                        <p:attrNameLst>
                                          <p:attrName>ppt_h</p:attrName>
                                        </p:attrNameLst>
                                      </p:cBhvr>
                                      <p:tavLst>
                                        <p:tav tm="0">
                                          <p:val>
                                            <p:fltVal val="0"/>
                                          </p:val>
                                        </p:tav>
                                        <p:tav tm="100000">
                                          <p:val>
                                            <p:strVal val="#ppt_h"/>
                                          </p:val>
                                        </p:tav>
                                      </p:tavLst>
                                    </p:anim>
                                    <p:animEffect transition="in" filter="fad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p:cTn id="18" dur="500" fill="hold"/>
                                        <p:tgtEl>
                                          <p:spTgt spid="3"/>
                                        </p:tgtEl>
                                        <p:attrNameLst>
                                          <p:attrName>ppt_w</p:attrName>
                                        </p:attrNameLst>
                                      </p:cBhvr>
                                      <p:tavLst>
                                        <p:tav tm="0">
                                          <p:val>
                                            <p:fltVal val="0"/>
                                          </p:val>
                                        </p:tav>
                                        <p:tav tm="100000">
                                          <p:val>
                                            <p:strVal val="#ppt_w"/>
                                          </p:val>
                                        </p:tav>
                                      </p:tavLst>
                                    </p:anim>
                                    <p:anim calcmode="lin" valueType="num">
                                      <p:cBhvr>
                                        <p:cTn id="19" dur="500" fill="hold"/>
                                        <p:tgtEl>
                                          <p:spTgt spid="3"/>
                                        </p:tgtEl>
                                        <p:attrNameLst>
                                          <p:attrName>ppt_h</p:attrName>
                                        </p:attrNameLst>
                                      </p:cBhvr>
                                      <p:tavLst>
                                        <p:tav tm="0">
                                          <p:val>
                                            <p:fltVal val="0"/>
                                          </p:val>
                                        </p:tav>
                                        <p:tav tm="100000">
                                          <p:val>
                                            <p:strVal val="#ppt_h"/>
                                          </p:val>
                                        </p:tav>
                                      </p:tavLst>
                                    </p:anim>
                                    <p:animEffect transition="in" filter="fade">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p:bldP spid="3" grpId="0"/>
      <p:bldP spid="4"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ChangeArrowheads="1"/>
          </p:cNvSpPr>
          <p:nvPr/>
        </p:nvSpPr>
        <p:spPr bwMode="auto">
          <a:xfrm>
            <a:off x="464405" y="1325920"/>
            <a:ext cx="8382000" cy="1925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7655" indent="-6350">
              <a:spcBef>
                <a:spcPct val="20000"/>
              </a:spcBef>
              <a:buClr>
                <a:schemeClr val="hlink"/>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3300"/>
              </a:buClr>
              <a:buFont typeface="Wingdings" panose="05000000000000000000" pitchFamily="2" charset="2"/>
              <a:buChar char="v"/>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339933"/>
              </a:buClr>
              <a:buFont typeface="Wingdings" panose="05000000000000000000" pitchFamily="2" charset="2"/>
              <a:buChar char="Ø"/>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2000" b="1" dirty="0">
                <a:effectLst>
                  <a:outerShdw blurRad="38100" dist="38100" dir="2700000" algn="tl">
                    <a:srgbClr val="000000">
                      <a:alpha val="43137"/>
                    </a:srgbClr>
                  </a:outerShdw>
                </a:effectLst>
                <a:latin typeface="+mn-ea"/>
                <a:ea typeface="+mn-ea"/>
              </a:rPr>
              <a:t>攻击者会修改网络主机上包含重要信息的各种数据文件，可能会删除或者替换某些文件，或者尽量修改各种日志记录来销毁攻击行为可能留下的痕迹。如果入侵检测系统发现文件系统发生了异常的改变，例如一些受限访问的</a:t>
            </a:r>
            <a:r>
              <a:rPr lang="zh-CN" altLang="en-US" sz="2400" b="1" dirty="0">
                <a:solidFill>
                  <a:srgbClr val="FF0000"/>
                </a:solidFill>
                <a:effectLst>
                  <a:outerShdw blurRad="38100" dist="38100" dir="2700000" algn="tl">
                    <a:srgbClr val="000000">
                      <a:alpha val="43137"/>
                    </a:srgbClr>
                  </a:outerShdw>
                </a:effectLst>
                <a:latin typeface="+mn-ea"/>
                <a:ea typeface="+mn-ea"/>
              </a:rPr>
              <a:t>目录或文件被非正常地创建、修改或删除</a:t>
            </a:r>
            <a:r>
              <a:rPr lang="zh-CN" altLang="en-US" sz="2400" b="1" dirty="0">
                <a:effectLst>
                  <a:outerShdw blurRad="38100" dist="38100" dir="2700000" algn="tl">
                    <a:srgbClr val="000000">
                      <a:alpha val="43137"/>
                    </a:srgbClr>
                  </a:outerShdw>
                </a:effectLst>
                <a:latin typeface="+mn-ea"/>
                <a:ea typeface="+mn-ea"/>
              </a:rPr>
              <a:t>，</a:t>
            </a:r>
            <a:r>
              <a:rPr lang="zh-CN" altLang="en-US" sz="2000" b="1" dirty="0">
                <a:effectLst>
                  <a:outerShdw blurRad="38100" dist="38100" dir="2700000" algn="tl">
                    <a:srgbClr val="000000">
                      <a:alpha val="43137"/>
                    </a:srgbClr>
                  </a:outerShdw>
                </a:effectLst>
                <a:latin typeface="+mn-ea"/>
                <a:ea typeface="+mn-ea"/>
              </a:rPr>
              <a:t>就可以怀疑发生了网络入侵行为。</a:t>
            </a:r>
          </a:p>
        </p:txBody>
      </p:sp>
      <p:sp>
        <p:nvSpPr>
          <p:cNvPr id="2" name="矩形 1"/>
          <p:cNvSpPr/>
          <p:nvPr/>
        </p:nvSpPr>
        <p:spPr>
          <a:xfrm>
            <a:off x="357064" y="764704"/>
            <a:ext cx="2618024" cy="523220"/>
          </a:xfrm>
          <a:prstGeom prst="rect">
            <a:avLst/>
          </a:prstGeom>
          <a:noFill/>
          <a:ln w="9525">
            <a:noFill/>
            <a:miter lim="800000"/>
          </a:ln>
        </p:spPr>
        <p:txBody>
          <a:bodyPr vert="horz" wrap="square" lIns="91440" tIns="45720" rIns="91440" bIns="45720" numCol="1" anchor="ctr" anchorCtr="0" compatLnSpc="1"/>
          <a:lstStyle/>
          <a:p>
            <a:pPr eaLnBrk="0" hangingPunct="0"/>
            <a:r>
              <a:rPr lang="zh-CN" altLang="en-US" sz="2800" b="1"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r>
              <a:rPr lang="en-US" altLang="zh-CN" sz="2800" b="1"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2</a:t>
            </a:r>
            <a:r>
              <a:rPr lang="zh-CN" altLang="en-US" sz="2800" b="1"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 文件系统</a:t>
            </a:r>
          </a:p>
        </p:txBody>
      </p:sp>
      <p:sp>
        <p:nvSpPr>
          <p:cNvPr id="3" name="矩形 2"/>
          <p:cNvSpPr/>
          <p:nvPr/>
        </p:nvSpPr>
        <p:spPr>
          <a:xfrm>
            <a:off x="464405" y="3288969"/>
            <a:ext cx="2618024" cy="523220"/>
          </a:xfrm>
          <a:prstGeom prst="rect">
            <a:avLst/>
          </a:prstGeom>
          <a:noFill/>
          <a:ln w="9525">
            <a:noFill/>
            <a:miter lim="800000"/>
          </a:ln>
        </p:spPr>
        <p:txBody>
          <a:bodyPr vert="horz" wrap="square" lIns="91440" tIns="45720" rIns="91440" bIns="45720" numCol="1" anchor="ctr" anchorCtr="0" compatLnSpc="1"/>
          <a:lstStyle/>
          <a:p>
            <a:pPr eaLnBrk="0" hangingPunct="0"/>
            <a:r>
              <a:rPr lang="zh-CN" altLang="en-US" sz="2800" b="1"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r>
              <a:rPr lang="en-US" altLang="zh-CN" sz="2800" b="1"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3</a:t>
            </a:r>
            <a:r>
              <a:rPr lang="zh-CN" altLang="en-US" sz="2800" b="1"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 进程记录</a:t>
            </a:r>
          </a:p>
        </p:txBody>
      </p:sp>
      <p:sp>
        <p:nvSpPr>
          <p:cNvPr id="6" name="Rectangle 2"/>
          <p:cNvSpPr>
            <a:spLocks noChangeArrowheads="1"/>
          </p:cNvSpPr>
          <p:nvPr/>
        </p:nvSpPr>
        <p:spPr bwMode="auto">
          <a:xfrm>
            <a:off x="464405" y="3933056"/>
            <a:ext cx="8382000" cy="1995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7655" indent="-6350">
              <a:spcBef>
                <a:spcPct val="20000"/>
              </a:spcBef>
              <a:buClr>
                <a:schemeClr val="hlink"/>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3300"/>
              </a:buClr>
              <a:buFont typeface="Wingdings" panose="05000000000000000000" pitchFamily="2" charset="2"/>
              <a:buChar char="v"/>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339933"/>
              </a:buClr>
              <a:buFont typeface="Wingdings" panose="05000000000000000000" pitchFamily="2" charset="2"/>
              <a:buChar char="Ø"/>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2000" b="1" dirty="0">
                <a:effectLst>
                  <a:outerShdw blurRad="38100" dist="38100" dir="2700000" algn="tl">
                    <a:srgbClr val="000000">
                      <a:alpha val="43137"/>
                    </a:srgbClr>
                  </a:outerShdw>
                </a:effectLst>
                <a:latin typeface="+mn-ea"/>
                <a:ea typeface="+mn-ea"/>
              </a:rPr>
              <a:t>主机系统中运行着各种不同的应用程序，包括各种服务程序。每个执行中的程序都包含了一个或多个进程。每个进程都存在于特定的系统环境中，能够访问有限的系统资源、数据文件等，或者与特定的进程进行通信。黑客可能将程序的</a:t>
            </a:r>
            <a:r>
              <a:rPr lang="zh-CN" altLang="en-US" sz="2400" b="1" dirty="0">
                <a:solidFill>
                  <a:srgbClr val="FF0000"/>
                </a:solidFill>
                <a:effectLst>
                  <a:outerShdw blurRad="38100" dist="38100" dir="2700000" algn="tl">
                    <a:srgbClr val="000000">
                      <a:alpha val="43137"/>
                    </a:srgbClr>
                  </a:outerShdw>
                </a:effectLst>
                <a:latin typeface="+mn-ea"/>
                <a:ea typeface="+mn-ea"/>
              </a:rPr>
              <a:t>进程分解，致使程序中止</a:t>
            </a:r>
            <a:r>
              <a:rPr lang="zh-CN" altLang="en-US" sz="2000" b="1" dirty="0">
                <a:effectLst>
                  <a:outerShdw blurRad="38100" dist="38100" dir="2700000" algn="tl">
                    <a:srgbClr val="000000">
                      <a:alpha val="43137"/>
                    </a:srgbClr>
                  </a:outerShdw>
                </a:effectLst>
                <a:latin typeface="+mn-ea"/>
                <a:ea typeface="+mn-ea"/>
              </a:rPr>
              <a:t>，或者令程序执行违背系统用户意图的操作。如果入侵检测系统发现某个进程存在着异常的行为，就可以怀疑有网络入侵。</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22" presetClass="entr" presetSubtype="1" fill="hold" grpId="0" nodeType="afterEffect">
                                  <p:stCondLst>
                                    <p:cond delay="0"/>
                                  </p:stCondLst>
                                  <p:childTnLst>
                                    <p:set>
                                      <p:cBhvr>
                                        <p:cTn id="12" dur="1" fill="hold">
                                          <p:stCondLst>
                                            <p:cond delay="0"/>
                                          </p:stCondLst>
                                        </p:cTn>
                                        <p:tgtEl>
                                          <p:spTgt spid="60419"/>
                                        </p:tgtEl>
                                        <p:attrNameLst>
                                          <p:attrName>style.visibility</p:attrName>
                                        </p:attrNameLst>
                                      </p:cBhvr>
                                      <p:to>
                                        <p:strVal val="visible"/>
                                      </p:to>
                                    </p:set>
                                    <p:animEffect transition="in" filter="wipe(up)">
                                      <p:cBhvr>
                                        <p:cTn id="13" dur="500"/>
                                        <p:tgtEl>
                                          <p:spTgt spid="60419"/>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p:cTn id="18" dur="500" fill="hold"/>
                                        <p:tgtEl>
                                          <p:spTgt spid="3"/>
                                        </p:tgtEl>
                                        <p:attrNameLst>
                                          <p:attrName>ppt_w</p:attrName>
                                        </p:attrNameLst>
                                      </p:cBhvr>
                                      <p:tavLst>
                                        <p:tav tm="0">
                                          <p:val>
                                            <p:fltVal val="0"/>
                                          </p:val>
                                        </p:tav>
                                        <p:tav tm="100000">
                                          <p:val>
                                            <p:strVal val="#ppt_w"/>
                                          </p:val>
                                        </p:tav>
                                      </p:tavLst>
                                    </p:anim>
                                    <p:anim calcmode="lin" valueType="num">
                                      <p:cBhvr>
                                        <p:cTn id="19" dur="500" fill="hold"/>
                                        <p:tgtEl>
                                          <p:spTgt spid="3"/>
                                        </p:tgtEl>
                                        <p:attrNameLst>
                                          <p:attrName>ppt_h</p:attrName>
                                        </p:attrNameLst>
                                      </p:cBhvr>
                                      <p:tavLst>
                                        <p:tav tm="0">
                                          <p:val>
                                            <p:fltVal val="0"/>
                                          </p:val>
                                        </p:tav>
                                        <p:tav tm="100000">
                                          <p:val>
                                            <p:strVal val="#ppt_h"/>
                                          </p:val>
                                        </p:tav>
                                      </p:tavLst>
                                    </p:anim>
                                    <p:animEffect transition="in" filter="fade">
                                      <p:cBhvr>
                                        <p:cTn id="20" dur="500"/>
                                        <p:tgtEl>
                                          <p:spTgt spid="3"/>
                                        </p:tgtEl>
                                      </p:cBhvr>
                                    </p:animEffect>
                                  </p:childTnLst>
                                </p:cTn>
                              </p:par>
                            </p:childTnLst>
                          </p:cTn>
                        </p:par>
                        <p:par>
                          <p:cTn id="21" fill="hold">
                            <p:stCondLst>
                              <p:cond delay="500"/>
                            </p:stCondLst>
                            <p:childTnLst>
                              <p:par>
                                <p:cTn id="22" presetID="22" presetClass="entr" presetSubtype="1"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up)">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p:bldP spid="2" grpId="0"/>
      <p:bldP spid="3" grpId="0"/>
      <p:bldP spid="6"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idx="4294967295"/>
          </p:nvPr>
        </p:nvSpPr>
        <p:spPr>
          <a:xfrm>
            <a:off x="719572" y="803392"/>
            <a:ext cx="5328704" cy="692696"/>
          </a:xfrm>
          <a:noFill/>
          <a:ln w="9525">
            <a:noFill/>
            <a:miter lim="800000"/>
          </a:ln>
        </p:spPr>
        <p:txBody>
          <a:bodyPr vert="horz" wrap="square" lIns="91440" tIns="45720" rIns="91440" bIns="45720" numCol="1" anchor="ctr" anchorCtr="0" compatLnSpc="1"/>
          <a:lstStyle/>
          <a:p>
            <a:r>
              <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 </a:t>
            </a:r>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主机入侵检测系统</a:t>
            </a:r>
          </a:p>
        </p:txBody>
      </p:sp>
      <p:sp>
        <p:nvSpPr>
          <p:cNvPr id="56325" name="Rectangle 5"/>
          <p:cNvSpPr>
            <a:spLocks noChangeArrowheads="1"/>
          </p:cNvSpPr>
          <p:nvPr/>
        </p:nvSpPr>
        <p:spPr bwMode="auto">
          <a:xfrm>
            <a:off x="611560" y="2195986"/>
            <a:ext cx="7940675" cy="3377468"/>
          </a:xfrm>
          <a:prstGeom prst="rect">
            <a:avLst/>
          </a:prstGeom>
          <a:noFill/>
          <a:ln w="9525">
            <a:noFill/>
            <a:miter lim="800000"/>
          </a:ln>
        </p:spPr>
        <p:txBody>
          <a:bodyPr lIns="82124" tIns="41061" rIns="82124" bIns="41061"/>
          <a:lstStyle/>
          <a:p>
            <a:pPr marL="742950" lvl="1" indent="-285750" eaLnBrk="0" hangingPunct="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mn-ea"/>
                <a:ea typeface="+mn-ea"/>
              </a:rPr>
              <a:t>在长期监控谁访问什么</a:t>
            </a:r>
          </a:p>
          <a:p>
            <a:pPr marL="742950" lvl="1" indent="-285750" eaLnBrk="0" hangingPunct="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mn-ea"/>
                <a:ea typeface="+mn-ea"/>
              </a:rPr>
              <a:t>可以将问题映射到一个具体的用户</a:t>
            </a:r>
            <a:r>
              <a:rPr lang="en-US" altLang="zh-CN" sz="2400" b="1" dirty="0">
                <a:effectLst>
                  <a:outerShdw blurRad="38100" dist="38100" dir="2700000" algn="tl">
                    <a:srgbClr val="000000">
                      <a:alpha val="43137"/>
                    </a:srgbClr>
                  </a:outerShdw>
                </a:effectLst>
                <a:latin typeface="+mn-ea"/>
                <a:ea typeface="+mn-ea"/>
              </a:rPr>
              <a:t>ID</a:t>
            </a:r>
          </a:p>
          <a:p>
            <a:pPr marL="742950" lvl="1" indent="-285750" eaLnBrk="0" hangingPunct="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mn-ea"/>
                <a:ea typeface="+mn-ea"/>
              </a:rPr>
              <a:t>系统可以跟踪滥用行为的变化</a:t>
            </a:r>
          </a:p>
          <a:p>
            <a:pPr marL="742950" lvl="1" indent="-285750" eaLnBrk="0" hangingPunct="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mn-ea"/>
                <a:ea typeface="+mn-ea"/>
              </a:rPr>
              <a:t>适用于加密环境</a:t>
            </a:r>
          </a:p>
          <a:p>
            <a:pPr marL="742950" lvl="1" indent="-285750" eaLnBrk="0" hangingPunct="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mn-ea"/>
                <a:ea typeface="+mn-ea"/>
              </a:rPr>
              <a:t>可以运行在交换环境中</a:t>
            </a:r>
          </a:p>
          <a:p>
            <a:pPr marL="742950" lvl="1" indent="-285750" eaLnBrk="0" hangingPunct="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mn-ea"/>
                <a:ea typeface="+mn-ea"/>
              </a:rPr>
              <a:t>监测分布在多台主机上的负载，并只将有关数据上报中央控制台</a:t>
            </a:r>
            <a:endParaRPr lang="en-US" altLang="zh-CN" sz="2400" b="1" dirty="0">
              <a:effectLst>
                <a:outerShdw blurRad="38100" dist="38100" dir="2700000" algn="tl">
                  <a:srgbClr val="000000">
                    <a:alpha val="43137"/>
                  </a:srgbClr>
                </a:outerShdw>
              </a:effectLst>
              <a:latin typeface="+mn-ea"/>
              <a:ea typeface="+mn-ea"/>
            </a:endParaRPr>
          </a:p>
        </p:txBody>
      </p:sp>
      <p:sp>
        <p:nvSpPr>
          <p:cNvPr id="2" name="矩形 1"/>
          <p:cNvSpPr/>
          <p:nvPr/>
        </p:nvSpPr>
        <p:spPr>
          <a:xfrm>
            <a:off x="827584" y="1496088"/>
            <a:ext cx="4859022" cy="523220"/>
          </a:xfrm>
          <a:prstGeom prst="rect">
            <a:avLst/>
          </a:prstGeom>
        </p:spPr>
        <p:txBody>
          <a:bodyPr wrap="none">
            <a:spAutoFit/>
          </a:bodyPr>
          <a:lstStyle/>
          <a:p>
            <a:pPr marL="342900" indent="-342900" eaLnBrk="0" hangingPunct="0">
              <a:spcBef>
                <a:spcPct val="20000"/>
              </a:spcBef>
              <a:buClr>
                <a:srgbClr val="3399FF"/>
              </a:buClr>
              <a:buFont typeface="Wingdings" panose="05000000000000000000" pitchFamily="2" charset="2"/>
              <a:buChar char="v"/>
            </a:pPr>
            <a:r>
              <a:rPr lang="zh-CN" altLang="en-US" sz="2800" b="1" dirty="0">
                <a:solidFill>
                  <a:srgbClr val="FF0000"/>
                </a:solidFill>
                <a:effectLst>
                  <a:outerShdw blurRad="38100" dist="38100" dir="2700000" algn="tl">
                    <a:srgbClr val="000000">
                      <a:alpha val="43137"/>
                    </a:srgbClr>
                  </a:outerShdw>
                </a:effectLst>
                <a:latin typeface="+mn-ea"/>
                <a:ea typeface="+mn-ea"/>
              </a:rPr>
              <a:t>主机入侵检测系统的优点：</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56325"/>
                                        </p:tgtEl>
                                        <p:attrNameLst>
                                          <p:attrName>style.visibility</p:attrName>
                                        </p:attrNameLst>
                                      </p:cBhvr>
                                      <p:to>
                                        <p:strVal val="visible"/>
                                      </p:to>
                                    </p:set>
                                    <p:animEffect transition="in" filter="wipe(up)">
                                      <p:cBhvr>
                                        <p:cTn id="13" dur="500"/>
                                        <p:tgtEl>
                                          <p:spTgt spid="563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5" grpId="0"/>
      <p:bldP spid="2"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9" name="Rectangle 5"/>
          <p:cNvSpPr>
            <a:spLocks noChangeArrowheads="1"/>
          </p:cNvSpPr>
          <p:nvPr/>
        </p:nvSpPr>
        <p:spPr bwMode="auto">
          <a:xfrm>
            <a:off x="718067" y="2212724"/>
            <a:ext cx="7768790" cy="3384376"/>
          </a:xfrm>
          <a:prstGeom prst="rect">
            <a:avLst/>
          </a:prstGeom>
          <a:noFill/>
          <a:ln w="9525">
            <a:noFill/>
            <a:miter lim="800000"/>
          </a:ln>
        </p:spPr>
        <p:txBody>
          <a:bodyPr lIns="82124" tIns="41061" rIns="82124" bIns="41061"/>
          <a:lstStyle/>
          <a:p>
            <a:pPr marL="742950" lvl="1" indent="-285750" eaLnBrk="0" hangingPunct="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mn-ea"/>
                <a:ea typeface="+mn-ea"/>
              </a:rPr>
              <a:t>无法监测网络活动；</a:t>
            </a:r>
          </a:p>
          <a:p>
            <a:pPr marL="742950" lvl="1" indent="-285750" eaLnBrk="0" hangingPunct="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mn-ea"/>
                <a:ea typeface="+mn-ea"/>
              </a:rPr>
              <a:t>审计机制的运行增加了系统负载；</a:t>
            </a:r>
          </a:p>
          <a:p>
            <a:pPr marL="742950" lvl="1" indent="-285750" eaLnBrk="0" hangingPunct="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mn-ea"/>
                <a:ea typeface="+mn-ea"/>
              </a:rPr>
              <a:t>审计记录会占用大量的存储空间；</a:t>
            </a:r>
          </a:p>
          <a:p>
            <a:pPr marL="742950" lvl="1" indent="-285750" eaLnBrk="0" hangingPunct="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mn-ea"/>
                <a:ea typeface="+mn-ea"/>
              </a:rPr>
              <a:t>由于操作系统的漏洞可能破坏代理软件的有效性；</a:t>
            </a:r>
          </a:p>
          <a:p>
            <a:pPr marL="742950" lvl="1" indent="-285750" eaLnBrk="0" hangingPunct="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mn-ea"/>
                <a:ea typeface="+mn-ea"/>
              </a:rPr>
              <a:t>不同类型的操作系统需要不同的代理软件；</a:t>
            </a:r>
          </a:p>
          <a:p>
            <a:pPr marL="742950" lvl="1" indent="-285750" eaLnBrk="0" hangingPunct="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mn-ea"/>
                <a:ea typeface="+mn-ea"/>
              </a:rPr>
              <a:t>升级的问题；</a:t>
            </a:r>
          </a:p>
          <a:p>
            <a:pPr marL="742950" lvl="1" indent="-285750" eaLnBrk="0" hangingPunct="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mn-ea"/>
                <a:ea typeface="+mn-ea"/>
              </a:rPr>
              <a:t>更高的部署和维护成本。</a:t>
            </a:r>
          </a:p>
        </p:txBody>
      </p:sp>
      <p:sp>
        <p:nvSpPr>
          <p:cNvPr id="6" name="Rectangle 2"/>
          <p:cNvSpPr txBox="1">
            <a:spLocks noChangeArrowheads="1"/>
          </p:cNvSpPr>
          <p:nvPr/>
        </p:nvSpPr>
        <p:spPr bwMode="gray">
          <a:xfrm>
            <a:off x="719572" y="803392"/>
            <a:ext cx="5328704" cy="692696"/>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2pPr>
            <a:lvl3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3pPr>
            <a:lvl4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4pPr>
            <a:lvl5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5pPr>
            <a:lvl6pPr marL="4572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6pPr>
            <a:lvl7pPr marL="9144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7pPr>
            <a:lvl8pPr marL="13716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8pPr>
            <a:lvl9pPr marL="18288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9pPr>
          </a:lstStyle>
          <a:p>
            <a:r>
              <a:rPr lang="en-US" altLang="zh-CN" sz="2800"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 </a:t>
            </a:r>
            <a:r>
              <a:rPr lang="zh-CN" altLang="en-US" sz="2800"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主机入侵检测系统</a:t>
            </a:r>
            <a:endPar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2" name="矩形 1"/>
          <p:cNvSpPr/>
          <p:nvPr/>
        </p:nvSpPr>
        <p:spPr>
          <a:xfrm>
            <a:off x="827584" y="1592796"/>
            <a:ext cx="4859022" cy="523220"/>
          </a:xfrm>
          <a:prstGeom prst="rect">
            <a:avLst/>
          </a:prstGeom>
        </p:spPr>
        <p:txBody>
          <a:bodyPr wrap="none">
            <a:spAutoFit/>
          </a:bodyPr>
          <a:lstStyle/>
          <a:p>
            <a:pPr marL="342900" indent="-342900" eaLnBrk="0" hangingPunct="0">
              <a:spcBef>
                <a:spcPct val="20000"/>
              </a:spcBef>
              <a:buClr>
                <a:srgbClr val="3399FF"/>
              </a:buClr>
              <a:buFont typeface="Wingdings" panose="05000000000000000000" pitchFamily="2" charset="2"/>
              <a:buChar char="v"/>
            </a:pPr>
            <a:r>
              <a:rPr lang="zh-CN" altLang="en-US" sz="2800" b="1" dirty="0">
                <a:solidFill>
                  <a:srgbClr val="FF0000"/>
                </a:solidFill>
                <a:effectLst>
                  <a:outerShdw blurRad="38100" dist="38100" dir="2700000" algn="tl">
                    <a:srgbClr val="000000">
                      <a:alpha val="43137"/>
                    </a:srgbClr>
                  </a:outerShdw>
                </a:effectLst>
                <a:latin typeface="+mn-ea"/>
                <a:ea typeface="+mn-ea"/>
              </a:rPr>
              <a:t>主机入侵检测系统的缺点：</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57349"/>
                                        </p:tgtEl>
                                        <p:attrNameLst>
                                          <p:attrName>style.visibility</p:attrName>
                                        </p:attrNameLst>
                                      </p:cBhvr>
                                      <p:to>
                                        <p:strVal val="visible"/>
                                      </p:to>
                                    </p:set>
                                    <p:animEffect transition="in" filter="wipe(up)">
                                      <p:cBhvr>
                                        <p:cTn id="13" dur="500"/>
                                        <p:tgtEl>
                                          <p:spTgt spid="573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9" grpId="0"/>
      <p:bldP spid="2"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idx="4294967295"/>
          </p:nvPr>
        </p:nvSpPr>
        <p:spPr>
          <a:xfrm>
            <a:off x="612389" y="807072"/>
            <a:ext cx="5759811" cy="626269"/>
          </a:xfrm>
          <a:noFill/>
          <a:ln w="9525">
            <a:noFill/>
            <a:miter lim="800000"/>
          </a:ln>
        </p:spPr>
        <p:txBody>
          <a:bodyPr vert="horz" wrap="square" lIns="91440" tIns="45720" rIns="91440" bIns="45720" numCol="1" anchor="ctr" anchorCtr="0" compatLnSpc="1"/>
          <a:lstStyle/>
          <a:p>
            <a:r>
              <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8.10  </a:t>
            </a:r>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网络入侵检测系统</a:t>
            </a:r>
          </a:p>
        </p:txBody>
      </p:sp>
      <p:sp>
        <p:nvSpPr>
          <p:cNvPr id="58373" name="Rectangle 6"/>
          <p:cNvSpPr>
            <a:spLocks noChangeArrowheads="1"/>
          </p:cNvSpPr>
          <p:nvPr/>
        </p:nvSpPr>
        <p:spPr bwMode="auto">
          <a:xfrm>
            <a:off x="564295" y="1663327"/>
            <a:ext cx="8056822" cy="1427485"/>
          </a:xfrm>
          <a:prstGeom prst="rect">
            <a:avLst/>
          </a:prstGeom>
          <a:noFill/>
          <a:ln w="9525">
            <a:noFill/>
            <a:miter lim="800000"/>
          </a:ln>
        </p:spPr>
        <p:txBody>
          <a:bodyPr lIns="82124" tIns="41061" rIns="82124" bIns="41061"/>
          <a:lstStyle/>
          <a:p>
            <a:pPr marL="342900" indent="-342900" eaLnBrk="0" hangingPunct="0">
              <a:spcBef>
                <a:spcPct val="20000"/>
              </a:spcBef>
              <a:buClr>
                <a:srgbClr val="3399FF"/>
              </a:buClr>
              <a:buFont typeface="Wingdings" panose="05000000000000000000" pitchFamily="2" charset="2"/>
              <a:buChar char="v"/>
            </a:pPr>
            <a:r>
              <a:rPr lang="zh-CN" altLang="en-US" sz="2400" b="1" dirty="0">
                <a:effectLst>
                  <a:outerShdw blurRad="38100" dist="38100" dir="2700000" algn="tl">
                    <a:srgbClr val="000000">
                      <a:alpha val="43137"/>
                    </a:srgbClr>
                  </a:outerShdw>
                </a:effectLst>
                <a:latin typeface="+mn-ea"/>
                <a:ea typeface="+mn-ea"/>
              </a:rPr>
              <a:t>以混杂模式接入网络；</a:t>
            </a:r>
            <a:r>
              <a:rPr lang="en-US" altLang="zh-CN" sz="2400" b="1" dirty="0">
                <a:effectLst>
                  <a:outerShdw blurRad="38100" dist="38100" dir="2700000" algn="tl">
                    <a:srgbClr val="000000">
                      <a:alpha val="43137"/>
                    </a:srgbClr>
                  </a:outerShdw>
                </a:effectLst>
                <a:latin typeface="+mn-ea"/>
                <a:ea typeface="+mn-ea"/>
              </a:rPr>
              <a:t> </a:t>
            </a:r>
          </a:p>
          <a:p>
            <a:pPr marL="342900" indent="-342900" eaLnBrk="0" hangingPunct="0">
              <a:spcBef>
                <a:spcPct val="20000"/>
              </a:spcBef>
              <a:buClr>
                <a:srgbClr val="3399FF"/>
              </a:buClr>
              <a:buFont typeface="Wingdings" panose="05000000000000000000" pitchFamily="2" charset="2"/>
              <a:buChar char="v"/>
            </a:pPr>
            <a:r>
              <a:rPr lang="zh-CN" altLang="en-US" sz="2400" b="1" dirty="0">
                <a:effectLst>
                  <a:outerShdw blurRad="38100" dist="38100" dir="2700000" algn="tl">
                    <a:srgbClr val="000000">
                      <a:alpha val="43137"/>
                    </a:srgbClr>
                  </a:outerShdw>
                </a:effectLst>
                <a:latin typeface="+mn-ea"/>
                <a:ea typeface="+mn-ea"/>
              </a:rPr>
              <a:t>感应器可部署在网络的关键位置；</a:t>
            </a:r>
            <a:endParaRPr lang="en-US" altLang="zh-CN" sz="2400" b="1" dirty="0">
              <a:effectLst>
                <a:outerShdw blurRad="38100" dist="38100" dir="2700000" algn="tl">
                  <a:srgbClr val="000000">
                    <a:alpha val="43137"/>
                  </a:srgbClr>
                </a:outerShdw>
              </a:effectLst>
              <a:latin typeface="+mn-ea"/>
              <a:ea typeface="+mn-ea"/>
            </a:endParaRPr>
          </a:p>
          <a:p>
            <a:pPr marL="342900" indent="-342900" eaLnBrk="0" hangingPunct="0">
              <a:spcBef>
                <a:spcPct val="20000"/>
              </a:spcBef>
              <a:buClr>
                <a:srgbClr val="3399FF"/>
              </a:buClr>
              <a:buFont typeface="Wingdings" panose="05000000000000000000" pitchFamily="2" charset="2"/>
              <a:buChar char="v"/>
            </a:pPr>
            <a:r>
              <a:rPr lang="zh-CN" altLang="en-US" sz="2400" b="1" dirty="0">
                <a:effectLst>
                  <a:outerShdw blurRad="38100" dist="38100" dir="2700000" algn="tl">
                    <a:srgbClr val="000000">
                      <a:alpha val="43137"/>
                    </a:srgbClr>
                  </a:outerShdw>
                </a:effectLst>
                <a:latin typeface="+mn-ea"/>
                <a:ea typeface="+mn-ea"/>
              </a:rPr>
              <a:t>将日志</a:t>
            </a:r>
            <a:r>
              <a:rPr lang="en-US" altLang="zh-CN" sz="2400" b="1" dirty="0">
                <a:effectLst>
                  <a:outerShdw blurRad="38100" dist="38100" dir="2700000" algn="tl">
                    <a:srgbClr val="000000">
                      <a:alpha val="43137"/>
                    </a:srgbClr>
                  </a:outerShdw>
                </a:effectLst>
                <a:latin typeface="+mn-ea"/>
                <a:ea typeface="+mn-ea"/>
              </a:rPr>
              <a:t>/</a:t>
            </a:r>
            <a:r>
              <a:rPr lang="zh-CN" altLang="en-US" sz="2400" b="1" dirty="0">
                <a:effectLst>
                  <a:outerShdw blurRad="38100" dist="38100" dir="2700000" algn="tl">
                    <a:srgbClr val="000000">
                      <a:alpha val="43137"/>
                    </a:srgbClr>
                  </a:outerShdw>
                </a:effectLst>
                <a:latin typeface="+mn-ea"/>
                <a:ea typeface="+mn-ea"/>
              </a:rPr>
              <a:t>告警信息发送至位于企业防火墙内部的服务器。</a:t>
            </a:r>
            <a:endParaRPr lang="en-US" altLang="zh-CN" sz="2400" b="1" dirty="0">
              <a:effectLst>
                <a:outerShdw blurRad="38100" dist="38100" dir="2700000" algn="tl">
                  <a:srgbClr val="000000">
                    <a:alpha val="43137"/>
                  </a:srgbClr>
                </a:outerShdw>
              </a:effectLst>
              <a:latin typeface="+mn-ea"/>
              <a:ea typeface="+mn-ea"/>
            </a:endParaRPr>
          </a:p>
        </p:txBody>
      </p:sp>
      <p:sp>
        <p:nvSpPr>
          <p:cNvPr id="2" name="矩形 1"/>
          <p:cNvSpPr/>
          <p:nvPr/>
        </p:nvSpPr>
        <p:spPr>
          <a:xfrm>
            <a:off x="557897" y="3284984"/>
            <a:ext cx="8168730" cy="1759456"/>
          </a:xfrm>
          <a:prstGeom prst="rect">
            <a:avLst/>
          </a:prstGeom>
        </p:spPr>
        <p:txBody>
          <a:bodyPr wrap="square">
            <a:spAutoFit/>
          </a:bodyPr>
          <a:lstStyle/>
          <a:p>
            <a:pPr marL="285750" indent="-285750" eaLnBrk="1" hangingPunct="1">
              <a:lnSpc>
                <a:spcPts val="2600"/>
              </a:lnSpc>
              <a:buClr>
                <a:srgbClr val="FF0000"/>
              </a:buClr>
              <a:buFont typeface="Wingdings" panose="05000000000000000000" pitchFamily="2" charset="2"/>
              <a:buChar char="u"/>
            </a:pPr>
            <a:r>
              <a:rPr lang="zh-CN" altLang="en-US" b="1" dirty="0">
                <a:effectLst>
                  <a:outerShdw blurRad="38100" dist="38100" dir="2700000" algn="tl">
                    <a:srgbClr val="000000">
                      <a:alpha val="43137"/>
                    </a:srgbClr>
                  </a:outerShdw>
                </a:effectLst>
                <a:latin typeface="+mn-ea"/>
                <a:ea typeface="+mn-ea"/>
              </a:rPr>
              <a:t>基于网络的入侵检测系统通常是作为一个独立的个体放置于被保护的网络上</a:t>
            </a:r>
            <a:endParaRPr lang="en-US" altLang="zh-CN" b="1" dirty="0">
              <a:effectLst>
                <a:outerShdw blurRad="38100" dist="38100" dir="2700000" algn="tl">
                  <a:srgbClr val="000000">
                    <a:alpha val="43137"/>
                  </a:srgbClr>
                </a:outerShdw>
              </a:effectLst>
              <a:latin typeface="+mn-ea"/>
              <a:ea typeface="+mn-ea"/>
            </a:endParaRPr>
          </a:p>
          <a:p>
            <a:pPr marL="285750" indent="-285750" eaLnBrk="1" hangingPunct="1">
              <a:lnSpc>
                <a:spcPts val="2600"/>
              </a:lnSpc>
              <a:buClr>
                <a:srgbClr val="FF0000"/>
              </a:buClr>
              <a:buFont typeface="Wingdings" panose="05000000000000000000" pitchFamily="2" charset="2"/>
              <a:buChar char="u"/>
            </a:pPr>
            <a:r>
              <a:rPr lang="zh-CN" altLang="en-US" b="1" dirty="0">
                <a:effectLst>
                  <a:outerShdw blurRad="38100" dist="38100" dir="2700000" algn="tl">
                    <a:srgbClr val="000000">
                      <a:alpha val="43137"/>
                    </a:srgbClr>
                  </a:outerShdw>
                </a:effectLst>
                <a:latin typeface="+mn-ea"/>
                <a:ea typeface="+mn-ea"/>
              </a:rPr>
              <a:t>使用原始的网络分组数据包作为进行攻击分析的数据源</a:t>
            </a:r>
            <a:endParaRPr lang="en-US" altLang="zh-CN" b="1" dirty="0">
              <a:effectLst>
                <a:outerShdw blurRad="38100" dist="38100" dir="2700000" algn="tl">
                  <a:srgbClr val="000000">
                    <a:alpha val="43137"/>
                  </a:srgbClr>
                </a:outerShdw>
              </a:effectLst>
              <a:latin typeface="+mn-ea"/>
              <a:ea typeface="+mn-ea"/>
            </a:endParaRPr>
          </a:p>
          <a:p>
            <a:pPr marL="285750" indent="-285750" eaLnBrk="1" hangingPunct="1">
              <a:lnSpc>
                <a:spcPts val="2600"/>
              </a:lnSpc>
              <a:buClr>
                <a:srgbClr val="FF0000"/>
              </a:buClr>
              <a:buFont typeface="Wingdings" panose="05000000000000000000" pitchFamily="2" charset="2"/>
              <a:buChar char="u"/>
            </a:pPr>
            <a:r>
              <a:rPr lang="zh-CN" altLang="en-US" b="1" dirty="0">
                <a:effectLst>
                  <a:outerShdw blurRad="38100" dist="38100" dir="2700000" algn="tl">
                    <a:srgbClr val="000000">
                      <a:alpha val="43137"/>
                    </a:srgbClr>
                  </a:outerShdw>
                </a:effectLst>
                <a:latin typeface="+mn-ea"/>
                <a:ea typeface="+mn-ea"/>
              </a:rPr>
              <a:t>一般利用一个网络适配器来实时监视和分析所有通过网络进行传输的通信。</a:t>
            </a:r>
            <a:endParaRPr lang="en-US" altLang="zh-CN" b="1" dirty="0">
              <a:effectLst>
                <a:outerShdw blurRad="38100" dist="38100" dir="2700000" algn="tl">
                  <a:srgbClr val="000000">
                    <a:alpha val="43137"/>
                  </a:srgbClr>
                </a:outerShdw>
              </a:effectLst>
              <a:latin typeface="+mn-ea"/>
              <a:ea typeface="+mn-ea"/>
            </a:endParaRPr>
          </a:p>
          <a:p>
            <a:pPr marL="285750" indent="-285750" eaLnBrk="1" hangingPunct="1">
              <a:lnSpc>
                <a:spcPts val="2600"/>
              </a:lnSpc>
              <a:buClr>
                <a:srgbClr val="FF0000"/>
              </a:buClr>
              <a:buFont typeface="Wingdings" panose="05000000000000000000" pitchFamily="2" charset="2"/>
              <a:buChar char="u"/>
            </a:pPr>
            <a:r>
              <a:rPr lang="zh-CN" altLang="en-US" b="1" dirty="0">
                <a:effectLst>
                  <a:outerShdw blurRad="38100" dist="38100" dir="2700000" algn="tl">
                    <a:srgbClr val="000000">
                      <a:alpha val="43137"/>
                    </a:srgbClr>
                  </a:outerShdw>
                </a:effectLst>
                <a:latin typeface="+mn-ea"/>
                <a:ea typeface="+mn-ea"/>
              </a:rPr>
              <a:t>一旦检测到攻击，入侵检测系统应答模块通过通知、报警以及中断连接等方式来对攻击做出反应。</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8373"/>
                                        </p:tgtEl>
                                        <p:attrNameLst>
                                          <p:attrName>style.visibility</p:attrName>
                                        </p:attrNameLst>
                                      </p:cBhvr>
                                      <p:to>
                                        <p:strVal val="visible"/>
                                      </p:to>
                                    </p:set>
                                    <p:animEffect transition="in" filter="wipe(up)">
                                      <p:cBhvr>
                                        <p:cTn id="7" dur="500"/>
                                        <p:tgtEl>
                                          <p:spTgt spid="58373"/>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3" grpId="0"/>
      <p:bldP spid="2"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808037"/>
            <a:ext cx="5076564" cy="487363"/>
          </a:xfrm>
          <a:noFill/>
          <a:ln w="9525">
            <a:noFill/>
            <a:miter lim="800000"/>
          </a:ln>
        </p:spPr>
        <p:txBody>
          <a:bodyPr vert="horz" wrap="square" lIns="91440" tIns="45720" rIns="91440" bIns="45720" numCol="1" anchor="ctr" anchorCtr="0" compatLnSpc="1"/>
          <a:lstStyle/>
          <a:p>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检测引擎设计技术</a:t>
            </a:r>
          </a:p>
        </p:txBody>
      </p:sp>
      <p:sp>
        <p:nvSpPr>
          <p:cNvPr id="84995" name="内容占位符 2"/>
          <p:cNvSpPr>
            <a:spLocks noGrp="1"/>
          </p:cNvSpPr>
          <p:nvPr>
            <p:ph idx="1"/>
          </p:nvPr>
        </p:nvSpPr>
        <p:spPr>
          <a:xfrm>
            <a:off x="503548" y="2204864"/>
            <a:ext cx="8191500" cy="3579599"/>
          </a:xfrm>
        </p:spPr>
        <p:txBody>
          <a:bodyPr/>
          <a:lstStyle/>
          <a:p>
            <a:pPr lvl="1"/>
            <a:r>
              <a:rPr lang="zh-CN" altLang="en-US" sz="2400" b="1" dirty="0">
                <a:effectLst>
                  <a:outerShdw blurRad="38100" dist="38100" dir="2700000" algn="tl">
                    <a:srgbClr val="000000">
                      <a:alpha val="43137"/>
                    </a:srgbClr>
                  </a:outerShdw>
                </a:effectLst>
                <a:latin typeface="+mn-ea"/>
              </a:rPr>
              <a:t>从网络数据包包头开始和攻击特征比较。</a:t>
            </a:r>
            <a:endParaRPr lang="en-US" altLang="zh-CN" sz="2400" b="1" dirty="0">
              <a:effectLst>
                <a:outerShdw blurRad="38100" dist="38100" dir="2700000" algn="tl">
                  <a:srgbClr val="000000">
                    <a:alpha val="43137"/>
                  </a:srgbClr>
                </a:outerShdw>
              </a:effectLst>
              <a:latin typeface="+mn-ea"/>
            </a:endParaRPr>
          </a:p>
          <a:p>
            <a:pPr lvl="2"/>
            <a:r>
              <a:rPr lang="zh-CN" altLang="en-US" sz="2200" b="1" dirty="0">
                <a:effectLst>
                  <a:outerShdw blurRad="38100" dist="38100" dir="2700000" algn="tl">
                    <a:srgbClr val="000000">
                      <a:alpha val="43137"/>
                    </a:srgbClr>
                  </a:outerShdw>
                </a:effectLst>
                <a:latin typeface="+mn-ea"/>
              </a:rPr>
              <a:t>相同，则检测到一个可能攻击</a:t>
            </a:r>
            <a:endParaRPr lang="en-US" altLang="zh-CN" sz="2200" b="1" dirty="0">
              <a:effectLst>
                <a:outerShdw blurRad="38100" dist="38100" dir="2700000" algn="tl">
                  <a:srgbClr val="000000">
                    <a:alpha val="43137"/>
                  </a:srgbClr>
                </a:outerShdw>
              </a:effectLst>
              <a:latin typeface="+mn-ea"/>
            </a:endParaRPr>
          </a:p>
          <a:p>
            <a:pPr lvl="2"/>
            <a:r>
              <a:rPr lang="zh-CN" altLang="en-US" sz="2200" b="1" dirty="0">
                <a:effectLst>
                  <a:outerShdw blurRad="38100" dist="38100" dir="2700000" algn="tl">
                    <a:srgbClr val="000000">
                      <a:alpha val="43137"/>
                    </a:srgbClr>
                  </a:outerShdw>
                </a:effectLst>
                <a:latin typeface="+mn-ea"/>
              </a:rPr>
              <a:t>不同，从网络数据包下一个位置重新开始比较。</a:t>
            </a:r>
            <a:endParaRPr lang="en-US" altLang="zh-CN" sz="2200" b="1" dirty="0">
              <a:effectLst>
                <a:outerShdw blurRad="38100" dist="38100" dir="2700000" algn="tl">
                  <a:srgbClr val="000000">
                    <a:alpha val="43137"/>
                  </a:srgbClr>
                </a:outerShdw>
              </a:effectLst>
              <a:latin typeface="+mn-ea"/>
            </a:endParaRPr>
          </a:p>
          <a:p>
            <a:pPr lvl="1"/>
            <a:r>
              <a:rPr lang="zh-CN" altLang="en-US" sz="2400" b="1" dirty="0">
                <a:effectLst>
                  <a:outerShdw blurRad="38100" dist="38100" dir="2700000" algn="tl">
                    <a:srgbClr val="000000">
                      <a:alpha val="43137"/>
                    </a:srgbClr>
                  </a:outerShdw>
                </a:effectLst>
                <a:latin typeface="+mn-ea"/>
              </a:rPr>
              <a:t>直至检测到攻击或网络数据包中所有字节匹配完毕，一个攻击特征匹配结束。</a:t>
            </a:r>
            <a:endParaRPr lang="en-US" altLang="zh-CN" sz="2400" b="1" dirty="0">
              <a:effectLst>
                <a:outerShdw blurRad="38100" dist="38100" dir="2700000" algn="tl">
                  <a:srgbClr val="000000">
                    <a:alpha val="43137"/>
                  </a:srgbClr>
                </a:outerShdw>
              </a:effectLst>
              <a:latin typeface="+mn-ea"/>
            </a:endParaRPr>
          </a:p>
          <a:p>
            <a:pPr lvl="1"/>
            <a:r>
              <a:rPr lang="zh-CN" altLang="en-US" sz="2400" b="1" dirty="0">
                <a:effectLst>
                  <a:outerShdw blurRad="38100" dist="38100" dir="2700000" algn="tl">
                    <a:srgbClr val="000000">
                      <a:alpha val="43137"/>
                    </a:srgbClr>
                  </a:outerShdw>
                </a:effectLst>
                <a:latin typeface="+mn-ea"/>
              </a:rPr>
              <a:t>对每一个攻击特征，重复前面两步</a:t>
            </a:r>
            <a:endParaRPr lang="en-US" altLang="zh-CN" sz="2400" b="1" dirty="0">
              <a:effectLst>
                <a:outerShdw blurRad="38100" dist="38100" dir="2700000" algn="tl">
                  <a:srgbClr val="000000">
                    <a:alpha val="43137"/>
                  </a:srgbClr>
                </a:outerShdw>
              </a:effectLst>
              <a:latin typeface="+mn-ea"/>
            </a:endParaRPr>
          </a:p>
          <a:p>
            <a:pPr lvl="1"/>
            <a:r>
              <a:rPr lang="zh-CN" altLang="en-US" sz="2400" b="1" dirty="0">
                <a:effectLst>
                  <a:outerShdw blurRad="38100" dist="38100" dir="2700000" algn="tl">
                    <a:srgbClr val="000000">
                      <a:alpha val="43137"/>
                    </a:srgbClr>
                  </a:outerShdw>
                </a:effectLst>
                <a:latin typeface="+mn-ea"/>
              </a:rPr>
              <a:t>直到每一个攻击特征匹配完毕，对给定数据包的匹配完毕。</a:t>
            </a:r>
            <a:endParaRPr lang="en-US" altLang="zh-CN" sz="2400" b="1" dirty="0">
              <a:effectLst>
                <a:outerShdw blurRad="38100" dist="38100" dir="2700000" algn="tl">
                  <a:srgbClr val="000000">
                    <a:alpha val="43137"/>
                  </a:srgbClr>
                </a:outerShdw>
              </a:effectLst>
              <a:latin typeface="+mn-ea"/>
            </a:endParaRPr>
          </a:p>
        </p:txBody>
      </p:sp>
      <p:sp>
        <p:nvSpPr>
          <p:cNvPr id="3" name="矩形 2"/>
          <p:cNvSpPr/>
          <p:nvPr/>
        </p:nvSpPr>
        <p:spPr>
          <a:xfrm>
            <a:off x="791580" y="1448780"/>
            <a:ext cx="2685351" cy="523220"/>
          </a:xfrm>
          <a:prstGeom prst="rect">
            <a:avLst/>
          </a:prstGeom>
        </p:spPr>
        <p:txBody>
          <a:bodyPr wrap="none">
            <a:spAutoFit/>
          </a:bodyPr>
          <a:lstStyle/>
          <a:p>
            <a:pPr marL="342900" indent="-342900" eaLnBrk="0" hangingPunct="0">
              <a:spcBef>
                <a:spcPct val="20000"/>
              </a:spcBef>
              <a:buClr>
                <a:srgbClr val="3399FF"/>
              </a:buClr>
              <a:buFont typeface="Wingdings" panose="05000000000000000000" pitchFamily="2" charset="2"/>
              <a:buChar char="v"/>
            </a:pPr>
            <a:r>
              <a:rPr lang="zh-CN" altLang="en-US" sz="2800" b="1" dirty="0">
                <a:solidFill>
                  <a:srgbClr val="FF0000"/>
                </a:solidFill>
                <a:effectLst>
                  <a:outerShdw blurRad="38100" dist="38100" dir="2700000" algn="tl">
                    <a:srgbClr val="000000">
                      <a:alpha val="43137"/>
                    </a:srgbClr>
                  </a:outerShdw>
                </a:effectLst>
                <a:latin typeface="+mn-lt"/>
                <a:ea typeface="+mn-ea"/>
              </a:rPr>
              <a:t>模式匹配技术</a:t>
            </a:r>
            <a:endParaRPr lang="en-US" altLang="zh-CN" sz="2800" b="1" dirty="0">
              <a:solidFill>
                <a:srgbClr val="FF0000"/>
              </a:solidFill>
              <a:effectLst>
                <a:outerShdw blurRad="38100" dist="38100" dir="2700000" algn="tl">
                  <a:srgbClr val="000000">
                    <a:alpha val="43137"/>
                  </a:srgbClr>
                </a:outerShdw>
              </a:effectLst>
              <a:latin typeface="+mn-lt"/>
              <a:ea typeface="+mn-ea"/>
            </a:endParaRPr>
          </a:p>
        </p:txBody>
      </p:sp>
    </p:spTree>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组合 56"/>
          <p:cNvGrpSpPr/>
          <p:nvPr/>
        </p:nvGrpSpPr>
        <p:grpSpPr>
          <a:xfrm>
            <a:off x="611188" y="1773238"/>
            <a:ext cx="7632700" cy="3887787"/>
            <a:chOff x="611188" y="1773238"/>
            <a:chExt cx="7632700" cy="3887787"/>
          </a:xfrm>
        </p:grpSpPr>
        <p:sp>
          <p:nvSpPr>
            <p:cNvPr id="5" name="Line 5"/>
            <p:cNvSpPr>
              <a:spLocks noChangeShapeType="1"/>
            </p:cNvSpPr>
            <p:nvPr/>
          </p:nvSpPr>
          <p:spPr bwMode="auto">
            <a:xfrm>
              <a:off x="2222536" y="2021395"/>
              <a:ext cx="0" cy="3391474"/>
            </a:xfrm>
            <a:prstGeom prst="line">
              <a:avLst/>
            </a:prstGeom>
            <a:noFill/>
            <a:ln w="9525">
              <a:solidFill>
                <a:schemeClr val="tx1"/>
              </a:solidFill>
              <a:miter lim="800000"/>
            </a:ln>
          </p:spPr>
          <p:txBody>
            <a:bodyPr wrap="none"/>
            <a:lstStyle/>
            <a:p>
              <a:pPr algn="ctr"/>
              <a:endParaRPr lang="zh-CN" altLang="en-US" b="1"/>
            </a:p>
          </p:txBody>
        </p:sp>
        <p:sp>
          <p:nvSpPr>
            <p:cNvPr id="6" name="Line 6"/>
            <p:cNvSpPr>
              <a:spLocks noChangeShapeType="1"/>
            </p:cNvSpPr>
            <p:nvPr/>
          </p:nvSpPr>
          <p:spPr bwMode="auto">
            <a:xfrm>
              <a:off x="2222536" y="2021395"/>
              <a:ext cx="932886" cy="0"/>
            </a:xfrm>
            <a:prstGeom prst="line">
              <a:avLst/>
            </a:prstGeom>
            <a:noFill/>
            <a:ln w="9525">
              <a:solidFill>
                <a:schemeClr val="tx1"/>
              </a:solidFill>
              <a:miter lim="800000"/>
            </a:ln>
          </p:spPr>
          <p:txBody>
            <a:bodyPr wrap="none"/>
            <a:lstStyle/>
            <a:p>
              <a:pPr algn="ctr"/>
              <a:endParaRPr lang="zh-CN" altLang="en-US" b="1"/>
            </a:p>
          </p:txBody>
        </p:sp>
        <p:sp>
          <p:nvSpPr>
            <p:cNvPr id="7" name="Rectangle 7"/>
            <p:cNvSpPr>
              <a:spLocks noChangeArrowheads="1"/>
            </p:cNvSpPr>
            <p:nvPr/>
          </p:nvSpPr>
          <p:spPr bwMode="auto">
            <a:xfrm>
              <a:off x="611188" y="3344897"/>
              <a:ext cx="1272117" cy="661751"/>
            </a:xfrm>
            <a:prstGeom prst="rect">
              <a:avLst/>
            </a:prstGeom>
            <a:solidFill>
              <a:schemeClr val="tx2">
                <a:lumMod val="40000"/>
                <a:lumOff val="60000"/>
              </a:schemeClr>
            </a:solidFill>
            <a:ln w="9525">
              <a:solidFill>
                <a:schemeClr val="tx1"/>
              </a:solidFill>
              <a:miter lim="800000"/>
            </a:ln>
            <a:effectLst>
              <a:outerShdw dist="107763" dir="2700000" algn="ctr" rotWithShape="0">
                <a:schemeClr val="bg2"/>
              </a:outerShdw>
            </a:effectLst>
          </p:spPr>
          <p:txBody>
            <a:bodyPr wrap="none" anchor="ctr"/>
            <a:lstStyle/>
            <a:p>
              <a:pPr algn="ctr">
                <a:defRPr/>
              </a:pPr>
              <a:r>
                <a:rPr lang="zh-CN" altLang="en-US" b="1"/>
                <a:t>协议</a:t>
              </a:r>
            </a:p>
          </p:txBody>
        </p:sp>
        <p:sp>
          <p:nvSpPr>
            <p:cNvPr id="8" name="Rectangle 8"/>
            <p:cNvSpPr>
              <a:spLocks noChangeArrowheads="1"/>
            </p:cNvSpPr>
            <p:nvPr/>
          </p:nvSpPr>
          <p:spPr bwMode="auto">
            <a:xfrm>
              <a:off x="3155421" y="2434989"/>
              <a:ext cx="1272117" cy="487633"/>
            </a:xfrm>
            <a:prstGeom prst="rect">
              <a:avLst/>
            </a:prstGeom>
            <a:solidFill>
              <a:schemeClr val="accent1"/>
            </a:solidFill>
            <a:ln w="9525">
              <a:solidFill>
                <a:schemeClr val="tx1"/>
              </a:solidFill>
              <a:miter lim="800000"/>
            </a:ln>
            <a:effectLst>
              <a:outerShdw dist="107763" dir="2700000" algn="ctr" rotWithShape="0">
                <a:schemeClr val="bg2"/>
              </a:outerShdw>
            </a:effectLst>
          </p:spPr>
          <p:txBody>
            <a:bodyPr wrap="none" anchor="ctr"/>
            <a:lstStyle/>
            <a:p>
              <a:pPr algn="ctr"/>
              <a:r>
                <a:rPr lang="en-US" altLang="zh-CN" b="1"/>
                <a:t>IPX</a:t>
              </a:r>
            </a:p>
          </p:txBody>
        </p:sp>
        <p:sp>
          <p:nvSpPr>
            <p:cNvPr id="9" name="Rectangle 9"/>
            <p:cNvSpPr>
              <a:spLocks noChangeArrowheads="1"/>
            </p:cNvSpPr>
            <p:nvPr/>
          </p:nvSpPr>
          <p:spPr bwMode="auto">
            <a:xfrm>
              <a:off x="5275616" y="1773238"/>
              <a:ext cx="1017693" cy="330875"/>
            </a:xfrm>
            <a:prstGeom prst="rect">
              <a:avLst/>
            </a:prstGeom>
            <a:solidFill>
              <a:schemeClr val="accent1"/>
            </a:solidFill>
            <a:ln w="9525">
              <a:solidFill>
                <a:schemeClr val="tx1"/>
              </a:solidFill>
              <a:miter lim="800000"/>
            </a:ln>
          </p:spPr>
          <p:txBody>
            <a:bodyPr wrap="none" anchor="ctr"/>
            <a:lstStyle/>
            <a:p>
              <a:pPr algn="ctr"/>
              <a:r>
                <a:rPr lang="en-US" altLang="zh-CN" b="1"/>
                <a:t>ICMP</a:t>
              </a:r>
            </a:p>
          </p:txBody>
        </p:sp>
        <p:sp>
          <p:nvSpPr>
            <p:cNvPr id="10" name="Line 10"/>
            <p:cNvSpPr>
              <a:spLocks noChangeShapeType="1"/>
            </p:cNvSpPr>
            <p:nvPr/>
          </p:nvSpPr>
          <p:spPr bwMode="auto">
            <a:xfrm>
              <a:off x="4427538" y="2104113"/>
              <a:ext cx="424039" cy="0"/>
            </a:xfrm>
            <a:prstGeom prst="line">
              <a:avLst/>
            </a:prstGeom>
            <a:noFill/>
            <a:ln w="9525">
              <a:solidFill>
                <a:schemeClr val="tx1"/>
              </a:solidFill>
              <a:miter lim="800000"/>
            </a:ln>
          </p:spPr>
          <p:txBody>
            <a:bodyPr wrap="none"/>
            <a:lstStyle/>
            <a:p>
              <a:pPr algn="ctr"/>
              <a:endParaRPr lang="zh-CN" altLang="en-US" b="1"/>
            </a:p>
          </p:txBody>
        </p:sp>
        <p:sp>
          <p:nvSpPr>
            <p:cNvPr id="11" name="Rectangle 11"/>
            <p:cNvSpPr>
              <a:spLocks noChangeArrowheads="1"/>
            </p:cNvSpPr>
            <p:nvPr/>
          </p:nvSpPr>
          <p:spPr bwMode="auto">
            <a:xfrm>
              <a:off x="5275616" y="2186832"/>
              <a:ext cx="1017693" cy="330875"/>
            </a:xfrm>
            <a:prstGeom prst="rect">
              <a:avLst/>
            </a:prstGeom>
            <a:solidFill>
              <a:schemeClr val="accent1"/>
            </a:solidFill>
            <a:ln w="9525">
              <a:solidFill>
                <a:schemeClr val="tx1"/>
              </a:solidFill>
              <a:miter lim="800000"/>
            </a:ln>
          </p:spPr>
          <p:txBody>
            <a:bodyPr wrap="none" anchor="ctr"/>
            <a:lstStyle/>
            <a:p>
              <a:pPr algn="ctr"/>
              <a:r>
                <a:rPr lang="en-US" altLang="zh-CN" b="1"/>
                <a:t>OSPF</a:t>
              </a:r>
            </a:p>
          </p:txBody>
        </p:sp>
        <p:sp>
          <p:nvSpPr>
            <p:cNvPr id="12" name="Rectangle 12"/>
            <p:cNvSpPr>
              <a:spLocks noChangeArrowheads="1"/>
            </p:cNvSpPr>
            <p:nvPr/>
          </p:nvSpPr>
          <p:spPr bwMode="auto">
            <a:xfrm>
              <a:off x="5275616" y="2600427"/>
              <a:ext cx="1017693" cy="330875"/>
            </a:xfrm>
            <a:prstGeom prst="rect">
              <a:avLst/>
            </a:prstGeom>
            <a:solidFill>
              <a:srgbClr val="FFC000"/>
            </a:solidFill>
            <a:ln w="9525">
              <a:solidFill>
                <a:schemeClr val="tx1"/>
              </a:solidFill>
              <a:miter lim="800000"/>
            </a:ln>
          </p:spPr>
          <p:txBody>
            <a:bodyPr wrap="none" anchor="ctr"/>
            <a:lstStyle/>
            <a:p>
              <a:pPr algn="ctr"/>
              <a:r>
                <a:rPr lang="en-US" altLang="zh-CN" b="1"/>
                <a:t>TCP</a:t>
              </a:r>
            </a:p>
          </p:txBody>
        </p:sp>
        <p:sp>
          <p:nvSpPr>
            <p:cNvPr id="13" name="Rectangle 13"/>
            <p:cNvSpPr>
              <a:spLocks noChangeArrowheads="1"/>
            </p:cNvSpPr>
            <p:nvPr/>
          </p:nvSpPr>
          <p:spPr bwMode="auto">
            <a:xfrm>
              <a:off x="5275616" y="4420242"/>
              <a:ext cx="1017693" cy="330875"/>
            </a:xfrm>
            <a:prstGeom prst="rect">
              <a:avLst/>
            </a:prstGeom>
            <a:solidFill>
              <a:srgbClr val="92D050"/>
            </a:solidFill>
            <a:ln w="9525">
              <a:solidFill>
                <a:schemeClr val="tx1"/>
              </a:solidFill>
              <a:miter lim="800000"/>
            </a:ln>
          </p:spPr>
          <p:txBody>
            <a:bodyPr wrap="none" anchor="ctr"/>
            <a:lstStyle/>
            <a:p>
              <a:pPr algn="ctr"/>
              <a:r>
                <a:rPr lang="en-US" altLang="zh-CN" b="1"/>
                <a:t>UDP</a:t>
              </a:r>
            </a:p>
          </p:txBody>
        </p:sp>
        <p:sp>
          <p:nvSpPr>
            <p:cNvPr id="14" name="Line 14"/>
            <p:cNvSpPr>
              <a:spLocks noChangeShapeType="1"/>
            </p:cNvSpPr>
            <p:nvPr/>
          </p:nvSpPr>
          <p:spPr bwMode="auto">
            <a:xfrm>
              <a:off x="6293309" y="2765864"/>
              <a:ext cx="678462" cy="0"/>
            </a:xfrm>
            <a:prstGeom prst="line">
              <a:avLst/>
            </a:prstGeom>
            <a:noFill/>
            <a:ln w="9525">
              <a:solidFill>
                <a:schemeClr val="tx1"/>
              </a:solidFill>
              <a:miter lim="800000"/>
            </a:ln>
          </p:spPr>
          <p:txBody>
            <a:bodyPr wrap="none"/>
            <a:lstStyle/>
            <a:p>
              <a:pPr algn="ctr"/>
              <a:endParaRPr lang="zh-CN" altLang="en-US" b="1"/>
            </a:p>
          </p:txBody>
        </p:sp>
        <p:sp>
          <p:nvSpPr>
            <p:cNvPr id="15" name="Rectangle 15"/>
            <p:cNvSpPr>
              <a:spLocks noChangeArrowheads="1"/>
            </p:cNvSpPr>
            <p:nvPr/>
          </p:nvSpPr>
          <p:spPr bwMode="auto">
            <a:xfrm>
              <a:off x="7480618" y="1773238"/>
              <a:ext cx="763270" cy="330875"/>
            </a:xfrm>
            <a:prstGeom prst="rect">
              <a:avLst/>
            </a:prstGeom>
            <a:solidFill>
              <a:schemeClr val="accent1"/>
            </a:solidFill>
            <a:ln w="9525">
              <a:solidFill>
                <a:schemeClr val="tx1"/>
              </a:solidFill>
              <a:miter lim="800000"/>
            </a:ln>
          </p:spPr>
          <p:txBody>
            <a:bodyPr wrap="none" anchor="ctr"/>
            <a:lstStyle/>
            <a:p>
              <a:pPr algn="ctr"/>
              <a:r>
                <a:rPr lang="en-US" altLang="zh-CN" b="1"/>
                <a:t>FTP</a:t>
              </a:r>
            </a:p>
          </p:txBody>
        </p:sp>
        <p:sp>
          <p:nvSpPr>
            <p:cNvPr id="16" name="Rectangle 16"/>
            <p:cNvSpPr>
              <a:spLocks noChangeArrowheads="1"/>
            </p:cNvSpPr>
            <p:nvPr/>
          </p:nvSpPr>
          <p:spPr bwMode="auto">
            <a:xfrm>
              <a:off x="7480618" y="2186832"/>
              <a:ext cx="763270" cy="330875"/>
            </a:xfrm>
            <a:prstGeom prst="rect">
              <a:avLst/>
            </a:prstGeom>
            <a:solidFill>
              <a:schemeClr val="accent1"/>
            </a:solidFill>
            <a:ln w="9525">
              <a:solidFill>
                <a:schemeClr val="tx1"/>
              </a:solidFill>
              <a:miter lim="800000"/>
            </a:ln>
          </p:spPr>
          <p:txBody>
            <a:bodyPr wrap="none" anchor="ctr"/>
            <a:lstStyle/>
            <a:p>
              <a:pPr algn="ctr"/>
              <a:r>
                <a:rPr lang="en-US" altLang="zh-CN" b="1"/>
                <a:t>Telnet</a:t>
              </a:r>
            </a:p>
          </p:txBody>
        </p:sp>
        <p:sp>
          <p:nvSpPr>
            <p:cNvPr id="17" name="Rectangle 17"/>
            <p:cNvSpPr>
              <a:spLocks noChangeArrowheads="1"/>
            </p:cNvSpPr>
            <p:nvPr/>
          </p:nvSpPr>
          <p:spPr bwMode="auto">
            <a:xfrm>
              <a:off x="7480618" y="2600427"/>
              <a:ext cx="763270" cy="330875"/>
            </a:xfrm>
            <a:prstGeom prst="rect">
              <a:avLst/>
            </a:prstGeom>
            <a:solidFill>
              <a:schemeClr val="accent1"/>
            </a:solidFill>
            <a:ln w="9525">
              <a:solidFill>
                <a:schemeClr val="tx1"/>
              </a:solidFill>
              <a:miter lim="800000"/>
            </a:ln>
          </p:spPr>
          <p:txBody>
            <a:bodyPr wrap="none" anchor="ctr"/>
            <a:lstStyle/>
            <a:p>
              <a:pPr algn="ctr"/>
              <a:r>
                <a:rPr lang="en-US" altLang="zh-CN" b="1"/>
                <a:t>POP3</a:t>
              </a:r>
            </a:p>
          </p:txBody>
        </p:sp>
        <p:sp>
          <p:nvSpPr>
            <p:cNvPr id="18" name="Rectangle 18"/>
            <p:cNvSpPr>
              <a:spLocks noChangeArrowheads="1"/>
            </p:cNvSpPr>
            <p:nvPr/>
          </p:nvSpPr>
          <p:spPr bwMode="auto">
            <a:xfrm>
              <a:off x="7480618" y="3014021"/>
              <a:ext cx="763270" cy="330875"/>
            </a:xfrm>
            <a:prstGeom prst="rect">
              <a:avLst/>
            </a:prstGeom>
            <a:solidFill>
              <a:schemeClr val="accent1"/>
            </a:solidFill>
            <a:ln w="9525">
              <a:solidFill>
                <a:schemeClr val="tx1"/>
              </a:solidFill>
              <a:miter lim="800000"/>
            </a:ln>
          </p:spPr>
          <p:txBody>
            <a:bodyPr wrap="none" anchor="ctr"/>
            <a:lstStyle/>
            <a:p>
              <a:pPr algn="ctr"/>
              <a:r>
                <a:rPr lang="en-US" altLang="zh-CN" b="1"/>
                <a:t>SMTP</a:t>
              </a:r>
            </a:p>
          </p:txBody>
        </p:sp>
        <p:sp>
          <p:nvSpPr>
            <p:cNvPr id="19" name="Rectangle 19"/>
            <p:cNvSpPr>
              <a:spLocks noChangeArrowheads="1"/>
            </p:cNvSpPr>
            <p:nvPr/>
          </p:nvSpPr>
          <p:spPr bwMode="auto">
            <a:xfrm>
              <a:off x="7480618" y="3427615"/>
              <a:ext cx="763270" cy="330875"/>
            </a:xfrm>
            <a:prstGeom prst="rect">
              <a:avLst/>
            </a:prstGeom>
            <a:solidFill>
              <a:schemeClr val="accent1"/>
            </a:solidFill>
            <a:ln w="9525">
              <a:solidFill>
                <a:schemeClr val="tx1"/>
              </a:solidFill>
              <a:miter lim="800000"/>
            </a:ln>
          </p:spPr>
          <p:txBody>
            <a:bodyPr wrap="none" anchor="ctr"/>
            <a:lstStyle/>
            <a:p>
              <a:pPr algn="ctr"/>
              <a:r>
                <a:rPr lang="en-US" altLang="zh-CN" b="1"/>
                <a:t>HTTP</a:t>
              </a:r>
            </a:p>
          </p:txBody>
        </p:sp>
        <p:sp>
          <p:nvSpPr>
            <p:cNvPr id="20" name="Line 20"/>
            <p:cNvSpPr>
              <a:spLocks noChangeShapeType="1"/>
            </p:cNvSpPr>
            <p:nvPr/>
          </p:nvSpPr>
          <p:spPr bwMode="auto">
            <a:xfrm>
              <a:off x="6971771" y="2021395"/>
              <a:ext cx="0" cy="1571659"/>
            </a:xfrm>
            <a:prstGeom prst="line">
              <a:avLst/>
            </a:prstGeom>
            <a:noFill/>
            <a:ln w="9525">
              <a:solidFill>
                <a:schemeClr val="tx1"/>
              </a:solidFill>
              <a:miter lim="800000"/>
            </a:ln>
          </p:spPr>
          <p:txBody>
            <a:bodyPr wrap="none"/>
            <a:lstStyle/>
            <a:p>
              <a:pPr algn="ctr"/>
              <a:endParaRPr lang="zh-CN" altLang="en-US" b="1"/>
            </a:p>
          </p:txBody>
        </p:sp>
        <p:sp>
          <p:nvSpPr>
            <p:cNvPr id="21" name="Line 21"/>
            <p:cNvSpPr>
              <a:spLocks noChangeShapeType="1"/>
            </p:cNvSpPr>
            <p:nvPr/>
          </p:nvSpPr>
          <p:spPr bwMode="auto">
            <a:xfrm>
              <a:off x="6971771" y="2021395"/>
              <a:ext cx="508847" cy="0"/>
            </a:xfrm>
            <a:prstGeom prst="line">
              <a:avLst/>
            </a:prstGeom>
            <a:noFill/>
            <a:ln w="9525">
              <a:solidFill>
                <a:schemeClr val="tx1"/>
              </a:solidFill>
              <a:miter lim="800000"/>
            </a:ln>
          </p:spPr>
          <p:txBody>
            <a:bodyPr wrap="none"/>
            <a:lstStyle/>
            <a:p>
              <a:pPr algn="ctr"/>
              <a:endParaRPr lang="zh-CN" altLang="en-US" b="1"/>
            </a:p>
          </p:txBody>
        </p:sp>
        <p:sp>
          <p:nvSpPr>
            <p:cNvPr id="22" name="Line 22"/>
            <p:cNvSpPr>
              <a:spLocks noChangeShapeType="1"/>
            </p:cNvSpPr>
            <p:nvPr/>
          </p:nvSpPr>
          <p:spPr bwMode="auto">
            <a:xfrm>
              <a:off x="6971771" y="2352270"/>
              <a:ext cx="508847" cy="0"/>
            </a:xfrm>
            <a:prstGeom prst="line">
              <a:avLst/>
            </a:prstGeom>
            <a:noFill/>
            <a:ln w="9525">
              <a:solidFill>
                <a:schemeClr val="tx1"/>
              </a:solidFill>
              <a:miter lim="800000"/>
            </a:ln>
          </p:spPr>
          <p:txBody>
            <a:bodyPr wrap="none"/>
            <a:lstStyle/>
            <a:p>
              <a:pPr algn="ctr"/>
              <a:endParaRPr lang="zh-CN" altLang="en-US" b="1"/>
            </a:p>
          </p:txBody>
        </p:sp>
        <p:sp>
          <p:nvSpPr>
            <p:cNvPr id="23" name="Line 23"/>
            <p:cNvSpPr>
              <a:spLocks noChangeShapeType="1"/>
            </p:cNvSpPr>
            <p:nvPr/>
          </p:nvSpPr>
          <p:spPr bwMode="auto">
            <a:xfrm>
              <a:off x="6971771" y="2765864"/>
              <a:ext cx="508847" cy="0"/>
            </a:xfrm>
            <a:prstGeom prst="line">
              <a:avLst/>
            </a:prstGeom>
            <a:noFill/>
            <a:ln w="9525">
              <a:solidFill>
                <a:schemeClr val="tx1"/>
              </a:solidFill>
              <a:miter lim="800000"/>
            </a:ln>
          </p:spPr>
          <p:txBody>
            <a:bodyPr wrap="none"/>
            <a:lstStyle/>
            <a:p>
              <a:pPr algn="ctr"/>
              <a:endParaRPr lang="zh-CN" altLang="en-US" b="1"/>
            </a:p>
          </p:txBody>
        </p:sp>
        <p:sp>
          <p:nvSpPr>
            <p:cNvPr id="24" name="Line 24"/>
            <p:cNvSpPr>
              <a:spLocks noChangeShapeType="1"/>
            </p:cNvSpPr>
            <p:nvPr/>
          </p:nvSpPr>
          <p:spPr bwMode="auto">
            <a:xfrm>
              <a:off x="6971771" y="3179459"/>
              <a:ext cx="508847" cy="0"/>
            </a:xfrm>
            <a:prstGeom prst="line">
              <a:avLst/>
            </a:prstGeom>
            <a:noFill/>
            <a:ln w="9525">
              <a:solidFill>
                <a:schemeClr val="tx1"/>
              </a:solidFill>
              <a:miter lim="800000"/>
            </a:ln>
          </p:spPr>
          <p:txBody>
            <a:bodyPr wrap="none"/>
            <a:lstStyle/>
            <a:p>
              <a:pPr algn="ctr"/>
              <a:endParaRPr lang="zh-CN" altLang="en-US" b="1"/>
            </a:p>
          </p:txBody>
        </p:sp>
        <p:sp>
          <p:nvSpPr>
            <p:cNvPr id="25" name="Line 25"/>
            <p:cNvSpPr>
              <a:spLocks noChangeShapeType="1"/>
            </p:cNvSpPr>
            <p:nvPr/>
          </p:nvSpPr>
          <p:spPr bwMode="auto">
            <a:xfrm>
              <a:off x="6971771" y="3593053"/>
              <a:ext cx="508847" cy="0"/>
            </a:xfrm>
            <a:prstGeom prst="line">
              <a:avLst/>
            </a:prstGeom>
            <a:noFill/>
            <a:ln w="9525">
              <a:solidFill>
                <a:schemeClr val="tx1"/>
              </a:solidFill>
              <a:miter lim="800000"/>
            </a:ln>
          </p:spPr>
          <p:txBody>
            <a:bodyPr wrap="none"/>
            <a:lstStyle/>
            <a:p>
              <a:pPr algn="ctr"/>
              <a:endParaRPr lang="zh-CN" altLang="en-US" b="1"/>
            </a:p>
          </p:txBody>
        </p:sp>
        <p:sp>
          <p:nvSpPr>
            <p:cNvPr id="26" name="Line 26"/>
            <p:cNvSpPr>
              <a:spLocks noChangeShapeType="1"/>
            </p:cNvSpPr>
            <p:nvPr/>
          </p:nvSpPr>
          <p:spPr bwMode="auto">
            <a:xfrm>
              <a:off x="6293309" y="4585680"/>
              <a:ext cx="678462" cy="0"/>
            </a:xfrm>
            <a:prstGeom prst="line">
              <a:avLst/>
            </a:prstGeom>
            <a:noFill/>
            <a:ln w="9525">
              <a:solidFill>
                <a:schemeClr val="tx1"/>
              </a:solidFill>
              <a:miter lim="800000"/>
            </a:ln>
          </p:spPr>
          <p:txBody>
            <a:bodyPr wrap="none"/>
            <a:lstStyle/>
            <a:p>
              <a:pPr algn="ctr"/>
              <a:endParaRPr lang="zh-CN" altLang="en-US" b="1"/>
            </a:p>
          </p:txBody>
        </p:sp>
        <p:sp>
          <p:nvSpPr>
            <p:cNvPr id="27" name="Rectangle 27"/>
            <p:cNvSpPr>
              <a:spLocks noChangeArrowheads="1"/>
            </p:cNvSpPr>
            <p:nvPr/>
          </p:nvSpPr>
          <p:spPr bwMode="auto">
            <a:xfrm>
              <a:off x="7480618" y="4420242"/>
              <a:ext cx="763270" cy="330875"/>
            </a:xfrm>
            <a:prstGeom prst="rect">
              <a:avLst/>
            </a:prstGeom>
            <a:solidFill>
              <a:schemeClr val="accent1"/>
            </a:solidFill>
            <a:ln w="9525">
              <a:solidFill>
                <a:schemeClr val="tx1"/>
              </a:solidFill>
              <a:miter lim="800000"/>
            </a:ln>
          </p:spPr>
          <p:txBody>
            <a:bodyPr wrap="none" anchor="ctr"/>
            <a:lstStyle/>
            <a:p>
              <a:pPr algn="ctr"/>
              <a:r>
                <a:rPr lang="en-US" altLang="zh-CN" b="1"/>
                <a:t>DNS</a:t>
              </a:r>
            </a:p>
          </p:txBody>
        </p:sp>
        <p:sp>
          <p:nvSpPr>
            <p:cNvPr id="28" name="Rectangle 28"/>
            <p:cNvSpPr>
              <a:spLocks noChangeArrowheads="1"/>
            </p:cNvSpPr>
            <p:nvPr/>
          </p:nvSpPr>
          <p:spPr bwMode="auto">
            <a:xfrm>
              <a:off x="7480618" y="4833836"/>
              <a:ext cx="763270" cy="330875"/>
            </a:xfrm>
            <a:prstGeom prst="rect">
              <a:avLst/>
            </a:prstGeom>
            <a:solidFill>
              <a:schemeClr val="accent1"/>
            </a:solidFill>
            <a:ln w="9525">
              <a:solidFill>
                <a:schemeClr val="tx1"/>
              </a:solidFill>
              <a:miter lim="800000"/>
            </a:ln>
          </p:spPr>
          <p:txBody>
            <a:bodyPr wrap="none" anchor="ctr"/>
            <a:lstStyle/>
            <a:p>
              <a:pPr algn="ctr"/>
              <a:r>
                <a:rPr lang="en-US" altLang="zh-CN" b="1"/>
                <a:t>TFTP</a:t>
              </a:r>
            </a:p>
          </p:txBody>
        </p:sp>
        <p:sp>
          <p:nvSpPr>
            <p:cNvPr id="29" name="Line 29"/>
            <p:cNvSpPr>
              <a:spLocks noChangeShapeType="1"/>
            </p:cNvSpPr>
            <p:nvPr/>
          </p:nvSpPr>
          <p:spPr bwMode="auto">
            <a:xfrm>
              <a:off x="6971771" y="4254804"/>
              <a:ext cx="0" cy="744470"/>
            </a:xfrm>
            <a:prstGeom prst="line">
              <a:avLst/>
            </a:prstGeom>
            <a:noFill/>
            <a:ln w="9525">
              <a:solidFill>
                <a:schemeClr val="tx1"/>
              </a:solidFill>
              <a:miter lim="800000"/>
            </a:ln>
          </p:spPr>
          <p:txBody>
            <a:bodyPr wrap="none"/>
            <a:lstStyle/>
            <a:p>
              <a:pPr algn="ctr"/>
              <a:endParaRPr lang="zh-CN" altLang="en-US" b="1"/>
            </a:p>
          </p:txBody>
        </p:sp>
        <p:sp>
          <p:nvSpPr>
            <p:cNvPr id="30" name="Line 30"/>
            <p:cNvSpPr>
              <a:spLocks noChangeShapeType="1"/>
            </p:cNvSpPr>
            <p:nvPr/>
          </p:nvSpPr>
          <p:spPr bwMode="auto">
            <a:xfrm>
              <a:off x="6971771" y="4254804"/>
              <a:ext cx="508847" cy="0"/>
            </a:xfrm>
            <a:prstGeom prst="line">
              <a:avLst/>
            </a:prstGeom>
            <a:noFill/>
            <a:ln w="9525">
              <a:solidFill>
                <a:schemeClr val="tx1"/>
              </a:solidFill>
              <a:miter lim="800000"/>
            </a:ln>
          </p:spPr>
          <p:txBody>
            <a:bodyPr wrap="none"/>
            <a:lstStyle/>
            <a:p>
              <a:pPr algn="ctr"/>
              <a:endParaRPr lang="zh-CN" altLang="en-US" b="1"/>
            </a:p>
          </p:txBody>
        </p:sp>
        <p:sp>
          <p:nvSpPr>
            <p:cNvPr id="31" name="Line 31"/>
            <p:cNvSpPr>
              <a:spLocks noChangeShapeType="1"/>
            </p:cNvSpPr>
            <p:nvPr/>
          </p:nvSpPr>
          <p:spPr bwMode="auto">
            <a:xfrm>
              <a:off x="6971771" y="4585680"/>
              <a:ext cx="508847" cy="0"/>
            </a:xfrm>
            <a:prstGeom prst="line">
              <a:avLst/>
            </a:prstGeom>
            <a:noFill/>
            <a:ln w="9525">
              <a:solidFill>
                <a:schemeClr val="tx1"/>
              </a:solidFill>
              <a:miter lim="800000"/>
            </a:ln>
          </p:spPr>
          <p:txBody>
            <a:bodyPr wrap="none"/>
            <a:lstStyle/>
            <a:p>
              <a:pPr algn="ctr"/>
              <a:endParaRPr lang="zh-CN" altLang="en-US" b="1"/>
            </a:p>
          </p:txBody>
        </p:sp>
        <p:sp>
          <p:nvSpPr>
            <p:cNvPr id="32" name="Line 32"/>
            <p:cNvSpPr>
              <a:spLocks noChangeShapeType="1"/>
            </p:cNvSpPr>
            <p:nvPr/>
          </p:nvSpPr>
          <p:spPr bwMode="auto">
            <a:xfrm>
              <a:off x="6971771" y="4999274"/>
              <a:ext cx="508847" cy="0"/>
            </a:xfrm>
            <a:prstGeom prst="line">
              <a:avLst/>
            </a:prstGeom>
            <a:noFill/>
            <a:ln w="9525">
              <a:solidFill>
                <a:schemeClr val="tx1"/>
              </a:solidFill>
              <a:miter lim="800000"/>
            </a:ln>
          </p:spPr>
          <p:txBody>
            <a:bodyPr wrap="none"/>
            <a:lstStyle/>
            <a:p>
              <a:pPr algn="ctr"/>
              <a:endParaRPr lang="zh-CN" altLang="en-US" b="1"/>
            </a:p>
          </p:txBody>
        </p:sp>
        <p:sp>
          <p:nvSpPr>
            <p:cNvPr id="33" name="Rectangle 33"/>
            <p:cNvSpPr>
              <a:spLocks noChangeArrowheads="1"/>
            </p:cNvSpPr>
            <p:nvPr/>
          </p:nvSpPr>
          <p:spPr bwMode="auto">
            <a:xfrm>
              <a:off x="5275616" y="3014021"/>
              <a:ext cx="1017693" cy="330875"/>
            </a:xfrm>
            <a:prstGeom prst="rect">
              <a:avLst/>
            </a:prstGeom>
            <a:solidFill>
              <a:schemeClr val="accent1"/>
            </a:solidFill>
            <a:ln w="9525">
              <a:solidFill>
                <a:schemeClr val="tx1"/>
              </a:solidFill>
              <a:miter lim="800000"/>
            </a:ln>
          </p:spPr>
          <p:txBody>
            <a:bodyPr wrap="none" anchor="ctr"/>
            <a:lstStyle/>
            <a:p>
              <a:pPr algn="ctr"/>
              <a:r>
                <a:rPr lang="en-US" altLang="zh-CN" b="1"/>
                <a:t>IGMP</a:t>
              </a:r>
            </a:p>
          </p:txBody>
        </p:sp>
        <p:sp>
          <p:nvSpPr>
            <p:cNvPr id="34" name="Rectangle 34"/>
            <p:cNvSpPr>
              <a:spLocks noChangeArrowheads="1"/>
            </p:cNvSpPr>
            <p:nvPr/>
          </p:nvSpPr>
          <p:spPr bwMode="auto">
            <a:xfrm>
              <a:off x="5275616" y="3427615"/>
              <a:ext cx="1017693" cy="330875"/>
            </a:xfrm>
            <a:prstGeom prst="rect">
              <a:avLst/>
            </a:prstGeom>
            <a:solidFill>
              <a:schemeClr val="accent1"/>
            </a:solidFill>
            <a:ln w="9525">
              <a:solidFill>
                <a:schemeClr val="tx1"/>
              </a:solidFill>
              <a:miter lim="800000"/>
            </a:ln>
          </p:spPr>
          <p:txBody>
            <a:bodyPr wrap="none" anchor="ctr"/>
            <a:lstStyle/>
            <a:p>
              <a:pPr algn="ctr"/>
              <a:r>
                <a:rPr lang="en-US" altLang="zh-CN" b="1"/>
                <a:t>EGP</a:t>
              </a:r>
            </a:p>
          </p:txBody>
        </p:sp>
        <p:sp>
          <p:nvSpPr>
            <p:cNvPr id="35" name="Rectangle 35"/>
            <p:cNvSpPr>
              <a:spLocks noChangeArrowheads="1"/>
            </p:cNvSpPr>
            <p:nvPr/>
          </p:nvSpPr>
          <p:spPr bwMode="auto">
            <a:xfrm>
              <a:off x="5275616" y="3841210"/>
              <a:ext cx="1017693" cy="330875"/>
            </a:xfrm>
            <a:prstGeom prst="rect">
              <a:avLst/>
            </a:prstGeom>
            <a:solidFill>
              <a:schemeClr val="accent1"/>
            </a:solidFill>
            <a:ln w="9525">
              <a:solidFill>
                <a:schemeClr val="tx1"/>
              </a:solidFill>
              <a:miter lim="800000"/>
            </a:ln>
          </p:spPr>
          <p:txBody>
            <a:bodyPr wrap="none" anchor="ctr"/>
            <a:lstStyle/>
            <a:p>
              <a:pPr algn="ctr"/>
              <a:r>
                <a:rPr lang="en-US" altLang="zh-CN" b="1" dirty="0"/>
                <a:t>GGP</a:t>
              </a:r>
            </a:p>
          </p:txBody>
        </p:sp>
        <p:sp>
          <p:nvSpPr>
            <p:cNvPr id="36" name="Rectangle 36"/>
            <p:cNvSpPr>
              <a:spLocks noChangeArrowheads="1"/>
            </p:cNvSpPr>
            <p:nvPr/>
          </p:nvSpPr>
          <p:spPr bwMode="auto">
            <a:xfrm>
              <a:off x="7480618" y="4006648"/>
              <a:ext cx="763270" cy="330875"/>
            </a:xfrm>
            <a:prstGeom prst="rect">
              <a:avLst/>
            </a:prstGeom>
            <a:solidFill>
              <a:schemeClr val="accent1"/>
            </a:solidFill>
            <a:ln w="9525">
              <a:solidFill>
                <a:schemeClr val="tx1"/>
              </a:solidFill>
              <a:miter lim="800000"/>
            </a:ln>
          </p:spPr>
          <p:txBody>
            <a:bodyPr wrap="none" anchor="ctr"/>
            <a:lstStyle/>
            <a:p>
              <a:pPr algn="ctr"/>
              <a:r>
                <a:rPr lang="en-US" altLang="zh-CN" b="1"/>
                <a:t>NFS</a:t>
              </a:r>
            </a:p>
          </p:txBody>
        </p:sp>
        <p:sp>
          <p:nvSpPr>
            <p:cNvPr id="37" name="Rectangle 37"/>
            <p:cNvSpPr>
              <a:spLocks noChangeArrowheads="1"/>
            </p:cNvSpPr>
            <p:nvPr/>
          </p:nvSpPr>
          <p:spPr bwMode="auto">
            <a:xfrm>
              <a:off x="3155421" y="1799280"/>
              <a:ext cx="1272117" cy="478952"/>
            </a:xfrm>
            <a:prstGeom prst="rect">
              <a:avLst/>
            </a:prstGeom>
            <a:solidFill>
              <a:srgbClr val="FF0000"/>
            </a:solidFill>
            <a:ln w="9525">
              <a:solidFill>
                <a:schemeClr val="tx1"/>
              </a:solidFill>
              <a:miter lim="800000"/>
            </a:ln>
            <a:effectLst>
              <a:outerShdw dist="107763" dir="2700000" algn="ctr" rotWithShape="0">
                <a:schemeClr val="bg2"/>
              </a:outerShdw>
            </a:effectLst>
          </p:spPr>
          <p:txBody>
            <a:bodyPr wrap="none" anchor="ctr"/>
            <a:lstStyle/>
            <a:p>
              <a:pPr algn="ctr"/>
              <a:r>
                <a:rPr lang="en-US" altLang="zh-CN" b="1" dirty="0"/>
                <a:t>IP</a:t>
              </a:r>
            </a:p>
          </p:txBody>
        </p:sp>
        <p:sp>
          <p:nvSpPr>
            <p:cNvPr id="38" name="Rectangle 38"/>
            <p:cNvSpPr>
              <a:spLocks noChangeArrowheads="1"/>
            </p:cNvSpPr>
            <p:nvPr/>
          </p:nvSpPr>
          <p:spPr bwMode="auto">
            <a:xfrm>
              <a:off x="3155421" y="3146780"/>
              <a:ext cx="1272117" cy="478952"/>
            </a:xfrm>
            <a:prstGeom prst="rect">
              <a:avLst/>
            </a:prstGeom>
            <a:solidFill>
              <a:schemeClr val="accent1"/>
            </a:solidFill>
            <a:ln w="9525">
              <a:solidFill>
                <a:schemeClr val="tx1"/>
              </a:solidFill>
              <a:miter lim="800000"/>
            </a:ln>
            <a:effectLst>
              <a:outerShdw dist="107763" dir="2700000" algn="ctr" rotWithShape="0">
                <a:schemeClr val="bg2"/>
              </a:outerShdw>
            </a:effectLst>
          </p:spPr>
          <p:txBody>
            <a:bodyPr wrap="none" anchor="ctr"/>
            <a:lstStyle/>
            <a:p>
              <a:pPr algn="ctr"/>
              <a:r>
                <a:rPr lang="en-US" altLang="zh-CN" b="1" dirty="0"/>
                <a:t>PPP</a:t>
              </a:r>
            </a:p>
          </p:txBody>
        </p:sp>
        <p:sp>
          <p:nvSpPr>
            <p:cNvPr id="39" name="Rectangle 39"/>
            <p:cNvSpPr>
              <a:spLocks noChangeArrowheads="1"/>
            </p:cNvSpPr>
            <p:nvPr/>
          </p:nvSpPr>
          <p:spPr bwMode="auto">
            <a:xfrm>
              <a:off x="3155420" y="3784533"/>
              <a:ext cx="1272117" cy="496314"/>
            </a:xfrm>
            <a:prstGeom prst="rect">
              <a:avLst/>
            </a:prstGeom>
            <a:solidFill>
              <a:schemeClr val="accent1"/>
            </a:solidFill>
            <a:ln w="9525">
              <a:solidFill>
                <a:schemeClr val="tx1"/>
              </a:solidFill>
              <a:miter lim="800000"/>
            </a:ln>
            <a:effectLst>
              <a:outerShdw dist="107763" dir="2700000" algn="ctr" rotWithShape="0">
                <a:schemeClr val="bg2"/>
              </a:outerShdw>
            </a:effectLst>
          </p:spPr>
          <p:txBody>
            <a:bodyPr wrap="none" anchor="ctr"/>
            <a:lstStyle/>
            <a:p>
              <a:pPr algn="ctr"/>
              <a:r>
                <a:rPr lang="en-US" altLang="zh-CN" b="1" dirty="0"/>
                <a:t>IPV6</a:t>
              </a:r>
            </a:p>
          </p:txBody>
        </p:sp>
        <p:sp>
          <p:nvSpPr>
            <p:cNvPr id="40" name="Rectangle 40"/>
            <p:cNvSpPr>
              <a:spLocks noChangeArrowheads="1"/>
            </p:cNvSpPr>
            <p:nvPr/>
          </p:nvSpPr>
          <p:spPr bwMode="auto">
            <a:xfrm>
              <a:off x="3155421" y="5158075"/>
              <a:ext cx="1272117" cy="502950"/>
            </a:xfrm>
            <a:prstGeom prst="rect">
              <a:avLst/>
            </a:prstGeom>
            <a:solidFill>
              <a:schemeClr val="accent1"/>
            </a:solidFill>
            <a:ln w="9525">
              <a:solidFill>
                <a:schemeClr val="tx1"/>
              </a:solidFill>
              <a:miter lim="800000"/>
            </a:ln>
            <a:effectLst>
              <a:outerShdw dist="107763" dir="2700000" algn="ctr" rotWithShape="0">
                <a:schemeClr val="bg2"/>
              </a:outerShdw>
            </a:effectLst>
          </p:spPr>
          <p:txBody>
            <a:bodyPr wrap="none" anchor="ctr"/>
            <a:lstStyle/>
            <a:p>
              <a:pPr algn="ctr"/>
              <a:r>
                <a:rPr lang="en-US" altLang="zh-CN" b="1"/>
                <a:t>ATM</a:t>
              </a:r>
            </a:p>
          </p:txBody>
        </p:sp>
        <p:sp>
          <p:nvSpPr>
            <p:cNvPr id="41" name="Rectangle 41"/>
            <p:cNvSpPr>
              <a:spLocks noChangeArrowheads="1"/>
            </p:cNvSpPr>
            <p:nvPr/>
          </p:nvSpPr>
          <p:spPr bwMode="auto">
            <a:xfrm>
              <a:off x="3155421" y="4520322"/>
              <a:ext cx="1272117" cy="478952"/>
            </a:xfrm>
            <a:prstGeom prst="rect">
              <a:avLst/>
            </a:prstGeom>
            <a:solidFill>
              <a:schemeClr val="accent1"/>
            </a:solidFill>
            <a:ln w="9525">
              <a:solidFill>
                <a:schemeClr val="tx1"/>
              </a:solidFill>
              <a:miter lim="800000"/>
            </a:ln>
            <a:effectLst>
              <a:outerShdw dist="107763" dir="2700000" algn="ctr" rotWithShape="0">
                <a:schemeClr val="bg2"/>
              </a:outerShdw>
            </a:effectLst>
          </p:spPr>
          <p:txBody>
            <a:bodyPr wrap="none" anchor="ctr"/>
            <a:lstStyle/>
            <a:p>
              <a:pPr algn="ctr"/>
              <a:r>
                <a:rPr lang="en-US" altLang="zh-CN" b="1"/>
                <a:t>NetBEUI</a:t>
              </a:r>
            </a:p>
          </p:txBody>
        </p:sp>
        <p:sp>
          <p:nvSpPr>
            <p:cNvPr id="42" name="Line 42"/>
            <p:cNvSpPr>
              <a:spLocks noChangeShapeType="1"/>
            </p:cNvSpPr>
            <p:nvPr/>
          </p:nvSpPr>
          <p:spPr bwMode="auto">
            <a:xfrm>
              <a:off x="2222536" y="2683146"/>
              <a:ext cx="932886" cy="0"/>
            </a:xfrm>
            <a:prstGeom prst="line">
              <a:avLst/>
            </a:prstGeom>
            <a:noFill/>
            <a:ln w="9525">
              <a:solidFill>
                <a:schemeClr val="tx1"/>
              </a:solidFill>
              <a:miter lim="800000"/>
            </a:ln>
          </p:spPr>
          <p:txBody>
            <a:bodyPr wrap="none"/>
            <a:lstStyle/>
            <a:p>
              <a:pPr algn="ctr"/>
              <a:endParaRPr lang="zh-CN" altLang="en-US" b="1"/>
            </a:p>
          </p:txBody>
        </p:sp>
        <p:sp>
          <p:nvSpPr>
            <p:cNvPr id="43" name="Line 43"/>
            <p:cNvSpPr>
              <a:spLocks noChangeShapeType="1"/>
            </p:cNvSpPr>
            <p:nvPr/>
          </p:nvSpPr>
          <p:spPr bwMode="auto">
            <a:xfrm>
              <a:off x="2222536" y="3427615"/>
              <a:ext cx="932886" cy="0"/>
            </a:xfrm>
            <a:prstGeom prst="line">
              <a:avLst/>
            </a:prstGeom>
            <a:noFill/>
            <a:ln w="9525">
              <a:solidFill>
                <a:schemeClr val="tx1"/>
              </a:solidFill>
              <a:miter lim="800000"/>
            </a:ln>
          </p:spPr>
          <p:txBody>
            <a:bodyPr wrap="none"/>
            <a:lstStyle/>
            <a:p>
              <a:pPr algn="ctr"/>
              <a:endParaRPr lang="zh-CN" altLang="en-US" b="1"/>
            </a:p>
          </p:txBody>
        </p:sp>
        <p:sp>
          <p:nvSpPr>
            <p:cNvPr id="44" name="Line 44"/>
            <p:cNvSpPr>
              <a:spLocks noChangeShapeType="1"/>
            </p:cNvSpPr>
            <p:nvPr/>
          </p:nvSpPr>
          <p:spPr bwMode="auto">
            <a:xfrm>
              <a:off x="2222536" y="4006648"/>
              <a:ext cx="932886" cy="0"/>
            </a:xfrm>
            <a:prstGeom prst="line">
              <a:avLst/>
            </a:prstGeom>
            <a:noFill/>
            <a:ln w="9525">
              <a:solidFill>
                <a:schemeClr val="tx1"/>
              </a:solidFill>
              <a:miter lim="800000"/>
            </a:ln>
          </p:spPr>
          <p:txBody>
            <a:bodyPr wrap="none"/>
            <a:lstStyle/>
            <a:p>
              <a:pPr algn="ctr"/>
              <a:endParaRPr lang="zh-CN" altLang="en-US" b="1"/>
            </a:p>
          </p:txBody>
        </p:sp>
        <p:sp>
          <p:nvSpPr>
            <p:cNvPr id="45" name="Line 45"/>
            <p:cNvSpPr>
              <a:spLocks noChangeShapeType="1"/>
            </p:cNvSpPr>
            <p:nvPr/>
          </p:nvSpPr>
          <p:spPr bwMode="auto">
            <a:xfrm>
              <a:off x="2222536" y="4751117"/>
              <a:ext cx="932886" cy="0"/>
            </a:xfrm>
            <a:prstGeom prst="line">
              <a:avLst/>
            </a:prstGeom>
            <a:noFill/>
            <a:ln w="9525">
              <a:solidFill>
                <a:schemeClr val="tx1"/>
              </a:solidFill>
              <a:miter lim="800000"/>
            </a:ln>
          </p:spPr>
          <p:txBody>
            <a:bodyPr wrap="none"/>
            <a:lstStyle/>
            <a:p>
              <a:pPr algn="ctr"/>
              <a:endParaRPr lang="zh-CN" altLang="en-US" b="1"/>
            </a:p>
          </p:txBody>
        </p:sp>
        <p:sp>
          <p:nvSpPr>
            <p:cNvPr id="46" name="Line 46"/>
            <p:cNvSpPr>
              <a:spLocks noChangeShapeType="1"/>
            </p:cNvSpPr>
            <p:nvPr/>
          </p:nvSpPr>
          <p:spPr bwMode="auto">
            <a:xfrm>
              <a:off x="2222536" y="5412868"/>
              <a:ext cx="932886" cy="0"/>
            </a:xfrm>
            <a:prstGeom prst="line">
              <a:avLst/>
            </a:prstGeom>
            <a:noFill/>
            <a:ln w="9525">
              <a:solidFill>
                <a:schemeClr val="tx1"/>
              </a:solidFill>
              <a:miter lim="800000"/>
            </a:ln>
          </p:spPr>
          <p:txBody>
            <a:bodyPr wrap="none"/>
            <a:lstStyle/>
            <a:p>
              <a:pPr algn="ctr"/>
              <a:endParaRPr lang="zh-CN" altLang="en-US" b="1"/>
            </a:p>
          </p:txBody>
        </p:sp>
        <p:sp>
          <p:nvSpPr>
            <p:cNvPr id="47" name="Line 47"/>
            <p:cNvSpPr>
              <a:spLocks noChangeShapeType="1"/>
            </p:cNvSpPr>
            <p:nvPr/>
          </p:nvSpPr>
          <p:spPr bwMode="auto">
            <a:xfrm>
              <a:off x="1883305" y="3675772"/>
              <a:ext cx="339231" cy="0"/>
            </a:xfrm>
            <a:prstGeom prst="line">
              <a:avLst/>
            </a:prstGeom>
            <a:noFill/>
            <a:ln w="9525">
              <a:solidFill>
                <a:schemeClr val="tx1"/>
              </a:solidFill>
              <a:miter lim="800000"/>
            </a:ln>
          </p:spPr>
          <p:txBody>
            <a:bodyPr wrap="none"/>
            <a:lstStyle/>
            <a:p>
              <a:pPr algn="ctr"/>
              <a:endParaRPr lang="zh-CN" altLang="en-US" b="1"/>
            </a:p>
          </p:txBody>
        </p:sp>
        <p:sp>
          <p:nvSpPr>
            <p:cNvPr id="48" name="Line 48"/>
            <p:cNvSpPr>
              <a:spLocks noChangeShapeType="1"/>
            </p:cNvSpPr>
            <p:nvPr/>
          </p:nvSpPr>
          <p:spPr bwMode="auto">
            <a:xfrm>
              <a:off x="4851577" y="1938676"/>
              <a:ext cx="0" cy="2729723"/>
            </a:xfrm>
            <a:prstGeom prst="line">
              <a:avLst/>
            </a:prstGeom>
            <a:noFill/>
            <a:ln w="9525">
              <a:solidFill>
                <a:schemeClr val="tx1"/>
              </a:solidFill>
              <a:miter lim="800000"/>
            </a:ln>
          </p:spPr>
          <p:txBody>
            <a:bodyPr wrap="none"/>
            <a:lstStyle/>
            <a:p>
              <a:pPr algn="ctr"/>
              <a:endParaRPr lang="zh-CN" altLang="en-US" b="1"/>
            </a:p>
          </p:txBody>
        </p:sp>
        <p:sp>
          <p:nvSpPr>
            <p:cNvPr id="49" name="Line 49"/>
            <p:cNvSpPr>
              <a:spLocks noChangeShapeType="1"/>
            </p:cNvSpPr>
            <p:nvPr/>
          </p:nvSpPr>
          <p:spPr bwMode="auto">
            <a:xfrm>
              <a:off x="4851577" y="1938676"/>
              <a:ext cx="424039" cy="0"/>
            </a:xfrm>
            <a:prstGeom prst="line">
              <a:avLst/>
            </a:prstGeom>
            <a:noFill/>
            <a:ln w="9525">
              <a:solidFill>
                <a:schemeClr val="tx1"/>
              </a:solidFill>
              <a:miter lim="800000"/>
            </a:ln>
          </p:spPr>
          <p:txBody>
            <a:bodyPr wrap="none"/>
            <a:lstStyle/>
            <a:p>
              <a:pPr algn="ctr"/>
              <a:endParaRPr lang="zh-CN" altLang="en-US" b="1"/>
            </a:p>
          </p:txBody>
        </p:sp>
        <p:sp>
          <p:nvSpPr>
            <p:cNvPr id="50" name="Line 50"/>
            <p:cNvSpPr>
              <a:spLocks noChangeShapeType="1"/>
            </p:cNvSpPr>
            <p:nvPr/>
          </p:nvSpPr>
          <p:spPr bwMode="auto">
            <a:xfrm>
              <a:off x="4851577" y="2352270"/>
              <a:ext cx="424039" cy="0"/>
            </a:xfrm>
            <a:prstGeom prst="line">
              <a:avLst/>
            </a:prstGeom>
            <a:noFill/>
            <a:ln w="9525">
              <a:solidFill>
                <a:schemeClr val="tx1"/>
              </a:solidFill>
              <a:miter lim="800000"/>
            </a:ln>
          </p:spPr>
          <p:txBody>
            <a:bodyPr wrap="none"/>
            <a:lstStyle/>
            <a:p>
              <a:pPr algn="ctr"/>
              <a:endParaRPr lang="zh-CN" altLang="en-US" b="1"/>
            </a:p>
          </p:txBody>
        </p:sp>
        <p:sp>
          <p:nvSpPr>
            <p:cNvPr id="51" name="Line 51"/>
            <p:cNvSpPr>
              <a:spLocks noChangeShapeType="1"/>
            </p:cNvSpPr>
            <p:nvPr/>
          </p:nvSpPr>
          <p:spPr bwMode="auto">
            <a:xfrm>
              <a:off x="4851577" y="2765864"/>
              <a:ext cx="424039" cy="0"/>
            </a:xfrm>
            <a:prstGeom prst="line">
              <a:avLst/>
            </a:prstGeom>
            <a:noFill/>
            <a:ln w="9525">
              <a:solidFill>
                <a:schemeClr val="tx1"/>
              </a:solidFill>
              <a:miter lim="800000"/>
            </a:ln>
          </p:spPr>
          <p:txBody>
            <a:bodyPr wrap="none"/>
            <a:lstStyle/>
            <a:p>
              <a:pPr algn="ctr"/>
              <a:endParaRPr lang="zh-CN" altLang="en-US" b="1"/>
            </a:p>
          </p:txBody>
        </p:sp>
        <p:sp>
          <p:nvSpPr>
            <p:cNvPr id="52" name="Line 52"/>
            <p:cNvSpPr>
              <a:spLocks noChangeShapeType="1"/>
            </p:cNvSpPr>
            <p:nvPr/>
          </p:nvSpPr>
          <p:spPr bwMode="auto">
            <a:xfrm>
              <a:off x="4851577" y="3179459"/>
              <a:ext cx="424039" cy="0"/>
            </a:xfrm>
            <a:prstGeom prst="line">
              <a:avLst/>
            </a:prstGeom>
            <a:noFill/>
            <a:ln w="9525">
              <a:solidFill>
                <a:schemeClr val="tx1"/>
              </a:solidFill>
              <a:miter lim="800000"/>
            </a:ln>
          </p:spPr>
          <p:txBody>
            <a:bodyPr wrap="none"/>
            <a:lstStyle/>
            <a:p>
              <a:pPr algn="ctr"/>
              <a:endParaRPr lang="zh-CN" altLang="en-US" b="1"/>
            </a:p>
          </p:txBody>
        </p:sp>
        <p:sp>
          <p:nvSpPr>
            <p:cNvPr id="53" name="Line 53"/>
            <p:cNvSpPr>
              <a:spLocks noChangeShapeType="1"/>
            </p:cNvSpPr>
            <p:nvPr/>
          </p:nvSpPr>
          <p:spPr bwMode="auto">
            <a:xfrm>
              <a:off x="4851577" y="3593053"/>
              <a:ext cx="424039" cy="0"/>
            </a:xfrm>
            <a:prstGeom prst="line">
              <a:avLst/>
            </a:prstGeom>
            <a:noFill/>
            <a:ln w="9525">
              <a:solidFill>
                <a:schemeClr val="tx1"/>
              </a:solidFill>
              <a:miter lim="800000"/>
            </a:ln>
          </p:spPr>
          <p:txBody>
            <a:bodyPr wrap="none"/>
            <a:lstStyle/>
            <a:p>
              <a:pPr algn="ctr"/>
              <a:endParaRPr lang="zh-CN" altLang="en-US" b="1"/>
            </a:p>
          </p:txBody>
        </p:sp>
        <p:sp>
          <p:nvSpPr>
            <p:cNvPr id="54" name="Line 54"/>
            <p:cNvSpPr>
              <a:spLocks noChangeShapeType="1"/>
            </p:cNvSpPr>
            <p:nvPr/>
          </p:nvSpPr>
          <p:spPr bwMode="auto">
            <a:xfrm>
              <a:off x="4851577" y="4006648"/>
              <a:ext cx="424039" cy="0"/>
            </a:xfrm>
            <a:prstGeom prst="line">
              <a:avLst/>
            </a:prstGeom>
            <a:noFill/>
            <a:ln w="9525">
              <a:solidFill>
                <a:schemeClr val="tx1"/>
              </a:solidFill>
              <a:miter lim="800000"/>
            </a:ln>
          </p:spPr>
          <p:txBody>
            <a:bodyPr wrap="none"/>
            <a:lstStyle/>
            <a:p>
              <a:pPr algn="ctr"/>
              <a:endParaRPr lang="zh-CN" altLang="en-US" b="1"/>
            </a:p>
          </p:txBody>
        </p:sp>
        <p:sp>
          <p:nvSpPr>
            <p:cNvPr id="55" name="Line 55"/>
            <p:cNvSpPr>
              <a:spLocks noChangeShapeType="1"/>
            </p:cNvSpPr>
            <p:nvPr/>
          </p:nvSpPr>
          <p:spPr bwMode="auto">
            <a:xfrm>
              <a:off x="4851577" y="4668399"/>
              <a:ext cx="424039" cy="0"/>
            </a:xfrm>
            <a:prstGeom prst="line">
              <a:avLst/>
            </a:prstGeom>
            <a:noFill/>
            <a:ln w="9525">
              <a:solidFill>
                <a:schemeClr val="tx1"/>
              </a:solidFill>
              <a:miter lim="800000"/>
            </a:ln>
          </p:spPr>
          <p:txBody>
            <a:bodyPr wrap="none"/>
            <a:lstStyle/>
            <a:p>
              <a:pPr algn="ctr"/>
              <a:endParaRPr lang="zh-CN" altLang="en-US" b="1"/>
            </a:p>
          </p:txBody>
        </p:sp>
      </p:grpSp>
      <p:sp>
        <p:nvSpPr>
          <p:cNvPr id="56" name="Rectangle 2"/>
          <p:cNvSpPr txBox="1">
            <a:spLocks noChangeArrowheads="1"/>
          </p:cNvSpPr>
          <p:nvPr/>
        </p:nvSpPr>
        <p:spPr bwMode="gray">
          <a:xfrm>
            <a:off x="683568" y="780246"/>
            <a:ext cx="1973617" cy="523220"/>
          </a:xfrm>
          <a:prstGeom prst="rect">
            <a:avLst/>
          </a:prstGeom>
        </p:spPr>
        <p:txBody>
          <a:bodyPr wrap="none">
            <a:spAutoFit/>
          </a:bodyPr>
          <a:lstStyle>
            <a:defPPr>
              <a:defRPr lang="en-US"/>
            </a:defPPr>
            <a:lvl1pPr marL="342900" indent="-342900" eaLnBrk="0" hangingPunct="0">
              <a:spcBef>
                <a:spcPct val="20000"/>
              </a:spcBef>
              <a:buClr>
                <a:srgbClr val="3399FF"/>
              </a:buClr>
              <a:buFont typeface="Wingdings" panose="05000000000000000000" pitchFamily="2" charset="2"/>
              <a:buChar char="v"/>
              <a:defRPr sz="2800" b="1">
                <a:solidFill>
                  <a:srgbClr val="FF0000"/>
                </a:solidFill>
                <a:effectLst>
                  <a:outerShdw blurRad="38100" dist="38100" dir="2700000" algn="tl">
                    <a:srgbClr val="000000">
                      <a:alpha val="43137"/>
                    </a:srgbClr>
                  </a:outerShdw>
                </a:effectLst>
                <a:latin typeface="+mn-lt"/>
                <a:ea typeface="+mn-ea"/>
              </a:defRPr>
            </a:lvl1pPr>
          </a:lstStyle>
          <a:p>
            <a:r>
              <a:rPr lang="zh-CN" altLang="en-US" dirty="0"/>
              <a:t>协议分析</a:t>
            </a:r>
            <a:endParaRPr lang="en-US" altLang="zh-CN"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ipe(left)">
                                      <p:cBhvr>
                                        <p:cTn id="7"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idx="4294967295"/>
          </p:nvPr>
        </p:nvSpPr>
        <p:spPr>
          <a:xfrm>
            <a:off x="620197" y="819150"/>
            <a:ext cx="4464608" cy="584684"/>
          </a:xfrm>
          <a:noFill/>
          <a:ln w="9525">
            <a:noFill/>
            <a:miter lim="800000"/>
          </a:ln>
        </p:spPr>
        <p:txBody>
          <a:bodyPr vert="horz" wrap="square" lIns="91440" tIns="45720" rIns="91440" bIns="45720" numCol="1" anchor="ctr" anchorCtr="0" compatLnSpc="1"/>
          <a:lstStyle/>
          <a:p>
            <a:r>
              <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 </a:t>
            </a:r>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网络入侵检测系统</a:t>
            </a:r>
          </a:p>
        </p:txBody>
      </p:sp>
      <p:sp>
        <p:nvSpPr>
          <p:cNvPr id="59395" name="日期占位符 20"/>
          <p:cNvSpPr txBox="1">
            <a:spLocks noGrp="1"/>
          </p:cNvSpPr>
          <p:nvPr/>
        </p:nvSpPr>
        <p:spPr bwMode="gray">
          <a:xfrm>
            <a:off x="381000" y="6505575"/>
            <a:ext cx="1905000" cy="261938"/>
          </a:xfrm>
          <a:prstGeom prst="rect">
            <a:avLst/>
          </a:prstGeom>
          <a:noFill/>
          <a:ln w="9525">
            <a:noFill/>
            <a:miter lim="800000"/>
          </a:ln>
        </p:spPr>
        <p:txBody>
          <a:bodyPr/>
          <a:lstStyle/>
          <a:p>
            <a:endParaRPr lang="en-US" altLang="zh-CN" sz="1000"/>
          </a:p>
        </p:txBody>
      </p:sp>
      <p:sp>
        <p:nvSpPr>
          <p:cNvPr id="59397" name="Rectangle 5"/>
          <p:cNvSpPr>
            <a:spLocks noChangeArrowheads="1"/>
          </p:cNvSpPr>
          <p:nvPr/>
        </p:nvSpPr>
        <p:spPr bwMode="auto">
          <a:xfrm>
            <a:off x="655638" y="1641475"/>
            <a:ext cx="7984814" cy="3011661"/>
          </a:xfrm>
          <a:prstGeom prst="rect">
            <a:avLst/>
          </a:prstGeom>
          <a:noFill/>
          <a:ln w="9525">
            <a:noFill/>
            <a:miter lim="800000"/>
          </a:ln>
        </p:spPr>
        <p:txBody>
          <a:bodyPr lIns="82124" tIns="41061" rIns="82124" bIns="41061"/>
          <a:lstStyle/>
          <a:p>
            <a:pPr marL="342900" indent="-342900" eaLnBrk="0" hangingPunct="0">
              <a:spcBef>
                <a:spcPct val="20000"/>
              </a:spcBef>
              <a:buClr>
                <a:srgbClr val="3399FF"/>
              </a:buClr>
              <a:buFont typeface="Wingdings" panose="05000000000000000000" pitchFamily="2" charset="2"/>
              <a:buChar char="v"/>
            </a:pPr>
            <a:r>
              <a:rPr lang="zh-CN" altLang="en-US" sz="2800" b="1" dirty="0">
                <a:effectLst>
                  <a:outerShdw blurRad="38100" dist="38100" dir="2700000" algn="tl">
                    <a:srgbClr val="000000">
                      <a:alpha val="43137"/>
                    </a:srgbClr>
                  </a:outerShdw>
                </a:effectLst>
                <a:latin typeface="+mn-ea"/>
                <a:ea typeface="+mn-ea"/>
              </a:rPr>
              <a:t>网络入侵检测系统的</a:t>
            </a:r>
            <a:r>
              <a:rPr lang="zh-CN" altLang="en-US" sz="2800" b="1" dirty="0">
                <a:solidFill>
                  <a:srgbClr val="FF0000"/>
                </a:solidFill>
                <a:effectLst>
                  <a:outerShdw blurRad="38100" dist="38100" dir="2700000" algn="tl">
                    <a:srgbClr val="000000">
                      <a:alpha val="43137"/>
                    </a:srgbClr>
                  </a:outerShdw>
                </a:effectLst>
                <a:latin typeface="+mn-ea"/>
                <a:ea typeface="+mn-ea"/>
              </a:rPr>
              <a:t>优点</a:t>
            </a:r>
            <a:r>
              <a:rPr lang="zh-CN" altLang="en-US" sz="2800" b="1" dirty="0">
                <a:effectLst>
                  <a:outerShdw blurRad="38100" dist="38100" dir="2700000" algn="tl">
                    <a:srgbClr val="000000">
                      <a:alpha val="43137"/>
                    </a:srgbClr>
                  </a:outerShdw>
                </a:effectLst>
                <a:latin typeface="+mn-ea"/>
                <a:ea typeface="+mn-ea"/>
              </a:rPr>
              <a:t>：</a:t>
            </a:r>
          </a:p>
          <a:p>
            <a:pPr marL="742950" lvl="1" indent="-285750" eaLnBrk="0" hangingPunct="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mn-ea"/>
                <a:ea typeface="+mn-ea"/>
              </a:rPr>
              <a:t>不需重新配置或重定向日志机制即可快速获取信息；</a:t>
            </a:r>
          </a:p>
          <a:p>
            <a:pPr marL="742950" lvl="1" indent="-285750" eaLnBrk="0" hangingPunct="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mn-ea"/>
                <a:ea typeface="+mn-ea"/>
              </a:rPr>
              <a:t>其部署不影响现有的网络架构或数据源；</a:t>
            </a:r>
          </a:p>
          <a:p>
            <a:pPr marL="742950" lvl="1" indent="-285750" eaLnBrk="0" hangingPunct="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mn-ea"/>
                <a:ea typeface="+mn-ea"/>
              </a:rPr>
              <a:t>实时监视与检测网络攻击或误用；</a:t>
            </a:r>
          </a:p>
          <a:p>
            <a:pPr marL="742950" lvl="1" indent="-285750" eaLnBrk="0" hangingPunct="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mn-ea"/>
                <a:ea typeface="+mn-ea"/>
              </a:rPr>
              <a:t>与操作系统无关；</a:t>
            </a:r>
          </a:p>
          <a:p>
            <a:pPr marL="742950" lvl="1" indent="-285750" eaLnBrk="0" hangingPunct="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mn-ea"/>
                <a:ea typeface="+mn-ea"/>
              </a:rPr>
              <a:t>不会增加系统开销。</a:t>
            </a:r>
            <a:endParaRPr lang="en-US" altLang="zh-CN" sz="2400" b="1" dirty="0">
              <a:effectLst>
                <a:outerShdw blurRad="38100" dist="38100" dir="2700000" algn="tl">
                  <a:srgbClr val="000000">
                    <a:alpha val="43137"/>
                  </a:srgbClr>
                </a:outerShdw>
              </a:effectLst>
              <a:latin typeface="+mn-ea"/>
              <a:ea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9397"/>
                                        </p:tgtEl>
                                        <p:attrNameLst>
                                          <p:attrName>style.visibility</p:attrName>
                                        </p:attrNameLst>
                                      </p:cBhvr>
                                      <p:to>
                                        <p:strVal val="visible"/>
                                      </p:to>
                                    </p:set>
                                    <p:animEffect transition="in" filter="wipe(up)">
                                      <p:cBhvr>
                                        <p:cTn id="7" dur="500"/>
                                        <p:tgtEl>
                                          <p:spTgt spid="593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7"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idx="4294967295"/>
          </p:nvPr>
        </p:nvSpPr>
        <p:spPr>
          <a:xfrm>
            <a:off x="595312" y="819150"/>
            <a:ext cx="7793038" cy="692696"/>
          </a:xfrm>
          <a:noFill/>
          <a:ln w="9525">
            <a:noFill/>
            <a:miter lim="800000"/>
          </a:ln>
        </p:spPr>
        <p:txBody>
          <a:bodyPr vert="horz" wrap="square" lIns="91440" tIns="45720" rIns="91440" bIns="45720" numCol="1" anchor="ctr" anchorCtr="0" compatLnSpc="1"/>
          <a:lstStyle/>
          <a:p>
            <a:r>
              <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 </a:t>
            </a:r>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网络入侵检测系统</a:t>
            </a:r>
          </a:p>
        </p:txBody>
      </p:sp>
      <p:sp>
        <p:nvSpPr>
          <p:cNvPr id="60419" name="日期占位符 20"/>
          <p:cNvSpPr txBox="1">
            <a:spLocks noGrp="1"/>
          </p:cNvSpPr>
          <p:nvPr/>
        </p:nvSpPr>
        <p:spPr bwMode="gray">
          <a:xfrm>
            <a:off x="381000" y="6505575"/>
            <a:ext cx="1905000" cy="261938"/>
          </a:xfrm>
          <a:prstGeom prst="rect">
            <a:avLst/>
          </a:prstGeom>
          <a:noFill/>
          <a:ln w="9525">
            <a:noFill/>
            <a:miter lim="800000"/>
          </a:ln>
        </p:spPr>
        <p:txBody>
          <a:bodyPr/>
          <a:lstStyle/>
          <a:p>
            <a:endParaRPr lang="en-US" altLang="zh-CN" sz="1000"/>
          </a:p>
        </p:txBody>
      </p:sp>
      <p:sp>
        <p:nvSpPr>
          <p:cNvPr id="60421" name="Rectangle 5"/>
          <p:cNvSpPr>
            <a:spLocks noChangeArrowheads="1"/>
          </p:cNvSpPr>
          <p:nvPr/>
        </p:nvSpPr>
        <p:spPr bwMode="auto">
          <a:xfrm>
            <a:off x="655638" y="1641475"/>
            <a:ext cx="7984814" cy="2687625"/>
          </a:xfrm>
          <a:prstGeom prst="rect">
            <a:avLst/>
          </a:prstGeom>
          <a:noFill/>
          <a:ln w="9525">
            <a:noFill/>
            <a:miter lim="800000"/>
          </a:ln>
        </p:spPr>
        <p:txBody>
          <a:bodyPr lIns="82124" tIns="41061" rIns="82124" bIns="41061"/>
          <a:lstStyle/>
          <a:p>
            <a:pPr marL="342900" indent="-342900" eaLnBrk="0" hangingPunct="0">
              <a:spcBef>
                <a:spcPct val="20000"/>
              </a:spcBef>
              <a:buClr>
                <a:srgbClr val="3399FF"/>
              </a:buClr>
              <a:buFont typeface="Wingdings" panose="05000000000000000000" pitchFamily="2" charset="2"/>
              <a:buChar char="v"/>
            </a:pPr>
            <a:r>
              <a:rPr lang="zh-CN" altLang="en-US" sz="2800" b="1" dirty="0">
                <a:effectLst>
                  <a:outerShdw blurRad="38100" dist="38100" dir="2700000" algn="tl">
                    <a:srgbClr val="000000">
                      <a:alpha val="43137"/>
                    </a:srgbClr>
                  </a:outerShdw>
                </a:effectLst>
                <a:latin typeface="+mn-ea"/>
                <a:ea typeface="+mn-ea"/>
              </a:rPr>
              <a:t>网络入侵检测系统的</a:t>
            </a:r>
            <a:r>
              <a:rPr lang="zh-CN" altLang="en-US" sz="2800" b="1" dirty="0">
                <a:solidFill>
                  <a:srgbClr val="FF0000"/>
                </a:solidFill>
                <a:effectLst>
                  <a:outerShdw blurRad="38100" dist="38100" dir="2700000" algn="tl">
                    <a:srgbClr val="000000">
                      <a:alpha val="43137"/>
                    </a:srgbClr>
                  </a:outerShdw>
                </a:effectLst>
                <a:latin typeface="+mn-ea"/>
                <a:ea typeface="+mn-ea"/>
              </a:rPr>
              <a:t>缺点</a:t>
            </a:r>
            <a:r>
              <a:rPr lang="zh-CN" altLang="en-US" sz="2800" b="1" dirty="0">
                <a:effectLst>
                  <a:outerShdw blurRad="38100" dist="38100" dir="2700000" algn="tl">
                    <a:srgbClr val="000000">
                      <a:alpha val="43137"/>
                    </a:srgbClr>
                  </a:outerShdw>
                </a:effectLst>
                <a:latin typeface="+mn-ea"/>
                <a:ea typeface="+mn-ea"/>
              </a:rPr>
              <a:t>：</a:t>
            </a:r>
          </a:p>
          <a:p>
            <a:pPr marL="742950" lvl="1" indent="-285750" eaLnBrk="0" hangingPunct="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mn-ea"/>
                <a:ea typeface="+mn-ea"/>
              </a:rPr>
              <a:t>无法分析加密的数据；</a:t>
            </a:r>
          </a:p>
          <a:p>
            <a:pPr marL="742950" lvl="1" indent="-285750" eaLnBrk="0" hangingPunct="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mn-ea"/>
                <a:ea typeface="+mn-ea"/>
              </a:rPr>
              <a:t>从网络流量可以推断发生了什么，但不能判断结果；</a:t>
            </a:r>
          </a:p>
          <a:p>
            <a:pPr marL="742950" lvl="1" indent="-285750" eaLnBrk="0" hangingPunct="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mn-ea"/>
                <a:ea typeface="+mn-ea"/>
              </a:rPr>
              <a:t>对全交换网络需要配置交换机端口镜像；</a:t>
            </a:r>
          </a:p>
          <a:p>
            <a:pPr marL="742950" lvl="1" indent="-285750" eaLnBrk="0" hangingPunct="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mn-ea"/>
                <a:ea typeface="+mn-ea"/>
              </a:rPr>
              <a:t>对于带宽的要求较高。</a:t>
            </a:r>
            <a:endParaRPr lang="en-US" altLang="zh-CN" sz="2400" b="1" dirty="0">
              <a:effectLst>
                <a:outerShdw blurRad="38100" dist="38100" dir="2700000" algn="tl">
                  <a:srgbClr val="000000">
                    <a:alpha val="43137"/>
                  </a:srgbClr>
                </a:outerShdw>
              </a:effectLst>
              <a:latin typeface="+mn-ea"/>
              <a:ea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0421"/>
                                        </p:tgtEl>
                                        <p:attrNameLst>
                                          <p:attrName>style.visibility</p:attrName>
                                        </p:attrNameLst>
                                      </p:cBhvr>
                                      <p:to>
                                        <p:strVal val="visible"/>
                                      </p:to>
                                    </p:set>
                                    <p:animEffect transition="in" filter="wipe(up)">
                                      <p:cBhvr>
                                        <p:cTn id="7" dur="500"/>
                                        <p:tgtEl>
                                          <p:spTgt spid="60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1"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idx="4294967295"/>
          </p:nvPr>
        </p:nvSpPr>
        <p:spPr>
          <a:xfrm>
            <a:off x="639754" y="1052736"/>
            <a:ext cx="5796644" cy="793750"/>
          </a:xfrm>
          <a:noFill/>
          <a:ln w="9525">
            <a:noFill/>
            <a:miter lim="800000"/>
          </a:ln>
        </p:spPr>
        <p:txBody>
          <a:bodyPr vert="horz" wrap="square" lIns="91440" tIns="45720" rIns="91440" bIns="45720" numCol="1" anchor="ctr" anchorCtr="0" compatLnSpc="1"/>
          <a:lstStyle/>
          <a:p>
            <a:r>
              <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8.11  </a:t>
            </a:r>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网络节点入侵检测系统</a:t>
            </a:r>
          </a:p>
        </p:txBody>
      </p:sp>
      <p:sp>
        <p:nvSpPr>
          <p:cNvPr id="61443" name="日期占位符 20"/>
          <p:cNvSpPr txBox="1">
            <a:spLocks noGrp="1"/>
          </p:cNvSpPr>
          <p:nvPr/>
        </p:nvSpPr>
        <p:spPr bwMode="gray">
          <a:xfrm>
            <a:off x="381000" y="6505575"/>
            <a:ext cx="1905000" cy="261938"/>
          </a:xfrm>
          <a:prstGeom prst="rect">
            <a:avLst/>
          </a:prstGeom>
          <a:noFill/>
          <a:ln w="9525">
            <a:noFill/>
            <a:miter lim="800000"/>
          </a:ln>
        </p:spPr>
        <p:txBody>
          <a:bodyPr/>
          <a:lstStyle/>
          <a:p>
            <a:endParaRPr lang="en-US" altLang="zh-CN" sz="1000"/>
          </a:p>
        </p:txBody>
      </p:sp>
      <p:sp>
        <p:nvSpPr>
          <p:cNvPr id="61445" name="Rectangle 5"/>
          <p:cNvSpPr>
            <a:spLocks noChangeArrowheads="1"/>
          </p:cNvSpPr>
          <p:nvPr/>
        </p:nvSpPr>
        <p:spPr bwMode="auto">
          <a:xfrm>
            <a:off x="1079612" y="2096852"/>
            <a:ext cx="7732713" cy="2016249"/>
          </a:xfrm>
          <a:prstGeom prst="rect">
            <a:avLst/>
          </a:prstGeom>
          <a:noFill/>
          <a:ln w="9525">
            <a:noFill/>
            <a:miter lim="800000"/>
          </a:ln>
        </p:spPr>
        <p:txBody>
          <a:bodyPr lIns="82124" tIns="41061" rIns="82124" bIns="41061"/>
          <a:lstStyle/>
          <a:p>
            <a:pPr marL="342900" indent="-342900" eaLnBrk="0" hangingPunct="0">
              <a:spcBef>
                <a:spcPct val="20000"/>
              </a:spcBef>
              <a:buClr>
                <a:srgbClr val="3399FF"/>
              </a:buClr>
              <a:buFont typeface="Wingdings" panose="05000000000000000000" pitchFamily="2" charset="2"/>
              <a:buChar char="v"/>
            </a:pPr>
            <a:r>
              <a:rPr lang="zh-CN" altLang="en-US" sz="2800" b="1" dirty="0">
                <a:effectLst>
                  <a:outerShdw blurRad="38100" dist="38100" dir="2700000" algn="tl">
                    <a:srgbClr val="000000">
                      <a:alpha val="43137"/>
                    </a:srgbClr>
                  </a:outerShdw>
                </a:effectLst>
                <a:latin typeface="+mn-ea"/>
                <a:ea typeface="+mn-ea"/>
              </a:rPr>
              <a:t>安装在网络节点的主机中；</a:t>
            </a:r>
          </a:p>
          <a:p>
            <a:pPr marL="342900" indent="-342900" eaLnBrk="0" hangingPunct="0">
              <a:spcBef>
                <a:spcPct val="20000"/>
              </a:spcBef>
              <a:buClr>
                <a:srgbClr val="3399FF"/>
              </a:buClr>
              <a:buFont typeface="Wingdings" panose="05000000000000000000" pitchFamily="2" charset="2"/>
              <a:buChar char="v"/>
            </a:pPr>
            <a:r>
              <a:rPr lang="zh-CN" altLang="en-US" sz="2800" b="1" dirty="0">
                <a:effectLst>
                  <a:outerShdw blurRad="38100" dist="38100" dir="2700000" algn="tl">
                    <a:srgbClr val="000000">
                      <a:alpha val="43137"/>
                    </a:srgbClr>
                  </a:outerShdw>
                </a:effectLst>
                <a:latin typeface="+mn-ea"/>
                <a:ea typeface="+mn-ea"/>
              </a:rPr>
              <a:t>结合了</a:t>
            </a:r>
            <a:r>
              <a:rPr lang="en-US" altLang="zh-CN" sz="2800" b="1" dirty="0">
                <a:effectLst>
                  <a:outerShdw blurRad="38100" dist="38100" dir="2700000" algn="tl">
                    <a:srgbClr val="000000">
                      <a:alpha val="43137"/>
                    </a:srgbClr>
                  </a:outerShdw>
                </a:effectLst>
                <a:latin typeface="+mn-ea"/>
                <a:ea typeface="+mn-ea"/>
              </a:rPr>
              <a:t>NIDS</a:t>
            </a:r>
            <a:r>
              <a:rPr lang="zh-CN" altLang="en-US" sz="2800" b="1" dirty="0">
                <a:effectLst>
                  <a:outerShdw blurRad="38100" dist="38100" dir="2700000" algn="tl">
                    <a:srgbClr val="000000">
                      <a:alpha val="43137"/>
                    </a:srgbClr>
                  </a:outerShdw>
                </a:effectLst>
                <a:latin typeface="+mn-ea"/>
                <a:ea typeface="+mn-ea"/>
              </a:rPr>
              <a:t>和</a:t>
            </a:r>
            <a:r>
              <a:rPr lang="en-US" altLang="zh-CN" sz="2800" b="1" dirty="0">
                <a:effectLst>
                  <a:outerShdw blurRad="38100" dist="38100" dir="2700000" algn="tl">
                    <a:srgbClr val="000000">
                      <a:alpha val="43137"/>
                    </a:srgbClr>
                  </a:outerShdw>
                </a:effectLst>
                <a:latin typeface="+mn-ea"/>
                <a:ea typeface="+mn-ea"/>
              </a:rPr>
              <a:t>HIDS</a:t>
            </a:r>
            <a:r>
              <a:rPr lang="zh-CN" altLang="en-US" sz="2800" b="1" dirty="0">
                <a:effectLst>
                  <a:outerShdw blurRad="38100" dist="38100" dir="2700000" algn="tl">
                    <a:srgbClr val="000000">
                      <a:alpha val="43137"/>
                    </a:srgbClr>
                  </a:outerShdw>
                </a:effectLst>
                <a:latin typeface="+mn-ea"/>
                <a:ea typeface="+mn-ea"/>
              </a:rPr>
              <a:t>的技术；</a:t>
            </a:r>
          </a:p>
          <a:p>
            <a:pPr marL="342900" indent="-342900" eaLnBrk="0" hangingPunct="0">
              <a:spcBef>
                <a:spcPct val="20000"/>
              </a:spcBef>
              <a:buClr>
                <a:srgbClr val="3399FF"/>
              </a:buClr>
              <a:buFont typeface="Wingdings" panose="05000000000000000000" pitchFamily="2" charset="2"/>
              <a:buChar char="v"/>
            </a:pPr>
            <a:r>
              <a:rPr lang="zh-CN" altLang="en-US" sz="2800" b="1" dirty="0">
                <a:effectLst>
                  <a:outerShdw blurRad="38100" dist="38100" dir="2700000" algn="tl">
                    <a:srgbClr val="000000">
                      <a:alpha val="43137"/>
                    </a:srgbClr>
                  </a:outerShdw>
                </a:effectLst>
                <a:latin typeface="+mn-ea"/>
                <a:ea typeface="+mn-ea"/>
              </a:rPr>
              <a:t>适合于高速交换环境和加密环境。</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1445"/>
                                        </p:tgtEl>
                                        <p:attrNameLst>
                                          <p:attrName>style.visibility</p:attrName>
                                        </p:attrNameLst>
                                      </p:cBhvr>
                                      <p:to>
                                        <p:strVal val="visible"/>
                                      </p:to>
                                    </p:set>
                                    <p:anim calcmode="lin" valueType="num">
                                      <p:cBhvr additive="base">
                                        <p:cTn id="7" dur="500" fill="hold"/>
                                        <p:tgtEl>
                                          <p:spTgt spid="61445"/>
                                        </p:tgtEl>
                                        <p:attrNameLst>
                                          <p:attrName>ppt_x</p:attrName>
                                        </p:attrNameLst>
                                      </p:cBhvr>
                                      <p:tavLst>
                                        <p:tav tm="0">
                                          <p:val>
                                            <p:strVal val="#ppt_x"/>
                                          </p:val>
                                        </p:tav>
                                        <p:tav tm="100000">
                                          <p:val>
                                            <p:strVal val="#ppt_x"/>
                                          </p:val>
                                        </p:tav>
                                      </p:tavLst>
                                    </p:anim>
                                    <p:anim calcmode="lin" valueType="num">
                                      <p:cBhvr additive="base">
                                        <p:cTn id="8" dur="500" fill="hold"/>
                                        <p:tgtEl>
                                          <p:spTgt spid="614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5"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idx="4294967295"/>
          </p:nvPr>
        </p:nvSpPr>
        <p:spPr>
          <a:xfrm>
            <a:off x="405323" y="722094"/>
            <a:ext cx="7793037" cy="679737"/>
          </a:xfrm>
          <a:noFill/>
          <a:ln w="9525">
            <a:noFill/>
            <a:miter lim="800000"/>
          </a:ln>
        </p:spPr>
        <p:txBody>
          <a:bodyPr vert="horz" wrap="square" lIns="91440" tIns="45720" rIns="91440" bIns="45720" numCol="1" anchor="ctr" anchorCtr="0" compatLnSpc="1"/>
          <a:lstStyle/>
          <a:p>
            <a:r>
              <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8.12  </a:t>
            </a:r>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入侵的响应方式</a:t>
            </a:r>
          </a:p>
        </p:txBody>
      </p:sp>
      <p:sp>
        <p:nvSpPr>
          <p:cNvPr id="62467" name="日期占位符 20"/>
          <p:cNvSpPr txBox="1">
            <a:spLocks noGrp="1"/>
          </p:cNvSpPr>
          <p:nvPr/>
        </p:nvSpPr>
        <p:spPr bwMode="gray">
          <a:xfrm>
            <a:off x="395288" y="6596063"/>
            <a:ext cx="1905000" cy="261937"/>
          </a:xfrm>
          <a:prstGeom prst="rect">
            <a:avLst/>
          </a:prstGeom>
          <a:noFill/>
          <a:ln w="9525">
            <a:noFill/>
            <a:miter lim="800000"/>
          </a:ln>
        </p:spPr>
        <p:txBody>
          <a:bodyPr/>
          <a:lstStyle/>
          <a:p>
            <a:endParaRPr lang="en-US" altLang="zh-CN" sz="1000"/>
          </a:p>
        </p:txBody>
      </p:sp>
      <p:sp>
        <p:nvSpPr>
          <p:cNvPr id="62469" name="Rectangle 5"/>
          <p:cNvSpPr>
            <a:spLocks noChangeArrowheads="1"/>
          </p:cNvSpPr>
          <p:nvPr/>
        </p:nvSpPr>
        <p:spPr bwMode="auto">
          <a:xfrm>
            <a:off x="395288" y="1520788"/>
            <a:ext cx="8496175" cy="3636404"/>
          </a:xfrm>
          <a:prstGeom prst="rect">
            <a:avLst/>
          </a:prstGeom>
          <a:noFill/>
          <a:ln w="9525">
            <a:noFill/>
            <a:miter lim="800000"/>
          </a:ln>
        </p:spPr>
        <p:txBody>
          <a:bodyPr/>
          <a:lstStyle/>
          <a:p>
            <a:pPr marL="342900" indent="-342900" eaLnBrk="0" hangingPunct="0">
              <a:spcBef>
                <a:spcPct val="20000"/>
              </a:spcBef>
              <a:buClr>
                <a:srgbClr val="3399FF"/>
              </a:buClr>
              <a:buFont typeface="Wingdings" panose="05000000000000000000" pitchFamily="2" charset="2"/>
              <a:buChar char="v"/>
            </a:pPr>
            <a:r>
              <a:rPr lang="en-AU" altLang="zh-CN" sz="28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IDS</a:t>
            </a:r>
            <a:r>
              <a:rPr lang="zh-CN" altLang="en-AU" sz="28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控制台显示告警信息；</a:t>
            </a:r>
          </a:p>
          <a:p>
            <a:pPr marL="342900" indent="-342900" eaLnBrk="0" hangingPunct="0">
              <a:spcBef>
                <a:spcPct val="20000"/>
              </a:spcBef>
              <a:buClr>
                <a:srgbClr val="3399FF"/>
              </a:buClr>
              <a:buFont typeface="Wingdings" panose="05000000000000000000" pitchFamily="2" charset="2"/>
              <a:buChar char="v"/>
            </a:pPr>
            <a:r>
              <a:rPr lang="zh-CN" altLang="en-AU" sz="28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通过电子邮件向管理员发送告警信息；</a:t>
            </a:r>
          </a:p>
          <a:p>
            <a:pPr marL="342900" indent="-342900" eaLnBrk="0" hangingPunct="0">
              <a:spcBef>
                <a:spcPct val="20000"/>
              </a:spcBef>
              <a:buClr>
                <a:srgbClr val="3399FF"/>
              </a:buClr>
              <a:buFont typeface="Wingdings" panose="05000000000000000000" pitchFamily="2" charset="2"/>
              <a:buChar char="v"/>
            </a:pPr>
            <a:r>
              <a:rPr lang="zh-CN" altLang="en-AU" sz="28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根据预先设定的规则阻断连接；</a:t>
            </a:r>
          </a:p>
          <a:p>
            <a:pPr marL="742950" lvl="1" indent="-285750" eaLnBrk="0" hangingPunct="0">
              <a:spcBef>
                <a:spcPct val="20000"/>
              </a:spcBef>
              <a:buClr>
                <a:srgbClr val="FF9900"/>
              </a:buClr>
              <a:buFont typeface="Wingdings" panose="05000000000000000000" pitchFamily="2" charset="2"/>
              <a:buChar char="§"/>
            </a:pPr>
            <a:r>
              <a:rPr lang="en-AU" altLang="zh-CN" sz="28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IDS</a:t>
            </a:r>
            <a:r>
              <a:rPr lang="zh-CN" altLang="en-AU" sz="28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自身阻断</a:t>
            </a:r>
          </a:p>
          <a:p>
            <a:pPr marL="742950" lvl="1" indent="-285750" eaLnBrk="0" hangingPunct="0">
              <a:spcBef>
                <a:spcPct val="20000"/>
              </a:spcBef>
              <a:buClr>
                <a:srgbClr val="FF9900"/>
              </a:buClr>
              <a:buFont typeface="Wingdings" panose="05000000000000000000" pitchFamily="2" charset="2"/>
              <a:buChar char="§"/>
            </a:pPr>
            <a:r>
              <a:rPr lang="zh-CN" altLang="en-AU" sz="28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与防火墙联动</a:t>
            </a:r>
          </a:p>
          <a:p>
            <a:pPr marL="342900" indent="-342900" eaLnBrk="0" hangingPunct="0">
              <a:spcBef>
                <a:spcPct val="20000"/>
              </a:spcBef>
              <a:buClr>
                <a:srgbClr val="3399FF"/>
              </a:buClr>
              <a:buFont typeface="Wingdings" panose="05000000000000000000" pitchFamily="2" charset="2"/>
              <a:buChar char="v"/>
            </a:pPr>
            <a:r>
              <a:rPr lang="zh-CN" altLang="en-AU" sz="28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采取事件归并，以确保响应机制</a:t>
            </a:r>
            <a:r>
              <a:rPr lang="zh-CN" altLang="en-US" sz="28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不</a:t>
            </a:r>
            <a:r>
              <a:rPr lang="zh-CN" altLang="en-AU" sz="28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被入侵者利用，导致拒绝服务。</a:t>
            </a:r>
            <a:endParaRPr lang="en-AU" altLang="zh-CN" sz="28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Tree>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631448" y="601249"/>
            <a:ext cx="6994525" cy="755650"/>
          </a:xfrm>
          <a:noFill/>
          <a:ln w="9525">
            <a:noFill/>
            <a:miter lim="800000"/>
          </a:ln>
        </p:spPr>
        <p:txBody>
          <a:bodyPr vert="horz" wrap="square" lIns="91440" tIns="45720" rIns="91440" bIns="45720" numCol="1" anchor="ctr" anchorCtr="0" compatLnSpc="1"/>
          <a:lstStyle/>
          <a:p>
            <a:r>
              <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8.13  IDS</a:t>
            </a:r>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的两个指标</a:t>
            </a:r>
          </a:p>
        </p:txBody>
      </p:sp>
      <p:sp>
        <p:nvSpPr>
          <p:cNvPr id="204803" name="Rectangle 3"/>
          <p:cNvSpPr>
            <a:spLocks noGrp="1" noChangeArrowheads="1"/>
          </p:cNvSpPr>
          <p:nvPr>
            <p:ph type="body" idx="1"/>
          </p:nvPr>
        </p:nvSpPr>
        <p:spPr>
          <a:xfrm>
            <a:off x="817257" y="2459871"/>
            <a:ext cx="6264696" cy="1446088"/>
          </a:xfrm>
        </p:spPr>
        <p:txBody>
          <a:bodyPr/>
          <a:lstStyle/>
          <a:p>
            <a:pPr eaLnBrk="1" hangingPunct="1"/>
            <a:r>
              <a:rPr lang="zh-CN" altLang="en-US" sz="2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误报率</a:t>
            </a:r>
            <a:r>
              <a:rPr lang="en-US" altLang="zh-CN" b="1" kern="1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(false alarm rate)</a:t>
            </a:r>
          </a:p>
          <a:p>
            <a:pPr lvl="1" eaLnBrk="1" hangingPunct="1"/>
            <a:r>
              <a:rPr lang="zh-CN" altLang="en-US" sz="2000" b="1" dirty="0">
                <a:effectLst>
                  <a:outerShdw blurRad="38100" dist="38100" dir="2700000" algn="tl">
                    <a:srgbClr val="000000">
                      <a:alpha val="43137"/>
                    </a:srgbClr>
                  </a:outerShdw>
                </a:effectLst>
              </a:rPr>
              <a:t>把正常事件识别为攻击并报警</a:t>
            </a:r>
          </a:p>
          <a:p>
            <a:pPr lvl="1" eaLnBrk="1" hangingPunct="1"/>
            <a:r>
              <a:rPr lang="zh-CN" altLang="en-US" sz="2000" b="1" dirty="0">
                <a:effectLst>
                  <a:outerShdw blurRad="38100" dist="38100" dir="2700000" algn="tl">
                    <a:srgbClr val="000000">
                      <a:alpha val="43137"/>
                    </a:srgbClr>
                  </a:outerShdw>
                </a:effectLst>
              </a:rPr>
              <a:t>误报率与检出率成正比例关系</a:t>
            </a:r>
          </a:p>
        </p:txBody>
      </p:sp>
      <p:grpSp>
        <p:nvGrpSpPr>
          <p:cNvPr id="2" name="Group 4"/>
          <p:cNvGrpSpPr/>
          <p:nvPr/>
        </p:nvGrpSpPr>
        <p:grpSpPr bwMode="auto">
          <a:xfrm>
            <a:off x="2483768" y="3944059"/>
            <a:ext cx="6336572" cy="2076451"/>
            <a:chOff x="908" y="2435"/>
            <a:chExt cx="2980" cy="1308"/>
          </a:xfrm>
        </p:grpSpPr>
        <p:sp>
          <p:nvSpPr>
            <p:cNvPr id="58373" name="Line 5"/>
            <p:cNvSpPr>
              <a:spLocks noChangeShapeType="1"/>
            </p:cNvSpPr>
            <p:nvPr/>
          </p:nvSpPr>
          <p:spPr bwMode="auto">
            <a:xfrm>
              <a:off x="1344" y="3456"/>
              <a:ext cx="2496" cy="0"/>
            </a:xfrm>
            <a:prstGeom prst="line">
              <a:avLst/>
            </a:prstGeom>
            <a:noFill/>
            <a:ln w="38100">
              <a:solidFill>
                <a:schemeClr val="tx1"/>
              </a:solidFill>
              <a:miter lim="800000"/>
              <a:tailEnd type="triangle" w="med" len="med"/>
            </a:ln>
          </p:spPr>
          <p:txBody>
            <a:bodyPr wrap="none"/>
            <a:lstStyle/>
            <a:p>
              <a:endParaRPr lang="zh-CN" altLang="en-US"/>
            </a:p>
          </p:txBody>
        </p:sp>
        <p:sp>
          <p:nvSpPr>
            <p:cNvPr id="58374" name="Line 6"/>
            <p:cNvSpPr>
              <a:spLocks noChangeShapeType="1"/>
            </p:cNvSpPr>
            <p:nvPr/>
          </p:nvSpPr>
          <p:spPr bwMode="auto">
            <a:xfrm flipV="1">
              <a:off x="1344" y="2496"/>
              <a:ext cx="0" cy="960"/>
            </a:xfrm>
            <a:prstGeom prst="line">
              <a:avLst/>
            </a:prstGeom>
            <a:noFill/>
            <a:ln w="38100">
              <a:solidFill>
                <a:schemeClr val="tx1"/>
              </a:solidFill>
              <a:miter lim="800000"/>
              <a:tailEnd type="triangle" w="med" len="med"/>
            </a:ln>
          </p:spPr>
          <p:txBody>
            <a:bodyPr wrap="none"/>
            <a:lstStyle/>
            <a:p>
              <a:endParaRPr lang="zh-CN" altLang="en-US"/>
            </a:p>
          </p:txBody>
        </p:sp>
        <p:sp>
          <p:nvSpPr>
            <p:cNvPr id="58375" name="Text Box 7"/>
            <p:cNvSpPr txBox="1">
              <a:spLocks noChangeArrowheads="1"/>
            </p:cNvSpPr>
            <p:nvPr/>
          </p:nvSpPr>
          <p:spPr bwMode="auto">
            <a:xfrm>
              <a:off x="1296" y="3493"/>
              <a:ext cx="2592" cy="250"/>
            </a:xfrm>
            <a:prstGeom prst="rect">
              <a:avLst/>
            </a:prstGeom>
            <a:noFill/>
            <a:ln w="38100">
              <a:solidFill>
                <a:schemeClr val="bg1"/>
              </a:solidFill>
              <a:miter lim="800000"/>
            </a:ln>
          </p:spPr>
          <p:txBody>
            <a:bodyPr>
              <a:spAutoFit/>
            </a:bodyPr>
            <a:lstStyle/>
            <a:p>
              <a:pPr algn="l">
                <a:spcBef>
                  <a:spcPct val="50000"/>
                </a:spcBef>
              </a:pPr>
              <a:r>
                <a:rPr kumimoji="1" lang="en-US" altLang="zh-CN" sz="2000" b="1" dirty="0">
                  <a:latin typeface="Times New Roman" panose="02020603050405020304" pitchFamily="18" charset="0"/>
                </a:rPr>
                <a:t>0      </a:t>
              </a:r>
              <a:r>
                <a:rPr kumimoji="1" lang="zh-CN" altLang="en-US" sz="2000" b="1" dirty="0">
                  <a:latin typeface="Times New Roman" panose="02020603050405020304" pitchFamily="18" charset="0"/>
                </a:rPr>
                <a:t>检出率</a:t>
              </a:r>
              <a:r>
                <a:rPr kumimoji="1" lang="en-US" altLang="zh-CN" sz="2000" b="1" dirty="0">
                  <a:latin typeface="Times New Roman" panose="02020603050405020304" pitchFamily="18" charset="0"/>
                </a:rPr>
                <a:t>(detection rate)    100%</a:t>
              </a:r>
            </a:p>
          </p:txBody>
        </p:sp>
        <p:sp>
          <p:nvSpPr>
            <p:cNvPr id="58376" name="Text Box 8"/>
            <p:cNvSpPr txBox="1">
              <a:spLocks noChangeArrowheads="1"/>
            </p:cNvSpPr>
            <p:nvPr/>
          </p:nvSpPr>
          <p:spPr bwMode="auto">
            <a:xfrm>
              <a:off x="908" y="2435"/>
              <a:ext cx="403" cy="252"/>
            </a:xfrm>
            <a:prstGeom prst="rect">
              <a:avLst/>
            </a:prstGeom>
            <a:noFill/>
            <a:ln w="38100">
              <a:solidFill>
                <a:schemeClr val="bg1"/>
              </a:solidFill>
              <a:miter lim="800000"/>
            </a:ln>
          </p:spPr>
          <p:txBody>
            <a:bodyPr wrap="square">
              <a:spAutoFit/>
            </a:bodyPr>
            <a:lstStyle/>
            <a:p>
              <a:pPr algn="l">
                <a:spcBef>
                  <a:spcPct val="50000"/>
                </a:spcBef>
              </a:pPr>
              <a:r>
                <a:rPr kumimoji="1" lang="en-US" altLang="zh-CN" sz="2000" b="1" dirty="0">
                  <a:latin typeface="Times New Roman" panose="02020603050405020304" pitchFamily="18" charset="0"/>
                </a:rPr>
                <a:t>100%</a:t>
              </a:r>
            </a:p>
          </p:txBody>
        </p:sp>
        <p:sp>
          <p:nvSpPr>
            <p:cNvPr id="58377" name="Text Box 9"/>
            <p:cNvSpPr txBox="1">
              <a:spLocks noChangeArrowheads="1"/>
            </p:cNvSpPr>
            <p:nvPr/>
          </p:nvSpPr>
          <p:spPr bwMode="auto">
            <a:xfrm>
              <a:off x="1050" y="2749"/>
              <a:ext cx="261" cy="720"/>
            </a:xfrm>
            <a:prstGeom prst="rect">
              <a:avLst/>
            </a:prstGeom>
            <a:noFill/>
            <a:ln w="38100">
              <a:solidFill>
                <a:schemeClr val="bg1"/>
              </a:solidFill>
              <a:miter lim="800000"/>
            </a:ln>
          </p:spPr>
          <p:txBody>
            <a:bodyPr vert="eaVert">
              <a:spAutoFit/>
            </a:bodyPr>
            <a:lstStyle/>
            <a:p>
              <a:pPr algn="l">
                <a:spcBef>
                  <a:spcPct val="50000"/>
                </a:spcBef>
              </a:pPr>
              <a:r>
                <a:rPr kumimoji="1" lang="zh-CN" altLang="en-US" sz="2400" b="1" dirty="0">
                  <a:latin typeface="Times New Roman" panose="02020603050405020304" pitchFamily="18" charset="0"/>
                </a:rPr>
                <a:t>误报率</a:t>
              </a:r>
            </a:p>
          </p:txBody>
        </p:sp>
        <p:sp>
          <p:nvSpPr>
            <p:cNvPr id="58378" name="Freeform 10"/>
            <p:cNvSpPr/>
            <p:nvPr/>
          </p:nvSpPr>
          <p:spPr bwMode="auto">
            <a:xfrm>
              <a:off x="1344" y="2640"/>
              <a:ext cx="2016" cy="816"/>
            </a:xfrm>
            <a:custGeom>
              <a:avLst/>
              <a:gdLst>
                <a:gd name="T0" fmla="*/ 0 w 1488"/>
                <a:gd name="T1" fmla="*/ 816 h 816"/>
                <a:gd name="T2" fmla="*/ 288 w 1488"/>
                <a:gd name="T3" fmla="*/ 240 h 816"/>
                <a:gd name="T4" fmla="*/ 1488 w 1488"/>
                <a:gd name="T5" fmla="*/ 0 h 816"/>
                <a:gd name="T6" fmla="*/ 0 60000 65536"/>
                <a:gd name="T7" fmla="*/ 0 60000 65536"/>
                <a:gd name="T8" fmla="*/ 0 60000 65536"/>
                <a:gd name="T9" fmla="*/ 0 w 1488"/>
                <a:gd name="T10" fmla="*/ 0 h 816"/>
                <a:gd name="T11" fmla="*/ 1488 w 1488"/>
                <a:gd name="T12" fmla="*/ 816 h 816"/>
              </a:gdLst>
              <a:ahLst/>
              <a:cxnLst>
                <a:cxn ang="T6">
                  <a:pos x="T0" y="T1"/>
                </a:cxn>
                <a:cxn ang="T7">
                  <a:pos x="T2" y="T3"/>
                </a:cxn>
                <a:cxn ang="T8">
                  <a:pos x="T4" y="T5"/>
                </a:cxn>
              </a:cxnLst>
              <a:rect l="T9" t="T10" r="T11" b="T12"/>
              <a:pathLst>
                <a:path w="1488" h="816">
                  <a:moveTo>
                    <a:pt x="0" y="816"/>
                  </a:moveTo>
                  <a:cubicBezTo>
                    <a:pt x="20" y="596"/>
                    <a:pt x="40" y="376"/>
                    <a:pt x="288" y="240"/>
                  </a:cubicBezTo>
                  <a:cubicBezTo>
                    <a:pt x="536" y="104"/>
                    <a:pt x="1012" y="52"/>
                    <a:pt x="1488" y="0"/>
                  </a:cubicBezTo>
                </a:path>
              </a:pathLst>
            </a:custGeom>
            <a:noFill/>
            <a:ln w="38100">
              <a:solidFill>
                <a:srgbClr val="FF9900"/>
              </a:solidFill>
              <a:miter lim="800000"/>
            </a:ln>
          </p:spPr>
          <p:txBody>
            <a:bodyPr wrap="none"/>
            <a:lstStyle/>
            <a:p>
              <a:endParaRPr lang="zh-CN" altLang="en-US"/>
            </a:p>
          </p:txBody>
        </p:sp>
      </p:grpSp>
      <p:sp>
        <p:nvSpPr>
          <p:cNvPr id="3" name="矩形 2"/>
          <p:cNvSpPr/>
          <p:nvPr/>
        </p:nvSpPr>
        <p:spPr>
          <a:xfrm>
            <a:off x="817257" y="1455324"/>
            <a:ext cx="4572000" cy="892552"/>
          </a:xfrm>
          <a:prstGeom prst="rect">
            <a:avLst/>
          </a:prstGeom>
        </p:spPr>
        <p:txBody>
          <a:bodyPr>
            <a:spAutoFit/>
          </a:bodyPr>
          <a:lstStyle/>
          <a:p>
            <a:pPr marL="342900" indent="-342900">
              <a:spcBef>
                <a:spcPct val="20000"/>
              </a:spcBef>
              <a:buClr>
                <a:srgbClr val="3399FF"/>
              </a:buClr>
              <a:buFont typeface="Wingdings" panose="05000000000000000000" pitchFamily="2" charset="2"/>
              <a:buChar char="v"/>
            </a:pPr>
            <a:r>
              <a:rPr lang="zh-CN" altLang="en-US" sz="28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漏报率</a:t>
            </a:r>
            <a:r>
              <a:rPr lang="en-US" altLang="zh-CN" sz="28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(false negative)</a:t>
            </a:r>
            <a:endParaRPr lang="zh-CN" altLang="en-US" sz="28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a:p>
            <a:pPr marL="742950" lvl="1" indent="-285750">
              <a:spcBef>
                <a:spcPct val="20000"/>
              </a:spcBef>
              <a:buClr>
                <a:srgbClr val="FF9900"/>
              </a:buClr>
              <a:buFont typeface="Wingdings" panose="05000000000000000000" pitchFamily="2" charset="2"/>
              <a:buChar char="§"/>
            </a:pPr>
            <a:r>
              <a:rPr lang="zh-CN" altLang="en-US" sz="2000" b="1" dirty="0">
                <a:effectLst>
                  <a:outerShdw blurRad="38100" dist="38100" dir="2700000" algn="tl">
                    <a:srgbClr val="000000">
                      <a:alpha val="43137"/>
                    </a:srgbClr>
                  </a:outerShdw>
                </a:effectLst>
                <a:latin typeface="+mn-lt"/>
                <a:ea typeface="+mn-ea"/>
              </a:rPr>
              <a:t>指攻击事件没有被</a:t>
            </a:r>
            <a:r>
              <a:rPr lang="en-US" altLang="zh-CN" sz="2000" b="1" dirty="0">
                <a:effectLst>
                  <a:outerShdw blurRad="38100" dist="38100" dir="2700000" algn="tl">
                    <a:srgbClr val="000000">
                      <a:alpha val="43137"/>
                    </a:srgbClr>
                  </a:outerShdw>
                </a:effectLst>
                <a:latin typeface="+mn-lt"/>
                <a:ea typeface="+mn-ea"/>
              </a:rPr>
              <a:t>IDS</a:t>
            </a:r>
            <a:r>
              <a:rPr lang="zh-CN" altLang="en-US" sz="2000" b="1" dirty="0">
                <a:effectLst>
                  <a:outerShdw blurRad="38100" dist="38100" dir="2700000" algn="tl">
                    <a:srgbClr val="000000">
                      <a:alpha val="43137"/>
                    </a:srgbClr>
                  </a:outerShdw>
                </a:effectLst>
                <a:latin typeface="+mn-lt"/>
                <a:ea typeface="+mn-ea"/>
              </a:rPr>
              <a:t>检测到</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204803">
                                            <p:txEl>
                                              <p:pRg st="0" end="0"/>
                                            </p:txEl>
                                          </p:spTgt>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499"/>
                                          </p:stCondLst>
                                        </p:cTn>
                                        <p:tgtEl>
                                          <p:spTgt spid="204803">
                                            <p:txEl>
                                              <p:pRg st="1" end="1"/>
                                            </p:txEl>
                                          </p:spTgt>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499"/>
                                          </p:stCondLst>
                                        </p:cTn>
                                        <p:tgtEl>
                                          <p:spTgt spid="204803">
                                            <p:txEl>
                                              <p:pRg st="2" end="2"/>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3" grpId="0" build="p" autoUpdateAnimBg="0"/>
      <p:bldP spid="3" grpId="0"/>
    </p:bldLst>
  </p:timing>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467544" y="836712"/>
            <a:ext cx="7138987" cy="615652"/>
          </a:xfrm>
          <a:noFill/>
          <a:ln w="9525">
            <a:noFill/>
            <a:miter lim="800000"/>
          </a:ln>
        </p:spPr>
        <p:txBody>
          <a:bodyPr vert="horz" wrap="square" lIns="91440" tIns="45720" rIns="91440" bIns="45720" numCol="1" anchor="ctr" anchorCtr="0" compatLnSpc="1"/>
          <a:lstStyle/>
          <a:p>
            <a:r>
              <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8.14 </a:t>
            </a:r>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基于网络的</a:t>
            </a:r>
            <a:r>
              <a:rPr lang="en-US" altLang="zh-CN"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IDS</a:t>
            </a:r>
            <a:r>
              <a:rPr lang="zh-CN" altLang="en-US" sz="2800"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系统实现</a:t>
            </a:r>
          </a:p>
        </p:txBody>
      </p:sp>
      <p:sp>
        <p:nvSpPr>
          <p:cNvPr id="205827" name="Rectangle 3"/>
          <p:cNvSpPr>
            <a:spLocks noGrp="1" noChangeArrowheads="1"/>
          </p:cNvSpPr>
          <p:nvPr>
            <p:ph type="body" idx="1"/>
          </p:nvPr>
        </p:nvSpPr>
        <p:spPr>
          <a:xfrm>
            <a:off x="647564" y="1733437"/>
            <a:ext cx="7772400" cy="2016571"/>
          </a:xfrm>
        </p:spPr>
        <p:txBody>
          <a:bodyPr/>
          <a:lstStyle/>
          <a:p>
            <a:pPr eaLnBrk="1" hangingPunct="1"/>
            <a:r>
              <a:rPr lang="zh-CN" altLang="en-US" b="1" dirty="0">
                <a:solidFill>
                  <a:srgbClr val="0000CC"/>
                </a:solidFill>
                <a:effectLst>
                  <a:outerShdw blurRad="38100" dist="38100" dir="2700000" algn="tl">
                    <a:srgbClr val="000000">
                      <a:alpha val="43137"/>
                    </a:srgbClr>
                  </a:outerShdw>
                </a:effectLst>
              </a:rPr>
              <a:t>收集网络流量数据</a:t>
            </a:r>
          </a:p>
          <a:p>
            <a:pPr lvl="1" eaLnBrk="1" hangingPunct="1"/>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利用</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sniff</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技术</a:t>
            </a:r>
          </a:p>
          <a:p>
            <a:pPr lvl="1" eaLnBrk="1" hangingPunct="1"/>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把</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配置在合理的流量集中点上，比如与防火墙或者网关配置在一个子网中</a:t>
            </a:r>
          </a:p>
        </p:txBody>
      </p:sp>
      <p:sp>
        <p:nvSpPr>
          <p:cNvPr id="2" name="矩形 1"/>
          <p:cNvSpPr/>
          <p:nvPr/>
        </p:nvSpPr>
        <p:spPr>
          <a:xfrm>
            <a:off x="755576" y="3750008"/>
            <a:ext cx="7200800" cy="1852815"/>
          </a:xfrm>
          <a:prstGeom prst="rect">
            <a:avLst/>
          </a:prstGeom>
        </p:spPr>
        <p:txBody>
          <a:bodyPr wrap="square">
            <a:spAutoFit/>
          </a:bodyPr>
          <a:lstStyle/>
          <a:p>
            <a:pPr marL="342900" indent="-342900">
              <a:spcBef>
                <a:spcPct val="20000"/>
              </a:spcBef>
              <a:buClr>
                <a:srgbClr val="3399FF"/>
              </a:buClr>
              <a:buFont typeface="Wingdings" panose="05000000000000000000" pitchFamily="2" charset="2"/>
              <a:buChar char="v"/>
            </a:pPr>
            <a:r>
              <a:rPr lang="zh-CN" altLang="en-US" sz="2800" b="1" dirty="0">
                <a:solidFill>
                  <a:srgbClr val="0000CC"/>
                </a:solidFill>
                <a:effectLst>
                  <a:outerShdw blurRad="38100" dist="38100" dir="2700000" algn="tl">
                    <a:srgbClr val="000000">
                      <a:alpha val="43137"/>
                    </a:srgbClr>
                  </a:outerShdw>
                </a:effectLst>
                <a:latin typeface="+mn-lt"/>
                <a:ea typeface="+mn-ea"/>
              </a:rPr>
              <a:t>利用某些识别技术</a:t>
            </a:r>
          </a:p>
          <a:p>
            <a:pPr marL="742950" lvl="1" indent="-28575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基于模式匹配的专家系统</a:t>
            </a:r>
          </a:p>
          <a:p>
            <a:pPr marL="742950" lvl="1" indent="-28575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基于异常行为分析的检测手段</a:t>
            </a:r>
            <a:endParaRPr lang="en-US" altLang="zh-CN"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a:p>
            <a:pPr marL="742950" lvl="1" indent="-285750">
              <a:spcBef>
                <a:spcPct val="20000"/>
              </a:spcBef>
              <a:buClr>
                <a:srgbClr val="FF9900"/>
              </a:buClr>
              <a:buFont typeface="Wingdings" panose="05000000000000000000" pitchFamily="2" charset="2"/>
              <a:buChar char="§"/>
            </a:pPr>
            <a:r>
              <a:rPr lang="en-US" altLang="zh-CN"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endPar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05827">
                                            <p:txEl>
                                              <p:pRg st="0" end="0"/>
                                            </p:txEl>
                                          </p:spTgt>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205827">
                                            <p:txEl>
                                              <p:pRg st="1" end="1"/>
                                            </p:txEl>
                                          </p:spTgt>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205827">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up)">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7" grpId="0" build="p" autoUpdateAnimBg="0"/>
      <p:bldP spid="2"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431540" y="925413"/>
            <a:ext cx="6513512" cy="487363"/>
          </a:xfrm>
          <a:noFill/>
          <a:ln w="9525">
            <a:noFill/>
            <a:miter lim="800000"/>
          </a:ln>
        </p:spPr>
        <p:txBody>
          <a:bodyPr vert="horz" wrap="square" lIns="91440" tIns="45720" rIns="91440" bIns="45720" numCol="1" anchor="ctr" anchorCtr="0" compatLnSpc="1"/>
          <a:lstStyle/>
          <a:p>
            <a:r>
              <a:rPr lang="zh-CN" altLang="en-US" kern="120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一个轻量的网络</a:t>
            </a:r>
            <a:r>
              <a:rPr lang="en-US" altLang="zh-CN" kern="120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IDS: SNORT</a:t>
            </a:r>
            <a:endParaRPr lang="zh-CN" altLang="en-US" kern="1200"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54275" name="Rectangle 3"/>
          <p:cNvSpPr>
            <a:spLocks noGrp="1" noChangeArrowheads="1"/>
          </p:cNvSpPr>
          <p:nvPr>
            <p:ph type="body" idx="1"/>
          </p:nvPr>
        </p:nvSpPr>
        <p:spPr>
          <a:xfrm>
            <a:off x="899592" y="1772816"/>
            <a:ext cx="6137448" cy="684076"/>
          </a:xfrm>
        </p:spPr>
        <p:txBody>
          <a:bodyPr/>
          <a:lstStyle/>
          <a:p>
            <a:pPr eaLnBrk="1" hangingPunct="1"/>
            <a:r>
              <a:rPr lang="zh-CN" alt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内容概要：</a:t>
            </a:r>
          </a:p>
          <a:p>
            <a:pPr marL="0" indent="0" eaLnBrk="1" hangingPunct="1">
              <a:buNone/>
            </a:pPr>
            <a:endParaRPr lang="zh-CN" alt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380312" y="1160748"/>
            <a:ext cx="1714500" cy="800100"/>
          </a:xfrm>
          <a:prstGeom prst="rect">
            <a:avLst/>
          </a:prstGeom>
          <a:noFill/>
          <a:ln w="9525">
            <a:noFill/>
            <a:miter lim="800000"/>
            <a:headEnd/>
            <a:tailEnd/>
          </a:ln>
        </p:spPr>
      </p:pic>
      <p:sp>
        <p:nvSpPr>
          <p:cNvPr id="2" name="矩形 1"/>
          <p:cNvSpPr/>
          <p:nvPr/>
        </p:nvSpPr>
        <p:spPr>
          <a:xfrm>
            <a:off x="899592" y="2462913"/>
            <a:ext cx="7164796" cy="2595839"/>
          </a:xfrm>
          <a:prstGeom prst="rect">
            <a:avLst/>
          </a:prstGeom>
        </p:spPr>
        <p:txBody>
          <a:bodyPr wrap="square">
            <a:spAutoFit/>
          </a:bodyPr>
          <a:lstStyle/>
          <a:p>
            <a:pPr marL="914400" lvl="1" indent="-457200" eaLnBrk="1" hangingPunct="1">
              <a:lnSpc>
                <a:spcPct val="150000"/>
              </a:lnSpc>
              <a:buClr>
                <a:srgbClr val="FF9900"/>
              </a:buClr>
              <a:buFont typeface="Wingdings" panose="05000000000000000000" pitchFamily="2" charset="2"/>
              <a:buChar char="u"/>
            </a:pPr>
            <a:r>
              <a:rPr lang="en-US" altLang="zh-CN" sz="28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sz="28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简介</a:t>
            </a:r>
            <a:endParaRPr lang="en-US" altLang="zh-CN" sz="28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914400" lvl="1" indent="-457200" eaLnBrk="1" hangingPunct="1">
              <a:lnSpc>
                <a:spcPct val="150000"/>
              </a:lnSpc>
              <a:buClr>
                <a:srgbClr val="FF9900"/>
              </a:buClr>
              <a:buFont typeface="Wingdings" panose="05000000000000000000" pitchFamily="2" charset="2"/>
              <a:buChar char="u"/>
            </a:pPr>
            <a:r>
              <a:rPr lang="en-US" altLang="zh-CN" sz="28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安装与</a:t>
            </a:r>
            <a:r>
              <a:rPr lang="zh-CN" altLang="en-US" sz="28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配置  </a:t>
            </a:r>
            <a:r>
              <a:rPr lang="en-US" altLang="zh-CN" sz="28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Linux / Windows</a:t>
            </a:r>
            <a:endParaRPr lang="zh-CN" alt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914400" lvl="1" indent="-457200" eaLnBrk="1" hangingPunct="1">
              <a:lnSpc>
                <a:spcPct val="150000"/>
              </a:lnSpc>
              <a:buClr>
                <a:srgbClr val="FF9900"/>
              </a:buClr>
              <a:buFont typeface="Wingdings" panose="05000000000000000000" pitchFamily="2" charset="2"/>
              <a:buChar char="u"/>
            </a:pPr>
            <a:r>
              <a:rPr lang="en-US" altLang="zh-CN" sz="28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sz="28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规则介绍</a:t>
            </a:r>
            <a:endParaRPr lang="zh-CN" alt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914400" lvl="1" indent="-457200" eaLnBrk="1" hangingPunct="1">
              <a:lnSpc>
                <a:spcPct val="150000"/>
              </a:lnSpc>
              <a:buClr>
                <a:srgbClr val="FF9900"/>
              </a:buClr>
              <a:buFont typeface="Wingdings" panose="05000000000000000000" pitchFamily="2" charset="2"/>
              <a:buChar char="u"/>
            </a:pPr>
            <a:r>
              <a:rPr lang="en-US" altLang="zh-CN" sz="28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sz="28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检测</a:t>
            </a:r>
            <a:endParaRPr lang="zh-CN" alt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动作按钮: 前进或下一项 2">
            <a:hlinkClick r:id="rId5" action="ppaction://hlinksldjump"/>
          </p:cNvPr>
          <p:cNvSpPr/>
          <p:nvPr/>
        </p:nvSpPr>
        <p:spPr>
          <a:xfrm>
            <a:off x="7740015" y="5445125"/>
            <a:ext cx="1260475" cy="720090"/>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01253041"/>
      </p:ext>
    </p:extLst>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6851" name="Rectangle 3"/>
          <p:cNvSpPr>
            <a:spLocks noGrp="1" noChangeArrowheads="1"/>
          </p:cNvSpPr>
          <p:nvPr>
            <p:ph type="body" idx="1"/>
          </p:nvPr>
        </p:nvSpPr>
        <p:spPr>
          <a:xfrm>
            <a:off x="647564" y="1700488"/>
            <a:ext cx="7772400" cy="1404476"/>
          </a:xfrm>
        </p:spPr>
        <p:txBody>
          <a:bodyPr/>
          <a:lstStyle/>
          <a:p>
            <a:pPr eaLnBrk="1" hangingPunct="1"/>
            <a:r>
              <a:rPr lang="zh-CN" altLang="en-US" sz="24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是一个基于简单规则匹配的</a:t>
            </a:r>
            <a:r>
              <a:rPr lang="en-US" altLang="zh-CN" sz="24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IDS</a:t>
            </a:r>
          </a:p>
          <a:p>
            <a:pPr eaLnBrk="1" hangingPunct="1"/>
            <a:r>
              <a:rPr lang="zh-CN" altLang="en-US" sz="24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源码开放，跨平台</a:t>
            </a:r>
            <a:r>
              <a:rPr lang="en-US" altLang="zh-CN" sz="24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t>
            </a:r>
            <a:r>
              <a:rPr lang="zh-CN" altLang="en-US" sz="24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语言编写，可移植性好</a:t>
            </a:r>
            <a:r>
              <a:rPr lang="en-US" altLang="zh-CN" sz="24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eaLnBrk="1" hangingPunct="1"/>
            <a:r>
              <a:rPr lang="zh-CN" altLang="en-US" sz="24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利用</a:t>
            </a:r>
            <a:r>
              <a:rPr lang="en-US" altLang="zh-CN" sz="2400" b="1" dirty="0" err="1">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libpcap</a:t>
            </a:r>
            <a:r>
              <a:rPr lang="zh-CN" altLang="en-US" sz="24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作为捕获网络流中数据包的工具</a:t>
            </a:r>
          </a:p>
        </p:txBody>
      </p:sp>
      <p:pic>
        <p:nvPicPr>
          <p:cNvPr id="5" name="Picture 4" descr="Snort">
            <a:hlinkClick r:id="rId3" invalidUrl="/" action="ppaction://hlinkfile"/>
          </p:cNvPr>
          <p:cNvPicPr>
            <a:picLocks noChangeAspect="1" noChangeArrowheads="1"/>
          </p:cNvPicPr>
          <p:nvPr/>
        </p:nvPicPr>
        <p:blipFill>
          <a:blip r:embed="rId4"/>
          <a:srcRect/>
          <a:stretch>
            <a:fillRect/>
          </a:stretch>
        </p:blipFill>
        <p:spPr bwMode="auto">
          <a:xfrm>
            <a:off x="7164288" y="1125031"/>
            <a:ext cx="1714500" cy="800100"/>
          </a:xfrm>
          <a:prstGeom prst="rect">
            <a:avLst/>
          </a:prstGeom>
          <a:noFill/>
          <a:ln w="9525">
            <a:noFill/>
            <a:miter lim="800000"/>
            <a:headEnd/>
            <a:tailEnd/>
          </a:ln>
        </p:spPr>
      </p:pic>
      <p:sp>
        <p:nvSpPr>
          <p:cNvPr id="2" name="矩形 1"/>
          <p:cNvSpPr/>
          <p:nvPr/>
        </p:nvSpPr>
        <p:spPr>
          <a:xfrm>
            <a:off x="647564" y="3032956"/>
            <a:ext cx="8231224" cy="2882520"/>
          </a:xfrm>
          <a:prstGeom prst="rect">
            <a:avLst/>
          </a:prstGeom>
        </p:spPr>
        <p:txBody>
          <a:bodyPr wrap="square">
            <a:spAutoFit/>
          </a:bodyPr>
          <a:lstStyle/>
          <a:p>
            <a:pPr marL="342900" indent="-342900">
              <a:lnSpc>
                <a:spcPct val="150000"/>
              </a:lnSpc>
              <a:spcBef>
                <a:spcPct val="20000"/>
              </a:spcBef>
              <a:buClr>
                <a:srgbClr val="3399FF"/>
              </a:buClr>
              <a:buFont typeface="Wingdings" panose="05000000000000000000" pitchFamily="2" charset="2"/>
              <a:buChar char="v"/>
            </a:pPr>
            <a:r>
              <a:rPr lang="zh-CN" altLang="en-US" sz="2400" b="1" dirty="0">
                <a:latin typeface="+mn-ea"/>
                <a:ea typeface="+mn-ea"/>
              </a:rPr>
              <a:t>特点</a:t>
            </a:r>
          </a:p>
          <a:p>
            <a:pPr marL="800100" lvl="1" indent="-342900" eaLnBrk="1" hangingPunct="1">
              <a:lnSpc>
                <a:spcPct val="150000"/>
              </a:lnSpc>
              <a:buFont typeface="Wingdings" panose="05000000000000000000" pitchFamily="2" charset="2"/>
              <a:buChar char="u"/>
            </a:pPr>
            <a:r>
              <a:rPr lang="zh-CN" altLang="en-US" sz="2000" b="1" dirty="0">
                <a:latin typeface="+mn-ea"/>
                <a:ea typeface="+mn-ea"/>
              </a:rPr>
              <a:t>设计原则：性能、简单、灵活</a:t>
            </a:r>
          </a:p>
          <a:p>
            <a:pPr marL="800100" lvl="1" indent="-342900" eaLnBrk="1" hangingPunct="1">
              <a:lnSpc>
                <a:spcPct val="150000"/>
              </a:lnSpc>
              <a:buFont typeface="Wingdings" panose="05000000000000000000" pitchFamily="2" charset="2"/>
              <a:buChar char="u"/>
            </a:pPr>
            <a:r>
              <a:rPr lang="zh-CN" altLang="en-US" sz="2000" b="1" dirty="0">
                <a:latin typeface="+mn-ea"/>
                <a:ea typeface="+mn-ea"/>
              </a:rPr>
              <a:t>包含三个子系</a:t>
            </a:r>
            <a:r>
              <a:rPr lang="zh-CN" altLang="en-US" sz="2000" b="1">
                <a:latin typeface="+mn-ea"/>
                <a:ea typeface="+mn-ea"/>
              </a:rPr>
              <a:t>统：数据包解码器、</a:t>
            </a:r>
            <a:r>
              <a:rPr lang="zh-CN" altLang="en-US" sz="2000" b="1" dirty="0">
                <a:latin typeface="+mn-ea"/>
                <a:ea typeface="+mn-ea"/>
              </a:rPr>
              <a:t>检测引擎、日志和</a:t>
            </a:r>
            <a:r>
              <a:rPr lang="zh-CN" altLang="en-US" sz="2000" b="1">
                <a:latin typeface="+mn-ea"/>
                <a:ea typeface="+mn-ea"/>
              </a:rPr>
              <a:t>报警系统</a:t>
            </a:r>
            <a:endParaRPr lang="en-US" altLang="zh-CN" sz="2000" b="1">
              <a:latin typeface="+mn-ea"/>
              <a:ea typeface="+mn-ea"/>
            </a:endParaRPr>
          </a:p>
          <a:p>
            <a:pPr marL="800100" lvl="1" indent="-342900">
              <a:lnSpc>
                <a:spcPct val="150000"/>
              </a:lnSpc>
              <a:buFont typeface="Wingdings" panose="05000000000000000000" pitchFamily="2" charset="2"/>
              <a:buChar char="u"/>
            </a:pPr>
            <a:r>
              <a:rPr lang="zh-CN" altLang="en-US" sz="2000" b="1">
                <a:latin typeface="+mn-ea"/>
                <a:ea typeface="+mn-ea"/>
              </a:rPr>
              <a:t>链表存储检测规则</a:t>
            </a:r>
            <a:r>
              <a:rPr lang="en-US" altLang="zh-CN" sz="2000" b="1">
                <a:latin typeface="+mn-ea"/>
                <a:ea typeface="+mn-ea"/>
              </a:rPr>
              <a:t>——</a:t>
            </a:r>
            <a:r>
              <a:rPr lang="zh-CN" altLang="en-US" sz="2000" b="1">
                <a:latin typeface="+mn-ea"/>
                <a:ea typeface="+mn-ea"/>
              </a:rPr>
              <a:t>规则链</a:t>
            </a:r>
            <a:endParaRPr lang="zh-CN" altLang="en-US" sz="2000" b="1" dirty="0">
              <a:latin typeface="+mn-ea"/>
              <a:ea typeface="+mn-ea"/>
            </a:endParaRPr>
          </a:p>
          <a:p>
            <a:pPr marL="800100" lvl="1" indent="-342900" eaLnBrk="1" hangingPunct="1">
              <a:lnSpc>
                <a:spcPct val="150000"/>
              </a:lnSpc>
              <a:buFont typeface="Wingdings" panose="05000000000000000000" pitchFamily="2" charset="2"/>
              <a:buChar char="u"/>
            </a:pPr>
            <a:r>
              <a:rPr lang="zh-CN" altLang="en-US" sz="2000" b="1" dirty="0">
                <a:latin typeface="+mn-ea"/>
                <a:ea typeface="+mn-ea"/>
              </a:rPr>
              <a:t>内置了一套插件子系统，作为系统扩展的手段</a:t>
            </a:r>
          </a:p>
          <a:p>
            <a:pPr marL="800100" lvl="1" indent="-342900" eaLnBrk="1" hangingPunct="1">
              <a:lnSpc>
                <a:spcPct val="150000"/>
              </a:lnSpc>
              <a:buFont typeface="Wingdings" panose="05000000000000000000" pitchFamily="2" charset="2"/>
              <a:buChar char="u"/>
            </a:pPr>
            <a:r>
              <a:rPr lang="zh-CN" altLang="en-US" sz="2000" b="1">
                <a:latin typeface="+mn-ea"/>
                <a:ea typeface="+mn-ea"/>
              </a:rPr>
              <a:t>命</a:t>
            </a:r>
            <a:r>
              <a:rPr lang="zh-CN" altLang="en-US" sz="2000" b="1" dirty="0">
                <a:latin typeface="+mn-ea"/>
                <a:ea typeface="+mn-ea"/>
              </a:rPr>
              <a:t>令行方式运行，也可以用作一个</a:t>
            </a:r>
            <a:r>
              <a:rPr lang="en-US" altLang="zh-CN" sz="2000" b="1" dirty="0">
                <a:latin typeface="+mn-ea"/>
                <a:ea typeface="+mn-ea"/>
              </a:rPr>
              <a:t>Sniffer</a:t>
            </a:r>
            <a:r>
              <a:rPr lang="zh-CN" altLang="en-US" sz="2000" b="1" dirty="0">
                <a:latin typeface="+mn-ea"/>
                <a:ea typeface="+mn-ea"/>
              </a:rPr>
              <a:t>工具</a:t>
            </a:r>
          </a:p>
        </p:txBody>
      </p:sp>
      <p:sp>
        <p:nvSpPr>
          <p:cNvPr id="6" name="Rectangle 2"/>
          <p:cNvSpPr txBox="1">
            <a:spLocks noChangeArrowheads="1"/>
          </p:cNvSpPr>
          <p:nvPr/>
        </p:nvSpPr>
        <p:spPr bwMode="gray">
          <a:xfrm>
            <a:off x="863588" y="881062"/>
            <a:ext cx="6513512" cy="4873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2pPr>
            <a:lvl3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3pPr>
            <a:lvl4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4pPr>
            <a:lvl5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5pPr>
            <a:lvl6pPr marL="4572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6pPr>
            <a:lvl7pPr marL="9144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7pPr>
            <a:lvl8pPr marL="13716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8pPr>
            <a:lvl9pPr marL="18288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9pPr>
          </a:lstStyle>
          <a:p>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Snort</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简介</a:t>
            </a:r>
          </a:p>
        </p:txBody>
      </p:sp>
    </p:spTree>
    <p:extLst>
      <p:ext uri="{BB962C8B-B14F-4D97-AF65-F5344CB8AC3E}">
        <p14:creationId xmlns:p14="http://schemas.microsoft.com/office/powerpoint/2010/main" val="270314215"/>
      </p:ext>
    </p:extLst>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863588" y="881062"/>
            <a:ext cx="6513512" cy="487363"/>
          </a:xfrm>
          <a:noFill/>
          <a:ln w="9525">
            <a:noFill/>
            <a:miter lim="800000"/>
          </a:ln>
        </p:spPr>
        <p:txBody>
          <a:bodyPr vert="horz" wrap="square" lIns="91440" tIns="45720" rIns="91440" bIns="45720" numCol="1" anchor="ctr" anchorCtr="0" compatLnSpc="1"/>
          <a:lstStyle/>
          <a:p>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Snort</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简介</a:t>
            </a:r>
          </a:p>
        </p:txBody>
      </p:sp>
      <p:sp>
        <p:nvSpPr>
          <p:cNvPr id="56323" name="Rectangle 3"/>
          <p:cNvSpPr>
            <a:spLocks noGrp="1" noChangeArrowheads="1"/>
          </p:cNvSpPr>
          <p:nvPr>
            <p:ph type="body" idx="1"/>
          </p:nvPr>
        </p:nvSpPr>
        <p:spPr>
          <a:xfrm>
            <a:off x="852592" y="1700808"/>
            <a:ext cx="7931876" cy="3600400"/>
          </a:xfrm>
        </p:spPr>
        <p:txBody>
          <a:bodyPr/>
          <a:lstStyle/>
          <a:p>
            <a:pPr eaLnBrk="1" hangingPunct="1">
              <a:lnSpc>
                <a:spcPct val="150000"/>
              </a:lnSpc>
            </a:pPr>
            <a:r>
              <a:rPr lang="en-US" altLang="zh-CN" b="1" dirty="0">
                <a:latin typeface="Times New Roman" panose="02020603050405020304" pitchFamily="18" charset="0"/>
                <a:cs typeface="Times New Roman" panose="02020603050405020304" pitchFamily="18" charset="0"/>
              </a:rPr>
              <a:t> Snort</a:t>
            </a:r>
            <a:r>
              <a:rPr lang="zh-CN" altLang="en-US" b="1" dirty="0"/>
              <a:t>由三个重要的子系统构成： </a:t>
            </a:r>
          </a:p>
          <a:p>
            <a:pPr lvl="1" eaLnBrk="1" hangingPunct="1">
              <a:lnSpc>
                <a:spcPct val="150000"/>
              </a:lnSpc>
            </a:pPr>
            <a:r>
              <a:rPr lang="zh-CN" altLang="en-US" b="1" dirty="0">
                <a:solidFill>
                  <a:srgbClr val="FF0000"/>
                </a:solidFill>
              </a:rPr>
              <a:t>数据包解码</a:t>
            </a:r>
            <a:r>
              <a:rPr lang="zh-CN" altLang="en-US" b="1">
                <a:solidFill>
                  <a:srgbClr val="FF0000"/>
                </a:solidFill>
              </a:rPr>
              <a:t>器</a:t>
            </a:r>
            <a:r>
              <a:rPr lang="zh-CN" altLang="en-US" b="1"/>
              <a:t>：对捕</a:t>
            </a:r>
            <a:r>
              <a:rPr lang="zh-CN" altLang="en-US" b="1" dirty="0"/>
              <a:t>获的数</a:t>
            </a:r>
            <a:r>
              <a:rPr lang="zh-CN" altLang="en-US" b="1"/>
              <a:t>据包进行解析、预处理，统一格式，以便交给检测引擎进行规则匹配</a:t>
            </a:r>
            <a:endParaRPr lang="zh-CN" altLang="en-US" b="1" dirty="0"/>
          </a:p>
          <a:p>
            <a:pPr lvl="1" eaLnBrk="1" hangingPunct="1">
              <a:lnSpc>
                <a:spcPct val="150000"/>
              </a:lnSpc>
            </a:pPr>
            <a:r>
              <a:rPr lang="zh-CN" altLang="en-US" b="1" dirty="0">
                <a:solidFill>
                  <a:srgbClr val="FF0000"/>
                </a:solidFill>
              </a:rPr>
              <a:t>检测引擎</a:t>
            </a:r>
            <a:r>
              <a:rPr lang="zh-CN" altLang="en-US" b="1" dirty="0"/>
              <a:t>：规则建</a:t>
            </a:r>
            <a:r>
              <a:rPr lang="zh-CN" altLang="en-US" b="1"/>
              <a:t>立（链</a:t>
            </a:r>
            <a:r>
              <a:rPr lang="zh-CN" altLang="en-US" b="1" dirty="0"/>
              <a:t>表</a:t>
            </a:r>
            <a:r>
              <a:rPr lang="zh-CN" altLang="en-US" b="1"/>
              <a:t>）</a:t>
            </a:r>
            <a:r>
              <a:rPr lang="en-US" altLang="zh-CN" b="1"/>
              <a:t>+</a:t>
            </a:r>
            <a:r>
              <a:rPr lang="zh-CN" altLang="en-US" b="1"/>
              <a:t>递归匹配规则</a:t>
            </a:r>
            <a:endParaRPr lang="en-US" altLang="zh-CN" b="1" dirty="0"/>
          </a:p>
          <a:p>
            <a:pPr lvl="1" eaLnBrk="1" hangingPunct="1">
              <a:lnSpc>
                <a:spcPct val="150000"/>
              </a:lnSpc>
            </a:pPr>
            <a:r>
              <a:rPr lang="zh-CN" altLang="en-US" b="1" dirty="0">
                <a:solidFill>
                  <a:srgbClr val="FF0000"/>
                </a:solidFill>
              </a:rPr>
              <a:t>日志与报警系统</a:t>
            </a:r>
            <a:r>
              <a:rPr lang="zh-CN" altLang="en-US" b="1" dirty="0"/>
              <a:t>：将检测引擎处理后的数据包送到系统日志文件或产生告警</a:t>
            </a:r>
          </a:p>
          <a:p>
            <a:pPr marL="0" indent="0" eaLnBrk="1" hangingPunct="1">
              <a:lnSpc>
                <a:spcPct val="150000"/>
              </a:lnSpc>
              <a:buNone/>
            </a:pPr>
            <a:endParaRPr lang="en-US" altLang="zh-CN" b="1" dirty="0"/>
          </a:p>
        </p:txBody>
      </p:sp>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272300" y="1124744"/>
            <a:ext cx="1714500" cy="800100"/>
          </a:xfrm>
          <a:prstGeom prst="rect">
            <a:avLst/>
          </a:prstGeom>
          <a:noFill/>
          <a:ln w="9525">
            <a:noFill/>
            <a:miter lim="800000"/>
            <a:headEnd/>
            <a:tailEnd/>
          </a:ln>
        </p:spPr>
      </p:pic>
      <p:sp>
        <p:nvSpPr>
          <p:cNvPr id="2" name="AutoShape 2" descr="网络入侵检测系统之Snort(一)--snort概览- 知乎"/>
          <p:cNvSpPr>
            <a:spLocks noChangeAspect="1" noChangeArrowheads="1"/>
          </p:cNvSpPr>
          <p:nvPr/>
        </p:nvSpPr>
        <p:spPr bwMode="auto">
          <a:xfrm>
            <a:off x="155575" y="1107975"/>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3482180474"/>
      </p:ext>
    </p:extLst>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863588" y="881062"/>
            <a:ext cx="6513512" cy="487363"/>
          </a:xfrm>
          <a:noFill/>
          <a:ln w="9525">
            <a:noFill/>
            <a:miter lim="800000"/>
          </a:ln>
        </p:spPr>
        <p:txBody>
          <a:bodyPr vert="horz" wrap="square" lIns="91440" tIns="45720" rIns="91440" bIns="45720" numCol="1" anchor="ctr" anchorCtr="0" compatLnSpc="1"/>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Snort</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简介</a:t>
            </a:r>
          </a:p>
        </p:txBody>
      </p:sp>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272300" y="1124744"/>
            <a:ext cx="1714500" cy="800100"/>
          </a:xfrm>
          <a:prstGeom prst="rect">
            <a:avLst/>
          </a:prstGeom>
          <a:noFill/>
          <a:ln w="9525">
            <a:noFill/>
            <a:miter lim="800000"/>
            <a:headEnd/>
            <a:tailEnd/>
          </a:ln>
        </p:spPr>
      </p:pic>
      <p:sp>
        <p:nvSpPr>
          <p:cNvPr id="2" name="AutoShape 2" descr="网络入侵检测系统之Snort(一)--snort概览- 知乎"/>
          <p:cNvSpPr>
            <a:spLocks noChangeAspect="1" noChangeArrowheads="1"/>
          </p:cNvSpPr>
          <p:nvPr/>
        </p:nvSpPr>
        <p:spPr bwMode="auto">
          <a:xfrm>
            <a:off x="155575" y="1107975"/>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7" name="内容占位符 6"/>
          <p:cNvPicPr>
            <a:picLocks noGrp="1" noChangeAspect="1"/>
          </p:cNvPicPr>
          <p:nvPr>
            <p:ph idx="1"/>
          </p:nvPr>
        </p:nvPicPr>
        <p:blipFill>
          <a:blip r:embed="rId5"/>
          <a:stretch>
            <a:fillRect/>
          </a:stretch>
        </p:blipFill>
        <p:spPr>
          <a:xfrm>
            <a:off x="1079612" y="1808820"/>
            <a:ext cx="7395557" cy="3764275"/>
          </a:xfrm>
          <a:prstGeom prst="rect">
            <a:avLst/>
          </a:prstGeom>
        </p:spPr>
      </p:pic>
      <p:sp>
        <p:nvSpPr>
          <p:cNvPr id="6" name="文本框 5"/>
          <p:cNvSpPr txBox="1"/>
          <p:nvPr/>
        </p:nvSpPr>
        <p:spPr>
          <a:xfrm>
            <a:off x="6012160" y="2384884"/>
            <a:ext cx="184731" cy="369332"/>
          </a:xfrm>
          <a:prstGeom prst="rect">
            <a:avLst/>
          </a:prstGeom>
          <a:noFill/>
        </p:spPr>
        <p:txBody>
          <a:bodyPr wrap="none" rtlCol="0">
            <a:spAutoFit/>
          </a:bodyPr>
          <a:lstStyle/>
          <a:p>
            <a:endParaRPr lang="zh-CN" altLang="en-US"/>
          </a:p>
        </p:txBody>
      </p:sp>
      <p:sp>
        <p:nvSpPr>
          <p:cNvPr id="3" name="文本框 2"/>
          <p:cNvSpPr txBox="1"/>
          <p:nvPr/>
        </p:nvSpPr>
        <p:spPr>
          <a:xfrm>
            <a:off x="3518883" y="944724"/>
            <a:ext cx="954106" cy="646331"/>
          </a:xfrm>
          <a:prstGeom prst="rect">
            <a:avLst/>
          </a:prstGeom>
          <a:noFill/>
        </p:spPr>
        <p:txBody>
          <a:bodyPr wrap="square" rtlCol="0">
            <a:spAutoFit/>
          </a:bodyPr>
          <a:lstStyle/>
          <a:p>
            <a:r>
              <a:rPr lang="zh-CN" altLang="en-US" b="1">
                <a:solidFill>
                  <a:srgbClr val="FF0000"/>
                </a:solidFill>
                <a:latin typeface="+mn-ea"/>
                <a:ea typeface="+mn-ea"/>
              </a:rPr>
              <a:t>解析数据包</a:t>
            </a:r>
          </a:p>
        </p:txBody>
      </p:sp>
      <p:cxnSp>
        <p:nvCxnSpPr>
          <p:cNvPr id="8" name="直接箭头连接符 7"/>
          <p:cNvCxnSpPr/>
          <p:nvPr/>
        </p:nvCxnSpPr>
        <p:spPr>
          <a:xfrm flipV="1">
            <a:off x="3995936" y="1664804"/>
            <a:ext cx="0" cy="39604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2" name="文本框 11"/>
          <p:cNvSpPr txBox="1"/>
          <p:nvPr/>
        </p:nvSpPr>
        <p:spPr>
          <a:xfrm>
            <a:off x="4409981" y="944724"/>
            <a:ext cx="2350687" cy="646331"/>
          </a:xfrm>
          <a:prstGeom prst="rect">
            <a:avLst/>
          </a:prstGeom>
          <a:noFill/>
        </p:spPr>
        <p:txBody>
          <a:bodyPr wrap="square" rtlCol="0">
            <a:spAutoFit/>
          </a:bodyPr>
          <a:lstStyle/>
          <a:p>
            <a:r>
              <a:rPr lang="zh-CN" altLang="en-US" b="1">
                <a:solidFill>
                  <a:srgbClr val="FF0000"/>
                </a:solidFill>
                <a:latin typeface="+mn-ea"/>
                <a:ea typeface="+mn-ea"/>
              </a:rPr>
              <a:t>扩展功能</a:t>
            </a:r>
            <a:endParaRPr lang="en-US" altLang="zh-CN" b="1">
              <a:solidFill>
                <a:srgbClr val="FF0000"/>
              </a:solidFill>
              <a:latin typeface="+mn-ea"/>
              <a:ea typeface="+mn-ea"/>
            </a:endParaRPr>
          </a:p>
          <a:p>
            <a:r>
              <a:rPr lang="en-US" altLang="zh-CN" b="1">
                <a:solidFill>
                  <a:srgbClr val="FF0000"/>
                </a:solidFill>
                <a:latin typeface="+mn-ea"/>
                <a:ea typeface="+mn-ea"/>
              </a:rPr>
              <a:t>e.g.</a:t>
            </a:r>
            <a:r>
              <a:rPr lang="zh-CN" altLang="en-US" b="1">
                <a:solidFill>
                  <a:srgbClr val="FF0000"/>
                </a:solidFill>
                <a:latin typeface="+mn-ea"/>
                <a:ea typeface="+mn-ea"/>
              </a:rPr>
              <a:t>解码</a:t>
            </a:r>
            <a:r>
              <a:rPr lang="en-US" altLang="zh-CN" b="1">
                <a:solidFill>
                  <a:srgbClr val="FF0000"/>
                </a:solidFill>
                <a:latin typeface="+mn-ea"/>
                <a:ea typeface="+mn-ea"/>
              </a:rPr>
              <a:t>;</a:t>
            </a:r>
            <a:r>
              <a:rPr lang="zh-CN" altLang="en-US" b="1">
                <a:solidFill>
                  <a:srgbClr val="FF0000"/>
                </a:solidFill>
                <a:latin typeface="+mn-ea"/>
                <a:ea typeface="+mn-ea"/>
              </a:rPr>
              <a:t>重组</a:t>
            </a:r>
          </a:p>
        </p:txBody>
      </p:sp>
      <p:cxnSp>
        <p:nvCxnSpPr>
          <p:cNvPr id="13" name="直接箭头连接符 12"/>
          <p:cNvCxnSpPr/>
          <p:nvPr/>
        </p:nvCxnSpPr>
        <p:spPr>
          <a:xfrm flipV="1">
            <a:off x="4887035" y="1652610"/>
            <a:ext cx="0" cy="39604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4" name="文本框 13"/>
          <p:cNvSpPr txBox="1"/>
          <p:nvPr/>
        </p:nvSpPr>
        <p:spPr>
          <a:xfrm>
            <a:off x="6023512" y="1944489"/>
            <a:ext cx="1224136" cy="369332"/>
          </a:xfrm>
          <a:prstGeom prst="rect">
            <a:avLst/>
          </a:prstGeom>
          <a:noFill/>
        </p:spPr>
        <p:txBody>
          <a:bodyPr wrap="square" rtlCol="0">
            <a:spAutoFit/>
          </a:bodyPr>
          <a:lstStyle/>
          <a:p>
            <a:r>
              <a:rPr lang="zh-CN" altLang="en-US" b="1">
                <a:solidFill>
                  <a:srgbClr val="FF0000"/>
                </a:solidFill>
                <a:latin typeface="+mn-ea"/>
                <a:ea typeface="+mn-ea"/>
              </a:rPr>
              <a:t>匹配规则</a:t>
            </a:r>
          </a:p>
        </p:txBody>
      </p:sp>
      <p:sp>
        <p:nvSpPr>
          <p:cNvPr id="21" name="文本框 20"/>
          <p:cNvSpPr txBox="1"/>
          <p:nvPr/>
        </p:nvSpPr>
        <p:spPr>
          <a:xfrm>
            <a:off x="6012160" y="2889885"/>
            <a:ext cx="1512168" cy="369332"/>
          </a:xfrm>
          <a:prstGeom prst="rect">
            <a:avLst/>
          </a:prstGeom>
          <a:noFill/>
        </p:spPr>
        <p:txBody>
          <a:bodyPr wrap="square" rtlCol="0">
            <a:spAutoFit/>
          </a:bodyPr>
          <a:lstStyle/>
          <a:p>
            <a:r>
              <a:rPr lang="zh-CN" altLang="en-US" b="1">
                <a:solidFill>
                  <a:srgbClr val="FF0000"/>
                </a:solidFill>
                <a:latin typeface="+mn-ea"/>
                <a:ea typeface="+mn-ea"/>
              </a:rPr>
              <a:t>建立规则链</a:t>
            </a:r>
          </a:p>
        </p:txBody>
      </p:sp>
      <p:sp>
        <p:nvSpPr>
          <p:cNvPr id="22" name="文本框 21"/>
          <p:cNvSpPr txBox="1"/>
          <p:nvPr/>
        </p:nvSpPr>
        <p:spPr>
          <a:xfrm>
            <a:off x="4319972" y="3367791"/>
            <a:ext cx="1224136" cy="646331"/>
          </a:xfrm>
          <a:prstGeom prst="rect">
            <a:avLst/>
          </a:prstGeom>
          <a:noFill/>
        </p:spPr>
        <p:txBody>
          <a:bodyPr wrap="square" rtlCol="0">
            <a:spAutoFit/>
          </a:bodyPr>
          <a:lstStyle/>
          <a:p>
            <a:r>
              <a:rPr lang="zh-CN" altLang="en-US" b="1">
                <a:solidFill>
                  <a:srgbClr val="FF0000"/>
                </a:solidFill>
                <a:latin typeface="+mn-ea"/>
                <a:ea typeface="+mn-ea"/>
              </a:rPr>
              <a:t>超出正常访问情况</a:t>
            </a:r>
          </a:p>
        </p:txBody>
      </p:sp>
    </p:spTree>
    <p:extLst>
      <p:ext uri="{BB962C8B-B14F-4D97-AF65-F5344CB8AC3E}">
        <p14:creationId xmlns:p14="http://schemas.microsoft.com/office/powerpoint/2010/main" val="33930152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p:bldP spid="14" grpId="0"/>
      <p:bldP spid="21" grpId="0"/>
      <p:bldP spid="22"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3"/>
          <p:cNvSpPr>
            <a:spLocks noGrp="1" noChangeArrowheads="1"/>
          </p:cNvSpPr>
          <p:nvPr>
            <p:ph type="body" idx="1"/>
          </p:nvPr>
        </p:nvSpPr>
        <p:spPr>
          <a:xfrm>
            <a:off x="863588" y="1738073"/>
            <a:ext cx="7907188" cy="2997696"/>
          </a:xfrm>
        </p:spPr>
        <p:txBody>
          <a:bodyPr/>
          <a:lstStyle/>
          <a:p>
            <a:pPr eaLnBrk="1" hangingPunct="1"/>
            <a:r>
              <a:rPr lang="zh-CN" altLang="en-US" b="1"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预处理器</a:t>
            </a:r>
            <a:endParaRPr lang="en-US" altLang="zh-CN" b="1"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扩展了</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功能，使得用户可以容易地加入模块化的插件，例如解码</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不支持的协议。</a:t>
            </a:r>
          </a:p>
          <a:p>
            <a:pPr eaLnBrk="1" hangingPunct="1"/>
            <a:r>
              <a:rPr lang="zh-CN" altLang="en-US" b="1"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输出模块</a:t>
            </a:r>
            <a:endParaRPr lang="en-US" altLang="zh-CN" b="1"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使得</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能够以更加灵活的方式来格式化和显示对用户的输出，通过在规则文件中指定</a:t>
            </a:r>
            <a:r>
              <a:rPr lang="en-US" altLang="zh-CN"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output</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关键字，可以在运行时加载对应的输出模块。</a:t>
            </a:r>
          </a:p>
        </p:txBody>
      </p:sp>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056276" y="5085184"/>
            <a:ext cx="1714500" cy="800100"/>
          </a:xfrm>
          <a:prstGeom prst="rect">
            <a:avLst/>
          </a:prstGeom>
          <a:noFill/>
          <a:ln w="9525">
            <a:noFill/>
            <a:miter lim="800000"/>
            <a:headEnd/>
            <a:tailEnd/>
          </a:ln>
        </p:spPr>
      </p:pic>
      <p:sp>
        <p:nvSpPr>
          <p:cNvPr id="6" name="Rectangle 2"/>
          <p:cNvSpPr txBox="1">
            <a:spLocks noChangeArrowheads="1"/>
          </p:cNvSpPr>
          <p:nvPr/>
        </p:nvSpPr>
        <p:spPr bwMode="gray">
          <a:xfrm>
            <a:off x="863588" y="881062"/>
            <a:ext cx="6513512" cy="4873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2pPr>
            <a:lvl3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3pPr>
            <a:lvl4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4pPr>
            <a:lvl5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5pPr>
            <a:lvl6pPr marL="4572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6pPr>
            <a:lvl7pPr marL="9144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7pPr>
            <a:lvl8pPr marL="13716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8pPr>
            <a:lvl9pPr marL="18288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9pPr>
          </a:lstStyle>
          <a:p>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Snort</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简介</a:t>
            </a:r>
          </a:p>
        </p:txBody>
      </p:sp>
    </p:spTree>
    <p:extLst>
      <p:ext uri="{BB962C8B-B14F-4D97-AF65-F5344CB8AC3E}">
        <p14:creationId xmlns:p14="http://schemas.microsoft.com/office/powerpoint/2010/main" val="1615933327"/>
      </p:ext>
    </p:extLst>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type="body" idx="1"/>
          </p:nvPr>
        </p:nvSpPr>
        <p:spPr>
          <a:xfrm>
            <a:off x="359532" y="1700808"/>
            <a:ext cx="8964996" cy="3989276"/>
          </a:xfrm>
        </p:spPr>
        <p:txBody>
          <a:bodyPr/>
          <a:lstStyle/>
          <a:p>
            <a:pPr lvl="1" eaLnBrk="1" hangingPunct="1"/>
            <a:r>
              <a:rPr lang="zh-CN" altLang="en-US" sz="2800" b="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800" b="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Libpcap </a:t>
            </a:r>
            <a:r>
              <a:rPr lang="zh-CN" alt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网络数据包捕获函数库，负责捕获和过滤数据包</a:t>
            </a:r>
            <a:endParaRPr lang="en-US" altLang="zh-CN"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en-US" altLang="zh-CN" sz="2800" b="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800" b="1"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Libnet</a:t>
            </a:r>
            <a:r>
              <a:rPr lang="en-US" altLang="zh-CN"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提供了网络数据包的构造、处理和发送功能</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en-US" altLang="zh-CN" sz="2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800" b="1" dirty="0">
                <a:solidFill>
                  <a:srgbClr val="FF99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DAQ</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数据采集库</a:t>
            </a:r>
          </a:p>
          <a:p>
            <a:pPr lvl="1" eaLnBrk="1" hangingPunct="1"/>
            <a:r>
              <a:rPr lang="en-US" altLang="zh-CN" sz="2800" b="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800" b="1">
                <a:solidFill>
                  <a:srgbClr val="FF99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libnetfilter_queue </a:t>
            </a:r>
            <a:r>
              <a:rPr lang="zh-CN" alt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接</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收处理内核队列里缓冲的数据包</a:t>
            </a:r>
          </a:p>
          <a:p>
            <a:pPr lvl="1" eaLnBrk="1" hangingPunct="1"/>
            <a:r>
              <a:rPr lang="en-US" altLang="zh-CN" sz="2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800" b="1" dirty="0">
                <a:solidFill>
                  <a:srgbClr val="FF99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flex </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词法分析器</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en-US" altLang="zh-CN" sz="2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800" b="1" dirty="0">
                <a:solidFill>
                  <a:srgbClr val="FF99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Bison</a:t>
            </a:r>
            <a:r>
              <a:rPr lang="en-US" altLang="zh-CN" sz="2400" b="1" dirty="0">
                <a:solidFill>
                  <a:srgbClr val="FF99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语法分析器，常和</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flex</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搭配使用</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en-US" altLang="zh-CN" sz="2400" b="1" dirty="0">
                <a:solidFill>
                  <a:srgbClr val="FF99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800" b="1" dirty="0" err="1">
                <a:solidFill>
                  <a:srgbClr val="FF99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zliblg</a:t>
            </a:r>
            <a:r>
              <a:rPr lang="en-US" altLang="zh-CN" sz="2800" b="1" dirty="0">
                <a:solidFill>
                  <a:srgbClr val="FF99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-dev</a:t>
            </a:r>
            <a:r>
              <a:rPr lang="en-US" altLang="zh-CN" sz="2400" b="1" dirty="0">
                <a:solidFill>
                  <a:srgbClr val="FF99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压缩函数库</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en-US" altLang="zh-CN" sz="2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800" b="1">
                <a:solidFill>
                  <a:srgbClr val="FF99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BASE</a:t>
            </a:r>
            <a:r>
              <a:rPr lang="zh-CN" altLang="en-US" sz="2400" b="1">
                <a:solidFill>
                  <a:srgbClr val="FF99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可视化工具，可将</a:t>
            </a:r>
            <a:r>
              <a:rPr lang="en-US" altLang="zh-CN"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的报警数据以图表展示</a:t>
            </a:r>
            <a:endPar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272300" y="800708"/>
            <a:ext cx="1714500" cy="800100"/>
          </a:xfrm>
          <a:prstGeom prst="rect">
            <a:avLst/>
          </a:prstGeom>
          <a:noFill/>
          <a:ln w="9525">
            <a:noFill/>
            <a:miter lim="800000"/>
            <a:headEnd/>
            <a:tailEnd/>
          </a:ln>
        </p:spPr>
      </p:pic>
      <p:sp>
        <p:nvSpPr>
          <p:cNvPr id="5" name="Rectangle 2"/>
          <p:cNvSpPr txBox="1">
            <a:spLocks noChangeArrowheads="1"/>
          </p:cNvSpPr>
          <p:nvPr/>
        </p:nvSpPr>
        <p:spPr bwMode="gray">
          <a:xfrm>
            <a:off x="691952" y="1033462"/>
            <a:ext cx="6513512" cy="4873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2pPr>
            <a:lvl3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3pPr>
            <a:lvl4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4pPr>
            <a:lvl5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5pPr>
            <a:lvl6pPr marL="4572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6pPr>
            <a:lvl7pPr marL="9144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7pPr>
            <a:lvl8pPr marL="13716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8pPr>
            <a:lvl9pPr marL="18288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9pPr>
          </a:lstStyle>
          <a:p>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Snort</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简介</a:t>
            </a:r>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r>
              <a:rPr lang="zh-CN" altLang="en-US">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相关</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库</a:t>
            </a:r>
            <a:endPar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031718530"/>
      </p:ext>
    </p:extLst>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236296" y="5121188"/>
            <a:ext cx="1714500" cy="936104"/>
          </a:xfrm>
          <a:prstGeom prst="rect">
            <a:avLst/>
          </a:prstGeom>
          <a:noFill/>
          <a:ln w="9525">
            <a:noFill/>
            <a:miter lim="800000"/>
            <a:headEnd/>
            <a:tailEnd/>
          </a:ln>
        </p:spPr>
      </p:pic>
      <p:sp>
        <p:nvSpPr>
          <p:cNvPr id="59394" name="Rectangle 2"/>
          <p:cNvSpPr>
            <a:spLocks noGrp="1" noChangeArrowheads="1"/>
          </p:cNvSpPr>
          <p:nvPr>
            <p:ph type="title"/>
          </p:nvPr>
        </p:nvSpPr>
        <p:spPr>
          <a:xfrm>
            <a:off x="647564" y="811807"/>
            <a:ext cx="6513512" cy="487363"/>
          </a:xfrm>
          <a:noFill/>
          <a:ln w="9525">
            <a:noFill/>
            <a:miter lim="800000"/>
          </a:ln>
        </p:spPr>
        <p:txBody>
          <a:bodyPr vert="horz" wrap="square" lIns="91440" tIns="45720" rIns="91440" bIns="45720" numCol="1" anchor="ctr" anchorCtr="0" compatLnSpc="1"/>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Snort</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的安装</a:t>
            </a:r>
          </a:p>
        </p:txBody>
      </p:sp>
      <p:sp>
        <p:nvSpPr>
          <p:cNvPr id="59395" name="Rectangle 3"/>
          <p:cNvSpPr>
            <a:spLocks noGrp="1" noChangeArrowheads="1"/>
          </p:cNvSpPr>
          <p:nvPr>
            <p:ph type="body" idx="1"/>
          </p:nvPr>
        </p:nvSpPr>
        <p:spPr>
          <a:xfrm>
            <a:off x="647564" y="1556792"/>
            <a:ext cx="8191500" cy="3681772"/>
          </a:xfrm>
        </p:spPr>
        <p:txBody>
          <a:bodyPr/>
          <a:lstStyle/>
          <a:p>
            <a:pPr eaLnBrk="1" hangingPunct="1"/>
            <a:r>
              <a:rPr lang="en-US" altLang="zh-CN" b="1" dirty="0">
                <a:latin typeface="+mn-ea"/>
              </a:rPr>
              <a:t>Linux</a:t>
            </a:r>
            <a:r>
              <a:rPr lang="zh-CN" altLang="en-US" b="1" dirty="0">
                <a:latin typeface="+mn-ea"/>
              </a:rPr>
              <a:t>环境下的安装（安装必备组件）：</a:t>
            </a:r>
          </a:p>
          <a:p>
            <a:pPr lvl="1" eaLnBrk="1" hangingPunct="1"/>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sudo</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apt update </a:t>
            </a:r>
          </a:p>
          <a:p>
            <a:pPr lvl="1" eaLnBrk="1" hangingPunct="1"/>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sudo</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apt-get install -y build-essential </a:t>
            </a:r>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libpcap</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-dev libpcre3-dev </a:t>
            </a:r>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libdumbnet</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-dev bison flex zlib1g-dev </a:t>
            </a:r>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liblzma</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-dev </a:t>
            </a:r>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openssl</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libssl</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-dev</a:t>
            </a:r>
          </a:p>
          <a:p>
            <a:pPr lvl="1" eaLnBrk="1" hangingPunct="1"/>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sudo</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apt-get install -y libnghttp2-dev</a:t>
            </a:r>
          </a:p>
          <a:p>
            <a:pPr lvl="1" eaLnBrk="1" hangingPunct="1"/>
            <a:r>
              <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wget </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hlinkClick r:id="rId5"/>
              </a:rPr>
              <a:t>https://snort.org/downloads/snort/daq-2.0.7.tar.gz</a:t>
            </a: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tar </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xvzf</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daq-2.0.7.tar.gz</a:t>
            </a:r>
          </a:p>
        </p:txBody>
      </p:sp>
    </p:spTree>
    <p:extLst>
      <p:ext uri="{BB962C8B-B14F-4D97-AF65-F5344CB8AC3E}">
        <p14:creationId xmlns:p14="http://schemas.microsoft.com/office/powerpoint/2010/main" val="1668025561"/>
      </p:ext>
    </p:extLst>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236296" y="5121188"/>
            <a:ext cx="1714500" cy="936104"/>
          </a:xfrm>
          <a:prstGeom prst="rect">
            <a:avLst/>
          </a:prstGeom>
          <a:noFill/>
          <a:ln w="9525">
            <a:noFill/>
            <a:miter lim="800000"/>
            <a:headEnd/>
            <a:tailEnd/>
          </a:ln>
        </p:spPr>
      </p:pic>
      <p:sp>
        <p:nvSpPr>
          <p:cNvPr id="59394" name="Rectangle 2"/>
          <p:cNvSpPr>
            <a:spLocks noGrp="1" noChangeArrowheads="1"/>
          </p:cNvSpPr>
          <p:nvPr>
            <p:ph type="title"/>
          </p:nvPr>
        </p:nvSpPr>
        <p:spPr>
          <a:xfrm>
            <a:off x="647564" y="811807"/>
            <a:ext cx="6513512" cy="487363"/>
          </a:xfrm>
          <a:noFill/>
          <a:ln w="9525">
            <a:noFill/>
            <a:miter lim="800000"/>
          </a:ln>
        </p:spPr>
        <p:txBody>
          <a:bodyPr vert="horz" wrap="square" lIns="91440" tIns="45720" rIns="91440" bIns="45720" numCol="1" anchor="ctr" anchorCtr="0" compatLnSpc="1"/>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Snort</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的安装</a:t>
            </a:r>
          </a:p>
        </p:txBody>
      </p:sp>
      <p:sp>
        <p:nvSpPr>
          <p:cNvPr id="59395" name="Rectangle 3"/>
          <p:cNvSpPr>
            <a:spLocks noGrp="1" noChangeArrowheads="1"/>
          </p:cNvSpPr>
          <p:nvPr>
            <p:ph type="body" idx="1"/>
          </p:nvPr>
        </p:nvSpPr>
        <p:spPr>
          <a:xfrm>
            <a:off x="647564" y="1556792"/>
            <a:ext cx="8303232" cy="3681772"/>
          </a:xfrm>
        </p:spPr>
        <p:txBody>
          <a:bodyPr/>
          <a:lstStyle/>
          <a:p>
            <a:pPr eaLnBrk="1" hangingPunct="1"/>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Linux</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环境下的安装（安装必备组件）：</a:t>
            </a:r>
          </a:p>
          <a:p>
            <a:pPr lvl="1" eaLnBrk="1" hangingPunct="1"/>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进入目录</a:t>
            </a:r>
            <a:endPar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2" eaLnBrk="1" hangingPunct="1"/>
            <a:r>
              <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cd daq-2.0.7</a:t>
            </a:r>
          </a:p>
          <a:p>
            <a:pPr lvl="1" eaLnBrk="1" hangingPunct="1"/>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执行</a:t>
            </a:r>
            <a:r>
              <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configure</a:t>
            </a:r>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文件，检查依赖关系，生成</a:t>
            </a:r>
            <a:r>
              <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makefile</a:t>
            </a:r>
          </a:p>
          <a:p>
            <a:pPr lvl="2" eaLnBrk="1" hangingPunct="1"/>
            <a:r>
              <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./configure</a:t>
            </a:r>
          </a:p>
          <a:p>
            <a:pPr lvl="1" eaLnBrk="1" hangingPunct="1"/>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编译并安装</a:t>
            </a:r>
            <a:endPar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2" eaLnBrk="1" hangingPunct="1"/>
            <a:r>
              <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make &amp;&amp; sudo make install</a:t>
            </a:r>
          </a:p>
          <a:p>
            <a:pPr lvl="1" eaLnBrk="1" hangingPunct="1"/>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9989503"/>
      </p:ext>
    </p:extLst>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236296" y="5121188"/>
            <a:ext cx="1714500" cy="936104"/>
          </a:xfrm>
          <a:prstGeom prst="rect">
            <a:avLst/>
          </a:prstGeom>
          <a:noFill/>
          <a:ln w="9525">
            <a:noFill/>
            <a:miter lim="800000"/>
            <a:headEnd/>
            <a:tailEnd/>
          </a:ln>
        </p:spPr>
      </p:pic>
      <p:sp>
        <p:nvSpPr>
          <p:cNvPr id="59394" name="Rectangle 2"/>
          <p:cNvSpPr>
            <a:spLocks noGrp="1" noChangeArrowheads="1"/>
          </p:cNvSpPr>
          <p:nvPr>
            <p:ph type="title"/>
          </p:nvPr>
        </p:nvSpPr>
        <p:spPr>
          <a:xfrm>
            <a:off x="647564" y="811807"/>
            <a:ext cx="6513512" cy="487363"/>
          </a:xfrm>
          <a:noFill/>
          <a:ln w="9525">
            <a:noFill/>
            <a:miter lim="800000"/>
          </a:ln>
        </p:spPr>
        <p:txBody>
          <a:bodyPr vert="horz" wrap="square" lIns="91440" tIns="45720" rIns="91440" bIns="45720" numCol="1" anchor="ctr" anchorCtr="0" compatLnSpc="1"/>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Snort</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的安装</a:t>
            </a:r>
          </a:p>
        </p:txBody>
      </p:sp>
      <p:sp>
        <p:nvSpPr>
          <p:cNvPr id="59395" name="Rectangle 3"/>
          <p:cNvSpPr>
            <a:spLocks noGrp="1" noChangeArrowheads="1"/>
          </p:cNvSpPr>
          <p:nvPr>
            <p:ph type="body" idx="1"/>
          </p:nvPr>
        </p:nvSpPr>
        <p:spPr>
          <a:xfrm>
            <a:off x="647564" y="1556792"/>
            <a:ext cx="8191500" cy="3681772"/>
          </a:xfrm>
        </p:spPr>
        <p:txBody>
          <a:bodyPr/>
          <a:lstStyle/>
          <a:p>
            <a:pPr eaLnBrk="1" hangingPunct="1"/>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Linux</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环境下的安装（必备组件已完成安装）：</a:t>
            </a:r>
          </a:p>
          <a:p>
            <a:pPr lvl="1" eaLnBrk="1" hangingPunct="1"/>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wget</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https://</a:t>
            </a:r>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snort.org</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/downloads/snort/snort-2.9.20.tar.gz</a:t>
            </a:r>
          </a:p>
          <a:p>
            <a:pPr lvl="1" eaLnBrk="1" hangingPunct="1"/>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tar –</a:t>
            </a:r>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zxvf</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snort-2.9.20.tar.gz</a:t>
            </a:r>
          </a:p>
          <a:p>
            <a:pPr lvl="1" eaLnBrk="1" hangingPunct="1"/>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cd snort-2.9.20</a:t>
            </a:r>
          </a:p>
          <a:p>
            <a:pPr lvl="1" eaLnBrk="1" hangingPunct="1"/>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./configure  --enable-</a:t>
            </a:r>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sourcefire</a:t>
            </a: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sudo</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make &amp;&amp; </a:t>
            </a:r>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sudo</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make install</a:t>
            </a:r>
          </a:p>
          <a:p>
            <a:pPr marL="457200" lvl="1" indent="0" eaLnBrk="1" hangingPunct="1">
              <a:buNone/>
            </a:pP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eaLnBrk="1" hangingPunct="1">
              <a:buNone/>
            </a:pP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7659300"/>
      </p:ext>
    </p:extLst>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236296" y="5121188"/>
            <a:ext cx="1714500" cy="936104"/>
          </a:xfrm>
          <a:prstGeom prst="rect">
            <a:avLst/>
          </a:prstGeom>
          <a:noFill/>
          <a:ln w="9525">
            <a:noFill/>
            <a:miter lim="800000"/>
            <a:headEnd/>
            <a:tailEnd/>
          </a:ln>
        </p:spPr>
      </p:pic>
      <p:sp>
        <p:nvSpPr>
          <p:cNvPr id="59394" name="Rectangle 2"/>
          <p:cNvSpPr>
            <a:spLocks noGrp="1" noChangeArrowheads="1"/>
          </p:cNvSpPr>
          <p:nvPr>
            <p:ph type="title"/>
          </p:nvPr>
        </p:nvSpPr>
        <p:spPr>
          <a:xfrm>
            <a:off x="647564" y="811807"/>
            <a:ext cx="6513512" cy="487363"/>
          </a:xfrm>
          <a:noFill/>
          <a:ln w="9525">
            <a:noFill/>
            <a:miter lim="800000"/>
          </a:ln>
        </p:spPr>
        <p:txBody>
          <a:bodyPr vert="horz" wrap="square" lIns="91440" tIns="45720" rIns="91440" bIns="45720" numCol="1" anchor="ctr" anchorCtr="0" compatLnSpc="1"/>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Snort</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的安装</a:t>
            </a:r>
          </a:p>
        </p:txBody>
      </p:sp>
      <p:sp>
        <p:nvSpPr>
          <p:cNvPr id="59395" name="Rectangle 3"/>
          <p:cNvSpPr>
            <a:spLocks noGrp="1" noChangeArrowheads="1"/>
          </p:cNvSpPr>
          <p:nvPr>
            <p:ph type="body" idx="1"/>
          </p:nvPr>
        </p:nvSpPr>
        <p:spPr>
          <a:xfrm>
            <a:off x="647564" y="1556792"/>
            <a:ext cx="8191500" cy="3681772"/>
          </a:xfrm>
        </p:spPr>
        <p:txBody>
          <a:bodyPr/>
          <a:lstStyle/>
          <a:p>
            <a:pPr eaLnBrk="1" hangingPunct="1"/>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安装成功：</a:t>
            </a:r>
            <a:endPar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snort –V</a:t>
            </a:r>
          </a:p>
          <a:p>
            <a:pPr lvl="1" eaLnBrk="1" hangingPunct="1"/>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eaLnBrk="1" hangingPunct="1">
              <a:buNone/>
            </a:pPr>
            <a:endPar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5"/>
          <a:stretch>
            <a:fillRect/>
          </a:stretch>
        </p:blipFill>
        <p:spPr>
          <a:xfrm>
            <a:off x="879244" y="2664060"/>
            <a:ext cx="7728139" cy="2313112"/>
          </a:xfrm>
          <a:prstGeom prst="rect">
            <a:avLst/>
          </a:prstGeom>
        </p:spPr>
      </p:pic>
    </p:spTree>
    <p:extLst>
      <p:ext uri="{BB962C8B-B14F-4D97-AF65-F5344CB8AC3E}">
        <p14:creationId xmlns:p14="http://schemas.microsoft.com/office/powerpoint/2010/main" val="1815164032"/>
      </p:ext>
    </p:extLst>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236296" y="5121188"/>
            <a:ext cx="1714500" cy="936104"/>
          </a:xfrm>
          <a:prstGeom prst="rect">
            <a:avLst/>
          </a:prstGeom>
          <a:noFill/>
          <a:ln w="9525">
            <a:noFill/>
            <a:miter lim="800000"/>
            <a:headEnd/>
            <a:tailEnd/>
          </a:ln>
        </p:spPr>
      </p:pic>
      <p:sp>
        <p:nvSpPr>
          <p:cNvPr id="59394" name="Rectangle 2"/>
          <p:cNvSpPr>
            <a:spLocks noGrp="1" noChangeArrowheads="1"/>
          </p:cNvSpPr>
          <p:nvPr>
            <p:ph type="title"/>
          </p:nvPr>
        </p:nvSpPr>
        <p:spPr>
          <a:xfrm>
            <a:off x="647564" y="811807"/>
            <a:ext cx="6513512" cy="487363"/>
          </a:xfrm>
          <a:noFill/>
          <a:ln w="9525">
            <a:noFill/>
            <a:miter lim="800000"/>
          </a:ln>
        </p:spPr>
        <p:txBody>
          <a:bodyPr vert="horz" wrap="square" lIns="91440" tIns="45720" rIns="91440" bIns="45720" numCol="1" anchor="ctr" anchorCtr="0" compatLnSpc="1"/>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Snort</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的安装</a:t>
            </a:r>
          </a:p>
        </p:txBody>
      </p:sp>
      <p:sp>
        <p:nvSpPr>
          <p:cNvPr id="59395" name="Rectangle 3"/>
          <p:cNvSpPr>
            <a:spLocks noGrp="1" noChangeArrowheads="1"/>
          </p:cNvSpPr>
          <p:nvPr>
            <p:ph type="body" idx="1"/>
          </p:nvPr>
        </p:nvSpPr>
        <p:spPr>
          <a:xfrm>
            <a:off x="647564" y="1556792"/>
            <a:ext cx="8136904" cy="3681772"/>
          </a:xfrm>
        </p:spPr>
        <p:txBody>
          <a:bodyPr/>
          <a:lstStyle/>
          <a:p>
            <a:pPr eaLnBrk="1" hangingPunct="1"/>
            <a:r>
              <a:rPr lang="zh-CN" altLang="en-US" b="1" dirty="0"/>
              <a:t>编译时</a:t>
            </a:r>
            <a:r>
              <a:rPr lang="zh-CN" altLang="en-US" b="1"/>
              <a:t>出错 </a:t>
            </a:r>
            <a:r>
              <a:rPr lang="en-US" altLang="zh-CN" b="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rpc</a:t>
            </a:r>
            <a:r>
              <a:rPr lang="zh-CN" altLang="en-US"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rpc</a:t>
            </a:r>
            <a:r>
              <a:rPr lang="en-US" altLang="zh-CN"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rpc.h</a:t>
            </a:r>
            <a:r>
              <a:rPr lang="en-US" altLang="zh-CN"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No such file or directory</a:t>
            </a:r>
            <a:endPar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sudo</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apt install </a:t>
            </a:r>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libntirpc</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-dev</a:t>
            </a:r>
          </a:p>
          <a:p>
            <a:pPr lvl="1" eaLnBrk="1" hangingPunct="1"/>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头文件的路径不对，正确的路径是</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usr</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/include/</a:t>
            </a:r>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tirpc</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rpc</a:t>
            </a: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把编译时候提示报错的地方改成</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#include &lt;</a:t>
            </a:r>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tirpc</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rpc</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xxx.h</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&gt;</a:t>
            </a:r>
          </a:p>
          <a:p>
            <a:pPr lvl="2" eaLnBrk="1" hangingPunct="1"/>
            <a:r>
              <a:rPr lang="en-US" altLang="zh-CN" sz="1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grep '#include &lt;</a:t>
            </a:r>
            <a:r>
              <a:rPr lang="en-US" altLang="zh-CN" sz="1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rpc</a:t>
            </a:r>
            <a:r>
              <a:rPr lang="en-US" altLang="zh-CN" sz="1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a:t>
            </a:r>
            <a:r>
              <a:rPr lang="en-US" altLang="zh-CN" sz="1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lr</a:t>
            </a:r>
            <a:r>
              <a:rPr lang="en-US" altLang="zh-CN" sz="1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a:t>
            </a:r>
            <a:r>
              <a:rPr lang="en-US" altLang="zh-CN" sz="1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xargs</a:t>
            </a:r>
            <a:r>
              <a:rPr lang="en-US" altLang="zh-CN" sz="1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sed -</a:t>
            </a:r>
            <a:r>
              <a:rPr lang="en-US" altLang="zh-CN" sz="1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a:t>
            </a:r>
            <a:r>
              <a:rPr lang="en-US" altLang="zh-CN" sz="1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's/#include &lt;</a:t>
            </a:r>
            <a:r>
              <a:rPr lang="en-US" altLang="zh-CN" sz="1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rpc</a:t>
            </a:r>
            <a:r>
              <a:rPr lang="en-US" altLang="zh-CN" sz="1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\//#include &lt;</a:t>
            </a:r>
            <a:r>
              <a:rPr lang="en-US" altLang="zh-CN" sz="1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tirpc</a:t>
            </a:r>
            <a:r>
              <a:rPr lang="en-US" altLang="zh-CN" sz="1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1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rpc</a:t>
            </a:r>
            <a:r>
              <a:rPr lang="en-US" altLang="zh-CN" sz="1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a:t>
            </a:r>
          </a:p>
          <a:p>
            <a:pPr lvl="2" eaLnBrk="1" hangingPunct="1"/>
            <a:r>
              <a:rPr lang="en-US" altLang="zh-CN" sz="1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grep '#include &lt;</a:t>
            </a:r>
            <a:r>
              <a:rPr lang="en-US" altLang="zh-CN" sz="1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netconfig</a:t>
            </a:r>
            <a:r>
              <a:rPr lang="en-US" altLang="zh-CN" sz="1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a:t>
            </a:r>
            <a:r>
              <a:rPr lang="en-US" altLang="zh-CN" sz="1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lr</a:t>
            </a:r>
            <a:r>
              <a:rPr lang="en-US" altLang="zh-CN" sz="1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a:t>
            </a:r>
            <a:r>
              <a:rPr lang="en-US" altLang="zh-CN" sz="1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xargs</a:t>
            </a:r>
            <a:r>
              <a:rPr lang="en-US" altLang="zh-CN" sz="1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sed -</a:t>
            </a:r>
            <a:r>
              <a:rPr lang="en-US" altLang="zh-CN" sz="1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a:t>
            </a:r>
            <a:r>
              <a:rPr lang="en-US" altLang="zh-CN" sz="1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's/#include &lt;</a:t>
            </a:r>
            <a:r>
              <a:rPr lang="en-US" altLang="zh-CN" sz="1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netconfig.h</a:t>
            </a:r>
            <a:r>
              <a:rPr lang="en-US" altLang="zh-CN" sz="1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&gt;/#include \"..\/</a:t>
            </a:r>
            <a:r>
              <a:rPr lang="en-US" altLang="zh-CN" sz="1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netconfig.h</a:t>
            </a:r>
            <a:r>
              <a:rPr lang="en-US" altLang="zh-CN" sz="1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a:t>
            </a:r>
          </a:p>
        </p:txBody>
      </p:sp>
    </p:spTree>
    <p:extLst>
      <p:ext uri="{BB962C8B-B14F-4D97-AF65-F5344CB8AC3E}">
        <p14:creationId xmlns:p14="http://schemas.microsoft.com/office/powerpoint/2010/main" val="3594287288"/>
      </p:ext>
    </p:extLst>
  </p:cSld>
  <p:clrMapOvr>
    <a:masterClrMapping/>
  </p:clrMapOvr>
  <p:transition>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236296" y="5121188"/>
            <a:ext cx="1714500" cy="936104"/>
          </a:xfrm>
          <a:prstGeom prst="rect">
            <a:avLst/>
          </a:prstGeom>
          <a:noFill/>
          <a:ln w="9525">
            <a:noFill/>
            <a:miter lim="800000"/>
            <a:headEnd/>
            <a:tailEnd/>
          </a:ln>
        </p:spPr>
      </p:pic>
      <p:sp>
        <p:nvSpPr>
          <p:cNvPr id="59394" name="Rectangle 2"/>
          <p:cNvSpPr>
            <a:spLocks noGrp="1" noChangeArrowheads="1"/>
          </p:cNvSpPr>
          <p:nvPr>
            <p:ph type="title"/>
          </p:nvPr>
        </p:nvSpPr>
        <p:spPr>
          <a:xfrm>
            <a:off x="647564" y="811807"/>
            <a:ext cx="6513512" cy="487363"/>
          </a:xfrm>
          <a:noFill/>
          <a:ln w="9525">
            <a:noFill/>
            <a:miter lim="800000"/>
          </a:ln>
        </p:spPr>
        <p:txBody>
          <a:bodyPr vert="horz" wrap="square" lIns="91440" tIns="45720" rIns="91440" bIns="45720" numCol="1" anchor="ctr" anchorCtr="0" compatLnSpc="1"/>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Snort</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的安装</a:t>
            </a:r>
          </a:p>
        </p:txBody>
      </p:sp>
      <p:sp>
        <p:nvSpPr>
          <p:cNvPr id="59395" name="Rectangle 3"/>
          <p:cNvSpPr>
            <a:spLocks noGrp="1" noChangeArrowheads="1"/>
          </p:cNvSpPr>
          <p:nvPr>
            <p:ph type="body" idx="1"/>
          </p:nvPr>
        </p:nvSpPr>
        <p:spPr>
          <a:xfrm>
            <a:off x="647564" y="1556792"/>
            <a:ext cx="8136904" cy="3681772"/>
          </a:xfrm>
        </p:spPr>
        <p:txBody>
          <a:bodyPr/>
          <a:lstStyle/>
          <a:p>
            <a:pPr eaLnBrk="1" hangingPunct="1"/>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编译时出错</a:t>
            </a:r>
            <a:r>
              <a:rPr lang="en-US" altLang="zh-CN" b="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rpc</a:t>
            </a:r>
            <a:r>
              <a:rPr lang="zh-CN" altLang="en-US" b="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b="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rpc/rpc.h: No such file or directory</a:t>
            </a:r>
          </a:p>
          <a:p>
            <a:pPr marL="0" indent="0" eaLnBrk="1" hangingPunct="1">
              <a:buNone/>
            </a:pPr>
            <a:endPar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10" name="图片 9"/>
          <p:cNvPicPr>
            <a:picLocks noChangeAspect="1"/>
          </p:cNvPicPr>
          <p:nvPr/>
        </p:nvPicPr>
        <p:blipFill>
          <a:blip r:embed="rId5"/>
          <a:stretch>
            <a:fillRect/>
          </a:stretch>
        </p:blipFill>
        <p:spPr>
          <a:xfrm>
            <a:off x="1079612" y="2636912"/>
            <a:ext cx="5953125" cy="1266825"/>
          </a:xfrm>
          <a:prstGeom prst="rect">
            <a:avLst/>
          </a:prstGeom>
        </p:spPr>
      </p:pic>
      <p:pic>
        <p:nvPicPr>
          <p:cNvPr id="2" name="图片 1"/>
          <p:cNvPicPr>
            <a:picLocks noChangeAspect="1"/>
          </p:cNvPicPr>
          <p:nvPr/>
        </p:nvPicPr>
        <p:blipFill>
          <a:blip r:embed="rId6"/>
          <a:stretch>
            <a:fillRect/>
          </a:stretch>
        </p:blipFill>
        <p:spPr>
          <a:xfrm>
            <a:off x="1079612" y="4044863"/>
            <a:ext cx="5962650" cy="2152650"/>
          </a:xfrm>
          <a:prstGeom prst="rect">
            <a:avLst/>
          </a:prstGeom>
        </p:spPr>
      </p:pic>
    </p:spTree>
    <p:extLst>
      <p:ext uri="{BB962C8B-B14F-4D97-AF65-F5344CB8AC3E}">
        <p14:creationId xmlns:p14="http://schemas.microsoft.com/office/powerpoint/2010/main" val="3479076635"/>
      </p:ext>
    </p:extLst>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236296" y="5121188"/>
            <a:ext cx="1714500" cy="936104"/>
          </a:xfrm>
          <a:prstGeom prst="rect">
            <a:avLst/>
          </a:prstGeom>
          <a:noFill/>
          <a:ln w="9525">
            <a:noFill/>
            <a:miter lim="800000"/>
            <a:headEnd/>
            <a:tailEnd/>
          </a:ln>
        </p:spPr>
      </p:pic>
      <p:sp>
        <p:nvSpPr>
          <p:cNvPr id="59394" name="Rectangle 2"/>
          <p:cNvSpPr>
            <a:spLocks noGrp="1" noChangeArrowheads="1"/>
          </p:cNvSpPr>
          <p:nvPr>
            <p:ph type="title"/>
          </p:nvPr>
        </p:nvSpPr>
        <p:spPr>
          <a:xfrm>
            <a:off x="647564" y="811807"/>
            <a:ext cx="6513512" cy="487363"/>
          </a:xfrm>
          <a:noFill/>
          <a:ln w="9525">
            <a:noFill/>
            <a:miter lim="800000"/>
          </a:ln>
        </p:spPr>
        <p:txBody>
          <a:bodyPr vert="horz" wrap="square" lIns="91440" tIns="45720" rIns="91440" bIns="45720" numCol="1" anchor="ctr" anchorCtr="0" compatLnSpc="1"/>
          <a:lstStyle/>
          <a:p>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Snort</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配置</a:t>
            </a:r>
            <a:endPar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59395" name="Rectangle 3"/>
          <p:cNvSpPr>
            <a:spLocks noGrp="1" noChangeArrowheads="1"/>
          </p:cNvSpPr>
          <p:nvPr>
            <p:ph type="body" idx="1"/>
          </p:nvPr>
        </p:nvSpPr>
        <p:spPr>
          <a:xfrm>
            <a:off x="647564" y="1556792"/>
            <a:ext cx="8191500" cy="3681772"/>
          </a:xfrm>
        </p:spPr>
        <p:txBody>
          <a:bodyPr/>
          <a:lstStyle/>
          <a:p>
            <a:pPr eaLnBrk="1" hangingPunct="1"/>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系统配置</a:t>
            </a: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创建</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用户和组</a:t>
            </a: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创建需要的文件夹并调整权限</a:t>
            </a: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eaLnBrk="1" hangingPunct="1"/>
            <a:r>
              <a:rPr lang="zh-CN" altLang="en-US" sz="2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配置</a:t>
            </a:r>
            <a:r>
              <a:rPr lang="en-US" altLang="zh-CN" sz="2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sz="2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全局设定</a:t>
            </a:r>
            <a:r>
              <a:rPr lang="en-US" altLang="zh-CN" sz="2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snort.conf</a:t>
            </a:r>
            <a:endPar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配置文</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件夹路径</a:t>
            </a: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配置主机网</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络信息</a:t>
            </a: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配置输</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出和规则文件</a:t>
            </a: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457200" lvl="1" indent="0" eaLnBrk="1" hangingPunct="1">
              <a:buNone/>
            </a:pP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eaLnBrk="1" hangingPunct="1">
              <a:buNone/>
            </a:pP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7886745"/>
      </p:ext>
    </p:extLst>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236296" y="5121188"/>
            <a:ext cx="1714500" cy="936104"/>
          </a:xfrm>
          <a:prstGeom prst="rect">
            <a:avLst/>
          </a:prstGeom>
          <a:noFill/>
          <a:ln w="9525">
            <a:noFill/>
            <a:miter lim="800000"/>
            <a:headEnd/>
            <a:tailEnd/>
          </a:ln>
        </p:spPr>
      </p:pic>
      <p:sp>
        <p:nvSpPr>
          <p:cNvPr id="59394" name="Rectangle 2"/>
          <p:cNvSpPr>
            <a:spLocks noGrp="1" noChangeArrowheads="1"/>
          </p:cNvSpPr>
          <p:nvPr>
            <p:ph type="title"/>
          </p:nvPr>
        </p:nvSpPr>
        <p:spPr>
          <a:xfrm>
            <a:off x="647564" y="811807"/>
            <a:ext cx="6513512" cy="487363"/>
          </a:xfrm>
          <a:noFill/>
          <a:ln w="9525">
            <a:noFill/>
            <a:miter lim="800000"/>
          </a:ln>
        </p:spPr>
        <p:txBody>
          <a:bodyPr vert="horz" wrap="square" lIns="91440" tIns="45720" rIns="91440" bIns="45720" numCol="1" anchor="ctr" anchorCtr="0" compatLnSpc="1"/>
          <a:lstStyle/>
          <a:p>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Snort</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配置</a:t>
            </a:r>
            <a:endPar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59395" name="Rectangle 3"/>
          <p:cNvSpPr>
            <a:spLocks noGrp="1" noChangeArrowheads="1"/>
          </p:cNvSpPr>
          <p:nvPr>
            <p:ph type="body" idx="1"/>
          </p:nvPr>
        </p:nvSpPr>
        <p:spPr>
          <a:xfrm>
            <a:off x="179512" y="1556792"/>
            <a:ext cx="8964488" cy="3681772"/>
          </a:xfrm>
        </p:spPr>
        <p:txBody>
          <a:bodyPr/>
          <a:lstStyle/>
          <a:p>
            <a:pPr lvl="1" eaLnBrk="1" hangingPunct="1"/>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创</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建</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用户</a:t>
            </a:r>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和组</a:t>
            </a:r>
            <a:endPar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2" eaLnBrk="1" hangingPunct="1"/>
            <a:r>
              <a:rPr lang="en-US" altLang="zh-CN" sz="2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#sudo groupadd snort</a:t>
            </a:r>
          </a:p>
          <a:p>
            <a:pPr lvl="2" eaLnBrk="1" hangingPunct="1"/>
            <a:r>
              <a:rPr lang="en-US" altLang="zh-CN" sz="2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#sudo useradd snort -r -s /sbin/nologin -c SNORT_IDS -g snort</a:t>
            </a:r>
            <a:endParaRPr lang="en-US" altLang="zh-CN" sz="2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创建</a:t>
            </a:r>
            <a:r>
              <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目录</a:t>
            </a:r>
            <a:endPar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2" eaLnBrk="1" hangingPunct="1"/>
            <a:r>
              <a:rPr lang="en-US" altLang="zh-CN" sz="2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#sudo mkdir /etc/snort</a:t>
            </a:r>
          </a:p>
          <a:p>
            <a:pPr lvl="2" eaLnBrk="1" hangingPunct="1"/>
            <a:r>
              <a:rPr lang="en-US" altLang="zh-CN" sz="2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#sudo mkdir /etc/snort/rules</a:t>
            </a:r>
          </a:p>
          <a:p>
            <a:pPr lvl="2" eaLnBrk="1" hangingPunct="1"/>
            <a:r>
              <a:rPr lang="en-US" altLang="zh-CN" sz="2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#sudo mkdir /etc/snort/rules/iplists</a:t>
            </a:r>
          </a:p>
          <a:p>
            <a:pPr lvl="2" eaLnBrk="1" hangingPunct="1"/>
            <a:r>
              <a:rPr lang="en-US" altLang="zh-CN" sz="2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#sudo mkdir /etc/snort/preproc_rules</a:t>
            </a:r>
          </a:p>
          <a:p>
            <a:pPr lvl="2" eaLnBrk="1" hangingPunct="1"/>
            <a:r>
              <a:rPr lang="en-US" altLang="zh-CN" sz="2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#sudo mkdir /usr/local/lib/snort_dynamicrules</a:t>
            </a:r>
          </a:p>
          <a:p>
            <a:pPr lvl="2" eaLnBrk="1" hangingPunct="1"/>
            <a:r>
              <a:rPr lang="en-US" altLang="zh-CN" sz="2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#sudo mkdir /etc/snort/so_rules</a:t>
            </a:r>
            <a:endParaRPr lang="en-US" altLang="zh-CN" sz="2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9687417"/>
      </p:ext>
    </p:extLst>
  </p:cSld>
  <p:clrMapOvr>
    <a:masterClrMapping/>
  </p:clrMapOvr>
  <p:transition>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236296" y="5121188"/>
            <a:ext cx="1714500" cy="936104"/>
          </a:xfrm>
          <a:prstGeom prst="rect">
            <a:avLst/>
          </a:prstGeom>
          <a:noFill/>
          <a:ln w="9525">
            <a:noFill/>
            <a:miter lim="800000"/>
            <a:headEnd/>
            <a:tailEnd/>
          </a:ln>
        </p:spPr>
      </p:pic>
      <p:sp>
        <p:nvSpPr>
          <p:cNvPr id="59394" name="Rectangle 2"/>
          <p:cNvSpPr>
            <a:spLocks noGrp="1" noChangeArrowheads="1"/>
          </p:cNvSpPr>
          <p:nvPr>
            <p:ph type="title"/>
          </p:nvPr>
        </p:nvSpPr>
        <p:spPr>
          <a:xfrm>
            <a:off x="647564" y="811807"/>
            <a:ext cx="6513512" cy="487363"/>
          </a:xfrm>
          <a:noFill/>
          <a:ln w="9525">
            <a:noFill/>
            <a:miter lim="800000"/>
          </a:ln>
        </p:spPr>
        <p:txBody>
          <a:bodyPr vert="horz" wrap="square" lIns="91440" tIns="45720" rIns="91440" bIns="45720" numCol="1" anchor="ctr" anchorCtr="0" compatLnSpc="1"/>
          <a:lstStyle/>
          <a:p>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Snort</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配置</a:t>
            </a:r>
            <a:endPar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59395" name="Rectangle 3"/>
          <p:cNvSpPr>
            <a:spLocks noGrp="1" noChangeArrowheads="1"/>
          </p:cNvSpPr>
          <p:nvPr>
            <p:ph type="body" idx="1"/>
          </p:nvPr>
        </p:nvSpPr>
        <p:spPr>
          <a:xfrm>
            <a:off x="179512" y="1556792"/>
            <a:ext cx="8964488" cy="3681772"/>
          </a:xfrm>
        </p:spPr>
        <p:txBody>
          <a:bodyPr/>
          <a:lstStyle/>
          <a:p>
            <a:pPr lvl="1" eaLnBrk="1" hangingPunct="1"/>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创建存储规则和</a:t>
            </a:r>
            <a:r>
              <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ip</a:t>
            </a:r>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列表的文件</a:t>
            </a:r>
            <a:endPar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2" eaLnBrk="1" hangingPunct="1"/>
            <a:r>
              <a:rPr lang="en-US" altLang="zh-CN" sz="2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#sudo touch /etc/snort/rules/iplists/black_list.rules</a:t>
            </a:r>
          </a:p>
          <a:p>
            <a:pPr lvl="2" eaLnBrk="1" hangingPunct="1"/>
            <a:r>
              <a:rPr lang="en-US" altLang="zh-CN" sz="2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#sudo touch /etc/snort/rules/iplists/white_list.rules</a:t>
            </a:r>
          </a:p>
          <a:p>
            <a:pPr lvl="2" eaLnBrk="1" hangingPunct="1"/>
            <a:r>
              <a:rPr lang="en-US" altLang="zh-CN" sz="2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#sudo touch /etc/snort/rules/local.rules</a:t>
            </a:r>
          </a:p>
          <a:p>
            <a:pPr lvl="2" eaLnBrk="1" hangingPunct="1"/>
            <a:r>
              <a:rPr lang="en-US" altLang="zh-CN" sz="2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#sudo touch /etc/snort/sid-msg.map</a:t>
            </a:r>
            <a:endParaRPr lang="en-US" altLang="zh-CN" sz="2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创建日志文件</a:t>
            </a:r>
            <a:endPar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2" eaLnBrk="1" hangingPunct="1"/>
            <a:r>
              <a:rPr lang="en-US" altLang="zh-CN" sz="2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#sudo mkdir /var/log/snort</a:t>
            </a:r>
          </a:p>
          <a:p>
            <a:pPr lvl="2" eaLnBrk="1" hangingPunct="1"/>
            <a:r>
              <a:rPr lang="en-US" altLang="zh-CN" sz="2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#sudo mkdir /var/log/snort/archived_logs</a:t>
            </a:r>
            <a:endParaRPr lang="en-US" altLang="zh-CN" sz="2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3862514"/>
      </p:ext>
    </p:extLst>
  </p:cSld>
  <p:clrMapOvr>
    <a:masterClrMapping/>
  </p:clrMapOvr>
  <p:transition>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236296" y="5121188"/>
            <a:ext cx="1714500" cy="936104"/>
          </a:xfrm>
          <a:prstGeom prst="rect">
            <a:avLst/>
          </a:prstGeom>
          <a:noFill/>
          <a:ln w="9525">
            <a:noFill/>
            <a:miter lim="800000"/>
            <a:headEnd/>
            <a:tailEnd/>
          </a:ln>
        </p:spPr>
      </p:pic>
      <p:sp>
        <p:nvSpPr>
          <p:cNvPr id="59394" name="Rectangle 2"/>
          <p:cNvSpPr>
            <a:spLocks noGrp="1" noChangeArrowheads="1"/>
          </p:cNvSpPr>
          <p:nvPr>
            <p:ph type="title"/>
          </p:nvPr>
        </p:nvSpPr>
        <p:spPr>
          <a:xfrm>
            <a:off x="647564" y="811807"/>
            <a:ext cx="6513512" cy="487363"/>
          </a:xfrm>
          <a:noFill/>
          <a:ln w="9525">
            <a:noFill/>
            <a:miter lim="800000"/>
          </a:ln>
        </p:spPr>
        <p:txBody>
          <a:bodyPr vert="horz" wrap="square" lIns="91440" tIns="45720" rIns="91440" bIns="45720" numCol="1" anchor="ctr" anchorCtr="0" compatLnSpc="1"/>
          <a:lstStyle/>
          <a:p>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Snort</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配置</a:t>
            </a:r>
            <a:endPar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59395" name="Rectangle 3"/>
          <p:cNvSpPr>
            <a:spLocks noGrp="1" noChangeArrowheads="1"/>
          </p:cNvSpPr>
          <p:nvPr>
            <p:ph type="body" idx="1"/>
          </p:nvPr>
        </p:nvSpPr>
        <p:spPr>
          <a:xfrm>
            <a:off x="179512" y="1556792"/>
            <a:ext cx="8964488" cy="3681772"/>
          </a:xfrm>
        </p:spPr>
        <p:txBody>
          <a:bodyPr/>
          <a:lstStyle/>
          <a:p>
            <a:pPr lvl="1" eaLnBrk="1" hangingPunct="1"/>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调整读写执行权限</a:t>
            </a:r>
            <a:endPar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2" eaLnBrk="1" hangingPunct="1"/>
            <a:r>
              <a:rPr lang="en-US" altLang="zh-CN" sz="2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#sudo chmod -R 5775 /etc/snort</a:t>
            </a:r>
          </a:p>
          <a:p>
            <a:pPr lvl="2" eaLnBrk="1" hangingPunct="1"/>
            <a:r>
              <a:rPr lang="en-US" altLang="zh-CN" sz="2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#sudo chmod -R 5775 /var/log/snort</a:t>
            </a:r>
          </a:p>
          <a:p>
            <a:pPr lvl="2" eaLnBrk="1" hangingPunct="1"/>
            <a:r>
              <a:rPr lang="en-US" altLang="zh-CN" sz="2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#sudo chmod -R 5775 /var/log/snort/archived_logs</a:t>
            </a:r>
          </a:p>
          <a:p>
            <a:pPr lvl="2" eaLnBrk="1" hangingPunct="1"/>
            <a:r>
              <a:rPr lang="en-US" altLang="zh-CN" sz="2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#sudo chmod -R 5775 /etc/snort/so_rules</a:t>
            </a:r>
          </a:p>
          <a:p>
            <a:pPr lvl="2" eaLnBrk="1" hangingPunct="1"/>
            <a:r>
              <a:rPr lang="en-US" altLang="zh-CN" sz="2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#sudo chmod -R 5775 /usr/local/lib/snort_dynamicrules</a:t>
            </a:r>
            <a:endParaRPr lang="en-US" altLang="zh-CN" sz="2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调整用户和用户组属性</a:t>
            </a:r>
            <a:endParaRPr lang="en-US" altLang="zh-CN" sz="2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2" eaLnBrk="1" hangingPunct="1"/>
            <a:r>
              <a:rPr lang="en-US" altLang="zh-CN" sz="2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#sudo chown -R snort:snort /etc/snort</a:t>
            </a:r>
          </a:p>
          <a:p>
            <a:pPr lvl="2" eaLnBrk="1" hangingPunct="1"/>
            <a:r>
              <a:rPr lang="en-US" altLang="zh-CN" sz="2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#sudo chown -R snort:snort /var/log/snort</a:t>
            </a:r>
          </a:p>
          <a:p>
            <a:pPr lvl="2" eaLnBrk="1" hangingPunct="1"/>
            <a:r>
              <a:rPr lang="en-US" altLang="zh-CN" sz="2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#sudo chown -R snort:snort /usr/local/lib/snort_dynamicrules</a:t>
            </a:r>
            <a:endParaRPr lang="en-US" altLang="zh-CN" sz="2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 name="圆角矩形 1"/>
          <p:cNvSpPr/>
          <p:nvPr/>
        </p:nvSpPr>
        <p:spPr>
          <a:xfrm>
            <a:off x="5256076" y="548680"/>
            <a:ext cx="3600400" cy="16921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a:blip r:embed="rId5"/>
          <a:stretch>
            <a:fillRect/>
          </a:stretch>
        </p:blipFill>
        <p:spPr>
          <a:xfrm>
            <a:off x="5400092" y="732876"/>
            <a:ext cx="3366608" cy="1322852"/>
          </a:xfrm>
          <a:prstGeom prst="rect">
            <a:avLst/>
          </a:prstGeom>
        </p:spPr>
      </p:pic>
    </p:spTree>
    <p:extLst>
      <p:ext uri="{BB962C8B-B14F-4D97-AF65-F5344CB8AC3E}">
        <p14:creationId xmlns:p14="http://schemas.microsoft.com/office/powerpoint/2010/main" val="906582616"/>
      </p:ext>
    </p:extLst>
  </p:cSld>
  <p:clrMapOvr>
    <a:masterClrMapping/>
  </p:clrMapOvr>
  <p:transition>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236296" y="5121188"/>
            <a:ext cx="1714500" cy="936104"/>
          </a:xfrm>
          <a:prstGeom prst="rect">
            <a:avLst/>
          </a:prstGeom>
          <a:noFill/>
          <a:ln w="9525">
            <a:noFill/>
            <a:miter lim="800000"/>
            <a:headEnd/>
            <a:tailEnd/>
          </a:ln>
        </p:spPr>
      </p:pic>
      <p:sp>
        <p:nvSpPr>
          <p:cNvPr id="59394" name="Rectangle 2"/>
          <p:cNvSpPr>
            <a:spLocks noGrp="1" noChangeArrowheads="1"/>
          </p:cNvSpPr>
          <p:nvPr>
            <p:ph type="title"/>
          </p:nvPr>
        </p:nvSpPr>
        <p:spPr>
          <a:xfrm>
            <a:off x="647564" y="811807"/>
            <a:ext cx="6513512" cy="487363"/>
          </a:xfrm>
          <a:noFill/>
          <a:ln w="9525">
            <a:noFill/>
            <a:miter lim="800000"/>
          </a:ln>
        </p:spPr>
        <p:txBody>
          <a:bodyPr vert="horz" wrap="square" lIns="91440" tIns="45720" rIns="91440" bIns="45720" numCol="1" anchor="ctr" anchorCtr="0" compatLnSpc="1"/>
          <a:lstStyle/>
          <a:p>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Snort</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配置</a:t>
            </a:r>
            <a:endPar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59395" name="Rectangle 3"/>
          <p:cNvSpPr>
            <a:spLocks noGrp="1" noChangeArrowheads="1"/>
          </p:cNvSpPr>
          <p:nvPr>
            <p:ph type="body" idx="1"/>
          </p:nvPr>
        </p:nvSpPr>
        <p:spPr>
          <a:xfrm>
            <a:off x="179512" y="1556792"/>
            <a:ext cx="8964488" cy="3681772"/>
          </a:xfrm>
        </p:spPr>
        <p:txBody>
          <a:bodyPr/>
          <a:lstStyle/>
          <a:p>
            <a:pPr lvl="1" eaLnBrk="1" hangingPunct="1"/>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将解压后</a:t>
            </a:r>
            <a:r>
              <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中的文件复制到新建的文件夹中</a:t>
            </a:r>
            <a:endPar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2" eaLnBrk="1" hangingPunct="1"/>
            <a:r>
              <a:rPr lang="en-US" altLang="zh-CN" sz="2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#cd ~/snort-2.9.20/etc/</a:t>
            </a:r>
          </a:p>
          <a:p>
            <a:pPr lvl="2" eaLnBrk="1" hangingPunct="1"/>
            <a:r>
              <a:rPr lang="en-US" altLang="zh-CN" sz="2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#sudo cp *.conf* /etc/snort</a:t>
            </a:r>
          </a:p>
          <a:p>
            <a:pPr lvl="2" eaLnBrk="1" hangingPunct="1"/>
            <a:r>
              <a:rPr lang="en-US" altLang="zh-CN" sz="2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#sudo cp *.map /etc/snort</a:t>
            </a:r>
          </a:p>
          <a:p>
            <a:pPr lvl="2" eaLnBrk="1" hangingPunct="1"/>
            <a:r>
              <a:rPr lang="en-US" altLang="zh-CN" sz="2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#sudo cp *.dtd /etc/snort</a:t>
            </a:r>
          </a:p>
          <a:p>
            <a:pPr lvl="2" eaLnBrk="1" hangingPunct="1"/>
            <a:r>
              <a:rPr lang="en-US" altLang="zh-CN" sz="2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#cd ~/snort_src/snort-2.9.20/src/dynamic_preprocessors/build /usr/local/lib/snort_dynamicpreprocessor/</a:t>
            </a:r>
          </a:p>
          <a:p>
            <a:pPr lvl="2" eaLnBrk="1" hangingPunct="1"/>
            <a:r>
              <a:rPr lang="en-US" altLang="zh-CN" sz="2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#sudo cp * /usr/local/lib/snort_dynamicpreprocessor/</a:t>
            </a:r>
            <a:endParaRPr lang="en-US" altLang="zh-CN" sz="2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5" name="图片 4"/>
          <p:cNvPicPr>
            <a:picLocks noChangeAspect="1"/>
          </p:cNvPicPr>
          <p:nvPr/>
        </p:nvPicPr>
        <p:blipFill>
          <a:blip r:embed="rId5"/>
          <a:stretch>
            <a:fillRect/>
          </a:stretch>
        </p:blipFill>
        <p:spPr>
          <a:xfrm>
            <a:off x="6044002" y="1029873"/>
            <a:ext cx="2777946" cy="3962504"/>
          </a:xfrm>
          <a:prstGeom prst="rect">
            <a:avLst/>
          </a:prstGeom>
        </p:spPr>
      </p:pic>
    </p:spTree>
    <p:extLst>
      <p:ext uri="{BB962C8B-B14F-4D97-AF65-F5344CB8AC3E}">
        <p14:creationId xmlns:p14="http://schemas.microsoft.com/office/powerpoint/2010/main" val="16843449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236296" y="5121188"/>
            <a:ext cx="1714500" cy="936104"/>
          </a:xfrm>
          <a:prstGeom prst="rect">
            <a:avLst/>
          </a:prstGeom>
          <a:noFill/>
          <a:ln w="9525">
            <a:noFill/>
            <a:miter lim="800000"/>
            <a:headEnd/>
            <a:tailEnd/>
          </a:ln>
        </p:spPr>
      </p:pic>
      <p:sp>
        <p:nvSpPr>
          <p:cNvPr id="59394" name="Rectangle 2"/>
          <p:cNvSpPr>
            <a:spLocks noGrp="1" noChangeArrowheads="1"/>
          </p:cNvSpPr>
          <p:nvPr>
            <p:ph type="title"/>
          </p:nvPr>
        </p:nvSpPr>
        <p:spPr>
          <a:xfrm>
            <a:off x="647564" y="811807"/>
            <a:ext cx="6513512" cy="487363"/>
          </a:xfrm>
          <a:noFill/>
          <a:ln w="9525">
            <a:noFill/>
            <a:miter lim="800000"/>
          </a:ln>
        </p:spPr>
        <p:txBody>
          <a:bodyPr vert="horz" wrap="square" lIns="91440" tIns="45720" rIns="91440" bIns="45720" numCol="1" anchor="ctr" anchorCtr="0" compatLnSpc="1"/>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Snort</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配置</a:t>
            </a:r>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编辑</a:t>
            </a:r>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snort.conf</a:t>
            </a:r>
            <a:endPar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59395" name="Rectangle 3"/>
          <p:cNvSpPr>
            <a:spLocks noGrp="1" noChangeArrowheads="1"/>
          </p:cNvSpPr>
          <p:nvPr>
            <p:ph type="body" idx="1"/>
          </p:nvPr>
        </p:nvSpPr>
        <p:spPr>
          <a:xfrm>
            <a:off x="647564" y="1556792"/>
            <a:ext cx="8191500" cy="3681772"/>
          </a:xfrm>
        </p:spPr>
        <p:txBody>
          <a:bodyPr/>
          <a:lstStyle/>
          <a:p>
            <a:pPr marL="457200" lvl="1" indent="0" eaLnBrk="1" hangingPunct="1">
              <a:buNone/>
            </a:pP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eaLnBrk="1" hangingPunct="1">
              <a:buNone/>
            </a:pPr>
            <a:endPar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5" name="图片 4"/>
          <p:cNvPicPr>
            <a:picLocks noChangeAspect="1"/>
          </p:cNvPicPr>
          <p:nvPr/>
        </p:nvPicPr>
        <p:blipFill>
          <a:blip r:embed="rId5"/>
          <a:stretch>
            <a:fillRect/>
          </a:stretch>
        </p:blipFill>
        <p:spPr>
          <a:xfrm>
            <a:off x="647564" y="1448780"/>
            <a:ext cx="6084677" cy="605775"/>
          </a:xfrm>
          <a:prstGeom prst="rect">
            <a:avLst/>
          </a:prstGeom>
        </p:spPr>
      </p:pic>
      <p:pic>
        <p:nvPicPr>
          <p:cNvPr id="6" name="图片 5"/>
          <p:cNvPicPr>
            <a:picLocks noChangeAspect="1"/>
          </p:cNvPicPr>
          <p:nvPr/>
        </p:nvPicPr>
        <p:blipFill>
          <a:blip r:embed="rId6"/>
          <a:stretch>
            <a:fillRect/>
          </a:stretch>
        </p:blipFill>
        <p:spPr>
          <a:xfrm>
            <a:off x="647563" y="2006962"/>
            <a:ext cx="7061650" cy="1785249"/>
          </a:xfrm>
          <a:prstGeom prst="rect">
            <a:avLst/>
          </a:prstGeom>
        </p:spPr>
      </p:pic>
      <p:pic>
        <p:nvPicPr>
          <p:cNvPr id="7" name="图片 6"/>
          <p:cNvPicPr>
            <a:picLocks noChangeAspect="1"/>
          </p:cNvPicPr>
          <p:nvPr/>
        </p:nvPicPr>
        <p:blipFill>
          <a:blip r:embed="rId7"/>
          <a:stretch>
            <a:fillRect/>
          </a:stretch>
        </p:blipFill>
        <p:spPr>
          <a:xfrm>
            <a:off x="647563" y="3834972"/>
            <a:ext cx="5922588" cy="756075"/>
          </a:xfrm>
          <a:prstGeom prst="rect">
            <a:avLst/>
          </a:prstGeom>
        </p:spPr>
      </p:pic>
      <p:pic>
        <p:nvPicPr>
          <p:cNvPr id="8" name="图片 7"/>
          <p:cNvPicPr>
            <a:picLocks noChangeAspect="1"/>
          </p:cNvPicPr>
          <p:nvPr/>
        </p:nvPicPr>
        <p:blipFill>
          <a:blip r:embed="rId8"/>
          <a:stretch>
            <a:fillRect/>
          </a:stretch>
        </p:blipFill>
        <p:spPr>
          <a:xfrm>
            <a:off x="652424" y="4644173"/>
            <a:ext cx="5107708" cy="798898"/>
          </a:xfrm>
          <a:prstGeom prst="rect">
            <a:avLst/>
          </a:prstGeom>
        </p:spPr>
      </p:pic>
      <p:pic>
        <p:nvPicPr>
          <p:cNvPr id="9" name="图片 8"/>
          <p:cNvPicPr>
            <a:picLocks noChangeAspect="1"/>
          </p:cNvPicPr>
          <p:nvPr/>
        </p:nvPicPr>
        <p:blipFill>
          <a:blip r:embed="rId9"/>
          <a:stretch>
            <a:fillRect/>
          </a:stretch>
        </p:blipFill>
        <p:spPr>
          <a:xfrm>
            <a:off x="652536" y="5496197"/>
            <a:ext cx="4975412" cy="526366"/>
          </a:xfrm>
          <a:prstGeom prst="rect">
            <a:avLst/>
          </a:prstGeom>
        </p:spPr>
      </p:pic>
      <p:cxnSp>
        <p:nvCxnSpPr>
          <p:cNvPr id="3" name="直接箭头连接符 2"/>
          <p:cNvCxnSpPr/>
          <p:nvPr/>
        </p:nvCxnSpPr>
        <p:spPr>
          <a:xfrm flipV="1">
            <a:off x="4247964" y="1448780"/>
            <a:ext cx="1152128" cy="39604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1" name="文本框 10"/>
          <p:cNvSpPr txBox="1"/>
          <p:nvPr/>
        </p:nvSpPr>
        <p:spPr>
          <a:xfrm>
            <a:off x="5330495" y="1151580"/>
            <a:ext cx="942887" cy="400110"/>
          </a:xfrm>
          <a:prstGeom prst="rect">
            <a:avLst/>
          </a:prstGeom>
          <a:noFill/>
        </p:spPr>
        <p:txBody>
          <a:bodyPr wrap="none" rtlCol="0">
            <a:spAutoFit/>
          </a:bodyPr>
          <a:lstStyle/>
          <a:p>
            <a:r>
              <a:rPr lang="zh-CN" altLang="en-US" sz="2000" b="1">
                <a:solidFill>
                  <a:srgbClr val="FF0000"/>
                </a:solidFill>
              </a:rPr>
              <a:t>主机</a:t>
            </a:r>
            <a:r>
              <a:rPr lang="en-US" altLang="zh-CN" sz="2000" b="1">
                <a:solidFill>
                  <a:srgbClr val="FF0000"/>
                </a:solidFill>
              </a:rPr>
              <a:t>IP</a:t>
            </a:r>
            <a:endParaRPr lang="zh-CN" altLang="en-US" sz="2000" b="1">
              <a:solidFill>
                <a:srgbClr val="FF0000"/>
              </a:solidFill>
            </a:endParaRPr>
          </a:p>
        </p:txBody>
      </p:sp>
      <p:cxnSp>
        <p:nvCxnSpPr>
          <p:cNvPr id="14" name="直接箭头连接符 13"/>
          <p:cNvCxnSpPr/>
          <p:nvPr/>
        </p:nvCxnSpPr>
        <p:spPr>
          <a:xfrm flipV="1">
            <a:off x="5328084" y="2924944"/>
            <a:ext cx="1152128" cy="39604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5" name="文本框 14"/>
          <p:cNvSpPr txBox="1"/>
          <p:nvPr/>
        </p:nvSpPr>
        <p:spPr>
          <a:xfrm>
            <a:off x="6410615" y="2627744"/>
            <a:ext cx="1733167" cy="400110"/>
          </a:xfrm>
          <a:prstGeom prst="rect">
            <a:avLst/>
          </a:prstGeom>
          <a:noFill/>
        </p:spPr>
        <p:txBody>
          <a:bodyPr wrap="none" rtlCol="0">
            <a:spAutoFit/>
          </a:bodyPr>
          <a:lstStyle/>
          <a:p>
            <a:r>
              <a:rPr lang="zh-CN" altLang="en-US" sz="2000" b="1">
                <a:solidFill>
                  <a:srgbClr val="FF0000"/>
                </a:solidFill>
              </a:rPr>
              <a:t>规则文件路径</a:t>
            </a:r>
          </a:p>
        </p:txBody>
      </p:sp>
      <p:cxnSp>
        <p:nvCxnSpPr>
          <p:cNvPr id="16" name="直接箭头连接符 15"/>
          <p:cNvCxnSpPr/>
          <p:nvPr/>
        </p:nvCxnSpPr>
        <p:spPr>
          <a:xfrm flipV="1">
            <a:off x="4283968" y="4842324"/>
            <a:ext cx="1152128" cy="39604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7" name="文本框 16"/>
          <p:cNvSpPr txBox="1"/>
          <p:nvPr/>
        </p:nvSpPr>
        <p:spPr>
          <a:xfrm>
            <a:off x="5366499" y="4545124"/>
            <a:ext cx="1733167" cy="400110"/>
          </a:xfrm>
          <a:prstGeom prst="rect">
            <a:avLst/>
          </a:prstGeom>
          <a:noFill/>
        </p:spPr>
        <p:txBody>
          <a:bodyPr wrap="none" rtlCol="0">
            <a:spAutoFit/>
          </a:bodyPr>
          <a:lstStyle/>
          <a:p>
            <a:r>
              <a:rPr lang="zh-CN" altLang="en-US" sz="2000" b="1">
                <a:solidFill>
                  <a:srgbClr val="FF0000"/>
                </a:solidFill>
              </a:rPr>
              <a:t>输出告警日志</a:t>
            </a:r>
          </a:p>
        </p:txBody>
      </p:sp>
      <p:cxnSp>
        <p:nvCxnSpPr>
          <p:cNvPr id="18" name="直接箭头连接符 17"/>
          <p:cNvCxnSpPr/>
          <p:nvPr/>
        </p:nvCxnSpPr>
        <p:spPr>
          <a:xfrm flipV="1">
            <a:off x="4092741" y="5445224"/>
            <a:ext cx="1152128" cy="39604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9" name="文本框 18"/>
          <p:cNvSpPr txBox="1"/>
          <p:nvPr/>
        </p:nvSpPr>
        <p:spPr>
          <a:xfrm>
            <a:off x="4524789" y="5148024"/>
            <a:ext cx="2999539" cy="400110"/>
          </a:xfrm>
          <a:prstGeom prst="rect">
            <a:avLst/>
          </a:prstGeom>
          <a:noFill/>
        </p:spPr>
        <p:txBody>
          <a:bodyPr wrap="none" rtlCol="0">
            <a:spAutoFit/>
          </a:bodyPr>
          <a:lstStyle/>
          <a:p>
            <a:r>
              <a:rPr lang="zh-CN" altLang="en-US" sz="2000" b="1">
                <a:solidFill>
                  <a:srgbClr val="FF0000"/>
                </a:solidFill>
              </a:rPr>
              <a:t>启用</a:t>
            </a:r>
            <a:r>
              <a:rPr lang="en-US" altLang="zh-CN" sz="2000" b="1">
                <a:solidFill>
                  <a:srgbClr val="FF0000"/>
                </a:solidFill>
              </a:rPr>
              <a:t>local.rules</a:t>
            </a:r>
            <a:r>
              <a:rPr lang="zh-CN" altLang="en-US" sz="2000" b="1">
                <a:solidFill>
                  <a:srgbClr val="FF0000"/>
                </a:solidFill>
              </a:rPr>
              <a:t>规则文件</a:t>
            </a:r>
          </a:p>
        </p:txBody>
      </p:sp>
    </p:spTree>
    <p:extLst>
      <p:ext uri="{BB962C8B-B14F-4D97-AF65-F5344CB8AC3E}">
        <p14:creationId xmlns:p14="http://schemas.microsoft.com/office/powerpoint/2010/main" val="69708454"/>
      </p:ext>
    </p:extLst>
  </p:cSld>
  <p:clrMapOvr>
    <a:masterClrMapping/>
  </p:clrMapOvr>
  <p:transition>
    <p:fad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236296" y="5121188"/>
            <a:ext cx="1714500" cy="936104"/>
          </a:xfrm>
          <a:prstGeom prst="rect">
            <a:avLst/>
          </a:prstGeom>
          <a:noFill/>
          <a:ln w="9525">
            <a:noFill/>
            <a:miter lim="800000"/>
            <a:headEnd/>
            <a:tailEnd/>
          </a:ln>
        </p:spPr>
      </p:pic>
      <p:sp>
        <p:nvSpPr>
          <p:cNvPr id="59394" name="Rectangle 2"/>
          <p:cNvSpPr>
            <a:spLocks noGrp="1" noChangeArrowheads="1"/>
          </p:cNvSpPr>
          <p:nvPr>
            <p:ph type="title"/>
          </p:nvPr>
        </p:nvSpPr>
        <p:spPr>
          <a:xfrm>
            <a:off x="647564" y="811807"/>
            <a:ext cx="6513512" cy="487363"/>
          </a:xfrm>
          <a:noFill/>
          <a:ln w="9525">
            <a:noFill/>
            <a:miter lim="800000"/>
          </a:ln>
        </p:spPr>
        <p:txBody>
          <a:bodyPr vert="horz" wrap="square" lIns="91440" tIns="45720" rIns="91440" bIns="45720" numCol="1" anchor="ctr" anchorCtr="0" compatLnSpc="1"/>
          <a:lstStyle/>
          <a:p>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Snort</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测试</a:t>
            </a:r>
            <a:endPar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59395" name="Rectangle 3"/>
          <p:cNvSpPr>
            <a:spLocks noGrp="1" noChangeArrowheads="1"/>
          </p:cNvSpPr>
          <p:nvPr>
            <p:ph type="body" idx="1"/>
          </p:nvPr>
        </p:nvSpPr>
        <p:spPr>
          <a:xfrm>
            <a:off x="539552" y="908720"/>
            <a:ext cx="8191500" cy="1404156"/>
          </a:xfrm>
        </p:spPr>
        <p:txBody>
          <a:bodyPr/>
          <a:lstStyle/>
          <a:p>
            <a:pPr lvl="1" eaLnBrk="1" hangingPunct="1"/>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sudo</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snort -T -c /</a:t>
            </a:r>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etc</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snort.conf</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b="1">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ens160</a:t>
            </a:r>
            <a:r>
              <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a:t>
            </a:r>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用</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ifconfig</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查看网卡</a:t>
            </a: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5"/>
          <a:stretch>
            <a:fillRect/>
          </a:stretch>
        </p:blipFill>
        <p:spPr>
          <a:xfrm>
            <a:off x="1783540" y="2295094"/>
            <a:ext cx="5364596" cy="4322452"/>
          </a:xfrm>
          <a:prstGeom prst="rect">
            <a:avLst/>
          </a:prstGeom>
        </p:spPr>
      </p:pic>
      <p:cxnSp>
        <p:nvCxnSpPr>
          <p:cNvPr id="6" name="直接箭头连接符 5"/>
          <p:cNvCxnSpPr/>
          <p:nvPr/>
        </p:nvCxnSpPr>
        <p:spPr>
          <a:xfrm flipV="1">
            <a:off x="3203848" y="1088740"/>
            <a:ext cx="252028" cy="36177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7" name="文本框 6"/>
          <p:cNvSpPr txBox="1"/>
          <p:nvPr/>
        </p:nvSpPr>
        <p:spPr>
          <a:xfrm>
            <a:off x="3095836" y="723689"/>
            <a:ext cx="1332148" cy="400110"/>
          </a:xfrm>
          <a:prstGeom prst="rect">
            <a:avLst/>
          </a:prstGeom>
          <a:noFill/>
        </p:spPr>
        <p:txBody>
          <a:bodyPr wrap="square" rtlCol="0">
            <a:spAutoFit/>
          </a:bodyPr>
          <a:lstStyle/>
          <a:p>
            <a:r>
              <a:rPr lang="zh-CN" altLang="en-US" sz="2000" b="1">
                <a:solidFill>
                  <a:srgbClr val="FF9900"/>
                </a:solidFill>
              </a:rPr>
              <a:t>启动</a:t>
            </a:r>
            <a:r>
              <a:rPr lang="en-US" altLang="zh-CN" sz="2000" b="1">
                <a:solidFill>
                  <a:srgbClr val="FF9900"/>
                </a:solidFill>
              </a:rPr>
              <a:t>snort</a:t>
            </a:r>
            <a:endParaRPr lang="zh-CN" altLang="en-US" sz="2000" b="1">
              <a:solidFill>
                <a:srgbClr val="FF9900"/>
              </a:solidFill>
            </a:endParaRPr>
          </a:p>
        </p:txBody>
      </p:sp>
      <p:cxnSp>
        <p:nvCxnSpPr>
          <p:cNvPr id="9" name="直接箭头连接符 8"/>
          <p:cNvCxnSpPr/>
          <p:nvPr/>
        </p:nvCxnSpPr>
        <p:spPr>
          <a:xfrm flipV="1">
            <a:off x="5256076" y="1087010"/>
            <a:ext cx="252028" cy="36177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0" name="文本框 9"/>
          <p:cNvSpPr txBox="1"/>
          <p:nvPr/>
        </p:nvSpPr>
        <p:spPr>
          <a:xfrm>
            <a:off x="5111187" y="457864"/>
            <a:ext cx="1332148" cy="707886"/>
          </a:xfrm>
          <a:prstGeom prst="rect">
            <a:avLst/>
          </a:prstGeom>
          <a:noFill/>
        </p:spPr>
        <p:txBody>
          <a:bodyPr wrap="square" rtlCol="0">
            <a:spAutoFit/>
          </a:bodyPr>
          <a:lstStyle/>
          <a:p>
            <a:r>
              <a:rPr lang="zh-CN" altLang="en-US" sz="2000" b="1">
                <a:solidFill>
                  <a:srgbClr val="FF9900"/>
                </a:solidFill>
              </a:rPr>
              <a:t>指定配置文件路径</a:t>
            </a:r>
          </a:p>
        </p:txBody>
      </p:sp>
      <p:cxnSp>
        <p:nvCxnSpPr>
          <p:cNvPr id="11" name="直接箭头连接符 10"/>
          <p:cNvCxnSpPr/>
          <p:nvPr/>
        </p:nvCxnSpPr>
        <p:spPr>
          <a:xfrm flipV="1">
            <a:off x="7272300" y="1087010"/>
            <a:ext cx="252028" cy="36177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2" name="文本框 11"/>
          <p:cNvSpPr txBox="1"/>
          <p:nvPr/>
        </p:nvSpPr>
        <p:spPr>
          <a:xfrm>
            <a:off x="7164288" y="721959"/>
            <a:ext cx="1332148" cy="400110"/>
          </a:xfrm>
          <a:prstGeom prst="rect">
            <a:avLst/>
          </a:prstGeom>
          <a:noFill/>
        </p:spPr>
        <p:txBody>
          <a:bodyPr wrap="square" rtlCol="0">
            <a:spAutoFit/>
          </a:bodyPr>
          <a:lstStyle/>
          <a:p>
            <a:r>
              <a:rPr lang="zh-CN" altLang="en-US" sz="2000" b="1">
                <a:solidFill>
                  <a:srgbClr val="FF9900"/>
                </a:solidFill>
              </a:rPr>
              <a:t>指定网卡</a:t>
            </a:r>
          </a:p>
        </p:txBody>
      </p:sp>
    </p:spTree>
    <p:extLst>
      <p:ext uri="{BB962C8B-B14F-4D97-AF65-F5344CB8AC3E}">
        <p14:creationId xmlns:p14="http://schemas.microsoft.com/office/powerpoint/2010/main" val="2189302657"/>
      </p:ext>
    </p:extLst>
  </p:cSld>
  <p:clrMapOvr>
    <a:masterClrMapping/>
  </p:clrMapOvr>
  <p:transition>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533400" y="798384"/>
            <a:ext cx="6513512" cy="487363"/>
          </a:xfrm>
          <a:noFill/>
          <a:ln w="9525">
            <a:noFill/>
            <a:miter lim="800000"/>
          </a:ln>
        </p:spPr>
        <p:txBody>
          <a:bodyPr vert="horz" wrap="square" lIns="91440" tIns="45720" rIns="91440" bIns="45720" numCol="1" anchor="ctr" anchorCtr="0" compatLnSpc="1"/>
          <a:lstStyle/>
          <a:p>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Snort</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命</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令行 </a:t>
            </a:r>
          </a:p>
        </p:txBody>
      </p:sp>
      <p:sp>
        <p:nvSpPr>
          <p:cNvPr id="65539" name="Rectangle 3"/>
          <p:cNvSpPr>
            <a:spLocks noGrp="1" noChangeArrowheads="1"/>
          </p:cNvSpPr>
          <p:nvPr>
            <p:ph type="body" idx="1"/>
          </p:nvPr>
        </p:nvSpPr>
        <p:spPr>
          <a:xfrm>
            <a:off x="533400" y="1448780"/>
            <a:ext cx="8191500" cy="4068452"/>
          </a:xfrm>
        </p:spPr>
        <p:txBody>
          <a:bodyPr/>
          <a:lstStyle/>
          <a:p>
            <a:pPr marL="533400" indent="-533400" eaLnBrk="1" hangingPunct="1">
              <a:lnSpc>
                <a:spcPct val="90000"/>
              </a:lnSpc>
            </a:pPr>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的命令行参数很多，可使用</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 - ?</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命令列出</a:t>
            </a:r>
          </a:p>
          <a:p>
            <a:pPr marL="533400" indent="-533400" eaLnBrk="1" hangingPunct="1">
              <a:lnSpc>
                <a:spcPct val="90000"/>
              </a:lnSpc>
            </a:pP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常见的参数有：</a:t>
            </a:r>
          </a:p>
          <a:p>
            <a:pPr marL="1314450" lvl="2" indent="-457200" eaLnBrk="1" hangingPunct="1">
              <a:lnSpc>
                <a:spcPct val="90000"/>
              </a:lnSpc>
            </a:pPr>
            <a:r>
              <a:rPr lang="en-US" altLang="zh-CN" sz="2200" b="1" dirty="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a:t>
            </a:r>
            <a:r>
              <a:rPr lang="en-US" altLang="zh-CN" sz="2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sz="2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设置报警模式 </a:t>
            </a:r>
            <a:endParaRPr lang="en-US" altLang="zh-CN" sz="2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1314450" lvl="2" indent="-457200" eaLnBrk="1" hangingPunct="1">
              <a:lnSpc>
                <a:spcPct val="90000"/>
              </a:lnSpc>
            </a:pPr>
            <a:endParaRPr lang="en-US" altLang="zh-CN" sz="2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1314450" lvl="2" indent="-457200" eaLnBrk="1" hangingPunct="1">
              <a:lnSpc>
                <a:spcPct val="90000"/>
              </a:lnSpc>
            </a:pPr>
            <a:r>
              <a:rPr lang="en-US" altLang="zh-CN" sz="2200" b="1">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200" b="1" dirty="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         </a:t>
            </a:r>
            <a:r>
              <a:rPr lang="zh-CN" altLang="en-US" sz="2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使用配置文件，指定路径</a:t>
            </a:r>
            <a:endParaRPr lang="en-US" altLang="zh-CN" sz="2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1314450" lvl="2" indent="-457200" eaLnBrk="1" hangingPunct="1">
              <a:lnSpc>
                <a:spcPct val="90000"/>
              </a:lnSpc>
            </a:pPr>
            <a:r>
              <a:rPr lang="en-US" altLang="zh-CN" sz="2200" b="1" dirty="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200" b="1" dirty="0" err="1">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a:t>
            </a:r>
            <a:r>
              <a:rPr lang="en-US" altLang="zh-CN" sz="2200" b="1" dirty="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sz="2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指定网卡</a:t>
            </a:r>
            <a:endParaRPr lang="en-US" altLang="zh-CN" sz="2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1314450" lvl="2" indent="-457200" eaLnBrk="1" hangingPunct="1">
              <a:lnSpc>
                <a:spcPct val="90000"/>
              </a:lnSpc>
            </a:pPr>
            <a:r>
              <a:rPr lang="en-US" altLang="zh-CN" sz="2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         </a:t>
            </a:r>
            <a:r>
              <a:rPr lang="zh-CN" altLang="en-US" sz="2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以</a:t>
            </a:r>
            <a:r>
              <a:rPr lang="en-US" altLang="zh-CN" sz="22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tcpdump</a:t>
            </a:r>
            <a:r>
              <a:rPr lang="zh-CN" altLang="en-US" sz="2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格式记录报文到日志文件 </a:t>
            </a:r>
            <a:endParaRPr lang="en-US" altLang="zh-CN" sz="2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1314450" lvl="2" indent="-457200" eaLnBrk="1" hangingPunct="1">
              <a:lnSpc>
                <a:spcPct val="90000"/>
              </a:lnSpc>
            </a:pPr>
            <a:r>
              <a:rPr lang="en-US" altLang="zh-CN" sz="2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          </a:t>
            </a:r>
            <a:r>
              <a:rPr lang="zh-CN" altLang="en-US" sz="2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显示应用层数据</a:t>
            </a:r>
          </a:p>
          <a:p>
            <a:pPr marL="1314450" lvl="2" indent="-457200" eaLnBrk="1" hangingPunct="1">
              <a:lnSpc>
                <a:spcPct val="90000"/>
              </a:lnSpc>
            </a:pPr>
            <a:r>
              <a:rPr lang="en-US" altLang="zh-CN" sz="2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          </a:t>
            </a:r>
            <a:r>
              <a:rPr lang="zh-CN" altLang="en-US" sz="2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终端输出 </a:t>
            </a:r>
            <a:endParaRPr lang="en-US" altLang="zh-CN" sz="2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1314450" lvl="2" indent="-457200" eaLnBrk="1" hangingPunct="1">
              <a:lnSpc>
                <a:spcPct val="90000"/>
              </a:lnSpc>
            </a:pPr>
            <a:r>
              <a:rPr lang="en-US" altLang="zh-CN" sz="2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a:t>
            </a:r>
            <a:r>
              <a:rPr lang="zh-CN" altLang="en-US" sz="2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查看日志 </a:t>
            </a:r>
          </a:p>
          <a:p>
            <a:pPr marL="533400" indent="-533400" eaLnBrk="1" hangingPunct="1">
              <a:lnSpc>
                <a:spcPct val="90000"/>
              </a:lnSpc>
            </a:pP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详细的</a:t>
            </a:r>
            <a:r>
              <a:rPr lang="zh-CN" alt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解释可以参见</a:t>
            </a:r>
            <a:r>
              <a:rPr lang="en-US" altLang="zh-CN"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README</a:t>
            </a:r>
            <a:r>
              <a:rPr lang="zh-CN" alt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文件</a:t>
            </a:r>
            <a:endPar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128284" y="5337212"/>
            <a:ext cx="1714500" cy="800100"/>
          </a:xfrm>
          <a:prstGeom prst="rect">
            <a:avLst/>
          </a:prstGeom>
          <a:noFill/>
          <a:ln w="9525">
            <a:noFill/>
            <a:miter lim="800000"/>
            <a:headEnd/>
            <a:tailEnd/>
          </a:ln>
        </p:spPr>
      </p:pic>
      <p:sp>
        <p:nvSpPr>
          <p:cNvPr id="2" name="文本框 1"/>
          <p:cNvSpPr txBox="1"/>
          <p:nvPr/>
        </p:nvSpPr>
        <p:spPr>
          <a:xfrm>
            <a:off x="4629150" y="1880828"/>
            <a:ext cx="3936876" cy="1107996"/>
          </a:xfrm>
          <a:prstGeom prst="rect">
            <a:avLst/>
          </a:prstGeom>
          <a:noFill/>
        </p:spPr>
        <p:txBody>
          <a:bodyPr wrap="square" rtlCol="0">
            <a:spAutoFit/>
          </a:bodyPr>
          <a:lstStyle/>
          <a:p>
            <a:pPr marL="342900" indent="-342900">
              <a:buFont typeface="Arial" panose="020B0604020202020204" pitchFamily="34" charset="0"/>
              <a:buChar char="•"/>
            </a:pPr>
            <a:r>
              <a:rPr lang="en-US" altLang="zh-CN" sz="2200" b="1">
                <a:solidFill>
                  <a:srgbClr val="0070C0"/>
                </a:solidFill>
                <a:latin typeface="Times New Roman" panose="02020603050405020304" pitchFamily="18" charset="0"/>
                <a:cs typeface="Times New Roman" panose="02020603050405020304" pitchFamily="18" charset="0"/>
              </a:rPr>
              <a:t>-A fast </a:t>
            </a:r>
            <a:r>
              <a:rPr lang="zh-CN" altLang="en-US" sz="2200" b="1">
                <a:solidFill>
                  <a:srgbClr val="0070C0"/>
                </a:solidFill>
                <a:latin typeface="Times New Roman" panose="02020603050405020304" pitchFamily="18" charset="0"/>
                <a:cs typeface="Times New Roman" panose="02020603050405020304" pitchFamily="18" charset="0"/>
              </a:rPr>
              <a:t>简单快速告警</a:t>
            </a:r>
            <a:endParaRPr lang="en-US" altLang="zh-CN" sz="2200" b="1">
              <a:solidFill>
                <a:srgbClr val="0070C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zh-CN" sz="2200" b="1">
                <a:solidFill>
                  <a:srgbClr val="0070C0"/>
                </a:solidFill>
                <a:latin typeface="Times New Roman" panose="02020603050405020304" pitchFamily="18" charset="0"/>
                <a:cs typeface="Times New Roman" panose="02020603050405020304" pitchFamily="18" charset="0"/>
              </a:rPr>
              <a:t>-A full </a:t>
            </a:r>
            <a:r>
              <a:rPr lang="zh-CN" altLang="en-US" sz="2200" b="1">
                <a:solidFill>
                  <a:srgbClr val="0070C0"/>
                </a:solidFill>
                <a:latin typeface="Times New Roman" panose="02020603050405020304" pitchFamily="18" charset="0"/>
                <a:cs typeface="Times New Roman" panose="02020603050405020304" pitchFamily="18" charset="0"/>
              </a:rPr>
              <a:t>默认，全量告警</a:t>
            </a:r>
            <a:endParaRPr lang="en-US" altLang="zh-CN" sz="2200" b="1">
              <a:solidFill>
                <a:srgbClr val="0070C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zh-CN" sz="2200" b="1">
                <a:solidFill>
                  <a:srgbClr val="0070C0"/>
                </a:solidFill>
                <a:latin typeface="Times New Roman" panose="02020603050405020304" pitchFamily="18" charset="0"/>
                <a:cs typeface="Times New Roman" panose="02020603050405020304" pitchFamily="18" charset="0"/>
              </a:rPr>
              <a:t>-A none </a:t>
            </a:r>
            <a:r>
              <a:rPr lang="zh-CN" altLang="en-US" sz="2200" b="1">
                <a:solidFill>
                  <a:srgbClr val="0070C0"/>
                </a:solidFill>
                <a:latin typeface="Times New Roman" panose="02020603050405020304" pitchFamily="18" charset="0"/>
                <a:cs typeface="Times New Roman" panose="02020603050405020304" pitchFamily="18" charset="0"/>
              </a:rPr>
              <a:t>关闭告警</a:t>
            </a:r>
            <a:endParaRPr lang="en-US" altLang="zh-CN" sz="2200" b="1">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7988575"/>
      </p:ext>
    </p:extLst>
  </p:cSld>
  <p:clrMapOvr>
    <a:masterClrMapping/>
  </p:clrMapOvr>
  <p:transition>
    <p:fad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647564" y="806622"/>
            <a:ext cx="6513512" cy="487363"/>
          </a:xfrm>
          <a:noFill/>
          <a:ln w="9525">
            <a:noFill/>
            <a:miter lim="800000"/>
          </a:ln>
        </p:spPr>
        <p:txBody>
          <a:bodyPr vert="horz" wrap="square" lIns="91440" tIns="45720" rIns="91440" bIns="45720" numCol="1" anchor="ctr" anchorCtr="0" compatLnSpc="1"/>
          <a:lstStyle/>
          <a:p>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Snort</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检测规则</a:t>
            </a:r>
            <a:endPar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75779" name="Rectangle 3"/>
          <p:cNvSpPr>
            <a:spLocks noGrp="1" noChangeArrowheads="1"/>
          </p:cNvSpPr>
          <p:nvPr>
            <p:ph type="body" idx="1"/>
          </p:nvPr>
        </p:nvSpPr>
        <p:spPr>
          <a:xfrm>
            <a:off x="510159" y="3178397"/>
            <a:ext cx="8359080" cy="1762741"/>
          </a:xfrm>
        </p:spPr>
        <p:txBody>
          <a:bodyPr/>
          <a:lstStyle/>
          <a:p>
            <a:pPr eaLnBrk="1" hangingPunct="1">
              <a:spcBef>
                <a:spcPct val="0"/>
              </a:spcBef>
            </a:pP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规则可以划分为两个逻辑部分：</a:t>
            </a: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2" eaLnBrk="1" hangingPunct="1">
              <a:spcBef>
                <a:spcPct val="0"/>
              </a:spcBef>
              <a:buFont typeface="Wingdings" panose="05000000000000000000" pitchFamily="2" charset="2"/>
              <a:buChar char="u"/>
            </a:pPr>
            <a:r>
              <a:rPr lang="zh-CN" altLang="en-US" sz="2800" b="1"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规则头（</a:t>
            </a:r>
            <a:r>
              <a:rPr lang="en-US" altLang="zh-CN" sz="2800" b="1"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Rule Header</a:t>
            </a:r>
            <a:r>
              <a:rPr lang="zh-CN" altLang="en-US" sz="2800" b="1"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en-US" altLang="zh-CN" sz="2800" b="1"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2" eaLnBrk="1" hangingPunct="1">
              <a:spcBef>
                <a:spcPct val="0"/>
              </a:spcBef>
              <a:buFont typeface="Wingdings" panose="05000000000000000000" pitchFamily="2" charset="2"/>
              <a:buChar char="u"/>
            </a:pPr>
            <a:r>
              <a:rPr lang="zh-CN" altLang="en-US" sz="2800" b="1"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规则选项（</a:t>
            </a:r>
            <a:r>
              <a:rPr lang="en-US" altLang="zh-CN" sz="2800" b="1"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Rule Options</a:t>
            </a:r>
            <a:r>
              <a:rPr lang="zh-CN" altLang="en-US" sz="2800" b="1"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eaLnBrk="1" hangingPunct="1">
              <a:buFont typeface="Wingdings" panose="05000000000000000000" pitchFamily="2" charset="2"/>
              <a:buNone/>
            </a:pP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143517" y="5229200"/>
            <a:ext cx="1714500" cy="800100"/>
          </a:xfrm>
          <a:prstGeom prst="rect">
            <a:avLst/>
          </a:prstGeom>
          <a:noFill/>
          <a:ln w="9525">
            <a:noFill/>
            <a:miter lim="800000"/>
            <a:headEnd/>
            <a:tailEnd/>
          </a:ln>
        </p:spPr>
      </p:pic>
      <p:sp>
        <p:nvSpPr>
          <p:cNvPr id="2" name="矩形 1"/>
          <p:cNvSpPr/>
          <p:nvPr/>
        </p:nvSpPr>
        <p:spPr>
          <a:xfrm>
            <a:off x="491337" y="1628800"/>
            <a:ext cx="8245255" cy="1384995"/>
          </a:xfrm>
          <a:prstGeom prst="rect">
            <a:avLst/>
          </a:prstGeom>
        </p:spPr>
        <p:txBody>
          <a:bodyPr wrap="square">
            <a:spAutoFit/>
          </a:bodyPr>
          <a:lstStyle/>
          <a:p>
            <a:pPr marL="342900" indent="-342900">
              <a:buClr>
                <a:srgbClr val="3399FF"/>
              </a:buClr>
              <a:buFont typeface="Wingdings" panose="05000000000000000000" pitchFamily="2" charset="2"/>
              <a:buChar char="v"/>
            </a:pPr>
            <a:r>
              <a:rPr lang="en-US" altLang="zh-CN" sz="28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Snort</a:t>
            </a:r>
            <a:r>
              <a:rPr lang="zh-CN" altLang="en-US" sz="28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使用了一种简单但是灵活、高效的规则描述语言来对检测规则进行表述</a:t>
            </a:r>
          </a:p>
          <a:p>
            <a:pPr marL="342900" indent="-342900">
              <a:buClr>
                <a:srgbClr val="3399FF"/>
              </a:buClr>
              <a:buFont typeface="Wingdings" panose="05000000000000000000" pitchFamily="2" charset="2"/>
              <a:buChar char="v"/>
            </a:pPr>
            <a:r>
              <a:rPr lang="zh-CN" altLang="en-US" sz="28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每一个</a:t>
            </a:r>
            <a:r>
              <a:rPr lang="en-US" altLang="zh-CN" sz="28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Snort</a:t>
            </a:r>
            <a:r>
              <a:rPr lang="zh-CN" altLang="en-US" sz="28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规则</a:t>
            </a:r>
            <a:r>
              <a:rPr lang="zh-CN" altLang="en-US" sz="28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的描述都必须在单独一行内完成</a:t>
            </a:r>
          </a:p>
        </p:txBody>
      </p:sp>
      <p:sp>
        <p:nvSpPr>
          <p:cNvPr id="3" name="矩形 2"/>
          <p:cNvSpPr/>
          <p:nvPr/>
        </p:nvSpPr>
        <p:spPr>
          <a:xfrm>
            <a:off x="-184104" y="4725144"/>
            <a:ext cx="9133144" cy="369332"/>
          </a:xfrm>
          <a:prstGeom prst="rect">
            <a:avLst/>
          </a:prstGeom>
        </p:spPr>
        <p:txBody>
          <a:bodyPr wrap="square">
            <a:spAutoFit/>
          </a:bodyPr>
          <a:lstStyle/>
          <a:p>
            <a:pPr lvl="1" eaLnBrk="1" hangingPunct="1"/>
            <a:r>
              <a:rPr lang="en-US" altLang="zh-CN"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alert </a:t>
            </a:r>
            <a:r>
              <a:rPr lang="en-US" altLang="zh-CN"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icmp</a:t>
            </a:r>
            <a:r>
              <a:rPr lang="en-US" altLang="zh-CN"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any any -&gt; $HOME_NET any </a:t>
            </a:r>
            <a:r>
              <a:rPr lang="en-US" altLang="zh-CN" b="1" dirty="0">
                <a:solidFill>
                  <a:srgbClr val="FF99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(msg: “</a:t>
            </a:r>
            <a:r>
              <a:rPr lang="en-US" altLang="zh-CN" b="1">
                <a:solidFill>
                  <a:srgbClr val="FF99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ICMP alert";</a:t>
            </a:r>
            <a:r>
              <a:rPr lang="en-US" altLang="zh-CN" b="1" dirty="0">
                <a:solidFill>
                  <a:srgbClr val="FF99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sid:1000001; rev: 1;)</a:t>
            </a:r>
          </a:p>
        </p:txBody>
      </p:sp>
    </p:spTree>
    <p:extLst>
      <p:ext uri="{BB962C8B-B14F-4D97-AF65-F5344CB8AC3E}">
        <p14:creationId xmlns:p14="http://schemas.microsoft.com/office/powerpoint/2010/main" val="2494278421"/>
      </p:ext>
    </p:extLst>
  </p:cSld>
  <p:clrMapOvr>
    <a:masterClrMapping/>
  </p:clrMapOvr>
  <p:transition>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3"/>
          <p:cNvSpPr>
            <a:spLocks noGrp="1" noChangeArrowheads="1"/>
          </p:cNvSpPr>
          <p:nvPr>
            <p:ph type="body" idx="1"/>
          </p:nvPr>
        </p:nvSpPr>
        <p:spPr>
          <a:xfrm>
            <a:off x="746334" y="1520788"/>
            <a:ext cx="8938233" cy="5148572"/>
          </a:xfrm>
        </p:spPr>
        <p:txBody>
          <a:bodyPr/>
          <a:lstStyle/>
          <a:p>
            <a:pPr eaLnBrk="1" hangingPunct="1">
              <a:lnSpc>
                <a:spcPct val="150000"/>
              </a:lnSpc>
              <a:spcBef>
                <a:spcPct val="0"/>
              </a:spcBef>
            </a:pP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规则动作</a:t>
            </a: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lnSpc>
                <a:spcPct val="150000"/>
              </a:lnSpc>
              <a:spcBef>
                <a:spcPct val="0"/>
              </a:spcBef>
            </a:pPr>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Alert</a:t>
            </a:r>
            <a:r>
              <a:rPr lang="zh-CN" altLang="en-US" sz="20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生成警报，并记录这个包</a:t>
            </a:r>
            <a:endPar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lnSpc>
                <a:spcPct val="150000"/>
              </a:lnSpc>
              <a:spcBef>
                <a:spcPct val="0"/>
              </a:spcBef>
            </a:pPr>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Log</a:t>
            </a:r>
            <a:r>
              <a:rPr lang="zh-CN" altLang="en-US" sz="20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记录包</a:t>
            </a:r>
            <a:endPar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lnSpc>
                <a:spcPct val="150000"/>
              </a:lnSpc>
              <a:spcBef>
                <a:spcPct val="0"/>
              </a:spcBef>
            </a:pPr>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Pass</a:t>
            </a:r>
            <a:r>
              <a:rPr lang="zh-CN" altLang="en-US" sz="20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丢弃包</a:t>
            </a:r>
            <a:endPar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lnSpc>
                <a:spcPct val="150000"/>
              </a:lnSpc>
              <a:spcBef>
                <a:spcPct val="0"/>
              </a:spcBef>
            </a:pPr>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activate</a:t>
            </a:r>
            <a:r>
              <a:rPr lang="zh-CN" altLang="en-US" sz="20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报警并激活另一条</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dynamic</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规则</a:t>
            </a:r>
            <a:endPar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lnSpc>
                <a:spcPct val="150000"/>
              </a:lnSpc>
              <a:spcBef>
                <a:spcPct val="0"/>
              </a:spcBef>
            </a:pPr>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dynamic</a:t>
            </a:r>
            <a:r>
              <a:rPr lang="zh-CN" altLang="en-US" sz="20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保持空闲直到被</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activate</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激活，然后作为</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log</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规则执行</a:t>
            </a:r>
          </a:p>
          <a:p>
            <a:pPr eaLnBrk="1" hangingPunct="1">
              <a:lnSpc>
                <a:spcPct val="150000"/>
              </a:lnSpc>
              <a:spcBef>
                <a:spcPct val="0"/>
              </a:spcBef>
            </a:pP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协议</a:t>
            </a:r>
          </a:p>
          <a:p>
            <a:pPr eaLnBrk="1" hangingPunct="1">
              <a:lnSpc>
                <a:spcPct val="150000"/>
              </a:lnSpc>
              <a:spcBef>
                <a:spcPct val="0"/>
              </a:spcBef>
            </a:pP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IP</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地址、端口号、方向操作符</a:t>
            </a:r>
          </a:p>
        </p:txBody>
      </p:sp>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6912260" y="5265204"/>
            <a:ext cx="1714500" cy="800100"/>
          </a:xfrm>
          <a:prstGeom prst="rect">
            <a:avLst/>
          </a:prstGeom>
          <a:noFill/>
          <a:ln w="9525">
            <a:noFill/>
            <a:miter lim="800000"/>
            <a:headEnd/>
            <a:tailEnd/>
          </a:ln>
        </p:spPr>
      </p:pic>
      <p:sp>
        <p:nvSpPr>
          <p:cNvPr id="7" name="Rectangle 2"/>
          <p:cNvSpPr txBox="1">
            <a:spLocks noChangeArrowheads="1"/>
          </p:cNvSpPr>
          <p:nvPr/>
        </p:nvSpPr>
        <p:spPr bwMode="gray">
          <a:xfrm>
            <a:off x="647564" y="800708"/>
            <a:ext cx="6513512" cy="4873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2pPr>
            <a:lvl3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3pPr>
            <a:lvl4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4pPr>
            <a:lvl5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5pPr>
            <a:lvl6pPr marL="4572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6pPr>
            <a:lvl7pPr marL="9144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7pPr>
            <a:lvl8pPr marL="13716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8pPr>
            <a:lvl9pPr marL="18288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9pPr>
          </a:lstStyle>
          <a:p>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检测规则</a:t>
            </a:r>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规则头</a:t>
            </a:r>
          </a:p>
        </p:txBody>
      </p:sp>
      <p:sp>
        <p:nvSpPr>
          <p:cNvPr id="6" name="矩形 5"/>
          <p:cNvSpPr/>
          <p:nvPr/>
        </p:nvSpPr>
        <p:spPr>
          <a:xfrm>
            <a:off x="3455876" y="1412776"/>
            <a:ext cx="5472608" cy="2246769"/>
          </a:xfrm>
          <a:prstGeom prst="rect">
            <a:avLst/>
          </a:prstGeom>
          <a:solidFill>
            <a:schemeClr val="bg1"/>
          </a:solidFill>
        </p:spPr>
        <p:txBody>
          <a:bodyPr wrap="square">
            <a:spAutoFit/>
          </a:bodyPr>
          <a:lstStyle/>
          <a:p>
            <a:pPr marL="742950" lvl="1" indent="-285750" eaLnBrk="1" hangingPunct="1">
              <a:buFont typeface="Arial" panose="020B0604020202020204" pitchFamily="34" charset="0"/>
              <a:buChar char="•"/>
            </a:pPr>
            <a:r>
              <a:rPr lang="en-US" altLang="zh-CN" sz="2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alert</a:t>
            </a:r>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0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icmp</a:t>
            </a:r>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any any -&gt; $HOME_NET any </a:t>
            </a:r>
            <a:r>
              <a:rPr lang="en-US" altLang="zh-CN" sz="2000" b="1" dirty="0">
                <a:solidFill>
                  <a:srgbClr val="FF99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(msg: “</a:t>
            </a:r>
            <a:r>
              <a:rPr lang="en-US" altLang="zh-CN" sz="2000" b="1">
                <a:solidFill>
                  <a:srgbClr val="FF99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ICMP alert";</a:t>
            </a:r>
            <a:r>
              <a:rPr lang="en-US" altLang="zh-CN" sz="2000" b="1" dirty="0">
                <a:solidFill>
                  <a:srgbClr val="FF99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sid:1000001; rev: </a:t>
            </a:r>
            <a:r>
              <a:rPr lang="en-US" altLang="zh-CN" sz="2000" b="1">
                <a:solidFill>
                  <a:srgbClr val="FF99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a:t>
            </a:r>
          </a:p>
          <a:p>
            <a:pPr marL="742950" lvl="1" indent="-285750">
              <a:buFont typeface="Arial" panose="020B0604020202020204" pitchFamily="34" charset="0"/>
              <a:buChar char="•"/>
            </a:pPr>
            <a:r>
              <a:rPr lang="en-US" altLang="zh-CN" sz="2000" b="1">
                <a:solidFill>
                  <a:schemeClr val="tx2">
                    <a:lumMod val="60000"/>
                    <a:lumOff val="4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log</a:t>
            </a:r>
            <a:r>
              <a:rPr lang="en-US" altLang="zh-CN" sz="2000" b="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icmp any any -&gt; $HOME_NET any </a:t>
            </a:r>
            <a:r>
              <a:rPr lang="en-US" altLang="zh-CN" sz="2000" b="1">
                <a:solidFill>
                  <a:srgbClr val="FF99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(msg: “ICMP alert";sid:1000001; rev: 1;)</a:t>
            </a:r>
          </a:p>
          <a:p>
            <a:pPr marL="742950" lvl="1" indent="-285750">
              <a:buFont typeface="Arial" panose="020B0604020202020204" pitchFamily="34" charset="0"/>
              <a:buChar char="•"/>
            </a:pPr>
            <a:r>
              <a:rPr lang="en-US" altLang="zh-CN" sz="2000" b="1">
                <a:solidFill>
                  <a:srgbClr val="92D05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pass</a:t>
            </a:r>
            <a:r>
              <a:rPr lang="en-US" altLang="zh-CN" sz="2000" b="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icmp any any -&gt; $HOME_NET any </a:t>
            </a:r>
            <a:r>
              <a:rPr lang="en-US" altLang="zh-CN" sz="2000" b="1">
                <a:solidFill>
                  <a:srgbClr val="FF99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(msg: “ICMP alert";sid:1000001; rev: 1;)</a:t>
            </a:r>
          </a:p>
          <a:p>
            <a:pPr marL="742950" lvl="1" indent="-285750" eaLnBrk="1" hangingPunct="1">
              <a:buFont typeface="Arial" panose="020B0604020202020204" pitchFamily="34" charset="0"/>
              <a:buChar char="•"/>
            </a:pPr>
            <a:endParaRPr lang="en-US" altLang="zh-CN" sz="2000" b="1" dirty="0">
              <a:solidFill>
                <a:srgbClr val="FF99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79018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3"/>
          <p:cNvSpPr>
            <a:spLocks noGrp="1" noChangeArrowheads="1"/>
          </p:cNvSpPr>
          <p:nvPr>
            <p:ph type="body" idx="1"/>
          </p:nvPr>
        </p:nvSpPr>
        <p:spPr>
          <a:xfrm>
            <a:off x="467544" y="1448780"/>
            <a:ext cx="8568444" cy="3069704"/>
          </a:xfrm>
        </p:spPr>
        <p:txBody>
          <a:bodyPr/>
          <a:lstStyle/>
          <a:p>
            <a:pPr eaLnBrk="1" hangingPunct="1">
              <a:lnSpc>
                <a:spcPct val="150000"/>
              </a:lnSpc>
            </a:pP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是</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系统入侵检测引擎的核心部分</a:t>
            </a:r>
          </a:p>
          <a:p>
            <a:pPr eaLnBrk="1" hangingPunct="1">
              <a:lnSpc>
                <a:spcPct val="150000"/>
              </a:lnSpc>
            </a:pP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所有的</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规则选项之间都使用</a:t>
            </a:r>
            <a:r>
              <a:rPr lang="zh-CN" altLang="en-US" b="1" dirty="0">
                <a:solidFill>
                  <a:srgbClr val="FF99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分号</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来分离</a:t>
            </a:r>
          </a:p>
          <a:p>
            <a:pPr eaLnBrk="1" hangingPunct="1">
              <a:lnSpc>
                <a:spcPct val="150000"/>
              </a:lnSpc>
            </a:pP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规则选项中的关键字与选项参数之间使用</a:t>
            </a:r>
            <a:r>
              <a:rPr lang="zh-CN" altLang="en-US" b="1" dirty="0">
                <a:solidFill>
                  <a:srgbClr val="FF99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冒号</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隔离</a:t>
            </a:r>
          </a:p>
          <a:p>
            <a:pPr eaLnBrk="1" hangingPunct="1">
              <a:lnSpc>
                <a:spcPct val="150000"/>
              </a:lnSpc>
            </a:pP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当</a:t>
            </a:r>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前有四十二种</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关</a:t>
            </a:r>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键字</a:t>
            </a:r>
            <a:endPar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eaLnBrk="1" hangingPunct="1"/>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236296" y="5296773"/>
            <a:ext cx="1714500" cy="800100"/>
          </a:xfrm>
          <a:prstGeom prst="rect">
            <a:avLst/>
          </a:prstGeom>
          <a:noFill/>
          <a:ln w="9525">
            <a:noFill/>
            <a:miter lim="800000"/>
            <a:headEnd/>
            <a:tailEnd/>
          </a:ln>
        </p:spPr>
      </p:pic>
      <p:sp>
        <p:nvSpPr>
          <p:cNvPr id="7" name="Rectangle 2"/>
          <p:cNvSpPr txBox="1">
            <a:spLocks noChangeArrowheads="1"/>
          </p:cNvSpPr>
          <p:nvPr/>
        </p:nvSpPr>
        <p:spPr bwMode="gray">
          <a:xfrm>
            <a:off x="647564" y="800708"/>
            <a:ext cx="6513512" cy="4873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2pPr>
            <a:lvl3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3pPr>
            <a:lvl4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4pPr>
            <a:lvl5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5pPr>
            <a:lvl6pPr marL="4572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6pPr>
            <a:lvl7pPr marL="9144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7pPr>
            <a:lvl8pPr marL="13716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8pPr>
            <a:lvl9pPr marL="18288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9pPr>
          </a:lstStyle>
          <a:p>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检测规则</a:t>
            </a:r>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规则选项</a:t>
            </a:r>
            <a:endPar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732028025"/>
      </p:ext>
    </p:extLst>
  </p:cSld>
  <p:clrMapOvr>
    <a:masterClrMapping/>
  </p:clrMapOvr>
  <p:transition>
    <p:fad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3"/>
          <p:cNvSpPr>
            <a:spLocks noGrp="1" noChangeArrowheads="1"/>
          </p:cNvSpPr>
          <p:nvPr>
            <p:ph type="body" idx="1"/>
          </p:nvPr>
        </p:nvSpPr>
        <p:spPr>
          <a:xfrm>
            <a:off x="564168" y="1449797"/>
            <a:ext cx="8568444" cy="4647076"/>
          </a:xfrm>
        </p:spPr>
        <p:txBody>
          <a:bodyPr/>
          <a:lstStyle/>
          <a:p>
            <a:pPr eaLnBrk="1" hangingPunct="1">
              <a:lnSpc>
                <a:spcPct val="150000"/>
              </a:lnSpc>
            </a:pP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常用规则选项关键字</a:t>
            </a: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msg</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：在报警和包日志中打印一个消息</a:t>
            </a: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flags</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：检查</a:t>
            </a:r>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tcp</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flags</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的值</a:t>
            </a: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dsize</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：检查包的载荷尺寸的值</a:t>
            </a: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content</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：在包的载荷中搜索指定的样式</a:t>
            </a: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resp</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：主动反应（切断连接等）</a:t>
            </a: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sid</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规则</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a:t>
            </a:r>
          </a:p>
          <a:p>
            <a:pPr lvl="1" eaLnBrk="1" hangingPunct="1"/>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classtype</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：规则类别标识</a:t>
            </a: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priority</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：规则优先级标识号</a:t>
            </a:r>
          </a:p>
          <a:p>
            <a:pPr eaLnBrk="1" hangingPunct="1"/>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236296" y="5296773"/>
            <a:ext cx="1714500" cy="800100"/>
          </a:xfrm>
          <a:prstGeom prst="rect">
            <a:avLst/>
          </a:prstGeom>
          <a:noFill/>
          <a:ln w="9525">
            <a:noFill/>
            <a:miter lim="800000"/>
            <a:headEnd/>
            <a:tailEnd/>
          </a:ln>
        </p:spPr>
      </p:pic>
      <p:sp>
        <p:nvSpPr>
          <p:cNvPr id="7" name="Rectangle 2"/>
          <p:cNvSpPr txBox="1">
            <a:spLocks noChangeArrowheads="1"/>
          </p:cNvSpPr>
          <p:nvPr/>
        </p:nvSpPr>
        <p:spPr bwMode="gray">
          <a:xfrm>
            <a:off x="647564" y="800708"/>
            <a:ext cx="6513512" cy="4873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2pPr>
            <a:lvl3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3pPr>
            <a:lvl4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4pPr>
            <a:lvl5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5pPr>
            <a:lvl6pPr marL="4572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6pPr>
            <a:lvl7pPr marL="9144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7pPr>
            <a:lvl8pPr marL="13716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8pPr>
            <a:lvl9pPr marL="18288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9pPr>
          </a:lstStyle>
          <a:p>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检测规则</a:t>
            </a:r>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规则选项</a:t>
            </a:r>
            <a:endPar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642447383"/>
      </p:ext>
    </p:extLst>
  </p:cSld>
  <p:clrMapOvr>
    <a:masterClrMapping/>
  </p:clrMapOvr>
  <p:transition>
    <p:fad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3"/>
          <p:cNvSpPr>
            <a:spLocks noGrp="1" noChangeArrowheads="1"/>
          </p:cNvSpPr>
          <p:nvPr>
            <p:ph type="body" idx="1"/>
          </p:nvPr>
        </p:nvSpPr>
        <p:spPr>
          <a:xfrm>
            <a:off x="564168" y="1449797"/>
            <a:ext cx="8568444" cy="4647076"/>
          </a:xfrm>
        </p:spPr>
        <p:txBody>
          <a:bodyPr/>
          <a:lstStyle/>
          <a:p>
            <a:pPr eaLnBrk="1" hangingPunct="1">
              <a:lnSpc>
                <a:spcPct val="150000"/>
              </a:lnSpc>
            </a:pP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常用规则选项关</a:t>
            </a:r>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键字</a:t>
            </a:r>
            <a:endPar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eaLnBrk="1" hangingPunct="1">
              <a:lnSpc>
                <a:spcPct val="150000"/>
              </a:lnSpc>
              <a:buNone/>
            </a:pP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endPar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msg</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：在报警和包日志中打印一个</a:t>
            </a:r>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消息</a:t>
            </a: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sid</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规则</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a:t>
            </a:r>
          </a:p>
          <a:p>
            <a:pPr lvl="1" eaLnBrk="1" hangingPunct="1"/>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classtype</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：规则类别标识</a:t>
            </a: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rev</a:t>
            </a:r>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规则版本号，标志规则修订</a:t>
            </a:r>
            <a:endPar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eaLnBrk="1" hangingPunct="1"/>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236296" y="5296773"/>
            <a:ext cx="1714500" cy="800100"/>
          </a:xfrm>
          <a:prstGeom prst="rect">
            <a:avLst/>
          </a:prstGeom>
          <a:noFill/>
          <a:ln w="9525">
            <a:noFill/>
            <a:miter lim="800000"/>
            <a:headEnd/>
            <a:tailEnd/>
          </a:ln>
        </p:spPr>
      </p:pic>
      <p:sp>
        <p:nvSpPr>
          <p:cNvPr id="7" name="Rectangle 2"/>
          <p:cNvSpPr txBox="1">
            <a:spLocks noChangeArrowheads="1"/>
          </p:cNvSpPr>
          <p:nvPr/>
        </p:nvSpPr>
        <p:spPr bwMode="gray">
          <a:xfrm>
            <a:off x="647564" y="800708"/>
            <a:ext cx="6513512" cy="4873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2pPr>
            <a:lvl3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3pPr>
            <a:lvl4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4pPr>
            <a:lvl5pPr algn="l" rtl="0" eaLnBrk="0" fontAlgn="base" hangingPunct="0">
              <a:spcBef>
                <a:spcPct val="0"/>
              </a:spcBef>
              <a:spcAft>
                <a:spcPct val="0"/>
              </a:spcAft>
              <a:defRPr sz="3200" b="1">
                <a:solidFill>
                  <a:srgbClr val="FFFFFF"/>
                </a:solidFill>
                <a:latin typeface="黑体" panose="02010609060101010101" pitchFamily="2" charset="-122"/>
                <a:ea typeface="黑体" panose="02010609060101010101" pitchFamily="2" charset="-122"/>
              </a:defRPr>
            </a:lvl5pPr>
            <a:lvl6pPr marL="4572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6pPr>
            <a:lvl7pPr marL="9144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7pPr>
            <a:lvl8pPr marL="13716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8pPr>
            <a:lvl9pPr marL="1828800" algn="l" rtl="0" fontAlgn="base">
              <a:spcBef>
                <a:spcPct val="0"/>
              </a:spcBef>
              <a:spcAft>
                <a:spcPct val="0"/>
              </a:spcAft>
              <a:defRPr sz="3200" b="1">
                <a:solidFill>
                  <a:srgbClr val="FFFFFF"/>
                </a:solidFill>
                <a:latin typeface="黑体" panose="02010609060101010101" pitchFamily="2" charset="-122"/>
                <a:ea typeface="黑体" panose="02010609060101010101" pitchFamily="2" charset="-122"/>
              </a:defRPr>
            </a:lvl9pPr>
          </a:lstStyle>
          <a:p>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检测规则</a:t>
            </a:r>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规则选项</a:t>
            </a:r>
            <a:endPar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6" name="矩形 5"/>
          <p:cNvSpPr/>
          <p:nvPr/>
        </p:nvSpPr>
        <p:spPr>
          <a:xfrm>
            <a:off x="179512" y="2276872"/>
            <a:ext cx="9133144" cy="830997"/>
          </a:xfrm>
          <a:prstGeom prst="rect">
            <a:avLst/>
          </a:prstGeom>
        </p:spPr>
        <p:txBody>
          <a:bodyPr wrap="square">
            <a:spAutoFit/>
          </a:bodyPr>
          <a:lstStyle/>
          <a:p>
            <a:pPr lvl="1" eaLnBrk="1" hangingPunct="1"/>
            <a:r>
              <a:rPr lang="en-US" altLang="zh-CN" sz="2400" b="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alert icmp any any -&gt; $HOME_NET any </a:t>
            </a:r>
            <a:r>
              <a:rPr lang="en-US" altLang="zh-CN" sz="2400" b="1">
                <a:solidFill>
                  <a:srgbClr val="FF99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a:solidFill>
                  <a:srgbClr val="3399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msg</a:t>
            </a:r>
            <a:r>
              <a:rPr lang="en-US" altLang="zh-CN" sz="2400" b="1">
                <a:solidFill>
                  <a:srgbClr val="FF99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“ICMP test”; </a:t>
            </a:r>
            <a:r>
              <a:rPr lang="en-US" altLang="zh-CN" sz="2400" b="1">
                <a:solidFill>
                  <a:srgbClr val="3399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classtype</a:t>
            </a:r>
            <a:r>
              <a:rPr lang="en-US" altLang="zh-CN" sz="2400" b="1">
                <a:solidFill>
                  <a:srgbClr val="FF99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:not-suspicious; </a:t>
            </a:r>
            <a:r>
              <a:rPr lang="en-US" altLang="zh-CN" sz="2400" b="1">
                <a:solidFill>
                  <a:srgbClr val="3399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sid</a:t>
            </a:r>
            <a:r>
              <a:rPr lang="en-US" altLang="zh-CN" sz="2400" b="1">
                <a:solidFill>
                  <a:srgbClr val="FF99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:1000001; </a:t>
            </a:r>
            <a:r>
              <a:rPr lang="en-US" altLang="zh-CN" sz="2400" b="1">
                <a:solidFill>
                  <a:srgbClr val="3399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rev</a:t>
            </a:r>
            <a:r>
              <a:rPr lang="en-US" altLang="zh-CN" sz="2400" b="1">
                <a:solidFill>
                  <a:srgbClr val="FF99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1;)</a:t>
            </a:r>
            <a:endParaRPr lang="en-US" altLang="zh-CN" sz="2400" b="1" dirty="0">
              <a:solidFill>
                <a:srgbClr val="FF99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254718"/>
      </p:ext>
    </p:extLst>
  </p:cSld>
  <p:clrMapOvr>
    <a:masterClrMapping/>
  </p:clrMapOvr>
  <p:transition>
    <p:fad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722784" y="944724"/>
            <a:ext cx="6513512" cy="487363"/>
          </a:xfrm>
          <a:noFill/>
          <a:ln w="9525">
            <a:noFill/>
            <a:miter lim="800000"/>
          </a:ln>
        </p:spPr>
        <p:txBody>
          <a:bodyPr vert="horz" wrap="square" lIns="91440" tIns="45720" rIns="91440" bIns="45720" numCol="1" anchor="ctr" anchorCtr="0" compatLnSpc="1"/>
          <a:lstStyle/>
          <a:p>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检测规则</a:t>
            </a:r>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规则更</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新</a:t>
            </a:r>
          </a:p>
        </p:txBody>
      </p:sp>
      <p:sp>
        <p:nvSpPr>
          <p:cNvPr id="80899" name="Rectangle 3"/>
          <p:cNvSpPr>
            <a:spLocks noGrp="1" noChangeArrowheads="1"/>
          </p:cNvSpPr>
          <p:nvPr>
            <p:ph type="body" idx="1"/>
          </p:nvPr>
        </p:nvSpPr>
        <p:spPr>
          <a:xfrm>
            <a:off x="503548" y="1690464"/>
            <a:ext cx="8343900" cy="4114800"/>
          </a:xfrm>
        </p:spPr>
        <p:txBody>
          <a:bodyPr/>
          <a:lstStyle/>
          <a:p>
            <a:pPr eaLnBrk="1" hangingPunct="1"/>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访问</a:t>
            </a:r>
            <a:r>
              <a:rPr lang="en-US" altLang="zh-CN"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官网</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更新新发布的规则。这些规则通常有一定的通用性和稳定性，但时效性稍弱。</a:t>
            </a:r>
          </a:p>
          <a:p>
            <a:pPr eaLnBrk="1" hangingPunct="1"/>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可以加入一些网络安全的</a:t>
            </a:r>
            <a:r>
              <a:rPr lang="zh-CN" altLang="en-US"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邮件列表</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，它会更及时地根据当前流行的安全漏洞，发布相应的攻击标识以及相应的检测规则  </a:t>
            </a:r>
          </a:p>
          <a:p>
            <a:pPr eaLnBrk="1" hangingPunct="1"/>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可以根据自己的环境定制自己的规则，或者根据自己发现的新攻击来编写相应的规则。 </a:t>
            </a:r>
          </a:p>
        </p:txBody>
      </p:sp>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116309" y="5235538"/>
            <a:ext cx="1714500" cy="800100"/>
          </a:xfrm>
          <a:prstGeom prst="rect">
            <a:avLst/>
          </a:prstGeom>
          <a:noFill/>
          <a:ln w="9525">
            <a:noFill/>
            <a:miter lim="800000"/>
            <a:headEnd/>
            <a:tailEnd/>
          </a:ln>
        </p:spPr>
      </p:pic>
    </p:spTree>
    <p:extLst>
      <p:ext uri="{BB962C8B-B14F-4D97-AF65-F5344CB8AC3E}">
        <p14:creationId xmlns:p14="http://schemas.microsoft.com/office/powerpoint/2010/main" val="1170595816"/>
      </p:ext>
    </p:extLst>
  </p:cSld>
  <p:clrMapOvr>
    <a:masterClrMapping/>
  </p:clrMapOvr>
  <p:transition>
    <p:fade/>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236296" y="5121188"/>
            <a:ext cx="1714500" cy="936104"/>
          </a:xfrm>
          <a:prstGeom prst="rect">
            <a:avLst/>
          </a:prstGeom>
          <a:noFill/>
          <a:ln w="9525">
            <a:noFill/>
            <a:miter lim="800000"/>
            <a:headEnd/>
            <a:tailEnd/>
          </a:ln>
        </p:spPr>
      </p:pic>
      <p:sp>
        <p:nvSpPr>
          <p:cNvPr id="59394" name="Rectangle 2"/>
          <p:cNvSpPr>
            <a:spLocks noGrp="1" noChangeArrowheads="1"/>
          </p:cNvSpPr>
          <p:nvPr>
            <p:ph type="title"/>
          </p:nvPr>
        </p:nvSpPr>
        <p:spPr>
          <a:xfrm>
            <a:off x="647564" y="811807"/>
            <a:ext cx="6513512" cy="487363"/>
          </a:xfrm>
          <a:noFill/>
          <a:ln w="9525">
            <a:noFill/>
            <a:miter lim="800000"/>
          </a:ln>
        </p:spPr>
        <p:txBody>
          <a:bodyPr vert="horz" wrap="square" lIns="91440" tIns="45720" rIns="91440" bIns="45720" numCol="1" anchor="ctr" anchorCtr="0" compatLnSpc="1"/>
          <a:lstStyle/>
          <a:p>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Snort</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检测</a:t>
            </a:r>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-ICMP</a:t>
            </a:r>
            <a:endPar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5" name="Rectangle 3"/>
          <p:cNvSpPr txBox="1">
            <a:spLocks noChangeArrowheads="1"/>
          </p:cNvSpPr>
          <p:nvPr/>
        </p:nvSpPr>
        <p:spPr bwMode="gray">
          <a:xfrm>
            <a:off x="647564" y="1556792"/>
            <a:ext cx="8136904" cy="3681772"/>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3399FF"/>
              </a:buClr>
              <a:buFont typeface="Wingdings" panose="05000000000000000000"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9900"/>
              </a:buClr>
              <a:buFont typeface="Wingdings" panose="05000000000000000000" pitchFamily="2" charset="2"/>
              <a:buChar char="§"/>
              <a:defRPr sz="2600">
                <a:solidFill>
                  <a:schemeClr val="tx1"/>
                </a:solidFill>
                <a:latin typeface="+mn-lt"/>
                <a:ea typeface="+mn-ea"/>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defRPr>
            </a:lvl5pPr>
            <a:lvl6pPr marL="2514600" indent="-228600" algn="l" rtl="0" fontAlgn="base">
              <a:spcBef>
                <a:spcPct val="20000"/>
              </a:spcBef>
              <a:spcAft>
                <a:spcPct val="0"/>
              </a:spcAft>
              <a:buChar char="»"/>
              <a:defRPr sz="2000">
                <a:solidFill>
                  <a:schemeClr val="tx1"/>
                </a:solidFill>
                <a:latin typeface="Arial" panose="020B0604020202020204" pitchFamily="34" charset="0"/>
                <a:ea typeface="+mn-ea"/>
              </a:defRPr>
            </a:lvl6pPr>
            <a:lvl7pPr marL="2971800" indent="-228600" algn="l" rtl="0" fontAlgn="base">
              <a:spcBef>
                <a:spcPct val="20000"/>
              </a:spcBef>
              <a:spcAft>
                <a:spcPct val="0"/>
              </a:spcAft>
              <a:buChar char="»"/>
              <a:defRPr sz="2000">
                <a:solidFill>
                  <a:schemeClr val="tx1"/>
                </a:solidFill>
                <a:latin typeface="Arial" panose="020B0604020202020204" pitchFamily="34" charset="0"/>
                <a:ea typeface="+mn-ea"/>
              </a:defRPr>
            </a:lvl7pPr>
            <a:lvl8pPr marL="3429000" indent="-228600" algn="l" rtl="0" fontAlgn="base">
              <a:spcBef>
                <a:spcPct val="20000"/>
              </a:spcBef>
              <a:spcAft>
                <a:spcPct val="0"/>
              </a:spcAft>
              <a:buChar char="»"/>
              <a:defRPr sz="2000">
                <a:solidFill>
                  <a:schemeClr val="tx1"/>
                </a:solidFill>
                <a:latin typeface="Arial" panose="020B0604020202020204" pitchFamily="34" charset="0"/>
                <a:ea typeface="+mn-ea"/>
              </a:defRPr>
            </a:lvl8pPr>
            <a:lvl9pPr marL="3886200" indent="-228600" algn="l" rtl="0" fontAlgn="base">
              <a:spcBef>
                <a:spcPct val="20000"/>
              </a:spcBef>
              <a:spcAft>
                <a:spcPct val="0"/>
              </a:spcAft>
              <a:buChar char="»"/>
              <a:defRPr sz="2000">
                <a:solidFill>
                  <a:schemeClr val="tx1"/>
                </a:solidFill>
                <a:latin typeface="Arial" panose="020B0604020202020204" pitchFamily="34" charset="0"/>
                <a:ea typeface="+mn-ea"/>
              </a:defRPr>
            </a:lvl9pPr>
          </a:lstStyle>
          <a:p>
            <a:pPr eaLnBrk="1" hangingPunct="1"/>
            <a:r>
              <a:rPr lang="en-US" altLang="zh-CN"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编写规则 </a:t>
            </a:r>
            <a:r>
              <a:rPr lang="en-US" altLang="zh-CN" b="1" kern="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local.rules</a:t>
            </a:r>
            <a:endParaRPr lang="en-US" altLang="zh-CN"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en-US" altLang="zh-CN"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alert </a:t>
            </a:r>
            <a:r>
              <a:rPr lang="en-US" altLang="zh-CN" b="1" kern="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icmp</a:t>
            </a:r>
            <a:r>
              <a:rPr lang="en-US" altLang="zh-CN"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any any -&gt; $HOME_NET any (msg: “ICMP ping package test"; sid:1; rev: 1;)</a:t>
            </a:r>
          </a:p>
          <a:p>
            <a:pPr lvl="1" eaLnBrk="1" hangingPunct="1"/>
            <a:endParaRPr lang="en-US" altLang="zh-CN"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endParaRPr lang="en-US" altLang="zh-CN"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eaLnBrk="1" hangingPunct="1"/>
            <a:r>
              <a:rPr lang="en-US" altLang="zh-CN"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启动</a:t>
            </a:r>
            <a:r>
              <a:rPr lang="en-US" altLang="zh-CN"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控制台检测</a:t>
            </a:r>
            <a:endParaRPr lang="en-US" altLang="zh-CN"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en-US" altLang="zh-CN"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snort -A console -q -u snort -g snort -c /</a:t>
            </a:r>
            <a:r>
              <a:rPr lang="en-US" altLang="zh-CN" b="1" kern="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etc</a:t>
            </a:r>
            <a:r>
              <a:rPr lang="en-US" altLang="zh-CN"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en-US" altLang="zh-CN" b="1" kern="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snort.conf</a:t>
            </a:r>
            <a:r>
              <a:rPr lang="en-US" altLang="zh-CN"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b="1" kern="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a:t>
            </a:r>
            <a:r>
              <a:rPr lang="en-US" altLang="zh-CN"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b="1" kern="0"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ens160</a:t>
            </a:r>
          </a:p>
          <a:p>
            <a:pPr eaLnBrk="1" hangingPunct="1"/>
            <a:endParaRPr lang="en-US" altLang="zh-CN"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eaLnBrk="1" hangingPunct="1">
              <a:buFont typeface="Wingdings" panose="05000000000000000000" pitchFamily="2" charset="2"/>
              <a:buNone/>
            </a:pPr>
            <a:endParaRPr lang="en-US" altLang="zh-CN"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eaLnBrk="1" hangingPunct="1">
              <a:buFont typeface="Wingdings" panose="05000000000000000000" pitchFamily="2" charset="2"/>
              <a:buNone/>
            </a:pPr>
            <a:endParaRPr lang="zh-CN" altLang="en-US"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7" name="图片 6"/>
          <p:cNvPicPr>
            <a:picLocks noChangeAspect="1"/>
          </p:cNvPicPr>
          <p:nvPr/>
        </p:nvPicPr>
        <p:blipFill>
          <a:blip r:embed="rId5"/>
          <a:stretch>
            <a:fillRect/>
          </a:stretch>
        </p:blipFill>
        <p:spPr>
          <a:xfrm>
            <a:off x="1277491" y="2992865"/>
            <a:ext cx="6877050" cy="809625"/>
          </a:xfrm>
          <a:prstGeom prst="rect">
            <a:avLst/>
          </a:prstGeom>
        </p:spPr>
      </p:pic>
      <p:pic>
        <p:nvPicPr>
          <p:cNvPr id="8" name="图片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850649" y="931317"/>
            <a:ext cx="433319" cy="301439"/>
          </a:xfrm>
          <a:prstGeom prst="rect">
            <a:avLst/>
          </a:prstGeom>
        </p:spPr>
      </p:pic>
    </p:spTree>
    <p:extLst>
      <p:ext uri="{BB962C8B-B14F-4D97-AF65-F5344CB8AC3E}">
        <p14:creationId xmlns:p14="http://schemas.microsoft.com/office/powerpoint/2010/main" val="3926101810"/>
      </p:ext>
    </p:extLst>
  </p:cSld>
  <p:clrMapOvr>
    <a:masterClrMapping/>
  </p:clrMapOvr>
  <p:transition>
    <p:fade/>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236296" y="5121188"/>
            <a:ext cx="1714500" cy="936104"/>
          </a:xfrm>
          <a:prstGeom prst="rect">
            <a:avLst/>
          </a:prstGeom>
          <a:noFill/>
          <a:ln w="9525">
            <a:noFill/>
            <a:miter lim="800000"/>
            <a:headEnd/>
            <a:tailEnd/>
          </a:ln>
        </p:spPr>
      </p:pic>
      <p:sp>
        <p:nvSpPr>
          <p:cNvPr id="59394" name="Rectangle 2"/>
          <p:cNvSpPr>
            <a:spLocks noGrp="1" noChangeArrowheads="1"/>
          </p:cNvSpPr>
          <p:nvPr>
            <p:ph type="title"/>
          </p:nvPr>
        </p:nvSpPr>
        <p:spPr>
          <a:xfrm>
            <a:off x="647564" y="811807"/>
            <a:ext cx="6513512" cy="487363"/>
          </a:xfrm>
          <a:noFill/>
          <a:ln w="9525">
            <a:noFill/>
            <a:miter lim="800000"/>
          </a:ln>
        </p:spPr>
        <p:txBody>
          <a:bodyPr vert="horz" wrap="square" lIns="91440" tIns="45720" rIns="91440" bIns="45720" numCol="1" anchor="ctr" anchorCtr="0" compatLnSpc="1"/>
          <a:lstStyle/>
          <a:p>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检测</a:t>
            </a:r>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-ICMP</a:t>
            </a:r>
            <a:endPar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5" name="Rectangle 3"/>
          <p:cNvSpPr txBox="1">
            <a:spLocks noChangeArrowheads="1"/>
          </p:cNvSpPr>
          <p:nvPr/>
        </p:nvSpPr>
        <p:spPr bwMode="gray">
          <a:xfrm>
            <a:off x="647564" y="1556792"/>
            <a:ext cx="8136904" cy="3681772"/>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3399FF"/>
              </a:buClr>
              <a:buFont typeface="Wingdings" panose="05000000000000000000"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9900"/>
              </a:buClr>
              <a:buFont typeface="Wingdings" panose="05000000000000000000" pitchFamily="2" charset="2"/>
              <a:buChar char="§"/>
              <a:defRPr sz="2600">
                <a:solidFill>
                  <a:schemeClr val="tx1"/>
                </a:solidFill>
                <a:latin typeface="+mn-lt"/>
                <a:ea typeface="+mn-ea"/>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defRPr>
            </a:lvl5pPr>
            <a:lvl6pPr marL="2514600" indent="-228600" algn="l" rtl="0" fontAlgn="base">
              <a:spcBef>
                <a:spcPct val="20000"/>
              </a:spcBef>
              <a:spcAft>
                <a:spcPct val="0"/>
              </a:spcAft>
              <a:buChar char="»"/>
              <a:defRPr sz="2000">
                <a:solidFill>
                  <a:schemeClr val="tx1"/>
                </a:solidFill>
                <a:latin typeface="Arial" panose="020B0604020202020204" pitchFamily="34" charset="0"/>
                <a:ea typeface="+mn-ea"/>
              </a:defRPr>
            </a:lvl6pPr>
            <a:lvl7pPr marL="2971800" indent="-228600" algn="l" rtl="0" fontAlgn="base">
              <a:spcBef>
                <a:spcPct val="20000"/>
              </a:spcBef>
              <a:spcAft>
                <a:spcPct val="0"/>
              </a:spcAft>
              <a:buChar char="»"/>
              <a:defRPr sz="2000">
                <a:solidFill>
                  <a:schemeClr val="tx1"/>
                </a:solidFill>
                <a:latin typeface="Arial" panose="020B0604020202020204" pitchFamily="34" charset="0"/>
                <a:ea typeface="+mn-ea"/>
              </a:defRPr>
            </a:lvl7pPr>
            <a:lvl8pPr marL="3429000" indent="-228600" algn="l" rtl="0" fontAlgn="base">
              <a:spcBef>
                <a:spcPct val="20000"/>
              </a:spcBef>
              <a:spcAft>
                <a:spcPct val="0"/>
              </a:spcAft>
              <a:buChar char="»"/>
              <a:defRPr sz="2000">
                <a:solidFill>
                  <a:schemeClr val="tx1"/>
                </a:solidFill>
                <a:latin typeface="Arial" panose="020B0604020202020204" pitchFamily="34" charset="0"/>
                <a:ea typeface="+mn-ea"/>
              </a:defRPr>
            </a:lvl8pPr>
            <a:lvl9pPr marL="3886200" indent="-228600" algn="l" rtl="0" fontAlgn="base">
              <a:spcBef>
                <a:spcPct val="20000"/>
              </a:spcBef>
              <a:spcAft>
                <a:spcPct val="0"/>
              </a:spcAft>
              <a:buChar char="»"/>
              <a:defRPr sz="2000">
                <a:solidFill>
                  <a:schemeClr val="tx1"/>
                </a:solidFill>
                <a:latin typeface="Arial" panose="020B0604020202020204" pitchFamily="34" charset="0"/>
                <a:ea typeface="+mn-ea"/>
              </a:defRPr>
            </a:lvl9pPr>
          </a:lstStyle>
          <a:p>
            <a:pPr eaLnBrk="1" hangingPunct="1"/>
            <a:r>
              <a:rPr lang="en-US" altLang="zh-CN"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ping snort</a:t>
            </a:r>
            <a:r>
              <a:rPr lang="zh-CN" altLang="en-US"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主机</a:t>
            </a:r>
            <a:endParaRPr lang="en-US" altLang="zh-CN"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eaLnBrk="1" hangingPunct="1"/>
            <a:endParaRPr lang="en-US" altLang="zh-CN"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eaLnBrk="1" hangingPunct="1">
              <a:buFont typeface="Wingdings" panose="05000000000000000000" pitchFamily="2" charset="2"/>
              <a:buNone/>
            </a:pPr>
            <a:endParaRPr lang="en-US" altLang="zh-CN"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eaLnBrk="1" hangingPunct="1">
              <a:buFont typeface="Wingdings" panose="05000000000000000000" pitchFamily="2" charset="2"/>
              <a:buNone/>
            </a:pPr>
            <a:endParaRPr lang="zh-CN" altLang="en-US"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5"/>
          <a:stretch>
            <a:fillRect/>
          </a:stretch>
        </p:blipFill>
        <p:spPr>
          <a:xfrm>
            <a:off x="1149328" y="2315569"/>
            <a:ext cx="7133375" cy="2164218"/>
          </a:xfrm>
          <a:prstGeom prst="rect">
            <a:avLst/>
          </a:prstGeom>
        </p:spPr>
      </p:pic>
    </p:spTree>
    <p:extLst>
      <p:ext uri="{BB962C8B-B14F-4D97-AF65-F5344CB8AC3E}">
        <p14:creationId xmlns:p14="http://schemas.microsoft.com/office/powerpoint/2010/main" val="241020808"/>
      </p:ext>
    </p:extLst>
  </p:cSld>
  <p:clrMapOvr>
    <a:masterClrMapping/>
  </p:clrMapOvr>
  <p:transition>
    <p:fade/>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236296" y="5121188"/>
            <a:ext cx="1714500" cy="936104"/>
          </a:xfrm>
          <a:prstGeom prst="rect">
            <a:avLst/>
          </a:prstGeom>
          <a:noFill/>
          <a:ln w="9525">
            <a:noFill/>
            <a:miter lim="800000"/>
            <a:headEnd/>
            <a:tailEnd/>
          </a:ln>
        </p:spPr>
      </p:pic>
      <p:sp>
        <p:nvSpPr>
          <p:cNvPr id="59394" name="Rectangle 2"/>
          <p:cNvSpPr>
            <a:spLocks noGrp="1" noChangeArrowheads="1"/>
          </p:cNvSpPr>
          <p:nvPr>
            <p:ph type="title"/>
          </p:nvPr>
        </p:nvSpPr>
        <p:spPr>
          <a:xfrm>
            <a:off x="647564" y="811807"/>
            <a:ext cx="6513512" cy="487363"/>
          </a:xfrm>
          <a:noFill/>
          <a:ln w="9525">
            <a:noFill/>
            <a:miter lim="800000"/>
          </a:ln>
        </p:spPr>
        <p:txBody>
          <a:bodyPr vert="horz" wrap="square" lIns="91440" tIns="45720" rIns="91440" bIns="45720" numCol="1" anchor="ctr" anchorCtr="0" compatLnSpc="1"/>
          <a:lstStyle/>
          <a:p>
            <a:r>
              <a:rPr lang="en-US" altLang="zh-CN" kern="1200">
                <a:solidFill>
                  <a:srgbClr val="0033CC"/>
                </a:solidFill>
                <a:effectLst>
                  <a:outerShdw blurRad="38100" dist="38100" dir="2700000" algn="tl" rotWithShape="0">
                    <a:srgbClr val="000000">
                      <a:alpha val="43000"/>
                    </a:srgbClr>
                  </a:outerShdw>
                </a:effectLst>
                <a:latin typeface="Times New Roman" panose="02020603050405020304" pitchFamily="18" charset="0"/>
                <a:ea typeface="黑体" panose="02010609060101010101" pitchFamily="49" charset="-122"/>
                <a:cs typeface="Times New Roman" panose="02020603050405020304" pitchFamily="18" charset="0"/>
              </a:rPr>
              <a:t>Snort</a:t>
            </a:r>
            <a:r>
              <a:rPr lang="zh-CN" altLang="zh-CN" kern="1200">
                <a:solidFill>
                  <a:srgbClr val="0033CC"/>
                </a:solidFill>
                <a:effectLst>
                  <a:outerShdw blurRad="38100" dist="38100" dir="2700000" algn="tl" rotWithShape="0">
                    <a:srgbClr val="000000">
                      <a:alpha val="43000"/>
                    </a:srgbClr>
                  </a:outerShdw>
                </a:effectLst>
                <a:latin typeface="Times New Roman" panose="02020603050405020304" pitchFamily="18" charset="0"/>
                <a:ea typeface="黑体" panose="02010609060101010101" pitchFamily="49" charset="-122"/>
                <a:cs typeface="Times New Roman" panose="02020603050405020304" pitchFamily="18" charset="0"/>
              </a:rPr>
              <a:t>检测</a:t>
            </a:r>
            <a:r>
              <a:rPr lang="en-US" altLang="zh-CN" kern="1200">
                <a:solidFill>
                  <a:srgbClr val="0033CC"/>
                </a:solidFill>
                <a:effectLst>
                  <a:outerShdw blurRad="38100" dist="38100" dir="2700000" algn="tl" rotWithShape="0">
                    <a:srgbClr val="000000">
                      <a:alpha val="43000"/>
                    </a:srgbClr>
                  </a:outerShdw>
                </a:effectLst>
                <a:latin typeface="Times New Roman" panose="02020603050405020304" pitchFamily="18" charset="0"/>
                <a:ea typeface="黑体" panose="02010609060101010101" pitchFamily="49" charset="-122"/>
                <a:cs typeface="Times New Roman" panose="02020603050405020304" pitchFamily="18" charset="0"/>
              </a:rPr>
              <a:t>-ICMP</a:t>
            </a:r>
            <a:endPar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5" name="Rectangle 3"/>
          <p:cNvSpPr txBox="1">
            <a:spLocks noChangeArrowheads="1"/>
          </p:cNvSpPr>
          <p:nvPr/>
        </p:nvSpPr>
        <p:spPr bwMode="gray">
          <a:xfrm>
            <a:off x="647564" y="1556792"/>
            <a:ext cx="8136904" cy="3681772"/>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3399FF"/>
              </a:buClr>
              <a:buFont typeface="Wingdings" panose="05000000000000000000"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9900"/>
              </a:buClr>
              <a:buFont typeface="Wingdings" panose="05000000000000000000" pitchFamily="2" charset="2"/>
              <a:buChar char="§"/>
              <a:defRPr sz="2600">
                <a:solidFill>
                  <a:schemeClr val="tx1"/>
                </a:solidFill>
                <a:latin typeface="+mn-lt"/>
                <a:ea typeface="+mn-ea"/>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defRPr>
            </a:lvl5pPr>
            <a:lvl6pPr marL="2514600" indent="-228600" algn="l" rtl="0" fontAlgn="base">
              <a:spcBef>
                <a:spcPct val="20000"/>
              </a:spcBef>
              <a:spcAft>
                <a:spcPct val="0"/>
              </a:spcAft>
              <a:buChar char="»"/>
              <a:defRPr sz="2000">
                <a:solidFill>
                  <a:schemeClr val="tx1"/>
                </a:solidFill>
                <a:latin typeface="Arial" panose="020B0604020202020204" pitchFamily="34" charset="0"/>
                <a:ea typeface="+mn-ea"/>
              </a:defRPr>
            </a:lvl6pPr>
            <a:lvl7pPr marL="2971800" indent="-228600" algn="l" rtl="0" fontAlgn="base">
              <a:spcBef>
                <a:spcPct val="20000"/>
              </a:spcBef>
              <a:spcAft>
                <a:spcPct val="0"/>
              </a:spcAft>
              <a:buChar char="»"/>
              <a:defRPr sz="2000">
                <a:solidFill>
                  <a:schemeClr val="tx1"/>
                </a:solidFill>
                <a:latin typeface="Arial" panose="020B0604020202020204" pitchFamily="34" charset="0"/>
                <a:ea typeface="+mn-ea"/>
              </a:defRPr>
            </a:lvl7pPr>
            <a:lvl8pPr marL="3429000" indent="-228600" algn="l" rtl="0" fontAlgn="base">
              <a:spcBef>
                <a:spcPct val="20000"/>
              </a:spcBef>
              <a:spcAft>
                <a:spcPct val="0"/>
              </a:spcAft>
              <a:buChar char="»"/>
              <a:defRPr sz="2000">
                <a:solidFill>
                  <a:schemeClr val="tx1"/>
                </a:solidFill>
                <a:latin typeface="Arial" panose="020B0604020202020204" pitchFamily="34" charset="0"/>
                <a:ea typeface="+mn-ea"/>
              </a:defRPr>
            </a:lvl8pPr>
            <a:lvl9pPr marL="3886200" indent="-228600" algn="l" rtl="0" fontAlgn="base">
              <a:spcBef>
                <a:spcPct val="20000"/>
              </a:spcBef>
              <a:spcAft>
                <a:spcPct val="0"/>
              </a:spcAft>
              <a:buChar char="»"/>
              <a:defRPr sz="2000">
                <a:solidFill>
                  <a:schemeClr val="tx1"/>
                </a:solidFill>
                <a:latin typeface="Arial" panose="020B0604020202020204" pitchFamily="34" charset="0"/>
                <a:ea typeface="+mn-ea"/>
              </a:defRPr>
            </a:lvl9pPr>
          </a:lstStyle>
          <a:p>
            <a:pPr eaLnBrk="1" hangingPunct="1"/>
            <a:r>
              <a:rPr lang="en-US" altLang="zh-CN"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检测到</a:t>
            </a:r>
            <a:r>
              <a:rPr lang="en-US" altLang="zh-CN"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ICMP</a:t>
            </a:r>
            <a:r>
              <a:rPr lang="zh-CN" altLang="en-US"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包</a:t>
            </a:r>
            <a:endParaRPr lang="en-US" altLang="zh-CN"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eaLnBrk="1" hangingPunct="1">
              <a:buFont typeface="Wingdings" panose="05000000000000000000" pitchFamily="2" charset="2"/>
              <a:buNone/>
            </a:pPr>
            <a:endParaRPr lang="en-US" altLang="zh-CN"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eaLnBrk="1" hangingPunct="1">
              <a:buFont typeface="Wingdings" panose="05000000000000000000" pitchFamily="2" charset="2"/>
              <a:buNone/>
            </a:pPr>
            <a:endParaRPr lang="zh-CN" altLang="en-US"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5"/>
          <a:stretch>
            <a:fillRect/>
          </a:stretch>
        </p:blipFill>
        <p:spPr>
          <a:xfrm>
            <a:off x="1271778" y="2209122"/>
            <a:ext cx="6888476" cy="2828016"/>
          </a:xfrm>
          <a:prstGeom prst="rect">
            <a:avLst/>
          </a:prstGeom>
        </p:spPr>
      </p:pic>
    </p:spTree>
    <p:extLst>
      <p:ext uri="{BB962C8B-B14F-4D97-AF65-F5344CB8AC3E}">
        <p14:creationId xmlns:p14="http://schemas.microsoft.com/office/powerpoint/2010/main" val="3834091746"/>
      </p:ext>
    </p:extLst>
  </p:cSld>
  <p:clrMapOvr>
    <a:masterClrMapping/>
  </p:clrMapOvr>
  <p:transition>
    <p:fade/>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236296" y="5121188"/>
            <a:ext cx="1714500" cy="936104"/>
          </a:xfrm>
          <a:prstGeom prst="rect">
            <a:avLst/>
          </a:prstGeom>
          <a:noFill/>
          <a:ln w="9525">
            <a:noFill/>
            <a:miter lim="800000"/>
            <a:headEnd/>
            <a:tailEnd/>
          </a:ln>
        </p:spPr>
      </p:pic>
      <p:sp>
        <p:nvSpPr>
          <p:cNvPr id="59394" name="Rectangle 2"/>
          <p:cNvSpPr>
            <a:spLocks noGrp="1" noChangeArrowheads="1"/>
          </p:cNvSpPr>
          <p:nvPr>
            <p:ph type="title"/>
          </p:nvPr>
        </p:nvSpPr>
        <p:spPr>
          <a:xfrm>
            <a:off x="647564" y="811807"/>
            <a:ext cx="6513512" cy="487363"/>
          </a:xfrm>
          <a:noFill/>
          <a:ln w="9525">
            <a:noFill/>
            <a:miter lim="800000"/>
          </a:ln>
        </p:spPr>
        <p:txBody>
          <a:bodyPr vert="horz" wrap="square" lIns="91440" tIns="45720" rIns="91440" bIns="45720" numCol="1" anchor="ctr" anchorCtr="0" compatLnSpc="1"/>
          <a:lstStyle/>
          <a:p>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检测</a:t>
            </a:r>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-TCP</a:t>
            </a:r>
            <a:endPar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5" name="Rectangle 3"/>
          <p:cNvSpPr txBox="1">
            <a:spLocks noChangeArrowheads="1"/>
          </p:cNvSpPr>
          <p:nvPr/>
        </p:nvSpPr>
        <p:spPr bwMode="gray">
          <a:xfrm>
            <a:off x="647564" y="1556792"/>
            <a:ext cx="8136904" cy="3681772"/>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3399FF"/>
              </a:buClr>
              <a:buFont typeface="Wingdings" panose="05000000000000000000"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9900"/>
              </a:buClr>
              <a:buFont typeface="Wingdings" panose="05000000000000000000" pitchFamily="2" charset="2"/>
              <a:buChar char="§"/>
              <a:defRPr sz="2600">
                <a:solidFill>
                  <a:schemeClr val="tx1"/>
                </a:solidFill>
                <a:latin typeface="+mn-lt"/>
                <a:ea typeface="+mn-ea"/>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defRPr>
            </a:lvl5pPr>
            <a:lvl6pPr marL="2514600" indent="-228600" algn="l" rtl="0" fontAlgn="base">
              <a:spcBef>
                <a:spcPct val="20000"/>
              </a:spcBef>
              <a:spcAft>
                <a:spcPct val="0"/>
              </a:spcAft>
              <a:buChar char="»"/>
              <a:defRPr sz="2000">
                <a:solidFill>
                  <a:schemeClr val="tx1"/>
                </a:solidFill>
                <a:latin typeface="Arial" panose="020B0604020202020204" pitchFamily="34" charset="0"/>
                <a:ea typeface="+mn-ea"/>
              </a:defRPr>
            </a:lvl6pPr>
            <a:lvl7pPr marL="2971800" indent="-228600" algn="l" rtl="0" fontAlgn="base">
              <a:spcBef>
                <a:spcPct val="20000"/>
              </a:spcBef>
              <a:spcAft>
                <a:spcPct val="0"/>
              </a:spcAft>
              <a:buChar char="»"/>
              <a:defRPr sz="2000">
                <a:solidFill>
                  <a:schemeClr val="tx1"/>
                </a:solidFill>
                <a:latin typeface="Arial" panose="020B0604020202020204" pitchFamily="34" charset="0"/>
                <a:ea typeface="+mn-ea"/>
              </a:defRPr>
            </a:lvl7pPr>
            <a:lvl8pPr marL="3429000" indent="-228600" algn="l" rtl="0" fontAlgn="base">
              <a:spcBef>
                <a:spcPct val="20000"/>
              </a:spcBef>
              <a:spcAft>
                <a:spcPct val="0"/>
              </a:spcAft>
              <a:buChar char="»"/>
              <a:defRPr sz="2000">
                <a:solidFill>
                  <a:schemeClr val="tx1"/>
                </a:solidFill>
                <a:latin typeface="Arial" panose="020B0604020202020204" pitchFamily="34" charset="0"/>
                <a:ea typeface="+mn-ea"/>
              </a:defRPr>
            </a:lvl8pPr>
            <a:lvl9pPr marL="3886200" indent="-228600" algn="l" rtl="0" fontAlgn="base">
              <a:spcBef>
                <a:spcPct val="20000"/>
              </a:spcBef>
              <a:spcAft>
                <a:spcPct val="0"/>
              </a:spcAft>
              <a:buChar char="»"/>
              <a:defRPr sz="2000">
                <a:solidFill>
                  <a:schemeClr val="tx1"/>
                </a:solidFill>
                <a:latin typeface="Arial" panose="020B0604020202020204" pitchFamily="34" charset="0"/>
                <a:ea typeface="+mn-ea"/>
              </a:defRPr>
            </a:lvl9pPr>
          </a:lstStyle>
          <a:p>
            <a:pPr eaLnBrk="1" hangingPunct="1"/>
            <a:r>
              <a:rPr lang="en-US" altLang="zh-CN"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编写规则 </a:t>
            </a:r>
            <a:r>
              <a:rPr lang="en-US" altLang="zh-CN" b="1" kern="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local.rules</a:t>
            </a:r>
            <a:endParaRPr lang="en-US" altLang="zh-CN"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en-US" altLang="zh-CN"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alert </a:t>
            </a:r>
            <a:r>
              <a:rPr lang="en-US" altLang="zh-CN" b="1" kern="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tcp</a:t>
            </a:r>
            <a:r>
              <a:rPr lang="en-US" altLang="zh-CN"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any any -&gt; $HOME_NET 80 (msg: “Web Access test"; sid:1; rev: 1;)</a:t>
            </a:r>
          </a:p>
          <a:p>
            <a:pPr eaLnBrk="1" hangingPunct="1"/>
            <a:r>
              <a:rPr lang="en-US" altLang="zh-CN"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启动</a:t>
            </a:r>
            <a:r>
              <a:rPr lang="en-US" altLang="zh-CN"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控制台检测</a:t>
            </a:r>
            <a:endParaRPr lang="en-US" altLang="zh-CN"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en-US" altLang="zh-CN"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snort -A console -q -u snort -g snort -c /</a:t>
            </a:r>
            <a:r>
              <a:rPr lang="en-US" altLang="zh-CN" b="1" kern="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etc</a:t>
            </a:r>
            <a:r>
              <a:rPr lang="en-US" altLang="zh-CN"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en-US" altLang="zh-CN" b="1" kern="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snort.conf</a:t>
            </a:r>
            <a:r>
              <a:rPr lang="en-US" altLang="zh-CN"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b="1" kern="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a:t>
            </a:r>
            <a:r>
              <a:rPr lang="en-US" altLang="zh-CN"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b="1" kern="0"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ens160</a:t>
            </a:r>
          </a:p>
          <a:p>
            <a:pPr eaLnBrk="1" hangingPunct="1"/>
            <a:r>
              <a:rPr lang="en-US" altLang="zh-CN"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浏览器访问</a:t>
            </a:r>
            <a:r>
              <a:rPr lang="en-US" altLang="zh-CN"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主机</a:t>
            </a:r>
            <a:r>
              <a:rPr lang="en-US" altLang="zh-CN"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80</a:t>
            </a:r>
            <a:r>
              <a:rPr lang="zh-CN" altLang="en-US"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端口</a:t>
            </a:r>
            <a:endParaRPr lang="en-US" altLang="zh-CN"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eaLnBrk="1" hangingPunct="1">
              <a:buFont typeface="Wingdings" panose="05000000000000000000" pitchFamily="2" charset="2"/>
              <a:buNone/>
            </a:pPr>
            <a:endParaRPr lang="en-US" altLang="zh-CN"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eaLnBrk="1" hangingPunct="1">
              <a:buFont typeface="Wingdings" panose="05000000000000000000" pitchFamily="2" charset="2"/>
              <a:buNone/>
            </a:pPr>
            <a:endParaRPr lang="zh-CN" altLang="en-US"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5"/>
          <a:stretch>
            <a:fillRect/>
          </a:stretch>
        </p:blipFill>
        <p:spPr>
          <a:xfrm>
            <a:off x="1457962" y="4972824"/>
            <a:ext cx="3582090" cy="904448"/>
          </a:xfrm>
          <a:prstGeom prst="rect">
            <a:avLst/>
          </a:prstGeom>
        </p:spPr>
      </p:pic>
      <p:pic>
        <p:nvPicPr>
          <p:cNvPr id="2" name="图片 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598621" y="931317"/>
            <a:ext cx="433319" cy="301439"/>
          </a:xfrm>
          <a:prstGeom prst="rect">
            <a:avLst/>
          </a:prstGeom>
        </p:spPr>
      </p:pic>
    </p:spTree>
    <p:extLst>
      <p:ext uri="{BB962C8B-B14F-4D97-AF65-F5344CB8AC3E}">
        <p14:creationId xmlns:p14="http://schemas.microsoft.com/office/powerpoint/2010/main" val="4044738443"/>
      </p:ext>
    </p:extLst>
  </p:cSld>
  <p:clrMapOvr>
    <a:masterClrMapping/>
  </p:clrMapOvr>
  <p:transition>
    <p:fad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236296" y="5121188"/>
            <a:ext cx="1714500" cy="936104"/>
          </a:xfrm>
          <a:prstGeom prst="rect">
            <a:avLst/>
          </a:prstGeom>
          <a:noFill/>
          <a:ln w="9525">
            <a:noFill/>
            <a:miter lim="800000"/>
            <a:headEnd/>
            <a:tailEnd/>
          </a:ln>
        </p:spPr>
      </p:pic>
      <p:sp>
        <p:nvSpPr>
          <p:cNvPr id="59394" name="Rectangle 2"/>
          <p:cNvSpPr>
            <a:spLocks noGrp="1" noChangeArrowheads="1"/>
          </p:cNvSpPr>
          <p:nvPr>
            <p:ph type="title"/>
          </p:nvPr>
        </p:nvSpPr>
        <p:spPr>
          <a:xfrm>
            <a:off x="647564" y="811807"/>
            <a:ext cx="6513512" cy="487363"/>
          </a:xfrm>
          <a:noFill/>
          <a:ln w="9525">
            <a:noFill/>
            <a:miter lim="800000"/>
          </a:ln>
        </p:spPr>
        <p:txBody>
          <a:bodyPr vert="horz" wrap="square" lIns="91440" tIns="45720" rIns="91440" bIns="45720" numCol="1" anchor="ctr" anchorCtr="0" compatLnSpc="1"/>
          <a:lstStyle/>
          <a:p>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检测</a:t>
            </a:r>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-TCP</a:t>
            </a:r>
            <a:endPar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5" name="Rectangle 3"/>
          <p:cNvSpPr txBox="1">
            <a:spLocks noChangeArrowheads="1"/>
          </p:cNvSpPr>
          <p:nvPr/>
        </p:nvSpPr>
        <p:spPr bwMode="gray">
          <a:xfrm>
            <a:off x="647564" y="1556792"/>
            <a:ext cx="8136904" cy="3681772"/>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3399FF"/>
              </a:buClr>
              <a:buFont typeface="Wingdings" panose="05000000000000000000"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9900"/>
              </a:buClr>
              <a:buFont typeface="Wingdings" panose="05000000000000000000" pitchFamily="2" charset="2"/>
              <a:buChar char="§"/>
              <a:defRPr sz="2600">
                <a:solidFill>
                  <a:schemeClr val="tx1"/>
                </a:solidFill>
                <a:latin typeface="+mn-lt"/>
                <a:ea typeface="+mn-ea"/>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defRPr>
            </a:lvl5pPr>
            <a:lvl6pPr marL="2514600" indent="-228600" algn="l" rtl="0" fontAlgn="base">
              <a:spcBef>
                <a:spcPct val="20000"/>
              </a:spcBef>
              <a:spcAft>
                <a:spcPct val="0"/>
              </a:spcAft>
              <a:buChar char="»"/>
              <a:defRPr sz="2000">
                <a:solidFill>
                  <a:schemeClr val="tx1"/>
                </a:solidFill>
                <a:latin typeface="Arial" panose="020B0604020202020204" pitchFamily="34" charset="0"/>
                <a:ea typeface="+mn-ea"/>
              </a:defRPr>
            </a:lvl6pPr>
            <a:lvl7pPr marL="2971800" indent="-228600" algn="l" rtl="0" fontAlgn="base">
              <a:spcBef>
                <a:spcPct val="20000"/>
              </a:spcBef>
              <a:spcAft>
                <a:spcPct val="0"/>
              </a:spcAft>
              <a:buChar char="»"/>
              <a:defRPr sz="2000">
                <a:solidFill>
                  <a:schemeClr val="tx1"/>
                </a:solidFill>
                <a:latin typeface="Arial" panose="020B0604020202020204" pitchFamily="34" charset="0"/>
                <a:ea typeface="+mn-ea"/>
              </a:defRPr>
            </a:lvl7pPr>
            <a:lvl8pPr marL="3429000" indent="-228600" algn="l" rtl="0" fontAlgn="base">
              <a:spcBef>
                <a:spcPct val="20000"/>
              </a:spcBef>
              <a:spcAft>
                <a:spcPct val="0"/>
              </a:spcAft>
              <a:buChar char="»"/>
              <a:defRPr sz="2000">
                <a:solidFill>
                  <a:schemeClr val="tx1"/>
                </a:solidFill>
                <a:latin typeface="Arial" panose="020B0604020202020204" pitchFamily="34" charset="0"/>
                <a:ea typeface="+mn-ea"/>
              </a:defRPr>
            </a:lvl8pPr>
            <a:lvl9pPr marL="3886200" indent="-228600" algn="l" rtl="0" fontAlgn="base">
              <a:spcBef>
                <a:spcPct val="20000"/>
              </a:spcBef>
              <a:spcAft>
                <a:spcPct val="0"/>
              </a:spcAft>
              <a:buChar char="»"/>
              <a:defRPr sz="2000">
                <a:solidFill>
                  <a:schemeClr val="tx1"/>
                </a:solidFill>
                <a:latin typeface="Arial" panose="020B0604020202020204" pitchFamily="34" charset="0"/>
                <a:ea typeface="+mn-ea"/>
              </a:defRPr>
            </a:lvl9pPr>
          </a:lstStyle>
          <a:p>
            <a:pPr eaLnBrk="1" hangingPunct="1"/>
            <a:r>
              <a:rPr lang="en-US" altLang="zh-CN"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检测到</a:t>
            </a:r>
            <a:r>
              <a:rPr lang="en-US" altLang="zh-CN"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TCP</a:t>
            </a:r>
            <a:r>
              <a:rPr lang="zh-CN" altLang="en-US"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包</a:t>
            </a:r>
            <a:endParaRPr lang="en-US" altLang="zh-CN"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eaLnBrk="1" hangingPunct="1">
              <a:buFont typeface="Wingdings" panose="05000000000000000000" pitchFamily="2" charset="2"/>
              <a:buNone/>
            </a:pPr>
            <a:endParaRPr lang="en-US" altLang="zh-CN"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eaLnBrk="1" hangingPunct="1">
              <a:buFont typeface="Wingdings" panose="05000000000000000000" pitchFamily="2" charset="2"/>
              <a:buNone/>
            </a:pPr>
            <a:endParaRPr lang="zh-CN" altLang="en-US"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5"/>
          <a:stretch>
            <a:fillRect/>
          </a:stretch>
        </p:blipFill>
        <p:spPr>
          <a:xfrm>
            <a:off x="1223628" y="2276872"/>
            <a:ext cx="6986760" cy="1253759"/>
          </a:xfrm>
          <a:prstGeom prst="rect">
            <a:avLst/>
          </a:prstGeom>
        </p:spPr>
      </p:pic>
    </p:spTree>
    <p:extLst>
      <p:ext uri="{BB962C8B-B14F-4D97-AF65-F5344CB8AC3E}">
        <p14:creationId xmlns:p14="http://schemas.microsoft.com/office/powerpoint/2010/main" val="3815289541"/>
      </p:ext>
    </p:extLst>
  </p:cSld>
  <p:clrMapOvr>
    <a:masterClrMapping/>
  </p:clrMapOvr>
  <p:transition>
    <p:fade/>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236296" y="5121188"/>
            <a:ext cx="1714500" cy="936104"/>
          </a:xfrm>
          <a:prstGeom prst="rect">
            <a:avLst/>
          </a:prstGeom>
          <a:noFill/>
          <a:ln w="9525">
            <a:noFill/>
            <a:miter lim="800000"/>
            <a:headEnd/>
            <a:tailEnd/>
          </a:ln>
        </p:spPr>
      </p:pic>
      <p:sp>
        <p:nvSpPr>
          <p:cNvPr id="59394" name="Rectangle 2"/>
          <p:cNvSpPr>
            <a:spLocks noGrp="1" noChangeArrowheads="1"/>
          </p:cNvSpPr>
          <p:nvPr>
            <p:ph type="title"/>
          </p:nvPr>
        </p:nvSpPr>
        <p:spPr>
          <a:xfrm>
            <a:off x="647564" y="811807"/>
            <a:ext cx="6513512" cy="487363"/>
          </a:xfrm>
          <a:noFill/>
          <a:ln w="9525">
            <a:noFill/>
            <a:miter lim="800000"/>
          </a:ln>
        </p:spPr>
        <p:txBody>
          <a:bodyPr vert="horz" wrap="square" lIns="91440" tIns="45720" rIns="91440" bIns="45720" numCol="1" anchor="ctr" anchorCtr="0" compatLnSpc="1"/>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Snort</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检测</a:t>
            </a:r>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-NMAP</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扫描</a:t>
            </a:r>
          </a:p>
        </p:txBody>
      </p:sp>
      <p:sp>
        <p:nvSpPr>
          <p:cNvPr id="5" name="Rectangle 3"/>
          <p:cNvSpPr txBox="1">
            <a:spLocks noChangeArrowheads="1"/>
          </p:cNvSpPr>
          <p:nvPr/>
        </p:nvSpPr>
        <p:spPr bwMode="gray">
          <a:xfrm>
            <a:off x="647564" y="1556792"/>
            <a:ext cx="8136904" cy="3681772"/>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3399FF"/>
              </a:buClr>
              <a:buFont typeface="Wingdings" panose="05000000000000000000"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9900"/>
              </a:buClr>
              <a:buFont typeface="Wingdings" panose="05000000000000000000" pitchFamily="2" charset="2"/>
              <a:buChar char="§"/>
              <a:defRPr sz="2600">
                <a:solidFill>
                  <a:schemeClr val="tx1"/>
                </a:solidFill>
                <a:latin typeface="+mn-lt"/>
                <a:ea typeface="+mn-ea"/>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defRPr>
            </a:lvl5pPr>
            <a:lvl6pPr marL="2514600" indent="-228600" algn="l" rtl="0" fontAlgn="base">
              <a:spcBef>
                <a:spcPct val="20000"/>
              </a:spcBef>
              <a:spcAft>
                <a:spcPct val="0"/>
              </a:spcAft>
              <a:buChar char="»"/>
              <a:defRPr sz="2000">
                <a:solidFill>
                  <a:schemeClr val="tx1"/>
                </a:solidFill>
                <a:latin typeface="Arial" panose="020B0604020202020204" pitchFamily="34" charset="0"/>
                <a:ea typeface="+mn-ea"/>
              </a:defRPr>
            </a:lvl6pPr>
            <a:lvl7pPr marL="2971800" indent="-228600" algn="l" rtl="0" fontAlgn="base">
              <a:spcBef>
                <a:spcPct val="20000"/>
              </a:spcBef>
              <a:spcAft>
                <a:spcPct val="0"/>
              </a:spcAft>
              <a:buChar char="»"/>
              <a:defRPr sz="2000">
                <a:solidFill>
                  <a:schemeClr val="tx1"/>
                </a:solidFill>
                <a:latin typeface="Arial" panose="020B0604020202020204" pitchFamily="34" charset="0"/>
                <a:ea typeface="+mn-ea"/>
              </a:defRPr>
            </a:lvl7pPr>
            <a:lvl8pPr marL="3429000" indent="-228600" algn="l" rtl="0" fontAlgn="base">
              <a:spcBef>
                <a:spcPct val="20000"/>
              </a:spcBef>
              <a:spcAft>
                <a:spcPct val="0"/>
              </a:spcAft>
              <a:buChar char="»"/>
              <a:defRPr sz="2000">
                <a:solidFill>
                  <a:schemeClr val="tx1"/>
                </a:solidFill>
                <a:latin typeface="Arial" panose="020B0604020202020204" pitchFamily="34" charset="0"/>
                <a:ea typeface="+mn-ea"/>
              </a:defRPr>
            </a:lvl8pPr>
            <a:lvl9pPr marL="3886200" indent="-228600" algn="l" rtl="0" fontAlgn="base">
              <a:spcBef>
                <a:spcPct val="20000"/>
              </a:spcBef>
              <a:spcAft>
                <a:spcPct val="0"/>
              </a:spcAft>
              <a:buChar char="»"/>
              <a:defRPr sz="2000">
                <a:solidFill>
                  <a:schemeClr val="tx1"/>
                </a:solidFill>
                <a:latin typeface="Arial" panose="020B0604020202020204" pitchFamily="34" charset="0"/>
                <a:ea typeface="+mn-ea"/>
              </a:defRPr>
            </a:lvl9pPr>
          </a:lstStyle>
          <a:p>
            <a:pPr eaLnBrk="1" hangingPunct="1"/>
            <a:r>
              <a:rPr lang="en-US" altLang="zh-CN"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编写规则，设置</a:t>
            </a:r>
            <a:r>
              <a:rPr lang="en-US" altLang="zh-CN"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flags</a:t>
            </a:r>
            <a:r>
              <a:rPr lang="zh-CN" altLang="en-US"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选项</a:t>
            </a:r>
            <a:endParaRPr lang="en-US" altLang="zh-CN"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endParaRPr lang="en-US" altLang="zh-CN"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endParaRPr lang="en-US" altLang="zh-CN"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endParaRPr lang="en-US" altLang="zh-CN"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en-US" altLang="zh-CN"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flags</a:t>
            </a:r>
            <a:r>
              <a:rPr lang="zh-CN" altLang="en-US"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检查</a:t>
            </a:r>
            <a:r>
              <a:rPr lang="en-US" altLang="zh-CN"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TCP</a:t>
            </a:r>
            <a:r>
              <a:rPr lang="zh-CN" altLang="en-US"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标志，</a:t>
            </a:r>
            <a:r>
              <a:rPr lang="en-US" altLang="zh-CN"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中</a:t>
            </a:r>
            <a:r>
              <a:rPr lang="en-US" altLang="zh-CN"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9</a:t>
            </a:r>
            <a:r>
              <a:rPr lang="zh-CN" altLang="en-US"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个标志变量如下</a:t>
            </a:r>
            <a:endParaRPr lang="en-US" altLang="zh-CN"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eaLnBrk="1" hangingPunct="1">
              <a:buFont typeface="Wingdings" panose="05000000000000000000" pitchFamily="2" charset="2"/>
              <a:buNone/>
            </a:pPr>
            <a:endParaRPr lang="zh-CN" altLang="en-US" b="1"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5"/>
          <a:stretch>
            <a:fillRect/>
          </a:stretch>
        </p:blipFill>
        <p:spPr>
          <a:xfrm>
            <a:off x="961674" y="2168860"/>
            <a:ext cx="7822794" cy="1261741"/>
          </a:xfrm>
          <a:prstGeom prst="rect">
            <a:avLst/>
          </a:prstGeom>
        </p:spPr>
      </p:pic>
      <p:sp>
        <p:nvSpPr>
          <p:cNvPr id="6" name="文本框 5"/>
          <p:cNvSpPr txBox="1"/>
          <p:nvPr/>
        </p:nvSpPr>
        <p:spPr>
          <a:xfrm>
            <a:off x="1043608" y="4073584"/>
            <a:ext cx="5918348" cy="2523768"/>
          </a:xfrm>
          <a:prstGeom prst="rect">
            <a:avLst/>
          </a:prstGeom>
          <a:noFill/>
        </p:spPr>
        <p:txBody>
          <a:bodyPr wrap="square" rtlCol="0">
            <a:spAutoFit/>
          </a:bodyPr>
          <a:lstStyle/>
          <a:p>
            <a:pPr marL="914400" lvl="1" indent="-457200">
              <a:spcBef>
                <a:spcPct val="20000"/>
              </a:spcBef>
              <a:buClr>
                <a:schemeClr val="accent2"/>
              </a:buClr>
              <a:buFont typeface="Wingdings" panose="05000000000000000000" pitchFamily="2" charset="2"/>
              <a:buChar char="l"/>
            </a:pPr>
            <a:r>
              <a:rPr lang="en-US" altLang="zh-CN" sz="2000" b="1" kern="0"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F </a:t>
            </a:r>
            <a:r>
              <a:rPr lang="en-US" altLang="zh-CN" sz="2000" b="1" kern="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–FIN  </a:t>
            </a:r>
            <a:r>
              <a:rPr lang="en-US" altLang="zh-CN" sz="2000" b="1" kern="0">
                <a:solidFill>
                  <a:schemeClr val="tx1">
                    <a:lumMod val="50000"/>
                    <a:lumOff val="50000"/>
                  </a:schemeClr>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r>
              <a:rPr lang="zh-CN" altLang="en-US" sz="2000" b="1" kern="0">
                <a:solidFill>
                  <a:schemeClr val="tx1">
                    <a:lumMod val="50000"/>
                    <a:lumOff val="50000"/>
                  </a:schemeClr>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关闭连接</a:t>
            </a:r>
            <a:endParaRPr lang="en-US" altLang="zh-CN" sz="2000" b="1" kern="0" dirty="0">
              <a:solidFill>
                <a:schemeClr val="tx1">
                  <a:lumMod val="50000"/>
                  <a:lumOff val="50000"/>
                </a:schemeClr>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a:p>
            <a:pPr marL="914400" lvl="1" indent="-457200">
              <a:spcBef>
                <a:spcPct val="20000"/>
              </a:spcBef>
              <a:buClr>
                <a:schemeClr val="accent2"/>
              </a:buClr>
              <a:buFont typeface="Wingdings" panose="05000000000000000000" pitchFamily="2" charset="2"/>
              <a:buChar char="l"/>
            </a:pPr>
            <a:r>
              <a:rPr lang="en-US" altLang="zh-CN" sz="2000" b="1" kern="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 –SYN  </a:t>
            </a:r>
            <a:r>
              <a:rPr lang="en-US" altLang="zh-CN" sz="2000" b="1" kern="0">
                <a:solidFill>
                  <a:schemeClr val="tx1">
                    <a:lumMod val="50000"/>
                    <a:lumOff val="50000"/>
                  </a:schemeClr>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r>
              <a:rPr lang="zh-CN" altLang="en-US" sz="2000" b="1" kern="0">
                <a:solidFill>
                  <a:schemeClr val="tx1">
                    <a:lumMod val="50000"/>
                    <a:lumOff val="50000"/>
                  </a:schemeClr>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建立连接</a:t>
            </a:r>
            <a:endParaRPr lang="en-US" altLang="zh-CN" sz="2000" b="1" kern="0">
              <a:solidFill>
                <a:schemeClr val="tx1">
                  <a:lumMod val="50000"/>
                  <a:lumOff val="50000"/>
                </a:schemeClr>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a:p>
            <a:pPr marL="914400" lvl="1" indent="-457200">
              <a:spcBef>
                <a:spcPct val="20000"/>
              </a:spcBef>
              <a:buClr>
                <a:schemeClr val="accent2"/>
              </a:buClr>
              <a:buFont typeface="Wingdings" panose="05000000000000000000" pitchFamily="2" charset="2"/>
              <a:buChar char="l"/>
            </a:pPr>
            <a:r>
              <a:rPr lang="en-US" altLang="zh-CN" sz="2000" b="1" kern="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 –ACK  </a:t>
            </a:r>
            <a:r>
              <a:rPr lang="en-US" altLang="zh-CN" sz="2000" b="1" kern="0">
                <a:solidFill>
                  <a:schemeClr val="tx1">
                    <a:lumMod val="50000"/>
                    <a:lumOff val="50000"/>
                  </a:schemeClr>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r>
              <a:rPr lang="zh-CN" altLang="en-US" sz="2000" b="1" kern="0">
                <a:solidFill>
                  <a:schemeClr val="tx1">
                    <a:lumMod val="50000"/>
                    <a:lumOff val="50000"/>
                  </a:schemeClr>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确认</a:t>
            </a:r>
            <a:endParaRPr lang="en-US" altLang="zh-CN" sz="2000" b="1" kern="0" dirty="0">
              <a:solidFill>
                <a:schemeClr val="tx1">
                  <a:lumMod val="50000"/>
                  <a:lumOff val="50000"/>
                </a:schemeClr>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a:p>
            <a:pPr marL="914400" lvl="1" indent="-457200">
              <a:spcBef>
                <a:spcPct val="20000"/>
              </a:spcBef>
              <a:buClr>
                <a:schemeClr val="accent2"/>
              </a:buClr>
              <a:buFont typeface="Wingdings" panose="05000000000000000000" pitchFamily="2" charset="2"/>
              <a:buChar char="l"/>
            </a:pPr>
            <a:r>
              <a:rPr lang="en-US" altLang="zh-CN" sz="2000" b="1" kern="0"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2 </a:t>
            </a:r>
            <a:r>
              <a:rPr lang="en-US" altLang="zh-CN" sz="2000"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000" b="1" kern="0"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Reserved bit 2</a:t>
            </a:r>
          </a:p>
          <a:p>
            <a:pPr marL="914400" lvl="1" indent="-457200">
              <a:spcBef>
                <a:spcPct val="20000"/>
              </a:spcBef>
              <a:buClr>
                <a:schemeClr val="accent2"/>
              </a:buClr>
              <a:buFont typeface="Wingdings" panose="05000000000000000000" pitchFamily="2" charset="2"/>
              <a:buChar char="l"/>
            </a:pPr>
            <a:r>
              <a:rPr lang="en-US" altLang="zh-CN" sz="2000" b="1" kern="0"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1 </a:t>
            </a:r>
            <a:r>
              <a:rPr lang="en-US" altLang="zh-CN" sz="2000"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000" b="1" kern="0"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Reserved bit 1 (MSB in TCP Flags byte)</a:t>
            </a:r>
          </a:p>
          <a:p>
            <a:pPr marL="914400" lvl="1" indent="-457200">
              <a:spcBef>
                <a:spcPct val="20000"/>
              </a:spcBef>
              <a:buClr>
                <a:schemeClr val="accent2"/>
              </a:buClr>
              <a:buFont typeface="Wingdings" panose="05000000000000000000" pitchFamily="2" charset="2"/>
              <a:buChar char="l"/>
            </a:pPr>
            <a:r>
              <a:rPr lang="en-US" altLang="zh-CN" sz="2000" b="1" kern="0"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0 </a:t>
            </a:r>
            <a:r>
              <a:rPr lang="en-US" altLang="zh-CN" sz="2000"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000" b="1" kern="0"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No TCP Flags Set</a:t>
            </a:r>
          </a:p>
          <a:p>
            <a:endParaRPr lang="zh-CN" altLang="en-US" dirty="0"/>
          </a:p>
        </p:txBody>
      </p:sp>
      <p:sp>
        <p:nvSpPr>
          <p:cNvPr id="8" name="文本框 7"/>
          <p:cNvSpPr txBox="1"/>
          <p:nvPr/>
        </p:nvSpPr>
        <p:spPr>
          <a:xfrm>
            <a:off x="4149751" y="4073584"/>
            <a:ext cx="2448272" cy="1138773"/>
          </a:xfrm>
          <a:prstGeom prst="rect">
            <a:avLst/>
          </a:prstGeom>
          <a:noFill/>
        </p:spPr>
        <p:txBody>
          <a:bodyPr wrap="square" rtlCol="0">
            <a:spAutoFit/>
          </a:bodyPr>
          <a:lstStyle/>
          <a:p>
            <a:pPr marL="914400" lvl="1" indent="-457200">
              <a:spcBef>
                <a:spcPct val="20000"/>
              </a:spcBef>
              <a:buClr>
                <a:schemeClr val="accent2"/>
              </a:buClr>
              <a:buFont typeface="Wingdings" panose="05000000000000000000" pitchFamily="2" charset="2"/>
              <a:buChar char="l"/>
            </a:pPr>
            <a:r>
              <a:rPr lang="en-US" altLang="zh-CN" sz="2000" b="1" kern="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R –RST</a:t>
            </a:r>
          </a:p>
          <a:p>
            <a:pPr marL="914400" lvl="1" indent="-457200">
              <a:spcBef>
                <a:spcPct val="20000"/>
              </a:spcBef>
              <a:buClr>
                <a:schemeClr val="accent2"/>
              </a:buClr>
              <a:buFont typeface="Wingdings" panose="05000000000000000000" pitchFamily="2" charset="2"/>
              <a:buChar char="l"/>
            </a:pPr>
            <a:r>
              <a:rPr lang="en-US" altLang="zh-CN" sz="2000" b="1" kern="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P –PSH</a:t>
            </a:r>
          </a:p>
          <a:p>
            <a:pPr marL="914400" lvl="1" indent="-457200">
              <a:spcBef>
                <a:spcPct val="20000"/>
              </a:spcBef>
              <a:buClr>
                <a:schemeClr val="accent2"/>
              </a:buClr>
              <a:buFont typeface="Wingdings" panose="05000000000000000000" pitchFamily="2" charset="2"/>
              <a:buChar char="l"/>
            </a:pPr>
            <a:r>
              <a:rPr lang="en-US" altLang="zh-CN" sz="2000" b="1" kern="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U –URG</a:t>
            </a:r>
          </a:p>
        </p:txBody>
      </p:sp>
      <p:pic>
        <p:nvPicPr>
          <p:cNvPr id="11" name="图片 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786753" y="931317"/>
            <a:ext cx="433319" cy="301439"/>
          </a:xfrm>
          <a:prstGeom prst="rect">
            <a:avLst/>
          </a:prstGeom>
        </p:spPr>
      </p:pic>
    </p:spTree>
    <p:extLst>
      <p:ext uri="{BB962C8B-B14F-4D97-AF65-F5344CB8AC3E}">
        <p14:creationId xmlns:p14="http://schemas.microsoft.com/office/powerpoint/2010/main" val="4066508136"/>
      </p:ext>
    </p:extLst>
  </p:cSld>
  <p:clrMapOvr>
    <a:masterClrMapping/>
  </p:clrMapOvr>
  <p:transition>
    <p:fade/>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236296" y="5121188"/>
            <a:ext cx="1714500" cy="936104"/>
          </a:xfrm>
          <a:prstGeom prst="rect">
            <a:avLst/>
          </a:prstGeom>
          <a:noFill/>
          <a:ln w="9525">
            <a:noFill/>
            <a:miter lim="800000"/>
            <a:headEnd/>
            <a:tailEnd/>
          </a:ln>
        </p:spPr>
      </p:pic>
      <p:sp>
        <p:nvSpPr>
          <p:cNvPr id="59394" name="Rectangle 2"/>
          <p:cNvSpPr>
            <a:spLocks noGrp="1" noChangeArrowheads="1"/>
          </p:cNvSpPr>
          <p:nvPr>
            <p:ph type="title"/>
          </p:nvPr>
        </p:nvSpPr>
        <p:spPr>
          <a:xfrm>
            <a:off x="647564" y="811807"/>
            <a:ext cx="6513512" cy="487363"/>
          </a:xfrm>
          <a:noFill/>
          <a:ln w="9525">
            <a:noFill/>
            <a:miter lim="800000"/>
          </a:ln>
        </p:spPr>
        <p:txBody>
          <a:bodyPr vert="horz" wrap="square" lIns="91440" tIns="45720" rIns="91440" bIns="45720" numCol="1" anchor="ctr" anchorCtr="0" compatLnSpc="1"/>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检测</a:t>
            </a:r>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-NMAP</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扫描</a:t>
            </a:r>
            <a:endPar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pic>
        <p:nvPicPr>
          <p:cNvPr id="6" name="图片 5"/>
          <p:cNvPicPr>
            <a:picLocks noChangeAspect="1"/>
          </p:cNvPicPr>
          <p:nvPr/>
        </p:nvPicPr>
        <p:blipFill>
          <a:blip r:embed="rId5"/>
          <a:stretch>
            <a:fillRect/>
          </a:stretch>
        </p:blipFill>
        <p:spPr>
          <a:xfrm>
            <a:off x="1871700" y="1268760"/>
            <a:ext cx="5019675" cy="5040560"/>
          </a:xfrm>
          <a:prstGeom prst="rect">
            <a:avLst/>
          </a:prstGeom>
        </p:spPr>
      </p:pic>
      <p:pic>
        <p:nvPicPr>
          <p:cNvPr id="7" name="图片 6"/>
          <p:cNvPicPr>
            <a:picLocks noChangeAspect="1"/>
          </p:cNvPicPr>
          <p:nvPr/>
        </p:nvPicPr>
        <p:blipFill>
          <a:blip r:embed="rId6"/>
          <a:stretch>
            <a:fillRect/>
          </a:stretch>
        </p:blipFill>
        <p:spPr>
          <a:xfrm>
            <a:off x="57150" y="1628800"/>
            <a:ext cx="9029700" cy="2486025"/>
          </a:xfrm>
          <a:prstGeom prst="rect">
            <a:avLst/>
          </a:prstGeom>
        </p:spPr>
      </p:pic>
      <p:pic>
        <p:nvPicPr>
          <p:cNvPr id="8" name="图片 7"/>
          <p:cNvPicPr>
            <a:picLocks noChangeAspect="1"/>
          </p:cNvPicPr>
          <p:nvPr/>
        </p:nvPicPr>
        <p:blipFill>
          <a:blip r:embed="rId7"/>
          <a:stretch>
            <a:fillRect/>
          </a:stretch>
        </p:blipFill>
        <p:spPr>
          <a:xfrm>
            <a:off x="42987" y="4224914"/>
            <a:ext cx="9043863" cy="1364326"/>
          </a:xfrm>
          <a:prstGeom prst="rect">
            <a:avLst/>
          </a:prstGeom>
        </p:spPr>
      </p:pic>
    </p:spTree>
    <p:extLst>
      <p:ext uri="{BB962C8B-B14F-4D97-AF65-F5344CB8AC3E}">
        <p14:creationId xmlns:p14="http://schemas.microsoft.com/office/powerpoint/2010/main" val="20304324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236296" y="5121188"/>
            <a:ext cx="1714500" cy="936104"/>
          </a:xfrm>
          <a:prstGeom prst="rect">
            <a:avLst/>
          </a:prstGeom>
          <a:noFill/>
          <a:ln w="9525">
            <a:noFill/>
            <a:miter lim="800000"/>
            <a:headEnd/>
            <a:tailEnd/>
          </a:ln>
        </p:spPr>
      </p:pic>
      <p:sp>
        <p:nvSpPr>
          <p:cNvPr id="59394" name="Rectangle 2"/>
          <p:cNvSpPr>
            <a:spLocks noGrp="1" noChangeArrowheads="1"/>
          </p:cNvSpPr>
          <p:nvPr>
            <p:ph type="title"/>
          </p:nvPr>
        </p:nvSpPr>
        <p:spPr>
          <a:xfrm>
            <a:off x="647564" y="811807"/>
            <a:ext cx="6513512" cy="487363"/>
          </a:xfrm>
          <a:noFill/>
          <a:ln w="9525">
            <a:noFill/>
            <a:miter lim="800000"/>
          </a:ln>
        </p:spPr>
        <p:txBody>
          <a:bodyPr vert="horz" wrap="square" lIns="91440" tIns="45720" rIns="91440" bIns="45720" numCol="1" anchor="ctr" anchorCtr="0" compatLnSpc="1"/>
          <a:lstStyle/>
          <a:p>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Snort</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检测</a:t>
            </a:r>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日志记录</a:t>
            </a:r>
            <a:endPar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7" name="矩形 6"/>
          <p:cNvSpPr/>
          <p:nvPr/>
        </p:nvSpPr>
        <p:spPr>
          <a:xfrm>
            <a:off x="647564" y="944724"/>
            <a:ext cx="8028892" cy="5287601"/>
          </a:xfrm>
          <a:prstGeom prst="rect">
            <a:avLst/>
          </a:prstGeom>
        </p:spPr>
        <p:txBody>
          <a:bodyPr wrap="square">
            <a:spAutoFit/>
          </a:bodyPr>
          <a:lstStyle/>
          <a:p>
            <a:pPr lvl="0">
              <a:spcBef>
                <a:spcPct val="20000"/>
              </a:spcBef>
              <a:buClr>
                <a:srgbClr val="3399FF"/>
              </a:buClr>
            </a:pPr>
            <a:endParaRPr lang="en-US" altLang="zh-CN" sz="2600" b="1" kern="0">
              <a:solidFill>
                <a:srgbClr val="000000"/>
              </a:solidFill>
              <a:effectLst>
                <a:outerShdw blurRad="38100" dist="38100" dir="2700000" algn="tl">
                  <a:srgbClr val="000000">
                    <a:alpha val="43137"/>
                  </a:srgbClr>
                </a:outerShdw>
              </a:effectLst>
              <a:latin typeface="Times New Roman" panose="02020603050405020304" pitchFamily="18" charset="0"/>
              <a:ea typeface="黑体"/>
              <a:cs typeface="Times New Roman" panose="02020603050405020304" pitchFamily="18" charset="0"/>
            </a:endParaRPr>
          </a:p>
          <a:p>
            <a:pPr marL="342900" indent="-342900">
              <a:spcBef>
                <a:spcPct val="20000"/>
              </a:spcBef>
              <a:buClr>
                <a:srgbClr val="3399FF"/>
              </a:buClr>
              <a:buFont typeface="Wingdings" panose="05000000000000000000" pitchFamily="2" charset="2"/>
              <a:buChar char="v"/>
            </a:pPr>
            <a:r>
              <a:rPr lang="zh-CN" altLang="en-US" sz="2800" b="1" kern="0">
                <a:solidFill>
                  <a:srgbClr val="000000"/>
                </a:solidFill>
                <a:effectLst>
                  <a:outerShdw blurRad="38100" dist="38100" dir="2700000" algn="tl">
                    <a:srgbClr val="000000">
                      <a:alpha val="43137"/>
                    </a:srgbClr>
                  </a:outerShdw>
                </a:effectLst>
                <a:latin typeface="Times New Roman" panose="02020603050405020304" pitchFamily="18" charset="0"/>
                <a:ea typeface="黑体"/>
                <a:cs typeface="Times New Roman" panose="02020603050405020304" pitchFamily="18" charset="0"/>
              </a:rPr>
              <a:t> 规则</a:t>
            </a:r>
            <a:endParaRPr lang="en-US" altLang="zh-CN" sz="2800" b="1" kern="0">
              <a:solidFill>
                <a:srgbClr val="000000"/>
              </a:solidFill>
              <a:effectLst>
                <a:outerShdw blurRad="38100" dist="38100" dir="2700000" algn="tl">
                  <a:srgbClr val="000000">
                    <a:alpha val="43137"/>
                  </a:srgbClr>
                </a:outerShdw>
              </a:effectLst>
              <a:latin typeface="Times New Roman" panose="02020603050405020304" pitchFamily="18" charset="0"/>
              <a:ea typeface="黑体"/>
              <a:cs typeface="Times New Roman" panose="02020603050405020304" pitchFamily="18" charset="0"/>
            </a:endParaRPr>
          </a:p>
          <a:p>
            <a:pPr lvl="1">
              <a:spcBef>
                <a:spcPct val="20000"/>
              </a:spcBef>
              <a:buClr>
                <a:srgbClr val="FF9900"/>
              </a:buClr>
            </a:pPr>
            <a:endParaRPr lang="en-US" altLang="zh-CN" sz="2600" b="1" kern="0">
              <a:solidFill>
                <a:srgbClr val="000000"/>
              </a:solidFill>
              <a:effectLst>
                <a:outerShdw blurRad="38100" dist="38100" dir="2700000" algn="tl">
                  <a:srgbClr val="000000">
                    <a:alpha val="43137"/>
                  </a:srgbClr>
                </a:outerShdw>
              </a:effectLst>
              <a:latin typeface="Times New Roman" panose="02020603050405020304" pitchFamily="18" charset="0"/>
              <a:ea typeface="黑体"/>
              <a:cs typeface="Times New Roman" panose="02020603050405020304" pitchFamily="18" charset="0"/>
            </a:endParaRPr>
          </a:p>
          <a:p>
            <a:pPr marL="742950" lvl="1" indent="-285750">
              <a:spcBef>
                <a:spcPct val="20000"/>
              </a:spcBef>
              <a:buClr>
                <a:srgbClr val="FF9900"/>
              </a:buClr>
              <a:buFont typeface="Wingdings" panose="05000000000000000000" pitchFamily="2" charset="2"/>
              <a:buChar char="§"/>
            </a:pPr>
            <a:endParaRPr lang="en-US" altLang="zh-CN" sz="2600" b="1" kern="0">
              <a:solidFill>
                <a:srgbClr val="000000"/>
              </a:solidFill>
              <a:effectLst>
                <a:outerShdw blurRad="38100" dist="38100" dir="2700000" algn="tl">
                  <a:srgbClr val="000000">
                    <a:alpha val="43137"/>
                  </a:srgbClr>
                </a:outerShdw>
              </a:effectLst>
              <a:latin typeface="Times New Roman" panose="02020603050405020304" pitchFamily="18" charset="0"/>
              <a:ea typeface="黑体"/>
              <a:cs typeface="Times New Roman" panose="02020603050405020304" pitchFamily="18" charset="0"/>
            </a:endParaRPr>
          </a:p>
          <a:p>
            <a:pPr marL="742950" lvl="1" indent="-285750">
              <a:spcBef>
                <a:spcPct val="20000"/>
              </a:spcBef>
              <a:buClr>
                <a:srgbClr val="FF9900"/>
              </a:buClr>
              <a:buFont typeface="Wingdings" panose="05000000000000000000" pitchFamily="2" charset="2"/>
              <a:buChar char="§"/>
            </a:pPr>
            <a:endParaRPr lang="en-US" altLang="zh-CN" sz="2600" b="1" kern="0">
              <a:solidFill>
                <a:srgbClr val="000000"/>
              </a:solidFill>
              <a:effectLst>
                <a:outerShdw blurRad="38100" dist="38100" dir="2700000" algn="tl">
                  <a:srgbClr val="000000">
                    <a:alpha val="43137"/>
                  </a:srgbClr>
                </a:outerShdw>
              </a:effectLst>
              <a:latin typeface="Times New Roman" panose="02020603050405020304" pitchFamily="18" charset="0"/>
              <a:ea typeface="黑体"/>
              <a:cs typeface="Times New Roman" panose="02020603050405020304" pitchFamily="18" charset="0"/>
            </a:endParaRPr>
          </a:p>
          <a:p>
            <a:pPr marL="742950" lvl="1" indent="-285750">
              <a:spcBef>
                <a:spcPct val="20000"/>
              </a:spcBef>
              <a:buClr>
                <a:srgbClr val="FF9900"/>
              </a:buClr>
              <a:buFont typeface="Wingdings" panose="05000000000000000000" pitchFamily="2" charset="2"/>
              <a:buChar char="§"/>
            </a:pPr>
            <a:endParaRPr lang="en-US" altLang="zh-CN" sz="2600" b="1" kern="0">
              <a:solidFill>
                <a:srgbClr val="000000"/>
              </a:solidFill>
              <a:effectLst>
                <a:outerShdw blurRad="38100" dist="38100" dir="2700000" algn="tl">
                  <a:srgbClr val="000000">
                    <a:alpha val="43137"/>
                  </a:srgbClr>
                </a:outerShdw>
              </a:effectLst>
              <a:latin typeface="Times New Roman" panose="02020603050405020304" pitchFamily="18" charset="0"/>
              <a:ea typeface="黑体"/>
              <a:cs typeface="Times New Roman" panose="02020603050405020304" pitchFamily="18" charset="0"/>
            </a:endParaRPr>
          </a:p>
          <a:p>
            <a:pPr marL="742950" lvl="1" indent="-285750">
              <a:spcBef>
                <a:spcPct val="20000"/>
              </a:spcBef>
              <a:buClr>
                <a:srgbClr val="FF9900"/>
              </a:buClr>
              <a:buFont typeface="Wingdings" panose="05000000000000000000" pitchFamily="2" charset="2"/>
              <a:buChar char="§"/>
            </a:pPr>
            <a:endParaRPr lang="en-US" altLang="zh-CN" sz="2600" b="1" kern="0">
              <a:solidFill>
                <a:srgbClr val="000000"/>
              </a:solidFill>
              <a:effectLst>
                <a:outerShdw blurRad="38100" dist="38100" dir="2700000" algn="tl">
                  <a:srgbClr val="000000">
                    <a:alpha val="43137"/>
                  </a:srgbClr>
                </a:outerShdw>
              </a:effectLst>
              <a:latin typeface="Times New Roman" panose="02020603050405020304" pitchFamily="18" charset="0"/>
              <a:ea typeface="黑体"/>
              <a:cs typeface="Times New Roman" panose="02020603050405020304" pitchFamily="18" charset="0"/>
            </a:endParaRPr>
          </a:p>
          <a:p>
            <a:pPr marL="342900" lvl="0" indent="-342900">
              <a:spcBef>
                <a:spcPct val="20000"/>
              </a:spcBef>
              <a:buClr>
                <a:srgbClr val="3399FF"/>
              </a:buClr>
              <a:buFont typeface="Wingdings" panose="05000000000000000000" pitchFamily="2" charset="2"/>
              <a:buChar char="v"/>
            </a:pPr>
            <a:r>
              <a:rPr lang="zh-CN" altLang="en-US" sz="2800" b="1" kern="0">
                <a:solidFill>
                  <a:srgbClr val="000000"/>
                </a:solidFill>
                <a:effectLst>
                  <a:outerShdw blurRad="38100" dist="38100" dir="2700000" algn="tl">
                    <a:srgbClr val="000000">
                      <a:alpha val="43137"/>
                    </a:srgbClr>
                  </a:outerShdw>
                </a:effectLst>
                <a:latin typeface="Times New Roman" panose="02020603050405020304" pitchFamily="18" charset="0"/>
                <a:ea typeface="黑体"/>
                <a:cs typeface="Times New Roman" panose="02020603050405020304" pitchFamily="18" charset="0"/>
              </a:rPr>
              <a:t>日志记录</a:t>
            </a:r>
            <a:endParaRPr lang="en-US" altLang="zh-CN" sz="2800" b="1" kern="0">
              <a:solidFill>
                <a:srgbClr val="000000"/>
              </a:solidFill>
              <a:effectLst>
                <a:outerShdw blurRad="38100" dist="38100" dir="2700000" algn="tl">
                  <a:srgbClr val="000000">
                    <a:alpha val="43137"/>
                  </a:srgbClr>
                </a:outerShdw>
              </a:effectLst>
              <a:latin typeface="Times New Roman" panose="02020603050405020304" pitchFamily="18" charset="0"/>
              <a:ea typeface="黑体"/>
              <a:cs typeface="Times New Roman" panose="02020603050405020304" pitchFamily="18" charset="0"/>
            </a:endParaRPr>
          </a:p>
          <a:p>
            <a:pPr marL="742950" lvl="1" indent="-285750">
              <a:spcBef>
                <a:spcPct val="20000"/>
              </a:spcBef>
              <a:buClr>
                <a:srgbClr val="FF9900"/>
              </a:buClr>
              <a:buFont typeface="Wingdings" panose="05000000000000000000" pitchFamily="2" charset="2"/>
              <a:buChar char="§"/>
            </a:pPr>
            <a:r>
              <a:rPr lang="en-US" altLang="zh-CN" sz="2600" b="1" kern="0">
                <a:solidFill>
                  <a:srgbClr val="000000"/>
                </a:solidFill>
                <a:effectLst>
                  <a:outerShdw blurRad="38100" dist="38100" dir="2700000" algn="tl">
                    <a:srgbClr val="000000">
                      <a:alpha val="43137"/>
                    </a:srgbClr>
                  </a:outerShdw>
                </a:effectLst>
                <a:latin typeface="Times New Roman" panose="02020603050405020304" pitchFamily="18" charset="0"/>
                <a:ea typeface="黑体"/>
                <a:cs typeface="Times New Roman" panose="02020603050405020304" pitchFamily="18" charset="0"/>
              </a:rPr>
              <a:t># sudo snort -T -c /etc/snort/snort.conf -l /var/log/snort -i </a:t>
            </a:r>
            <a:r>
              <a:rPr lang="en-US" altLang="zh-CN" sz="2600" b="1" kern="0">
                <a:solidFill>
                  <a:schemeClr val="accent5">
                    <a:lumMod val="90000"/>
                  </a:schemeClr>
                </a:solidFill>
                <a:effectLst>
                  <a:outerShdw blurRad="38100" dist="38100" dir="2700000" algn="tl">
                    <a:srgbClr val="000000">
                      <a:alpha val="43137"/>
                    </a:srgbClr>
                  </a:outerShdw>
                </a:effectLst>
                <a:latin typeface="Times New Roman" panose="02020603050405020304" pitchFamily="18" charset="0"/>
                <a:ea typeface="黑体"/>
                <a:cs typeface="Times New Roman" panose="02020603050405020304" pitchFamily="18" charset="0"/>
              </a:rPr>
              <a:t>ens160</a:t>
            </a:r>
            <a:endParaRPr lang="en-US" altLang="zh-CN" sz="2800" b="1" kern="0">
              <a:solidFill>
                <a:schemeClr val="accent5">
                  <a:lumMod val="90000"/>
                </a:schemeClr>
              </a:solidFill>
              <a:effectLst>
                <a:outerShdw blurRad="38100" dist="38100" dir="2700000" algn="tl">
                  <a:srgbClr val="000000">
                    <a:alpha val="43137"/>
                  </a:srgbClr>
                </a:outerShdw>
              </a:effectLst>
              <a:latin typeface="Times New Roman" panose="02020603050405020304" pitchFamily="18" charset="0"/>
              <a:ea typeface="黑体"/>
              <a:cs typeface="Times New Roman" panose="02020603050405020304" pitchFamily="18" charset="0"/>
            </a:endParaRPr>
          </a:p>
          <a:p>
            <a:pPr marL="742950" lvl="1" indent="-285750">
              <a:spcBef>
                <a:spcPct val="20000"/>
              </a:spcBef>
              <a:buClr>
                <a:srgbClr val="FF9900"/>
              </a:buClr>
              <a:buFont typeface="Wingdings" panose="05000000000000000000" pitchFamily="2" charset="2"/>
              <a:buChar char="§"/>
            </a:pPr>
            <a:endParaRPr lang="en-US" altLang="zh-CN" sz="2600" b="1" kern="0">
              <a:solidFill>
                <a:srgbClr val="000000"/>
              </a:solidFill>
              <a:effectLst>
                <a:outerShdw blurRad="38100" dist="38100" dir="2700000" algn="tl">
                  <a:srgbClr val="000000">
                    <a:alpha val="43137"/>
                  </a:srgbClr>
                </a:outerShdw>
              </a:effectLst>
              <a:latin typeface="Times New Roman" panose="02020603050405020304" pitchFamily="18" charset="0"/>
              <a:ea typeface="黑体"/>
              <a:cs typeface="Times New Roman" panose="02020603050405020304" pitchFamily="18" charset="0"/>
            </a:endParaRPr>
          </a:p>
        </p:txBody>
      </p:sp>
      <p:pic>
        <p:nvPicPr>
          <p:cNvPr id="9" name="图片 8"/>
          <p:cNvPicPr>
            <a:picLocks noChangeAspect="1"/>
          </p:cNvPicPr>
          <p:nvPr/>
        </p:nvPicPr>
        <p:blipFill>
          <a:blip r:embed="rId5"/>
          <a:stretch>
            <a:fillRect/>
          </a:stretch>
        </p:blipFill>
        <p:spPr>
          <a:xfrm>
            <a:off x="1187623" y="1958689"/>
            <a:ext cx="7715187" cy="2154387"/>
          </a:xfrm>
          <a:prstGeom prst="rect">
            <a:avLst/>
          </a:prstGeom>
        </p:spPr>
      </p:pic>
      <p:pic>
        <p:nvPicPr>
          <p:cNvPr id="6" name="图片 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354705" y="931317"/>
            <a:ext cx="433319" cy="301439"/>
          </a:xfrm>
          <a:prstGeom prst="rect">
            <a:avLst/>
          </a:prstGeom>
        </p:spPr>
      </p:pic>
    </p:spTree>
    <p:extLst>
      <p:ext uri="{BB962C8B-B14F-4D97-AF65-F5344CB8AC3E}">
        <p14:creationId xmlns:p14="http://schemas.microsoft.com/office/powerpoint/2010/main" val="2719383735"/>
      </p:ext>
    </p:extLst>
  </p:cSld>
  <p:clrMapOvr>
    <a:masterClrMapping/>
  </p:clrMapOvr>
  <p:transition>
    <p:fad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236296" y="5121188"/>
            <a:ext cx="1714500" cy="936104"/>
          </a:xfrm>
          <a:prstGeom prst="rect">
            <a:avLst/>
          </a:prstGeom>
          <a:noFill/>
          <a:ln w="9525">
            <a:noFill/>
            <a:miter lim="800000"/>
            <a:headEnd/>
            <a:tailEnd/>
          </a:ln>
        </p:spPr>
      </p:pic>
      <p:sp>
        <p:nvSpPr>
          <p:cNvPr id="59394" name="Rectangle 2"/>
          <p:cNvSpPr>
            <a:spLocks noGrp="1" noChangeArrowheads="1"/>
          </p:cNvSpPr>
          <p:nvPr>
            <p:ph type="title"/>
          </p:nvPr>
        </p:nvSpPr>
        <p:spPr>
          <a:xfrm>
            <a:off x="647564" y="811807"/>
            <a:ext cx="6513512" cy="487363"/>
          </a:xfrm>
          <a:noFill/>
          <a:ln w="9525">
            <a:noFill/>
            <a:miter lim="800000"/>
          </a:ln>
        </p:spPr>
        <p:txBody>
          <a:bodyPr vert="horz" wrap="square" lIns="91440" tIns="45720" rIns="91440" bIns="45720" numCol="1" anchor="ctr" anchorCtr="0" compatLnSpc="1"/>
          <a:lstStyle/>
          <a:p>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Snort</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检测</a:t>
            </a:r>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日志记录</a:t>
            </a:r>
            <a:endPar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pic>
        <p:nvPicPr>
          <p:cNvPr id="7" name="图片 6"/>
          <p:cNvPicPr>
            <a:picLocks noChangeAspect="1"/>
          </p:cNvPicPr>
          <p:nvPr/>
        </p:nvPicPr>
        <p:blipFill>
          <a:blip r:embed="rId5"/>
          <a:stretch>
            <a:fillRect/>
          </a:stretch>
        </p:blipFill>
        <p:spPr>
          <a:xfrm>
            <a:off x="119000" y="2888164"/>
            <a:ext cx="8943975" cy="1057275"/>
          </a:xfrm>
          <a:prstGeom prst="rect">
            <a:avLst/>
          </a:prstGeom>
        </p:spPr>
      </p:pic>
      <p:pic>
        <p:nvPicPr>
          <p:cNvPr id="8" name="图片 7"/>
          <p:cNvPicPr>
            <a:picLocks noChangeAspect="1"/>
          </p:cNvPicPr>
          <p:nvPr/>
        </p:nvPicPr>
        <p:blipFill>
          <a:blip r:embed="rId6"/>
          <a:stretch>
            <a:fillRect/>
          </a:stretch>
        </p:blipFill>
        <p:spPr>
          <a:xfrm>
            <a:off x="119000" y="4054388"/>
            <a:ext cx="8953500" cy="1066800"/>
          </a:xfrm>
          <a:prstGeom prst="rect">
            <a:avLst/>
          </a:prstGeom>
        </p:spPr>
      </p:pic>
      <p:sp>
        <p:nvSpPr>
          <p:cNvPr id="10" name="矩形 9"/>
          <p:cNvSpPr/>
          <p:nvPr/>
        </p:nvSpPr>
        <p:spPr>
          <a:xfrm>
            <a:off x="467544" y="1185329"/>
            <a:ext cx="8028892" cy="1452705"/>
          </a:xfrm>
          <a:prstGeom prst="rect">
            <a:avLst/>
          </a:prstGeom>
        </p:spPr>
        <p:txBody>
          <a:bodyPr wrap="square">
            <a:spAutoFit/>
          </a:bodyPr>
          <a:lstStyle/>
          <a:p>
            <a:pPr lvl="0">
              <a:spcBef>
                <a:spcPct val="20000"/>
              </a:spcBef>
              <a:buClr>
                <a:srgbClr val="3399FF"/>
              </a:buClr>
            </a:pPr>
            <a:endParaRPr lang="en-US" altLang="zh-CN" sz="2600" b="1" kern="0" dirty="0">
              <a:solidFill>
                <a:srgbClr val="000000"/>
              </a:solidFill>
              <a:effectLst>
                <a:outerShdw blurRad="38100" dist="38100" dir="2700000" algn="tl">
                  <a:srgbClr val="000000">
                    <a:alpha val="43137"/>
                  </a:srgbClr>
                </a:outerShdw>
              </a:effectLst>
              <a:latin typeface="Times New Roman" panose="02020603050405020304" pitchFamily="18" charset="0"/>
              <a:ea typeface="黑体"/>
              <a:cs typeface="Times New Roman" panose="02020603050405020304" pitchFamily="18" charset="0"/>
            </a:endParaRPr>
          </a:p>
          <a:p>
            <a:pPr marL="742950" lvl="1" indent="-285750">
              <a:spcBef>
                <a:spcPct val="20000"/>
              </a:spcBef>
              <a:buClr>
                <a:srgbClr val="FF9900"/>
              </a:buClr>
              <a:buFont typeface="Wingdings" panose="05000000000000000000" pitchFamily="2" charset="2"/>
              <a:buChar char="§"/>
            </a:pPr>
            <a:r>
              <a:rPr lang="zh-CN" altLang="en-US" sz="2600" b="1" kern="0" dirty="0">
                <a:solidFill>
                  <a:srgbClr val="000000"/>
                </a:solidFill>
                <a:effectLst>
                  <a:outerShdw blurRad="38100" dist="38100" dir="2700000" algn="tl">
                    <a:srgbClr val="000000">
                      <a:alpha val="43137"/>
                    </a:srgbClr>
                  </a:outerShdw>
                </a:effectLst>
                <a:latin typeface="Times New Roman" panose="02020603050405020304" pitchFamily="18" charset="0"/>
                <a:ea typeface="黑体"/>
                <a:cs typeface="Times New Roman" panose="02020603050405020304" pitchFamily="18" charset="0"/>
              </a:rPr>
              <a:t> 查看日志 </a:t>
            </a:r>
            <a:r>
              <a:rPr lang="en-US" altLang="zh-CN" sz="2600" b="1" kern="0" dirty="0">
                <a:solidFill>
                  <a:srgbClr val="000000"/>
                </a:solidFill>
                <a:effectLst>
                  <a:outerShdw blurRad="38100" dist="38100" dir="2700000" algn="tl">
                    <a:srgbClr val="000000">
                      <a:alpha val="43137"/>
                    </a:srgbClr>
                  </a:outerShdw>
                </a:effectLst>
                <a:latin typeface="Times New Roman" panose="02020603050405020304" pitchFamily="18" charset="0"/>
                <a:ea typeface="黑体"/>
                <a:cs typeface="Times New Roman" panose="02020603050405020304" pitchFamily="18" charset="0"/>
              </a:rPr>
              <a:t># </a:t>
            </a:r>
            <a:r>
              <a:rPr lang="en-US" altLang="zh-CN" sz="2600" b="1" kern="0" dirty="0" err="1">
                <a:solidFill>
                  <a:srgbClr val="000000"/>
                </a:solidFill>
                <a:effectLst>
                  <a:outerShdw blurRad="38100" dist="38100" dir="2700000" algn="tl">
                    <a:srgbClr val="000000">
                      <a:alpha val="43137"/>
                    </a:srgbClr>
                  </a:outerShdw>
                </a:effectLst>
                <a:latin typeface="Times New Roman" panose="02020603050405020304" pitchFamily="18" charset="0"/>
                <a:ea typeface="黑体"/>
                <a:cs typeface="Times New Roman" panose="02020603050405020304" pitchFamily="18" charset="0"/>
              </a:rPr>
              <a:t>gedit</a:t>
            </a:r>
            <a:r>
              <a:rPr lang="en-US" altLang="zh-CN" sz="2600" b="1" kern="0" dirty="0">
                <a:solidFill>
                  <a:srgbClr val="000000"/>
                </a:solidFill>
                <a:effectLst>
                  <a:outerShdw blurRad="38100" dist="38100" dir="2700000" algn="tl">
                    <a:srgbClr val="000000">
                      <a:alpha val="43137"/>
                    </a:srgbClr>
                  </a:outerShdw>
                </a:effectLst>
                <a:latin typeface="Times New Roman" panose="02020603050405020304" pitchFamily="18" charset="0"/>
                <a:ea typeface="黑体"/>
                <a:cs typeface="Times New Roman" panose="02020603050405020304" pitchFamily="18" charset="0"/>
              </a:rPr>
              <a:t> /var/log/snort/alert</a:t>
            </a:r>
          </a:p>
          <a:p>
            <a:pPr marL="742950" lvl="1" indent="-285750">
              <a:spcBef>
                <a:spcPct val="20000"/>
              </a:spcBef>
              <a:buClr>
                <a:srgbClr val="FF9900"/>
              </a:buClr>
              <a:buFont typeface="Wingdings" panose="05000000000000000000" pitchFamily="2" charset="2"/>
              <a:buChar char="§"/>
            </a:pPr>
            <a:r>
              <a:rPr lang="en-US" altLang="zh-CN" sz="2600" b="1" kern="0" dirty="0">
                <a:solidFill>
                  <a:srgbClr val="000000"/>
                </a:solidFill>
                <a:effectLst>
                  <a:outerShdw blurRad="38100" dist="38100" dir="2700000" algn="tl">
                    <a:srgbClr val="000000">
                      <a:alpha val="43137"/>
                    </a:srgbClr>
                  </a:outerShdw>
                </a:effectLst>
                <a:latin typeface="Times New Roman" panose="02020603050405020304" pitchFamily="18" charset="0"/>
                <a:ea typeface="黑体"/>
                <a:cs typeface="Times New Roman" panose="02020603050405020304" pitchFamily="18" charset="0"/>
              </a:rPr>
              <a:t> </a:t>
            </a:r>
            <a:r>
              <a:rPr lang="zh-CN" altLang="en-US" sz="2600" b="1" kern="0" dirty="0">
                <a:solidFill>
                  <a:srgbClr val="000000"/>
                </a:solidFill>
                <a:effectLst>
                  <a:outerShdw blurRad="38100" dist="38100" dir="2700000" algn="tl">
                    <a:srgbClr val="000000">
                      <a:alpha val="43137"/>
                    </a:srgbClr>
                  </a:outerShdw>
                </a:effectLst>
                <a:latin typeface="Times New Roman" panose="02020603050405020304" pitchFamily="18" charset="0"/>
                <a:ea typeface="黑体"/>
                <a:cs typeface="Times New Roman" panose="02020603050405020304" pitchFamily="18" charset="0"/>
              </a:rPr>
              <a:t>筛选日志警</a:t>
            </a:r>
            <a:r>
              <a:rPr lang="zh-CN" altLang="en-US" sz="2600" b="1" kern="0">
                <a:solidFill>
                  <a:srgbClr val="000000"/>
                </a:solidFill>
                <a:effectLst>
                  <a:outerShdw blurRad="38100" dist="38100" dir="2700000" algn="tl">
                    <a:srgbClr val="000000">
                      <a:alpha val="43137"/>
                    </a:srgbClr>
                  </a:outerShdw>
                </a:effectLst>
                <a:latin typeface="Times New Roman" panose="02020603050405020304" pitchFamily="18" charset="0"/>
                <a:ea typeface="黑体"/>
                <a:cs typeface="Times New Roman" panose="02020603050405020304" pitchFamily="18" charset="0"/>
              </a:rPr>
              <a:t>告 </a:t>
            </a:r>
            <a:r>
              <a:rPr lang="en-US" altLang="zh-CN" sz="2600" b="1" kern="0">
                <a:solidFill>
                  <a:srgbClr val="000000"/>
                </a:solidFill>
                <a:effectLst>
                  <a:outerShdw blurRad="38100" dist="38100" dir="2700000" algn="tl">
                    <a:srgbClr val="000000">
                      <a:alpha val="43137"/>
                    </a:srgbClr>
                  </a:outerShdw>
                </a:effectLst>
                <a:latin typeface="Times New Roman" panose="02020603050405020304" pitchFamily="18" charset="0"/>
                <a:ea typeface="黑体"/>
                <a:cs typeface="Times New Roman" panose="02020603050405020304" pitchFamily="18" charset="0"/>
              </a:rPr>
              <a:t># </a:t>
            </a:r>
            <a:r>
              <a:rPr lang="en-US" altLang="zh-CN" sz="2600" b="1" kern="0" dirty="0">
                <a:solidFill>
                  <a:srgbClr val="000000"/>
                </a:solidFill>
                <a:effectLst>
                  <a:outerShdw blurRad="38100" dist="38100" dir="2700000" algn="tl">
                    <a:srgbClr val="000000">
                      <a:alpha val="43137"/>
                    </a:srgbClr>
                  </a:outerShdw>
                </a:effectLst>
                <a:latin typeface="Times New Roman" panose="02020603050405020304" pitchFamily="18" charset="0"/>
                <a:ea typeface="黑体"/>
                <a:cs typeface="Times New Roman" panose="02020603050405020304" pitchFamily="18" charset="0"/>
              </a:rPr>
              <a:t>cat alert | grep –</a:t>
            </a:r>
            <a:r>
              <a:rPr lang="en-US" altLang="zh-CN" sz="2600" b="1" kern="0" dirty="0" err="1">
                <a:solidFill>
                  <a:srgbClr val="000000"/>
                </a:solidFill>
                <a:effectLst>
                  <a:outerShdw blurRad="38100" dist="38100" dir="2700000" algn="tl">
                    <a:srgbClr val="000000">
                      <a:alpha val="43137"/>
                    </a:srgbClr>
                  </a:outerShdw>
                </a:effectLst>
                <a:latin typeface="Times New Roman" panose="02020603050405020304" pitchFamily="18" charset="0"/>
                <a:ea typeface="黑体"/>
                <a:cs typeface="Times New Roman" panose="02020603050405020304" pitchFamily="18" charset="0"/>
              </a:rPr>
              <a:t>i</a:t>
            </a:r>
            <a:r>
              <a:rPr lang="en-US" altLang="zh-CN" sz="2600" b="1" kern="0" dirty="0">
                <a:solidFill>
                  <a:srgbClr val="000000"/>
                </a:solidFill>
                <a:effectLst>
                  <a:outerShdw blurRad="38100" dist="38100" dir="2700000" algn="tl">
                    <a:srgbClr val="000000">
                      <a:alpha val="43137"/>
                    </a:srgbClr>
                  </a:outerShdw>
                </a:effectLst>
                <a:latin typeface="Times New Roman" panose="02020603050405020304" pitchFamily="18" charset="0"/>
                <a:ea typeface="黑体"/>
                <a:cs typeface="Times New Roman" panose="02020603050405020304" pitchFamily="18" charset="0"/>
              </a:rPr>
              <a:t> ping</a:t>
            </a:r>
          </a:p>
        </p:txBody>
      </p:sp>
    </p:spTree>
    <p:extLst>
      <p:ext uri="{BB962C8B-B14F-4D97-AF65-F5344CB8AC3E}">
        <p14:creationId xmlns:p14="http://schemas.microsoft.com/office/powerpoint/2010/main" val="4229668368"/>
      </p:ext>
    </p:extLst>
  </p:cSld>
  <p:clrMapOvr>
    <a:masterClrMapping/>
  </p:clrMapOvr>
  <p:transition>
    <p:fade/>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533400" y="798384"/>
            <a:ext cx="6513512" cy="487363"/>
          </a:xfrm>
          <a:noFill/>
          <a:ln w="9525">
            <a:noFill/>
            <a:miter lim="800000"/>
          </a:ln>
        </p:spPr>
        <p:txBody>
          <a:bodyPr vert="horz" wrap="square" lIns="91440" tIns="45720" rIns="91440" bIns="45720" numCol="1" anchor="ctr" anchorCtr="0" compatLnSpc="1"/>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Snort</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的安装</a:t>
            </a:r>
          </a:p>
        </p:txBody>
      </p:sp>
      <p:sp>
        <p:nvSpPr>
          <p:cNvPr id="61443" name="Rectangle 3"/>
          <p:cNvSpPr>
            <a:spLocks noGrp="1" noChangeArrowheads="1"/>
          </p:cNvSpPr>
          <p:nvPr>
            <p:ph type="body" idx="1"/>
          </p:nvPr>
        </p:nvSpPr>
        <p:spPr>
          <a:xfrm>
            <a:off x="395536" y="1772816"/>
            <a:ext cx="8460940" cy="3033700"/>
          </a:xfrm>
        </p:spPr>
        <p:txBody>
          <a:bodyPr/>
          <a:lstStyle/>
          <a:p>
            <a:pPr eaLnBrk="1" hangingPunct="1"/>
            <a:r>
              <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Windows</a:t>
            </a:r>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环</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境下的安装</a:t>
            </a:r>
          </a:p>
          <a:p>
            <a:pPr lvl="1" eaLnBrk="1" hangingPunct="1"/>
            <a:r>
              <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npcap</a:t>
            </a:r>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安装</a:t>
            </a:r>
            <a:endPar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winpcap</a:t>
            </a:r>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安装</a:t>
            </a: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安装</a:t>
            </a:r>
            <a:endPar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验证安装结果</a:t>
            </a:r>
            <a:endPar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2" eaLnBrk="1" hangingPunct="1"/>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进入到</a:t>
            </a:r>
            <a:r>
              <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的安装目录下的</a:t>
            </a:r>
            <a:r>
              <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bin</a:t>
            </a:r>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目录，进入</a:t>
            </a:r>
            <a:r>
              <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cmd</a:t>
            </a:r>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，输入命令</a:t>
            </a:r>
            <a:r>
              <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 -ev</a:t>
            </a:r>
          </a:p>
          <a:p>
            <a:pPr lvl="1" eaLnBrk="1" hangingPunct="1"/>
            <a:endPar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eaLnBrk="1" hangingPunct="1"/>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141976" y="5293585"/>
            <a:ext cx="1714500" cy="800100"/>
          </a:xfrm>
          <a:prstGeom prst="rect">
            <a:avLst/>
          </a:prstGeom>
          <a:noFill/>
          <a:ln w="9525">
            <a:noFill/>
            <a:miter lim="800000"/>
            <a:headEnd/>
            <a:tailEnd/>
          </a:ln>
        </p:spPr>
      </p:pic>
    </p:spTree>
    <p:extLst>
      <p:ext uri="{BB962C8B-B14F-4D97-AF65-F5344CB8AC3E}">
        <p14:creationId xmlns:p14="http://schemas.microsoft.com/office/powerpoint/2010/main" val="2008493673"/>
      </p:ext>
    </p:extLst>
  </p:cSld>
  <p:clrMapOvr>
    <a:masterClrMapping/>
  </p:clrMapOvr>
  <p:transition>
    <p:fade/>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533400" y="798384"/>
            <a:ext cx="6513512" cy="487363"/>
          </a:xfrm>
          <a:noFill/>
          <a:ln w="9525">
            <a:noFill/>
            <a:miter lim="800000"/>
          </a:ln>
        </p:spPr>
        <p:txBody>
          <a:bodyPr vert="horz" wrap="square" lIns="91440" tIns="45720" rIns="91440" bIns="45720" numCol="1" anchor="ctr" anchorCtr="0" compatLnSpc="1"/>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Snort</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的安装</a:t>
            </a:r>
          </a:p>
        </p:txBody>
      </p:sp>
      <p:sp>
        <p:nvSpPr>
          <p:cNvPr id="61443" name="Rectangle 3"/>
          <p:cNvSpPr>
            <a:spLocks noGrp="1" noChangeArrowheads="1"/>
          </p:cNvSpPr>
          <p:nvPr>
            <p:ph type="body" idx="1"/>
          </p:nvPr>
        </p:nvSpPr>
        <p:spPr>
          <a:xfrm>
            <a:off x="395536" y="1772816"/>
            <a:ext cx="8460940" cy="3033700"/>
          </a:xfrm>
        </p:spPr>
        <p:txBody>
          <a:bodyPr/>
          <a:lstStyle/>
          <a:p>
            <a:pPr eaLnBrk="1" hangingPunct="1"/>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下载</a:t>
            </a:r>
            <a:endPar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官网：</a:t>
            </a:r>
            <a:r>
              <a:rPr lang="en-US" altLang="zh-CN">
                <a:hlinkClick r:id="rId3"/>
              </a:rPr>
              <a:t>https://www.snort.org</a:t>
            </a:r>
            <a:endParaRPr lang="en-US" altLang="zh-CN"/>
          </a:p>
          <a:p>
            <a:pPr lvl="2" eaLnBrk="1" hangingPunct="1"/>
            <a:r>
              <a:rPr lang="en-US" altLang="zh-CN"/>
              <a:t>Snort</a:t>
            </a:r>
            <a:r>
              <a:rPr lang="zh-CN" altLang="en-US"/>
              <a:t>下载 </a:t>
            </a:r>
            <a:r>
              <a:rPr lang="en-US" altLang="zh-CN">
                <a:hlinkClick r:id="rId4"/>
              </a:rPr>
              <a:t>Snort_2.9.17_Installer.x86.exe</a:t>
            </a:r>
            <a:endParaRPr lang="en-US" altLang="zh-CN"/>
          </a:p>
          <a:p>
            <a:pPr lvl="2" eaLnBrk="1" hangingPunct="1"/>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规则下载 </a:t>
            </a:r>
            <a:endPar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WinPcap</a:t>
            </a:r>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官网：</a:t>
            </a:r>
            <a:r>
              <a:rPr lang="en-US" altLang="zh-CN">
                <a:hlinkClick r:id="rId5"/>
              </a:rPr>
              <a:t>https://www.winpcap.org</a:t>
            </a:r>
            <a:r>
              <a:rPr lang="en-US" altLang="zh-CN"/>
              <a:t> </a:t>
            </a:r>
          </a:p>
          <a:p>
            <a:pPr lvl="1" eaLnBrk="1" hangingPunct="1"/>
            <a:r>
              <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npcap</a:t>
            </a:r>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官网下载：</a:t>
            </a:r>
            <a:r>
              <a:rPr lang="en-US" altLang="zh-CN">
                <a:hlinkClick r:id="rId6"/>
              </a:rPr>
              <a:t> https://nmap.org/npcap/dist/npcap-1.31.exe</a:t>
            </a:r>
            <a:endParaRPr lang="zh-CN" altLang="en-US" dirty="0"/>
          </a:p>
          <a:p>
            <a:pPr eaLnBrk="1" hangingPunct="1"/>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4" name="Picture 4" descr="Snort">
            <a:hlinkClick r:id="rId7" invalidUrl="/" action="ppaction://hlinkfile"/>
          </p:cNvPr>
          <p:cNvPicPr>
            <a:picLocks noChangeAspect="1" noChangeArrowheads="1"/>
          </p:cNvPicPr>
          <p:nvPr/>
        </p:nvPicPr>
        <p:blipFill>
          <a:blip r:embed="rId8"/>
          <a:srcRect/>
          <a:stretch>
            <a:fillRect/>
          </a:stretch>
        </p:blipFill>
        <p:spPr bwMode="auto">
          <a:xfrm>
            <a:off x="7141976" y="5293585"/>
            <a:ext cx="1714500" cy="800100"/>
          </a:xfrm>
          <a:prstGeom prst="rect">
            <a:avLst/>
          </a:prstGeom>
          <a:noFill/>
          <a:ln w="9525">
            <a:noFill/>
            <a:miter lim="800000"/>
            <a:headEnd/>
            <a:tailEnd/>
          </a:ln>
        </p:spPr>
      </p:pic>
    </p:spTree>
    <p:extLst>
      <p:ext uri="{BB962C8B-B14F-4D97-AF65-F5344CB8AC3E}">
        <p14:creationId xmlns:p14="http://schemas.microsoft.com/office/powerpoint/2010/main" val="1591016815"/>
      </p:ext>
    </p:extLst>
  </p:cSld>
  <p:clrMapOvr>
    <a:masterClrMapping/>
  </p:clrMapOvr>
  <p:transition>
    <p:fade/>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215516" y="764704"/>
            <a:ext cx="6513512" cy="487363"/>
          </a:xfrm>
          <a:noFill/>
          <a:ln w="9525">
            <a:noFill/>
            <a:miter lim="800000"/>
          </a:ln>
        </p:spPr>
        <p:txBody>
          <a:bodyPr vert="horz" wrap="square" lIns="91440" tIns="45720" rIns="91440" bIns="45720" numCol="1" anchor="ctr" anchorCtr="0" compatLnSpc="1"/>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Snort</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的安装</a:t>
            </a:r>
          </a:p>
        </p:txBody>
      </p:sp>
      <p:sp>
        <p:nvSpPr>
          <p:cNvPr id="2" name="内容占位符 1"/>
          <p:cNvSpPr>
            <a:spLocks noGrp="1"/>
          </p:cNvSpPr>
          <p:nvPr>
            <p:ph idx="1"/>
          </p:nvPr>
        </p:nvSpPr>
        <p:spPr/>
        <p:txBody>
          <a:bodyPr/>
          <a:lstStyle/>
          <a:p>
            <a:endParaRPr lang="zh-CN" altLang="en-US"/>
          </a:p>
        </p:txBody>
      </p:sp>
      <p:pic>
        <p:nvPicPr>
          <p:cNvPr id="6" name="图片 5"/>
          <p:cNvPicPr>
            <a:picLocks noChangeAspect="1"/>
          </p:cNvPicPr>
          <p:nvPr/>
        </p:nvPicPr>
        <p:blipFill>
          <a:blip r:embed="rId3"/>
          <a:stretch>
            <a:fillRect/>
          </a:stretch>
        </p:blipFill>
        <p:spPr>
          <a:xfrm>
            <a:off x="538534" y="1303356"/>
            <a:ext cx="6574396" cy="5097444"/>
          </a:xfrm>
          <a:prstGeom prst="rect">
            <a:avLst/>
          </a:prstGeom>
        </p:spPr>
      </p:pic>
      <p:pic>
        <p:nvPicPr>
          <p:cNvPr id="7" name="图片 6"/>
          <p:cNvPicPr>
            <a:picLocks noChangeAspect="1"/>
          </p:cNvPicPr>
          <p:nvPr/>
        </p:nvPicPr>
        <p:blipFill>
          <a:blip r:embed="rId4"/>
          <a:stretch>
            <a:fillRect/>
          </a:stretch>
        </p:blipFill>
        <p:spPr>
          <a:xfrm>
            <a:off x="971600" y="1273770"/>
            <a:ext cx="6612553" cy="5127029"/>
          </a:xfrm>
          <a:prstGeom prst="rect">
            <a:avLst/>
          </a:prstGeom>
        </p:spPr>
      </p:pic>
      <p:pic>
        <p:nvPicPr>
          <p:cNvPr id="8" name="图片 7"/>
          <p:cNvPicPr>
            <a:picLocks noChangeAspect="1"/>
          </p:cNvPicPr>
          <p:nvPr/>
        </p:nvPicPr>
        <p:blipFill>
          <a:blip r:embed="rId5"/>
          <a:stretch>
            <a:fillRect/>
          </a:stretch>
        </p:blipFill>
        <p:spPr>
          <a:xfrm>
            <a:off x="1430194" y="1295399"/>
            <a:ext cx="6587025" cy="5107236"/>
          </a:xfrm>
          <a:prstGeom prst="rect">
            <a:avLst/>
          </a:prstGeom>
        </p:spPr>
      </p:pic>
      <p:pic>
        <p:nvPicPr>
          <p:cNvPr id="10" name="图片 9"/>
          <p:cNvPicPr>
            <a:picLocks noChangeAspect="1"/>
          </p:cNvPicPr>
          <p:nvPr/>
        </p:nvPicPr>
        <p:blipFill>
          <a:blip r:embed="rId6"/>
          <a:stretch>
            <a:fillRect/>
          </a:stretch>
        </p:blipFill>
        <p:spPr>
          <a:xfrm>
            <a:off x="2054276" y="1301521"/>
            <a:ext cx="5964196" cy="5007799"/>
          </a:xfrm>
          <a:prstGeom prst="rect">
            <a:avLst/>
          </a:prstGeom>
        </p:spPr>
      </p:pic>
      <p:pic>
        <p:nvPicPr>
          <p:cNvPr id="11" name="图片 10"/>
          <p:cNvPicPr>
            <a:picLocks noChangeAspect="1"/>
          </p:cNvPicPr>
          <p:nvPr/>
        </p:nvPicPr>
        <p:blipFill>
          <a:blip r:embed="rId7"/>
          <a:stretch>
            <a:fillRect/>
          </a:stretch>
        </p:blipFill>
        <p:spPr>
          <a:xfrm>
            <a:off x="799132" y="1915210"/>
            <a:ext cx="7660035" cy="3780420"/>
          </a:xfrm>
          <a:prstGeom prst="rect">
            <a:avLst/>
          </a:prstGeom>
        </p:spPr>
      </p:pic>
    </p:spTree>
    <p:extLst>
      <p:ext uri="{BB962C8B-B14F-4D97-AF65-F5344CB8AC3E}">
        <p14:creationId xmlns:p14="http://schemas.microsoft.com/office/powerpoint/2010/main" val="4215357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647564" y="808037"/>
            <a:ext cx="6513512" cy="487363"/>
          </a:xfrm>
          <a:noFill/>
          <a:ln w="9525">
            <a:noFill/>
            <a:miter lim="800000"/>
          </a:ln>
        </p:spPr>
        <p:txBody>
          <a:bodyPr vert="horz" wrap="square" lIns="91440" tIns="45720" rIns="91440" bIns="45720" numCol="1" anchor="ctr" anchorCtr="0" compatLnSpc="1"/>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Snort</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的配置</a:t>
            </a:r>
          </a:p>
        </p:txBody>
      </p:sp>
      <p:sp>
        <p:nvSpPr>
          <p:cNvPr id="63491" name="Rectangle 3"/>
          <p:cNvSpPr>
            <a:spLocks noGrp="1" noChangeArrowheads="1"/>
          </p:cNvSpPr>
          <p:nvPr>
            <p:ph type="body" idx="1"/>
          </p:nvPr>
        </p:nvSpPr>
        <p:spPr>
          <a:xfrm>
            <a:off x="653897" y="1772816"/>
            <a:ext cx="8191500" cy="3177716"/>
          </a:xfrm>
        </p:spPr>
        <p:txBody>
          <a:bodyPr/>
          <a:lstStyle/>
          <a:p>
            <a:pPr eaLnBrk="1" hangingPunct="1"/>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配置</a:t>
            </a:r>
            <a:r>
              <a:rPr lang="en-US" altLang="zh-CN" b="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a:t>
            </a:r>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：与</a:t>
            </a:r>
            <a:r>
              <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Linux</a:t>
            </a:r>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类似，修改</a:t>
            </a:r>
            <a:r>
              <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snort.conf</a:t>
            </a:r>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文件</a:t>
            </a:r>
            <a:endPar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eaLnBrk="1" hangingPunct="1"/>
            <a:endPar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设置网络变量 </a:t>
            </a:r>
          </a:p>
          <a:p>
            <a:pPr lvl="1" eaLnBrk="1" hangingPunct="1"/>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配置预处理器 </a:t>
            </a:r>
          </a:p>
          <a:p>
            <a:pPr lvl="1" eaLnBrk="1" hangingPunct="1"/>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配置输出插件</a:t>
            </a:r>
          </a:p>
          <a:p>
            <a:pPr lvl="1" eaLnBrk="1" hangingPunct="1"/>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配置所使用的规则集 </a:t>
            </a:r>
          </a:p>
        </p:txBody>
      </p:sp>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161076" y="5157192"/>
            <a:ext cx="1714500" cy="800100"/>
          </a:xfrm>
          <a:prstGeom prst="rect">
            <a:avLst/>
          </a:prstGeom>
          <a:noFill/>
          <a:ln w="9525">
            <a:noFill/>
            <a:miter lim="800000"/>
            <a:headEnd/>
            <a:tailEnd/>
          </a:ln>
        </p:spPr>
      </p:pic>
    </p:spTree>
    <p:extLst>
      <p:ext uri="{BB962C8B-B14F-4D97-AF65-F5344CB8AC3E}">
        <p14:creationId xmlns:p14="http://schemas.microsoft.com/office/powerpoint/2010/main" val="3192171473"/>
      </p:ext>
    </p:extLst>
  </p:cSld>
  <p:clrMapOvr>
    <a:masterClrMapping/>
  </p:clrMapOvr>
  <p:transition>
    <p:fade/>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647564" y="808037"/>
            <a:ext cx="6513512" cy="487363"/>
          </a:xfrm>
          <a:noFill/>
          <a:ln w="9525">
            <a:noFill/>
            <a:miter lim="800000"/>
          </a:ln>
        </p:spPr>
        <p:txBody>
          <a:bodyPr vert="horz" wrap="square" lIns="91440" tIns="45720" rIns="91440" bIns="45720" numCol="1" anchor="ctr" anchorCtr="0" compatLnSpc="1"/>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Snort</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的配置</a:t>
            </a:r>
          </a:p>
        </p:txBody>
      </p:sp>
      <p:sp>
        <p:nvSpPr>
          <p:cNvPr id="63491" name="Rectangle 3"/>
          <p:cNvSpPr>
            <a:spLocks noGrp="1" noChangeArrowheads="1"/>
          </p:cNvSpPr>
          <p:nvPr>
            <p:ph type="body" idx="1"/>
          </p:nvPr>
        </p:nvSpPr>
        <p:spPr>
          <a:xfrm>
            <a:off x="539552" y="1484784"/>
            <a:ext cx="8191500" cy="3177716"/>
          </a:xfrm>
        </p:spPr>
        <p:txBody>
          <a:bodyPr/>
          <a:lstStyle/>
          <a:p>
            <a:pPr eaLnBrk="1" hangingPunct="1"/>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规则配置</a:t>
            </a:r>
            <a:endPar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r>
              <a:rPr lang="zh-CN" altLang="en-US" sz="20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将下载好的规则解压，并将</a:t>
            </a:r>
            <a:r>
              <a:rPr lang="en-US" altLang="zh-CN" sz="20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rules</a:t>
            </a:r>
            <a:r>
              <a:rPr lang="zh-CN" altLang="en-US" sz="20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放至安装目录下的</a:t>
            </a:r>
            <a:r>
              <a:rPr lang="en-US" altLang="zh-CN" sz="20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rules</a:t>
            </a:r>
            <a:r>
              <a:rPr lang="zh-CN" altLang="en-US" sz="20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文件夹中</a:t>
            </a:r>
            <a:endParaRPr lang="en-US" altLang="zh-CN" sz="20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eaLnBrk="1" hangingPunct="1"/>
            <a:endPar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161076" y="5157192"/>
            <a:ext cx="1714500" cy="800100"/>
          </a:xfrm>
          <a:prstGeom prst="rect">
            <a:avLst/>
          </a:prstGeom>
          <a:noFill/>
          <a:ln w="9525">
            <a:noFill/>
            <a:miter lim="800000"/>
            <a:headEnd/>
            <a:tailEnd/>
          </a:ln>
        </p:spPr>
      </p:pic>
      <p:pic>
        <p:nvPicPr>
          <p:cNvPr id="2" name="图片 1"/>
          <p:cNvPicPr>
            <a:picLocks noChangeAspect="1"/>
          </p:cNvPicPr>
          <p:nvPr/>
        </p:nvPicPr>
        <p:blipFill>
          <a:blip r:embed="rId5"/>
          <a:stretch>
            <a:fillRect/>
          </a:stretch>
        </p:blipFill>
        <p:spPr>
          <a:xfrm>
            <a:off x="287524" y="2501739"/>
            <a:ext cx="8573199" cy="3807581"/>
          </a:xfrm>
          <a:prstGeom prst="rect">
            <a:avLst/>
          </a:prstGeom>
        </p:spPr>
      </p:pic>
      <p:pic>
        <p:nvPicPr>
          <p:cNvPr id="7" name="图片 6"/>
          <p:cNvPicPr>
            <a:picLocks noChangeAspect="1"/>
          </p:cNvPicPr>
          <p:nvPr/>
        </p:nvPicPr>
        <p:blipFill>
          <a:blip r:embed="rId6"/>
          <a:stretch>
            <a:fillRect/>
          </a:stretch>
        </p:blipFill>
        <p:spPr>
          <a:xfrm>
            <a:off x="539553" y="2498623"/>
            <a:ext cx="8443528" cy="4150329"/>
          </a:xfrm>
          <a:prstGeom prst="rect">
            <a:avLst/>
          </a:prstGeom>
        </p:spPr>
      </p:pic>
    </p:spTree>
    <p:extLst>
      <p:ext uri="{BB962C8B-B14F-4D97-AF65-F5344CB8AC3E}">
        <p14:creationId xmlns:p14="http://schemas.microsoft.com/office/powerpoint/2010/main" val="29883736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647564" y="808037"/>
            <a:ext cx="6513512" cy="487363"/>
          </a:xfrm>
          <a:noFill/>
          <a:ln w="9525">
            <a:noFill/>
            <a:miter lim="800000"/>
          </a:ln>
        </p:spPr>
        <p:txBody>
          <a:bodyPr vert="horz" wrap="square" lIns="91440" tIns="45720" rIns="91440" bIns="45720" numCol="1" anchor="ctr" anchorCtr="0" compatLnSpc="1"/>
          <a:lstStyle/>
          <a:p>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Snort</a:t>
            </a:r>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测试</a:t>
            </a:r>
            <a:endPar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63491" name="Rectangle 3"/>
          <p:cNvSpPr>
            <a:spLocks noGrp="1" noChangeArrowheads="1"/>
          </p:cNvSpPr>
          <p:nvPr>
            <p:ph type="body" idx="1"/>
          </p:nvPr>
        </p:nvSpPr>
        <p:spPr>
          <a:xfrm>
            <a:off x="539552" y="1484784"/>
            <a:ext cx="8336024" cy="3177716"/>
          </a:xfrm>
        </p:spPr>
        <p:txBody>
          <a:bodyPr/>
          <a:lstStyle/>
          <a:p>
            <a:pPr eaLnBrk="1" hangingPunct="1"/>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打开</a:t>
            </a:r>
            <a:r>
              <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cmd</a:t>
            </a:r>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，进入到安装目录下的</a:t>
            </a:r>
            <a:r>
              <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bin</a:t>
            </a:r>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目录中，执行命令</a:t>
            </a:r>
            <a:r>
              <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 -dev -l ..\log -h 192.168.1.0/24 -c ..\etc\snort.conf</a:t>
            </a:r>
            <a:endPar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161076" y="5157192"/>
            <a:ext cx="1714500" cy="800100"/>
          </a:xfrm>
          <a:prstGeom prst="rect">
            <a:avLst/>
          </a:prstGeom>
          <a:noFill/>
          <a:ln w="9525">
            <a:noFill/>
            <a:miter lim="800000"/>
            <a:headEnd/>
            <a:tailEnd/>
          </a:ln>
        </p:spPr>
      </p:pic>
      <p:pic>
        <p:nvPicPr>
          <p:cNvPr id="6" name="图片 5"/>
          <p:cNvPicPr>
            <a:picLocks noChangeAspect="1"/>
          </p:cNvPicPr>
          <p:nvPr/>
        </p:nvPicPr>
        <p:blipFill>
          <a:blip r:embed="rId5"/>
          <a:stretch>
            <a:fillRect/>
          </a:stretch>
        </p:blipFill>
        <p:spPr>
          <a:xfrm>
            <a:off x="925773" y="2888940"/>
            <a:ext cx="5957093" cy="3339700"/>
          </a:xfrm>
          <a:prstGeom prst="rect">
            <a:avLst/>
          </a:prstGeom>
        </p:spPr>
      </p:pic>
    </p:spTree>
    <p:extLst>
      <p:ext uri="{BB962C8B-B14F-4D97-AF65-F5344CB8AC3E}">
        <p14:creationId xmlns:p14="http://schemas.microsoft.com/office/powerpoint/2010/main" val="3153337840"/>
      </p:ext>
    </p:extLst>
  </p:cSld>
  <p:clrMapOvr>
    <a:masterClrMapping/>
  </p:clrMapOvr>
  <p:transition>
    <p:fade/>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647564" y="808037"/>
            <a:ext cx="6513512" cy="487363"/>
          </a:xfrm>
          <a:noFill/>
          <a:ln w="9525">
            <a:noFill/>
            <a:miter lim="800000"/>
          </a:ln>
        </p:spPr>
        <p:txBody>
          <a:bodyPr vert="horz" wrap="square" lIns="91440" tIns="45720" rIns="91440" bIns="45720" numCol="1" anchor="ctr" anchorCtr="0" compatLnSpc="1"/>
          <a:lstStyle/>
          <a:p>
            <a:r>
              <a:rPr lang="zh-CN" altLang="en-US"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错误解决</a:t>
            </a:r>
            <a:endPar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63491" name="Rectangle 3"/>
          <p:cNvSpPr>
            <a:spLocks noGrp="1" noChangeArrowheads="1"/>
          </p:cNvSpPr>
          <p:nvPr>
            <p:ph type="body" idx="1"/>
          </p:nvPr>
        </p:nvSpPr>
        <p:spPr>
          <a:xfrm>
            <a:off x="539552" y="1484784"/>
            <a:ext cx="8604448" cy="3177716"/>
          </a:xfrm>
        </p:spPr>
        <p:txBody>
          <a:bodyPr/>
          <a:lstStyle/>
          <a:p>
            <a:pPr marL="514350" indent="-514350" eaLnBrk="1" hangingPunct="1">
              <a:buFont typeface="+mj-lt"/>
              <a:buAutoNum type="arabicPeriod"/>
            </a:pPr>
            <a:r>
              <a:rPr lang="en-US" altLang="zh-CN" b="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ERROR: ../etc/snort.conf(250)</a:t>
            </a:r>
          </a:p>
          <a:p>
            <a:pPr lvl="1" eaLnBrk="1" hangingPunct="1"/>
            <a:r>
              <a:rPr lang="zh-CN" altLang="en-US" sz="28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8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snort.conf</a:t>
            </a:r>
            <a:r>
              <a:rPr lang="zh-CN" altLang="en-US" sz="28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中文件路径后多加</a:t>
            </a:r>
            <a:r>
              <a:rPr lang="en-US" altLang="zh-CN" sz="28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514350" indent="-514350" eaLnBrk="1" hangingPunct="1">
              <a:buFont typeface="+mj-lt"/>
              <a:buAutoNum type="arabicPeriod"/>
            </a:pPr>
            <a:r>
              <a:rPr lang="en-US" altLang="zh-CN" b="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ERROR: c:\snort\etc\snort.conf(247)</a:t>
            </a:r>
          </a:p>
          <a:p>
            <a:pPr marL="857250" lvl="1" indent="-457200" eaLnBrk="1" hangingPunct="1"/>
            <a:r>
              <a:rPr lang="en-US" altLang="zh-CN" sz="28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snort.conf</a:t>
            </a:r>
            <a:r>
              <a:rPr lang="zh-CN" altLang="en-US" sz="28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中有路径未改为绝对位置</a:t>
            </a:r>
            <a:endParaRPr lang="en-US" altLang="zh-CN" sz="28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514350" indent="-514350" eaLnBrk="1" hangingPunct="1">
              <a:buFont typeface="+mj-lt"/>
              <a:buAutoNum type="arabicPeriod"/>
            </a:pPr>
            <a:r>
              <a:rPr lang="en-US" altLang="zh-CN" b="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ERROR: E:\softwares\Snort\etc\snort.conf(512)</a:t>
            </a:r>
          </a:p>
          <a:p>
            <a:pPr lvl="1" eaLnBrk="1" hangingPunct="1"/>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未新建</a:t>
            </a:r>
            <a:r>
              <a:rPr lang="en-US" altLang="zh-CN" sz="28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white_list.rules</a:t>
            </a:r>
            <a:r>
              <a:rPr lang="zh-CN" altLang="en-US" sz="28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和</a:t>
            </a:r>
            <a:r>
              <a:rPr lang="en-US" altLang="zh-CN" sz="28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black_list.rules</a:t>
            </a:r>
            <a:r>
              <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文件</a:t>
            </a:r>
            <a:endPar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514350" indent="-514350" eaLnBrk="1" hangingPunct="1">
              <a:buFont typeface="+mj-lt"/>
              <a:buAutoNum type="arabicPeriod"/>
            </a:pPr>
            <a:endParaRPr lang="en-US" altLang="zh-C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514350" indent="-514350" eaLnBrk="1" hangingPunct="1">
              <a:buFont typeface="+mj-lt"/>
              <a:buAutoNum type="arabicPeriod"/>
            </a:pPr>
            <a:endPar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4" name="Picture 4" descr="Snort">
            <a:hlinkClick r:id="rId3" invalidUrl="/" action="ppaction://hlinkfile"/>
          </p:cNvPr>
          <p:cNvPicPr>
            <a:picLocks noChangeAspect="1" noChangeArrowheads="1"/>
          </p:cNvPicPr>
          <p:nvPr/>
        </p:nvPicPr>
        <p:blipFill>
          <a:blip r:embed="rId4"/>
          <a:srcRect/>
          <a:stretch>
            <a:fillRect/>
          </a:stretch>
        </p:blipFill>
        <p:spPr bwMode="auto">
          <a:xfrm>
            <a:off x="7161076" y="5157192"/>
            <a:ext cx="1714500" cy="800100"/>
          </a:xfrm>
          <a:prstGeom prst="rect">
            <a:avLst/>
          </a:prstGeom>
          <a:noFill/>
          <a:ln w="9525">
            <a:noFill/>
            <a:miter lim="800000"/>
            <a:headEnd/>
            <a:tailEnd/>
          </a:ln>
        </p:spPr>
      </p:pic>
    </p:spTree>
    <p:extLst>
      <p:ext uri="{BB962C8B-B14F-4D97-AF65-F5344CB8AC3E}">
        <p14:creationId xmlns:p14="http://schemas.microsoft.com/office/powerpoint/2010/main" val="65720636"/>
      </p:ext>
    </p:extLst>
  </p:cSld>
  <p:clrMapOvr>
    <a:masterClrMapping/>
  </p:clrMapOvr>
  <p:transition>
    <p:fade/>
  </p:transition>
</p:sld>
</file>

<file path=ppt/slides/slide1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539552" y="692696"/>
            <a:ext cx="7283450" cy="612068"/>
          </a:xfrm>
          <a:noFill/>
          <a:ln w="9525">
            <a:noFill/>
            <a:miter lim="800000"/>
          </a:ln>
        </p:spPr>
        <p:txBody>
          <a:bodyPr vert="horz" wrap="square" lIns="91440" tIns="45720" rIns="91440" bIns="45720" numCol="1" anchor="ctr" anchorCtr="0" compatLnSpc="1"/>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8.15  </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异常检测的网络</a:t>
            </a:r>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IDS</a:t>
            </a:r>
          </a:p>
        </p:txBody>
      </p:sp>
      <p:sp>
        <p:nvSpPr>
          <p:cNvPr id="214019" name="Rectangle 3"/>
          <p:cNvSpPr>
            <a:spLocks noGrp="1" noChangeArrowheads="1"/>
          </p:cNvSpPr>
          <p:nvPr>
            <p:ph type="body" idx="1"/>
          </p:nvPr>
        </p:nvSpPr>
        <p:spPr>
          <a:xfrm>
            <a:off x="719572" y="3032956"/>
            <a:ext cx="8001000" cy="2592288"/>
          </a:xfrm>
        </p:spPr>
        <p:txBody>
          <a:bodyPr/>
          <a:lstStyle/>
          <a:p>
            <a:pPr eaLnBrk="1" hangingPunct="1"/>
            <a:r>
              <a:rPr lang="zh-CN" altLang="en-US" sz="28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异常检测的</a:t>
            </a:r>
            <a:r>
              <a:rPr lang="en-US" altLang="zh-CN" sz="28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NIDS</a:t>
            </a:r>
            <a:r>
              <a:rPr lang="zh-CN" altLang="en-US" sz="28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可以有一定的自适应能力</a:t>
            </a:r>
          </a:p>
          <a:p>
            <a:pPr lvl="1" eaLnBrk="1" hangingPunct="1"/>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利用网络系统的已知流量模式进行学习，把正常流量模式的知识学习到</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中</a:t>
            </a:r>
          </a:p>
          <a:p>
            <a:pPr lvl="1" eaLnBrk="1" hangingPunct="1"/>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当出现新的攻击时，根据异常行为来识别</a:t>
            </a:r>
          </a:p>
          <a:p>
            <a:pPr lvl="1" eaLnBrk="1" hangingPunct="1"/>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并且，对于新的攻击以及异常的模式可以反馈到</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系统中</a:t>
            </a:r>
          </a:p>
        </p:txBody>
      </p:sp>
      <p:sp>
        <p:nvSpPr>
          <p:cNvPr id="2" name="矩形 1"/>
          <p:cNvSpPr/>
          <p:nvPr/>
        </p:nvSpPr>
        <p:spPr>
          <a:xfrm>
            <a:off x="712211" y="1503052"/>
            <a:ext cx="8208912" cy="1409617"/>
          </a:xfrm>
          <a:prstGeom prst="rect">
            <a:avLst/>
          </a:prstGeom>
        </p:spPr>
        <p:txBody>
          <a:bodyPr wrap="square">
            <a:spAutoFit/>
          </a:bodyPr>
          <a:lstStyle/>
          <a:p>
            <a:pPr marL="342900" indent="-342900">
              <a:spcBef>
                <a:spcPct val="20000"/>
              </a:spcBef>
              <a:buClr>
                <a:srgbClr val="3399FF"/>
              </a:buClr>
              <a:buFont typeface="Wingdings" panose="05000000000000000000" pitchFamily="2" charset="2"/>
              <a:buChar char="v"/>
            </a:pPr>
            <a:r>
              <a:rPr lang="zh-CN" altLang="en-US" sz="2800" b="1" dirty="0">
                <a:solidFill>
                  <a:srgbClr val="0000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基于规则和特征匹配的</a:t>
            </a:r>
            <a:r>
              <a:rPr lang="en-US" altLang="zh-CN" sz="2800" b="1" dirty="0">
                <a:solidFill>
                  <a:srgbClr val="0000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NIDS</a:t>
            </a:r>
            <a:r>
              <a:rPr lang="zh-CN" altLang="en-US" sz="2800" b="1" dirty="0">
                <a:solidFill>
                  <a:srgbClr val="0000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的缺点</a:t>
            </a:r>
          </a:p>
          <a:p>
            <a:pPr marL="742950" lvl="1" indent="-28575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对于新的攻击不能正确识别</a:t>
            </a:r>
          </a:p>
          <a:p>
            <a:pPr marL="742950" lvl="1" indent="-28575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人工提取特征，把攻击转换成规则，加入到规则库中</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214019">
                                            <p:txEl>
                                              <p:pRg st="0" end="0"/>
                                            </p:txEl>
                                          </p:spTgt>
                                        </p:tgtEl>
                                        <p:attrNameLst>
                                          <p:attrName>style.visibility</p:attrName>
                                        </p:attrNameLst>
                                      </p:cBhvr>
                                      <p:to>
                                        <p:strVal val="visible"/>
                                      </p:to>
                                    </p:set>
                                    <p:animEffect transition="in" filter="wipe(up)">
                                      <p:cBhvr>
                                        <p:cTn id="14" dur="500"/>
                                        <p:tgtEl>
                                          <p:spTgt spid="214019">
                                            <p:txEl>
                                              <p:pRg st="0" end="0"/>
                                            </p:txEl>
                                          </p:spTgt>
                                        </p:tgtEl>
                                      </p:cBhvr>
                                    </p:animEffect>
                                  </p:childTnLst>
                                </p:cTn>
                              </p:par>
                              <p:par>
                                <p:cTn id="15" presetID="22" presetClass="entr" presetSubtype="1" fill="hold" grpId="0" nodeType="withEffect">
                                  <p:stCondLst>
                                    <p:cond delay="0"/>
                                  </p:stCondLst>
                                  <p:childTnLst>
                                    <p:set>
                                      <p:cBhvr>
                                        <p:cTn id="16" dur="1" fill="hold">
                                          <p:stCondLst>
                                            <p:cond delay="0"/>
                                          </p:stCondLst>
                                        </p:cTn>
                                        <p:tgtEl>
                                          <p:spTgt spid="214019">
                                            <p:txEl>
                                              <p:pRg st="1" end="1"/>
                                            </p:txEl>
                                          </p:spTgt>
                                        </p:tgtEl>
                                        <p:attrNameLst>
                                          <p:attrName>style.visibility</p:attrName>
                                        </p:attrNameLst>
                                      </p:cBhvr>
                                      <p:to>
                                        <p:strVal val="visible"/>
                                      </p:to>
                                    </p:set>
                                    <p:animEffect transition="in" filter="wipe(up)">
                                      <p:cBhvr>
                                        <p:cTn id="17" dur="500"/>
                                        <p:tgtEl>
                                          <p:spTgt spid="214019">
                                            <p:txEl>
                                              <p:pRg st="1" end="1"/>
                                            </p:txEl>
                                          </p:spTgt>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214019">
                                            <p:txEl>
                                              <p:pRg st="2" end="2"/>
                                            </p:txEl>
                                          </p:spTgt>
                                        </p:tgtEl>
                                        <p:attrNameLst>
                                          <p:attrName>style.visibility</p:attrName>
                                        </p:attrNameLst>
                                      </p:cBhvr>
                                      <p:to>
                                        <p:strVal val="visible"/>
                                      </p:to>
                                    </p:set>
                                    <p:animEffect transition="in" filter="wipe(up)">
                                      <p:cBhvr>
                                        <p:cTn id="20" dur="500"/>
                                        <p:tgtEl>
                                          <p:spTgt spid="214019">
                                            <p:txEl>
                                              <p:pRg st="2" end="2"/>
                                            </p:txEl>
                                          </p:spTgt>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214019">
                                            <p:txEl>
                                              <p:pRg st="3" end="3"/>
                                            </p:txEl>
                                          </p:spTgt>
                                        </p:tgtEl>
                                        <p:attrNameLst>
                                          <p:attrName>style.visibility</p:attrName>
                                        </p:attrNameLst>
                                      </p:cBhvr>
                                      <p:to>
                                        <p:strVal val="visible"/>
                                      </p:to>
                                    </p:set>
                                    <p:animEffect transition="in" filter="wipe(up)">
                                      <p:cBhvr>
                                        <p:cTn id="23" dur="500"/>
                                        <p:tgtEl>
                                          <p:spTgt spid="2140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19" grpId="0" build="p"/>
      <p:bldP spid="2" grpId="0"/>
    </p:bldLst>
  </p:timing>
</p:sld>
</file>

<file path=ppt/slides/slide1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467544" y="800708"/>
            <a:ext cx="7668530" cy="612068"/>
          </a:xfrm>
          <a:noFill/>
          <a:ln w="9525">
            <a:noFill/>
            <a:miter lim="800000"/>
          </a:ln>
        </p:spPr>
        <p:txBody>
          <a:bodyPr vert="horz" wrap="square" lIns="91440" tIns="45720" rIns="91440" bIns="45720" numCol="1" anchor="ctr" anchorCtr="0" compatLnSpc="1"/>
          <a:lstStyle/>
          <a:p>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人工神经网络</a:t>
            </a:r>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(ANN)</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用于异常检测</a:t>
            </a:r>
          </a:p>
        </p:txBody>
      </p:sp>
      <p:sp>
        <p:nvSpPr>
          <p:cNvPr id="215043" name="Rectangle 3"/>
          <p:cNvSpPr>
            <a:spLocks noGrp="1" noChangeArrowheads="1"/>
          </p:cNvSpPr>
          <p:nvPr>
            <p:ph type="body" idx="1"/>
          </p:nvPr>
        </p:nvSpPr>
        <p:spPr>
          <a:xfrm>
            <a:off x="730818" y="4589759"/>
            <a:ext cx="7772400" cy="1368152"/>
          </a:xfrm>
        </p:spPr>
        <p:txBody>
          <a:bodyPr/>
          <a:lstStyle/>
          <a:p>
            <a:pPr eaLnBrk="1" hangingPunct="1">
              <a:lnSpc>
                <a:spcPct val="90000"/>
              </a:lnSpc>
            </a:pPr>
            <a:r>
              <a:rPr lang="zh-CN" altLang="en-US" sz="2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两个例子</a:t>
            </a:r>
          </a:p>
          <a:p>
            <a:pPr lvl="1" eaLnBrk="1" hangingPunct="1">
              <a:lnSpc>
                <a:spcPct val="90000"/>
              </a:lnSpc>
            </a:pPr>
            <a:r>
              <a:rPr lang="en-US" altLang="zh-CN"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MLP</a:t>
            </a:r>
            <a:r>
              <a:rPr lang="zh-CN" altLang="en-US"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网络用于入侵检测</a:t>
            </a:r>
          </a:p>
          <a:p>
            <a:pPr lvl="1" eaLnBrk="1" hangingPunct="1">
              <a:lnSpc>
                <a:spcPct val="90000"/>
              </a:lnSpc>
            </a:pPr>
            <a:r>
              <a:rPr lang="en-US" altLang="zh-CN"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CMAC</a:t>
            </a:r>
            <a:r>
              <a:rPr lang="zh-CN" altLang="en-US"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用于拒绝服务检测</a:t>
            </a:r>
          </a:p>
        </p:txBody>
      </p:sp>
      <p:sp>
        <p:nvSpPr>
          <p:cNvPr id="2" name="矩形 1"/>
          <p:cNvSpPr/>
          <p:nvPr/>
        </p:nvSpPr>
        <p:spPr>
          <a:xfrm>
            <a:off x="730818" y="1592796"/>
            <a:ext cx="7653141" cy="1428083"/>
          </a:xfrm>
          <a:prstGeom prst="rect">
            <a:avLst/>
          </a:prstGeom>
        </p:spPr>
        <p:txBody>
          <a:bodyPr wrap="square">
            <a:spAutoFit/>
          </a:bodyPr>
          <a:lstStyle/>
          <a:p>
            <a:pPr marL="342900" indent="-342900">
              <a:lnSpc>
                <a:spcPct val="90000"/>
              </a:lnSpc>
              <a:spcBef>
                <a:spcPct val="20000"/>
              </a:spcBef>
              <a:buClr>
                <a:srgbClr val="3399FF"/>
              </a:buClr>
              <a:buFont typeface="Wingdings" panose="05000000000000000000" pitchFamily="2" charset="2"/>
              <a:buChar char="v"/>
            </a:pPr>
            <a:r>
              <a:rPr lang="en-US" altLang="zh-CN" sz="28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ANN</a:t>
            </a:r>
            <a:r>
              <a:rPr lang="zh-CN" altLang="en-US" sz="28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有比较好的非线性分析能力</a:t>
            </a:r>
          </a:p>
          <a:p>
            <a:pPr marL="342900" indent="-342900">
              <a:lnSpc>
                <a:spcPct val="90000"/>
              </a:lnSpc>
              <a:spcBef>
                <a:spcPct val="20000"/>
              </a:spcBef>
              <a:buClr>
                <a:srgbClr val="3399FF"/>
              </a:buClr>
              <a:buFont typeface="Wingdings" panose="05000000000000000000" pitchFamily="2" charset="2"/>
              <a:buChar char="v"/>
            </a:pPr>
            <a:r>
              <a:rPr lang="zh-CN" altLang="en-US" sz="28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一定程度上可以代替统计检测技术</a:t>
            </a:r>
          </a:p>
          <a:p>
            <a:pPr marL="342900" indent="-342900">
              <a:lnSpc>
                <a:spcPct val="90000"/>
              </a:lnSpc>
              <a:spcBef>
                <a:spcPct val="20000"/>
              </a:spcBef>
              <a:buClr>
                <a:srgbClr val="3399FF"/>
              </a:buClr>
              <a:buFont typeface="Wingdings" panose="05000000000000000000" pitchFamily="2" charset="2"/>
              <a:buChar char="v"/>
            </a:pPr>
            <a:r>
              <a:rPr lang="zh-CN" altLang="en-US" sz="28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通过历史数据学习用户的典型特征</a:t>
            </a:r>
          </a:p>
        </p:txBody>
      </p:sp>
      <p:sp>
        <p:nvSpPr>
          <p:cNvPr id="3" name="矩形 2"/>
          <p:cNvSpPr/>
          <p:nvPr/>
        </p:nvSpPr>
        <p:spPr>
          <a:xfrm>
            <a:off x="730818" y="3125133"/>
            <a:ext cx="7261562" cy="1360372"/>
          </a:xfrm>
          <a:prstGeom prst="rect">
            <a:avLst/>
          </a:prstGeom>
        </p:spPr>
        <p:txBody>
          <a:bodyPr wrap="square">
            <a:spAutoFit/>
          </a:bodyPr>
          <a:lstStyle/>
          <a:p>
            <a:pPr marL="342900" indent="-342900" eaLnBrk="1" hangingPunct="1">
              <a:lnSpc>
                <a:spcPct val="90000"/>
              </a:lnSpc>
              <a:spcBef>
                <a:spcPct val="20000"/>
              </a:spcBef>
              <a:buClr>
                <a:srgbClr val="3399FF"/>
              </a:buClr>
              <a:buFont typeface="Wingdings" panose="05000000000000000000" pitchFamily="2" charset="2"/>
              <a:buChar char="v"/>
            </a:pPr>
            <a:r>
              <a:rPr lang="zh-CN" altLang="en-US" sz="28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难点：</a:t>
            </a:r>
          </a:p>
          <a:p>
            <a:pPr marL="742950" lvl="1" indent="-285750">
              <a:lnSpc>
                <a:spcPct val="90000"/>
              </a:lnSpc>
              <a:spcBef>
                <a:spcPct val="20000"/>
              </a:spcBef>
              <a:buClr>
                <a:srgbClr val="FF9900"/>
              </a:buClr>
              <a:buFont typeface="Wingdings" panose="05000000000000000000" pitchFamily="2" charset="2"/>
              <a:buChar char="§"/>
            </a:pPr>
            <a:r>
              <a:rPr lang="zh-CN" altLang="en-US" sz="2600" b="1" dirty="0">
                <a:solidFill>
                  <a:srgbClr val="0000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采集好的学习样本并量化表达</a:t>
            </a:r>
          </a:p>
          <a:p>
            <a:pPr marL="742950" lvl="1" indent="-285750">
              <a:lnSpc>
                <a:spcPct val="90000"/>
              </a:lnSpc>
              <a:spcBef>
                <a:spcPct val="20000"/>
              </a:spcBef>
              <a:buClr>
                <a:srgbClr val="FF9900"/>
              </a:buClr>
              <a:buFont typeface="Wingdings" panose="05000000000000000000" pitchFamily="2" charset="2"/>
              <a:buChar char="§"/>
            </a:pPr>
            <a:r>
              <a:rPr lang="zh-CN" altLang="en-US" sz="2600" b="1" dirty="0">
                <a:solidFill>
                  <a:srgbClr val="0000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如何获得自适应？</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15043">
                                            <p:txEl>
                                              <p:pRg st="0" end="0"/>
                                            </p:txEl>
                                          </p:spTgt>
                                        </p:tgtEl>
                                        <p:attrNameLst>
                                          <p:attrName>style.visibility</p:attrName>
                                        </p:attrNameLst>
                                      </p:cBhvr>
                                      <p:to>
                                        <p:strVal val="visible"/>
                                      </p:to>
                                    </p:set>
                                    <p:anim calcmode="lin" valueType="num">
                                      <p:cBhvr additive="base">
                                        <p:cTn id="7" dur="500" fill="hold"/>
                                        <p:tgtEl>
                                          <p:spTgt spid="21504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1504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215043">
                                            <p:txEl>
                                              <p:pRg st="1" end="1"/>
                                            </p:txEl>
                                          </p:spTgt>
                                        </p:tgtEl>
                                        <p:attrNameLst>
                                          <p:attrName>style.visibility</p:attrName>
                                        </p:attrNameLst>
                                      </p:cBhvr>
                                      <p:to>
                                        <p:strVal val="visible"/>
                                      </p:to>
                                    </p:set>
                                    <p:anim calcmode="lin" valueType="num">
                                      <p:cBhvr additive="base">
                                        <p:cTn id="11" dur="500" fill="hold"/>
                                        <p:tgtEl>
                                          <p:spTgt spid="215043">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21504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215043">
                                            <p:txEl>
                                              <p:pRg st="2" end="2"/>
                                            </p:txEl>
                                          </p:spTgt>
                                        </p:tgtEl>
                                        <p:attrNameLst>
                                          <p:attrName>style.visibility</p:attrName>
                                        </p:attrNameLst>
                                      </p:cBhvr>
                                      <p:to>
                                        <p:strVal val="visible"/>
                                      </p:to>
                                    </p:set>
                                    <p:anim calcmode="lin" valueType="num">
                                      <p:cBhvr additive="base">
                                        <p:cTn id="15" dur="500" fill="hold"/>
                                        <p:tgtEl>
                                          <p:spTgt spid="215043">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215043">
                                            <p:txEl>
                                              <p:pRg st="2" end="2"/>
                                            </p:txEl>
                                          </p:spTgt>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22" presetClass="entr" presetSubtype="1"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up)">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1+#ppt_w/2"/>
                                          </p:val>
                                        </p:tav>
                                        <p:tav tm="100000">
                                          <p:val>
                                            <p:strVal val="#ppt_x"/>
                                          </p:val>
                                        </p:tav>
                                      </p:tavLst>
                                    </p:anim>
                                    <p:anim calcmode="lin" valueType="num">
                                      <p:cBhvr additive="base">
                                        <p:cTn id="26"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3" grpId="0" build="p"/>
      <p:bldP spid="2" grpId="0"/>
      <p:bldP spid="3" grpId="0"/>
    </p:bldLst>
  </p:timing>
</p:sld>
</file>

<file path=ppt/slides/slide1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395536" y="728700"/>
            <a:ext cx="7210425" cy="612068"/>
          </a:xfrm>
          <a:noFill/>
          <a:ln w="9525">
            <a:noFill/>
            <a:miter lim="800000"/>
          </a:ln>
        </p:spPr>
        <p:txBody>
          <a:bodyPr vert="horz" wrap="square" lIns="91440" tIns="45720" rIns="91440" bIns="45720" numCol="1" anchor="ctr" anchorCtr="0" compatLnSpc="1"/>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8.15.1  MLP</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网络用于入侵检测</a:t>
            </a:r>
            <a:endParaRPr lang="zh-CN"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216067" name="Rectangle 3"/>
          <p:cNvSpPr>
            <a:spLocks noGrp="1" noChangeArrowheads="1"/>
          </p:cNvSpPr>
          <p:nvPr>
            <p:ph type="body" idx="1"/>
          </p:nvPr>
        </p:nvSpPr>
        <p:spPr>
          <a:xfrm>
            <a:off x="569743" y="4329100"/>
            <a:ext cx="8281987" cy="1476164"/>
          </a:xfrm>
        </p:spPr>
        <p:txBody>
          <a:bodyPr/>
          <a:lstStyle/>
          <a:p>
            <a:pPr eaLnBrk="1" hangingPunct="1">
              <a:lnSpc>
                <a:spcPct val="90000"/>
              </a:lnSpc>
            </a:pPr>
            <a:r>
              <a:rPr lang="zh-CN" altLang="en-US" sz="28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实验情况</a:t>
            </a:r>
          </a:p>
          <a:p>
            <a:pPr lvl="1" eaLnBrk="1" hangingPunct="1">
              <a:lnSpc>
                <a:spcPct val="90000"/>
              </a:lnSpc>
            </a:pPr>
            <a:r>
              <a:rPr lang="zh-CN" altLang="en-US" sz="2200" b="1"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利用网络工具采集数据，包含正常网络行为和模拟攻击行为</a:t>
            </a:r>
          </a:p>
          <a:p>
            <a:pPr lvl="1" eaLnBrk="1" hangingPunct="1">
              <a:lnSpc>
                <a:spcPct val="90000"/>
              </a:lnSpc>
            </a:pPr>
            <a:r>
              <a:rPr lang="zh-CN" altLang="en-US" sz="2200" b="1"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需要足够的样本用于学习，并且其中包含模拟攻击样本</a:t>
            </a:r>
          </a:p>
        </p:txBody>
      </p:sp>
      <p:sp>
        <p:nvSpPr>
          <p:cNvPr id="2" name="矩形 1"/>
          <p:cNvSpPr/>
          <p:nvPr/>
        </p:nvSpPr>
        <p:spPr>
          <a:xfrm>
            <a:off x="572417" y="1567358"/>
            <a:ext cx="8064896" cy="867930"/>
          </a:xfrm>
          <a:prstGeom prst="rect">
            <a:avLst/>
          </a:prstGeom>
        </p:spPr>
        <p:txBody>
          <a:bodyPr wrap="square">
            <a:spAutoFit/>
          </a:bodyPr>
          <a:lstStyle/>
          <a:p>
            <a:pPr marL="342900" indent="-342900">
              <a:lnSpc>
                <a:spcPct val="90000"/>
              </a:lnSpc>
              <a:spcBef>
                <a:spcPct val="20000"/>
              </a:spcBef>
              <a:buClr>
                <a:srgbClr val="3399FF"/>
              </a:buClr>
              <a:buFont typeface="Wingdings" panose="05000000000000000000" pitchFamily="2" charset="2"/>
              <a:buChar char="v"/>
            </a:pPr>
            <a:r>
              <a:rPr lang="zh-CN" altLang="en-US" sz="2800" b="1" dirty="0">
                <a:solidFill>
                  <a:srgbClr val="0000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可以认为是误用检测，但是它对未知攻击有一定的适应能力</a:t>
            </a:r>
          </a:p>
        </p:txBody>
      </p:sp>
      <p:sp>
        <p:nvSpPr>
          <p:cNvPr id="3" name="矩形 2"/>
          <p:cNvSpPr/>
          <p:nvPr/>
        </p:nvSpPr>
        <p:spPr>
          <a:xfrm>
            <a:off x="569743" y="2580916"/>
            <a:ext cx="6912768" cy="1597360"/>
          </a:xfrm>
          <a:prstGeom prst="rect">
            <a:avLst/>
          </a:prstGeom>
        </p:spPr>
        <p:txBody>
          <a:bodyPr wrap="square">
            <a:spAutoFit/>
          </a:bodyPr>
          <a:lstStyle/>
          <a:p>
            <a:pPr marL="342900" indent="-342900" eaLnBrk="1" hangingPunct="1">
              <a:lnSpc>
                <a:spcPct val="90000"/>
              </a:lnSpc>
              <a:spcBef>
                <a:spcPct val="20000"/>
              </a:spcBef>
              <a:buClr>
                <a:srgbClr val="3399FF"/>
              </a:buClr>
              <a:buFont typeface="Wingdings" panose="05000000000000000000" pitchFamily="2" charset="2"/>
              <a:buChar char="v"/>
            </a:pPr>
            <a:r>
              <a:rPr lang="zh-CN" altLang="en-US" sz="2800" b="1" dirty="0">
                <a:solidFill>
                  <a:srgbClr val="0000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网络描述</a:t>
            </a:r>
          </a:p>
          <a:p>
            <a:pPr marL="742950" lvl="1" indent="-285750">
              <a:lnSpc>
                <a:spcPct val="90000"/>
              </a:lnSpc>
              <a:spcBef>
                <a:spcPct val="20000"/>
              </a:spcBef>
              <a:buClr>
                <a:srgbClr val="FF9900"/>
              </a:buClr>
              <a:buFont typeface="Wingdings" panose="05000000000000000000" pitchFamily="2" charset="2"/>
              <a:buChar char="§"/>
            </a:pPr>
            <a:r>
              <a:rPr lang="zh-CN" altLang="en-US" sz="22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多层感知器结构，四层全连接</a:t>
            </a:r>
          </a:p>
          <a:p>
            <a:pPr marL="742950" lvl="1" indent="-285750">
              <a:lnSpc>
                <a:spcPct val="90000"/>
              </a:lnSpc>
              <a:spcBef>
                <a:spcPct val="20000"/>
              </a:spcBef>
              <a:buClr>
                <a:srgbClr val="FF9900"/>
              </a:buClr>
              <a:buFont typeface="Wingdings" panose="05000000000000000000" pitchFamily="2" charset="2"/>
              <a:buChar char="§"/>
            </a:pPr>
            <a:r>
              <a:rPr lang="en-US" altLang="zh-CN" sz="22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9</a:t>
            </a:r>
            <a:r>
              <a:rPr lang="zh-CN" altLang="en-US" sz="22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个输入</a:t>
            </a:r>
          </a:p>
          <a:p>
            <a:pPr marL="742950" lvl="1" indent="-285750">
              <a:lnSpc>
                <a:spcPct val="90000"/>
              </a:lnSpc>
              <a:spcBef>
                <a:spcPct val="20000"/>
              </a:spcBef>
              <a:buClr>
                <a:srgbClr val="FF9900"/>
              </a:buClr>
              <a:buFont typeface="Wingdings" panose="05000000000000000000" pitchFamily="2" charset="2"/>
              <a:buChar char="§"/>
            </a:pPr>
            <a:r>
              <a:rPr lang="en-US" altLang="zh-CN" sz="22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2</a:t>
            </a:r>
            <a:r>
              <a:rPr lang="zh-CN" altLang="en-US" sz="22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个输出</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up)">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216067">
                                            <p:txEl>
                                              <p:pRg st="0" end="0"/>
                                            </p:txEl>
                                          </p:spTgt>
                                        </p:tgtEl>
                                        <p:attrNameLst>
                                          <p:attrName>style.visibility</p:attrName>
                                        </p:attrNameLst>
                                      </p:cBhvr>
                                      <p:to>
                                        <p:strVal val="visible"/>
                                      </p:to>
                                    </p:set>
                                    <p:animEffect transition="in" filter="wipe(up)">
                                      <p:cBhvr>
                                        <p:cTn id="19" dur="500"/>
                                        <p:tgtEl>
                                          <p:spTgt spid="216067">
                                            <p:txEl>
                                              <p:pRg st="0" end="0"/>
                                            </p:txEl>
                                          </p:spTgt>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216067">
                                            <p:txEl>
                                              <p:pRg st="1" end="1"/>
                                            </p:txEl>
                                          </p:spTgt>
                                        </p:tgtEl>
                                        <p:attrNameLst>
                                          <p:attrName>style.visibility</p:attrName>
                                        </p:attrNameLst>
                                      </p:cBhvr>
                                      <p:to>
                                        <p:strVal val="visible"/>
                                      </p:to>
                                    </p:set>
                                    <p:animEffect transition="in" filter="wipe(up)">
                                      <p:cBhvr>
                                        <p:cTn id="22" dur="500"/>
                                        <p:tgtEl>
                                          <p:spTgt spid="216067">
                                            <p:txEl>
                                              <p:pRg st="1" end="1"/>
                                            </p:txEl>
                                          </p:spTgt>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216067">
                                            <p:txEl>
                                              <p:pRg st="2" end="2"/>
                                            </p:txEl>
                                          </p:spTgt>
                                        </p:tgtEl>
                                        <p:attrNameLst>
                                          <p:attrName>style.visibility</p:attrName>
                                        </p:attrNameLst>
                                      </p:cBhvr>
                                      <p:to>
                                        <p:strVal val="visible"/>
                                      </p:to>
                                    </p:set>
                                    <p:animEffect transition="in" filter="wipe(up)">
                                      <p:cBhvr>
                                        <p:cTn id="25" dur="500"/>
                                        <p:tgtEl>
                                          <p:spTgt spid="2160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7" grpId="0" build="p"/>
      <p:bldP spid="2" grpId="0"/>
      <p:bldP spid="3"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698714" y="680505"/>
            <a:ext cx="7138988" cy="828675"/>
          </a:xfrm>
          <a:noFill/>
          <a:ln w="9525">
            <a:noFill/>
            <a:miter lim="800000"/>
          </a:ln>
        </p:spPr>
        <p:txBody>
          <a:bodyPr vert="horz" wrap="square" lIns="91440" tIns="45720" rIns="91440" bIns="45720" numCol="1" anchor="ctr" anchorCtr="0" compatLnSpc="1"/>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MLP</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网络结构</a:t>
            </a:r>
            <a:endParaRPr lang="zh-CN"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grpSp>
        <p:nvGrpSpPr>
          <p:cNvPr id="2" name="Group 53"/>
          <p:cNvGrpSpPr/>
          <p:nvPr/>
        </p:nvGrpSpPr>
        <p:grpSpPr bwMode="auto">
          <a:xfrm>
            <a:off x="611560" y="1772816"/>
            <a:ext cx="8305800" cy="3429000"/>
            <a:chOff x="324" y="1008"/>
            <a:chExt cx="5232" cy="2160"/>
          </a:xfrm>
        </p:grpSpPr>
        <p:sp>
          <p:nvSpPr>
            <p:cNvPr id="67590" name="Oval 3"/>
            <p:cNvSpPr>
              <a:spLocks noChangeArrowheads="1"/>
            </p:cNvSpPr>
            <p:nvPr/>
          </p:nvSpPr>
          <p:spPr bwMode="auto">
            <a:xfrm>
              <a:off x="1236" y="1152"/>
              <a:ext cx="240" cy="240"/>
            </a:xfrm>
            <a:prstGeom prst="ellipse">
              <a:avLst/>
            </a:prstGeom>
            <a:solidFill>
              <a:srgbClr val="3366FF"/>
            </a:solidFill>
            <a:ln w="15875">
              <a:noFill/>
              <a:miter lim="800000"/>
            </a:ln>
          </p:spPr>
          <p:txBody>
            <a:bodyPr wrap="none" anchor="ctr"/>
            <a:lstStyle/>
            <a:p>
              <a:endParaRPr lang="zh-CN" altLang="en-US"/>
            </a:p>
          </p:txBody>
        </p:sp>
        <p:sp>
          <p:nvSpPr>
            <p:cNvPr id="67591" name="Oval 4"/>
            <p:cNvSpPr>
              <a:spLocks noChangeArrowheads="1"/>
            </p:cNvSpPr>
            <p:nvPr/>
          </p:nvSpPr>
          <p:spPr bwMode="auto">
            <a:xfrm>
              <a:off x="1236" y="1536"/>
              <a:ext cx="240" cy="240"/>
            </a:xfrm>
            <a:prstGeom prst="ellipse">
              <a:avLst/>
            </a:prstGeom>
            <a:solidFill>
              <a:srgbClr val="3366FF"/>
            </a:solidFill>
            <a:ln w="15875">
              <a:noFill/>
              <a:miter lim="800000"/>
            </a:ln>
          </p:spPr>
          <p:txBody>
            <a:bodyPr wrap="none" anchor="ctr"/>
            <a:lstStyle/>
            <a:p>
              <a:endParaRPr lang="zh-CN" altLang="en-US"/>
            </a:p>
          </p:txBody>
        </p:sp>
        <p:sp>
          <p:nvSpPr>
            <p:cNvPr id="67592" name="Oval 5"/>
            <p:cNvSpPr>
              <a:spLocks noChangeArrowheads="1"/>
            </p:cNvSpPr>
            <p:nvPr/>
          </p:nvSpPr>
          <p:spPr bwMode="auto">
            <a:xfrm>
              <a:off x="1236" y="2928"/>
              <a:ext cx="240" cy="240"/>
            </a:xfrm>
            <a:prstGeom prst="ellipse">
              <a:avLst/>
            </a:prstGeom>
            <a:solidFill>
              <a:srgbClr val="3366FF"/>
            </a:solidFill>
            <a:ln w="15875">
              <a:noFill/>
              <a:miter lim="800000"/>
            </a:ln>
          </p:spPr>
          <p:txBody>
            <a:bodyPr wrap="none" anchor="ctr"/>
            <a:lstStyle/>
            <a:p>
              <a:endParaRPr lang="zh-CN" altLang="en-US"/>
            </a:p>
          </p:txBody>
        </p:sp>
        <p:sp>
          <p:nvSpPr>
            <p:cNvPr id="67593" name="Oval 6"/>
            <p:cNvSpPr>
              <a:spLocks noChangeArrowheads="1"/>
            </p:cNvSpPr>
            <p:nvPr/>
          </p:nvSpPr>
          <p:spPr bwMode="auto">
            <a:xfrm>
              <a:off x="2340" y="1440"/>
              <a:ext cx="240" cy="240"/>
            </a:xfrm>
            <a:prstGeom prst="ellipse">
              <a:avLst/>
            </a:prstGeom>
            <a:solidFill>
              <a:srgbClr val="3366FF"/>
            </a:solidFill>
            <a:ln w="15875">
              <a:noFill/>
              <a:miter lim="800000"/>
            </a:ln>
          </p:spPr>
          <p:txBody>
            <a:bodyPr wrap="none" anchor="ctr"/>
            <a:lstStyle/>
            <a:p>
              <a:endParaRPr lang="zh-CN" altLang="en-US"/>
            </a:p>
          </p:txBody>
        </p:sp>
        <p:sp>
          <p:nvSpPr>
            <p:cNvPr id="67594" name="Oval 7"/>
            <p:cNvSpPr>
              <a:spLocks noChangeArrowheads="1"/>
            </p:cNvSpPr>
            <p:nvPr/>
          </p:nvSpPr>
          <p:spPr bwMode="auto">
            <a:xfrm>
              <a:off x="2340" y="2064"/>
              <a:ext cx="240" cy="240"/>
            </a:xfrm>
            <a:prstGeom prst="ellipse">
              <a:avLst/>
            </a:prstGeom>
            <a:solidFill>
              <a:srgbClr val="3366FF"/>
            </a:solidFill>
            <a:ln w="15875">
              <a:noFill/>
              <a:miter lim="800000"/>
            </a:ln>
          </p:spPr>
          <p:txBody>
            <a:bodyPr wrap="none" anchor="ctr"/>
            <a:lstStyle/>
            <a:p>
              <a:endParaRPr lang="zh-CN" altLang="en-US"/>
            </a:p>
          </p:txBody>
        </p:sp>
        <p:sp>
          <p:nvSpPr>
            <p:cNvPr id="67595" name="Oval 8"/>
            <p:cNvSpPr>
              <a:spLocks noChangeArrowheads="1"/>
            </p:cNvSpPr>
            <p:nvPr/>
          </p:nvSpPr>
          <p:spPr bwMode="auto">
            <a:xfrm>
              <a:off x="2340" y="2688"/>
              <a:ext cx="240" cy="240"/>
            </a:xfrm>
            <a:prstGeom prst="ellipse">
              <a:avLst/>
            </a:prstGeom>
            <a:solidFill>
              <a:srgbClr val="3366FF"/>
            </a:solidFill>
            <a:ln w="15875">
              <a:noFill/>
              <a:miter lim="800000"/>
            </a:ln>
          </p:spPr>
          <p:txBody>
            <a:bodyPr wrap="none" anchor="ctr"/>
            <a:lstStyle/>
            <a:p>
              <a:endParaRPr lang="zh-CN" altLang="en-US"/>
            </a:p>
          </p:txBody>
        </p:sp>
        <p:sp>
          <p:nvSpPr>
            <p:cNvPr id="67596" name="Oval 9"/>
            <p:cNvSpPr>
              <a:spLocks noChangeArrowheads="1"/>
            </p:cNvSpPr>
            <p:nvPr/>
          </p:nvSpPr>
          <p:spPr bwMode="auto">
            <a:xfrm>
              <a:off x="3444" y="1200"/>
              <a:ext cx="240" cy="240"/>
            </a:xfrm>
            <a:prstGeom prst="ellipse">
              <a:avLst/>
            </a:prstGeom>
            <a:solidFill>
              <a:srgbClr val="3366FF"/>
            </a:solidFill>
            <a:ln w="15875">
              <a:noFill/>
              <a:miter lim="800000"/>
            </a:ln>
          </p:spPr>
          <p:txBody>
            <a:bodyPr wrap="none" anchor="ctr"/>
            <a:lstStyle/>
            <a:p>
              <a:endParaRPr lang="zh-CN" altLang="en-US"/>
            </a:p>
          </p:txBody>
        </p:sp>
        <p:sp>
          <p:nvSpPr>
            <p:cNvPr id="67597" name="Oval 10"/>
            <p:cNvSpPr>
              <a:spLocks noChangeArrowheads="1"/>
            </p:cNvSpPr>
            <p:nvPr/>
          </p:nvSpPr>
          <p:spPr bwMode="auto">
            <a:xfrm>
              <a:off x="3444" y="1776"/>
              <a:ext cx="240" cy="240"/>
            </a:xfrm>
            <a:prstGeom prst="ellipse">
              <a:avLst/>
            </a:prstGeom>
            <a:solidFill>
              <a:srgbClr val="3366FF"/>
            </a:solidFill>
            <a:ln w="15875">
              <a:noFill/>
              <a:miter lim="800000"/>
            </a:ln>
          </p:spPr>
          <p:txBody>
            <a:bodyPr wrap="none" anchor="ctr"/>
            <a:lstStyle/>
            <a:p>
              <a:endParaRPr lang="zh-CN" altLang="en-US"/>
            </a:p>
          </p:txBody>
        </p:sp>
        <p:sp>
          <p:nvSpPr>
            <p:cNvPr id="67598" name="Oval 11"/>
            <p:cNvSpPr>
              <a:spLocks noChangeArrowheads="1"/>
            </p:cNvSpPr>
            <p:nvPr/>
          </p:nvSpPr>
          <p:spPr bwMode="auto">
            <a:xfrm>
              <a:off x="3492" y="2928"/>
              <a:ext cx="240" cy="240"/>
            </a:xfrm>
            <a:prstGeom prst="ellipse">
              <a:avLst/>
            </a:prstGeom>
            <a:solidFill>
              <a:srgbClr val="3366FF"/>
            </a:solidFill>
            <a:ln w="15875">
              <a:noFill/>
              <a:miter lim="800000"/>
            </a:ln>
          </p:spPr>
          <p:txBody>
            <a:bodyPr wrap="none" anchor="ctr"/>
            <a:lstStyle/>
            <a:p>
              <a:endParaRPr lang="zh-CN" altLang="en-US"/>
            </a:p>
          </p:txBody>
        </p:sp>
        <p:sp>
          <p:nvSpPr>
            <p:cNvPr id="67599" name="Oval 12"/>
            <p:cNvSpPr>
              <a:spLocks noChangeArrowheads="1"/>
            </p:cNvSpPr>
            <p:nvPr/>
          </p:nvSpPr>
          <p:spPr bwMode="auto">
            <a:xfrm>
              <a:off x="4500" y="1824"/>
              <a:ext cx="240" cy="240"/>
            </a:xfrm>
            <a:prstGeom prst="ellipse">
              <a:avLst/>
            </a:prstGeom>
            <a:solidFill>
              <a:srgbClr val="3366FF"/>
            </a:solidFill>
            <a:ln w="15875">
              <a:solidFill>
                <a:schemeClr val="bg1"/>
              </a:solidFill>
              <a:miter lim="800000"/>
            </a:ln>
          </p:spPr>
          <p:txBody>
            <a:bodyPr wrap="none" anchor="ctr"/>
            <a:lstStyle/>
            <a:p>
              <a:endParaRPr lang="zh-CN" altLang="zh-CN">
                <a:solidFill>
                  <a:srgbClr val="CC0000"/>
                </a:solidFill>
              </a:endParaRPr>
            </a:p>
          </p:txBody>
        </p:sp>
        <p:sp>
          <p:nvSpPr>
            <p:cNvPr id="67600" name="Oval 13"/>
            <p:cNvSpPr>
              <a:spLocks noChangeArrowheads="1"/>
            </p:cNvSpPr>
            <p:nvPr/>
          </p:nvSpPr>
          <p:spPr bwMode="auto">
            <a:xfrm>
              <a:off x="4500" y="2592"/>
              <a:ext cx="240" cy="240"/>
            </a:xfrm>
            <a:prstGeom prst="ellipse">
              <a:avLst/>
            </a:prstGeom>
            <a:solidFill>
              <a:srgbClr val="3366FF"/>
            </a:solidFill>
            <a:ln w="15875">
              <a:noFill/>
              <a:miter lim="800000"/>
            </a:ln>
          </p:spPr>
          <p:txBody>
            <a:bodyPr wrap="none" anchor="ctr"/>
            <a:lstStyle/>
            <a:p>
              <a:endParaRPr lang="zh-CN" altLang="en-US"/>
            </a:p>
          </p:txBody>
        </p:sp>
        <p:sp>
          <p:nvSpPr>
            <p:cNvPr id="67601" name="Line 14"/>
            <p:cNvSpPr>
              <a:spLocks noChangeShapeType="1"/>
            </p:cNvSpPr>
            <p:nvPr/>
          </p:nvSpPr>
          <p:spPr bwMode="auto">
            <a:xfrm>
              <a:off x="660" y="1248"/>
              <a:ext cx="576" cy="0"/>
            </a:xfrm>
            <a:prstGeom prst="line">
              <a:avLst/>
            </a:prstGeom>
            <a:noFill/>
            <a:ln w="9525">
              <a:solidFill>
                <a:schemeClr val="tx1"/>
              </a:solidFill>
              <a:miter lim="800000"/>
              <a:tailEnd type="triangle" w="med" len="med"/>
            </a:ln>
          </p:spPr>
          <p:txBody>
            <a:bodyPr wrap="none" anchor="ctr"/>
            <a:lstStyle/>
            <a:p>
              <a:endParaRPr lang="zh-CN" altLang="en-US"/>
            </a:p>
          </p:txBody>
        </p:sp>
        <p:sp>
          <p:nvSpPr>
            <p:cNvPr id="67602" name="Line 15"/>
            <p:cNvSpPr>
              <a:spLocks noChangeShapeType="1"/>
            </p:cNvSpPr>
            <p:nvPr/>
          </p:nvSpPr>
          <p:spPr bwMode="auto">
            <a:xfrm>
              <a:off x="660" y="1680"/>
              <a:ext cx="576" cy="0"/>
            </a:xfrm>
            <a:prstGeom prst="line">
              <a:avLst/>
            </a:prstGeom>
            <a:noFill/>
            <a:ln w="9525">
              <a:solidFill>
                <a:schemeClr val="tx1"/>
              </a:solidFill>
              <a:miter lim="800000"/>
              <a:tailEnd type="triangle" w="med" len="med"/>
            </a:ln>
          </p:spPr>
          <p:txBody>
            <a:bodyPr wrap="none" anchor="ctr"/>
            <a:lstStyle/>
            <a:p>
              <a:endParaRPr lang="zh-CN" altLang="en-US"/>
            </a:p>
          </p:txBody>
        </p:sp>
        <p:sp>
          <p:nvSpPr>
            <p:cNvPr id="67603" name="Line 16"/>
            <p:cNvSpPr>
              <a:spLocks noChangeShapeType="1"/>
            </p:cNvSpPr>
            <p:nvPr/>
          </p:nvSpPr>
          <p:spPr bwMode="auto">
            <a:xfrm>
              <a:off x="660" y="3072"/>
              <a:ext cx="576" cy="0"/>
            </a:xfrm>
            <a:prstGeom prst="line">
              <a:avLst/>
            </a:prstGeom>
            <a:noFill/>
            <a:ln w="9525">
              <a:solidFill>
                <a:schemeClr val="tx1"/>
              </a:solidFill>
              <a:miter lim="800000"/>
              <a:tailEnd type="triangle" w="med" len="med"/>
            </a:ln>
          </p:spPr>
          <p:txBody>
            <a:bodyPr wrap="none" anchor="ctr"/>
            <a:lstStyle/>
            <a:p>
              <a:endParaRPr lang="zh-CN" altLang="en-US"/>
            </a:p>
          </p:txBody>
        </p:sp>
        <p:sp>
          <p:nvSpPr>
            <p:cNvPr id="67604" name="Line 17"/>
            <p:cNvSpPr>
              <a:spLocks noChangeShapeType="1"/>
            </p:cNvSpPr>
            <p:nvPr/>
          </p:nvSpPr>
          <p:spPr bwMode="auto">
            <a:xfrm>
              <a:off x="1524" y="1296"/>
              <a:ext cx="816" cy="240"/>
            </a:xfrm>
            <a:prstGeom prst="line">
              <a:avLst/>
            </a:prstGeom>
            <a:noFill/>
            <a:ln w="9525">
              <a:solidFill>
                <a:schemeClr val="tx1"/>
              </a:solidFill>
              <a:miter lim="800000"/>
              <a:tailEnd type="triangle" w="med" len="med"/>
            </a:ln>
          </p:spPr>
          <p:txBody>
            <a:bodyPr wrap="none" anchor="ctr"/>
            <a:lstStyle/>
            <a:p>
              <a:endParaRPr lang="zh-CN" altLang="en-US"/>
            </a:p>
          </p:txBody>
        </p:sp>
        <p:sp>
          <p:nvSpPr>
            <p:cNvPr id="67605" name="Line 18"/>
            <p:cNvSpPr>
              <a:spLocks noChangeShapeType="1"/>
            </p:cNvSpPr>
            <p:nvPr/>
          </p:nvSpPr>
          <p:spPr bwMode="auto">
            <a:xfrm>
              <a:off x="1476" y="1296"/>
              <a:ext cx="864" cy="864"/>
            </a:xfrm>
            <a:prstGeom prst="line">
              <a:avLst/>
            </a:prstGeom>
            <a:noFill/>
            <a:ln w="9525">
              <a:solidFill>
                <a:schemeClr val="tx1"/>
              </a:solidFill>
              <a:miter lim="800000"/>
              <a:tailEnd type="triangle" w="med" len="med"/>
            </a:ln>
          </p:spPr>
          <p:txBody>
            <a:bodyPr wrap="none" anchor="ctr"/>
            <a:lstStyle/>
            <a:p>
              <a:endParaRPr lang="zh-CN" altLang="en-US"/>
            </a:p>
          </p:txBody>
        </p:sp>
        <p:sp>
          <p:nvSpPr>
            <p:cNvPr id="67606" name="Line 19"/>
            <p:cNvSpPr>
              <a:spLocks noChangeShapeType="1"/>
            </p:cNvSpPr>
            <p:nvPr/>
          </p:nvSpPr>
          <p:spPr bwMode="auto">
            <a:xfrm>
              <a:off x="1476" y="1296"/>
              <a:ext cx="864" cy="1392"/>
            </a:xfrm>
            <a:prstGeom prst="line">
              <a:avLst/>
            </a:prstGeom>
            <a:noFill/>
            <a:ln w="9525">
              <a:solidFill>
                <a:schemeClr val="tx1"/>
              </a:solidFill>
              <a:miter lim="800000"/>
              <a:tailEnd type="triangle" w="med" len="med"/>
            </a:ln>
          </p:spPr>
          <p:txBody>
            <a:bodyPr wrap="none" anchor="ctr"/>
            <a:lstStyle/>
            <a:p>
              <a:endParaRPr lang="zh-CN" altLang="en-US"/>
            </a:p>
          </p:txBody>
        </p:sp>
        <p:sp>
          <p:nvSpPr>
            <p:cNvPr id="67607" name="Line 20"/>
            <p:cNvSpPr>
              <a:spLocks noChangeShapeType="1"/>
            </p:cNvSpPr>
            <p:nvPr/>
          </p:nvSpPr>
          <p:spPr bwMode="auto">
            <a:xfrm flipV="1">
              <a:off x="1476" y="1536"/>
              <a:ext cx="864" cy="144"/>
            </a:xfrm>
            <a:prstGeom prst="line">
              <a:avLst/>
            </a:prstGeom>
            <a:noFill/>
            <a:ln w="9525">
              <a:solidFill>
                <a:schemeClr val="tx1"/>
              </a:solidFill>
              <a:miter lim="800000"/>
              <a:tailEnd type="triangle" w="med" len="med"/>
            </a:ln>
          </p:spPr>
          <p:txBody>
            <a:bodyPr wrap="none" anchor="ctr"/>
            <a:lstStyle/>
            <a:p>
              <a:endParaRPr lang="zh-CN" altLang="en-US"/>
            </a:p>
          </p:txBody>
        </p:sp>
        <p:sp>
          <p:nvSpPr>
            <p:cNvPr id="67608" name="Line 21"/>
            <p:cNvSpPr>
              <a:spLocks noChangeShapeType="1"/>
            </p:cNvSpPr>
            <p:nvPr/>
          </p:nvSpPr>
          <p:spPr bwMode="auto">
            <a:xfrm flipV="1">
              <a:off x="1476" y="1584"/>
              <a:ext cx="864" cy="1440"/>
            </a:xfrm>
            <a:prstGeom prst="line">
              <a:avLst/>
            </a:prstGeom>
            <a:noFill/>
            <a:ln w="9525">
              <a:solidFill>
                <a:schemeClr val="tx1"/>
              </a:solidFill>
              <a:miter lim="800000"/>
              <a:tailEnd type="triangle" w="med" len="med"/>
            </a:ln>
          </p:spPr>
          <p:txBody>
            <a:bodyPr wrap="none" anchor="ctr"/>
            <a:lstStyle/>
            <a:p>
              <a:endParaRPr lang="zh-CN" altLang="en-US"/>
            </a:p>
          </p:txBody>
        </p:sp>
        <p:sp>
          <p:nvSpPr>
            <p:cNvPr id="67609" name="Line 22"/>
            <p:cNvSpPr>
              <a:spLocks noChangeShapeType="1"/>
            </p:cNvSpPr>
            <p:nvPr/>
          </p:nvSpPr>
          <p:spPr bwMode="auto">
            <a:xfrm>
              <a:off x="1476" y="1728"/>
              <a:ext cx="816" cy="432"/>
            </a:xfrm>
            <a:prstGeom prst="line">
              <a:avLst/>
            </a:prstGeom>
            <a:noFill/>
            <a:ln w="9525">
              <a:solidFill>
                <a:schemeClr val="tx1"/>
              </a:solidFill>
              <a:miter lim="800000"/>
              <a:tailEnd type="triangle" w="med" len="med"/>
            </a:ln>
          </p:spPr>
          <p:txBody>
            <a:bodyPr wrap="none" anchor="ctr"/>
            <a:lstStyle/>
            <a:p>
              <a:endParaRPr lang="zh-CN" altLang="en-US"/>
            </a:p>
          </p:txBody>
        </p:sp>
        <p:sp>
          <p:nvSpPr>
            <p:cNvPr id="67610" name="Line 23"/>
            <p:cNvSpPr>
              <a:spLocks noChangeShapeType="1"/>
            </p:cNvSpPr>
            <p:nvPr/>
          </p:nvSpPr>
          <p:spPr bwMode="auto">
            <a:xfrm>
              <a:off x="1428" y="1728"/>
              <a:ext cx="912" cy="1056"/>
            </a:xfrm>
            <a:prstGeom prst="line">
              <a:avLst/>
            </a:prstGeom>
            <a:noFill/>
            <a:ln w="9525">
              <a:solidFill>
                <a:schemeClr val="tx1"/>
              </a:solidFill>
              <a:miter lim="800000"/>
              <a:tailEnd type="triangle" w="med" len="med"/>
            </a:ln>
          </p:spPr>
          <p:txBody>
            <a:bodyPr wrap="none" anchor="ctr"/>
            <a:lstStyle/>
            <a:p>
              <a:endParaRPr lang="zh-CN" altLang="en-US"/>
            </a:p>
          </p:txBody>
        </p:sp>
        <p:sp>
          <p:nvSpPr>
            <p:cNvPr id="67611" name="Line 24"/>
            <p:cNvSpPr>
              <a:spLocks noChangeShapeType="1"/>
            </p:cNvSpPr>
            <p:nvPr/>
          </p:nvSpPr>
          <p:spPr bwMode="auto">
            <a:xfrm flipV="1">
              <a:off x="1476" y="2208"/>
              <a:ext cx="864" cy="816"/>
            </a:xfrm>
            <a:prstGeom prst="line">
              <a:avLst/>
            </a:prstGeom>
            <a:noFill/>
            <a:ln w="9525">
              <a:solidFill>
                <a:schemeClr val="tx1"/>
              </a:solidFill>
              <a:miter lim="800000"/>
              <a:tailEnd type="triangle" w="med" len="med"/>
            </a:ln>
          </p:spPr>
          <p:txBody>
            <a:bodyPr wrap="none" anchor="ctr"/>
            <a:lstStyle/>
            <a:p>
              <a:endParaRPr lang="zh-CN" altLang="en-US"/>
            </a:p>
          </p:txBody>
        </p:sp>
        <p:sp>
          <p:nvSpPr>
            <p:cNvPr id="67612" name="Line 25"/>
            <p:cNvSpPr>
              <a:spLocks noChangeShapeType="1"/>
            </p:cNvSpPr>
            <p:nvPr/>
          </p:nvSpPr>
          <p:spPr bwMode="auto">
            <a:xfrm flipV="1">
              <a:off x="1476" y="2832"/>
              <a:ext cx="864" cy="192"/>
            </a:xfrm>
            <a:prstGeom prst="line">
              <a:avLst/>
            </a:prstGeom>
            <a:noFill/>
            <a:ln w="9525">
              <a:solidFill>
                <a:schemeClr val="tx1"/>
              </a:solidFill>
              <a:miter lim="800000"/>
              <a:tailEnd type="triangle" w="med" len="med"/>
            </a:ln>
          </p:spPr>
          <p:txBody>
            <a:bodyPr wrap="none" anchor="ctr"/>
            <a:lstStyle/>
            <a:p>
              <a:endParaRPr lang="zh-CN" altLang="en-US"/>
            </a:p>
          </p:txBody>
        </p:sp>
        <p:sp>
          <p:nvSpPr>
            <p:cNvPr id="67613" name="Line 26"/>
            <p:cNvSpPr>
              <a:spLocks noChangeShapeType="1"/>
            </p:cNvSpPr>
            <p:nvPr/>
          </p:nvSpPr>
          <p:spPr bwMode="auto">
            <a:xfrm flipV="1">
              <a:off x="2580" y="1344"/>
              <a:ext cx="816" cy="192"/>
            </a:xfrm>
            <a:prstGeom prst="line">
              <a:avLst/>
            </a:prstGeom>
            <a:noFill/>
            <a:ln w="9525">
              <a:solidFill>
                <a:schemeClr val="tx1"/>
              </a:solidFill>
              <a:miter lim="800000"/>
              <a:tailEnd type="triangle" w="med" len="med"/>
            </a:ln>
          </p:spPr>
          <p:txBody>
            <a:bodyPr wrap="none" anchor="ctr"/>
            <a:lstStyle/>
            <a:p>
              <a:endParaRPr lang="zh-CN" altLang="en-US"/>
            </a:p>
          </p:txBody>
        </p:sp>
        <p:sp>
          <p:nvSpPr>
            <p:cNvPr id="67614" name="Line 27"/>
            <p:cNvSpPr>
              <a:spLocks noChangeShapeType="1"/>
            </p:cNvSpPr>
            <p:nvPr/>
          </p:nvSpPr>
          <p:spPr bwMode="auto">
            <a:xfrm>
              <a:off x="2580" y="1536"/>
              <a:ext cx="864" cy="288"/>
            </a:xfrm>
            <a:prstGeom prst="line">
              <a:avLst/>
            </a:prstGeom>
            <a:noFill/>
            <a:ln w="9525">
              <a:solidFill>
                <a:schemeClr val="tx1"/>
              </a:solidFill>
              <a:miter lim="800000"/>
              <a:tailEnd type="triangle" w="med" len="med"/>
            </a:ln>
          </p:spPr>
          <p:txBody>
            <a:bodyPr wrap="none" anchor="ctr"/>
            <a:lstStyle/>
            <a:p>
              <a:endParaRPr lang="zh-CN" altLang="en-US"/>
            </a:p>
          </p:txBody>
        </p:sp>
        <p:sp>
          <p:nvSpPr>
            <p:cNvPr id="67615" name="Line 28"/>
            <p:cNvSpPr>
              <a:spLocks noChangeShapeType="1"/>
            </p:cNvSpPr>
            <p:nvPr/>
          </p:nvSpPr>
          <p:spPr bwMode="auto">
            <a:xfrm>
              <a:off x="2580" y="1536"/>
              <a:ext cx="960" cy="1440"/>
            </a:xfrm>
            <a:prstGeom prst="line">
              <a:avLst/>
            </a:prstGeom>
            <a:noFill/>
            <a:ln w="9525">
              <a:solidFill>
                <a:schemeClr val="tx1"/>
              </a:solidFill>
              <a:miter lim="800000"/>
              <a:tailEnd type="triangle" w="med" len="med"/>
            </a:ln>
          </p:spPr>
          <p:txBody>
            <a:bodyPr wrap="none" anchor="ctr"/>
            <a:lstStyle/>
            <a:p>
              <a:endParaRPr lang="zh-CN" altLang="en-US"/>
            </a:p>
          </p:txBody>
        </p:sp>
        <p:sp>
          <p:nvSpPr>
            <p:cNvPr id="67616" name="Line 29"/>
            <p:cNvSpPr>
              <a:spLocks noChangeShapeType="1"/>
            </p:cNvSpPr>
            <p:nvPr/>
          </p:nvSpPr>
          <p:spPr bwMode="auto">
            <a:xfrm flipV="1">
              <a:off x="2580" y="1344"/>
              <a:ext cx="864" cy="816"/>
            </a:xfrm>
            <a:prstGeom prst="line">
              <a:avLst/>
            </a:prstGeom>
            <a:noFill/>
            <a:ln w="9525">
              <a:solidFill>
                <a:schemeClr val="tx1"/>
              </a:solidFill>
              <a:miter lim="800000"/>
              <a:tailEnd type="triangle" w="med" len="med"/>
            </a:ln>
          </p:spPr>
          <p:txBody>
            <a:bodyPr wrap="none" anchor="ctr"/>
            <a:lstStyle/>
            <a:p>
              <a:endParaRPr lang="zh-CN" altLang="en-US"/>
            </a:p>
          </p:txBody>
        </p:sp>
        <p:sp>
          <p:nvSpPr>
            <p:cNvPr id="67617" name="Line 30"/>
            <p:cNvSpPr>
              <a:spLocks noChangeShapeType="1"/>
            </p:cNvSpPr>
            <p:nvPr/>
          </p:nvSpPr>
          <p:spPr bwMode="auto">
            <a:xfrm flipV="1">
              <a:off x="2580" y="1872"/>
              <a:ext cx="864" cy="288"/>
            </a:xfrm>
            <a:prstGeom prst="line">
              <a:avLst/>
            </a:prstGeom>
            <a:noFill/>
            <a:ln w="9525">
              <a:solidFill>
                <a:schemeClr val="tx1"/>
              </a:solidFill>
              <a:miter lim="800000"/>
              <a:tailEnd type="triangle" w="med" len="med"/>
            </a:ln>
          </p:spPr>
          <p:txBody>
            <a:bodyPr wrap="none" anchor="ctr"/>
            <a:lstStyle/>
            <a:p>
              <a:endParaRPr lang="zh-CN" altLang="en-US"/>
            </a:p>
          </p:txBody>
        </p:sp>
        <p:sp>
          <p:nvSpPr>
            <p:cNvPr id="67618" name="Line 31"/>
            <p:cNvSpPr>
              <a:spLocks noChangeShapeType="1"/>
            </p:cNvSpPr>
            <p:nvPr/>
          </p:nvSpPr>
          <p:spPr bwMode="auto">
            <a:xfrm>
              <a:off x="2580" y="2160"/>
              <a:ext cx="912" cy="816"/>
            </a:xfrm>
            <a:prstGeom prst="line">
              <a:avLst/>
            </a:prstGeom>
            <a:noFill/>
            <a:ln w="9525">
              <a:solidFill>
                <a:schemeClr val="tx1"/>
              </a:solidFill>
              <a:miter lim="800000"/>
              <a:tailEnd type="triangle" w="med" len="med"/>
            </a:ln>
          </p:spPr>
          <p:txBody>
            <a:bodyPr wrap="none" anchor="ctr"/>
            <a:lstStyle/>
            <a:p>
              <a:endParaRPr lang="zh-CN" altLang="en-US"/>
            </a:p>
          </p:txBody>
        </p:sp>
        <p:sp>
          <p:nvSpPr>
            <p:cNvPr id="67619" name="Line 32"/>
            <p:cNvSpPr>
              <a:spLocks noChangeShapeType="1"/>
            </p:cNvSpPr>
            <p:nvPr/>
          </p:nvSpPr>
          <p:spPr bwMode="auto">
            <a:xfrm flipV="1">
              <a:off x="2580" y="1392"/>
              <a:ext cx="864" cy="1392"/>
            </a:xfrm>
            <a:prstGeom prst="line">
              <a:avLst/>
            </a:prstGeom>
            <a:noFill/>
            <a:ln w="9525">
              <a:solidFill>
                <a:schemeClr val="tx1"/>
              </a:solidFill>
              <a:miter lim="800000"/>
              <a:tailEnd type="triangle" w="med" len="med"/>
            </a:ln>
          </p:spPr>
          <p:txBody>
            <a:bodyPr wrap="none" anchor="ctr"/>
            <a:lstStyle/>
            <a:p>
              <a:endParaRPr lang="zh-CN" altLang="en-US"/>
            </a:p>
          </p:txBody>
        </p:sp>
        <p:sp>
          <p:nvSpPr>
            <p:cNvPr id="67620" name="Line 33"/>
            <p:cNvSpPr>
              <a:spLocks noChangeShapeType="1"/>
            </p:cNvSpPr>
            <p:nvPr/>
          </p:nvSpPr>
          <p:spPr bwMode="auto">
            <a:xfrm flipV="1">
              <a:off x="2580" y="1920"/>
              <a:ext cx="864" cy="864"/>
            </a:xfrm>
            <a:prstGeom prst="line">
              <a:avLst/>
            </a:prstGeom>
            <a:noFill/>
            <a:ln w="9525">
              <a:solidFill>
                <a:schemeClr val="tx1"/>
              </a:solidFill>
              <a:miter lim="800000"/>
              <a:tailEnd type="triangle" w="med" len="med"/>
            </a:ln>
          </p:spPr>
          <p:txBody>
            <a:bodyPr wrap="none" anchor="ctr"/>
            <a:lstStyle/>
            <a:p>
              <a:endParaRPr lang="zh-CN" altLang="en-US"/>
            </a:p>
          </p:txBody>
        </p:sp>
        <p:sp>
          <p:nvSpPr>
            <p:cNvPr id="67621" name="Line 34"/>
            <p:cNvSpPr>
              <a:spLocks noChangeShapeType="1"/>
            </p:cNvSpPr>
            <p:nvPr/>
          </p:nvSpPr>
          <p:spPr bwMode="auto">
            <a:xfrm>
              <a:off x="2580" y="2784"/>
              <a:ext cx="912" cy="240"/>
            </a:xfrm>
            <a:prstGeom prst="line">
              <a:avLst/>
            </a:prstGeom>
            <a:noFill/>
            <a:ln w="9525">
              <a:solidFill>
                <a:schemeClr val="tx1"/>
              </a:solidFill>
              <a:miter lim="800000"/>
              <a:tailEnd type="triangle" w="med" len="med"/>
            </a:ln>
          </p:spPr>
          <p:txBody>
            <a:bodyPr wrap="none" anchor="ctr"/>
            <a:lstStyle/>
            <a:p>
              <a:endParaRPr lang="zh-CN" altLang="en-US"/>
            </a:p>
          </p:txBody>
        </p:sp>
        <p:sp>
          <p:nvSpPr>
            <p:cNvPr id="67622" name="Line 35"/>
            <p:cNvSpPr>
              <a:spLocks noChangeShapeType="1"/>
            </p:cNvSpPr>
            <p:nvPr/>
          </p:nvSpPr>
          <p:spPr bwMode="auto">
            <a:xfrm>
              <a:off x="3684" y="1344"/>
              <a:ext cx="816" cy="528"/>
            </a:xfrm>
            <a:prstGeom prst="line">
              <a:avLst/>
            </a:prstGeom>
            <a:noFill/>
            <a:ln w="9525">
              <a:solidFill>
                <a:schemeClr val="tx1"/>
              </a:solidFill>
              <a:miter lim="800000"/>
              <a:tailEnd type="triangle" w="med" len="med"/>
            </a:ln>
          </p:spPr>
          <p:txBody>
            <a:bodyPr wrap="none" anchor="ctr"/>
            <a:lstStyle/>
            <a:p>
              <a:endParaRPr lang="zh-CN" altLang="en-US"/>
            </a:p>
          </p:txBody>
        </p:sp>
        <p:sp>
          <p:nvSpPr>
            <p:cNvPr id="67623" name="Line 36"/>
            <p:cNvSpPr>
              <a:spLocks noChangeShapeType="1"/>
            </p:cNvSpPr>
            <p:nvPr/>
          </p:nvSpPr>
          <p:spPr bwMode="auto">
            <a:xfrm>
              <a:off x="3684" y="1344"/>
              <a:ext cx="864" cy="1296"/>
            </a:xfrm>
            <a:prstGeom prst="line">
              <a:avLst/>
            </a:prstGeom>
            <a:noFill/>
            <a:ln w="9525">
              <a:solidFill>
                <a:schemeClr val="tx1"/>
              </a:solidFill>
              <a:miter lim="800000"/>
              <a:tailEnd type="triangle" w="med" len="med"/>
            </a:ln>
          </p:spPr>
          <p:txBody>
            <a:bodyPr wrap="none" anchor="ctr"/>
            <a:lstStyle/>
            <a:p>
              <a:endParaRPr lang="zh-CN" altLang="en-US"/>
            </a:p>
          </p:txBody>
        </p:sp>
        <p:sp>
          <p:nvSpPr>
            <p:cNvPr id="67624" name="Line 37"/>
            <p:cNvSpPr>
              <a:spLocks noChangeShapeType="1"/>
            </p:cNvSpPr>
            <p:nvPr/>
          </p:nvSpPr>
          <p:spPr bwMode="auto">
            <a:xfrm>
              <a:off x="3684" y="1872"/>
              <a:ext cx="816" cy="48"/>
            </a:xfrm>
            <a:prstGeom prst="line">
              <a:avLst/>
            </a:prstGeom>
            <a:noFill/>
            <a:ln w="9525">
              <a:solidFill>
                <a:schemeClr val="tx1"/>
              </a:solidFill>
              <a:miter lim="800000"/>
              <a:tailEnd type="triangle" w="med" len="med"/>
            </a:ln>
          </p:spPr>
          <p:txBody>
            <a:bodyPr wrap="none" anchor="ctr"/>
            <a:lstStyle/>
            <a:p>
              <a:endParaRPr lang="zh-CN" altLang="en-US"/>
            </a:p>
          </p:txBody>
        </p:sp>
        <p:sp>
          <p:nvSpPr>
            <p:cNvPr id="67625" name="Line 38"/>
            <p:cNvSpPr>
              <a:spLocks noChangeShapeType="1"/>
            </p:cNvSpPr>
            <p:nvPr/>
          </p:nvSpPr>
          <p:spPr bwMode="auto">
            <a:xfrm>
              <a:off x="3684" y="1872"/>
              <a:ext cx="816" cy="768"/>
            </a:xfrm>
            <a:prstGeom prst="line">
              <a:avLst/>
            </a:prstGeom>
            <a:noFill/>
            <a:ln w="9525">
              <a:solidFill>
                <a:schemeClr val="tx1"/>
              </a:solidFill>
              <a:miter lim="800000"/>
              <a:tailEnd type="triangle" w="med" len="med"/>
            </a:ln>
          </p:spPr>
          <p:txBody>
            <a:bodyPr wrap="none" anchor="ctr"/>
            <a:lstStyle/>
            <a:p>
              <a:endParaRPr lang="zh-CN" altLang="en-US"/>
            </a:p>
          </p:txBody>
        </p:sp>
        <p:sp>
          <p:nvSpPr>
            <p:cNvPr id="67626" name="Line 39"/>
            <p:cNvSpPr>
              <a:spLocks noChangeShapeType="1"/>
            </p:cNvSpPr>
            <p:nvPr/>
          </p:nvSpPr>
          <p:spPr bwMode="auto">
            <a:xfrm flipV="1">
              <a:off x="3732" y="1968"/>
              <a:ext cx="768" cy="1008"/>
            </a:xfrm>
            <a:prstGeom prst="line">
              <a:avLst/>
            </a:prstGeom>
            <a:noFill/>
            <a:ln w="9525">
              <a:solidFill>
                <a:schemeClr val="tx1"/>
              </a:solidFill>
              <a:miter lim="800000"/>
              <a:tailEnd type="triangle" w="med" len="med"/>
            </a:ln>
          </p:spPr>
          <p:txBody>
            <a:bodyPr wrap="none" anchor="ctr"/>
            <a:lstStyle/>
            <a:p>
              <a:endParaRPr lang="zh-CN" altLang="en-US"/>
            </a:p>
          </p:txBody>
        </p:sp>
        <p:sp>
          <p:nvSpPr>
            <p:cNvPr id="67627" name="Line 40"/>
            <p:cNvSpPr>
              <a:spLocks noChangeShapeType="1"/>
            </p:cNvSpPr>
            <p:nvPr/>
          </p:nvSpPr>
          <p:spPr bwMode="auto">
            <a:xfrm flipV="1">
              <a:off x="3732" y="2736"/>
              <a:ext cx="720" cy="288"/>
            </a:xfrm>
            <a:prstGeom prst="line">
              <a:avLst/>
            </a:prstGeom>
            <a:noFill/>
            <a:ln w="9525">
              <a:solidFill>
                <a:schemeClr val="tx1"/>
              </a:solidFill>
              <a:miter lim="800000"/>
              <a:tailEnd type="triangle" w="med" len="med"/>
            </a:ln>
          </p:spPr>
          <p:txBody>
            <a:bodyPr wrap="none" anchor="ctr"/>
            <a:lstStyle/>
            <a:p>
              <a:endParaRPr lang="zh-CN" altLang="en-US"/>
            </a:p>
          </p:txBody>
        </p:sp>
        <p:sp>
          <p:nvSpPr>
            <p:cNvPr id="67628" name="Line 41"/>
            <p:cNvSpPr>
              <a:spLocks noChangeShapeType="1"/>
            </p:cNvSpPr>
            <p:nvPr/>
          </p:nvSpPr>
          <p:spPr bwMode="auto">
            <a:xfrm>
              <a:off x="4740" y="1920"/>
              <a:ext cx="384" cy="0"/>
            </a:xfrm>
            <a:prstGeom prst="line">
              <a:avLst/>
            </a:prstGeom>
            <a:noFill/>
            <a:ln w="9525">
              <a:solidFill>
                <a:schemeClr val="tx1"/>
              </a:solidFill>
              <a:miter lim="800000"/>
              <a:tailEnd type="triangle" w="med" len="med"/>
            </a:ln>
          </p:spPr>
          <p:txBody>
            <a:bodyPr wrap="none" anchor="ctr"/>
            <a:lstStyle/>
            <a:p>
              <a:endParaRPr lang="zh-CN" altLang="en-US"/>
            </a:p>
          </p:txBody>
        </p:sp>
        <p:sp>
          <p:nvSpPr>
            <p:cNvPr id="67629" name="Line 42"/>
            <p:cNvSpPr>
              <a:spLocks noChangeShapeType="1"/>
            </p:cNvSpPr>
            <p:nvPr/>
          </p:nvSpPr>
          <p:spPr bwMode="auto">
            <a:xfrm>
              <a:off x="4740" y="2688"/>
              <a:ext cx="384" cy="0"/>
            </a:xfrm>
            <a:prstGeom prst="line">
              <a:avLst/>
            </a:prstGeom>
            <a:noFill/>
            <a:ln w="9525">
              <a:solidFill>
                <a:schemeClr val="tx1"/>
              </a:solidFill>
              <a:miter lim="800000"/>
              <a:tailEnd type="triangle" w="med" len="med"/>
            </a:ln>
          </p:spPr>
          <p:txBody>
            <a:bodyPr wrap="none" anchor="ctr"/>
            <a:lstStyle/>
            <a:p>
              <a:endParaRPr lang="zh-CN" altLang="en-US"/>
            </a:p>
          </p:txBody>
        </p:sp>
        <p:sp>
          <p:nvSpPr>
            <p:cNvPr id="67630" name="Rectangle 43"/>
            <p:cNvSpPr>
              <a:spLocks noChangeArrowheads="1"/>
            </p:cNvSpPr>
            <p:nvPr/>
          </p:nvSpPr>
          <p:spPr bwMode="auto">
            <a:xfrm>
              <a:off x="324" y="1008"/>
              <a:ext cx="624" cy="288"/>
            </a:xfrm>
            <a:prstGeom prst="rect">
              <a:avLst/>
            </a:prstGeom>
            <a:noFill/>
            <a:ln w="9525">
              <a:noFill/>
              <a:miter lim="800000"/>
            </a:ln>
          </p:spPr>
          <p:txBody>
            <a:bodyPr wrap="none" anchor="ctr"/>
            <a:lstStyle/>
            <a:p>
              <a:pPr>
                <a:spcBef>
                  <a:spcPct val="50000"/>
                </a:spcBef>
              </a:pPr>
              <a:r>
                <a:rPr lang="en-US" altLang="zh-CN" b="0">
                  <a:latin typeface="Tahoma" panose="020B0604030504040204" pitchFamily="34" charset="0"/>
                </a:rPr>
                <a:t>N</a:t>
              </a:r>
              <a:r>
                <a:rPr lang="en-US" altLang="zh-CN" b="0" baseline="-25000">
                  <a:latin typeface="Tahoma" panose="020B0604030504040204" pitchFamily="34" charset="0"/>
                </a:rPr>
                <a:t>1</a:t>
              </a:r>
              <a:endParaRPr lang="en-US" altLang="zh-CN" b="0">
                <a:latin typeface="Tahoma" panose="020B0604030504040204" pitchFamily="34" charset="0"/>
              </a:endParaRPr>
            </a:p>
          </p:txBody>
        </p:sp>
        <p:sp>
          <p:nvSpPr>
            <p:cNvPr id="67631" name="Rectangle 44"/>
            <p:cNvSpPr>
              <a:spLocks noChangeArrowheads="1"/>
            </p:cNvSpPr>
            <p:nvPr/>
          </p:nvSpPr>
          <p:spPr bwMode="auto">
            <a:xfrm>
              <a:off x="324" y="1440"/>
              <a:ext cx="624" cy="288"/>
            </a:xfrm>
            <a:prstGeom prst="rect">
              <a:avLst/>
            </a:prstGeom>
            <a:noFill/>
            <a:ln w="9525">
              <a:noFill/>
              <a:miter lim="800000"/>
            </a:ln>
          </p:spPr>
          <p:txBody>
            <a:bodyPr wrap="none" anchor="ctr"/>
            <a:lstStyle/>
            <a:p>
              <a:pPr>
                <a:spcBef>
                  <a:spcPct val="50000"/>
                </a:spcBef>
              </a:pPr>
              <a:r>
                <a:rPr lang="en-US" altLang="zh-CN" b="0">
                  <a:latin typeface="Tahoma" panose="020B0604030504040204" pitchFamily="34" charset="0"/>
                </a:rPr>
                <a:t>N</a:t>
              </a:r>
              <a:r>
                <a:rPr lang="en-US" altLang="zh-CN" b="0" baseline="-25000">
                  <a:latin typeface="Tahoma" panose="020B0604030504040204" pitchFamily="34" charset="0"/>
                </a:rPr>
                <a:t>2</a:t>
              </a:r>
              <a:endParaRPr lang="en-US" altLang="zh-CN" b="0">
                <a:latin typeface="Tahoma" panose="020B0604030504040204" pitchFamily="34" charset="0"/>
              </a:endParaRPr>
            </a:p>
          </p:txBody>
        </p:sp>
        <p:sp>
          <p:nvSpPr>
            <p:cNvPr id="67632" name="Rectangle 45"/>
            <p:cNvSpPr>
              <a:spLocks noChangeArrowheads="1"/>
            </p:cNvSpPr>
            <p:nvPr/>
          </p:nvSpPr>
          <p:spPr bwMode="auto">
            <a:xfrm>
              <a:off x="372" y="2824"/>
              <a:ext cx="624" cy="288"/>
            </a:xfrm>
            <a:prstGeom prst="rect">
              <a:avLst/>
            </a:prstGeom>
            <a:noFill/>
            <a:ln w="9525">
              <a:noFill/>
              <a:miter lim="800000"/>
            </a:ln>
          </p:spPr>
          <p:txBody>
            <a:bodyPr wrap="none" anchor="ctr"/>
            <a:lstStyle/>
            <a:p>
              <a:pPr>
                <a:spcBef>
                  <a:spcPct val="50000"/>
                </a:spcBef>
              </a:pPr>
              <a:r>
                <a:rPr lang="en-US" altLang="zh-CN" b="0">
                  <a:latin typeface="Tahoma" panose="020B0604030504040204" pitchFamily="34" charset="0"/>
                </a:rPr>
                <a:t>N</a:t>
              </a:r>
              <a:r>
                <a:rPr lang="en-US" altLang="zh-CN" b="0" baseline="-25000">
                  <a:latin typeface="Tahoma" panose="020B0604030504040204" pitchFamily="34" charset="0"/>
                </a:rPr>
                <a:t>9</a:t>
              </a:r>
              <a:endParaRPr lang="en-US" altLang="zh-CN" b="0">
                <a:latin typeface="Tahoma" panose="020B0604030504040204" pitchFamily="34" charset="0"/>
              </a:endParaRPr>
            </a:p>
          </p:txBody>
        </p:sp>
        <p:sp>
          <p:nvSpPr>
            <p:cNvPr id="67633" name="Rectangle 46"/>
            <p:cNvSpPr>
              <a:spLocks noChangeArrowheads="1"/>
            </p:cNvSpPr>
            <p:nvPr/>
          </p:nvSpPr>
          <p:spPr bwMode="auto">
            <a:xfrm>
              <a:off x="1572" y="1152"/>
              <a:ext cx="624" cy="288"/>
            </a:xfrm>
            <a:prstGeom prst="rect">
              <a:avLst/>
            </a:prstGeom>
            <a:noFill/>
            <a:ln w="9525">
              <a:noFill/>
              <a:miter lim="800000"/>
            </a:ln>
          </p:spPr>
          <p:txBody>
            <a:bodyPr wrap="none" anchor="ctr"/>
            <a:lstStyle/>
            <a:p>
              <a:pPr>
                <a:spcBef>
                  <a:spcPct val="50000"/>
                </a:spcBef>
              </a:pPr>
              <a:r>
                <a:rPr lang="en-US" altLang="zh-CN" b="0">
                  <a:latin typeface="Tahoma" panose="020B0604030504040204" pitchFamily="34" charset="0"/>
                </a:rPr>
                <a:t>w</a:t>
              </a:r>
            </a:p>
          </p:txBody>
        </p:sp>
        <p:sp>
          <p:nvSpPr>
            <p:cNvPr id="67634" name="Rectangle 47"/>
            <p:cNvSpPr>
              <a:spLocks noChangeArrowheads="1"/>
            </p:cNvSpPr>
            <p:nvPr/>
          </p:nvSpPr>
          <p:spPr bwMode="auto">
            <a:xfrm>
              <a:off x="2724" y="1200"/>
              <a:ext cx="624" cy="288"/>
            </a:xfrm>
            <a:prstGeom prst="rect">
              <a:avLst/>
            </a:prstGeom>
            <a:noFill/>
            <a:ln w="9525">
              <a:noFill/>
              <a:miter lim="800000"/>
            </a:ln>
          </p:spPr>
          <p:txBody>
            <a:bodyPr wrap="none" anchor="ctr"/>
            <a:lstStyle/>
            <a:p>
              <a:pPr>
                <a:spcBef>
                  <a:spcPct val="50000"/>
                </a:spcBef>
              </a:pPr>
              <a:r>
                <a:rPr lang="en-US" altLang="zh-CN" b="0">
                  <a:latin typeface="Tahoma" panose="020B0604030504040204" pitchFamily="34" charset="0"/>
                </a:rPr>
                <a:t>w</a:t>
              </a:r>
            </a:p>
          </p:txBody>
        </p:sp>
        <p:sp>
          <p:nvSpPr>
            <p:cNvPr id="67635" name="Rectangle 48"/>
            <p:cNvSpPr>
              <a:spLocks noChangeArrowheads="1"/>
            </p:cNvSpPr>
            <p:nvPr/>
          </p:nvSpPr>
          <p:spPr bwMode="auto">
            <a:xfrm>
              <a:off x="3924" y="1440"/>
              <a:ext cx="624" cy="288"/>
            </a:xfrm>
            <a:prstGeom prst="rect">
              <a:avLst/>
            </a:prstGeom>
            <a:noFill/>
            <a:ln w="9525">
              <a:noFill/>
              <a:miter lim="800000"/>
            </a:ln>
          </p:spPr>
          <p:txBody>
            <a:bodyPr wrap="none" anchor="ctr"/>
            <a:lstStyle/>
            <a:p>
              <a:pPr>
                <a:spcBef>
                  <a:spcPct val="50000"/>
                </a:spcBef>
              </a:pPr>
              <a:r>
                <a:rPr lang="en-US" altLang="zh-CN" b="0">
                  <a:latin typeface="Tahoma" panose="020B0604030504040204" pitchFamily="34" charset="0"/>
                </a:rPr>
                <a:t>w</a:t>
              </a:r>
            </a:p>
          </p:txBody>
        </p:sp>
        <p:sp>
          <p:nvSpPr>
            <p:cNvPr id="67636" name="Rectangle 49"/>
            <p:cNvSpPr>
              <a:spLocks noChangeArrowheads="1"/>
            </p:cNvSpPr>
            <p:nvPr/>
          </p:nvSpPr>
          <p:spPr bwMode="auto">
            <a:xfrm>
              <a:off x="4932" y="1728"/>
              <a:ext cx="624" cy="288"/>
            </a:xfrm>
            <a:prstGeom prst="rect">
              <a:avLst/>
            </a:prstGeom>
            <a:noFill/>
            <a:ln w="9525">
              <a:noFill/>
              <a:miter lim="800000"/>
            </a:ln>
          </p:spPr>
          <p:txBody>
            <a:bodyPr wrap="none" anchor="ctr"/>
            <a:lstStyle/>
            <a:p>
              <a:pPr>
                <a:spcBef>
                  <a:spcPct val="50000"/>
                </a:spcBef>
              </a:pPr>
              <a:r>
                <a:rPr lang="en-US" altLang="zh-CN" sz="2400">
                  <a:latin typeface="Tahoma" panose="020B0604030504040204" pitchFamily="34" charset="0"/>
                </a:rPr>
                <a:t>O</a:t>
              </a:r>
              <a:r>
                <a:rPr lang="en-US" altLang="zh-CN" sz="2400" baseline="-25000">
                  <a:latin typeface="Tahoma" panose="020B0604030504040204" pitchFamily="34" charset="0"/>
                </a:rPr>
                <a:t>1</a:t>
              </a:r>
              <a:endParaRPr lang="en-US" altLang="zh-CN" sz="2400">
                <a:latin typeface="Tahoma" panose="020B0604030504040204" pitchFamily="34" charset="0"/>
              </a:endParaRPr>
            </a:p>
          </p:txBody>
        </p:sp>
        <p:sp>
          <p:nvSpPr>
            <p:cNvPr id="67637" name="Rectangle 50"/>
            <p:cNvSpPr>
              <a:spLocks noChangeArrowheads="1"/>
            </p:cNvSpPr>
            <p:nvPr/>
          </p:nvSpPr>
          <p:spPr bwMode="auto">
            <a:xfrm>
              <a:off x="4932" y="2496"/>
              <a:ext cx="624" cy="288"/>
            </a:xfrm>
            <a:prstGeom prst="rect">
              <a:avLst/>
            </a:prstGeom>
            <a:noFill/>
            <a:ln w="9525">
              <a:noFill/>
              <a:miter lim="800000"/>
            </a:ln>
          </p:spPr>
          <p:txBody>
            <a:bodyPr wrap="none" anchor="ctr"/>
            <a:lstStyle/>
            <a:p>
              <a:pPr>
                <a:spcBef>
                  <a:spcPct val="50000"/>
                </a:spcBef>
              </a:pPr>
              <a:r>
                <a:rPr lang="en-US" altLang="zh-CN" sz="2400">
                  <a:latin typeface="Tahoma" panose="020B0604030504040204" pitchFamily="34" charset="0"/>
                </a:rPr>
                <a:t>O</a:t>
              </a:r>
              <a:r>
                <a:rPr lang="en-US" altLang="zh-CN" sz="2400" baseline="-25000">
                  <a:latin typeface="Tahoma" panose="020B0604030504040204" pitchFamily="34" charset="0"/>
                </a:rPr>
                <a:t>2</a:t>
              </a:r>
              <a:endParaRPr lang="en-US" altLang="zh-CN" sz="2400">
                <a:latin typeface="Tahoma" panose="020B0604030504040204" pitchFamily="34" charset="0"/>
              </a:endParaRPr>
            </a:p>
          </p:txBody>
        </p:sp>
      </p:grpSp>
      <p:sp>
        <p:nvSpPr>
          <p:cNvPr id="67588" name="Oval 51"/>
          <p:cNvSpPr>
            <a:spLocks noChangeArrowheads="1"/>
          </p:cNvSpPr>
          <p:nvPr/>
        </p:nvSpPr>
        <p:spPr bwMode="auto">
          <a:xfrm>
            <a:off x="6710735" y="5527364"/>
            <a:ext cx="381000" cy="381000"/>
          </a:xfrm>
          <a:prstGeom prst="ellipse">
            <a:avLst/>
          </a:prstGeom>
          <a:solidFill>
            <a:srgbClr val="3366FF"/>
          </a:solidFill>
          <a:ln w="15875">
            <a:noFill/>
            <a:miter lim="800000"/>
          </a:ln>
        </p:spPr>
        <p:txBody>
          <a:bodyPr wrap="none" anchor="ctr"/>
          <a:lstStyle/>
          <a:p>
            <a:endParaRPr lang="zh-CN" altLang="en-US"/>
          </a:p>
        </p:txBody>
      </p:sp>
      <p:sp>
        <p:nvSpPr>
          <p:cNvPr id="67589" name="Rectangle 52"/>
          <p:cNvSpPr>
            <a:spLocks noChangeArrowheads="1"/>
          </p:cNvSpPr>
          <p:nvPr/>
        </p:nvSpPr>
        <p:spPr bwMode="auto">
          <a:xfrm>
            <a:off x="7317160" y="5489264"/>
            <a:ext cx="1368425" cy="433388"/>
          </a:xfrm>
          <a:prstGeom prst="rect">
            <a:avLst/>
          </a:prstGeom>
          <a:noFill/>
          <a:ln w="9525">
            <a:noFill/>
            <a:miter lim="800000"/>
          </a:ln>
        </p:spPr>
        <p:txBody>
          <a:bodyPr wrap="none" anchor="ctr"/>
          <a:lstStyle/>
          <a:p>
            <a:pPr>
              <a:spcBef>
                <a:spcPct val="50000"/>
              </a:spcBef>
            </a:pPr>
            <a:r>
              <a:rPr lang="en-US" altLang="zh-CN" dirty="0">
                <a:latin typeface="Tahoma" panose="020B0604030504040204" pitchFamily="34" charset="0"/>
              </a:rPr>
              <a:t>Sigmoid</a:t>
            </a:r>
            <a:r>
              <a:rPr lang="zh-CN" altLang="en-US" dirty="0">
                <a:latin typeface="Tahoma" panose="020B0604030504040204" pitchFamily="34" charset="0"/>
              </a:rPr>
              <a:t>函数</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7588"/>
                                        </p:tgtEl>
                                        <p:attrNameLst>
                                          <p:attrName>style.visibility</p:attrName>
                                        </p:attrNameLst>
                                      </p:cBhvr>
                                      <p:to>
                                        <p:strVal val="visible"/>
                                      </p:to>
                                    </p:set>
                                    <p:anim calcmode="lin" valueType="num">
                                      <p:cBhvr>
                                        <p:cTn id="11" dur="500" fill="hold"/>
                                        <p:tgtEl>
                                          <p:spTgt spid="67588"/>
                                        </p:tgtEl>
                                        <p:attrNameLst>
                                          <p:attrName>ppt_w</p:attrName>
                                        </p:attrNameLst>
                                      </p:cBhvr>
                                      <p:tavLst>
                                        <p:tav tm="0">
                                          <p:val>
                                            <p:fltVal val="0"/>
                                          </p:val>
                                        </p:tav>
                                        <p:tav tm="100000">
                                          <p:val>
                                            <p:strVal val="#ppt_w"/>
                                          </p:val>
                                        </p:tav>
                                      </p:tavLst>
                                    </p:anim>
                                    <p:anim calcmode="lin" valueType="num">
                                      <p:cBhvr>
                                        <p:cTn id="12" dur="500" fill="hold"/>
                                        <p:tgtEl>
                                          <p:spTgt spid="67588"/>
                                        </p:tgtEl>
                                        <p:attrNameLst>
                                          <p:attrName>ppt_h</p:attrName>
                                        </p:attrNameLst>
                                      </p:cBhvr>
                                      <p:tavLst>
                                        <p:tav tm="0">
                                          <p:val>
                                            <p:fltVal val="0"/>
                                          </p:val>
                                        </p:tav>
                                        <p:tav tm="100000">
                                          <p:val>
                                            <p:strVal val="#ppt_h"/>
                                          </p:val>
                                        </p:tav>
                                      </p:tavLst>
                                    </p:anim>
                                    <p:animEffect transition="in" filter="fade">
                                      <p:cBhvr>
                                        <p:cTn id="13" dur="500"/>
                                        <p:tgtEl>
                                          <p:spTgt spid="67588"/>
                                        </p:tgtEl>
                                      </p:cBhvr>
                                    </p:animEffect>
                                  </p:childTnLst>
                                </p:cTn>
                              </p:par>
                            </p:childTnLst>
                          </p:cTn>
                        </p:par>
                        <p:par>
                          <p:cTn id="14"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67589"/>
                                        </p:tgtEl>
                                        <p:attrNameLst>
                                          <p:attrName>style.visibility</p:attrName>
                                        </p:attrNameLst>
                                      </p:cBhvr>
                                      <p:to>
                                        <p:strVal val="visible"/>
                                      </p:to>
                                    </p:set>
                                    <p:anim calcmode="lin" valueType="num">
                                      <p:cBhvr>
                                        <p:cTn id="17" dur="500" fill="hold"/>
                                        <p:tgtEl>
                                          <p:spTgt spid="67589"/>
                                        </p:tgtEl>
                                        <p:attrNameLst>
                                          <p:attrName>ppt_w</p:attrName>
                                        </p:attrNameLst>
                                      </p:cBhvr>
                                      <p:tavLst>
                                        <p:tav tm="0">
                                          <p:val>
                                            <p:fltVal val="0"/>
                                          </p:val>
                                        </p:tav>
                                        <p:tav tm="100000">
                                          <p:val>
                                            <p:strVal val="#ppt_w"/>
                                          </p:val>
                                        </p:tav>
                                      </p:tavLst>
                                    </p:anim>
                                    <p:anim calcmode="lin" valueType="num">
                                      <p:cBhvr>
                                        <p:cTn id="18" dur="500" fill="hold"/>
                                        <p:tgtEl>
                                          <p:spTgt spid="67589"/>
                                        </p:tgtEl>
                                        <p:attrNameLst>
                                          <p:attrName>ppt_h</p:attrName>
                                        </p:attrNameLst>
                                      </p:cBhvr>
                                      <p:tavLst>
                                        <p:tav tm="0">
                                          <p:val>
                                            <p:fltVal val="0"/>
                                          </p:val>
                                        </p:tav>
                                        <p:tav tm="100000">
                                          <p:val>
                                            <p:strVal val="#ppt_h"/>
                                          </p:val>
                                        </p:tav>
                                      </p:tavLst>
                                    </p:anim>
                                    <p:animEffect transition="in" filter="fade">
                                      <p:cBhvr>
                                        <p:cTn id="19" dur="500"/>
                                        <p:tgtEl>
                                          <p:spTgt spid="675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8" grpId="0" animBg="1"/>
      <p:bldP spid="67589" grpId="0"/>
    </p:bldLst>
  </p:timing>
</p:sld>
</file>

<file path=ppt/slides/slide1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611560" y="755352"/>
            <a:ext cx="7210425" cy="679450"/>
          </a:xfrm>
          <a:noFill/>
          <a:ln w="9525">
            <a:noFill/>
            <a:miter lim="800000"/>
          </a:ln>
        </p:spPr>
        <p:txBody>
          <a:bodyPr vert="horz" wrap="square" lIns="91440" tIns="45720" rIns="91440" bIns="45720" numCol="1" anchor="ctr" anchorCtr="0" compatLnSpc="1"/>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MLP</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网络</a:t>
            </a:r>
            <a:endParaRPr lang="zh-CN"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218115" name="Rectangle 3"/>
          <p:cNvSpPr>
            <a:spLocks noGrp="1" noChangeArrowheads="1"/>
          </p:cNvSpPr>
          <p:nvPr>
            <p:ph type="body" idx="1"/>
          </p:nvPr>
        </p:nvSpPr>
        <p:spPr>
          <a:xfrm>
            <a:off x="755576" y="1772816"/>
            <a:ext cx="7772400" cy="4114800"/>
          </a:xfrm>
        </p:spPr>
        <p:txBody>
          <a:bodyPr/>
          <a:lstStyle/>
          <a:p>
            <a:pPr eaLnBrk="1" hangingPunct="1">
              <a:lnSpc>
                <a:spcPct val="90000"/>
              </a:lnSpc>
            </a:pPr>
            <a:r>
              <a:rPr lang="en-US" altLang="zh-CN" sz="28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9</a:t>
            </a:r>
            <a:r>
              <a:rPr lang="zh-CN" altLang="en-US" sz="28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个输入</a:t>
            </a:r>
          </a:p>
          <a:p>
            <a:pPr lvl="1" eaLnBrk="1" hangingPunct="1">
              <a:lnSpc>
                <a:spcPct val="90000"/>
              </a:lnSpc>
            </a:pP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Protocol ID</a:t>
            </a:r>
          </a:p>
          <a:p>
            <a:pPr lvl="1" eaLnBrk="1" hangingPunct="1">
              <a:lnSpc>
                <a:spcPct val="90000"/>
              </a:lnSpc>
            </a:pP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Source Port</a:t>
            </a:r>
          </a:p>
          <a:p>
            <a:pPr lvl="1" eaLnBrk="1" hangingPunct="1">
              <a:lnSpc>
                <a:spcPct val="90000"/>
              </a:lnSpc>
            </a:pP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Destination Port</a:t>
            </a:r>
          </a:p>
          <a:p>
            <a:pPr lvl="1" eaLnBrk="1" hangingPunct="1">
              <a:lnSpc>
                <a:spcPct val="90000"/>
              </a:lnSpc>
            </a:pP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Source Address</a:t>
            </a:r>
          </a:p>
          <a:p>
            <a:pPr lvl="1" eaLnBrk="1" hangingPunct="1">
              <a:lnSpc>
                <a:spcPct val="90000"/>
              </a:lnSpc>
            </a:pP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Destination Address</a:t>
            </a:r>
          </a:p>
          <a:p>
            <a:pPr lvl="1" eaLnBrk="1" hangingPunct="1">
              <a:lnSpc>
                <a:spcPct val="90000"/>
              </a:lnSpc>
            </a:pP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ICMP Type</a:t>
            </a:r>
          </a:p>
          <a:p>
            <a:pPr lvl="1" eaLnBrk="1" hangingPunct="1">
              <a:lnSpc>
                <a:spcPct val="90000"/>
              </a:lnSpc>
            </a:pP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ICMP Code</a:t>
            </a:r>
          </a:p>
          <a:p>
            <a:pPr lvl="1" eaLnBrk="1" hangingPunct="1">
              <a:lnSpc>
                <a:spcPct val="90000"/>
              </a:lnSpc>
            </a:pP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Raw Data</a:t>
            </a:r>
          </a:p>
          <a:p>
            <a:pPr lvl="1" eaLnBrk="1" hangingPunct="1">
              <a:lnSpc>
                <a:spcPct val="90000"/>
              </a:lnSpc>
            </a:pP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Raw Data Length</a:t>
            </a:r>
          </a:p>
        </p:txBody>
      </p:sp>
      <p:sp>
        <p:nvSpPr>
          <p:cNvPr id="218116" name="Rectangle 4"/>
          <p:cNvSpPr>
            <a:spLocks noChangeArrowheads="1"/>
          </p:cNvSpPr>
          <p:nvPr/>
        </p:nvSpPr>
        <p:spPr bwMode="auto">
          <a:xfrm>
            <a:off x="4641776" y="1916832"/>
            <a:ext cx="4105275" cy="2133600"/>
          </a:xfrm>
          <a:prstGeom prst="rect">
            <a:avLst/>
          </a:prstGeom>
          <a:noFill/>
          <a:ln w="9525">
            <a:noFill/>
            <a:miter lim="800000"/>
          </a:ln>
        </p:spPr>
        <p:txBody>
          <a:bodyPr/>
          <a:lstStyle/>
          <a:p>
            <a:pPr marL="342900" indent="-342900">
              <a:lnSpc>
                <a:spcPct val="90000"/>
              </a:lnSpc>
              <a:spcBef>
                <a:spcPct val="20000"/>
              </a:spcBef>
              <a:buClr>
                <a:srgbClr val="3399FF"/>
              </a:buClr>
              <a:buSzPct val="90000"/>
              <a:buFont typeface="Wingdings" panose="05000000000000000000" pitchFamily="2" charset="2"/>
              <a:buChar char="v"/>
            </a:pPr>
            <a:r>
              <a:rPr lang="en-US" altLang="zh-CN" sz="2800" b="1" dirty="0">
                <a:solidFill>
                  <a:srgbClr val="0000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2</a:t>
            </a:r>
            <a:r>
              <a:rPr lang="zh-CN" altLang="en-US" sz="2800" b="1" dirty="0">
                <a:solidFill>
                  <a:srgbClr val="0000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个输入</a:t>
            </a:r>
          </a:p>
          <a:p>
            <a:pPr marL="742950" lvl="1" indent="-285750" algn="l">
              <a:lnSpc>
                <a:spcPct val="90000"/>
              </a:lnSpc>
              <a:spcBef>
                <a:spcPct val="20000"/>
              </a:spcBef>
              <a:buSzPct val="80000"/>
              <a:buFontTx/>
              <a:buBlip>
                <a:blip r:embed="rId2"/>
              </a:buBlip>
            </a:pPr>
            <a:r>
              <a:rPr kumimoji="1" lang="zh-CN"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(0.0，1.0)</a:t>
            </a:r>
            <a:r>
              <a:rPr kumimoji="1"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表示没有攻击</a:t>
            </a:r>
            <a:endParaRPr kumimoji="1" lang="zh-CN"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742950" lvl="1" indent="-285750" algn="l">
              <a:lnSpc>
                <a:spcPct val="90000"/>
              </a:lnSpc>
              <a:spcBef>
                <a:spcPct val="20000"/>
              </a:spcBef>
              <a:buSzPct val="80000"/>
              <a:buFontTx/>
              <a:buBlip>
                <a:blip r:embed="rId2"/>
              </a:buBlip>
            </a:pPr>
            <a:r>
              <a:rPr kumimoji="1" lang="zh-CN"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(1.0，0.0)</a:t>
            </a:r>
            <a:r>
              <a:rPr kumimoji="1"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表示有攻击</a:t>
            </a:r>
          </a:p>
          <a:p>
            <a:pPr marL="342900" indent="-342900">
              <a:lnSpc>
                <a:spcPct val="90000"/>
              </a:lnSpc>
              <a:spcBef>
                <a:spcPct val="20000"/>
              </a:spcBef>
              <a:buClr>
                <a:srgbClr val="3399FF"/>
              </a:buClr>
              <a:buSzPct val="90000"/>
              <a:buFont typeface="Wingdings" panose="05000000000000000000" pitchFamily="2" charset="2"/>
              <a:buChar char="v"/>
            </a:pPr>
            <a:r>
              <a:rPr lang="zh-CN" altLang="en-US" sz="2800" b="1" dirty="0">
                <a:solidFill>
                  <a:srgbClr val="0000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神经元函数</a:t>
            </a:r>
          </a:p>
          <a:p>
            <a:pPr marL="742950" lvl="1" indent="-285750" algn="l">
              <a:lnSpc>
                <a:spcPct val="90000"/>
              </a:lnSpc>
              <a:spcBef>
                <a:spcPct val="20000"/>
              </a:spcBef>
              <a:buSzPct val="80000"/>
              <a:buFontTx/>
              <a:buBlip>
                <a:blip r:embed="rId2"/>
              </a:buBlip>
            </a:pPr>
            <a:r>
              <a:rPr kumimoji="1"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sigmoid</a:t>
            </a:r>
            <a:r>
              <a:rPr kumimoji="1"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kumimoji="1"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1/(1+exp(-x))</a:t>
            </a:r>
            <a:endParaRPr kumimoji="1"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18115">
                                            <p:txEl>
                                              <p:pRg st="0" end="0"/>
                                            </p:txEl>
                                          </p:spTgt>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218115">
                                            <p:txEl>
                                              <p:pRg st="1" end="1"/>
                                            </p:txEl>
                                          </p:spTgt>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218115">
                                            <p:txEl>
                                              <p:pRg st="2" end="2"/>
                                            </p:txEl>
                                          </p:spTgt>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218115">
                                            <p:txEl>
                                              <p:pRg st="3" end="3"/>
                                            </p:txEl>
                                          </p:spTgt>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499"/>
                                          </p:stCondLst>
                                        </p:cTn>
                                        <p:tgtEl>
                                          <p:spTgt spid="218115">
                                            <p:txEl>
                                              <p:pRg st="4" end="4"/>
                                            </p:txEl>
                                          </p:spTgt>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grpId="0" nodeType="afterEffect">
                                  <p:stCondLst>
                                    <p:cond delay="0"/>
                                  </p:stCondLst>
                                  <p:childTnLst>
                                    <p:set>
                                      <p:cBhvr>
                                        <p:cTn id="21" dur="1" fill="hold">
                                          <p:stCondLst>
                                            <p:cond delay="499"/>
                                          </p:stCondLst>
                                        </p:cTn>
                                        <p:tgtEl>
                                          <p:spTgt spid="218115">
                                            <p:txEl>
                                              <p:pRg st="5" end="5"/>
                                            </p:txEl>
                                          </p:spTgt>
                                        </p:tgtEl>
                                        <p:attrNameLst>
                                          <p:attrName>style.visibility</p:attrName>
                                        </p:attrNameLst>
                                      </p:cBhvr>
                                      <p:to>
                                        <p:strVal val="visible"/>
                                      </p:to>
                                    </p:set>
                                  </p:childTnLst>
                                </p:cTn>
                              </p:par>
                            </p:childTnLst>
                          </p:cTn>
                        </p:par>
                        <p:par>
                          <p:cTn id="22" fill="hold">
                            <p:stCondLst>
                              <p:cond delay="3000"/>
                            </p:stCondLst>
                            <p:childTnLst>
                              <p:par>
                                <p:cTn id="23" presetID="1" presetClass="entr" presetSubtype="0" fill="hold" grpId="0" nodeType="afterEffect">
                                  <p:stCondLst>
                                    <p:cond delay="0"/>
                                  </p:stCondLst>
                                  <p:childTnLst>
                                    <p:set>
                                      <p:cBhvr>
                                        <p:cTn id="24" dur="1" fill="hold">
                                          <p:stCondLst>
                                            <p:cond delay="499"/>
                                          </p:stCondLst>
                                        </p:cTn>
                                        <p:tgtEl>
                                          <p:spTgt spid="218115">
                                            <p:txEl>
                                              <p:pRg st="6" end="6"/>
                                            </p:txEl>
                                          </p:spTgt>
                                        </p:tgtEl>
                                        <p:attrNameLst>
                                          <p:attrName>style.visibility</p:attrName>
                                        </p:attrNameLst>
                                      </p:cBhvr>
                                      <p:to>
                                        <p:strVal val="visible"/>
                                      </p:to>
                                    </p:set>
                                  </p:childTnLst>
                                </p:cTn>
                              </p:par>
                            </p:childTnLst>
                          </p:cTn>
                        </p:par>
                        <p:par>
                          <p:cTn id="25" fill="hold">
                            <p:stCondLst>
                              <p:cond delay="3500"/>
                            </p:stCondLst>
                            <p:childTnLst>
                              <p:par>
                                <p:cTn id="26" presetID="1" presetClass="entr" presetSubtype="0" fill="hold" grpId="0" nodeType="afterEffect">
                                  <p:stCondLst>
                                    <p:cond delay="0"/>
                                  </p:stCondLst>
                                  <p:childTnLst>
                                    <p:set>
                                      <p:cBhvr>
                                        <p:cTn id="27" dur="1" fill="hold">
                                          <p:stCondLst>
                                            <p:cond delay="499"/>
                                          </p:stCondLst>
                                        </p:cTn>
                                        <p:tgtEl>
                                          <p:spTgt spid="218115">
                                            <p:txEl>
                                              <p:pRg st="7" end="7"/>
                                            </p:txEl>
                                          </p:spTgt>
                                        </p:tgtEl>
                                        <p:attrNameLst>
                                          <p:attrName>style.visibility</p:attrName>
                                        </p:attrNameLst>
                                      </p:cBhvr>
                                      <p:to>
                                        <p:strVal val="visible"/>
                                      </p:to>
                                    </p:set>
                                  </p:childTnLst>
                                </p:cTn>
                              </p:par>
                            </p:childTnLst>
                          </p:cTn>
                        </p:par>
                        <p:par>
                          <p:cTn id="28" fill="hold">
                            <p:stCondLst>
                              <p:cond delay="4000"/>
                            </p:stCondLst>
                            <p:childTnLst>
                              <p:par>
                                <p:cTn id="29" presetID="1" presetClass="entr" presetSubtype="0" fill="hold" grpId="0" nodeType="afterEffect">
                                  <p:stCondLst>
                                    <p:cond delay="0"/>
                                  </p:stCondLst>
                                  <p:childTnLst>
                                    <p:set>
                                      <p:cBhvr>
                                        <p:cTn id="30" dur="1" fill="hold">
                                          <p:stCondLst>
                                            <p:cond delay="499"/>
                                          </p:stCondLst>
                                        </p:cTn>
                                        <p:tgtEl>
                                          <p:spTgt spid="218115">
                                            <p:txEl>
                                              <p:pRg st="8" end="8"/>
                                            </p:txEl>
                                          </p:spTgt>
                                        </p:tgtEl>
                                        <p:attrNameLst>
                                          <p:attrName>style.visibility</p:attrName>
                                        </p:attrNameLst>
                                      </p:cBhvr>
                                      <p:to>
                                        <p:strVal val="visible"/>
                                      </p:to>
                                    </p:set>
                                  </p:childTnLst>
                                </p:cTn>
                              </p:par>
                            </p:childTnLst>
                          </p:cTn>
                        </p:par>
                        <p:par>
                          <p:cTn id="31" fill="hold">
                            <p:stCondLst>
                              <p:cond delay="4500"/>
                            </p:stCondLst>
                            <p:childTnLst>
                              <p:par>
                                <p:cTn id="32" presetID="1" presetClass="entr" presetSubtype="0" fill="hold" grpId="0" nodeType="afterEffect">
                                  <p:stCondLst>
                                    <p:cond delay="0"/>
                                  </p:stCondLst>
                                  <p:childTnLst>
                                    <p:set>
                                      <p:cBhvr>
                                        <p:cTn id="33" dur="1" fill="hold">
                                          <p:stCondLst>
                                            <p:cond delay="499"/>
                                          </p:stCondLst>
                                        </p:cTn>
                                        <p:tgtEl>
                                          <p:spTgt spid="218115">
                                            <p:txEl>
                                              <p:pRg st="9" end="9"/>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499"/>
                                          </p:stCondLst>
                                        </p:cTn>
                                        <p:tgtEl>
                                          <p:spTgt spid="218116">
                                            <p:txEl>
                                              <p:pRg st="0" end="0"/>
                                            </p:txEl>
                                          </p:spTgt>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499"/>
                                          </p:stCondLst>
                                        </p:cTn>
                                        <p:tgtEl>
                                          <p:spTgt spid="218116">
                                            <p:txEl>
                                              <p:pRg st="1" end="1"/>
                                            </p:txEl>
                                          </p:spTgt>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499"/>
                                          </p:stCondLst>
                                        </p:cTn>
                                        <p:tgtEl>
                                          <p:spTgt spid="218116">
                                            <p:txEl>
                                              <p:pRg st="2" end="2"/>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499"/>
                                          </p:stCondLst>
                                        </p:cTn>
                                        <p:tgtEl>
                                          <p:spTgt spid="218116">
                                            <p:txEl>
                                              <p:pRg st="3" end="3"/>
                                            </p:txEl>
                                          </p:spTgt>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499"/>
                                          </p:stCondLst>
                                        </p:cTn>
                                        <p:tgtEl>
                                          <p:spTgt spid="2181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5" grpId="0" build="p" autoUpdateAnimBg="0"/>
      <p:bldP spid="218116" grpId="0" build="p" autoUpdateAnimBg="0"/>
    </p:bldLst>
  </p:timing>
</p:sld>
</file>

<file path=ppt/slides/slide1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575556" y="656692"/>
            <a:ext cx="7138987" cy="828675"/>
          </a:xfrm>
          <a:noFill/>
          <a:ln w="9525">
            <a:noFill/>
            <a:miter lim="800000"/>
          </a:ln>
        </p:spPr>
        <p:txBody>
          <a:bodyPr vert="horz" wrap="square" lIns="91440" tIns="45720" rIns="91440" bIns="45720" numCol="1" anchor="ctr" anchorCtr="0" compatLnSpc="1"/>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MLP</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网络的结果分析</a:t>
            </a:r>
          </a:p>
        </p:txBody>
      </p:sp>
      <p:sp>
        <p:nvSpPr>
          <p:cNvPr id="219139" name="Rectangle 3"/>
          <p:cNvSpPr>
            <a:spLocks noGrp="1" noChangeArrowheads="1"/>
          </p:cNvSpPr>
          <p:nvPr>
            <p:ph type="body" idx="1"/>
          </p:nvPr>
        </p:nvSpPr>
        <p:spPr>
          <a:xfrm>
            <a:off x="838200" y="1676400"/>
            <a:ext cx="7772400" cy="1536576"/>
          </a:xfrm>
        </p:spPr>
        <p:txBody>
          <a:bodyPr/>
          <a:lstStyle/>
          <a:p>
            <a:pPr eaLnBrk="1" hangingPunct="1"/>
            <a:r>
              <a:rPr lang="zh-CN" altLang="en-US" sz="28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实验室学习的结果比较好</a:t>
            </a:r>
          </a:p>
          <a:p>
            <a:pPr lvl="1" eaLnBrk="1" hangingPunct="1"/>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误差的均方非常小</a:t>
            </a:r>
          </a:p>
          <a:p>
            <a:pPr lvl="1" eaLnBrk="1" hangingPunct="1"/>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能够识别出样本中所有的攻击行为</a:t>
            </a:r>
          </a:p>
          <a:p>
            <a:pPr lvl="1" eaLnBrk="1" hangingPunct="1"/>
            <a:endPar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 name="矩形 1"/>
          <p:cNvSpPr/>
          <p:nvPr/>
        </p:nvSpPr>
        <p:spPr>
          <a:xfrm>
            <a:off x="823900" y="3465004"/>
            <a:ext cx="7168480" cy="1409617"/>
          </a:xfrm>
          <a:prstGeom prst="rect">
            <a:avLst/>
          </a:prstGeom>
        </p:spPr>
        <p:txBody>
          <a:bodyPr wrap="square">
            <a:spAutoFit/>
          </a:bodyPr>
          <a:lstStyle/>
          <a:p>
            <a:pPr marL="342900" indent="-342900">
              <a:spcBef>
                <a:spcPct val="20000"/>
              </a:spcBef>
              <a:buClr>
                <a:srgbClr val="3399FF"/>
              </a:buClr>
              <a:buFont typeface="Wingdings" panose="05000000000000000000" pitchFamily="2" charset="2"/>
              <a:buChar char="v"/>
            </a:pPr>
            <a:r>
              <a:rPr lang="zh-CN" altLang="en-US" sz="2800" b="1" dirty="0">
                <a:solidFill>
                  <a:srgbClr val="0000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只是说明了</a:t>
            </a:r>
            <a:r>
              <a:rPr lang="en-US" altLang="zh-CN" sz="2800" b="1" dirty="0">
                <a:solidFill>
                  <a:srgbClr val="0000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ANN</a:t>
            </a:r>
            <a:r>
              <a:rPr lang="zh-CN" altLang="en-US" sz="2800" b="1" dirty="0">
                <a:solidFill>
                  <a:srgbClr val="0000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用于</a:t>
            </a:r>
            <a:r>
              <a:rPr lang="en-US" altLang="zh-CN" sz="2800" b="1" dirty="0">
                <a:solidFill>
                  <a:srgbClr val="0000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ID</a:t>
            </a:r>
            <a:r>
              <a:rPr lang="zh-CN" altLang="en-US" sz="2800" b="1" dirty="0">
                <a:solidFill>
                  <a:srgbClr val="0000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的潜在的能力</a:t>
            </a:r>
          </a:p>
          <a:p>
            <a:pPr marL="742950" lvl="1" indent="-28575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考虑其他的网络结构</a:t>
            </a:r>
          </a:p>
          <a:p>
            <a:pPr marL="742950" lvl="1" indent="-28575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考虑动态的自适应能力</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19139">
                                            <p:txEl>
                                              <p:pRg st="0" end="0"/>
                                            </p:txEl>
                                          </p:spTgt>
                                        </p:tgtEl>
                                        <p:attrNameLst>
                                          <p:attrName>style.visibility</p:attrName>
                                        </p:attrNameLst>
                                      </p:cBhvr>
                                      <p:to>
                                        <p:strVal val="visible"/>
                                      </p:to>
                                    </p:set>
                                    <p:animEffect transition="in" filter="wipe(up)">
                                      <p:cBhvr>
                                        <p:cTn id="7" dur="500"/>
                                        <p:tgtEl>
                                          <p:spTgt spid="219139">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19139">
                                            <p:txEl>
                                              <p:pRg st="1" end="1"/>
                                            </p:txEl>
                                          </p:spTgt>
                                        </p:tgtEl>
                                        <p:attrNameLst>
                                          <p:attrName>style.visibility</p:attrName>
                                        </p:attrNameLst>
                                      </p:cBhvr>
                                      <p:to>
                                        <p:strVal val="visible"/>
                                      </p:to>
                                    </p:set>
                                    <p:animEffect transition="in" filter="wipe(up)">
                                      <p:cBhvr>
                                        <p:cTn id="11" dur="500"/>
                                        <p:tgtEl>
                                          <p:spTgt spid="219139">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219139">
                                            <p:txEl>
                                              <p:pRg st="2" end="2"/>
                                            </p:txEl>
                                          </p:spTgt>
                                        </p:tgtEl>
                                        <p:attrNameLst>
                                          <p:attrName>style.visibility</p:attrName>
                                        </p:attrNameLst>
                                      </p:cBhvr>
                                      <p:to>
                                        <p:strVal val="visible"/>
                                      </p:to>
                                    </p:set>
                                    <p:animEffect transition="in" filter="wipe(up)">
                                      <p:cBhvr>
                                        <p:cTn id="15" dur="500"/>
                                        <p:tgtEl>
                                          <p:spTgt spid="219139">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up)">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39" grpId="0" build="p"/>
      <p:bldP spid="2" grpId="0"/>
    </p:bldLst>
  </p:timing>
</p:sld>
</file>

<file path=ppt/slides/slide1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467544" y="800708"/>
            <a:ext cx="8424936" cy="828675"/>
          </a:xfrm>
          <a:noFill/>
          <a:ln w="9525">
            <a:noFill/>
            <a:miter lim="800000"/>
          </a:ln>
        </p:spPr>
        <p:txBody>
          <a:bodyPr vert="horz" wrap="square" lIns="91440" tIns="45720" rIns="91440" bIns="45720" numCol="1" anchor="ctr" anchorCtr="0" compatLnSpc="1"/>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8.15.2  CMAC</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网络用于自动对抗拒绝服务</a:t>
            </a:r>
          </a:p>
        </p:txBody>
      </p:sp>
      <p:sp>
        <p:nvSpPr>
          <p:cNvPr id="220163" name="Rectangle 3"/>
          <p:cNvSpPr>
            <a:spLocks noGrp="1" noChangeArrowheads="1"/>
          </p:cNvSpPr>
          <p:nvPr>
            <p:ph type="body" idx="1"/>
          </p:nvPr>
        </p:nvSpPr>
        <p:spPr>
          <a:xfrm>
            <a:off x="863588" y="1736812"/>
            <a:ext cx="7772400" cy="1350160"/>
          </a:xfrm>
        </p:spPr>
        <p:txBody>
          <a:bodyPr/>
          <a:lstStyle/>
          <a:p>
            <a:pPr eaLnBrk="1" hangingPunct="1"/>
            <a:r>
              <a:rPr lang="en-US" altLang="zh-CN" sz="2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CMAC</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Cerebellar Model Articulation Controller</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lvl="1" eaLnBrk="1" hangingPunct="1"/>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1975</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年</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Albus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提出</a:t>
            </a:r>
          </a:p>
          <a:p>
            <a:pPr lvl="1" eaLnBrk="1" hangingPunct="1"/>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主要用于控制领域</a:t>
            </a:r>
          </a:p>
        </p:txBody>
      </p:sp>
      <p:sp>
        <p:nvSpPr>
          <p:cNvPr id="2" name="矩形 1"/>
          <p:cNvSpPr/>
          <p:nvPr/>
        </p:nvSpPr>
        <p:spPr>
          <a:xfrm>
            <a:off x="863588" y="4376796"/>
            <a:ext cx="5105044" cy="1409617"/>
          </a:xfrm>
          <a:prstGeom prst="rect">
            <a:avLst/>
          </a:prstGeom>
        </p:spPr>
        <p:txBody>
          <a:bodyPr wrap="square">
            <a:spAutoFit/>
          </a:bodyPr>
          <a:lstStyle/>
          <a:p>
            <a:pPr marL="342900" indent="-342900" eaLnBrk="1" hangingPunct="1">
              <a:spcBef>
                <a:spcPct val="20000"/>
              </a:spcBef>
              <a:buClr>
                <a:srgbClr val="3399FF"/>
              </a:buClr>
              <a:buFont typeface="Wingdings" panose="05000000000000000000" pitchFamily="2" charset="2"/>
              <a:buChar char="v"/>
            </a:pPr>
            <a:r>
              <a:rPr lang="zh-CN" altLang="en-US" sz="28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优势</a:t>
            </a:r>
          </a:p>
          <a:p>
            <a:pPr marL="742950" lvl="1" indent="-28575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具有聚类的作用</a:t>
            </a:r>
          </a:p>
          <a:p>
            <a:pPr marL="742950" lvl="1" indent="-28575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容易获得自适应能力</a:t>
            </a:r>
          </a:p>
        </p:txBody>
      </p:sp>
      <p:sp>
        <p:nvSpPr>
          <p:cNvPr id="3" name="矩形 2"/>
          <p:cNvSpPr/>
          <p:nvPr/>
        </p:nvSpPr>
        <p:spPr>
          <a:xfrm>
            <a:off x="863588" y="3248675"/>
            <a:ext cx="4572000" cy="966418"/>
          </a:xfrm>
          <a:prstGeom prst="rect">
            <a:avLst/>
          </a:prstGeom>
        </p:spPr>
        <p:txBody>
          <a:bodyPr>
            <a:spAutoFit/>
          </a:bodyPr>
          <a:lstStyle/>
          <a:p>
            <a:pPr marL="342900" indent="-342900">
              <a:spcBef>
                <a:spcPct val="20000"/>
              </a:spcBef>
              <a:buClr>
                <a:srgbClr val="3399FF"/>
              </a:buClr>
              <a:buFont typeface="Wingdings" panose="05000000000000000000" pitchFamily="2" charset="2"/>
              <a:buChar char="v"/>
            </a:pPr>
            <a:r>
              <a:rPr lang="zh-CN" altLang="en-US" sz="28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网络模型</a:t>
            </a:r>
          </a:p>
          <a:p>
            <a:pPr marL="742950" lvl="1" indent="-285750">
              <a:spcBef>
                <a:spcPct val="20000"/>
              </a:spcBef>
              <a:buClr>
                <a:srgbClr val="FF9900"/>
              </a:buClr>
              <a:buFont typeface="Wingdings" panose="05000000000000000000" pitchFamily="2" charset="2"/>
              <a:buChar char="§"/>
            </a:pP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三层前向网络</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20163">
                                            <p:txEl>
                                              <p:pRg st="0" end="0"/>
                                            </p:txEl>
                                          </p:spTgt>
                                        </p:tgtEl>
                                        <p:attrNameLst>
                                          <p:attrName>style.visibility</p:attrName>
                                        </p:attrNameLst>
                                      </p:cBhvr>
                                      <p:to>
                                        <p:strVal val="visible"/>
                                      </p:to>
                                    </p:set>
                                    <p:animEffect transition="in" filter="wipe(up)">
                                      <p:cBhvr>
                                        <p:cTn id="7" dur="500"/>
                                        <p:tgtEl>
                                          <p:spTgt spid="220163">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20163">
                                            <p:txEl>
                                              <p:pRg st="1" end="1"/>
                                            </p:txEl>
                                          </p:spTgt>
                                        </p:tgtEl>
                                        <p:attrNameLst>
                                          <p:attrName>style.visibility</p:attrName>
                                        </p:attrNameLst>
                                      </p:cBhvr>
                                      <p:to>
                                        <p:strVal val="visible"/>
                                      </p:to>
                                    </p:set>
                                    <p:animEffect transition="in" filter="wipe(up)">
                                      <p:cBhvr>
                                        <p:cTn id="11" dur="500"/>
                                        <p:tgtEl>
                                          <p:spTgt spid="220163">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220163">
                                            <p:txEl>
                                              <p:pRg st="2" end="2"/>
                                            </p:txEl>
                                          </p:spTgt>
                                        </p:tgtEl>
                                        <p:attrNameLst>
                                          <p:attrName>style.visibility</p:attrName>
                                        </p:attrNameLst>
                                      </p:cBhvr>
                                      <p:to>
                                        <p:strVal val="visible"/>
                                      </p:to>
                                    </p:set>
                                    <p:animEffect transition="in" filter="wipe(up)">
                                      <p:cBhvr>
                                        <p:cTn id="15" dur="500"/>
                                        <p:tgtEl>
                                          <p:spTgt spid="22016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p:cTn id="20" dur="500" fill="hold"/>
                                        <p:tgtEl>
                                          <p:spTgt spid="3"/>
                                        </p:tgtEl>
                                        <p:attrNameLst>
                                          <p:attrName>ppt_w</p:attrName>
                                        </p:attrNameLst>
                                      </p:cBhvr>
                                      <p:tavLst>
                                        <p:tav tm="0">
                                          <p:val>
                                            <p:fltVal val="0"/>
                                          </p:val>
                                        </p:tav>
                                        <p:tav tm="100000">
                                          <p:val>
                                            <p:strVal val="#ppt_w"/>
                                          </p:val>
                                        </p:tav>
                                      </p:tavLst>
                                    </p:anim>
                                    <p:anim calcmode="lin" valueType="num">
                                      <p:cBhvr>
                                        <p:cTn id="21" dur="500" fill="hold"/>
                                        <p:tgtEl>
                                          <p:spTgt spid="3"/>
                                        </p:tgtEl>
                                        <p:attrNameLst>
                                          <p:attrName>ppt_h</p:attrName>
                                        </p:attrNameLst>
                                      </p:cBhvr>
                                      <p:tavLst>
                                        <p:tav tm="0">
                                          <p:val>
                                            <p:fltVal val="0"/>
                                          </p:val>
                                        </p:tav>
                                        <p:tav tm="100000">
                                          <p:val>
                                            <p:strVal val="#ppt_h"/>
                                          </p:val>
                                        </p:tav>
                                      </p:tavLst>
                                    </p:anim>
                                    <p:animEffect transition="in" filter="fade">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p:cTn id="27" dur="500" fill="hold"/>
                                        <p:tgtEl>
                                          <p:spTgt spid="2"/>
                                        </p:tgtEl>
                                        <p:attrNameLst>
                                          <p:attrName>ppt_w</p:attrName>
                                        </p:attrNameLst>
                                      </p:cBhvr>
                                      <p:tavLst>
                                        <p:tav tm="0">
                                          <p:val>
                                            <p:fltVal val="0"/>
                                          </p:val>
                                        </p:tav>
                                        <p:tav tm="100000">
                                          <p:val>
                                            <p:strVal val="#ppt_w"/>
                                          </p:val>
                                        </p:tav>
                                      </p:tavLst>
                                    </p:anim>
                                    <p:anim calcmode="lin" valueType="num">
                                      <p:cBhvr>
                                        <p:cTn id="28" dur="500" fill="hold"/>
                                        <p:tgtEl>
                                          <p:spTgt spid="2"/>
                                        </p:tgtEl>
                                        <p:attrNameLst>
                                          <p:attrName>ppt_h</p:attrName>
                                        </p:attrNameLst>
                                      </p:cBhvr>
                                      <p:tavLst>
                                        <p:tav tm="0">
                                          <p:val>
                                            <p:fltVal val="0"/>
                                          </p:val>
                                        </p:tav>
                                        <p:tav tm="100000">
                                          <p:val>
                                            <p:strVal val="#ppt_h"/>
                                          </p:val>
                                        </p:tav>
                                      </p:tavLst>
                                    </p:anim>
                                    <p:animEffect transition="in" filter="fade">
                                      <p:cBhvr>
                                        <p:cTn id="2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3" grpId="0" build="p"/>
      <p:bldP spid="2" grpId="0"/>
      <p:bldP spid="3"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657984" y="612355"/>
            <a:ext cx="7138987" cy="908050"/>
          </a:xfrm>
          <a:noFill/>
          <a:ln w="9525">
            <a:noFill/>
            <a:miter lim="800000"/>
          </a:ln>
        </p:spPr>
        <p:txBody>
          <a:bodyPr vert="horz" wrap="square" lIns="91440" tIns="45720" rIns="91440" bIns="45720" numCol="1" anchor="ctr" anchorCtr="0" compatLnSpc="1"/>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CMAC</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模型</a:t>
            </a:r>
          </a:p>
        </p:txBody>
      </p:sp>
      <p:grpSp>
        <p:nvGrpSpPr>
          <p:cNvPr id="3" name="组合 2"/>
          <p:cNvGrpSpPr/>
          <p:nvPr/>
        </p:nvGrpSpPr>
        <p:grpSpPr>
          <a:xfrm>
            <a:off x="440432" y="1699084"/>
            <a:ext cx="8632068" cy="4038600"/>
            <a:chOff x="440432" y="1699084"/>
            <a:chExt cx="8632068" cy="4038600"/>
          </a:xfrm>
        </p:grpSpPr>
        <p:sp>
          <p:nvSpPr>
            <p:cNvPr id="71683" name="Oval 3"/>
            <p:cNvSpPr>
              <a:spLocks noChangeArrowheads="1"/>
            </p:cNvSpPr>
            <p:nvPr/>
          </p:nvSpPr>
          <p:spPr bwMode="auto">
            <a:xfrm>
              <a:off x="973832" y="2232484"/>
              <a:ext cx="381000" cy="381000"/>
            </a:xfrm>
            <a:prstGeom prst="ellipse">
              <a:avLst/>
            </a:prstGeom>
            <a:solidFill>
              <a:schemeClr val="folHlink"/>
            </a:solidFill>
            <a:ln w="9525">
              <a:noFill/>
              <a:miter lim="800000"/>
            </a:ln>
          </p:spPr>
          <p:txBody>
            <a:bodyPr wrap="none" anchor="ctr"/>
            <a:lstStyle/>
            <a:p>
              <a:endParaRPr lang="zh-CN" altLang="en-US" b="1">
                <a:effectLst>
                  <a:outerShdw blurRad="38100" dist="38100" dir="2700000" algn="tl">
                    <a:srgbClr val="000000">
                      <a:alpha val="43137"/>
                    </a:srgbClr>
                  </a:outerShdw>
                </a:effectLst>
              </a:endParaRPr>
            </a:p>
          </p:txBody>
        </p:sp>
        <p:sp>
          <p:nvSpPr>
            <p:cNvPr id="71684" name="Oval 4"/>
            <p:cNvSpPr>
              <a:spLocks noChangeArrowheads="1"/>
            </p:cNvSpPr>
            <p:nvPr/>
          </p:nvSpPr>
          <p:spPr bwMode="auto">
            <a:xfrm>
              <a:off x="973832" y="3146884"/>
              <a:ext cx="381000" cy="381000"/>
            </a:xfrm>
            <a:prstGeom prst="ellipse">
              <a:avLst/>
            </a:prstGeom>
            <a:solidFill>
              <a:schemeClr val="folHlink"/>
            </a:solidFill>
            <a:ln w="9525">
              <a:noFill/>
              <a:miter lim="800000"/>
            </a:ln>
          </p:spPr>
          <p:txBody>
            <a:bodyPr wrap="none" anchor="ctr"/>
            <a:lstStyle/>
            <a:p>
              <a:endParaRPr lang="zh-CN" altLang="en-US" b="1">
                <a:effectLst>
                  <a:outerShdw blurRad="38100" dist="38100" dir="2700000" algn="tl">
                    <a:srgbClr val="000000">
                      <a:alpha val="43137"/>
                    </a:srgbClr>
                  </a:outerShdw>
                </a:effectLst>
              </a:endParaRPr>
            </a:p>
          </p:txBody>
        </p:sp>
        <p:sp>
          <p:nvSpPr>
            <p:cNvPr id="71685" name="Oval 5"/>
            <p:cNvSpPr>
              <a:spLocks noChangeArrowheads="1"/>
            </p:cNvSpPr>
            <p:nvPr/>
          </p:nvSpPr>
          <p:spPr bwMode="auto">
            <a:xfrm>
              <a:off x="973832" y="4670884"/>
              <a:ext cx="381000" cy="381000"/>
            </a:xfrm>
            <a:prstGeom prst="ellipse">
              <a:avLst/>
            </a:prstGeom>
            <a:solidFill>
              <a:schemeClr val="folHlink"/>
            </a:solidFill>
            <a:ln w="9525">
              <a:noFill/>
              <a:miter lim="800000"/>
            </a:ln>
          </p:spPr>
          <p:txBody>
            <a:bodyPr wrap="none" anchor="ctr"/>
            <a:lstStyle/>
            <a:p>
              <a:endParaRPr lang="zh-CN" altLang="en-US" b="1">
                <a:effectLst>
                  <a:outerShdw blurRad="38100" dist="38100" dir="2700000" algn="tl">
                    <a:srgbClr val="000000">
                      <a:alpha val="43137"/>
                    </a:srgbClr>
                  </a:outerShdw>
                </a:effectLst>
              </a:endParaRPr>
            </a:p>
          </p:txBody>
        </p:sp>
        <p:sp>
          <p:nvSpPr>
            <p:cNvPr id="71686" name="Rectangle 6"/>
            <p:cNvSpPr>
              <a:spLocks noChangeArrowheads="1"/>
            </p:cNvSpPr>
            <p:nvPr/>
          </p:nvSpPr>
          <p:spPr bwMode="auto">
            <a:xfrm>
              <a:off x="2269232" y="1699084"/>
              <a:ext cx="1219200" cy="3962400"/>
            </a:xfrm>
            <a:prstGeom prst="rect">
              <a:avLst/>
            </a:prstGeom>
            <a:solidFill>
              <a:schemeClr val="folHlink"/>
            </a:solidFill>
            <a:ln w="9525">
              <a:solidFill>
                <a:schemeClr val="tx1"/>
              </a:solidFill>
              <a:miter lim="800000"/>
            </a:ln>
          </p:spPr>
          <p:txBody>
            <a:bodyPr wrap="none" anchor="ctr"/>
            <a:lstStyle/>
            <a:p>
              <a:endParaRPr lang="zh-CN" altLang="en-US" b="1">
                <a:effectLst>
                  <a:outerShdw blurRad="38100" dist="38100" dir="2700000" algn="tl">
                    <a:srgbClr val="000000">
                      <a:alpha val="43137"/>
                    </a:srgbClr>
                  </a:outerShdw>
                </a:effectLst>
              </a:endParaRPr>
            </a:p>
          </p:txBody>
        </p:sp>
        <p:sp>
          <p:nvSpPr>
            <p:cNvPr id="71687" name="Line 7"/>
            <p:cNvSpPr>
              <a:spLocks noChangeShapeType="1"/>
            </p:cNvSpPr>
            <p:nvPr/>
          </p:nvSpPr>
          <p:spPr bwMode="auto">
            <a:xfrm>
              <a:off x="2269232" y="1927684"/>
              <a:ext cx="1219200" cy="0"/>
            </a:xfrm>
            <a:prstGeom prst="line">
              <a:avLst/>
            </a:prstGeom>
            <a:noFill/>
            <a:ln w="9525">
              <a:solidFill>
                <a:schemeClr val="tx1"/>
              </a:solidFill>
              <a:miter lim="800000"/>
            </a:ln>
          </p:spPr>
          <p:txBody>
            <a:bodyPr wrap="none" anchor="ctr"/>
            <a:lstStyle/>
            <a:p>
              <a:endParaRPr lang="zh-CN" altLang="en-US" b="1">
                <a:effectLst>
                  <a:outerShdw blurRad="38100" dist="38100" dir="2700000" algn="tl">
                    <a:srgbClr val="000000">
                      <a:alpha val="43137"/>
                    </a:srgbClr>
                  </a:outerShdw>
                </a:effectLst>
              </a:endParaRPr>
            </a:p>
          </p:txBody>
        </p:sp>
        <p:sp>
          <p:nvSpPr>
            <p:cNvPr id="71688" name="Line 8"/>
            <p:cNvSpPr>
              <a:spLocks noChangeShapeType="1"/>
            </p:cNvSpPr>
            <p:nvPr/>
          </p:nvSpPr>
          <p:spPr bwMode="auto">
            <a:xfrm>
              <a:off x="2269232" y="2156284"/>
              <a:ext cx="1219200" cy="0"/>
            </a:xfrm>
            <a:prstGeom prst="line">
              <a:avLst/>
            </a:prstGeom>
            <a:noFill/>
            <a:ln w="9525">
              <a:solidFill>
                <a:schemeClr val="tx1"/>
              </a:solidFill>
              <a:miter lim="800000"/>
            </a:ln>
          </p:spPr>
          <p:txBody>
            <a:bodyPr wrap="none" anchor="ctr"/>
            <a:lstStyle/>
            <a:p>
              <a:endParaRPr lang="zh-CN" altLang="en-US" b="1">
                <a:effectLst>
                  <a:outerShdw blurRad="38100" dist="38100" dir="2700000" algn="tl">
                    <a:srgbClr val="000000">
                      <a:alpha val="43137"/>
                    </a:srgbClr>
                  </a:outerShdw>
                </a:effectLst>
              </a:endParaRPr>
            </a:p>
          </p:txBody>
        </p:sp>
        <p:sp>
          <p:nvSpPr>
            <p:cNvPr id="71689" name="Line 9"/>
            <p:cNvSpPr>
              <a:spLocks noChangeShapeType="1"/>
            </p:cNvSpPr>
            <p:nvPr/>
          </p:nvSpPr>
          <p:spPr bwMode="auto">
            <a:xfrm>
              <a:off x="2269232" y="2384884"/>
              <a:ext cx="1219200" cy="0"/>
            </a:xfrm>
            <a:prstGeom prst="line">
              <a:avLst/>
            </a:prstGeom>
            <a:noFill/>
            <a:ln w="9525">
              <a:solidFill>
                <a:schemeClr val="tx1"/>
              </a:solidFill>
              <a:miter lim="800000"/>
            </a:ln>
          </p:spPr>
          <p:txBody>
            <a:bodyPr wrap="none" anchor="ctr"/>
            <a:lstStyle/>
            <a:p>
              <a:endParaRPr lang="zh-CN" altLang="en-US" b="1">
                <a:effectLst>
                  <a:outerShdw blurRad="38100" dist="38100" dir="2700000" algn="tl">
                    <a:srgbClr val="000000">
                      <a:alpha val="43137"/>
                    </a:srgbClr>
                  </a:outerShdw>
                </a:effectLst>
              </a:endParaRPr>
            </a:p>
          </p:txBody>
        </p:sp>
        <p:sp>
          <p:nvSpPr>
            <p:cNvPr id="71690" name="Line 10"/>
            <p:cNvSpPr>
              <a:spLocks noChangeShapeType="1"/>
            </p:cNvSpPr>
            <p:nvPr/>
          </p:nvSpPr>
          <p:spPr bwMode="auto">
            <a:xfrm>
              <a:off x="2269232" y="2613484"/>
              <a:ext cx="1219200" cy="0"/>
            </a:xfrm>
            <a:prstGeom prst="line">
              <a:avLst/>
            </a:prstGeom>
            <a:noFill/>
            <a:ln w="9525">
              <a:solidFill>
                <a:schemeClr val="tx1"/>
              </a:solidFill>
              <a:miter lim="800000"/>
            </a:ln>
          </p:spPr>
          <p:txBody>
            <a:bodyPr wrap="none" anchor="ctr"/>
            <a:lstStyle/>
            <a:p>
              <a:endParaRPr lang="zh-CN" altLang="en-US" b="1">
                <a:effectLst>
                  <a:outerShdw blurRad="38100" dist="38100" dir="2700000" algn="tl">
                    <a:srgbClr val="000000">
                      <a:alpha val="43137"/>
                    </a:srgbClr>
                  </a:outerShdw>
                </a:effectLst>
              </a:endParaRPr>
            </a:p>
          </p:txBody>
        </p:sp>
        <p:sp>
          <p:nvSpPr>
            <p:cNvPr id="71691" name="Line 11"/>
            <p:cNvSpPr>
              <a:spLocks noChangeShapeType="1"/>
            </p:cNvSpPr>
            <p:nvPr/>
          </p:nvSpPr>
          <p:spPr bwMode="auto">
            <a:xfrm>
              <a:off x="2269232" y="2842084"/>
              <a:ext cx="1219200" cy="0"/>
            </a:xfrm>
            <a:prstGeom prst="line">
              <a:avLst/>
            </a:prstGeom>
            <a:noFill/>
            <a:ln w="9525">
              <a:solidFill>
                <a:schemeClr val="tx1"/>
              </a:solidFill>
              <a:miter lim="800000"/>
            </a:ln>
          </p:spPr>
          <p:txBody>
            <a:bodyPr wrap="none" anchor="ctr"/>
            <a:lstStyle/>
            <a:p>
              <a:endParaRPr lang="zh-CN" altLang="en-US" b="1">
                <a:effectLst>
                  <a:outerShdw blurRad="38100" dist="38100" dir="2700000" algn="tl">
                    <a:srgbClr val="000000">
                      <a:alpha val="43137"/>
                    </a:srgbClr>
                  </a:outerShdw>
                </a:effectLst>
              </a:endParaRPr>
            </a:p>
          </p:txBody>
        </p:sp>
        <p:sp>
          <p:nvSpPr>
            <p:cNvPr id="71692" name="Line 12"/>
            <p:cNvSpPr>
              <a:spLocks noChangeShapeType="1"/>
            </p:cNvSpPr>
            <p:nvPr/>
          </p:nvSpPr>
          <p:spPr bwMode="auto">
            <a:xfrm>
              <a:off x="2269232" y="3070684"/>
              <a:ext cx="1219200" cy="0"/>
            </a:xfrm>
            <a:prstGeom prst="line">
              <a:avLst/>
            </a:prstGeom>
            <a:noFill/>
            <a:ln w="9525">
              <a:solidFill>
                <a:schemeClr val="tx1"/>
              </a:solidFill>
              <a:miter lim="800000"/>
            </a:ln>
          </p:spPr>
          <p:txBody>
            <a:bodyPr wrap="none" anchor="ctr"/>
            <a:lstStyle/>
            <a:p>
              <a:endParaRPr lang="zh-CN" altLang="en-US" b="1">
                <a:effectLst>
                  <a:outerShdw blurRad="38100" dist="38100" dir="2700000" algn="tl">
                    <a:srgbClr val="000000">
                      <a:alpha val="43137"/>
                    </a:srgbClr>
                  </a:outerShdw>
                </a:effectLst>
              </a:endParaRPr>
            </a:p>
          </p:txBody>
        </p:sp>
        <p:sp>
          <p:nvSpPr>
            <p:cNvPr id="71693" name="Line 13"/>
            <p:cNvSpPr>
              <a:spLocks noChangeShapeType="1"/>
            </p:cNvSpPr>
            <p:nvPr/>
          </p:nvSpPr>
          <p:spPr bwMode="auto">
            <a:xfrm>
              <a:off x="2269232" y="3299284"/>
              <a:ext cx="1219200" cy="0"/>
            </a:xfrm>
            <a:prstGeom prst="line">
              <a:avLst/>
            </a:prstGeom>
            <a:noFill/>
            <a:ln w="9525">
              <a:solidFill>
                <a:schemeClr val="tx1"/>
              </a:solidFill>
              <a:miter lim="800000"/>
            </a:ln>
          </p:spPr>
          <p:txBody>
            <a:bodyPr wrap="none" anchor="ctr"/>
            <a:lstStyle/>
            <a:p>
              <a:endParaRPr lang="zh-CN" altLang="en-US" b="1">
                <a:effectLst>
                  <a:outerShdw blurRad="38100" dist="38100" dir="2700000" algn="tl">
                    <a:srgbClr val="000000">
                      <a:alpha val="43137"/>
                    </a:srgbClr>
                  </a:outerShdw>
                </a:effectLst>
              </a:endParaRPr>
            </a:p>
          </p:txBody>
        </p:sp>
        <p:sp>
          <p:nvSpPr>
            <p:cNvPr id="71694" name="Line 14"/>
            <p:cNvSpPr>
              <a:spLocks noChangeShapeType="1"/>
            </p:cNvSpPr>
            <p:nvPr/>
          </p:nvSpPr>
          <p:spPr bwMode="auto">
            <a:xfrm>
              <a:off x="2269232" y="3527884"/>
              <a:ext cx="1219200" cy="0"/>
            </a:xfrm>
            <a:prstGeom prst="line">
              <a:avLst/>
            </a:prstGeom>
            <a:noFill/>
            <a:ln w="9525">
              <a:solidFill>
                <a:schemeClr val="tx1"/>
              </a:solidFill>
              <a:miter lim="800000"/>
            </a:ln>
          </p:spPr>
          <p:txBody>
            <a:bodyPr wrap="none" anchor="ctr"/>
            <a:lstStyle/>
            <a:p>
              <a:endParaRPr lang="zh-CN" altLang="en-US" b="1">
                <a:effectLst>
                  <a:outerShdw blurRad="38100" dist="38100" dir="2700000" algn="tl">
                    <a:srgbClr val="000000">
                      <a:alpha val="43137"/>
                    </a:srgbClr>
                  </a:outerShdw>
                </a:effectLst>
              </a:endParaRPr>
            </a:p>
          </p:txBody>
        </p:sp>
        <p:sp>
          <p:nvSpPr>
            <p:cNvPr id="71695" name="Line 15"/>
            <p:cNvSpPr>
              <a:spLocks noChangeShapeType="1"/>
            </p:cNvSpPr>
            <p:nvPr/>
          </p:nvSpPr>
          <p:spPr bwMode="auto">
            <a:xfrm>
              <a:off x="2269232" y="3832684"/>
              <a:ext cx="1219200" cy="0"/>
            </a:xfrm>
            <a:prstGeom prst="line">
              <a:avLst/>
            </a:prstGeom>
            <a:noFill/>
            <a:ln w="9525">
              <a:solidFill>
                <a:schemeClr val="tx1"/>
              </a:solidFill>
              <a:miter lim="800000"/>
            </a:ln>
          </p:spPr>
          <p:txBody>
            <a:bodyPr wrap="none" anchor="ctr"/>
            <a:lstStyle/>
            <a:p>
              <a:endParaRPr lang="zh-CN" altLang="en-US" b="1">
                <a:effectLst>
                  <a:outerShdw blurRad="38100" dist="38100" dir="2700000" algn="tl">
                    <a:srgbClr val="000000">
                      <a:alpha val="43137"/>
                    </a:srgbClr>
                  </a:outerShdw>
                </a:effectLst>
              </a:endParaRPr>
            </a:p>
          </p:txBody>
        </p:sp>
        <p:sp>
          <p:nvSpPr>
            <p:cNvPr id="71696" name="Line 16"/>
            <p:cNvSpPr>
              <a:spLocks noChangeShapeType="1"/>
            </p:cNvSpPr>
            <p:nvPr/>
          </p:nvSpPr>
          <p:spPr bwMode="auto">
            <a:xfrm>
              <a:off x="2269232" y="4061284"/>
              <a:ext cx="1219200" cy="0"/>
            </a:xfrm>
            <a:prstGeom prst="line">
              <a:avLst/>
            </a:prstGeom>
            <a:noFill/>
            <a:ln w="9525">
              <a:solidFill>
                <a:schemeClr val="tx1"/>
              </a:solidFill>
              <a:miter lim="800000"/>
            </a:ln>
          </p:spPr>
          <p:txBody>
            <a:bodyPr wrap="none" anchor="ctr"/>
            <a:lstStyle/>
            <a:p>
              <a:endParaRPr lang="zh-CN" altLang="en-US" b="1">
                <a:effectLst>
                  <a:outerShdw blurRad="38100" dist="38100" dir="2700000" algn="tl">
                    <a:srgbClr val="000000">
                      <a:alpha val="43137"/>
                    </a:srgbClr>
                  </a:outerShdw>
                </a:effectLst>
              </a:endParaRPr>
            </a:p>
          </p:txBody>
        </p:sp>
        <p:sp>
          <p:nvSpPr>
            <p:cNvPr id="71697" name="Line 17"/>
            <p:cNvSpPr>
              <a:spLocks noChangeShapeType="1"/>
            </p:cNvSpPr>
            <p:nvPr/>
          </p:nvSpPr>
          <p:spPr bwMode="auto">
            <a:xfrm>
              <a:off x="2269232" y="4289884"/>
              <a:ext cx="1219200" cy="0"/>
            </a:xfrm>
            <a:prstGeom prst="line">
              <a:avLst/>
            </a:prstGeom>
            <a:noFill/>
            <a:ln w="9525">
              <a:solidFill>
                <a:schemeClr val="tx1"/>
              </a:solidFill>
              <a:miter lim="800000"/>
            </a:ln>
          </p:spPr>
          <p:txBody>
            <a:bodyPr wrap="none" anchor="ctr"/>
            <a:lstStyle/>
            <a:p>
              <a:endParaRPr lang="zh-CN" altLang="en-US" b="1">
                <a:effectLst>
                  <a:outerShdw blurRad="38100" dist="38100" dir="2700000" algn="tl">
                    <a:srgbClr val="000000">
                      <a:alpha val="43137"/>
                    </a:srgbClr>
                  </a:outerShdw>
                </a:effectLst>
              </a:endParaRPr>
            </a:p>
          </p:txBody>
        </p:sp>
        <p:sp>
          <p:nvSpPr>
            <p:cNvPr id="71698" name="Line 18"/>
            <p:cNvSpPr>
              <a:spLocks noChangeShapeType="1"/>
            </p:cNvSpPr>
            <p:nvPr/>
          </p:nvSpPr>
          <p:spPr bwMode="auto">
            <a:xfrm>
              <a:off x="2269232" y="4518484"/>
              <a:ext cx="1219200" cy="0"/>
            </a:xfrm>
            <a:prstGeom prst="line">
              <a:avLst/>
            </a:prstGeom>
            <a:noFill/>
            <a:ln w="9525">
              <a:solidFill>
                <a:schemeClr val="tx1"/>
              </a:solidFill>
              <a:miter lim="800000"/>
            </a:ln>
          </p:spPr>
          <p:txBody>
            <a:bodyPr wrap="none" anchor="ctr"/>
            <a:lstStyle/>
            <a:p>
              <a:endParaRPr lang="zh-CN" altLang="en-US" b="1">
                <a:effectLst>
                  <a:outerShdw blurRad="38100" dist="38100" dir="2700000" algn="tl">
                    <a:srgbClr val="000000">
                      <a:alpha val="43137"/>
                    </a:srgbClr>
                  </a:outerShdw>
                </a:effectLst>
              </a:endParaRPr>
            </a:p>
          </p:txBody>
        </p:sp>
        <p:sp>
          <p:nvSpPr>
            <p:cNvPr id="71699" name="Line 19"/>
            <p:cNvSpPr>
              <a:spLocks noChangeShapeType="1"/>
            </p:cNvSpPr>
            <p:nvPr/>
          </p:nvSpPr>
          <p:spPr bwMode="auto">
            <a:xfrm>
              <a:off x="2269232" y="4747084"/>
              <a:ext cx="1219200" cy="0"/>
            </a:xfrm>
            <a:prstGeom prst="line">
              <a:avLst/>
            </a:prstGeom>
            <a:noFill/>
            <a:ln w="9525">
              <a:solidFill>
                <a:schemeClr val="tx1"/>
              </a:solidFill>
              <a:miter lim="800000"/>
            </a:ln>
          </p:spPr>
          <p:txBody>
            <a:bodyPr wrap="none" anchor="ctr"/>
            <a:lstStyle/>
            <a:p>
              <a:endParaRPr lang="zh-CN" altLang="en-US" b="1">
                <a:effectLst>
                  <a:outerShdw blurRad="38100" dist="38100" dir="2700000" algn="tl">
                    <a:srgbClr val="000000">
                      <a:alpha val="43137"/>
                    </a:srgbClr>
                  </a:outerShdw>
                </a:effectLst>
              </a:endParaRPr>
            </a:p>
          </p:txBody>
        </p:sp>
        <p:sp>
          <p:nvSpPr>
            <p:cNvPr id="71700" name="Line 20"/>
            <p:cNvSpPr>
              <a:spLocks noChangeShapeType="1"/>
            </p:cNvSpPr>
            <p:nvPr/>
          </p:nvSpPr>
          <p:spPr bwMode="auto">
            <a:xfrm>
              <a:off x="2269232" y="4975684"/>
              <a:ext cx="1219200" cy="0"/>
            </a:xfrm>
            <a:prstGeom prst="line">
              <a:avLst/>
            </a:prstGeom>
            <a:noFill/>
            <a:ln w="9525">
              <a:solidFill>
                <a:schemeClr val="tx1"/>
              </a:solidFill>
              <a:miter lim="800000"/>
            </a:ln>
          </p:spPr>
          <p:txBody>
            <a:bodyPr wrap="none" anchor="ctr"/>
            <a:lstStyle/>
            <a:p>
              <a:endParaRPr lang="zh-CN" altLang="en-US" b="1">
                <a:effectLst>
                  <a:outerShdw blurRad="38100" dist="38100" dir="2700000" algn="tl">
                    <a:srgbClr val="000000">
                      <a:alpha val="43137"/>
                    </a:srgbClr>
                  </a:outerShdw>
                </a:effectLst>
              </a:endParaRPr>
            </a:p>
          </p:txBody>
        </p:sp>
        <p:sp>
          <p:nvSpPr>
            <p:cNvPr id="71701" name="Line 21"/>
            <p:cNvSpPr>
              <a:spLocks noChangeShapeType="1"/>
            </p:cNvSpPr>
            <p:nvPr/>
          </p:nvSpPr>
          <p:spPr bwMode="auto">
            <a:xfrm>
              <a:off x="2269232" y="5204284"/>
              <a:ext cx="1219200" cy="0"/>
            </a:xfrm>
            <a:prstGeom prst="line">
              <a:avLst/>
            </a:prstGeom>
            <a:noFill/>
            <a:ln w="9525">
              <a:solidFill>
                <a:schemeClr val="tx1"/>
              </a:solidFill>
              <a:miter lim="800000"/>
            </a:ln>
          </p:spPr>
          <p:txBody>
            <a:bodyPr wrap="none" anchor="ctr"/>
            <a:lstStyle/>
            <a:p>
              <a:endParaRPr lang="zh-CN" altLang="en-US" b="1">
                <a:effectLst>
                  <a:outerShdw blurRad="38100" dist="38100" dir="2700000" algn="tl">
                    <a:srgbClr val="000000">
                      <a:alpha val="43137"/>
                    </a:srgbClr>
                  </a:outerShdw>
                </a:effectLst>
              </a:endParaRPr>
            </a:p>
          </p:txBody>
        </p:sp>
        <p:sp>
          <p:nvSpPr>
            <p:cNvPr id="71702" name="Line 22"/>
            <p:cNvSpPr>
              <a:spLocks noChangeShapeType="1"/>
            </p:cNvSpPr>
            <p:nvPr/>
          </p:nvSpPr>
          <p:spPr bwMode="auto">
            <a:xfrm>
              <a:off x="2269232" y="5432884"/>
              <a:ext cx="1219200" cy="0"/>
            </a:xfrm>
            <a:prstGeom prst="line">
              <a:avLst/>
            </a:prstGeom>
            <a:noFill/>
            <a:ln w="9525">
              <a:solidFill>
                <a:schemeClr val="tx1"/>
              </a:solidFill>
              <a:miter lim="800000"/>
            </a:ln>
          </p:spPr>
          <p:txBody>
            <a:bodyPr wrap="none" anchor="ctr"/>
            <a:lstStyle/>
            <a:p>
              <a:endParaRPr lang="zh-CN" altLang="en-US" b="1">
                <a:effectLst>
                  <a:outerShdw blurRad="38100" dist="38100" dir="2700000" algn="tl">
                    <a:srgbClr val="000000">
                      <a:alpha val="43137"/>
                    </a:srgbClr>
                  </a:outerShdw>
                </a:effectLst>
              </a:endParaRPr>
            </a:p>
          </p:txBody>
        </p:sp>
        <p:sp>
          <p:nvSpPr>
            <p:cNvPr id="71703" name="Line 23"/>
            <p:cNvSpPr>
              <a:spLocks noChangeShapeType="1"/>
            </p:cNvSpPr>
            <p:nvPr/>
          </p:nvSpPr>
          <p:spPr bwMode="auto">
            <a:xfrm flipV="1">
              <a:off x="1354832" y="1851484"/>
              <a:ext cx="914400" cy="457200"/>
            </a:xfrm>
            <a:prstGeom prst="line">
              <a:avLst/>
            </a:prstGeom>
            <a:noFill/>
            <a:ln w="9525">
              <a:solidFill>
                <a:schemeClr val="tx1"/>
              </a:solidFill>
              <a:miter lim="800000"/>
              <a:tailEnd type="triangle" w="med" len="med"/>
            </a:ln>
          </p:spPr>
          <p:txBody>
            <a:bodyPr wrap="none" anchor="ctr"/>
            <a:lstStyle/>
            <a:p>
              <a:endParaRPr lang="zh-CN" altLang="en-US" b="1">
                <a:effectLst>
                  <a:outerShdw blurRad="38100" dist="38100" dir="2700000" algn="tl">
                    <a:srgbClr val="000000">
                      <a:alpha val="43137"/>
                    </a:srgbClr>
                  </a:outerShdw>
                </a:effectLst>
              </a:endParaRPr>
            </a:p>
          </p:txBody>
        </p:sp>
        <p:sp>
          <p:nvSpPr>
            <p:cNvPr id="71704" name="Line 24"/>
            <p:cNvSpPr>
              <a:spLocks noChangeShapeType="1"/>
            </p:cNvSpPr>
            <p:nvPr/>
          </p:nvSpPr>
          <p:spPr bwMode="auto">
            <a:xfrm flipV="1">
              <a:off x="1354832" y="2080084"/>
              <a:ext cx="914400" cy="228600"/>
            </a:xfrm>
            <a:prstGeom prst="line">
              <a:avLst/>
            </a:prstGeom>
            <a:noFill/>
            <a:ln w="9525">
              <a:solidFill>
                <a:schemeClr val="tx1"/>
              </a:solidFill>
              <a:miter lim="800000"/>
              <a:tailEnd type="triangle" w="med" len="med"/>
            </a:ln>
          </p:spPr>
          <p:txBody>
            <a:bodyPr wrap="none" anchor="ctr"/>
            <a:lstStyle/>
            <a:p>
              <a:endParaRPr lang="zh-CN" altLang="en-US" b="1">
                <a:effectLst>
                  <a:outerShdw blurRad="38100" dist="38100" dir="2700000" algn="tl">
                    <a:srgbClr val="000000">
                      <a:alpha val="43137"/>
                    </a:srgbClr>
                  </a:outerShdw>
                </a:effectLst>
              </a:endParaRPr>
            </a:p>
          </p:txBody>
        </p:sp>
        <p:sp>
          <p:nvSpPr>
            <p:cNvPr id="71705" name="Line 25"/>
            <p:cNvSpPr>
              <a:spLocks noChangeShapeType="1"/>
            </p:cNvSpPr>
            <p:nvPr/>
          </p:nvSpPr>
          <p:spPr bwMode="auto">
            <a:xfrm flipV="1">
              <a:off x="1354832" y="2232484"/>
              <a:ext cx="914400" cy="76200"/>
            </a:xfrm>
            <a:prstGeom prst="line">
              <a:avLst/>
            </a:prstGeom>
            <a:noFill/>
            <a:ln w="9525">
              <a:solidFill>
                <a:schemeClr val="tx1"/>
              </a:solidFill>
              <a:miter lim="800000"/>
              <a:tailEnd type="triangle" w="med" len="med"/>
            </a:ln>
          </p:spPr>
          <p:txBody>
            <a:bodyPr wrap="none" anchor="ctr"/>
            <a:lstStyle/>
            <a:p>
              <a:endParaRPr lang="zh-CN" altLang="en-US" b="1">
                <a:effectLst>
                  <a:outerShdw blurRad="38100" dist="38100" dir="2700000" algn="tl">
                    <a:srgbClr val="000000">
                      <a:alpha val="43137"/>
                    </a:srgbClr>
                  </a:outerShdw>
                </a:effectLst>
              </a:endParaRPr>
            </a:p>
          </p:txBody>
        </p:sp>
        <p:sp>
          <p:nvSpPr>
            <p:cNvPr id="71706" name="Line 26"/>
            <p:cNvSpPr>
              <a:spLocks noChangeShapeType="1"/>
            </p:cNvSpPr>
            <p:nvPr/>
          </p:nvSpPr>
          <p:spPr bwMode="auto">
            <a:xfrm flipV="1">
              <a:off x="1354832" y="2765884"/>
              <a:ext cx="914400" cy="533400"/>
            </a:xfrm>
            <a:prstGeom prst="line">
              <a:avLst/>
            </a:prstGeom>
            <a:noFill/>
            <a:ln w="9525">
              <a:solidFill>
                <a:schemeClr val="tx1"/>
              </a:solidFill>
              <a:miter lim="800000"/>
              <a:tailEnd type="triangle" w="med" len="med"/>
            </a:ln>
          </p:spPr>
          <p:txBody>
            <a:bodyPr wrap="none" anchor="ctr"/>
            <a:lstStyle/>
            <a:p>
              <a:endParaRPr lang="zh-CN" altLang="en-US" b="1">
                <a:effectLst>
                  <a:outerShdw blurRad="38100" dist="38100" dir="2700000" algn="tl">
                    <a:srgbClr val="000000">
                      <a:alpha val="43137"/>
                    </a:srgbClr>
                  </a:outerShdw>
                </a:effectLst>
              </a:endParaRPr>
            </a:p>
          </p:txBody>
        </p:sp>
        <p:sp>
          <p:nvSpPr>
            <p:cNvPr id="71707" name="Line 27"/>
            <p:cNvSpPr>
              <a:spLocks noChangeShapeType="1"/>
            </p:cNvSpPr>
            <p:nvPr/>
          </p:nvSpPr>
          <p:spPr bwMode="auto">
            <a:xfrm flipV="1">
              <a:off x="1354832" y="2918284"/>
              <a:ext cx="914400" cy="381000"/>
            </a:xfrm>
            <a:prstGeom prst="line">
              <a:avLst/>
            </a:prstGeom>
            <a:noFill/>
            <a:ln w="9525">
              <a:solidFill>
                <a:schemeClr val="tx1"/>
              </a:solidFill>
              <a:miter lim="800000"/>
              <a:tailEnd type="triangle" w="med" len="med"/>
            </a:ln>
          </p:spPr>
          <p:txBody>
            <a:bodyPr wrap="none" anchor="ctr"/>
            <a:lstStyle/>
            <a:p>
              <a:endParaRPr lang="zh-CN" altLang="en-US" b="1">
                <a:effectLst>
                  <a:outerShdw blurRad="38100" dist="38100" dir="2700000" algn="tl">
                    <a:srgbClr val="000000">
                      <a:alpha val="43137"/>
                    </a:srgbClr>
                  </a:outerShdw>
                </a:effectLst>
              </a:endParaRPr>
            </a:p>
          </p:txBody>
        </p:sp>
        <p:sp>
          <p:nvSpPr>
            <p:cNvPr id="71708" name="Line 28"/>
            <p:cNvSpPr>
              <a:spLocks noChangeShapeType="1"/>
            </p:cNvSpPr>
            <p:nvPr/>
          </p:nvSpPr>
          <p:spPr bwMode="auto">
            <a:xfrm flipV="1">
              <a:off x="1354832" y="3146884"/>
              <a:ext cx="914400" cy="152400"/>
            </a:xfrm>
            <a:prstGeom prst="line">
              <a:avLst/>
            </a:prstGeom>
            <a:noFill/>
            <a:ln w="9525">
              <a:solidFill>
                <a:schemeClr val="tx1"/>
              </a:solidFill>
              <a:miter lim="800000"/>
              <a:tailEnd type="triangle" w="med" len="med"/>
            </a:ln>
          </p:spPr>
          <p:txBody>
            <a:bodyPr wrap="none" anchor="ctr"/>
            <a:lstStyle/>
            <a:p>
              <a:endParaRPr lang="zh-CN" altLang="en-US" b="1">
                <a:effectLst>
                  <a:outerShdw blurRad="38100" dist="38100" dir="2700000" algn="tl">
                    <a:srgbClr val="000000">
                      <a:alpha val="43137"/>
                    </a:srgbClr>
                  </a:outerShdw>
                </a:effectLst>
              </a:endParaRPr>
            </a:p>
          </p:txBody>
        </p:sp>
        <p:sp>
          <p:nvSpPr>
            <p:cNvPr id="71709" name="Line 29"/>
            <p:cNvSpPr>
              <a:spLocks noChangeShapeType="1"/>
            </p:cNvSpPr>
            <p:nvPr/>
          </p:nvSpPr>
          <p:spPr bwMode="auto">
            <a:xfrm flipV="1">
              <a:off x="1278632" y="4594684"/>
              <a:ext cx="990600" cy="228600"/>
            </a:xfrm>
            <a:prstGeom prst="line">
              <a:avLst/>
            </a:prstGeom>
            <a:noFill/>
            <a:ln w="9525">
              <a:solidFill>
                <a:schemeClr val="tx1"/>
              </a:solidFill>
              <a:miter lim="800000"/>
              <a:tailEnd type="triangle" w="med" len="med"/>
            </a:ln>
          </p:spPr>
          <p:txBody>
            <a:bodyPr wrap="none" anchor="ctr"/>
            <a:lstStyle/>
            <a:p>
              <a:endParaRPr lang="zh-CN" altLang="en-US" b="1">
                <a:effectLst>
                  <a:outerShdw blurRad="38100" dist="38100" dir="2700000" algn="tl">
                    <a:srgbClr val="000000">
                      <a:alpha val="43137"/>
                    </a:srgbClr>
                  </a:outerShdw>
                </a:effectLst>
              </a:endParaRPr>
            </a:p>
          </p:txBody>
        </p:sp>
        <p:sp>
          <p:nvSpPr>
            <p:cNvPr id="71710" name="Line 30"/>
            <p:cNvSpPr>
              <a:spLocks noChangeShapeType="1"/>
            </p:cNvSpPr>
            <p:nvPr/>
          </p:nvSpPr>
          <p:spPr bwMode="auto">
            <a:xfrm>
              <a:off x="1278632" y="4823284"/>
              <a:ext cx="990600" cy="0"/>
            </a:xfrm>
            <a:prstGeom prst="line">
              <a:avLst/>
            </a:prstGeom>
            <a:noFill/>
            <a:ln w="9525">
              <a:solidFill>
                <a:schemeClr val="tx1"/>
              </a:solidFill>
              <a:miter lim="800000"/>
              <a:tailEnd type="triangle" w="med" len="med"/>
            </a:ln>
          </p:spPr>
          <p:txBody>
            <a:bodyPr wrap="none" anchor="ctr"/>
            <a:lstStyle/>
            <a:p>
              <a:endParaRPr lang="zh-CN" altLang="en-US" b="1">
                <a:effectLst>
                  <a:outerShdw blurRad="38100" dist="38100" dir="2700000" algn="tl">
                    <a:srgbClr val="000000">
                      <a:alpha val="43137"/>
                    </a:srgbClr>
                  </a:outerShdw>
                </a:effectLst>
              </a:endParaRPr>
            </a:p>
          </p:txBody>
        </p:sp>
        <p:sp>
          <p:nvSpPr>
            <p:cNvPr id="71711" name="Line 31"/>
            <p:cNvSpPr>
              <a:spLocks noChangeShapeType="1"/>
            </p:cNvSpPr>
            <p:nvPr/>
          </p:nvSpPr>
          <p:spPr bwMode="auto">
            <a:xfrm>
              <a:off x="1278632" y="4823284"/>
              <a:ext cx="990600" cy="228600"/>
            </a:xfrm>
            <a:prstGeom prst="line">
              <a:avLst/>
            </a:prstGeom>
            <a:noFill/>
            <a:ln w="9525">
              <a:solidFill>
                <a:schemeClr val="tx1"/>
              </a:solidFill>
              <a:miter lim="800000"/>
              <a:tailEnd type="triangle" w="med" len="med"/>
            </a:ln>
          </p:spPr>
          <p:txBody>
            <a:bodyPr wrap="none" anchor="ctr"/>
            <a:lstStyle/>
            <a:p>
              <a:endParaRPr lang="zh-CN" altLang="en-US" b="1">
                <a:effectLst>
                  <a:outerShdw blurRad="38100" dist="38100" dir="2700000" algn="tl">
                    <a:srgbClr val="000000">
                      <a:alpha val="43137"/>
                    </a:srgbClr>
                  </a:outerShdw>
                </a:effectLst>
              </a:endParaRPr>
            </a:p>
          </p:txBody>
        </p:sp>
        <p:grpSp>
          <p:nvGrpSpPr>
            <p:cNvPr id="2" name="Group 32"/>
            <p:cNvGrpSpPr/>
            <p:nvPr/>
          </p:nvGrpSpPr>
          <p:grpSpPr bwMode="auto">
            <a:xfrm>
              <a:off x="4860032" y="2384884"/>
              <a:ext cx="2057400" cy="2590800"/>
              <a:chOff x="3216" y="1584"/>
              <a:chExt cx="768" cy="1632"/>
            </a:xfrm>
          </p:grpSpPr>
          <p:sp>
            <p:nvSpPr>
              <p:cNvPr id="71744" name="Rectangle 33"/>
              <p:cNvSpPr>
                <a:spLocks noChangeArrowheads="1"/>
              </p:cNvSpPr>
              <p:nvPr/>
            </p:nvSpPr>
            <p:spPr bwMode="auto">
              <a:xfrm>
                <a:off x="3216" y="1584"/>
                <a:ext cx="768" cy="1632"/>
              </a:xfrm>
              <a:prstGeom prst="rect">
                <a:avLst/>
              </a:prstGeom>
              <a:solidFill>
                <a:schemeClr val="folHlink"/>
              </a:solidFill>
              <a:ln w="9525">
                <a:solidFill>
                  <a:schemeClr val="tx1"/>
                </a:solidFill>
                <a:miter lim="800000"/>
              </a:ln>
            </p:spPr>
            <p:txBody>
              <a:bodyPr wrap="none" anchor="ctr"/>
              <a:lstStyle/>
              <a:p>
                <a:endParaRPr lang="zh-CN" altLang="en-US" b="1">
                  <a:effectLst>
                    <a:outerShdw blurRad="38100" dist="38100" dir="2700000" algn="tl">
                      <a:srgbClr val="000000">
                        <a:alpha val="43137"/>
                      </a:srgbClr>
                    </a:outerShdw>
                  </a:effectLst>
                </a:endParaRPr>
              </a:p>
            </p:txBody>
          </p:sp>
          <p:sp>
            <p:nvSpPr>
              <p:cNvPr id="71745" name="Line 34"/>
              <p:cNvSpPr>
                <a:spLocks noChangeShapeType="1"/>
              </p:cNvSpPr>
              <p:nvPr/>
            </p:nvSpPr>
            <p:spPr bwMode="auto">
              <a:xfrm>
                <a:off x="3216" y="1728"/>
                <a:ext cx="768" cy="0"/>
              </a:xfrm>
              <a:prstGeom prst="line">
                <a:avLst/>
              </a:prstGeom>
              <a:noFill/>
              <a:ln w="9525">
                <a:solidFill>
                  <a:schemeClr val="tx1"/>
                </a:solidFill>
                <a:miter lim="800000"/>
              </a:ln>
            </p:spPr>
            <p:txBody>
              <a:bodyPr wrap="none" anchor="ctr"/>
              <a:lstStyle/>
              <a:p>
                <a:endParaRPr lang="zh-CN" altLang="en-US" b="1">
                  <a:effectLst>
                    <a:outerShdw blurRad="38100" dist="38100" dir="2700000" algn="tl">
                      <a:srgbClr val="000000">
                        <a:alpha val="43137"/>
                      </a:srgbClr>
                    </a:outerShdw>
                  </a:effectLst>
                </a:endParaRPr>
              </a:p>
            </p:txBody>
          </p:sp>
          <p:sp>
            <p:nvSpPr>
              <p:cNvPr id="71746" name="Line 35"/>
              <p:cNvSpPr>
                <a:spLocks noChangeShapeType="1"/>
              </p:cNvSpPr>
              <p:nvPr/>
            </p:nvSpPr>
            <p:spPr bwMode="auto">
              <a:xfrm>
                <a:off x="3216" y="1872"/>
                <a:ext cx="768" cy="0"/>
              </a:xfrm>
              <a:prstGeom prst="line">
                <a:avLst/>
              </a:prstGeom>
              <a:noFill/>
              <a:ln w="9525">
                <a:solidFill>
                  <a:schemeClr val="tx1"/>
                </a:solidFill>
                <a:miter lim="800000"/>
              </a:ln>
            </p:spPr>
            <p:txBody>
              <a:bodyPr wrap="none" anchor="ctr"/>
              <a:lstStyle/>
              <a:p>
                <a:endParaRPr lang="zh-CN" altLang="en-US" b="1">
                  <a:effectLst>
                    <a:outerShdw blurRad="38100" dist="38100" dir="2700000" algn="tl">
                      <a:srgbClr val="000000">
                        <a:alpha val="43137"/>
                      </a:srgbClr>
                    </a:outerShdw>
                  </a:effectLst>
                </a:endParaRPr>
              </a:p>
            </p:txBody>
          </p:sp>
          <p:sp>
            <p:nvSpPr>
              <p:cNvPr id="71747" name="Line 36"/>
              <p:cNvSpPr>
                <a:spLocks noChangeShapeType="1"/>
              </p:cNvSpPr>
              <p:nvPr/>
            </p:nvSpPr>
            <p:spPr bwMode="auto">
              <a:xfrm>
                <a:off x="3216" y="2064"/>
                <a:ext cx="768" cy="0"/>
              </a:xfrm>
              <a:prstGeom prst="line">
                <a:avLst/>
              </a:prstGeom>
              <a:noFill/>
              <a:ln w="9525">
                <a:solidFill>
                  <a:schemeClr val="tx1"/>
                </a:solidFill>
                <a:miter lim="800000"/>
              </a:ln>
            </p:spPr>
            <p:txBody>
              <a:bodyPr wrap="none" anchor="ctr"/>
              <a:lstStyle/>
              <a:p>
                <a:endParaRPr lang="zh-CN" altLang="en-US" b="1">
                  <a:effectLst>
                    <a:outerShdw blurRad="38100" dist="38100" dir="2700000" algn="tl">
                      <a:srgbClr val="000000">
                        <a:alpha val="43137"/>
                      </a:srgbClr>
                    </a:outerShdw>
                  </a:effectLst>
                </a:endParaRPr>
              </a:p>
            </p:txBody>
          </p:sp>
          <p:sp>
            <p:nvSpPr>
              <p:cNvPr id="71748" name="Line 37"/>
              <p:cNvSpPr>
                <a:spLocks noChangeShapeType="1"/>
              </p:cNvSpPr>
              <p:nvPr/>
            </p:nvSpPr>
            <p:spPr bwMode="auto">
              <a:xfrm>
                <a:off x="3216" y="2208"/>
                <a:ext cx="768" cy="0"/>
              </a:xfrm>
              <a:prstGeom prst="line">
                <a:avLst/>
              </a:prstGeom>
              <a:noFill/>
              <a:ln w="9525">
                <a:solidFill>
                  <a:schemeClr val="tx1"/>
                </a:solidFill>
                <a:miter lim="800000"/>
              </a:ln>
            </p:spPr>
            <p:txBody>
              <a:bodyPr wrap="none" anchor="ctr"/>
              <a:lstStyle/>
              <a:p>
                <a:endParaRPr lang="zh-CN" altLang="en-US" b="1">
                  <a:effectLst>
                    <a:outerShdw blurRad="38100" dist="38100" dir="2700000" algn="tl">
                      <a:srgbClr val="000000">
                        <a:alpha val="43137"/>
                      </a:srgbClr>
                    </a:outerShdw>
                  </a:effectLst>
                </a:endParaRPr>
              </a:p>
            </p:txBody>
          </p:sp>
          <p:sp>
            <p:nvSpPr>
              <p:cNvPr id="71749" name="Line 38"/>
              <p:cNvSpPr>
                <a:spLocks noChangeShapeType="1"/>
              </p:cNvSpPr>
              <p:nvPr/>
            </p:nvSpPr>
            <p:spPr bwMode="auto">
              <a:xfrm>
                <a:off x="3216" y="2352"/>
                <a:ext cx="768" cy="0"/>
              </a:xfrm>
              <a:prstGeom prst="line">
                <a:avLst/>
              </a:prstGeom>
              <a:noFill/>
              <a:ln w="9525">
                <a:solidFill>
                  <a:schemeClr val="tx1"/>
                </a:solidFill>
                <a:miter lim="800000"/>
              </a:ln>
            </p:spPr>
            <p:txBody>
              <a:bodyPr wrap="none" anchor="ctr"/>
              <a:lstStyle/>
              <a:p>
                <a:endParaRPr lang="zh-CN" altLang="en-US" b="1">
                  <a:effectLst>
                    <a:outerShdw blurRad="38100" dist="38100" dir="2700000" algn="tl">
                      <a:srgbClr val="000000">
                        <a:alpha val="43137"/>
                      </a:srgbClr>
                    </a:outerShdw>
                  </a:effectLst>
                </a:endParaRPr>
              </a:p>
            </p:txBody>
          </p:sp>
          <p:sp>
            <p:nvSpPr>
              <p:cNvPr id="71750" name="Line 39"/>
              <p:cNvSpPr>
                <a:spLocks noChangeShapeType="1"/>
              </p:cNvSpPr>
              <p:nvPr/>
            </p:nvSpPr>
            <p:spPr bwMode="auto">
              <a:xfrm>
                <a:off x="3216" y="2496"/>
                <a:ext cx="768" cy="0"/>
              </a:xfrm>
              <a:prstGeom prst="line">
                <a:avLst/>
              </a:prstGeom>
              <a:noFill/>
              <a:ln w="9525">
                <a:solidFill>
                  <a:schemeClr val="tx1"/>
                </a:solidFill>
                <a:miter lim="800000"/>
              </a:ln>
            </p:spPr>
            <p:txBody>
              <a:bodyPr wrap="none" anchor="ctr"/>
              <a:lstStyle/>
              <a:p>
                <a:endParaRPr lang="zh-CN" altLang="en-US" b="1">
                  <a:effectLst>
                    <a:outerShdw blurRad="38100" dist="38100" dir="2700000" algn="tl">
                      <a:srgbClr val="000000">
                        <a:alpha val="43137"/>
                      </a:srgbClr>
                    </a:outerShdw>
                  </a:effectLst>
                </a:endParaRPr>
              </a:p>
            </p:txBody>
          </p:sp>
          <p:sp>
            <p:nvSpPr>
              <p:cNvPr id="71751" name="Line 40"/>
              <p:cNvSpPr>
                <a:spLocks noChangeShapeType="1"/>
              </p:cNvSpPr>
              <p:nvPr/>
            </p:nvSpPr>
            <p:spPr bwMode="auto">
              <a:xfrm>
                <a:off x="3216" y="2640"/>
                <a:ext cx="768" cy="0"/>
              </a:xfrm>
              <a:prstGeom prst="line">
                <a:avLst/>
              </a:prstGeom>
              <a:noFill/>
              <a:ln w="9525">
                <a:solidFill>
                  <a:schemeClr val="tx1"/>
                </a:solidFill>
                <a:miter lim="800000"/>
              </a:ln>
            </p:spPr>
            <p:txBody>
              <a:bodyPr wrap="none" anchor="ctr"/>
              <a:lstStyle/>
              <a:p>
                <a:endParaRPr lang="zh-CN" altLang="en-US" b="1">
                  <a:effectLst>
                    <a:outerShdw blurRad="38100" dist="38100" dir="2700000" algn="tl">
                      <a:srgbClr val="000000">
                        <a:alpha val="43137"/>
                      </a:srgbClr>
                    </a:outerShdw>
                  </a:effectLst>
                </a:endParaRPr>
              </a:p>
            </p:txBody>
          </p:sp>
          <p:sp>
            <p:nvSpPr>
              <p:cNvPr id="71752" name="Line 41"/>
              <p:cNvSpPr>
                <a:spLocks noChangeShapeType="1"/>
              </p:cNvSpPr>
              <p:nvPr/>
            </p:nvSpPr>
            <p:spPr bwMode="auto">
              <a:xfrm>
                <a:off x="3216" y="2784"/>
                <a:ext cx="768" cy="0"/>
              </a:xfrm>
              <a:prstGeom prst="line">
                <a:avLst/>
              </a:prstGeom>
              <a:noFill/>
              <a:ln w="9525">
                <a:solidFill>
                  <a:schemeClr val="tx1"/>
                </a:solidFill>
                <a:miter lim="800000"/>
              </a:ln>
            </p:spPr>
            <p:txBody>
              <a:bodyPr wrap="none" anchor="ctr"/>
              <a:lstStyle/>
              <a:p>
                <a:endParaRPr lang="zh-CN" altLang="en-US" b="1">
                  <a:effectLst>
                    <a:outerShdw blurRad="38100" dist="38100" dir="2700000" algn="tl">
                      <a:srgbClr val="000000">
                        <a:alpha val="43137"/>
                      </a:srgbClr>
                    </a:outerShdw>
                  </a:effectLst>
                </a:endParaRPr>
              </a:p>
            </p:txBody>
          </p:sp>
          <p:sp>
            <p:nvSpPr>
              <p:cNvPr id="71753" name="Line 42"/>
              <p:cNvSpPr>
                <a:spLocks noChangeShapeType="1"/>
              </p:cNvSpPr>
              <p:nvPr/>
            </p:nvSpPr>
            <p:spPr bwMode="auto">
              <a:xfrm>
                <a:off x="3216" y="2928"/>
                <a:ext cx="768" cy="0"/>
              </a:xfrm>
              <a:prstGeom prst="line">
                <a:avLst/>
              </a:prstGeom>
              <a:noFill/>
              <a:ln w="9525">
                <a:solidFill>
                  <a:schemeClr val="tx1"/>
                </a:solidFill>
                <a:miter lim="800000"/>
              </a:ln>
            </p:spPr>
            <p:txBody>
              <a:bodyPr wrap="none" anchor="ctr"/>
              <a:lstStyle/>
              <a:p>
                <a:endParaRPr lang="zh-CN" altLang="en-US" b="1">
                  <a:effectLst>
                    <a:outerShdw blurRad="38100" dist="38100" dir="2700000" algn="tl">
                      <a:srgbClr val="000000">
                        <a:alpha val="43137"/>
                      </a:srgbClr>
                    </a:outerShdw>
                  </a:effectLst>
                </a:endParaRPr>
              </a:p>
            </p:txBody>
          </p:sp>
          <p:sp>
            <p:nvSpPr>
              <p:cNvPr id="71754" name="Line 43"/>
              <p:cNvSpPr>
                <a:spLocks noChangeShapeType="1"/>
              </p:cNvSpPr>
              <p:nvPr/>
            </p:nvSpPr>
            <p:spPr bwMode="auto">
              <a:xfrm>
                <a:off x="3216" y="3072"/>
                <a:ext cx="768" cy="0"/>
              </a:xfrm>
              <a:prstGeom prst="line">
                <a:avLst/>
              </a:prstGeom>
              <a:noFill/>
              <a:ln w="9525">
                <a:solidFill>
                  <a:schemeClr val="tx1"/>
                </a:solidFill>
                <a:miter lim="800000"/>
              </a:ln>
            </p:spPr>
            <p:txBody>
              <a:bodyPr wrap="none" anchor="ctr"/>
              <a:lstStyle/>
              <a:p>
                <a:endParaRPr lang="zh-CN" altLang="en-US" b="1">
                  <a:effectLst>
                    <a:outerShdw blurRad="38100" dist="38100" dir="2700000" algn="tl">
                      <a:srgbClr val="000000">
                        <a:alpha val="43137"/>
                      </a:srgbClr>
                    </a:outerShdw>
                  </a:effectLst>
                </a:endParaRPr>
              </a:p>
            </p:txBody>
          </p:sp>
        </p:grpSp>
        <p:sp>
          <p:nvSpPr>
            <p:cNvPr id="71713" name="Line 44"/>
            <p:cNvSpPr>
              <a:spLocks noChangeShapeType="1"/>
            </p:cNvSpPr>
            <p:nvPr/>
          </p:nvSpPr>
          <p:spPr bwMode="auto">
            <a:xfrm>
              <a:off x="5926832" y="2384884"/>
              <a:ext cx="0" cy="2590800"/>
            </a:xfrm>
            <a:prstGeom prst="line">
              <a:avLst/>
            </a:prstGeom>
            <a:noFill/>
            <a:ln w="9525">
              <a:solidFill>
                <a:schemeClr val="tx1"/>
              </a:solidFill>
              <a:miter lim="800000"/>
            </a:ln>
          </p:spPr>
          <p:txBody>
            <a:bodyPr wrap="none" anchor="ctr"/>
            <a:lstStyle/>
            <a:p>
              <a:endParaRPr lang="zh-CN" altLang="en-US" b="1">
                <a:effectLst>
                  <a:outerShdw blurRad="38100" dist="38100" dir="2700000" algn="tl">
                    <a:srgbClr val="000000">
                      <a:alpha val="43137"/>
                    </a:srgbClr>
                  </a:outerShdw>
                </a:effectLst>
              </a:endParaRPr>
            </a:p>
          </p:txBody>
        </p:sp>
        <p:sp>
          <p:nvSpPr>
            <p:cNvPr id="71714" name="Line 45"/>
            <p:cNvSpPr>
              <a:spLocks noChangeShapeType="1"/>
            </p:cNvSpPr>
            <p:nvPr/>
          </p:nvSpPr>
          <p:spPr bwMode="auto">
            <a:xfrm>
              <a:off x="3488432" y="1775284"/>
              <a:ext cx="1371600" cy="914400"/>
            </a:xfrm>
            <a:prstGeom prst="line">
              <a:avLst/>
            </a:prstGeom>
            <a:noFill/>
            <a:ln w="9525">
              <a:solidFill>
                <a:schemeClr val="tx1"/>
              </a:solidFill>
              <a:miter lim="800000"/>
              <a:tailEnd type="triangle" w="med" len="med"/>
            </a:ln>
          </p:spPr>
          <p:txBody>
            <a:bodyPr wrap="none" anchor="ctr"/>
            <a:lstStyle/>
            <a:p>
              <a:endParaRPr lang="zh-CN" altLang="en-US" b="1">
                <a:effectLst>
                  <a:outerShdw blurRad="38100" dist="38100" dir="2700000" algn="tl">
                    <a:srgbClr val="000000">
                      <a:alpha val="43137"/>
                    </a:srgbClr>
                  </a:outerShdw>
                </a:effectLst>
              </a:endParaRPr>
            </a:p>
          </p:txBody>
        </p:sp>
        <p:sp>
          <p:nvSpPr>
            <p:cNvPr id="71715" name="Line 46"/>
            <p:cNvSpPr>
              <a:spLocks noChangeShapeType="1"/>
            </p:cNvSpPr>
            <p:nvPr/>
          </p:nvSpPr>
          <p:spPr bwMode="auto">
            <a:xfrm>
              <a:off x="3488432" y="2080084"/>
              <a:ext cx="1371600" cy="381000"/>
            </a:xfrm>
            <a:prstGeom prst="line">
              <a:avLst/>
            </a:prstGeom>
            <a:noFill/>
            <a:ln w="9525">
              <a:solidFill>
                <a:schemeClr val="tx1"/>
              </a:solidFill>
              <a:miter lim="800000"/>
              <a:tailEnd type="triangle" w="med" len="med"/>
            </a:ln>
          </p:spPr>
          <p:txBody>
            <a:bodyPr wrap="none" anchor="ctr"/>
            <a:lstStyle/>
            <a:p>
              <a:endParaRPr lang="zh-CN" altLang="en-US" b="1">
                <a:effectLst>
                  <a:outerShdw blurRad="38100" dist="38100" dir="2700000" algn="tl">
                    <a:srgbClr val="000000">
                      <a:alpha val="43137"/>
                    </a:srgbClr>
                  </a:outerShdw>
                </a:effectLst>
              </a:endParaRPr>
            </a:p>
          </p:txBody>
        </p:sp>
        <p:sp>
          <p:nvSpPr>
            <p:cNvPr id="71716" name="Line 47"/>
            <p:cNvSpPr>
              <a:spLocks noChangeShapeType="1"/>
            </p:cNvSpPr>
            <p:nvPr/>
          </p:nvSpPr>
          <p:spPr bwMode="auto">
            <a:xfrm flipV="1">
              <a:off x="3488432" y="2994484"/>
              <a:ext cx="1371600" cy="228600"/>
            </a:xfrm>
            <a:prstGeom prst="line">
              <a:avLst/>
            </a:prstGeom>
            <a:noFill/>
            <a:ln w="9525">
              <a:solidFill>
                <a:schemeClr val="tx1"/>
              </a:solidFill>
              <a:miter lim="800000"/>
              <a:tailEnd type="triangle" w="med" len="med"/>
            </a:ln>
          </p:spPr>
          <p:txBody>
            <a:bodyPr wrap="none" anchor="ctr"/>
            <a:lstStyle/>
            <a:p>
              <a:endParaRPr lang="zh-CN" altLang="en-US" b="1">
                <a:effectLst>
                  <a:outerShdw blurRad="38100" dist="38100" dir="2700000" algn="tl">
                    <a:srgbClr val="000000">
                      <a:alpha val="43137"/>
                    </a:srgbClr>
                  </a:outerShdw>
                </a:effectLst>
              </a:endParaRPr>
            </a:p>
          </p:txBody>
        </p:sp>
        <p:sp>
          <p:nvSpPr>
            <p:cNvPr id="71717" name="Line 48"/>
            <p:cNvSpPr>
              <a:spLocks noChangeShapeType="1"/>
            </p:cNvSpPr>
            <p:nvPr/>
          </p:nvSpPr>
          <p:spPr bwMode="auto">
            <a:xfrm>
              <a:off x="3488432" y="3680284"/>
              <a:ext cx="1371600" cy="76200"/>
            </a:xfrm>
            <a:prstGeom prst="line">
              <a:avLst/>
            </a:prstGeom>
            <a:noFill/>
            <a:ln w="9525">
              <a:solidFill>
                <a:schemeClr val="tx1"/>
              </a:solidFill>
              <a:miter lim="800000"/>
              <a:tailEnd type="triangle" w="med" len="med"/>
            </a:ln>
          </p:spPr>
          <p:txBody>
            <a:bodyPr wrap="none" anchor="ctr"/>
            <a:lstStyle/>
            <a:p>
              <a:endParaRPr lang="zh-CN" altLang="en-US" b="1">
                <a:effectLst>
                  <a:outerShdw blurRad="38100" dist="38100" dir="2700000" algn="tl">
                    <a:srgbClr val="000000">
                      <a:alpha val="43137"/>
                    </a:srgbClr>
                  </a:outerShdw>
                </a:effectLst>
              </a:endParaRPr>
            </a:p>
          </p:txBody>
        </p:sp>
        <p:sp>
          <p:nvSpPr>
            <p:cNvPr id="71718" name="Line 49"/>
            <p:cNvSpPr>
              <a:spLocks noChangeShapeType="1"/>
            </p:cNvSpPr>
            <p:nvPr/>
          </p:nvSpPr>
          <p:spPr bwMode="auto">
            <a:xfrm flipV="1">
              <a:off x="3488432" y="2765884"/>
              <a:ext cx="1371600" cy="1447800"/>
            </a:xfrm>
            <a:prstGeom prst="line">
              <a:avLst/>
            </a:prstGeom>
            <a:noFill/>
            <a:ln w="9525">
              <a:solidFill>
                <a:schemeClr val="tx1"/>
              </a:solidFill>
              <a:miter lim="800000"/>
              <a:tailEnd type="triangle" w="med" len="med"/>
            </a:ln>
          </p:spPr>
          <p:txBody>
            <a:bodyPr wrap="none" anchor="ctr"/>
            <a:lstStyle/>
            <a:p>
              <a:endParaRPr lang="zh-CN" altLang="en-US" b="1">
                <a:effectLst>
                  <a:outerShdw blurRad="38100" dist="38100" dir="2700000" algn="tl">
                    <a:srgbClr val="000000">
                      <a:alpha val="43137"/>
                    </a:srgbClr>
                  </a:outerShdw>
                </a:effectLst>
              </a:endParaRPr>
            </a:p>
          </p:txBody>
        </p:sp>
        <p:sp>
          <p:nvSpPr>
            <p:cNvPr id="71719" name="Line 50"/>
            <p:cNvSpPr>
              <a:spLocks noChangeShapeType="1"/>
            </p:cNvSpPr>
            <p:nvPr/>
          </p:nvSpPr>
          <p:spPr bwMode="auto">
            <a:xfrm flipV="1">
              <a:off x="3488432" y="4213684"/>
              <a:ext cx="1371600" cy="685800"/>
            </a:xfrm>
            <a:prstGeom prst="line">
              <a:avLst/>
            </a:prstGeom>
            <a:noFill/>
            <a:ln w="9525">
              <a:solidFill>
                <a:schemeClr val="tx1"/>
              </a:solidFill>
              <a:miter lim="800000"/>
              <a:tailEnd type="triangle" w="med" len="med"/>
            </a:ln>
          </p:spPr>
          <p:txBody>
            <a:bodyPr wrap="none" anchor="ctr"/>
            <a:lstStyle/>
            <a:p>
              <a:endParaRPr lang="zh-CN" altLang="en-US" b="1">
                <a:effectLst>
                  <a:outerShdw blurRad="38100" dist="38100" dir="2700000" algn="tl">
                    <a:srgbClr val="000000">
                      <a:alpha val="43137"/>
                    </a:srgbClr>
                  </a:outerShdw>
                </a:effectLst>
              </a:endParaRPr>
            </a:p>
          </p:txBody>
        </p:sp>
        <p:sp>
          <p:nvSpPr>
            <p:cNvPr id="71720" name="Line 51"/>
            <p:cNvSpPr>
              <a:spLocks noChangeShapeType="1"/>
            </p:cNvSpPr>
            <p:nvPr/>
          </p:nvSpPr>
          <p:spPr bwMode="auto">
            <a:xfrm flipV="1">
              <a:off x="3488432" y="3985084"/>
              <a:ext cx="1371600" cy="1600200"/>
            </a:xfrm>
            <a:prstGeom prst="line">
              <a:avLst/>
            </a:prstGeom>
            <a:noFill/>
            <a:ln w="9525">
              <a:solidFill>
                <a:schemeClr val="tx1"/>
              </a:solidFill>
              <a:miter lim="800000"/>
              <a:tailEnd type="triangle" w="med" len="med"/>
            </a:ln>
          </p:spPr>
          <p:txBody>
            <a:bodyPr wrap="none" anchor="ctr"/>
            <a:lstStyle/>
            <a:p>
              <a:endParaRPr lang="zh-CN" altLang="en-US" b="1">
                <a:effectLst>
                  <a:outerShdw blurRad="38100" dist="38100" dir="2700000" algn="tl">
                    <a:srgbClr val="000000">
                      <a:alpha val="43137"/>
                    </a:srgbClr>
                  </a:outerShdw>
                </a:effectLst>
              </a:endParaRPr>
            </a:p>
          </p:txBody>
        </p:sp>
        <p:sp>
          <p:nvSpPr>
            <p:cNvPr id="71721" name="Line 52"/>
            <p:cNvSpPr>
              <a:spLocks noChangeShapeType="1"/>
            </p:cNvSpPr>
            <p:nvPr/>
          </p:nvSpPr>
          <p:spPr bwMode="auto">
            <a:xfrm>
              <a:off x="3488432" y="4670884"/>
              <a:ext cx="1371600" cy="152400"/>
            </a:xfrm>
            <a:prstGeom prst="line">
              <a:avLst/>
            </a:prstGeom>
            <a:noFill/>
            <a:ln w="9525">
              <a:solidFill>
                <a:schemeClr val="tx1"/>
              </a:solidFill>
              <a:miter lim="800000"/>
              <a:tailEnd type="triangle" w="med" len="med"/>
            </a:ln>
          </p:spPr>
          <p:txBody>
            <a:bodyPr wrap="none" anchor="ctr"/>
            <a:lstStyle/>
            <a:p>
              <a:endParaRPr lang="zh-CN" altLang="en-US" b="1">
                <a:effectLst>
                  <a:outerShdw blurRad="38100" dist="38100" dir="2700000" algn="tl">
                    <a:srgbClr val="000000">
                      <a:alpha val="43137"/>
                    </a:srgbClr>
                  </a:outerShdw>
                </a:effectLst>
              </a:endParaRPr>
            </a:p>
          </p:txBody>
        </p:sp>
        <p:sp>
          <p:nvSpPr>
            <p:cNvPr id="71722" name="Line 53"/>
            <p:cNvSpPr>
              <a:spLocks noChangeShapeType="1"/>
            </p:cNvSpPr>
            <p:nvPr/>
          </p:nvSpPr>
          <p:spPr bwMode="auto">
            <a:xfrm>
              <a:off x="3488432" y="3908884"/>
              <a:ext cx="1371600" cy="685800"/>
            </a:xfrm>
            <a:prstGeom prst="line">
              <a:avLst/>
            </a:prstGeom>
            <a:noFill/>
            <a:ln w="9525">
              <a:solidFill>
                <a:schemeClr val="tx1"/>
              </a:solidFill>
              <a:miter lim="800000"/>
              <a:tailEnd type="triangle" w="med" len="med"/>
            </a:ln>
          </p:spPr>
          <p:txBody>
            <a:bodyPr wrap="none" anchor="ctr"/>
            <a:lstStyle/>
            <a:p>
              <a:endParaRPr lang="zh-CN" altLang="en-US" b="1">
                <a:effectLst>
                  <a:outerShdw blurRad="38100" dist="38100" dir="2700000" algn="tl">
                    <a:srgbClr val="000000">
                      <a:alpha val="43137"/>
                    </a:srgbClr>
                  </a:outerShdw>
                </a:effectLst>
              </a:endParaRPr>
            </a:p>
          </p:txBody>
        </p:sp>
        <p:sp>
          <p:nvSpPr>
            <p:cNvPr id="71723" name="Line 54"/>
            <p:cNvSpPr>
              <a:spLocks noChangeShapeType="1"/>
            </p:cNvSpPr>
            <p:nvPr/>
          </p:nvSpPr>
          <p:spPr bwMode="auto">
            <a:xfrm flipV="1">
              <a:off x="6917432" y="3604084"/>
              <a:ext cx="914400" cy="381000"/>
            </a:xfrm>
            <a:prstGeom prst="line">
              <a:avLst/>
            </a:prstGeom>
            <a:noFill/>
            <a:ln w="9525">
              <a:solidFill>
                <a:schemeClr val="tx1"/>
              </a:solidFill>
              <a:miter lim="800000"/>
              <a:tailEnd type="triangle" w="med" len="med"/>
            </a:ln>
          </p:spPr>
          <p:txBody>
            <a:bodyPr wrap="none" anchor="ctr"/>
            <a:lstStyle/>
            <a:p>
              <a:endParaRPr lang="zh-CN" altLang="en-US" b="1">
                <a:effectLst>
                  <a:outerShdw blurRad="38100" dist="38100" dir="2700000" algn="tl">
                    <a:srgbClr val="000000">
                      <a:alpha val="43137"/>
                    </a:srgbClr>
                  </a:outerShdw>
                </a:effectLst>
              </a:endParaRPr>
            </a:p>
          </p:txBody>
        </p:sp>
        <p:sp>
          <p:nvSpPr>
            <p:cNvPr id="71724" name="Oval 55"/>
            <p:cNvSpPr>
              <a:spLocks noChangeArrowheads="1"/>
            </p:cNvSpPr>
            <p:nvPr/>
          </p:nvSpPr>
          <p:spPr bwMode="auto">
            <a:xfrm>
              <a:off x="7908032" y="3146884"/>
              <a:ext cx="533400" cy="609600"/>
            </a:xfrm>
            <a:prstGeom prst="ellipse">
              <a:avLst/>
            </a:prstGeom>
            <a:solidFill>
              <a:schemeClr val="folHlink"/>
            </a:solidFill>
            <a:ln w="9525">
              <a:noFill/>
              <a:miter lim="800000"/>
            </a:ln>
          </p:spPr>
          <p:txBody>
            <a:bodyPr wrap="none" anchor="ctr"/>
            <a:lstStyle/>
            <a:p>
              <a:pPr>
                <a:spcBef>
                  <a:spcPct val="50000"/>
                </a:spcBef>
              </a:pPr>
              <a:r>
                <a:rPr lang="en-US" altLang="zh-CN" b="1">
                  <a:effectLst>
                    <a:outerShdw blurRad="38100" dist="38100" dir="2700000" algn="tl">
                      <a:srgbClr val="000000">
                        <a:alpha val="43137"/>
                      </a:srgbClr>
                    </a:outerShdw>
                  </a:effectLst>
                  <a:latin typeface="Tahoma" panose="020B0604030504040204" pitchFamily="34" charset="0"/>
                  <a:sym typeface="Symbol" panose="05050102010706020507" pitchFamily="18" charset="2"/>
                </a:rPr>
                <a:t></a:t>
              </a:r>
              <a:endParaRPr lang="en-US" altLang="zh-CN" b="1">
                <a:effectLst>
                  <a:outerShdw blurRad="38100" dist="38100" dir="2700000" algn="tl">
                    <a:srgbClr val="000000">
                      <a:alpha val="43137"/>
                    </a:srgbClr>
                  </a:outerShdw>
                </a:effectLst>
                <a:latin typeface="Tahoma" panose="020B0604030504040204" pitchFamily="34" charset="0"/>
              </a:endParaRPr>
            </a:p>
          </p:txBody>
        </p:sp>
        <p:sp>
          <p:nvSpPr>
            <p:cNvPr id="71725" name="Line 56"/>
            <p:cNvSpPr>
              <a:spLocks noChangeShapeType="1"/>
            </p:cNvSpPr>
            <p:nvPr/>
          </p:nvSpPr>
          <p:spPr bwMode="auto">
            <a:xfrm>
              <a:off x="8441432" y="3451684"/>
              <a:ext cx="304800" cy="0"/>
            </a:xfrm>
            <a:prstGeom prst="line">
              <a:avLst/>
            </a:prstGeom>
            <a:noFill/>
            <a:ln w="9525">
              <a:solidFill>
                <a:schemeClr val="tx1"/>
              </a:solidFill>
              <a:miter lim="800000"/>
              <a:tailEnd type="triangle" w="med" len="med"/>
            </a:ln>
          </p:spPr>
          <p:txBody>
            <a:bodyPr wrap="none" anchor="ctr"/>
            <a:lstStyle/>
            <a:p>
              <a:endParaRPr lang="zh-CN" altLang="en-US" b="1">
                <a:effectLst>
                  <a:outerShdw blurRad="38100" dist="38100" dir="2700000" algn="tl">
                    <a:srgbClr val="000000">
                      <a:alpha val="43137"/>
                    </a:srgbClr>
                  </a:outerShdw>
                </a:effectLst>
              </a:endParaRPr>
            </a:p>
          </p:txBody>
        </p:sp>
        <p:sp>
          <p:nvSpPr>
            <p:cNvPr id="71726" name="Rectangle 57"/>
            <p:cNvSpPr>
              <a:spLocks noChangeArrowheads="1"/>
            </p:cNvSpPr>
            <p:nvPr/>
          </p:nvSpPr>
          <p:spPr bwMode="auto">
            <a:xfrm>
              <a:off x="440432" y="1927684"/>
              <a:ext cx="990600" cy="457200"/>
            </a:xfrm>
            <a:prstGeom prst="rect">
              <a:avLst/>
            </a:prstGeom>
            <a:noFill/>
            <a:ln w="9525">
              <a:noFill/>
              <a:miter lim="800000"/>
            </a:ln>
          </p:spPr>
          <p:txBody>
            <a:bodyPr wrap="none" anchor="ctr"/>
            <a:lstStyle/>
            <a:p>
              <a:pPr>
                <a:spcBef>
                  <a:spcPct val="50000"/>
                </a:spcBef>
              </a:pPr>
              <a:r>
                <a:rPr lang="en-US" altLang="zh-CN" b="1">
                  <a:effectLst>
                    <a:outerShdw blurRad="38100" dist="38100" dir="2700000" algn="tl">
                      <a:srgbClr val="000000">
                        <a:alpha val="43137"/>
                      </a:srgbClr>
                    </a:outerShdw>
                  </a:effectLst>
                  <a:latin typeface="Tahoma" panose="020B0604030504040204" pitchFamily="34" charset="0"/>
                </a:rPr>
                <a:t>N</a:t>
              </a:r>
              <a:r>
                <a:rPr lang="en-US" altLang="zh-CN" b="1" baseline="-25000">
                  <a:effectLst>
                    <a:outerShdw blurRad="38100" dist="38100" dir="2700000" algn="tl">
                      <a:srgbClr val="000000">
                        <a:alpha val="43137"/>
                      </a:srgbClr>
                    </a:outerShdw>
                  </a:effectLst>
                  <a:latin typeface="Tahoma" panose="020B0604030504040204" pitchFamily="34" charset="0"/>
                </a:rPr>
                <a:t>1</a:t>
              </a:r>
              <a:endParaRPr lang="en-US" altLang="zh-CN" b="1">
                <a:effectLst>
                  <a:outerShdw blurRad="38100" dist="38100" dir="2700000" algn="tl">
                    <a:srgbClr val="000000">
                      <a:alpha val="43137"/>
                    </a:srgbClr>
                  </a:outerShdw>
                </a:effectLst>
                <a:latin typeface="Tahoma" panose="020B0604030504040204" pitchFamily="34" charset="0"/>
              </a:endParaRPr>
            </a:p>
          </p:txBody>
        </p:sp>
        <p:sp>
          <p:nvSpPr>
            <p:cNvPr id="71727" name="Rectangle 58"/>
            <p:cNvSpPr>
              <a:spLocks noChangeArrowheads="1"/>
            </p:cNvSpPr>
            <p:nvPr/>
          </p:nvSpPr>
          <p:spPr bwMode="auto">
            <a:xfrm>
              <a:off x="8517632" y="3223084"/>
              <a:ext cx="554868" cy="457200"/>
            </a:xfrm>
            <a:prstGeom prst="rect">
              <a:avLst/>
            </a:prstGeom>
            <a:noFill/>
            <a:ln w="9525">
              <a:noFill/>
              <a:miter lim="800000"/>
            </a:ln>
          </p:spPr>
          <p:txBody>
            <a:bodyPr wrap="none" anchor="ctr"/>
            <a:lstStyle/>
            <a:p>
              <a:pPr>
                <a:spcBef>
                  <a:spcPct val="50000"/>
                </a:spcBef>
              </a:pPr>
              <a:r>
                <a:rPr lang="en-US" altLang="zh-CN" b="1" dirty="0">
                  <a:effectLst>
                    <a:outerShdw blurRad="38100" dist="38100" dir="2700000" algn="tl">
                      <a:srgbClr val="000000">
                        <a:alpha val="43137"/>
                      </a:srgbClr>
                    </a:outerShdw>
                  </a:effectLst>
                  <a:latin typeface="Tahoma" panose="020B0604030504040204" pitchFamily="34" charset="0"/>
                </a:rPr>
                <a:t>O</a:t>
              </a:r>
            </a:p>
          </p:txBody>
        </p:sp>
        <p:sp>
          <p:nvSpPr>
            <p:cNvPr id="71728" name="Rectangle 59"/>
            <p:cNvSpPr>
              <a:spLocks noChangeArrowheads="1"/>
            </p:cNvSpPr>
            <p:nvPr/>
          </p:nvSpPr>
          <p:spPr bwMode="auto">
            <a:xfrm>
              <a:off x="5931595" y="2249946"/>
              <a:ext cx="990600" cy="457200"/>
            </a:xfrm>
            <a:prstGeom prst="rect">
              <a:avLst/>
            </a:prstGeom>
            <a:noFill/>
            <a:ln w="9525">
              <a:noFill/>
              <a:miter lim="800000"/>
            </a:ln>
          </p:spPr>
          <p:txBody>
            <a:bodyPr wrap="none" anchor="ctr"/>
            <a:lstStyle/>
            <a:p>
              <a:pPr>
                <a:spcBef>
                  <a:spcPct val="50000"/>
                </a:spcBef>
              </a:pPr>
              <a:r>
                <a:rPr lang="en-US" altLang="zh-CN" b="1">
                  <a:effectLst>
                    <a:outerShdw blurRad="38100" dist="38100" dir="2700000" algn="tl">
                      <a:srgbClr val="000000">
                        <a:alpha val="43137"/>
                      </a:srgbClr>
                    </a:outerShdw>
                  </a:effectLst>
                  <a:latin typeface="Tahoma" panose="020B0604030504040204" pitchFamily="34" charset="0"/>
                </a:rPr>
                <a:t>w</a:t>
              </a:r>
            </a:p>
          </p:txBody>
        </p:sp>
        <p:sp>
          <p:nvSpPr>
            <p:cNvPr id="71729" name="Rectangle 60"/>
            <p:cNvSpPr>
              <a:spLocks noChangeArrowheads="1"/>
            </p:cNvSpPr>
            <p:nvPr/>
          </p:nvSpPr>
          <p:spPr bwMode="auto">
            <a:xfrm>
              <a:off x="440432" y="2918284"/>
              <a:ext cx="990600" cy="457200"/>
            </a:xfrm>
            <a:prstGeom prst="rect">
              <a:avLst/>
            </a:prstGeom>
            <a:noFill/>
            <a:ln w="9525">
              <a:noFill/>
              <a:miter lim="800000"/>
            </a:ln>
          </p:spPr>
          <p:txBody>
            <a:bodyPr wrap="none" anchor="ctr"/>
            <a:lstStyle/>
            <a:p>
              <a:pPr>
                <a:spcBef>
                  <a:spcPct val="50000"/>
                </a:spcBef>
              </a:pPr>
              <a:r>
                <a:rPr lang="en-US" altLang="zh-CN" b="1">
                  <a:effectLst>
                    <a:outerShdw blurRad="38100" dist="38100" dir="2700000" algn="tl">
                      <a:srgbClr val="000000">
                        <a:alpha val="43137"/>
                      </a:srgbClr>
                    </a:outerShdw>
                  </a:effectLst>
                  <a:latin typeface="Tahoma" panose="020B0604030504040204" pitchFamily="34" charset="0"/>
                </a:rPr>
                <a:t>N</a:t>
              </a:r>
              <a:r>
                <a:rPr lang="en-US" altLang="zh-CN" b="1" baseline="-25000">
                  <a:effectLst>
                    <a:outerShdw blurRad="38100" dist="38100" dir="2700000" algn="tl">
                      <a:srgbClr val="000000">
                        <a:alpha val="43137"/>
                      </a:srgbClr>
                    </a:outerShdw>
                  </a:effectLst>
                  <a:latin typeface="Tahoma" panose="020B0604030504040204" pitchFamily="34" charset="0"/>
                </a:rPr>
                <a:t>2</a:t>
              </a:r>
              <a:endParaRPr lang="en-US" altLang="zh-CN" b="1">
                <a:effectLst>
                  <a:outerShdw blurRad="38100" dist="38100" dir="2700000" algn="tl">
                    <a:srgbClr val="000000">
                      <a:alpha val="43137"/>
                    </a:srgbClr>
                  </a:outerShdw>
                </a:effectLst>
                <a:latin typeface="Tahoma" panose="020B0604030504040204" pitchFamily="34" charset="0"/>
              </a:endParaRPr>
            </a:p>
          </p:txBody>
        </p:sp>
        <p:sp>
          <p:nvSpPr>
            <p:cNvPr id="71730" name="Rectangle 61"/>
            <p:cNvSpPr>
              <a:spLocks noChangeArrowheads="1"/>
            </p:cNvSpPr>
            <p:nvPr/>
          </p:nvSpPr>
          <p:spPr bwMode="auto">
            <a:xfrm>
              <a:off x="440432" y="5280484"/>
              <a:ext cx="990600" cy="457200"/>
            </a:xfrm>
            <a:prstGeom prst="rect">
              <a:avLst/>
            </a:prstGeom>
            <a:noFill/>
            <a:ln w="9525">
              <a:noFill/>
              <a:miter lim="800000"/>
            </a:ln>
          </p:spPr>
          <p:txBody>
            <a:bodyPr wrap="none" anchor="ctr"/>
            <a:lstStyle/>
            <a:p>
              <a:pPr>
                <a:spcBef>
                  <a:spcPct val="50000"/>
                </a:spcBef>
              </a:pPr>
              <a:r>
                <a:rPr lang="zh-CN" altLang="en-US" b="1">
                  <a:effectLst>
                    <a:outerShdw blurRad="38100" dist="38100" dir="2700000" algn="tl">
                      <a:srgbClr val="000000">
                        <a:alpha val="43137"/>
                      </a:srgbClr>
                    </a:outerShdw>
                  </a:effectLst>
                  <a:latin typeface="Tahoma" panose="020B0604030504040204" pitchFamily="34" charset="0"/>
                </a:rPr>
                <a:t>环境参数</a:t>
              </a:r>
            </a:p>
          </p:txBody>
        </p:sp>
        <p:sp>
          <p:nvSpPr>
            <p:cNvPr id="71731" name="Line 62"/>
            <p:cNvSpPr>
              <a:spLocks noChangeShapeType="1"/>
            </p:cNvSpPr>
            <p:nvPr/>
          </p:nvSpPr>
          <p:spPr bwMode="auto">
            <a:xfrm flipV="1">
              <a:off x="1050032" y="5051884"/>
              <a:ext cx="76200" cy="381000"/>
            </a:xfrm>
            <a:prstGeom prst="line">
              <a:avLst/>
            </a:prstGeom>
            <a:noFill/>
            <a:ln w="9525">
              <a:solidFill>
                <a:schemeClr val="tx1"/>
              </a:solidFill>
              <a:miter lim="800000"/>
              <a:tailEnd type="triangle" w="med" len="med"/>
            </a:ln>
          </p:spPr>
          <p:txBody>
            <a:bodyPr wrap="none" anchor="ctr"/>
            <a:lstStyle/>
            <a:p>
              <a:endParaRPr lang="zh-CN" altLang="en-US" b="1">
                <a:effectLst>
                  <a:outerShdw blurRad="38100" dist="38100" dir="2700000" algn="tl">
                    <a:srgbClr val="000000">
                      <a:alpha val="43137"/>
                    </a:srgbClr>
                  </a:outerShdw>
                </a:effectLst>
              </a:endParaRPr>
            </a:p>
          </p:txBody>
        </p:sp>
        <p:sp>
          <p:nvSpPr>
            <p:cNvPr id="71732" name="Line 63"/>
            <p:cNvSpPr>
              <a:spLocks noChangeShapeType="1"/>
            </p:cNvSpPr>
            <p:nvPr/>
          </p:nvSpPr>
          <p:spPr bwMode="auto">
            <a:xfrm>
              <a:off x="592832" y="2384884"/>
              <a:ext cx="381000" cy="0"/>
            </a:xfrm>
            <a:prstGeom prst="line">
              <a:avLst/>
            </a:prstGeom>
            <a:noFill/>
            <a:ln w="9525">
              <a:solidFill>
                <a:schemeClr val="tx1"/>
              </a:solidFill>
              <a:miter lim="800000"/>
              <a:tailEnd type="triangle" w="med" len="med"/>
            </a:ln>
          </p:spPr>
          <p:txBody>
            <a:bodyPr wrap="none" anchor="ctr"/>
            <a:lstStyle/>
            <a:p>
              <a:endParaRPr lang="zh-CN" altLang="en-US" b="1">
                <a:effectLst>
                  <a:outerShdw blurRad="38100" dist="38100" dir="2700000" algn="tl">
                    <a:srgbClr val="000000">
                      <a:alpha val="43137"/>
                    </a:srgbClr>
                  </a:outerShdw>
                </a:effectLst>
              </a:endParaRPr>
            </a:p>
          </p:txBody>
        </p:sp>
        <p:sp>
          <p:nvSpPr>
            <p:cNvPr id="71733" name="Line 64"/>
            <p:cNvSpPr>
              <a:spLocks noChangeShapeType="1"/>
            </p:cNvSpPr>
            <p:nvPr/>
          </p:nvSpPr>
          <p:spPr bwMode="auto">
            <a:xfrm>
              <a:off x="592832" y="3375484"/>
              <a:ext cx="381000" cy="0"/>
            </a:xfrm>
            <a:prstGeom prst="line">
              <a:avLst/>
            </a:prstGeom>
            <a:noFill/>
            <a:ln w="9525">
              <a:solidFill>
                <a:schemeClr val="tx1"/>
              </a:solidFill>
              <a:miter lim="800000"/>
              <a:tailEnd type="triangle" w="med" len="med"/>
            </a:ln>
          </p:spPr>
          <p:txBody>
            <a:bodyPr wrap="none" anchor="ctr"/>
            <a:lstStyle/>
            <a:p>
              <a:endParaRPr lang="zh-CN" altLang="en-US" b="1">
                <a:effectLst>
                  <a:outerShdw blurRad="38100" dist="38100" dir="2700000" algn="tl">
                    <a:srgbClr val="000000">
                      <a:alpha val="43137"/>
                    </a:srgbClr>
                  </a:outerShdw>
                </a:effectLst>
              </a:endParaRPr>
            </a:p>
          </p:txBody>
        </p:sp>
        <p:sp>
          <p:nvSpPr>
            <p:cNvPr id="71734" name="Line 65"/>
            <p:cNvSpPr>
              <a:spLocks noChangeShapeType="1"/>
            </p:cNvSpPr>
            <p:nvPr/>
          </p:nvSpPr>
          <p:spPr bwMode="auto">
            <a:xfrm>
              <a:off x="6917432" y="2537284"/>
              <a:ext cx="990600" cy="762000"/>
            </a:xfrm>
            <a:prstGeom prst="line">
              <a:avLst/>
            </a:prstGeom>
            <a:noFill/>
            <a:ln w="9525">
              <a:solidFill>
                <a:schemeClr val="tx1"/>
              </a:solidFill>
              <a:miter lim="800000"/>
              <a:tailEnd type="triangle" w="med" len="med"/>
            </a:ln>
          </p:spPr>
          <p:txBody>
            <a:bodyPr wrap="none" anchor="ctr"/>
            <a:lstStyle/>
            <a:p>
              <a:endParaRPr lang="zh-CN" altLang="en-US" b="1">
                <a:effectLst>
                  <a:outerShdw blurRad="38100" dist="38100" dir="2700000" algn="tl">
                    <a:srgbClr val="000000">
                      <a:alpha val="43137"/>
                    </a:srgbClr>
                  </a:outerShdw>
                </a:effectLst>
              </a:endParaRPr>
            </a:p>
          </p:txBody>
        </p:sp>
        <p:sp>
          <p:nvSpPr>
            <p:cNvPr id="71735" name="Line 66"/>
            <p:cNvSpPr>
              <a:spLocks noChangeShapeType="1"/>
            </p:cNvSpPr>
            <p:nvPr/>
          </p:nvSpPr>
          <p:spPr bwMode="auto">
            <a:xfrm>
              <a:off x="6917432" y="2765884"/>
              <a:ext cx="990600" cy="533400"/>
            </a:xfrm>
            <a:prstGeom prst="line">
              <a:avLst/>
            </a:prstGeom>
            <a:noFill/>
            <a:ln w="9525">
              <a:solidFill>
                <a:schemeClr val="tx1"/>
              </a:solidFill>
              <a:miter lim="800000"/>
              <a:tailEnd type="triangle" w="med" len="med"/>
            </a:ln>
          </p:spPr>
          <p:txBody>
            <a:bodyPr wrap="none" anchor="ctr"/>
            <a:lstStyle/>
            <a:p>
              <a:endParaRPr lang="zh-CN" altLang="en-US" b="1">
                <a:effectLst>
                  <a:outerShdw blurRad="38100" dist="38100" dir="2700000" algn="tl">
                    <a:srgbClr val="000000">
                      <a:alpha val="43137"/>
                    </a:srgbClr>
                  </a:outerShdw>
                </a:effectLst>
              </a:endParaRPr>
            </a:p>
          </p:txBody>
        </p:sp>
        <p:sp>
          <p:nvSpPr>
            <p:cNvPr id="71736" name="Line 67"/>
            <p:cNvSpPr>
              <a:spLocks noChangeShapeType="1"/>
            </p:cNvSpPr>
            <p:nvPr/>
          </p:nvSpPr>
          <p:spPr bwMode="auto">
            <a:xfrm>
              <a:off x="6917432" y="3070684"/>
              <a:ext cx="990600" cy="304800"/>
            </a:xfrm>
            <a:prstGeom prst="line">
              <a:avLst/>
            </a:prstGeom>
            <a:noFill/>
            <a:ln w="9525">
              <a:solidFill>
                <a:schemeClr val="tx1"/>
              </a:solidFill>
              <a:miter lim="800000"/>
              <a:tailEnd type="triangle" w="med" len="med"/>
            </a:ln>
          </p:spPr>
          <p:txBody>
            <a:bodyPr wrap="none" anchor="ctr"/>
            <a:lstStyle/>
            <a:p>
              <a:endParaRPr lang="zh-CN" altLang="en-US" b="1">
                <a:effectLst>
                  <a:outerShdw blurRad="38100" dist="38100" dir="2700000" algn="tl">
                    <a:srgbClr val="000000">
                      <a:alpha val="43137"/>
                    </a:srgbClr>
                  </a:outerShdw>
                </a:effectLst>
              </a:endParaRPr>
            </a:p>
          </p:txBody>
        </p:sp>
        <p:sp>
          <p:nvSpPr>
            <p:cNvPr id="71737" name="Line 68"/>
            <p:cNvSpPr>
              <a:spLocks noChangeShapeType="1"/>
            </p:cNvSpPr>
            <p:nvPr/>
          </p:nvSpPr>
          <p:spPr bwMode="auto">
            <a:xfrm flipV="1">
              <a:off x="6917432" y="3680284"/>
              <a:ext cx="1066800" cy="1219200"/>
            </a:xfrm>
            <a:prstGeom prst="line">
              <a:avLst/>
            </a:prstGeom>
            <a:noFill/>
            <a:ln w="9525">
              <a:solidFill>
                <a:schemeClr val="tx1"/>
              </a:solidFill>
              <a:miter lim="800000"/>
              <a:tailEnd type="triangle" w="med" len="med"/>
            </a:ln>
          </p:spPr>
          <p:txBody>
            <a:bodyPr wrap="none" anchor="ctr"/>
            <a:lstStyle/>
            <a:p>
              <a:endParaRPr lang="zh-CN" altLang="en-US" b="1">
                <a:effectLst>
                  <a:outerShdw blurRad="38100" dist="38100" dir="2700000" algn="tl">
                    <a:srgbClr val="000000">
                      <a:alpha val="43137"/>
                    </a:srgbClr>
                  </a:outerShdw>
                </a:effectLst>
              </a:endParaRPr>
            </a:p>
          </p:txBody>
        </p:sp>
        <p:sp>
          <p:nvSpPr>
            <p:cNvPr id="71738" name="Line 69"/>
            <p:cNvSpPr>
              <a:spLocks noChangeShapeType="1"/>
            </p:cNvSpPr>
            <p:nvPr/>
          </p:nvSpPr>
          <p:spPr bwMode="auto">
            <a:xfrm flipV="1">
              <a:off x="6917432" y="3680284"/>
              <a:ext cx="990600" cy="914400"/>
            </a:xfrm>
            <a:prstGeom prst="line">
              <a:avLst/>
            </a:prstGeom>
            <a:noFill/>
            <a:ln w="9525">
              <a:solidFill>
                <a:schemeClr val="tx1"/>
              </a:solidFill>
              <a:miter lim="800000"/>
              <a:tailEnd type="triangle" w="med" len="med"/>
            </a:ln>
          </p:spPr>
          <p:txBody>
            <a:bodyPr wrap="none" anchor="ctr"/>
            <a:lstStyle/>
            <a:p>
              <a:endParaRPr lang="zh-CN" altLang="en-US" b="1">
                <a:effectLst>
                  <a:outerShdw blurRad="38100" dist="38100" dir="2700000" algn="tl">
                    <a:srgbClr val="000000">
                      <a:alpha val="43137"/>
                    </a:srgbClr>
                  </a:outerShdw>
                </a:effectLst>
              </a:endParaRPr>
            </a:p>
          </p:txBody>
        </p:sp>
        <p:sp>
          <p:nvSpPr>
            <p:cNvPr id="71739" name="Line 70"/>
            <p:cNvSpPr>
              <a:spLocks noChangeShapeType="1"/>
            </p:cNvSpPr>
            <p:nvPr/>
          </p:nvSpPr>
          <p:spPr bwMode="auto">
            <a:xfrm flipV="1">
              <a:off x="6917432" y="3604084"/>
              <a:ext cx="990600" cy="762000"/>
            </a:xfrm>
            <a:prstGeom prst="line">
              <a:avLst/>
            </a:prstGeom>
            <a:noFill/>
            <a:ln w="9525">
              <a:solidFill>
                <a:schemeClr val="tx1"/>
              </a:solidFill>
              <a:miter lim="800000"/>
              <a:tailEnd type="triangle" w="med" len="med"/>
            </a:ln>
          </p:spPr>
          <p:txBody>
            <a:bodyPr wrap="none" anchor="ctr"/>
            <a:lstStyle/>
            <a:p>
              <a:endParaRPr lang="zh-CN" altLang="en-US" b="1">
                <a:effectLst>
                  <a:outerShdw blurRad="38100" dist="38100" dir="2700000" algn="tl">
                    <a:srgbClr val="000000">
                      <a:alpha val="43137"/>
                    </a:srgbClr>
                  </a:outerShdw>
                </a:effectLst>
              </a:endParaRPr>
            </a:p>
          </p:txBody>
        </p:sp>
        <p:sp>
          <p:nvSpPr>
            <p:cNvPr id="71740" name="Line 71"/>
            <p:cNvSpPr>
              <a:spLocks noChangeShapeType="1"/>
            </p:cNvSpPr>
            <p:nvPr/>
          </p:nvSpPr>
          <p:spPr bwMode="auto">
            <a:xfrm flipV="1">
              <a:off x="6917432" y="3527884"/>
              <a:ext cx="990600" cy="152400"/>
            </a:xfrm>
            <a:prstGeom prst="line">
              <a:avLst/>
            </a:prstGeom>
            <a:noFill/>
            <a:ln w="9525">
              <a:solidFill>
                <a:schemeClr val="tx1"/>
              </a:solidFill>
              <a:miter lim="800000"/>
              <a:tailEnd type="triangle" w="med" len="med"/>
            </a:ln>
          </p:spPr>
          <p:txBody>
            <a:bodyPr wrap="none" anchor="ctr"/>
            <a:lstStyle/>
            <a:p>
              <a:endParaRPr lang="zh-CN" altLang="en-US" b="1">
                <a:effectLst>
                  <a:outerShdw blurRad="38100" dist="38100" dir="2700000" algn="tl">
                    <a:srgbClr val="000000">
                      <a:alpha val="43137"/>
                    </a:srgbClr>
                  </a:outerShdw>
                </a:effectLst>
              </a:endParaRPr>
            </a:p>
          </p:txBody>
        </p:sp>
        <p:sp>
          <p:nvSpPr>
            <p:cNvPr id="71741" name="Line 72"/>
            <p:cNvSpPr>
              <a:spLocks noChangeShapeType="1"/>
            </p:cNvSpPr>
            <p:nvPr/>
          </p:nvSpPr>
          <p:spPr bwMode="auto">
            <a:xfrm flipV="1">
              <a:off x="6917432" y="3451684"/>
              <a:ext cx="990600" cy="76200"/>
            </a:xfrm>
            <a:prstGeom prst="line">
              <a:avLst/>
            </a:prstGeom>
            <a:noFill/>
            <a:ln w="9525">
              <a:solidFill>
                <a:schemeClr val="tx1"/>
              </a:solidFill>
              <a:miter lim="800000"/>
              <a:tailEnd type="triangle" w="med" len="med"/>
            </a:ln>
          </p:spPr>
          <p:txBody>
            <a:bodyPr wrap="none" anchor="ctr"/>
            <a:lstStyle/>
            <a:p>
              <a:endParaRPr lang="zh-CN" altLang="en-US" b="1">
                <a:effectLst>
                  <a:outerShdw blurRad="38100" dist="38100" dir="2700000" algn="tl">
                    <a:srgbClr val="000000">
                      <a:alpha val="43137"/>
                    </a:srgbClr>
                  </a:outerShdw>
                </a:effectLst>
              </a:endParaRPr>
            </a:p>
          </p:txBody>
        </p:sp>
        <p:sp>
          <p:nvSpPr>
            <p:cNvPr id="71742" name="Line 73"/>
            <p:cNvSpPr>
              <a:spLocks noChangeShapeType="1"/>
            </p:cNvSpPr>
            <p:nvPr/>
          </p:nvSpPr>
          <p:spPr bwMode="auto">
            <a:xfrm>
              <a:off x="6917432" y="3299284"/>
              <a:ext cx="990600" cy="152400"/>
            </a:xfrm>
            <a:prstGeom prst="line">
              <a:avLst/>
            </a:prstGeom>
            <a:noFill/>
            <a:ln w="9525">
              <a:solidFill>
                <a:schemeClr val="tx1"/>
              </a:solidFill>
              <a:miter lim="800000"/>
              <a:tailEnd type="triangle" w="med" len="med"/>
            </a:ln>
          </p:spPr>
          <p:txBody>
            <a:bodyPr wrap="none" anchor="ctr"/>
            <a:lstStyle/>
            <a:p>
              <a:endParaRPr lang="zh-CN" altLang="en-US" b="1">
                <a:effectLst>
                  <a:outerShdw blurRad="38100" dist="38100" dir="2700000" algn="tl">
                    <a:srgbClr val="000000">
                      <a:alpha val="43137"/>
                    </a:srgbClr>
                  </a:outerShdw>
                </a:effectLst>
              </a:endParaRPr>
            </a:p>
          </p:txBody>
        </p:sp>
        <p:sp>
          <p:nvSpPr>
            <p:cNvPr id="71743" name="Rectangle 74"/>
            <p:cNvSpPr>
              <a:spLocks noChangeArrowheads="1"/>
            </p:cNvSpPr>
            <p:nvPr/>
          </p:nvSpPr>
          <p:spPr bwMode="auto">
            <a:xfrm>
              <a:off x="3717032" y="5128084"/>
              <a:ext cx="990600" cy="457200"/>
            </a:xfrm>
            <a:prstGeom prst="rect">
              <a:avLst/>
            </a:prstGeom>
            <a:noFill/>
            <a:ln w="9525">
              <a:noFill/>
              <a:miter lim="800000"/>
            </a:ln>
          </p:spPr>
          <p:txBody>
            <a:bodyPr wrap="none" anchor="ctr"/>
            <a:lstStyle/>
            <a:p>
              <a:pPr>
                <a:spcBef>
                  <a:spcPct val="50000"/>
                </a:spcBef>
              </a:pPr>
              <a:r>
                <a:rPr lang="zh-CN" altLang="en-US" b="1">
                  <a:effectLst>
                    <a:outerShdw blurRad="38100" dist="38100" dir="2700000" algn="tl">
                      <a:srgbClr val="000000">
                        <a:alpha val="43137"/>
                      </a:srgbClr>
                    </a:outerShdw>
                  </a:effectLst>
                  <a:latin typeface="Tahoma" panose="020B0604030504040204" pitchFamily="34" charset="0"/>
                </a:rPr>
                <a:t>随机散列</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503548" y="548680"/>
            <a:ext cx="7210425" cy="831850"/>
          </a:xfrm>
          <a:noFill/>
          <a:ln w="9525">
            <a:noFill/>
            <a:miter lim="800000"/>
          </a:ln>
        </p:spPr>
        <p:txBody>
          <a:bodyPr vert="horz" wrap="square" lIns="91440" tIns="45720" rIns="91440" bIns="45720" numCol="1" anchor="ctr" anchorCtr="0" compatLnSpc="1"/>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CMAC</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用于检测</a:t>
            </a:r>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DOS</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攻击</a:t>
            </a:r>
          </a:p>
        </p:txBody>
      </p:sp>
      <p:sp>
        <p:nvSpPr>
          <p:cNvPr id="222211" name="Rectangle 3"/>
          <p:cNvSpPr>
            <a:spLocks noGrp="1" noChangeArrowheads="1"/>
          </p:cNvSpPr>
          <p:nvPr>
            <p:ph type="body" idx="1"/>
          </p:nvPr>
        </p:nvSpPr>
        <p:spPr>
          <a:xfrm>
            <a:off x="719572" y="1304764"/>
            <a:ext cx="7775575" cy="4968875"/>
          </a:xfrm>
        </p:spPr>
        <p:txBody>
          <a:bodyPr/>
          <a:lstStyle/>
          <a:p>
            <a:pPr eaLnBrk="1" hangingPunct="1">
              <a:lnSpc>
                <a:spcPct val="90000"/>
              </a:lnSpc>
            </a:pPr>
            <a:r>
              <a:rPr lang="en-US" altLang="zh-CN" sz="2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CMAC</a:t>
            </a:r>
            <a:r>
              <a:rPr lang="zh-CN" altLang="en-US" sz="2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的输入和输出</a:t>
            </a:r>
          </a:p>
          <a:p>
            <a:pPr lvl="1" eaLnBrk="1" hangingPunct="1">
              <a:lnSpc>
                <a:spcPct val="90000"/>
              </a:lnSpc>
            </a:pPr>
            <a:r>
              <a:rPr lang="zh-CN" altLang="en-US" sz="2400" b="1"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环境反馈</a:t>
            </a:r>
            <a:r>
              <a:rPr lang="en-US" altLang="zh-CN" sz="2400" b="1"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t>
            </a:r>
            <a:r>
              <a:rPr lang="zh-CN" altLang="en-US" sz="2400" b="1"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，范围</a:t>
            </a:r>
            <a:r>
              <a:rPr lang="en-US" altLang="zh-CN" sz="2400" b="1"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[0.0, 1.0]</a:t>
            </a:r>
          </a:p>
          <a:p>
            <a:pPr lvl="2" eaLnBrk="1" hangingPunct="1">
              <a:lnSpc>
                <a:spcPct val="90000"/>
              </a:lnSpc>
            </a:pP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0.0</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表示系统已经停止，拒绝服务</a:t>
            </a:r>
          </a:p>
          <a:p>
            <a:pPr lvl="2" eaLnBrk="1" hangingPunct="1">
              <a:lnSpc>
                <a:spcPct val="90000"/>
              </a:lnSpc>
            </a:pP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1.0</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表示系统正常</a:t>
            </a:r>
          </a:p>
          <a:p>
            <a:pPr lvl="1" eaLnBrk="1" hangingPunct="1">
              <a:lnSpc>
                <a:spcPct val="90000"/>
              </a:lnSpc>
            </a:pPr>
            <a:r>
              <a:rPr lang="zh-CN" altLang="en-US" sz="2400" b="1"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输出</a:t>
            </a:r>
            <a:r>
              <a:rPr lang="en-US" altLang="zh-CN" sz="2400" b="1"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a:t>
            </a:r>
            <a:r>
              <a:rPr lang="zh-CN" altLang="en-US" sz="2400" b="1"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，范围</a:t>
            </a:r>
            <a:r>
              <a:rPr lang="en-US" altLang="zh-CN" sz="2400" b="1"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[0.0, 1.0]</a:t>
            </a:r>
          </a:p>
          <a:p>
            <a:pPr lvl="2" eaLnBrk="1" hangingPunct="1">
              <a:lnSpc>
                <a:spcPct val="90000"/>
              </a:lnSpc>
            </a:pP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0.0</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表示没有攻击</a:t>
            </a:r>
          </a:p>
          <a:p>
            <a:pPr lvl="2" eaLnBrk="1" hangingPunct="1">
              <a:lnSpc>
                <a:spcPct val="90000"/>
              </a:lnSpc>
            </a:pP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1.0</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表示攻击</a:t>
            </a:r>
          </a:p>
          <a:p>
            <a:pPr lvl="1" eaLnBrk="1" hangingPunct="1">
              <a:lnSpc>
                <a:spcPct val="90000"/>
              </a:lnSpc>
            </a:pPr>
            <a:r>
              <a:rPr lang="zh-CN" altLang="en-US" sz="2400" b="1"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接受正常数据时，输出非常小</a:t>
            </a:r>
          </a:p>
          <a:p>
            <a:pPr eaLnBrk="1" hangingPunct="1">
              <a:lnSpc>
                <a:spcPct val="90000"/>
              </a:lnSpc>
            </a:pPr>
            <a:r>
              <a:rPr lang="en-US" altLang="zh-CN" sz="2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CMAC</a:t>
            </a:r>
            <a:r>
              <a:rPr lang="zh-CN" altLang="en-US" sz="2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的学习和自适应调整</a:t>
            </a:r>
          </a:p>
          <a:p>
            <a:pPr lvl="1" eaLnBrk="1" hangingPunct="1">
              <a:lnSpc>
                <a:spcPct val="90000"/>
              </a:lnSpc>
            </a:pPr>
            <a:r>
              <a:rPr lang="zh-CN" altLang="en-US" sz="2400" b="1"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学习</a:t>
            </a:r>
          </a:p>
          <a:p>
            <a:pPr lvl="2" eaLnBrk="1" hangingPunct="1">
              <a:lnSpc>
                <a:spcPct val="90000"/>
              </a:lnSpc>
            </a:pP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t>
            </a:r>
            <a:r>
              <a:rPr lang="en-US" altLang="zh-CN" sz="2000" b="1" baseline="-25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i+1</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a:t>
            </a:r>
            <a:r>
              <a:rPr lang="en-US" altLang="zh-CN" sz="20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t>
            </a:r>
            <a:r>
              <a:rPr lang="en-US" altLang="zh-CN" sz="2000" b="1" baseline="-2500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b(O</a:t>
            </a:r>
            <a:r>
              <a:rPr lang="en-US" altLang="zh-CN" sz="2000" b="1" baseline="-25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a:t>
            </a:r>
            <a:r>
              <a:rPr lang="en-US" altLang="zh-CN" sz="20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a:t>
            </a:r>
            <a:r>
              <a:rPr lang="en-US" altLang="zh-CN" sz="2000" b="1" baseline="-2500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lvl="2" eaLnBrk="1" hangingPunct="1">
              <a:lnSpc>
                <a:spcPct val="90000"/>
              </a:lnSpc>
            </a:pP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t>
            </a:r>
            <a:r>
              <a:rPr lang="en-US" altLang="zh-CN" sz="2000" b="1" baseline="-25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i+1</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a:t>
            </a:r>
            <a:r>
              <a:rPr lang="en-US" altLang="zh-CN" sz="20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t>
            </a:r>
            <a:r>
              <a:rPr lang="en-US" altLang="zh-CN" sz="2000" b="1" baseline="-2500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b((1-s) - </a:t>
            </a:r>
            <a:r>
              <a:rPr lang="en-US" altLang="zh-CN" sz="20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a:t>
            </a:r>
            <a:r>
              <a:rPr lang="en-US" altLang="zh-CN" sz="2000" b="1" baseline="-2500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lvl="2" eaLnBrk="1" hangingPunct="1">
              <a:lnSpc>
                <a:spcPct val="90000"/>
              </a:lnSpc>
            </a:pP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t>
            </a:r>
            <a:r>
              <a:rPr lang="en-US" altLang="zh-CN" sz="2000" b="1" baseline="-25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i+1</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a:t>
            </a:r>
            <a:r>
              <a:rPr lang="en-US" altLang="zh-CN" sz="20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t>
            </a:r>
            <a:r>
              <a:rPr lang="en-US" altLang="zh-CN" sz="2000" b="1" baseline="-2500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(1-s)((1-s) - </a:t>
            </a:r>
            <a:r>
              <a:rPr lang="en-US" altLang="zh-CN" sz="20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a:t>
            </a:r>
            <a:r>
              <a:rPr lang="en-US" altLang="zh-CN" sz="2000" b="1" baseline="-2500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2221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22221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222211">
                                            <p:txEl>
                                              <p:pRg st="2" end="2"/>
                                            </p:txEl>
                                          </p:spTgt>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499"/>
                                          </p:stCondLst>
                                        </p:cTn>
                                        <p:tgtEl>
                                          <p:spTgt spid="222211">
                                            <p:txEl>
                                              <p:pRg st="3" end="3"/>
                                            </p:txEl>
                                          </p:spTgt>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499"/>
                                          </p:stCondLst>
                                        </p:cTn>
                                        <p:tgtEl>
                                          <p:spTgt spid="222211">
                                            <p:txEl>
                                              <p:pRg st="4" end="4"/>
                                            </p:txEl>
                                          </p:spTgt>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499"/>
                                          </p:stCondLst>
                                        </p:cTn>
                                        <p:tgtEl>
                                          <p:spTgt spid="222211">
                                            <p:txEl>
                                              <p:pRg st="5" end="5"/>
                                            </p:txEl>
                                          </p:spTgt>
                                        </p:tgtEl>
                                        <p:attrNameLst>
                                          <p:attrName>style.visibility</p:attrName>
                                        </p:attrNameLst>
                                      </p:cBhvr>
                                      <p:to>
                                        <p:strVal val="visible"/>
                                      </p:to>
                                    </p:set>
                                  </p:childTnLst>
                                </p:cTn>
                              </p:par>
                            </p:childTnLst>
                          </p:cTn>
                        </p:par>
                        <p:par>
                          <p:cTn id="18" fill="hold">
                            <p:stCondLst>
                              <p:cond delay="1000"/>
                            </p:stCondLst>
                            <p:childTnLst>
                              <p:par>
                                <p:cTn id="19" presetID="1" presetClass="entr" presetSubtype="0" fill="hold" grpId="0" nodeType="afterEffect">
                                  <p:stCondLst>
                                    <p:cond delay="0"/>
                                  </p:stCondLst>
                                  <p:childTnLst>
                                    <p:set>
                                      <p:cBhvr>
                                        <p:cTn id="20" dur="1" fill="hold">
                                          <p:stCondLst>
                                            <p:cond delay="499"/>
                                          </p:stCondLst>
                                        </p:cTn>
                                        <p:tgtEl>
                                          <p:spTgt spid="222211">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222211">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22211">
                                            <p:txEl>
                                              <p:pRg st="8" end="8"/>
                                            </p:txEl>
                                          </p:spTgt>
                                        </p:tgtEl>
                                        <p:attrNameLst>
                                          <p:attrName>style.visibility</p:attrName>
                                        </p:attrNameLst>
                                      </p:cBhvr>
                                      <p:to>
                                        <p:strVal val="visible"/>
                                      </p:to>
                                    </p:set>
                                  </p:childTnLst>
                                </p:cTn>
                              </p:par>
                            </p:childTnLst>
                          </p:cTn>
                        </p:par>
                        <p:par>
                          <p:cTn id="27" fill="hold">
                            <p:stCondLst>
                              <p:cond delay="500"/>
                            </p:stCondLst>
                            <p:childTnLst>
                              <p:par>
                                <p:cTn id="28" presetID="1" presetClass="entr" presetSubtype="0" fill="hold" grpId="0" nodeType="afterEffect">
                                  <p:stCondLst>
                                    <p:cond delay="0"/>
                                  </p:stCondLst>
                                  <p:childTnLst>
                                    <p:set>
                                      <p:cBhvr>
                                        <p:cTn id="29" dur="1" fill="hold">
                                          <p:stCondLst>
                                            <p:cond delay="499"/>
                                          </p:stCondLst>
                                        </p:cTn>
                                        <p:tgtEl>
                                          <p:spTgt spid="222211">
                                            <p:txEl>
                                              <p:pRg st="9" end="9"/>
                                            </p:txEl>
                                          </p:spTgt>
                                        </p:tgtEl>
                                        <p:attrNameLst>
                                          <p:attrName>style.visibility</p:attrName>
                                        </p:attrNameLst>
                                      </p:cBhvr>
                                      <p:to>
                                        <p:strVal val="visible"/>
                                      </p:to>
                                    </p:set>
                                  </p:childTnLst>
                                </p:cTn>
                              </p:par>
                            </p:childTnLst>
                          </p:cTn>
                        </p:par>
                        <p:par>
                          <p:cTn id="30" fill="hold">
                            <p:stCondLst>
                              <p:cond delay="1000"/>
                            </p:stCondLst>
                            <p:childTnLst>
                              <p:par>
                                <p:cTn id="31" presetID="1" presetClass="entr" presetSubtype="0" fill="hold" grpId="0" nodeType="afterEffect">
                                  <p:stCondLst>
                                    <p:cond delay="0"/>
                                  </p:stCondLst>
                                  <p:childTnLst>
                                    <p:set>
                                      <p:cBhvr>
                                        <p:cTn id="32" dur="1" fill="hold">
                                          <p:stCondLst>
                                            <p:cond delay="499"/>
                                          </p:stCondLst>
                                        </p:cTn>
                                        <p:tgtEl>
                                          <p:spTgt spid="222211">
                                            <p:txEl>
                                              <p:pRg st="10" end="10"/>
                                            </p:txEl>
                                          </p:spTgt>
                                        </p:tgtEl>
                                        <p:attrNameLst>
                                          <p:attrName>style.visibility</p:attrName>
                                        </p:attrNameLst>
                                      </p:cBhvr>
                                      <p:to>
                                        <p:strVal val="visible"/>
                                      </p:to>
                                    </p:set>
                                  </p:childTnLst>
                                </p:cTn>
                              </p:par>
                            </p:childTnLst>
                          </p:cTn>
                        </p:par>
                        <p:par>
                          <p:cTn id="33" fill="hold">
                            <p:stCondLst>
                              <p:cond delay="1500"/>
                            </p:stCondLst>
                            <p:childTnLst>
                              <p:par>
                                <p:cTn id="34" presetID="1" presetClass="entr" presetSubtype="0" fill="hold" grpId="0" nodeType="afterEffect">
                                  <p:stCondLst>
                                    <p:cond delay="0"/>
                                  </p:stCondLst>
                                  <p:childTnLst>
                                    <p:set>
                                      <p:cBhvr>
                                        <p:cTn id="35" dur="1" fill="hold">
                                          <p:stCondLst>
                                            <p:cond delay="499"/>
                                          </p:stCondLst>
                                        </p:cTn>
                                        <p:tgtEl>
                                          <p:spTgt spid="222211">
                                            <p:txEl>
                                              <p:pRg st="11" end="11"/>
                                            </p:txEl>
                                          </p:spTgt>
                                        </p:tgtEl>
                                        <p:attrNameLst>
                                          <p:attrName>style.visibility</p:attrName>
                                        </p:attrNameLst>
                                      </p:cBhvr>
                                      <p:to>
                                        <p:strVal val="visible"/>
                                      </p:to>
                                    </p:set>
                                  </p:childTnLst>
                                </p:cTn>
                              </p:par>
                            </p:childTnLst>
                          </p:cTn>
                        </p:par>
                        <p:par>
                          <p:cTn id="36" fill="hold">
                            <p:stCondLst>
                              <p:cond delay="2000"/>
                            </p:stCondLst>
                            <p:childTnLst>
                              <p:par>
                                <p:cTn id="37" presetID="1" presetClass="entr" presetSubtype="0" fill="hold" grpId="0" nodeType="afterEffect">
                                  <p:stCondLst>
                                    <p:cond delay="0"/>
                                  </p:stCondLst>
                                  <p:childTnLst>
                                    <p:set>
                                      <p:cBhvr>
                                        <p:cTn id="38" dur="1" fill="hold">
                                          <p:stCondLst>
                                            <p:cond delay="499"/>
                                          </p:stCondLst>
                                        </p:cTn>
                                        <p:tgtEl>
                                          <p:spTgt spid="22221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1" grpId="0" build="p" autoUpdateAnimBg="0"/>
    </p:bldLst>
  </p:timing>
</p:sld>
</file>

<file path=ppt/slides/slide1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503548" y="692696"/>
            <a:ext cx="7283450" cy="679450"/>
          </a:xfrm>
          <a:noFill/>
          <a:ln w="9525">
            <a:noFill/>
            <a:miter lim="800000"/>
          </a:ln>
        </p:spPr>
        <p:txBody>
          <a:bodyPr vert="horz" wrap="square" lIns="91440" tIns="45720" rIns="91440" bIns="45720" numCol="1" anchor="ctr" anchorCtr="0" compatLnSpc="1"/>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CMAC</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对于拒绝服务的模拟结果分析</a:t>
            </a:r>
          </a:p>
        </p:txBody>
      </p:sp>
      <p:sp>
        <p:nvSpPr>
          <p:cNvPr id="223235" name="Rectangle 3"/>
          <p:cNvSpPr>
            <a:spLocks noGrp="1" noChangeArrowheads="1"/>
          </p:cNvSpPr>
          <p:nvPr>
            <p:ph type="body" idx="1"/>
          </p:nvPr>
        </p:nvSpPr>
        <p:spPr>
          <a:xfrm>
            <a:off x="683568" y="1448780"/>
            <a:ext cx="7847013" cy="4681537"/>
          </a:xfrm>
        </p:spPr>
        <p:txBody>
          <a:bodyPr/>
          <a:lstStyle/>
          <a:p>
            <a:pPr eaLnBrk="1" hangingPunct="1">
              <a:lnSpc>
                <a:spcPct val="90000"/>
              </a:lnSpc>
            </a:pPr>
            <a:r>
              <a:rPr lang="zh-CN" altLang="en-US" sz="28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学习速度快</a:t>
            </a:r>
          </a:p>
          <a:p>
            <a:pPr eaLnBrk="1" hangingPunct="1">
              <a:lnSpc>
                <a:spcPct val="90000"/>
              </a:lnSpc>
            </a:pPr>
            <a:r>
              <a:rPr lang="en-US" altLang="zh-CN" sz="28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On-line</a:t>
            </a:r>
            <a:r>
              <a:rPr lang="zh-CN" altLang="en-US" sz="28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学习攻击模式</a:t>
            </a:r>
          </a:p>
          <a:p>
            <a:pPr eaLnBrk="1" hangingPunct="1">
              <a:lnSpc>
                <a:spcPct val="90000"/>
              </a:lnSpc>
            </a:pPr>
            <a:r>
              <a:rPr lang="zh-CN" altLang="en-US" sz="28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能够精确地识别以前碰到过的攻击模式</a:t>
            </a:r>
          </a:p>
          <a:p>
            <a:pPr eaLnBrk="1" hangingPunct="1">
              <a:lnSpc>
                <a:spcPct val="90000"/>
              </a:lnSpc>
            </a:pPr>
            <a:r>
              <a:rPr lang="zh-CN" altLang="en-US" sz="28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对于同类型的攻击，具有较好的适应性</a:t>
            </a:r>
          </a:p>
          <a:p>
            <a:pPr lvl="1" eaLnBrk="1" hangingPunct="1">
              <a:lnSpc>
                <a:spcPct val="90000"/>
              </a:lnSpc>
            </a:pP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在训练了</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ping flood</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之后，识别</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UDP packet storm</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攻击的错误为</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2.2%</a:t>
            </a:r>
          </a:p>
          <a:p>
            <a:pPr eaLnBrk="1" hangingPunct="1">
              <a:lnSpc>
                <a:spcPct val="90000"/>
              </a:lnSpc>
            </a:pPr>
            <a:r>
              <a:rPr lang="zh-CN" altLang="en-US" sz="28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对状态的分析能力</a:t>
            </a:r>
          </a:p>
          <a:p>
            <a:pPr lvl="1" eaLnBrk="1" hangingPunct="1">
              <a:lnSpc>
                <a:spcPct val="90000"/>
              </a:lnSpc>
            </a:pP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如果一种网络行为模式在初始时候被识别的概率为</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75%</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，随着系统状态的进一步退化，同样的行为模式被识别的概率应该增加</a:t>
            </a:r>
          </a:p>
          <a:p>
            <a:pPr lvl="1" eaLnBrk="1" hangingPunct="1">
              <a:lnSpc>
                <a:spcPct val="90000"/>
              </a:lnSpc>
            </a:pP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系统的反馈用来增强识别攻击的可能性</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23235">
                                            <p:txEl>
                                              <p:pRg st="0" end="0"/>
                                            </p:txEl>
                                          </p:spTgt>
                                        </p:tgtEl>
                                        <p:attrNameLst>
                                          <p:attrName>style.visibility</p:attrName>
                                        </p:attrNameLst>
                                      </p:cBhvr>
                                      <p:to>
                                        <p:strVal val="visible"/>
                                      </p:to>
                                    </p:set>
                                    <p:animEffect transition="in" filter="wipe(up)">
                                      <p:cBhvr>
                                        <p:cTn id="7" dur="500"/>
                                        <p:tgtEl>
                                          <p:spTgt spid="223235">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23235">
                                            <p:txEl>
                                              <p:pRg st="1" end="1"/>
                                            </p:txEl>
                                          </p:spTgt>
                                        </p:tgtEl>
                                        <p:attrNameLst>
                                          <p:attrName>style.visibility</p:attrName>
                                        </p:attrNameLst>
                                      </p:cBhvr>
                                      <p:to>
                                        <p:strVal val="visible"/>
                                      </p:to>
                                    </p:set>
                                    <p:animEffect transition="in" filter="wipe(up)">
                                      <p:cBhvr>
                                        <p:cTn id="11" dur="500"/>
                                        <p:tgtEl>
                                          <p:spTgt spid="223235">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223235">
                                            <p:txEl>
                                              <p:pRg st="2" end="2"/>
                                            </p:txEl>
                                          </p:spTgt>
                                        </p:tgtEl>
                                        <p:attrNameLst>
                                          <p:attrName>style.visibility</p:attrName>
                                        </p:attrNameLst>
                                      </p:cBhvr>
                                      <p:to>
                                        <p:strVal val="visible"/>
                                      </p:to>
                                    </p:set>
                                    <p:animEffect transition="in" filter="wipe(up)">
                                      <p:cBhvr>
                                        <p:cTn id="15" dur="500"/>
                                        <p:tgtEl>
                                          <p:spTgt spid="223235">
                                            <p:txEl>
                                              <p:pRg st="2" end="2"/>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223235">
                                            <p:txEl>
                                              <p:pRg st="3" end="3"/>
                                            </p:txEl>
                                          </p:spTgt>
                                        </p:tgtEl>
                                        <p:attrNameLst>
                                          <p:attrName>style.visibility</p:attrName>
                                        </p:attrNameLst>
                                      </p:cBhvr>
                                      <p:to>
                                        <p:strVal val="visible"/>
                                      </p:to>
                                    </p:set>
                                    <p:animEffect transition="in" filter="wipe(up)">
                                      <p:cBhvr>
                                        <p:cTn id="19" dur="500"/>
                                        <p:tgtEl>
                                          <p:spTgt spid="223235">
                                            <p:txEl>
                                              <p:pRg st="3" end="3"/>
                                            </p:txEl>
                                          </p:spTgt>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223235">
                                            <p:txEl>
                                              <p:pRg st="4" end="4"/>
                                            </p:txEl>
                                          </p:spTgt>
                                        </p:tgtEl>
                                        <p:attrNameLst>
                                          <p:attrName>style.visibility</p:attrName>
                                        </p:attrNameLst>
                                      </p:cBhvr>
                                      <p:to>
                                        <p:strVal val="visible"/>
                                      </p:to>
                                    </p:set>
                                    <p:animEffect transition="in" filter="wipe(up)">
                                      <p:cBhvr>
                                        <p:cTn id="23" dur="500"/>
                                        <p:tgtEl>
                                          <p:spTgt spid="223235">
                                            <p:txEl>
                                              <p:pRg st="4" end="4"/>
                                            </p:txEl>
                                          </p:spTgt>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223235">
                                            <p:txEl>
                                              <p:pRg st="5" end="5"/>
                                            </p:txEl>
                                          </p:spTgt>
                                        </p:tgtEl>
                                        <p:attrNameLst>
                                          <p:attrName>style.visibility</p:attrName>
                                        </p:attrNameLst>
                                      </p:cBhvr>
                                      <p:to>
                                        <p:strVal val="visible"/>
                                      </p:to>
                                    </p:set>
                                    <p:animEffect transition="in" filter="wipe(up)">
                                      <p:cBhvr>
                                        <p:cTn id="27" dur="500"/>
                                        <p:tgtEl>
                                          <p:spTgt spid="223235">
                                            <p:txEl>
                                              <p:pRg st="5" end="5"/>
                                            </p:txEl>
                                          </p:spTgt>
                                        </p:tgtEl>
                                      </p:cBhvr>
                                    </p:animEffect>
                                  </p:childTnLst>
                                </p:cTn>
                              </p:par>
                            </p:childTnLst>
                          </p:cTn>
                        </p:par>
                        <p:par>
                          <p:cTn id="28" fill="hold">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223235">
                                            <p:txEl>
                                              <p:pRg st="6" end="6"/>
                                            </p:txEl>
                                          </p:spTgt>
                                        </p:tgtEl>
                                        <p:attrNameLst>
                                          <p:attrName>style.visibility</p:attrName>
                                        </p:attrNameLst>
                                      </p:cBhvr>
                                      <p:to>
                                        <p:strVal val="visible"/>
                                      </p:to>
                                    </p:set>
                                    <p:animEffect transition="in" filter="wipe(up)">
                                      <p:cBhvr>
                                        <p:cTn id="31" dur="500"/>
                                        <p:tgtEl>
                                          <p:spTgt spid="223235">
                                            <p:txEl>
                                              <p:pRg st="6" end="6"/>
                                            </p:txEl>
                                          </p:spTgt>
                                        </p:tgtEl>
                                      </p:cBhvr>
                                    </p:animEffect>
                                  </p:childTnLst>
                                </p:cTn>
                              </p:par>
                            </p:childTnLst>
                          </p:cTn>
                        </p:par>
                        <p:par>
                          <p:cTn id="32" fill="hold">
                            <p:stCondLst>
                              <p:cond delay="3500"/>
                            </p:stCondLst>
                            <p:childTnLst>
                              <p:par>
                                <p:cTn id="33" presetID="22" presetClass="entr" presetSubtype="1" fill="hold" grpId="0" nodeType="afterEffect">
                                  <p:stCondLst>
                                    <p:cond delay="0"/>
                                  </p:stCondLst>
                                  <p:childTnLst>
                                    <p:set>
                                      <p:cBhvr>
                                        <p:cTn id="34" dur="1" fill="hold">
                                          <p:stCondLst>
                                            <p:cond delay="0"/>
                                          </p:stCondLst>
                                        </p:cTn>
                                        <p:tgtEl>
                                          <p:spTgt spid="223235">
                                            <p:txEl>
                                              <p:pRg st="7" end="7"/>
                                            </p:txEl>
                                          </p:spTgt>
                                        </p:tgtEl>
                                        <p:attrNameLst>
                                          <p:attrName>style.visibility</p:attrName>
                                        </p:attrNameLst>
                                      </p:cBhvr>
                                      <p:to>
                                        <p:strVal val="visible"/>
                                      </p:to>
                                    </p:set>
                                    <p:animEffect transition="in" filter="wipe(up)">
                                      <p:cBhvr>
                                        <p:cTn id="35" dur="500"/>
                                        <p:tgtEl>
                                          <p:spTgt spid="22323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5" grpId="0" build="p"/>
    </p:bldLst>
  </p:timing>
</p:sld>
</file>

<file path=ppt/slides/slide1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395536" y="764704"/>
            <a:ext cx="7210425" cy="648072"/>
          </a:xfrm>
          <a:noFill/>
          <a:ln w="9525">
            <a:noFill/>
            <a:miter lim="800000"/>
          </a:ln>
        </p:spPr>
        <p:txBody>
          <a:bodyPr vert="horz" wrap="square" lIns="91440" tIns="45720" rIns="91440" bIns="45720" numCol="1" anchor="ctr" anchorCtr="0" compatLnSpc="1"/>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8.16  </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基于主机的</a:t>
            </a:r>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IDS</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系统实现</a:t>
            </a:r>
          </a:p>
        </p:txBody>
      </p:sp>
      <p:sp>
        <p:nvSpPr>
          <p:cNvPr id="224259" name="Rectangle 3"/>
          <p:cNvSpPr>
            <a:spLocks noGrp="1" noChangeArrowheads="1"/>
          </p:cNvSpPr>
          <p:nvPr>
            <p:ph type="body" idx="1"/>
          </p:nvPr>
        </p:nvSpPr>
        <p:spPr>
          <a:xfrm>
            <a:off x="1115616" y="1556792"/>
            <a:ext cx="6838950" cy="4464496"/>
          </a:xfrm>
        </p:spPr>
        <p:txBody>
          <a:bodyPr/>
          <a:lstStyle/>
          <a:p>
            <a:pPr eaLnBrk="1" hangingPunct="1"/>
            <a:r>
              <a:rPr lang="zh-CN" altLang="en-US" b="1" dirty="0">
                <a:solidFill>
                  <a:srgbClr val="0000CC"/>
                </a:solidFill>
              </a:rPr>
              <a:t>信息收集</a:t>
            </a:r>
          </a:p>
          <a:p>
            <a:pPr lvl="1" eaLnBrk="1" hangingPunct="1"/>
            <a:r>
              <a:rPr lang="zh-CN" altLang="en-US" b="1" dirty="0"/>
              <a:t>系统日志</a:t>
            </a:r>
          </a:p>
          <a:p>
            <a:pPr lvl="1" eaLnBrk="1" hangingPunct="1"/>
            <a:r>
              <a:rPr lang="zh-CN" altLang="en-US" b="1" dirty="0"/>
              <a:t>系统状态信息</a:t>
            </a:r>
          </a:p>
          <a:p>
            <a:pPr lvl="1" eaLnBrk="1" hangingPunct="1"/>
            <a:r>
              <a:rPr lang="zh-CN" altLang="en-US" b="1" dirty="0"/>
              <a:t>特点：</a:t>
            </a:r>
            <a:r>
              <a:rPr lang="en-US" altLang="zh-CN" b="1" dirty="0"/>
              <a:t>OS</a:t>
            </a:r>
            <a:r>
              <a:rPr lang="zh-CN" altLang="en-US" b="1" dirty="0"/>
              <a:t>相关</a:t>
            </a:r>
          </a:p>
          <a:p>
            <a:pPr eaLnBrk="1" hangingPunct="1"/>
            <a:r>
              <a:rPr lang="zh-CN" altLang="en-US" b="1" dirty="0">
                <a:solidFill>
                  <a:srgbClr val="0000CC"/>
                </a:solidFill>
              </a:rPr>
              <a:t>常用的分析技术</a:t>
            </a:r>
          </a:p>
          <a:p>
            <a:pPr lvl="1" eaLnBrk="1" hangingPunct="1"/>
            <a:r>
              <a:rPr lang="zh-CN" altLang="en-US" b="1" dirty="0"/>
              <a:t>统计分析</a:t>
            </a:r>
          </a:p>
          <a:p>
            <a:pPr lvl="1" eaLnBrk="1" hangingPunct="1"/>
            <a:r>
              <a:rPr lang="zh-CN" altLang="en-US" b="1" dirty="0"/>
              <a:t>状态转移分析</a:t>
            </a:r>
          </a:p>
          <a:p>
            <a:pPr lvl="1" eaLnBrk="1" hangingPunct="1"/>
            <a:r>
              <a:rPr lang="zh-CN" altLang="en-US" b="1" dirty="0"/>
              <a:t>关联分析</a:t>
            </a:r>
          </a:p>
          <a:p>
            <a:pPr lvl="1" eaLnBrk="1" hangingPunct="1"/>
            <a:r>
              <a:rPr lang="en-US" altLang="zh-CN" b="1" dirty="0"/>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24259">
                                            <p:txEl>
                                              <p:pRg st="0" end="0"/>
                                            </p:txEl>
                                          </p:spTgt>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224259">
                                            <p:txEl>
                                              <p:pRg st="1" end="1"/>
                                            </p:txEl>
                                          </p:spTgt>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224259">
                                            <p:txEl>
                                              <p:pRg st="2" end="2"/>
                                            </p:txEl>
                                          </p:spTgt>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224259">
                                            <p:txEl>
                                              <p:pRg st="3" end="3"/>
                                            </p:txEl>
                                          </p:spTgt>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499"/>
                                          </p:stCondLst>
                                        </p:cTn>
                                        <p:tgtEl>
                                          <p:spTgt spid="224259">
                                            <p:txEl>
                                              <p:pRg st="4" end="4"/>
                                            </p:txEl>
                                          </p:spTgt>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grpId="0" nodeType="afterEffect">
                                  <p:stCondLst>
                                    <p:cond delay="0"/>
                                  </p:stCondLst>
                                  <p:childTnLst>
                                    <p:set>
                                      <p:cBhvr>
                                        <p:cTn id="21" dur="1" fill="hold">
                                          <p:stCondLst>
                                            <p:cond delay="499"/>
                                          </p:stCondLst>
                                        </p:cTn>
                                        <p:tgtEl>
                                          <p:spTgt spid="224259">
                                            <p:txEl>
                                              <p:pRg st="5" end="5"/>
                                            </p:txEl>
                                          </p:spTgt>
                                        </p:tgtEl>
                                        <p:attrNameLst>
                                          <p:attrName>style.visibility</p:attrName>
                                        </p:attrNameLst>
                                      </p:cBhvr>
                                      <p:to>
                                        <p:strVal val="visible"/>
                                      </p:to>
                                    </p:set>
                                  </p:childTnLst>
                                </p:cTn>
                              </p:par>
                            </p:childTnLst>
                          </p:cTn>
                        </p:par>
                        <p:par>
                          <p:cTn id="22" fill="hold">
                            <p:stCondLst>
                              <p:cond delay="3000"/>
                            </p:stCondLst>
                            <p:childTnLst>
                              <p:par>
                                <p:cTn id="23" presetID="1" presetClass="entr" presetSubtype="0" fill="hold" grpId="0" nodeType="afterEffect">
                                  <p:stCondLst>
                                    <p:cond delay="0"/>
                                  </p:stCondLst>
                                  <p:childTnLst>
                                    <p:set>
                                      <p:cBhvr>
                                        <p:cTn id="24" dur="1" fill="hold">
                                          <p:stCondLst>
                                            <p:cond delay="499"/>
                                          </p:stCondLst>
                                        </p:cTn>
                                        <p:tgtEl>
                                          <p:spTgt spid="224259">
                                            <p:txEl>
                                              <p:pRg st="6" end="6"/>
                                            </p:txEl>
                                          </p:spTgt>
                                        </p:tgtEl>
                                        <p:attrNameLst>
                                          <p:attrName>style.visibility</p:attrName>
                                        </p:attrNameLst>
                                      </p:cBhvr>
                                      <p:to>
                                        <p:strVal val="visible"/>
                                      </p:to>
                                    </p:set>
                                  </p:childTnLst>
                                </p:cTn>
                              </p:par>
                            </p:childTnLst>
                          </p:cTn>
                        </p:par>
                        <p:par>
                          <p:cTn id="25" fill="hold">
                            <p:stCondLst>
                              <p:cond delay="3500"/>
                            </p:stCondLst>
                            <p:childTnLst>
                              <p:par>
                                <p:cTn id="26" presetID="1" presetClass="entr" presetSubtype="0" fill="hold" grpId="0" nodeType="afterEffect">
                                  <p:stCondLst>
                                    <p:cond delay="0"/>
                                  </p:stCondLst>
                                  <p:childTnLst>
                                    <p:set>
                                      <p:cBhvr>
                                        <p:cTn id="27" dur="1" fill="hold">
                                          <p:stCondLst>
                                            <p:cond delay="499"/>
                                          </p:stCondLst>
                                        </p:cTn>
                                        <p:tgtEl>
                                          <p:spTgt spid="224259">
                                            <p:txEl>
                                              <p:pRg st="7" end="7"/>
                                            </p:txEl>
                                          </p:spTgt>
                                        </p:tgtEl>
                                        <p:attrNameLst>
                                          <p:attrName>style.visibility</p:attrName>
                                        </p:attrNameLst>
                                      </p:cBhvr>
                                      <p:to>
                                        <p:strVal val="visible"/>
                                      </p:to>
                                    </p:set>
                                  </p:childTnLst>
                                </p:cTn>
                              </p:par>
                            </p:childTnLst>
                          </p:cTn>
                        </p:par>
                        <p:par>
                          <p:cTn id="28" fill="hold">
                            <p:stCondLst>
                              <p:cond delay="4000"/>
                            </p:stCondLst>
                            <p:childTnLst>
                              <p:par>
                                <p:cTn id="29" presetID="1" presetClass="entr" presetSubtype="0" fill="hold" grpId="0" nodeType="afterEffect">
                                  <p:stCondLst>
                                    <p:cond delay="0"/>
                                  </p:stCondLst>
                                  <p:childTnLst>
                                    <p:set>
                                      <p:cBhvr>
                                        <p:cTn id="30" dur="1" fill="hold">
                                          <p:stCondLst>
                                            <p:cond delay="499"/>
                                          </p:stCondLst>
                                        </p:cTn>
                                        <p:tgtEl>
                                          <p:spTgt spid="22425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59" grpId="0" build="p" autoUpdateAnimBg="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323528" y="702285"/>
            <a:ext cx="6635750" cy="603250"/>
          </a:xfrm>
          <a:noFill/>
          <a:ln w="9525">
            <a:noFill/>
            <a:miter lim="800000"/>
          </a:ln>
        </p:spPr>
        <p:txBody>
          <a:bodyPr vert="horz" wrap="square" lIns="91440" tIns="45720" rIns="91440" bIns="45720" numCol="1" anchor="ctr" anchorCtr="0" compatLnSpc="1"/>
          <a:lstStyle/>
          <a:p>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基于主机的</a:t>
            </a:r>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IDS </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实例</a:t>
            </a:r>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:STAT</a:t>
            </a:r>
          </a:p>
        </p:txBody>
      </p:sp>
      <p:sp>
        <p:nvSpPr>
          <p:cNvPr id="75779" name="Rectangle 3"/>
          <p:cNvSpPr>
            <a:spLocks noGrp="1" noChangeArrowheads="1"/>
          </p:cNvSpPr>
          <p:nvPr>
            <p:ph type="body" idx="1"/>
          </p:nvPr>
        </p:nvSpPr>
        <p:spPr>
          <a:xfrm>
            <a:off x="578532" y="1331424"/>
            <a:ext cx="7772400" cy="3237135"/>
          </a:xfrm>
        </p:spPr>
        <p:txBody>
          <a:bodyPr/>
          <a:lstStyle/>
          <a:p>
            <a:pPr eaLnBrk="1" hangingPunct="1"/>
            <a:r>
              <a:rPr lang="en-US" altLang="zh-CN" sz="24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STAT: A state transition analysis tool for intrusion detection</a:t>
            </a:r>
          </a:p>
          <a:p>
            <a:pPr lvl="1" eaLnBrk="1" hangingPunct="1"/>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由美国加州大学</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Santa </a:t>
            </a:r>
            <a:r>
              <a:rPr lang="en-US" altLang="zh-CN" sz="20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Barbaba</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分校开发</a:t>
            </a:r>
          </a:p>
          <a:p>
            <a:pPr lvl="1" eaLnBrk="1" hangingPunct="1"/>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从初始状态到入侵状态的转移过程</a:t>
            </a:r>
          </a:p>
          <a:p>
            <a:pPr lvl="1" eaLnBrk="1" hangingPunct="1"/>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用有限状态机来表示入侵过程</a:t>
            </a:r>
          </a:p>
          <a:p>
            <a:pPr lvl="2" eaLnBrk="1" hangingPunct="1"/>
            <a:r>
              <a:rPr lang="zh-CN" altLang="en-US" sz="1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初始状态指入侵发生之前的状态</a:t>
            </a:r>
          </a:p>
          <a:p>
            <a:pPr lvl="2" eaLnBrk="1" hangingPunct="1"/>
            <a:r>
              <a:rPr lang="zh-CN" altLang="en-US" sz="1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入侵状态指入侵发生之后系统所处的状态</a:t>
            </a:r>
          </a:p>
          <a:p>
            <a:pPr lvl="2" eaLnBrk="1" hangingPunct="1"/>
            <a:r>
              <a:rPr lang="zh-CN" altLang="en-US" sz="1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系统状态通常用系统属性或者用户权限来描述</a:t>
            </a:r>
          </a:p>
          <a:p>
            <a:pPr lvl="2" eaLnBrk="1" hangingPunct="1"/>
            <a:r>
              <a:rPr lang="zh-CN" altLang="en-US" sz="1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用户的行为和动作导致系统状态的转变</a:t>
            </a:r>
          </a:p>
        </p:txBody>
      </p:sp>
      <p:grpSp>
        <p:nvGrpSpPr>
          <p:cNvPr id="2" name="组合 1"/>
          <p:cNvGrpSpPr/>
          <p:nvPr/>
        </p:nvGrpSpPr>
        <p:grpSpPr>
          <a:xfrm>
            <a:off x="1514871" y="4666456"/>
            <a:ext cx="5793433" cy="1524000"/>
            <a:chOff x="1514871" y="4666456"/>
            <a:chExt cx="5793433" cy="1524000"/>
          </a:xfrm>
        </p:grpSpPr>
        <p:sp>
          <p:nvSpPr>
            <p:cNvPr id="75780" name="Oval 4"/>
            <p:cNvSpPr>
              <a:spLocks noChangeArrowheads="1"/>
            </p:cNvSpPr>
            <p:nvPr/>
          </p:nvSpPr>
          <p:spPr bwMode="auto">
            <a:xfrm>
              <a:off x="1819672" y="4895056"/>
              <a:ext cx="762000" cy="609600"/>
            </a:xfrm>
            <a:prstGeom prst="ellipse">
              <a:avLst/>
            </a:prstGeom>
            <a:solidFill>
              <a:schemeClr val="accent1"/>
            </a:solidFill>
            <a:ln w="9525">
              <a:solidFill>
                <a:schemeClr val="tx1"/>
              </a:solidFill>
              <a:miter lim="800000"/>
            </a:ln>
          </p:spPr>
          <p:txBody>
            <a:bodyPr wrap="none" anchor="ctr"/>
            <a:lstStyle/>
            <a:p>
              <a:r>
                <a:rPr kumimoji="1" lang="en-US" altLang="zh-CN"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S1</a:t>
              </a:r>
            </a:p>
          </p:txBody>
        </p:sp>
        <p:sp>
          <p:nvSpPr>
            <p:cNvPr id="75781" name="Oval 5"/>
            <p:cNvSpPr>
              <a:spLocks noChangeArrowheads="1"/>
            </p:cNvSpPr>
            <p:nvPr/>
          </p:nvSpPr>
          <p:spPr bwMode="auto">
            <a:xfrm>
              <a:off x="3800872" y="4895056"/>
              <a:ext cx="685800" cy="609600"/>
            </a:xfrm>
            <a:prstGeom prst="ellipse">
              <a:avLst/>
            </a:prstGeom>
            <a:solidFill>
              <a:schemeClr val="accent1"/>
            </a:solidFill>
            <a:ln w="9525">
              <a:solidFill>
                <a:schemeClr val="tx1"/>
              </a:solidFill>
              <a:miter lim="800000"/>
            </a:ln>
          </p:spPr>
          <p:txBody>
            <a:bodyPr wrap="none" anchor="ctr"/>
            <a:lstStyle/>
            <a:p>
              <a:r>
                <a:rPr kumimoji="1" lang="en-US" altLang="zh-CN"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S2</a:t>
              </a:r>
            </a:p>
          </p:txBody>
        </p:sp>
        <p:sp>
          <p:nvSpPr>
            <p:cNvPr id="75782" name="Oval 6"/>
            <p:cNvSpPr>
              <a:spLocks noChangeArrowheads="1"/>
            </p:cNvSpPr>
            <p:nvPr/>
          </p:nvSpPr>
          <p:spPr bwMode="auto">
            <a:xfrm>
              <a:off x="6086872" y="4895056"/>
              <a:ext cx="685800" cy="533400"/>
            </a:xfrm>
            <a:prstGeom prst="ellipse">
              <a:avLst/>
            </a:prstGeom>
            <a:solidFill>
              <a:schemeClr val="accent1"/>
            </a:solidFill>
            <a:ln w="9525">
              <a:solidFill>
                <a:schemeClr val="tx1"/>
              </a:solidFill>
              <a:miter lim="800000"/>
            </a:ln>
          </p:spPr>
          <p:txBody>
            <a:bodyPr wrap="none" anchor="ctr"/>
            <a:lstStyle/>
            <a:p>
              <a:r>
                <a:rPr kumimoji="1" lang="en-US" altLang="zh-CN"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S3</a:t>
              </a:r>
            </a:p>
          </p:txBody>
        </p:sp>
        <p:sp>
          <p:nvSpPr>
            <p:cNvPr id="75783" name="Freeform 7"/>
            <p:cNvSpPr/>
            <p:nvPr/>
          </p:nvSpPr>
          <p:spPr bwMode="auto">
            <a:xfrm>
              <a:off x="2276872" y="4666456"/>
              <a:ext cx="1828800" cy="228600"/>
            </a:xfrm>
            <a:custGeom>
              <a:avLst/>
              <a:gdLst>
                <a:gd name="T0" fmla="*/ 0 w 1152"/>
                <a:gd name="T1" fmla="*/ 144 h 144"/>
                <a:gd name="T2" fmla="*/ 624 w 1152"/>
                <a:gd name="T3" fmla="*/ 0 h 144"/>
                <a:gd name="T4" fmla="*/ 1152 w 1152"/>
                <a:gd name="T5" fmla="*/ 144 h 144"/>
                <a:gd name="T6" fmla="*/ 0 60000 65536"/>
                <a:gd name="T7" fmla="*/ 0 60000 65536"/>
                <a:gd name="T8" fmla="*/ 0 60000 65536"/>
                <a:gd name="T9" fmla="*/ 0 w 1152"/>
                <a:gd name="T10" fmla="*/ 0 h 144"/>
                <a:gd name="T11" fmla="*/ 1152 w 1152"/>
                <a:gd name="T12" fmla="*/ 144 h 144"/>
              </a:gdLst>
              <a:ahLst/>
              <a:cxnLst>
                <a:cxn ang="T6">
                  <a:pos x="T0" y="T1"/>
                </a:cxn>
                <a:cxn ang="T7">
                  <a:pos x="T2" y="T3"/>
                </a:cxn>
                <a:cxn ang="T8">
                  <a:pos x="T4" y="T5"/>
                </a:cxn>
              </a:cxnLst>
              <a:rect l="T9" t="T10" r="T11" b="T12"/>
              <a:pathLst>
                <a:path w="1152" h="144">
                  <a:moveTo>
                    <a:pt x="0" y="144"/>
                  </a:moveTo>
                  <a:cubicBezTo>
                    <a:pt x="216" y="72"/>
                    <a:pt x="432" y="0"/>
                    <a:pt x="624" y="0"/>
                  </a:cubicBezTo>
                  <a:cubicBezTo>
                    <a:pt x="816" y="0"/>
                    <a:pt x="984" y="72"/>
                    <a:pt x="1152" y="144"/>
                  </a:cubicBezTo>
                </a:path>
              </a:pathLst>
            </a:custGeom>
            <a:noFill/>
            <a:ln w="19050">
              <a:solidFill>
                <a:schemeClr val="tx1"/>
              </a:solidFill>
              <a:miter lim="800000"/>
              <a:tailEnd type="triangle" w="med" len="med"/>
            </a:ln>
          </p:spPr>
          <p:txBody>
            <a:bodyPr wrap="none"/>
            <a:lstStyle/>
            <a:p>
              <a:endPar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5784" name="Freeform 8"/>
            <p:cNvSpPr/>
            <p:nvPr/>
          </p:nvSpPr>
          <p:spPr bwMode="auto">
            <a:xfrm>
              <a:off x="4410472" y="4742656"/>
              <a:ext cx="1828800" cy="228600"/>
            </a:xfrm>
            <a:custGeom>
              <a:avLst/>
              <a:gdLst>
                <a:gd name="T0" fmla="*/ 0 w 1152"/>
                <a:gd name="T1" fmla="*/ 144 h 144"/>
                <a:gd name="T2" fmla="*/ 624 w 1152"/>
                <a:gd name="T3" fmla="*/ 0 h 144"/>
                <a:gd name="T4" fmla="*/ 1152 w 1152"/>
                <a:gd name="T5" fmla="*/ 144 h 144"/>
                <a:gd name="T6" fmla="*/ 0 60000 65536"/>
                <a:gd name="T7" fmla="*/ 0 60000 65536"/>
                <a:gd name="T8" fmla="*/ 0 60000 65536"/>
                <a:gd name="T9" fmla="*/ 0 w 1152"/>
                <a:gd name="T10" fmla="*/ 0 h 144"/>
                <a:gd name="T11" fmla="*/ 1152 w 1152"/>
                <a:gd name="T12" fmla="*/ 144 h 144"/>
              </a:gdLst>
              <a:ahLst/>
              <a:cxnLst>
                <a:cxn ang="T6">
                  <a:pos x="T0" y="T1"/>
                </a:cxn>
                <a:cxn ang="T7">
                  <a:pos x="T2" y="T3"/>
                </a:cxn>
                <a:cxn ang="T8">
                  <a:pos x="T4" y="T5"/>
                </a:cxn>
              </a:cxnLst>
              <a:rect l="T9" t="T10" r="T11" b="T12"/>
              <a:pathLst>
                <a:path w="1152" h="144">
                  <a:moveTo>
                    <a:pt x="0" y="144"/>
                  </a:moveTo>
                  <a:cubicBezTo>
                    <a:pt x="216" y="72"/>
                    <a:pt x="432" y="0"/>
                    <a:pt x="624" y="0"/>
                  </a:cubicBezTo>
                  <a:cubicBezTo>
                    <a:pt x="816" y="0"/>
                    <a:pt x="984" y="72"/>
                    <a:pt x="1152" y="144"/>
                  </a:cubicBezTo>
                </a:path>
              </a:pathLst>
            </a:custGeom>
            <a:noFill/>
            <a:ln w="19050">
              <a:solidFill>
                <a:schemeClr val="tx1"/>
              </a:solidFill>
              <a:miter lim="800000"/>
              <a:tailEnd type="triangle" w="med" len="med"/>
            </a:ln>
          </p:spPr>
          <p:txBody>
            <a:bodyPr wrap="none"/>
            <a:lstStyle/>
            <a:p>
              <a:endPar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5785" name="Rectangle 9"/>
            <p:cNvSpPr>
              <a:spLocks noChangeArrowheads="1"/>
            </p:cNvSpPr>
            <p:nvPr/>
          </p:nvSpPr>
          <p:spPr bwMode="auto">
            <a:xfrm>
              <a:off x="3419872" y="5733256"/>
              <a:ext cx="1524000" cy="457200"/>
            </a:xfrm>
            <a:prstGeom prst="rect">
              <a:avLst/>
            </a:prstGeom>
            <a:noFill/>
            <a:ln w="9525">
              <a:solidFill>
                <a:schemeClr val="tx1"/>
              </a:solidFill>
              <a:miter lim="800000"/>
            </a:ln>
          </p:spPr>
          <p:txBody>
            <a:bodyPr wrap="none" anchor="ctr"/>
            <a:lstStyle/>
            <a:p>
              <a:r>
                <a:rPr kumimoji="1" lang="en-US" altLang="zh-CN"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Assertions</a:t>
              </a:r>
            </a:p>
          </p:txBody>
        </p:sp>
        <p:sp>
          <p:nvSpPr>
            <p:cNvPr id="75786" name="Line 10"/>
            <p:cNvSpPr>
              <a:spLocks noChangeShapeType="1"/>
            </p:cNvSpPr>
            <p:nvPr/>
          </p:nvSpPr>
          <p:spPr bwMode="auto">
            <a:xfrm flipV="1">
              <a:off x="4105672" y="5504656"/>
              <a:ext cx="0" cy="228600"/>
            </a:xfrm>
            <a:prstGeom prst="line">
              <a:avLst/>
            </a:prstGeom>
            <a:noFill/>
            <a:ln w="9525">
              <a:solidFill>
                <a:schemeClr val="tx1"/>
              </a:solidFill>
              <a:miter lim="800000"/>
              <a:tailEnd type="triangle" w="med" len="med"/>
            </a:ln>
          </p:spPr>
          <p:txBody>
            <a:bodyPr wrap="none"/>
            <a:lstStyle/>
            <a:p>
              <a:endPar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5787" name="Rectangle 11"/>
            <p:cNvSpPr>
              <a:spLocks noChangeArrowheads="1"/>
            </p:cNvSpPr>
            <p:nvPr/>
          </p:nvSpPr>
          <p:spPr bwMode="auto">
            <a:xfrm>
              <a:off x="5782072" y="5733256"/>
              <a:ext cx="1526232" cy="457200"/>
            </a:xfrm>
            <a:prstGeom prst="rect">
              <a:avLst/>
            </a:prstGeom>
            <a:noFill/>
            <a:ln w="9525">
              <a:solidFill>
                <a:schemeClr val="tx1"/>
              </a:solidFill>
              <a:miter lim="800000"/>
            </a:ln>
          </p:spPr>
          <p:txBody>
            <a:bodyPr wrap="none" anchor="ctr"/>
            <a:lstStyle/>
            <a:p>
              <a:r>
                <a:rPr kumimoji="1"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Assertions</a:t>
              </a:r>
            </a:p>
          </p:txBody>
        </p:sp>
        <p:sp>
          <p:nvSpPr>
            <p:cNvPr id="75788" name="Line 12"/>
            <p:cNvSpPr>
              <a:spLocks noChangeShapeType="1"/>
            </p:cNvSpPr>
            <p:nvPr/>
          </p:nvSpPr>
          <p:spPr bwMode="auto">
            <a:xfrm flipV="1">
              <a:off x="6467872" y="5428456"/>
              <a:ext cx="0" cy="304800"/>
            </a:xfrm>
            <a:prstGeom prst="line">
              <a:avLst/>
            </a:prstGeom>
            <a:noFill/>
            <a:ln w="9525">
              <a:solidFill>
                <a:schemeClr val="tx1"/>
              </a:solidFill>
              <a:miter lim="800000"/>
              <a:tailEnd type="triangle" w="med" len="med"/>
            </a:ln>
          </p:spPr>
          <p:txBody>
            <a:bodyPr wrap="none"/>
            <a:lstStyle/>
            <a:p>
              <a:endPar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5789" name="Rectangle 13"/>
            <p:cNvSpPr>
              <a:spLocks noChangeArrowheads="1"/>
            </p:cNvSpPr>
            <p:nvPr/>
          </p:nvSpPr>
          <p:spPr bwMode="auto">
            <a:xfrm>
              <a:off x="1514871" y="5733256"/>
              <a:ext cx="1524001" cy="457200"/>
            </a:xfrm>
            <a:prstGeom prst="rect">
              <a:avLst/>
            </a:prstGeom>
            <a:noFill/>
            <a:ln w="9525">
              <a:solidFill>
                <a:schemeClr val="tx1"/>
              </a:solidFill>
              <a:miter lim="800000"/>
            </a:ln>
          </p:spPr>
          <p:txBody>
            <a:bodyPr wrap="none" anchor="ctr"/>
            <a:lstStyle/>
            <a:p>
              <a:r>
                <a:rPr kumimoji="1"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Assertions</a:t>
              </a:r>
            </a:p>
          </p:txBody>
        </p:sp>
        <p:sp>
          <p:nvSpPr>
            <p:cNvPr id="75790" name="Line 14"/>
            <p:cNvSpPr>
              <a:spLocks noChangeShapeType="1"/>
            </p:cNvSpPr>
            <p:nvPr/>
          </p:nvSpPr>
          <p:spPr bwMode="auto">
            <a:xfrm flipV="1">
              <a:off x="2200672" y="5504656"/>
              <a:ext cx="0" cy="228600"/>
            </a:xfrm>
            <a:prstGeom prst="line">
              <a:avLst/>
            </a:prstGeom>
            <a:noFill/>
            <a:ln w="9525">
              <a:solidFill>
                <a:schemeClr val="tx1"/>
              </a:solidFill>
              <a:miter lim="800000"/>
              <a:tailEnd type="triangle" w="med" len="med"/>
            </a:ln>
          </p:spPr>
          <p:txBody>
            <a:bodyPr wrap="none"/>
            <a:lstStyle/>
            <a:p>
              <a:endPar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5779">
                                            <p:txEl>
                                              <p:pRg st="0" end="0"/>
                                            </p:txEl>
                                          </p:spTgt>
                                        </p:tgtEl>
                                        <p:attrNameLst>
                                          <p:attrName>style.visibility</p:attrName>
                                        </p:attrNameLst>
                                      </p:cBhvr>
                                      <p:to>
                                        <p:strVal val="visible"/>
                                      </p:to>
                                    </p:set>
                                    <p:animEffect transition="in" filter="wipe(up)">
                                      <p:cBhvr>
                                        <p:cTn id="7" dur="500"/>
                                        <p:tgtEl>
                                          <p:spTgt spid="75779">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5779">
                                            <p:txEl>
                                              <p:pRg st="1" end="1"/>
                                            </p:txEl>
                                          </p:spTgt>
                                        </p:tgtEl>
                                        <p:attrNameLst>
                                          <p:attrName>style.visibility</p:attrName>
                                        </p:attrNameLst>
                                      </p:cBhvr>
                                      <p:to>
                                        <p:strVal val="visible"/>
                                      </p:to>
                                    </p:set>
                                    <p:animEffect transition="in" filter="wipe(up)">
                                      <p:cBhvr>
                                        <p:cTn id="11" dur="500"/>
                                        <p:tgtEl>
                                          <p:spTgt spid="75779">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75779">
                                            <p:txEl>
                                              <p:pRg st="2" end="2"/>
                                            </p:txEl>
                                          </p:spTgt>
                                        </p:tgtEl>
                                        <p:attrNameLst>
                                          <p:attrName>style.visibility</p:attrName>
                                        </p:attrNameLst>
                                      </p:cBhvr>
                                      <p:to>
                                        <p:strVal val="visible"/>
                                      </p:to>
                                    </p:set>
                                    <p:animEffect transition="in" filter="wipe(up)">
                                      <p:cBhvr>
                                        <p:cTn id="15" dur="500"/>
                                        <p:tgtEl>
                                          <p:spTgt spid="75779">
                                            <p:txEl>
                                              <p:pRg st="2" end="2"/>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75779">
                                            <p:txEl>
                                              <p:pRg st="3" end="3"/>
                                            </p:txEl>
                                          </p:spTgt>
                                        </p:tgtEl>
                                        <p:attrNameLst>
                                          <p:attrName>style.visibility</p:attrName>
                                        </p:attrNameLst>
                                      </p:cBhvr>
                                      <p:to>
                                        <p:strVal val="visible"/>
                                      </p:to>
                                    </p:set>
                                    <p:animEffect transition="in" filter="wipe(up)">
                                      <p:cBhvr>
                                        <p:cTn id="19" dur="500"/>
                                        <p:tgtEl>
                                          <p:spTgt spid="75779">
                                            <p:txEl>
                                              <p:pRg st="3" end="3"/>
                                            </p:txEl>
                                          </p:spTgt>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75779">
                                            <p:txEl>
                                              <p:pRg st="4" end="4"/>
                                            </p:txEl>
                                          </p:spTgt>
                                        </p:tgtEl>
                                        <p:attrNameLst>
                                          <p:attrName>style.visibility</p:attrName>
                                        </p:attrNameLst>
                                      </p:cBhvr>
                                      <p:to>
                                        <p:strVal val="visible"/>
                                      </p:to>
                                    </p:set>
                                    <p:animEffect transition="in" filter="wipe(up)">
                                      <p:cBhvr>
                                        <p:cTn id="23" dur="500"/>
                                        <p:tgtEl>
                                          <p:spTgt spid="75779">
                                            <p:txEl>
                                              <p:pRg st="4" end="4"/>
                                            </p:txEl>
                                          </p:spTgt>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75779">
                                            <p:txEl>
                                              <p:pRg st="5" end="5"/>
                                            </p:txEl>
                                          </p:spTgt>
                                        </p:tgtEl>
                                        <p:attrNameLst>
                                          <p:attrName>style.visibility</p:attrName>
                                        </p:attrNameLst>
                                      </p:cBhvr>
                                      <p:to>
                                        <p:strVal val="visible"/>
                                      </p:to>
                                    </p:set>
                                    <p:animEffect transition="in" filter="wipe(up)">
                                      <p:cBhvr>
                                        <p:cTn id="27" dur="500"/>
                                        <p:tgtEl>
                                          <p:spTgt spid="75779">
                                            <p:txEl>
                                              <p:pRg st="5" end="5"/>
                                            </p:txEl>
                                          </p:spTgt>
                                        </p:tgtEl>
                                      </p:cBhvr>
                                    </p:animEffect>
                                  </p:childTnLst>
                                </p:cTn>
                              </p:par>
                            </p:childTnLst>
                          </p:cTn>
                        </p:par>
                        <p:par>
                          <p:cTn id="28" fill="hold">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75779">
                                            <p:txEl>
                                              <p:pRg st="6" end="6"/>
                                            </p:txEl>
                                          </p:spTgt>
                                        </p:tgtEl>
                                        <p:attrNameLst>
                                          <p:attrName>style.visibility</p:attrName>
                                        </p:attrNameLst>
                                      </p:cBhvr>
                                      <p:to>
                                        <p:strVal val="visible"/>
                                      </p:to>
                                    </p:set>
                                    <p:animEffect transition="in" filter="wipe(up)">
                                      <p:cBhvr>
                                        <p:cTn id="31" dur="500"/>
                                        <p:tgtEl>
                                          <p:spTgt spid="75779">
                                            <p:txEl>
                                              <p:pRg st="6" end="6"/>
                                            </p:txEl>
                                          </p:spTgt>
                                        </p:tgtEl>
                                      </p:cBhvr>
                                    </p:animEffect>
                                  </p:childTnLst>
                                </p:cTn>
                              </p:par>
                            </p:childTnLst>
                          </p:cTn>
                        </p:par>
                        <p:par>
                          <p:cTn id="32" fill="hold">
                            <p:stCondLst>
                              <p:cond delay="3500"/>
                            </p:stCondLst>
                            <p:childTnLst>
                              <p:par>
                                <p:cTn id="33" presetID="22" presetClass="entr" presetSubtype="1" fill="hold" grpId="0" nodeType="afterEffect">
                                  <p:stCondLst>
                                    <p:cond delay="0"/>
                                  </p:stCondLst>
                                  <p:childTnLst>
                                    <p:set>
                                      <p:cBhvr>
                                        <p:cTn id="34" dur="1" fill="hold">
                                          <p:stCondLst>
                                            <p:cond delay="0"/>
                                          </p:stCondLst>
                                        </p:cTn>
                                        <p:tgtEl>
                                          <p:spTgt spid="75779">
                                            <p:txEl>
                                              <p:pRg st="7" end="7"/>
                                            </p:txEl>
                                          </p:spTgt>
                                        </p:tgtEl>
                                        <p:attrNameLst>
                                          <p:attrName>style.visibility</p:attrName>
                                        </p:attrNameLst>
                                      </p:cBhvr>
                                      <p:to>
                                        <p:strVal val="visible"/>
                                      </p:to>
                                    </p:set>
                                    <p:animEffect transition="in" filter="wipe(up)">
                                      <p:cBhvr>
                                        <p:cTn id="35" dur="500"/>
                                        <p:tgtEl>
                                          <p:spTgt spid="75779">
                                            <p:txEl>
                                              <p:pRg st="7" end="7"/>
                                            </p:txEl>
                                          </p:spTgt>
                                        </p:tgtEl>
                                      </p:cBhvr>
                                    </p:animEffect>
                                  </p:childTnLst>
                                </p:cTn>
                              </p:par>
                            </p:childTnLst>
                          </p:cTn>
                        </p:par>
                        <p:par>
                          <p:cTn id="36" fill="hold">
                            <p:stCondLst>
                              <p:cond delay="4000"/>
                            </p:stCondLst>
                            <p:childTnLst>
                              <p:par>
                                <p:cTn id="37" presetID="53" presetClass="entr" presetSubtype="16" fill="hold" nodeType="afterEffect">
                                  <p:stCondLst>
                                    <p:cond delay="0"/>
                                  </p:stCondLst>
                                  <p:childTnLst>
                                    <p:set>
                                      <p:cBhvr>
                                        <p:cTn id="38" dur="1" fill="hold">
                                          <p:stCondLst>
                                            <p:cond delay="0"/>
                                          </p:stCondLst>
                                        </p:cTn>
                                        <p:tgtEl>
                                          <p:spTgt spid="2"/>
                                        </p:tgtEl>
                                        <p:attrNameLst>
                                          <p:attrName>style.visibility</p:attrName>
                                        </p:attrNameLst>
                                      </p:cBhvr>
                                      <p:to>
                                        <p:strVal val="visible"/>
                                      </p:to>
                                    </p:set>
                                    <p:anim calcmode="lin" valueType="num">
                                      <p:cBhvr>
                                        <p:cTn id="39" dur="500" fill="hold"/>
                                        <p:tgtEl>
                                          <p:spTgt spid="2"/>
                                        </p:tgtEl>
                                        <p:attrNameLst>
                                          <p:attrName>ppt_w</p:attrName>
                                        </p:attrNameLst>
                                      </p:cBhvr>
                                      <p:tavLst>
                                        <p:tav tm="0">
                                          <p:val>
                                            <p:fltVal val="0"/>
                                          </p:val>
                                        </p:tav>
                                        <p:tav tm="100000">
                                          <p:val>
                                            <p:strVal val="#ppt_w"/>
                                          </p:val>
                                        </p:tav>
                                      </p:tavLst>
                                    </p:anim>
                                    <p:anim calcmode="lin" valueType="num">
                                      <p:cBhvr>
                                        <p:cTn id="40" dur="500" fill="hold"/>
                                        <p:tgtEl>
                                          <p:spTgt spid="2"/>
                                        </p:tgtEl>
                                        <p:attrNameLst>
                                          <p:attrName>ppt_h</p:attrName>
                                        </p:attrNameLst>
                                      </p:cBhvr>
                                      <p:tavLst>
                                        <p:tav tm="0">
                                          <p:val>
                                            <p:fltVal val="0"/>
                                          </p:val>
                                        </p:tav>
                                        <p:tav tm="100000">
                                          <p:val>
                                            <p:strVal val="#ppt_h"/>
                                          </p:val>
                                        </p:tav>
                                      </p:tavLst>
                                    </p:anim>
                                    <p:animEffect transition="in" filter="fade">
                                      <p:cBhvr>
                                        <p:cTn id="4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build="p"/>
    </p:bldLst>
  </p:timing>
</p:sld>
</file>

<file path=ppt/slides/slide1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467544" y="656692"/>
            <a:ext cx="6994525" cy="603250"/>
          </a:xfrm>
          <a:noFill/>
          <a:ln w="9525">
            <a:noFill/>
            <a:miter lim="800000"/>
          </a:ln>
        </p:spPr>
        <p:txBody>
          <a:bodyPr vert="horz" wrap="square" lIns="91440" tIns="45720" rIns="91440" bIns="45720" numCol="1" anchor="ctr" anchorCtr="0" compatLnSpc="1"/>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STAT</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的优缺点</a:t>
            </a:r>
          </a:p>
        </p:txBody>
      </p:sp>
      <p:sp>
        <p:nvSpPr>
          <p:cNvPr id="226307" name="Rectangle 3"/>
          <p:cNvSpPr>
            <a:spLocks noGrp="1" noChangeArrowheads="1"/>
          </p:cNvSpPr>
          <p:nvPr>
            <p:ph type="body" idx="1"/>
          </p:nvPr>
        </p:nvSpPr>
        <p:spPr>
          <a:xfrm>
            <a:off x="605408" y="1374336"/>
            <a:ext cx="8077200" cy="2736304"/>
          </a:xfrm>
        </p:spPr>
        <p:txBody>
          <a:bodyPr/>
          <a:lstStyle/>
          <a:p>
            <a:pPr eaLnBrk="1" hangingPunct="1">
              <a:lnSpc>
                <a:spcPct val="80000"/>
              </a:lnSpc>
            </a:pP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优点：</a:t>
            </a:r>
          </a:p>
          <a:p>
            <a:pPr lvl="1" eaLnBrk="1" hangingPunct="1">
              <a:lnSpc>
                <a:spcPct val="80000"/>
              </a:lnSpc>
            </a:pP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状态转移图提供了一种针对入侵渗透模式的直观的、高层次的、与审计记录无关的表示方法</a:t>
            </a:r>
          </a:p>
          <a:p>
            <a:pPr lvl="1" eaLnBrk="1" hangingPunct="1">
              <a:lnSpc>
                <a:spcPct val="80000"/>
              </a:lnSpc>
            </a:pP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用状态转移法，可以描述出构成特定攻击模式的特征行为序列</a:t>
            </a:r>
          </a:p>
          <a:p>
            <a:pPr lvl="1" eaLnBrk="1" hangingPunct="1">
              <a:lnSpc>
                <a:spcPct val="80000"/>
              </a:lnSpc>
            </a:pP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状态转移图给出了保证攻击成功的特征行为的最小子集，从而使得检测系统可以适应相同入侵模式的不同表现形式</a:t>
            </a:r>
          </a:p>
          <a:p>
            <a:pPr lvl="1" eaLnBrk="1" hangingPunct="1">
              <a:lnSpc>
                <a:spcPct val="80000"/>
              </a:lnSpc>
            </a:pP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可使攻击行为在到达入侵状态之前就被检测到，从而采取措施阻止攻击行为</a:t>
            </a:r>
          </a:p>
          <a:p>
            <a:pPr lvl="1" eaLnBrk="1" hangingPunct="1">
              <a:lnSpc>
                <a:spcPct val="80000"/>
              </a:lnSpc>
            </a:pP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可以检测协同攻击和慢速攻击</a:t>
            </a:r>
          </a:p>
        </p:txBody>
      </p:sp>
      <p:sp>
        <p:nvSpPr>
          <p:cNvPr id="2" name="矩形 1"/>
          <p:cNvSpPr/>
          <p:nvPr/>
        </p:nvSpPr>
        <p:spPr>
          <a:xfrm>
            <a:off x="605408" y="4225034"/>
            <a:ext cx="7992888" cy="1618905"/>
          </a:xfrm>
          <a:prstGeom prst="rect">
            <a:avLst/>
          </a:prstGeom>
        </p:spPr>
        <p:txBody>
          <a:bodyPr wrap="square">
            <a:spAutoFit/>
          </a:bodyPr>
          <a:lstStyle/>
          <a:p>
            <a:pPr marL="342900" indent="-342900">
              <a:lnSpc>
                <a:spcPct val="80000"/>
              </a:lnSpc>
              <a:spcBef>
                <a:spcPct val="20000"/>
              </a:spcBef>
              <a:buClr>
                <a:srgbClr val="3399FF"/>
              </a:buClr>
              <a:buFont typeface="Wingdings" panose="05000000000000000000" pitchFamily="2" charset="2"/>
              <a:buChar char="v"/>
            </a:pP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缺点：</a:t>
            </a:r>
          </a:p>
          <a:p>
            <a:pPr marL="742950" lvl="1" indent="-285750">
              <a:lnSpc>
                <a:spcPct val="80000"/>
              </a:lnSpc>
              <a:spcBef>
                <a:spcPct val="20000"/>
              </a:spcBef>
              <a:buClr>
                <a:srgbClr val="FF9900"/>
              </a:buClr>
              <a:buFont typeface="Wingdings" panose="05000000000000000000" pitchFamily="2" charset="2"/>
              <a:buChar char="§"/>
            </a:pPr>
            <a:r>
              <a:rPr lang="zh-CN" altLang="en-US" sz="20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状态</a:t>
            </a:r>
            <a:r>
              <a:rPr lang="en-US" altLang="zh-CN" sz="20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(assertions)</a:t>
            </a:r>
            <a:r>
              <a:rPr lang="zh-CN" altLang="en-US" sz="20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和特征行为需要手工编码</a:t>
            </a:r>
          </a:p>
          <a:p>
            <a:pPr marL="742950" lvl="1" indent="-285750">
              <a:lnSpc>
                <a:spcPct val="80000"/>
              </a:lnSpc>
              <a:spcBef>
                <a:spcPct val="20000"/>
              </a:spcBef>
              <a:buClr>
                <a:srgbClr val="FF9900"/>
              </a:buClr>
              <a:buFont typeface="Wingdings" panose="05000000000000000000" pitchFamily="2" charset="2"/>
              <a:buChar char="§"/>
            </a:pPr>
            <a:r>
              <a:rPr lang="en-US" altLang="zh-CN" sz="20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Assertions</a:t>
            </a:r>
            <a:r>
              <a:rPr lang="zh-CN" altLang="en-US" sz="20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和特征用于表达复杂细致的入侵模式时可能无法表达</a:t>
            </a:r>
          </a:p>
          <a:p>
            <a:pPr marL="742950" lvl="1" indent="-285750">
              <a:lnSpc>
                <a:spcPct val="80000"/>
              </a:lnSpc>
              <a:spcBef>
                <a:spcPct val="20000"/>
              </a:spcBef>
              <a:buClr>
                <a:srgbClr val="FF9900"/>
              </a:buClr>
              <a:buFont typeface="Wingdings" panose="05000000000000000000" pitchFamily="2" charset="2"/>
              <a:buChar char="§"/>
            </a:pPr>
            <a:r>
              <a:rPr lang="en-US" altLang="zh-CN" sz="20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STAT</a:t>
            </a:r>
            <a:r>
              <a:rPr lang="zh-CN" altLang="en-US" sz="20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只是一个框架，需要具体的实现或者与其他系统协同工作</a:t>
            </a:r>
          </a:p>
          <a:p>
            <a:pPr marL="742950" lvl="1" indent="-285750">
              <a:lnSpc>
                <a:spcPct val="80000"/>
              </a:lnSpc>
              <a:spcBef>
                <a:spcPct val="20000"/>
              </a:spcBef>
              <a:buClr>
                <a:srgbClr val="FF9900"/>
              </a:buClr>
              <a:buFont typeface="Wingdings" panose="05000000000000000000" pitchFamily="2" charset="2"/>
              <a:buChar char="§"/>
            </a:pPr>
            <a:r>
              <a:rPr lang="en-US" altLang="zh-CN" sz="20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STAT</a:t>
            </a:r>
            <a:r>
              <a:rPr lang="zh-CN" altLang="en-US" sz="20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的速度相对比较慢</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26307">
                                            <p:txEl>
                                              <p:pRg st="0" end="0"/>
                                            </p:txEl>
                                          </p:spTgt>
                                        </p:tgtEl>
                                        <p:attrNameLst>
                                          <p:attrName>style.visibility</p:attrName>
                                        </p:attrNameLst>
                                      </p:cBhvr>
                                      <p:to>
                                        <p:strVal val="visible"/>
                                      </p:to>
                                    </p:set>
                                    <p:animEffect transition="in" filter="wipe(up)">
                                      <p:cBhvr>
                                        <p:cTn id="7" dur="500"/>
                                        <p:tgtEl>
                                          <p:spTgt spid="226307">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26307">
                                            <p:txEl>
                                              <p:pRg st="1" end="1"/>
                                            </p:txEl>
                                          </p:spTgt>
                                        </p:tgtEl>
                                        <p:attrNameLst>
                                          <p:attrName>style.visibility</p:attrName>
                                        </p:attrNameLst>
                                      </p:cBhvr>
                                      <p:to>
                                        <p:strVal val="visible"/>
                                      </p:to>
                                    </p:set>
                                    <p:animEffect transition="in" filter="wipe(up)">
                                      <p:cBhvr>
                                        <p:cTn id="11" dur="500"/>
                                        <p:tgtEl>
                                          <p:spTgt spid="226307">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226307">
                                            <p:txEl>
                                              <p:pRg st="2" end="2"/>
                                            </p:txEl>
                                          </p:spTgt>
                                        </p:tgtEl>
                                        <p:attrNameLst>
                                          <p:attrName>style.visibility</p:attrName>
                                        </p:attrNameLst>
                                      </p:cBhvr>
                                      <p:to>
                                        <p:strVal val="visible"/>
                                      </p:to>
                                    </p:set>
                                    <p:animEffect transition="in" filter="wipe(up)">
                                      <p:cBhvr>
                                        <p:cTn id="15" dur="500"/>
                                        <p:tgtEl>
                                          <p:spTgt spid="226307">
                                            <p:txEl>
                                              <p:pRg st="2" end="2"/>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226307">
                                            <p:txEl>
                                              <p:pRg st="3" end="3"/>
                                            </p:txEl>
                                          </p:spTgt>
                                        </p:tgtEl>
                                        <p:attrNameLst>
                                          <p:attrName>style.visibility</p:attrName>
                                        </p:attrNameLst>
                                      </p:cBhvr>
                                      <p:to>
                                        <p:strVal val="visible"/>
                                      </p:to>
                                    </p:set>
                                    <p:animEffect transition="in" filter="wipe(up)">
                                      <p:cBhvr>
                                        <p:cTn id="19" dur="500"/>
                                        <p:tgtEl>
                                          <p:spTgt spid="226307">
                                            <p:txEl>
                                              <p:pRg st="3" end="3"/>
                                            </p:txEl>
                                          </p:spTgt>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226307">
                                            <p:txEl>
                                              <p:pRg st="4" end="4"/>
                                            </p:txEl>
                                          </p:spTgt>
                                        </p:tgtEl>
                                        <p:attrNameLst>
                                          <p:attrName>style.visibility</p:attrName>
                                        </p:attrNameLst>
                                      </p:cBhvr>
                                      <p:to>
                                        <p:strVal val="visible"/>
                                      </p:to>
                                    </p:set>
                                    <p:animEffect transition="in" filter="wipe(up)">
                                      <p:cBhvr>
                                        <p:cTn id="23" dur="500"/>
                                        <p:tgtEl>
                                          <p:spTgt spid="226307">
                                            <p:txEl>
                                              <p:pRg st="4" end="4"/>
                                            </p:txEl>
                                          </p:spTgt>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226307">
                                            <p:txEl>
                                              <p:pRg st="5" end="5"/>
                                            </p:txEl>
                                          </p:spTgt>
                                        </p:tgtEl>
                                        <p:attrNameLst>
                                          <p:attrName>style.visibility</p:attrName>
                                        </p:attrNameLst>
                                      </p:cBhvr>
                                      <p:to>
                                        <p:strVal val="visible"/>
                                      </p:to>
                                    </p:set>
                                    <p:animEffect transition="in" filter="wipe(up)">
                                      <p:cBhvr>
                                        <p:cTn id="27" dur="500"/>
                                        <p:tgtEl>
                                          <p:spTgt spid="22630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up)">
                                      <p:cBhvr>
                                        <p:cTn id="3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07" grpId="0" build="p"/>
      <p:bldP spid="2" grpId="0"/>
    </p:bldLst>
  </p:timing>
</p:sld>
</file>

<file path=ppt/slides/slide1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575556" y="536890"/>
            <a:ext cx="6778625" cy="908050"/>
          </a:xfrm>
          <a:noFill/>
          <a:ln w="9525">
            <a:noFill/>
            <a:miter lim="800000"/>
          </a:ln>
        </p:spPr>
        <p:txBody>
          <a:bodyPr vert="horz" wrap="square" lIns="91440" tIns="45720" rIns="91440" bIns="45720" numCol="1" anchor="ctr" anchorCtr="0" compatLnSpc="1"/>
          <a:lstStyle/>
          <a:p>
            <a:r>
              <a:rPr lang="en-US" altLang="zh-CN" kern="120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STAT——USTAT</a:t>
            </a:r>
            <a:endPar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227331" name="Rectangle 3"/>
          <p:cNvSpPr>
            <a:spLocks noGrp="1" noChangeArrowheads="1"/>
          </p:cNvSpPr>
          <p:nvPr>
            <p:ph type="body" idx="1"/>
          </p:nvPr>
        </p:nvSpPr>
        <p:spPr>
          <a:xfrm>
            <a:off x="639498" y="2203375"/>
            <a:ext cx="8072961" cy="4068452"/>
          </a:xfrm>
        </p:spPr>
        <p:txBody>
          <a:bodyPr/>
          <a:lstStyle/>
          <a:p>
            <a:pPr eaLnBrk="1" hangingPunct="1">
              <a:lnSpc>
                <a:spcPct val="90000"/>
              </a:lnSpc>
            </a:pPr>
            <a:r>
              <a:rPr lang="zh-CN" altLang="en-US" sz="28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包括四部分</a:t>
            </a:r>
          </a:p>
          <a:p>
            <a:pPr lvl="1" eaLnBrk="1" hangingPunct="1">
              <a:lnSpc>
                <a:spcPct val="90000"/>
              </a:lnSpc>
            </a:pP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预处理器：</a:t>
            </a:r>
            <a:r>
              <a:rPr lang="zh-CN" altLang="en-US" sz="2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对数据进行过滤，并转换为与系统日志文件无关的格式</a:t>
            </a:r>
          </a:p>
          <a:p>
            <a:pPr lvl="1" eaLnBrk="1" hangingPunct="1">
              <a:lnSpc>
                <a:spcPct val="90000"/>
              </a:lnSpc>
            </a:pP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知识库：</a:t>
            </a:r>
            <a:r>
              <a:rPr lang="zh-CN" altLang="en-US" sz="2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包括状态描述库和规则库。规则库用于存放已知攻击类型所对应的状态转移规则；状态描述库存放系统在遭受不同类型攻击下所出现的状态</a:t>
            </a:r>
          </a:p>
          <a:p>
            <a:pPr lvl="1" eaLnBrk="1" hangingPunct="1">
              <a:lnSpc>
                <a:spcPct val="90000"/>
              </a:lnSpc>
            </a:pP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推理引擎：</a:t>
            </a:r>
            <a:r>
              <a:rPr lang="zh-CN" altLang="en-US" sz="2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根据预处理器给出的信息和状态描述库中定义的系统状态，判断状态的变化并更新状态信息。一旦发现可疑的安全威胁，通知决策引擎</a:t>
            </a:r>
          </a:p>
          <a:p>
            <a:pPr lvl="1" eaLnBrk="1" hangingPunct="1">
              <a:lnSpc>
                <a:spcPct val="90000"/>
              </a:lnSpc>
            </a:pP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决策引擎：</a:t>
            </a:r>
            <a:r>
              <a:rPr lang="zh-CN" altLang="en-US" sz="2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将安全事件通知管理员，或者采取预先定义的自动响应措施</a:t>
            </a:r>
          </a:p>
          <a:p>
            <a:pPr lvl="1" eaLnBrk="1" hangingPunct="1">
              <a:lnSpc>
                <a:spcPct val="90000"/>
              </a:lnSpc>
            </a:pP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 name="矩形 1"/>
          <p:cNvSpPr/>
          <p:nvPr/>
        </p:nvSpPr>
        <p:spPr>
          <a:xfrm>
            <a:off x="647564" y="1584092"/>
            <a:ext cx="6363345" cy="480131"/>
          </a:xfrm>
          <a:prstGeom prst="rect">
            <a:avLst/>
          </a:prstGeom>
        </p:spPr>
        <p:txBody>
          <a:bodyPr wrap="none">
            <a:spAutoFit/>
          </a:bodyPr>
          <a:lstStyle/>
          <a:p>
            <a:pPr marL="342900" indent="-342900">
              <a:lnSpc>
                <a:spcPct val="90000"/>
              </a:lnSpc>
              <a:spcBef>
                <a:spcPct val="20000"/>
              </a:spcBef>
              <a:buClr>
                <a:srgbClr val="3399FF"/>
              </a:buClr>
              <a:buFont typeface="Wingdings" panose="05000000000000000000" pitchFamily="2" charset="2"/>
              <a:buChar char="v"/>
            </a:pPr>
            <a:r>
              <a:rPr lang="en-US" altLang="zh-CN" sz="2800" b="1" dirty="0">
                <a:solidFill>
                  <a:srgbClr val="0000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USTAT</a:t>
            </a:r>
            <a:r>
              <a:rPr lang="zh-CN" altLang="en-US" sz="2800" b="1" dirty="0">
                <a:solidFill>
                  <a:srgbClr val="0000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：用于</a:t>
            </a:r>
            <a:r>
              <a:rPr lang="en-US" altLang="zh-CN" sz="2800" b="1" dirty="0">
                <a:solidFill>
                  <a:srgbClr val="0000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UNIX</a:t>
            </a:r>
            <a:r>
              <a:rPr lang="zh-CN" altLang="en-US" sz="2800" b="1" dirty="0">
                <a:solidFill>
                  <a:srgbClr val="0000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系统的</a:t>
            </a:r>
            <a:r>
              <a:rPr lang="en-US" altLang="zh-CN" sz="2800" b="1" dirty="0">
                <a:solidFill>
                  <a:srgbClr val="0000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STAT</a:t>
            </a:r>
            <a:r>
              <a:rPr lang="zh-CN" altLang="en-US" sz="2800" b="1" dirty="0">
                <a:solidFill>
                  <a:srgbClr val="0000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实现</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227331">
                                            <p:txEl>
                                              <p:pRg st="0" end="0"/>
                                            </p:txEl>
                                          </p:spTgt>
                                        </p:tgtEl>
                                        <p:attrNameLst>
                                          <p:attrName>style.visibility</p:attrName>
                                        </p:attrNameLst>
                                      </p:cBhvr>
                                      <p:to>
                                        <p:strVal val="visible"/>
                                      </p:to>
                                    </p:set>
                                    <p:animEffect transition="in" filter="wipe(up)">
                                      <p:cBhvr>
                                        <p:cTn id="14" dur="500"/>
                                        <p:tgtEl>
                                          <p:spTgt spid="227331">
                                            <p:txEl>
                                              <p:pRg st="0" end="0"/>
                                            </p:txEl>
                                          </p:spTgt>
                                        </p:tgtEl>
                                      </p:cBhvr>
                                    </p:animEffect>
                                  </p:childTnLst>
                                </p:cTn>
                              </p:par>
                              <p:par>
                                <p:cTn id="15" presetID="22" presetClass="entr" presetSubtype="1" fill="hold" grpId="0" nodeType="withEffect">
                                  <p:stCondLst>
                                    <p:cond delay="0"/>
                                  </p:stCondLst>
                                  <p:childTnLst>
                                    <p:set>
                                      <p:cBhvr>
                                        <p:cTn id="16" dur="1" fill="hold">
                                          <p:stCondLst>
                                            <p:cond delay="0"/>
                                          </p:stCondLst>
                                        </p:cTn>
                                        <p:tgtEl>
                                          <p:spTgt spid="227331">
                                            <p:txEl>
                                              <p:pRg st="1" end="1"/>
                                            </p:txEl>
                                          </p:spTgt>
                                        </p:tgtEl>
                                        <p:attrNameLst>
                                          <p:attrName>style.visibility</p:attrName>
                                        </p:attrNameLst>
                                      </p:cBhvr>
                                      <p:to>
                                        <p:strVal val="visible"/>
                                      </p:to>
                                    </p:set>
                                    <p:animEffect transition="in" filter="wipe(up)">
                                      <p:cBhvr>
                                        <p:cTn id="17" dur="500"/>
                                        <p:tgtEl>
                                          <p:spTgt spid="227331">
                                            <p:txEl>
                                              <p:pRg st="1" end="1"/>
                                            </p:txEl>
                                          </p:spTgt>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227331">
                                            <p:txEl>
                                              <p:pRg st="2" end="2"/>
                                            </p:txEl>
                                          </p:spTgt>
                                        </p:tgtEl>
                                        <p:attrNameLst>
                                          <p:attrName>style.visibility</p:attrName>
                                        </p:attrNameLst>
                                      </p:cBhvr>
                                      <p:to>
                                        <p:strVal val="visible"/>
                                      </p:to>
                                    </p:set>
                                    <p:animEffect transition="in" filter="wipe(up)">
                                      <p:cBhvr>
                                        <p:cTn id="20" dur="500"/>
                                        <p:tgtEl>
                                          <p:spTgt spid="227331">
                                            <p:txEl>
                                              <p:pRg st="2" end="2"/>
                                            </p:txEl>
                                          </p:spTgt>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227331">
                                            <p:txEl>
                                              <p:pRg st="3" end="3"/>
                                            </p:txEl>
                                          </p:spTgt>
                                        </p:tgtEl>
                                        <p:attrNameLst>
                                          <p:attrName>style.visibility</p:attrName>
                                        </p:attrNameLst>
                                      </p:cBhvr>
                                      <p:to>
                                        <p:strVal val="visible"/>
                                      </p:to>
                                    </p:set>
                                    <p:animEffect transition="in" filter="wipe(up)">
                                      <p:cBhvr>
                                        <p:cTn id="23" dur="500"/>
                                        <p:tgtEl>
                                          <p:spTgt spid="227331">
                                            <p:txEl>
                                              <p:pRg st="3" end="3"/>
                                            </p:txEl>
                                          </p:spTgt>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227331">
                                            <p:txEl>
                                              <p:pRg st="4" end="4"/>
                                            </p:txEl>
                                          </p:spTgt>
                                        </p:tgtEl>
                                        <p:attrNameLst>
                                          <p:attrName>style.visibility</p:attrName>
                                        </p:attrNameLst>
                                      </p:cBhvr>
                                      <p:to>
                                        <p:strVal val="visible"/>
                                      </p:to>
                                    </p:set>
                                    <p:animEffect transition="in" filter="wipe(up)">
                                      <p:cBhvr>
                                        <p:cTn id="26" dur="500"/>
                                        <p:tgtEl>
                                          <p:spTgt spid="2273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1" grpId="0" build="p"/>
      <p:bldP spid="2" grpId="0"/>
    </p:bldLst>
  </p:timing>
</p:sld>
</file>

<file path=ppt/slides/slide1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766614" y="629506"/>
            <a:ext cx="7067550" cy="603250"/>
          </a:xfrm>
          <a:noFill/>
          <a:ln w="9525">
            <a:noFill/>
            <a:miter lim="800000"/>
          </a:ln>
        </p:spPr>
        <p:txBody>
          <a:bodyPr vert="horz" wrap="square" lIns="91440" tIns="45720" rIns="91440" bIns="45720" numCol="1" anchor="ctr" anchorCtr="0" compatLnSpc="1"/>
          <a:lstStyle/>
          <a:p>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基于</a:t>
            </a:r>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STAT</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的</a:t>
            </a:r>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IDS</a:t>
            </a:r>
          </a:p>
        </p:txBody>
      </p:sp>
      <p:sp>
        <p:nvSpPr>
          <p:cNvPr id="228355" name="Rectangle 3"/>
          <p:cNvSpPr>
            <a:spLocks noGrp="1" noChangeArrowheads="1"/>
          </p:cNvSpPr>
          <p:nvPr>
            <p:ph type="body" idx="1"/>
          </p:nvPr>
        </p:nvSpPr>
        <p:spPr>
          <a:xfrm>
            <a:off x="754447" y="1304764"/>
            <a:ext cx="7848600" cy="4968875"/>
          </a:xfrm>
        </p:spPr>
        <p:txBody>
          <a:bodyPr/>
          <a:lstStyle/>
          <a:p>
            <a:pPr eaLnBrk="1" hangingPunct="1">
              <a:lnSpc>
                <a:spcPct val="90000"/>
              </a:lnSpc>
            </a:pPr>
            <a:r>
              <a:rPr lang="en-US" altLang="zh-CN" sz="24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USTAT</a:t>
            </a:r>
          </a:p>
          <a:p>
            <a:pPr eaLnBrk="1" hangingPunct="1">
              <a:lnSpc>
                <a:spcPct val="90000"/>
              </a:lnSpc>
            </a:pPr>
            <a:r>
              <a:rPr lang="en-US" altLang="zh-CN" sz="24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NSTAT</a:t>
            </a:r>
          </a:p>
          <a:p>
            <a:pPr lvl="1" eaLnBrk="1" hangingPunct="1">
              <a:lnSpc>
                <a:spcPct val="90000"/>
              </a:lnSpc>
            </a:pP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把</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USTAT</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扩展到多台主机，从而可以检测到针对多台共享同一个网络文件系统的主机的攻击</a:t>
            </a:r>
          </a:p>
          <a:p>
            <a:pPr eaLnBrk="1" hangingPunct="1">
              <a:lnSpc>
                <a:spcPct val="90000"/>
              </a:lnSpc>
            </a:pPr>
            <a:r>
              <a:rPr lang="en-US" altLang="zh-CN" sz="2400" b="1" dirty="0" err="1">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NetSTAT</a:t>
            </a:r>
            <a:endParaRPr lang="en-US" altLang="zh-CN" sz="24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lnSpc>
                <a:spcPct val="90000"/>
              </a:lnSpc>
            </a:pP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是一个基于网络的</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IDS</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，分析网络中的流量，找到代表恶意行为的数据包</a:t>
            </a:r>
          </a:p>
          <a:p>
            <a:pPr eaLnBrk="1" hangingPunct="1">
              <a:lnSpc>
                <a:spcPct val="90000"/>
              </a:lnSpc>
            </a:pPr>
            <a:r>
              <a:rPr lang="en-US" altLang="zh-CN" sz="2400" b="1" dirty="0" err="1">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WinSTAT</a:t>
            </a:r>
            <a:endParaRPr lang="en-US" altLang="zh-CN" sz="24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lnSpc>
                <a:spcPct val="90000"/>
              </a:lnSpc>
            </a:pP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基于主机的</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IDS</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，分析</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Windows NT</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的事件日志</a:t>
            </a:r>
          </a:p>
          <a:p>
            <a:pPr eaLnBrk="1" hangingPunct="1">
              <a:lnSpc>
                <a:spcPct val="90000"/>
              </a:lnSpc>
            </a:pPr>
            <a:r>
              <a:rPr lang="en-US" altLang="zh-CN" sz="2400" b="1" dirty="0" err="1">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WebSTAT</a:t>
            </a:r>
            <a:endParaRPr lang="en-US" altLang="zh-CN" sz="24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lnSpc>
                <a:spcPct val="90000"/>
              </a:lnSpc>
            </a:pP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基于应用的</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IDS</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，用</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Apache Web Server</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的日志作为输入</a:t>
            </a:r>
          </a:p>
          <a:p>
            <a:pPr eaLnBrk="1" hangingPunct="1">
              <a:lnSpc>
                <a:spcPct val="90000"/>
              </a:lnSpc>
            </a:pPr>
            <a:r>
              <a:rPr lang="en-US" altLang="zh-CN" sz="2400" b="1" dirty="0" err="1">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AlertSTAT</a:t>
            </a:r>
            <a:endParaRPr lang="en-US" altLang="zh-CN" sz="24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eaLnBrk="1" hangingPunct="1">
              <a:lnSpc>
                <a:spcPct val="90000"/>
              </a:lnSpc>
            </a:pP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是一个高层的入侵关联器，以其他检测器的报警作为输入，以便检测出高层次、多步骤的攻击</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28355">
                                            <p:txEl>
                                              <p:pRg st="0" end="0"/>
                                            </p:txEl>
                                          </p:spTgt>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228355">
                                            <p:txEl>
                                              <p:pRg st="1" end="1"/>
                                            </p:txEl>
                                          </p:spTgt>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228355">
                                            <p:txEl>
                                              <p:pRg st="2" end="2"/>
                                            </p:txEl>
                                          </p:spTgt>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228355">
                                            <p:txEl>
                                              <p:pRg st="3" end="3"/>
                                            </p:txEl>
                                          </p:spTgt>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499"/>
                                          </p:stCondLst>
                                        </p:cTn>
                                        <p:tgtEl>
                                          <p:spTgt spid="228355">
                                            <p:txEl>
                                              <p:pRg st="4" end="4"/>
                                            </p:txEl>
                                          </p:spTgt>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grpId="0" nodeType="afterEffect">
                                  <p:stCondLst>
                                    <p:cond delay="0"/>
                                  </p:stCondLst>
                                  <p:childTnLst>
                                    <p:set>
                                      <p:cBhvr>
                                        <p:cTn id="21" dur="1" fill="hold">
                                          <p:stCondLst>
                                            <p:cond delay="499"/>
                                          </p:stCondLst>
                                        </p:cTn>
                                        <p:tgtEl>
                                          <p:spTgt spid="228355">
                                            <p:txEl>
                                              <p:pRg st="5" end="5"/>
                                            </p:txEl>
                                          </p:spTgt>
                                        </p:tgtEl>
                                        <p:attrNameLst>
                                          <p:attrName>style.visibility</p:attrName>
                                        </p:attrNameLst>
                                      </p:cBhvr>
                                      <p:to>
                                        <p:strVal val="visible"/>
                                      </p:to>
                                    </p:set>
                                  </p:childTnLst>
                                </p:cTn>
                              </p:par>
                            </p:childTnLst>
                          </p:cTn>
                        </p:par>
                        <p:par>
                          <p:cTn id="22" fill="hold">
                            <p:stCondLst>
                              <p:cond delay="3000"/>
                            </p:stCondLst>
                            <p:childTnLst>
                              <p:par>
                                <p:cTn id="23" presetID="1" presetClass="entr" presetSubtype="0" fill="hold" grpId="0" nodeType="afterEffect">
                                  <p:stCondLst>
                                    <p:cond delay="0"/>
                                  </p:stCondLst>
                                  <p:childTnLst>
                                    <p:set>
                                      <p:cBhvr>
                                        <p:cTn id="24" dur="1" fill="hold">
                                          <p:stCondLst>
                                            <p:cond delay="499"/>
                                          </p:stCondLst>
                                        </p:cTn>
                                        <p:tgtEl>
                                          <p:spTgt spid="228355">
                                            <p:txEl>
                                              <p:pRg st="6" end="6"/>
                                            </p:txEl>
                                          </p:spTgt>
                                        </p:tgtEl>
                                        <p:attrNameLst>
                                          <p:attrName>style.visibility</p:attrName>
                                        </p:attrNameLst>
                                      </p:cBhvr>
                                      <p:to>
                                        <p:strVal val="visible"/>
                                      </p:to>
                                    </p:set>
                                  </p:childTnLst>
                                </p:cTn>
                              </p:par>
                            </p:childTnLst>
                          </p:cTn>
                        </p:par>
                        <p:par>
                          <p:cTn id="25" fill="hold">
                            <p:stCondLst>
                              <p:cond delay="3500"/>
                            </p:stCondLst>
                            <p:childTnLst>
                              <p:par>
                                <p:cTn id="26" presetID="1" presetClass="entr" presetSubtype="0" fill="hold" grpId="0" nodeType="afterEffect">
                                  <p:stCondLst>
                                    <p:cond delay="0"/>
                                  </p:stCondLst>
                                  <p:childTnLst>
                                    <p:set>
                                      <p:cBhvr>
                                        <p:cTn id="27" dur="1" fill="hold">
                                          <p:stCondLst>
                                            <p:cond delay="499"/>
                                          </p:stCondLst>
                                        </p:cTn>
                                        <p:tgtEl>
                                          <p:spTgt spid="228355">
                                            <p:txEl>
                                              <p:pRg st="7" end="7"/>
                                            </p:txEl>
                                          </p:spTgt>
                                        </p:tgtEl>
                                        <p:attrNameLst>
                                          <p:attrName>style.visibility</p:attrName>
                                        </p:attrNameLst>
                                      </p:cBhvr>
                                      <p:to>
                                        <p:strVal val="visible"/>
                                      </p:to>
                                    </p:set>
                                  </p:childTnLst>
                                </p:cTn>
                              </p:par>
                            </p:childTnLst>
                          </p:cTn>
                        </p:par>
                        <p:par>
                          <p:cTn id="28" fill="hold">
                            <p:stCondLst>
                              <p:cond delay="4000"/>
                            </p:stCondLst>
                            <p:childTnLst>
                              <p:par>
                                <p:cTn id="29" presetID="1" presetClass="entr" presetSubtype="0" fill="hold" grpId="0" nodeType="afterEffect">
                                  <p:stCondLst>
                                    <p:cond delay="0"/>
                                  </p:stCondLst>
                                  <p:childTnLst>
                                    <p:set>
                                      <p:cBhvr>
                                        <p:cTn id="30" dur="1" fill="hold">
                                          <p:stCondLst>
                                            <p:cond delay="499"/>
                                          </p:stCondLst>
                                        </p:cTn>
                                        <p:tgtEl>
                                          <p:spTgt spid="228355">
                                            <p:txEl>
                                              <p:pRg st="8" end="8"/>
                                            </p:txEl>
                                          </p:spTgt>
                                        </p:tgtEl>
                                        <p:attrNameLst>
                                          <p:attrName>style.visibility</p:attrName>
                                        </p:attrNameLst>
                                      </p:cBhvr>
                                      <p:to>
                                        <p:strVal val="visible"/>
                                      </p:to>
                                    </p:set>
                                  </p:childTnLst>
                                </p:cTn>
                              </p:par>
                            </p:childTnLst>
                          </p:cTn>
                        </p:par>
                        <p:par>
                          <p:cTn id="31" fill="hold">
                            <p:stCondLst>
                              <p:cond delay="4500"/>
                            </p:stCondLst>
                            <p:childTnLst>
                              <p:par>
                                <p:cTn id="32" presetID="1" presetClass="entr" presetSubtype="0" fill="hold" grpId="0" nodeType="afterEffect">
                                  <p:stCondLst>
                                    <p:cond delay="0"/>
                                  </p:stCondLst>
                                  <p:childTnLst>
                                    <p:set>
                                      <p:cBhvr>
                                        <p:cTn id="33" dur="1" fill="hold">
                                          <p:stCondLst>
                                            <p:cond delay="499"/>
                                          </p:stCondLst>
                                        </p:cTn>
                                        <p:tgtEl>
                                          <p:spTgt spid="228355">
                                            <p:txEl>
                                              <p:pRg st="9" end="9"/>
                                            </p:txEl>
                                          </p:spTgt>
                                        </p:tgtEl>
                                        <p:attrNameLst>
                                          <p:attrName>style.visibility</p:attrName>
                                        </p:attrNameLst>
                                      </p:cBhvr>
                                      <p:to>
                                        <p:strVal val="visible"/>
                                      </p:to>
                                    </p:set>
                                  </p:childTnLst>
                                </p:cTn>
                              </p:par>
                            </p:childTnLst>
                          </p:cTn>
                        </p:par>
                        <p:par>
                          <p:cTn id="34" fill="hold">
                            <p:stCondLst>
                              <p:cond delay="5000"/>
                            </p:stCondLst>
                            <p:childTnLst>
                              <p:par>
                                <p:cTn id="35" presetID="1" presetClass="entr" presetSubtype="0" fill="hold" grpId="0" nodeType="afterEffect">
                                  <p:stCondLst>
                                    <p:cond delay="0"/>
                                  </p:stCondLst>
                                  <p:childTnLst>
                                    <p:set>
                                      <p:cBhvr>
                                        <p:cTn id="36" dur="1" fill="hold">
                                          <p:stCondLst>
                                            <p:cond delay="499"/>
                                          </p:stCondLst>
                                        </p:cTn>
                                        <p:tgtEl>
                                          <p:spTgt spid="22835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5" grpId="0" build="p" autoUpdateAnimBg="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9" name="Rectangle 2"/>
          <p:cNvSpPr>
            <a:spLocks noGrp="1" noChangeArrowheads="1"/>
          </p:cNvSpPr>
          <p:nvPr>
            <p:ph type="title" idx="4294967295"/>
          </p:nvPr>
        </p:nvSpPr>
        <p:spPr>
          <a:xfrm>
            <a:off x="515990" y="791003"/>
            <a:ext cx="6938635" cy="524719"/>
          </a:xfrm>
          <a:noFill/>
          <a:ln w="9525">
            <a:noFill/>
            <a:miter lim="800000"/>
          </a:ln>
        </p:spPr>
        <p:txBody>
          <a:bodyPr vert="horz" wrap="square" lIns="91440" tIns="45720" rIns="91440" bIns="45720" numCol="1" anchor="ctr" anchorCtr="0" compatLnSpc="1"/>
          <a:lstStyle/>
          <a:p>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8.17  </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入侵检测系统的典型部署及问题</a:t>
            </a:r>
          </a:p>
        </p:txBody>
      </p:sp>
      <p:sp>
        <p:nvSpPr>
          <p:cNvPr id="5132" name="Oval 7"/>
          <p:cNvSpPr>
            <a:spLocks noChangeArrowheads="1"/>
          </p:cNvSpPr>
          <p:nvPr/>
        </p:nvSpPr>
        <p:spPr bwMode="auto">
          <a:xfrm>
            <a:off x="739011" y="3577022"/>
            <a:ext cx="2640012" cy="1606550"/>
          </a:xfrm>
          <a:prstGeom prst="ellipse">
            <a:avLst/>
          </a:prstGeom>
          <a:solidFill>
            <a:srgbClr val="FFFFCC">
              <a:alpha val="50195"/>
            </a:srgbClr>
          </a:solidFill>
          <a:ln w="12700">
            <a:solidFill>
              <a:schemeClr val="tx1"/>
            </a:solidFill>
            <a:round/>
          </a:ln>
        </p:spPr>
        <p:txBody>
          <a:bodyPr wrap="none" anchor="ctr"/>
          <a:lstStyle/>
          <a:p>
            <a:endParaRPr lang="zh-CN" altLang="en-US"/>
          </a:p>
        </p:txBody>
      </p:sp>
      <p:sp>
        <p:nvSpPr>
          <p:cNvPr id="5133" name="Oval 9"/>
          <p:cNvSpPr>
            <a:spLocks noChangeArrowheads="1"/>
          </p:cNvSpPr>
          <p:nvPr/>
        </p:nvSpPr>
        <p:spPr bwMode="auto">
          <a:xfrm>
            <a:off x="5834886" y="3176972"/>
            <a:ext cx="3041650" cy="1931987"/>
          </a:xfrm>
          <a:prstGeom prst="ellipse">
            <a:avLst/>
          </a:prstGeom>
          <a:solidFill>
            <a:srgbClr val="FFFFCC">
              <a:alpha val="50195"/>
            </a:srgbClr>
          </a:solidFill>
          <a:ln w="12700">
            <a:solidFill>
              <a:schemeClr val="tx1"/>
            </a:solidFill>
            <a:round/>
          </a:ln>
        </p:spPr>
        <p:txBody>
          <a:bodyPr wrap="none" anchor="ctr"/>
          <a:lstStyle/>
          <a:p>
            <a:endParaRPr lang="zh-CN" altLang="en-US"/>
          </a:p>
        </p:txBody>
      </p:sp>
      <p:sp>
        <p:nvSpPr>
          <p:cNvPr id="45066" name="Line 10"/>
          <p:cNvSpPr>
            <a:spLocks noChangeShapeType="1"/>
          </p:cNvSpPr>
          <p:nvPr/>
        </p:nvSpPr>
        <p:spPr bwMode="auto">
          <a:xfrm flipH="1" flipV="1">
            <a:off x="3907661" y="4545397"/>
            <a:ext cx="4762" cy="544512"/>
          </a:xfrm>
          <a:prstGeom prst="line">
            <a:avLst/>
          </a:prstGeom>
          <a:noFill/>
          <a:ln w="50800">
            <a:solidFill>
              <a:schemeClr val="accent2"/>
            </a:solidFill>
            <a:round/>
            <a:headEnd type="none" w="sm" len="sm"/>
            <a:tailEnd type="none" w="sm" len="sm"/>
          </a:ln>
          <a:effectLst>
            <a:outerShdw dist="35921" dir="2700000" algn="ctr" rotWithShape="0">
              <a:schemeClr val="bg2"/>
            </a:outerShdw>
          </a:effectLst>
        </p:spPr>
        <p:txBody>
          <a:bodyPr/>
          <a:lstStyle/>
          <a:p>
            <a:pPr>
              <a:defRPr/>
            </a:pPr>
            <a:endParaRPr lang="zh-CN" altLang="en-US"/>
          </a:p>
        </p:txBody>
      </p:sp>
      <p:sp>
        <p:nvSpPr>
          <p:cNvPr id="45067" name="Line 11"/>
          <p:cNvSpPr>
            <a:spLocks noChangeShapeType="1"/>
          </p:cNvSpPr>
          <p:nvPr/>
        </p:nvSpPr>
        <p:spPr bwMode="auto">
          <a:xfrm flipH="1">
            <a:off x="4310884" y="4292984"/>
            <a:ext cx="560601" cy="9525"/>
          </a:xfrm>
          <a:prstGeom prst="line">
            <a:avLst/>
          </a:prstGeom>
          <a:noFill/>
          <a:ln w="50800">
            <a:solidFill>
              <a:schemeClr val="accent2"/>
            </a:solidFill>
            <a:round/>
            <a:headEnd type="none" w="sm" len="sm"/>
            <a:tailEnd type="none" w="sm" len="sm"/>
          </a:ln>
          <a:effectLst>
            <a:outerShdw dist="35921" dir="2700000" algn="ctr" rotWithShape="0">
              <a:schemeClr val="bg2"/>
            </a:outerShdw>
          </a:effectLst>
        </p:spPr>
        <p:txBody>
          <a:bodyPr/>
          <a:lstStyle/>
          <a:p>
            <a:pPr>
              <a:defRPr/>
            </a:pPr>
            <a:endParaRPr lang="zh-CN" altLang="en-US"/>
          </a:p>
        </p:txBody>
      </p:sp>
      <p:sp>
        <p:nvSpPr>
          <p:cNvPr id="45068" name="Line 12"/>
          <p:cNvSpPr>
            <a:spLocks noChangeShapeType="1"/>
          </p:cNvSpPr>
          <p:nvPr/>
        </p:nvSpPr>
        <p:spPr bwMode="auto">
          <a:xfrm flipH="1">
            <a:off x="5463411" y="4354897"/>
            <a:ext cx="731837" cy="6350"/>
          </a:xfrm>
          <a:prstGeom prst="line">
            <a:avLst/>
          </a:prstGeom>
          <a:noFill/>
          <a:ln w="50800">
            <a:solidFill>
              <a:schemeClr val="accent2"/>
            </a:solidFill>
            <a:round/>
            <a:headEnd type="none" w="sm" len="sm"/>
            <a:tailEnd type="none" w="sm" len="sm"/>
          </a:ln>
          <a:effectLst>
            <a:outerShdw dist="35921" dir="2700000" algn="ctr" rotWithShape="0">
              <a:schemeClr val="bg2"/>
            </a:outerShdw>
          </a:effectLst>
        </p:spPr>
        <p:txBody>
          <a:bodyPr/>
          <a:lstStyle/>
          <a:p>
            <a:pPr>
              <a:defRPr/>
            </a:pPr>
            <a:endParaRPr lang="zh-CN" altLang="en-US"/>
          </a:p>
        </p:txBody>
      </p:sp>
      <p:sp>
        <p:nvSpPr>
          <p:cNvPr id="45069" name="Line 13"/>
          <p:cNvSpPr>
            <a:spLocks noChangeShapeType="1"/>
          </p:cNvSpPr>
          <p:nvPr/>
        </p:nvSpPr>
        <p:spPr bwMode="auto">
          <a:xfrm flipH="1" flipV="1">
            <a:off x="2720211" y="4329497"/>
            <a:ext cx="827087" cy="0"/>
          </a:xfrm>
          <a:prstGeom prst="line">
            <a:avLst/>
          </a:prstGeom>
          <a:noFill/>
          <a:ln w="50800">
            <a:solidFill>
              <a:schemeClr val="accent2"/>
            </a:solidFill>
            <a:round/>
            <a:headEnd type="none" w="sm" len="sm"/>
            <a:tailEnd type="none" w="sm" len="sm"/>
          </a:ln>
          <a:effectLst>
            <a:outerShdw dist="35921" dir="2700000" algn="ctr" rotWithShape="0">
              <a:schemeClr val="bg2"/>
            </a:outerShdw>
          </a:effectLst>
        </p:spPr>
        <p:txBody>
          <a:bodyPr/>
          <a:lstStyle/>
          <a:p>
            <a:pPr>
              <a:defRPr/>
            </a:pPr>
            <a:endParaRPr lang="zh-CN" altLang="en-US"/>
          </a:p>
        </p:txBody>
      </p:sp>
      <p:sp>
        <p:nvSpPr>
          <p:cNvPr id="5138" name="Rectangle 14"/>
          <p:cNvSpPr>
            <a:spLocks noChangeArrowheads="1"/>
          </p:cNvSpPr>
          <p:nvPr/>
        </p:nvSpPr>
        <p:spPr bwMode="auto">
          <a:xfrm>
            <a:off x="1185098" y="3673859"/>
            <a:ext cx="1884363" cy="317500"/>
          </a:xfrm>
          <a:prstGeom prst="rect">
            <a:avLst/>
          </a:prstGeom>
          <a:noFill/>
          <a:ln w="9525">
            <a:noFill/>
            <a:miter lim="800000"/>
          </a:ln>
        </p:spPr>
        <p:txBody>
          <a:bodyPr lIns="87313" tIns="44450" rIns="87313" bIns="44450">
            <a:spAutoFit/>
          </a:bodyPr>
          <a:lstStyle/>
          <a:p>
            <a:pPr algn="ctr" defTabSz="825500" eaLnBrk="0" hangingPunct="0">
              <a:spcBef>
                <a:spcPct val="50000"/>
              </a:spcBef>
            </a:pPr>
            <a:r>
              <a:rPr lang="zh-CN" altLang="en-US" sz="1500" b="1"/>
              <a:t>可信网络</a:t>
            </a:r>
          </a:p>
        </p:txBody>
      </p:sp>
      <p:sp>
        <p:nvSpPr>
          <p:cNvPr id="5139" name="Rectangle 15"/>
          <p:cNvSpPr>
            <a:spLocks noChangeArrowheads="1"/>
          </p:cNvSpPr>
          <p:nvPr/>
        </p:nvSpPr>
        <p:spPr bwMode="auto">
          <a:xfrm>
            <a:off x="6466711" y="3348422"/>
            <a:ext cx="2136775" cy="317500"/>
          </a:xfrm>
          <a:prstGeom prst="rect">
            <a:avLst/>
          </a:prstGeom>
          <a:noFill/>
          <a:ln w="9525">
            <a:noFill/>
            <a:miter lim="800000"/>
          </a:ln>
        </p:spPr>
        <p:txBody>
          <a:bodyPr lIns="87313" tIns="44450" rIns="87313" bIns="44450">
            <a:spAutoFit/>
          </a:bodyPr>
          <a:lstStyle/>
          <a:p>
            <a:pPr defTabSz="825500" eaLnBrk="0" hangingPunct="0">
              <a:spcBef>
                <a:spcPct val="50000"/>
              </a:spcBef>
            </a:pPr>
            <a:r>
              <a:rPr lang="zh-CN" altLang="en-US" sz="1500" b="1">
                <a:latin typeface="宋体" panose="02010600030101010101" pitchFamily="2" charset="-122"/>
              </a:rPr>
              <a:t>不可信的网络</a:t>
            </a:r>
            <a:r>
              <a:rPr lang="en-US" altLang="zh-CN" sz="1500" b="1">
                <a:latin typeface="宋体" panose="02010600030101010101" pitchFamily="2" charset="-122"/>
              </a:rPr>
              <a:t>&amp;</a:t>
            </a:r>
            <a:r>
              <a:rPr lang="zh-CN" altLang="en-US" sz="1500" b="1">
                <a:latin typeface="宋体" panose="02010600030101010101" pitchFamily="2" charset="-122"/>
              </a:rPr>
              <a:t>服务</a:t>
            </a:r>
          </a:p>
        </p:txBody>
      </p:sp>
      <p:sp>
        <p:nvSpPr>
          <p:cNvPr id="5140" name="Rectangle 16"/>
          <p:cNvSpPr>
            <a:spLocks noChangeArrowheads="1"/>
          </p:cNvSpPr>
          <p:nvPr/>
        </p:nvSpPr>
        <p:spPr bwMode="auto">
          <a:xfrm>
            <a:off x="4569648" y="3440497"/>
            <a:ext cx="949325" cy="397545"/>
          </a:xfrm>
          <a:prstGeom prst="rect">
            <a:avLst/>
          </a:prstGeom>
          <a:noFill/>
          <a:ln w="9525">
            <a:noFill/>
            <a:miter lim="800000"/>
          </a:ln>
        </p:spPr>
        <p:txBody>
          <a:bodyPr lIns="87313" tIns="44450" rIns="87313" bIns="44450">
            <a:spAutoFit/>
          </a:bodyPr>
          <a:lstStyle/>
          <a:p>
            <a:pPr defTabSz="825500" eaLnBrk="0" hangingPunct="0">
              <a:spcBef>
                <a:spcPct val="50000"/>
              </a:spcBef>
            </a:pPr>
            <a:r>
              <a:rPr lang="zh-CN" altLang="en-US" sz="2000" b="1" dirty="0">
                <a:effectLst>
                  <a:outerShdw blurRad="38100" dist="38100" dir="2700000" algn="tl">
                    <a:srgbClr val="000000">
                      <a:alpha val="43137"/>
                    </a:srgbClr>
                  </a:outerShdw>
                </a:effectLst>
                <a:latin typeface="+mn-ea"/>
                <a:ea typeface="+mn-ea"/>
              </a:rPr>
              <a:t>防火墙</a:t>
            </a:r>
          </a:p>
        </p:txBody>
      </p:sp>
      <p:pic>
        <p:nvPicPr>
          <p:cNvPr id="5141" name="Picture 18"/>
          <p:cNvPicPr>
            <a:picLocks noChangeArrowheads="1"/>
          </p:cNvPicPr>
          <p:nvPr/>
        </p:nvPicPr>
        <p:blipFill>
          <a:blip r:embed="rId4" cstate="print"/>
          <a:srcRect/>
          <a:stretch>
            <a:fillRect/>
          </a:stretch>
        </p:blipFill>
        <p:spPr bwMode="auto">
          <a:xfrm>
            <a:off x="6068248" y="3884997"/>
            <a:ext cx="2003425" cy="846137"/>
          </a:xfrm>
          <a:prstGeom prst="rect">
            <a:avLst/>
          </a:prstGeom>
          <a:noFill/>
          <a:ln w="9525">
            <a:noFill/>
            <a:miter lim="800000"/>
            <a:headEnd/>
            <a:tailEnd/>
          </a:ln>
        </p:spPr>
      </p:pic>
      <p:sp>
        <p:nvSpPr>
          <p:cNvPr id="5142" name="Rectangle 19"/>
          <p:cNvSpPr>
            <a:spLocks noChangeArrowheads="1"/>
          </p:cNvSpPr>
          <p:nvPr/>
        </p:nvSpPr>
        <p:spPr bwMode="auto">
          <a:xfrm>
            <a:off x="6603236" y="4227897"/>
            <a:ext cx="1214437" cy="322262"/>
          </a:xfrm>
          <a:prstGeom prst="rect">
            <a:avLst/>
          </a:prstGeom>
          <a:noFill/>
          <a:ln w="9525">
            <a:noFill/>
            <a:miter lim="800000"/>
          </a:ln>
        </p:spPr>
        <p:txBody>
          <a:bodyPr lIns="87313" tIns="44450" rIns="87313" bIns="44450">
            <a:spAutoFit/>
          </a:bodyPr>
          <a:lstStyle/>
          <a:p>
            <a:pPr algn="ctr" defTabSz="687705" eaLnBrk="0" hangingPunct="0">
              <a:lnSpc>
                <a:spcPct val="90000"/>
              </a:lnSpc>
              <a:spcBef>
                <a:spcPct val="30000"/>
              </a:spcBef>
            </a:pPr>
            <a:r>
              <a:rPr lang="en-US" altLang="zh-CN" sz="1700" b="1"/>
              <a:t>Internet</a:t>
            </a:r>
          </a:p>
        </p:txBody>
      </p:sp>
      <p:pic>
        <p:nvPicPr>
          <p:cNvPr id="5143" name="Picture 20"/>
          <p:cNvPicPr>
            <a:picLocks noChangeArrowheads="1"/>
          </p:cNvPicPr>
          <p:nvPr/>
        </p:nvPicPr>
        <p:blipFill>
          <a:blip r:embed="rId4" cstate="print"/>
          <a:srcRect/>
          <a:stretch>
            <a:fillRect/>
          </a:stretch>
        </p:blipFill>
        <p:spPr bwMode="auto">
          <a:xfrm>
            <a:off x="848548" y="3942147"/>
            <a:ext cx="1917700" cy="808037"/>
          </a:xfrm>
          <a:prstGeom prst="rect">
            <a:avLst/>
          </a:prstGeom>
          <a:noFill/>
          <a:ln w="9525">
            <a:noFill/>
            <a:miter lim="800000"/>
            <a:headEnd/>
            <a:tailEnd/>
          </a:ln>
        </p:spPr>
      </p:pic>
      <p:sp>
        <p:nvSpPr>
          <p:cNvPr id="5144" name="Rectangle 22"/>
          <p:cNvSpPr>
            <a:spLocks noChangeArrowheads="1"/>
          </p:cNvSpPr>
          <p:nvPr/>
        </p:nvSpPr>
        <p:spPr bwMode="auto">
          <a:xfrm>
            <a:off x="1393061" y="4731134"/>
            <a:ext cx="1212850" cy="322263"/>
          </a:xfrm>
          <a:prstGeom prst="rect">
            <a:avLst/>
          </a:prstGeom>
          <a:noFill/>
          <a:ln w="9525">
            <a:noFill/>
            <a:miter lim="800000"/>
          </a:ln>
        </p:spPr>
        <p:txBody>
          <a:bodyPr lIns="87313" tIns="44450" rIns="87313" bIns="44450">
            <a:spAutoFit/>
          </a:bodyPr>
          <a:lstStyle/>
          <a:p>
            <a:pPr algn="ctr" defTabSz="687705" eaLnBrk="0" hangingPunct="0">
              <a:lnSpc>
                <a:spcPct val="90000"/>
              </a:lnSpc>
              <a:spcBef>
                <a:spcPct val="30000"/>
              </a:spcBef>
            </a:pPr>
            <a:r>
              <a:rPr lang="en-US" altLang="zh-CN" sz="1700" b="1"/>
              <a:t>Intranet</a:t>
            </a:r>
          </a:p>
        </p:txBody>
      </p:sp>
      <p:graphicFrame>
        <p:nvGraphicFramePr>
          <p:cNvPr id="5122" name="Object 32"/>
          <p:cNvGraphicFramePr>
            <a:graphicFrameLocks noGrp="1" noChangeAspect="1"/>
          </p:cNvGraphicFramePr>
          <p:nvPr>
            <p:ph sz="quarter" idx="4294967295"/>
          </p:nvPr>
        </p:nvGraphicFramePr>
        <p:xfrm>
          <a:off x="4758561" y="3789747"/>
          <a:ext cx="806450" cy="908050"/>
        </p:xfrm>
        <a:graphic>
          <a:graphicData uri="http://schemas.openxmlformats.org/presentationml/2006/ole">
            <mc:AlternateContent xmlns:mc="http://schemas.openxmlformats.org/markup-compatibility/2006">
              <mc:Choice xmlns:v="urn:schemas-microsoft-com:vml" Requires="v">
                <p:oleObj spid="_x0000_s3199" name="Visio" r:id="rId5" imgW="1003300" imgH="1193800" progId="">
                  <p:embed/>
                </p:oleObj>
              </mc:Choice>
              <mc:Fallback>
                <p:oleObj name="Visio" r:id="rId5" imgW="1003300" imgH="1193800" progId="">
                  <p:embed/>
                  <p:pic>
                    <p:nvPicPr>
                      <p:cNvPr id="5122" name="Object 32"/>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58561" y="3789747"/>
                        <a:ext cx="806450" cy="90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3" name="Object 33"/>
          <p:cNvGraphicFramePr>
            <a:graphicFrameLocks noChangeAspect="1"/>
          </p:cNvGraphicFramePr>
          <p:nvPr/>
        </p:nvGraphicFramePr>
        <p:xfrm>
          <a:off x="991423" y="4258059"/>
          <a:ext cx="584200" cy="538163"/>
        </p:xfrm>
        <a:graphic>
          <a:graphicData uri="http://schemas.openxmlformats.org/presentationml/2006/ole">
            <mc:AlternateContent xmlns:mc="http://schemas.openxmlformats.org/markup-compatibility/2006">
              <mc:Choice xmlns:v="urn:schemas-microsoft-com:vml" Requires="v">
                <p:oleObj spid="_x0000_s3200" name="Visio" r:id="rId7" imgW="952500" imgH="914400" progId="">
                  <p:embed/>
                </p:oleObj>
              </mc:Choice>
              <mc:Fallback>
                <p:oleObj name="Visio" r:id="rId7" imgW="952500" imgH="914400" progId="">
                  <p:embed/>
                  <p:pic>
                    <p:nvPicPr>
                      <p:cNvPr id="5123" name="Object 3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1423" y="4258059"/>
                        <a:ext cx="584200" cy="53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4" name="Object 34"/>
          <p:cNvGraphicFramePr>
            <a:graphicFrameLocks noChangeAspect="1"/>
          </p:cNvGraphicFramePr>
          <p:nvPr/>
        </p:nvGraphicFramePr>
        <p:xfrm>
          <a:off x="1527998" y="4032634"/>
          <a:ext cx="585788" cy="539750"/>
        </p:xfrm>
        <a:graphic>
          <a:graphicData uri="http://schemas.openxmlformats.org/presentationml/2006/ole">
            <mc:AlternateContent xmlns:mc="http://schemas.openxmlformats.org/markup-compatibility/2006">
              <mc:Choice xmlns:v="urn:schemas-microsoft-com:vml" Requires="v">
                <p:oleObj spid="_x0000_s3201" name="Visio" r:id="rId9" imgW="952500" imgH="914400" progId="">
                  <p:embed/>
                </p:oleObj>
              </mc:Choice>
              <mc:Fallback>
                <p:oleObj name="Visio" r:id="rId9" imgW="952500" imgH="914400" progId="">
                  <p:embed/>
                  <p:pic>
                    <p:nvPicPr>
                      <p:cNvPr id="5124" name="Object 3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7998" y="4032634"/>
                        <a:ext cx="585788"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5" name="Object 35"/>
          <p:cNvGraphicFramePr>
            <a:graphicFrameLocks noChangeAspect="1"/>
          </p:cNvGraphicFramePr>
          <p:nvPr/>
        </p:nvGraphicFramePr>
        <p:xfrm>
          <a:off x="2074098" y="4107247"/>
          <a:ext cx="584200" cy="538162"/>
        </p:xfrm>
        <a:graphic>
          <a:graphicData uri="http://schemas.openxmlformats.org/presentationml/2006/ole">
            <mc:AlternateContent xmlns:mc="http://schemas.openxmlformats.org/markup-compatibility/2006">
              <mc:Choice xmlns:v="urn:schemas-microsoft-com:vml" Requires="v">
                <p:oleObj spid="_x0000_s3202" name="Visio" r:id="rId10" imgW="952500" imgH="914400" progId="">
                  <p:embed/>
                </p:oleObj>
              </mc:Choice>
              <mc:Fallback>
                <p:oleObj name="Visio" r:id="rId10" imgW="952500" imgH="914400" progId="">
                  <p:embed/>
                  <p:pic>
                    <p:nvPicPr>
                      <p:cNvPr id="5125" name="Object 3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74098" y="4107247"/>
                        <a:ext cx="584200" cy="538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45" name="Rectangle 36"/>
          <p:cNvSpPr>
            <a:spLocks noChangeArrowheads="1"/>
          </p:cNvSpPr>
          <p:nvPr/>
        </p:nvSpPr>
        <p:spPr bwMode="auto">
          <a:xfrm>
            <a:off x="515990" y="2136842"/>
            <a:ext cx="8240880" cy="461665"/>
          </a:xfrm>
          <a:prstGeom prst="rect">
            <a:avLst/>
          </a:prstGeom>
          <a:noFill/>
          <a:ln w="9525">
            <a:noFill/>
            <a:miter lim="800000"/>
          </a:ln>
        </p:spPr>
        <p:txBody>
          <a:bodyPr wrap="square">
            <a:spAutoFit/>
          </a:bodyPr>
          <a:lstStyle/>
          <a:p>
            <a:pPr marL="361950" indent="-361950" eaLnBrk="0" hangingPunct="0">
              <a:spcBef>
                <a:spcPct val="20000"/>
              </a:spcBef>
              <a:buClr>
                <a:srgbClr val="3399FF"/>
              </a:buClr>
              <a:buFont typeface="Wingdings" panose="05000000000000000000" pitchFamily="2" charset="2"/>
              <a:buChar char="v"/>
            </a:pP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以旁路的方式接入到网络中，且部署在需要的关键位置。</a:t>
            </a:r>
          </a:p>
        </p:txBody>
      </p:sp>
      <p:sp>
        <p:nvSpPr>
          <p:cNvPr id="45093" name="Line 37"/>
          <p:cNvSpPr>
            <a:spLocks noChangeShapeType="1"/>
          </p:cNvSpPr>
          <p:nvPr/>
        </p:nvSpPr>
        <p:spPr bwMode="auto">
          <a:xfrm flipV="1">
            <a:off x="2934523" y="3681797"/>
            <a:ext cx="1588" cy="576262"/>
          </a:xfrm>
          <a:prstGeom prst="line">
            <a:avLst/>
          </a:prstGeom>
          <a:noFill/>
          <a:ln w="50800">
            <a:solidFill>
              <a:schemeClr val="accent2"/>
            </a:solidFill>
            <a:round/>
            <a:headEnd type="none" w="sm" len="sm"/>
            <a:tailEnd type="none" w="sm" len="sm"/>
          </a:ln>
          <a:effectLst>
            <a:outerShdw dist="35921" dir="2700000" algn="ctr" rotWithShape="0">
              <a:schemeClr val="bg2"/>
            </a:outerShdw>
          </a:effectLst>
        </p:spPr>
        <p:txBody>
          <a:bodyPr/>
          <a:lstStyle/>
          <a:p>
            <a:pPr>
              <a:defRPr/>
            </a:pPr>
            <a:endParaRPr lang="zh-CN" altLang="en-US"/>
          </a:p>
        </p:txBody>
      </p:sp>
      <p:sp>
        <p:nvSpPr>
          <p:cNvPr id="5147" name="Line 38"/>
          <p:cNvSpPr>
            <a:spLocks noChangeShapeType="1"/>
          </p:cNvSpPr>
          <p:nvPr/>
        </p:nvSpPr>
        <p:spPr bwMode="auto">
          <a:xfrm>
            <a:off x="848548" y="3681797"/>
            <a:ext cx="323850" cy="611187"/>
          </a:xfrm>
          <a:prstGeom prst="line">
            <a:avLst/>
          </a:prstGeom>
          <a:noFill/>
          <a:ln w="9525">
            <a:solidFill>
              <a:schemeClr val="tx1"/>
            </a:solidFill>
            <a:round/>
            <a:tailEnd type="triangle" w="med" len="med"/>
          </a:ln>
        </p:spPr>
        <p:txBody>
          <a:bodyPr/>
          <a:lstStyle/>
          <a:p>
            <a:endParaRPr lang="zh-CN" altLang="en-US"/>
          </a:p>
        </p:txBody>
      </p:sp>
      <p:sp>
        <p:nvSpPr>
          <p:cNvPr id="5148" name="Rectangle 39"/>
          <p:cNvSpPr>
            <a:spLocks noChangeArrowheads="1"/>
          </p:cNvSpPr>
          <p:nvPr/>
        </p:nvSpPr>
        <p:spPr bwMode="auto">
          <a:xfrm>
            <a:off x="473898" y="3357947"/>
            <a:ext cx="949325" cy="397545"/>
          </a:xfrm>
          <a:prstGeom prst="rect">
            <a:avLst/>
          </a:prstGeom>
          <a:noFill/>
          <a:ln w="9525">
            <a:noFill/>
            <a:miter lim="800000"/>
          </a:ln>
        </p:spPr>
        <p:txBody>
          <a:bodyPr lIns="87313" tIns="44450" rIns="87313" bIns="44450">
            <a:spAutoFit/>
          </a:bodyPr>
          <a:lstStyle/>
          <a:p>
            <a:pPr defTabSz="825500" eaLnBrk="0" hangingPunct="0">
              <a:spcBef>
                <a:spcPct val="50000"/>
              </a:spcBef>
            </a:pPr>
            <a:r>
              <a:rPr lang="en-US" altLang="zh-CN" sz="2000" b="1" dirty="0">
                <a:solidFill>
                  <a:srgbClr val="FF0000"/>
                </a:solidFill>
                <a:latin typeface="Times New Roman" panose="02020603050405020304" pitchFamily="18" charset="0"/>
                <a:cs typeface="Times New Roman" panose="02020603050405020304" pitchFamily="18" charset="0"/>
              </a:rPr>
              <a:t>HIDS</a:t>
            </a:r>
          </a:p>
        </p:txBody>
      </p:sp>
      <p:graphicFrame>
        <p:nvGraphicFramePr>
          <p:cNvPr id="5126" name="Object 40"/>
          <p:cNvGraphicFramePr>
            <a:graphicFrameLocks noChangeAspect="1"/>
          </p:cNvGraphicFramePr>
          <p:nvPr/>
        </p:nvGraphicFramePr>
        <p:xfrm>
          <a:off x="2617024" y="3154747"/>
          <a:ext cx="628650" cy="571500"/>
        </p:xfrm>
        <a:graphic>
          <a:graphicData uri="http://schemas.openxmlformats.org/presentationml/2006/ole">
            <mc:AlternateContent xmlns:mc="http://schemas.openxmlformats.org/markup-compatibility/2006">
              <mc:Choice xmlns:v="urn:schemas-microsoft-com:vml" Requires="v">
                <p:oleObj spid="_x0000_s3203" name="Visio" r:id="rId11" imgW="1397000" imgH="1270000" progId="">
                  <p:embed/>
                </p:oleObj>
              </mc:Choice>
              <mc:Fallback>
                <p:oleObj name="Visio" r:id="rId11" imgW="1397000" imgH="1270000" progId="">
                  <p:embed/>
                  <p:pic>
                    <p:nvPicPr>
                      <p:cNvPr id="5126" name="Object 4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17024" y="3154747"/>
                        <a:ext cx="628650"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49" name="Rectangle 41"/>
          <p:cNvSpPr>
            <a:spLocks noChangeArrowheads="1"/>
          </p:cNvSpPr>
          <p:nvPr/>
        </p:nvSpPr>
        <p:spPr bwMode="auto">
          <a:xfrm>
            <a:off x="3126610" y="3085816"/>
            <a:ext cx="949325" cy="397545"/>
          </a:xfrm>
          <a:prstGeom prst="rect">
            <a:avLst/>
          </a:prstGeom>
          <a:noFill/>
          <a:ln w="9525">
            <a:noFill/>
            <a:miter lim="800000"/>
          </a:ln>
        </p:spPr>
        <p:txBody>
          <a:bodyPr lIns="87313" tIns="44450" rIns="87313" bIns="44450">
            <a:spAutoFit/>
          </a:bodyPr>
          <a:lstStyle/>
          <a:p>
            <a:pPr defTabSz="825500" eaLnBrk="0" hangingPunct="0">
              <a:spcBef>
                <a:spcPct val="50000"/>
              </a:spcBef>
            </a:pPr>
            <a:r>
              <a:rPr lang="en-US" altLang="zh-CN" sz="2000" b="1" dirty="0">
                <a:solidFill>
                  <a:srgbClr val="FF0000"/>
                </a:solidFill>
                <a:latin typeface="Times New Roman" panose="02020603050405020304" pitchFamily="18" charset="0"/>
                <a:cs typeface="Times New Roman" panose="02020603050405020304" pitchFamily="18" charset="0"/>
              </a:rPr>
              <a:t>NIDS</a:t>
            </a:r>
          </a:p>
        </p:txBody>
      </p:sp>
      <p:graphicFrame>
        <p:nvGraphicFramePr>
          <p:cNvPr id="5127" name="Object 42"/>
          <p:cNvGraphicFramePr>
            <a:graphicFrameLocks noChangeAspect="1"/>
          </p:cNvGraphicFramePr>
          <p:nvPr/>
        </p:nvGraphicFramePr>
        <p:xfrm>
          <a:off x="3620323" y="5121659"/>
          <a:ext cx="628650" cy="571500"/>
        </p:xfrm>
        <a:graphic>
          <a:graphicData uri="http://schemas.openxmlformats.org/presentationml/2006/ole">
            <mc:AlternateContent xmlns:mc="http://schemas.openxmlformats.org/markup-compatibility/2006">
              <mc:Choice xmlns:v="urn:schemas-microsoft-com:vml" Requires="v">
                <p:oleObj spid="_x0000_s3204" name="Visio" r:id="rId13" imgW="1397000" imgH="1270000" progId="">
                  <p:embed/>
                </p:oleObj>
              </mc:Choice>
              <mc:Fallback>
                <p:oleObj name="Visio" r:id="rId13" imgW="1397000" imgH="1270000" progId="">
                  <p:embed/>
                  <p:pic>
                    <p:nvPicPr>
                      <p:cNvPr id="5127" name="Object 4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20323" y="5121659"/>
                        <a:ext cx="628650"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50" name="Rectangle 43"/>
          <p:cNvSpPr>
            <a:spLocks noChangeArrowheads="1"/>
          </p:cNvSpPr>
          <p:nvPr/>
        </p:nvSpPr>
        <p:spPr bwMode="auto">
          <a:xfrm>
            <a:off x="3547298" y="5732847"/>
            <a:ext cx="949325" cy="397545"/>
          </a:xfrm>
          <a:prstGeom prst="rect">
            <a:avLst/>
          </a:prstGeom>
          <a:noFill/>
          <a:ln w="9525">
            <a:noFill/>
            <a:miter lim="800000"/>
          </a:ln>
        </p:spPr>
        <p:txBody>
          <a:bodyPr lIns="87313" tIns="44450" rIns="87313" bIns="44450">
            <a:spAutoFit/>
          </a:bodyPr>
          <a:lstStyle/>
          <a:p>
            <a:pPr defTabSz="825500" eaLnBrk="0" hangingPunct="0">
              <a:spcBef>
                <a:spcPct val="50000"/>
              </a:spcBef>
            </a:pPr>
            <a:r>
              <a:rPr lang="en-US" altLang="zh-CN" sz="2000" b="1" dirty="0">
                <a:solidFill>
                  <a:srgbClr val="FF0000"/>
                </a:solidFill>
                <a:latin typeface="Times New Roman" panose="02020603050405020304" pitchFamily="18" charset="0"/>
                <a:cs typeface="Times New Roman" panose="02020603050405020304" pitchFamily="18" charset="0"/>
              </a:rPr>
              <a:t>NIDS</a:t>
            </a:r>
          </a:p>
        </p:txBody>
      </p:sp>
      <p:graphicFrame>
        <p:nvGraphicFramePr>
          <p:cNvPr id="5128" name="Object 44"/>
          <p:cNvGraphicFramePr>
            <a:graphicFrameLocks noChangeAspect="1"/>
          </p:cNvGraphicFramePr>
          <p:nvPr/>
        </p:nvGraphicFramePr>
        <p:xfrm>
          <a:off x="3484011" y="3915160"/>
          <a:ext cx="852487" cy="742950"/>
        </p:xfrm>
        <a:graphic>
          <a:graphicData uri="http://schemas.openxmlformats.org/presentationml/2006/ole">
            <mc:AlternateContent xmlns:mc="http://schemas.openxmlformats.org/markup-compatibility/2006">
              <mc:Choice xmlns:v="urn:schemas-microsoft-com:vml" Requires="v">
                <p:oleObj spid="_x0000_s3205" name="Visio" r:id="rId14" imgW="1905000" imgH="1663700" progId="">
                  <p:embed/>
                </p:oleObj>
              </mc:Choice>
              <mc:Fallback>
                <p:oleObj name="Visio" r:id="rId14" imgW="1905000" imgH="1663700" progId="">
                  <p:embed/>
                  <p:pic>
                    <p:nvPicPr>
                      <p:cNvPr id="5128" name="Object 4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484011" y="3915160"/>
                        <a:ext cx="852487" cy="74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矩形 1"/>
          <p:cNvSpPr/>
          <p:nvPr/>
        </p:nvSpPr>
        <p:spPr>
          <a:xfrm>
            <a:off x="611721" y="1435207"/>
            <a:ext cx="1627369" cy="523220"/>
          </a:xfrm>
          <a:prstGeom prst="rect">
            <a:avLst/>
          </a:prstGeom>
        </p:spPr>
        <p:txBody>
          <a:bodyPr wrap="none">
            <a:spAutoFit/>
          </a:bodyPr>
          <a:lstStyle/>
          <a:p>
            <a:r>
              <a:rPr lang="zh-CN" altLang="en-US" sz="2800" b="1" dirty="0">
                <a:solidFill>
                  <a:srgbClr val="FF0000"/>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典型部署</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145"/>
                                        </p:tgtEl>
                                        <p:attrNameLst>
                                          <p:attrName>style.visibility</p:attrName>
                                        </p:attrNameLst>
                                      </p:cBhvr>
                                      <p:to>
                                        <p:strVal val="visible"/>
                                      </p:to>
                                    </p:set>
                                    <p:anim calcmode="lin" valueType="num">
                                      <p:cBhvr>
                                        <p:cTn id="7" dur="500" fill="hold"/>
                                        <p:tgtEl>
                                          <p:spTgt spid="5145"/>
                                        </p:tgtEl>
                                        <p:attrNameLst>
                                          <p:attrName>ppt_w</p:attrName>
                                        </p:attrNameLst>
                                      </p:cBhvr>
                                      <p:tavLst>
                                        <p:tav tm="0">
                                          <p:val>
                                            <p:fltVal val="0"/>
                                          </p:val>
                                        </p:tav>
                                        <p:tav tm="100000">
                                          <p:val>
                                            <p:strVal val="#ppt_w"/>
                                          </p:val>
                                        </p:tav>
                                      </p:tavLst>
                                    </p:anim>
                                    <p:anim calcmode="lin" valueType="num">
                                      <p:cBhvr>
                                        <p:cTn id="8" dur="500" fill="hold"/>
                                        <p:tgtEl>
                                          <p:spTgt spid="5145"/>
                                        </p:tgtEl>
                                        <p:attrNameLst>
                                          <p:attrName>ppt_h</p:attrName>
                                        </p:attrNameLst>
                                      </p:cBhvr>
                                      <p:tavLst>
                                        <p:tav tm="0">
                                          <p:val>
                                            <p:fltVal val="0"/>
                                          </p:val>
                                        </p:tav>
                                        <p:tav tm="100000">
                                          <p:val>
                                            <p:strVal val="#ppt_h"/>
                                          </p:val>
                                        </p:tav>
                                      </p:tavLst>
                                    </p:anim>
                                    <p:animEffect transition="in" filter="fade">
                                      <p:cBhvr>
                                        <p:cTn id="9" dur="500"/>
                                        <p:tgtEl>
                                          <p:spTgt spid="5145"/>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5132"/>
                                        </p:tgtEl>
                                        <p:attrNameLst>
                                          <p:attrName>style.visibility</p:attrName>
                                        </p:attrNameLst>
                                      </p:cBhvr>
                                      <p:to>
                                        <p:strVal val="visible"/>
                                      </p:to>
                                    </p:set>
                                    <p:animEffect transition="in" filter="wipe(left)">
                                      <p:cBhvr>
                                        <p:cTn id="14" dur="500"/>
                                        <p:tgtEl>
                                          <p:spTgt spid="5132"/>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5133"/>
                                        </p:tgtEl>
                                        <p:attrNameLst>
                                          <p:attrName>style.visibility</p:attrName>
                                        </p:attrNameLst>
                                      </p:cBhvr>
                                      <p:to>
                                        <p:strVal val="visible"/>
                                      </p:to>
                                    </p:set>
                                    <p:animEffect transition="in" filter="wipe(left)">
                                      <p:cBhvr>
                                        <p:cTn id="17" dur="500"/>
                                        <p:tgtEl>
                                          <p:spTgt spid="5133"/>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45066"/>
                                        </p:tgtEl>
                                        <p:attrNameLst>
                                          <p:attrName>style.visibility</p:attrName>
                                        </p:attrNameLst>
                                      </p:cBhvr>
                                      <p:to>
                                        <p:strVal val="visible"/>
                                      </p:to>
                                    </p:set>
                                    <p:animEffect transition="in" filter="wipe(left)">
                                      <p:cBhvr>
                                        <p:cTn id="20" dur="500"/>
                                        <p:tgtEl>
                                          <p:spTgt spid="45066"/>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45067"/>
                                        </p:tgtEl>
                                        <p:attrNameLst>
                                          <p:attrName>style.visibility</p:attrName>
                                        </p:attrNameLst>
                                      </p:cBhvr>
                                      <p:to>
                                        <p:strVal val="visible"/>
                                      </p:to>
                                    </p:set>
                                    <p:animEffect transition="in" filter="wipe(left)">
                                      <p:cBhvr>
                                        <p:cTn id="23" dur="500"/>
                                        <p:tgtEl>
                                          <p:spTgt spid="45067"/>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45068"/>
                                        </p:tgtEl>
                                        <p:attrNameLst>
                                          <p:attrName>style.visibility</p:attrName>
                                        </p:attrNameLst>
                                      </p:cBhvr>
                                      <p:to>
                                        <p:strVal val="visible"/>
                                      </p:to>
                                    </p:set>
                                    <p:animEffect transition="in" filter="wipe(left)">
                                      <p:cBhvr>
                                        <p:cTn id="26" dur="500"/>
                                        <p:tgtEl>
                                          <p:spTgt spid="45068"/>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45069"/>
                                        </p:tgtEl>
                                        <p:attrNameLst>
                                          <p:attrName>style.visibility</p:attrName>
                                        </p:attrNameLst>
                                      </p:cBhvr>
                                      <p:to>
                                        <p:strVal val="visible"/>
                                      </p:to>
                                    </p:set>
                                    <p:animEffect transition="in" filter="wipe(left)">
                                      <p:cBhvr>
                                        <p:cTn id="29" dur="500"/>
                                        <p:tgtEl>
                                          <p:spTgt spid="45069"/>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5138"/>
                                        </p:tgtEl>
                                        <p:attrNameLst>
                                          <p:attrName>style.visibility</p:attrName>
                                        </p:attrNameLst>
                                      </p:cBhvr>
                                      <p:to>
                                        <p:strVal val="visible"/>
                                      </p:to>
                                    </p:set>
                                    <p:animEffect transition="in" filter="wipe(left)">
                                      <p:cBhvr>
                                        <p:cTn id="32" dur="500"/>
                                        <p:tgtEl>
                                          <p:spTgt spid="5138"/>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5139"/>
                                        </p:tgtEl>
                                        <p:attrNameLst>
                                          <p:attrName>style.visibility</p:attrName>
                                        </p:attrNameLst>
                                      </p:cBhvr>
                                      <p:to>
                                        <p:strVal val="visible"/>
                                      </p:to>
                                    </p:set>
                                    <p:animEffect transition="in" filter="wipe(left)">
                                      <p:cBhvr>
                                        <p:cTn id="35" dur="500"/>
                                        <p:tgtEl>
                                          <p:spTgt spid="5139"/>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5140"/>
                                        </p:tgtEl>
                                        <p:attrNameLst>
                                          <p:attrName>style.visibility</p:attrName>
                                        </p:attrNameLst>
                                      </p:cBhvr>
                                      <p:to>
                                        <p:strVal val="visible"/>
                                      </p:to>
                                    </p:set>
                                    <p:animEffect transition="in" filter="wipe(left)">
                                      <p:cBhvr>
                                        <p:cTn id="38" dur="500"/>
                                        <p:tgtEl>
                                          <p:spTgt spid="5140"/>
                                        </p:tgtEl>
                                      </p:cBhvr>
                                    </p:animEffect>
                                  </p:childTnLst>
                                </p:cTn>
                              </p:par>
                              <p:par>
                                <p:cTn id="39" presetID="22" presetClass="entr" presetSubtype="8" fill="hold" nodeType="withEffect">
                                  <p:stCondLst>
                                    <p:cond delay="0"/>
                                  </p:stCondLst>
                                  <p:childTnLst>
                                    <p:set>
                                      <p:cBhvr>
                                        <p:cTn id="40" dur="1" fill="hold">
                                          <p:stCondLst>
                                            <p:cond delay="0"/>
                                          </p:stCondLst>
                                        </p:cTn>
                                        <p:tgtEl>
                                          <p:spTgt spid="5141"/>
                                        </p:tgtEl>
                                        <p:attrNameLst>
                                          <p:attrName>style.visibility</p:attrName>
                                        </p:attrNameLst>
                                      </p:cBhvr>
                                      <p:to>
                                        <p:strVal val="visible"/>
                                      </p:to>
                                    </p:set>
                                    <p:animEffect transition="in" filter="wipe(left)">
                                      <p:cBhvr>
                                        <p:cTn id="41" dur="500"/>
                                        <p:tgtEl>
                                          <p:spTgt spid="5141"/>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5142"/>
                                        </p:tgtEl>
                                        <p:attrNameLst>
                                          <p:attrName>style.visibility</p:attrName>
                                        </p:attrNameLst>
                                      </p:cBhvr>
                                      <p:to>
                                        <p:strVal val="visible"/>
                                      </p:to>
                                    </p:set>
                                    <p:animEffect transition="in" filter="wipe(left)">
                                      <p:cBhvr>
                                        <p:cTn id="44" dur="500"/>
                                        <p:tgtEl>
                                          <p:spTgt spid="5142"/>
                                        </p:tgtEl>
                                      </p:cBhvr>
                                    </p:animEffect>
                                  </p:childTnLst>
                                </p:cTn>
                              </p:par>
                              <p:par>
                                <p:cTn id="45" presetID="22" presetClass="entr" presetSubtype="8" fill="hold" nodeType="withEffect">
                                  <p:stCondLst>
                                    <p:cond delay="0"/>
                                  </p:stCondLst>
                                  <p:childTnLst>
                                    <p:set>
                                      <p:cBhvr>
                                        <p:cTn id="46" dur="1" fill="hold">
                                          <p:stCondLst>
                                            <p:cond delay="0"/>
                                          </p:stCondLst>
                                        </p:cTn>
                                        <p:tgtEl>
                                          <p:spTgt spid="5143"/>
                                        </p:tgtEl>
                                        <p:attrNameLst>
                                          <p:attrName>style.visibility</p:attrName>
                                        </p:attrNameLst>
                                      </p:cBhvr>
                                      <p:to>
                                        <p:strVal val="visible"/>
                                      </p:to>
                                    </p:set>
                                    <p:animEffect transition="in" filter="wipe(left)">
                                      <p:cBhvr>
                                        <p:cTn id="47" dur="500"/>
                                        <p:tgtEl>
                                          <p:spTgt spid="5143"/>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5144"/>
                                        </p:tgtEl>
                                        <p:attrNameLst>
                                          <p:attrName>style.visibility</p:attrName>
                                        </p:attrNameLst>
                                      </p:cBhvr>
                                      <p:to>
                                        <p:strVal val="visible"/>
                                      </p:to>
                                    </p:set>
                                    <p:animEffect transition="in" filter="wipe(left)">
                                      <p:cBhvr>
                                        <p:cTn id="50" dur="500"/>
                                        <p:tgtEl>
                                          <p:spTgt spid="5144"/>
                                        </p:tgtEl>
                                      </p:cBhvr>
                                    </p:animEffect>
                                  </p:childTnLst>
                                </p:cTn>
                              </p:par>
                              <p:par>
                                <p:cTn id="51" presetID="22" presetClass="entr" presetSubtype="8" fill="hold" nodeType="withEffect">
                                  <p:stCondLst>
                                    <p:cond delay="0"/>
                                  </p:stCondLst>
                                  <p:childTnLst>
                                    <p:set>
                                      <p:cBhvr>
                                        <p:cTn id="52" dur="1" fill="hold">
                                          <p:stCondLst>
                                            <p:cond delay="0"/>
                                          </p:stCondLst>
                                        </p:cTn>
                                        <p:tgtEl>
                                          <p:spTgt spid="5122"/>
                                        </p:tgtEl>
                                        <p:attrNameLst>
                                          <p:attrName>style.visibility</p:attrName>
                                        </p:attrNameLst>
                                      </p:cBhvr>
                                      <p:to>
                                        <p:strVal val="visible"/>
                                      </p:to>
                                    </p:set>
                                    <p:animEffect transition="in" filter="wipe(left)">
                                      <p:cBhvr>
                                        <p:cTn id="53" dur="500"/>
                                        <p:tgtEl>
                                          <p:spTgt spid="5122"/>
                                        </p:tgtEl>
                                      </p:cBhvr>
                                    </p:animEffect>
                                  </p:childTnLst>
                                </p:cTn>
                              </p:par>
                              <p:par>
                                <p:cTn id="54" presetID="22" presetClass="entr" presetSubtype="8" fill="hold" nodeType="withEffect">
                                  <p:stCondLst>
                                    <p:cond delay="0"/>
                                  </p:stCondLst>
                                  <p:childTnLst>
                                    <p:set>
                                      <p:cBhvr>
                                        <p:cTn id="55" dur="1" fill="hold">
                                          <p:stCondLst>
                                            <p:cond delay="0"/>
                                          </p:stCondLst>
                                        </p:cTn>
                                        <p:tgtEl>
                                          <p:spTgt spid="5123"/>
                                        </p:tgtEl>
                                        <p:attrNameLst>
                                          <p:attrName>style.visibility</p:attrName>
                                        </p:attrNameLst>
                                      </p:cBhvr>
                                      <p:to>
                                        <p:strVal val="visible"/>
                                      </p:to>
                                    </p:set>
                                    <p:animEffect transition="in" filter="wipe(left)">
                                      <p:cBhvr>
                                        <p:cTn id="56" dur="500"/>
                                        <p:tgtEl>
                                          <p:spTgt spid="5123"/>
                                        </p:tgtEl>
                                      </p:cBhvr>
                                    </p:animEffect>
                                  </p:childTnLst>
                                </p:cTn>
                              </p:par>
                              <p:par>
                                <p:cTn id="57" presetID="22" presetClass="entr" presetSubtype="8" fill="hold" nodeType="withEffect">
                                  <p:stCondLst>
                                    <p:cond delay="0"/>
                                  </p:stCondLst>
                                  <p:childTnLst>
                                    <p:set>
                                      <p:cBhvr>
                                        <p:cTn id="58" dur="1" fill="hold">
                                          <p:stCondLst>
                                            <p:cond delay="0"/>
                                          </p:stCondLst>
                                        </p:cTn>
                                        <p:tgtEl>
                                          <p:spTgt spid="5124"/>
                                        </p:tgtEl>
                                        <p:attrNameLst>
                                          <p:attrName>style.visibility</p:attrName>
                                        </p:attrNameLst>
                                      </p:cBhvr>
                                      <p:to>
                                        <p:strVal val="visible"/>
                                      </p:to>
                                    </p:set>
                                    <p:animEffect transition="in" filter="wipe(left)">
                                      <p:cBhvr>
                                        <p:cTn id="59" dur="500"/>
                                        <p:tgtEl>
                                          <p:spTgt spid="5124"/>
                                        </p:tgtEl>
                                      </p:cBhvr>
                                    </p:animEffect>
                                  </p:childTnLst>
                                </p:cTn>
                              </p:par>
                              <p:par>
                                <p:cTn id="60" presetID="22" presetClass="entr" presetSubtype="8" fill="hold" nodeType="withEffect">
                                  <p:stCondLst>
                                    <p:cond delay="0"/>
                                  </p:stCondLst>
                                  <p:childTnLst>
                                    <p:set>
                                      <p:cBhvr>
                                        <p:cTn id="61" dur="1" fill="hold">
                                          <p:stCondLst>
                                            <p:cond delay="0"/>
                                          </p:stCondLst>
                                        </p:cTn>
                                        <p:tgtEl>
                                          <p:spTgt spid="5125"/>
                                        </p:tgtEl>
                                        <p:attrNameLst>
                                          <p:attrName>style.visibility</p:attrName>
                                        </p:attrNameLst>
                                      </p:cBhvr>
                                      <p:to>
                                        <p:strVal val="visible"/>
                                      </p:to>
                                    </p:set>
                                    <p:animEffect transition="in" filter="wipe(left)">
                                      <p:cBhvr>
                                        <p:cTn id="62" dur="500"/>
                                        <p:tgtEl>
                                          <p:spTgt spid="5125"/>
                                        </p:tgtEl>
                                      </p:cBhvr>
                                    </p:animEffect>
                                  </p:childTnLst>
                                </p:cTn>
                              </p:par>
                              <p:par>
                                <p:cTn id="63" presetID="22" presetClass="entr" presetSubtype="8" fill="hold" grpId="0" nodeType="withEffect">
                                  <p:stCondLst>
                                    <p:cond delay="0"/>
                                  </p:stCondLst>
                                  <p:childTnLst>
                                    <p:set>
                                      <p:cBhvr>
                                        <p:cTn id="64" dur="1" fill="hold">
                                          <p:stCondLst>
                                            <p:cond delay="0"/>
                                          </p:stCondLst>
                                        </p:cTn>
                                        <p:tgtEl>
                                          <p:spTgt spid="45093"/>
                                        </p:tgtEl>
                                        <p:attrNameLst>
                                          <p:attrName>style.visibility</p:attrName>
                                        </p:attrNameLst>
                                      </p:cBhvr>
                                      <p:to>
                                        <p:strVal val="visible"/>
                                      </p:to>
                                    </p:set>
                                    <p:animEffect transition="in" filter="wipe(left)">
                                      <p:cBhvr>
                                        <p:cTn id="65" dur="500"/>
                                        <p:tgtEl>
                                          <p:spTgt spid="45093"/>
                                        </p:tgtEl>
                                      </p:cBhvr>
                                    </p:animEffect>
                                  </p:childTnLst>
                                </p:cTn>
                              </p:par>
                              <p:par>
                                <p:cTn id="66" presetID="22" presetClass="entr" presetSubtype="8" fill="hold" grpId="0" nodeType="withEffect">
                                  <p:stCondLst>
                                    <p:cond delay="0"/>
                                  </p:stCondLst>
                                  <p:childTnLst>
                                    <p:set>
                                      <p:cBhvr>
                                        <p:cTn id="67" dur="1" fill="hold">
                                          <p:stCondLst>
                                            <p:cond delay="0"/>
                                          </p:stCondLst>
                                        </p:cTn>
                                        <p:tgtEl>
                                          <p:spTgt spid="5147"/>
                                        </p:tgtEl>
                                        <p:attrNameLst>
                                          <p:attrName>style.visibility</p:attrName>
                                        </p:attrNameLst>
                                      </p:cBhvr>
                                      <p:to>
                                        <p:strVal val="visible"/>
                                      </p:to>
                                    </p:set>
                                    <p:animEffect transition="in" filter="wipe(left)">
                                      <p:cBhvr>
                                        <p:cTn id="68" dur="500"/>
                                        <p:tgtEl>
                                          <p:spTgt spid="5147"/>
                                        </p:tgtEl>
                                      </p:cBhvr>
                                    </p:animEffect>
                                  </p:childTnLst>
                                </p:cTn>
                              </p:par>
                              <p:par>
                                <p:cTn id="69" presetID="22" presetClass="entr" presetSubtype="8" fill="hold" grpId="0" nodeType="withEffect">
                                  <p:stCondLst>
                                    <p:cond delay="0"/>
                                  </p:stCondLst>
                                  <p:childTnLst>
                                    <p:set>
                                      <p:cBhvr>
                                        <p:cTn id="70" dur="1" fill="hold">
                                          <p:stCondLst>
                                            <p:cond delay="0"/>
                                          </p:stCondLst>
                                        </p:cTn>
                                        <p:tgtEl>
                                          <p:spTgt spid="5148"/>
                                        </p:tgtEl>
                                        <p:attrNameLst>
                                          <p:attrName>style.visibility</p:attrName>
                                        </p:attrNameLst>
                                      </p:cBhvr>
                                      <p:to>
                                        <p:strVal val="visible"/>
                                      </p:to>
                                    </p:set>
                                    <p:animEffect transition="in" filter="wipe(left)">
                                      <p:cBhvr>
                                        <p:cTn id="71" dur="500"/>
                                        <p:tgtEl>
                                          <p:spTgt spid="5148"/>
                                        </p:tgtEl>
                                      </p:cBhvr>
                                    </p:animEffect>
                                  </p:childTnLst>
                                </p:cTn>
                              </p:par>
                              <p:par>
                                <p:cTn id="72" presetID="22" presetClass="entr" presetSubtype="8" fill="hold" nodeType="withEffect">
                                  <p:stCondLst>
                                    <p:cond delay="0"/>
                                  </p:stCondLst>
                                  <p:childTnLst>
                                    <p:set>
                                      <p:cBhvr>
                                        <p:cTn id="73" dur="1" fill="hold">
                                          <p:stCondLst>
                                            <p:cond delay="0"/>
                                          </p:stCondLst>
                                        </p:cTn>
                                        <p:tgtEl>
                                          <p:spTgt spid="5126"/>
                                        </p:tgtEl>
                                        <p:attrNameLst>
                                          <p:attrName>style.visibility</p:attrName>
                                        </p:attrNameLst>
                                      </p:cBhvr>
                                      <p:to>
                                        <p:strVal val="visible"/>
                                      </p:to>
                                    </p:set>
                                    <p:animEffect transition="in" filter="wipe(left)">
                                      <p:cBhvr>
                                        <p:cTn id="74" dur="500"/>
                                        <p:tgtEl>
                                          <p:spTgt spid="5126"/>
                                        </p:tgtEl>
                                      </p:cBhvr>
                                    </p:animEffect>
                                  </p:childTnLst>
                                </p:cTn>
                              </p:par>
                              <p:par>
                                <p:cTn id="75" presetID="22" presetClass="entr" presetSubtype="8" fill="hold" grpId="0" nodeType="withEffect">
                                  <p:stCondLst>
                                    <p:cond delay="0"/>
                                  </p:stCondLst>
                                  <p:childTnLst>
                                    <p:set>
                                      <p:cBhvr>
                                        <p:cTn id="76" dur="1" fill="hold">
                                          <p:stCondLst>
                                            <p:cond delay="0"/>
                                          </p:stCondLst>
                                        </p:cTn>
                                        <p:tgtEl>
                                          <p:spTgt spid="5149"/>
                                        </p:tgtEl>
                                        <p:attrNameLst>
                                          <p:attrName>style.visibility</p:attrName>
                                        </p:attrNameLst>
                                      </p:cBhvr>
                                      <p:to>
                                        <p:strVal val="visible"/>
                                      </p:to>
                                    </p:set>
                                    <p:animEffect transition="in" filter="wipe(left)">
                                      <p:cBhvr>
                                        <p:cTn id="77" dur="500"/>
                                        <p:tgtEl>
                                          <p:spTgt spid="5149"/>
                                        </p:tgtEl>
                                      </p:cBhvr>
                                    </p:animEffect>
                                  </p:childTnLst>
                                </p:cTn>
                              </p:par>
                              <p:par>
                                <p:cTn id="78" presetID="22" presetClass="entr" presetSubtype="8" fill="hold" nodeType="withEffect">
                                  <p:stCondLst>
                                    <p:cond delay="0"/>
                                  </p:stCondLst>
                                  <p:childTnLst>
                                    <p:set>
                                      <p:cBhvr>
                                        <p:cTn id="79" dur="1" fill="hold">
                                          <p:stCondLst>
                                            <p:cond delay="0"/>
                                          </p:stCondLst>
                                        </p:cTn>
                                        <p:tgtEl>
                                          <p:spTgt spid="5127"/>
                                        </p:tgtEl>
                                        <p:attrNameLst>
                                          <p:attrName>style.visibility</p:attrName>
                                        </p:attrNameLst>
                                      </p:cBhvr>
                                      <p:to>
                                        <p:strVal val="visible"/>
                                      </p:to>
                                    </p:set>
                                    <p:animEffect transition="in" filter="wipe(left)">
                                      <p:cBhvr>
                                        <p:cTn id="80" dur="500"/>
                                        <p:tgtEl>
                                          <p:spTgt spid="5127"/>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5150"/>
                                        </p:tgtEl>
                                        <p:attrNameLst>
                                          <p:attrName>style.visibility</p:attrName>
                                        </p:attrNameLst>
                                      </p:cBhvr>
                                      <p:to>
                                        <p:strVal val="visible"/>
                                      </p:to>
                                    </p:set>
                                    <p:animEffect transition="in" filter="wipe(left)">
                                      <p:cBhvr>
                                        <p:cTn id="83" dur="500"/>
                                        <p:tgtEl>
                                          <p:spTgt spid="5150"/>
                                        </p:tgtEl>
                                      </p:cBhvr>
                                    </p:animEffect>
                                  </p:childTnLst>
                                </p:cTn>
                              </p:par>
                              <p:par>
                                <p:cTn id="84" presetID="22" presetClass="entr" presetSubtype="8" fill="hold" nodeType="withEffect">
                                  <p:stCondLst>
                                    <p:cond delay="0"/>
                                  </p:stCondLst>
                                  <p:childTnLst>
                                    <p:set>
                                      <p:cBhvr>
                                        <p:cTn id="85" dur="1" fill="hold">
                                          <p:stCondLst>
                                            <p:cond delay="0"/>
                                          </p:stCondLst>
                                        </p:cTn>
                                        <p:tgtEl>
                                          <p:spTgt spid="5128"/>
                                        </p:tgtEl>
                                        <p:attrNameLst>
                                          <p:attrName>style.visibility</p:attrName>
                                        </p:attrNameLst>
                                      </p:cBhvr>
                                      <p:to>
                                        <p:strVal val="visible"/>
                                      </p:to>
                                    </p:set>
                                    <p:animEffect transition="in" filter="wipe(left)">
                                      <p:cBhvr>
                                        <p:cTn id="86" dur="500"/>
                                        <p:tgtEl>
                                          <p:spTgt spid="5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2" grpId="0" animBg="1"/>
      <p:bldP spid="5133" grpId="0" animBg="1"/>
      <p:bldP spid="45066" grpId="0" animBg="1"/>
      <p:bldP spid="45067" grpId="0" animBg="1"/>
      <p:bldP spid="45068" grpId="0" animBg="1"/>
      <p:bldP spid="45069" grpId="0" animBg="1"/>
      <p:bldP spid="5138" grpId="0"/>
      <p:bldP spid="5139" grpId="0"/>
      <p:bldP spid="5140" grpId="0"/>
      <p:bldP spid="5142" grpId="0"/>
      <p:bldP spid="5144" grpId="0"/>
      <p:bldP spid="5145" grpId="0"/>
      <p:bldP spid="45093" grpId="0" animBg="1"/>
      <p:bldP spid="5147" grpId="0" animBg="1"/>
      <p:bldP spid="5148" grpId="0"/>
      <p:bldP spid="5149" grpId="0"/>
      <p:bldP spid="5150" grpId="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a:xfrm>
            <a:off x="685800" y="1772816"/>
            <a:ext cx="7848600" cy="3420727"/>
          </a:xfrm>
          <a:prstGeom prst="rect">
            <a:avLst/>
          </a:prstGeom>
        </p:spPr>
        <p:txBody>
          <a:bodyPr/>
          <a:lstStyle/>
          <a:p>
            <a:pPr marL="342900" marR="0" lvl="0" indent="-342900" algn="l" defTabSz="914400" rtl="0" eaLnBrk="1" fontAlgn="base" latinLnBrk="0" hangingPunct="1">
              <a:lnSpc>
                <a:spcPct val="90000"/>
              </a:lnSpc>
              <a:spcBef>
                <a:spcPct val="20000"/>
              </a:spcBef>
              <a:spcAft>
                <a:spcPct val="0"/>
              </a:spcAft>
              <a:buClr>
                <a:srgbClr val="3399FF"/>
              </a:buClr>
              <a:buSzTx/>
              <a:buFont typeface="Wingdings" panose="05000000000000000000" pitchFamily="2" charset="2"/>
              <a:buChar char="v"/>
              <a:defRPr/>
            </a:pPr>
            <a:r>
              <a:rPr kumimoji="0" lang="zh-CN" altLang="en-US" sz="2800" b="1" i="0" u="none" strike="noStrike" kern="0" cap="none" spc="0" normalizeH="0" baseline="0" noProof="0" dirty="0">
                <a:ln>
                  <a:noFill/>
                </a:ln>
                <a:solidFill>
                  <a:srgbClr val="0000CC"/>
                </a:solidFill>
                <a:effectLst>
                  <a:outerShdw blurRad="38100" dist="38100" dir="2700000" algn="tl">
                    <a:srgbClr val="000000">
                      <a:alpha val="43137"/>
                    </a:srgbClr>
                  </a:outerShdw>
                </a:effectLst>
                <a:uLnTx/>
                <a:uFillTx/>
                <a:latin typeface="Times New Roman" panose="02020603050405020304" pitchFamily="18" charset="0"/>
                <a:ea typeface="+mn-ea"/>
                <a:cs typeface="Times New Roman" panose="02020603050405020304" pitchFamily="18" charset="0"/>
              </a:rPr>
              <a:t>入侵检测系统的管理和部署</a:t>
            </a:r>
          </a:p>
          <a:p>
            <a:pPr marL="742950" marR="0" lvl="1" indent="-285750" algn="l" defTabSz="914400" rtl="0" eaLnBrk="1" fontAlgn="base" latinLnBrk="0" hangingPunct="1">
              <a:lnSpc>
                <a:spcPct val="90000"/>
              </a:lnSpc>
              <a:spcBef>
                <a:spcPct val="20000"/>
              </a:spcBef>
              <a:spcAft>
                <a:spcPct val="0"/>
              </a:spcAft>
              <a:buClr>
                <a:srgbClr val="FF9900"/>
              </a:buClr>
              <a:buSzTx/>
              <a:buFont typeface="Wingdings" panose="05000000000000000000" pitchFamily="2" charset="2"/>
              <a:buChar char="§"/>
              <a:defRPr/>
            </a:pPr>
            <a:r>
              <a:rPr kumimoji="0" lang="zh-CN" altLang="en-US" sz="2400" b="1"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mn-ea"/>
                <a:cs typeface="Times New Roman" panose="02020603050405020304" pitchFamily="18" charset="0"/>
              </a:rPr>
              <a:t>多种</a:t>
            </a:r>
            <a:r>
              <a:rPr kumimoji="0" lang="en-US" altLang="zh-CN" sz="2400" b="1"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mn-ea"/>
                <a:cs typeface="Times New Roman" panose="02020603050405020304" pitchFamily="18" charset="0"/>
              </a:rPr>
              <a:t>IDS</a:t>
            </a:r>
            <a:r>
              <a:rPr kumimoji="0" lang="zh-CN" altLang="en-US" sz="2400" b="1"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mn-ea"/>
                <a:cs typeface="Times New Roman" panose="02020603050405020304" pitchFamily="18" charset="0"/>
              </a:rPr>
              <a:t>的协作</a:t>
            </a:r>
          </a:p>
          <a:p>
            <a:pPr marL="742950" marR="0" lvl="1" indent="-285750" algn="l" defTabSz="914400" rtl="0" eaLnBrk="1" fontAlgn="base" latinLnBrk="0" hangingPunct="1">
              <a:lnSpc>
                <a:spcPct val="90000"/>
              </a:lnSpc>
              <a:spcBef>
                <a:spcPct val="20000"/>
              </a:spcBef>
              <a:spcAft>
                <a:spcPct val="0"/>
              </a:spcAft>
              <a:buClr>
                <a:srgbClr val="FF9900"/>
              </a:buClr>
              <a:buSzTx/>
              <a:buFont typeface="Wingdings" panose="05000000000000000000" pitchFamily="2" charset="2"/>
              <a:buChar char="§"/>
              <a:defRPr/>
            </a:pPr>
            <a:r>
              <a:rPr kumimoji="0" lang="zh-CN" altLang="en-US" sz="2400" b="1"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mn-ea"/>
                <a:cs typeface="Times New Roman" panose="02020603050405020304" pitchFamily="18" charset="0"/>
              </a:rPr>
              <a:t>管理平台和</a:t>
            </a:r>
            <a:r>
              <a:rPr kumimoji="0" lang="en-US" altLang="zh-CN" sz="2400" b="1"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mn-ea"/>
                <a:cs typeface="Times New Roman" panose="02020603050405020304" pitchFamily="18" charset="0"/>
              </a:rPr>
              <a:t>sensor</a:t>
            </a:r>
          </a:p>
          <a:p>
            <a:pPr marL="342900" marR="0" lvl="0" indent="-342900" algn="l" defTabSz="914400" rtl="0" eaLnBrk="1" fontAlgn="base" latinLnBrk="0" hangingPunct="1">
              <a:lnSpc>
                <a:spcPct val="90000"/>
              </a:lnSpc>
              <a:spcBef>
                <a:spcPct val="20000"/>
              </a:spcBef>
              <a:spcAft>
                <a:spcPct val="0"/>
              </a:spcAft>
              <a:buClr>
                <a:srgbClr val="3399FF"/>
              </a:buClr>
              <a:buSzTx/>
              <a:buFont typeface="Wingdings" panose="05000000000000000000" pitchFamily="2" charset="2"/>
              <a:buChar char="v"/>
              <a:defRPr/>
            </a:pPr>
            <a:r>
              <a:rPr kumimoji="0" lang="zh-CN" altLang="en-US" sz="2800" b="1" i="0" u="none" strike="noStrike" kern="0" cap="none" spc="0" normalizeH="0" baseline="0" noProof="0" dirty="0">
                <a:ln>
                  <a:noFill/>
                </a:ln>
                <a:solidFill>
                  <a:srgbClr val="0000CC"/>
                </a:solidFill>
                <a:effectLst>
                  <a:outerShdw blurRad="38100" dist="38100" dir="2700000" algn="tl">
                    <a:srgbClr val="000000">
                      <a:alpha val="43137"/>
                    </a:srgbClr>
                  </a:outerShdw>
                </a:effectLst>
                <a:uLnTx/>
                <a:uFillTx/>
                <a:latin typeface="Times New Roman" panose="02020603050405020304" pitchFamily="18" charset="0"/>
                <a:ea typeface="+mn-ea"/>
                <a:cs typeface="Times New Roman" panose="02020603050405020304" pitchFamily="18" charset="0"/>
              </a:rPr>
              <a:t>基于</a:t>
            </a:r>
            <a:r>
              <a:rPr kumimoji="0" lang="en-US" altLang="zh-CN" sz="2800" b="1" i="0" u="none" strike="noStrike" kern="0" cap="none" spc="0" normalizeH="0" baseline="0" noProof="0" dirty="0">
                <a:ln>
                  <a:noFill/>
                </a:ln>
                <a:solidFill>
                  <a:srgbClr val="0000CC"/>
                </a:solidFill>
                <a:effectLst>
                  <a:outerShdw blurRad="38100" dist="38100" dir="2700000" algn="tl">
                    <a:srgbClr val="000000">
                      <a:alpha val="43137"/>
                    </a:srgbClr>
                  </a:outerShdw>
                </a:effectLst>
                <a:uLnTx/>
                <a:uFillTx/>
                <a:latin typeface="Times New Roman" panose="02020603050405020304" pitchFamily="18" charset="0"/>
                <a:ea typeface="+mn-ea"/>
                <a:cs typeface="Times New Roman" panose="02020603050405020304" pitchFamily="18" charset="0"/>
              </a:rPr>
              <a:t>Agent</a:t>
            </a:r>
            <a:r>
              <a:rPr kumimoji="0" lang="zh-CN" altLang="en-US" sz="2800" b="1" i="0" u="none" strike="noStrike" kern="0" cap="none" spc="0" normalizeH="0" baseline="0" noProof="0" dirty="0">
                <a:ln>
                  <a:noFill/>
                </a:ln>
                <a:solidFill>
                  <a:srgbClr val="0000CC"/>
                </a:solidFill>
                <a:effectLst>
                  <a:outerShdw blurRad="38100" dist="38100" dir="2700000" algn="tl">
                    <a:srgbClr val="000000">
                      <a:alpha val="43137"/>
                    </a:srgbClr>
                  </a:outerShdw>
                </a:effectLst>
                <a:uLnTx/>
                <a:uFillTx/>
                <a:latin typeface="Times New Roman" panose="02020603050405020304" pitchFamily="18" charset="0"/>
                <a:ea typeface="+mn-ea"/>
                <a:cs typeface="Times New Roman" panose="02020603050405020304" pitchFamily="18" charset="0"/>
              </a:rPr>
              <a:t>的</a:t>
            </a:r>
            <a:r>
              <a:rPr kumimoji="0" lang="en-US" altLang="zh-CN" sz="2800" b="1" i="0" u="none" strike="noStrike" kern="0" cap="none" spc="0" normalizeH="0" baseline="0" noProof="0" dirty="0">
                <a:ln>
                  <a:noFill/>
                </a:ln>
                <a:solidFill>
                  <a:srgbClr val="0000CC"/>
                </a:solidFill>
                <a:effectLst>
                  <a:outerShdw blurRad="38100" dist="38100" dir="2700000" algn="tl">
                    <a:srgbClr val="000000">
                      <a:alpha val="43137"/>
                    </a:srgbClr>
                  </a:outerShdw>
                </a:effectLst>
                <a:uLnTx/>
                <a:uFillTx/>
                <a:latin typeface="Times New Roman" panose="02020603050405020304" pitchFamily="18" charset="0"/>
                <a:ea typeface="+mn-ea"/>
                <a:cs typeface="Times New Roman" panose="02020603050405020304" pitchFamily="18" charset="0"/>
              </a:rPr>
              <a:t>IDS</a:t>
            </a:r>
            <a:r>
              <a:rPr kumimoji="0" lang="zh-CN" altLang="en-US" sz="2800" b="1" i="0" u="none" strike="noStrike" kern="0" cap="none" spc="0" normalizeH="0" baseline="0" noProof="0" dirty="0">
                <a:ln>
                  <a:noFill/>
                </a:ln>
                <a:solidFill>
                  <a:srgbClr val="0000CC"/>
                </a:solidFill>
                <a:effectLst>
                  <a:outerShdw blurRad="38100" dist="38100" dir="2700000" algn="tl">
                    <a:srgbClr val="000000">
                      <a:alpha val="43137"/>
                    </a:srgbClr>
                  </a:outerShdw>
                </a:effectLst>
                <a:uLnTx/>
                <a:uFillTx/>
                <a:latin typeface="Times New Roman" panose="02020603050405020304" pitchFamily="18" charset="0"/>
                <a:ea typeface="+mn-ea"/>
                <a:cs typeface="Times New Roman" panose="02020603050405020304" pitchFamily="18" charset="0"/>
              </a:rPr>
              <a:t>系统</a:t>
            </a:r>
          </a:p>
          <a:p>
            <a:pPr marL="742950" marR="0" lvl="1" indent="-285750" algn="l" defTabSz="914400" rtl="0" eaLnBrk="1" fontAlgn="base" latinLnBrk="0" hangingPunct="1">
              <a:lnSpc>
                <a:spcPct val="90000"/>
              </a:lnSpc>
              <a:spcBef>
                <a:spcPct val="20000"/>
              </a:spcBef>
              <a:spcAft>
                <a:spcPct val="0"/>
              </a:spcAft>
              <a:buClr>
                <a:srgbClr val="FF9900"/>
              </a:buClr>
              <a:buSzTx/>
              <a:buFont typeface="Wingdings" panose="05000000000000000000" pitchFamily="2" charset="2"/>
              <a:buChar char="§"/>
              <a:defRPr/>
            </a:pPr>
            <a:r>
              <a:rPr kumimoji="0" lang="en-US" altLang="zh-CN" sz="2400" b="1"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mn-ea"/>
                <a:cs typeface="Times New Roman" panose="02020603050405020304" pitchFamily="18" charset="0"/>
              </a:rPr>
              <a:t>Purdue</a:t>
            </a:r>
            <a:r>
              <a:rPr kumimoji="0" lang="zh-CN" altLang="en-US" sz="2400" b="1"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mn-ea"/>
                <a:cs typeface="Times New Roman" panose="02020603050405020304" pitchFamily="18" charset="0"/>
              </a:rPr>
              <a:t>大学研制了一种被称为</a:t>
            </a:r>
            <a:r>
              <a:rPr kumimoji="0" lang="en-US" altLang="zh-CN" sz="2400" b="1"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mn-ea"/>
                <a:cs typeface="Times New Roman" panose="02020603050405020304" pitchFamily="18" charset="0"/>
              </a:rPr>
              <a:t>AAFID(Autonomous agents for intrusion detection)</a:t>
            </a:r>
            <a:r>
              <a:rPr kumimoji="0" lang="zh-CN" altLang="en-US" sz="2400" b="1"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mn-ea"/>
                <a:cs typeface="Times New Roman" panose="02020603050405020304" pitchFamily="18" charset="0"/>
              </a:rPr>
              <a:t>的</a:t>
            </a:r>
            <a:r>
              <a:rPr kumimoji="0" lang="en-US" altLang="zh-CN" sz="2400" b="1"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mn-ea"/>
                <a:cs typeface="Times New Roman" panose="02020603050405020304" pitchFamily="18" charset="0"/>
              </a:rPr>
              <a:t>IDS</a:t>
            </a:r>
            <a:r>
              <a:rPr kumimoji="0" lang="zh-CN" altLang="en-US" sz="2400" b="1"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mn-ea"/>
                <a:cs typeface="Times New Roman" panose="02020603050405020304" pitchFamily="18" charset="0"/>
              </a:rPr>
              <a:t>模型</a:t>
            </a:r>
          </a:p>
          <a:p>
            <a:pPr marL="742950" marR="0" lvl="1" indent="-285750" algn="l" defTabSz="914400" rtl="0" eaLnBrk="1" fontAlgn="base" latinLnBrk="0" hangingPunct="1">
              <a:lnSpc>
                <a:spcPct val="90000"/>
              </a:lnSpc>
              <a:spcBef>
                <a:spcPct val="20000"/>
              </a:spcBef>
              <a:spcAft>
                <a:spcPct val="0"/>
              </a:spcAft>
              <a:buClr>
                <a:srgbClr val="FF9900"/>
              </a:buClr>
              <a:buSzTx/>
              <a:buFont typeface="Wingdings" panose="05000000000000000000" pitchFamily="2" charset="2"/>
              <a:buChar char="§"/>
              <a:defRPr/>
            </a:pPr>
            <a:r>
              <a:rPr kumimoji="0" lang="en-US" altLang="zh-CN" sz="2400" b="1"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mn-ea"/>
                <a:cs typeface="Times New Roman" panose="02020603050405020304" pitchFamily="18" charset="0"/>
              </a:rPr>
              <a:t>SRI</a:t>
            </a:r>
            <a:r>
              <a:rPr kumimoji="0" lang="zh-CN" altLang="en-US" sz="2400" b="1"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mn-ea"/>
                <a:cs typeface="Times New Roman" panose="02020603050405020304" pitchFamily="18" charset="0"/>
              </a:rPr>
              <a:t>的</a:t>
            </a:r>
            <a:r>
              <a:rPr kumimoji="0" lang="en-US" altLang="zh-CN" sz="2400" b="1"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mn-ea"/>
                <a:cs typeface="Times New Roman" panose="02020603050405020304" pitchFamily="18" charset="0"/>
              </a:rPr>
              <a:t>EMERALD(Event Monitoring Enabling Response to Anomalous Live Disturbances)</a:t>
            </a:r>
          </a:p>
        </p:txBody>
      </p:sp>
      <p:sp>
        <p:nvSpPr>
          <p:cNvPr id="4" name="矩形 3"/>
          <p:cNvSpPr/>
          <p:nvPr/>
        </p:nvSpPr>
        <p:spPr>
          <a:xfrm>
            <a:off x="611560" y="1052736"/>
            <a:ext cx="3430747" cy="480131"/>
          </a:xfrm>
          <a:prstGeom prst="rect">
            <a:avLst/>
          </a:prstGeom>
        </p:spPr>
        <p:txBody>
          <a:bodyPr wrap="none">
            <a:spAutoFit/>
          </a:bodyPr>
          <a:lstStyle/>
          <a:p>
            <a:pPr>
              <a:lnSpc>
                <a:spcPct val="90000"/>
              </a:lnSpc>
              <a:spcBef>
                <a:spcPct val="20000"/>
              </a:spcBef>
              <a:buClr>
                <a:srgbClr val="3399FF"/>
              </a:buClr>
              <a:defRPr/>
            </a:pPr>
            <a:r>
              <a:rPr lang="zh-CN" altLang="en-US" sz="2800" b="1" kern="0"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入侵检测系统的部署</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utoUpdateAnimBg="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p:nvPr/>
        </p:nvGrpSpPr>
        <p:grpSpPr bwMode="auto">
          <a:xfrm>
            <a:off x="539750" y="1125538"/>
            <a:ext cx="7993063" cy="4557712"/>
            <a:chOff x="864" y="1200"/>
            <a:chExt cx="4752" cy="2871"/>
          </a:xfrm>
        </p:grpSpPr>
        <p:sp>
          <p:nvSpPr>
            <p:cNvPr id="80900" name="Line 5"/>
            <p:cNvSpPr>
              <a:spLocks noChangeShapeType="1"/>
            </p:cNvSpPr>
            <p:nvPr/>
          </p:nvSpPr>
          <p:spPr bwMode="auto">
            <a:xfrm>
              <a:off x="4848" y="2016"/>
              <a:ext cx="0" cy="624"/>
            </a:xfrm>
            <a:prstGeom prst="line">
              <a:avLst/>
            </a:prstGeom>
            <a:noFill/>
            <a:ln w="28575">
              <a:solidFill>
                <a:schemeClr val="tx1"/>
              </a:solidFill>
              <a:miter lim="800000"/>
            </a:ln>
          </p:spPr>
          <p:txBody>
            <a:bodyPr wrap="none"/>
            <a:lstStyle/>
            <a:p>
              <a:endParaRPr lang="zh-CN" altLang="en-US"/>
            </a:p>
          </p:txBody>
        </p:sp>
        <p:sp>
          <p:nvSpPr>
            <p:cNvPr id="80901" name="Line 6"/>
            <p:cNvSpPr>
              <a:spLocks noChangeShapeType="1"/>
            </p:cNvSpPr>
            <p:nvPr/>
          </p:nvSpPr>
          <p:spPr bwMode="auto">
            <a:xfrm>
              <a:off x="3792" y="2736"/>
              <a:ext cx="768" cy="0"/>
            </a:xfrm>
            <a:prstGeom prst="line">
              <a:avLst/>
            </a:prstGeom>
            <a:noFill/>
            <a:ln w="28575">
              <a:solidFill>
                <a:schemeClr val="tx1"/>
              </a:solidFill>
              <a:miter lim="800000"/>
            </a:ln>
          </p:spPr>
          <p:txBody>
            <a:bodyPr wrap="none"/>
            <a:lstStyle/>
            <a:p>
              <a:endParaRPr lang="zh-CN" altLang="en-US"/>
            </a:p>
          </p:txBody>
        </p:sp>
        <p:sp>
          <p:nvSpPr>
            <p:cNvPr id="80902" name="Line 7"/>
            <p:cNvSpPr>
              <a:spLocks noChangeShapeType="1"/>
            </p:cNvSpPr>
            <p:nvPr/>
          </p:nvSpPr>
          <p:spPr bwMode="auto">
            <a:xfrm>
              <a:off x="3648" y="2160"/>
              <a:ext cx="0" cy="1008"/>
            </a:xfrm>
            <a:prstGeom prst="line">
              <a:avLst/>
            </a:prstGeom>
            <a:noFill/>
            <a:ln w="28575">
              <a:solidFill>
                <a:schemeClr val="tx1"/>
              </a:solidFill>
              <a:miter lim="800000"/>
            </a:ln>
          </p:spPr>
          <p:txBody>
            <a:bodyPr wrap="none"/>
            <a:lstStyle/>
            <a:p>
              <a:endParaRPr lang="zh-CN" altLang="en-US"/>
            </a:p>
          </p:txBody>
        </p:sp>
        <p:sp>
          <p:nvSpPr>
            <p:cNvPr id="80903" name="Line 8"/>
            <p:cNvSpPr>
              <a:spLocks noChangeShapeType="1"/>
            </p:cNvSpPr>
            <p:nvPr/>
          </p:nvSpPr>
          <p:spPr bwMode="auto">
            <a:xfrm>
              <a:off x="2976" y="3312"/>
              <a:ext cx="480" cy="0"/>
            </a:xfrm>
            <a:prstGeom prst="line">
              <a:avLst/>
            </a:prstGeom>
            <a:noFill/>
            <a:ln w="9525">
              <a:solidFill>
                <a:schemeClr val="tx1"/>
              </a:solidFill>
              <a:miter lim="800000"/>
            </a:ln>
          </p:spPr>
          <p:txBody>
            <a:bodyPr wrap="none"/>
            <a:lstStyle/>
            <a:p>
              <a:endParaRPr lang="zh-CN" altLang="en-US"/>
            </a:p>
          </p:txBody>
        </p:sp>
        <p:pic>
          <p:nvPicPr>
            <p:cNvPr id="80904" name="Picture 9"/>
            <p:cNvPicPr>
              <a:picLocks noChangeArrowheads="1"/>
            </p:cNvPicPr>
            <p:nvPr/>
          </p:nvPicPr>
          <p:blipFill>
            <a:blip r:embed="rId2"/>
            <a:srcRect/>
            <a:stretch>
              <a:fillRect/>
            </a:stretch>
          </p:blipFill>
          <p:spPr bwMode="auto">
            <a:xfrm>
              <a:off x="4320" y="1536"/>
              <a:ext cx="1008" cy="480"/>
            </a:xfrm>
            <a:prstGeom prst="rect">
              <a:avLst/>
            </a:prstGeom>
            <a:noFill/>
            <a:ln w="12700">
              <a:noFill/>
              <a:miter lim="800000"/>
              <a:headEnd/>
              <a:tailEnd/>
            </a:ln>
          </p:spPr>
        </p:pic>
        <p:pic>
          <p:nvPicPr>
            <p:cNvPr id="80905" name="Picture 10"/>
            <p:cNvPicPr>
              <a:picLocks noChangeArrowheads="1"/>
            </p:cNvPicPr>
            <p:nvPr/>
          </p:nvPicPr>
          <p:blipFill>
            <a:blip r:embed="rId3"/>
            <a:srcRect/>
            <a:stretch>
              <a:fillRect/>
            </a:stretch>
          </p:blipFill>
          <p:spPr bwMode="auto">
            <a:xfrm>
              <a:off x="4512" y="2592"/>
              <a:ext cx="563" cy="234"/>
            </a:xfrm>
            <a:prstGeom prst="rect">
              <a:avLst/>
            </a:prstGeom>
            <a:noFill/>
            <a:ln w="12700">
              <a:noFill/>
              <a:miter lim="800000"/>
              <a:headEnd/>
              <a:tailEnd/>
            </a:ln>
          </p:spPr>
        </p:pic>
        <p:pic>
          <p:nvPicPr>
            <p:cNvPr id="80906" name="Picture 11"/>
            <p:cNvPicPr>
              <a:picLocks noChangeArrowheads="1"/>
            </p:cNvPicPr>
            <p:nvPr/>
          </p:nvPicPr>
          <p:blipFill>
            <a:blip r:embed="rId4"/>
            <a:srcRect/>
            <a:stretch>
              <a:fillRect/>
            </a:stretch>
          </p:blipFill>
          <p:spPr bwMode="auto">
            <a:xfrm>
              <a:off x="3456" y="2544"/>
              <a:ext cx="342" cy="336"/>
            </a:xfrm>
            <a:prstGeom prst="rect">
              <a:avLst/>
            </a:prstGeom>
            <a:noFill/>
            <a:ln w="12700">
              <a:noFill/>
              <a:miter lim="800000"/>
              <a:headEnd/>
              <a:tailEnd/>
            </a:ln>
          </p:spPr>
        </p:pic>
        <p:pic>
          <p:nvPicPr>
            <p:cNvPr id="80907" name="Picture 12"/>
            <p:cNvPicPr>
              <a:picLocks noChangeArrowheads="1"/>
            </p:cNvPicPr>
            <p:nvPr/>
          </p:nvPicPr>
          <p:blipFill>
            <a:blip r:embed="rId3"/>
            <a:srcRect/>
            <a:stretch>
              <a:fillRect/>
            </a:stretch>
          </p:blipFill>
          <p:spPr bwMode="auto">
            <a:xfrm>
              <a:off x="3360" y="1920"/>
              <a:ext cx="563" cy="234"/>
            </a:xfrm>
            <a:prstGeom prst="rect">
              <a:avLst/>
            </a:prstGeom>
            <a:noFill/>
            <a:ln w="12700">
              <a:noFill/>
              <a:miter lim="800000"/>
              <a:headEnd/>
              <a:tailEnd/>
            </a:ln>
          </p:spPr>
        </p:pic>
        <p:pic>
          <p:nvPicPr>
            <p:cNvPr id="80908" name="Picture 13"/>
            <p:cNvPicPr>
              <a:picLocks noChangeArrowheads="1"/>
            </p:cNvPicPr>
            <p:nvPr/>
          </p:nvPicPr>
          <p:blipFill>
            <a:blip r:embed="rId3"/>
            <a:srcRect/>
            <a:stretch>
              <a:fillRect/>
            </a:stretch>
          </p:blipFill>
          <p:spPr bwMode="auto">
            <a:xfrm>
              <a:off x="3360" y="3168"/>
              <a:ext cx="563" cy="234"/>
            </a:xfrm>
            <a:prstGeom prst="rect">
              <a:avLst/>
            </a:prstGeom>
            <a:noFill/>
            <a:ln w="12700">
              <a:noFill/>
              <a:miter lim="800000"/>
              <a:headEnd/>
              <a:tailEnd/>
            </a:ln>
          </p:spPr>
        </p:pic>
        <p:pic>
          <p:nvPicPr>
            <p:cNvPr id="80909" name="Picture 14"/>
            <p:cNvPicPr>
              <a:picLocks noChangeArrowheads="1"/>
            </p:cNvPicPr>
            <p:nvPr/>
          </p:nvPicPr>
          <p:blipFill>
            <a:blip r:embed="rId5"/>
            <a:srcRect/>
            <a:stretch>
              <a:fillRect/>
            </a:stretch>
          </p:blipFill>
          <p:spPr bwMode="auto">
            <a:xfrm>
              <a:off x="2448" y="1968"/>
              <a:ext cx="456" cy="190"/>
            </a:xfrm>
            <a:prstGeom prst="rect">
              <a:avLst/>
            </a:prstGeom>
            <a:noFill/>
            <a:ln w="12700">
              <a:noFill/>
              <a:miter lim="800000"/>
              <a:headEnd/>
              <a:tailEnd/>
            </a:ln>
          </p:spPr>
        </p:pic>
        <p:pic>
          <p:nvPicPr>
            <p:cNvPr id="80910" name="Picture 15"/>
            <p:cNvPicPr>
              <a:picLocks noChangeArrowheads="1"/>
            </p:cNvPicPr>
            <p:nvPr/>
          </p:nvPicPr>
          <p:blipFill>
            <a:blip r:embed="rId5"/>
            <a:srcRect/>
            <a:stretch>
              <a:fillRect/>
            </a:stretch>
          </p:blipFill>
          <p:spPr bwMode="auto">
            <a:xfrm>
              <a:off x="2592" y="3216"/>
              <a:ext cx="456" cy="190"/>
            </a:xfrm>
            <a:prstGeom prst="rect">
              <a:avLst/>
            </a:prstGeom>
            <a:noFill/>
            <a:ln w="12700">
              <a:noFill/>
              <a:miter lim="800000"/>
              <a:headEnd/>
              <a:tailEnd/>
            </a:ln>
          </p:spPr>
        </p:pic>
        <p:sp>
          <p:nvSpPr>
            <p:cNvPr id="80911" name="Line 16"/>
            <p:cNvSpPr>
              <a:spLocks noChangeShapeType="1"/>
            </p:cNvSpPr>
            <p:nvPr/>
          </p:nvSpPr>
          <p:spPr bwMode="auto">
            <a:xfrm flipV="1">
              <a:off x="2688" y="1776"/>
              <a:ext cx="0" cy="192"/>
            </a:xfrm>
            <a:prstGeom prst="line">
              <a:avLst/>
            </a:prstGeom>
            <a:noFill/>
            <a:ln w="28575">
              <a:solidFill>
                <a:schemeClr val="tx1"/>
              </a:solidFill>
              <a:miter lim="800000"/>
            </a:ln>
          </p:spPr>
          <p:txBody>
            <a:bodyPr wrap="none"/>
            <a:lstStyle/>
            <a:p>
              <a:endParaRPr lang="zh-CN" altLang="en-US"/>
            </a:p>
          </p:txBody>
        </p:sp>
        <p:sp>
          <p:nvSpPr>
            <p:cNvPr id="80912" name="Line 17"/>
            <p:cNvSpPr>
              <a:spLocks noChangeShapeType="1"/>
            </p:cNvSpPr>
            <p:nvPr/>
          </p:nvSpPr>
          <p:spPr bwMode="auto">
            <a:xfrm flipH="1">
              <a:off x="2208" y="2160"/>
              <a:ext cx="480" cy="144"/>
            </a:xfrm>
            <a:prstGeom prst="line">
              <a:avLst/>
            </a:prstGeom>
            <a:noFill/>
            <a:ln w="28575">
              <a:solidFill>
                <a:schemeClr val="tx1"/>
              </a:solidFill>
              <a:miter lim="800000"/>
            </a:ln>
          </p:spPr>
          <p:txBody>
            <a:bodyPr wrap="none"/>
            <a:lstStyle/>
            <a:p>
              <a:endParaRPr lang="zh-CN" altLang="en-US"/>
            </a:p>
          </p:txBody>
        </p:sp>
        <p:sp>
          <p:nvSpPr>
            <p:cNvPr id="80913" name="Line 18"/>
            <p:cNvSpPr>
              <a:spLocks noChangeShapeType="1"/>
            </p:cNvSpPr>
            <p:nvPr/>
          </p:nvSpPr>
          <p:spPr bwMode="auto">
            <a:xfrm flipH="1">
              <a:off x="1104" y="1776"/>
              <a:ext cx="1584" cy="0"/>
            </a:xfrm>
            <a:prstGeom prst="line">
              <a:avLst/>
            </a:prstGeom>
            <a:noFill/>
            <a:ln w="28575">
              <a:solidFill>
                <a:schemeClr val="tx1"/>
              </a:solidFill>
              <a:miter lim="800000"/>
            </a:ln>
          </p:spPr>
          <p:txBody>
            <a:bodyPr wrap="none"/>
            <a:lstStyle/>
            <a:p>
              <a:endParaRPr lang="zh-CN" altLang="en-US"/>
            </a:p>
          </p:txBody>
        </p:sp>
        <p:sp>
          <p:nvSpPr>
            <p:cNvPr id="80914" name="Line 19"/>
            <p:cNvSpPr>
              <a:spLocks noChangeShapeType="1"/>
            </p:cNvSpPr>
            <p:nvPr/>
          </p:nvSpPr>
          <p:spPr bwMode="auto">
            <a:xfrm flipH="1">
              <a:off x="1056" y="2304"/>
              <a:ext cx="1152" cy="0"/>
            </a:xfrm>
            <a:prstGeom prst="line">
              <a:avLst/>
            </a:prstGeom>
            <a:noFill/>
            <a:ln w="28575">
              <a:solidFill>
                <a:schemeClr val="tx1"/>
              </a:solidFill>
              <a:miter lim="800000"/>
            </a:ln>
          </p:spPr>
          <p:txBody>
            <a:bodyPr wrap="none"/>
            <a:lstStyle/>
            <a:p>
              <a:endParaRPr lang="zh-CN" altLang="en-US"/>
            </a:p>
          </p:txBody>
        </p:sp>
        <p:pic>
          <p:nvPicPr>
            <p:cNvPr id="80915" name="Picture 20"/>
            <p:cNvPicPr>
              <a:picLocks noChangeArrowheads="1"/>
            </p:cNvPicPr>
            <p:nvPr/>
          </p:nvPicPr>
          <p:blipFill>
            <a:blip r:embed="rId6"/>
            <a:srcRect/>
            <a:stretch>
              <a:fillRect/>
            </a:stretch>
          </p:blipFill>
          <p:spPr bwMode="auto">
            <a:xfrm>
              <a:off x="1632" y="1200"/>
              <a:ext cx="424" cy="441"/>
            </a:xfrm>
            <a:prstGeom prst="rect">
              <a:avLst/>
            </a:prstGeom>
            <a:noFill/>
            <a:ln w="12700">
              <a:solidFill>
                <a:srgbClr val="99CCFF"/>
              </a:solidFill>
              <a:miter lim="800000"/>
              <a:headEnd/>
              <a:tailEnd/>
            </a:ln>
          </p:spPr>
        </p:pic>
        <p:pic>
          <p:nvPicPr>
            <p:cNvPr id="80916" name="Picture 21"/>
            <p:cNvPicPr>
              <a:picLocks noChangeArrowheads="1"/>
            </p:cNvPicPr>
            <p:nvPr/>
          </p:nvPicPr>
          <p:blipFill>
            <a:blip r:embed="rId6"/>
            <a:srcRect/>
            <a:stretch>
              <a:fillRect/>
            </a:stretch>
          </p:blipFill>
          <p:spPr bwMode="auto">
            <a:xfrm>
              <a:off x="1104" y="1200"/>
              <a:ext cx="424" cy="441"/>
            </a:xfrm>
            <a:prstGeom prst="rect">
              <a:avLst/>
            </a:prstGeom>
            <a:noFill/>
            <a:ln w="12700">
              <a:solidFill>
                <a:srgbClr val="99CCFF"/>
              </a:solidFill>
              <a:miter lim="800000"/>
              <a:headEnd/>
              <a:tailEnd/>
            </a:ln>
          </p:spPr>
        </p:pic>
        <p:pic>
          <p:nvPicPr>
            <p:cNvPr id="80917" name="Picture 22"/>
            <p:cNvPicPr>
              <a:picLocks noChangeArrowheads="1"/>
            </p:cNvPicPr>
            <p:nvPr/>
          </p:nvPicPr>
          <p:blipFill>
            <a:blip r:embed="rId6"/>
            <a:srcRect/>
            <a:stretch>
              <a:fillRect/>
            </a:stretch>
          </p:blipFill>
          <p:spPr bwMode="auto">
            <a:xfrm>
              <a:off x="2208" y="1200"/>
              <a:ext cx="424" cy="441"/>
            </a:xfrm>
            <a:prstGeom prst="rect">
              <a:avLst/>
            </a:prstGeom>
            <a:noFill/>
            <a:ln w="12700">
              <a:solidFill>
                <a:srgbClr val="99CCFF"/>
              </a:solidFill>
              <a:miter lim="800000"/>
              <a:headEnd/>
              <a:tailEnd/>
            </a:ln>
          </p:spPr>
        </p:pic>
        <p:sp>
          <p:nvSpPr>
            <p:cNvPr id="80918" name="Line 23"/>
            <p:cNvSpPr>
              <a:spLocks noChangeShapeType="1"/>
            </p:cNvSpPr>
            <p:nvPr/>
          </p:nvSpPr>
          <p:spPr bwMode="auto">
            <a:xfrm>
              <a:off x="1344" y="1632"/>
              <a:ext cx="0" cy="144"/>
            </a:xfrm>
            <a:prstGeom prst="line">
              <a:avLst/>
            </a:prstGeom>
            <a:noFill/>
            <a:ln w="28575">
              <a:solidFill>
                <a:schemeClr val="tx1"/>
              </a:solidFill>
              <a:miter lim="800000"/>
            </a:ln>
          </p:spPr>
          <p:txBody>
            <a:bodyPr wrap="none"/>
            <a:lstStyle/>
            <a:p>
              <a:endParaRPr lang="zh-CN" altLang="en-US"/>
            </a:p>
          </p:txBody>
        </p:sp>
        <p:sp>
          <p:nvSpPr>
            <p:cNvPr id="80919" name="Line 24"/>
            <p:cNvSpPr>
              <a:spLocks noChangeShapeType="1"/>
            </p:cNvSpPr>
            <p:nvPr/>
          </p:nvSpPr>
          <p:spPr bwMode="auto">
            <a:xfrm>
              <a:off x="1824" y="1632"/>
              <a:ext cx="0" cy="144"/>
            </a:xfrm>
            <a:prstGeom prst="line">
              <a:avLst/>
            </a:prstGeom>
            <a:noFill/>
            <a:ln w="28575">
              <a:solidFill>
                <a:schemeClr val="tx1"/>
              </a:solidFill>
              <a:miter lim="800000"/>
            </a:ln>
          </p:spPr>
          <p:txBody>
            <a:bodyPr wrap="none"/>
            <a:lstStyle/>
            <a:p>
              <a:endParaRPr lang="zh-CN" altLang="en-US"/>
            </a:p>
          </p:txBody>
        </p:sp>
        <p:sp>
          <p:nvSpPr>
            <p:cNvPr id="80920" name="Line 25"/>
            <p:cNvSpPr>
              <a:spLocks noChangeShapeType="1"/>
            </p:cNvSpPr>
            <p:nvPr/>
          </p:nvSpPr>
          <p:spPr bwMode="auto">
            <a:xfrm>
              <a:off x="2400" y="1632"/>
              <a:ext cx="0" cy="144"/>
            </a:xfrm>
            <a:prstGeom prst="line">
              <a:avLst/>
            </a:prstGeom>
            <a:noFill/>
            <a:ln w="28575">
              <a:solidFill>
                <a:schemeClr val="tx1"/>
              </a:solidFill>
              <a:miter lim="800000"/>
            </a:ln>
          </p:spPr>
          <p:txBody>
            <a:bodyPr wrap="none"/>
            <a:lstStyle/>
            <a:p>
              <a:endParaRPr lang="zh-CN" altLang="en-US"/>
            </a:p>
          </p:txBody>
        </p:sp>
        <p:pic>
          <p:nvPicPr>
            <p:cNvPr id="80921" name="Picture 26"/>
            <p:cNvPicPr>
              <a:picLocks noChangeArrowheads="1"/>
            </p:cNvPicPr>
            <p:nvPr/>
          </p:nvPicPr>
          <p:blipFill>
            <a:blip r:embed="rId6"/>
            <a:srcRect/>
            <a:stretch>
              <a:fillRect/>
            </a:stretch>
          </p:blipFill>
          <p:spPr bwMode="auto">
            <a:xfrm>
              <a:off x="1056" y="2448"/>
              <a:ext cx="424" cy="441"/>
            </a:xfrm>
            <a:prstGeom prst="rect">
              <a:avLst/>
            </a:prstGeom>
            <a:noFill/>
            <a:ln w="12700">
              <a:solidFill>
                <a:srgbClr val="99CCFF"/>
              </a:solidFill>
              <a:miter lim="800000"/>
              <a:headEnd/>
              <a:tailEnd/>
            </a:ln>
          </p:spPr>
        </p:pic>
        <p:pic>
          <p:nvPicPr>
            <p:cNvPr id="80922" name="Picture 27"/>
            <p:cNvPicPr>
              <a:picLocks noChangeArrowheads="1"/>
            </p:cNvPicPr>
            <p:nvPr/>
          </p:nvPicPr>
          <p:blipFill>
            <a:blip r:embed="rId6"/>
            <a:srcRect/>
            <a:stretch>
              <a:fillRect/>
            </a:stretch>
          </p:blipFill>
          <p:spPr bwMode="auto">
            <a:xfrm>
              <a:off x="1632" y="2448"/>
              <a:ext cx="424" cy="441"/>
            </a:xfrm>
            <a:prstGeom prst="rect">
              <a:avLst/>
            </a:prstGeom>
            <a:noFill/>
            <a:ln w="12700">
              <a:solidFill>
                <a:srgbClr val="99CCFF"/>
              </a:solidFill>
              <a:miter lim="800000"/>
              <a:headEnd/>
              <a:tailEnd/>
            </a:ln>
          </p:spPr>
        </p:pic>
        <p:sp>
          <p:nvSpPr>
            <p:cNvPr id="80923" name="Line 28"/>
            <p:cNvSpPr>
              <a:spLocks noChangeShapeType="1"/>
            </p:cNvSpPr>
            <p:nvPr/>
          </p:nvSpPr>
          <p:spPr bwMode="auto">
            <a:xfrm>
              <a:off x="1248" y="2304"/>
              <a:ext cx="0" cy="144"/>
            </a:xfrm>
            <a:prstGeom prst="line">
              <a:avLst/>
            </a:prstGeom>
            <a:noFill/>
            <a:ln w="28575">
              <a:solidFill>
                <a:schemeClr val="tx1"/>
              </a:solidFill>
              <a:miter lim="800000"/>
            </a:ln>
          </p:spPr>
          <p:txBody>
            <a:bodyPr wrap="none"/>
            <a:lstStyle/>
            <a:p>
              <a:endParaRPr lang="zh-CN" altLang="en-US"/>
            </a:p>
          </p:txBody>
        </p:sp>
        <p:sp>
          <p:nvSpPr>
            <p:cNvPr id="80924" name="Line 29"/>
            <p:cNvSpPr>
              <a:spLocks noChangeShapeType="1"/>
            </p:cNvSpPr>
            <p:nvPr/>
          </p:nvSpPr>
          <p:spPr bwMode="auto">
            <a:xfrm>
              <a:off x="1872" y="2304"/>
              <a:ext cx="0" cy="144"/>
            </a:xfrm>
            <a:prstGeom prst="line">
              <a:avLst/>
            </a:prstGeom>
            <a:noFill/>
            <a:ln w="28575">
              <a:solidFill>
                <a:schemeClr val="tx1"/>
              </a:solidFill>
              <a:miter lim="800000"/>
            </a:ln>
          </p:spPr>
          <p:txBody>
            <a:bodyPr wrap="none"/>
            <a:lstStyle/>
            <a:p>
              <a:endParaRPr lang="zh-CN" altLang="en-US"/>
            </a:p>
          </p:txBody>
        </p:sp>
        <p:sp>
          <p:nvSpPr>
            <p:cNvPr id="80925" name="Line 30"/>
            <p:cNvSpPr>
              <a:spLocks noChangeShapeType="1"/>
            </p:cNvSpPr>
            <p:nvPr/>
          </p:nvSpPr>
          <p:spPr bwMode="auto">
            <a:xfrm flipH="1">
              <a:off x="864" y="3312"/>
              <a:ext cx="1728" cy="0"/>
            </a:xfrm>
            <a:prstGeom prst="line">
              <a:avLst/>
            </a:prstGeom>
            <a:noFill/>
            <a:ln w="28575">
              <a:solidFill>
                <a:schemeClr val="tx1"/>
              </a:solidFill>
              <a:miter lim="800000"/>
            </a:ln>
          </p:spPr>
          <p:txBody>
            <a:bodyPr wrap="none"/>
            <a:lstStyle/>
            <a:p>
              <a:endParaRPr lang="zh-CN" altLang="en-US"/>
            </a:p>
          </p:txBody>
        </p:sp>
        <p:pic>
          <p:nvPicPr>
            <p:cNvPr id="80926" name="Picture 31"/>
            <p:cNvPicPr>
              <a:picLocks noChangeArrowheads="1"/>
            </p:cNvPicPr>
            <p:nvPr/>
          </p:nvPicPr>
          <p:blipFill>
            <a:blip r:embed="rId6"/>
            <a:srcRect/>
            <a:stretch>
              <a:fillRect/>
            </a:stretch>
          </p:blipFill>
          <p:spPr bwMode="auto">
            <a:xfrm>
              <a:off x="1440" y="3456"/>
              <a:ext cx="424" cy="441"/>
            </a:xfrm>
            <a:prstGeom prst="rect">
              <a:avLst/>
            </a:prstGeom>
            <a:noFill/>
            <a:ln w="12700">
              <a:solidFill>
                <a:srgbClr val="CC99FF"/>
              </a:solidFill>
              <a:miter lim="800000"/>
              <a:headEnd/>
              <a:tailEnd/>
            </a:ln>
          </p:spPr>
        </p:pic>
        <p:pic>
          <p:nvPicPr>
            <p:cNvPr id="80927" name="Picture 32"/>
            <p:cNvPicPr>
              <a:picLocks noChangeArrowheads="1"/>
            </p:cNvPicPr>
            <p:nvPr/>
          </p:nvPicPr>
          <p:blipFill>
            <a:blip r:embed="rId6"/>
            <a:srcRect/>
            <a:stretch>
              <a:fillRect/>
            </a:stretch>
          </p:blipFill>
          <p:spPr bwMode="auto">
            <a:xfrm>
              <a:off x="2016" y="3456"/>
              <a:ext cx="424" cy="441"/>
            </a:xfrm>
            <a:prstGeom prst="rect">
              <a:avLst/>
            </a:prstGeom>
            <a:noFill/>
            <a:ln w="12700">
              <a:solidFill>
                <a:srgbClr val="CC99FF"/>
              </a:solidFill>
              <a:miter lim="800000"/>
              <a:headEnd/>
              <a:tailEnd/>
            </a:ln>
          </p:spPr>
        </p:pic>
        <p:sp>
          <p:nvSpPr>
            <p:cNvPr id="80928" name="Line 33"/>
            <p:cNvSpPr>
              <a:spLocks noChangeShapeType="1"/>
            </p:cNvSpPr>
            <p:nvPr/>
          </p:nvSpPr>
          <p:spPr bwMode="auto">
            <a:xfrm>
              <a:off x="1632" y="3312"/>
              <a:ext cx="0" cy="144"/>
            </a:xfrm>
            <a:prstGeom prst="line">
              <a:avLst/>
            </a:prstGeom>
            <a:noFill/>
            <a:ln w="28575">
              <a:solidFill>
                <a:schemeClr val="tx1"/>
              </a:solidFill>
              <a:miter lim="800000"/>
            </a:ln>
          </p:spPr>
          <p:txBody>
            <a:bodyPr wrap="none"/>
            <a:lstStyle/>
            <a:p>
              <a:endParaRPr lang="zh-CN" altLang="en-US"/>
            </a:p>
          </p:txBody>
        </p:sp>
        <p:sp>
          <p:nvSpPr>
            <p:cNvPr id="80929" name="Line 34"/>
            <p:cNvSpPr>
              <a:spLocks noChangeShapeType="1"/>
            </p:cNvSpPr>
            <p:nvPr/>
          </p:nvSpPr>
          <p:spPr bwMode="auto">
            <a:xfrm>
              <a:off x="2256" y="3312"/>
              <a:ext cx="0" cy="144"/>
            </a:xfrm>
            <a:prstGeom prst="line">
              <a:avLst/>
            </a:prstGeom>
            <a:noFill/>
            <a:ln w="28575">
              <a:solidFill>
                <a:schemeClr val="tx1"/>
              </a:solidFill>
              <a:miter lim="800000"/>
            </a:ln>
          </p:spPr>
          <p:txBody>
            <a:bodyPr wrap="none"/>
            <a:lstStyle/>
            <a:p>
              <a:endParaRPr lang="zh-CN" altLang="en-US"/>
            </a:p>
          </p:txBody>
        </p:sp>
        <p:pic>
          <p:nvPicPr>
            <p:cNvPr id="80930" name="Picture 35"/>
            <p:cNvPicPr>
              <a:picLocks noChangeArrowheads="1"/>
            </p:cNvPicPr>
            <p:nvPr/>
          </p:nvPicPr>
          <p:blipFill>
            <a:blip r:embed="rId6"/>
            <a:srcRect/>
            <a:stretch>
              <a:fillRect/>
            </a:stretch>
          </p:blipFill>
          <p:spPr bwMode="auto">
            <a:xfrm>
              <a:off x="864" y="3456"/>
              <a:ext cx="424" cy="441"/>
            </a:xfrm>
            <a:prstGeom prst="rect">
              <a:avLst/>
            </a:prstGeom>
            <a:noFill/>
            <a:ln w="12700">
              <a:solidFill>
                <a:srgbClr val="CC99FF"/>
              </a:solidFill>
              <a:miter lim="800000"/>
              <a:headEnd/>
              <a:tailEnd/>
            </a:ln>
          </p:spPr>
        </p:pic>
        <p:sp>
          <p:nvSpPr>
            <p:cNvPr id="80931" name="Line 36"/>
            <p:cNvSpPr>
              <a:spLocks noChangeShapeType="1"/>
            </p:cNvSpPr>
            <p:nvPr/>
          </p:nvSpPr>
          <p:spPr bwMode="auto">
            <a:xfrm>
              <a:off x="1056" y="3312"/>
              <a:ext cx="0" cy="144"/>
            </a:xfrm>
            <a:prstGeom prst="line">
              <a:avLst/>
            </a:prstGeom>
            <a:noFill/>
            <a:ln w="28575">
              <a:solidFill>
                <a:schemeClr val="tx1"/>
              </a:solidFill>
              <a:miter lim="800000"/>
            </a:ln>
          </p:spPr>
          <p:txBody>
            <a:bodyPr wrap="none"/>
            <a:lstStyle/>
            <a:p>
              <a:endParaRPr lang="zh-CN" altLang="en-US"/>
            </a:p>
          </p:txBody>
        </p:sp>
        <p:sp>
          <p:nvSpPr>
            <p:cNvPr id="80932" name="Line 37"/>
            <p:cNvSpPr>
              <a:spLocks noChangeShapeType="1"/>
            </p:cNvSpPr>
            <p:nvPr/>
          </p:nvSpPr>
          <p:spPr bwMode="auto">
            <a:xfrm>
              <a:off x="2880" y="2016"/>
              <a:ext cx="480" cy="0"/>
            </a:xfrm>
            <a:prstGeom prst="line">
              <a:avLst/>
            </a:prstGeom>
            <a:noFill/>
            <a:ln w="28575">
              <a:solidFill>
                <a:schemeClr val="tx1"/>
              </a:solidFill>
              <a:miter lim="800000"/>
            </a:ln>
          </p:spPr>
          <p:txBody>
            <a:bodyPr wrap="none"/>
            <a:lstStyle/>
            <a:p>
              <a:endParaRPr lang="zh-CN" altLang="en-US"/>
            </a:p>
          </p:txBody>
        </p:sp>
        <p:sp>
          <p:nvSpPr>
            <p:cNvPr id="80933" name="Text Box 38"/>
            <p:cNvSpPr txBox="1">
              <a:spLocks noChangeArrowheads="1"/>
            </p:cNvSpPr>
            <p:nvPr/>
          </p:nvSpPr>
          <p:spPr bwMode="auto">
            <a:xfrm>
              <a:off x="4464" y="1677"/>
              <a:ext cx="752" cy="231"/>
            </a:xfrm>
            <a:prstGeom prst="rect">
              <a:avLst/>
            </a:prstGeom>
            <a:noFill/>
            <a:ln w="9525">
              <a:noFill/>
              <a:miter lim="800000"/>
            </a:ln>
          </p:spPr>
          <p:txBody>
            <a:bodyPr wrap="none">
              <a:spAutoFit/>
            </a:bodyPr>
            <a:lstStyle/>
            <a:p>
              <a:pPr algn="l"/>
              <a:r>
                <a:rPr lang="en-US" altLang="zh-CN">
                  <a:latin typeface="Verdana" panose="020B0604030504040204" pitchFamily="34" charset="0"/>
                </a:rPr>
                <a:t>Internet</a:t>
              </a:r>
            </a:p>
          </p:txBody>
        </p:sp>
        <p:sp>
          <p:nvSpPr>
            <p:cNvPr id="80934" name="AutoShape 39"/>
            <p:cNvSpPr>
              <a:spLocks noChangeArrowheads="1"/>
            </p:cNvSpPr>
            <p:nvPr/>
          </p:nvSpPr>
          <p:spPr bwMode="auto">
            <a:xfrm>
              <a:off x="4896" y="2112"/>
              <a:ext cx="720" cy="411"/>
            </a:xfrm>
            <a:prstGeom prst="leftArrow">
              <a:avLst>
                <a:gd name="adj1" fmla="val 50000"/>
                <a:gd name="adj2" fmla="val 43796"/>
              </a:avLst>
            </a:prstGeom>
            <a:solidFill>
              <a:srgbClr val="FFCC00"/>
            </a:solidFill>
            <a:ln w="9525">
              <a:solidFill>
                <a:schemeClr val="accent2"/>
              </a:solidFill>
              <a:miter lim="800000"/>
            </a:ln>
          </p:spPr>
          <p:txBody>
            <a:bodyPr>
              <a:spAutoFit/>
            </a:bodyPr>
            <a:lstStyle/>
            <a:p>
              <a:pPr algn="l">
                <a:spcBef>
                  <a:spcPct val="50000"/>
                </a:spcBef>
              </a:pPr>
              <a:r>
                <a:rPr lang="zh-CN" altLang="en-US" b="0">
                  <a:solidFill>
                    <a:schemeClr val="tx2"/>
                  </a:solidFill>
                  <a:ea typeface="黑体" panose="02010609060101010101" pitchFamily="2" charset="-122"/>
                </a:rPr>
                <a:t>部署一</a:t>
              </a:r>
            </a:p>
          </p:txBody>
        </p:sp>
        <p:sp>
          <p:nvSpPr>
            <p:cNvPr id="80935" name="AutoShape 40"/>
            <p:cNvSpPr>
              <a:spLocks noChangeArrowheads="1"/>
            </p:cNvSpPr>
            <p:nvPr/>
          </p:nvSpPr>
          <p:spPr bwMode="auto">
            <a:xfrm>
              <a:off x="4032" y="2832"/>
              <a:ext cx="384" cy="658"/>
            </a:xfrm>
            <a:prstGeom prst="upArrow">
              <a:avLst>
                <a:gd name="adj1" fmla="val 50000"/>
                <a:gd name="adj2" fmla="val 42839"/>
              </a:avLst>
            </a:prstGeom>
            <a:solidFill>
              <a:srgbClr val="FFCC00"/>
            </a:solidFill>
            <a:ln w="9525">
              <a:solidFill>
                <a:schemeClr val="accent2"/>
              </a:solidFill>
              <a:miter lim="800000"/>
            </a:ln>
          </p:spPr>
          <p:txBody>
            <a:bodyPr>
              <a:spAutoFit/>
            </a:bodyPr>
            <a:lstStyle/>
            <a:p>
              <a:pPr algn="l">
                <a:spcBef>
                  <a:spcPct val="50000"/>
                </a:spcBef>
              </a:pPr>
              <a:r>
                <a:rPr lang="zh-CN" altLang="en-US" b="0">
                  <a:solidFill>
                    <a:schemeClr val="tx2"/>
                  </a:solidFill>
                  <a:ea typeface="黑体" panose="02010609060101010101" pitchFamily="2" charset="-122"/>
                </a:rPr>
                <a:t>部署二</a:t>
              </a:r>
            </a:p>
          </p:txBody>
        </p:sp>
        <p:sp>
          <p:nvSpPr>
            <p:cNvPr id="80936" name="AutoShape 41"/>
            <p:cNvSpPr>
              <a:spLocks noChangeArrowheads="1"/>
            </p:cNvSpPr>
            <p:nvPr/>
          </p:nvSpPr>
          <p:spPr bwMode="auto">
            <a:xfrm rot="-2875035">
              <a:off x="2961" y="1456"/>
              <a:ext cx="720" cy="387"/>
            </a:xfrm>
            <a:prstGeom prst="leftArrow">
              <a:avLst>
                <a:gd name="adj1" fmla="val 50000"/>
                <a:gd name="adj2" fmla="val 46512"/>
              </a:avLst>
            </a:prstGeom>
            <a:solidFill>
              <a:srgbClr val="FFCC00"/>
            </a:solidFill>
            <a:ln w="9525">
              <a:solidFill>
                <a:schemeClr val="accent2"/>
              </a:solidFill>
              <a:miter lim="800000"/>
            </a:ln>
          </p:spPr>
          <p:txBody>
            <a:bodyPr>
              <a:spAutoFit/>
            </a:bodyPr>
            <a:lstStyle/>
            <a:p>
              <a:pPr algn="l">
                <a:spcBef>
                  <a:spcPct val="50000"/>
                </a:spcBef>
              </a:pPr>
              <a:r>
                <a:rPr lang="zh-CN" altLang="en-US">
                  <a:solidFill>
                    <a:schemeClr val="tx2"/>
                  </a:solidFill>
                  <a:ea typeface="黑体" panose="02010609060101010101" pitchFamily="2" charset="-122"/>
                </a:rPr>
                <a:t>部署三</a:t>
              </a:r>
            </a:p>
          </p:txBody>
        </p:sp>
        <p:sp>
          <p:nvSpPr>
            <p:cNvPr id="80937" name="AutoShape 42"/>
            <p:cNvSpPr>
              <a:spLocks noChangeArrowheads="1"/>
            </p:cNvSpPr>
            <p:nvPr/>
          </p:nvSpPr>
          <p:spPr bwMode="auto">
            <a:xfrm rot="2769070">
              <a:off x="2971" y="3500"/>
              <a:ext cx="720" cy="422"/>
            </a:xfrm>
            <a:prstGeom prst="leftArrow">
              <a:avLst>
                <a:gd name="adj1" fmla="val 50000"/>
                <a:gd name="adj2" fmla="val 42654"/>
              </a:avLst>
            </a:prstGeom>
            <a:solidFill>
              <a:srgbClr val="FFCC00"/>
            </a:solidFill>
            <a:ln w="9525">
              <a:solidFill>
                <a:schemeClr val="accent2"/>
              </a:solidFill>
              <a:miter lim="800000"/>
            </a:ln>
          </p:spPr>
          <p:txBody>
            <a:bodyPr>
              <a:spAutoFit/>
            </a:bodyPr>
            <a:lstStyle/>
            <a:p>
              <a:pPr algn="l">
                <a:spcBef>
                  <a:spcPct val="50000"/>
                </a:spcBef>
              </a:pPr>
              <a:r>
                <a:rPr lang="zh-CN" altLang="en-US" sz="2000">
                  <a:solidFill>
                    <a:schemeClr val="tx2"/>
                  </a:solidFill>
                  <a:ea typeface="黑体" panose="02010609060101010101" pitchFamily="2" charset="-122"/>
                </a:rPr>
                <a:t>部署四</a:t>
              </a:r>
            </a:p>
          </p:txBody>
        </p:sp>
      </p:grpSp>
    </p:spTree>
  </p:cSld>
  <p:clrMapOvr>
    <a:masterClrMapping/>
  </p:clrMapOvr>
  <p:transition>
    <p:fade/>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3"/>
          <p:cNvSpPr>
            <a:spLocks noGrp="1" noChangeArrowheads="1"/>
          </p:cNvSpPr>
          <p:nvPr>
            <p:ph type="body" idx="1"/>
          </p:nvPr>
        </p:nvSpPr>
        <p:spPr>
          <a:xfrm>
            <a:off x="647564" y="2490136"/>
            <a:ext cx="7524836" cy="1260140"/>
          </a:xfrm>
        </p:spPr>
        <p:txBody>
          <a:bodyPr/>
          <a:lstStyle/>
          <a:p>
            <a:pPr eaLnBrk="1" hangingPunct="1">
              <a:lnSpc>
                <a:spcPct val="90000"/>
              </a:lnSpc>
            </a:pPr>
            <a:r>
              <a:rPr lang="zh-CN" altLang="en-US" sz="2400" b="1" kern="1200"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检测器放置于路由器和边界防火墙之间</a:t>
            </a:r>
          </a:p>
          <a:p>
            <a:pPr lvl="1" eaLnBrk="1" hangingPunct="1">
              <a:lnSpc>
                <a:spcPct val="90000"/>
              </a:lnSpc>
            </a:pPr>
            <a:r>
              <a:rPr lang="zh-CN" altLang="en-US" sz="2000" b="1"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可以审计所有来自</a:t>
            </a:r>
            <a:r>
              <a:rPr lang="en-US" altLang="zh-CN" sz="2000" b="1"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Internet</a:t>
            </a:r>
            <a:r>
              <a:rPr lang="zh-CN" altLang="en-US" sz="2000" b="1"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上面对保护网络的攻击数目</a:t>
            </a:r>
          </a:p>
          <a:p>
            <a:pPr lvl="1" eaLnBrk="1" hangingPunct="1">
              <a:lnSpc>
                <a:spcPct val="90000"/>
              </a:lnSpc>
            </a:pPr>
            <a:r>
              <a:rPr lang="zh-CN" altLang="en-US" sz="2000" b="1"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可以审计所有来自</a:t>
            </a:r>
            <a:r>
              <a:rPr lang="en-US" altLang="zh-CN" sz="2000" b="1"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Internet</a:t>
            </a:r>
            <a:r>
              <a:rPr lang="zh-CN" altLang="en-US" sz="2000" b="1"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上面对保护网络的攻击类型</a:t>
            </a:r>
          </a:p>
          <a:p>
            <a:pPr eaLnBrk="1" hangingPunct="1">
              <a:lnSpc>
                <a:spcPct val="90000"/>
              </a:lnSpc>
            </a:pP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 name="矩形 1"/>
          <p:cNvSpPr/>
          <p:nvPr/>
        </p:nvSpPr>
        <p:spPr>
          <a:xfrm>
            <a:off x="647564" y="952473"/>
            <a:ext cx="7164796" cy="1440394"/>
          </a:xfrm>
          <a:prstGeom prst="rect">
            <a:avLst/>
          </a:prstGeom>
        </p:spPr>
        <p:txBody>
          <a:bodyPr wrap="square">
            <a:spAutoFit/>
          </a:bodyPr>
          <a:lstStyle/>
          <a:p>
            <a:pPr marL="342900" indent="-342900">
              <a:lnSpc>
                <a:spcPct val="90000"/>
              </a:lnSpc>
              <a:spcBef>
                <a:spcPct val="20000"/>
              </a:spcBef>
              <a:buClr>
                <a:srgbClr val="3399FF"/>
              </a:buClr>
              <a:buFont typeface="Wingdings" panose="05000000000000000000" pitchFamily="2" charset="2"/>
              <a:buChar char="v"/>
            </a:pPr>
            <a:r>
              <a:rPr lang="zh-CN" altLang="en-US" sz="2400" b="1" dirty="0">
                <a:solidFill>
                  <a:srgbClr val="0000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检测器放置于防火墙的</a:t>
            </a:r>
            <a:r>
              <a:rPr lang="en-US" altLang="zh-CN" sz="2400" b="1" dirty="0">
                <a:solidFill>
                  <a:srgbClr val="0000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DMZ</a:t>
            </a:r>
            <a:r>
              <a:rPr lang="zh-CN" altLang="en-US" sz="2400" b="1" dirty="0">
                <a:solidFill>
                  <a:srgbClr val="0000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区域</a:t>
            </a:r>
          </a:p>
          <a:p>
            <a:pPr marL="742950" lvl="1" indent="-285750">
              <a:lnSpc>
                <a:spcPct val="90000"/>
              </a:lnSpc>
              <a:spcBef>
                <a:spcPct val="20000"/>
              </a:spcBef>
              <a:buClr>
                <a:srgbClr val="FF9900"/>
              </a:buClr>
              <a:buFont typeface="Wingdings" panose="05000000000000000000" pitchFamily="2" charset="2"/>
              <a:buChar char="§"/>
            </a:pPr>
            <a:r>
              <a:rPr lang="zh-CN" altLang="en-US" sz="20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可以查看受保护区域主机被攻击状态</a:t>
            </a:r>
          </a:p>
          <a:p>
            <a:pPr marL="742950" lvl="1" indent="-285750">
              <a:lnSpc>
                <a:spcPct val="90000"/>
              </a:lnSpc>
              <a:spcBef>
                <a:spcPct val="20000"/>
              </a:spcBef>
              <a:buClr>
                <a:srgbClr val="FF9900"/>
              </a:buClr>
              <a:buFont typeface="Wingdings" panose="05000000000000000000" pitchFamily="2" charset="2"/>
              <a:buChar char="§"/>
            </a:pPr>
            <a:r>
              <a:rPr lang="zh-CN" altLang="en-US" sz="20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可以看出防火墙系统的策略是否合理</a:t>
            </a:r>
          </a:p>
          <a:p>
            <a:pPr marL="742950" lvl="1" indent="-285750">
              <a:lnSpc>
                <a:spcPct val="90000"/>
              </a:lnSpc>
              <a:spcBef>
                <a:spcPct val="20000"/>
              </a:spcBef>
              <a:buClr>
                <a:srgbClr val="FF9900"/>
              </a:buClr>
              <a:buFont typeface="Wingdings" panose="05000000000000000000" pitchFamily="2" charset="2"/>
              <a:buChar char="§"/>
            </a:pPr>
            <a:r>
              <a:rPr lang="zh-CN" altLang="en-US" sz="20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可以看出</a:t>
            </a:r>
            <a:r>
              <a:rPr lang="en-US" altLang="zh-CN" sz="20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DMZ</a:t>
            </a:r>
            <a:r>
              <a:rPr lang="zh-CN" altLang="en-US" sz="20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区域被黑客攻击的重点</a:t>
            </a:r>
          </a:p>
        </p:txBody>
      </p:sp>
      <p:sp>
        <p:nvSpPr>
          <p:cNvPr id="3" name="矩形 2"/>
          <p:cNvSpPr/>
          <p:nvPr/>
        </p:nvSpPr>
        <p:spPr>
          <a:xfrm>
            <a:off x="647564" y="3788806"/>
            <a:ext cx="7380820" cy="1101840"/>
          </a:xfrm>
          <a:prstGeom prst="rect">
            <a:avLst/>
          </a:prstGeom>
        </p:spPr>
        <p:txBody>
          <a:bodyPr wrap="square">
            <a:spAutoFit/>
          </a:bodyPr>
          <a:lstStyle/>
          <a:p>
            <a:pPr marL="342900" indent="-342900">
              <a:lnSpc>
                <a:spcPct val="90000"/>
              </a:lnSpc>
              <a:spcBef>
                <a:spcPct val="20000"/>
              </a:spcBef>
              <a:buClr>
                <a:srgbClr val="3399FF"/>
              </a:buClr>
              <a:buFont typeface="Wingdings" panose="05000000000000000000" pitchFamily="2" charset="2"/>
              <a:buChar char="v"/>
            </a:pPr>
            <a:r>
              <a:rPr lang="zh-CN" altLang="en-US" sz="2400" b="1" dirty="0">
                <a:solidFill>
                  <a:srgbClr val="0000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检测器放在主要的网络中枢</a:t>
            </a:r>
          </a:p>
          <a:p>
            <a:pPr marL="742950" lvl="1" indent="-285750">
              <a:lnSpc>
                <a:spcPct val="90000"/>
              </a:lnSpc>
              <a:spcBef>
                <a:spcPct val="20000"/>
              </a:spcBef>
              <a:buClr>
                <a:srgbClr val="FF9900"/>
              </a:buClr>
              <a:buFont typeface="Wingdings" panose="05000000000000000000" pitchFamily="2" charset="2"/>
              <a:buChar char="§"/>
            </a:pPr>
            <a:r>
              <a:rPr lang="zh-CN" altLang="en-US" sz="20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监控大量的网络数据，可提高检测黑客攻击的可能性</a:t>
            </a:r>
          </a:p>
          <a:p>
            <a:pPr marL="742950" lvl="1" indent="-285750">
              <a:lnSpc>
                <a:spcPct val="90000"/>
              </a:lnSpc>
              <a:spcBef>
                <a:spcPct val="20000"/>
              </a:spcBef>
              <a:buClr>
                <a:srgbClr val="FF9900"/>
              </a:buClr>
              <a:buFont typeface="Wingdings" panose="05000000000000000000" pitchFamily="2" charset="2"/>
              <a:buChar char="§"/>
            </a:pPr>
            <a:r>
              <a:rPr lang="zh-CN" altLang="en-US" sz="20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可通过授权用户的权利周界来发现为授权用户的行为</a:t>
            </a:r>
          </a:p>
        </p:txBody>
      </p:sp>
      <p:sp>
        <p:nvSpPr>
          <p:cNvPr id="5" name="Rectangle 3"/>
          <p:cNvSpPr txBox="1">
            <a:spLocks noChangeArrowheads="1"/>
          </p:cNvSpPr>
          <p:nvPr/>
        </p:nvSpPr>
        <p:spPr bwMode="gray">
          <a:xfrm>
            <a:off x="647564" y="5085184"/>
            <a:ext cx="6480720" cy="804574"/>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3399FF"/>
              </a:buClr>
              <a:buFont typeface="Wingdings" panose="05000000000000000000"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9900"/>
              </a:buClr>
              <a:buFont typeface="Wingdings" panose="05000000000000000000" pitchFamily="2" charset="2"/>
              <a:buChar char="§"/>
              <a:defRPr sz="2600">
                <a:solidFill>
                  <a:schemeClr val="tx1"/>
                </a:solidFill>
                <a:latin typeface="+mn-lt"/>
                <a:ea typeface="+mn-ea"/>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defRPr>
            </a:lvl5pPr>
            <a:lvl6pPr marL="2514600" indent="-228600" algn="l" rtl="0" fontAlgn="base">
              <a:spcBef>
                <a:spcPct val="20000"/>
              </a:spcBef>
              <a:spcAft>
                <a:spcPct val="0"/>
              </a:spcAft>
              <a:buChar char="»"/>
              <a:defRPr sz="2000">
                <a:solidFill>
                  <a:schemeClr val="tx1"/>
                </a:solidFill>
                <a:latin typeface="Arial" panose="020B0604020202020204" pitchFamily="34" charset="0"/>
                <a:ea typeface="+mn-ea"/>
              </a:defRPr>
            </a:lvl6pPr>
            <a:lvl7pPr marL="2971800" indent="-228600" algn="l" rtl="0" fontAlgn="base">
              <a:spcBef>
                <a:spcPct val="20000"/>
              </a:spcBef>
              <a:spcAft>
                <a:spcPct val="0"/>
              </a:spcAft>
              <a:buChar char="»"/>
              <a:defRPr sz="2000">
                <a:solidFill>
                  <a:schemeClr val="tx1"/>
                </a:solidFill>
                <a:latin typeface="Arial" panose="020B0604020202020204" pitchFamily="34" charset="0"/>
                <a:ea typeface="+mn-ea"/>
              </a:defRPr>
            </a:lvl7pPr>
            <a:lvl8pPr marL="3429000" indent="-228600" algn="l" rtl="0" fontAlgn="base">
              <a:spcBef>
                <a:spcPct val="20000"/>
              </a:spcBef>
              <a:spcAft>
                <a:spcPct val="0"/>
              </a:spcAft>
              <a:buChar char="»"/>
              <a:defRPr sz="2000">
                <a:solidFill>
                  <a:schemeClr val="tx1"/>
                </a:solidFill>
                <a:latin typeface="Arial" panose="020B0604020202020204" pitchFamily="34" charset="0"/>
                <a:ea typeface="+mn-ea"/>
              </a:defRPr>
            </a:lvl8pPr>
            <a:lvl9pPr marL="3886200" indent="-228600" algn="l" rtl="0" fontAlgn="base">
              <a:spcBef>
                <a:spcPct val="20000"/>
              </a:spcBef>
              <a:spcAft>
                <a:spcPct val="0"/>
              </a:spcAft>
              <a:buChar char="»"/>
              <a:defRPr sz="2000">
                <a:solidFill>
                  <a:schemeClr val="tx1"/>
                </a:solidFill>
                <a:latin typeface="Arial" panose="020B0604020202020204" pitchFamily="34" charset="0"/>
                <a:ea typeface="+mn-ea"/>
              </a:defRPr>
            </a:lvl9pPr>
          </a:lstStyle>
          <a:p>
            <a:pPr eaLnBrk="1" hangingPunct="1">
              <a:lnSpc>
                <a:spcPct val="90000"/>
              </a:lnSpc>
            </a:pPr>
            <a:r>
              <a:rPr lang="zh-CN" altLang="en-US" sz="24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检测器放在安全级别高的子网</a:t>
            </a:r>
          </a:p>
          <a:p>
            <a:pPr lvl="1" eaLnBrk="1" hangingPunct="1">
              <a:lnSpc>
                <a:spcPct val="90000"/>
              </a:lnSpc>
            </a:pP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对非常重要的系统和资源的入侵检测</a:t>
            </a:r>
          </a:p>
          <a:p>
            <a:pPr eaLnBrk="1" hangingPunct="1"/>
            <a:endParaRPr lang="en-US" altLang="zh-CN" b="1" kern="0" dirty="0">
              <a:effectLst>
                <a:outerShdw blurRad="38100" dist="38100" dir="2700000" algn="tl">
                  <a:srgbClr val="000000">
                    <a:alpha val="43137"/>
                  </a:srgbClr>
                </a:outerShdw>
              </a:effectLst>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1922">
                                            <p:txEl>
                                              <p:pRg st="0" end="0"/>
                                            </p:txEl>
                                          </p:spTgt>
                                        </p:tgtEl>
                                        <p:attrNameLst>
                                          <p:attrName>style.visibility</p:attrName>
                                        </p:attrNameLst>
                                      </p:cBhvr>
                                      <p:to>
                                        <p:strVal val="visible"/>
                                      </p:to>
                                    </p:set>
                                    <p:animEffect transition="in" filter="wipe(up)">
                                      <p:cBhvr>
                                        <p:cTn id="12" dur="500"/>
                                        <p:tgtEl>
                                          <p:spTgt spid="81922">
                                            <p:txEl>
                                              <p:pRg st="0" end="0"/>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81922">
                                            <p:txEl>
                                              <p:pRg st="1" end="1"/>
                                            </p:txEl>
                                          </p:spTgt>
                                        </p:tgtEl>
                                        <p:attrNameLst>
                                          <p:attrName>style.visibility</p:attrName>
                                        </p:attrNameLst>
                                      </p:cBhvr>
                                      <p:to>
                                        <p:strVal val="visible"/>
                                      </p:to>
                                    </p:set>
                                    <p:animEffect transition="in" filter="wipe(up)">
                                      <p:cBhvr>
                                        <p:cTn id="15" dur="500"/>
                                        <p:tgtEl>
                                          <p:spTgt spid="81922">
                                            <p:txEl>
                                              <p:pRg st="1" end="1"/>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81922">
                                            <p:txEl>
                                              <p:pRg st="2" end="2"/>
                                            </p:txEl>
                                          </p:spTgt>
                                        </p:tgtEl>
                                        <p:attrNameLst>
                                          <p:attrName>style.visibility</p:attrName>
                                        </p:attrNameLst>
                                      </p:cBhvr>
                                      <p:to>
                                        <p:strVal val="visible"/>
                                      </p:to>
                                    </p:set>
                                    <p:animEffect transition="in" filter="wipe(up)">
                                      <p:cBhvr>
                                        <p:cTn id="18" dur="500"/>
                                        <p:tgtEl>
                                          <p:spTgt spid="81922">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up)">
                                      <p:cBhvr>
                                        <p:cTn id="23" dur="500"/>
                                        <p:tgtEl>
                                          <p:spTgt spid="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up)">
                                      <p:cBhvr>
                                        <p:cTn id="2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2" grpId="0" build="p"/>
      <p:bldP spid="2" grpId="0"/>
      <p:bldP spid="3" grpId="0"/>
      <p:bldP spid="5"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11"/>
          <p:cNvSpPr>
            <a:spLocks noGrp="1" noChangeArrowheads="1"/>
          </p:cNvSpPr>
          <p:nvPr>
            <p:ph type="title" idx="4294967295"/>
          </p:nvPr>
        </p:nvSpPr>
        <p:spPr>
          <a:xfrm>
            <a:off x="525073" y="612404"/>
            <a:ext cx="7489576" cy="1143000"/>
          </a:xfrm>
        </p:spPr>
        <p:txBody>
          <a:bodyPr/>
          <a:lstStyle/>
          <a:p>
            <a:pPr algn="l" eaLnBrk="1" hangingPunct="1"/>
            <a:r>
              <a:rPr lang="zh-CN" altLang="en-US" sz="3600" b="1" dirty="0">
                <a:solidFill>
                  <a:srgbClr val="CC0000"/>
                </a:solidFill>
                <a:latin typeface="Times New Roman" panose="02020603050405020304" pitchFamily="18" charset="0"/>
              </a:rPr>
              <a:t>商业</a:t>
            </a:r>
            <a:r>
              <a:rPr lang="en-US" altLang="zh-CN" sz="3600" b="1" dirty="0">
                <a:solidFill>
                  <a:srgbClr val="CC0000"/>
                </a:solidFill>
                <a:latin typeface="Times New Roman" panose="02020603050405020304" pitchFamily="18" charset="0"/>
              </a:rPr>
              <a:t>IDS</a:t>
            </a:r>
            <a:r>
              <a:rPr lang="zh-CN" altLang="en-US" sz="3600" b="1" dirty="0">
                <a:solidFill>
                  <a:srgbClr val="CC0000"/>
                </a:solidFill>
                <a:latin typeface="Times New Roman" panose="02020603050405020304" pitchFamily="18" charset="0"/>
              </a:rPr>
              <a:t>例子：</a:t>
            </a:r>
            <a:r>
              <a:rPr lang="en-US" altLang="zh-CN" sz="3200" b="1" dirty="0">
                <a:solidFill>
                  <a:srgbClr val="0000CC"/>
                </a:solidFill>
                <a:latin typeface="Times New Roman" panose="02020603050405020304" pitchFamily="18" charset="0"/>
              </a:rPr>
              <a:t>ISS </a:t>
            </a:r>
            <a:r>
              <a:rPr lang="en-US" altLang="zh-CN" sz="3200" b="1" dirty="0" err="1">
                <a:solidFill>
                  <a:srgbClr val="0000CC"/>
                </a:solidFill>
                <a:latin typeface="Times New Roman" panose="02020603050405020304" pitchFamily="18" charset="0"/>
              </a:rPr>
              <a:t>RealSecure</a:t>
            </a:r>
            <a:r>
              <a:rPr lang="zh-CN" altLang="en-US" sz="3200" b="1" dirty="0">
                <a:solidFill>
                  <a:srgbClr val="0000CC"/>
                </a:solidFill>
                <a:latin typeface="Times New Roman" panose="02020603050405020304" pitchFamily="18" charset="0"/>
              </a:rPr>
              <a:t>结构</a:t>
            </a:r>
          </a:p>
        </p:txBody>
      </p:sp>
      <p:grpSp>
        <p:nvGrpSpPr>
          <p:cNvPr id="2" name="Group 15"/>
          <p:cNvGrpSpPr/>
          <p:nvPr/>
        </p:nvGrpSpPr>
        <p:grpSpPr bwMode="auto">
          <a:xfrm>
            <a:off x="1007604" y="1664804"/>
            <a:ext cx="6763494" cy="4419600"/>
            <a:chOff x="687" y="935"/>
            <a:chExt cx="3957" cy="2920"/>
          </a:xfrm>
        </p:grpSpPr>
        <p:sp>
          <p:nvSpPr>
            <p:cNvPr id="83972" name="Line 2"/>
            <p:cNvSpPr>
              <a:spLocks noChangeShapeType="1"/>
            </p:cNvSpPr>
            <p:nvPr/>
          </p:nvSpPr>
          <p:spPr bwMode="auto">
            <a:xfrm>
              <a:off x="1985" y="1641"/>
              <a:ext cx="1488" cy="0"/>
            </a:xfrm>
            <a:prstGeom prst="line">
              <a:avLst/>
            </a:prstGeom>
            <a:noFill/>
            <a:ln w="38100">
              <a:solidFill>
                <a:schemeClr val="tx1"/>
              </a:solidFill>
              <a:round/>
            </a:ln>
          </p:spPr>
          <p:txBody>
            <a:bodyPr wrap="none" anchor="ctr"/>
            <a:lstStyle/>
            <a:p>
              <a:endPar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3973" name="Line 3"/>
            <p:cNvSpPr>
              <a:spLocks noChangeShapeType="1"/>
            </p:cNvSpPr>
            <p:nvPr/>
          </p:nvSpPr>
          <p:spPr bwMode="auto">
            <a:xfrm flipH="1">
              <a:off x="2736" y="1655"/>
              <a:ext cx="0" cy="1776"/>
            </a:xfrm>
            <a:prstGeom prst="line">
              <a:avLst/>
            </a:prstGeom>
            <a:noFill/>
            <a:ln w="38100">
              <a:solidFill>
                <a:srgbClr val="000000"/>
              </a:solidFill>
              <a:round/>
            </a:ln>
          </p:spPr>
          <p:txBody>
            <a:bodyPr wrap="none" anchor="ctr"/>
            <a:lstStyle/>
            <a:p>
              <a:endPar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3974" name="Line 4"/>
            <p:cNvSpPr>
              <a:spLocks noChangeShapeType="1"/>
            </p:cNvSpPr>
            <p:nvPr/>
          </p:nvSpPr>
          <p:spPr bwMode="auto">
            <a:xfrm>
              <a:off x="2777" y="3431"/>
              <a:ext cx="792" cy="0"/>
            </a:xfrm>
            <a:prstGeom prst="line">
              <a:avLst/>
            </a:prstGeom>
            <a:noFill/>
            <a:ln w="38100">
              <a:solidFill>
                <a:schemeClr val="tx1"/>
              </a:solidFill>
              <a:round/>
            </a:ln>
          </p:spPr>
          <p:txBody>
            <a:bodyPr wrap="none" anchor="ctr"/>
            <a:lstStyle/>
            <a:p>
              <a:endPar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83975" name="Picture 5"/>
            <p:cNvPicPr>
              <a:picLocks noChangeArrowheads="1"/>
            </p:cNvPicPr>
            <p:nvPr/>
          </p:nvPicPr>
          <p:blipFill>
            <a:blip r:embed="rId3"/>
            <a:srcRect/>
            <a:stretch>
              <a:fillRect/>
            </a:stretch>
          </p:blipFill>
          <p:spPr bwMode="auto">
            <a:xfrm>
              <a:off x="1296" y="1367"/>
              <a:ext cx="748" cy="993"/>
            </a:xfrm>
            <a:prstGeom prst="rect">
              <a:avLst/>
            </a:prstGeom>
            <a:noFill/>
            <a:ln w="12700">
              <a:noFill/>
              <a:miter lim="800000"/>
              <a:headEnd/>
              <a:tailEnd/>
            </a:ln>
          </p:spPr>
        </p:pic>
        <p:pic>
          <p:nvPicPr>
            <p:cNvPr id="83976" name="Picture 6" descr="server"/>
            <p:cNvPicPr>
              <a:picLocks noChangeAspect="1" noChangeArrowheads="1"/>
            </p:cNvPicPr>
            <p:nvPr/>
          </p:nvPicPr>
          <p:blipFill>
            <a:blip r:embed="rId4">
              <a:clrChange>
                <a:clrFrom>
                  <a:srgbClr val="496C8A"/>
                </a:clrFrom>
                <a:clrTo>
                  <a:srgbClr val="496C8A">
                    <a:alpha val="0"/>
                  </a:srgbClr>
                </a:clrTo>
              </a:clrChange>
            </a:blip>
            <a:srcRect/>
            <a:stretch>
              <a:fillRect/>
            </a:stretch>
          </p:blipFill>
          <p:spPr bwMode="auto">
            <a:xfrm>
              <a:off x="3497" y="2951"/>
              <a:ext cx="535" cy="904"/>
            </a:xfrm>
            <a:prstGeom prst="rect">
              <a:avLst/>
            </a:prstGeom>
            <a:noFill/>
            <a:ln w="9525">
              <a:noFill/>
              <a:miter lim="800000"/>
              <a:headEnd/>
              <a:tailEnd/>
            </a:ln>
          </p:spPr>
        </p:pic>
        <p:pic>
          <p:nvPicPr>
            <p:cNvPr id="83977" name="Picture 7" descr="server"/>
            <p:cNvPicPr>
              <a:picLocks noChangeAspect="1" noChangeArrowheads="1"/>
            </p:cNvPicPr>
            <p:nvPr/>
          </p:nvPicPr>
          <p:blipFill>
            <a:blip r:embed="rId4">
              <a:clrChange>
                <a:clrFrom>
                  <a:srgbClr val="496C8A"/>
                </a:clrFrom>
                <a:clrTo>
                  <a:srgbClr val="496C8A">
                    <a:alpha val="0"/>
                  </a:srgbClr>
                </a:clrTo>
              </a:clrChange>
            </a:blip>
            <a:srcRect/>
            <a:stretch>
              <a:fillRect/>
            </a:stretch>
          </p:blipFill>
          <p:spPr bwMode="auto">
            <a:xfrm>
              <a:off x="3465" y="935"/>
              <a:ext cx="579" cy="853"/>
            </a:xfrm>
            <a:prstGeom prst="rect">
              <a:avLst/>
            </a:prstGeom>
            <a:noFill/>
            <a:ln w="9525">
              <a:noFill/>
              <a:miter lim="800000"/>
              <a:headEnd/>
              <a:tailEnd/>
            </a:ln>
          </p:spPr>
        </p:pic>
        <p:sp>
          <p:nvSpPr>
            <p:cNvPr id="83978" name="Text Box 8"/>
            <p:cNvSpPr txBox="1">
              <a:spLocks noChangeArrowheads="1"/>
            </p:cNvSpPr>
            <p:nvPr/>
          </p:nvSpPr>
          <p:spPr bwMode="auto">
            <a:xfrm>
              <a:off x="687" y="2367"/>
              <a:ext cx="1776" cy="305"/>
            </a:xfrm>
            <a:prstGeom prst="rect">
              <a:avLst/>
            </a:prstGeom>
            <a:noFill/>
            <a:ln w="9525">
              <a:noFill/>
              <a:miter lim="800000"/>
            </a:ln>
          </p:spPr>
          <p:txBody>
            <a:bodyPr wrap="none">
              <a:spAutoFit/>
            </a:bodyPr>
            <a:lstStyle/>
            <a:p>
              <a:pPr eaLnBrk="0" hangingPunct="0"/>
              <a:r>
                <a:rPr lang="en-US" altLang="zh-CN" sz="2400" b="1" i="1" dirty="0" err="1">
                  <a:effectLst>
                    <a:outerShdw blurRad="38100" dist="38100" dir="2700000" algn="tl">
                      <a:srgbClr val="000000">
                        <a:alpha val="43137"/>
                      </a:srgbClr>
                    </a:outerShdw>
                  </a:effectLst>
                  <a:latin typeface="Times New Roman" panose="02020603050405020304" pitchFamily="18" charset="0"/>
                  <a:ea typeface="MS PGothic" panose="020B0600070205080204" pitchFamily="34" charset="-128"/>
                  <a:cs typeface="Times New Roman" panose="02020603050405020304" pitchFamily="18" charset="0"/>
                </a:rPr>
                <a:t>RealSecure</a:t>
              </a:r>
              <a:r>
                <a:rPr lang="en-US" altLang="zh-CN" sz="2400" b="1" i="1" dirty="0">
                  <a:effectLst>
                    <a:outerShdw blurRad="38100" dist="38100" dir="2700000" algn="tl">
                      <a:srgbClr val="000000">
                        <a:alpha val="43137"/>
                      </a:srgbClr>
                    </a:outerShdw>
                  </a:effectLst>
                  <a:latin typeface="Times New Roman" panose="02020603050405020304" pitchFamily="18" charset="0"/>
                  <a:ea typeface="MS PGothic" panose="020B0600070205080204" pitchFamily="34" charset="-128"/>
                  <a:cs typeface="Times New Roman" panose="02020603050405020304" pitchFamily="18" charset="0"/>
                </a:rPr>
                <a:t> Console</a:t>
              </a:r>
              <a:endParaRPr lang="en-US" altLang="zh-CN"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30409" name="Text Box 9"/>
            <p:cNvSpPr txBox="1">
              <a:spLocks noChangeArrowheads="1"/>
            </p:cNvSpPr>
            <p:nvPr/>
          </p:nvSpPr>
          <p:spPr bwMode="auto">
            <a:xfrm>
              <a:off x="3034" y="1288"/>
              <a:ext cx="1450" cy="244"/>
            </a:xfrm>
            <a:prstGeom prst="rect">
              <a:avLst/>
            </a:prstGeom>
            <a:noFill/>
            <a:ln w="9525">
              <a:noFill/>
              <a:miter lim="800000"/>
            </a:ln>
            <a:effectLst/>
          </p:spPr>
          <p:txBody>
            <a:bodyPr wrap="none">
              <a:spAutoFit/>
            </a:bodyPr>
            <a:lstStyle/>
            <a:p>
              <a:pPr eaLnBrk="0" hangingPunct="0">
                <a:defRPr/>
              </a:pPr>
              <a:r>
                <a:rPr lang="en-US" altLang="zh-CN" sz="1600" b="1" i="1" dirty="0" err="1">
                  <a:solidFill>
                    <a:srgbClr val="FF0000"/>
                  </a:solidFill>
                  <a:effectLst>
                    <a:outerShdw blurRad="38100" dist="38100" dir="2700000" algn="tl">
                      <a:srgbClr val="000000">
                        <a:alpha val="43137"/>
                      </a:srgbClr>
                    </a:outerShdw>
                  </a:effectLst>
                  <a:latin typeface="Times New Roman" panose="02020603050405020304" pitchFamily="18" charset="0"/>
                  <a:ea typeface="MS PGothic" panose="020B0600070205080204" pitchFamily="34" charset="-128"/>
                  <a:cs typeface="Times New Roman" panose="02020603050405020304" pitchFamily="18" charset="0"/>
                </a:rPr>
                <a:t>RealSecure</a:t>
              </a:r>
              <a:r>
                <a:rPr lang="en-US" altLang="zh-CN" sz="1600" b="1" i="1" dirty="0">
                  <a:solidFill>
                    <a:srgbClr val="FF0000"/>
                  </a:solidFill>
                  <a:effectLst>
                    <a:outerShdw blurRad="38100" dist="38100" dir="2700000" algn="tl">
                      <a:srgbClr val="000000">
                        <a:alpha val="43137"/>
                      </a:srgbClr>
                    </a:outerShdw>
                  </a:effectLst>
                  <a:latin typeface="Times New Roman" panose="02020603050405020304" pitchFamily="18" charset="0"/>
                  <a:ea typeface="MS PGothic" panose="020B0600070205080204" pitchFamily="34" charset="-128"/>
                  <a:cs typeface="Times New Roman" panose="02020603050405020304" pitchFamily="18" charset="0"/>
                </a:rPr>
                <a:t> </a:t>
              </a:r>
              <a:r>
                <a:rPr lang="en-US" altLang="zh-CN"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OS Sensor</a:t>
              </a:r>
            </a:p>
          </p:txBody>
        </p:sp>
        <p:sp>
          <p:nvSpPr>
            <p:cNvPr id="230410" name="Text Box 10"/>
            <p:cNvSpPr txBox="1">
              <a:spLocks noChangeArrowheads="1"/>
            </p:cNvSpPr>
            <p:nvPr/>
          </p:nvSpPr>
          <p:spPr bwMode="auto">
            <a:xfrm>
              <a:off x="2939" y="3536"/>
              <a:ext cx="1672" cy="244"/>
            </a:xfrm>
            <a:prstGeom prst="rect">
              <a:avLst/>
            </a:prstGeom>
            <a:noFill/>
            <a:ln w="9525">
              <a:noFill/>
              <a:miter lim="800000"/>
            </a:ln>
            <a:effectLst/>
          </p:spPr>
          <p:txBody>
            <a:bodyPr wrap="none">
              <a:spAutoFit/>
            </a:bodyPr>
            <a:lstStyle/>
            <a:p>
              <a:pPr eaLnBrk="0" hangingPunct="0">
                <a:defRPr/>
              </a:pPr>
              <a:r>
                <a:rPr lang="en-US" altLang="zh-CN" sz="1600" b="1" i="1">
                  <a:solidFill>
                    <a:srgbClr val="FC0000"/>
                  </a:solidFill>
                  <a:effectLst>
                    <a:outerShdw blurRad="38100" dist="38100" dir="2700000" algn="tl">
                      <a:srgbClr val="000000">
                        <a:alpha val="43137"/>
                      </a:srgbClr>
                    </a:outerShdw>
                  </a:effectLst>
                  <a:latin typeface="Times New Roman" panose="02020603050405020304" pitchFamily="18" charset="0"/>
                  <a:ea typeface="MS PGothic" panose="020B0600070205080204" pitchFamily="34" charset="-128"/>
                  <a:cs typeface="Times New Roman" panose="02020603050405020304" pitchFamily="18" charset="0"/>
                </a:rPr>
                <a:t>RealSecure </a:t>
              </a:r>
              <a:r>
                <a:rPr lang="en-US" altLang="zh-CN" b="1">
                  <a:solidFill>
                    <a:srgbClr val="FC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Server Sensor</a:t>
              </a:r>
            </a:p>
          </p:txBody>
        </p:sp>
        <p:sp>
          <p:nvSpPr>
            <p:cNvPr id="83981" name="Line 12"/>
            <p:cNvSpPr>
              <a:spLocks noChangeShapeType="1"/>
            </p:cNvSpPr>
            <p:nvPr/>
          </p:nvSpPr>
          <p:spPr bwMode="auto">
            <a:xfrm>
              <a:off x="2736" y="2401"/>
              <a:ext cx="792" cy="0"/>
            </a:xfrm>
            <a:prstGeom prst="line">
              <a:avLst/>
            </a:prstGeom>
            <a:noFill/>
            <a:ln w="38100">
              <a:solidFill>
                <a:schemeClr val="tx1"/>
              </a:solidFill>
              <a:round/>
            </a:ln>
          </p:spPr>
          <p:txBody>
            <a:bodyPr wrap="none" anchor="ctr"/>
            <a:lstStyle/>
            <a:p>
              <a:endParaRPr lang="zh-CN" alt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83982" name="Picture 13" descr="server"/>
            <p:cNvPicPr>
              <a:picLocks noChangeAspect="1" noChangeArrowheads="1"/>
            </p:cNvPicPr>
            <p:nvPr/>
          </p:nvPicPr>
          <p:blipFill>
            <a:blip r:embed="rId4">
              <a:clrChange>
                <a:clrFrom>
                  <a:srgbClr val="496C8A"/>
                </a:clrFrom>
                <a:clrTo>
                  <a:srgbClr val="496C8A">
                    <a:alpha val="0"/>
                  </a:srgbClr>
                </a:clrTo>
              </a:clrChange>
            </a:blip>
            <a:srcRect/>
            <a:stretch>
              <a:fillRect/>
            </a:stretch>
          </p:blipFill>
          <p:spPr bwMode="auto">
            <a:xfrm>
              <a:off x="3456" y="1951"/>
              <a:ext cx="535" cy="904"/>
            </a:xfrm>
            <a:prstGeom prst="rect">
              <a:avLst/>
            </a:prstGeom>
            <a:noFill/>
            <a:ln w="9525">
              <a:noFill/>
              <a:miter lim="800000"/>
              <a:headEnd/>
              <a:tailEnd/>
            </a:ln>
          </p:spPr>
        </p:pic>
        <p:sp>
          <p:nvSpPr>
            <p:cNvPr id="230414" name="Text Box 14"/>
            <p:cNvSpPr txBox="1">
              <a:spLocks noChangeArrowheads="1"/>
            </p:cNvSpPr>
            <p:nvPr/>
          </p:nvSpPr>
          <p:spPr bwMode="auto">
            <a:xfrm>
              <a:off x="2836" y="2536"/>
              <a:ext cx="1808" cy="244"/>
            </a:xfrm>
            <a:prstGeom prst="rect">
              <a:avLst/>
            </a:prstGeom>
            <a:noFill/>
            <a:ln w="9525">
              <a:noFill/>
              <a:miter lim="800000"/>
            </a:ln>
            <a:effectLst/>
          </p:spPr>
          <p:txBody>
            <a:bodyPr wrap="none">
              <a:spAutoFit/>
            </a:bodyPr>
            <a:lstStyle/>
            <a:p>
              <a:pPr eaLnBrk="0" hangingPunct="0">
                <a:defRPr/>
              </a:pPr>
              <a:r>
                <a:rPr lang="en-US" altLang="zh-CN" sz="1600" b="1" i="1">
                  <a:solidFill>
                    <a:srgbClr val="FC0000"/>
                  </a:solidFill>
                  <a:effectLst>
                    <a:outerShdw blurRad="38100" dist="38100" dir="2700000" algn="tl">
                      <a:srgbClr val="000000">
                        <a:alpha val="43137"/>
                      </a:srgbClr>
                    </a:outerShdw>
                  </a:effectLst>
                  <a:latin typeface="Times New Roman" panose="02020603050405020304" pitchFamily="18" charset="0"/>
                  <a:ea typeface="MS PGothic" panose="020B0600070205080204" pitchFamily="34" charset="-128"/>
                  <a:cs typeface="Times New Roman" panose="02020603050405020304" pitchFamily="18" charset="0"/>
                </a:rPr>
                <a:t>RealSecure </a:t>
              </a:r>
              <a:r>
                <a:rPr lang="en-US" altLang="zh-CN" b="1">
                  <a:solidFill>
                    <a:srgbClr val="FC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Network Sensor</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5" name="Rectangle 4"/>
          <p:cNvSpPr>
            <a:spLocks noChangeArrowheads="1"/>
          </p:cNvSpPr>
          <p:nvPr/>
        </p:nvSpPr>
        <p:spPr bwMode="auto">
          <a:xfrm>
            <a:off x="1096054" y="878991"/>
            <a:ext cx="6424996" cy="533400"/>
          </a:xfrm>
          <a:prstGeom prst="rect">
            <a:avLst/>
          </a:prstGeom>
          <a:noFill/>
          <a:ln w="9525">
            <a:noFill/>
            <a:miter lim="800000"/>
          </a:ln>
        </p:spPr>
        <p:txBody>
          <a:bodyPr lIns="76520" tIns="39109" rIns="76520" bIns="39109" anchor="ctr"/>
          <a:lstStyle/>
          <a:p>
            <a:pPr algn="l"/>
            <a:r>
              <a:rPr kumimoji="1" lang="zh-CN" altLang="en-US" sz="2400" b="1" dirty="0">
                <a:solidFill>
                  <a:srgbClr val="0033CC"/>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利用</a:t>
            </a:r>
            <a:r>
              <a:rPr kumimoji="1" lang="en-US" altLang="zh-CN" sz="2400" b="1" dirty="0" err="1">
                <a:solidFill>
                  <a:srgbClr val="0033CC"/>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RealSecure</a:t>
            </a:r>
            <a:r>
              <a:rPr kumimoji="1" lang="zh-CN" altLang="en-US" sz="2400" b="1" dirty="0">
                <a:solidFill>
                  <a:srgbClr val="0033CC"/>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进行可适应性攻击检测和响应</a:t>
            </a:r>
          </a:p>
        </p:txBody>
      </p:sp>
      <p:sp>
        <p:nvSpPr>
          <p:cNvPr id="9226" name="Rectangle 5"/>
          <p:cNvSpPr>
            <a:spLocks noChangeArrowheads="1"/>
          </p:cNvSpPr>
          <p:nvPr/>
        </p:nvSpPr>
        <p:spPr bwMode="auto">
          <a:xfrm>
            <a:off x="4113213" y="2785578"/>
            <a:ext cx="2819400" cy="457200"/>
          </a:xfrm>
          <a:prstGeom prst="rect">
            <a:avLst/>
          </a:prstGeom>
          <a:noFill/>
          <a:ln w="9525">
            <a:noFill/>
            <a:miter lim="800000"/>
          </a:ln>
        </p:spPr>
        <p:txBody>
          <a:bodyPr>
            <a:spAutoFit/>
          </a:bodyPr>
          <a:lstStyle/>
          <a:p>
            <a:pPr algn="l"/>
            <a:endParaRPr kumimoji="1" lang="zh-CN" altLang="zh-CN" sz="2400" b="0">
              <a:latin typeface="Times New Roman" panose="02020603050405020304" pitchFamily="18" charset="0"/>
            </a:endParaRPr>
          </a:p>
        </p:txBody>
      </p:sp>
      <p:sp>
        <p:nvSpPr>
          <p:cNvPr id="247814" name="Rectangle 6"/>
          <p:cNvSpPr>
            <a:spLocks noChangeArrowheads="1"/>
          </p:cNvSpPr>
          <p:nvPr/>
        </p:nvSpPr>
        <p:spPr bwMode="auto">
          <a:xfrm>
            <a:off x="5265738" y="2021991"/>
            <a:ext cx="184150" cy="701675"/>
          </a:xfrm>
          <a:prstGeom prst="rect">
            <a:avLst/>
          </a:prstGeom>
          <a:noFill/>
          <a:ln w="9525">
            <a:noFill/>
            <a:miter lim="800000"/>
          </a:ln>
        </p:spPr>
        <p:txBody>
          <a:bodyPr wrap="none">
            <a:spAutoFit/>
          </a:bodyPr>
          <a:lstStyle/>
          <a:p>
            <a:pPr>
              <a:defRPr/>
            </a:pPr>
            <a:endParaRPr kumimoji="1" lang="zh-CN" altLang="zh-CN" sz="4000">
              <a:effectLst>
                <a:outerShdw blurRad="38100" dist="38100" dir="2700000" algn="tl">
                  <a:srgbClr val="C0C0C0"/>
                </a:outerShdw>
              </a:effectLst>
              <a:latin typeface="Times New Roman" panose="02020603050405020304" pitchFamily="18" charset="0"/>
            </a:endParaRPr>
          </a:p>
        </p:txBody>
      </p:sp>
      <p:sp>
        <p:nvSpPr>
          <p:cNvPr id="9228" name="Rectangle 7"/>
          <p:cNvSpPr>
            <a:spLocks noChangeArrowheads="1"/>
          </p:cNvSpPr>
          <p:nvPr/>
        </p:nvSpPr>
        <p:spPr bwMode="auto">
          <a:xfrm>
            <a:off x="1751013" y="1640991"/>
            <a:ext cx="2819400" cy="457200"/>
          </a:xfrm>
          <a:prstGeom prst="rect">
            <a:avLst/>
          </a:prstGeom>
          <a:noFill/>
          <a:ln w="9525">
            <a:noFill/>
            <a:miter lim="800000"/>
          </a:ln>
        </p:spPr>
        <p:txBody>
          <a:bodyPr>
            <a:spAutoFit/>
          </a:bodyPr>
          <a:lstStyle/>
          <a:p>
            <a:pPr algn="l"/>
            <a:endParaRPr kumimoji="1" lang="zh-CN" altLang="zh-CN" sz="2400" b="0">
              <a:latin typeface="Times New Roman" panose="02020603050405020304" pitchFamily="18" charset="0"/>
            </a:endParaRPr>
          </a:p>
        </p:txBody>
      </p:sp>
      <p:sp>
        <p:nvSpPr>
          <p:cNvPr id="9229" name="Rectangle 8"/>
          <p:cNvSpPr>
            <a:spLocks noChangeArrowheads="1"/>
          </p:cNvSpPr>
          <p:nvPr/>
        </p:nvSpPr>
        <p:spPr bwMode="auto">
          <a:xfrm>
            <a:off x="1751013" y="1640991"/>
            <a:ext cx="2819400" cy="457200"/>
          </a:xfrm>
          <a:prstGeom prst="rect">
            <a:avLst/>
          </a:prstGeom>
          <a:noFill/>
          <a:ln w="9525">
            <a:noFill/>
            <a:miter lim="800000"/>
          </a:ln>
        </p:spPr>
        <p:txBody>
          <a:bodyPr>
            <a:spAutoFit/>
          </a:bodyPr>
          <a:lstStyle/>
          <a:p>
            <a:pPr algn="l"/>
            <a:endParaRPr kumimoji="1" lang="zh-CN" altLang="zh-CN" sz="2400" b="0">
              <a:latin typeface="Times New Roman" panose="02020603050405020304" pitchFamily="18" charset="0"/>
            </a:endParaRPr>
          </a:p>
        </p:txBody>
      </p:sp>
      <p:sp>
        <p:nvSpPr>
          <p:cNvPr id="9230" name="Rectangle 9"/>
          <p:cNvSpPr>
            <a:spLocks noChangeArrowheads="1"/>
          </p:cNvSpPr>
          <p:nvPr/>
        </p:nvSpPr>
        <p:spPr bwMode="auto">
          <a:xfrm rot="-1800000">
            <a:off x="5318125" y="2974491"/>
            <a:ext cx="2108200" cy="88900"/>
          </a:xfrm>
          <a:prstGeom prst="rect">
            <a:avLst/>
          </a:prstGeom>
          <a:gradFill rotWithShape="0">
            <a:gsLst>
              <a:gs pos="0">
                <a:srgbClr val="E6F7FC"/>
              </a:gs>
              <a:gs pos="100000">
                <a:srgbClr val="05B5DE"/>
              </a:gs>
            </a:gsLst>
            <a:lin ang="0" scaled="1"/>
          </a:gradFill>
          <a:ln w="9525">
            <a:noFill/>
            <a:miter lim="800000"/>
          </a:ln>
        </p:spPr>
        <p:txBody>
          <a:bodyPr wrap="none" anchor="ctr"/>
          <a:lstStyle/>
          <a:p>
            <a:endParaRPr lang="zh-CN" altLang="en-US"/>
          </a:p>
        </p:txBody>
      </p:sp>
      <p:sp>
        <p:nvSpPr>
          <p:cNvPr id="9231" name="Oval 10"/>
          <p:cNvSpPr>
            <a:spLocks noChangeArrowheads="1"/>
          </p:cNvSpPr>
          <p:nvPr/>
        </p:nvSpPr>
        <p:spPr bwMode="auto">
          <a:xfrm>
            <a:off x="2987675" y="1799741"/>
            <a:ext cx="2286000" cy="3749675"/>
          </a:xfrm>
          <a:prstGeom prst="ellipse">
            <a:avLst/>
          </a:prstGeom>
          <a:gradFill rotWithShape="0">
            <a:gsLst>
              <a:gs pos="0">
                <a:srgbClr val="063DE8"/>
              </a:gs>
              <a:gs pos="100000">
                <a:srgbClr val="010617"/>
              </a:gs>
            </a:gsLst>
            <a:path path="shape">
              <a:fillToRect l="50000" t="50000" r="50000" b="50000"/>
            </a:path>
          </a:gradFill>
          <a:ln w="9525">
            <a:noFill/>
            <a:round/>
          </a:ln>
        </p:spPr>
        <p:txBody>
          <a:bodyPr wrap="none" anchor="ctr"/>
          <a:lstStyle/>
          <a:p>
            <a:endParaRPr lang="zh-CN" altLang="en-US"/>
          </a:p>
        </p:txBody>
      </p:sp>
      <p:sp>
        <p:nvSpPr>
          <p:cNvPr id="9232" name="Line 11"/>
          <p:cNvSpPr>
            <a:spLocks noChangeShapeType="1"/>
          </p:cNvSpPr>
          <p:nvPr/>
        </p:nvSpPr>
        <p:spPr bwMode="auto">
          <a:xfrm>
            <a:off x="3794125" y="3536466"/>
            <a:ext cx="619125" cy="0"/>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9233" name="Rectangle 12"/>
          <p:cNvSpPr>
            <a:spLocks noChangeArrowheads="1"/>
          </p:cNvSpPr>
          <p:nvPr/>
        </p:nvSpPr>
        <p:spPr bwMode="auto">
          <a:xfrm>
            <a:off x="1814513" y="5863741"/>
            <a:ext cx="1928812" cy="409575"/>
          </a:xfrm>
          <a:prstGeom prst="rect">
            <a:avLst/>
          </a:prstGeom>
          <a:noFill/>
          <a:ln w="9525">
            <a:noFill/>
            <a:miter lim="800000"/>
          </a:ln>
        </p:spPr>
        <p:txBody>
          <a:bodyPr wrap="none" anchor="ctr"/>
          <a:lstStyle/>
          <a:p>
            <a:endParaRPr lang="zh-CN" altLang="en-US"/>
          </a:p>
        </p:txBody>
      </p:sp>
      <p:sp>
        <p:nvSpPr>
          <p:cNvPr id="247821" name="Rectangle 13"/>
          <p:cNvSpPr>
            <a:spLocks noChangeArrowheads="1"/>
          </p:cNvSpPr>
          <p:nvPr/>
        </p:nvSpPr>
        <p:spPr bwMode="auto">
          <a:xfrm>
            <a:off x="4776788" y="1675225"/>
            <a:ext cx="1698625" cy="964795"/>
          </a:xfrm>
          <a:prstGeom prst="rect">
            <a:avLst/>
          </a:prstGeom>
          <a:noFill/>
          <a:ln w="9525">
            <a:noFill/>
            <a:miter lim="800000"/>
          </a:ln>
          <a:effectLst/>
        </p:spPr>
        <p:txBody>
          <a:bodyPr lIns="102026" tIns="51012" rIns="102026" bIns="51012">
            <a:spAutoFit/>
          </a:bodyPr>
          <a:lstStyle/>
          <a:p>
            <a:pPr algn="l" defTabSz="1050925" eaLnBrk="0" hangingPunct="0">
              <a:defRPr/>
            </a:pPr>
            <a:r>
              <a:rPr kumimoji="1" lang="en-US" altLang="zh-CN" sz="1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DMZ</a:t>
            </a:r>
          </a:p>
          <a:p>
            <a:pPr marL="285750" indent="-285750" algn="l" defTabSz="1050925" eaLnBrk="0" hangingPunct="0">
              <a:buClr>
                <a:srgbClr val="FF0000"/>
              </a:buClr>
              <a:buFont typeface="Wingdings" panose="05000000000000000000" pitchFamily="2" charset="2"/>
              <a:buChar char="u"/>
              <a:defRPr/>
            </a:pPr>
            <a:r>
              <a:rPr kumimoji="1" lang="en-US" altLang="zh-CN" sz="1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E-Mail</a:t>
            </a:r>
          </a:p>
          <a:p>
            <a:pPr marL="285750" indent="-285750" algn="l" defTabSz="1050925" eaLnBrk="0" hangingPunct="0">
              <a:buClr>
                <a:srgbClr val="FF0000"/>
              </a:buClr>
              <a:buFont typeface="Wingdings" panose="05000000000000000000" pitchFamily="2" charset="2"/>
              <a:buChar char="u"/>
              <a:defRPr/>
            </a:pPr>
            <a:r>
              <a:rPr kumimoji="1" lang="en-US" altLang="zh-CN" sz="1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File Transfer</a:t>
            </a:r>
          </a:p>
          <a:p>
            <a:pPr marL="285750" indent="-285750" algn="l" defTabSz="1050925" eaLnBrk="0" hangingPunct="0">
              <a:buClr>
                <a:srgbClr val="FF0000"/>
              </a:buClr>
              <a:buFont typeface="Wingdings" panose="05000000000000000000" pitchFamily="2" charset="2"/>
              <a:buChar char="u"/>
              <a:defRPr/>
            </a:pPr>
            <a:r>
              <a:rPr kumimoji="1" lang="en-US" altLang="zh-CN" sz="1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HTTP</a:t>
            </a:r>
          </a:p>
        </p:txBody>
      </p:sp>
      <p:sp>
        <p:nvSpPr>
          <p:cNvPr id="247822" name="Rectangle 14"/>
          <p:cNvSpPr>
            <a:spLocks noChangeArrowheads="1"/>
          </p:cNvSpPr>
          <p:nvPr/>
        </p:nvSpPr>
        <p:spPr bwMode="auto">
          <a:xfrm>
            <a:off x="3806825" y="4301641"/>
            <a:ext cx="1509713" cy="472352"/>
          </a:xfrm>
          <a:prstGeom prst="rect">
            <a:avLst/>
          </a:prstGeom>
          <a:noFill/>
          <a:ln w="9525">
            <a:noFill/>
            <a:miter lim="800000"/>
          </a:ln>
          <a:effectLst/>
        </p:spPr>
        <p:txBody>
          <a:bodyPr lIns="102026" tIns="51012" rIns="102026" bIns="51012">
            <a:spAutoFit/>
          </a:bodyPr>
          <a:lstStyle/>
          <a:p>
            <a:pPr algn="l" defTabSz="1050925" eaLnBrk="0" hangingPunct="0">
              <a:defRPr/>
            </a:pPr>
            <a:r>
              <a:rPr kumimoji="1" lang="en-US" altLang="zh-CN" sz="2400" i="1" dirty="0">
                <a:solidFill>
                  <a:srgbClr val="FF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Intranet</a:t>
            </a:r>
          </a:p>
        </p:txBody>
      </p:sp>
      <p:sp>
        <p:nvSpPr>
          <p:cNvPr id="9236" name="Freeform 15"/>
          <p:cNvSpPr/>
          <p:nvPr/>
        </p:nvSpPr>
        <p:spPr bwMode="auto">
          <a:xfrm>
            <a:off x="4241800" y="2549041"/>
            <a:ext cx="646113" cy="568325"/>
          </a:xfrm>
          <a:custGeom>
            <a:avLst/>
            <a:gdLst>
              <a:gd name="T0" fmla="*/ 0 w 364"/>
              <a:gd name="T1" fmla="*/ 0 h 357"/>
              <a:gd name="T2" fmla="*/ 0 w 364"/>
              <a:gd name="T3" fmla="*/ 356 h 357"/>
              <a:gd name="T4" fmla="*/ 363 w 364"/>
              <a:gd name="T5" fmla="*/ 356 h 357"/>
              <a:gd name="T6" fmla="*/ 0 60000 65536"/>
              <a:gd name="T7" fmla="*/ 0 60000 65536"/>
              <a:gd name="T8" fmla="*/ 0 60000 65536"/>
              <a:gd name="T9" fmla="*/ 0 w 364"/>
              <a:gd name="T10" fmla="*/ 0 h 357"/>
              <a:gd name="T11" fmla="*/ 364 w 364"/>
              <a:gd name="T12" fmla="*/ 357 h 357"/>
            </a:gdLst>
            <a:ahLst/>
            <a:cxnLst>
              <a:cxn ang="T6">
                <a:pos x="T0" y="T1"/>
              </a:cxn>
              <a:cxn ang="T7">
                <a:pos x="T2" y="T3"/>
              </a:cxn>
              <a:cxn ang="T8">
                <a:pos x="T4" y="T5"/>
              </a:cxn>
            </a:cxnLst>
            <a:rect l="T9" t="T10" r="T11" b="T12"/>
            <a:pathLst>
              <a:path w="364" h="357">
                <a:moveTo>
                  <a:pt x="0" y="0"/>
                </a:moveTo>
                <a:lnTo>
                  <a:pt x="0" y="356"/>
                </a:lnTo>
                <a:lnTo>
                  <a:pt x="363" y="356"/>
                </a:lnTo>
              </a:path>
            </a:pathLst>
          </a:custGeom>
          <a:noFill/>
          <a:ln w="25399" cap="rnd">
            <a:solidFill>
              <a:schemeClr val="tx1"/>
            </a:solidFill>
            <a:round/>
            <a:headEnd type="none" w="sm" len="sm"/>
            <a:tailEnd type="none" w="sm" len="sm"/>
          </a:ln>
        </p:spPr>
        <p:txBody>
          <a:bodyPr/>
          <a:lstStyle/>
          <a:p>
            <a:endParaRPr lang="zh-CN" altLang="en-US"/>
          </a:p>
        </p:txBody>
      </p:sp>
      <p:graphicFrame>
        <p:nvGraphicFramePr>
          <p:cNvPr id="9218" name="Object 16"/>
          <p:cNvGraphicFramePr/>
          <p:nvPr/>
        </p:nvGraphicFramePr>
        <p:xfrm>
          <a:off x="3965575" y="1764816"/>
          <a:ext cx="622300" cy="1057275"/>
        </p:xfrm>
        <a:graphic>
          <a:graphicData uri="http://schemas.openxmlformats.org/presentationml/2006/ole">
            <mc:AlternateContent xmlns:mc="http://schemas.openxmlformats.org/markup-compatibility/2006">
              <mc:Choice xmlns:v="urn:schemas-microsoft-com:vml" Requires="v">
                <p:oleObj spid="_x0000_s4187" r:id="rId3" imgW="1962150" imgH="2638425" progId="">
                  <p:embed/>
                </p:oleObj>
              </mc:Choice>
              <mc:Fallback>
                <p:oleObj r:id="rId3" imgW="1962150" imgH="2638425" progId="">
                  <p:embed/>
                  <p:pic>
                    <p:nvPicPr>
                      <p:cNvPr id="9218" name="Object 1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5575" y="1764816"/>
                        <a:ext cx="622300" cy="105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7825" name="Rectangle 17"/>
          <p:cNvSpPr>
            <a:spLocks noChangeArrowheads="1"/>
          </p:cNvSpPr>
          <p:nvPr/>
        </p:nvSpPr>
        <p:spPr bwMode="auto">
          <a:xfrm>
            <a:off x="2449545" y="5671654"/>
            <a:ext cx="2037931" cy="456194"/>
          </a:xfrm>
          <a:prstGeom prst="rect">
            <a:avLst/>
          </a:prstGeom>
          <a:noFill/>
          <a:ln w="9525">
            <a:noFill/>
            <a:miter lim="800000"/>
          </a:ln>
          <a:effectLst/>
        </p:spPr>
        <p:txBody>
          <a:bodyPr wrap="square" lIns="102026" tIns="51012" rIns="102026" bIns="51012">
            <a:spAutoFit/>
          </a:bodyPr>
          <a:lstStyle/>
          <a:p>
            <a:pPr algn="l" defTabSz="1050925" eaLnBrk="0" hangingPunct="0">
              <a:lnSpc>
                <a:spcPct val="85000"/>
              </a:lnSpc>
              <a:defRPr/>
            </a:pPr>
            <a:r>
              <a:rPr kumimoji="1" lang="zh-CN" altLang="en-US" sz="2700" b="1" dirty="0">
                <a:effectLst>
                  <a:outerShdw blurRad="38100" dist="38100" dir="2700000" algn="tl">
                    <a:srgbClr val="C0C0C0"/>
                  </a:outerShdw>
                </a:effectLst>
                <a:latin typeface="ACaslon Bold" charset="0"/>
              </a:rPr>
              <a:t>企业网络</a:t>
            </a:r>
          </a:p>
        </p:txBody>
      </p:sp>
      <p:sp>
        <p:nvSpPr>
          <p:cNvPr id="247826" name="Rectangle 18"/>
          <p:cNvSpPr>
            <a:spLocks noChangeArrowheads="1"/>
          </p:cNvSpPr>
          <p:nvPr/>
        </p:nvSpPr>
        <p:spPr bwMode="auto">
          <a:xfrm>
            <a:off x="1201738" y="1885466"/>
            <a:ext cx="1609725" cy="282575"/>
          </a:xfrm>
          <a:prstGeom prst="rect">
            <a:avLst/>
          </a:prstGeom>
          <a:noFill/>
          <a:ln w="9525">
            <a:noFill/>
            <a:miter lim="800000"/>
          </a:ln>
          <a:effectLst/>
        </p:spPr>
        <p:txBody>
          <a:bodyPr lIns="102026" tIns="51012" rIns="102026" bIns="51012">
            <a:spAutoFit/>
          </a:bodyPr>
          <a:lstStyle/>
          <a:p>
            <a:pPr defTabSz="1050925" eaLnBrk="0" hangingPunct="0">
              <a:lnSpc>
                <a:spcPct val="85000"/>
              </a:lnSpc>
              <a:defRPr/>
            </a:pPr>
            <a:r>
              <a:rPr kumimoji="1" lang="zh-CN" altLang="en-US" sz="1400" b="0">
                <a:effectLst>
                  <a:outerShdw blurRad="38100" dist="38100" dir="2700000" algn="tl">
                    <a:srgbClr val="C0C0C0"/>
                  </a:outerShdw>
                </a:effectLst>
                <a:latin typeface="ACaslon Bold" charset="0"/>
              </a:rPr>
              <a:t>生产部</a:t>
            </a:r>
          </a:p>
        </p:txBody>
      </p:sp>
      <p:sp>
        <p:nvSpPr>
          <p:cNvPr id="247827" name="Rectangle 19"/>
          <p:cNvSpPr>
            <a:spLocks noChangeArrowheads="1"/>
          </p:cNvSpPr>
          <p:nvPr/>
        </p:nvSpPr>
        <p:spPr bwMode="auto">
          <a:xfrm>
            <a:off x="1147763" y="2866541"/>
            <a:ext cx="1690687" cy="282575"/>
          </a:xfrm>
          <a:prstGeom prst="rect">
            <a:avLst/>
          </a:prstGeom>
          <a:noFill/>
          <a:ln w="9525">
            <a:noFill/>
            <a:miter lim="800000"/>
          </a:ln>
          <a:effectLst/>
        </p:spPr>
        <p:txBody>
          <a:bodyPr lIns="102026" tIns="51012" rIns="102026" bIns="51012">
            <a:spAutoFit/>
          </a:bodyPr>
          <a:lstStyle/>
          <a:p>
            <a:pPr defTabSz="1050925" eaLnBrk="0" hangingPunct="0">
              <a:lnSpc>
                <a:spcPct val="85000"/>
              </a:lnSpc>
              <a:defRPr/>
            </a:pPr>
            <a:r>
              <a:rPr kumimoji="1" lang="zh-CN" altLang="en-US" sz="1400" b="0">
                <a:effectLst>
                  <a:outerShdw blurRad="38100" dist="38100" dir="2700000" algn="tl">
                    <a:srgbClr val="C0C0C0"/>
                  </a:outerShdw>
                </a:effectLst>
                <a:latin typeface="ACaslon Bold" charset="0"/>
              </a:rPr>
              <a:t>工程部</a:t>
            </a:r>
          </a:p>
        </p:txBody>
      </p:sp>
      <p:sp>
        <p:nvSpPr>
          <p:cNvPr id="247828" name="Rectangle 20"/>
          <p:cNvSpPr>
            <a:spLocks noChangeArrowheads="1"/>
          </p:cNvSpPr>
          <p:nvPr/>
        </p:nvSpPr>
        <p:spPr bwMode="auto">
          <a:xfrm>
            <a:off x="1171575" y="3866666"/>
            <a:ext cx="1511300" cy="282575"/>
          </a:xfrm>
          <a:prstGeom prst="rect">
            <a:avLst/>
          </a:prstGeom>
          <a:noFill/>
          <a:ln w="9525">
            <a:noFill/>
            <a:miter lim="800000"/>
          </a:ln>
          <a:effectLst/>
        </p:spPr>
        <p:txBody>
          <a:bodyPr lIns="102026" tIns="51012" rIns="102026" bIns="51012">
            <a:spAutoFit/>
          </a:bodyPr>
          <a:lstStyle/>
          <a:p>
            <a:pPr defTabSz="1050925" eaLnBrk="0" hangingPunct="0">
              <a:lnSpc>
                <a:spcPct val="85000"/>
              </a:lnSpc>
              <a:defRPr/>
            </a:pPr>
            <a:r>
              <a:rPr kumimoji="1" lang="zh-CN" altLang="en-US" sz="1400" b="0">
                <a:effectLst>
                  <a:outerShdw blurRad="38100" dist="38100" dir="2700000" algn="tl">
                    <a:srgbClr val="C0C0C0"/>
                  </a:outerShdw>
                </a:effectLst>
                <a:latin typeface="ACaslon Bold" charset="0"/>
              </a:rPr>
              <a:t>市场部</a:t>
            </a:r>
          </a:p>
        </p:txBody>
      </p:sp>
      <p:sp>
        <p:nvSpPr>
          <p:cNvPr id="9241" name="Rectangle 21"/>
          <p:cNvSpPr>
            <a:spLocks noChangeArrowheads="1"/>
          </p:cNvSpPr>
          <p:nvPr/>
        </p:nvSpPr>
        <p:spPr bwMode="auto">
          <a:xfrm>
            <a:off x="5227638" y="1621941"/>
            <a:ext cx="241300" cy="720725"/>
          </a:xfrm>
          <a:prstGeom prst="rect">
            <a:avLst/>
          </a:prstGeom>
          <a:noFill/>
          <a:ln w="9525">
            <a:noFill/>
            <a:miter lim="800000"/>
          </a:ln>
        </p:spPr>
        <p:txBody>
          <a:bodyPr wrap="none" anchor="ctr"/>
          <a:lstStyle/>
          <a:p>
            <a:endParaRPr lang="zh-CN" altLang="en-US"/>
          </a:p>
        </p:txBody>
      </p:sp>
      <p:grpSp>
        <p:nvGrpSpPr>
          <p:cNvPr id="2" name="Group 22"/>
          <p:cNvGrpSpPr/>
          <p:nvPr/>
        </p:nvGrpSpPr>
        <p:grpSpPr bwMode="auto">
          <a:xfrm>
            <a:off x="4019550" y="3044341"/>
            <a:ext cx="885825" cy="1174750"/>
            <a:chOff x="2047" y="1796"/>
            <a:chExt cx="496" cy="739"/>
          </a:xfrm>
        </p:grpSpPr>
        <p:sp>
          <p:nvSpPr>
            <p:cNvPr id="9467" name="Freeform 23"/>
            <p:cNvSpPr/>
            <p:nvPr/>
          </p:nvSpPr>
          <p:spPr bwMode="auto">
            <a:xfrm>
              <a:off x="2485" y="2196"/>
              <a:ext cx="35" cy="67"/>
            </a:xfrm>
            <a:custGeom>
              <a:avLst/>
              <a:gdLst>
                <a:gd name="T0" fmla="*/ 0 w 35"/>
                <a:gd name="T1" fmla="*/ 66 h 67"/>
                <a:gd name="T2" fmla="*/ 0 w 35"/>
                <a:gd name="T3" fmla="*/ 66 h 67"/>
                <a:gd name="T4" fmla="*/ 2 w 35"/>
                <a:gd name="T5" fmla="*/ 24 h 67"/>
                <a:gd name="T6" fmla="*/ 34 w 35"/>
                <a:gd name="T7" fmla="*/ 0 h 67"/>
                <a:gd name="T8" fmla="*/ 31 w 35"/>
                <a:gd name="T9" fmla="*/ 44 h 67"/>
                <a:gd name="T10" fmla="*/ 0 w 35"/>
                <a:gd name="T11" fmla="*/ 66 h 67"/>
                <a:gd name="T12" fmla="*/ 0 60000 65536"/>
                <a:gd name="T13" fmla="*/ 0 60000 65536"/>
                <a:gd name="T14" fmla="*/ 0 60000 65536"/>
                <a:gd name="T15" fmla="*/ 0 60000 65536"/>
                <a:gd name="T16" fmla="*/ 0 60000 65536"/>
                <a:gd name="T17" fmla="*/ 0 60000 65536"/>
                <a:gd name="T18" fmla="*/ 0 w 35"/>
                <a:gd name="T19" fmla="*/ 0 h 67"/>
                <a:gd name="T20" fmla="*/ 35 w 35"/>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35" h="67">
                  <a:moveTo>
                    <a:pt x="0" y="66"/>
                  </a:moveTo>
                  <a:lnTo>
                    <a:pt x="0" y="66"/>
                  </a:lnTo>
                  <a:lnTo>
                    <a:pt x="2" y="24"/>
                  </a:lnTo>
                  <a:lnTo>
                    <a:pt x="34" y="0"/>
                  </a:lnTo>
                  <a:lnTo>
                    <a:pt x="31" y="44"/>
                  </a:lnTo>
                  <a:lnTo>
                    <a:pt x="0" y="66"/>
                  </a:lnTo>
                </a:path>
              </a:pathLst>
            </a:custGeom>
            <a:solidFill>
              <a:srgbClr val="BB1A50"/>
            </a:solidFill>
            <a:ln w="9525" cap="rnd">
              <a:noFill/>
              <a:round/>
            </a:ln>
          </p:spPr>
          <p:txBody>
            <a:bodyPr/>
            <a:lstStyle/>
            <a:p>
              <a:endParaRPr lang="zh-CN" altLang="en-US"/>
            </a:p>
          </p:txBody>
        </p:sp>
        <p:sp>
          <p:nvSpPr>
            <p:cNvPr id="9468" name="Freeform 24"/>
            <p:cNvSpPr/>
            <p:nvPr/>
          </p:nvSpPr>
          <p:spPr bwMode="auto">
            <a:xfrm>
              <a:off x="2454" y="2212"/>
              <a:ext cx="32" cy="51"/>
            </a:xfrm>
            <a:custGeom>
              <a:avLst/>
              <a:gdLst>
                <a:gd name="T0" fmla="*/ 28 w 32"/>
                <a:gd name="T1" fmla="*/ 50 h 51"/>
                <a:gd name="T2" fmla="*/ 28 w 32"/>
                <a:gd name="T3" fmla="*/ 50 h 51"/>
                <a:gd name="T4" fmla="*/ 0 w 32"/>
                <a:gd name="T5" fmla="*/ 43 h 51"/>
                <a:gd name="T6" fmla="*/ 0 w 32"/>
                <a:gd name="T7" fmla="*/ 0 h 51"/>
                <a:gd name="T8" fmla="*/ 31 w 32"/>
                <a:gd name="T9" fmla="*/ 8 h 51"/>
                <a:gd name="T10" fmla="*/ 28 w 32"/>
                <a:gd name="T11" fmla="*/ 50 h 51"/>
                <a:gd name="T12" fmla="*/ 0 60000 65536"/>
                <a:gd name="T13" fmla="*/ 0 60000 65536"/>
                <a:gd name="T14" fmla="*/ 0 60000 65536"/>
                <a:gd name="T15" fmla="*/ 0 60000 65536"/>
                <a:gd name="T16" fmla="*/ 0 60000 65536"/>
                <a:gd name="T17" fmla="*/ 0 60000 65536"/>
                <a:gd name="T18" fmla="*/ 0 w 32"/>
                <a:gd name="T19" fmla="*/ 0 h 51"/>
                <a:gd name="T20" fmla="*/ 32 w 32"/>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32" h="51">
                  <a:moveTo>
                    <a:pt x="28" y="50"/>
                  </a:moveTo>
                  <a:lnTo>
                    <a:pt x="28" y="50"/>
                  </a:lnTo>
                  <a:lnTo>
                    <a:pt x="0" y="43"/>
                  </a:lnTo>
                  <a:lnTo>
                    <a:pt x="0" y="0"/>
                  </a:lnTo>
                  <a:lnTo>
                    <a:pt x="31" y="8"/>
                  </a:lnTo>
                  <a:lnTo>
                    <a:pt x="28" y="50"/>
                  </a:lnTo>
                </a:path>
              </a:pathLst>
            </a:custGeom>
            <a:solidFill>
              <a:srgbClr val="9E0005"/>
            </a:solidFill>
            <a:ln w="9525" cap="rnd">
              <a:noFill/>
              <a:round/>
            </a:ln>
          </p:spPr>
          <p:txBody>
            <a:bodyPr/>
            <a:lstStyle/>
            <a:p>
              <a:endParaRPr lang="zh-CN" altLang="en-US"/>
            </a:p>
          </p:txBody>
        </p:sp>
        <p:sp>
          <p:nvSpPr>
            <p:cNvPr id="9469" name="Freeform 25"/>
            <p:cNvSpPr/>
            <p:nvPr/>
          </p:nvSpPr>
          <p:spPr bwMode="auto">
            <a:xfrm>
              <a:off x="2453" y="2187"/>
              <a:ext cx="67" cy="31"/>
            </a:xfrm>
            <a:custGeom>
              <a:avLst/>
              <a:gdLst>
                <a:gd name="T0" fmla="*/ 33 w 67"/>
                <a:gd name="T1" fmla="*/ 30 h 31"/>
                <a:gd name="T2" fmla="*/ 33 w 67"/>
                <a:gd name="T3" fmla="*/ 30 h 31"/>
                <a:gd name="T4" fmla="*/ 0 w 67"/>
                <a:gd name="T5" fmla="*/ 19 h 31"/>
                <a:gd name="T6" fmla="*/ 35 w 67"/>
                <a:gd name="T7" fmla="*/ 0 h 31"/>
                <a:gd name="T8" fmla="*/ 66 w 67"/>
                <a:gd name="T9" fmla="*/ 10 h 31"/>
                <a:gd name="T10" fmla="*/ 33 w 67"/>
                <a:gd name="T11" fmla="*/ 30 h 31"/>
                <a:gd name="T12" fmla="*/ 0 60000 65536"/>
                <a:gd name="T13" fmla="*/ 0 60000 65536"/>
                <a:gd name="T14" fmla="*/ 0 60000 65536"/>
                <a:gd name="T15" fmla="*/ 0 60000 65536"/>
                <a:gd name="T16" fmla="*/ 0 60000 65536"/>
                <a:gd name="T17" fmla="*/ 0 60000 65536"/>
                <a:gd name="T18" fmla="*/ 0 w 67"/>
                <a:gd name="T19" fmla="*/ 0 h 31"/>
                <a:gd name="T20" fmla="*/ 67 w 67"/>
                <a:gd name="T21" fmla="*/ 31 h 31"/>
              </a:gdLst>
              <a:ahLst/>
              <a:cxnLst>
                <a:cxn ang="T12">
                  <a:pos x="T0" y="T1"/>
                </a:cxn>
                <a:cxn ang="T13">
                  <a:pos x="T2" y="T3"/>
                </a:cxn>
                <a:cxn ang="T14">
                  <a:pos x="T4" y="T5"/>
                </a:cxn>
                <a:cxn ang="T15">
                  <a:pos x="T6" y="T7"/>
                </a:cxn>
                <a:cxn ang="T16">
                  <a:pos x="T8" y="T9"/>
                </a:cxn>
                <a:cxn ang="T17">
                  <a:pos x="T10" y="T11"/>
                </a:cxn>
              </a:cxnLst>
              <a:rect l="T18" t="T19" r="T20" b="T21"/>
              <a:pathLst>
                <a:path w="67" h="31">
                  <a:moveTo>
                    <a:pt x="33" y="30"/>
                  </a:moveTo>
                  <a:lnTo>
                    <a:pt x="33" y="30"/>
                  </a:lnTo>
                  <a:lnTo>
                    <a:pt x="0" y="19"/>
                  </a:lnTo>
                  <a:lnTo>
                    <a:pt x="35" y="0"/>
                  </a:lnTo>
                  <a:lnTo>
                    <a:pt x="66" y="10"/>
                  </a:lnTo>
                  <a:lnTo>
                    <a:pt x="33" y="30"/>
                  </a:lnTo>
                </a:path>
              </a:pathLst>
            </a:custGeom>
            <a:solidFill>
              <a:srgbClr val="CF5C82"/>
            </a:solidFill>
            <a:ln w="9525" cap="rnd">
              <a:noFill/>
              <a:round/>
            </a:ln>
          </p:spPr>
          <p:txBody>
            <a:bodyPr/>
            <a:lstStyle/>
            <a:p>
              <a:endParaRPr lang="zh-CN" altLang="en-US"/>
            </a:p>
          </p:txBody>
        </p:sp>
        <p:grpSp>
          <p:nvGrpSpPr>
            <p:cNvPr id="3" name="Group 26"/>
            <p:cNvGrpSpPr/>
            <p:nvPr/>
          </p:nvGrpSpPr>
          <p:grpSpPr bwMode="auto">
            <a:xfrm>
              <a:off x="2363" y="2214"/>
              <a:ext cx="118" cy="109"/>
              <a:chOff x="2363" y="2214"/>
              <a:chExt cx="118" cy="109"/>
            </a:xfrm>
          </p:grpSpPr>
          <p:sp>
            <p:nvSpPr>
              <p:cNvPr id="9667" name="Freeform 27"/>
              <p:cNvSpPr/>
              <p:nvPr/>
            </p:nvSpPr>
            <p:spPr bwMode="auto">
              <a:xfrm>
                <a:off x="2400" y="2228"/>
                <a:ext cx="81" cy="95"/>
              </a:xfrm>
              <a:custGeom>
                <a:avLst/>
                <a:gdLst>
                  <a:gd name="T0" fmla="*/ 0 w 81"/>
                  <a:gd name="T1" fmla="*/ 94 h 95"/>
                  <a:gd name="T2" fmla="*/ 0 w 81"/>
                  <a:gd name="T3" fmla="*/ 94 h 95"/>
                  <a:gd name="T4" fmla="*/ 0 w 81"/>
                  <a:gd name="T5" fmla="*/ 48 h 95"/>
                  <a:gd name="T6" fmla="*/ 80 w 81"/>
                  <a:gd name="T7" fmla="*/ 0 h 95"/>
                  <a:gd name="T8" fmla="*/ 77 w 81"/>
                  <a:gd name="T9" fmla="*/ 42 h 95"/>
                  <a:gd name="T10" fmla="*/ 0 w 81"/>
                  <a:gd name="T11" fmla="*/ 94 h 95"/>
                  <a:gd name="T12" fmla="*/ 0 60000 65536"/>
                  <a:gd name="T13" fmla="*/ 0 60000 65536"/>
                  <a:gd name="T14" fmla="*/ 0 60000 65536"/>
                  <a:gd name="T15" fmla="*/ 0 60000 65536"/>
                  <a:gd name="T16" fmla="*/ 0 60000 65536"/>
                  <a:gd name="T17" fmla="*/ 0 60000 65536"/>
                  <a:gd name="T18" fmla="*/ 0 w 81"/>
                  <a:gd name="T19" fmla="*/ 0 h 95"/>
                  <a:gd name="T20" fmla="*/ 81 w 81"/>
                  <a:gd name="T21" fmla="*/ 95 h 95"/>
                </a:gdLst>
                <a:ahLst/>
                <a:cxnLst>
                  <a:cxn ang="T12">
                    <a:pos x="T0" y="T1"/>
                  </a:cxn>
                  <a:cxn ang="T13">
                    <a:pos x="T2" y="T3"/>
                  </a:cxn>
                  <a:cxn ang="T14">
                    <a:pos x="T4" y="T5"/>
                  </a:cxn>
                  <a:cxn ang="T15">
                    <a:pos x="T6" y="T7"/>
                  </a:cxn>
                  <a:cxn ang="T16">
                    <a:pos x="T8" y="T9"/>
                  </a:cxn>
                  <a:cxn ang="T17">
                    <a:pos x="T10" y="T11"/>
                  </a:cxn>
                </a:cxnLst>
                <a:rect l="T18" t="T19" r="T20" b="T21"/>
                <a:pathLst>
                  <a:path w="81" h="95">
                    <a:moveTo>
                      <a:pt x="0" y="94"/>
                    </a:moveTo>
                    <a:lnTo>
                      <a:pt x="0" y="94"/>
                    </a:lnTo>
                    <a:lnTo>
                      <a:pt x="0" y="48"/>
                    </a:lnTo>
                    <a:lnTo>
                      <a:pt x="80" y="0"/>
                    </a:lnTo>
                    <a:lnTo>
                      <a:pt x="77" y="42"/>
                    </a:lnTo>
                    <a:lnTo>
                      <a:pt x="0" y="94"/>
                    </a:lnTo>
                  </a:path>
                </a:pathLst>
              </a:custGeom>
              <a:solidFill>
                <a:srgbClr val="BB1A50"/>
              </a:solidFill>
              <a:ln w="9525" cap="rnd">
                <a:noFill/>
                <a:round/>
              </a:ln>
            </p:spPr>
            <p:txBody>
              <a:bodyPr/>
              <a:lstStyle/>
              <a:p>
                <a:endParaRPr lang="zh-CN" altLang="en-US"/>
              </a:p>
            </p:txBody>
          </p:sp>
          <p:sp>
            <p:nvSpPr>
              <p:cNvPr id="9668" name="Freeform 28"/>
              <p:cNvSpPr/>
              <p:nvPr/>
            </p:nvSpPr>
            <p:spPr bwMode="auto">
              <a:xfrm>
                <a:off x="2363" y="2269"/>
                <a:ext cx="35" cy="54"/>
              </a:xfrm>
              <a:custGeom>
                <a:avLst/>
                <a:gdLst>
                  <a:gd name="T0" fmla="*/ 34 w 35"/>
                  <a:gd name="T1" fmla="*/ 53 h 54"/>
                  <a:gd name="T2" fmla="*/ 34 w 35"/>
                  <a:gd name="T3" fmla="*/ 53 h 54"/>
                  <a:gd name="T4" fmla="*/ 0 w 35"/>
                  <a:gd name="T5" fmla="*/ 46 h 54"/>
                  <a:gd name="T6" fmla="*/ 2 w 35"/>
                  <a:gd name="T7" fmla="*/ 0 h 54"/>
                  <a:gd name="T8" fmla="*/ 34 w 35"/>
                  <a:gd name="T9" fmla="*/ 8 h 54"/>
                  <a:gd name="T10" fmla="*/ 34 w 35"/>
                  <a:gd name="T11" fmla="*/ 53 h 54"/>
                  <a:gd name="T12" fmla="*/ 0 60000 65536"/>
                  <a:gd name="T13" fmla="*/ 0 60000 65536"/>
                  <a:gd name="T14" fmla="*/ 0 60000 65536"/>
                  <a:gd name="T15" fmla="*/ 0 60000 65536"/>
                  <a:gd name="T16" fmla="*/ 0 60000 65536"/>
                  <a:gd name="T17" fmla="*/ 0 60000 65536"/>
                  <a:gd name="T18" fmla="*/ 0 w 35"/>
                  <a:gd name="T19" fmla="*/ 0 h 54"/>
                  <a:gd name="T20" fmla="*/ 35 w 35"/>
                  <a:gd name="T21" fmla="*/ 54 h 54"/>
                </a:gdLst>
                <a:ahLst/>
                <a:cxnLst>
                  <a:cxn ang="T12">
                    <a:pos x="T0" y="T1"/>
                  </a:cxn>
                  <a:cxn ang="T13">
                    <a:pos x="T2" y="T3"/>
                  </a:cxn>
                  <a:cxn ang="T14">
                    <a:pos x="T4" y="T5"/>
                  </a:cxn>
                  <a:cxn ang="T15">
                    <a:pos x="T6" y="T7"/>
                  </a:cxn>
                  <a:cxn ang="T16">
                    <a:pos x="T8" y="T9"/>
                  </a:cxn>
                  <a:cxn ang="T17">
                    <a:pos x="T10" y="T11"/>
                  </a:cxn>
                </a:cxnLst>
                <a:rect l="T18" t="T19" r="T20" b="T21"/>
                <a:pathLst>
                  <a:path w="35" h="54">
                    <a:moveTo>
                      <a:pt x="34" y="53"/>
                    </a:moveTo>
                    <a:lnTo>
                      <a:pt x="34" y="53"/>
                    </a:lnTo>
                    <a:lnTo>
                      <a:pt x="0" y="46"/>
                    </a:lnTo>
                    <a:lnTo>
                      <a:pt x="2" y="0"/>
                    </a:lnTo>
                    <a:lnTo>
                      <a:pt x="34" y="8"/>
                    </a:lnTo>
                    <a:lnTo>
                      <a:pt x="34" y="53"/>
                    </a:lnTo>
                  </a:path>
                </a:pathLst>
              </a:custGeom>
              <a:solidFill>
                <a:srgbClr val="9E0005"/>
              </a:solidFill>
              <a:ln w="9525" cap="rnd">
                <a:noFill/>
                <a:round/>
              </a:ln>
            </p:spPr>
            <p:txBody>
              <a:bodyPr/>
              <a:lstStyle/>
              <a:p>
                <a:endParaRPr lang="zh-CN" altLang="en-US"/>
              </a:p>
            </p:txBody>
          </p:sp>
          <p:sp>
            <p:nvSpPr>
              <p:cNvPr id="9669" name="Freeform 29"/>
              <p:cNvSpPr/>
              <p:nvPr/>
            </p:nvSpPr>
            <p:spPr bwMode="auto">
              <a:xfrm>
                <a:off x="2366" y="2214"/>
                <a:ext cx="115" cy="62"/>
              </a:xfrm>
              <a:custGeom>
                <a:avLst/>
                <a:gdLst>
                  <a:gd name="T0" fmla="*/ 33 w 115"/>
                  <a:gd name="T1" fmla="*/ 61 h 62"/>
                  <a:gd name="T2" fmla="*/ 33 w 115"/>
                  <a:gd name="T3" fmla="*/ 61 h 62"/>
                  <a:gd name="T4" fmla="*/ 0 w 115"/>
                  <a:gd name="T5" fmla="*/ 51 h 62"/>
                  <a:gd name="T6" fmla="*/ 83 w 115"/>
                  <a:gd name="T7" fmla="*/ 0 h 62"/>
                  <a:gd name="T8" fmla="*/ 114 w 115"/>
                  <a:gd name="T9" fmla="*/ 11 h 62"/>
                  <a:gd name="T10" fmla="*/ 33 w 115"/>
                  <a:gd name="T11" fmla="*/ 61 h 62"/>
                  <a:gd name="T12" fmla="*/ 0 60000 65536"/>
                  <a:gd name="T13" fmla="*/ 0 60000 65536"/>
                  <a:gd name="T14" fmla="*/ 0 60000 65536"/>
                  <a:gd name="T15" fmla="*/ 0 60000 65536"/>
                  <a:gd name="T16" fmla="*/ 0 60000 65536"/>
                  <a:gd name="T17" fmla="*/ 0 60000 65536"/>
                  <a:gd name="T18" fmla="*/ 0 w 115"/>
                  <a:gd name="T19" fmla="*/ 0 h 62"/>
                  <a:gd name="T20" fmla="*/ 115 w 115"/>
                  <a:gd name="T21" fmla="*/ 62 h 62"/>
                </a:gdLst>
                <a:ahLst/>
                <a:cxnLst>
                  <a:cxn ang="T12">
                    <a:pos x="T0" y="T1"/>
                  </a:cxn>
                  <a:cxn ang="T13">
                    <a:pos x="T2" y="T3"/>
                  </a:cxn>
                  <a:cxn ang="T14">
                    <a:pos x="T4" y="T5"/>
                  </a:cxn>
                  <a:cxn ang="T15">
                    <a:pos x="T6" y="T7"/>
                  </a:cxn>
                  <a:cxn ang="T16">
                    <a:pos x="T8" y="T9"/>
                  </a:cxn>
                  <a:cxn ang="T17">
                    <a:pos x="T10" y="T11"/>
                  </a:cxn>
                </a:cxnLst>
                <a:rect l="T18" t="T19" r="T20" b="T21"/>
                <a:pathLst>
                  <a:path w="115" h="62">
                    <a:moveTo>
                      <a:pt x="33" y="61"/>
                    </a:moveTo>
                    <a:lnTo>
                      <a:pt x="33" y="61"/>
                    </a:lnTo>
                    <a:lnTo>
                      <a:pt x="0" y="51"/>
                    </a:lnTo>
                    <a:lnTo>
                      <a:pt x="83" y="0"/>
                    </a:lnTo>
                    <a:lnTo>
                      <a:pt x="114" y="11"/>
                    </a:lnTo>
                    <a:lnTo>
                      <a:pt x="33" y="61"/>
                    </a:lnTo>
                  </a:path>
                </a:pathLst>
              </a:custGeom>
              <a:solidFill>
                <a:srgbClr val="CF5C82"/>
              </a:solidFill>
              <a:ln w="9525" cap="rnd">
                <a:noFill/>
                <a:round/>
              </a:ln>
            </p:spPr>
            <p:txBody>
              <a:bodyPr/>
              <a:lstStyle/>
              <a:p>
                <a:endParaRPr lang="zh-CN" altLang="en-US"/>
              </a:p>
            </p:txBody>
          </p:sp>
        </p:grpSp>
        <p:grpSp>
          <p:nvGrpSpPr>
            <p:cNvPr id="4" name="Group 30"/>
            <p:cNvGrpSpPr/>
            <p:nvPr/>
          </p:nvGrpSpPr>
          <p:grpSpPr bwMode="auto">
            <a:xfrm>
              <a:off x="2269" y="2275"/>
              <a:ext cx="127" cy="116"/>
              <a:chOff x="2269" y="2275"/>
              <a:chExt cx="127" cy="116"/>
            </a:xfrm>
          </p:grpSpPr>
          <p:sp>
            <p:nvSpPr>
              <p:cNvPr id="9664" name="Freeform 31"/>
              <p:cNvSpPr/>
              <p:nvPr/>
            </p:nvSpPr>
            <p:spPr bwMode="auto">
              <a:xfrm>
                <a:off x="2306" y="2285"/>
                <a:ext cx="90" cy="106"/>
              </a:xfrm>
              <a:custGeom>
                <a:avLst/>
                <a:gdLst>
                  <a:gd name="T0" fmla="*/ 0 w 90"/>
                  <a:gd name="T1" fmla="*/ 105 h 106"/>
                  <a:gd name="T2" fmla="*/ 0 w 90"/>
                  <a:gd name="T3" fmla="*/ 105 h 106"/>
                  <a:gd name="T4" fmla="*/ 2 w 90"/>
                  <a:gd name="T5" fmla="*/ 55 h 106"/>
                  <a:gd name="T6" fmla="*/ 89 w 90"/>
                  <a:gd name="T7" fmla="*/ 0 h 106"/>
                  <a:gd name="T8" fmla="*/ 86 w 90"/>
                  <a:gd name="T9" fmla="*/ 49 h 106"/>
                  <a:gd name="T10" fmla="*/ 0 w 90"/>
                  <a:gd name="T11" fmla="*/ 105 h 106"/>
                  <a:gd name="T12" fmla="*/ 0 60000 65536"/>
                  <a:gd name="T13" fmla="*/ 0 60000 65536"/>
                  <a:gd name="T14" fmla="*/ 0 60000 65536"/>
                  <a:gd name="T15" fmla="*/ 0 60000 65536"/>
                  <a:gd name="T16" fmla="*/ 0 60000 65536"/>
                  <a:gd name="T17" fmla="*/ 0 60000 65536"/>
                  <a:gd name="T18" fmla="*/ 0 w 90"/>
                  <a:gd name="T19" fmla="*/ 0 h 106"/>
                  <a:gd name="T20" fmla="*/ 90 w 90"/>
                  <a:gd name="T21" fmla="*/ 106 h 106"/>
                </a:gdLst>
                <a:ahLst/>
                <a:cxnLst>
                  <a:cxn ang="T12">
                    <a:pos x="T0" y="T1"/>
                  </a:cxn>
                  <a:cxn ang="T13">
                    <a:pos x="T2" y="T3"/>
                  </a:cxn>
                  <a:cxn ang="T14">
                    <a:pos x="T4" y="T5"/>
                  </a:cxn>
                  <a:cxn ang="T15">
                    <a:pos x="T6" y="T7"/>
                  </a:cxn>
                  <a:cxn ang="T16">
                    <a:pos x="T8" y="T9"/>
                  </a:cxn>
                  <a:cxn ang="T17">
                    <a:pos x="T10" y="T11"/>
                  </a:cxn>
                </a:cxnLst>
                <a:rect l="T18" t="T19" r="T20" b="T21"/>
                <a:pathLst>
                  <a:path w="90" h="106">
                    <a:moveTo>
                      <a:pt x="0" y="105"/>
                    </a:moveTo>
                    <a:lnTo>
                      <a:pt x="0" y="105"/>
                    </a:lnTo>
                    <a:lnTo>
                      <a:pt x="2" y="55"/>
                    </a:lnTo>
                    <a:lnTo>
                      <a:pt x="89" y="0"/>
                    </a:lnTo>
                    <a:lnTo>
                      <a:pt x="86" y="49"/>
                    </a:lnTo>
                    <a:lnTo>
                      <a:pt x="0" y="105"/>
                    </a:lnTo>
                  </a:path>
                </a:pathLst>
              </a:custGeom>
              <a:solidFill>
                <a:srgbClr val="BB1A50"/>
              </a:solidFill>
              <a:ln w="9525" cap="rnd">
                <a:noFill/>
                <a:round/>
              </a:ln>
            </p:spPr>
            <p:txBody>
              <a:bodyPr/>
              <a:lstStyle/>
              <a:p>
                <a:endParaRPr lang="zh-CN" altLang="en-US"/>
              </a:p>
            </p:txBody>
          </p:sp>
          <p:sp>
            <p:nvSpPr>
              <p:cNvPr id="9665" name="Freeform 32"/>
              <p:cNvSpPr/>
              <p:nvPr/>
            </p:nvSpPr>
            <p:spPr bwMode="auto">
              <a:xfrm>
                <a:off x="2269" y="2336"/>
                <a:ext cx="38" cy="55"/>
              </a:xfrm>
              <a:custGeom>
                <a:avLst/>
                <a:gdLst>
                  <a:gd name="T0" fmla="*/ 34 w 38"/>
                  <a:gd name="T1" fmla="*/ 54 h 55"/>
                  <a:gd name="T2" fmla="*/ 34 w 38"/>
                  <a:gd name="T3" fmla="*/ 54 h 55"/>
                  <a:gd name="T4" fmla="*/ 0 w 38"/>
                  <a:gd name="T5" fmla="*/ 45 h 55"/>
                  <a:gd name="T6" fmla="*/ 2 w 38"/>
                  <a:gd name="T7" fmla="*/ 0 h 55"/>
                  <a:gd name="T8" fmla="*/ 37 w 38"/>
                  <a:gd name="T9" fmla="*/ 6 h 55"/>
                  <a:gd name="T10" fmla="*/ 34 w 38"/>
                  <a:gd name="T11" fmla="*/ 54 h 55"/>
                  <a:gd name="T12" fmla="*/ 0 60000 65536"/>
                  <a:gd name="T13" fmla="*/ 0 60000 65536"/>
                  <a:gd name="T14" fmla="*/ 0 60000 65536"/>
                  <a:gd name="T15" fmla="*/ 0 60000 65536"/>
                  <a:gd name="T16" fmla="*/ 0 60000 65536"/>
                  <a:gd name="T17" fmla="*/ 0 60000 65536"/>
                  <a:gd name="T18" fmla="*/ 0 w 38"/>
                  <a:gd name="T19" fmla="*/ 0 h 55"/>
                  <a:gd name="T20" fmla="*/ 38 w 38"/>
                  <a:gd name="T21" fmla="*/ 55 h 55"/>
                </a:gdLst>
                <a:ahLst/>
                <a:cxnLst>
                  <a:cxn ang="T12">
                    <a:pos x="T0" y="T1"/>
                  </a:cxn>
                  <a:cxn ang="T13">
                    <a:pos x="T2" y="T3"/>
                  </a:cxn>
                  <a:cxn ang="T14">
                    <a:pos x="T4" y="T5"/>
                  </a:cxn>
                  <a:cxn ang="T15">
                    <a:pos x="T6" y="T7"/>
                  </a:cxn>
                  <a:cxn ang="T16">
                    <a:pos x="T8" y="T9"/>
                  </a:cxn>
                  <a:cxn ang="T17">
                    <a:pos x="T10" y="T11"/>
                  </a:cxn>
                </a:cxnLst>
                <a:rect l="T18" t="T19" r="T20" b="T21"/>
                <a:pathLst>
                  <a:path w="38" h="55">
                    <a:moveTo>
                      <a:pt x="34" y="54"/>
                    </a:moveTo>
                    <a:lnTo>
                      <a:pt x="34" y="54"/>
                    </a:lnTo>
                    <a:lnTo>
                      <a:pt x="0" y="45"/>
                    </a:lnTo>
                    <a:lnTo>
                      <a:pt x="2" y="0"/>
                    </a:lnTo>
                    <a:lnTo>
                      <a:pt x="37" y="6"/>
                    </a:lnTo>
                    <a:lnTo>
                      <a:pt x="34" y="54"/>
                    </a:lnTo>
                  </a:path>
                </a:pathLst>
              </a:custGeom>
              <a:solidFill>
                <a:srgbClr val="9E0005"/>
              </a:solidFill>
              <a:ln w="9525" cap="rnd">
                <a:noFill/>
                <a:round/>
              </a:ln>
            </p:spPr>
            <p:txBody>
              <a:bodyPr/>
              <a:lstStyle/>
              <a:p>
                <a:endParaRPr lang="zh-CN" altLang="en-US"/>
              </a:p>
            </p:txBody>
          </p:sp>
          <p:sp>
            <p:nvSpPr>
              <p:cNvPr id="9666" name="Freeform 33"/>
              <p:cNvSpPr/>
              <p:nvPr/>
            </p:nvSpPr>
            <p:spPr bwMode="auto">
              <a:xfrm>
                <a:off x="2269" y="2275"/>
                <a:ext cx="127" cy="65"/>
              </a:xfrm>
              <a:custGeom>
                <a:avLst/>
                <a:gdLst>
                  <a:gd name="T0" fmla="*/ 39 w 127"/>
                  <a:gd name="T1" fmla="*/ 64 h 65"/>
                  <a:gd name="T2" fmla="*/ 39 w 127"/>
                  <a:gd name="T3" fmla="*/ 64 h 65"/>
                  <a:gd name="T4" fmla="*/ 0 w 127"/>
                  <a:gd name="T5" fmla="*/ 57 h 65"/>
                  <a:gd name="T6" fmla="*/ 89 w 127"/>
                  <a:gd name="T7" fmla="*/ 0 h 65"/>
                  <a:gd name="T8" fmla="*/ 126 w 127"/>
                  <a:gd name="T9" fmla="*/ 9 h 65"/>
                  <a:gd name="T10" fmla="*/ 39 w 127"/>
                  <a:gd name="T11" fmla="*/ 64 h 65"/>
                  <a:gd name="T12" fmla="*/ 0 60000 65536"/>
                  <a:gd name="T13" fmla="*/ 0 60000 65536"/>
                  <a:gd name="T14" fmla="*/ 0 60000 65536"/>
                  <a:gd name="T15" fmla="*/ 0 60000 65536"/>
                  <a:gd name="T16" fmla="*/ 0 60000 65536"/>
                  <a:gd name="T17" fmla="*/ 0 60000 65536"/>
                  <a:gd name="T18" fmla="*/ 0 w 127"/>
                  <a:gd name="T19" fmla="*/ 0 h 65"/>
                  <a:gd name="T20" fmla="*/ 127 w 127"/>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127" h="65">
                    <a:moveTo>
                      <a:pt x="39" y="64"/>
                    </a:moveTo>
                    <a:lnTo>
                      <a:pt x="39" y="64"/>
                    </a:lnTo>
                    <a:lnTo>
                      <a:pt x="0" y="57"/>
                    </a:lnTo>
                    <a:lnTo>
                      <a:pt x="89" y="0"/>
                    </a:lnTo>
                    <a:lnTo>
                      <a:pt x="126" y="9"/>
                    </a:lnTo>
                    <a:lnTo>
                      <a:pt x="39" y="64"/>
                    </a:lnTo>
                  </a:path>
                </a:pathLst>
              </a:custGeom>
              <a:solidFill>
                <a:srgbClr val="CF5C82"/>
              </a:solidFill>
              <a:ln w="9525" cap="rnd">
                <a:noFill/>
                <a:round/>
              </a:ln>
            </p:spPr>
            <p:txBody>
              <a:bodyPr/>
              <a:lstStyle/>
              <a:p>
                <a:endParaRPr lang="zh-CN" altLang="en-US"/>
              </a:p>
            </p:txBody>
          </p:sp>
        </p:grpSp>
        <p:grpSp>
          <p:nvGrpSpPr>
            <p:cNvPr id="5" name="Group 34"/>
            <p:cNvGrpSpPr/>
            <p:nvPr/>
          </p:nvGrpSpPr>
          <p:grpSpPr bwMode="auto">
            <a:xfrm>
              <a:off x="2167" y="2342"/>
              <a:ext cx="135" cy="119"/>
              <a:chOff x="2167" y="2342"/>
              <a:chExt cx="135" cy="119"/>
            </a:xfrm>
          </p:grpSpPr>
          <p:sp>
            <p:nvSpPr>
              <p:cNvPr id="9661" name="Freeform 35"/>
              <p:cNvSpPr/>
              <p:nvPr/>
            </p:nvSpPr>
            <p:spPr bwMode="auto">
              <a:xfrm>
                <a:off x="2207" y="2352"/>
                <a:ext cx="95" cy="109"/>
              </a:xfrm>
              <a:custGeom>
                <a:avLst/>
                <a:gdLst>
                  <a:gd name="T0" fmla="*/ 0 w 95"/>
                  <a:gd name="T1" fmla="*/ 108 h 109"/>
                  <a:gd name="T2" fmla="*/ 0 w 95"/>
                  <a:gd name="T3" fmla="*/ 108 h 109"/>
                  <a:gd name="T4" fmla="*/ 2 w 95"/>
                  <a:gd name="T5" fmla="*/ 58 h 109"/>
                  <a:gd name="T6" fmla="*/ 94 w 95"/>
                  <a:gd name="T7" fmla="*/ 0 h 109"/>
                  <a:gd name="T8" fmla="*/ 91 w 95"/>
                  <a:gd name="T9" fmla="*/ 45 h 109"/>
                  <a:gd name="T10" fmla="*/ 0 w 95"/>
                  <a:gd name="T11" fmla="*/ 108 h 109"/>
                  <a:gd name="T12" fmla="*/ 0 60000 65536"/>
                  <a:gd name="T13" fmla="*/ 0 60000 65536"/>
                  <a:gd name="T14" fmla="*/ 0 60000 65536"/>
                  <a:gd name="T15" fmla="*/ 0 60000 65536"/>
                  <a:gd name="T16" fmla="*/ 0 60000 65536"/>
                  <a:gd name="T17" fmla="*/ 0 60000 65536"/>
                  <a:gd name="T18" fmla="*/ 0 w 95"/>
                  <a:gd name="T19" fmla="*/ 0 h 109"/>
                  <a:gd name="T20" fmla="*/ 95 w 95"/>
                  <a:gd name="T21" fmla="*/ 109 h 109"/>
                </a:gdLst>
                <a:ahLst/>
                <a:cxnLst>
                  <a:cxn ang="T12">
                    <a:pos x="T0" y="T1"/>
                  </a:cxn>
                  <a:cxn ang="T13">
                    <a:pos x="T2" y="T3"/>
                  </a:cxn>
                  <a:cxn ang="T14">
                    <a:pos x="T4" y="T5"/>
                  </a:cxn>
                  <a:cxn ang="T15">
                    <a:pos x="T6" y="T7"/>
                  </a:cxn>
                  <a:cxn ang="T16">
                    <a:pos x="T8" y="T9"/>
                  </a:cxn>
                  <a:cxn ang="T17">
                    <a:pos x="T10" y="T11"/>
                  </a:cxn>
                </a:cxnLst>
                <a:rect l="T18" t="T19" r="T20" b="T21"/>
                <a:pathLst>
                  <a:path w="95" h="109">
                    <a:moveTo>
                      <a:pt x="0" y="108"/>
                    </a:moveTo>
                    <a:lnTo>
                      <a:pt x="0" y="108"/>
                    </a:lnTo>
                    <a:lnTo>
                      <a:pt x="2" y="58"/>
                    </a:lnTo>
                    <a:lnTo>
                      <a:pt x="94" y="0"/>
                    </a:lnTo>
                    <a:lnTo>
                      <a:pt x="91" y="45"/>
                    </a:lnTo>
                    <a:lnTo>
                      <a:pt x="0" y="108"/>
                    </a:lnTo>
                  </a:path>
                </a:pathLst>
              </a:custGeom>
              <a:solidFill>
                <a:srgbClr val="BB1A50"/>
              </a:solidFill>
              <a:ln w="9525" cap="rnd">
                <a:noFill/>
                <a:round/>
              </a:ln>
            </p:spPr>
            <p:txBody>
              <a:bodyPr/>
              <a:lstStyle/>
              <a:p>
                <a:endParaRPr lang="zh-CN" altLang="en-US"/>
              </a:p>
            </p:txBody>
          </p:sp>
          <p:sp>
            <p:nvSpPr>
              <p:cNvPr id="9662" name="Freeform 36"/>
              <p:cNvSpPr/>
              <p:nvPr/>
            </p:nvSpPr>
            <p:spPr bwMode="auto">
              <a:xfrm>
                <a:off x="2167" y="2406"/>
                <a:ext cx="41" cy="55"/>
              </a:xfrm>
              <a:custGeom>
                <a:avLst/>
                <a:gdLst>
                  <a:gd name="T0" fmla="*/ 37 w 41"/>
                  <a:gd name="T1" fmla="*/ 54 h 55"/>
                  <a:gd name="T2" fmla="*/ 37 w 41"/>
                  <a:gd name="T3" fmla="*/ 54 h 55"/>
                  <a:gd name="T4" fmla="*/ 0 w 41"/>
                  <a:gd name="T5" fmla="*/ 47 h 55"/>
                  <a:gd name="T6" fmla="*/ 0 w 41"/>
                  <a:gd name="T7" fmla="*/ 0 h 55"/>
                  <a:gd name="T8" fmla="*/ 40 w 41"/>
                  <a:gd name="T9" fmla="*/ 6 h 55"/>
                  <a:gd name="T10" fmla="*/ 37 w 41"/>
                  <a:gd name="T11" fmla="*/ 54 h 55"/>
                  <a:gd name="T12" fmla="*/ 0 60000 65536"/>
                  <a:gd name="T13" fmla="*/ 0 60000 65536"/>
                  <a:gd name="T14" fmla="*/ 0 60000 65536"/>
                  <a:gd name="T15" fmla="*/ 0 60000 65536"/>
                  <a:gd name="T16" fmla="*/ 0 60000 65536"/>
                  <a:gd name="T17" fmla="*/ 0 60000 65536"/>
                  <a:gd name="T18" fmla="*/ 0 w 41"/>
                  <a:gd name="T19" fmla="*/ 0 h 55"/>
                  <a:gd name="T20" fmla="*/ 41 w 41"/>
                  <a:gd name="T21" fmla="*/ 55 h 55"/>
                </a:gdLst>
                <a:ahLst/>
                <a:cxnLst>
                  <a:cxn ang="T12">
                    <a:pos x="T0" y="T1"/>
                  </a:cxn>
                  <a:cxn ang="T13">
                    <a:pos x="T2" y="T3"/>
                  </a:cxn>
                  <a:cxn ang="T14">
                    <a:pos x="T4" y="T5"/>
                  </a:cxn>
                  <a:cxn ang="T15">
                    <a:pos x="T6" y="T7"/>
                  </a:cxn>
                  <a:cxn ang="T16">
                    <a:pos x="T8" y="T9"/>
                  </a:cxn>
                  <a:cxn ang="T17">
                    <a:pos x="T10" y="T11"/>
                  </a:cxn>
                </a:cxnLst>
                <a:rect l="T18" t="T19" r="T20" b="T21"/>
                <a:pathLst>
                  <a:path w="41" h="55">
                    <a:moveTo>
                      <a:pt x="37" y="54"/>
                    </a:moveTo>
                    <a:lnTo>
                      <a:pt x="37" y="54"/>
                    </a:lnTo>
                    <a:lnTo>
                      <a:pt x="0" y="47"/>
                    </a:lnTo>
                    <a:lnTo>
                      <a:pt x="0" y="0"/>
                    </a:lnTo>
                    <a:lnTo>
                      <a:pt x="40" y="6"/>
                    </a:lnTo>
                    <a:lnTo>
                      <a:pt x="37" y="54"/>
                    </a:lnTo>
                  </a:path>
                </a:pathLst>
              </a:custGeom>
              <a:solidFill>
                <a:srgbClr val="9E0005"/>
              </a:solidFill>
              <a:ln w="9525" cap="rnd">
                <a:noFill/>
                <a:round/>
              </a:ln>
            </p:spPr>
            <p:txBody>
              <a:bodyPr/>
              <a:lstStyle/>
              <a:p>
                <a:endParaRPr lang="zh-CN" altLang="en-US"/>
              </a:p>
            </p:txBody>
          </p:sp>
          <p:sp>
            <p:nvSpPr>
              <p:cNvPr id="9663" name="Freeform 37"/>
              <p:cNvSpPr/>
              <p:nvPr/>
            </p:nvSpPr>
            <p:spPr bwMode="auto">
              <a:xfrm>
                <a:off x="2167" y="2342"/>
                <a:ext cx="135" cy="68"/>
              </a:xfrm>
              <a:custGeom>
                <a:avLst/>
                <a:gdLst>
                  <a:gd name="T0" fmla="*/ 41 w 135"/>
                  <a:gd name="T1" fmla="*/ 67 h 68"/>
                  <a:gd name="T2" fmla="*/ 41 w 135"/>
                  <a:gd name="T3" fmla="*/ 67 h 68"/>
                  <a:gd name="T4" fmla="*/ 0 w 135"/>
                  <a:gd name="T5" fmla="*/ 57 h 68"/>
                  <a:gd name="T6" fmla="*/ 94 w 135"/>
                  <a:gd name="T7" fmla="*/ 0 h 68"/>
                  <a:gd name="T8" fmla="*/ 134 w 135"/>
                  <a:gd name="T9" fmla="*/ 9 h 68"/>
                  <a:gd name="T10" fmla="*/ 41 w 135"/>
                  <a:gd name="T11" fmla="*/ 67 h 68"/>
                  <a:gd name="T12" fmla="*/ 0 60000 65536"/>
                  <a:gd name="T13" fmla="*/ 0 60000 65536"/>
                  <a:gd name="T14" fmla="*/ 0 60000 65536"/>
                  <a:gd name="T15" fmla="*/ 0 60000 65536"/>
                  <a:gd name="T16" fmla="*/ 0 60000 65536"/>
                  <a:gd name="T17" fmla="*/ 0 60000 65536"/>
                  <a:gd name="T18" fmla="*/ 0 w 135"/>
                  <a:gd name="T19" fmla="*/ 0 h 68"/>
                  <a:gd name="T20" fmla="*/ 135 w 135"/>
                  <a:gd name="T21" fmla="*/ 68 h 68"/>
                </a:gdLst>
                <a:ahLst/>
                <a:cxnLst>
                  <a:cxn ang="T12">
                    <a:pos x="T0" y="T1"/>
                  </a:cxn>
                  <a:cxn ang="T13">
                    <a:pos x="T2" y="T3"/>
                  </a:cxn>
                  <a:cxn ang="T14">
                    <a:pos x="T4" y="T5"/>
                  </a:cxn>
                  <a:cxn ang="T15">
                    <a:pos x="T6" y="T7"/>
                  </a:cxn>
                  <a:cxn ang="T16">
                    <a:pos x="T8" y="T9"/>
                  </a:cxn>
                  <a:cxn ang="T17">
                    <a:pos x="T10" y="T11"/>
                  </a:cxn>
                </a:cxnLst>
                <a:rect l="T18" t="T19" r="T20" b="T21"/>
                <a:pathLst>
                  <a:path w="135" h="68">
                    <a:moveTo>
                      <a:pt x="41" y="67"/>
                    </a:moveTo>
                    <a:lnTo>
                      <a:pt x="41" y="67"/>
                    </a:lnTo>
                    <a:lnTo>
                      <a:pt x="0" y="57"/>
                    </a:lnTo>
                    <a:lnTo>
                      <a:pt x="94" y="0"/>
                    </a:lnTo>
                    <a:lnTo>
                      <a:pt x="134" y="9"/>
                    </a:lnTo>
                    <a:lnTo>
                      <a:pt x="41" y="67"/>
                    </a:lnTo>
                  </a:path>
                </a:pathLst>
              </a:custGeom>
              <a:solidFill>
                <a:srgbClr val="CF5C82"/>
              </a:solidFill>
              <a:ln w="9525" cap="rnd">
                <a:noFill/>
                <a:round/>
              </a:ln>
            </p:spPr>
            <p:txBody>
              <a:bodyPr/>
              <a:lstStyle/>
              <a:p>
                <a:endParaRPr lang="zh-CN" altLang="en-US"/>
              </a:p>
            </p:txBody>
          </p:sp>
        </p:grpSp>
        <p:sp>
          <p:nvSpPr>
            <p:cNvPr id="9473" name="Freeform 38"/>
            <p:cNvSpPr/>
            <p:nvPr/>
          </p:nvSpPr>
          <p:spPr bwMode="auto">
            <a:xfrm>
              <a:off x="2100" y="2415"/>
              <a:ext cx="102" cy="120"/>
            </a:xfrm>
            <a:custGeom>
              <a:avLst/>
              <a:gdLst>
                <a:gd name="T0" fmla="*/ 0 w 102"/>
                <a:gd name="T1" fmla="*/ 119 h 120"/>
                <a:gd name="T2" fmla="*/ 0 w 102"/>
                <a:gd name="T3" fmla="*/ 119 h 120"/>
                <a:gd name="T4" fmla="*/ 0 w 102"/>
                <a:gd name="T5" fmla="*/ 65 h 120"/>
                <a:gd name="T6" fmla="*/ 101 w 102"/>
                <a:gd name="T7" fmla="*/ 0 h 120"/>
                <a:gd name="T8" fmla="*/ 98 w 102"/>
                <a:gd name="T9" fmla="*/ 50 h 120"/>
                <a:gd name="T10" fmla="*/ 0 w 102"/>
                <a:gd name="T11" fmla="*/ 119 h 120"/>
                <a:gd name="T12" fmla="*/ 0 60000 65536"/>
                <a:gd name="T13" fmla="*/ 0 60000 65536"/>
                <a:gd name="T14" fmla="*/ 0 60000 65536"/>
                <a:gd name="T15" fmla="*/ 0 60000 65536"/>
                <a:gd name="T16" fmla="*/ 0 60000 65536"/>
                <a:gd name="T17" fmla="*/ 0 60000 65536"/>
                <a:gd name="T18" fmla="*/ 0 w 102"/>
                <a:gd name="T19" fmla="*/ 0 h 120"/>
                <a:gd name="T20" fmla="*/ 102 w 102"/>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2" h="120">
                  <a:moveTo>
                    <a:pt x="0" y="119"/>
                  </a:moveTo>
                  <a:lnTo>
                    <a:pt x="0" y="119"/>
                  </a:lnTo>
                  <a:lnTo>
                    <a:pt x="0" y="65"/>
                  </a:lnTo>
                  <a:lnTo>
                    <a:pt x="101" y="0"/>
                  </a:lnTo>
                  <a:lnTo>
                    <a:pt x="98" y="50"/>
                  </a:lnTo>
                  <a:lnTo>
                    <a:pt x="0" y="119"/>
                  </a:lnTo>
                </a:path>
              </a:pathLst>
            </a:custGeom>
            <a:solidFill>
              <a:srgbClr val="BB1A50"/>
            </a:solidFill>
            <a:ln w="9525" cap="rnd">
              <a:noFill/>
              <a:round/>
            </a:ln>
          </p:spPr>
          <p:txBody>
            <a:bodyPr/>
            <a:lstStyle/>
            <a:p>
              <a:endParaRPr lang="zh-CN" altLang="en-US"/>
            </a:p>
          </p:txBody>
        </p:sp>
        <p:sp>
          <p:nvSpPr>
            <p:cNvPr id="9474" name="Freeform 39"/>
            <p:cNvSpPr/>
            <p:nvPr/>
          </p:nvSpPr>
          <p:spPr bwMode="auto">
            <a:xfrm>
              <a:off x="2057" y="2477"/>
              <a:ext cx="43" cy="58"/>
            </a:xfrm>
            <a:custGeom>
              <a:avLst/>
              <a:gdLst>
                <a:gd name="T0" fmla="*/ 42 w 43"/>
                <a:gd name="T1" fmla="*/ 57 h 58"/>
                <a:gd name="T2" fmla="*/ 42 w 43"/>
                <a:gd name="T3" fmla="*/ 57 h 58"/>
                <a:gd name="T4" fmla="*/ 0 w 43"/>
                <a:gd name="T5" fmla="*/ 45 h 58"/>
                <a:gd name="T6" fmla="*/ 0 w 43"/>
                <a:gd name="T7" fmla="*/ 0 h 58"/>
                <a:gd name="T8" fmla="*/ 42 w 43"/>
                <a:gd name="T9" fmla="*/ 6 h 58"/>
                <a:gd name="T10" fmla="*/ 42 w 43"/>
                <a:gd name="T11" fmla="*/ 57 h 58"/>
                <a:gd name="T12" fmla="*/ 0 60000 65536"/>
                <a:gd name="T13" fmla="*/ 0 60000 65536"/>
                <a:gd name="T14" fmla="*/ 0 60000 65536"/>
                <a:gd name="T15" fmla="*/ 0 60000 65536"/>
                <a:gd name="T16" fmla="*/ 0 60000 65536"/>
                <a:gd name="T17" fmla="*/ 0 60000 65536"/>
                <a:gd name="T18" fmla="*/ 0 w 43"/>
                <a:gd name="T19" fmla="*/ 0 h 58"/>
                <a:gd name="T20" fmla="*/ 43 w 43"/>
                <a:gd name="T21" fmla="*/ 58 h 58"/>
              </a:gdLst>
              <a:ahLst/>
              <a:cxnLst>
                <a:cxn ang="T12">
                  <a:pos x="T0" y="T1"/>
                </a:cxn>
                <a:cxn ang="T13">
                  <a:pos x="T2" y="T3"/>
                </a:cxn>
                <a:cxn ang="T14">
                  <a:pos x="T4" y="T5"/>
                </a:cxn>
                <a:cxn ang="T15">
                  <a:pos x="T6" y="T7"/>
                </a:cxn>
                <a:cxn ang="T16">
                  <a:pos x="T8" y="T9"/>
                </a:cxn>
                <a:cxn ang="T17">
                  <a:pos x="T10" y="T11"/>
                </a:cxn>
              </a:cxnLst>
              <a:rect l="T18" t="T19" r="T20" b="T21"/>
              <a:pathLst>
                <a:path w="43" h="58">
                  <a:moveTo>
                    <a:pt x="42" y="57"/>
                  </a:moveTo>
                  <a:lnTo>
                    <a:pt x="42" y="57"/>
                  </a:lnTo>
                  <a:lnTo>
                    <a:pt x="0" y="45"/>
                  </a:lnTo>
                  <a:lnTo>
                    <a:pt x="0" y="0"/>
                  </a:lnTo>
                  <a:lnTo>
                    <a:pt x="42" y="6"/>
                  </a:lnTo>
                  <a:lnTo>
                    <a:pt x="42" y="57"/>
                  </a:lnTo>
                </a:path>
              </a:pathLst>
            </a:custGeom>
            <a:solidFill>
              <a:srgbClr val="9E0005"/>
            </a:solidFill>
            <a:ln w="9525" cap="rnd">
              <a:noFill/>
              <a:round/>
            </a:ln>
          </p:spPr>
          <p:txBody>
            <a:bodyPr/>
            <a:lstStyle/>
            <a:p>
              <a:endParaRPr lang="zh-CN" altLang="en-US"/>
            </a:p>
          </p:txBody>
        </p:sp>
        <p:sp>
          <p:nvSpPr>
            <p:cNvPr id="9475" name="Freeform 40"/>
            <p:cNvSpPr/>
            <p:nvPr/>
          </p:nvSpPr>
          <p:spPr bwMode="auto">
            <a:xfrm>
              <a:off x="2057" y="2409"/>
              <a:ext cx="146" cy="71"/>
            </a:xfrm>
            <a:custGeom>
              <a:avLst/>
              <a:gdLst>
                <a:gd name="T0" fmla="*/ 44 w 146"/>
                <a:gd name="T1" fmla="*/ 70 h 71"/>
                <a:gd name="T2" fmla="*/ 44 w 146"/>
                <a:gd name="T3" fmla="*/ 70 h 71"/>
                <a:gd name="T4" fmla="*/ 0 w 146"/>
                <a:gd name="T5" fmla="*/ 63 h 71"/>
                <a:gd name="T6" fmla="*/ 103 w 146"/>
                <a:gd name="T7" fmla="*/ 0 h 71"/>
                <a:gd name="T8" fmla="*/ 145 w 146"/>
                <a:gd name="T9" fmla="*/ 6 h 71"/>
                <a:gd name="T10" fmla="*/ 44 w 146"/>
                <a:gd name="T11" fmla="*/ 70 h 71"/>
                <a:gd name="T12" fmla="*/ 0 60000 65536"/>
                <a:gd name="T13" fmla="*/ 0 60000 65536"/>
                <a:gd name="T14" fmla="*/ 0 60000 65536"/>
                <a:gd name="T15" fmla="*/ 0 60000 65536"/>
                <a:gd name="T16" fmla="*/ 0 60000 65536"/>
                <a:gd name="T17" fmla="*/ 0 60000 65536"/>
                <a:gd name="T18" fmla="*/ 0 w 146"/>
                <a:gd name="T19" fmla="*/ 0 h 71"/>
                <a:gd name="T20" fmla="*/ 146 w 146"/>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146" h="71">
                  <a:moveTo>
                    <a:pt x="44" y="70"/>
                  </a:moveTo>
                  <a:lnTo>
                    <a:pt x="44" y="70"/>
                  </a:lnTo>
                  <a:lnTo>
                    <a:pt x="0" y="63"/>
                  </a:lnTo>
                  <a:lnTo>
                    <a:pt x="103" y="0"/>
                  </a:lnTo>
                  <a:lnTo>
                    <a:pt x="145" y="6"/>
                  </a:lnTo>
                  <a:lnTo>
                    <a:pt x="44" y="70"/>
                  </a:lnTo>
                </a:path>
              </a:pathLst>
            </a:custGeom>
            <a:solidFill>
              <a:srgbClr val="CF5C82"/>
            </a:solidFill>
            <a:ln w="9525" cap="rnd">
              <a:noFill/>
              <a:round/>
            </a:ln>
          </p:spPr>
          <p:txBody>
            <a:bodyPr/>
            <a:lstStyle/>
            <a:p>
              <a:endParaRPr lang="zh-CN" altLang="en-US"/>
            </a:p>
          </p:txBody>
        </p:sp>
        <p:sp>
          <p:nvSpPr>
            <p:cNvPr id="9476" name="Freeform 41"/>
            <p:cNvSpPr/>
            <p:nvPr/>
          </p:nvSpPr>
          <p:spPr bwMode="auto">
            <a:xfrm>
              <a:off x="2480" y="2221"/>
              <a:ext cx="17" cy="49"/>
            </a:xfrm>
            <a:custGeom>
              <a:avLst/>
              <a:gdLst>
                <a:gd name="T0" fmla="*/ 0 w 17"/>
                <a:gd name="T1" fmla="*/ 48 h 49"/>
                <a:gd name="T2" fmla="*/ 0 w 17"/>
                <a:gd name="T3" fmla="*/ 48 h 49"/>
                <a:gd name="T4" fmla="*/ 0 w 17"/>
                <a:gd name="T5" fmla="*/ 24 h 49"/>
                <a:gd name="T6" fmla="*/ 4 w 17"/>
                <a:gd name="T7" fmla="*/ 8 h 49"/>
                <a:gd name="T8" fmla="*/ 4 w 17"/>
                <a:gd name="T9" fmla="*/ 2 h 49"/>
                <a:gd name="T10" fmla="*/ 4 w 17"/>
                <a:gd name="T11" fmla="*/ 0 h 49"/>
                <a:gd name="T12" fmla="*/ 11 w 17"/>
                <a:gd name="T13" fmla="*/ 0 h 49"/>
                <a:gd name="T14" fmla="*/ 16 w 17"/>
                <a:gd name="T15" fmla="*/ 0 h 49"/>
                <a:gd name="T16" fmla="*/ 11 w 17"/>
                <a:gd name="T17" fmla="*/ 21 h 49"/>
                <a:gd name="T18" fmla="*/ 11 w 17"/>
                <a:gd name="T19" fmla="*/ 45 h 49"/>
                <a:gd name="T20" fmla="*/ 4 w 17"/>
                <a:gd name="T21" fmla="*/ 45 h 49"/>
                <a:gd name="T22" fmla="*/ 0 w 17"/>
                <a:gd name="T23" fmla="*/ 48 h 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
                <a:gd name="T37" fmla="*/ 0 h 49"/>
                <a:gd name="T38" fmla="*/ 17 w 17"/>
                <a:gd name="T39" fmla="*/ 49 h 4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 h="49">
                  <a:moveTo>
                    <a:pt x="0" y="48"/>
                  </a:moveTo>
                  <a:lnTo>
                    <a:pt x="0" y="48"/>
                  </a:lnTo>
                  <a:lnTo>
                    <a:pt x="0" y="24"/>
                  </a:lnTo>
                  <a:lnTo>
                    <a:pt x="4" y="8"/>
                  </a:lnTo>
                  <a:lnTo>
                    <a:pt x="4" y="2"/>
                  </a:lnTo>
                  <a:lnTo>
                    <a:pt x="4" y="0"/>
                  </a:lnTo>
                  <a:lnTo>
                    <a:pt x="11" y="0"/>
                  </a:lnTo>
                  <a:lnTo>
                    <a:pt x="16" y="0"/>
                  </a:lnTo>
                  <a:lnTo>
                    <a:pt x="11" y="21"/>
                  </a:lnTo>
                  <a:lnTo>
                    <a:pt x="11" y="45"/>
                  </a:lnTo>
                  <a:lnTo>
                    <a:pt x="4" y="45"/>
                  </a:lnTo>
                  <a:lnTo>
                    <a:pt x="0" y="48"/>
                  </a:lnTo>
                </a:path>
              </a:pathLst>
            </a:custGeom>
            <a:solidFill>
              <a:srgbClr val="BDB597"/>
            </a:solidFill>
            <a:ln w="9525" cap="rnd">
              <a:noFill/>
              <a:round/>
            </a:ln>
          </p:spPr>
          <p:txBody>
            <a:bodyPr/>
            <a:lstStyle/>
            <a:p>
              <a:endParaRPr lang="zh-CN" altLang="en-US"/>
            </a:p>
          </p:txBody>
        </p:sp>
        <p:sp>
          <p:nvSpPr>
            <p:cNvPr id="9477" name="Freeform 42"/>
            <p:cNvSpPr/>
            <p:nvPr/>
          </p:nvSpPr>
          <p:spPr bwMode="auto">
            <a:xfrm>
              <a:off x="2101" y="2192"/>
              <a:ext cx="419" cy="292"/>
            </a:xfrm>
            <a:custGeom>
              <a:avLst/>
              <a:gdLst>
                <a:gd name="T0" fmla="*/ 418 w 419"/>
                <a:gd name="T1" fmla="*/ 0 h 292"/>
                <a:gd name="T2" fmla="*/ 418 w 419"/>
                <a:gd name="T3" fmla="*/ 0 h 292"/>
                <a:gd name="T4" fmla="*/ 0 w 419"/>
                <a:gd name="T5" fmla="*/ 284 h 292"/>
                <a:gd name="T6" fmla="*/ 0 w 419"/>
                <a:gd name="T7" fmla="*/ 291 h 292"/>
                <a:gd name="T8" fmla="*/ 418 w 419"/>
                <a:gd name="T9" fmla="*/ 6 h 292"/>
                <a:gd name="T10" fmla="*/ 418 w 419"/>
                <a:gd name="T11" fmla="*/ 0 h 292"/>
                <a:gd name="T12" fmla="*/ 0 60000 65536"/>
                <a:gd name="T13" fmla="*/ 0 60000 65536"/>
                <a:gd name="T14" fmla="*/ 0 60000 65536"/>
                <a:gd name="T15" fmla="*/ 0 60000 65536"/>
                <a:gd name="T16" fmla="*/ 0 60000 65536"/>
                <a:gd name="T17" fmla="*/ 0 60000 65536"/>
                <a:gd name="T18" fmla="*/ 0 w 419"/>
                <a:gd name="T19" fmla="*/ 0 h 292"/>
                <a:gd name="T20" fmla="*/ 419 w 419"/>
                <a:gd name="T21" fmla="*/ 292 h 292"/>
              </a:gdLst>
              <a:ahLst/>
              <a:cxnLst>
                <a:cxn ang="T12">
                  <a:pos x="T0" y="T1"/>
                </a:cxn>
                <a:cxn ang="T13">
                  <a:pos x="T2" y="T3"/>
                </a:cxn>
                <a:cxn ang="T14">
                  <a:pos x="T4" y="T5"/>
                </a:cxn>
                <a:cxn ang="T15">
                  <a:pos x="T6" y="T7"/>
                </a:cxn>
                <a:cxn ang="T16">
                  <a:pos x="T8" y="T9"/>
                </a:cxn>
                <a:cxn ang="T17">
                  <a:pos x="T10" y="T11"/>
                </a:cxn>
              </a:cxnLst>
              <a:rect l="T18" t="T19" r="T20" b="T21"/>
              <a:pathLst>
                <a:path w="419" h="292">
                  <a:moveTo>
                    <a:pt x="418" y="0"/>
                  </a:moveTo>
                  <a:lnTo>
                    <a:pt x="418" y="0"/>
                  </a:lnTo>
                  <a:lnTo>
                    <a:pt x="0" y="284"/>
                  </a:lnTo>
                  <a:lnTo>
                    <a:pt x="0" y="291"/>
                  </a:lnTo>
                  <a:lnTo>
                    <a:pt x="418" y="6"/>
                  </a:lnTo>
                  <a:lnTo>
                    <a:pt x="418" y="0"/>
                  </a:lnTo>
                </a:path>
              </a:pathLst>
            </a:custGeom>
            <a:solidFill>
              <a:srgbClr val="BDB597"/>
            </a:solidFill>
            <a:ln w="9525" cap="rnd">
              <a:noFill/>
              <a:round/>
            </a:ln>
          </p:spPr>
          <p:txBody>
            <a:bodyPr/>
            <a:lstStyle/>
            <a:p>
              <a:endParaRPr lang="zh-CN" altLang="en-US"/>
            </a:p>
          </p:txBody>
        </p:sp>
        <p:sp>
          <p:nvSpPr>
            <p:cNvPr id="9478" name="Freeform 43"/>
            <p:cNvSpPr/>
            <p:nvPr/>
          </p:nvSpPr>
          <p:spPr bwMode="auto">
            <a:xfrm>
              <a:off x="2394" y="2282"/>
              <a:ext cx="17" cy="51"/>
            </a:xfrm>
            <a:custGeom>
              <a:avLst/>
              <a:gdLst>
                <a:gd name="T0" fmla="*/ 0 w 17"/>
                <a:gd name="T1" fmla="*/ 50 h 51"/>
                <a:gd name="T2" fmla="*/ 0 w 17"/>
                <a:gd name="T3" fmla="*/ 50 h 51"/>
                <a:gd name="T4" fmla="*/ 0 w 17"/>
                <a:gd name="T5" fmla="*/ 26 h 51"/>
                <a:gd name="T6" fmla="*/ 0 w 17"/>
                <a:gd name="T7" fmla="*/ 17 h 51"/>
                <a:gd name="T8" fmla="*/ 0 w 17"/>
                <a:gd name="T9" fmla="*/ 8 h 51"/>
                <a:gd name="T10" fmla="*/ 0 w 17"/>
                <a:gd name="T11" fmla="*/ 6 h 51"/>
                <a:gd name="T12" fmla="*/ 0 w 17"/>
                <a:gd name="T13" fmla="*/ 2 h 51"/>
                <a:gd name="T14" fmla="*/ 10 w 17"/>
                <a:gd name="T15" fmla="*/ 2 h 51"/>
                <a:gd name="T16" fmla="*/ 10 w 17"/>
                <a:gd name="T17" fmla="*/ 0 h 51"/>
                <a:gd name="T18" fmla="*/ 16 w 17"/>
                <a:gd name="T19" fmla="*/ 0 h 51"/>
                <a:gd name="T20" fmla="*/ 16 w 17"/>
                <a:gd name="T21" fmla="*/ 23 h 51"/>
                <a:gd name="T22" fmla="*/ 16 w 17"/>
                <a:gd name="T23" fmla="*/ 38 h 51"/>
                <a:gd name="T24" fmla="*/ 16 w 17"/>
                <a:gd name="T25" fmla="*/ 43 h 51"/>
                <a:gd name="T26" fmla="*/ 10 w 17"/>
                <a:gd name="T27" fmla="*/ 47 h 51"/>
                <a:gd name="T28" fmla="*/ 0 w 17"/>
                <a:gd name="T29" fmla="*/ 47 h 51"/>
                <a:gd name="T30" fmla="*/ 0 w 17"/>
                <a:gd name="T31" fmla="*/ 50 h 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
                <a:gd name="T49" fmla="*/ 0 h 51"/>
                <a:gd name="T50" fmla="*/ 17 w 17"/>
                <a:gd name="T51" fmla="*/ 51 h 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 h="51">
                  <a:moveTo>
                    <a:pt x="0" y="50"/>
                  </a:moveTo>
                  <a:lnTo>
                    <a:pt x="0" y="50"/>
                  </a:lnTo>
                  <a:lnTo>
                    <a:pt x="0" y="26"/>
                  </a:lnTo>
                  <a:lnTo>
                    <a:pt x="0" y="17"/>
                  </a:lnTo>
                  <a:lnTo>
                    <a:pt x="0" y="8"/>
                  </a:lnTo>
                  <a:lnTo>
                    <a:pt x="0" y="6"/>
                  </a:lnTo>
                  <a:lnTo>
                    <a:pt x="0" y="2"/>
                  </a:lnTo>
                  <a:lnTo>
                    <a:pt x="10" y="2"/>
                  </a:lnTo>
                  <a:lnTo>
                    <a:pt x="10" y="0"/>
                  </a:lnTo>
                  <a:lnTo>
                    <a:pt x="16" y="0"/>
                  </a:lnTo>
                  <a:lnTo>
                    <a:pt x="16" y="23"/>
                  </a:lnTo>
                  <a:lnTo>
                    <a:pt x="16" y="38"/>
                  </a:lnTo>
                  <a:lnTo>
                    <a:pt x="16" y="43"/>
                  </a:lnTo>
                  <a:lnTo>
                    <a:pt x="10" y="47"/>
                  </a:lnTo>
                  <a:lnTo>
                    <a:pt x="0" y="47"/>
                  </a:lnTo>
                  <a:lnTo>
                    <a:pt x="0" y="50"/>
                  </a:lnTo>
                </a:path>
              </a:pathLst>
            </a:custGeom>
            <a:solidFill>
              <a:srgbClr val="BDB597"/>
            </a:solidFill>
            <a:ln w="9525" cap="rnd">
              <a:noFill/>
              <a:round/>
            </a:ln>
          </p:spPr>
          <p:txBody>
            <a:bodyPr/>
            <a:lstStyle/>
            <a:p>
              <a:endParaRPr lang="zh-CN" altLang="en-US"/>
            </a:p>
          </p:txBody>
        </p:sp>
        <p:sp>
          <p:nvSpPr>
            <p:cNvPr id="9479" name="Freeform 44"/>
            <p:cNvSpPr/>
            <p:nvPr/>
          </p:nvSpPr>
          <p:spPr bwMode="auto">
            <a:xfrm>
              <a:off x="2301" y="2345"/>
              <a:ext cx="17" cy="53"/>
            </a:xfrm>
            <a:custGeom>
              <a:avLst/>
              <a:gdLst>
                <a:gd name="T0" fmla="*/ 0 w 17"/>
                <a:gd name="T1" fmla="*/ 52 h 53"/>
                <a:gd name="T2" fmla="*/ 0 w 17"/>
                <a:gd name="T3" fmla="*/ 52 h 53"/>
                <a:gd name="T4" fmla="*/ 0 w 17"/>
                <a:gd name="T5" fmla="*/ 27 h 53"/>
                <a:gd name="T6" fmla="*/ 0 w 17"/>
                <a:gd name="T7" fmla="*/ 17 h 53"/>
                <a:gd name="T8" fmla="*/ 0 w 17"/>
                <a:gd name="T9" fmla="*/ 8 h 53"/>
                <a:gd name="T10" fmla="*/ 4 w 17"/>
                <a:gd name="T11" fmla="*/ 2 h 53"/>
                <a:gd name="T12" fmla="*/ 4 w 17"/>
                <a:gd name="T13" fmla="*/ 0 h 53"/>
                <a:gd name="T14" fmla="*/ 11 w 17"/>
                <a:gd name="T15" fmla="*/ 0 h 53"/>
                <a:gd name="T16" fmla="*/ 16 w 17"/>
                <a:gd name="T17" fmla="*/ 0 h 53"/>
                <a:gd name="T18" fmla="*/ 16 w 17"/>
                <a:gd name="T19" fmla="*/ 24 h 53"/>
                <a:gd name="T20" fmla="*/ 11 w 17"/>
                <a:gd name="T21" fmla="*/ 39 h 53"/>
                <a:gd name="T22" fmla="*/ 11 w 17"/>
                <a:gd name="T23" fmla="*/ 45 h 53"/>
                <a:gd name="T24" fmla="*/ 11 w 17"/>
                <a:gd name="T25" fmla="*/ 49 h 53"/>
                <a:gd name="T26" fmla="*/ 4 w 17"/>
                <a:gd name="T27" fmla="*/ 49 h 53"/>
                <a:gd name="T28" fmla="*/ 0 w 17"/>
                <a:gd name="T29" fmla="*/ 52 h 5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
                <a:gd name="T46" fmla="*/ 0 h 53"/>
                <a:gd name="T47" fmla="*/ 17 w 17"/>
                <a:gd name="T48" fmla="*/ 53 h 5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 h="53">
                  <a:moveTo>
                    <a:pt x="0" y="52"/>
                  </a:moveTo>
                  <a:lnTo>
                    <a:pt x="0" y="52"/>
                  </a:lnTo>
                  <a:lnTo>
                    <a:pt x="0" y="27"/>
                  </a:lnTo>
                  <a:lnTo>
                    <a:pt x="0" y="17"/>
                  </a:lnTo>
                  <a:lnTo>
                    <a:pt x="0" y="8"/>
                  </a:lnTo>
                  <a:lnTo>
                    <a:pt x="4" y="2"/>
                  </a:lnTo>
                  <a:lnTo>
                    <a:pt x="4" y="0"/>
                  </a:lnTo>
                  <a:lnTo>
                    <a:pt x="11" y="0"/>
                  </a:lnTo>
                  <a:lnTo>
                    <a:pt x="16" y="0"/>
                  </a:lnTo>
                  <a:lnTo>
                    <a:pt x="16" y="24"/>
                  </a:lnTo>
                  <a:lnTo>
                    <a:pt x="11" y="39"/>
                  </a:lnTo>
                  <a:lnTo>
                    <a:pt x="11" y="45"/>
                  </a:lnTo>
                  <a:lnTo>
                    <a:pt x="11" y="49"/>
                  </a:lnTo>
                  <a:lnTo>
                    <a:pt x="4" y="49"/>
                  </a:lnTo>
                  <a:lnTo>
                    <a:pt x="0" y="52"/>
                  </a:lnTo>
                </a:path>
              </a:pathLst>
            </a:custGeom>
            <a:solidFill>
              <a:srgbClr val="BDB597"/>
            </a:solidFill>
            <a:ln w="9525" cap="rnd">
              <a:noFill/>
              <a:round/>
            </a:ln>
          </p:spPr>
          <p:txBody>
            <a:bodyPr/>
            <a:lstStyle/>
            <a:p>
              <a:endParaRPr lang="zh-CN" altLang="en-US"/>
            </a:p>
          </p:txBody>
        </p:sp>
        <p:sp>
          <p:nvSpPr>
            <p:cNvPr id="9480" name="Freeform 45"/>
            <p:cNvSpPr/>
            <p:nvPr/>
          </p:nvSpPr>
          <p:spPr bwMode="auto">
            <a:xfrm>
              <a:off x="2202" y="2413"/>
              <a:ext cx="17" cy="55"/>
            </a:xfrm>
            <a:custGeom>
              <a:avLst/>
              <a:gdLst>
                <a:gd name="T0" fmla="*/ 0 w 17"/>
                <a:gd name="T1" fmla="*/ 54 h 55"/>
                <a:gd name="T2" fmla="*/ 0 w 17"/>
                <a:gd name="T3" fmla="*/ 54 h 55"/>
                <a:gd name="T4" fmla="*/ 0 w 17"/>
                <a:gd name="T5" fmla="*/ 44 h 55"/>
                <a:gd name="T6" fmla="*/ 0 w 17"/>
                <a:gd name="T7" fmla="*/ 27 h 55"/>
                <a:gd name="T8" fmla="*/ 0 w 17"/>
                <a:gd name="T9" fmla="*/ 18 h 55"/>
                <a:gd name="T10" fmla="*/ 0 w 17"/>
                <a:gd name="T11" fmla="*/ 9 h 55"/>
                <a:gd name="T12" fmla="*/ 0 w 17"/>
                <a:gd name="T13" fmla="*/ 2 h 55"/>
                <a:gd name="T14" fmla="*/ 4 w 17"/>
                <a:gd name="T15" fmla="*/ 0 h 55"/>
                <a:gd name="T16" fmla="*/ 11 w 17"/>
                <a:gd name="T17" fmla="*/ 0 h 55"/>
                <a:gd name="T18" fmla="*/ 16 w 17"/>
                <a:gd name="T19" fmla="*/ 0 h 55"/>
                <a:gd name="T20" fmla="*/ 16 w 17"/>
                <a:gd name="T21" fmla="*/ 23 h 55"/>
                <a:gd name="T22" fmla="*/ 16 w 17"/>
                <a:gd name="T23" fmla="*/ 39 h 55"/>
                <a:gd name="T24" fmla="*/ 11 w 17"/>
                <a:gd name="T25" fmla="*/ 44 h 55"/>
                <a:gd name="T26" fmla="*/ 11 w 17"/>
                <a:gd name="T27" fmla="*/ 47 h 55"/>
                <a:gd name="T28" fmla="*/ 11 w 17"/>
                <a:gd name="T29" fmla="*/ 51 h 55"/>
                <a:gd name="T30" fmla="*/ 4 w 17"/>
                <a:gd name="T31" fmla="*/ 51 h 55"/>
                <a:gd name="T32" fmla="*/ 0 w 17"/>
                <a:gd name="T33" fmla="*/ 51 h 55"/>
                <a:gd name="T34" fmla="*/ 0 w 17"/>
                <a:gd name="T35" fmla="*/ 54 h 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55"/>
                <a:gd name="T56" fmla="*/ 17 w 17"/>
                <a:gd name="T57" fmla="*/ 55 h 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55">
                  <a:moveTo>
                    <a:pt x="0" y="54"/>
                  </a:moveTo>
                  <a:lnTo>
                    <a:pt x="0" y="54"/>
                  </a:lnTo>
                  <a:lnTo>
                    <a:pt x="0" y="44"/>
                  </a:lnTo>
                  <a:lnTo>
                    <a:pt x="0" y="27"/>
                  </a:lnTo>
                  <a:lnTo>
                    <a:pt x="0" y="18"/>
                  </a:lnTo>
                  <a:lnTo>
                    <a:pt x="0" y="9"/>
                  </a:lnTo>
                  <a:lnTo>
                    <a:pt x="0" y="2"/>
                  </a:lnTo>
                  <a:lnTo>
                    <a:pt x="4" y="0"/>
                  </a:lnTo>
                  <a:lnTo>
                    <a:pt x="11" y="0"/>
                  </a:lnTo>
                  <a:lnTo>
                    <a:pt x="16" y="0"/>
                  </a:lnTo>
                  <a:lnTo>
                    <a:pt x="16" y="23"/>
                  </a:lnTo>
                  <a:lnTo>
                    <a:pt x="16" y="39"/>
                  </a:lnTo>
                  <a:lnTo>
                    <a:pt x="11" y="44"/>
                  </a:lnTo>
                  <a:lnTo>
                    <a:pt x="11" y="47"/>
                  </a:lnTo>
                  <a:lnTo>
                    <a:pt x="11" y="51"/>
                  </a:lnTo>
                  <a:lnTo>
                    <a:pt x="4" y="51"/>
                  </a:lnTo>
                  <a:lnTo>
                    <a:pt x="0" y="51"/>
                  </a:lnTo>
                  <a:lnTo>
                    <a:pt x="0" y="54"/>
                  </a:lnTo>
                </a:path>
              </a:pathLst>
            </a:custGeom>
            <a:solidFill>
              <a:srgbClr val="BDB597"/>
            </a:solidFill>
            <a:ln w="9525" cap="rnd">
              <a:noFill/>
              <a:round/>
            </a:ln>
          </p:spPr>
          <p:txBody>
            <a:bodyPr/>
            <a:lstStyle/>
            <a:p>
              <a:endParaRPr lang="zh-CN" altLang="en-US"/>
            </a:p>
          </p:txBody>
        </p:sp>
        <p:grpSp>
          <p:nvGrpSpPr>
            <p:cNvPr id="6" name="Group 46"/>
            <p:cNvGrpSpPr/>
            <p:nvPr/>
          </p:nvGrpSpPr>
          <p:grpSpPr bwMode="auto">
            <a:xfrm>
              <a:off x="2412" y="2134"/>
              <a:ext cx="111" cy="107"/>
              <a:chOff x="2412" y="2134"/>
              <a:chExt cx="111" cy="107"/>
            </a:xfrm>
          </p:grpSpPr>
          <p:sp>
            <p:nvSpPr>
              <p:cNvPr id="9658" name="Freeform 47"/>
              <p:cNvSpPr/>
              <p:nvPr/>
            </p:nvSpPr>
            <p:spPr bwMode="auto">
              <a:xfrm>
                <a:off x="2446" y="2147"/>
                <a:ext cx="77" cy="94"/>
              </a:xfrm>
              <a:custGeom>
                <a:avLst/>
                <a:gdLst>
                  <a:gd name="T0" fmla="*/ 0 w 77"/>
                  <a:gd name="T1" fmla="*/ 93 h 94"/>
                  <a:gd name="T2" fmla="*/ 0 w 77"/>
                  <a:gd name="T3" fmla="*/ 93 h 94"/>
                  <a:gd name="T4" fmla="*/ 2 w 77"/>
                  <a:gd name="T5" fmla="*/ 46 h 94"/>
                  <a:gd name="T6" fmla="*/ 76 w 77"/>
                  <a:gd name="T7" fmla="*/ 0 h 94"/>
                  <a:gd name="T8" fmla="*/ 73 w 77"/>
                  <a:gd name="T9" fmla="*/ 46 h 94"/>
                  <a:gd name="T10" fmla="*/ 0 w 77"/>
                  <a:gd name="T11" fmla="*/ 93 h 94"/>
                  <a:gd name="T12" fmla="*/ 0 60000 65536"/>
                  <a:gd name="T13" fmla="*/ 0 60000 65536"/>
                  <a:gd name="T14" fmla="*/ 0 60000 65536"/>
                  <a:gd name="T15" fmla="*/ 0 60000 65536"/>
                  <a:gd name="T16" fmla="*/ 0 60000 65536"/>
                  <a:gd name="T17" fmla="*/ 0 60000 65536"/>
                  <a:gd name="T18" fmla="*/ 0 w 77"/>
                  <a:gd name="T19" fmla="*/ 0 h 94"/>
                  <a:gd name="T20" fmla="*/ 77 w 77"/>
                  <a:gd name="T21" fmla="*/ 94 h 94"/>
                </a:gdLst>
                <a:ahLst/>
                <a:cxnLst>
                  <a:cxn ang="T12">
                    <a:pos x="T0" y="T1"/>
                  </a:cxn>
                  <a:cxn ang="T13">
                    <a:pos x="T2" y="T3"/>
                  </a:cxn>
                  <a:cxn ang="T14">
                    <a:pos x="T4" y="T5"/>
                  </a:cxn>
                  <a:cxn ang="T15">
                    <a:pos x="T6" y="T7"/>
                  </a:cxn>
                  <a:cxn ang="T16">
                    <a:pos x="T8" y="T9"/>
                  </a:cxn>
                  <a:cxn ang="T17">
                    <a:pos x="T10" y="T11"/>
                  </a:cxn>
                </a:cxnLst>
                <a:rect l="T18" t="T19" r="T20" b="T21"/>
                <a:pathLst>
                  <a:path w="77" h="94">
                    <a:moveTo>
                      <a:pt x="0" y="93"/>
                    </a:moveTo>
                    <a:lnTo>
                      <a:pt x="0" y="93"/>
                    </a:lnTo>
                    <a:lnTo>
                      <a:pt x="2" y="46"/>
                    </a:lnTo>
                    <a:lnTo>
                      <a:pt x="76" y="0"/>
                    </a:lnTo>
                    <a:lnTo>
                      <a:pt x="73" y="46"/>
                    </a:lnTo>
                    <a:lnTo>
                      <a:pt x="0" y="93"/>
                    </a:lnTo>
                  </a:path>
                </a:pathLst>
              </a:custGeom>
              <a:solidFill>
                <a:srgbClr val="BB1A50"/>
              </a:solidFill>
              <a:ln w="9525" cap="rnd">
                <a:noFill/>
                <a:round/>
              </a:ln>
            </p:spPr>
            <p:txBody>
              <a:bodyPr/>
              <a:lstStyle/>
              <a:p>
                <a:endParaRPr lang="zh-CN" altLang="en-US"/>
              </a:p>
            </p:txBody>
          </p:sp>
          <p:sp>
            <p:nvSpPr>
              <p:cNvPr id="9659" name="Freeform 48"/>
              <p:cNvSpPr/>
              <p:nvPr/>
            </p:nvSpPr>
            <p:spPr bwMode="auto">
              <a:xfrm>
                <a:off x="2412" y="2187"/>
                <a:ext cx="35" cy="54"/>
              </a:xfrm>
              <a:custGeom>
                <a:avLst/>
                <a:gdLst>
                  <a:gd name="T0" fmla="*/ 31 w 35"/>
                  <a:gd name="T1" fmla="*/ 53 h 54"/>
                  <a:gd name="T2" fmla="*/ 31 w 35"/>
                  <a:gd name="T3" fmla="*/ 53 h 54"/>
                  <a:gd name="T4" fmla="*/ 0 w 35"/>
                  <a:gd name="T5" fmla="*/ 44 h 54"/>
                  <a:gd name="T6" fmla="*/ 2 w 35"/>
                  <a:gd name="T7" fmla="*/ 0 h 54"/>
                  <a:gd name="T8" fmla="*/ 34 w 35"/>
                  <a:gd name="T9" fmla="*/ 8 h 54"/>
                  <a:gd name="T10" fmla="*/ 31 w 35"/>
                  <a:gd name="T11" fmla="*/ 53 h 54"/>
                  <a:gd name="T12" fmla="*/ 0 60000 65536"/>
                  <a:gd name="T13" fmla="*/ 0 60000 65536"/>
                  <a:gd name="T14" fmla="*/ 0 60000 65536"/>
                  <a:gd name="T15" fmla="*/ 0 60000 65536"/>
                  <a:gd name="T16" fmla="*/ 0 60000 65536"/>
                  <a:gd name="T17" fmla="*/ 0 60000 65536"/>
                  <a:gd name="T18" fmla="*/ 0 w 35"/>
                  <a:gd name="T19" fmla="*/ 0 h 54"/>
                  <a:gd name="T20" fmla="*/ 35 w 35"/>
                  <a:gd name="T21" fmla="*/ 54 h 54"/>
                </a:gdLst>
                <a:ahLst/>
                <a:cxnLst>
                  <a:cxn ang="T12">
                    <a:pos x="T0" y="T1"/>
                  </a:cxn>
                  <a:cxn ang="T13">
                    <a:pos x="T2" y="T3"/>
                  </a:cxn>
                  <a:cxn ang="T14">
                    <a:pos x="T4" y="T5"/>
                  </a:cxn>
                  <a:cxn ang="T15">
                    <a:pos x="T6" y="T7"/>
                  </a:cxn>
                  <a:cxn ang="T16">
                    <a:pos x="T8" y="T9"/>
                  </a:cxn>
                  <a:cxn ang="T17">
                    <a:pos x="T10" y="T11"/>
                  </a:cxn>
                </a:cxnLst>
                <a:rect l="T18" t="T19" r="T20" b="T21"/>
                <a:pathLst>
                  <a:path w="35" h="54">
                    <a:moveTo>
                      <a:pt x="31" y="53"/>
                    </a:moveTo>
                    <a:lnTo>
                      <a:pt x="31" y="53"/>
                    </a:lnTo>
                    <a:lnTo>
                      <a:pt x="0" y="44"/>
                    </a:lnTo>
                    <a:lnTo>
                      <a:pt x="2" y="0"/>
                    </a:lnTo>
                    <a:lnTo>
                      <a:pt x="34" y="8"/>
                    </a:lnTo>
                    <a:lnTo>
                      <a:pt x="31" y="53"/>
                    </a:lnTo>
                  </a:path>
                </a:pathLst>
              </a:custGeom>
              <a:solidFill>
                <a:srgbClr val="9E0005"/>
              </a:solidFill>
              <a:ln w="9525" cap="rnd">
                <a:noFill/>
                <a:round/>
              </a:ln>
            </p:spPr>
            <p:txBody>
              <a:bodyPr/>
              <a:lstStyle/>
              <a:p>
                <a:endParaRPr lang="zh-CN" altLang="en-US"/>
              </a:p>
            </p:txBody>
          </p:sp>
          <p:sp>
            <p:nvSpPr>
              <p:cNvPr id="9660" name="Freeform 49"/>
              <p:cNvSpPr/>
              <p:nvPr/>
            </p:nvSpPr>
            <p:spPr bwMode="auto">
              <a:xfrm>
                <a:off x="2414" y="2134"/>
                <a:ext cx="109" cy="59"/>
              </a:xfrm>
              <a:custGeom>
                <a:avLst/>
                <a:gdLst>
                  <a:gd name="T0" fmla="*/ 33 w 109"/>
                  <a:gd name="T1" fmla="*/ 58 h 59"/>
                  <a:gd name="T2" fmla="*/ 33 w 109"/>
                  <a:gd name="T3" fmla="*/ 58 h 59"/>
                  <a:gd name="T4" fmla="*/ 0 w 109"/>
                  <a:gd name="T5" fmla="*/ 48 h 59"/>
                  <a:gd name="T6" fmla="*/ 80 w 109"/>
                  <a:gd name="T7" fmla="*/ 0 h 59"/>
                  <a:gd name="T8" fmla="*/ 108 w 109"/>
                  <a:gd name="T9" fmla="*/ 11 h 59"/>
                  <a:gd name="T10" fmla="*/ 33 w 109"/>
                  <a:gd name="T11" fmla="*/ 58 h 59"/>
                  <a:gd name="T12" fmla="*/ 0 60000 65536"/>
                  <a:gd name="T13" fmla="*/ 0 60000 65536"/>
                  <a:gd name="T14" fmla="*/ 0 60000 65536"/>
                  <a:gd name="T15" fmla="*/ 0 60000 65536"/>
                  <a:gd name="T16" fmla="*/ 0 60000 65536"/>
                  <a:gd name="T17" fmla="*/ 0 60000 65536"/>
                  <a:gd name="T18" fmla="*/ 0 w 109"/>
                  <a:gd name="T19" fmla="*/ 0 h 59"/>
                  <a:gd name="T20" fmla="*/ 109 w 109"/>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109" h="59">
                    <a:moveTo>
                      <a:pt x="33" y="58"/>
                    </a:moveTo>
                    <a:lnTo>
                      <a:pt x="33" y="58"/>
                    </a:lnTo>
                    <a:lnTo>
                      <a:pt x="0" y="48"/>
                    </a:lnTo>
                    <a:lnTo>
                      <a:pt x="80" y="0"/>
                    </a:lnTo>
                    <a:lnTo>
                      <a:pt x="108" y="11"/>
                    </a:lnTo>
                    <a:lnTo>
                      <a:pt x="33" y="58"/>
                    </a:lnTo>
                  </a:path>
                </a:pathLst>
              </a:custGeom>
              <a:solidFill>
                <a:srgbClr val="CF5C82"/>
              </a:solidFill>
              <a:ln w="9525" cap="rnd">
                <a:noFill/>
                <a:round/>
              </a:ln>
            </p:spPr>
            <p:txBody>
              <a:bodyPr/>
              <a:lstStyle/>
              <a:p>
                <a:endParaRPr lang="zh-CN" altLang="en-US"/>
              </a:p>
            </p:txBody>
          </p:sp>
        </p:grpSp>
        <p:grpSp>
          <p:nvGrpSpPr>
            <p:cNvPr id="7" name="Group 50"/>
            <p:cNvGrpSpPr/>
            <p:nvPr/>
          </p:nvGrpSpPr>
          <p:grpSpPr bwMode="auto">
            <a:xfrm>
              <a:off x="2318" y="2192"/>
              <a:ext cx="122" cy="113"/>
              <a:chOff x="2318" y="2192"/>
              <a:chExt cx="122" cy="113"/>
            </a:xfrm>
          </p:grpSpPr>
          <p:sp>
            <p:nvSpPr>
              <p:cNvPr id="9655" name="Freeform 51"/>
              <p:cNvSpPr/>
              <p:nvPr/>
            </p:nvSpPr>
            <p:spPr bwMode="auto">
              <a:xfrm>
                <a:off x="2354" y="2202"/>
                <a:ext cx="86" cy="103"/>
              </a:xfrm>
              <a:custGeom>
                <a:avLst/>
                <a:gdLst>
                  <a:gd name="T0" fmla="*/ 0 w 86"/>
                  <a:gd name="T1" fmla="*/ 102 h 103"/>
                  <a:gd name="T2" fmla="*/ 0 w 86"/>
                  <a:gd name="T3" fmla="*/ 102 h 103"/>
                  <a:gd name="T4" fmla="*/ 2 w 86"/>
                  <a:gd name="T5" fmla="*/ 52 h 103"/>
                  <a:gd name="T6" fmla="*/ 85 w 86"/>
                  <a:gd name="T7" fmla="*/ 0 h 103"/>
                  <a:gd name="T8" fmla="*/ 82 w 86"/>
                  <a:gd name="T9" fmla="*/ 49 h 103"/>
                  <a:gd name="T10" fmla="*/ 0 w 86"/>
                  <a:gd name="T11" fmla="*/ 102 h 103"/>
                  <a:gd name="T12" fmla="*/ 0 60000 65536"/>
                  <a:gd name="T13" fmla="*/ 0 60000 65536"/>
                  <a:gd name="T14" fmla="*/ 0 60000 65536"/>
                  <a:gd name="T15" fmla="*/ 0 60000 65536"/>
                  <a:gd name="T16" fmla="*/ 0 60000 65536"/>
                  <a:gd name="T17" fmla="*/ 0 60000 65536"/>
                  <a:gd name="T18" fmla="*/ 0 w 86"/>
                  <a:gd name="T19" fmla="*/ 0 h 103"/>
                  <a:gd name="T20" fmla="*/ 86 w 86"/>
                  <a:gd name="T21" fmla="*/ 103 h 103"/>
                </a:gdLst>
                <a:ahLst/>
                <a:cxnLst>
                  <a:cxn ang="T12">
                    <a:pos x="T0" y="T1"/>
                  </a:cxn>
                  <a:cxn ang="T13">
                    <a:pos x="T2" y="T3"/>
                  </a:cxn>
                  <a:cxn ang="T14">
                    <a:pos x="T4" y="T5"/>
                  </a:cxn>
                  <a:cxn ang="T15">
                    <a:pos x="T6" y="T7"/>
                  </a:cxn>
                  <a:cxn ang="T16">
                    <a:pos x="T8" y="T9"/>
                  </a:cxn>
                  <a:cxn ang="T17">
                    <a:pos x="T10" y="T11"/>
                  </a:cxn>
                </a:cxnLst>
                <a:rect l="T18" t="T19" r="T20" b="T21"/>
                <a:pathLst>
                  <a:path w="86" h="103">
                    <a:moveTo>
                      <a:pt x="0" y="102"/>
                    </a:moveTo>
                    <a:lnTo>
                      <a:pt x="0" y="102"/>
                    </a:lnTo>
                    <a:lnTo>
                      <a:pt x="2" y="52"/>
                    </a:lnTo>
                    <a:lnTo>
                      <a:pt x="85" y="0"/>
                    </a:lnTo>
                    <a:lnTo>
                      <a:pt x="82" y="49"/>
                    </a:lnTo>
                    <a:lnTo>
                      <a:pt x="0" y="102"/>
                    </a:lnTo>
                  </a:path>
                </a:pathLst>
              </a:custGeom>
              <a:solidFill>
                <a:srgbClr val="BB1A50"/>
              </a:solidFill>
              <a:ln w="9525" cap="rnd">
                <a:noFill/>
                <a:round/>
              </a:ln>
            </p:spPr>
            <p:txBody>
              <a:bodyPr/>
              <a:lstStyle/>
              <a:p>
                <a:endParaRPr lang="zh-CN" altLang="en-US"/>
              </a:p>
            </p:txBody>
          </p:sp>
          <p:sp>
            <p:nvSpPr>
              <p:cNvPr id="9656" name="Freeform 52"/>
              <p:cNvSpPr/>
              <p:nvPr/>
            </p:nvSpPr>
            <p:spPr bwMode="auto">
              <a:xfrm>
                <a:off x="2318" y="2247"/>
                <a:ext cx="38" cy="58"/>
              </a:xfrm>
              <a:custGeom>
                <a:avLst/>
                <a:gdLst>
                  <a:gd name="T0" fmla="*/ 34 w 38"/>
                  <a:gd name="T1" fmla="*/ 57 h 58"/>
                  <a:gd name="T2" fmla="*/ 34 w 38"/>
                  <a:gd name="T3" fmla="*/ 57 h 58"/>
                  <a:gd name="T4" fmla="*/ 0 w 38"/>
                  <a:gd name="T5" fmla="*/ 47 h 58"/>
                  <a:gd name="T6" fmla="*/ 2 w 38"/>
                  <a:gd name="T7" fmla="*/ 0 h 58"/>
                  <a:gd name="T8" fmla="*/ 37 w 38"/>
                  <a:gd name="T9" fmla="*/ 9 h 58"/>
                  <a:gd name="T10" fmla="*/ 34 w 38"/>
                  <a:gd name="T11" fmla="*/ 57 h 58"/>
                  <a:gd name="T12" fmla="*/ 0 60000 65536"/>
                  <a:gd name="T13" fmla="*/ 0 60000 65536"/>
                  <a:gd name="T14" fmla="*/ 0 60000 65536"/>
                  <a:gd name="T15" fmla="*/ 0 60000 65536"/>
                  <a:gd name="T16" fmla="*/ 0 60000 65536"/>
                  <a:gd name="T17" fmla="*/ 0 60000 65536"/>
                  <a:gd name="T18" fmla="*/ 0 w 38"/>
                  <a:gd name="T19" fmla="*/ 0 h 58"/>
                  <a:gd name="T20" fmla="*/ 38 w 38"/>
                  <a:gd name="T21" fmla="*/ 58 h 58"/>
                </a:gdLst>
                <a:ahLst/>
                <a:cxnLst>
                  <a:cxn ang="T12">
                    <a:pos x="T0" y="T1"/>
                  </a:cxn>
                  <a:cxn ang="T13">
                    <a:pos x="T2" y="T3"/>
                  </a:cxn>
                  <a:cxn ang="T14">
                    <a:pos x="T4" y="T5"/>
                  </a:cxn>
                  <a:cxn ang="T15">
                    <a:pos x="T6" y="T7"/>
                  </a:cxn>
                  <a:cxn ang="T16">
                    <a:pos x="T8" y="T9"/>
                  </a:cxn>
                  <a:cxn ang="T17">
                    <a:pos x="T10" y="T11"/>
                  </a:cxn>
                </a:cxnLst>
                <a:rect l="T18" t="T19" r="T20" b="T21"/>
                <a:pathLst>
                  <a:path w="38" h="58">
                    <a:moveTo>
                      <a:pt x="34" y="57"/>
                    </a:moveTo>
                    <a:lnTo>
                      <a:pt x="34" y="57"/>
                    </a:lnTo>
                    <a:lnTo>
                      <a:pt x="0" y="47"/>
                    </a:lnTo>
                    <a:lnTo>
                      <a:pt x="2" y="0"/>
                    </a:lnTo>
                    <a:lnTo>
                      <a:pt x="37" y="9"/>
                    </a:lnTo>
                    <a:lnTo>
                      <a:pt x="34" y="57"/>
                    </a:lnTo>
                  </a:path>
                </a:pathLst>
              </a:custGeom>
              <a:solidFill>
                <a:srgbClr val="9E0005"/>
              </a:solidFill>
              <a:ln w="9525" cap="rnd">
                <a:noFill/>
                <a:round/>
              </a:ln>
            </p:spPr>
            <p:txBody>
              <a:bodyPr/>
              <a:lstStyle/>
              <a:p>
                <a:endParaRPr lang="zh-CN" altLang="en-US"/>
              </a:p>
            </p:txBody>
          </p:sp>
          <p:sp>
            <p:nvSpPr>
              <p:cNvPr id="9657" name="Freeform 53"/>
              <p:cNvSpPr/>
              <p:nvPr/>
            </p:nvSpPr>
            <p:spPr bwMode="auto">
              <a:xfrm>
                <a:off x="2321" y="2192"/>
                <a:ext cx="119" cy="62"/>
              </a:xfrm>
              <a:custGeom>
                <a:avLst/>
                <a:gdLst>
                  <a:gd name="T0" fmla="*/ 35 w 119"/>
                  <a:gd name="T1" fmla="*/ 61 h 62"/>
                  <a:gd name="T2" fmla="*/ 35 w 119"/>
                  <a:gd name="T3" fmla="*/ 61 h 62"/>
                  <a:gd name="T4" fmla="*/ 0 w 119"/>
                  <a:gd name="T5" fmla="*/ 52 h 62"/>
                  <a:gd name="T6" fmla="*/ 84 w 119"/>
                  <a:gd name="T7" fmla="*/ 0 h 62"/>
                  <a:gd name="T8" fmla="*/ 118 w 119"/>
                  <a:gd name="T9" fmla="*/ 8 h 62"/>
                  <a:gd name="T10" fmla="*/ 35 w 119"/>
                  <a:gd name="T11" fmla="*/ 61 h 62"/>
                  <a:gd name="T12" fmla="*/ 0 60000 65536"/>
                  <a:gd name="T13" fmla="*/ 0 60000 65536"/>
                  <a:gd name="T14" fmla="*/ 0 60000 65536"/>
                  <a:gd name="T15" fmla="*/ 0 60000 65536"/>
                  <a:gd name="T16" fmla="*/ 0 60000 65536"/>
                  <a:gd name="T17" fmla="*/ 0 60000 65536"/>
                  <a:gd name="T18" fmla="*/ 0 w 119"/>
                  <a:gd name="T19" fmla="*/ 0 h 62"/>
                  <a:gd name="T20" fmla="*/ 119 w 119"/>
                  <a:gd name="T21" fmla="*/ 62 h 62"/>
                </a:gdLst>
                <a:ahLst/>
                <a:cxnLst>
                  <a:cxn ang="T12">
                    <a:pos x="T0" y="T1"/>
                  </a:cxn>
                  <a:cxn ang="T13">
                    <a:pos x="T2" y="T3"/>
                  </a:cxn>
                  <a:cxn ang="T14">
                    <a:pos x="T4" y="T5"/>
                  </a:cxn>
                  <a:cxn ang="T15">
                    <a:pos x="T6" y="T7"/>
                  </a:cxn>
                  <a:cxn ang="T16">
                    <a:pos x="T8" y="T9"/>
                  </a:cxn>
                  <a:cxn ang="T17">
                    <a:pos x="T10" y="T11"/>
                  </a:cxn>
                </a:cxnLst>
                <a:rect l="T18" t="T19" r="T20" b="T21"/>
                <a:pathLst>
                  <a:path w="119" h="62">
                    <a:moveTo>
                      <a:pt x="35" y="61"/>
                    </a:moveTo>
                    <a:lnTo>
                      <a:pt x="35" y="61"/>
                    </a:lnTo>
                    <a:lnTo>
                      <a:pt x="0" y="52"/>
                    </a:lnTo>
                    <a:lnTo>
                      <a:pt x="84" y="0"/>
                    </a:lnTo>
                    <a:lnTo>
                      <a:pt x="118" y="8"/>
                    </a:lnTo>
                    <a:lnTo>
                      <a:pt x="35" y="61"/>
                    </a:lnTo>
                  </a:path>
                </a:pathLst>
              </a:custGeom>
              <a:solidFill>
                <a:srgbClr val="CF5C82"/>
              </a:solidFill>
              <a:ln w="9525" cap="rnd">
                <a:noFill/>
                <a:round/>
              </a:ln>
            </p:spPr>
            <p:txBody>
              <a:bodyPr/>
              <a:lstStyle/>
              <a:p>
                <a:endParaRPr lang="zh-CN" altLang="en-US"/>
              </a:p>
            </p:txBody>
          </p:sp>
        </p:grpSp>
        <p:grpSp>
          <p:nvGrpSpPr>
            <p:cNvPr id="8" name="Group 54"/>
            <p:cNvGrpSpPr/>
            <p:nvPr/>
          </p:nvGrpSpPr>
          <p:grpSpPr bwMode="auto">
            <a:xfrm>
              <a:off x="2218" y="2253"/>
              <a:ext cx="133" cy="116"/>
              <a:chOff x="2218" y="2253"/>
              <a:chExt cx="133" cy="116"/>
            </a:xfrm>
          </p:grpSpPr>
          <p:sp>
            <p:nvSpPr>
              <p:cNvPr id="9652" name="Freeform 55"/>
              <p:cNvSpPr/>
              <p:nvPr/>
            </p:nvSpPr>
            <p:spPr bwMode="auto">
              <a:xfrm>
                <a:off x="2258" y="2262"/>
                <a:ext cx="93" cy="107"/>
              </a:xfrm>
              <a:custGeom>
                <a:avLst/>
                <a:gdLst>
                  <a:gd name="T0" fmla="*/ 0 w 93"/>
                  <a:gd name="T1" fmla="*/ 106 h 107"/>
                  <a:gd name="T2" fmla="*/ 0 w 93"/>
                  <a:gd name="T3" fmla="*/ 106 h 107"/>
                  <a:gd name="T4" fmla="*/ 2 w 93"/>
                  <a:gd name="T5" fmla="*/ 55 h 107"/>
                  <a:gd name="T6" fmla="*/ 92 w 93"/>
                  <a:gd name="T7" fmla="*/ 0 h 107"/>
                  <a:gd name="T8" fmla="*/ 89 w 93"/>
                  <a:gd name="T9" fmla="*/ 50 h 107"/>
                  <a:gd name="T10" fmla="*/ 0 w 93"/>
                  <a:gd name="T11" fmla="*/ 106 h 107"/>
                  <a:gd name="T12" fmla="*/ 0 60000 65536"/>
                  <a:gd name="T13" fmla="*/ 0 60000 65536"/>
                  <a:gd name="T14" fmla="*/ 0 60000 65536"/>
                  <a:gd name="T15" fmla="*/ 0 60000 65536"/>
                  <a:gd name="T16" fmla="*/ 0 60000 65536"/>
                  <a:gd name="T17" fmla="*/ 0 60000 65536"/>
                  <a:gd name="T18" fmla="*/ 0 w 93"/>
                  <a:gd name="T19" fmla="*/ 0 h 107"/>
                  <a:gd name="T20" fmla="*/ 93 w 9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93" h="107">
                    <a:moveTo>
                      <a:pt x="0" y="106"/>
                    </a:moveTo>
                    <a:lnTo>
                      <a:pt x="0" y="106"/>
                    </a:lnTo>
                    <a:lnTo>
                      <a:pt x="2" y="55"/>
                    </a:lnTo>
                    <a:lnTo>
                      <a:pt x="92" y="0"/>
                    </a:lnTo>
                    <a:lnTo>
                      <a:pt x="89" y="50"/>
                    </a:lnTo>
                    <a:lnTo>
                      <a:pt x="0" y="106"/>
                    </a:lnTo>
                  </a:path>
                </a:pathLst>
              </a:custGeom>
              <a:solidFill>
                <a:srgbClr val="BB1A50"/>
              </a:solidFill>
              <a:ln w="9525" cap="rnd">
                <a:noFill/>
                <a:round/>
              </a:ln>
            </p:spPr>
            <p:txBody>
              <a:bodyPr/>
              <a:lstStyle/>
              <a:p>
                <a:endParaRPr lang="zh-CN" altLang="en-US"/>
              </a:p>
            </p:txBody>
          </p:sp>
          <p:sp>
            <p:nvSpPr>
              <p:cNvPr id="9653" name="Freeform 56"/>
              <p:cNvSpPr/>
              <p:nvPr/>
            </p:nvSpPr>
            <p:spPr bwMode="auto">
              <a:xfrm>
                <a:off x="2218" y="2310"/>
                <a:ext cx="41" cy="59"/>
              </a:xfrm>
              <a:custGeom>
                <a:avLst/>
                <a:gdLst>
                  <a:gd name="T0" fmla="*/ 37 w 41"/>
                  <a:gd name="T1" fmla="*/ 58 h 59"/>
                  <a:gd name="T2" fmla="*/ 37 w 41"/>
                  <a:gd name="T3" fmla="*/ 58 h 59"/>
                  <a:gd name="T4" fmla="*/ 0 w 41"/>
                  <a:gd name="T5" fmla="*/ 51 h 59"/>
                  <a:gd name="T6" fmla="*/ 2 w 41"/>
                  <a:gd name="T7" fmla="*/ 0 h 59"/>
                  <a:gd name="T8" fmla="*/ 40 w 41"/>
                  <a:gd name="T9" fmla="*/ 8 h 59"/>
                  <a:gd name="T10" fmla="*/ 37 w 41"/>
                  <a:gd name="T11" fmla="*/ 58 h 59"/>
                  <a:gd name="T12" fmla="*/ 0 60000 65536"/>
                  <a:gd name="T13" fmla="*/ 0 60000 65536"/>
                  <a:gd name="T14" fmla="*/ 0 60000 65536"/>
                  <a:gd name="T15" fmla="*/ 0 60000 65536"/>
                  <a:gd name="T16" fmla="*/ 0 60000 65536"/>
                  <a:gd name="T17" fmla="*/ 0 60000 65536"/>
                  <a:gd name="T18" fmla="*/ 0 w 41"/>
                  <a:gd name="T19" fmla="*/ 0 h 59"/>
                  <a:gd name="T20" fmla="*/ 41 w 41"/>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41" h="59">
                    <a:moveTo>
                      <a:pt x="37" y="58"/>
                    </a:moveTo>
                    <a:lnTo>
                      <a:pt x="37" y="58"/>
                    </a:lnTo>
                    <a:lnTo>
                      <a:pt x="0" y="51"/>
                    </a:lnTo>
                    <a:lnTo>
                      <a:pt x="2" y="0"/>
                    </a:lnTo>
                    <a:lnTo>
                      <a:pt x="40" y="8"/>
                    </a:lnTo>
                    <a:lnTo>
                      <a:pt x="37" y="58"/>
                    </a:lnTo>
                  </a:path>
                </a:pathLst>
              </a:custGeom>
              <a:solidFill>
                <a:srgbClr val="9E0005"/>
              </a:solidFill>
              <a:ln w="9525" cap="rnd">
                <a:noFill/>
                <a:round/>
              </a:ln>
            </p:spPr>
            <p:txBody>
              <a:bodyPr/>
              <a:lstStyle/>
              <a:p>
                <a:endParaRPr lang="zh-CN" altLang="en-US"/>
              </a:p>
            </p:txBody>
          </p:sp>
          <p:sp>
            <p:nvSpPr>
              <p:cNvPr id="9654" name="Freeform 57"/>
              <p:cNvSpPr/>
              <p:nvPr/>
            </p:nvSpPr>
            <p:spPr bwMode="auto">
              <a:xfrm>
                <a:off x="2221" y="2253"/>
                <a:ext cx="130" cy="65"/>
              </a:xfrm>
              <a:custGeom>
                <a:avLst/>
                <a:gdLst>
                  <a:gd name="T0" fmla="*/ 39 w 130"/>
                  <a:gd name="T1" fmla="*/ 64 h 65"/>
                  <a:gd name="T2" fmla="*/ 39 w 130"/>
                  <a:gd name="T3" fmla="*/ 64 h 65"/>
                  <a:gd name="T4" fmla="*/ 0 w 130"/>
                  <a:gd name="T5" fmla="*/ 54 h 65"/>
                  <a:gd name="T6" fmla="*/ 92 w 130"/>
                  <a:gd name="T7" fmla="*/ 0 h 65"/>
                  <a:gd name="T8" fmla="*/ 129 w 130"/>
                  <a:gd name="T9" fmla="*/ 9 h 65"/>
                  <a:gd name="T10" fmla="*/ 39 w 130"/>
                  <a:gd name="T11" fmla="*/ 64 h 65"/>
                  <a:gd name="T12" fmla="*/ 0 60000 65536"/>
                  <a:gd name="T13" fmla="*/ 0 60000 65536"/>
                  <a:gd name="T14" fmla="*/ 0 60000 65536"/>
                  <a:gd name="T15" fmla="*/ 0 60000 65536"/>
                  <a:gd name="T16" fmla="*/ 0 60000 65536"/>
                  <a:gd name="T17" fmla="*/ 0 60000 65536"/>
                  <a:gd name="T18" fmla="*/ 0 w 130"/>
                  <a:gd name="T19" fmla="*/ 0 h 65"/>
                  <a:gd name="T20" fmla="*/ 130 w 130"/>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130" h="65">
                    <a:moveTo>
                      <a:pt x="39" y="64"/>
                    </a:moveTo>
                    <a:lnTo>
                      <a:pt x="39" y="64"/>
                    </a:lnTo>
                    <a:lnTo>
                      <a:pt x="0" y="54"/>
                    </a:lnTo>
                    <a:lnTo>
                      <a:pt x="92" y="0"/>
                    </a:lnTo>
                    <a:lnTo>
                      <a:pt x="129" y="9"/>
                    </a:lnTo>
                    <a:lnTo>
                      <a:pt x="39" y="64"/>
                    </a:lnTo>
                  </a:path>
                </a:pathLst>
              </a:custGeom>
              <a:solidFill>
                <a:srgbClr val="CF5C82"/>
              </a:solidFill>
              <a:ln w="9525" cap="rnd">
                <a:noFill/>
                <a:round/>
              </a:ln>
            </p:spPr>
            <p:txBody>
              <a:bodyPr/>
              <a:lstStyle/>
              <a:p>
                <a:endParaRPr lang="zh-CN" altLang="en-US"/>
              </a:p>
            </p:txBody>
          </p:sp>
        </p:grpSp>
        <p:grpSp>
          <p:nvGrpSpPr>
            <p:cNvPr id="9" name="Group 58"/>
            <p:cNvGrpSpPr/>
            <p:nvPr/>
          </p:nvGrpSpPr>
          <p:grpSpPr bwMode="auto">
            <a:xfrm>
              <a:off x="2109" y="2317"/>
              <a:ext cx="144" cy="122"/>
              <a:chOff x="2109" y="2317"/>
              <a:chExt cx="144" cy="122"/>
            </a:xfrm>
          </p:grpSpPr>
          <p:sp>
            <p:nvSpPr>
              <p:cNvPr id="9649" name="Freeform 59"/>
              <p:cNvSpPr/>
              <p:nvPr/>
            </p:nvSpPr>
            <p:spPr bwMode="auto">
              <a:xfrm>
                <a:off x="2154" y="2327"/>
                <a:ext cx="98" cy="112"/>
              </a:xfrm>
              <a:custGeom>
                <a:avLst/>
                <a:gdLst>
                  <a:gd name="T0" fmla="*/ 0 w 98"/>
                  <a:gd name="T1" fmla="*/ 111 h 112"/>
                  <a:gd name="T2" fmla="*/ 0 w 98"/>
                  <a:gd name="T3" fmla="*/ 111 h 112"/>
                  <a:gd name="T4" fmla="*/ 0 w 98"/>
                  <a:gd name="T5" fmla="*/ 61 h 112"/>
                  <a:gd name="T6" fmla="*/ 97 w 98"/>
                  <a:gd name="T7" fmla="*/ 0 h 112"/>
                  <a:gd name="T8" fmla="*/ 94 w 98"/>
                  <a:gd name="T9" fmla="*/ 49 h 112"/>
                  <a:gd name="T10" fmla="*/ 0 w 98"/>
                  <a:gd name="T11" fmla="*/ 111 h 112"/>
                  <a:gd name="T12" fmla="*/ 0 60000 65536"/>
                  <a:gd name="T13" fmla="*/ 0 60000 65536"/>
                  <a:gd name="T14" fmla="*/ 0 60000 65536"/>
                  <a:gd name="T15" fmla="*/ 0 60000 65536"/>
                  <a:gd name="T16" fmla="*/ 0 60000 65536"/>
                  <a:gd name="T17" fmla="*/ 0 60000 65536"/>
                  <a:gd name="T18" fmla="*/ 0 w 98"/>
                  <a:gd name="T19" fmla="*/ 0 h 112"/>
                  <a:gd name="T20" fmla="*/ 98 w 98"/>
                  <a:gd name="T21" fmla="*/ 112 h 112"/>
                </a:gdLst>
                <a:ahLst/>
                <a:cxnLst>
                  <a:cxn ang="T12">
                    <a:pos x="T0" y="T1"/>
                  </a:cxn>
                  <a:cxn ang="T13">
                    <a:pos x="T2" y="T3"/>
                  </a:cxn>
                  <a:cxn ang="T14">
                    <a:pos x="T4" y="T5"/>
                  </a:cxn>
                  <a:cxn ang="T15">
                    <a:pos x="T6" y="T7"/>
                  </a:cxn>
                  <a:cxn ang="T16">
                    <a:pos x="T8" y="T9"/>
                  </a:cxn>
                  <a:cxn ang="T17">
                    <a:pos x="T10" y="T11"/>
                  </a:cxn>
                </a:cxnLst>
                <a:rect l="T18" t="T19" r="T20" b="T21"/>
                <a:pathLst>
                  <a:path w="98" h="112">
                    <a:moveTo>
                      <a:pt x="0" y="111"/>
                    </a:moveTo>
                    <a:lnTo>
                      <a:pt x="0" y="111"/>
                    </a:lnTo>
                    <a:lnTo>
                      <a:pt x="0" y="61"/>
                    </a:lnTo>
                    <a:lnTo>
                      <a:pt x="97" y="0"/>
                    </a:lnTo>
                    <a:lnTo>
                      <a:pt x="94" y="49"/>
                    </a:lnTo>
                    <a:lnTo>
                      <a:pt x="0" y="111"/>
                    </a:lnTo>
                  </a:path>
                </a:pathLst>
              </a:custGeom>
              <a:solidFill>
                <a:srgbClr val="BB1A50"/>
              </a:solidFill>
              <a:ln w="9525" cap="rnd">
                <a:noFill/>
                <a:round/>
              </a:ln>
            </p:spPr>
            <p:txBody>
              <a:bodyPr/>
              <a:lstStyle/>
              <a:p>
                <a:endParaRPr lang="zh-CN" altLang="en-US"/>
              </a:p>
            </p:txBody>
          </p:sp>
          <p:sp>
            <p:nvSpPr>
              <p:cNvPr id="9650" name="Freeform 60"/>
              <p:cNvSpPr/>
              <p:nvPr/>
            </p:nvSpPr>
            <p:spPr bwMode="auto">
              <a:xfrm>
                <a:off x="2109" y="2380"/>
                <a:ext cx="44" cy="59"/>
              </a:xfrm>
              <a:custGeom>
                <a:avLst/>
                <a:gdLst>
                  <a:gd name="T0" fmla="*/ 43 w 44"/>
                  <a:gd name="T1" fmla="*/ 58 h 59"/>
                  <a:gd name="T2" fmla="*/ 43 w 44"/>
                  <a:gd name="T3" fmla="*/ 58 h 59"/>
                  <a:gd name="T4" fmla="*/ 0 w 44"/>
                  <a:gd name="T5" fmla="*/ 51 h 59"/>
                  <a:gd name="T6" fmla="*/ 0 w 44"/>
                  <a:gd name="T7" fmla="*/ 0 h 59"/>
                  <a:gd name="T8" fmla="*/ 43 w 44"/>
                  <a:gd name="T9" fmla="*/ 9 h 59"/>
                  <a:gd name="T10" fmla="*/ 43 w 44"/>
                  <a:gd name="T11" fmla="*/ 58 h 59"/>
                  <a:gd name="T12" fmla="*/ 0 60000 65536"/>
                  <a:gd name="T13" fmla="*/ 0 60000 65536"/>
                  <a:gd name="T14" fmla="*/ 0 60000 65536"/>
                  <a:gd name="T15" fmla="*/ 0 60000 65536"/>
                  <a:gd name="T16" fmla="*/ 0 60000 65536"/>
                  <a:gd name="T17" fmla="*/ 0 60000 65536"/>
                  <a:gd name="T18" fmla="*/ 0 w 44"/>
                  <a:gd name="T19" fmla="*/ 0 h 59"/>
                  <a:gd name="T20" fmla="*/ 44 w 44"/>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44" h="59">
                    <a:moveTo>
                      <a:pt x="43" y="58"/>
                    </a:moveTo>
                    <a:lnTo>
                      <a:pt x="43" y="58"/>
                    </a:lnTo>
                    <a:lnTo>
                      <a:pt x="0" y="51"/>
                    </a:lnTo>
                    <a:lnTo>
                      <a:pt x="0" y="0"/>
                    </a:lnTo>
                    <a:lnTo>
                      <a:pt x="43" y="9"/>
                    </a:lnTo>
                    <a:lnTo>
                      <a:pt x="43" y="58"/>
                    </a:lnTo>
                  </a:path>
                </a:pathLst>
              </a:custGeom>
              <a:solidFill>
                <a:srgbClr val="9E0005"/>
              </a:solidFill>
              <a:ln w="9525" cap="rnd">
                <a:noFill/>
                <a:round/>
              </a:ln>
            </p:spPr>
            <p:txBody>
              <a:bodyPr/>
              <a:lstStyle/>
              <a:p>
                <a:endParaRPr lang="zh-CN" altLang="en-US"/>
              </a:p>
            </p:txBody>
          </p:sp>
          <p:sp>
            <p:nvSpPr>
              <p:cNvPr id="9651" name="Freeform 61"/>
              <p:cNvSpPr/>
              <p:nvPr/>
            </p:nvSpPr>
            <p:spPr bwMode="auto">
              <a:xfrm>
                <a:off x="2110" y="2317"/>
                <a:ext cx="143" cy="71"/>
              </a:xfrm>
              <a:custGeom>
                <a:avLst/>
                <a:gdLst>
                  <a:gd name="T0" fmla="*/ 44 w 143"/>
                  <a:gd name="T1" fmla="*/ 70 h 71"/>
                  <a:gd name="T2" fmla="*/ 44 w 143"/>
                  <a:gd name="T3" fmla="*/ 70 h 71"/>
                  <a:gd name="T4" fmla="*/ 0 w 143"/>
                  <a:gd name="T5" fmla="*/ 61 h 71"/>
                  <a:gd name="T6" fmla="*/ 102 w 143"/>
                  <a:gd name="T7" fmla="*/ 0 h 71"/>
                  <a:gd name="T8" fmla="*/ 142 w 143"/>
                  <a:gd name="T9" fmla="*/ 8 h 71"/>
                  <a:gd name="T10" fmla="*/ 44 w 143"/>
                  <a:gd name="T11" fmla="*/ 70 h 71"/>
                  <a:gd name="T12" fmla="*/ 0 60000 65536"/>
                  <a:gd name="T13" fmla="*/ 0 60000 65536"/>
                  <a:gd name="T14" fmla="*/ 0 60000 65536"/>
                  <a:gd name="T15" fmla="*/ 0 60000 65536"/>
                  <a:gd name="T16" fmla="*/ 0 60000 65536"/>
                  <a:gd name="T17" fmla="*/ 0 60000 65536"/>
                  <a:gd name="T18" fmla="*/ 0 w 143"/>
                  <a:gd name="T19" fmla="*/ 0 h 71"/>
                  <a:gd name="T20" fmla="*/ 143 w 143"/>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143" h="71">
                    <a:moveTo>
                      <a:pt x="44" y="70"/>
                    </a:moveTo>
                    <a:lnTo>
                      <a:pt x="44" y="70"/>
                    </a:lnTo>
                    <a:lnTo>
                      <a:pt x="0" y="61"/>
                    </a:lnTo>
                    <a:lnTo>
                      <a:pt x="102" y="0"/>
                    </a:lnTo>
                    <a:lnTo>
                      <a:pt x="142" y="8"/>
                    </a:lnTo>
                    <a:lnTo>
                      <a:pt x="44" y="70"/>
                    </a:lnTo>
                  </a:path>
                </a:pathLst>
              </a:custGeom>
              <a:solidFill>
                <a:srgbClr val="CF5C82"/>
              </a:solidFill>
              <a:ln w="9525" cap="rnd">
                <a:noFill/>
                <a:round/>
              </a:ln>
            </p:spPr>
            <p:txBody>
              <a:bodyPr/>
              <a:lstStyle/>
              <a:p>
                <a:endParaRPr lang="zh-CN" altLang="en-US"/>
              </a:p>
            </p:txBody>
          </p:sp>
        </p:grpSp>
        <p:sp>
          <p:nvSpPr>
            <p:cNvPr id="9485" name="Freeform 62"/>
            <p:cNvSpPr/>
            <p:nvPr/>
          </p:nvSpPr>
          <p:spPr bwMode="auto">
            <a:xfrm>
              <a:off x="2101" y="2397"/>
              <a:ext cx="47" cy="81"/>
            </a:xfrm>
            <a:custGeom>
              <a:avLst/>
              <a:gdLst>
                <a:gd name="T0" fmla="*/ 0 w 47"/>
                <a:gd name="T1" fmla="*/ 80 h 81"/>
                <a:gd name="T2" fmla="*/ 0 w 47"/>
                <a:gd name="T3" fmla="*/ 80 h 81"/>
                <a:gd name="T4" fmla="*/ 0 w 47"/>
                <a:gd name="T5" fmla="*/ 30 h 81"/>
                <a:gd name="T6" fmla="*/ 46 w 47"/>
                <a:gd name="T7" fmla="*/ 0 h 81"/>
                <a:gd name="T8" fmla="*/ 46 w 47"/>
                <a:gd name="T9" fmla="*/ 49 h 81"/>
                <a:gd name="T10" fmla="*/ 0 w 47"/>
                <a:gd name="T11" fmla="*/ 80 h 81"/>
                <a:gd name="T12" fmla="*/ 0 60000 65536"/>
                <a:gd name="T13" fmla="*/ 0 60000 65536"/>
                <a:gd name="T14" fmla="*/ 0 60000 65536"/>
                <a:gd name="T15" fmla="*/ 0 60000 65536"/>
                <a:gd name="T16" fmla="*/ 0 60000 65536"/>
                <a:gd name="T17" fmla="*/ 0 60000 65536"/>
                <a:gd name="T18" fmla="*/ 0 w 47"/>
                <a:gd name="T19" fmla="*/ 0 h 81"/>
                <a:gd name="T20" fmla="*/ 47 w 47"/>
                <a:gd name="T21" fmla="*/ 81 h 81"/>
              </a:gdLst>
              <a:ahLst/>
              <a:cxnLst>
                <a:cxn ang="T12">
                  <a:pos x="T0" y="T1"/>
                </a:cxn>
                <a:cxn ang="T13">
                  <a:pos x="T2" y="T3"/>
                </a:cxn>
                <a:cxn ang="T14">
                  <a:pos x="T4" y="T5"/>
                </a:cxn>
                <a:cxn ang="T15">
                  <a:pos x="T6" y="T7"/>
                </a:cxn>
                <a:cxn ang="T16">
                  <a:pos x="T8" y="T9"/>
                </a:cxn>
                <a:cxn ang="T17">
                  <a:pos x="T10" y="T11"/>
                </a:cxn>
              </a:cxnLst>
              <a:rect l="T18" t="T19" r="T20" b="T21"/>
              <a:pathLst>
                <a:path w="47" h="81">
                  <a:moveTo>
                    <a:pt x="0" y="80"/>
                  </a:moveTo>
                  <a:lnTo>
                    <a:pt x="0" y="80"/>
                  </a:lnTo>
                  <a:lnTo>
                    <a:pt x="0" y="30"/>
                  </a:lnTo>
                  <a:lnTo>
                    <a:pt x="46" y="0"/>
                  </a:lnTo>
                  <a:lnTo>
                    <a:pt x="46" y="49"/>
                  </a:lnTo>
                  <a:lnTo>
                    <a:pt x="0" y="80"/>
                  </a:lnTo>
                </a:path>
              </a:pathLst>
            </a:custGeom>
            <a:solidFill>
              <a:srgbClr val="BB1A50"/>
            </a:solidFill>
            <a:ln w="9525" cap="rnd">
              <a:noFill/>
              <a:round/>
            </a:ln>
          </p:spPr>
          <p:txBody>
            <a:bodyPr/>
            <a:lstStyle/>
            <a:p>
              <a:endParaRPr lang="zh-CN" altLang="en-US"/>
            </a:p>
          </p:txBody>
        </p:sp>
        <p:sp>
          <p:nvSpPr>
            <p:cNvPr id="9486" name="Freeform 63"/>
            <p:cNvSpPr/>
            <p:nvPr/>
          </p:nvSpPr>
          <p:spPr bwMode="auto">
            <a:xfrm>
              <a:off x="2057" y="2387"/>
              <a:ext cx="91" cy="39"/>
            </a:xfrm>
            <a:custGeom>
              <a:avLst/>
              <a:gdLst>
                <a:gd name="T0" fmla="*/ 43 w 91"/>
                <a:gd name="T1" fmla="*/ 38 h 39"/>
                <a:gd name="T2" fmla="*/ 43 w 91"/>
                <a:gd name="T3" fmla="*/ 38 h 39"/>
                <a:gd name="T4" fmla="*/ 0 w 91"/>
                <a:gd name="T5" fmla="*/ 28 h 39"/>
                <a:gd name="T6" fmla="*/ 46 w 91"/>
                <a:gd name="T7" fmla="*/ 0 h 39"/>
                <a:gd name="T8" fmla="*/ 90 w 91"/>
                <a:gd name="T9" fmla="*/ 9 h 39"/>
                <a:gd name="T10" fmla="*/ 43 w 91"/>
                <a:gd name="T11" fmla="*/ 38 h 39"/>
                <a:gd name="T12" fmla="*/ 0 60000 65536"/>
                <a:gd name="T13" fmla="*/ 0 60000 65536"/>
                <a:gd name="T14" fmla="*/ 0 60000 65536"/>
                <a:gd name="T15" fmla="*/ 0 60000 65536"/>
                <a:gd name="T16" fmla="*/ 0 60000 65536"/>
                <a:gd name="T17" fmla="*/ 0 60000 65536"/>
                <a:gd name="T18" fmla="*/ 0 w 91"/>
                <a:gd name="T19" fmla="*/ 0 h 39"/>
                <a:gd name="T20" fmla="*/ 91 w 91"/>
                <a:gd name="T21" fmla="*/ 39 h 39"/>
              </a:gdLst>
              <a:ahLst/>
              <a:cxnLst>
                <a:cxn ang="T12">
                  <a:pos x="T0" y="T1"/>
                </a:cxn>
                <a:cxn ang="T13">
                  <a:pos x="T2" y="T3"/>
                </a:cxn>
                <a:cxn ang="T14">
                  <a:pos x="T4" y="T5"/>
                </a:cxn>
                <a:cxn ang="T15">
                  <a:pos x="T6" y="T7"/>
                </a:cxn>
                <a:cxn ang="T16">
                  <a:pos x="T8" y="T9"/>
                </a:cxn>
                <a:cxn ang="T17">
                  <a:pos x="T10" y="T11"/>
                </a:cxn>
              </a:cxnLst>
              <a:rect l="T18" t="T19" r="T20" b="T21"/>
              <a:pathLst>
                <a:path w="91" h="39">
                  <a:moveTo>
                    <a:pt x="43" y="38"/>
                  </a:moveTo>
                  <a:lnTo>
                    <a:pt x="43" y="38"/>
                  </a:lnTo>
                  <a:lnTo>
                    <a:pt x="0" y="28"/>
                  </a:lnTo>
                  <a:lnTo>
                    <a:pt x="46" y="0"/>
                  </a:lnTo>
                  <a:lnTo>
                    <a:pt x="90" y="9"/>
                  </a:lnTo>
                  <a:lnTo>
                    <a:pt x="43" y="38"/>
                  </a:lnTo>
                </a:path>
              </a:pathLst>
            </a:custGeom>
            <a:solidFill>
              <a:srgbClr val="CF5C82"/>
            </a:solidFill>
            <a:ln w="9525" cap="rnd">
              <a:noFill/>
              <a:round/>
            </a:ln>
          </p:spPr>
          <p:txBody>
            <a:bodyPr/>
            <a:lstStyle/>
            <a:p>
              <a:endParaRPr lang="zh-CN" altLang="en-US"/>
            </a:p>
          </p:txBody>
        </p:sp>
        <p:sp>
          <p:nvSpPr>
            <p:cNvPr id="9487" name="Freeform 64"/>
            <p:cNvSpPr/>
            <p:nvPr/>
          </p:nvSpPr>
          <p:spPr bwMode="auto">
            <a:xfrm>
              <a:off x="2440" y="2198"/>
              <a:ext cx="17" cy="52"/>
            </a:xfrm>
            <a:custGeom>
              <a:avLst/>
              <a:gdLst>
                <a:gd name="T0" fmla="*/ 0 w 17"/>
                <a:gd name="T1" fmla="*/ 51 h 52"/>
                <a:gd name="T2" fmla="*/ 0 w 17"/>
                <a:gd name="T3" fmla="*/ 51 h 52"/>
                <a:gd name="T4" fmla="*/ 0 w 17"/>
                <a:gd name="T5" fmla="*/ 23 h 52"/>
                <a:gd name="T6" fmla="*/ 0 w 17"/>
                <a:gd name="T7" fmla="*/ 9 h 52"/>
                <a:gd name="T8" fmla="*/ 4 w 17"/>
                <a:gd name="T9" fmla="*/ 2 h 52"/>
                <a:gd name="T10" fmla="*/ 4 w 17"/>
                <a:gd name="T11" fmla="*/ 0 h 52"/>
                <a:gd name="T12" fmla="*/ 11 w 17"/>
                <a:gd name="T13" fmla="*/ 0 h 52"/>
                <a:gd name="T14" fmla="*/ 16 w 17"/>
                <a:gd name="T15" fmla="*/ 0 h 52"/>
                <a:gd name="T16" fmla="*/ 11 w 17"/>
                <a:gd name="T17" fmla="*/ 20 h 52"/>
                <a:gd name="T18" fmla="*/ 11 w 17"/>
                <a:gd name="T19" fmla="*/ 44 h 52"/>
                <a:gd name="T20" fmla="*/ 4 w 17"/>
                <a:gd name="T21" fmla="*/ 44 h 52"/>
                <a:gd name="T22" fmla="*/ 0 w 17"/>
                <a:gd name="T23" fmla="*/ 48 h 52"/>
                <a:gd name="T24" fmla="*/ 0 w 17"/>
                <a:gd name="T25" fmla="*/ 51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
                <a:gd name="T40" fmla="*/ 0 h 52"/>
                <a:gd name="T41" fmla="*/ 17 w 17"/>
                <a:gd name="T42" fmla="*/ 52 h 5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 h="52">
                  <a:moveTo>
                    <a:pt x="0" y="51"/>
                  </a:moveTo>
                  <a:lnTo>
                    <a:pt x="0" y="51"/>
                  </a:lnTo>
                  <a:lnTo>
                    <a:pt x="0" y="23"/>
                  </a:lnTo>
                  <a:lnTo>
                    <a:pt x="0" y="9"/>
                  </a:lnTo>
                  <a:lnTo>
                    <a:pt x="4" y="2"/>
                  </a:lnTo>
                  <a:lnTo>
                    <a:pt x="4" y="0"/>
                  </a:lnTo>
                  <a:lnTo>
                    <a:pt x="11" y="0"/>
                  </a:lnTo>
                  <a:lnTo>
                    <a:pt x="16" y="0"/>
                  </a:lnTo>
                  <a:lnTo>
                    <a:pt x="11" y="20"/>
                  </a:lnTo>
                  <a:lnTo>
                    <a:pt x="11" y="44"/>
                  </a:lnTo>
                  <a:lnTo>
                    <a:pt x="4" y="44"/>
                  </a:lnTo>
                  <a:lnTo>
                    <a:pt x="0" y="48"/>
                  </a:lnTo>
                  <a:lnTo>
                    <a:pt x="0" y="51"/>
                  </a:lnTo>
                </a:path>
              </a:pathLst>
            </a:custGeom>
            <a:solidFill>
              <a:srgbClr val="BDB597"/>
            </a:solidFill>
            <a:ln w="9525" cap="rnd">
              <a:noFill/>
              <a:round/>
            </a:ln>
          </p:spPr>
          <p:txBody>
            <a:bodyPr/>
            <a:lstStyle/>
            <a:p>
              <a:endParaRPr lang="zh-CN" altLang="en-US"/>
            </a:p>
          </p:txBody>
        </p:sp>
        <p:sp>
          <p:nvSpPr>
            <p:cNvPr id="9488" name="Freeform 65"/>
            <p:cNvSpPr/>
            <p:nvPr/>
          </p:nvSpPr>
          <p:spPr bwMode="auto">
            <a:xfrm>
              <a:off x="2098" y="2142"/>
              <a:ext cx="428" cy="284"/>
            </a:xfrm>
            <a:custGeom>
              <a:avLst/>
              <a:gdLst>
                <a:gd name="T0" fmla="*/ 427 w 428"/>
                <a:gd name="T1" fmla="*/ 0 h 284"/>
                <a:gd name="T2" fmla="*/ 427 w 428"/>
                <a:gd name="T3" fmla="*/ 0 h 284"/>
                <a:gd name="T4" fmla="*/ 0 w 428"/>
                <a:gd name="T5" fmla="*/ 276 h 284"/>
                <a:gd name="T6" fmla="*/ 3 w 428"/>
                <a:gd name="T7" fmla="*/ 283 h 284"/>
                <a:gd name="T8" fmla="*/ 423 w 428"/>
                <a:gd name="T9" fmla="*/ 6 h 284"/>
                <a:gd name="T10" fmla="*/ 427 w 428"/>
                <a:gd name="T11" fmla="*/ 0 h 284"/>
                <a:gd name="T12" fmla="*/ 0 60000 65536"/>
                <a:gd name="T13" fmla="*/ 0 60000 65536"/>
                <a:gd name="T14" fmla="*/ 0 60000 65536"/>
                <a:gd name="T15" fmla="*/ 0 60000 65536"/>
                <a:gd name="T16" fmla="*/ 0 60000 65536"/>
                <a:gd name="T17" fmla="*/ 0 60000 65536"/>
                <a:gd name="T18" fmla="*/ 0 w 428"/>
                <a:gd name="T19" fmla="*/ 0 h 284"/>
                <a:gd name="T20" fmla="*/ 428 w 428"/>
                <a:gd name="T21" fmla="*/ 284 h 284"/>
              </a:gdLst>
              <a:ahLst/>
              <a:cxnLst>
                <a:cxn ang="T12">
                  <a:pos x="T0" y="T1"/>
                </a:cxn>
                <a:cxn ang="T13">
                  <a:pos x="T2" y="T3"/>
                </a:cxn>
                <a:cxn ang="T14">
                  <a:pos x="T4" y="T5"/>
                </a:cxn>
                <a:cxn ang="T15">
                  <a:pos x="T6" y="T7"/>
                </a:cxn>
                <a:cxn ang="T16">
                  <a:pos x="T8" y="T9"/>
                </a:cxn>
                <a:cxn ang="T17">
                  <a:pos x="T10" y="T11"/>
                </a:cxn>
              </a:cxnLst>
              <a:rect l="T18" t="T19" r="T20" b="T21"/>
              <a:pathLst>
                <a:path w="428" h="284">
                  <a:moveTo>
                    <a:pt x="427" y="0"/>
                  </a:moveTo>
                  <a:lnTo>
                    <a:pt x="427" y="0"/>
                  </a:lnTo>
                  <a:lnTo>
                    <a:pt x="0" y="276"/>
                  </a:lnTo>
                  <a:lnTo>
                    <a:pt x="3" y="283"/>
                  </a:lnTo>
                  <a:lnTo>
                    <a:pt x="423" y="6"/>
                  </a:lnTo>
                  <a:lnTo>
                    <a:pt x="427" y="0"/>
                  </a:lnTo>
                </a:path>
              </a:pathLst>
            </a:custGeom>
            <a:solidFill>
              <a:srgbClr val="BDB597"/>
            </a:solidFill>
            <a:ln w="9525" cap="rnd">
              <a:noFill/>
              <a:round/>
            </a:ln>
          </p:spPr>
          <p:txBody>
            <a:bodyPr/>
            <a:lstStyle/>
            <a:p>
              <a:endParaRPr lang="zh-CN" altLang="en-US"/>
            </a:p>
          </p:txBody>
        </p:sp>
        <p:sp>
          <p:nvSpPr>
            <p:cNvPr id="9489" name="Freeform 66"/>
            <p:cNvSpPr/>
            <p:nvPr/>
          </p:nvSpPr>
          <p:spPr bwMode="auto">
            <a:xfrm>
              <a:off x="2350" y="2259"/>
              <a:ext cx="17" cy="52"/>
            </a:xfrm>
            <a:custGeom>
              <a:avLst/>
              <a:gdLst>
                <a:gd name="T0" fmla="*/ 0 w 17"/>
                <a:gd name="T1" fmla="*/ 51 h 52"/>
                <a:gd name="T2" fmla="*/ 0 w 17"/>
                <a:gd name="T3" fmla="*/ 51 h 52"/>
                <a:gd name="T4" fmla="*/ 0 w 17"/>
                <a:gd name="T5" fmla="*/ 24 h 52"/>
                <a:gd name="T6" fmla="*/ 0 w 17"/>
                <a:gd name="T7" fmla="*/ 15 h 52"/>
                <a:gd name="T8" fmla="*/ 0 w 17"/>
                <a:gd name="T9" fmla="*/ 8 h 52"/>
                <a:gd name="T10" fmla="*/ 4 w 17"/>
                <a:gd name="T11" fmla="*/ 2 h 52"/>
                <a:gd name="T12" fmla="*/ 4 w 17"/>
                <a:gd name="T13" fmla="*/ 0 h 52"/>
                <a:gd name="T14" fmla="*/ 11 w 17"/>
                <a:gd name="T15" fmla="*/ 0 h 52"/>
                <a:gd name="T16" fmla="*/ 16 w 17"/>
                <a:gd name="T17" fmla="*/ 0 h 52"/>
                <a:gd name="T18" fmla="*/ 11 w 17"/>
                <a:gd name="T19" fmla="*/ 20 h 52"/>
                <a:gd name="T20" fmla="*/ 11 w 17"/>
                <a:gd name="T21" fmla="*/ 39 h 52"/>
                <a:gd name="T22" fmla="*/ 11 w 17"/>
                <a:gd name="T23" fmla="*/ 44 h 52"/>
                <a:gd name="T24" fmla="*/ 4 w 17"/>
                <a:gd name="T25" fmla="*/ 44 h 52"/>
                <a:gd name="T26" fmla="*/ 4 w 17"/>
                <a:gd name="T27" fmla="*/ 48 h 52"/>
                <a:gd name="T28" fmla="*/ 0 w 17"/>
                <a:gd name="T29" fmla="*/ 48 h 52"/>
                <a:gd name="T30" fmla="*/ 0 w 17"/>
                <a:gd name="T31" fmla="*/ 51 h 5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
                <a:gd name="T49" fmla="*/ 0 h 52"/>
                <a:gd name="T50" fmla="*/ 17 w 17"/>
                <a:gd name="T51" fmla="*/ 52 h 5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 h="52">
                  <a:moveTo>
                    <a:pt x="0" y="51"/>
                  </a:moveTo>
                  <a:lnTo>
                    <a:pt x="0" y="51"/>
                  </a:lnTo>
                  <a:lnTo>
                    <a:pt x="0" y="24"/>
                  </a:lnTo>
                  <a:lnTo>
                    <a:pt x="0" y="15"/>
                  </a:lnTo>
                  <a:lnTo>
                    <a:pt x="0" y="8"/>
                  </a:lnTo>
                  <a:lnTo>
                    <a:pt x="4" y="2"/>
                  </a:lnTo>
                  <a:lnTo>
                    <a:pt x="4" y="0"/>
                  </a:lnTo>
                  <a:lnTo>
                    <a:pt x="11" y="0"/>
                  </a:lnTo>
                  <a:lnTo>
                    <a:pt x="16" y="0"/>
                  </a:lnTo>
                  <a:lnTo>
                    <a:pt x="11" y="20"/>
                  </a:lnTo>
                  <a:lnTo>
                    <a:pt x="11" y="39"/>
                  </a:lnTo>
                  <a:lnTo>
                    <a:pt x="11" y="44"/>
                  </a:lnTo>
                  <a:lnTo>
                    <a:pt x="4" y="44"/>
                  </a:lnTo>
                  <a:lnTo>
                    <a:pt x="4" y="48"/>
                  </a:lnTo>
                  <a:lnTo>
                    <a:pt x="0" y="48"/>
                  </a:lnTo>
                  <a:lnTo>
                    <a:pt x="0" y="51"/>
                  </a:lnTo>
                </a:path>
              </a:pathLst>
            </a:custGeom>
            <a:solidFill>
              <a:srgbClr val="BDB597"/>
            </a:solidFill>
            <a:ln w="9525" cap="rnd">
              <a:noFill/>
              <a:round/>
            </a:ln>
          </p:spPr>
          <p:txBody>
            <a:bodyPr/>
            <a:lstStyle/>
            <a:p>
              <a:endParaRPr lang="zh-CN" altLang="en-US"/>
            </a:p>
          </p:txBody>
        </p:sp>
        <p:sp>
          <p:nvSpPr>
            <p:cNvPr id="9490" name="Freeform 67"/>
            <p:cNvSpPr/>
            <p:nvPr/>
          </p:nvSpPr>
          <p:spPr bwMode="auto">
            <a:xfrm>
              <a:off x="2251" y="2320"/>
              <a:ext cx="17" cy="55"/>
            </a:xfrm>
            <a:custGeom>
              <a:avLst/>
              <a:gdLst>
                <a:gd name="T0" fmla="*/ 0 w 17"/>
                <a:gd name="T1" fmla="*/ 54 h 55"/>
                <a:gd name="T2" fmla="*/ 0 w 17"/>
                <a:gd name="T3" fmla="*/ 54 h 55"/>
                <a:gd name="T4" fmla="*/ 0 w 17"/>
                <a:gd name="T5" fmla="*/ 47 h 55"/>
                <a:gd name="T6" fmla="*/ 0 w 17"/>
                <a:gd name="T7" fmla="*/ 38 h 55"/>
                <a:gd name="T8" fmla="*/ 0 w 17"/>
                <a:gd name="T9" fmla="*/ 29 h 55"/>
                <a:gd name="T10" fmla="*/ 0 w 17"/>
                <a:gd name="T11" fmla="*/ 18 h 55"/>
                <a:gd name="T12" fmla="*/ 0 w 17"/>
                <a:gd name="T13" fmla="*/ 11 h 55"/>
                <a:gd name="T14" fmla="*/ 0 w 17"/>
                <a:gd name="T15" fmla="*/ 6 h 55"/>
                <a:gd name="T16" fmla="*/ 5 w 17"/>
                <a:gd name="T17" fmla="*/ 2 h 55"/>
                <a:gd name="T18" fmla="*/ 10 w 17"/>
                <a:gd name="T19" fmla="*/ 0 h 55"/>
                <a:gd name="T20" fmla="*/ 16 w 17"/>
                <a:gd name="T21" fmla="*/ 0 h 55"/>
                <a:gd name="T22" fmla="*/ 16 w 17"/>
                <a:gd name="T23" fmla="*/ 24 h 55"/>
                <a:gd name="T24" fmla="*/ 10 w 17"/>
                <a:gd name="T25" fmla="*/ 42 h 55"/>
                <a:gd name="T26" fmla="*/ 10 w 17"/>
                <a:gd name="T27" fmla="*/ 47 h 55"/>
                <a:gd name="T28" fmla="*/ 10 w 17"/>
                <a:gd name="T29" fmla="*/ 51 h 55"/>
                <a:gd name="T30" fmla="*/ 5 w 17"/>
                <a:gd name="T31" fmla="*/ 51 h 55"/>
                <a:gd name="T32" fmla="*/ 5 w 17"/>
                <a:gd name="T33" fmla="*/ 54 h 55"/>
                <a:gd name="T34" fmla="*/ 0 w 17"/>
                <a:gd name="T35" fmla="*/ 54 h 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55"/>
                <a:gd name="T56" fmla="*/ 17 w 17"/>
                <a:gd name="T57" fmla="*/ 55 h 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55">
                  <a:moveTo>
                    <a:pt x="0" y="54"/>
                  </a:moveTo>
                  <a:lnTo>
                    <a:pt x="0" y="54"/>
                  </a:lnTo>
                  <a:lnTo>
                    <a:pt x="0" y="47"/>
                  </a:lnTo>
                  <a:lnTo>
                    <a:pt x="0" y="38"/>
                  </a:lnTo>
                  <a:lnTo>
                    <a:pt x="0" y="29"/>
                  </a:lnTo>
                  <a:lnTo>
                    <a:pt x="0" y="18"/>
                  </a:lnTo>
                  <a:lnTo>
                    <a:pt x="0" y="11"/>
                  </a:lnTo>
                  <a:lnTo>
                    <a:pt x="0" y="6"/>
                  </a:lnTo>
                  <a:lnTo>
                    <a:pt x="5" y="2"/>
                  </a:lnTo>
                  <a:lnTo>
                    <a:pt x="10" y="0"/>
                  </a:lnTo>
                  <a:lnTo>
                    <a:pt x="16" y="0"/>
                  </a:lnTo>
                  <a:lnTo>
                    <a:pt x="16" y="24"/>
                  </a:lnTo>
                  <a:lnTo>
                    <a:pt x="10" y="42"/>
                  </a:lnTo>
                  <a:lnTo>
                    <a:pt x="10" y="47"/>
                  </a:lnTo>
                  <a:lnTo>
                    <a:pt x="10" y="51"/>
                  </a:lnTo>
                  <a:lnTo>
                    <a:pt x="5" y="51"/>
                  </a:lnTo>
                  <a:lnTo>
                    <a:pt x="5" y="54"/>
                  </a:lnTo>
                  <a:lnTo>
                    <a:pt x="0" y="54"/>
                  </a:lnTo>
                </a:path>
              </a:pathLst>
            </a:custGeom>
            <a:solidFill>
              <a:srgbClr val="BDB597"/>
            </a:solidFill>
            <a:ln w="9525" cap="rnd">
              <a:noFill/>
              <a:round/>
            </a:ln>
          </p:spPr>
          <p:txBody>
            <a:bodyPr/>
            <a:lstStyle/>
            <a:p>
              <a:endParaRPr lang="zh-CN" altLang="en-US"/>
            </a:p>
          </p:txBody>
        </p:sp>
        <p:sp>
          <p:nvSpPr>
            <p:cNvPr id="9491" name="Freeform 68"/>
            <p:cNvSpPr/>
            <p:nvPr/>
          </p:nvSpPr>
          <p:spPr bwMode="auto">
            <a:xfrm>
              <a:off x="2147" y="2390"/>
              <a:ext cx="17" cy="59"/>
            </a:xfrm>
            <a:custGeom>
              <a:avLst/>
              <a:gdLst>
                <a:gd name="T0" fmla="*/ 6 w 17"/>
                <a:gd name="T1" fmla="*/ 58 h 59"/>
                <a:gd name="T2" fmla="*/ 6 w 17"/>
                <a:gd name="T3" fmla="*/ 58 h 59"/>
                <a:gd name="T4" fmla="*/ 0 w 17"/>
                <a:gd name="T5" fmla="*/ 48 h 59"/>
                <a:gd name="T6" fmla="*/ 0 w 17"/>
                <a:gd name="T7" fmla="*/ 30 h 59"/>
                <a:gd name="T8" fmla="*/ 0 w 17"/>
                <a:gd name="T9" fmla="*/ 21 h 59"/>
                <a:gd name="T10" fmla="*/ 6 w 17"/>
                <a:gd name="T11" fmla="*/ 11 h 59"/>
                <a:gd name="T12" fmla="*/ 6 w 17"/>
                <a:gd name="T13" fmla="*/ 6 h 59"/>
                <a:gd name="T14" fmla="*/ 6 w 17"/>
                <a:gd name="T15" fmla="*/ 2 h 59"/>
                <a:gd name="T16" fmla="*/ 10 w 17"/>
                <a:gd name="T17" fmla="*/ 2 h 59"/>
                <a:gd name="T18" fmla="*/ 10 w 17"/>
                <a:gd name="T19" fmla="*/ 0 h 59"/>
                <a:gd name="T20" fmla="*/ 16 w 17"/>
                <a:gd name="T21" fmla="*/ 0 h 59"/>
                <a:gd name="T22" fmla="*/ 16 w 17"/>
                <a:gd name="T23" fmla="*/ 24 h 59"/>
                <a:gd name="T24" fmla="*/ 16 w 17"/>
                <a:gd name="T25" fmla="*/ 42 h 59"/>
                <a:gd name="T26" fmla="*/ 16 w 17"/>
                <a:gd name="T27" fmla="*/ 51 h 59"/>
                <a:gd name="T28" fmla="*/ 10 w 17"/>
                <a:gd name="T29" fmla="*/ 51 h 59"/>
                <a:gd name="T30" fmla="*/ 6 w 17"/>
                <a:gd name="T31" fmla="*/ 51 h 59"/>
                <a:gd name="T32" fmla="*/ 6 w 17"/>
                <a:gd name="T33" fmla="*/ 55 h 59"/>
                <a:gd name="T34" fmla="*/ 6 w 17"/>
                <a:gd name="T35" fmla="*/ 58 h 5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59"/>
                <a:gd name="T56" fmla="*/ 17 w 17"/>
                <a:gd name="T57" fmla="*/ 59 h 5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59">
                  <a:moveTo>
                    <a:pt x="6" y="58"/>
                  </a:moveTo>
                  <a:lnTo>
                    <a:pt x="6" y="58"/>
                  </a:lnTo>
                  <a:lnTo>
                    <a:pt x="0" y="48"/>
                  </a:lnTo>
                  <a:lnTo>
                    <a:pt x="0" y="30"/>
                  </a:lnTo>
                  <a:lnTo>
                    <a:pt x="0" y="21"/>
                  </a:lnTo>
                  <a:lnTo>
                    <a:pt x="6" y="11"/>
                  </a:lnTo>
                  <a:lnTo>
                    <a:pt x="6" y="6"/>
                  </a:lnTo>
                  <a:lnTo>
                    <a:pt x="6" y="2"/>
                  </a:lnTo>
                  <a:lnTo>
                    <a:pt x="10" y="2"/>
                  </a:lnTo>
                  <a:lnTo>
                    <a:pt x="10" y="0"/>
                  </a:lnTo>
                  <a:lnTo>
                    <a:pt x="16" y="0"/>
                  </a:lnTo>
                  <a:lnTo>
                    <a:pt x="16" y="24"/>
                  </a:lnTo>
                  <a:lnTo>
                    <a:pt x="16" y="42"/>
                  </a:lnTo>
                  <a:lnTo>
                    <a:pt x="16" y="51"/>
                  </a:lnTo>
                  <a:lnTo>
                    <a:pt x="10" y="51"/>
                  </a:lnTo>
                  <a:lnTo>
                    <a:pt x="6" y="51"/>
                  </a:lnTo>
                  <a:lnTo>
                    <a:pt x="6" y="55"/>
                  </a:lnTo>
                  <a:lnTo>
                    <a:pt x="6" y="58"/>
                  </a:lnTo>
                </a:path>
              </a:pathLst>
            </a:custGeom>
            <a:solidFill>
              <a:srgbClr val="BDB597"/>
            </a:solidFill>
            <a:ln w="9525" cap="rnd">
              <a:noFill/>
              <a:round/>
            </a:ln>
          </p:spPr>
          <p:txBody>
            <a:bodyPr/>
            <a:lstStyle/>
            <a:p>
              <a:endParaRPr lang="zh-CN" altLang="en-US"/>
            </a:p>
          </p:txBody>
        </p:sp>
        <p:sp>
          <p:nvSpPr>
            <p:cNvPr id="9492" name="Freeform 69"/>
            <p:cNvSpPr/>
            <p:nvPr/>
          </p:nvSpPr>
          <p:spPr bwMode="auto">
            <a:xfrm>
              <a:off x="2057" y="2419"/>
              <a:ext cx="43" cy="59"/>
            </a:xfrm>
            <a:custGeom>
              <a:avLst/>
              <a:gdLst>
                <a:gd name="T0" fmla="*/ 42 w 43"/>
                <a:gd name="T1" fmla="*/ 58 h 59"/>
                <a:gd name="T2" fmla="*/ 42 w 43"/>
                <a:gd name="T3" fmla="*/ 58 h 59"/>
                <a:gd name="T4" fmla="*/ 0 w 43"/>
                <a:gd name="T5" fmla="*/ 51 h 59"/>
                <a:gd name="T6" fmla="*/ 0 w 43"/>
                <a:gd name="T7" fmla="*/ 0 h 59"/>
                <a:gd name="T8" fmla="*/ 42 w 43"/>
                <a:gd name="T9" fmla="*/ 8 h 59"/>
                <a:gd name="T10" fmla="*/ 42 w 43"/>
                <a:gd name="T11" fmla="*/ 58 h 59"/>
                <a:gd name="T12" fmla="*/ 0 60000 65536"/>
                <a:gd name="T13" fmla="*/ 0 60000 65536"/>
                <a:gd name="T14" fmla="*/ 0 60000 65536"/>
                <a:gd name="T15" fmla="*/ 0 60000 65536"/>
                <a:gd name="T16" fmla="*/ 0 60000 65536"/>
                <a:gd name="T17" fmla="*/ 0 60000 65536"/>
                <a:gd name="T18" fmla="*/ 0 w 43"/>
                <a:gd name="T19" fmla="*/ 0 h 59"/>
                <a:gd name="T20" fmla="*/ 43 w 43"/>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43" h="59">
                  <a:moveTo>
                    <a:pt x="42" y="58"/>
                  </a:moveTo>
                  <a:lnTo>
                    <a:pt x="42" y="58"/>
                  </a:lnTo>
                  <a:lnTo>
                    <a:pt x="0" y="51"/>
                  </a:lnTo>
                  <a:lnTo>
                    <a:pt x="0" y="0"/>
                  </a:lnTo>
                  <a:lnTo>
                    <a:pt x="42" y="8"/>
                  </a:lnTo>
                  <a:lnTo>
                    <a:pt x="42" y="58"/>
                  </a:lnTo>
                </a:path>
              </a:pathLst>
            </a:custGeom>
            <a:solidFill>
              <a:srgbClr val="9E0005"/>
            </a:solidFill>
            <a:ln w="9525" cap="rnd">
              <a:noFill/>
              <a:round/>
            </a:ln>
          </p:spPr>
          <p:txBody>
            <a:bodyPr/>
            <a:lstStyle/>
            <a:p>
              <a:endParaRPr lang="zh-CN" altLang="en-US"/>
            </a:p>
          </p:txBody>
        </p:sp>
        <p:sp>
          <p:nvSpPr>
            <p:cNvPr id="9493" name="Freeform 70"/>
            <p:cNvSpPr/>
            <p:nvPr/>
          </p:nvSpPr>
          <p:spPr bwMode="auto">
            <a:xfrm>
              <a:off x="2053" y="2474"/>
              <a:ext cx="47" cy="17"/>
            </a:xfrm>
            <a:custGeom>
              <a:avLst/>
              <a:gdLst>
                <a:gd name="T0" fmla="*/ 43 w 47"/>
                <a:gd name="T1" fmla="*/ 16 h 17"/>
                <a:gd name="T2" fmla="*/ 43 w 47"/>
                <a:gd name="T3" fmla="*/ 16 h 17"/>
                <a:gd name="T4" fmla="*/ 46 w 47"/>
                <a:gd name="T5" fmla="*/ 16 h 17"/>
                <a:gd name="T6" fmla="*/ 46 w 47"/>
                <a:gd name="T7" fmla="*/ 12 h 17"/>
                <a:gd name="T8" fmla="*/ 46 w 47"/>
                <a:gd name="T9" fmla="*/ 9 h 17"/>
                <a:gd name="T10" fmla="*/ 46 w 47"/>
                <a:gd name="T11" fmla="*/ 6 h 17"/>
                <a:gd name="T12" fmla="*/ 24 w 47"/>
                <a:gd name="T13" fmla="*/ 3 h 17"/>
                <a:gd name="T14" fmla="*/ 8 w 47"/>
                <a:gd name="T15" fmla="*/ 0 h 17"/>
                <a:gd name="T16" fmla="*/ 2 w 47"/>
                <a:gd name="T17" fmla="*/ 0 h 17"/>
                <a:gd name="T18" fmla="*/ 0 w 47"/>
                <a:gd name="T19" fmla="*/ 0 h 17"/>
                <a:gd name="T20" fmla="*/ 0 w 47"/>
                <a:gd name="T21" fmla="*/ 3 h 17"/>
                <a:gd name="T22" fmla="*/ 0 w 47"/>
                <a:gd name="T23" fmla="*/ 6 h 17"/>
                <a:gd name="T24" fmla="*/ 2 w 47"/>
                <a:gd name="T25" fmla="*/ 6 h 17"/>
                <a:gd name="T26" fmla="*/ 8 w 47"/>
                <a:gd name="T27" fmla="*/ 9 h 17"/>
                <a:gd name="T28" fmla="*/ 21 w 47"/>
                <a:gd name="T29" fmla="*/ 9 h 17"/>
                <a:gd name="T30" fmla="*/ 29 w 47"/>
                <a:gd name="T31" fmla="*/ 9 h 17"/>
                <a:gd name="T32" fmla="*/ 32 w 47"/>
                <a:gd name="T33" fmla="*/ 12 h 17"/>
                <a:gd name="T34" fmla="*/ 35 w 47"/>
                <a:gd name="T35" fmla="*/ 12 h 17"/>
                <a:gd name="T36" fmla="*/ 37 w 47"/>
                <a:gd name="T37" fmla="*/ 12 h 17"/>
                <a:gd name="T38" fmla="*/ 40 w 47"/>
                <a:gd name="T39" fmla="*/ 12 h 17"/>
                <a:gd name="T40" fmla="*/ 43 w 47"/>
                <a:gd name="T41" fmla="*/ 12 h 17"/>
                <a:gd name="T42" fmla="*/ 43 w 47"/>
                <a:gd name="T43" fmla="*/ 16 h 1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7"/>
                <a:gd name="T67" fmla="*/ 0 h 17"/>
                <a:gd name="T68" fmla="*/ 47 w 47"/>
                <a:gd name="T69" fmla="*/ 17 h 1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7" h="17">
                  <a:moveTo>
                    <a:pt x="43" y="16"/>
                  </a:moveTo>
                  <a:lnTo>
                    <a:pt x="43" y="16"/>
                  </a:lnTo>
                  <a:lnTo>
                    <a:pt x="46" y="16"/>
                  </a:lnTo>
                  <a:lnTo>
                    <a:pt x="46" y="12"/>
                  </a:lnTo>
                  <a:lnTo>
                    <a:pt x="46" y="9"/>
                  </a:lnTo>
                  <a:lnTo>
                    <a:pt x="46" y="6"/>
                  </a:lnTo>
                  <a:lnTo>
                    <a:pt x="24" y="3"/>
                  </a:lnTo>
                  <a:lnTo>
                    <a:pt x="8" y="0"/>
                  </a:lnTo>
                  <a:lnTo>
                    <a:pt x="2" y="0"/>
                  </a:lnTo>
                  <a:lnTo>
                    <a:pt x="0" y="0"/>
                  </a:lnTo>
                  <a:lnTo>
                    <a:pt x="0" y="3"/>
                  </a:lnTo>
                  <a:lnTo>
                    <a:pt x="0" y="6"/>
                  </a:lnTo>
                  <a:lnTo>
                    <a:pt x="2" y="6"/>
                  </a:lnTo>
                  <a:lnTo>
                    <a:pt x="8" y="9"/>
                  </a:lnTo>
                  <a:lnTo>
                    <a:pt x="21" y="9"/>
                  </a:lnTo>
                  <a:lnTo>
                    <a:pt x="29" y="9"/>
                  </a:lnTo>
                  <a:lnTo>
                    <a:pt x="32" y="12"/>
                  </a:lnTo>
                  <a:lnTo>
                    <a:pt x="35" y="12"/>
                  </a:lnTo>
                  <a:lnTo>
                    <a:pt x="37" y="12"/>
                  </a:lnTo>
                  <a:lnTo>
                    <a:pt x="40" y="12"/>
                  </a:lnTo>
                  <a:lnTo>
                    <a:pt x="43" y="12"/>
                  </a:lnTo>
                  <a:lnTo>
                    <a:pt x="43" y="16"/>
                  </a:lnTo>
                </a:path>
              </a:pathLst>
            </a:custGeom>
            <a:solidFill>
              <a:srgbClr val="BDB597"/>
            </a:solidFill>
            <a:ln w="9525" cap="rnd">
              <a:noFill/>
              <a:round/>
            </a:ln>
          </p:spPr>
          <p:txBody>
            <a:bodyPr/>
            <a:lstStyle/>
            <a:p>
              <a:endParaRPr lang="zh-CN" altLang="en-US"/>
            </a:p>
          </p:txBody>
        </p:sp>
        <p:sp>
          <p:nvSpPr>
            <p:cNvPr id="9494" name="Freeform 71"/>
            <p:cNvSpPr/>
            <p:nvPr/>
          </p:nvSpPr>
          <p:spPr bwMode="auto">
            <a:xfrm>
              <a:off x="2053" y="2413"/>
              <a:ext cx="47" cy="17"/>
            </a:xfrm>
            <a:custGeom>
              <a:avLst/>
              <a:gdLst>
                <a:gd name="T0" fmla="*/ 46 w 47"/>
                <a:gd name="T1" fmla="*/ 16 h 17"/>
                <a:gd name="T2" fmla="*/ 46 w 47"/>
                <a:gd name="T3" fmla="*/ 16 h 17"/>
                <a:gd name="T4" fmla="*/ 46 w 47"/>
                <a:gd name="T5" fmla="*/ 12 h 17"/>
                <a:gd name="T6" fmla="*/ 46 w 47"/>
                <a:gd name="T7" fmla="*/ 9 h 17"/>
                <a:gd name="T8" fmla="*/ 24 w 47"/>
                <a:gd name="T9" fmla="*/ 3 h 17"/>
                <a:gd name="T10" fmla="*/ 2 w 47"/>
                <a:gd name="T11" fmla="*/ 0 h 17"/>
                <a:gd name="T12" fmla="*/ 0 w 47"/>
                <a:gd name="T13" fmla="*/ 0 h 17"/>
                <a:gd name="T14" fmla="*/ 0 w 47"/>
                <a:gd name="T15" fmla="*/ 3 h 17"/>
                <a:gd name="T16" fmla="*/ 0 w 47"/>
                <a:gd name="T17" fmla="*/ 6 h 17"/>
                <a:gd name="T18" fmla="*/ 2 w 47"/>
                <a:gd name="T19" fmla="*/ 6 h 17"/>
                <a:gd name="T20" fmla="*/ 8 w 47"/>
                <a:gd name="T21" fmla="*/ 9 h 17"/>
                <a:gd name="T22" fmla="*/ 21 w 47"/>
                <a:gd name="T23" fmla="*/ 9 h 17"/>
                <a:gd name="T24" fmla="*/ 29 w 47"/>
                <a:gd name="T25" fmla="*/ 12 h 17"/>
                <a:gd name="T26" fmla="*/ 32 w 47"/>
                <a:gd name="T27" fmla="*/ 12 h 17"/>
                <a:gd name="T28" fmla="*/ 35 w 47"/>
                <a:gd name="T29" fmla="*/ 12 h 17"/>
                <a:gd name="T30" fmla="*/ 40 w 47"/>
                <a:gd name="T31" fmla="*/ 12 h 17"/>
                <a:gd name="T32" fmla="*/ 40 w 47"/>
                <a:gd name="T33" fmla="*/ 16 h 17"/>
                <a:gd name="T34" fmla="*/ 43 w 47"/>
                <a:gd name="T35" fmla="*/ 16 h 17"/>
                <a:gd name="T36" fmla="*/ 46 w 47"/>
                <a:gd name="T37" fmla="*/ 16 h 1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7"/>
                <a:gd name="T58" fmla="*/ 0 h 17"/>
                <a:gd name="T59" fmla="*/ 47 w 47"/>
                <a:gd name="T60" fmla="*/ 17 h 1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7" h="17">
                  <a:moveTo>
                    <a:pt x="46" y="16"/>
                  </a:moveTo>
                  <a:lnTo>
                    <a:pt x="46" y="16"/>
                  </a:lnTo>
                  <a:lnTo>
                    <a:pt x="46" y="12"/>
                  </a:lnTo>
                  <a:lnTo>
                    <a:pt x="46" y="9"/>
                  </a:lnTo>
                  <a:lnTo>
                    <a:pt x="24" y="3"/>
                  </a:lnTo>
                  <a:lnTo>
                    <a:pt x="2" y="0"/>
                  </a:lnTo>
                  <a:lnTo>
                    <a:pt x="0" y="0"/>
                  </a:lnTo>
                  <a:lnTo>
                    <a:pt x="0" y="3"/>
                  </a:lnTo>
                  <a:lnTo>
                    <a:pt x="0" y="6"/>
                  </a:lnTo>
                  <a:lnTo>
                    <a:pt x="2" y="6"/>
                  </a:lnTo>
                  <a:lnTo>
                    <a:pt x="8" y="9"/>
                  </a:lnTo>
                  <a:lnTo>
                    <a:pt x="21" y="9"/>
                  </a:lnTo>
                  <a:lnTo>
                    <a:pt x="29" y="12"/>
                  </a:lnTo>
                  <a:lnTo>
                    <a:pt x="32" y="12"/>
                  </a:lnTo>
                  <a:lnTo>
                    <a:pt x="35" y="12"/>
                  </a:lnTo>
                  <a:lnTo>
                    <a:pt x="40" y="12"/>
                  </a:lnTo>
                  <a:lnTo>
                    <a:pt x="40" y="16"/>
                  </a:lnTo>
                  <a:lnTo>
                    <a:pt x="43" y="16"/>
                  </a:lnTo>
                  <a:lnTo>
                    <a:pt x="46" y="16"/>
                  </a:lnTo>
                </a:path>
              </a:pathLst>
            </a:custGeom>
            <a:solidFill>
              <a:srgbClr val="BDB597"/>
            </a:solidFill>
            <a:ln w="9525" cap="rnd">
              <a:noFill/>
              <a:round/>
            </a:ln>
          </p:spPr>
          <p:txBody>
            <a:bodyPr/>
            <a:lstStyle/>
            <a:p>
              <a:endParaRPr lang="zh-CN" altLang="en-US"/>
            </a:p>
          </p:txBody>
        </p:sp>
        <p:grpSp>
          <p:nvGrpSpPr>
            <p:cNvPr id="10" name="Group 72"/>
            <p:cNvGrpSpPr/>
            <p:nvPr/>
          </p:nvGrpSpPr>
          <p:grpSpPr bwMode="auto">
            <a:xfrm>
              <a:off x="2053" y="2026"/>
              <a:ext cx="478" cy="390"/>
              <a:chOff x="2053" y="2026"/>
              <a:chExt cx="478" cy="390"/>
            </a:xfrm>
          </p:grpSpPr>
          <p:sp>
            <p:nvSpPr>
              <p:cNvPr id="9599" name="Freeform 73"/>
              <p:cNvSpPr/>
              <p:nvPr/>
            </p:nvSpPr>
            <p:spPr bwMode="auto">
              <a:xfrm>
                <a:off x="2489" y="2090"/>
                <a:ext cx="38" cy="71"/>
              </a:xfrm>
              <a:custGeom>
                <a:avLst/>
                <a:gdLst>
                  <a:gd name="T0" fmla="*/ 0 w 38"/>
                  <a:gd name="T1" fmla="*/ 70 h 71"/>
                  <a:gd name="T2" fmla="*/ 0 w 38"/>
                  <a:gd name="T3" fmla="*/ 70 h 71"/>
                  <a:gd name="T4" fmla="*/ 2 w 38"/>
                  <a:gd name="T5" fmla="*/ 21 h 71"/>
                  <a:gd name="T6" fmla="*/ 37 w 38"/>
                  <a:gd name="T7" fmla="*/ 0 h 71"/>
                  <a:gd name="T8" fmla="*/ 34 w 38"/>
                  <a:gd name="T9" fmla="*/ 45 h 71"/>
                  <a:gd name="T10" fmla="*/ 0 w 38"/>
                  <a:gd name="T11" fmla="*/ 70 h 71"/>
                  <a:gd name="T12" fmla="*/ 0 60000 65536"/>
                  <a:gd name="T13" fmla="*/ 0 60000 65536"/>
                  <a:gd name="T14" fmla="*/ 0 60000 65536"/>
                  <a:gd name="T15" fmla="*/ 0 60000 65536"/>
                  <a:gd name="T16" fmla="*/ 0 60000 65536"/>
                  <a:gd name="T17" fmla="*/ 0 60000 65536"/>
                  <a:gd name="T18" fmla="*/ 0 w 38"/>
                  <a:gd name="T19" fmla="*/ 0 h 71"/>
                  <a:gd name="T20" fmla="*/ 38 w 38"/>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38" h="71">
                    <a:moveTo>
                      <a:pt x="0" y="70"/>
                    </a:moveTo>
                    <a:lnTo>
                      <a:pt x="0" y="70"/>
                    </a:lnTo>
                    <a:lnTo>
                      <a:pt x="2" y="21"/>
                    </a:lnTo>
                    <a:lnTo>
                      <a:pt x="37" y="0"/>
                    </a:lnTo>
                    <a:lnTo>
                      <a:pt x="34" y="45"/>
                    </a:lnTo>
                    <a:lnTo>
                      <a:pt x="0" y="70"/>
                    </a:lnTo>
                  </a:path>
                </a:pathLst>
              </a:custGeom>
              <a:solidFill>
                <a:srgbClr val="BB1A50"/>
              </a:solidFill>
              <a:ln w="9525" cap="rnd">
                <a:noFill/>
                <a:round/>
              </a:ln>
            </p:spPr>
            <p:txBody>
              <a:bodyPr/>
              <a:lstStyle/>
              <a:p>
                <a:endParaRPr lang="zh-CN" altLang="en-US"/>
              </a:p>
            </p:txBody>
          </p:sp>
          <p:sp>
            <p:nvSpPr>
              <p:cNvPr id="9600" name="Freeform 74"/>
              <p:cNvSpPr/>
              <p:nvPr/>
            </p:nvSpPr>
            <p:spPr bwMode="auto">
              <a:xfrm>
                <a:off x="2457" y="2098"/>
                <a:ext cx="33" cy="63"/>
              </a:xfrm>
              <a:custGeom>
                <a:avLst/>
                <a:gdLst>
                  <a:gd name="T0" fmla="*/ 29 w 33"/>
                  <a:gd name="T1" fmla="*/ 62 h 63"/>
                  <a:gd name="T2" fmla="*/ 29 w 33"/>
                  <a:gd name="T3" fmla="*/ 62 h 63"/>
                  <a:gd name="T4" fmla="*/ 0 w 33"/>
                  <a:gd name="T5" fmla="*/ 49 h 63"/>
                  <a:gd name="T6" fmla="*/ 2 w 33"/>
                  <a:gd name="T7" fmla="*/ 0 h 63"/>
                  <a:gd name="T8" fmla="*/ 32 w 33"/>
                  <a:gd name="T9" fmla="*/ 12 h 63"/>
                  <a:gd name="T10" fmla="*/ 29 w 33"/>
                  <a:gd name="T11" fmla="*/ 62 h 63"/>
                  <a:gd name="T12" fmla="*/ 0 60000 65536"/>
                  <a:gd name="T13" fmla="*/ 0 60000 65536"/>
                  <a:gd name="T14" fmla="*/ 0 60000 65536"/>
                  <a:gd name="T15" fmla="*/ 0 60000 65536"/>
                  <a:gd name="T16" fmla="*/ 0 60000 65536"/>
                  <a:gd name="T17" fmla="*/ 0 60000 65536"/>
                  <a:gd name="T18" fmla="*/ 0 w 33"/>
                  <a:gd name="T19" fmla="*/ 0 h 63"/>
                  <a:gd name="T20" fmla="*/ 33 w 33"/>
                  <a:gd name="T21" fmla="*/ 63 h 63"/>
                </a:gdLst>
                <a:ahLst/>
                <a:cxnLst>
                  <a:cxn ang="T12">
                    <a:pos x="T0" y="T1"/>
                  </a:cxn>
                  <a:cxn ang="T13">
                    <a:pos x="T2" y="T3"/>
                  </a:cxn>
                  <a:cxn ang="T14">
                    <a:pos x="T4" y="T5"/>
                  </a:cxn>
                  <a:cxn ang="T15">
                    <a:pos x="T6" y="T7"/>
                  </a:cxn>
                  <a:cxn ang="T16">
                    <a:pos x="T8" y="T9"/>
                  </a:cxn>
                  <a:cxn ang="T17">
                    <a:pos x="T10" y="T11"/>
                  </a:cxn>
                </a:cxnLst>
                <a:rect l="T18" t="T19" r="T20" b="T21"/>
                <a:pathLst>
                  <a:path w="33" h="63">
                    <a:moveTo>
                      <a:pt x="29" y="62"/>
                    </a:moveTo>
                    <a:lnTo>
                      <a:pt x="29" y="62"/>
                    </a:lnTo>
                    <a:lnTo>
                      <a:pt x="0" y="49"/>
                    </a:lnTo>
                    <a:lnTo>
                      <a:pt x="2" y="0"/>
                    </a:lnTo>
                    <a:lnTo>
                      <a:pt x="32" y="12"/>
                    </a:lnTo>
                    <a:lnTo>
                      <a:pt x="29" y="62"/>
                    </a:lnTo>
                  </a:path>
                </a:pathLst>
              </a:custGeom>
              <a:solidFill>
                <a:srgbClr val="9E0005"/>
              </a:solidFill>
              <a:ln w="9525" cap="rnd">
                <a:noFill/>
                <a:round/>
              </a:ln>
            </p:spPr>
            <p:txBody>
              <a:bodyPr/>
              <a:lstStyle/>
              <a:p>
                <a:endParaRPr lang="zh-CN" altLang="en-US"/>
              </a:p>
            </p:txBody>
          </p:sp>
          <p:sp>
            <p:nvSpPr>
              <p:cNvPr id="9601" name="Freeform 75"/>
              <p:cNvSpPr/>
              <p:nvPr/>
            </p:nvSpPr>
            <p:spPr bwMode="auto">
              <a:xfrm>
                <a:off x="2460" y="2077"/>
                <a:ext cx="67" cy="33"/>
              </a:xfrm>
              <a:custGeom>
                <a:avLst/>
                <a:gdLst>
                  <a:gd name="T0" fmla="*/ 30 w 67"/>
                  <a:gd name="T1" fmla="*/ 32 h 33"/>
                  <a:gd name="T2" fmla="*/ 30 w 67"/>
                  <a:gd name="T3" fmla="*/ 32 h 33"/>
                  <a:gd name="T4" fmla="*/ 0 w 67"/>
                  <a:gd name="T5" fmla="*/ 20 h 33"/>
                  <a:gd name="T6" fmla="*/ 35 w 67"/>
                  <a:gd name="T7" fmla="*/ 0 h 33"/>
                  <a:gd name="T8" fmla="*/ 66 w 67"/>
                  <a:gd name="T9" fmla="*/ 14 h 33"/>
                  <a:gd name="T10" fmla="*/ 30 w 67"/>
                  <a:gd name="T11" fmla="*/ 32 h 33"/>
                  <a:gd name="T12" fmla="*/ 0 60000 65536"/>
                  <a:gd name="T13" fmla="*/ 0 60000 65536"/>
                  <a:gd name="T14" fmla="*/ 0 60000 65536"/>
                  <a:gd name="T15" fmla="*/ 0 60000 65536"/>
                  <a:gd name="T16" fmla="*/ 0 60000 65536"/>
                  <a:gd name="T17" fmla="*/ 0 60000 65536"/>
                  <a:gd name="T18" fmla="*/ 0 w 67"/>
                  <a:gd name="T19" fmla="*/ 0 h 33"/>
                  <a:gd name="T20" fmla="*/ 67 w 67"/>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67" h="33">
                    <a:moveTo>
                      <a:pt x="30" y="32"/>
                    </a:moveTo>
                    <a:lnTo>
                      <a:pt x="30" y="32"/>
                    </a:lnTo>
                    <a:lnTo>
                      <a:pt x="0" y="20"/>
                    </a:lnTo>
                    <a:lnTo>
                      <a:pt x="35" y="0"/>
                    </a:lnTo>
                    <a:lnTo>
                      <a:pt x="66" y="14"/>
                    </a:lnTo>
                    <a:lnTo>
                      <a:pt x="30" y="32"/>
                    </a:lnTo>
                  </a:path>
                </a:pathLst>
              </a:custGeom>
              <a:solidFill>
                <a:srgbClr val="CF5C82"/>
              </a:solidFill>
              <a:ln w="9525" cap="rnd">
                <a:noFill/>
                <a:round/>
              </a:ln>
            </p:spPr>
            <p:txBody>
              <a:bodyPr/>
              <a:lstStyle/>
              <a:p>
                <a:endParaRPr lang="zh-CN" altLang="en-US"/>
              </a:p>
            </p:txBody>
          </p:sp>
          <p:grpSp>
            <p:nvGrpSpPr>
              <p:cNvPr id="11" name="Group 76"/>
              <p:cNvGrpSpPr/>
              <p:nvPr/>
            </p:nvGrpSpPr>
            <p:grpSpPr bwMode="auto">
              <a:xfrm>
                <a:off x="2368" y="2105"/>
                <a:ext cx="118" cy="113"/>
                <a:chOff x="2368" y="2105"/>
                <a:chExt cx="118" cy="113"/>
              </a:xfrm>
            </p:grpSpPr>
            <p:sp>
              <p:nvSpPr>
                <p:cNvPr id="9646" name="Freeform 77"/>
                <p:cNvSpPr/>
                <p:nvPr/>
              </p:nvSpPr>
              <p:spPr bwMode="auto">
                <a:xfrm>
                  <a:off x="2404" y="2118"/>
                  <a:ext cx="82" cy="100"/>
                </a:xfrm>
                <a:custGeom>
                  <a:avLst/>
                  <a:gdLst>
                    <a:gd name="T0" fmla="*/ 0 w 82"/>
                    <a:gd name="T1" fmla="*/ 99 h 100"/>
                    <a:gd name="T2" fmla="*/ 0 w 82"/>
                    <a:gd name="T3" fmla="*/ 99 h 100"/>
                    <a:gd name="T4" fmla="*/ 2 w 82"/>
                    <a:gd name="T5" fmla="*/ 49 h 100"/>
                    <a:gd name="T6" fmla="*/ 81 w 82"/>
                    <a:gd name="T7" fmla="*/ 0 h 100"/>
                    <a:gd name="T8" fmla="*/ 78 w 82"/>
                    <a:gd name="T9" fmla="*/ 49 h 100"/>
                    <a:gd name="T10" fmla="*/ 0 w 82"/>
                    <a:gd name="T11" fmla="*/ 99 h 100"/>
                    <a:gd name="T12" fmla="*/ 0 60000 65536"/>
                    <a:gd name="T13" fmla="*/ 0 60000 65536"/>
                    <a:gd name="T14" fmla="*/ 0 60000 65536"/>
                    <a:gd name="T15" fmla="*/ 0 60000 65536"/>
                    <a:gd name="T16" fmla="*/ 0 60000 65536"/>
                    <a:gd name="T17" fmla="*/ 0 60000 65536"/>
                    <a:gd name="T18" fmla="*/ 0 w 82"/>
                    <a:gd name="T19" fmla="*/ 0 h 100"/>
                    <a:gd name="T20" fmla="*/ 82 w 82"/>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82" h="100">
                      <a:moveTo>
                        <a:pt x="0" y="99"/>
                      </a:moveTo>
                      <a:lnTo>
                        <a:pt x="0" y="99"/>
                      </a:lnTo>
                      <a:lnTo>
                        <a:pt x="2" y="49"/>
                      </a:lnTo>
                      <a:lnTo>
                        <a:pt x="81" y="0"/>
                      </a:lnTo>
                      <a:lnTo>
                        <a:pt x="78" y="49"/>
                      </a:lnTo>
                      <a:lnTo>
                        <a:pt x="0" y="99"/>
                      </a:lnTo>
                    </a:path>
                  </a:pathLst>
                </a:custGeom>
                <a:solidFill>
                  <a:srgbClr val="BB1A50"/>
                </a:solidFill>
                <a:ln w="9525" cap="rnd">
                  <a:noFill/>
                  <a:round/>
                </a:ln>
              </p:spPr>
              <p:txBody>
                <a:bodyPr/>
                <a:lstStyle/>
                <a:p>
                  <a:endParaRPr lang="zh-CN" altLang="en-US"/>
                </a:p>
              </p:txBody>
            </p:sp>
            <p:sp>
              <p:nvSpPr>
                <p:cNvPr id="9647" name="Freeform 78"/>
                <p:cNvSpPr/>
                <p:nvPr/>
              </p:nvSpPr>
              <p:spPr bwMode="auto">
                <a:xfrm>
                  <a:off x="2368" y="2157"/>
                  <a:ext cx="36" cy="61"/>
                </a:xfrm>
                <a:custGeom>
                  <a:avLst/>
                  <a:gdLst>
                    <a:gd name="T0" fmla="*/ 32 w 36"/>
                    <a:gd name="T1" fmla="*/ 60 h 61"/>
                    <a:gd name="T2" fmla="*/ 32 w 36"/>
                    <a:gd name="T3" fmla="*/ 60 h 61"/>
                    <a:gd name="T4" fmla="*/ 0 w 36"/>
                    <a:gd name="T5" fmla="*/ 48 h 61"/>
                    <a:gd name="T6" fmla="*/ 0 w 36"/>
                    <a:gd name="T7" fmla="*/ 0 h 61"/>
                    <a:gd name="T8" fmla="*/ 35 w 36"/>
                    <a:gd name="T9" fmla="*/ 11 h 61"/>
                    <a:gd name="T10" fmla="*/ 32 w 36"/>
                    <a:gd name="T11" fmla="*/ 60 h 61"/>
                    <a:gd name="T12" fmla="*/ 0 60000 65536"/>
                    <a:gd name="T13" fmla="*/ 0 60000 65536"/>
                    <a:gd name="T14" fmla="*/ 0 60000 65536"/>
                    <a:gd name="T15" fmla="*/ 0 60000 65536"/>
                    <a:gd name="T16" fmla="*/ 0 60000 65536"/>
                    <a:gd name="T17" fmla="*/ 0 60000 65536"/>
                    <a:gd name="T18" fmla="*/ 0 w 36"/>
                    <a:gd name="T19" fmla="*/ 0 h 61"/>
                    <a:gd name="T20" fmla="*/ 36 w 36"/>
                    <a:gd name="T21" fmla="*/ 61 h 61"/>
                  </a:gdLst>
                  <a:ahLst/>
                  <a:cxnLst>
                    <a:cxn ang="T12">
                      <a:pos x="T0" y="T1"/>
                    </a:cxn>
                    <a:cxn ang="T13">
                      <a:pos x="T2" y="T3"/>
                    </a:cxn>
                    <a:cxn ang="T14">
                      <a:pos x="T4" y="T5"/>
                    </a:cxn>
                    <a:cxn ang="T15">
                      <a:pos x="T6" y="T7"/>
                    </a:cxn>
                    <a:cxn ang="T16">
                      <a:pos x="T8" y="T9"/>
                    </a:cxn>
                    <a:cxn ang="T17">
                      <a:pos x="T10" y="T11"/>
                    </a:cxn>
                  </a:cxnLst>
                  <a:rect l="T18" t="T19" r="T20" b="T21"/>
                  <a:pathLst>
                    <a:path w="36" h="61">
                      <a:moveTo>
                        <a:pt x="32" y="60"/>
                      </a:moveTo>
                      <a:lnTo>
                        <a:pt x="32" y="60"/>
                      </a:lnTo>
                      <a:lnTo>
                        <a:pt x="0" y="48"/>
                      </a:lnTo>
                      <a:lnTo>
                        <a:pt x="0" y="0"/>
                      </a:lnTo>
                      <a:lnTo>
                        <a:pt x="35" y="11"/>
                      </a:lnTo>
                      <a:lnTo>
                        <a:pt x="32" y="60"/>
                      </a:lnTo>
                    </a:path>
                  </a:pathLst>
                </a:custGeom>
                <a:solidFill>
                  <a:srgbClr val="9E0005"/>
                </a:solidFill>
                <a:ln w="9525" cap="rnd">
                  <a:noFill/>
                  <a:round/>
                </a:ln>
              </p:spPr>
              <p:txBody>
                <a:bodyPr/>
                <a:lstStyle/>
                <a:p>
                  <a:endParaRPr lang="zh-CN" altLang="en-US"/>
                </a:p>
              </p:txBody>
            </p:sp>
            <p:sp>
              <p:nvSpPr>
                <p:cNvPr id="9648" name="Freeform 79"/>
                <p:cNvSpPr/>
                <p:nvPr/>
              </p:nvSpPr>
              <p:spPr bwMode="auto">
                <a:xfrm>
                  <a:off x="2369" y="2105"/>
                  <a:ext cx="117" cy="63"/>
                </a:xfrm>
                <a:custGeom>
                  <a:avLst/>
                  <a:gdLst>
                    <a:gd name="T0" fmla="*/ 36 w 117"/>
                    <a:gd name="T1" fmla="*/ 62 h 63"/>
                    <a:gd name="T2" fmla="*/ 36 w 117"/>
                    <a:gd name="T3" fmla="*/ 62 h 63"/>
                    <a:gd name="T4" fmla="*/ 0 w 117"/>
                    <a:gd name="T5" fmla="*/ 49 h 63"/>
                    <a:gd name="T6" fmla="*/ 83 w 117"/>
                    <a:gd name="T7" fmla="*/ 0 h 63"/>
                    <a:gd name="T8" fmla="*/ 116 w 117"/>
                    <a:gd name="T9" fmla="*/ 12 h 63"/>
                    <a:gd name="T10" fmla="*/ 36 w 117"/>
                    <a:gd name="T11" fmla="*/ 62 h 63"/>
                    <a:gd name="T12" fmla="*/ 0 60000 65536"/>
                    <a:gd name="T13" fmla="*/ 0 60000 65536"/>
                    <a:gd name="T14" fmla="*/ 0 60000 65536"/>
                    <a:gd name="T15" fmla="*/ 0 60000 65536"/>
                    <a:gd name="T16" fmla="*/ 0 60000 65536"/>
                    <a:gd name="T17" fmla="*/ 0 60000 65536"/>
                    <a:gd name="T18" fmla="*/ 0 w 117"/>
                    <a:gd name="T19" fmla="*/ 0 h 63"/>
                    <a:gd name="T20" fmla="*/ 117 w 117"/>
                    <a:gd name="T21" fmla="*/ 63 h 63"/>
                  </a:gdLst>
                  <a:ahLst/>
                  <a:cxnLst>
                    <a:cxn ang="T12">
                      <a:pos x="T0" y="T1"/>
                    </a:cxn>
                    <a:cxn ang="T13">
                      <a:pos x="T2" y="T3"/>
                    </a:cxn>
                    <a:cxn ang="T14">
                      <a:pos x="T4" y="T5"/>
                    </a:cxn>
                    <a:cxn ang="T15">
                      <a:pos x="T6" y="T7"/>
                    </a:cxn>
                    <a:cxn ang="T16">
                      <a:pos x="T8" y="T9"/>
                    </a:cxn>
                    <a:cxn ang="T17">
                      <a:pos x="T10" y="T11"/>
                    </a:cxn>
                  </a:cxnLst>
                  <a:rect l="T18" t="T19" r="T20" b="T21"/>
                  <a:pathLst>
                    <a:path w="117" h="63">
                      <a:moveTo>
                        <a:pt x="36" y="62"/>
                      </a:moveTo>
                      <a:lnTo>
                        <a:pt x="36" y="62"/>
                      </a:lnTo>
                      <a:lnTo>
                        <a:pt x="0" y="49"/>
                      </a:lnTo>
                      <a:lnTo>
                        <a:pt x="83" y="0"/>
                      </a:lnTo>
                      <a:lnTo>
                        <a:pt x="116" y="12"/>
                      </a:lnTo>
                      <a:lnTo>
                        <a:pt x="36" y="62"/>
                      </a:lnTo>
                    </a:path>
                  </a:pathLst>
                </a:custGeom>
                <a:solidFill>
                  <a:srgbClr val="CF5C82"/>
                </a:solidFill>
                <a:ln w="9525" cap="rnd">
                  <a:noFill/>
                  <a:round/>
                </a:ln>
              </p:spPr>
              <p:txBody>
                <a:bodyPr/>
                <a:lstStyle/>
                <a:p>
                  <a:endParaRPr lang="zh-CN" altLang="en-US"/>
                </a:p>
              </p:txBody>
            </p:sp>
          </p:grpSp>
          <p:grpSp>
            <p:nvGrpSpPr>
              <p:cNvPr id="12" name="Group 80"/>
              <p:cNvGrpSpPr/>
              <p:nvPr/>
            </p:nvGrpSpPr>
            <p:grpSpPr bwMode="auto">
              <a:xfrm>
                <a:off x="2272" y="2162"/>
                <a:ext cx="126" cy="117"/>
                <a:chOff x="2272" y="2162"/>
                <a:chExt cx="126" cy="117"/>
              </a:xfrm>
            </p:grpSpPr>
            <p:sp>
              <p:nvSpPr>
                <p:cNvPr id="9643" name="Freeform 81"/>
                <p:cNvSpPr/>
                <p:nvPr/>
              </p:nvSpPr>
              <p:spPr bwMode="auto">
                <a:xfrm>
                  <a:off x="2310" y="2176"/>
                  <a:ext cx="88" cy="103"/>
                </a:xfrm>
                <a:custGeom>
                  <a:avLst/>
                  <a:gdLst>
                    <a:gd name="T0" fmla="*/ 0 w 88"/>
                    <a:gd name="T1" fmla="*/ 102 h 103"/>
                    <a:gd name="T2" fmla="*/ 0 w 88"/>
                    <a:gd name="T3" fmla="*/ 102 h 103"/>
                    <a:gd name="T4" fmla="*/ 2 w 88"/>
                    <a:gd name="T5" fmla="*/ 52 h 103"/>
                    <a:gd name="T6" fmla="*/ 87 w 88"/>
                    <a:gd name="T7" fmla="*/ 0 h 103"/>
                    <a:gd name="T8" fmla="*/ 84 w 88"/>
                    <a:gd name="T9" fmla="*/ 49 h 103"/>
                    <a:gd name="T10" fmla="*/ 0 w 88"/>
                    <a:gd name="T11" fmla="*/ 102 h 103"/>
                    <a:gd name="T12" fmla="*/ 0 60000 65536"/>
                    <a:gd name="T13" fmla="*/ 0 60000 65536"/>
                    <a:gd name="T14" fmla="*/ 0 60000 65536"/>
                    <a:gd name="T15" fmla="*/ 0 60000 65536"/>
                    <a:gd name="T16" fmla="*/ 0 60000 65536"/>
                    <a:gd name="T17" fmla="*/ 0 60000 65536"/>
                    <a:gd name="T18" fmla="*/ 0 w 88"/>
                    <a:gd name="T19" fmla="*/ 0 h 103"/>
                    <a:gd name="T20" fmla="*/ 88 w 88"/>
                    <a:gd name="T21" fmla="*/ 103 h 103"/>
                  </a:gdLst>
                  <a:ahLst/>
                  <a:cxnLst>
                    <a:cxn ang="T12">
                      <a:pos x="T0" y="T1"/>
                    </a:cxn>
                    <a:cxn ang="T13">
                      <a:pos x="T2" y="T3"/>
                    </a:cxn>
                    <a:cxn ang="T14">
                      <a:pos x="T4" y="T5"/>
                    </a:cxn>
                    <a:cxn ang="T15">
                      <a:pos x="T6" y="T7"/>
                    </a:cxn>
                    <a:cxn ang="T16">
                      <a:pos x="T8" y="T9"/>
                    </a:cxn>
                    <a:cxn ang="T17">
                      <a:pos x="T10" y="T11"/>
                    </a:cxn>
                  </a:cxnLst>
                  <a:rect l="T18" t="T19" r="T20" b="T21"/>
                  <a:pathLst>
                    <a:path w="88" h="103">
                      <a:moveTo>
                        <a:pt x="0" y="102"/>
                      </a:moveTo>
                      <a:lnTo>
                        <a:pt x="0" y="102"/>
                      </a:lnTo>
                      <a:lnTo>
                        <a:pt x="2" y="52"/>
                      </a:lnTo>
                      <a:lnTo>
                        <a:pt x="87" y="0"/>
                      </a:lnTo>
                      <a:lnTo>
                        <a:pt x="84" y="49"/>
                      </a:lnTo>
                      <a:lnTo>
                        <a:pt x="0" y="102"/>
                      </a:lnTo>
                    </a:path>
                  </a:pathLst>
                </a:custGeom>
                <a:solidFill>
                  <a:srgbClr val="BB1A50"/>
                </a:solidFill>
                <a:ln w="9525" cap="rnd">
                  <a:noFill/>
                  <a:round/>
                </a:ln>
              </p:spPr>
              <p:txBody>
                <a:bodyPr/>
                <a:lstStyle/>
                <a:p>
                  <a:endParaRPr lang="zh-CN" altLang="en-US"/>
                </a:p>
              </p:txBody>
            </p:sp>
            <p:sp>
              <p:nvSpPr>
                <p:cNvPr id="9644" name="Freeform 82"/>
                <p:cNvSpPr/>
                <p:nvPr/>
              </p:nvSpPr>
              <p:spPr bwMode="auto">
                <a:xfrm>
                  <a:off x="2272" y="2221"/>
                  <a:ext cx="39" cy="58"/>
                </a:xfrm>
                <a:custGeom>
                  <a:avLst/>
                  <a:gdLst>
                    <a:gd name="T0" fmla="*/ 35 w 39"/>
                    <a:gd name="T1" fmla="*/ 57 h 58"/>
                    <a:gd name="T2" fmla="*/ 35 w 39"/>
                    <a:gd name="T3" fmla="*/ 57 h 58"/>
                    <a:gd name="T4" fmla="*/ 0 w 39"/>
                    <a:gd name="T5" fmla="*/ 48 h 58"/>
                    <a:gd name="T6" fmla="*/ 0 w 39"/>
                    <a:gd name="T7" fmla="*/ 0 h 58"/>
                    <a:gd name="T8" fmla="*/ 38 w 39"/>
                    <a:gd name="T9" fmla="*/ 8 h 58"/>
                    <a:gd name="T10" fmla="*/ 35 w 39"/>
                    <a:gd name="T11" fmla="*/ 57 h 58"/>
                    <a:gd name="T12" fmla="*/ 0 60000 65536"/>
                    <a:gd name="T13" fmla="*/ 0 60000 65536"/>
                    <a:gd name="T14" fmla="*/ 0 60000 65536"/>
                    <a:gd name="T15" fmla="*/ 0 60000 65536"/>
                    <a:gd name="T16" fmla="*/ 0 60000 65536"/>
                    <a:gd name="T17" fmla="*/ 0 60000 65536"/>
                    <a:gd name="T18" fmla="*/ 0 w 39"/>
                    <a:gd name="T19" fmla="*/ 0 h 58"/>
                    <a:gd name="T20" fmla="*/ 39 w 39"/>
                    <a:gd name="T21" fmla="*/ 58 h 58"/>
                  </a:gdLst>
                  <a:ahLst/>
                  <a:cxnLst>
                    <a:cxn ang="T12">
                      <a:pos x="T0" y="T1"/>
                    </a:cxn>
                    <a:cxn ang="T13">
                      <a:pos x="T2" y="T3"/>
                    </a:cxn>
                    <a:cxn ang="T14">
                      <a:pos x="T4" y="T5"/>
                    </a:cxn>
                    <a:cxn ang="T15">
                      <a:pos x="T6" y="T7"/>
                    </a:cxn>
                    <a:cxn ang="T16">
                      <a:pos x="T8" y="T9"/>
                    </a:cxn>
                    <a:cxn ang="T17">
                      <a:pos x="T10" y="T11"/>
                    </a:cxn>
                  </a:cxnLst>
                  <a:rect l="T18" t="T19" r="T20" b="T21"/>
                  <a:pathLst>
                    <a:path w="39" h="58">
                      <a:moveTo>
                        <a:pt x="35" y="57"/>
                      </a:moveTo>
                      <a:lnTo>
                        <a:pt x="35" y="57"/>
                      </a:lnTo>
                      <a:lnTo>
                        <a:pt x="0" y="48"/>
                      </a:lnTo>
                      <a:lnTo>
                        <a:pt x="0" y="0"/>
                      </a:lnTo>
                      <a:lnTo>
                        <a:pt x="38" y="8"/>
                      </a:lnTo>
                      <a:lnTo>
                        <a:pt x="35" y="57"/>
                      </a:lnTo>
                    </a:path>
                  </a:pathLst>
                </a:custGeom>
                <a:solidFill>
                  <a:srgbClr val="9E0005"/>
                </a:solidFill>
                <a:ln w="9525" cap="rnd">
                  <a:noFill/>
                  <a:round/>
                </a:ln>
              </p:spPr>
              <p:txBody>
                <a:bodyPr/>
                <a:lstStyle/>
                <a:p>
                  <a:endParaRPr lang="zh-CN" altLang="en-US"/>
                </a:p>
              </p:txBody>
            </p:sp>
            <p:sp>
              <p:nvSpPr>
                <p:cNvPr id="9645" name="Freeform 83"/>
                <p:cNvSpPr/>
                <p:nvPr/>
              </p:nvSpPr>
              <p:spPr bwMode="auto">
                <a:xfrm>
                  <a:off x="2272" y="2162"/>
                  <a:ext cx="126" cy="67"/>
                </a:xfrm>
                <a:custGeom>
                  <a:avLst/>
                  <a:gdLst>
                    <a:gd name="T0" fmla="*/ 39 w 126"/>
                    <a:gd name="T1" fmla="*/ 66 h 67"/>
                    <a:gd name="T2" fmla="*/ 39 w 126"/>
                    <a:gd name="T3" fmla="*/ 66 h 67"/>
                    <a:gd name="T4" fmla="*/ 0 w 126"/>
                    <a:gd name="T5" fmla="*/ 56 h 67"/>
                    <a:gd name="T6" fmla="*/ 91 w 126"/>
                    <a:gd name="T7" fmla="*/ 0 h 67"/>
                    <a:gd name="T8" fmla="*/ 125 w 126"/>
                    <a:gd name="T9" fmla="*/ 12 h 67"/>
                    <a:gd name="T10" fmla="*/ 39 w 126"/>
                    <a:gd name="T11" fmla="*/ 66 h 67"/>
                    <a:gd name="T12" fmla="*/ 0 60000 65536"/>
                    <a:gd name="T13" fmla="*/ 0 60000 65536"/>
                    <a:gd name="T14" fmla="*/ 0 60000 65536"/>
                    <a:gd name="T15" fmla="*/ 0 60000 65536"/>
                    <a:gd name="T16" fmla="*/ 0 60000 65536"/>
                    <a:gd name="T17" fmla="*/ 0 60000 65536"/>
                    <a:gd name="T18" fmla="*/ 0 w 126"/>
                    <a:gd name="T19" fmla="*/ 0 h 67"/>
                    <a:gd name="T20" fmla="*/ 126 w 126"/>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126" h="67">
                      <a:moveTo>
                        <a:pt x="39" y="66"/>
                      </a:moveTo>
                      <a:lnTo>
                        <a:pt x="39" y="66"/>
                      </a:lnTo>
                      <a:lnTo>
                        <a:pt x="0" y="56"/>
                      </a:lnTo>
                      <a:lnTo>
                        <a:pt x="91" y="0"/>
                      </a:lnTo>
                      <a:lnTo>
                        <a:pt x="125" y="12"/>
                      </a:lnTo>
                      <a:lnTo>
                        <a:pt x="39" y="66"/>
                      </a:lnTo>
                    </a:path>
                  </a:pathLst>
                </a:custGeom>
                <a:solidFill>
                  <a:srgbClr val="CF5C82"/>
                </a:solidFill>
                <a:ln w="9525" cap="rnd">
                  <a:noFill/>
                  <a:round/>
                </a:ln>
              </p:spPr>
              <p:txBody>
                <a:bodyPr/>
                <a:lstStyle/>
                <a:p>
                  <a:endParaRPr lang="zh-CN" altLang="en-US"/>
                </a:p>
              </p:txBody>
            </p:sp>
          </p:grpSp>
          <p:grpSp>
            <p:nvGrpSpPr>
              <p:cNvPr id="13" name="Group 84"/>
              <p:cNvGrpSpPr/>
              <p:nvPr/>
            </p:nvGrpSpPr>
            <p:grpSpPr bwMode="auto">
              <a:xfrm>
                <a:off x="2166" y="2228"/>
                <a:ext cx="139" cy="118"/>
                <a:chOff x="2166" y="2228"/>
                <a:chExt cx="139" cy="118"/>
              </a:xfrm>
            </p:grpSpPr>
            <p:sp>
              <p:nvSpPr>
                <p:cNvPr id="9640" name="Freeform 85"/>
                <p:cNvSpPr/>
                <p:nvPr/>
              </p:nvSpPr>
              <p:spPr bwMode="auto">
                <a:xfrm>
                  <a:off x="2209" y="2237"/>
                  <a:ext cx="96" cy="109"/>
                </a:xfrm>
                <a:custGeom>
                  <a:avLst/>
                  <a:gdLst>
                    <a:gd name="T0" fmla="*/ 0 w 96"/>
                    <a:gd name="T1" fmla="*/ 108 h 109"/>
                    <a:gd name="T2" fmla="*/ 0 w 96"/>
                    <a:gd name="T3" fmla="*/ 108 h 109"/>
                    <a:gd name="T4" fmla="*/ 0 w 96"/>
                    <a:gd name="T5" fmla="*/ 58 h 109"/>
                    <a:gd name="T6" fmla="*/ 95 w 96"/>
                    <a:gd name="T7" fmla="*/ 0 h 109"/>
                    <a:gd name="T8" fmla="*/ 92 w 96"/>
                    <a:gd name="T9" fmla="*/ 49 h 109"/>
                    <a:gd name="T10" fmla="*/ 0 w 96"/>
                    <a:gd name="T11" fmla="*/ 108 h 109"/>
                    <a:gd name="T12" fmla="*/ 0 60000 65536"/>
                    <a:gd name="T13" fmla="*/ 0 60000 65536"/>
                    <a:gd name="T14" fmla="*/ 0 60000 65536"/>
                    <a:gd name="T15" fmla="*/ 0 60000 65536"/>
                    <a:gd name="T16" fmla="*/ 0 60000 65536"/>
                    <a:gd name="T17" fmla="*/ 0 60000 65536"/>
                    <a:gd name="T18" fmla="*/ 0 w 96"/>
                    <a:gd name="T19" fmla="*/ 0 h 109"/>
                    <a:gd name="T20" fmla="*/ 96 w 96"/>
                    <a:gd name="T21" fmla="*/ 109 h 109"/>
                  </a:gdLst>
                  <a:ahLst/>
                  <a:cxnLst>
                    <a:cxn ang="T12">
                      <a:pos x="T0" y="T1"/>
                    </a:cxn>
                    <a:cxn ang="T13">
                      <a:pos x="T2" y="T3"/>
                    </a:cxn>
                    <a:cxn ang="T14">
                      <a:pos x="T4" y="T5"/>
                    </a:cxn>
                    <a:cxn ang="T15">
                      <a:pos x="T6" y="T7"/>
                    </a:cxn>
                    <a:cxn ang="T16">
                      <a:pos x="T8" y="T9"/>
                    </a:cxn>
                    <a:cxn ang="T17">
                      <a:pos x="T10" y="T11"/>
                    </a:cxn>
                  </a:cxnLst>
                  <a:rect l="T18" t="T19" r="T20" b="T21"/>
                  <a:pathLst>
                    <a:path w="96" h="109">
                      <a:moveTo>
                        <a:pt x="0" y="108"/>
                      </a:moveTo>
                      <a:lnTo>
                        <a:pt x="0" y="108"/>
                      </a:lnTo>
                      <a:lnTo>
                        <a:pt x="0" y="58"/>
                      </a:lnTo>
                      <a:lnTo>
                        <a:pt x="95" y="0"/>
                      </a:lnTo>
                      <a:lnTo>
                        <a:pt x="92" y="49"/>
                      </a:lnTo>
                      <a:lnTo>
                        <a:pt x="0" y="108"/>
                      </a:lnTo>
                    </a:path>
                  </a:pathLst>
                </a:custGeom>
                <a:solidFill>
                  <a:srgbClr val="BB1A50"/>
                </a:solidFill>
                <a:ln w="9525" cap="rnd">
                  <a:noFill/>
                  <a:round/>
                </a:ln>
              </p:spPr>
              <p:txBody>
                <a:bodyPr/>
                <a:lstStyle/>
                <a:p>
                  <a:endParaRPr lang="zh-CN" altLang="en-US"/>
                </a:p>
              </p:txBody>
            </p:sp>
            <p:sp>
              <p:nvSpPr>
                <p:cNvPr id="9641" name="Freeform 86"/>
                <p:cNvSpPr/>
                <p:nvPr/>
              </p:nvSpPr>
              <p:spPr bwMode="auto">
                <a:xfrm>
                  <a:off x="2167" y="2285"/>
                  <a:ext cx="41" cy="61"/>
                </a:xfrm>
                <a:custGeom>
                  <a:avLst/>
                  <a:gdLst>
                    <a:gd name="T0" fmla="*/ 40 w 41"/>
                    <a:gd name="T1" fmla="*/ 60 h 61"/>
                    <a:gd name="T2" fmla="*/ 40 w 41"/>
                    <a:gd name="T3" fmla="*/ 60 h 61"/>
                    <a:gd name="T4" fmla="*/ 0 w 41"/>
                    <a:gd name="T5" fmla="*/ 51 h 61"/>
                    <a:gd name="T6" fmla="*/ 0 w 41"/>
                    <a:gd name="T7" fmla="*/ 0 h 61"/>
                    <a:gd name="T8" fmla="*/ 40 w 41"/>
                    <a:gd name="T9" fmla="*/ 11 h 61"/>
                    <a:gd name="T10" fmla="*/ 40 w 41"/>
                    <a:gd name="T11" fmla="*/ 60 h 61"/>
                    <a:gd name="T12" fmla="*/ 0 60000 65536"/>
                    <a:gd name="T13" fmla="*/ 0 60000 65536"/>
                    <a:gd name="T14" fmla="*/ 0 60000 65536"/>
                    <a:gd name="T15" fmla="*/ 0 60000 65536"/>
                    <a:gd name="T16" fmla="*/ 0 60000 65536"/>
                    <a:gd name="T17" fmla="*/ 0 60000 65536"/>
                    <a:gd name="T18" fmla="*/ 0 w 41"/>
                    <a:gd name="T19" fmla="*/ 0 h 61"/>
                    <a:gd name="T20" fmla="*/ 41 w 41"/>
                    <a:gd name="T21" fmla="*/ 61 h 61"/>
                  </a:gdLst>
                  <a:ahLst/>
                  <a:cxnLst>
                    <a:cxn ang="T12">
                      <a:pos x="T0" y="T1"/>
                    </a:cxn>
                    <a:cxn ang="T13">
                      <a:pos x="T2" y="T3"/>
                    </a:cxn>
                    <a:cxn ang="T14">
                      <a:pos x="T4" y="T5"/>
                    </a:cxn>
                    <a:cxn ang="T15">
                      <a:pos x="T6" y="T7"/>
                    </a:cxn>
                    <a:cxn ang="T16">
                      <a:pos x="T8" y="T9"/>
                    </a:cxn>
                    <a:cxn ang="T17">
                      <a:pos x="T10" y="T11"/>
                    </a:cxn>
                  </a:cxnLst>
                  <a:rect l="T18" t="T19" r="T20" b="T21"/>
                  <a:pathLst>
                    <a:path w="41" h="61">
                      <a:moveTo>
                        <a:pt x="40" y="60"/>
                      </a:moveTo>
                      <a:lnTo>
                        <a:pt x="40" y="60"/>
                      </a:lnTo>
                      <a:lnTo>
                        <a:pt x="0" y="51"/>
                      </a:lnTo>
                      <a:lnTo>
                        <a:pt x="0" y="0"/>
                      </a:lnTo>
                      <a:lnTo>
                        <a:pt x="40" y="11"/>
                      </a:lnTo>
                      <a:lnTo>
                        <a:pt x="40" y="60"/>
                      </a:lnTo>
                    </a:path>
                  </a:pathLst>
                </a:custGeom>
                <a:solidFill>
                  <a:srgbClr val="9E0005"/>
                </a:solidFill>
                <a:ln w="9525" cap="rnd">
                  <a:noFill/>
                  <a:round/>
                </a:ln>
              </p:spPr>
              <p:txBody>
                <a:bodyPr/>
                <a:lstStyle/>
                <a:p>
                  <a:endParaRPr lang="zh-CN" altLang="en-US"/>
                </a:p>
              </p:txBody>
            </p:sp>
            <p:sp>
              <p:nvSpPr>
                <p:cNvPr id="9642" name="Freeform 87"/>
                <p:cNvSpPr/>
                <p:nvPr/>
              </p:nvSpPr>
              <p:spPr bwMode="auto">
                <a:xfrm>
                  <a:off x="2166" y="2228"/>
                  <a:ext cx="138" cy="67"/>
                </a:xfrm>
                <a:custGeom>
                  <a:avLst/>
                  <a:gdLst>
                    <a:gd name="T0" fmla="*/ 41 w 138"/>
                    <a:gd name="T1" fmla="*/ 66 h 67"/>
                    <a:gd name="T2" fmla="*/ 41 w 138"/>
                    <a:gd name="T3" fmla="*/ 66 h 67"/>
                    <a:gd name="T4" fmla="*/ 0 w 138"/>
                    <a:gd name="T5" fmla="*/ 54 h 67"/>
                    <a:gd name="T6" fmla="*/ 97 w 138"/>
                    <a:gd name="T7" fmla="*/ 0 h 67"/>
                    <a:gd name="T8" fmla="*/ 137 w 138"/>
                    <a:gd name="T9" fmla="*/ 9 h 67"/>
                    <a:gd name="T10" fmla="*/ 41 w 138"/>
                    <a:gd name="T11" fmla="*/ 66 h 67"/>
                    <a:gd name="T12" fmla="*/ 0 60000 65536"/>
                    <a:gd name="T13" fmla="*/ 0 60000 65536"/>
                    <a:gd name="T14" fmla="*/ 0 60000 65536"/>
                    <a:gd name="T15" fmla="*/ 0 60000 65536"/>
                    <a:gd name="T16" fmla="*/ 0 60000 65536"/>
                    <a:gd name="T17" fmla="*/ 0 60000 65536"/>
                    <a:gd name="T18" fmla="*/ 0 w 138"/>
                    <a:gd name="T19" fmla="*/ 0 h 67"/>
                    <a:gd name="T20" fmla="*/ 138 w 138"/>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138" h="67">
                      <a:moveTo>
                        <a:pt x="41" y="66"/>
                      </a:moveTo>
                      <a:lnTo>
                        <a:pt x="41" y="66"/>
                      </a:lnTo>
                      <a:lnTo>
                        <a:pt x="0" y="54"/>
                      </a:lnTo>
                      <a:lnTo>
                        <a:pt x="97" y="0"/>
                      </a:lnTo>
                      <a:lnTo>
                        <a:pt x="137" y="9"/>
                      </a:lnTo>
                      <a:lnTo>
                        <a:pt x="41" y="66"/>
                      </a:lnTo>
                    </a:path>
                  </a:pathLst>
                </a:custGeom>
                <a:solidFill>
                  <a:srgbClr val="CF5C82"/>
                </a:solidFill>
                <a:ln w="9525" cap="rnd">
                  <a:noFill/>
                  <a:round/>
                </a:ln>
              </p:spPr>
              <p:txBody>
                <a:bodyPr/>
                <a:lstStyle/>
                <a:p>
                  <a:endParaRPr lang="zh-CN" altLang="en-US"/>
                </a:p>
              </p:txBody>
            </p:sp>
          </p:grpSp>
          <p:grpSp>
            <p:nvGrpSpPr>
              <p:cNvPr id="14" name="Group 88"/>
              <p:cNvGrpSpPr/>
              <p:nvPr/>
            </p:nvGrpSpPr>
            <p:grpSpPr bwMode="auto">
              <a:xfrm>
                <a:off x="2053" y="2291"/>
                <a:ext cx="150" cy="125"/>
                <a:chOff x="2053" y="2291"/>
                <a:chExt cx="150" cy="125"/>
              </a:xfrm>
            </p:grpSpPr>
            <p:sp>
              <p:nvSpPr>
                <p:cNvPr id="9637" name="Freeform 89"/>
                <p:cNvSpPr/>
                <p:nvPr/>
              </p:nvSpPr>
              <p:spPr bwMode="auto">
                <a:xfrm>
                  <a:off x="2098" y="2301"/>
                  <a:ext cx="104" cy="115"/>
                </a:xfrm>
                <a:custGeom>
                  <a:avLst/>
                  <a:gdLst>
                    <a:gd name="T0" fmla="*/ 0 w 104"/>
                    <a:gd name="T1" fmla="*/ 114 h 115"/>
                    <a:gd name="T2" fmla="*/ 0 w 104"/>
                    <a:gd name="T3" fmla="*/ 114 h 115"/>
                    <a:gd name="T4" fmla="*/ 0 w 104"/>
                    <a:gd name="T5" fmla="*/ 61 h 115"/>
                    <a:gd name="T6" fmla="*/ 103 w 104"/>
                    <a:gd name="T7" fmla="*/ 0 h 115"/>
                    <a:gd name="T8" fmla="*/ 103 w 104"/>
                    <a:gd name="T9" fmla="*/ 52 h 115"/>
                    <a:gd name="T10" fmla="*/ 0 w 104"/>
                    <a:gd name="T11" fmla="*/ 114 h 115"/>
                    <a:gd name="T12" fmla="*/ 0 60000 65536"/>
                    <a:gd name="T13" fmla="*/ 0 60000 65536"/>
                    <a:gd name="T14" fmla="*/ 0 60000 65536"/>
                    <a:gd name="T15" fmla="*/ 0 60000 65536"/>
                    <a:gd name="T16" fmla="*/ 0 60000 65536"/>
                    <a:gd name="T17" fmla="*/ 0 60000 65536"/>
                    <a:gd name="T18" fmla="*/ 0 w 104"/>
                    <a:gd name="T19" fmla="*/ 0 h 115"/>
                    <a:gd name="T20" fmla="*/ 104 w 104"/>
                    <a:gd name="T21" fmla="*/ 115 h 115"/>
                  </a:gdLst>
                  <a:ahLst/>
                  <a:cxnLst>
                    <a:cxn ang="T12">
                      <a:pos x="T0" y="T1"/>
                    </a:cxn>
                    <a:cxn ang="T13">
                      <a:pos x="T2" y="T3"/>
                    </a:cxn>
                    <a:cxn ang="T14">
                      <a:pos x="T4" y="T5"/>
                    </a:cxn>
                    <a:cxn ang="T15">
                      <a:pos x="T6" y="T7"/>
                    </a:cxn>
                    <a:cxn ang="T16">
                      <a:pos x="T8" y="T9"/>
                    </a:cxn>
                    <a:cxn ang="T17">
                      <a:pos x="T10" y="T11"/>
                    </a:cxn>
                  </a:cxnLst>
                  <a:rect l="T18" t="T19" r="T20" b="T21"/>
                  <a:pathLst>
                    <a:path w="104" h="115">
                      <a:moveTo>
                        <a:pt x="0" y="114"/>
                      </a:moveTo>
                      <a:lnTo>
                        <a:pt x="0" y="114"/>
                      </a:lnTo>
                      <a:lnTo>
                        <a:pt x="0" y="61"/>
                      </a:lnTo>
                      <a:lnTo>
                        <a:pt x="103" y="0"/>
                      </a:lnTo>
                      <a:lnTo>
                        <a:pt x="103" y="52"/>
                      </a:lnTo>
                      <a:lnTo>
                        <a:pt x="0" y="114"/>
                      </a:lnTo>
                    </a:path>
                  </a:pathLst>
                </a:custGeom>
                <a:solidFill>
                  <a:srgbClr val="BB1A50"/>
                </a:solidFill>
                <a:ln w="9525" cap="rnd">
                  <a:noFill/>
                  <a:round/>
                </a:ln>
              </p:spPr>
              <p:txBody>
                <a:bodyPr/>
                <a:lstStyle/>
                <a:p>
                  <a:endParaRPr lang="zh-CN" altLang="en-US"/>
                </a:p>
              </p:txBody>
            </p:sp>
            <p:sp>
              <p:nvSpPr>
                <p:cNvPr id="9638" name="Freeform 90"/>
                <p:cNvSpPr/>
                <p:nvPr/>
              </p:nvSpPr>
              <p:spPr bwMode="auto">
                <a:xfrm>
                  <a:off x="2053" y="2355"/>
                  <a:ext cx="45" cy="61"/>
                </a:xfrm>
                <a:custGeom>
                  <a:avLst/>
                  <a:gdLst>
                    <a:gd name="T0" fmla="*/ 44 w 45"/>
                    <a:gd name="T1" fmla="*/ 60 h 61"/>
                    <a:gd name="T2" fmla="*/ 44 w 45"/>
                    <a:gd name="T3" fmla="*/ 60 h 61"/>
                    <a:gd name="T4" fmla="*/ 0 w 45"/>
                    <a:gd name="T5" fmla="*/ 53 h 61"/>
                    <a:gd name="T6" fmla="*/ 0 w 45"/>
                    <a:gd name="T7" fmla="*/ 0 h 61"/>
                    <a:gd name="T8" fmla="*/ 44 w 45"/>
                    <a:gd name="T9" fmla="*/ 8 h 61"/>
                    <a:gd name="T10" fmla="*/ 44 w 45"/>
                    <a:gd name="T11" fmla="*/ 60 h 61"/>
                    <a:gd name="T12" fmla="*/ 0 60000 65536"/>
                    <a:gd name="T13" fmla="*/ 0 60000 65536"/>
                    <a:gd name="T14" fmla="*/ 0 60000 65536"/>
                    <a:gd name="T15" fmla="*/ 0 60000 65536"/>
                    <a:gd name="T16" fmla="*/ 0 60000 65536"/>
                    <a:gd name="T17" fmla="*/ 0 60000 65536"/>
                    <a:gd name="T18" fmla="*/ 0 w 45"/>
                    <a:gd name="T19" fmla="*/ 0 h 61"/>
                    <a:gd name="T20" fmla="*/ 45 w 45"/>
                    <a:gd name="T21" fmla="*/ 61 h 61"/>
                  </a:gdLst>
                  <a:ahLst/>
                  <a:cxnLst>
                    <a:cxn ang="T12">
                      <a:pos x="T0" y="T1"/>
                    </a:cxn>
                    <a:cxn ang="T13">
                      <a:pos x="T2" y="T3"/>
                    </a:cxn>
                    <a:cxn ang="T14">
                      <a:pos x="T4" y="T5"/>
                    </a:cxn>
                    <a:cxn ang="T15">
                      <a:pos x="T6" y="T7"/>
                    </a:cxn>
                    <a:cxn ang="T16">
                      <a:pos x="T8" y="T9"/>
                    </a:cxn>
                    <a:cxn ang="T17">
                      <a:pos x="T10" y="T11"/>
                    </a:cxn>
                  </a:cxnLst>
                  <a:rect l="T18" t="T19" r="T20" b="T21"/>
                  <a:pathLst>
                    <a:path w="45" h="61">
                      <a:moveTo>
                        <a:pt x="44" y="60"/>
                      </a:moveTo>
                      <a:lnTo>
                        <a:pt x="44" y="60"/>
                      </a:lnTo>
                      <a:lnTo>
                        <a:pt x="0" y="53"/>
                      </a:lnTo>
                      <a:lnTo>
                        <a:pt x="0" y="0"/>
                      </a:lnTo>
                      <a:lnTo>
                        <a:pt x="44" y="8"/>
                      </a:lnTo>
                      <a:lnTo>
                        <a:pt x="44" y="60"/>
                      </a:lnTo>
                    </a:path>
                  </a:pathLst>
                </a:custGeom>
                <a:solidFill>
                  <a:srgbClr val="9E0005"/>
                </a:solidFill>
                <a:ln w="9525" cap="rnd">
                  <a:noFill/>
                  <a:round/>
                </a:ln>
              </p:spPr>
              <p:txBody>
                <a:bodyPr/>
                <a:lstStyle/>
                <a:p>
                  <a:endParaRPr lang="zh-CN" altLang="en-US"/>
                </a:p>
              </p:txBody>
            </p:sp>
            <p:sp>
              <p:nvSpPr>
                <p:cNvPr id="9639" name="Freeform 91"/>
                <p:cNvSpPr/>
                <p:nvPr/>
              </p:nvSpPr>
              <p:spPr bwMode="auto">
                <a:xfrm>
                  <a:off x="2053" y="2291"/>
                  <a:ext cx="150" cy="72"/>
                </a:xfrm>
                <a:custGeom>
                  <a:avLst/>
                  <a:gdLst>
                    <a:gd name="T0" fmla="*/ 45 w 150"/>
                    <a:gd name="T1" fmla="*/ 71 h 72"/>
                    <a:gd name="T2" fmla="*/ 45 w 150"/>
                    <a:gd name="T3" fmla="*/ 71 h 72"/>
                    <a:gd name="T4" fmla="*/ 0 w 150"/>
                    <a:gd name="T5" fmla="*/ 62 h 72"/>
                    <a:gd name="T6" fmla="*/ 107 w 150"/>
                    <a:gd name="T7" fmla="*/ 0 h 72"/>
                    <a:gd name="T8" fmla="*/ 149 w 150"/>
                    <a:gd name="T9" fmla="*/ 8 h 72"/>
                    <a:gd name="T10" fmla="*/ 45 w 150"/>
                    <a:gd name="T11" fmla="*/ 71 h 72"/>
                    <a:gd name="T12" fmla="*/ 0 60000 65536"/>
                    <a:gd name="T13" fmla="*/ 0 60000 65536"/>
                    <a:gd name="T14" fmla="*/ 0 60000 65536"/>
                    <a:gd name="T15" fmla="*/ 0 60000 65536"/>
                    <a:gd name="T16" fmla="*/ 0 60000 65536"/>
                    <a:gd name="T17" fmla="*/ 0 60000 65536"/>
                    <a:gd name="T18" fmla="*/ 0 w 150"/>
                    <a:gd name="T19" fmla="*/ 0 h 72"/>
                    <a:gd name="T20" fmla="*/ 150 w 150"/>
                    <a:gd name="T21" fmla="*/ 72 h 72"/>
                  </a:gdLst>
                  <a:ahLst/>
                  <a:cxnLst>
                    <a:cxn ang="T12">
                      <a:pos x="T0" y="T1"/>
                    </a:cxn>
                    <a:cxn ang="T13">
                      <a:pos x="T2" y="T3"/>
                    </a:cxn>
                    <a:cxn ang="T14">
                      <a:pos x="T4" y="T5"/>
                    </a:cxn>
                    <a:cxn ang="T15">
                      <a:pos x="T6" y="T7"/>
                    </a:cxn>
                    <a:cxn ang="T16">
                      <a:pos x="T8" y="T9"/>
                    </a:cxn>
                    <a:cxn ang="T17">
                      <a:pos x="T10" y="T11"/>
                    </a:cxn>
                  </a:cxnLst>
                  <a:rect l="T18" t="T19" r="T20" b="T21"/>
                  <a:pathLst>
                    <a:path w="150" h="72">
                      <a:moveTo>
                        <a:pt x="45" y="71"/>
                      </a:moveTo>
                      <a:lnTo>
                        <a:pt x="45" y="71"/>
                      </a:lnTo>
                      <a:lnTo>
                        <a:pt x="0" y="62"/>
                      </a:lnTo>
                      <a:lnTo>
                        <a:pt x="107" y="0"/>
                      </a:lnTo>
                      <a:lnTo>
                        <a:pt x="149" y="8"/>
                      </a:lnTo>
                      <a:lnTo>
                        <a:pt x="45" y="71"/>
                      </a:lnTo>
                    </a:path>
                  </a:pathLst>
                </a:custGeom>
                <a:solidFill>
                  <a:srgbClr val="CF5C82"/>
                </a:solidFill>
                <a:ln w="9525" cap="rnd">
                  <a:noFill/>
                  <a:round/>
                </a:ln>
              </p:spPr>
              <p:txBody>
                <a:bodyPr/>
                <a:lstStyle/>
                <a:p>
                  <a:endParaRPr lang="zh-CN" altLang="en-US"/>
                </a:p>
              </p:txBody>
            </p:sp>
          </p:grpSp>
          <p:sp>
            <p:nvSpPr>
              <p:cNvPr id="9606" name="Freeform 92"/>
              <p:cNvSpPr/>
              <p:nvPr/>
            </p:nvSpPr>
            <p:spPr bwMode="auto">
              <a:xfrm>
                <a:off x="2484" y="2115"/>
                <a:ext cx="17" cy="49"/>
              </a:xfrm>
              <a:custGeom>
                <a:avLst/>
                <a:gdLst>
                  <a:gd name="T0" fmla="*/ 0 w 17"/>
                  <a:gd name="T1" fmla="*/ 48 h 49"/>
                  <a:gd name="T2" fmla="*/ 0 w 17"/>
                  <a:gd name="T3" fmla="*/ 48 h 49"/>
                  <a:gd name="T4" fmla="*/ 0 w 17"/>
                  <a:gd name="T5" fmla="*/ 24 h 49"/>
                  <a:gd name="T6" fmla="*/ 4 w 17"/>
                  <a:gd name="T7" fmla="*/ 6 h 49"/>
                  <a:gd name="T8" fmla="*/ 4 w 17"/>
                  <a:gd name="T9" fmla="*/ 0 h 49"/>
                  <a:gd name="T10" fmla="*/ 11 w 17"/>
                  <a:gd name="T11" fmla="*/ 0 h 49"/>
                  <a:gd name="T12" fmla="*/ 16 w 17"/>
                  <a:gd name="T13" fmla="*/ 0 h 49"/>
                  <a:gd name="T14" fmla="*/ 11 w 17"/>
                  <a:gd name="T15" fmla="*/ 20 h 49"/>
                  <a:gd name="T16" fmla="*/ 11 w 17"/>
                  <a:gd name="T17" fmla="*/ 36 h 49"/>
                  <a:gd name="T18" fmla="*/ 11 w 17"/>
                  <a:gd name="T19" fmla="*/ 45 h 49"/>
                  <a:gd name="T20" fmla="*/ 4 w 17"/>
                  <a:gd name="T21" fmla="*/ 45 h 49"/>
                  <a:gd name="T22" fmla="*/ 0 w 17"/>
                  <a:gd name="T23" fmla="*/ 48 h 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
                  <a:gd name="T37" fmla="*/ 0 h 49"/>
                  <a:gd name="T38" fmla="*/ 17 w 17"/>
                  <a:gd name="T39" fmla="*/ 49 h 4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 h="49">
                    <a:moveTo>
                      <a:pt x="0" y="48"/>
                    </a:moveTo>
                    <a:lnTo>
                      <a:pt x="0" y="48"/>
                    </a:lnTo>
                    <a:lnTo>
                      <a:pt x="0" y="24"/>
                    </a:lnTo>
                    <a:lnTo>
                      <a:pt x="4" y="6"/>
                    </a:lnTo>
                    <a:lnTo>
                      <a:pt x="4" y="0"/>
                    </a:lnTo>
                    <a:lnTo>
                      <a:pt x="11" y="0"/>
                    </a:lnTo>
                    <a:lnTo>
                      <a:pt x="16" y="0"/>
                    </a:lnTo>
                    <a:lnTo>
                      <a:pt x="11" y="20"/>
                    </a:lnTo>
                    <a:lnTo>
                      <a:pt x="11" y="36"/>
                    </a:lnTo>
                    <a:lnTo>
                      <a:pt x="11" y="45"/>
                    </a:lnTo>
                    <a:lnTo>
                      <a:pt x="4" y="45"/>
                    </a:lnTo>
                    <a:lnTo>
                      <a:pt x="0" y="48"/>
                    </a:lnTo>
                  </a:path>
                </a:pathLst>
              </a:custGeom>
              <a:solidFill>
                <a:srgbClr val="BDB597"/>
              </a:solidFill>
              <a:ln w="9525" cap="rnd">
                <a:noFill/>
                <a:round/>
              </a:ln>
            </p:spPr>
            <p:txBody>
              <a:bodyPr/>
              <a:lstStyle/>
              <a:p>
                <a:endParaRPr lang="zh-CN" altLang="en-US"/>
              </a:p>
            </p:txBody>
          </p:sp>
          <p:sp>
            <p:nvSpPr>
              <p:cNvPr id="9607" name="Freeform 93"/>
              <p:cNvSpPr/>
              <p:nvPr/>
            </p:nvSpPr>
            <p:spPr bwMode="auto">
              <a:xfrm>
                <a:off x="2098" y="2086"/>
                <a:ext cx="428" cy="279"/>
              </a:xfrm>
              <a:custGeom>
                <a:avLst/>
                <a:gdLst>
                  <a:gd name="T0" fmla="*/ 427 w 428"/>
                  <a:gd name="T1" fmla="*/ 0 h 279"/>
                  <a:gd name="T2" fmla="*/ 427 w 428"/>
                  <a:gd name="T3" fmla="*/ 0 h 279"/>
                  <a:gd name="T4" fmla="*/ 0 w 428"/>
                  <a:gd name="T5" fmla="*/ 271 h 279"/>
                  <a:gd name="T6" fmla="*/ 0 w 428"/>
                  <a:gd name="T7" fmla="*/ 278 h 279"/>
                  <a:gd name="T8" fmla="*/ 427 w 428"/>
                  <a:gd name="T9" fmla="*/ 6 h 279"/>
                  <a:gd name="T10" fmla="*/ 427 w 428"/>
                  <a:gd name="T11" fmla="*/ 0 h 279"/>
                  <a:gd name="T12" fmla="*/ 0 60000 65536"/>
                  <a:gd name="T13" fmla="*/ 0 60000 65536"/>
                  <a:gd name="T14" fmla="*/ 0 60000 65536"/>
                  <a:gd name="T15" fmla="*/ 0 60000 65536"/>
                  <a:gd name="T16" fmla="*/ 0 60000 65536"/>
                  <a:gd name="T17" fmla="*/ 0 60000 65536"/>
                  <a:gd name="T18" fmla="*/ 0 w 428"/>
                  <a:gd name="T19" fmla="*/ 0 h 279"/>
                  <a:gd name="T20" fmla="*/ 428 w 428"/>
                  <a:gd name="T21" fmla="*/ 279 h 279"/>
                </a:gdLst>
                <a:ahLst/>
                <a:cxnLst>
                  <a:cxn ang="T12">
                    <a:pos x="T0" y="T1"/>
                  </a:cxn>
                  <a:cxn ang="T13">
                    <a:pos x="T2" y="T3"/>
                  </a:cxn>
                  <a:cxn ang="T14">
                    <a:pos x="T4" y="T5"/>
                  </a:cxn>
                  <a:cxn ang="T15">
                    <a:pos x="T6" y="T7"/>
                  </a:cxn>
                  <a:cxn ang="T16">
                    <a:pos x="T8" y="T9"/>
                  </a:cxn>
                  <a:cxn ang="T17">
                    <a:pos x="T10" y="T11"/>
                  </a:cxn>
                </a:cxnLst>
                <a:rect l="T18" t="T19" r="T20" b="T21"/>
                <a:pathLst>
                  <a:path w="428" h="279">
                    <a:moveTo>
                      <a:pt x="427" y="0"/>
                    </a:moveTo>
                    <a:lnTo>
                      <a:pt x="427" y="0"/>
                    </a:lnTo>
                    <a:lnTo>
                      <a:pt x="0" y="271"/>
                    </a:lnTo>
                    <a:lnTo>
                      <a:pt x="0" y="278"/>
                    </a:lnTo>
                    <a:lnTo>
                      <a:pt x="427" y="6"/>
                    </a:lnTo>
                    <a:lnTo>
                      <a:pt x="427" y="0"/>
                    </a:lnTo>
                  </a:path>
                </a:pathLst>
              </a:custGeom>
              <a:solidFill>
                <a:srgbClr val="BDB597"/>
              </a:solidFill>
              <a:ln w="9525" cap="rnd">
                <a:noFill/>
                <a:round/>
              </a:ln>
            </p:spPr>
            <p:txBody>
              <a:bodyPr/>
              <a:lstStyle/>
              <a:p>
                <a:endParaRPr lang="zh-CN" altLang="en-US"/>
              </a:p>
            </p:txBody>
          </p:sp>
          <p:sp>
            <p:nvSpPr>
              <p:cNvPr id="9608" name="Freeform 94"/>
              <p:cNvSpPr/>
              <p:nvPr/>
            </p:nvSpPr>
            <p:spPr bwMode="auto">
              <a:xfrm>
                <a:off x="2396" y="2173"/>
                <a:ext cx="17" cy="52"/>
              </a:xfrm>
              <a:custGeom>
                <a:avLst/>
                <a:gdLst>
                  <a:gd name="T0" fmla="*/ 0 w 17"/>
                  <a:gd name="T1" fmla="*/ 51 h 52"/>
                  <a:gd name="T2" fmla="*/ 0 w 17"/>
                  <a:gd name="T3" fmla="*/ 51 h 52"/>
                  <a:gd name="T4" fmla="*/ 0 w 17"/>
                  <a:gd name="T5" fmla="*/ 42 h 52"/>
                  <a:gd name="T6" fmla="*/ 0 w 17"/>
                  <a:gd name="T7" fmla="*/ 26 h 52"/>
                  <a:gd name="T8" fmla="*/ 0 w 17"/>
                  <a:gd name="T9" fmla="*/ 15 h 52"/>
                  <a:gd name="T10" fmla="*/ 4 w 17"/>
                  <a:gd name="T11" fmla="*/ 8 h 52"/>
                  <a:gd name="T12" fmla="*/ 4 w 17"/>
                  <a:gd name="T13" fmla="*/ 6 h 52"/>
                  <a:gd name="T14" fmla="*/ 4 w 17"/>
                  <a:gd name="T15" fmla="*/ 2 h 52"/>
                  <a:gd name="T16" fmla="*/ 4 w 17"/>
                  <a:gd name="T17" fmla="*/ 0 h 52"/>
                  <a:gd name="T18" fmla="*/ 11 w 17"/>
                  <a:gd name="T19" fmla="*/ 0 h 52"/>
                  <a:gd name="T20" fmla="*/ 16 w 17"/>
                  <a:gd name="T21" fmla="*/ 0 h 52"/>
                  <a:gd name="T22" fmla="*/ 16 w 17"/>
                  <a:gd name="T23" fmla="*/ 24 h 52"/>
                  <a:gd name="T24" fmla="*/ 11 w 17"/>
                  <a:gd name="T25" fmla="*/ 39 h 52"/>
                  <a:gd name="T26" fmla="*/ 11 w 17"/>
                  <a:gd name="T27" fmla="*/ 44 h 52"/>
                  <a:gd name="T28" fmla="*/ 11 w 17"/>
                  <a:gd name="T29" fmla="*/ 48 h 52"/>
                  <a:gd name="T30" fmla="*/ 4 w 17"/>
                  <a:gd name="T31" fmla="*/ 48 h 52"/>
                  <a:gd name="T32" fmla="*/ 0 w 17"/>
                  <a:gd name="T33" fmla="*/ 48 h 52"/>
                  <a:gd name="T34" fmla="*/ 0 w 17"/>
                  <a:gd name="T35" fmla="*/ 51 h 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52"/>
                  <a:gd name="T56" fmla="*/ 17 w 17"/>
                  <a:gd name="T57" fmla="*/ 52 h 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52">
                    <a:moveTo>
                      <a:pt x="0" y="51"/>
                    </a:moveTo>
                    <a:lnTo>
                      <a:pt x="0" y="51"/>
                    </a:lnTo>
                    <a:lnTo>
                      <a:pt x="0" y="42"/>
                    </a:lnTo>
                    <a:lnTo>
                      <a:pt x="0" y="26"/>
                    </a:lnTo>
                    <a:lnTo>
                      <a:pt x="0" y="15"/>
                    </a:lnTo>
                    <a:lnTo>
                      <a:pt x="4" y="8"/>
                    </a:lnTo>
                    <a:lnTo>
                      <a:pt x="4" y="6"/>
                    </a:lnTo>
                    <a:lnTo>
                      <a:pt x="4" y="2"/>
                    </a:lnTo>
                    <a:lnTo>
                      <a:pt x="4" y="0"/>
                    </a:lnTo>
                    <a:lnTo>
                      <a:pt x="11" y="0"/>
                    </a:lnTo>
                    <a:lnTo>
                      <a:pt x="16" y="0"/>
                    </a:lnTo>
                    <a:lnTo>
                      <a:pt x="16" y="24"/>
                    </a:lnTo>
                    <a:lnTo>
                      <a:pt x="11" y="39"/>
                    </a:lnTo>
                    <a:lnTo>
                      <a:pt x="11" y="44"/>
                    </a:lnTo>
                    <a:lnTo>
                      <a:pt x="11" y="48"/>
                    </a:lnTo>
                    <a:lnTo>
                      <a:pt x="4" y="48"/>
                    </a:lnTo>
                    <a:lnTo>
                      <a:pt x="0" y="48"/>
                    </a:lnTo>
                    <a:lnTo>
                      <a:pt x="0" y="51"/>
                    </a:lnTo>
                  </a:path>
                </a:pathLst>
              </a:custGeom>
              <a:solidFill>
                <a:srgbClr val="BDB597"/>
              </a:solidFill>
              <a:ln w="9525" cap="rnd">
                <a:noFill/>
                <a:round/>
              </a:ln>
            </p:spPr>
            <p:txBody>
              <a:bodyPr/>
              <a:lstStyle/>
              <a:p>
                <a:endParaRPr lang="zh-CN" altLang="en-US"/>
              </a:p>
            </p:txBody>
          </p:sp>
          <p:sp>
            <p:nvSpPr>
              <p:cNvPr id="9609" name="Freeform 95"/>
              <p:cNvSpPr/>
              <p:nvPr/>
            </p:nvSpPr>
            <p:spPr bwMode="auto">
              <a:xfrm>
                <a:off x="2304" y="2233"/>
                <a:ext cx="17" cy="56"/>
              </a:xfrm>
              <a:custGeom>
                <a:avLst/>
                <a:gdLst>
                  <a:gd name="T0" fmla="*/ 0 w 17"/>
                  <a:gd name="T1" fmla="*/ 55 h 56"/>
                  <a:gd name="T2" fmla="*/ 0 w 17"/>
                  <a:gd name="T3" fmla="*/ 55 h 56"/>
                  <a:gd name="T4" fmla="*/ 0 w 17"/>
                  <a:gd name="T5" fmla="*/ 27 h 56"/>
                  <a:gd name="T6" fmla="*/ 0 w 17"/>
                  <a:gd name="T7" fmla="*/ 18 h 56"/>
                  <a:gd name="T8" fmla="*/ 0 w 17"/>
                  <a:gd name="T9" fmla="*/ 9 h 56"/>
                  <a:gd name="T10" fmla="*/ 0 w 17"/>
                  <a:gd name="T11" fmla="*/ 2 h 56"/>
                  <a:gd name="T12" fmla="*/ 4 w 17"/>
                  <a:gd name="T13" fmla="*/ 0 h 56"/>
                  <a:gd name="T14" fmla="*/ 11 w 17"/>
                  <a:gd name="T15" fmla="*/ 0 h 56"/>
                  <a:gd name="T16" fmla="*/ 16 w 17"/>
                  <a:gd name="T17" fmla="*/ 0 h 56"/>
                  <a:gd name="T18" fmla="*/ 11 w 17"/>
                  <a:gd name="T19" fmla="*/ 24 h 56"/>
                  <a:gd name="T20" fmla="*/ 11 w 17"/>
                  <a:gd name="T21" fmla="*/ 39 h 56"/>
                  <a:gd name="T22" fmla="*/ 11 w 17"/>
                  <a:gd name="T23" fmla="*/ 48 h 56"/>
                  <a:gd name="T24" fmla="*/ 4 w 17"/>
                  <a:gd name="T25" fmla="*/ 48 h 56"/>
                  <a:gd name="T26" fmla="*/ 4 w 17"/>
                  <a:gd name="T27" fmla="*/ 52 h 56"/>
                  <a:gd name="T28" fmla="*/ 0 w 17"/>
                  <a:gd name="T29" fmla="*/ 52 h 56"/>
                  <a:gd name="T30" fmla="*/ 0 w 17"/>
                  <a:gd name="T31" fmla="*/ 55 h 5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
                  <a:gd name="T49" fmla="*/ 0 h 56"/>
                  <a:gd name="T50" fmla="*/ 17 w 17"/>
                  <a:gd name="T51" fmla="*/ 56 h 5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 h="56">
                    <a:moveTo>
                      <a:pt x="0" y="55"/>
                    </a:moveTo>
                    <a:lnTo>
                      <a:pt x="0" y="55"/>
                    </a:lnTo>
                    <a:lnTo>
                      <a:pt x="0" y="27"/>
                    </a:lnTo>
                    <a:lnTo>
                      <a:pt x="0" y="18"/>
                    </a:lnTo>
                    <a:lnTo>
                      <a:pt x="0" y="9"/>
                    </a:lnTo>
                    <a:lnTo>
                      <a:pt x="0" y="2"/>
                    </a:lnTo>
                    <a:lnTo>
                      <a:pt x="4" y="0"/>
                    </a:lnTo>
                    <a:lnTo>
                      <a:pt x="11" y="0"/>
                    </a:lnTo>
                    <a:lnTo>
                      <a:pt x="16" y="0"/>
                    </a:lnTo>
                    <a:lnTo>
                      <a:pt x="11" y="24"/>
                    </a:lnTo>
                    <a:lnTo>
                      <a:pt x="11" y="39"/>
                    </a:lnTo>
                    <a:lnTo>
                      <a:pt x="11" y="48"/>
                    </a:lnTo>
                    <a:lnTo>
                      <a:pt x="4" y="48"/>
                    </a:lnTo>
                    <a:lnTo>
                      <a:pt x="4" y="52"/>
                    </a:lnTo>
                    <a:lnTo>
                      <a:pt x="0" y="52"/>
                    </a:lnTo>
                    <a:lnTo>
                      <a:pt x="0" y="55"/>
                    </a:lnTo>
                  </a:path>
                </a:pathLst>
              </a:custGeom>
              <a:solidFill>
                <a:srgbClr val="BDB597"/>
              </a:solidFill>
              <a:ln w="9525" cap="rnd">
                <a:noFill/>
                <a:round/>
              </a:ln>
            </p:spPr>
            <p:txBody>
              <a:bodyPr/>
              <a:lstStyle/>
              <a:p>
                <a:endParaRPr lang="zh-CN" altLang="en-US"/>
              </a:p>
            </p:txBody>
          </p:sp>
          <p:sp>
            <p:nvSpPr>
              <p:cNvPr id="9610" name="Freeform 96"/>
              <p:cNvSpPr/>
              <p:nvPr/>
            </p:nvSpPr>
            <p:spPr bwMode="auto">
              <a:xfrm>
                <a:off x="2202" y="2298"/>
                <a:ext cx="17" cy="55"/>
              </a:xfrm>
              <a:custGeom>
                <a:avLst/>
                <a:gdLst>
                  <a:gd name="T0" fmla="*/ 0 w 17"/>
                  <a:gd name="T1" fmla="*/ 54 h 55"/>
                  <a:gd name="T2" fmla="*/ 0 w 17"/>
                  <a:gd name="T3" fmla="*/ 54 h 55"/>
                  <a:gd name="T4" fmla="*/ 0 w 17"/>
                  <a:gd name="T5" fmla="*/ 45 h 55"/>
                  <a:gd name="T6" fmla="*/ 0 w 17"/>
                  <a:gd name="T7" fmla="*/ 27 h 55"/>
                  <a:gd name="T8" fmla="*/ 0 w 17"/>
                  <a:gd name="T9" fmla="*/ 18 h 55"/>
                  <a:gd name="T10" fmla="*/ 0 w 17"/>
                  <a:gd name="T11" fmla="*/ 9 h 55"/>
                  <a:gd name="T12" fmla="*/ 0 w 17"/>
                  <a:gd name="T13" fmla="*/ 6 h 55"/>
                  <a:gd name="T14" fmla="*/ 4 w 17"/>
                  <a:gd name="T15" fmla="*/ 2 h 55"/>
                  <a:gd name="T16" fmla="*/ 4 w 17"/>
                  <a:gd name="T17" fmla="*/ 0 h 55"/>
                  <a:gd name="T18" fmla="*/ 11 w 17"/>
                  <a:gd name="T19" fmla="*/ 0 h 55"/>
                  <a:gd name="T20" fmla="*/ 16 w 17"/>
                  <a:gd name="T21" fmla="*/ 0 h 55"/>
                  <a:gd name="T22" fmla="*/ 16 w 17"/>
                  <a:gd name="T23" fmla="*/ 24 h 55"/>
                  <a:gd name="T24" fmla="*/ 16 w 17"/>
                  <a:gd name="T25" fmla="*/ 42 h 55"/>
                  <a:gd name="T26" fmla="*/ 16 w 17"/>
                  <a:gd name="T27" fmla="*/ 45 h 55"/>
                  <a:gd name="T28" fmla="*/ 16 w 17"/>
                  <a:gd name="T29" fmla="*/ 47 h 55"/>
                  <a:gd name="T30" fmla="*/ 16 w 17"/>
                  <a:gd name="T31" fmla="*/ 51 h 55"/>
                  <a:gd name="T32" fmla="*/ 11 w 17"/>
                  <a:gd name="T33" fmla="*/ 51 h 55"/>
                  <a:gd name="T34" fmla="*/ 4 w 17"/>
                  <a:gd name="T35" fmla="*/ 51 h 55"/>
                  <a:gd name="T36" fmla="*/ 4 w 17"/>
                  <a:gd name="T37" fmla="*/ 54 h 55"/>
                  <a:gd name="T38" fmla="*/ 0 w 17"/>
                  <a:gd name="T39" fmla="*/ 54 h 5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
                  <a:gd name="T61" fmla="*/ 0 h 55"/>
                  <a:gd name="T62" fmla="*/ 17 w 17"/>
                  <a:gd name="T63" fmla="*/ 55 h 5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 h="55">
                    <a:moveTo>
                      <a:pt x="0" y="54"/>
                    </a:moveTo>
                    <a:lnTo>
                      <a:pt x="0" y="54"/>
                    </a:lnTo>
                    <a:lnTo>
                      <a:pt x="0" y="45"/>
                    </a:lnTo>
                    <a:lnTo>
                      <a:pt x="0" y="27"/>
                    </a:lnTo>
                    <a:lnTo>
                      <a:pt x="0" y="18"/>
                    </a:lnTo>
                    <a:lnTo>
                      <a:pt x="0" y="9"/>
                    </a:lnTo>
                    <a:lnTo>
                      <a:pt x="0" y="6"/>
                    </a:lnTo>
                    <a:lnTo>
                      <a:pt x="4" y="2"/>
                    </a:lnTo>
                    <a:lnTo>
                      <a:pt x="4" y="0"/>
                    </a:lnTo>
                    <a:lnTo>
                      <a:pt x="11" y="0"/>
                    </a:lnTo>
                    <a:lnTo>
                      <a:pt x="16" y="0"/>
                    </a:lnTo>
                    <a:lnTo>
                      <a:pt x="16" y="24"/>
                    </a:lnTo>
                    <a:lnTo>
                      <a:pt x="16" y="42"/>
                    </a:lnTo>
                    <a:lnTo>
                      <a:pt x="16" y="45"/>
                    </a:lnTo>
                    <a:lnTo>
                      <a:pt x="16" y="47"/>
                    </a:lnTo>
                    <a:lnTo>
                      <a:pt x="16" y="51"/>
                    </a:lnTo>
                    <a:lnTo>
                      <a:pt x="11" y="51"/>
                    </a:lnTo>
                    <a:lnTo>
                      <a:pt x="4" y="51"/>
                    </a:lnTo>
                    <a:lnTo>
                      <a:pt x="4" y="54"/>
                    </a:lnTo>
                    <a:lnTo>
                      <a:pt x="0" y="54"/>
                    </a:lnTo>
                  </a:path>
                </a:pathLst>
              </a:custGeom>
              <a:solidFill>
                <a:srgbClr val="BDB597"/>
              </a:solidFill>
              <a:ln w="9525" cap="rnd">
                <a:noFill/>
                <a:round/>
              </a:ln>
            </p:spPr>
            <p:txBody>
              <a:bodyPr/>
              <a:lstStyle/>
              <a:p>
                <a:endParaRPr lang="zh-CN" altLang="en-US"/>
              </a:p>
            </p:txBody>
          </p:sp>
          <p:grpSp>
            <p:nvGrpSpPr>
              <p:cNvPr id="15" name="Group 97"/>
              <p:cNvGrpSpPr/>
              <p:nvPr/>
            </p:nvGrpSpPr>
            <p:grpSpPr bwMode="auto">
              <a:xfrm>
                <a:off x="2417" y="2026"/>
                <a:ext cx="113" cy="109"/>
                <a:chOff x="2417" y="2026"/>
                <a:chExt cx="113" cy="109"/>
              </a:xfrm>
            </p:grpSpPr>
            <p:sp>
              <p:nvSpPr>
                <p:cNvPr id="9634" name="Freeform 98"/>
                <p:cNvSpPr/>
                <p:nvPr/>
              </p:nvSpPr>
              <p:spPr bwMode="auto">
                <a:xfrm>
                  <a:off x="2449" y="2039"/>
                  <a:ext cx="81" cy="96"/>
                </a:xfrm>
                <a:custGeom>
                  <a:avLst/>
                  <a:gdLst>
                    <a:gd name="T0" fmla="*/ 0 w 81"/>
                    <a:gd name="T1" fmla="*/ 95 h 96"/>
                    <a:gd name="T2" fmla="*/ 0 w 81"/>
                    <a:gd name="T3" fmla="*/ 95 h 96"/>
                    <a:gd name="T4" fmla="*/ 2 w 81"/>
                    <a:gd name="T5" fmla="*/ 45 h 96"/>
                    <a:gd name="T6" fmla="*/ 80 w 81"/>
                    <a:gd name="T7" fmla="*/ 0 h 96"/>
                    <a:gd name="T8" fmla="*/ 77 w 81"/>
                    <a:gd name="T9" fmla="*/ 49 h 96"/>
                    <a:gd name="T10" fmla="*/ 0 w 81"/>
                    <a:gd name="T11" fmla="*/ 95 h 96"/>
                    <a:gd name="T12" fmla="*/ 0 60000 65536"/>
                    <a:gd name="T13" fmla="*/ 0 60000 65536"/>
                    <a:gd name="T14" fmla="*/ 0 60000 65536"/>
                    <a:gd name="T15" fmla="*/ 0 60000 65536"/>
                    <a:gd name="T16" fmla="*/ 0 60000 65536"/>
                    <a:gd name="T17" fmla="*/ 0 60000 65536"/>
                    <a:gd name="T18" fmla="*/ 0 w 81"/>
                    <a:gd name="T19" fmla="*/ 0 h 96"/>
                    <a:gd name="T20" fmla="*/ 81 w 81"/>
                    <a:gd name="T21" fmla="*/ 96 h 96"/>
                  </a:gdLst>
                  <a:ahLst/>
                  <a:cxnLst>
                    <a:cxn ang="T12">
                      <a:pos x="T0" y="T1"/>
                    </a:cxn>
                    <a:cxn ang="T13">
                      <a:pos x="T2" y="T3"/>
                    </a:cxn>
                    <a:cxn ang="T14">
                      <a:pos x="T4" y="T5"/>
                    </a:cxn>
                    <a:cxn ang="T15">
                      <a:pos x="T6" y="T7"/>
                    </a:cxn>
                    <a:cxn ang="T16">
                      <a:pos x="T8" y="T9"/>
                    </a:cxn>
                    <a:cxn ang="T17">
                      <a:pos x="T10" y="T11"/>
                    </a:cxn>
                  </a:cxnLst>
                  <a:rect l="T18" t="T19" r="T20" b="T21"/>
                  <a:pathLst>
                    <a:path w="81" h="96">
                      <a:moveTo>
                        <a:pt x="0" y="95"/>
                      </a:moveTo>
                      <a:lnTo>
                        <a:pt x="0" y="95"/>
                      </a:lnTo>
                      <a:lnTo>
                        <a:pt x="2" y="45"/>
                      </a:lnTo>
                      <a:lnTo>
                        <a:pt x="80" y="0"/>
                      </a:lnTo>
                      <a:lnTo>
                        <a:pt x="77" y="49"/>
                      </a:lnTo>
                      <a:lnTo>
                        <a:pt x="0" y="95"/>
                      </a:lnTo>
                    </a:path>
                  </a:pathLst>
                </a:custGeom>
                <a:solidFill>
                  <a:srgbClr val="BB1A50"/>
                </a:solidFill>
                <a:ln w="9525" cap="rnd">
                  <a:noFill/>
                  <a:round/>
                </a:ln>
              </p:spPr>
              <p:txBody>
                <a:bodyPr/>
                <a:lstStyle/>
                <a:p>
                  <a:endParaRPr lang="zh-CN" altLang="en-US"/>
                </a:p>
              </p:txBody>
            </p:sp>
            <p:sp>
              <p:nvSpPr>
                <p:cNvPr id="9635" name="Freeform 99"/>
                <p:cNvSpPr/>
                <p:nvPr/>
              </p:nvSpPr>
              <p:spPr bwMode="auto">
                <a:xfrm>
                  <a:off x="2417" y="2073"/>
                  <a:ext cx="33" cy="62"/>
                </a:xfrm>
                <a:custGeom>
                  <a:avLst/>
                  <a:gdLst>
                    <a:gd name="T0" fmla="*/ 29 w 33"/>
                    <a:gd name="T1" fmla="*/ 61 h 62"/>
                    <a:gd name="T2" fmla="*/ 29 w 33"/>
                    <a:gd name="T3" fmla="*/ 61 h 62"/>
                    <a:gd name="T4" fmla="*/ 0 w 33"/>
                    <a:gd name="T5" fmla="*/ 48 h 62"/>
                    <a:gd name="T6" fmla="*/ 0 w 33"/>
                    <a:gd name="T7" fmla="*/ 0 h 62"/>
                    <a:gd name="T8" fmla="*/ 32 w 33"/>
                    <a:gd name="T9" fmla="*/ 12 h 62"/>
                    <a:gd name="T10" fmla="*/ 29 w 33"/>
                    <a:gd name="T11" fmla="*/ 61 h 62"/>
                    <a:gd name="T12" fmla="*/ 0 60000 65536"/>
                    <a:gd name="T13" fmla="*/ 0 60000 65536"/>
                    <a:gd name="T14" fmla="*/ 0 60000 65536"/>
                    <a:gd name="T15" fmla="*/ 0 60000 65536"/>
                    <a:gd name="T16" fmla="*/ 0 60000 65536"/>
                    <a:gd name="T17" fmla="*/ 0 60000 65536"/>
                    <a:gd name="T18" fmla="*/ 0 w 33"/>
                    <a:gd name="T19" fmla="*/ 0 h 62"/>
                    <a:gd name="T20" fmla="*/ 33 w 33"/>
                    <a:gd name="T21" fmla="*/ 62 h 62"/>
                  </a:gdLst>
                  <a:ahLst/>
                  <a:cxnLst>
                    <a:cxn ang="T12">
                      <a:pos x="T0" y="T1"/>
                    </a:cxn>
                    <a:cxn ang="T13">
                      <a:pos x="T2" y="T3"/>
                    </a:cxn>
                    <a:cxn ang="T14">
                      <a:pos x="T4" y="T5"/>
                    </a:cxn>
                    <a:cxn ang="T15">
                      <a:pos x="T6" y="T7"/>
                    </a:cxn>
                    <a:cxn ang="T16">
                      <a:pos x="T8" y="T9"/>
                    </a:cxn>
                    <a:cxn ang="T17">
                      <a:pos x="T10" y="T11"/>
                    </a:cxn>
                  </a:cxnLst>
                  <a:rect l="T18" t="T19" r="T20" b="T21"/>
                  <a:pathLst>
                    <a:path w="33" h="62">
                      <a:moveTo>
                        <a:pt x="29" y="61"/>
                      </a:moveTo>
                      <a:lnTo>
                        <a:pt x="29" y="61"/>
                      </a:lnTo>
                      <a:lnTo>
                        <a:pt x="0" y="48"/>
                      </a:lnTo>
                      <a:lnTo>
                        <a:pt x="0" y="0"/>
                      </a:lnTo>
                      <a:lnTo>
                        <a:pt x="32" y="12"/>
                      </a:lnTo>
                      <a:lnTo>
                        <a:pt x="29" y="61"/>
                      </a:lnTo>
                    </a:path>
                  </a:pathLst>
                </a:custGeom>
                <a:solidFill>
                  <a:srgbClr val="9E0005"/>
                </a:solidFill>
                <a:ln w="9525" cap="rnd">
                  <a:noFill/>
                  <a:round/>
                </a:ln>
              </p:spPr>
              <p:txBody>
                <a:bodyPr/>
                <a:lstStyle/>
                <a:p>
                  <a:endParaRPr lang="zh-CN" altLang="en-US"/>
                </a:p>
              </p:txBody>
            </p:sp>
            <p:sp>
              <p:nvSpPr>
                <p:cNvPr id="9636" name="Freeform 100"/>
                <p:cNvSpPr/>
                <p:nvPr/>
              </p:nvSpPr>
              <p:spPr bwMode="auto">
                <a:xfrm>
                  <a:off x="2417" y="2026"/>
                  <a:ext cx="113" cy="58"/>
                </a:xfrm>
                <a:custGeom>
                  <a:avLst/>
                  <a:gdLst>
                    <a:gd name="T0" fmla="*/ 33 w 113"/>
                    <a:gd name="T1" fmla="*/ 57 h 58"/>
                    <a:gd name="T2" fmla="*/ 33 w 113"/>
                    <a:gd name="T3" fmla="*/ 57 h 58"/>
                    <a:gd name="T4" fmla="*/ 0 w 113"/>
                    <a:gd name="T5" fmla="*/ 45 h 58"/>
                    <a:gd name="T6" fmla="*/ 84 w 113"/>
                    <a:gd name="T7" fmla="*/ 0 h 58"/>
                    <a:gd name="T8" fmla="*/ 112 w 113"/>
                    <a:gd name="T9" fmla="*/ 11 h 58"/>
                    <a:gd name="T10" fmla="*/ 33 w 113"/>
                    <a:gd name="T11" fmla="*/ 57 h 58"/>
                    <a:gd name="T12" fmla="*/ 0 60000 65536"/>
                    <a:gd name="T13" fmla="*/ 0 60000 65536"/>
                    <a:gd name="T14" fmla="*/ 0 60000 65536"/>
                    <a:gd name="T15" fmla="*/ 0 60000 65536"/>
                    <a:gd name="T16" fmla="*/ 0 60000 65536"/>
                    <a:gd name="T17" fmla="*/ 0 60000 65536"/>
                    <a:gd name="T18" fmla="*/ 0 w 113"/>
                    <a:gd name="T19" fmla="*/ 0 h 58"/>
                    <a:gd name="T20" fmla="*/ 113 w 113"/>
                    <a:gd name="T21" fmla="*/ 58 h 58"/>
                  </a:gdLst>
                  <a:ahLst/>
                  <a:cxnLst>
                    <a:cxn ang="T12">
                      <a:pos x="T0" y="T1"/>
                    </a:cxn>
                    <a:cxn ang="T13">
                      <a:pos x="T2" y="T3"/>
                    </a:cxn>
                    <a:cxn ang="T14">
                      <a:pos x="T4" y="T5"/>
                    </a:cxn>
                    <a:cxn ang="T15">
                      <a:pos x="T6" y="T7"/>
                    </a:cxn>
                    <a:cxn ang="T16">
                      <a:pos x="T8" y="T9"/>
                    </a:cxn>
                    <a:cxn ang="T17">
                      <a:pos x="T10" y="T11"/>
                    </a:cxn>
                  </a:cxnLst>
                  <a:rect l="T18" t="T19" r="T20" b="T21"/>
                  <a:pathLst>
                    <a:path w="113" h="58">
                      <a:moveTo>
                        <a:pt x="33" y="57"/>
                      </a:moveTo>
                      <a:lnTo>
                        <a:pt x="33" y="57"/>
                      </a:lnTo>
                      <a:lnTo>
                        <a:pt x="0" y="45"/>
                      </a:lnTo>
                      <a:lnTo>
                        <a:pt x="84" y="0"/>
                      </a:lnTo>
                      <a:lnTo>
                        <a:pt x="112" y="11"/>
                      </a:lnTo>
                      <a:lnTo>
                        <a:pt x="33" y="57"/>
                      </a:lnTo>
                    </a:path>
                  </a:pathLst>
                </a:custGeom>
                <a:solidFill>
                  <a:srgbClr val="CF5C82"/>
                </a:solidFill>
                <a:ln w="9525" cap="rnd">
                  <a:noFill/>
                  <a:round/>
                </a:ln>
              </p:spPr>
              <p:txBody>
                <a:bodyPr/>
                <a:lstStyle/>
                <a:p>
                  <a:endParaRPr lang="zh-CN" altLang="en-US"/>
                </a:p>
              </p:txBody>
            </p:sp>
          </p:grpSp>
          <p:grpSp>
            <p:nvGrpSpPr>
              <p:cNvPr id="16" name="Group 101"/>
              <p:cNvGrpSpPr/>
              <p:nvPr/>
            </p:nvGrpSpPr>
            <p:grpSpPr bwMode="auto">
              <a:xfrm>
                <a:off x="2321" y="2081"/>
                <a:ext cx="123" cy="112"/>
                <a:chOff x="2321" y="2081"/>
                <a:chExt cx="123" cy="112"/>
              </a:xfrm>
            </p:grpSpPr>
            <p:sp>
              <p:nvSpPr>
                <p:cNvPr id="9631" name="Freeform 102"/>
                <p:cNvSpPr/>
                <p:nvPr/>
              </p:nvSpPr>
              <p:spPr bwMode="auto">
                <a:xfrm>
                  <a:off x="2358" y="2093"/>
                  <a:ext cx="86" cy="100"/>
                </a:xfrm>
                <a:custGeom>
                  <a:avLst/>
                  <a:gdLst>
                    <a:gd name="T0" fmla="*/ 0 w 86"/>
                    <a:gd name="T1" fmla="*/ 99 h 100"/>
                    <a:gd name="T2" fmla="*/ 0 w 86"/>
                    <a:gd name="T3" fmla="*/ 99 h 100"/>
                    <a:gd name="T4" fmla="*/ 2 w 86"/>
                    <a:gd name="T5" fmla="*/ 49 h 100"/>
                    <a:gd name="T6" fmla="*/ 85 w 86"/>
                    <a:gd name="T7" fmla="*/ 0 h 100"/>
                    <a:gd name="T8" fmla="*/ 82 w 86"/>
                    <a:gd name="T9" fmla="*/ 49 h 100"/>
                    <a:gd name="T10" fmla="*/ 0 w 86"/>
                    <a:gd name="T11" fmla="*/ 99 h 100"/>
                    <a:gd name="T12" fmla="*/ 0 60000 65536"/>
                    <a:gd name="T13" fmla="*/ 0 60000 65536"/>
                    <a:gd name="T14" fmla="*/ 0 60000 65536"/>
                    <a:gd name="T15" fmla="*/ 0 60000 65536"/>
                    <a:gd name="T16" fmla="*/ 0 60000 65536"/>
                    <a:gd name="T17" fmla="*/ 0 60000 65536"/>
                    <a:gd name="T18" fmla="*/ 0 w 86"/>
                    <a:gd name="T19" fmla="*/ 0 h 100"/>
                    <a:gd name="T20" fmla="*/ 86 w 86"/>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86" h="100">
                      <a:moveTo>
                        <a:pt x="0" y="99"/>
                      </a:moveTo>
                      <a:lnTo>
                        <a:pt x="0" y="99"/>
                      </a:lnTo>
                      <a:lnTo>
                        <a:pt x="2" y="49"/>
                      </a:lnTo>
                      <a:lnTo>
                        <a:pt x="85" y="0"/>
                      </a:lnTo>
                      <a:lnTo>
                        <a:pt x="82" y="49"/>
                      </a:lnTo>
                      <a:lnTo>
                        <a:pt x="0" y="99"/>
                      </a:lnTo>
                    </a:path>
                  </a:pathLst>
                </a:custGeom>
                <a:solidFill>
                  <a:srgbClr val="BB1A50"/>
                </a:solidFill>
                <a:ln w="9525" cap="rnd">
                  <a:noFill/>
                  <a:round/>
                </a:ln>
              </p:spPr>
              <p:txBody>
                <a:bodyPr/>
                <a:lstStyle/>
                <a:p>
                  <a:endParaRPr lang="zh-CN" altLang="en-US"/>
                </a:p>
              </p:txBody>
            </p:sp>
            <p:sp>
              <p:nvSpPr>
                <p:cNvPr id="9632" name="Freeform 103"/>
                <p:cNvSpPr/>
                <p:nvPr/>
              </p:nvSpPr>
              <p:spPr bwMode="auto">
                <a:xfrm>
                  <a:off x="2321" y="2132"/>
                  <a:ext cx="38" cy="61"/>
                </a:xfrm>
                <a:custGeom>
                  <a:avLst/>
                  <a:gdLst>
                    <a:gd name="T0" fmla="*/ 34 w 38"/>
                    <a:gd name="T1" fmla="*/ 60 h 61"/>
                    <a:gd name="T2" fmla="*/ 34 w 38"/>
                    <a:gd name="T3" fmla="*/ 60 h 61"/>
                    <a:gd name="T4" fmla="*/ 0 w 38"/>
                    <a:gd name="T5" fmla="*/ 48 h 61"/>
                    <a:gd name="T6" fmla="*/ 2 w 38"/>
                    <a:gd name="T7" fmla="*/ 0 h 61"/>
                    <a:gd name="T8" fmla="*/ 37 w 38"/>
                    <a:gd name="T9" fmla="*/ 11 h 61"/>
                    <a:gd name="T10" fmla="*/ 34 w 38"/>
                    <a:gd name="T11" fmla="*/ 60 h 61"/>
                    <a:gd name="T12" fmla="*/ 0 60000 65536"/>
                    <a:gd name="T13" fmla="*/ 0 60000 65536"/>
                    <a:gd name="T14" fmla="*/ 0 60000 65536"/>
                    <a:gd name="T15" fmla="*/ 0 60000 65536"/>
                    <a:gd name="T16" fmla="*/ 0 60000 65536"/>
                    <a:gd name="T17" fmla="*/ 0 60000 65536"/>
                    <a:gd name="T18" fmla="*/ 0 w 38"/>
                    <a:gd name="T19" fmla="*/ 0 h 61"/>
                    <a:gd name="T20" fmla="*/ 38 w 38"/>
                    <a:gd name="T21" fmla="*/ 61 h 61"/>
                  </a:gdLst>
                  <a:ahLst/>
                  <a:cxnLst>
                    <a:cxn ang="T12">
                      <a:pos x="T0" y="T1"/>
                    </a:cxn>
                    <a:cxn ang="T13">
                      <a:pos x="T2" y="T3"/>
                    </a:cxn>
                    <a:cxn ang="T14">
                      <a:pos x="T4" y="T5"/>
                    </a:cxn>
                    <a:cxn ang="T15">
                      <a:pos x="T6" y="T7"/>
                    </a:cxn>
                    <a:cxn ang="T16">
                      <a:pos x="T8" y="T9"/>
                    </a:cxn>
                    <a:cxn ang="T17">
                      <a:pos x="T10" y="T11"/>
                    </a:cxn>
                  </a:cxnLst>
                  <a:rect l="T18" t="T19" r="T20" b="T21"/>
                  <a:pathLst>
                    <a:path w="38" h="61">
                      <a:moveTo>
                        <a:pt x="34" y="60"/>
                      </a:moveTo>
                      <a:lnTo>
                        <a:pt x="34" y="60"/>
                      </a:lnTo>
                      <a:lnTo>
                        <a:pt x="0" y="48"/>
                      </a:lnTo>
                      <a:lnTo>
                        <a:pt x="2" y="0"/>
                      </a:lnTo>
                      <a:lnTo>
                        <a:pt x="37" y="11"/>
                      </a:lnTo>
                      <a:lnTo>
                        <a:pt x="34" y="60"/>
                      </a:lnTo>
                    </a:path>
                  </a:pathLst>
                </a:custGeom>
                <a:solidFill>
                  <a:srgbClr val="9E0005"/>
                </a:solidFill>
                <a:ln w="9525" cap="rnd">
                  <a:noFill/>
                  <a:round/>
                </a:ln>
              </p:spPr>
              <p:txBody>
                <a:bodyPr/>
                <a:lstStyle/>
                <a:p>
                  <a:endParaRPr lang="zh-CN" altLang="en-US"/>
                </a:p>
              </p:txBody>
            </p:sp>
            <p:sp>
              <p:nvSpPr>
                <p:cNvPr id="9633" name="Freeform 104"/>
                <p:cNvSpPr/>
                <p:nvPr/>
              </p:nvSpPr>
              <p:spPr bwMode="auto">
                <a:xfrm>
                  <a:off x="2323" y="2081"/>
                  <a:ext cx="121" cy="62"/>
                </a:xfrm>
                <a:custGeom>
                  <a:avLst/>
                  <a:gdLst>
                    <a:gd name="T0" fmla="*/ 36 w 121"/>
                    <a:gd name="T1" fmla="*/ 61 h 62"/>
                    <a:gd name="T2" fmla="*/ 36 w 121"/>
                    <a:gd name="T3" fmla="*/ 61 h 62"/>
                    <a:gd name="T4" fmla="*/ 0 w 121"/>
                    <a:gd name="T5" fmla="*/ 49 h 62"/>
                    <a:gd name="T6" fmla="*/ 86 w 121"/>
                    <a:gd name="T7" fmla="*/ 0 h 62"/>
                    <a:gd name="T8" fmla="*/ 120 w 121"/>
                    <a:gd name="T9" fmla="*/ 11 h 62"/>
                    <a:gd name="T10" fmla="*/ 36 w 121"/>
                    <a:gd name="T11" fmla="*/ 61 h 62"/>
                    <a:gd name="T12" fmla="*/ 0 60000 65536"/>
                    <a:gd name="T13" fmla="*/ 0 60000 65536"/>
                    <a:gd name="T14" fmla="*/ 0 60000 65536"/>
                    <a:gd name="T15" fmla="*/ 0 60000 65536"/>
                    <a:gd name="T16" fmla="*/ 0 60000 65536"/>
                    <a:gd name="T17" fmla="*/ 0 60000 65536"/>
                    <a:gd name="T18" fmla="*/ 0 w 121"/>
                    <a:gd name="T19" fmla="*/ 0 h 62"/>
                    <a:gd name="T20" fmla="*/ 121 w 121"/>
                    <a:gd name="T21" fmla="*/ 62 h 62"/>
                  </a:gdLst>
                  <a:ahLst/>
                  <a:cxnLst>
                    <a:cxn ang="T12">
                      <a:pos x="T0" y="T1"/>
                    </a:cxn>
                    <a:cxn ang="T13">
                      <a:pos x="T2" y="T3"/>
                    </a:cxn>
                    <a:cxn ang="T14">
                      <a:pos x="T4" y="T5"/>
                    </a:cxn>
                    <a:cxn ang="T15">
                      <a:pos x="T6" y="T7"/>
                    </a:cxn>
                    <a:cxn ang="T16">
                      <a:pos x="T8" y="T9"/>
                    </a:cxn>
                    <a:cxn ang="T17">
                      <a:pos x="T10" y="T11"/>
                    </a:cxn>
                  </a:cxnLst>
                  <a:rect l="T18" t="T19" r="T20" b="T21"/>
                  <a:pathLst>
                    <a:path w="121" h="62">
                      <a:moveTo>
                        <a:pt x="36" y="61"/>
                      </a:moveTo>
                      <a:lnTo>
                        <a:pt x="36" y="61"/>
                      </a:lnTo>
                      <a:lnTo>
                        <a:pt x="0" y="49"/>
                      </a:lnTo>
                      <a:lnTo>
                        <a:pt x="86" y="0"/>
                      </a:lnTo>
                      <a:lnTo>
                        <a:pt x="120" y="11"/>
                      </a:lnTo>
                      <a:lnTo>
                        <a:pt x="36" y="61"/>
                      </a:lnTo>
                    </a:path>
                  </a:pathLst>
                </a:custGeom>
                <a:solidFill>
                  <a:srgbClr val="CF5C82"/>
                </a:solidFill>
                <a:ln w="9525" cap="rnd">
                  <a:noFill/>
                  <a:round/>
                </a:ln>
              </p:spPr>
              <p:txBody>
                <a:bodyPr/>
                <a:lstStyle/>
                <a:p>
                  <a:endParaRPr lang="zh-CN" altLang="en-US"/>
                </a:p>
              </p:txBody>
            </p:sp>
          </p:grpSp>
          <p:grpSp>
            <p:nvGrpSpPr>
              <p:cNvPr id="17" name="Group 105"/>
              <p:cNvGrpSpPr/>
              <p:nvPr/>
            </p:nvGrpSpPr>
            <p:grpSpPr bwMode="auto">
              <a:xfrm>
                <a:off x="2221" y="2138"/>
                <a:ext cx="131" cy="120"/>
                <a:chOff x="2221" y="2138"/>
                <a:chExt cx="131" cy="120"/>
              </a:xfrm>
            </p:grpSpPr>
            <p:sp>
              <p:nvSpPr>
                <p:cNvPr id="9628" name="Freeform 106"/>
                <p:cNvSpPr/>
                <p:nvPr/>
              </p:nvSpPr>
              <p:spPr bwMode="auto">
                <a:xfrm>
                  <a:off x="2260" y="2151"/>
                  <a:ext cx="92" cy="107"/>
                </a:xfrm>
                <a:custGeom>
                  <a:avLst/>
                  <a:gdLst>
                    <a:gd name="T0" fmla="*/ 0 w 92"/>
                    <a:gd name="T1" fmla="*/ 106 h 107"/>
                    <a:gd name="T2" fmla="*/ 0 w 92"/>
                    <a:gd name="T3" fmla="*/ 106 h 107"/>
                    <a:gd name="T4" fmla="*/ 0 w 92"/>
                    <a:gd name="T5" fmla="*/ 53 h 107"/>
                    <a:gd name="T6" fmla="*/ 91 w 92"/>
                    <a:gd name="T7" fmla="*/ 0 h 107"/>
                    <a:gd name="T8" fmla="*/ 88 w 92"/>
                    <a:gd name="T9" fmla="*/ 50 h 107"/>
                    <a:gd name="T10" fmla="*/ 0 w 92"/>
                    <a:gd name="T11" fmla="*/ 106 h 107"/>
                    <a:gd name="T12" fmla="*/ 0 60000 65536"/>
                    <a:gd name="T13" fmla="*/ 0 60000 65536"/>
                    <a:gd name="T14" fmla="*/ 0 60000 65536"/>
                    <a:gd name="T15" fmla="*/ 0 60000 65536"/>
                    <a:gd name="T16" fmla="*/ 0 60000 65536"/>
                    <a:gd name="T17" fmla="*/ 0 60000 65536"/>
                    <a:gd name="T18" fmla="*/ 0 w 92"/>
                    <a:gd name="T19" fmla="*/ 0 h 107"/>
                    <a:gd name="T20" fmla="*/ 92 w 92"/>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92" h="107">
                      <a:moveTo>
                        <a:pt x="0" y="106"/>
                      </a:moveTo>
                      <a:lnTo>
                        <a:pt x="0" y="106"/>
                      </a:lnTo>
                      <a:lnTo>
                        <a:pt x="0" y="53"/>
                      </a:lnTo>
                      <a:lnTo>
                        <a:pt x="91" y="0"/>
                      </a:lnTo>
                      <a:lnTo>
                        <a:pt x="88" y="50"/>
                      </a:lnTo>
                      <a:lnTo>
                        <a:pt x="0" y="106"/>
                      </a:lnTo>
                    </a:path>
                  </a:pathLst>
                </a:custGeom>
                <a:solidFill>
                  <a:srgbClr val="BB1A50"/>
                </a:solidFill>
                <a:ln w="9525" cap="rnd">
                  <a:noFill/>
                  <a:round/>
                </a:ln>
              </p:spPr>
              <p:txBody>
                <a:bodyPr/>
                <a:lstStyle/>
                <a:p>
                  <a:endParaRPr lang="zh-CN" altLang="en-US"/>
                </a:p>
              </p:txBody>
            </p:sp>
            <p:sp>
              <p:nvSpPr>
                <p:cNvPr id="9629" name="Freeform 107"/>
                <p:cNvSpPr/>
                <p:nvPr/>
              </p:nvSpPr>
              <p:spPr bwMode="auto">
                <a:xfrm>
                  <a:off x="2221" y="2192"/>
                  <a:ext cx="38" cy="66"/>
                </a:xfrm>
                <a:custGeom>
                  <a:avLst/>
                  <a:gdLst>
                    <a:gd name="T0" fmla="*/ 37 w 38"/>
                    <a:gd name="T1" fmla="*/ 65 h 66"/>
                    <a:gd name="T2" fmla="*/ 37 w 38"/>
                    <a:gd name="T3" fmla="*/ 65 h 66"/>
                    <a:gd name="T4" fmla="*/ 0 w 38"/>
                    <a:gd name="T5" fmla="*/ 52 h 66"/>
                    <a:gd name="T6" fmla="*/ 0 w 38"/>
                    <a:gd name="T7" fmla="*/ 0 h 66"/>
                    <a:gd name="T8" fmla="*/ 37 w 38"/>
                    <a:gd name="T9" fmla="*/ 12 h 66"/>
                    <a:gd name="T10" fmla="*/ 37 w 38"/>
                    <a:gd name="T11" fmla="*/ 65 h 66"/>
                    <a:gd name="T12" fmla="*/ 0 60000 65536"/>
                    <a:gd name="T13" fmla="*/ 0 60000 65536"/>
                    <a:gd name="T14" fmla="*/ 0 60000 65536"/>
                    <a:gd name="T15" fmla="*/ 0 60000 65536"/>
                    <a:gd name="T16" fmla="*/ 0 60000 65536"/>
                    <a:gd name="T17" fmla="*/ 0 60000 65536"/>
                    <a:gd name="T18" fmla="*/ 0 w 38"/>
                    <a:gd name="T19" fmla="*/ 0 h 66"/>
                    <a:gd name="T20" fmla="*/ 38 w 38"/>
                    <a:gd name="T21" fmla="*/ 66 h 66"/>
                  </a:gdLst>
                  <a:ahLst/>
                  <a:cxnLst>
                    <a:cxn ang="T12">
                      <a:pos x="T0" y="T1"/>
                    </a:cxn>
                    <a:cxn ang="T13">
                      <a:pos x="T2" y="T3"/>
                    </a:cxn>
                    <a:cxn ang="T14">
                      <a:pos x="T4" y="T5"/>
                    </a:cxn>
                    <a:cxn ang="T15">
                      <a:pos x="T6" y="T7"/>
                    </a:cxn>
                    <a:cxn ang="T16">
                      <a:pos x="T8" y="T9"/>
                    </a:cxn>
                    <a:cxn ang="T17">
                      <a:pos x="T10" y="T11"/>
                    </a:cxn>
                  </a:cxnLst>
                  <a:rect l="T18" t="T19" r="T20" b="T21"/>
                  <a:pathLst>
                    <a:path w="38" h="66">
                      <a:moveTo>
                        <a:pt x="37" y="65"/>
                      </a:moveTo>
                      <a:lnTo>
                        <a:pt x="37" y="65"/>
                      </a:lnTo>
                      <a:lnTo>
                        <a:pt x="0" y="52"/>
                      </a:lnTo>
                      <a:lnTo>
                        <a:pt x="0" y="0"/>
                      </a:lnTo>
                      <a:lnTo>
                        <a:pt x="37" y="12"/>
                      </a:lnTo>
                      <a:lnTo>
                        <a:pt x="37" y="65"/>
                      </a:lnTo>
                    </a:path>
                  </a:pathLst>
                </a:custGeom>
                <a:solidFill>
                  <a:srgbClr val="9E0005"/>
                </a:solidFill>
                <a:ln w="9525" cap="rnd">
                  <a:noFill/>
                  <a:round/>
                </a:ln>
              </p:spPr>
              <p:txBody>
                <a:bodyPr/>
                <a:lstStyle/>
                <a:p>
                  <a:endParaRPr lang="zh-CN" altLang="en-US"/>
                </a:p>
              </p:txBody>
            </p:sp>
            <p:sp>
              <p:nvSpPr>
                <p:cNvPr id="9630" name="Freeform 108"/>
                <p:cNvSpPr/>
                <p:nvPr/>
              </p:nvSpPr>
              <p:spPr bwMode="auto">
                <a:xfrm>
                  <a:off x="2221" y="2138"/>
                  <a:ext cx="131" cy="65"/>
                </a:xfrm>
                <a:custGeom>
                  <a:avLst/>
                  <a:gdLst>
                    <a:gd name="T0" fmla="*/ 39 w 131"/>
                    <a:gd name="T1" fmla="*/ 64 h 65"/>
                    <a:gd name="T2" fmla="*/ 39 w 131"/>
                    <a:gd name="T3" fmla="*/ 64 h 65"/>
                    <a:gd name="T4" fmla="*/ 0 w 131"/>
                    <a:gd name="T5" fmla="*/ 51 h 65"/>
                    <a:gd name="T6" fmla="*/ 94 w 131"/>
                    <a:gd name="T7" fmla="*/ 0 h 65"/>
                    <a:gd name="T8" fmla="*/ 130 w 131"/>
                    <a:gd name="T9" fmla="*/ 12 h 65"/>
                    <a:gd name="T10" fmla="*/ 39 w 131"/>
                    <a:gd name="T11" fmla="*/ 64 h 65"/>
                    <a:gd name="T12" fmla="*/ 0 60000 65536"/>
                    <a:gd name="T13" fmla="*/ 0 60000 65536"/>
                    <a:gd name="T14" fmla="*/ 0 60000 65536"/>
                    <a:gd name="T15" fmla="*/ 0 60000 65536"/>
                    <a:gd name="T16" fmla="*/ 0 60000 65536"/>
                    <a:gd name="T17" fmla="*/ 0 60000 65536"/>
                    <a:gd name="T18" fmla="*/ 0 w 131"/>
                    <a:gd name="T19" fmla="*/ 0 h 65"/>
                    <a:gd name="T20" fmla="*/ 131 w 131"/>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131" h="65">
                      <a:moveTo>
                        <a:pt x="39" y="64"/>
                      </a:moveTo>
                      <a:lnTo>
                        <a:pt x="39" y="64"/>
                      </a:lnTo>
                      <a:lnTo>
                        <a:pt x="0" y="51"/>
                      </a:lnTo>
                      <a:lnTo>
                        <a:pt x="94" y="0"/>
                      </a:lnTo>
                      <a:lnTo>
                        <a:pt x="130" y="12"/>
                      </a:lnTo>
                      <a:lnTo>
                        <a:pt x="39" y="64"/>
                      </a:lnTo>
                    </a:path>
                  </a:pathLst>
                </a:custGeom>
                <a:solidFill>
                  <a:srgbClr val="CF5C82"/>
                </a:solidFill>
                <a:ln w="9525" cap="rnd">
                  <a:noFill/>
                  <a:round/>
                </a:ln>
              </p:spPr>
              <p:txBody>
                <a:bodyPr/>
                <a:lstStyle/>
                <a:p>
                  <a:endParaRPr lang="zh-CN" altLang="en-US"/>
                </a:p>
              </p:txBody>
            </p:sp>
          </p:grpSp>
          <p:grpSp>
            <p:nvGrpSpPr>
              <p:cNvPr id="18" name="Group 109"/>
              <p:cNvGrpSpPr/>
              <p:nvPr/>
            </p:nvGrpSpPr>
            <p:grpSpPr bwMode="auto">
              <a:xfrm>
                <a:off x="2109" y="2198"/>
                <a:ext cx="144" cy="123"/>
                <a:chOff x="2109" y="2198"/>
                <a:chExt cx="144" cy="123"/>
              </a:xfrm>
            </p:grpSpPr>
            <p:sp>
              <p:nvSpPr>
                <p:cNvPr id="9625" name="Freeform 110"/>
                <p:cNvSpPr/>
                <p:nvPr/>
              </p:nvSpPr>
              <p:spPr bwMode="auto">
                <a:xfrm>
                  <a:off x="2154" y="2212"/>
                  <a:ext cx="98" cy="109"/>
                </a:xfrm>
                <a:custGeom>
                  <a:avLst/>
                  <a:gdLst>
                    <a:gd name="T0" fmla="*/ 0 w 98"/>
                    <a:gd name="T1" fmla="*/ 108 h 109"/>
                    <a:gd name="T2" fmla="*/ 0 w 98"/>
                    <a:gd name="T3" fmla="*/ 108 h 109"/>
                    <a:gd name="T4" fmla="*/ 0 w 98"/>
                    <a:gd name="T5" fmla="*/ 55 h 109"/>
                    <a:gd name="T6" fmla="*/ 97 w 98"/>
                    <a:gd name="T7" fmla="*/ 0 h 109"/>
                    <a:gd name="T8" fmla="*/ 97 w 98"/>
                    <a:gd name="T9" fmla="*/ 49 h 109"/>
                    <a:gd name="T10" fmla="*/ 0 w 98"/>
                    <a:gd name="T11" fmla="*/ 108 h 109"/>
                    <a:gd name="T12" fmla="*/ 0 60000 65536"/>
                    <a:gd name="T13" fmla="*/ 0 60000 65536"/>
                    <a:gd name="T14" fmla="*/ 0 60000 65536"/>
                    <a:gd name="T15" fmla="*/ 0 60000 65536"/>
                    <a:gd name="T16" fmla="*/ 0 60000 65536"/>
                    <a:gd name="T17" fmla="*/ 0 60000 65536"/>
                    <a:gd name="T18" fmla="*/ 0 w 98"/>
                    <a:gd name="T19" fmla="*/ 0 h 109"/>
                    <a:gd name="T20" fmla="*/ 98 w 98"/>
                    <a:gd name="T21" fmla="*/ 109 h 109"/>
                  </a:gdLst>
                  <a:ahLst/>
                  <a:cxnLst>
                    <a:cxn ang="T12">
                      <a:pos x="T0" y="T1"/>
                    </a:cxn>
                    <a:cxn ang="T13">
                      <a:pos x="T2" y="T3"/>
                    </a:cxn>
                    <a:cxn ang="T14">
                      <a:pos x="T4" y="T5"/>
                    </a:cxn>
                    <a:cxn ang="T15">
                      <a:pos x="T6" y="T7"/>
                    </a:cxn>
                    <a:cxn ang="T16">
                      <a:pos x="T8" y="T9"/>
                    </a:cxn>
                    <a:cxn ang="T17">
                      <a:pos x="T10" y="T11"/>
                    </a:cxn>
                  </a:cxnLst>
                  <a:rect l="T18" t="T19" r="T20" b="T21"/>
                  <a:pathLst>
                    <a:path w="98" h="109">
                      <a:moveTo>
                        <a:pt x="0" y="108"/>
                      </a:moveTo>
                      <a:lnTo>
                        <a:pt x="0" y="108"/>
                      </a:lnTo>
                      <a:lnTo>
                        <a:pt x="0" y="55"/>
                      </a:lnTo>
                      <a:lnTo>
                        <a:pt x="97" y="0"/>
                      </a:lnTo>
                      <a:lnTo>
                        <a:pt x="97" y="49"/>
                      </a:lnTo>
                      <a:lnTo>
                        <a:pt x="0" y="108"/>
                      </a:lnTo>
                    </a:path>
                  </a:pathLst>
                </a:custGeom>
                <a:solidFill>
                  <a:srgbClr val="BB1A50"/>
                </a:solidFill>
                <a:ln w="9525" cap="rnd">
                  <a:noFill/>
                  <a:round/>
                </a:ln>
              </p:spPr>
              <p:txBody>
                <a:bodyPr/>
                <a:lstStyle/>
                <a:p>
                  <a:endParaRPr lang="zh-CN" altLang="en-US"/>
                </a:p>
              </p:txBody>
            </p:sp>
            <p:sp>
              <p:nvSpPr>
                <p:cNvPr id="9626" name="Freeform 111"/>
                <p:cNvSpPr/>
                <p:nvPr/>
              </p:nvSpPr>
              <p:spPr bwMode="auto">
                <a:xfrm>
                  <a:off x="2109" y="2259"/>
                  <a:ext cx="44" cy="62"/>
                </a:xfrm>
                <a:custGeom>
                  <a:avLst/>
                  <a:gdLst>
                    <a:gd name="T0" fmla="*/ 43 w 44"/>
                    <a:gd name="T1" fmla="*/ 61 h 62"/>
                    <a:gd name="T2" fmla="*/ 43 w 44"/>
                    <a:gd name="T3" fmla="*/ 61 h 62"/>
                    <a:gd name="T4" fmla="*/ 0 w 44"/>
                    <a:gd name="T5" fmla="*/ 52 h 62"/>
                    <a:gd name="T6" fmla="*/ 0 w 44"/>
                    <a:gd name="T7" fmla="*/ 0 h 62"/>
                    <a:gd name="T8" fmla="*/ 43 w 44"/>
                    <a:gd name="T9" fmla="*/ 8 h 62"/>
                    <a:gd name="T10" fmla="*/ 43 w 44"/>
                    <a:gd name="T11" fmla="*/ 61 h 62"/>
                    <a:gd name="T12" fmla="*/ 0 60000 65536"/>
                    <a:gd name="T13" fmla="*/ 0 60000 65536"/>
                    <a:gd name="T14" fmla="*/ 0 60000 65536"/>
                    <a:gd name="T15" fmla="*/ 0 60000 65536"/>
                    <a:gd name="T16" fmla="*/ 0 60000 65536"/>
                    <a:gd name="T17" fmla="*/ 0 60000 65536"/>
                    <a:gd name="T18" fmla="*/ 0 w 44"/>
                    <a:gd name="T19" fmla="*/ 0 h 62"/>
                    <a:gd name="T20" fmla="*/ 44 w 44"/>
                    <a:gd name="T21" fmla="*/ 62 h 62"/>
                  </a:gdLst>
                  <a:ahLst/>
                  <a:cxnLst>
                    <a:cxn ang="T12">
                      <a:pos x="T0" y="T1"/>
                    </a:cxn>
                    <a:cxn ang="T13">
                      <a:pos x="T2" y="T3"/>
                    </a:cxn>
                    <a:cxn ang="T14">
                      <a:pos x="T4" y="T5"/>
                    </a:cxn>
                    <a:cxn ang="T15">
                      <a:pos x="T6" y="T7"/>
                    </a:cxn>
                    <a:cxn ang="T16">
                      <a:pos x="T8" y="T9"/>
                    </a:cxn>
                    <a:cxn ang="T17">
                      <a:pos x="T10" y="T11"/>
                    </a:cxn>
                  </a:cxnLst>
                  <a:rect l="T18" t="T19" r="T20" b="T21"/>
                  <a:pathLst>
                    <a:path w="44" h="62">
                      <a:moveTo>
                        <a:pt x="43" y="61"/>
                      </a:moveTo>
                      <a:lnTo>
                        <a:pt x="43" y="61"/>
                      </a:lnTo>
                      <a:lnTo>
                        <a:pt x="0" y="52"/>
                      </a:lnTo>
                      <a:lnTo>
                        <a:pt x="0" y="0"/>
                      </a:lnTo>
                      <a:lnTo>
                        <a:pt x="43" y="8"/>
                      </a:lnTo>
                      <a:lnTo>
                        <a:pt x="43" y="61"/>
                      </a:lnTo>
                    </a:path>
                  </a:pathLst>
                </a:custGeom>
                <a:solidFill>
                  <a:srgbClr val="9E0005"/>
                </a:solidFill>
                <a:ln w="9525" cap="rnd">
                  <a:noFill/>
                  <a:round/>
                </a:ln>
              </p:spPr>
              <p:txBody>
                <a:bodyPr/>
                <a:lstStyle/>
                <a:p>
                  <a:endParaRPr lang="zh-CN" altLang="en-US"/>
                </a:p>
              </p:txBody>
            </p:sp>
            <p:sp>
              <p:nvSpPr>
                <p:cNvPr id="9627" name="Freeform 112"/>
                <p:cNvSpPr/>
                <p:nvPr/>
              </p:nvSpPr>
              <p:spPr bwMode="auto">
                <a:xfrm>
                  <a:off x="2110" y="2198"/>
                  <a:ext cx="143" cy="69"/>
                </a:xfrm>
                <a:custGeom>
                  <a:avLst/>
                  <a:gdLst>
                    <a:gd name="T0" fmla="*/ 44 w 143"/>
                    <a:gd name="T1" fmla="*/ 68 h 69"/>
                    <a:gd name="T2" fmla="*/ 44 w 143"/>
                    <a:gd name="T3" fmla="*/ 68 h 69"/>
                    <a:gd name="T4" fmla="*/ 0 w 143"/>
                    <a:gd name="T5" fmla="*/ 58 h 69"/>
                    <a:gd name="T6" fmla="*/ 102 w 143"/>
                    <a:gd name="T7" fmla="*/ 0 h 69"/>
                    <a:gd name="T8" fmla="*/ 142 w 143"/>
                    <a:gd name="T9" fmla="*/ 12 h 69"/>
                    <a:gd name="T10" fmla="*/ 44 w 143"/>
                    <a:gd name="T11" fmla="*/ 68 h 69"/>
                    <a:gd name="T12" fmla="*/ 0 60000 65536"/>
                    <a:gd name="T13" fmla="*/ 0 60000 65536"/>
                    <a:gd name="T14" fmla="*/ 0 60000 65536"/>
                    <a:gd name="T15" fmla="*/ 0 60000 65536"/>
                    <a:gd name="T16" fmla="*/ 0 60000 65536"/>
                    <a:gd name="T17" fmla="*/ 0 60000 65536"/>
                    <a:gd name="T18" fmla="*/ 0 w 143"/>
                    <a:gd name="T19" fmla="*/ 0 h 69"/>
                    <a:gd name="T20" fmla="*/ 143 w 143"/>
                    <a:gd name="T21" fmla="*/ 69 h 69"/>
                  </a:gdLst>
                  <a:ahLst/>
                  <a:cxnLst>
                    <a:cxn ang="T12">
                      <a:pos x="T0" y="T1"/>
                    </a:cxn>
                    <a:cxn ang="T13">
                      <a:pos x="T2" y="T3"/>
                    </a:cxn>
                    <a:cxn ang="T14">
                      <a:pos x="T4" y="T5"/>
                    </a:cxn>
                    <a:cxn ang="T15">
                      <a:pos x="T6" y="T7"/>
                    </a:cxn>
                    <a:cxn ang="T16">
                      <a:pos x="T8" y="T9"/>
                    </a:cxn>
                    <a:cxn ang="T17">
                      <a:pos x="T10" y="T11"/>
                    </a:cxn>
                  </a:cxnLst>
                  <a:rect l="T18" t="T19" r="T20" b="T21"/>
                  <a:pathLst>
                    <a:path w="143" h="69">
                      <a:moveTo>
                        <a:pt x="44" y="68"/>
                      </a:moveTo>
                      <a:lnTo>
                        <a:pt x="44" y="68"/>
                      </a:lnTo>
                      <a:lnTo>
                        <a:pt x="0" y="58"/>
                      </a:lnTo>
                      <a:lnTo>
                        <a:pt x="102" y="0"/>
                      </a:lnTo>
                      <a:lnTo>
                        <a:pt x="142" y="12"/>
                      </a:lnTo>
                      <a:lnTo>
                        <a:pt x="44" y="68"/>
                      </a:lnTo>
                    </a:path>
                  </a:pathLst>
                </a:custGeom>
                <a:solidFill>
                  <a:srgbClr val="CF5C82"/>
                </a:solidFill>
                <a:ln w="9525" cap="rnd">
                  <a:noFill/>
                  <a:round/>
                </a:ln>
              </p:spPr>
              <p:txBody>
                <a:bodyPr/>
                <a:lstStyle/>
                <a:p>
                  <a:endParaRPr lang="zh-CN" altLang="en-US"/>
                </a:p>
              </p:txBody>
            </p:sp>
          </p:grpSp>
          <p:sp>
            <p:nvSpPr>
              <p:cNvPr id="9615" name="Freeform 113"/>
              <p:cNvSpPr/>
              <p:nvPr/>
            </p:nvSpPr>
            <p:spPr bwMode="auto">
              <a:xfrm>
                <a:off x="2099" y="2275"/>
                <a:ext cx="49" cy="84"/>
              </a:xfrm>
              <a:custGeom>
                <a:avLst/>
                <a:gdLst>
                  <a:gd name="T0" fmla="*/ 0 w 49"/>
                  <a:gd name="T1" fmla="*/ 83 h 84"/>
                  <a:gd name="T2" fmla="*/ 0 w 49"/>
                  <a:gd name="T3" fmla="*/ 83 h 84"/>
                  <a:gd name="T4" fmla="*/ 0 w 49"/>
                  <a:gd name="T5" fmla="*/ 30 h 84"/>
                  <a:gd name="T6" fmla="*/ 48 w 49"/>
                  <a:gd name="T7" fmla="*/ 0 h 84"/>
                  <a:gd name="T8" fmla="*/ 45 w 49"/>
                  <a:gd name="T9" fmla="*/ 55 h 84"/>
                  <a:gd name="T10" fmla="*/ 0 w 49"/>
                  <a:gd name="T11" fmla="*/ 83 h 84"/>
                  <a:gd name="T12" fmla="*/ 0 60000 65536"/>
                  <a:gd name="T13" fmla="*/ 0 60000 65536"/>
                  <a:gd name="T14" fmla="*/ 0 60000 65536"/>
                  <a:gd name="T15" fmla="*/ 0 60000 65536"/>
                  <a:gd name="T16" fmla="*/ 0 60000 65536"/>
                  <a:gd name="T17" fmla="*/ 0 60000 65536"/>
                  <a:gd name="T18" fmla="*/ 0 w 49"/>
                  <a:gd name="T19" fmla="*/ 0 h 84"/>
                  <a:gd name="T20" fmla="*/ 49 w 49"/>
                  <a:gd name="T21" fmla="*/ 84 h 84"/>
                </a:gdLst>
                <a:ahLst/>
                <a:cxnLst>
                  <a:cxn ang="T12">
                    <a:pos x="T0" y="T1"/>
                  </a:cxn>
                  <a:cxn ang="T13">
                    <a:pos x="T2" y="T3"/>
                  </a:cxn>
                  <a:cxn ang="T14">
                    <a:pos x="T4" y="T5"/>
                  </a:cxn>
                  <a:cxn ang="T15">
                    <a:pos x="T6" y="T7"/>
                  </a:cxn>
                  <a:cxn ang="T16">
                    <a:pos x="T8" y="T9"/>
                  </a:cxn>
                  <a:cxn ang="T17">
                    <a:pos x="T10" y="T11"/>
                  </a:cxn>
                </a:cxnLst>
                <a:rect l="T18" t="T19" r="T20" b="T21"/>
                <a:pathLst>
                  <a:path w="49" h="84">
                    <a:moveTo>
                      <a:pt x="0" y="83"/>
                    </a:moveTo>
                    <a:lnTo>
                      <a:pt x="0" y="83"/>
                    </a:lnTo>
                    <a:lnTo>
                      <a:pt x="0" y="30"/>
                    </a:lnTo>
                    <a:lnTo>
                      <a:pt x="48" y="0"/>
                    </a:lnTo>
                    <a:lnTo>
                      <a:pt x="45" y="55"/>
                    </a:lnTo>
                    <a:lnTo>
                      <a:pt x="0" y="83"/>
                    </a:lnTo>
                  </a:path>
                </a:pathLst>
              </a:custGeom>
              <a:solidFill>
                <a:srgbClr val="BB1A50"/>
              </a:solidFill>
              <a:ln w="9525" cap="rnd">
                <a:noFill/>
                <a:round/>
              </a:ln>
            </p:spPr>
            <p:txBody>
              <a:bodyPr/>
              <a:lstStyle/>
              <a:p>
                <a:endParaRPr lang="zh-CN" altLang="en-US"/>
              </a:p>
            </p:txBody>
          </p:sp>
          <p:sp>
            <p:nvSpPr>
              <p:cNvPr id="9616" name="Freeform 114"/>
              <p:cNvSpPr/>
              <p:nvPr/>
            </p:nvSpPr>
            <p:spPr bwMode="auto">
              <a:xfrm>
                <a:off x="2053" y="2266"/>
                <a:ext cx="95" cy="39"/>
              </a:xfrm>
              <a:custGeom>
                <a:avLst/>
                <a:gdLst>
                  <a:gd name="T0" fmla="*/ 44 w 95"/>
                  <a:gd name="T1" fmla="*/ 38 h 39"/>
                  <a:gd name="T2" fmla="*/ 44 w 95"/>
                  <a:gd name="T3" fmla="*/ 38 h 39"/>
                  <a:gd name="T4" fmla="*/ 0 w 95"/>
                  <a:gd name="T5" fmla="*/ 26 h 39"/>
                  <a:gd name="T6" fmla="*/ 49 w 95"/>
                  <a:gd name="T7" fmla="*/ 0 h 39"/>
                  <a:gd name="T8" fmla="*/ 94 w 95"/>
                  <a:gd name="T9" fmla="*/ 9 h 39"/>
                  <a:gd name="T10" fmla="*/ 44 w 95"/>
                  <a:gd name="T11" fmla="*/ 38 h 39"/>
                  <a:gd name="T12" fmla="*/ 0 60000 65536"/>
                  <a:gd name="T13" fmla="*/ 0 60000 65536"/>
                  <a:gd name="T14" fmla="*/ 0 60000 65536"/>
                  <a:gd name="T15" fmla="*/ 0 60000 65536"/>
                  <a:gd name="T16" fmla="*/ 0 60000 65536"/>
                  <a:gd name="T17" fmla="*/ 0 60000 65536"/>
                  <a:gd name="T18" fmla="*/ 0 w 95"/>
                  <a:gd name="T19" fmla="*/ 0 h 39"/>
                  <a:gd name="T20" fmla="*/ 95 w 95"/>
                  <a:gd name="T21" fmla="*/ 39 h 39"/>
                </a:gdLst>
                <a:ahLst/>
                <a:cxnLst>
                  <a:cxn ang="T12">
                    <a:pos x="T0" y="T1"/>
                  </a:cxn>
                  <a:cxn ang="T13">
                    <a:pos x="T2" y="T3"/>
                  </a:cxn>
                  <a:cxn ang="T14">
                    <a:pos x="T4" y="T5"/>
                  </a:cxn>
                  <a:cxn ang="T15">
                    <a:pos x="T6" y="T7"/>
                  </a:cxn>
                  <a:cxn ang="T16">
                    <a:pos x="T8" y="T9"/>
                  </a:cxn>
                  <a:cxn ang="T17">
                    <a:pos x="T10" y="T11"/>
                  </a:cxn>
                </a:cxnLst>
                <a:rect l="T18" t="T19" r="T20" b="T21"/>
                <a:pathLst>
                  <a:path w="95" h="39">
                    <a:moveTo>
                      <a:pt x="44" y="38"/>
                    </a:moveTo>
                    <a:lnTo>
                      <a:pt x="44" y="38"/>
                    </a:lnTo>
                    <a:lnTo>
                      <a:pt x="0" y="26"/>
                    </a:lnTo>
                    <a:lnTo>
                      <a:pt x="49" y="0"/>
                    </a:lnTo>
                    <a:lnTo>
                      <a:pt x="94" y="9"/>
                    </a:lnTo>
                    <a:lnTo>
                      <a:pt x="44" y="38"/>
                    </a:lnTo>
                  </a:path>
                </a:pathLst>
              </a:custGeom>
              <a:solidFill>
                <a:srgbClr val="CF5C82"/>
              </a:solidFill>
              <a:ln w="9525" cap="rnd">
                <a:noFill/>
                <a:round/>
              </a:ln>
            </p:spPr>
            <p:txBody>
              <a:bodyPr/>
              <a:lstStyle/>
              <a:p>
                <a:endParaRPr lang="zh-CN" altLang="en-US"/>
              </a:p>
            </p:txBody>
          </p:sp>
          <p:sp>
            <p:nvSpPr>
              <p:cNvPr id="9617" name="Freeform 115"/>
              <p:cNvSpPr/>
              <p:nvPr/>
            </p:nvSpPr>
            <p:spPr bwMode="auto">
              <a:xfrm>
                <a:off x="2442" y="2090"/>
                <a:ext cx="17" cy="53"/>
              </a:xfrm>
              <a:custGeom>
                <a:avLst/>
                <a:gdLst>
                  <a:gd name="T0" fmla="*/ 0 w 17"/>
                  <a:gd name="T1" fmla="*/ 52 h 53"/>
                  <a:gd name="T2" fmla="*/ 0 w 17"/>
                  <a:gd name="T3" fmla="*/ 52 h 53"/>
                  <a:gd name="T4" fmla="*/ 4 w 17"/>
                  <a:gd name="T5" fmla="*/ 24 h 53"/>
                  <a:gd name="T6" fmla="*/ 4 w 17"/>
                  <a:gd name="T7" fmla="*/ 6 h 53"/>
                  <a:gd name="T8" fmla="*/ 4 w 17"/>
                  <a:gd name="T9" fmla="*/ 2 h 53"/>
                  <a:gd name="T10" fmla="*/ 4 w 17"/>
                  <a:gd name="T11" fmla="*/ 0 h 53"/>
                  <a:gd name="T12" fmla="*/ 11 w 17"/>
                  <a:gd name="T13" fmla="*/ 0 h 53"/>
                  <a:gd name="T14" fmla="*/ 16 w 17"/>
                  <a:gd name="T15" fmla="*/ 0 h 53"/>
                  <a:gd name="T16" fmla="*/ 16 w 17"/>
                  <a:gd name="T17" fmla="*/ 20 h 53"/>
                  <a:gd name="T18" fmla="*/ 11 w 17"/>
                  <a:gd name="T19" fmla="*/ 45 h 53"/>
                  <a:gd name="T20" fmla="*/ 11 w 17"/>
                  <a:gd name="T21" fmla="*/ 49 h 53"/>
                  <a:gd name="T22" fmla="*/ 11 w 17"/>
                  <a:gd name="T23" fmla="*/ 45 h 53"/>
                  <a:gd name="T24" fmla="*/ 4 w 17"/>
                  <a:gd name="T25" fmla="*/ 49 h 53"/>
                  <a:gd name="T26" fmla="*/ 0 w 17"/>
                  <a:gd name="T27" fmla="*/ 52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53"/>
                  <a:gd name="T44" fmla="*/ 17 w 17"/>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53">
                    <a:moveTo>
                      <a:pt x="0" y="52"/>
                    </a:moveTo>
                    <a:lnTo>
                      <a:pt x="0" y="52"/>
                    </a:lnTo>
                    <a:lnTo>
                      <a:pt x="4" y="24"/>
                    </a:lnTo>
                    <a:lnTo>
                      <a:pt x="4" y="6"/>
                    </a:lnTo>
                    <a:lnTo>
                      <a:pt x="4" y="2"/>
                    </a:lnTo>
                    <a:lnTo>
                      <a:pt x="4" y="0"/>
                    </a:lnTo>
                    <a:lnTo>
                      <a:pt x="11" y="0"/>
                    </a:lnTo>
                    <a:lnTo>
                      <a:pt x="16" y="0"/>
                    </a:lnTo>
                    <a:lnTo>
                      <a:pt x="16" y="20"/>
                    </a:lnTo>
                    <a:lnTo>
                      <a:pt x="11" y="45"/>
                    </a:lnTo>
                    <a:lnTo>
                      <a:pt x="11" y="49"/>
                    </a:lnTo>
                    <a:lnTo>
                      <a:pt x="11" y="45"/>
                    </a:lnTo>
                    <a:lnTo>
                      <a:pt x="4" y="49"/>
                    </a:lnTo>
                    <a:lnTo>
                      <a:pt x="0" y="52"/>
                    </a:lnTo>
                  </a:path>
                </a:pathLst>
              </a:custGeom>
              <a:solidFill>
                <a:srgbClr val="BDB597"/>
              </a:solidFill>
              <a:ln w="9525" cap="rnd">
                <a:noFill/>
                <a:round/>
              </a:ln>
            </p:spPr>
            <p:txBody>
              <a:bodyPr/>
              <a:lstStyle/>
              <a:p>
                <a:endParaRPr lang="zh-CN" altLang="en-US"/>
              </a:p>
            </p:txBody>
          </p:sp>
          <p:sp>
            <p:nvSpPr>
              <p:cNvPr id="9618" name="Freeform 116"/>
              <p:cNvSpPr/>
              <p:nvPr/>
            </p:nvSpPr>
            <p:spPr bwMode="auto">
              <a:xfrm>
                <a:off x="2099" y="2032"/>
                <a:ext cx="432" cy="273"/>
              </a:xfrm>
              <a:custGeom>
                <a:avLst/>
                <a:gdLst>
                  <a:gd name="T0" fmla="*/ 431 w 432"/>
                  <a:gd name="T1" fmla="*/ 0 h 273"/>
                  <a:gd name="T2" fmla="*/ 431 w 432"/>
                  <a:gd name="T3" fmla="*/ 0 h 273"/>
                  <a:gd name="T4" fmla="*/ 0 w 432"/>
                  <a:gd name="T5" fmla="*/ 265 h 273"/>
                  <a:gd name="T6" fmla="*/ 0 w 432"/>
                  <a:gd name="T7" fmla="*/ 272 h 273"/>
                  <a:gd name="T8" fmla="*/ 431 w 432"/>
                  <a:gd name="T9" fmla="*/ 6 h 273"/>
                  <a:gd name="T10" fmla="*/ 431 w 432"/>
                  <a:gd name="T11" fmla="*/ 0 h 273"/>
                  <a:gd name="T12" fmla="*/ 0 60000 65536"/>
                  <a:gd name="T13" fmla="*/ 0 60000 65536"/>
                  <a:gd name="T14" fmla="*/ 0 60000 65536"/>
                  <a:gd name="T15" fmla="*/ 0 60000 65536"/>
                  <a:gd name="T16" fmla="*/ 0 60000 65536"/>
                  <a:gd name="T17" fmla="*/ 0 60000 65536"/>
                  <a:gd name="T18" fmla="*/ 0 w 432"/>
                  <a:gd name="T19" fmla="*/ 0 h 273"/>
                  <a:gd name="T20" fmla="*/ 432 w 432"/>
                  <a:gd name="T21" fmla="*/ 273 h 273"/>
                </a:gdLst>
                <a:ahLst/>
                <a:cxnLst>
                  <a:cxn ang="T12">
                    <a:pos x="T0" y="T1"/>
                  </a:cxn>
                  <a:cxn ang="T13">
                    <a:pos x="T2" y="T3"/>
                  </a:cxn>
                  <a:cxn ang="T14">
                    <a:pos x="T4" y="T5"/>
                  </a:cxn>
                  <a:cxn ang="T15">
                    <a:pos x="T6" y="T7"/>
                  </a:cxn>
                  <a:cxn ang="T16">
                    <a:pos x="T8" y="T9"/>
                  </a:cxn>
                  <a:cxn ang="T17">
                    <a:pos x="T10" y="T11"/>
                  </a:cxn>
                </a:cxnLst>
                <a:rect l="T18" t="T19" r="T20" b="T21"/>
                <a:pathLst>
                  <a:path w="432" h="273">
                    <a:moveTo>
                      <a:pt x="431" y="0"/>
                    </a:moveTo>
                    <a:lnTo>
                      <a:pt x="431" y="0"/>
                    </a:lnTo>
                    <a:lnTo>
                      <a:pt x="0" y="265"/>
                    </a:lnTo>
                    <a:lnTo>
                      <a:pt x="0" y="272"/>
                    </a:lnTo>
                    <a:lnTo>
                      <a:pt x="431" y="6"/>
                    </a:lnTo>
                    <a:lnTo>
                      <a:pt x="431" y="0"/>
                    </a:lnTo>
                  </a:path>
                </a:pathLst>
              </a:custGeom>
              <a:solidFill>
                <a:srgbClr val="BDB597"/>
              </a:solidFill>
              <a:ln w="9525" cap="rnd">
                <a:noFill/>
                <a:round/>
              </a:ln>
            </p:spPr>
            <p:txBody>
              <a:bodyPr/>
              <a:lstStyle/>
              <a:p>
                <a:endParaRPr lang="zh-CN" altLang="en-US"/>
              </a:p>
            </p:txBody>
          </p:sp>
          <p:sp>
            <p:nvSpPr>
              <p:cNvPr id="9619" name="Freeform 117"/>
              <p:cNvSpPr/>
              <p:nvPr/>
            </p:nvSpPr>
            <p:spPr bwMode="auto">
              <a:xfrm>
                <a:off x="2350" y="2143"/>
                <a:ext cx="17" cy="56"/>
              </a:xfrm>
              <a:custGeom>
                <a:avLst/>
                <a:gdLst>
                  <a:gd name="T0" fmla="*/ 0 w 17"/>
                  <a:gd name="T1" fmla="*/ 55 h 56"/>
                  <a:gd name="T2" fmla="*/ 0 w 17"/>
                  <a:gd name="T3" fmla="*/ 55 h 56"/>
                  <a:gd name="T4" fmla="*/ 0 w 17"/>
                  <a:gd name="T5" fmla="*/ 45 h 56"/>
                  <a:gd name="T6" fmla="*/ 0 w 17"/>
                  <a:gd name="T7" fmla="*/ 27 h 56"/>
                  <a:gd name="T8" fmla="*/ 0 w 17"/>
                  <a:gd name="T9" fmla="*/ 18 h 56"/>
                  <a:gd name="T10" fmla="*/ 6 w 17"/>
                  <a:gd name="T11" fmla="*/ 9 h 56"/>
                  <a:gd name="T12" fmla="*/ 6 w 17"/>
                  <a:gd name="T13" fmla="*/ 2 h 56"/>
                  <a:gd name="T14" fmla="*/ 6 w 17"/>
                  <a:gd name="T15" fmla="*/ 0 h 56"/>
                  <a:gd name="T16" fmla="*/ 10 w 17"/>
                  <a:gd name="T17" fmla="*/ 0 h 56"/>
                  <a:gd name="T18" fmla="*/ 16 w 17"/>
                  <a:gd name="T19" fmla="*/ 0 h 56"/>
                  <a:gd name="T20" fmla="*/ 16 w 17"/>
                  <a:gd name="T21" fmla="*/ 24 h 56"/>
                  <a:gd name="T22" fmla="*/ 10 w 17"/>
                  <a:gd name="T23" fmla="*/ 42 h 56"/>
                  <a:gd name="T24" fmla="*/ 10 w 17"/>
                  <a:gd name="T25" fmla="*/ 48 h 56"/>
                  <a:gd name="T26" fmla="*/ 10 w 17"/>
                  <a:gd name="T27" fmla="*/ 52 h 56"/>
                  <a:gd name="T28" fmla="*/ 6 w 17"/>
                  <a:gd name="T29" fmla="*/ 52 h 56"/>
                  <a:gd name="T30" fmla="*/ 0 w 17"/>
                  <a:gd name="T31" fmla="*/ 52 h 56"/>
                  <a:gd name="T32" fmla="*/ 0 w 17"/>
                  <a:gd name="T33" fmla="*/ 55 h 5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
                  <a:gd name="T52" fmla="*/ 0 h 56"/>
                  <a:gd name="T53" fmla="*/ 17 w 17"/>
                  <a:gd name="T54" fmla="*/ 56 h 5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 h="56">
                    <a:moveTo>
                      <a:pt x="0" y="55"/>
                    </a:moveTo>
                    <a:lnTo>
                      <a:pt x="0" y="55"/>
                    </a:lnTo>
                    <a:lnTo>
                      <a:pt x="0" y="45"/>
                    </a:lnTo>
                    <a:lnTo>
                      <a:pt x="0" y="27"/>
                    </a:lnTo>
                    <a:lnTo>
                      <a:pt x="0" y="18"/>
                    </a:lnTo>
                    <a:lnTo>
                      <a:pt x="6" y="9"/>
                    </a:lnTo>
                    <a:lnTo>
                      <a:pt x="6" y="2"/>
                    </a:lnTo>
                    <a:lnTo>
                      <a:pt x="6" y="0"/>
                    </a:lnTo>
                    <a:lnTo>
                      <a:pt x="10" y="0"/>
                    </a:lnTo>
                    <a:lnTo>
                      <a:pt x="16" y="0"/>
                    </a:lnTo>
                    <a:lnTo>
                      <a:pt x="16" y="24"/>
                    </a:lnTo>
                    <a:lnTo>
                      <a:pt x="10" y="42"/>
                    </a:lnTo>
                    <a:lnTo>
                      <a:pt x="10" y="48"/>
                    </a:lnTo>
                    <a:lnTo>
                      <a:pt x="10" y="52"/>
                    </a:lnTo>
                    <a:lnTo>
                      <a:pt x="6" y="52"/>
                    </a:lnTo>
                    <a:lnTo>
                      <a:pt x="0" y="52"/>
                    </a:lnTo>
                    <a:lnTo>
                      <a:pt x="0" y="55"/>
                    </a:lnTo>
                  </a:path>
                </a:pathLst>
              </a:custGeom>
              <a:solidFill>
                <a:srgbClr val="BDB597"/>
              </a:solidFill>
              <a:ln w="9525" cap="rnd">
                <a:noFill/>
                <a:round/>
              </a:ln>
            </p:spPr>
            <p:txBody>
              <a:bodyPr/>
              <a:lstStyle/>
              <a:p>
                <a:endParaRPr lang="zh-CN" altLang="en-US"/>
              </a:p>
            </p:txBody>
          </p:sp>
          <p:sp>
            <p:nvSpPr>
              <p:cNvPr id="9620" name="Freeform 118"/>
              <p:cNvSpPr/>
              <p:nvPr/>
            </p:nvSpPr>
            <p:spPr bwMode="auto">
              <a:xfrm>
                <a:off x="2256" y="2205"/>
                <a:ext cx="17" cy="55"/>
              </a:xfrm>
              <a:custGeom>
                <a:avLst/>
                <a:gdLst>
                  <a:gd name="T0" fmla="*/ 0 w 17"/>
                  <a:gd name="T1" fmla="*/ 54 h 55"/>
                  <a:gd name="T2" fmla="*/ 0 w 17"/>
                  <a:gd name="T3" fmla="*/ 54 h 55"/>
                  <a:gd name="T4" fmla="*/ 0 w 17"/>
                  <a:gd name="T5" fmla="*/ 47 h 55"/>
                  <a:gd name="T6" fmla="*/ 0 w 17"/>
                  <a:gd name="T7" fmla="*/ 27 h 55"/>
                  <a:gd name="T8" fmla="*/ 0 w 17"/>
                  <a:gd name="T9" fmla="*/ 18 h 55"/>
                  <a:gd name="T10" fmla="*/ 0 w 17"/>
                  <a:gd name="T11" fmla="*/ 9 h 55"/>
                  <a:gd name="T12" fmla="*/ 0 w 17"/>
                  <a:gd name="T13" fmla="*/ 6 h 55"/>
                  <a:gd name="T14" fmla="*/ 0 w 17"/>
                  <a:gd name="T15" fmla="*/ 2 h 55"/>
                  <a:gd name="T16" fmla="*/ 0 w 17"/>
                  <a:gd name="T17" fmla="*/ 0 h 55"/>
                  <a:gd name="T18" fmla="*/ 8 w 17"/>
                  <a:gd name="T19" fmla="*/ 0 h 55"/>
                  <a:gd name="T20" fmla="*/ 16 w 17"/>
                  <a:gd name="T21" fmla="*/ 0 h 55"/>
                  <a:gd name="T22" fmla="*/ 16 w 17"/>
                  <a:gd name="T23" fmla="*/ 24 h 55"/>
                  <a:gd name="T24" fmla="*/ 16 w 17"/>
                  <a:gd name="T25" fmla="*/ 42 h 55"/>
                  <a:gd name="T26" fmla="*/ 16 w 17"/>
                  <a:gd name="T27" fmla="*/ 47 h 55"/>
                  <a:gd name="T28" fmla="*/ 16 w 17"/>
                  <a:gd name="T29" fmla="*/ 51 h 55"/>
                  <a:gd name="T30" fmla="*/ 8 w 17"/>
                  <a:gd name="T31" fmla="*/ 51 h 55"/>
                  <a:gd name="T32" fmla="*/ 8 w 17"/>
                  <a:gd name="T33" fmla="*/ 54 h 55"/>
                  <a:gd name="T34" fmla="*/ 0 w 17"/>
                  <a:gd name="T35" fmla="*/ 54 h 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55"/>
                  <a:gd name="T56" fmla="*/ 17 w 17"/>
                  <a:gd name="T57" fmla="*/ 55 h 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55">
                    <a:moveTo>
                      <a:pt x="0" y="54"/>
                    </a:moveTo>
                    <a:lnTo>
                      <a:pt x="0" y="54"/>
                    </a:lnTo>
                    <a:lnTo>
                      <a:pt x="0" y="47"/>
                    </a:lnTo>
                    <a:lnTo>
                      <a:pt x="0" y="27"/>
                    </a:lnTo>
                    <a:lnTo>
                      <a:pt x="0" y="18"/>
                    </a:lnTo>
                    <a:lnTo>
                      <a:pt x="0" y="9"/>
                    </a:lnTo>
                    <a:lnTo>
                      <a:pt x="0" y="6"/>
                    </a:lnTo>
                    <a:lnTo>
                      <a:pt x="0" y="2"/>
                    </a:lnTo>
                    <a:lnTo>
                      <a:pt x="0" y="0"/>
                    </a:lnTo>
                    <a:lnTo>
                      <a:pt x="8" y="0"/>
                    </a:lnTo>
                    <a:lnTo>
                      <a:pt x="16" y="0"/>
                    </a:lnTo>
                    <a:lnTo>
                      <a:pt x="16" y="24"/>
                    </a:lnTo>
                    <a:lnTo>
                      <a:pt x="16" y="42"/>
                    </a:lnTo>
                    <a:lnTo>
                      <a:pt x="16" y="47"/>
                    </a:lnTo>
                    <a:lnTo>
                      <a:pt x="16" y="51"/>
                    </a:lnTo>
                    <a:lnTo>
                      <a:pt x="8" y="51"/>
                    </a:lnTo>
                    <a:lnTo>
                      <a:pt x="8" y="54"/>
                    </a:lnTo>
                    <a:lnTo>
                      <a:pt x="0" y="54"/>
                    </a:lnTo>
                  </a:path>
                </a:pathLst>
              </a:custGeom>
              <a:solidFill>
                <a:srgbClr val="BDB597"/>
              </a:solidFill>
              <a:ln w="9525" cap="rnd">
                <a:noFill/>
                <a:round/>
              </a:ln>
            </p:spPr>
            <p:txBody>
              <a:bodyPr/>
              <a:lstStyle/>
              <a:p>
                <a:endParaRPr lang="zh-CN" altLang="en-US"/>
              </a:p>
            </p:txBody>
          </p:sp>
          <p:sp>
            <p:nvSpPr>
              <p:cNvPr id="9621" name="Freeform 119"/>
              <p:cNvSpPr/>
              <p:nvPr/>
            </p:nvSpPr>
            <p:spPr bwMode="auto">
              <a:xfrm>
                <a:off x="2147" y="2272"/>
                <a:ext cx="17" cy="59"/>
              </a:xfrm>
              <a:custGeom>
                <a:avLst/>
                <a:gdLst>
                  <a:gd name="T0" fmla="*/ 0 w 17"/>
                  <a:gd name="T1" fmla="*/ 58 h 59"/>
                  <a:gd name="T2" fmla="*/ 0 w 17"/>
                  <a:gd name="T3" fmla="*/ 58 h 59"/>
                  <a:gd name="T4" fmla="*/ 0 w 17"/>
                  <a:gd name="T5" fmla="*/ 48 h 59"/>
                  <a:gd name="T6" fmla="*/ 0 w 17"/>
                  <a:gd name="T7" fmla="*/ 30 h 59"/>
                  <a:gd name="T8" fmla="*/ 0 w 17"/>
                  <a:gd name="T9" fmla="*/ 18 h 59"/>
                  <a:gd name="T10" fmla="*/ 0 w 17"/>
                  <a:gd name="T11" fmla="*/ 9 h 59"/>
                  <a:gd name="T12" fmla="*/ 6 w 17"/>
                  <a:gd name="T13" fmla="*/ 2 h 59"/>
                  <a:gd name="T14" fmla="*/ 6 w 17"/>
                  <a:gd name="T15" fmla="*/ 0 h 59"/>
                  <a:gd name="T16" fmla="*/ 10 w 17"/>
                  <a:gd name="T17" fmla="*/ 0 h 59"/>
                  <a:gd name="T18" fmla="*/ 16 w 17"/>
                  <a:gd name="T19" fmla="*/ 0 h 59"/>
                  <a:gd name="T20" fmla="*/ 16 w 17"/>
                  <a:gd name="T21" fmla="*/ 24 h 59"/>
                  <a:gd name="T22" fmla="*/ 16 w 17"/>
                  <a:gd name="T23" fmla="*/ 42 h 59"/>
                  <a:gd name="T24" fmla="*/ 16 w 17"/>
                  <a:gd name="T25" fmla="*/ 51 h 59"/>
                  <a:gd name="T26" fmla="*/ 10 w 17"/>
                  <a:gd name="T27" fmla="*/ 51 h 59"/>
                  <a:gd name="T28" fmla="*/ 6 w 17"/>
                  <a:gd name="T29" fmla="*/ 51 h 59"/>
                  <a:gd name="T30" fmla="*/ 6 w 17"/>
                  <a:gd name="T31" fmla="*/ 55 h 59"/>
                  <a:gd name="T32" fmla="*/ 6 w 17"/>
                  <a:gd name="T33" fmla="*/ 58 h 59"/>
                  <a:gd name="T34" fmla="*/ 0 w 17"/>
                  <a:gd name="T35" fmla="*/ 58 h 5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59"/>
                  <a:gd name="T56" fmla="*/ 17 w 17"/>
                  <a:gd name="T57" fmla="*/ 59 h 5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59">
                    <a:moveTo>
                      <a:pt x="0" y="58"/>
                    </a:moveTo>
                    <a:lnTo>
                      <a:pt x="0" y="58"/>
                    </a:lnTo>
                    <a:lnTo>
                      <a:pt x="0" y="48"/>
                    </a:lnTo>
                    <a:lnTo>
                      <a:pt x="0" y="30"/>
                    </a:lnTo>
                    <a:lnTo>
                      <a:pt x="0" y="18"/>
                    </a:lnTo>
                    <a:lnTo>
                      <a:pt x="0" y="9"/>
                    </a:lnTo>
                    <a:lnTo>
                      <a:pt x="6" y="2"/>
                    </a:lnTo>
                    <a:lnTo>
                      <a:pt x="6" y="0"/>
                    </a:lnTo>
                    <a:lnTo>
                      <a:pt x="10" y="0"/>
                    </a:lnTo>
                    <a:lnTo>
                      <a:pt x="16" y="0"/>
                    </a:lnTo>
                    <a:lnTo>
                      <a:pt x="16" y="24"/>
                    </a:lnTo>
                    <a:lnTo>
                      <a:pt x="16" y="42"/>
                    </a:lnTo>
                    <a:lnTo>
                      <a:pt x="16" y="51"/>
                    </a:lnTo>
                    <a:lnTo>
                      <a:pt x="10" y="51"/>
                    </a:lnTo>
                    <a:lnTo>
                      <a:pt x="6" y="51"/>
                    </a:lnTo>
                    <a:lnTo>
                      <a:pt x="6" y="55"/>
                    </a:lnTo>
                    <a:lnTo>
                      <a:pt x="6" y="58"/>
                    </a:lnTo>
                    <a:lnTo>
                      <a:pt x="0" y="58"/>
                    </a:lnTo>
                  </a:path>
                </a:pathLst>
              </a:custGeom>
              <a:solidFill>
                <a:srgbClr val="BDB597"/>
              </a:solidFill>
              <a:ln w="9525" cap="rnd">
                <a:noFill/>
                <a:round/>
              </a:ln>
            </p:spPr>
            <p:txBody>
              <a:bodyPr/>
              <a:lstStyle/>
              <a:p>
                <a:endParaRPr lang="zh-CN" altLang="en-US"/>
              </a:p>
            </p:txBody>
          </p:sp>
          <p:sp>
            <p:nvSpPr>
              <p:cNvPr id="9622" name="Freeform 120"/>
              <p:cNvSpPr/>
              <p:nvPr/>
            </p:nvSpPr>
            <p:spPr bwMode="auto">
              <a:xfrm>
                <a:off x="2053" y="2294"/>
                <a:ext cx="45" cy="65"/>
              </a:xfrm>
              <a:custGeom>
                <a:avLst/>
                <a:gdLst>
                  <a:gd name="T0" fmla="*/ 44 w 45"/>
                  <a:gd name="T1" fmla="*/ 64 h 65"/>
                  <a:gd name="T2" fmla="*/ 44 w 45"/>
                  <a:gd name="T3" fmla="*/ 64 h 65"/>
                  <a:gd name="T4" fmla="*/ 0 w 45"/>
                  <a:gd name="T5" fmla="*/ 55 h 65"/>
                  <a:gd name="T6" fmla="*/ 0 w 45"/>
                  <a:gd name="T7" fmla="*/ 0 h 65"/>
                  <a:gd name="T8" fmla="*/ 44 w 45"/>
                  <a:gd name="T9" fmla="*/ 12 h 65"/>
                  <a:gd name="T10" fmla="*/ 44 w 45"/>
                  <a:gd name="T11" fmla="*/ 64 h 65"/>
                  <a:gd name="T12" fmla="*/ 0 60000 65536"/>
                  <a:gd name="T13" fmla="*/ 0 60000 65536"/>
                  <a:gd name="T14" fmla="*/ 0 60000 65536"/>
                  <a:gd name="T15" fmla="*/ 0 60000 65536"/>
                  <a:gd name="T16" fmla="*/ 0 60000 65536"/>
                  <a:gd name="T17" fmla="*/ 0 60000 65536"/>
                  <a:gd name="T18" fmla="*/ 0 w 45"/>
                  <a:gd name="T19" fmla="*/ 0 h 65"/>
                  <a:gd name="T20" fmla="*/ 45 w 45"/>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45" h="65">
                    <a:moveTo>
                      <a:pt x="44" y="64"/>
                    </a:moveTo>
                    <a:lnTo>
                      <a:pt x="44" y="64"/>
                    </a:lnTo>
                    <a:lnTo>
                      <a:pt x="0" y="55"/>
                    </a:lnTo>
                    <a:lnTo>
                      <a:pt x="0" y="0"/>
                    </a:lnTo>
                    <a:lnTo>
                      <a:pt x="44" y="12"/>
                    </a:lnTo>
                    <a:lnTo>
                      <a:pt x="44" y="64"/>
                    </a:lnTo>
                  </a:path>
                </a:pathLst>
              </a:custGeom>
              <a:solidFill>
                <a:srgbClr val="9E0005"/>
              </a:solidFill>
              <a:ln w="9525" cap="rnd">
                <a:noFill/>
                <a:round/>
              </a:ln>
            </p:spPr>
            <p:txBody>
              <a:bodyPr/>
              <a:lstStyle/>
              <a:p>
                <a:endParaRPr lang="zh-CN" altLang="en-US"/>
              </a:p>
            </p:txBody>
          </p:sp>
          <p:sp>
            <p:nvSpPr>
              <p:cNvPr id="9623" name="Freeform 121"/>
              <p:cNvSpPr/>
              <p:nvPr/>
            </p:nvSpPr>
            <p:spPr bwMode="auto">
              <a:xfrm>
                <a:off x="2053" y="2352"/>
                <a:ext cx="45" cy="17"/>
              </a:xfrm>
              <a:custGeom>
                <a:avLst/>
                <a:gdLst>
                  <a:gd name="T0" fmla="*/ 44 w 45"/>
                  <a:gd name="T1" fmla="*/ 16 h 17"/>
                  <a:gd name="T2" fmla="*/ 44 w 45"/>
                  <a:gd name="T3" fmla="*/ 16 h 17"/>
                  <a:gd name="T4" fmla="*/ 44 w 45"/>
                  <a:gd name="T5" fmla="*/ 12 h 17"/>
                  <a:gd name="T6" fmla="*/ 44 w 45"/>
                  <a:gd name="T7" fmla="*/ 9 h 17"/>
                  <a:gd name="T8" fmla="*/ 22 w 45"/>
                  <a:gd name="T9" fmla="*/ 3 h 17"/>
                  <a:gd name="T10" fmla="*/ 0 w 45"/>
                  <a:gd name="T11" fmla="*/ 0 h 17"/>
                  <a:gd name="T12" fmla="*/ 0 w 45"/>
                  <a:gd name="T13" fmla="*/ 3 h 17"/>
                  <a:gd name="T14" fmla="*/ 0 w 45"/>
                  <a:gd name="T15" fmla="*/ 6 h 17"/>
                  <a:gd name="T16" fmla="*/ 5 w 45"/>
                  <a:gd name="T17" fmla="*/ 9 h 17"/>
                  <a:gd name="T18" fmla="*/ 19 w 45"/>
                  <a:gd name="T19" fmla="*/ 9 h 17"/>
                  <a:gd name="T20" fmla="*/ 27 w 45"/>
                  <a:gd name="T21" fmla="*/ 12 h 17"/>
                  <a:gd name="T22" fmla="*/ 35 w 45"/>
                  <a:gd name="T23" fmla="*/ 12 h 17"/>
                  <a:gd name="T24" fmla="*/ 38 w 45"/>
                  <a:gd name="T25" fmla="*/ 12 h 17"/>
                  <a:gd name="T26" fmla="*/ 41 w 45"/>
                  <a:gd name="T27" fmla="*/ 16 h 17"/>
                  <a:gd name="T28" fmla="*/ 44 w 45"/>
                  <a:gd name="T29" fmla="*/ 16 h 1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5"/>
                  <a:gd name="T46" fmla="*/ 0 h 17"/>
                  <a:gd name="T47" fmla="*/ 45 w 45"/>
                  <a:gd name="T48" fmla="*/ 17 h 1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5" h="17">
                    <a:moveTo>
                      <a:pt x="44" y="16"/>
                    </a:moveTo>
                    <a:lnTo>
                      <a:pt x="44" y="16"/>
                    </a:lnTo>
                    <a:lnTo>
                      <a:pt x="44" y="12"/>
                    </a:lnTo>
                    <a:lnTo>
                      <a:pt x="44" y="9"/>
                    </a:lnTo>
                    <a:lnTo>
                      <a:pt x="22" y="3"/>
                    </a:lnTo>
                    <a:lnTo>
                      <a:pt x="0" y="0"/>
                    </a:lnTo>
                    <a:lnTo>
                      <a:pt x="0" y="3"/>
                    </a:lnTo>
                    <a:lnTo>
                      <a:pt x="0" y="6"/>
                    </a:lnTo>
                    <a:lnTo>
                      <a:pt x="5" y="9"/>
                    </a:lnTo>
                    <a:lnTo>
                      <a:pt x="19" y="9"/>
                    </a:lnTo>
                    <a:lnTo>
                      <a:pt x="27" y="12"/>
                    </a:lnTo>
                    <a:lnTo>
                      <a:pt x="35" y="12"/>
                    </a:lnTo>
                    <a:lnTo>
                      <a:pt x="38" y="12"/>
                    </a:lnTo>
                    <a:lnTo>
                      <a:pt x="41" y="16"/>
                    </a:lnTo>
                    <a:lnTo>
                      <a:pt x="44" y="16"/>
                    </a:lnTo>
                  </a:path>
                </a:pathLst>
              </a:custGeom>
              <a:solidFill>
                <a:srgbClr val="BDB597"/>
              </a:solidFill>
              <a:ln w="9525" cap="rnd">
                <a:noFill/>
                <a:round/>
              </a:ln>
            </p:spPr>
            <p:txBody>
              <a:bodyPr/>
              <a:lstStyle/>
              <a:p>
                <a:endParaRPr lang="zh-CN" altLang="en-US"/>
              </a:p>
            </p:txBody>
          </p:sp>
          <p:sp>
            <p:nvSpPr>
              <p:cNvPr id="9624" name="Freeform 122"/>
              <p:cNvSpPr/>
              <p:nvPr/>
            </p:nvSpPr>
            <p:spPr bwMode="auto">
              <a:xfrm>
                <a:off x="2053" y="2288"/>
                <a:ext cx="45" cy="17"/>
              </a:xfrm>
              <a:custGeom>
                <a:avLst/>
                <a:gdLst>
                  <a:gd name="T0" fmla="*/ 44 w 45"/>
                  <a:gd name="T1" fmla="*/ 16 h 17"/>
                  <a:gd name="T2" fmla="*/ 44 w 45"/>
                  <a:gd name="T3" fmla="*/ 16 h 17"/>
                  <a:gd name="T4" fmla="*/ 44 w 45"/>
                  <a:gd name="T5" fmla="*/ 13 h 17"/>
                  <a:gd name="T6" fmla="*/ 44 w 45"/>
                  <a:gd name="T7" fmla="*/ 10 h 17"/>
                  <a:gd name="T8" fmla="*/ 22 w 45"/>
                  <a:gd name="T9" fmla="*/ 5 h 17"/>
                  <a:gd name="T10" fmla="*/ 0 w 45"/>
                  <a:gd name="T11" fmla="*/ 0 h 17"/>
                  <a:gd name="T12" fmla="*/ 0 w 45"/>
                  <a:gd name="T13" fmla="*/ 2 h 17"/>
                  <a:gd name="T14" fmla="*/ 0 w 45"/>
                  <a:gd name="T15" fmla="*/ 5 h 17"/>
                  <a:gd name="T16" fmla="*/ 5 w 45"/>
                  <a:gd name="T17" fmla="*/ 8 h 17"/>
                  <a:gd name="T18" fmla="*/ 13 w 45"/>
                  <a:gd name="T19" fmla="*/ 8 h 17"/>
                  <a:gd name="T20" fmla="*/ 19 w 45"/>
                  <a:gd name="T21" fmla="*/ 10 h 17"/>
                  <a:gd name="T22" fmla="*/ 27 w 45"/>
                  <a:gd name="T23" fmla="*/ 10 h 17"/>
                  <a:gd name="T24" fmla="*/ 35 w 45"/>
                  <a:gd name="T25" fmla="*/ 13 h 17"/>
                  <a:gd name="T26" fmla="*/ 38 w 45"/>
                  <a:gd name="T27" fmla="*/ 13 h 17"/>
                  <a:gd name="T28" fmla="*/ 41 w 45"/>
                  <a:gd name="T29" fmla="*/ 16 h 17"/>
                  <a:gd name="T30" fmla="*/ 44 w 45"/>
                  <a:gd name="T31" fmla="*/ 16 h 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17"/>
                  <a:gd name="T50" fmla="*/ 45 w 45"/>
                  <a:gd name="T51" fmla="*/ 17 h 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17">
                    <a:moveTo>
                      <a:pt x="44" y="16"/>
                    </a:moveTo>
                    <a:lnTo>
                      <a:pt x="44" y="16"/>
                    </a:lnTo>
                    <a:lnTo>
                      <a:pt x="44" y="13"/>
                    </a:lnTo>
                    <a:lnTo>
                      <a:pt x="44" y="10"/>
                    </a:lnTo>
                    <a:lnTo>
                      <a:pt x="22" y="5"/>
                    </a:lnTo>
                    <a:lnTo>
                      <a:pt x="0" y="0"/>
                    </a:lnTo>
                    <a:lnTo>
                      <a:pt x="0" y="2"/>
                    </a:lnTo>
                    <a:lnTo>
                      <a:pt x="0" y="5"/>
                    </a:lnTo>
                    <a:lnTo>
                      <a:pt x="5" y="8"/>
                    </a:lnTo>
                    <a:lnTo>
                      <a:pt x="13" y="8"/>
                    </a:lnTo>
                    <a:lnTo>
                      <a:pt x="19" y="10"/>
                    </a:lnTo>
                    <a:lnTo>
                      <a:pt x="27" y="10"/>
                    </a:lnTo>
                    <a:lnTo>
                      <a:pt x="35" y="13"/>
                    </a:lnTo>
                    <a:lnTo>
                      <a:pt x="38" y="13"/>
                    </a:lnTo>
                    <a:lnTo>
                      <a:pt x="41" y="16"/>
                    </a:lnTo>
                    <a:lnTo>
                      <a:pt x="44" y="16"/>
                    </a:lnTo>
                  </a:path>
                </a:pathLst>
              </a:custGeom>
              <a:solidFill>
                <a:srgbClr val="BDB597"/>
              </a:solidFill>
              <a:ln w="9525" cap="rnd">
                <a:noFill/>
                <a:round/>
              </a:ln>
            </p:spPr>
            <p:txBody>
              <a:bodyPr/>
              <a:lstStyle/>
              <a:p>
                <a:endParaRPr lang="zh-CN" altLang="en-US"/>
              </a:p>
            </p:txBody>
          </p:sp>
        </p:grpSp>
        <p:grpSp>
          <p:nvGrpSpPr>
            <p:cNvPr id="19" name="Group 123"/>
            <p:cNvGrpSpPr/>
            <p:nvPr/>
          </p:nvGrpSpPr>
          <p:grpSpPr bwMode="auto">
            <a:xfrm>
              <a:off x="2050" y="1915"/>
              <a:ext cx="488" cy="380"/>
              <a:chOff x="2050" y="1915"/>
              <a:chExt cx="488" cy="380"/>
            </a:xfrm>
          </p:grpSpPr>
          <p:sp>
            <p:nvSpPr>
              <p:cNvPr id="9549" name="Freeform 124"/>
              <p:cNvSpPr/>
              <p:nvPr/>
            </p:nvSpPr>
            <p:spPr bwMode="auto">
              <a:xfrm>
                <a:off x="2494" y="1980"/>
                <a:ext cx="37" cy="72"/>
              </a:xfrm>
              <a:custGeom>
                <a:avLst/>
                <a:gdLst>
                  <a:gd name="T0" fmla="*/ 0 w 37"/>
                  <a:gd name="T1" fmla="*/ 71 h 72"/>
                  <a:gd name="T2" fmla="*/ 0 w 37"/>
                  <a:gd name="T3" fmla="*/ 71 h 72"/>
                  <a:gd name="T4" fmla="*/ 2 w 37"/>
                  <a:gd name="T5" fmla="*/ 21 h 72"/>
                  <a:gd name="T6" fmla="*/ 36 w 37"/>
                  <a:gd name="T7" fmla="*/ 0 h 72"/>
                  <a:gd name="T8" fmla="*/ 33 w 37"/>
                  <a:gd name="T9" fmla="*/ 49 h 72"/>
                  <a:gd name="T10" fmla="*/ 0 w 37"/>
                  <a:gd name="T11" fmla="*/ 71 h 72"/>
                  <a:gd name="T12" fmla="*/ 0 60000 65536"/>
                  <a:gd name="T13" fmla="*/ 0 60000 65536"/>
                  <a:gd name="T14" fmla="*/ 0 60000 65536"/>
                  <a:gd name="T15" fmla="*/ 0 60000 65536"/>
                  <a:gd name="T16" fmla="*/ 0 60000 65536"/>
                  <a:gd name="T17" fmla="*/ 0 60000 65536"/>
                  <a:gd name="T18" fmla="*/ 0 w 37"/>
                  <a:gd name="T19" fmla="*/ 0 h 72"/>
                  <a:gd name="T20" fmla="*/ 37 w 37"/>
                  <a:gd name="T21" fmla="*/ 72 h 72"/>
                </a:gdLst>
                <a:ahLst/>
                <a:cxnLst>
                  <a:cxn ang="T12">
                    <a:pos x="T0" y="T1"/>
                  </a:cxn>
                  <a:cxn ang="T13">
                    <a:pos x="T2" y="T3"/>
                  </a:cxn>
                  <a:cxn ang="T14">
                    <a:pos x="T4" y="T5"/>
                  </a:cxn>
                  <a:cxn ang="T15">
                    <a:pos x="T6" y="T7"/>
                  </a:cxn>
                  <a:cxn ang="T16">
                    <a:pos x="T8" y="T9"/>
                  </a:cxn>
                  <a:cxn ang="T17">
                    <a:pos x="T10" y="T11"/>
                  </a:cxn>
                </a:cxnLst>
                <a:rect l="T18" t="T19" r="T20" b="T21"/>
                <a:pathLst>
                  <a:path w="37" h="72">
                    <a:moveTo>
                      <a:pt x="0" y="71"/>
                    </a:moveTo>
                    <a:lnTo>
                      <a:pt x="0" y="71"/>
                    </a:lnTo>
                    <a:lnTo>
                      <a:pt x="2" y="21"/>
                    </a:lnTo>
                    <a:lnTo>
                      <a:pt x="36" y="0"/>
                    </a:lnTo>
                    <a:lnTo>
                      <a:pt x="33" y="49"/>
                    </a:lnTo>
                    <a:lnTo>
                      <a:pt x="0" y="71"/>
                    </a:lnTo>
                  </a:path>
                </a:pathLst>
              </a:custGeom>
              <a:solidFill>
                <a:srgbClr val="BB1A50"/>
              </a:solidFill>
              <a:ln w="9525" cap="rnd">
                <a:noFill/>
                <a:round/>
              </a:ln>
            </p:spPr>
            <p:txBody>
              <a:bodyPr/>
              <a:lstStyle/>
              <a:p>
                <a:endParaRPr lang="zh-CN" altLang="en-US"/>
              </a:p>
            </p:txBody>
          </p:sp>
          <p:sp>
            <p:nvSpPr>
              <p:cNvPr id="9550" name="Freeform 125"/>
              <p:cNvSpPr/>
              <p:nvPr/>
            </p:nvSpPr>
            <p:spPr bwMode="auto">
              <a:xfrm>
                <a:off x="2462" y="1988"/>
                <a:ext cx="32" cy="65"/>
              </a:xfrm>
              <a:custGeom>
                <a:avLst/>
                <a:gdLst>
                  <a:gd name="T0" fmla="*/ 28 w 32"/>
                  <a:gd name="T1" fmla="*/ 64 h 65"/>
                  <a:gd name="T2" fmla="*/ 28 w 32"/>
                  <a:gd name="T3" fmla="*/ 64 h 65"/>
                  <a:gd name="T4" fmla="*/ 0 w 32"/>
                  <a:gd name="T5" fmla="*/ 48 h 65"/>
                  <a:gd name="T6" fmla="*/ 2 w 32"/>
                  <a:gd name="T7" fmla="*/ 0 h 65"/>
                  <a:gd name="T8" fmla="*/ 31 w 32"/>
                  <a:gd name="T9" fmla="*/ 15 h 65"/>
                  <a:gd name="T10" fmla="*/ 28 w 32"/>
                  <a:gd name="T11" fmla="*/ 64 h 65"/>
                  <a:gd name="T12" fmla="*/ 0 60000 65536"/>
                  <a:gd name="T13" fmla="*/ 0 60000 65536"/>
                  <a:gd name="T14" fmla="*/ 0 60000 65536"/>
                  <a:gd name="T15" fmla="*/ 0 60000 65536"/>
                  <a:gd name="T16" fmla="*/ 0 60000 65536"/>
                  <a:gd name="T17" fmla="*/ 0 60000 65536"/>
                  <a:gd name="T18" fmla="*/ 0 w 32"/>
                  <a:gd name="T19" fmla="*/ 0 h 65"/>
                  <a:gd name="T20" fmla="*/ 32 w 32"/>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32" h="65">
                    <a:moveTo>
                      <a:pt x="28" y="64"/>
                    </a:moveTo>
                    <a:lnTo>
                      <a:pt x="28" y="64"/>
                    </a:lnTo>
                    <a:lnTo>
                      <a:pt x="0" y="48"/>
                    </a:lnTo>
                    <a:lnTo>
                      <a:pt x="2" y="0"/>
                    </a:lnTo>
                    <a:lnTo>
                      <a:pt x="31" y="15"/>
                    </a:lnTo>
                    <a:lnTo>
                      <a:pt x="28" y="64"/>
                    </a:lnTo>
                  </a:path>
                </a:pathLst>
              </a:custGeom>
              <a:solidFill>
                <a:srgbClr val="9E0005"/>
              </a:solidFill>
              <a:ln w="9525" cap="rnd">
                <a:noFill/>
                <a:round/>
              </a:ln>
            </p:spPr>
            <p:txBody>
              <a:bodyPr/>
              <a:lstStyle/>
              <a:p>
                <a:endParaRPr lang="zh-CN" altLang="en-US"/>
              </a:p>
            </p:txBody>
          </p:sp>
          <p:sp>
            <p:nvSpPr>
              <p:cNvPr id="9551" name="Freeform 126"/>
              <p:cNvSpPr/>
              <p:nvPr/>
            </p:nvSpPr>
            <p:spPr bwMode="auto">
              <a:xfrm>
                <a:off x="2466" y="1968"/>
                <a:ext cx="65" cy="33"/>
              </a:xfrm>
              <a:custGeom>
                <a:avLst/>
                <a:gdLst>
                  <a:gd name="T0" fmla="*/ 29 w 65"/>
                  <a:gd name="T1" fmla="*/ 32 h 33"/>
                  <a:gd name="T2" fmla="*/ 29 w 65"/>
                  <a:gd name="T3" fmla="*/ 32 h 33"/>
                  <a:gd name="T4" fmla="*/ 0 w 65"/>
                  <a:gd name="T5" fmla="*/ 17 h 33"/>
                  <a:gd name="T6" fmla="*/ 34 w 65"/>
                  <a:gd name="T7" fmla="*/ 0 h 33"/>
                  <a:gd name="T8" fmla="*/ 64 w 65"/>
                  <a:gd name="T9" fmla="*/ 14 h 33"/>
                  <a:gd name="T10" fmla="*/ 29 w 65"/>
                  <a:gd name="T11" fmla="*/ 32 h 33"/>
                  <a:gd name="T12" fmla="*/ 0 60000 65536"/>
                  <a:gd name="T13" fmla="*/ 0 60000 65536"/>
                  <a:gd name="T14" fmla="*/ 0 60000 65536"/>
                  <a:gd name="T15" fmla="*/ 0 60000 65536"/>
                  <a:gd name="T16" fmla="*/ 0 60000 65536"/>
                  <a:gd name="T17" fmla="*/ 0 60000 65536"/>
                  <a:gd name="T18" fmla="*/ 0 w 65"/>
                  <a:gd name="T19" fmla="*/ 0 h 33"/>
                  <a:gd name="T20" fmla="*/ 65 w 65"/>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65" h="33">
                    <a:moveTo>
                      <a:pt x="29" y="32"/>
                    </a:moveTo>
                    <a:lnTo>
                      <a:pt x="29" y="32"/>
                    </a:lnTo>
                    <a:lnTo>
                      <a:pt x="0" y="17"/>
                    </a:lnTo>
                    <a:lnTo>
                      <a:pt x="34" y="0"/>
                    </a:lnTo>
                    <a:lnTo>
                      <a:pt x="64" y="14"/>
                    </a:lnTo>
                    <a:lnTo>
                      <a:pt x="29" y="32"/>
                    </a:lnTo>
                  </a:path>
                </a:pathLst>
              </a:custGeom>
              <a:solidFill>
                <a:srgbClr val="CF5C82"/>
              </a:solidFill>
              <a:ln w="9525" cap="rnd">
                <a:noFill/>
                <a:round/>
              </a:ln>
            </p:spPr>
            <p:txBody>
              <a:bodyPr/>
              <a:lstStyle/>
              <a:p>
                <a:endParaRPr lang="zh-CN" altLang="en-US"/>
              </a:p>
            </p:txBody>
          </p:sp>
          <p:grpSp>
            <p:nvGrpSpPr>
              <p:cNvPr id="20" name="Group 127"/>
              <p:cNvGrpSpPr/>
              <p:nvPr/>
            </p:nvGrpSpPr>
            <p:grpSpPr bwMode="auto">
              <a:xfrm>
                <a:off x="2372" y="1993"/>
                <a:ext cx="120" cy="114"/>
                <a:chOff x="2372" y="1993"/>
                <a:chExt cx="120" cy="114"/>
              </a:xfrm>
            </p:grpSpPr>
            <p:sp>
              <p:nvSpPr>
                <p:cNvPr id="9596" name="Freeform 128"/>
                <p:cNvSpPr/>
                <p:nvPr/>
              </p:nvSpPr>
              <p:spPr bwMode="auto">
                <a:xfrm>
                  <a:off x="2405" y="2010"/>
                  <a:ext cx="87" cy="97"/>
                </a:xfrm>
                <a:custGeom>
                  <a:avLst/>
                  <a:gdLst>
                    <a:gd name="T0" fmla="*/ 0 w 87"/>
                    <a:gd name="T1" fmla="*/ 96 h 97"/>
                    <a:gd name="T2" fmla="*/ 0 w 87"/>
                    <a:gd name="T3" fmla="*/ 96 h 97"/>
                    <a:gd name="T4" fmla="*/ 2 w 87"/>
                    <a:gd name="T5" fmla="*/ 46 h 97"/>
                    <a:gd name="T6" fmla="*/ 86 w 87"/>
                    <a:gd name="T7" fmla="*/ 0 h 97"/>
                    <a:gd name="T8" fmla="*/ 83 w 87"/>
                    <a:gd name="T9" fmla="*/ 49 h 97"/>
                    <a:gd name="T10" fmla="*/ 0 w 87"/>
                    <a:gd name="T11" fmla="*/ 96 h 97"/>
                    <a:gd name="T12" fmla="*/ 0 60000 65536"/>
                    <a:gd name="T13" fmla="*/ 0 60000 65536"/>
                    <a:gd name="T14" fmla="*/ 0 60000 65536"/>
                    <a:gd name="T15" fmla="*/ 0 60000 65536"/>
                    <a:gd name="T16" fmla="*/ 0 60000 65536"/>
                    <a:gd name="T17" fmla="*/ 0 60000 65536"/>
                    <a:gd name="T18" fmla="*/ 0 w 87"/>
                    <a:gd name="T19" fmla="*/ 0 h 97"/>
                    <a:gd name="T20" fmla="*/ 87 w 87"/>
                    <a:gd name="T21" fmla="*/ 97 h 97"/>
                  </a:gdLst>
                  <a:ahLst/>
                  <a:cxnLst>
                    <a:cxn ang="T12">
                      <a:pos x="T0" y="T1"/>
                    </a:cxn>
                    <a:cxn ang="T13">
                      <a:pos x="T2" y="T3"/>
                    </a:cxn>
                    <a:cxn ang="T14">
                      <a:pos x="T4" y="T5"/>
                    </a:cxn>
                    <a:cxn ang="T15">
                      <a:pos x="T6" y="T7"/>
                    </a:cxn>
                    <a:cxn ang="T16">
                      <a:pos x="T8" y="T9"/>
                    </a:cxn>
                    <a:cxn ang="T17">
                      <a:pos x="T10" y="T11"/>
                    </a:cxn>
                  </a:cxnLst>
                  <a:rect l="T18" t="T19" r="T20" b="T21"/>
                  <a:pathLst>
                    <a:path w="87" h="97">
                      <a:moveTo>
                        <a:pt x="0" y="96"/>
                      </a:moveTo>
                      <a:lnTo>
                        <a:pt x="0" y="96"/>
                      </a:lnTo>
                      <a:lnTo>
                        <a:pt x="2" y="46"/>
                      </a:lnTo>
                      <a:lnTo>
                        <a:pt x="86" y="0"/>
                      </a:lnTo>
                      <a:lnTo>
                        <a:pt x="83" y="49"/>
                      </a:lnTo>
                      <a:lnTo>
                        <a:pt x="0" y="96"/>
                      </a:lnTo>
                    </a:path>
                  </a:pathLst>
                </a:custGeom>
                <a:solidFill>
                  <a:srgbClr val="BB1A50"/>
                </a:solidFill>
                <a:ln w="9525" cap="rnd">
                  <a:noFill/>
                  <a:round/>
                </a:ln>
              </p:spPr>
              <p:txBody>
                <a:bodyPr/>
                <a:lstStyle/>
                <a:p>
                  <a:endParaRPr lang="zh-CN" altLang="en-US"/>
                </a:p>
              </p:txBody>
            </p:sp>
            <p:sp>
              <p:nvSpPr>
                <p:cNvPr id="9597" name="Freeform 129"/>
                <p:cNvSpPr/>
                <p:nvPr/>
              </p:nvSpPr>
              <p:spPr bwMode="auto">
                <a:xfrm>
                  <a:off x="2372" y="2042"/>
                  <a:ext cx="34" cy="65"/>
                </a:xfrm>
                <a:custGeom>
                  <a:avLst/>
                  <a:gdLst>
                    <a:gd name="T0" fmla="*/ 30 w 34"/>
                    <a:gd name="T1" fmla="*/ 64 h 65"/>
                    <a:gd name="T2" fmla="*/ 30 w 34"/>
                    <a:gd name="T3" fmla="*/ 64 h 65"/>
                    <a:gd name="T4" fmla="*/ 0 w 34"/>
                    <a:gd name="T5" fmla="*/ 51 h 65"/>
                    <a:gd name="T6" fmla="*/ 2 w 34"/>
                    <a:gd name="T7" fmla="*/ 0 h 65"/>
                    <a:gd name="T8" fmla="*/ 33 w 34"/>
                    <a:gd name="T9" fmla="*/ 15 h 65"/>
                    <a:gd name="T10" fmla="*/ 30 w 34"/>
                    <a:gd name="T11" fmla="*/ 64 h 65"/>
                    <a:gd name="T12" fmla="*/ 0 60000 65536"/>
                    <a:gd name="T13" fmla="*/ 0 60000 65536"/>
                    <a:gd name="T14" fmla="*/ 0 60000 65536"/>
                    <a:gd name="T15" fmla="*/ 0 60000 65536"/>
                    <a:gd name="T16" fmla="*/ 0 60000 65536"/>
                    <a:gd name="T17" fmla="*/ 0 60000 65536"/>
                    <a:gd name="T18" fmla="*/ 0 w 34"/>
                    <a:gd name="T19" fmla="*/ 0 h 65"/>
                    <a:gd name="T20" fmla="*/ 34 w 34"/>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34" h="65">
                      <a:moveTo>
                        <a:pt x="30" y="64"/>
                      </a:moveTo>
                      <a:lnTo>
                        <a:pt x="30" y="64"/>
                      </a:lnTo>
                      <a:lnTo>
                        <a:pt x="0" y="51"/>
                      </a:lnTo>
                      <a:lnTo>
                        <a:pt x="2" y="0"/>
                      </a:lnTo>
                      <a:lnTo>
                        <a:pt x="33" y="15"/>
                      </a:lnTo>
                      <a:lnTo>
                        <a:pt x="30" y="64"/>
                      </a:lnTo>
                    </a:path>
                  </a:pathLst>
                </a:custGeom>
                <a:solidFill>
                  <a:srgbClr val="9E0005"/>
                </a:solidFill>
                <a:ln w="9525" cap="rnd">
                  <a:noFill/>
                  <a:round/>
                </a:ln>
              </p:spPr>
              <p:txBody>
                <a:bodyPr/>
                <a:lstStyle/>
                <a:p>
                  <a:endParaRPr lang="zh-CN" altLang="en-US"/>
                </a:p>
              </p:txBody>
            </p:sp>
            <p:sp>
              <p:nvSpPr>
                <p:cNvPr id="9598" name="Freeform 130"/>
                <p:cNvSpPr/>
                <p:nvPr/>
              </p:nvSpPr>
              <p:spPr bwMode="auto">
                <a:xfrm>
                  <a:off x="2375" y="1993"/>
                  <a:ext cx="117" cy="63"/>
                </a:xfrm>
                <a:custGeom>
                  <a:avLst/>
                  <a:gdLst>
                    <a:gd name="T0" fmla="*/ 33 w 117"/>
                    <a:gd name="T1" fmla="*/ 62 h 63"/>
                    <a:gd name="T2" fmla="*/ 33 w 117"/>
                    <a:gd name="T3" fmla="*/ 62 h 63"/>
                    <a:gd name="T4" fmla="*/ 0 w 117"/>
                    <a:gd name="T5" fmla="*/ 46 h 63"/>
                    <a:gd name="T6" fmla="*/ 82 w 117"/>
                    <a:gd name="T7" fmla="*/ 0 h 63"/>
                    <a:gd name="T8" fmla="*/ 116 w 117"/>
                    <a:gd name="T9" fmla="*/ 15 h 63"/>
                    <a:gd name="T10" fmla="*/ 33 w 117"/>
                    <a:gd name="T11" fmla="*/ 62 h 63"/>
                    <a:gd name="T12" fmla="*/ 0 60000 65536"/>
                    <a:gd name="T13" fmla="*/ 0 60000 65536"/>
                    <a:gd name="T14" fmla="*/ 0 60000 65536"/>
                    <a:gd name="T15" fmla="*/ 0 60000 65536"/>
                    <a:gd name="T16" fmla="*/ 0 60000 65536"/>
                    <a:gd name="T17" fmla="*/ 0 60000 65536"/>
                    <a:gd name="T18" fmla="*/ 0 w 117"/>
                    <a:gd name="T19" fmla="*/ 0 h 63"/>
                    <a:gd name="T20" fmla="*/ 117 w 117"/>
                    <a:gd name="T21" fmla="*/ 63 h 63"/>
                  </a:gdLst>
                  <a:ahLst/>
                  <a:cxnLst>
                    <a:cxn ang="T12">
                      <a:pos x="T0" y="T1"/>
                    </a:cxn>
                    <a:cxn ang="T13">
                      <a:pos x="T2" y="T3"/>
                    </a:cxn>
                    <a:cxn ang="T14">
                      <a:pos x="T4" y="T5"/>
                    </a:cxn>
                    <a:cxn ang="T15">
                      <a:pos x="T6" y="T7"/>
                    </a:cxn>
                    <a:cxn ang="T16">
                      <a:pos x="T8" y="T9"/>
                    </a:cxn>
                    <a:cxn ang="T17">
                      <a:pos x="T10" y="T11"/>
                    </a:cxn>
                  </a:cxnLst>
                  <a:rect l="T18" t="T19" r="T20" b="T21"/>
                  <a:pathLst>
                    <a:path w="117" h="63">
                      <a:moveTo>
                        <a:pt x="33" y="62"/>
                      </a:moveTo>
                      <a:lnTo>
                        <a:pt x="33" y="62"/>
                      </a:lnTo>
                      <a:lnTo>
                        <a:pt x="0" y="46"/>
                      </a:lnTo>
                      <a:lnTo>
                        <a:pt x="82" y="0"/>
                      </a:lnTo>
                      <a:lnTo>
                        <a:pt x="116" y="15"/>
                      </a:lnTo>
                      <a:lnTo>
                        <a:pt x="33" y="62"/>
                      </a:lnTo>
                    </a:path>
                  </a:pathLst>
                </a:custGeom>
                <a:solidFill>
                  <a:srgbClr val="CF5C82"/>
                </a:solidFill>
                <a:ln w="9525" cap="rnd">
                  <a:noFill/>
                  <a:round/>
                </a:ln>
              </p:spPr>
              <p:txBody>
                <a:bodyPr/>
                <a:lstStyle/>
                <a:p>
                  <a:endParaRPr lang="zh-CN" altLang="en-US"/>
                </a:p>
              </p:txBody>
            </p:sp>
          </p:grpSp>
          <p:grpSp>
            <p:nvGrpSpPr>
              <p:cNvPr id="21" name="Group 131"/>
              <p:cNvGrpSpPr/>
              <p:nvPr/>
            </p:nvGrpSpPr>
            <p:grpSpPr bwMode="auto">
              <a:xfrm>
                <a:off x="2272" y="2047"/>
                <a:ext cx="129" cy="117"/>
                <a:chOff x="2272" y="2047"/>
                <a:chExt cx="129" cy="117"/>
              </a:xfrm>
            </p:grpSpPr>
            <p:sp>
              <p:nvSpPr>
                <p:cNvPr id="9593" name="Freeform 132"/>
                <p:cNvSpPr/>
                <p:nvPr/>
              </p:nvSpPr>
              <p:spPr bwMode="auto">
                <a:xfrm>
                  <a:off x="2312" y="2064"/>
                  <a:ext cx="89" cy="100"/>
                </a:xfrm>
                <a:custGeom>
                  <a:avLst/>
                  <a:gdLst>
                    <a:gd name="T0" fmla="*/ 0 w 89"/>
                    <a:gd name="T1" fmla="*/ 99 h 100"/>
                    <a:gd name="T2" fmla="*/ 0 w 89"/>
                    <a:gd name="T3" fmla="*/ 99 h 100"/>
                    <a:gd name="T4" fmla="*/ 2 w 89"/>
                    <a:gd name="T5" fmla="*/ 49 h 100"/>
                    <a:gd name="T6" fmla="*/ 88 w 89"/>
                    <a:gd name="T7" fmla="*/ 0 h 100"/>
                    <a:gd name="T8" fmla="*/ 88 w 89"/>
                    <a:gd name="T9" fmla="*/ 49 h 100"/>
                    <a:gd name="T10" fmla="*/ 0 w 89"/>
                    <a:gd name="T11" fmla="*/ 99 h 100"/>
                    <a:gd name="T12" fmla="*/ 0 60000 65536"/>
                    <a:gd name="T13" fmla="*/ 0 60000 65536"/>
                    <a:gd name="T14" fmla="*/ 0 60000 65536"/>
                    <a:gd name="T15" fmla="*/ 0 60000 65536"/>
                    <a:gd name="T16" fmla="*/ 0 60000 65536"/>
                    <a:gd name="T17" fmla="*/ 0 60000 65536"/>
                    <a:gd name="T18" fmla="*/ 0 w 89"/>
                    <a:gd name="T19" fmla="*/ 0 h 100"/>
                    <a:gd name="T20" fmla="*/ 89 w 89"/>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89" h="100">
                      <a:moveTo>
                        <a:pt x="0" y="99"/>
                      </a:moveTo>
                      <a:lnTo>
                        <a:pt x="0" y="99"/>
                      </a:lnTo>
                      <a:lnTo>
                        <a:pt x="2" y="49"/>
                      </a:lnTo>
                      <a:lnTo>
                        <a:pt x="88" y="0"/>
                      </a:lnTo>
                      <a:lnTo>
                        <a:pt x="88" y="49"/>
                      </a:lnTo>
                      <a:lnTo>
                        <a:pt x="0" y="99"/>
                      </a:lnTo>
                    </a:path>
                  </a:pathLst>
                </a:custGeom>
                <a:solidFill>
                  <a:srgbClr val="BB1A50"/>
                </a:solidFill>
                <a:ln w="9525" cap="rnd">
                  <a:noFill/>
                  <a:round/>
                </a:ln>
              </p:spPr>
              <p:txBody>
                <a:bodyPr/>
                <a:lstStyle/>
                <a:p>
                  <a:endParaRPr lang="zh-CN" altLang="en-US"/>
                </a:p>
              </p:txBody>
            </p:sp>
            <p:sp>
              <p:nvSpPr>
                <p:cNvPr id="9594" name="Freeform 133"/>
                <p:cNvSpPr/>
                <p:nvPr/>
              </p:nvSpPr>
              <p:spPr bwMode="auto">
                <a:xfrm>
                  <a:off x="2272" y="2099"/>
                  <a:ext cx="41" cy="65"/>
                </a:xfrm>
                <a:custGeom>
                  <a:avLst/>
                  <a:gdLst>
                    <a:gd name="T0" fmla="*/ 37 w 41"/>
                    <a:gd name="T1" fmla="*/ 64 h 65"/>
                    <a:gd name="T2" fmla="*/ 37 w 41"/>
                    <a:gd name="T3" fmla="*/ 64 h 65"/>
                    <a:gd name="T4" fmla="*/ 0 w 41"/>
                    <a:gd name="T5" fmla="*/ 51 h 65"/>
                    <a:gd name="T6" fmla="*/ 2 w 41"/>
                    <a:gd name="T7" fmla="*/ 0 h 65"/>
                    <a:gd name="T8" fmla="*/ 40 w 41"/>
                    <a:gd name="T9" fmla="*/ 15 h 65"/>
                    <a:gd name="T10" fmla="*/ 37 w 41"/>
                    <a:gd name="T11" fmla="*/ 64 h 65"/>
                    <a:gd name="T12" fmla="*/ 0 60000 65536"/>
                    <a:gd name="T13" fmla="*/ 0 60000 65536"/>
                    <a:gd name="T14" fmla="*/ 0 60000 65536"/>
                    <a:gd name="T15" fmla="*/ 0 60000 65536"/>
                    <a:gd name="T16" fmla="*/ 0 60000 65536"/>
                    <a:gd name="T17" fmla="*/ 0 60000 65536"/>
                    <a:gd name="T18" fmla="*/ 0 w 41"/>
                    <a:gd name="T19" fmla="*/ 0 h 65"/>
                    <a:gd name="T20" fmla="*/ 41 w 41"/>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41" h="65">
                      <a:moveTo>
                        <a:pt x="37" y="64"/>
                      </a:moveTo>
                      <a:lnTo>
                        <a:pt x="37" y="64"/>
                      </a:lnTo>
                      <a:lnTo>
                        <a:pt x="0" y="51"/>
                      </a:lnTo>
                      <a:lnTo>
                        <a:pt x="2" y="0"/>
                      </a:lnTo>
                      <a:lnTo>
                        <a:pt x="40" y="15"/>
                      </a:lnTo>
                      <a:lnTo>
                        <a:pt x="37" y="64"/>
                      </a:lnTo>
                    </a:path>
                  </a:pathLst>
                </a:custGeom>
                <a:solidFill>
                  <a:srgbClr val="9E0005"/>
                </a:solidFill>
                <a:ln w="9525" cap="rnd">
                  <a:noFill/>
                  <a:round/>
                </a:ln>
              </p:spPr>
              <p:txBody>
                <a:bodyPr/>
                <a:lstStyle/>
                <a:p>
                  <a:endParaRPr lang="zh-CN" altLang="en-US"/>
                </a:p>
              </p:txBody>
            </p:sp>
            <p:sp>
              <p:nvSpPr>
                <p:cNvPr id="9595" name="Freeform 134"/>
                <p:cNvSpPr/>
                <p:nvPr/>
              </p:nvSpPr>
              <p:spPr bwMode="auto">
                <a:xfrm>
                  <a:off x="2275" y="2047"/>
                  <a:ext cx="126" cy="67"/>
                </a:xfrm>
                <a:custGeom>
                  <a:avLst/>
                  <a:gdLst>
                    <a:gd name="T0" fmla="*/ 39 w 126"/>
                    <a:gd name="T1" fmla="*/ 66 h 67"/>
                    <a:gd name="T2" fmla="*/ 39 w 126"/>
                    <a:gd name="T3" fmla="*/ 66 h 67"/>
                    <a:gd name="T4" fmla="*/ 0 w 126"/>
                    <a:gd name="T5" fmla="*/ 50 h 67"/>
                    <a:gd name="T6" fmla="*/ 91 w 126"/>
                    <a:gd name="T7" fmla="*/ 0 h 67"/>
                    <a:gd name="T8" fmla="*/ 125 w 126"/>
                    <a:gd name="T9" fmla="*/ 15 h 67"/>
                    <a:gd name="T10" fmla="*/ 39 w 126"/>
                    <a:gd name="T11" fmla="*/ 66 h 67"/>
                    <a:gd name="T12" fmla="*/ 0 60000 65536"/>
                    <a:gd name="T13" fmla="*/ 0 60000 65536"/>
                    <a:gd name="T14" fmla="*/ 0 60000 65536"/>
                    <a:gd name="T15" fmla="*/ 0 60000 65536"/>
                    <a:gd name="T16" fmla="*/ 0 60000 65536"/>
                    <a:gd name="T17" fmla="*/ 0 60000 65536"/>
                    <a:gd name="T18" fmla="*/ 0 w 126"/>
                    <a:gd name="T19" fmla="*/ 0 h 67"/>
                    <a:gd name="T20" fmla="*/ 126 w 126"/>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126" h="67">
                      <a:moveTo>
                        <a:pt x="39" y="66"/>
                      </a:moveTo>
                      <a:lnTo>
                        <a:pt x="39" y="66"/>
                      </a:lnTo>
                      <a:lnTo>
                        <a:pt x="0" y="50"/>
                      </a:lnTo>
                      <a:lnTo>
                        <a:pt x="91" y="0"/>
                      </a:lnTo>
                      <a:lnTo>
                        <a:pt x="125" y="15"/>
                      </a:lnTo>
                      <a:lnTo>
                        <a:pt x="39" y="66"/>
                      </a:lnTo>
                    </a:path>
                  </a:pathLst>
                </a:custGeom>
                <a:solidFill>
                  <a:srgbClr val="CF5C82"/>
                </a:solidFill>
                <a:ln w="9525" cap="rnd">
                  <a:noFill/>
                  <a:round/>
                </a:ln>
              </p:spPr>
              <p:txBody>
                <a:bodyPr/>
                <a:lstStyle/>
                <a:p>
                  <a:endParaRPr lang="zh-CN" altLang="en-US"/>
                </a:p>
              </p:txBody>
            </p:sp>
          </p:grpSp>
          <p:grpSp>
            <p:nvGrpSpPr>
              <p:cNvPr id="22" name="Group 135"/>
              <p:cNvGrpSpPr/>
              <p:nvPr/>
            </p:nvGrpSpPr>
            <p:grpSpPr bwMode="auto">
              <a:xfrm>
                <a:off x="2167" y="2106"/>
                <a:ext cx="140" cy="123"/>
                <a:chOff x="2167" y="2106"/>
                <a:chExt cx="140" cy="123"/>
              </a:xfrm>
            </p:grpSpPr>
            <p:sp>
              <p:nvSpPr>
                <p:cNvPr id="9590" name="Freeform 136"/>
                <p:cNvSpPr/>
                <p:nvPr/>
              </p:nvSpPr>
              <p:spPr bwMode="auto">
                <a:xfrm>
                  <a:off x="2208" y="2122"/>
                  <a:ext cx="98" cy="107"/>
                </a:xfrm>
                <a:custGeom>
                  <a:avLst/>
                  <a:gdLst>
                    <a:gd name="T0" fmla="*/ 0 w 98"/>
                    <a:gd name="T1" fmla="*/ 106 h 107"/>
                    <a:gd name="T2" fmla="*/ 0 w 98"/>
                    <a:gd name="T3" fmla="*/ 106 h 107"/>
                    <a:gd name="T4" fmla="*/ 0 w 98"/>
                    <a:gd name="T5" fmla="*/ 53 h 107"/>
                    <a:gd name="T6" fmla="*/ 97 w 98"/>
                    <a:gd name="T7" fmla="*/ 0 h 107"/>
                    <a:gd name="T8" fmla="*/ 94 w 98"/>
                    <a:gd name="T9" fmla="*/ 50 h 107"/>
                    <a:gd name="T10" fmla="*/ 0 w 98"/>
                    <a:gd name="T11" fmla="*/ 106 h 107"/>
                    <a:gd name="T12" fmla="*/ 0 60000 65536"/>
                    <a:gd name="T13" fmla="*/ 0 60000 65536"/>
                    <a:gd name="T14" fmla="*/ 0 60000 65536"/>
                    <a:gd name="T15" fmla="*/ 0 60000 65536"/>
                    <a:gd name="T16" fmla="*/ 0 60000 65536"/>
                    <a:gd name="T17" fmla="*/ 0 60000 65536"/>
                    <a:gd name="T18" fmla="*/ 0 w 98"/>
                    <a:gd name="T19" fmla="*/ 0 h 107"/>
                    <a:gd name="T20" fmla="*/ 98 w 98"/>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98" h="107">
                      <a:moveTo>
                        <a:pt x="0" y="106"/>
                      </a:moveTo>
                      <a:lnTo>
                        <a:pt x="0" y="106"/>
                      </a:lnTo>
                      <a:lnTo>
                        <a:pt x="0" y="53"/>
                      </a:lnTo>
                      <a:lnTo>
                        <a:pt x="97" y="0"/>
                      </a:lnTo>
                      <a:lnTo>
                        <a:pt x="94" y="50"/>
                      </a:lnTo>
                      <a:lnTo>
                        <a:pt x="0" y="106"/>
                      </a:lnTo>
                    </a:path>
                  </a:pathLst>
                </a:custGeom>
                <a:solidFill>
                  <a:srgbClr val="BB1A50"/>
                </a:solidFill>
                <a:ln w="9525" cap="rnd">
                  <a:noFill/>
                  <a:round/>
                </a:ln>
              </p:spPr>
              <p:txBody>
                <a:bodyPr/>
                <a:lstStyle/>
                <a:p>
                  <a:endParaRPr lang="zh-CN" altLang="en-US"/>
                </a:p>
              </p:txBody>
            </p:sp>
            <p:sp>
              <p:nvSpPr>
                <p:cNvPr id="9591" name="Freeform 137"/>
                <p:cNvSpPr/>
                <p:nvPr/>
              </p:nvSpPr>
              <p:spPr bwMode="auto">
                <a:xfrm>
                  <a:off x="2167" y="2162"/>
                  <a:ext cx="41" cy="67"/>
                </a:xfrm>
                <a:custGeom>
                  <a:avLst/>
                  <a:gdLst>
                    <a:gd name="T0" fmla="*/ 40 w 41"/>
                    <a:gd name="T1" fmla="*/ 66 h 67"/>
                    <a:gd name="T2" fmla="*/ 40 w 41"/>
                    <a:gd name="T3" fmla="*/ 66 h 67"/>
                    <a:gd name="T4" fmla="*/ 0 w 41"/>
                    <a:gd name="T5" fmla="*/ 56 h 67"/>
                    <a:gd name="T6" fmla="*/ 0 w 41"/>
                    <a:gd name="T7" fmla="*/ 0 h 67"/>
                    <a:gd name="T8" fmla="*/ 40 w 41"/>
                    <a:gd name="T9" fmla="*/ 12 h 67"/>
                    <a:gd name="T10" fmla="*/ 40 w 41"/>
                    <a:gd name="T11" fmla="*/ 66 h 67"/>
                    <a:gd name="T12" fmla="*/ 0 60000 65536"/>
                    <a:gd name="T13" fmla="*/ 0 60000 65536"/>
                    <a:gd name="T14" fmla="*/ 0 60000 65536"/>
                    <a:gd name="T15" fmla="*/ 0 60000 65536"/>
                    <a:gd name="T16" fmla="*/ 0 60000 65536"/>
                    <a:gd name="T17" fmla="*/ 0 60000 65536"/>
                    <a:gd name="T18" fmla="*/ 0 w 41"/>
                    <a:gd name="T19" fmla="*/ 0 h 67"/>
                    <a:gd name="T20" fmla="*/ 41 w 41"/>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41" h="67">
                      <a:moveTo>
                        <a:pt x="40" y="66"/>
                      </a:moveTo>
                      <a:lnTo>
                        <a:pt x="40" y="66"/>
                      </a:lnTo>
                      <a:lnTo>
                        <a:pt x="0" y="56"/>
                      </a:lnTo>
                      <a:lnTo>
                        <a:pt x="0" y="0"/>
                      </a:lnTo>
                      <a:lnTo>
                        <a:pt x="40" y="12"/>
                      </a:lnTo>
                      <a:lnTo>
                        <a:pt x="40" y="66"/>
                      </a:lnTo>
                    </a:path>
                  </a:pathLst>
                </a:custGeom>
                <a:solidFill>
                  <a:srgbClr val="9E0005"/>
                </a:solidFill>
                <a:ln w="9525" cap="rnd">
                  <a:noFill/>
                  <a:round/>
                </a:ln>
              </p:spPr>
              <p:txBody>
                <a:bodyPr/>
                <a:lstStyle/>
                <a:p>
                  <a:endParaRPr lang="zh-CN" altLang="en-US"/>
                </a:p>
              </p:txBody>
            </p:sp>
            <p:sp>
              <p:nvSpPr>
                <p:cNvPr id="9592" name="Freeform 138"/>
                <p:cNvSpPr/>
                <p:nvPr/>
              </p:nvSpPr>
              <p:spPr bwMode="auto">
                <a:xfrm>
                  <a:off x="2167" y="2106"/>
                  <a:ext cx="140" cy="68"/>
                </a:xfrm>
                <a:custGeom>
                  <a:avLst/>
                  <a:gdLst>
                    <a:gd name="T0" fmla="*/ 41 w 140"/>
                    <a:gd name="T1" fmla="*/ 67 h 68"/>
                    <a:gd name="T2" fmla="*/ 41 w 140"/>
                    <a:gd name="T3" fmla="*/ 67 h 68"/>
                    <a:gd name="T4" fmla="*/ 0 w 140"/>
                    <a:gd name="T5" fmla="*/ 54 h 68"/>
                    <a:gd name="T6" fmla="*/ 99 w 140"/>
                    <a:gd name="T7" fmla="*/ 0 h 68"/>
                    <a:gd name="T8" fmla="*/ 139 w 140"/>
                    <a:gd name="T9" fmla="*/ 15 h 68"/>
                    <a:gd name="T10" fmla="*/ 41 w 140"/>
                    <a:gd name="T11" fmla="*/ 67 h 68"/>
                    <a:gd name="T12" fmla="*/ 0 60000 65536"/>
                    <a:gd name="T13" fmla="*/ 0 60000 65536"/>
                    <a:gd name="T14" fmla="*/ 0 60000 65536"/>
                    <a:gd name="T15" fmla="*/ 0 60000 65536"/>
                    <a:gd name="T16" fmla="*/ 0 60000 65536"/>
                    <a:gd name="T17" fmla="*/ 0 60000 65536"/>
                    <a:gd name="T18" fmla="*/ 0 w 140"/>
                    <a:gd name="T19" fmla="*/ 0 h 68"/>
                    <a:gd name="T20" fmla="*/ 140 w 140"/>
                    <a:gd name="T21" fmla="*/ 68 h 68"/>
                  </a:gdLst>
                  <a:ahLst/>
                  <a:cxnLst>
                    <a:cxn ang="T12">
                      <a:pos x="T0" y="T1"/>
                    </a:cxn>
                    <a:cxn ang="T13">
                      <a:pos x="T2" y="T3"/>
                    </a:cxn>
                    <a:cxn ang="T14">
                      <a:pos x="T4" y="T5"/>
                    </a:cxn>
                    <a:cxn ang="T15">
                      <a:pos x="T6" y="T7"/>
                    </a:cxn>
                    <a:cxn ang="T16">
                      <a:pos x="T8" y="T9"/>
                    </a:cxn>
                    <a:cxn ang="T17">
                      <a:pos x="T10" y="T11"/>
                    </a:cxn>
                  </a:cxnLst>
                  <a:rect l="T18" t="T19" r="T20" b="T21"/>
                  <a:pathLst>
                    <a:path w="140" h="68">
                      <a:moveTo>
                        <a:pt x="41" y="67"/>
                      </a:moveTo>
                      <a:lnTo>
                        <a:pt x="41" y="67"/>
                      </a:lnTo>
                      <a:lnTo>
                        <a:pt x="0" y="54"/>
                      </a:lnTo>
                      <a:lnTo>
                        <a:pt x="99" y="0"/>
                      </a:lnTo>
                      <a:lnTo>
                        <a:pt x="139" y="15"/>
                      </a:lnTo>
                      <a:lnTo>
                        <a:pt x="41" y="67"/>
                      </a:lnTo>
                    </a:path>
                  </a:pathLst>
                </a:custGeom>
                <a:solidFill>
                  <a:srgbClr val="CF5C82"/>
                </a:solidFill>
                <a:ln w="9525" cap="rnd">
                  <a:noFill/>
                  <a:round/>
                </a:ln>
              </p:spPr>
              <p:txBody>
                <a:bodyPr/>
                <a:lstStyle/>
                <a:p>
                  <a:endParaRPr lang="zh-CN" altLang="en-US"/>
                </a:p>
              </p:txBody>
            </p:sp>
          </p:grpSp>
          <p:grpSp>
            <p:nvGrpSpPr>
              <p:cNvPr id="23" name="Group 139"/>
              <p:cNvGrpSpPr/>
              <p:nvPr/>
            </p:nvGrpSpPr>
            <p:grpSpPr bwMode="auto">
              <a:xfrm>
                <a:off x="2050" y="2167"/>
                <a:ext cx="152" cy="128"/>
                <a:chOff x="2050" y="2167"/>
                <a:chExt cx="152" cy="128"/>
              </a:xfrm>
            </p:grpSpPr>
            <p:sp>
              <p:nvSpPr>
                <p:cNvPr id="9587" name="Freeform 140"/>
                <p:cNvSpPr/>
                <p:nvPr/>
              </p:nvSpPr>
              <p:spPr bwMode="auto">
                <a:xfrm>
                  <a:off x="2098" y="2183"/>
                  <a:ext cx="104" cy="112"/>
                </a:xfrm>
                <a:custGeom>
                  <a:avLst/>
                  <a:gdLst>
                    <a:gd name="T0" fmla="*/ 0 w 104"/>
                    <a:gd name="T1" fmla="*/ 111 h 112"/>
                    <a:gd name="T2" fmla="*/ 0 w 104"/>
                    <a:gd name="T3" fmla="*/ 111 h 112"/>
                    <a:gd name="T4" fmla="*/ 0 w 104"/>
                    <a:gd name="T5" fmla="*/ 55 h 112"/>
                    <a:gd name="T6" fmla="*/ 103 w 104"/>
                    <a:gd name="T7" fmla="*/ 0 h 112"/>
                    <a:gd name="T8" fmla="*/ 103 w 104"/>
                    <a:gd name="T9" fmla="*/ 52 h 112"/>
                    <a:gd name="T10" fmla="*/ 0 w 104"/>
                    <a:gd name="T11" fmla="*/ 111 h 112"/>
                    <a:gd name="T12" fmla="*/ 0 60000 65536"/>
                    <a:gd name="T13" fmla="*/ 0 60000 65536"/>
                    <a:gd name="T14" fmla="*/ 0 60000 65536"/>
                    <a:gd name="T15" fmla="*/ 0 60000 65536"/>
                    <a:gd name="T16" fmla="*/ 0 60000 65536"/>
                    <a:gd name="T17" fmla="*/ 0 60000 65536"/>
                    <a:gd name="T18" fmla="*/ 0 w 104"/>
                    <a:gd name="T19" fmla="*/ 0 h 112"/>
                    <a:gd name="T20" fmla="*/ 104 w 104"/>
                    <a:gd name="T21" fmla="*/ 112 h 112"/>
                  </a:gdLst>
                  <a:ahLst/>
                  <a:cxnLst>
                    <a:cxn ang="T12">
                      <a:pos x="T0" y="T1"/>
                    </a:cxn>
                    <a:cxn ang="T13">
                      <a:pos x="T2" y="T3"/>
                    </a:cxn>
                    <a:cxn ang="T14">
                      <a:pos x="T4" y="T5"/>
                    </a:cxn>
                    <a:cxn ang="T15">
                      <a:pos x="T6" y="T7"/>
                    </a:cxn>
                    <a:cxn ang="T16">
                      <a:pos x="T8" y="T9"/>
                    </a:cxn>
                    <a:cxn ang="T17">
                      <a:pos x="T10" y="T11"/>
                    </a:cxn>
                  </a:cxnLst>
                  <a:rect l="T18" t="T19" r="T20" b="T21"/>
                  <a:pathLst>
                    <a:path w="104" h="112">
                      <a:moveTo>
                        <a:pt x="0" y="111"/>
                      </a:moveTo>
                      <a:lnTo>
                        <a:pt x="0" y="111"/>
                      </a:lnTo>
                      <a:lnTo>
                        <a:pt x="0" y="55"/>
                      </a:lnTo>
                      <a:lnTo>
                        <a:pt x="103" y="0"/>
                      </a:lnTo>
                      <a:lnTo>
                        <a:pt x="103" y="52"/>
                      </a:lnTo>
                      <a:lnTo>
                        <a:pt x="0" y="111"/>
                      </a:lnTo>
                    </a:path>
                  </a:pathLst>
                </a:custGeom>
                <a:solidFill>
                  <a:srgbClr val="BB1A50"/>
                </a:solidFill>
                <a:ln w="9525" cap="rnd">
                  <a:noFill/>
                  <a:round/>
                </a:ln>
              </p:spPr>
              <p:txBody>
                <a:bodyPr/>
                <a:lstStyle/>
                <a:p>
                  <a:endParaRPr lang="zh-CN" altLang="en-US"/>
                </a:p>
              </p:txBody>
            </p:sp>
            <p:sp>
              <p:nvSpPr>
                <p:cNvPr id="9588" name="Freeform 141"/>
                <p:cNvSpPr/>
                <p:nvPr/>
              </p:nvSpPr>
              <p:spPr bwMode="auto">
                <a:xfrm>
                  <a:off x="2051" y="2231"/>
                  <a:ext cx="47" cy="64"/>
                </a:xfrm>
                <a:custGeom>
                  <a:avLst/>
                  <a:gdLst>
                    <a:gd name="T0" fmla="*/ 46 w 47"/>
                    <a:gd name="T1" fmla="*/ 63 h 64"/>
                    <a:gd name="T2" fmla="*/ 46 w 47"/>
                    <a:gd name="T3" fmla="*/ 63 h 64"/>
                    <a:gd name="T4" fmla="*/ 0 w 47"/>
                    <a:gd name="T5" fmla="*/ 54 h 64"/>
                    <a:gd name="T6" fmla="*/ 0 w 47"/>
                    <a:gd name="T7" fmla="*/ 0 h 64"/>
                    <a:gd name="T8" fmla="*/ 46 w 47"/>
                    <a:gd name="T9" fmla="*/ 9 h 64"/>
                    <a:gd name="T10" fmla="*/ 46 w 47"/>
                    <a:gd name="T11" fmla="*/ 63 h 64"/>
                    <a:gd name="T12" fmla="*/ 0 60000 65536"/>
                    <a:gd name="T13" fmla="*/ 0 60000 65536"/>
                    <a:gd name="T14" fmla="*/ 0 60000 65536"/>
                    <a:gd name="T15" fmla="*/ 0 60000 65536"/>
                    <a:gd name="T16" fmla="*/ 0 60000 65536"/>
                    <a:gd name="T17" fmla="*/ 0 60000 65536"/>
                    <a:gd name="T18" fmla="*/ 0 w 47"/>
                    <a:gd name="T19" fmla="*/ 0 h 64"/>
                    <a:gd name="T20" fmla="*/ 47 w 47"/>
                    <a:gd name="T21" fmla="*/ 64 h 64"/>
                  </a:gdLst>
                  <a:ahLst/>
                  <a:cxnLst>
                    <a:cxn ang="T12">
                      <a:pos x="T0" y="T1"/>
                    </a:cxn>
                    <a:cxn ang="T13">
                      <a:pos x="T2" y="T3"/>
                    </a:cxn>
                    <a:cxn ang="T14">
                      <a:pos x="T4" y="T5"/>
                    </a:cxn>
                    <a:cxn ang="T15">
                      <a:pos x="T6" y="T7"/>
                    </a:cxn>
                    <a:cxn ang="T16">
                      <a:pos x="T8" y="T9"/>
                    </a:cxn>
                    <a:cxn ang="T17">
                      <a:pos x="T10" y="T11"/>
                    </a:cxn>
                  </a:cxnLst>
                  <a:rect l="T18" t="T19" r="T20" b="T21"/>
                  <a:pathLst>
                    <a:path w="47" h="64">
                      <a:moveTo>
                        <a:pt x="46" y="63"/>
                      </a:moveTo>
                      <a:lnTo>
                        <a:pt x="46" y="63"/>
                      </a:lnTo>
                      <a:lnTo>
                        <a:pt x="0" y="54"/>
                      </a:lnTo>
                      <a:lnTo>
                        <a:pt x="0" y="0"/>
                      </a:lnTo>
                      <a:lnTo>
                        <a:pt x="46" y="9"/>
                      </a:lnTo>
                      <a:lnTo>
                        <a:pt x="46" y="63"/>
                      </a:lnTo>
                    </a:path>
                  </a:pathLst>
                </a:custGeom>
                <a:solidFill>
                  <a:srgbClr val="9E0005"/>
                </a:solidFill>
                <a:ln w="9525" cap="rnd">
                  <a:noFill/>
                  <a:round/>
                </a:ln>
              </p:spPr>
              <p:txBody>
                <a:bodyPr/>
                <a:lstStyle/>
                <a:p>
                  <a:endParaRPr lang="zh-CN" altLang="en-US"/>
                </a:p>
              </p:txBody>
            </p:sp>
            <p:sp>
              <p:nvSpPr>
                <p:cNvPr id="9589" name="Freeform 142"/>
                <p:cNvSpPr/>
                <p:nvPr/>
              </p:nvSpPr>
              <p:spPr bwMode="auto">
                <a:xfrm>
                  <a:off x="2050" y="2167"/>
                  <a:ext cx="152" cy="71"/>
                </a:xfrm>
                <a:custGeom>
                  <a:avLst/>
                  <a:gdLst>
                    <a:gd name="T0" fmla="*/ 47 w 152"/>
                    <a:gd name="T1" fmla="*/ 70 h 71"/>
                    <a:gd name="T2" fmla="*/ 47 w 152"/>
                    <a:gd name="T3" fmla="*/ 70 h 71"/>
                    <a:gd name="T4" fmla="*/ 0 w 152"/>
                    <a:gd name="T5" fmla="*/ 57 h 71"/>
                    <a:gd name="T6" fmla="*/ 109 w 152"/>
                    <a:gd name="T7" fmla="*/ 0 h 71"/>
                    <a:gd name="T8" fmla="*/ 151 w 152"/>
                    <a:gd name="T9" fmla="*/ 15 h 71"/>
                    <a:gd name="T10" fmla="*/ 47 w 152"/>
                    <a:gd name="T11" fmla="*/ 70 h 71"/>
                    <a:gd name="T12" fmla="*/ 0 60000 65536"/>
                    <a:gd name="T13" fmla="*/ 0 60000 65536"/>
                    <a:gd name="T14" fmla="*/ 0 60000 65536"/>
                    <a:gd name="T15" fmla="*/ 0 60000 65536"/>
                    <a:gd name="T16" fmla="*/ 0 60000 65536"/>
                    <a:gd name="T17" fmla="*/ 0 60000 65536"/>
                    <a:gd name="T18" fmla="*/ 0 w 152"/>
                    <a:gd name="T19" fmla="*/ 0 h 71"/>
                    <a:gd name="T20" fmla="*/ 152 w 152"/>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152" h="71">
                      <a:moveTo>
                        <a:pt x="47" y="70"/>
                      </a:moveTo>
                      <a:lnTo>
                        <a:pt x="47" y="70"/>
                      </a:lnTo>
                      <a:lnTo>
                        <a:pt x="0" y="57"/>
                      </a:lnTo>
                      <a:lnTo>
                        <a:pt x="109" y="0"/>
                      </a:lnTo>
                      <a:lnTo>
                        <a:pt x="151" y="15"/>
                      </a:lnTo>
                      <a:lnTo>
                        <a:pt x="47" y="70"/>
                      </a:lnTo>
                    </a:path>
                  </a:pathLst>
                </a:custGeom>
                <a:solidFill>
                  <a:srgbClr val="CF5C82"/>
                </a:solidFill>
                <a:ln w="9525" cap="rnd">
                  <a:noFill/>
                  <a:round/>
                </a:ln>
              </p:spPr>
              <p:txBody>
                <a:bodyPr/>
                <a:lstStyle/>
                <a:p>
                  <a:endParaRPr lang="zh-CN" altLang="en-US"/>
                </a:p>
              </p:txBody>
            </p:sp>
          </p:grpSp>
          <p:sp>
            <p:nvSpPr>
              <p:cNvPr id="9556" name="Freeform 143"/>
              <p:cNvSpPr/>
              <p:nvPr/>
            </p:nvSpPr>
            <p:spPr bwMode="auto">
              <a:xfrm>
                <a:off x="2491" y="2003"/>
                <a:ext cx="17" cy="53"/>
              </a:xfrm>
              <a:custGeom>
                <a:avLst/>
                <a:gdLst>
                  <a:gd name="T0" fmla="*/ 0 w 17"/>
                  <a:gd name="T1" fmla="*/ 52 h 53"/>
                  <a:gd name="T2" fmla="*/ 0 w 17"/>
                  <a:gd name="T3" fmla="*/ 52 h 53"/>
                  <a:gd name="T4" fmla="*/ 0 w 17"/>
                  <a:gd name="T5" fmla="*/ 27 h 53"/>
                  <a:gd name="T6" fmla="*/ 0 w 17"/>
                  <a:gd name="T7" fmla="*/ 17 h 53"/>
                  <a:gd name="T8" fmla="*/ 4 w 17"/>
                  <a:gd name="T9" fmla="*/ 8 h 53"/>
                  <a:gd name="T10" fmla="*/ 4 w 17"/>
                  <a:gd name="T11" fmla="*/ 6 h 53"/>
                  <a:gd name="T12" fmla="*/ 4 w 17"/>
                  <a:gd name="T13" fmla="*/ 2 h 53"/>
                  <a:gd name="T14" fmla="*/ 4 w 17"/>
                  <a:gd name="T15" fmla="*/ 0 h 53"/>
                  <a:gd name="T16" fmla="*/ 11 w 17"/>
                  <a:gd name="T17" fmla="*/ 0 h 53"/>
                  <a:gd name="T18" fmla="*/ 16 w 17"/>
                  <a:gd name="T19" fmla="*/ 0 h 53"/>
                  <a:gd name="T20" fmla="*/ 11 w 17"/>
                  <a:gd name="T21" fmla="*/ 24 h 53"/>
                  <a:gd name="T22" fmla="*/ 11 w 17"/>
                  <a:gd name="T23" fmla="*/ 49 h 53"/>
                  <a:gd name="T24" fmla="*/ 4 w 17"/>
                  <a:gd name="T25" fmla="*/ 49 h 53"/>
                  <a:gd name="T26" fmla="*/ 0 w 17"/>
                  <a:gd name="T27" fmla="*/ 52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53"/>
                  <a:gd name="T44" fmla="*/ 17 w 17"/>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53">
                    <a:moveTo>
                      <a:pt x="0" y="52"/>
                    </a:moveTo>
                    <a:lnTo>
                      <a:pt x="0" y="52"/>
                    </a:lnTo>
                    <a:lnTo>
                      <a:pt x="0" y="27"/>
                    </a:lnTo>
                    <a:lnTo>
                      <a:pt x="0" y="17"/>
                    </a:lnTo>
                    <a:lnTo>
                      <a:pt x="4" y="8"/>
                    </a:lnTo>
                    <a:lnTo>
                      <a:pt x="4" y="6"/>
                    </a:lnTo>
                    <a:lnTo>
                      <a:pt x="4" y="2"/>
                    </a:lnTo>
                    <a:lnTo>
                      <a:pt x="4" y="0"/>
                    </a:lnTo>
                    <a:lnTo>
                      <a:pt x="11" y="0"/>
                    </a:lnTo>
                    <a:lnTo>
                      <a:pt x="16" y="0"/>
                    </a:lnTo>
                    <a:lnTo>
                      <a:pt x="11" y="24"/>
                    </a:lnTo>
                    <a:lnTo>
                      <a:pt x="11" y="49"/>
                    </a:lnTo>
                    <a:lnTo>
                      <a:pt x="4" y="49"/>
                    </a:lnTo>
                    <a:lnTo>
                      <a:pt x="0" y="52"/>
                    </a:lnTo>
                  </a:path>
                </a:pathLst>
              </a:custGeom>
              <a:solidFill>
                <a:srgbClr val="BDB597"/>
              </a:solidFill>
              <a:ln w="9525" cap="rnd">
                <a:noFill/>
                <a:round/>
              </a:ln>
            </p:spPr>
            <p:txBody>
              <a:bodyPr/>
              <a:lstStyle/>
              <a:p>
                <a:endParaRPr lang="zh-CN" altLang="en-US"/>
              </a:p>
            </p:txBody>
          </p:sp>
          <p:sp>
            <p:nvSpPr>
              <p:cNvPr id="9557" name="Freeform 144"/>
              <p:cNvSpPr/>
              <p:nvPr/>
            </p:nvSpPr>
            <p:spPr bwMode="auto">
              <a:xfrm>
                <a:off x="2099" y="1978"/>
                <a:ext cx="432" cy="263"/>
              </a:xfrm>
              <a:custGeom>
                <a:avLst/>
                <a:gdLst>
                  <a:gd name="T0" fmla="*/ 431 w 432"/>
                  <a:gd name="T1" fmla="*/ 0 h 263"/>
                  <a:gd name="T2" fmla="*/ 431 w 432"/>
                  <a:gd name="T3" fmla="*/ 0 h 263"/>
                  <a:gd name="T4" fmla="*/ 0 w 432"/>
                  <a:gd name="T5" fmla="*/ 255 h 263"/>
                  <a:gd name="T6" fmla="*/ 0 w 432"/>
                  <a:gd name="T7" fmla="*/ 262 h 263"/>
                  <a:gd name="T8" fmla="*/ 431 w 432"/>
                  <a:gd name="T9" fmla="*/ 6 h 263"/>
                  <a:gd name="T10" fmla="*/ 431 w 432"/>
                  <a:gd name="T11" fmla="*/ 0 h 263"/>
                  <a:gd name="T12" fmla="*/ 0 60000 65536"/>
                  <a:gd name="T13" fmla="*/ 0 60000 65536"/>
                  <a:gd name="T14" fmla="*/ 0 60000 65536"/>
                  <a:gd name="T15" fmla="*/ 0 60000 65536"/>
                  <a:gd name="T16" fmla="*/ 0 60000 65536"/>
                  <a:gd name="T17" fmla="*/ 0 60000 65536"/>
                  <a:gd name="T18" fmla="*/ 0 w 432"/>
                  <a:gd name="T19" fmla="*/ 0 h 263"/>
                  <a:gd name="T20" fmla="*/ 432 w 432"/>
                  <a:gd name="T21" fmla="*/ 263 h 263"/>
                </a:gdLst>
                <a:ahLst/>
                <a:cxnLst>
                  <a:cxn ang="T12">
                    <a:pos x="T0" y="T1"/>
                  </a:cxn>
                  <a:cxn ang="T13">
                    <a:pos x="T2" y="T3"/>
                  </a:cxn>
                  <a:cxn ang="T14">
                    <a:pos x="T4" y="T5"/>
                  </a:cxn>
                  <a:cxn ang="T15">
                    <a:pos x="T6" y="T7"/>
                  </a:cxn>
                  <a:cxn ang="T16">
                    <a:pos x="T8" y="T9"/>
                  </a:cxn>
                  <a:cxn ang="T17">
                    <a:pos x="T10" y="T11"/>
                  </a:cxn>
                </a:cxnLst>
                <a:rect l="T18" t="T19" r="T20" b="T21"/>
                <a:pathLst>
                  <a:path w="432" h="263">
                    <a:moveTo>
                      <a:pt x="431" y="0"/>
                    </a:moveTo>
                    <a:lnTo>
                      <a:pt x="431" y="0"/>
                    </a:lnTo>
                    <a:lnTo>
                      <a:pt x="0" y="255"/>
                    </a:lnTo>
                    <a:lnTo>
                      <a:pt x="0" y="262"/>
                    </a:lnTo>
                    <a:lnTo>
                      <a:pt x="431" y="6"/>
                    </a:lnTo>
                    <a:lnTo>
                      <a:pt x="431" y="0"/>
                    </a:lnTo>
                  </a:path>
                </a:pathLst>
              </a:custGeom>
              <a:solidFill>
                <a:srgbClr val="BDB597"/>
              </a:solidFill>
              <a:ln w="9525" cap="rnd">
                <a:noFill/>
                <a:round/>
              </a:ln>
            </p:spPr>
            <p:txBody>
              <a:bodyPr/>
              <a:lstStyle/>
              <a:p>
                <a:endParaRPr lang="zh-CN" altLang="en-US"/>
              </a:p>
            </p:txBody>
          </p:sp>
          <p:sp>
            <p:nvSpPr>
              <p:cNvPr id="9558" name="Freeform 145"/>
              <p:cNvSpPr/>
              <p:nvPr/>
            </p:nvSpPr>
            <p:spPr bwMode="auto">
              <a:xfrm>
                <a:off x="2400" y="2058"/>
                <a:ext cx="17" cy="56"/>
              </a:xfrm>
              <a:custGeom>
                <a:avLst/>
                <a:gdLst>
                  <a:gd name="T0" fmla="*/ 0 w 17"/>
                  <a:gd name="T1" fmla="*/ 55 h 56"/>
                  <a:gd name="T2" fmla="*/ 0 w 17"/>
                  <a:gd name="T3" fmla="*/ 55 h 56"/>
                  <a:gd name="T4" fmla="*/ 4 w 17"/>
                  <a:gd name="T5" fmla="*/ 45 h 56"/>
                  <a:gd name="T6" fmla="*/ 4 w 17"/>
                  <a:gd name="T7" fmla="*/ 27 h 56"/>
                  <a:gd name="T8" fmla="*/ 4 w 17"/>
                  <a:gd name="T9" fmla="*/ 18 h 56"/>
                  <a:gd name="T10" fmla="*/ 4 w 17"/>
                  <a:gd name="T11" fmla="*/ 9 h 56"/>
                  <a:gd name="T12" fmla="*/ 4 w 17"/>
                  <a:gd name="T13" fmla="*/ 6 h 56"/>
                  <a:gd name="T14" fmla="*/ 4 w 17"/>
                  <a:gd name="T15" fmla="*/ 2 h 56"/>
                  <a:gd name="T16" fmla="*/ 11 w 17"/>
                  <a:gd name="T17" fmla="*/ 0 h 56"/>
                  <a:gd name="T18" fmla="*/ 16 w 17"/>
                  <a:gd name="T19" fmla="*/ 0 h 56"/>
                  <a:gd name="T20" fmla="*/ 16 w 17"/>
                  <a:gd name="T21" fmla="*/ 24 h 56"/>
                  <a:gd name="T22" fmla="*/ 16 w 17"/>
                  <a:gd name="T23" fmla="*/ 52 h 56"/>
                  <a:gd name="T24" fmla="*/ 11 w 17"/>
                  <a:gd name="T25" fmla="*/ 52 h 56"/>
                  <a:gd name="T26" fmla="*/ 4 w 17"/>
                  <a:gd name="T27" fmla="*/ 52 h 56"/>
                  <a:gd name="T28" fmla="*/ 4 w 17"/>
                  <a:gd name="T29" fmla="*/ 55 h 56"/>
                  <a:gd name="T30" fmla="*/ 0 w 17"/>
                  <a:gd name="T31" fmla="*/ 55 h 5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
                  <a:gd name="T49" fmla="*/ 0 h 56"/>
                  <a:gd name="T50" fmla="*/ 17 w 17"/>
                  <a:gd name="T51" fmla="*/ 56 h 5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 h="56">
                    <a:moveTo>
                      <a:pt x="0" y="55"/>
                    </a:moveTo>
                    <a:lnTo>
                      <a:pt x="0" y="55"/>
                    </a:lnTo>
                    <a:lnTo>
                      <a:pt x="4" y="45"/>
                    </a:lnTo>
                    <a:lnTo>
                      <a:pt x="4" y="27"/>
                    </a:lnTo>
                    <a:lnTo>
                      <a:pt x="4" y="18"/>
                    </a:lnTo>
                    <a:lnTo>
                      <a:pt x="4" y="9"/>
                    </a:lnTo>
                    <a:lnTo>
                      <a:pt x="4" y="6"/>
                    </a:lnTo>
                    <a:lnTo>
                      <a:pt x="4" y="2"/>
                    </a:lnTo>
                    <a:lnTo>
                      <a:pt x="11" y="0"/>
                    </a:lnTo>
                    <a:lnTo>
                      <a:pt x="16" y="0"/>
                    </a:lnTo>
                    <a:lnTo>
                      <a:pt x="16" y="24"/>
                    </a:lnTo>
                    <a:lnTo>
                      <a:pt x="16" y="52"/>
                    </a:lnTo>
                    <a:lnTo>
                      <a:pt x="11" y="52"/>
                    </a:lnTo>
                    <a:lnTo>
                      <a:pt x="4" y="52"/>
                    </a:lnTo>
                    <a:lnTo>
                      <a:pt x="4" y="55"/>
                    </a:lnTo>
                    <a:lnTo>
                      <a:pt x="0" y="55"/>
                    </a:lnTo>
                  </a:path>
                </a:pathLst>
              </a:custGeom>
              <a:solidFill>
                <a:srgbClr val="BDB597"/>
              </a:solidFill>
              <a:ln w="9525" cap="rnd">
                <a:noFill/>
                <a:round/>
              </a:ln>
            </p:spPr>
            <p:txBody>
              <a:bodyPr/>
              <a:lstStyle/>
              <a:p>
                <a:endParaRPr lang="zh-CN" altLang="en-US"/>
              </a:p>
            </p:txBody>
          </p:sp>
          <p:sp>
            <p:nvSpPr>
              <p:cNvPr id="9559" name="Freeform 146"/>
              <p:cNvSpPr/>
              <p:nvPr/>
            </p:nvSpPr>
            <p:spPr bwMode="auto">
              <a:xfrm>
                <a:off x="2305" y="2115"/>
                <a:ext cx="17" cy="59"/>
              </a:xfrm>
              <a:custGeom>
                <a:avLst/>
                <a:gdLst>
                  <a:gd name="T0" fmla="*/ 0 w 17"/>
                  <a:gd name="T1" fmla="*/ 58 h 59"/>
                  <a:gd name="T2" fmla="*/ 0 w 17"/>
                  <a:gd name="T3" fmla="*/ 58 h 59"/>
                  <a:gd name="T4" fmla="*/ 0 w 17"/>
                  <a:gd name="T5" fmla="*/ 30 h 59"/>
                  <a:gd name="T6" fmla="*/ 0 w 17"/>
                  <a:gd name="T7" fmla="*/ 18 h 59"/>
                  <a:gd name="T8" fmla="*/ 0 w 17"/>
                  <a:gd name="T9" fmla="*/ 9 h 59"/>
                  <a:gd name="T10" fmla="*/ 0 w 17"/>
                  <a:gd name="T11" fmla="*/ 2 h 59"/>
                  <a:gd name="T12" fmla="*/ 4 w 17"/>
                  <a:gd name="T13" fmla="*/ 2 h 59"/>
                  <a:gd name="T14" fmla="*/ 4 w 17"/>
                  <a:gd name="T15" fmla="*/ 0 h 59"/>
                  <a:gd name="T16" fmla="*/ 11 w 17"/>
                  <a:gd name="T17" fmla="*/ 0 h 59"/>
                  <a:gd name="T18" fmla="*/ 16 w 17"/>
                  <a:gd name="T19" fmla="*/ 0 h 59"/>
                  <a:gd name="T20" fmla="*/ 11 w 17"/>
                  <a:gd name="T21" fmla="*/ 24 h 59"/>
                  <a:gd name="T22" fmla="*/ 11 w 17"/>
                  <a:gd name="T23" fmla="*/ 42 h 59"/>
                  <a:gd name="T24" fmla="*/ 11 w 17"/>
                  <a:gd name="T25" fmla="*/ 51 h 59"/>
                  <a:gd name="T26" fmla="*/ 4 w 17"/>
                  <a:gd name="T27" fmla="*/ 55 h 59"/>
                  <a:gd name="T28" fmla="*/ 0 w 17"/>
                  <a:gd name="T29" fmla="*/ 55 h 59"/>
                  <a:gd name="T30" fmla="*/ 0 w 17"/>
                  <a:gd name="T31" fmla="*/ 58 h 5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
                  <a:gd name="T49" fmla="*/ 0 h 59"/>
                  <a:gd name="T50" fmla="*/ 17 w 17"/>
                  <a:gd name="T51" fmla="*/ 59 h 5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 h="59">
                    <a:moveTo>
                      <a:pt x="0" y="58"/>
                    </a:moveTo>
                    <a:lnTo>
                      <a:pt x="0" y="58"/>
                    </a:lnTo>
                    <a:lnTo>
                      <a:pt x="0" y="30"/>
                    </a:lnTo>
                    <a:lnTo>
                      <a:pt x="0" y="18"/>
                    </a:lnTo>
                    <a:lnTo>
                      <a:pt x="0" y="9"/>
                    </a:lnTo>
                    <a:lnTo>
                      <a:pt x="0" y="2"/>
                    </a:lnTo>
                    <a:lnTo>
                      <a:pt x="4" y="2"/>
                    </a:lnTo>
                    <a:lnTo>
                      <a:pt x="4" y="0"/>
                    </a:lnTo>
                    <a:lnTo>
                      <a:pt x="11" y="0"/>
                    </a:lnTo>
                    <a:lnTo>
                      <a:pt x="16" y="0"/>
                    </a:lnTo>
                    <a:lnTo>
                      <a:pt x="11" y="24"/>
                    </a:lnTo>
                    <a:lnTo>
                      <a:pt x="11" y="42"/>
                    </a:lnTo>
                    <a:lnTo>
                      <a:pt x="11" y="51"/>
                    </a:lnTo>
                    <a:lnTo>
                      <a:pt x="4" y="55"/>
                    </a:lnTo>
                    <a:lnTo>
                      <a:pt x="0" y="55"/>
                    </a:lnTo>
                    <a:lnTo>
                      <a:pt x="0" y="58"/>
                    </a:lnTo>
                  </a:path>
                </a:pathLst>
              </a:custGeom>
              <a:solidFill>
                <a:srgbClr val="BDB597"/>
              </a:solidFill>
              <a:ln w="9525" cap="rnd">
                <a:noFill/>
                <a:round/>
              </a:ln>
            </p:spPr>
            <p:txBody>
              <a:bodyPr/>
              <a:lstStyle/>
              <a:p>
                <a:endParaRPr lang="zh-CN" altLang="en-US"/>
              </a:p>
            </p:txBody>
          </p:sp>
          <p:sp>
            <p:nvSpPr>
              <p:cNvPr id="9560" name="Freeform 147"/>
              <p:cNvSpPr/>
              <p:nvPr/>
            </p:nvSpPr>
            <p:spPr bwMode="auto">
              <a:xfrm>
                <a:off x="2202" y="2176"/>
                <a:ext cx="17" cy="58"/>
              </a:xfrm>
              <a:custGeom>
                <a:avLst/>
                <a:gdLst>
                  <a:gd name="T0" fmla="*/ 4 w 17"/>
                  <a:gd name="T1" fmla="*/ 57 h 58"/>
                  <a:gd name="T2" fmla="*/ 4 w 17"/>
                  <a:gd name="T3" fmla="*/ 57 h 58"/>
                  <a:gd name="T4" fmla="*/ 0 w 17"/>
                  <a:gd name="T5" fmla="*/ 48 h 58"/>
                  <a:gd name="T6" fmla="*/ 0 w 17"/>
                  <a:gd name="T7" fmla="*/ 30 h 58"/>
                  <a:gd name="T8" fmla="*/ 4 w 17"/>
                  <a:gd name="T9" fmla="*/ 17 h 58"/>
                  <a:gd name="T10" fmla="*/ 4 w 17"/>
                  <a:gd name="T11" fmla="*/ 8 h 58"/>
                  <a:gd name="T12" fmla="*/ 4 w 17"/>
                  <a:gd name="T13" fmla="*/ 2 h 58"/>
                  <a:gd name="T14" fmla="*/ 4 w 17"/>
                  <a:gd name="T15" fmla="*/ 0 h 58"/>
                  <a:gd name="T16" fmla="*/ 11 w 17"/>
                  <a:gd name="T17" fmla="*/ 0 h 58"/>
                  <a:gd name="T18" fmla="*/ 16 w 17"/>
                  <a:gd name="T19" fmla="*/ 0 h 58"/>
                  <a:gd name="T20" fmla="*/ 16 w 17"/>
                  <a:gd name="T21" fmla="*/ 26 h 58"/>
                  <a:gd name="T22" fmla="*/ 16 w 17"/>
                  <a:gd name="T23" fmla="*/ 41 h 58"/>
                  <a:gd name="T24" fmla="*/ 16 w 17"/>
                  <a:gd name="T25" fmla="*/ 48 h 58"/>
                  <a:gd name="T26" fmla="*/ 16 w 17"/>
                  <a:gd name="T27" fmla="*/ 50 h 58"/>
                  <a:gd name="T28" fmla="*/ 16 w 17"/>
                  <a:gd name="T29" fmla="*/ 54 h 58"/>
                  <a:gd name="T30" fmla="*/ 11 w 17"/>
                  <a:gd name="T31" fmla="*/ 54 h 58"/>
                  <a:gd name="T32" fmla="*/ 4 w 17"/>
                  <a:gd name="T33" fmla="*/ 54 h 58"/>
                  <a:gd name="T34" fmla="*/ 4 w 17"/>
                  <a:gd name="T35" fmla="*/ 57 h 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58"/>
                  <a:gd name="T56" fmla="*/ 17 w 17"/>
                  <a:gd name="T57" fmla="*/ 58 h 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58">
                    <a:moveTo>
                      <a:pt x="4" y="57"/>
                    </a:moveTo>
                    <a:lnTo>
                      <a:pt x="4" y="57"/>
                    </a:lnTo>
                    <a:lnTo>
                      <a:pt x="0" y="48"/>
                    </a:lnTo>
                    <a:lnTo>
                      <a:pt x="0" y="30"/>
                    </a:lnTo>
                    <a:lnTo>
                      <a:pt x="4" y="17"/>
                    </a:lnTo>
                    <a:lnTo>
                      <a:pt x="4" y="8"/>
                    </a:lnTo>
                    <a:lnTo>
                      <a:pt x="4" y="2"/>
                    </a:lnTo>
                    <a:lnTo>
                      <a:pt x="4" y="0"/>
                    </a:lnTo>
                    <a:lnTo>
                      <a:pt x="11" y="0"/>
                    </a:lnTo>
                    <a:lnTo>
                      <a:pt x="16" y="0"/>
                    </a:lnTo>
                    <a:lnTo>
                      <a:pt x="16" y="26"/>
                    </a:lnTo>
                    <a:lnTo>
                      <a:pt x="16" y="41"/>
                    </a:lnTo>
                    <a:lnTo>
                      <a:pt x="16" y="48"/>
                    </a:lnTo>
                    <a:lnTo>
                      <a:pt x="16" y="50"/>
                    </a:lnTo>
                    <a:lnTo>
                      <a:pt x="16" y="54"/>
                    </a:lnTo>
                    <a:lnTo>
                      <a:pt x="11" y="54"/>
                    </a:lnTo>
                    <a:lnTo>
                      <a:pt x="4" y="54"/>
                    </a:lnTo>
                    <a:lnTo>
                      <a:pt x="4" y="57"/>
                    </a:lnTo>
                  </a:path>
                </a:pathLst>
              </a:custGeom>
              <a:solidFill>
                <a:srgbClr val="BDB597"/>
              </a:solidFill>
              <a:ln w="9525" cap="rnd">
                <a:noFill/>
                <a:round/>
              </a:ln>
            </p:spPr>
            <p:txBody>
              <a:bodyPr/>
              <a:lstStyle/>
              <a:p>
                <a:endParaRPr lang="zh-CN" altLang="en-US"/>
              </a:p>
            </p:txBody>
          </p:sp>
          <p:grpSp>
            <p:nvGrpSpPr>
              <p:cNvPr id="24" name="Group 148"/>
              <p:cNvGrpSpPr/>
              <p:nvPr/>
            </p:nvGrpSpPr>
            <p:grpSpPr bwMode="auto">
              <a:xfrm>
                <a:off x="2421" y="1915"/>
                <a:ext cx="117" cy="109"/>
                <a:chOff x="2421" y="1915"/>
                <a:chExt cx="117" cy="109"/>
              </a:xfrm>
            </p:grpSpPr>
            <p:sp>
              <p:nvSpPr>
                <p:cNvPr id="9584" name="Freeform 149"/>
                <p:cNvSpPr/>
                <p:nvPr/>
              </p:nvSpPr>
              <p:spPr bwMode="auto">
                <a:xfrm>
                  <a:off x="2453" y="1930"/>
                  <a:ext cx="84" cy="94"/>
                </a:xfrm>
                <a:custGeom>
                  <a:avLst/>
                  <a:gdLst>
                    <a:gd name="T0" fmla="*/ 0 w 84"/>
                    <a:gd name="T1" fmla="*/ 93 h 94"/>
                    <a:gd name="T2" fmla="*/ 0 w 84"/>
                    <a:gd name="T3" fmla="*/ 93 h 94"/>
                    <a:gd name="T4" fmla="*/ 2 w 84"/>
                    <a:gd name="T5" fmla="*/ 43 h 94"/>
                    <a:gd name="T6" fmla="*/ 83 w 84"/>
                    <a:gd name="T7" fmla="*/ 0 h 94"/>
                    <a:gd name="T8" fmla="*/ 77 w 84"/>
                    <a:gd name="T9" fmla="*/ 49 h 94"/>
                    <a:gd name="T10" fmla="*/ 0 w 84"/>
                    <a:gd name="T11" fmla="*/ 93 h 94"/>
                    <a:gd name="T12" fmla="*/ 0 60000 65536"/>
                    <a:gd name="T13" fmla="*/ 0 60000 65536"/>
                    <a:gd name="T14" fmla="*/ 0 60000 65536"/>
                    <a:gd name="T15" fmla="*/ 0 60000 65536"/>
                    <a:gd name="T16" fmla="*/ 0 60000 65536"/>
                    <a:gd name="T17" fmla="*/ 0 60000 65536"/>
                    <a:gd name="T18" fmla="*/ 0 w 84"/>
                    <a:gd name="T19" fmla="*/ 0 h 94"/>
                    <a:gd name="T20" fmla="*/ 84 w 84"/>
                    <a:gd name="T21" fmla="*/ 94 h 94"/>
                  </a:gdLst>
                  <a:ahLst/>
                  <a:cxnLst>
                    <a:cxn ang="T12">
                      <a:pos x="T0" y="T1"/>
                    </a:cxn>
                    <a:cxn ang="T13">
                      <a:pos x="T2" y="T3"/>
                    </a:cxn>
                    <a:cxn ang="T14">
                      <a:pos x="T4" y="T5"/>
                    </a:cxn>
                    <a:cxn ang="T15">
                      <a:pos x="T6" y="T7"/>
                    </a:cxn>
                    <a:cxn ang="T16">
                      <a:pos x="T8" y="T9"/>
                    </a:cxn>
                    <a:cxn ang="T17">
                      <a:pos x="T10" y="T11"/>
                    </a:cxn>
                  </a:cxnLst>
                  <a:rect l="T18" t="T19" r="T20" b="T21"/>
                  <a:pathLst>
                    <a:path w="84" h="94">
                      <a:moveTo>
                        <a:pt x="0" y="93"/>
                      </a:moveTo>
                      <a:lnTo>
                        <a:pt x="0" y="93"/>
                      </a:lnTo>
                      <a:lnTo>
                        <a:pt x="2" y="43"/>
                      </a:lnTo>
                      <a:lnTo>
                        <a:pt x="83" y="0"/>
                      </a:lnTo>
                      <a:lnTo>
                        <a:pt x="77" y="49"/>
                      </a:lnTo>
                      <a:lnTo>
                        <a:pt x="0" y="93"/>
                      </a:lnTo>
                    </a:path>
                  </a:pathLst>
                </a:custGeom>
                <a:solidFill>
                  <a:srgbClr val="BB1A50"/>
                </a:solidFill>
                <a:ln w="9525" cap="rnd">
                  <a:noFill/>
                  <a:round/>
                </a:ln>
              </p:spPr>
              <p:txBody>
                <a:bodyPr/>
                <a:lstStyle/>
                <a:p>
                  <a:endParaRPr lang="zh-CN" altLang="en-US"/>
                </a:p>
              </p:txBody>
            </p:sp>
            <p:sp>
              <p:nvSpPr>
                <p:cNvPr id="9585" name="Freeform 150"/>
                <p:cNvSpPr/>
                <p:nvPr/>
              </p:nvSpPr>
              <p:spPr bwMode="auto">
                <a:xfrm>
                  <a:off x="2421" y="1955"/>
                  <a:ext cx="34" cy="68"/>
                </a:xfrm>
                <a:custGeom>
                  <a:avLst/>
                  <a:gdLst>
                    <a:gd name="T0" fmla="*/ 30 w 34"/>
                    <a:gd name="T1" fmla="*/ 67 h 68"/>
                    <a:gd name="T2" fmla="*/ 30 w 34"/>
                    <a:gd name="T3" fmla="*/ 67 h 68"/>
                    <a:gd name="T4" fmla="*/ 0 w 34"/>
                    <a:gd name="T5" fmla="*/ 51 h 68"/>
                    <a:gd name="T6" fmla="*/ 2 w 34"/>
                    <a:gd name="T7" fmla="*/ 0 h 68"/>
                    <a:gd name="T8" fmla="*/ 33 w 34"/>
                    <a:gd name="T9" fmla="*/ 18 h 68"/>
                    <a:gd name="T10" fmla="*/ 30 w 34"/>
                    <a:gd name="T11" fmla="*/ 67 h 68"/>
                    <a:gd name="T12" fmla="*/ 0 60000 65536"/>
                    <a:gd name="T13" fmla="*/ 0 60000 65536"/>
                    <a:gd name="T14" fmla="*/ 0 60000 65536"/>
                    <a:gd name="T15" fmla="*/ 0 60000 65536"/>
                    <a:gd name="T16" fmla="*/ 0 60000 65536"/>
                    <a:gd name="T17" fmla="*/ 0 60000 65536"/>
                    <a:gd name="T18" fmla="*/ 0 w 34"/>
                    <a:gd name="T19" fmla="*/ 0 h 68"/>
                    <a:gd name="T20" fmla="*/ 34 w 34"/>
                    <a:gd name="T21" fmla="*/ 68 h 68"/>
                  </a:gdLst>
                  <a:ahLst/>
                  <a:cxnLst>
                    <a:cxn ang="T12">
                      <a:pos x="T0" y="T1"/>
                    </a:cxn>
                    <a:cxn ang="T13">
                      <a:pos x="T2" y="T3"/>
                    </a:cxn>
                    <a:cxn ang="T14">
                      <a:pos x="T4" y="T5"/>
                    </a:cxn>
                    <a:cxn ang="T15">
                      <a:pos x="T6" y="T7"/>
                    </a:cxn>
                    <a:cxn ang="T16">
                      <a:pos x="T8" y="T9"/>
                    </a:cxn>
                    <a:cxn ang="T17">
                      <a:pos x="T10" y="T11"/>
                    </a:cxn>
                  </a:cxnLst>
                  <a:rect l="T18" t="T19" r="T20" b="T21"/>
                  <a:pathLst>
                    <a:path w="34" h="68">
                      <a:moveTo>
                        <a:pt x="30" y="67"/>
                      </a:moveTo>
                      <a:lnTo>
                        <a:pt x="30" y="67"/>
                      </a:lnTo>
                      <a:lnTo>
                        <a:pt x="0" y="51"/>
                      </a:lnTo>
                      <a:lnTo>
                        <a:pt x="2" y="0"/>
                      </a:lnTo>
                      <a:lnTo>
                        <a:pt x="33" y="18"/>
                      </a:lnTo>
                      <a:lnTo>
                        <a:pt x="30" y="67"/>
                      </a:lnTo>
                    </a:path>
                  </a:pathLst>
                </a:custGeom>
                <a:solidFill>
                  <a:srgbClr val="9E0005"/>
                </a:solidFill>
                <a:ln w="9525" cap="rnd">
                  <a:noFill/>
                  <a:round/>
                </a:ln>
              </p:spPr>
              <p:txBody>
                <a:bodyPr/>
                <a:lstStyle/>
                <a:p>
                  <a:endParaRPr lang="zh-CN" altLang="en-US"/>
                </a:p>
              </p:txBody>
            </p:sp>
            <p:sp>
              <p:nvSpPr>
                <p:cNvPr id="9586" name="Freeform 151"/>
                <p:cNvSpPr/>
                <p:nvPr/>
              </p:nvSpPr>
              <p:spPr bwMode="auto">
                <a:xfrm>
                  <a:off x="2423" y="1915"/>
                  <a:ext cx="115" cy="57"/>
                </a:xfrm>
                <a:custGeom>
                  <a:avLst/>
                  <a:gdLst>
                    <a:gd name="T0" fmla="*/ 33 w 115"/>
                    <a:gd name="T1" fmla="*/ 56 h 57"/>
                    <a:gd name="T2" fmla="*/ 33 w 115"/>
                    <a:gd name="T3" fmla="*/ 56 h 57"/>
                    <a:gd name="T4" fmla="*/ 0 w 115"/>
                    <a:gd name="T5" fmla="*/ 38 h 57"/>
                    <a:gd name="T6" fmla="*/ 83 w 115"/>
                    <a:gd name="T7" fmla="*/ 0 h 57"/>
                    <a:gd name="T8" fmla="*/ 114 w 115"/>
                    <a:gd name="T9" fmla="*/ 15 h 57"/>
                    <a:gd name="T10" fmla="*/ 33 w 115"/>
                    <a:gd name="T11" fmla="*/ 56 h 57"/>
                    <a:gd name="T12" fmla="*/ 0 60000 65536"/>
                    <a:gd name="T13" fmla="*/ 0 60000 65536"/>
                    <a:gd name="T14" fmla="*/ 0 60000 65536"/>
                    <a:gd name="T15" fmla="*/ 0 60000 65536"/>
                    <a:gd name="T16" fmla="*/ 0 60000 65536"/>
                    <a:gd name="T17" fmla="*/ 0 60000 65536"/>
                    <a:gd name="T18" fmla="*/ 0 w 115"/>
                    <a:gd name="T19" fmla="*/ 0 h 57"/>
                    <a:gd name="T20" fmla="*/ 115 w 115"/>
                    <a:gd name="T21" fmla="*/ 57 h 57"/>
                  </a:gdLst>
                  <a:ahLst/>
                  <a:cxnLst>
                    <a:cxn ang="T12">
                      <a:pos x="T0" y="T1"/>
                    </a:cxn>
                    <a:cxn ang="T13">
                      <a:pos x="T2" y="T3"/>
                    </a:cxn>
                    <a:cxn ang="T14">
                      <a:pos x="T4" y="T5"/>
                    </a:cxn>
                    <a:cxn ang="T15">
                      <a:pos x="T6" y="T7"/>
                    </a:cxn>
                    <a:cxn ang="T16">
                      <a:pos x="T8" y="T9"/>
                    </a:cxn>
                    <a:cxn ang="T17">
                      <a:pos x="T10" y="T11"/>
                    </a:cxn>
                  </a:cxnLst>
                  <a:rect l="T18" t="T19" r="T20" b="T21"/>
                  <a:pathLst>
                    <a:path w="115" h="57">
                      <a:moveTo>
                        <a:pt x="33" y="56"/>
                      </a:moveTo>
                      <a:lnTo>
                        <a:pt x="33" y="56"/>
                      </a:lnTo>
                      <a:lnTo>
                        <a:pt x="0" y="38"/>
                      </a:lnTo>
                      <a:lnTo>
                        <a:pt x="83" y="0"/>
                      </a:lnTo>
                      <a:lnTo>
                        <a:pt x="114" y="15"/>
                      </a:lnTo>
                      <a:lnTo>
                        <a:pt x="33" y="56"/>
                      </a:lnTo>
                    </a:path>
                  </a:pathLst>
                </a:custGeom>
                <a:solidFill>
                  <a:srgbClr val="CF5C82"/>
                </a:solidFill>
                <a:ln w="9525" cap="rnd">
                  <a:noFill/>
                  <a:round/>
                </a:ln>
              </p:spPr>
              <p:txBody>
                <a:bodyPr/>
                <a:lstStyle/>
                <a:p>
                  <a:endParaRPr lang="zh-CN" altLang="en-US"/>
                </a:p>
              </p:txBody>
            </p:sp>
          </p:grpSp>
          <p:grpSp>
            <p:nvGrpSpPr>
              <p:cNvPr id="25" name="Group 152"/>
              <p:cNvGrpSpPr/>
              <p:nvPr/>
            </p:nvGrpSpPr>
            <p:grpSpPr bwMode="auto">
              <a:xfrm>
                <a:off x="2323" y="1961"/>
                <a:ext cx="126" cy="117"/>
                <a:chOff x="2323" y="1961"/>
                <a:chExt cx="126" cy="117"/>
              </a:xfrm>
            </p:grpSpPr>
            <p:sp>
              <p:nvSpPr>
                <p:cNvPr id="9581" name="Freeform 153"/>
                <p:cNvSpPr/>
                <p:nvPr/>
              </p:nvSpPr>
              <p:spPr bwMode="auto">
                <a:xfrm>
                  <a:off x="2359" y="1981"/>
                  <a:ext cx="90" cy="97"/>
                </a:xfrm>
                <a:custGeom>
                  <a:avLst/>
                  <a:gdLst>
                    <a:gd name="T0" fmla="*/ 0 w 90"/>
                    <a:gd name="T1" fmla="*/ 96 h 97"/>
                    <a:gd name="T2" fmla="*/ 0 w 90"/>
                    <a:gd name="T3" fmla="*/ 96 h 97"/>
                    <a:gd name="T4" fmla="*/ 2 w 90"/>
                    <a:gd name="T5" fmla="*/ 43 h 97"/>
                    <a:gd name="T6" fmla="*/ 89 w 90"/>
                    <a:gd name="T7" fmla="*/ 0 h 97"/>
                    <a:gd name="T8" fmla="*/ 86 w 90"/>
                    <a:gd name="T9" fmla="*/ 49 h 97"/>
                    <a:gd name="T10" fmla="*/ 0 w 90"/>
                    <a:gd name="T11" fmla="*/ 96 h 97"/>
                    <a:gd name="T12" fmla="*/ 0 60000 65536"/>
                    <a:gd name="T13" fmla="*/ 0 60000 65536"/>
                    <a:gd name="T14" fmla="*/ 0 60000 65536"/>
                    <a:gd name="T15" fmla="*/ 0 60000 65536"/>
                    <a:gd name="T16" fmla="*/ 0 60000 65536"/>
                    <a:gd name="T17" fmla="*/ 0 60000 65536"/>
                    <a:gd name="T18" fmla="*/ 0 w 90"/>
                    <a:gd name="T19" fmla="*/ 0 h 97"/>
                    <a:gd name="T20" fmla="*/ 90 w 90"/>
                    <a:gd name="T21" fmla="*/ 97 h 97"/>
                  </a:gdLst>
                  <a:ahLst/>
                  <a:cxnLst>
                    <a:cxn ang="T12">
                      <a:pos x="T0" y="T1"/>
                    </a:cxn>
                    <a:cxn ang="T13">
                      <a:pos x="T2" y="T3"/>
                    </a:cxn>
                    <a:cxn ang="T14">
                      <a:pos x="T4" y="T5"/>
                    </a:cxn>
                    <a:cxn ang="T15">
                      <a:pos x="T6" y="T7"/>
                    </a:cxn>
                    <a:cxn ang="T16">
                      <a:pos x="T8" y="T9"/>
                    </a:cxn>
                    <a:cxn ang="T17">
                      <a:pos x="T10" y="T11"/>
                    </a:cxn>
                  </a:cxnLst>
                  <a:rect l="T18" t="T19" r="T20" b="T21"/>
                  <a:pathLst>
                    <a:path w="90" h="97">
                      <a:moveTo>
                        <a:pt x="0" y="96"/>
                      </a:moveTo>
                      <a:lnTo>
                        <a:pt x="0" y="96"/>
                      </a:lnTo>
                      <a:lnTo>
                        <a:pt x="2" y="43"/>
                      </a:lnTo>
                      <a:lnTo>
                        <a:pt x="89" y="0"/>
                      </a:lnTo>
                      <a:lnTo>
                        <a:pt x="86" y="49"/>
                      </a:lnTo>
                      <a:lnTo>
                        <a:pt x="0" y="96"/>
                      </a:lnTo>
                    </a:path>
                  </a:pathLst>
                </a:custGeom>
                <a:solidFill>
                  <a:srgbClr val="BB1A50"/>
                </a:solidFill>
                <a:ln w="9525" cap="rnd">
                  <a:noFill/>
                  <a:round/>
                </a:ln>
              </p:spPr>
              <p:txBody>
                <a:bodyPr/>
                <a:lstStyle/>
                <a:p>
                  <a:endParaRPr lang="zh-CN" altLang="en-US"/>
                </a:p>
              </p:txBody>
            </p:sp>
            <p:sp>
              <p:nvSpPr>
                <p:cNvPr id="9582" name="Freeform 154"/>
                <p:cNvSpPr/>
                <p:nvPr/>
              </p:nvSpPr>
              <p:spPr bwMode="auto">
                <a:xfrm>
                  <a:off x="2323" y="2009"/>
                  <a:ext cx="38" cy="69"/>
                </a:xfrm>
                <a:custGeom>
                  <a:avLst/>
                  <a:gdLst>
                    <a:gd name="T0" fmla="*/ 34 w 38"/>
                    <a:gd name="T1" fmla="*/ 68 h 69"/>
                    <a:gd name="T2" fmla="*/ 34 w 38"/>
                    <a:gd name="T3" fmla="*/ 68 h 69"/>
                    <a:gd name="T4" fmla="*/ 0 w 38"/>
                    <a:gd name="T5" fmla="*/ 52 h 69"/>
                    <a:gd name="T6" fmla="*/ 2 w 38"/>
                    <a:gd name="T7" fmla="*/ 0 h 69"/>
                    <a:gd name="T8" fmla="*/ 37 w 38"/>
                    <a:gd name="T9" fmla="*/ 15 h 69"/>
                    <a:gd name="T10" fmla="*/ 34 w 38"/>
                    <a:gd name="T11" fmla="*/ 68 h 69"/>
                    <a:gd name="T12" fmla="*/ 0 60000 65536"/>
                    <a:gd name="T13" fmla="*/ 0 60000 65536"/>
                    <a:gd name="T14" fmla="*/ 0 60000 65536"/>
                    <a:gd name="T15" fmla="*/ 0 60000 65536"/>
                    <a:gd name="T16" fmla="*/ 0 60000 65536"/>
                    <a:gd name="T17" fmla="*/ 0 60000 65536"/>
                    <a:gd name="T18" fmla="*/ 0 w 38"/>
                    <a:gd name="T19" fmla="*/ 0 h 69"/>
                    <a:gd name="T20" fmla="*/ 38 w 38"/>
                    <a:gd name="T21" fmla="*/ 69 h 69"/>
                  </a:gdLst>
                  <a:ahLst/>
                  <a:cxnLst>
                    <a:cxn ang="T12">
                      <a:pos x="T0" y="T1"/>
                    </a:cxn>
                    <a:cxn ang="T13">
                      <a:pos x="T2" y="T3"/>
                    </a:cxn>
                    <a:cxn ang="T14">
                      <a:pos x="T4" y="T5"/>
                    </a:cxn>
                    <a:cxn ang="T15">
                      <a:pos x="T6" y="T7"/>
                    </a:cxn>
                    <a:cxn ang="T16">
                      <a:pos x="T8" y="T9"/>
                    </a:cxn>
                    <a:cxn ang="T17">
                      <a:pos x="T10" y="T11"/>
                    </a:cxn>
                  </a:cxnLst>
                  <a:rect l="T18" t="T19" r="T20" b="T21"/>
                  <a:pathLst>
                    <a:path w="38" h="69">
                      <a:moveTo>
                        <a:pt x="34" y="68"/>
                      </a:moveTo>
                      <a:lnTo>
                        <a:pt x="34" y="68"/>
                      </a:lnTo>
                      <a:lnTo>
                        <a:pt x="0" y="52"/>
                      </a:lnTo>
                      <a:lnTo>
                        <a:pt x="2" y="0"/>
                      </a:lnTo>
                      <a:lnTo>
                        <a:pt x="37" y="15"/>
                      </a:lnTo>
                      <a:lnTo>
                        <a:pt x="34" y="68"/>
                      </a:lnTo>
                    </a:path>
                  </a:pathLst>
                </a:custGeom>
                <a:solidFill>
                  <a:srgbClr val="9E0005"/>
                </a:solidFill>
                <a:ln w="9525" cap="rnd">
                  <a:noFill/>
                  <a:round/>
                </a:ln>
              </p:spPr>
              <p:txBody>
                <a:bodyPr/>
                <a:lstStyle/>
                <a:p>
                  <a:endParaRPr lang="zh-CN" altLang="en-US"/>
                </a:p>
              </p:txBody>
            </p:sp>
            <p:sp>
              <p:nvSpPr>
                <p:cNvPr id="9583" name="Freeform 155"/>
                <p:cNvSpPr/>
                <p:nvPr/>
              </p:nvSpPr>
              <p:spPr bwMode="auto">
                <a:xfrm>
                  <a:off x="2325" y="1961"/>
                  <a:ext cx="124" cy="63"/>
                </a:xfrm>
                <a:custGeom>
                  <a:avLst/>
                  <a:gdLst>
                    <a:gd name="T0" fmla="*/ 36 w 124"/>
                    <a:gd name="T1" fmla="*/ 62 h 63"/>
                    <a:gd name="T2" fmla="*/ 36 w 124"/>
                    <a:gd name="T3" fmla="*/ 62 h 63"/>
                    <a:gd name="T4" fmla="*/ 0 w 124"/>
                    <a:gd name="T5" fmla="*/ 46 h 63"/>
                    <a:gd name="T6" fmla="*/ 89 w 124"/>
                    <a:gd name="T7" fmla="*/ 0 h 63"/>
                    <a:gd name="T8" fmla="*/ 123 w 124"/>
                    <a:gd name="T9" fmla="*/ 18 h 63"/>
                    <a:gd name="T10" fmla="*/ 36 w 124"/>
                    <a:gd name="T11" fmla="*/ 62 h 63"/>
                    <a:gd name="T12" fmla="*/ 0 60000 65536"/>
                    <a:gd name="T13" fmla="*/ 0 60000 65536"/>
                    <a:gd name="T14" fmla="*/ 0 60000 65536"/>
                    <a:gd name="T15" fmla="*/ 0 60000 65536"/>
                    <a:gd name="T16" fmla="*/ 0 60000 65536"/>
                    <a:gd name="T17" fmla="*/ 0 60000 65536"/>
                    <a:gd name="T18" fmla="*/ 0 w 124"/>
                    <a:gd name="T19" fmla="*/ 0 h 63"/>
                    <a:gd name="T20" fmla="*/ 124 w 124"/>
                    <a:gd name="T21" fmla="*/ 63 h 63"/>
                  </a:gdLst>
                  <a:ahLst/>
                  <a:cxnLst>
                    <a:cxn ang="T12">
                      <a:pos x="T0" y="T1"/>
                    </a:cxn>
                    <a:cxn ang="T13">
                      <a:pos x="T2" y="T3"/>
                    </a:cxn>
                    <a:cxn ang="T14">
                      <a:pos x="T4" y="T5"/>
                    </a:cxn>
                    <a:cxn ang="T15">
                      <a:pos x="T6" y="T7"/>
                    </a:cxn>
                    <a:cxn ang="T16">
                      <a:pos x="T8" y="T9"/>
                    </a:cxn>
                    <a:cxn ang="T17">
                      <a:pos x="T10" y="T11"/>
                    </a:cxn>
                  </a:cxnLst>
                  <a:rect l="T18" t="T19" r="T20" b="T21"/>
                  <a:pathLst>
                    <a:path w="124" h="63">
                      <a:moveTo>
                        <a:pt x="36" y="62"/>
                      </a:moveTo>
                      <a:lnTo>
                        <a:pt x="36" y="62"/>
                      </a:lnTo>
                      <a:lnTo>
                        <a:pt x="0" y="46"/>
                      </a:lnTo>
                      <a:lnTo>
                        <a:pt x="89" y="0"/>
                      </a:lnTo>
                      <a:lnTo>
                        <a:pt x="123" y="18"/>
                      </a:lnTo>
                      <a:lnTo>
                        <a:pt x="36" y="62"/>
                      </a:lnTo>
                    </a:path>
                  </a:pathLst>
                </a:custGeom>
                <a:solidFill>
                  <a:srgbClr val="CF5C82"/>
                </a:solidFill>
                <a:ln w="9525" cap="rnd">
                  <a:noFill/>
                  <a:round/>
                </a:ln>
              </p:spPr>
              <p:txBody>
                <a:bodyPr/>
                <a:lstStyle/>
                <a:p>
                  <a:endParaRPr lang="zh-CN" altLang="en-US"/>
                </a:p>
              </p:txBody>
            </p:sp>
          </p:grpSp>
          <p:grpSp>
            <p:nvGrpSpPr>
              <p:cNvPr id="26" name="Group 156"/>
              <p:cNvGrpSpPr/>
              <p:nvPr/>
            </p:nvGrpSpPr>
            <p:grpSpPr bwMode="auto">
              <a:xfrm>
                <a:off x="2220" y="2015"/>
                <a:ext cx="136" cy="120"/>
                <a:chOff x="2220" y="2015"/>
                <a:chExt cx="136" cy="120"/>
              </a:xfrm>
            </p:grpSpPr>
            <p:sp>
              <p:nvSpPr>
                <p:cNvPr id="9578" name="Freeform 157"/>
                <p:cNvSpPr/>
                <p:nvPr/>
              </p:nvSpPr>
              <p:spPr bwMode="auto">
                <a:xfrm>
                  <a:off x="2260" y="2032"/>
                  <a:ext cx="96" cy="103"/>
                </a:xfrm>
                <a:custGeom>
                  <a:avLst/>
                  <a:gdLst>
                    <a:gd name="T0" fmla="*/ 0 w 96"/>
                    <a:gd name="T1" fmla="*/ 102 h 103"/>
                    <a:gd name="T2" fmla="*/ 0 w 96"/>
                    <a:gd name="T3" fmla="*/ 102 h 103"/>
                    <a:gd name="T4" fmla="*/ 2 w 96"/>
                    <a:gd name="T5" fmla="*/ 49 h 103"/>
                    <a:gd name="T6" fmla="*/ 95 w 96"/>
                    <a:gd name="T7" fmla="*/ 0 h 103"/>
                    <a:gd name="T8" fmla="*/ 95 w 96"/>
                    <a:gd name="T9" fmla="*/ 52 h 103"/>
                    <a:gd name="T10" fmla="*/ 0 w 96"/>
                    <a:gd name="T11" fmla="*/ 102 h 103"/>
                    <a:gd name="T12" fmla="*/ 0 60000 65536"/>
                    <a:gd name="T13" fmla="*/ 0 60000 65536"/>
                    <a:gd name="T14" fmla="*/ 0 60000 65536"/>
                    <a:gd name="T15" fmla="*/ 0 60000 65536"/>
                    <a:gd name="T16" fmla="*/ 0 60000 65536"/>
                    <a:gd name="T17" fmla="*/ 0 60000 65536"/>
                    <a:gd name="T18" fmla="*/ 0 w 96"/>
                    <a:gd name="T19" fmla="*/ 0 h 103"/>
                    <a:gd name="T20" fmla="*/ 96 w 96"/>
                    <a:gd name="T21" fmla="*/ 103 h 103"/>
                  </a:gdLst>
                  <a:ahLst/>
                  <a:cxnLst>
                    <a:cxn ang="T12">
                      <a:pos x="T0" y="T1"/>
                    </a:cxn>
                    <a:cxn ang="T13">
                      <a:pos x="T2" y="T3"/>
                    </a:cxn>
                    <a:cxn ang="T14">
                      <a:pos x="T4" y="T5"/>
                    </a:cxn>
                    <a:cxn ang="T15">
                      <a:pos x="T6" y="T7"/>
                    </a:cxn>
                    <a:cxn ang="T16">
                      <a:pos x="T8" y="T9"/>
                    </a:cxn>
                    <a:cxn ang="T17">
                      <a:pos x="T10" y="T11"/>
                    </a:cxn>
                  </a:cxnLst>
                  <a:rect l="T18" t="T19" r="T20" b="T21"/>
                  <a:pathLst>
                    <a:path w="96" h="103">
                      <a:moveTo>
                        <a:pt x="0" y="102"/>
                      </a:moveTo>
                      <a:lnTo>
                        <a:pt x="0" y="102"/>
                      </a:lnTo>
                      <a:lnTo>
                        <a:pt x="2" y="49"/>
                      </a:lnTo>
                      <a:lnTo>
                        <a:pt x="95" y="0"/>
                      </a:lnTo>
                      <a:lnTo>
                        <a:pt x="95" y="52"/>
                      </a:lnTo>
                      <a:lnTo>
                        <a:pt x="0" y="102"/>
                      </a:lnTo>
                    </a:path>
                  </a:pathLst>
                </a:custGeom>
                <a:solidFill>
                  <a:srgbClr val="BB1A50"/>
                </a:solidFill>
                <a:ln w="9525" cap="rnd">
                  <a:noFill/>
                  <a:round/>
                </a:ln>
              </p:spPr>
              <p:txBody>
                <a:bodyPr/>
                <a:lstStyle/>
                <a:p>
                  <a:endParaRPr lang="zh-CN" altLang="en-US"/>
                </a:p>
              </p:txBody>
            </p:sp>
            <p:sp>
              <p:nvSpPr>
                <p:cNvPr id="9579" name="Freeform 158"/>
                <p:cNvSpPr/>
                <p:nvPr/>
              </p:nvSpPr>
              <p:spPr bwMode="auto">
                <a:xfrm>
                  <a:off x="2220" y="2070"/>
                  <a:ext cx="40" cy="65"/>
                </a:xfrm>
                <a:custGeom>
                  <a:avLst/>
                  <a:gdLst>
                    <a:gd name="T0" fmla="*/ 36 w 40"/>
                    <a:gd name="T1" fmla="*/ 64 h 65"/>
                    <a:gd name="T2" fmla="*/ 36 w 40"/>
                    <a:gd name="T3" fmla="*/ 64 h 65"/>
                    <a:gd name="T4" fmla="*/ 0 w 40"/>
                    <a:gd name="T5" fmla="*/ 52 h 65"/>
                    <a:gd name="T6" fmla="*/ 0 w 40"/>
                    <a:gd name="T7" fmla="*/ 0 h 65"/>
                    <a:gd name="T8" fmla="*/ 39 w 40"/>
                    <a:gd name="T9" fmla="*/ 11 h 65"/>
                    <a:gd name="T10" fmla="*/ 36 w 40"/>
                    <a:gd name="T11" fmla="*/ 64 h 65"/>
                    <a:gd name="T12" fmla="*/ 0 60000 65536"/>
                    <a:gd name="T13" fmla="*/ 0 60000 65536"/>
                    <a:gd name="T14" fmla="*/ 0 60000 65536"/>
                    <a:gd name="T15" fmla="*/ 0 60000 65536"/>
                    <a:gd name="T16" fmla="*/ 0 60000 65536"/>
                    <a:gd name="T17" fmla="*/ 0 60000 65536"/>
                    <a:gd name="T18" fmla="*/ 0 w 40"/>
                    <a:gd name="T19" fmla="*/ 0 h 65"/>
                    <a:gd name="T20" fmla="*/ 40 w 40"/>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40" h="65">
                      <a:moveTo>
                        <a:pt x="36" y="64"/>
                      </a:moveTo>
                      <a:lnTo>
                        <a:pt x="36" y="64"/>
                      </a:lnTo>
                      <a:lnTo>
                        <a:pt x="0" y="52"/>
                      </a:lnTo>
                      <a:lnTo>
                        <a:pt x="0" y="0"/>
                      </a:lnTo>
                      <a:lnTo>
                        <a:pt x="39" y="11"/>
                      </a:lnTo>
                      <a:lnTo>
                        <a:pt x="36" y="64"/>
                      </a:lnTo>
                    </a:path>
                  </a:pathLst>
                </a:custGeom>
                <a:solidFill>
                  <a:srgbClr val="9E0005"/>
                </a:solidFill>
                <a:ln w="9525" cap="rnd">
                  <a:noFill/>
                  <a:round/>
                </a:ln>
              </p:spPr>
              <p:txBody>
                <a:bodyPr/>
                <a:lstStyle/>
                <a:p>
                  <a:endParaRPr lang="zh-CN" altLang="en-US"/>
                </a:p>
              </p:txBody>
            </p:sp>
            <p:sp>
              <p:nvSpPr>
                <p:cNvPr id="9580" name="Freeform 159"/>
                <p:cNvSpPr/>
                <p:nvPr/>
              </p:nvSpPr>
              <p:spPr bwMode="auto">
                <a:xfrm>
                  <a:off x="2221" y="2015"/>
                  <a:ext cx="135" cy="66"/>
                </a:xfrm>
                <a:custGeom>
                  <a:avLst/>
                  <a:gdLst>
                    <a:gd name="T0" fmla="*/ 42 w 135"/>
                    <a:gd name="T1" fmla="*/ 65 h 66"/>
                    <a:gd name="T2" fmla="*/ 42 w 135"/>
                    <a:gd name="T3" fmla="*/ 65 h 66"/>
                    <a:gd name="T4" fmla="*/ 0 w 135"/>
                    <a:gd name="T5" fmla="*/ 49 h 66"/>
                    <a:gd name="T6" fmla="*/ 98 w 135"/>
                    <a:gd name="T7" fmla="*/ 0 h 66"/>
                    <a:gd name="T8" fmla="*/ 134 w 135"/>
                    <a:gd name="T9" fmla="*/ 15 h 66"/>
                    <a:gd name="T10" fmla="*/ 42 w 135"/>
                    <a:gd name="T11" fmla="*/ 65 h 66"/>
                    <a:gd name="T12" fmla="*/ 0 60000 65536"/>
                    <a:gd name="T13" fmla="*/ 0 60000 65536"/>
                    <a:gd name="T14" fmla="*/ 0 60000 65536"/>
                    <a:gd name="T15" fmla="*/ 0 60000 65536"/>
                    <a:gd name="T16" fmla="*/ 0 60000 65536"/>
                    <a:gd name="T17" fmla="*/ 0 60000 65536"/>
                    <a:gd name="T18" fmla="*/ 0 w 135"/>
                    <a:gd name="T19" fmla="*/ 0 h 66"/>
                    <a:gd name="T20" fmla="*/ 135 w 135"/>
                    <a:gd name="T21" fmla="*/ 66 h 66"/>
                  </a:gdLst>
                  <a:ahLst/>
                  <a:cxnLst>
                    <a:cxn ang="T12">
                      <a:pos x="T0" y="T1"/>
                    </a:cxn>
                    <a:cxn ang="T13">
                      <a:pos x="T2" y="T3"/>
                    </a:cxn>
                    <a:cxn ang="T14">
                      <a:pos x="T4" y="T5"/>
                    </a:cxn>
                    <a:cxn ang="T15">
                      <a:pos x="T6" y="T7"/>
                    </a:cxn>
                    <a:cxn ang="T16">
                      <a:pos x="T8" y="T9"/>
                    </a:cxn>
                    <a:cxn ang="T17">
                      <a:pos x="T10" y="T11"/>
                    </a:cxn>
                  </a:cxnLst>
                  <a:rect l="T18" t="T19" r="T20" b="T21"/>
                  <a:pathLst>
                    <a:path w="135" h="66">
                      <a:moveTo>
                        <a:pt x="42" y="65"/>
                      </a:moveTo>
                      <a:lnTo>
                        <a:pt x="42" y="65"/>
                      </a:lnTo>
                      <a:lnTo>
                        <a:pt x="0" y="49"/>
                      </a:lnTo>
                      <a:lnTo>
                        <a:pt x="98" y="0"/>
                      </a:lnTo>
                      <a:lnTo>
                        <a:pt x="134" y="15"/>
                      </a:lnTo>
                      <a:lnTo>
                        <a:pt x="42" y="65"/>
                      </a:lnTo>
                    </a:path>
                  </a:pathLst>
                </a:custGeom>
                <a:solidFill>
                  <a:srgbClr val="CF5C82"/>
                </a:solidFill>
                <a:ln w="9525" cap="rnd">
                  <a:noFill/>
                  <a:round/>
                </a:ln>
              </p:spPr>
              <p:txBody>
                <a:bodyPr/>
                <a:lstStyle/>
                <a:p>
                  <a:endParaRPr lang="zh-CN" altLang="en-US"/>
                </a:p>
              </p:txBody>
            </p:sp>
          </p:grpSp>
          <p:grpSp>
            <p:nvGrpSpPr>
              <p:cNvPr id="27" name="Group 160"/>
              <p:cNvGrpSpPr/>
              <p:nvPr/>
            </p:nvGrpSpPr>
            <p:grpSpPr bwMode="auto">
              <a:xfrm>
                <a:off x="2109" y="2072"/>
                <a:ext cx="148" cy="127"/>
                <a:chOff x="2109" y="2072"/>
                <a:chExt cx="148" cy="127"/>
              </a:xfrm>
            </p:grpSpPr>
            <p:sp>
              <p:nvSpPr>
                <p:cNvPr id="9575" name="Freeform 161"/>
                <p:cNvSpPr/>
                <p:nvPr/>
              </p:nvSpPr>
              <p:spPr bwMode="auto">
                <a:xfrm>
                  <a:off x="2154" y="2090"/>
                  <a:ext cx="102" cy="109"/>
                </a:xfrm>
                <a:custGeom>
                  <a:avLst/>
                  <a:gdLst>
                    <a:gd name="T0" fmla="*/ 0 w 102"/>
                    <a:gd name="T1" fmla="*/ 108 h 109"/>
                    <a:gd name="T2" fmla="*/ 0 w 102"/>
                    <a:gd name="T3" fmla="*/ 108 h 109"/>
                    <a:gd name="T4" fmla="*/ 0 w 102"/>
                    <a:gd name="T5" fmla="*/ 52 h 109"/>
                    <a:gd name="T6" fmla="*/ 101 w 102"/>
                    <a:gd name="T7" fmla="*/ 0 h 109"/>
                    <a:gd name="T8" fmla="*/ 98 w 102"/>
                    <a:gd name="T9" fmla="*/ 52 h 109"/>
                    <a:gd name="T10" fmla="*/ 0 w 102"/>
                    <a:gd name="T11" fmla="*/ 108 h 109"/>
                    <a:gd name="T12" fmla="*/ 0 60000 65536"/>
                    <a:gd name="T13" fmla="*/ 0 60000 65536"/>
                    <a:gd name="T14" fmla="*/ 0 60000 65536"/>
                    <a:gd name="T15" fmla="*/ 0 60000 65536"/>
                    <a:gd name="T16" fmla="*/ 0 60000 65536"/>
                    <a:gd name="T17" fmla="*/ 0 60000 65536"/>
                    <a:gd name="T18" fmla="*/ 0 w 102"/>
                    <a:gd name="T19" fmla="*/ 0 h 109"/>
                    <a:gd name="T20" fmla="*/ 102 w 102"/>
                    <a:gd name="T21" fmla="*/ 109 h 109"/>
                  </a:gdLst>
                  <a:ahLst/>
                  <a:cxnLst>
                    <a:cxn ang="T12">
                      <a:pos x="T0" y="T1"/>
                    </a:cxn>
                    <a:cxn ang="T13">
                      <a:pos x="T2" y="T3"/>
                    </a:cxn>
                    <a:cxn ang="T14">
                      <a:pos x="T4" y="T5"/>
                    </a:cxn>
                    <a:cxn ang="T15">
                      <a:pos x="T6" y="T7"/>
                    </a:cxn>
                    <a:cxn ang="T16">
                      <a:pos x="T8" y="T9"/>
                    </a:cxn>
                    <a:cxn ang="T17">
                      <a:pos x="T10" y="T11"/>
                    </a:cxn>
                  </a:cxnLst>
                  <a:rect l="T18" t="T19" r="T20" b="T21"/>
                  <a:pathLst>
                    <a:path w="102" h="109">
                      <a:moveTo>
                        <a:pt x="0" y="108"/>
                      </a:moveTo>
                      <a:lnTo>
                        <a:pt x="0" y="108"/>
                      </a:lnTo>
                      <a:lnTo>
                        <a:pt x="0" y="52"/>
                      </a:lnTo>
                      <a:lnTo>
                        <a:pt x="101" y="0"/>
                      </a:lnTo>
                      <a:lnTo>
                        <a:pt x="98" y="52"/>
                      </a:lnTo>
                      <a:lnTo>
                        <a:pt x="0" y="108"/>
                      </a:lnTo>
                    </a:path>
                  </a:pathLst>
                </a:custGeom>
                <a:solidFill>
                  <a:srgbClr val="BB1A50"/>
                </a:solidFill>
                <a:ln w="9525" cap="rnd">
                  <a:noFill/>
                  <a:round/>
                </a:ln>
              </p:spPr>
              <p:txBody>
                <a:bodyPr/>
                <a:lstStyle/>
                <a:p>
                  <a:endParaRPr lang="zh-CN" altLang="en-US"/>
                </a:p>
              </p:txBody>
            </p:sp>
            <p:sp>
              <p:nvSpPr>
                <p:cNvPr id="9576" name="Freeform 162"/>
                <p:cNvSpPr/>
                <p:nvPr/>
              </p:nvSpPr>
              <p:spPr bwMode="auto">
                <a:xfrm>
                  <a:off x="2109" y="2132"/>
                  <a:ext cx="44" cy="67"/>
                </a:xfrm>
                <a:custGeom>
                  <a:avLst/>
                  <a:gdLst>
                    <a:gd name="T0" fmla="*/ 43 w 44"/>
                    <a:gd name="T1" fmla="*/ 66 h 67"/>
                    <a:gd name="T2" fmla="*/ 43 w 44"/>
                    <a:gd name="T3" fmla="*/ 66 h 67"/>
                    <a:gd name="T4" fmla="*/ 0 w 44"/>
                    <a:gd name="T5" fmla="*/ 54 h 67"/>
                    <a:gd name="T6" fmla="*/ 0 w 44"/>
                    <a:gd name="T7" fmla="*/ 0 h 67"/>
                    <a:gd name="T8" fmla="*/ 43 w 44"/>
                    <a:gd name="T9" fmla="*/ 11 h 67"/>
                    <a:gd name="T10" fmla="*/ 43 w 44"/>
                    <a:gd name="T11" fmla="*/ 66 h 67"/>
                    <a:gd name="T12" fmla="*/ 0 60000 65536"/>
                    <a:gd name="T13" fmla="*/ 0 60000 65536"/>
                    <a:gd name="T14" fmla="*/ 0 60000 65536"/>
                    <a:gd name="T15" fmla="*/ 0 60000 65536"/>
                    <a:gd name="T16" fmla="*/ 0 60000 65536"/>
                    <a:gd name="T17" fmla="*/ 0 60000 65536"/>
                    <a:gd name="T18" fmla="*/ 0 w 44"/>
                    <a:gd name="T19" fmla="*/ 0 h 67"/>
                    <a:gd name="T20" fmla="*/ 44 w 44"/>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44" h="67">
                      <a:moveTo>
                        <a:pt x="43" y="66"/>
                      </a:moveTo>
                      <a:lnTo>
                        <a:pt x="43" y="66"/>
                      </a:lnTo>
                      <a:lnTo>
                        <a:pt x="0" y="54"/>
                      </a:lnTo>
                      <a:lnTo>
                        <a:pt x="0" y="0"/>
                      </a:lnTo>
                      <a:lnTo>
                        <a:pt x="43" y="11"/>
                      </a:lnTo>
                      <a:lnTo>
                        <a:pt x="43" y="66"/>
                      </a:lnTo>
                    </a:path>
                  </a:pathLst>
                </a:custGeom>
                <a:solidFill>
                  <a:srgbClr val="9E0005"/>
                </a:solidFill>
                <a:ln w="9525" cap="rnd">
                  <a:noFill/>
                  <a:round/>
                </a:ln>
              </p:spPr>
              <p:txBody>
                <a:bodyPr/>
                <a:lstStyle/>
                <a:p>
                  <a:endParaRPr lang="zh-CN" altLang="en-US"/>
                </a:p>
              </p:txBody>
            </p:sp>
            <p:sp>
              <p:nvSpPr>
                <p:cNvPr id="9577" name="Freeform 163"/>
                <p:cNvSpPr/>
                <p:nvPr/>
              </p:nvSpPr>
              <p:spPr bwMode="auto">
                <a:xfrm>
                  <a:off x="2110" y="2072"/>
                  <a:ext cx="147" cy="71"/>
                </a:xfrm>
                <a:custGeom>
                  <a:avLst/>
                  <a:gdLst>
                    <a:gd name="T0" fmla="*/ 44 w 147"/>
                    <a:gd name="T1" fmla="*/ 70 h 71"/>
                    <a:gd name="T2" fmla="*/ 44 w 147"/>
                    <a:gd name="T3" fmla="*/ 70 h 71"/>
                    <a:gd name="T4" fmla="*/ 0 w 147"/>
                    <a:gd name="T5" fmla="*/ 57 h 71"/>
                    <a:gd name="T6" fmla="*/ 104 w 147"/>
                    <a:gd name="T7" fmla="*/ 0 h 71"/>
                    <a:gd name="T8" fmla="*/ 146 w 147"/>
                    <a:gd name="T9" fmla="*/ 15 h 71"/>
                    <a:gd name="T10" fmla="*/ 44 w 147"/>
                    <a:gd name="T11" fmla="*/ 70 h 71"/>
                    <a:gd name="T12" fmla="*/ 0 60000 65536"/>
                    <a:gd name="T13" fmla="*/ 0 60000 65536"/>
                    <a:gd name="T14" fmla="*/ 0 60000 65536"/>
                    <a:gd name="T15" fmla="*/ 0 60000 65536"/>
                    <a:gd name="T16" fmla="*/ 0 60000 65536"/>
                    <a:gd name="T17" fmla="*/ 0 60000 65536"/>
                    <a:gd name="T18" fmla="*/ 0 w 147"/>
                    <a:gd name="T19" fmla="*/ 0 h 71"/>
                    <a:gd name="T20" fmla="*/ 147 w 147"/>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147" h="71">
                      <a:moveTo>
                        <a:pt x="44" y="70"/>
                      </a:moveTo>
                      <a:lnTo>
                        <a:pt x="44" y="70"/>
                      </a:lnTo>
                      <a:lnTo>
                        <a:pt x="0" y="57"/>
                      </a:lnTo>
                      <a:lnTo>
                        <a:pt x="104" y="0"/>
                      </a:lnTo>
                      <a:lnTo>
                        <a:pt x="146" y="15"/>
                      </a:lnTo>
                      <a:lnTo>
                        <a:pt x="44" y="70"/>
                      </a:lnTo>
                    </a:path>
                  </a:pathLst>
                </a:custGeom>
                <a:solidFill>
                  <a:srgbClr val="CF5C82"/>
                </a:solidFill>
                <a:ln w="9525" cap="rnd">
                  <a:noFill/>
                  <a:round/>
                </a:ln>
              </p:spPr>
              <p:txBody>
                <a:bodyPr/>
                <a:lstStyle/>
                <a:p>
                  <a:endParaRPr lang="zh-CN" altLang="en-US"/>
                </a:p>
              </p:txBody>
            </p:sp>
          </p:grpSp>
          <p:sp>
            <p:nvSpPr>
              <p:cNvPr id="9565" name="Freeform 164"/>
              <p:cNvSpPr/>
              <p:nvPr/>
            </p:nvSpPr>
            <p:spPr bwMode="auto">
              <a:xfrm>
                <a:off x="2099" y="2151"/>
                <a:ext cx="49" cy="83"/>
              </a:xfrm>
              <a:custGeom>
                <a:avLst/>
                <a:gdLst>
                  <a:gd name="T0" fmla="*/ 0 w 49"/>
                  <a:gd name="T1" fmla="*/ 82 h 83"/>
                  <a:gd name="T2" fmla="*/ 0 w 49"/>
                  <a:gd name="T3" fmla="*/ 82 h 83"/>
                  <a:gd name="T4" fmla="*/ 0 w 49"/>
                  <a:gd name="T5" fmla="*/ 27 h 83"/>
                  <a:gd name="T6" fmla="*/ 48 w 49"/>
                  <a:gd name="T7" fmla="*/ 0 h 83"/>
                  <a:gd name="T8" fmla="*/ 45 w 49"/>
                  <a:gd name="T9" fmla="*/ 54 h 83"/>
                  <a:gd name="T10" fmla="*/ 0 w 49"/>
                  <a:gd name="T11" fmla="*/ 82 h 83"/>
                  <a:gd name="T12" fmla="*/ 0 60000 65536"/>
                  <a:gd name="T13" fmla="*/ 0 60000 65536"/>
                  <a:gd name="T14" fmla="*/ 0 60000 65536"/>
                  <a:gd name="T15" fmla="*/ 0 60000 65536"/>
                  <a:gd name="T16" fmla="*/ 0 60000 65536"/>
                  <a:gd name="T17" fmla="*/ 0 60000 65536"/>
                  <a:gd name="T18" fmla="*/ 0 w 49"/>
                  <a:gd name="T19" fmla="*/ 0 h 83"/>
                  <a:gd name="T20" fmla="*/ 49 w 49"/>
                  <a:gd name="T21" fmla="*/ 83 h 83"/>
                </a:gdLst>
                <a:ahLst/>
                <a:cxnLst>
                  <a:cxn ang="T12">
                    <a:pos x="T0" y="T1"/>
                  </a:cxn>
                  <a:cxn ang="T13">
                    <a:pos x="T2" y="T3"/>
                  </a:cxn>
                  <a:cxn ang="T14">
                    <a:pos x="T4" y="T5"/>
                  </a:cxn>
                  <a:cxn ang="T15">
                    <a:pos x="T6" y="T7"/>
                  </a:cxn>
                  <a:cxn ang="T16">
                    <a:pos x="T8" y="T9"/>
                  </a:cxn>
                  <a:cxn ang="T17">
                    <a:pos x="T10" y="T11"/>
                  </a:cxn>
                </a:cxnLst>
                <a:rect l="T18" t="T19" r="T20" b="T21"/>
                <a:pathLst>
                  <a:path w="49" h="83">
                    <a:moveTo>
                      <a:pt x="0" y="82"/>
                    </a:moveTo>
                    <a:lnTo>
                      <a:pt x="0" y="82"/>
                    </a:lnTo>
                    <a:lnTo>
                      <a:pt x="0" y="27"/>
                    </a:lnTo>
                    <a:lnTo>
                      <a:pt x="48" y="0"/>
                    </a:lnTo>
                    <a:lnTo>
                      <a:pt x="45" y="54"/>
                    </a:lnTo>
                    <a:lnTo>
                      <a:pt x="0" y="82"/>
                    </a:lnTo>
                  </a:path>
                </a:pathLst>
              </a:custGeom>
              <a:solidFill>
                <a:srgbClr val="BB1A50"/>
              </a:solidFill>
              <a:ln w="9525" cap="rnd">
                <a:noFill/>
                <a:round/>
              </a:ln>
            </p:spPr>
            <p:txBody>
              <a:bodyPr/>
              <a:lstStyle/>
              <a:p>
                <a:endParaRPr lang="zh-CN" altLang="en-US"/>
              </a:p>
            </p:txBody>
          </p:sp>
          <p:sp>
            <p:nvSpPr>
              <p:cNvPr id="9566" name="Freeform 165"/>
              <p:cNvSpPr/>
              <p:nvPr/>
            </p:nvSpPr>
            <p:spPr bwMode="auto">
              <a:xfrm>
                <a:off x="2051" y="2138"/>
                <a:ext cx="97" cy="39"/>
              </a:xfrm>
              <a:custGeom>
                <a:avLst/>
                <a:gdLst>
                  <a:gd name="T0" fmla="*/ 46 w 97"/>
                  <a:gd name="T1" fmla="*/ 38 h 39"/>
                  <a:gd name="T2" fmla="*/ 46 w 97"/>
                  <a:gd name="T3" fmla="*/ 38 h 39"/>
                  <a:gd name="T4" fmla="*/ 0 w 97"/>
                  <a:gd name="T5" fmla="*/ 26 h 39"/>
                  <a:gd name="T6" fmla="*/ 49 w 97"/>
                  <a:gd name="T7" fmla="*/ 0 h 39"/>
                  <a:gd name="T8" fmla="*/ 96 w 97"/>
                  <a:gd name="T9" fmla="*/ 11 h 39"/>
                  <a:gd name="T10" fmla="*/ 46 w 97"/>
                  <a:gd name="T11" fmla="*/ 38 h 39"/>
                  <a:gd name="T12" fmla="*/ 0 60000 65536"/>
                  <a:gd name="T13" fmla="*/ 0 60000 65536"/>
                  <a:gd name="T14" fmla="*/ 0 60000 65536"/>
                  <a:gd name="T15" fmla="*/ 0 60000 65536"/>
                  <a:gd name="T16" fmla="*/ 0 60000 65536"/>
                  <a:gd name="T17" fmla="*/ 0 60000 65536"/>
                  <a:gd name="T18" fmla="*/ 0 w 97"/>
                  <a:gd name="T19" fmla="*/ 0 h 39"/>
                  <a:gd name="T20" fmla="*/ 97 w 97"/>
                  <a:gd name="T21" fmla="*/ 39 h 39"/>
                </a:gdLst>
                <a:ahLst/>
                <a:cxnLst>
                  <a:cxn ang="T12">
                    <a:pos x="T0" y="T1"/>
                  </a:cxn>
                  <a:cxn ang="T13">
                    <a:pos x="T2" y="T3"/>
                  </a:cxn>
                  <a:cxn ang="T14">
                    <a:pos x="T4" y="T5"/>
                  </a:cxn>
                  <a:cxn ang="T15">
                    <a:pos x="T6" y="T7"/>
                  </a:cxn>
                  <a:cxn ang="T16">
                    <a:pos x="T8" y="T9"/>
                  </a:cxn>
                  <a:cxn ang="T17">
                    <a:pos x="T10" y="T11"/>
                  </a:cxn>
                </a:cxnLst>
                <a:rect l="T18" t="T19" r="T20" b="T21"/>
                <a:pathLst>
                  <a:path w="97" h="39">
                    <a:moveTo>
                      <a:pt x="46" y="38"/>
                    </a:moveTo>
                    <a:lnTo>
                      <a:pt x="46" y="38"/>
                    </a:lnTo>
                    <a:lnTo>
                      <a:pt x="0" y="26"/>
                    </a:lnTo>
                    <a:lnTo>
                      <a:pt x="49" y="0"/>
                    </a:lnTo>
                    <a:lnTo>
                      <a:pt x="96" y="11"/>
                    </a:lnTo>
                    <a:lnTo>
                      <a:pt x="46" y="38"/>
                    </a:lnTo>
                  </a:path>
                </a:pathLst>
              </a:custGeom>
              <a:solidFill>
                <a:srgbClr val="CF5C82"/>
              </a:solidFill>
              <a:ln w="9525" cap="rnd">
                <a:noFill/>
                <a:round/>
              </a:ln>
            </p:spPr>
            <p:txBody>
              <a:bodyPr/>
              <a:lstStyle/>
              <a:p>
                <a:endParaRPr lang="zh-CN" altLang="en-US"/>
              </a:p>
            </p:txBody>
          </p:sp>
          <p:sp>
            <p:nvSpPr>
              <p:cNvPr id="9567" name="Freeform 166"/>
              <p:cNvSpPr/>
              <p:nvPr/>
            </p:nvSpPr>
            <p:spPr bwMode="auto">
              <a:xfrm>
                <a:off x="2449" y="1975"/>
                <a:ext cx="17" cy="55"/>
              </a:xfrm>
              <a:custGeom>
                <a:avLst/>
                <a:gdLst>
                  <a:gd name="T0" fmla="*/ 0 w 17"/>
                  <a:gd name="T1" fmla="*/ 54 h 55"/>
                  <a:gd name="T2" fmla="*/ 0 w 17"/>
                  <a:gd name="T3" fmla="*/ 54 h 55"/>
                  <a:gd name="T4" fmla="*/ 0 w 17"/>
                  <a:gd name="T5" fmla="*/ 27 h 55"/>
                  <a:gd name="T6" fmla="*/ 5 w 17"/>
                  <a:gd name="T7" fmla="*/ 9 h 55"/>
                  <a:gd name="T8" fmla="*/ 5 w 17"/>
                  <a:gd name="T9" fmla="*/ 2 h 55"/>
                  <a:gd name="T10" fmla="*/ 5 w 17"/>
                  <a:gd name="T11" fmla="*/ 0 h 55"/>
                  <a:gd name="T12" fmla="*/ 10 w 17"/>
                  <a:gd name="T13" fmla="*/ 0 h 55"/>
                  <a:gd name="T14" fmla="*/ 16 w 17"/>
                  <a:gd name="T15" fmla="*/ 0 h 55"/>
                  <a:gd name="T16" fmla="*/ 16 w 17"/>
                  <a:gd name="T17" fmla="*/ 24 h 55"/>
                  <a:gd name="T18" fmla="*/ 10 w 17"/>
                  <a:gd name="T19" fmla="*/ 47 h 55"/>
                  <a:gd name="T20" fmla="*/ 10 w 17"/>
                  <a:gd name="T21" fmla="*/ 51 h 55"/>
                  <a:gd name="T22" fmla="*/ 5 w 17"/>
                  <a:gd name="T23" fmla="*/ 47 h 55"/>
                  <a:gd name="T24" fmla="*/ 5 w 17"/>
                  <a:gd name="T25" fmla="*/ 51 h 55"/>
                  <a:gd name="T26" fmla="*/ 0 w 17"/>
                  <a:gd name="T27" fmla="*/ 51 h 55"/>
                  <a:gd name="T28" fmla="*/ 0 w 17"/>
                  <a:gd name="T29" fmla="*/ 54 h 5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
                  <a:gd name="T46" fmla="*/ 0 h 55"/>
                  <a:gd name="T47" fmla="*/ 17 w 17"/>
                  <a:gd name="T48" fmla="*/ 55 h 5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 h="55">
                    <a:moveTo>
                      <a:pt x="0" y="54"/>
                    </a:moveTo>
                    <a:lnTo>
                      <a:pt x="0" y="54"/>
                    </a:lnTo>
                    <a:lnTo>
                      <a:pt x="0" y="27"/>
                    </a:lnTo>
                    <a:lnTo>
                      <a:pt x="5" y="9"/>
                    </a:lnTo>
                    <a:lnTo>
                      <a:pt x="5" y="2"/>
                    </a:lnTo>
                    <a:lnTo>
                      <a:pt x="5" y="0"/>
                    </a:lnTo>
                    <a:lnTo>
                      <a:pt x="10" y="0"/>
                    </a:lnTo>
                    <a:lnTo>
                      <a:pt x="16" y="0"/>
                    </a:lnTo>
                    <a:lnTo>
                      <a:pt x="16" y="24"/>
                    </a:lnTo>
                    <a:lnTo>
                      <a:pt x="10" y="47"/>
                    </a:lnTo>
                    <a:lnTo>
                      <a:pt x="10" y="51"/>
                    </a:lnTo>
                    <a:lnTo>
                      <a:pt x="5" y="47"/>
                    </a:lnTo>
                    <a:lnTo>
                      <a:pt x="5" y="51"/>
                    </a:lnTo>
                    <a:lnTo>
                      <a:pt x="0" y="51"/>
                    </a:lnTo>
                    <a:lnTo>
                      <a:pt x="0" y="54"/>
                    </a:lnTo>
                  </a:path>
                </a:pathLst>
              </a:custGeom>
              <a:solidFill>
                <a:srgbClr val="BDB597"/>
              </a:solidFill>
              <a:ln w="9525" cap="rnd">
                <a:noFill/>
                <a:round/>
              </a:ln>
            </p:spPr>
            <p:txBody>
              <a:bodyPr/>
              <a:lstStyle/>
              <a:p>
                <a:endParaRPr lang="zh-CN" altLang="en-US"/>
              </a:p>
            </p:txBody>
          </p:sp>
          <p:sp>
            <p:nvSpPr>
              <p:cNvPr id="9568" name="Freeform 167"/>
              <p:cNvSpPr/>
              <p:nvPr/>
            </p:nvSpPr>
            <p:spPr bwMode="auto">
              <a:xfrm>
                <a:off x="2097" y="1923"/>
                <a:ext cx="441" cy="257"/>
              </a:xfrm>
              <a:custGeom>
                <a:avLst/>
                <a:gdLst>
                  <a:gd name="T0" fmla="*/ 440 w 441"/>
                  <a:gd name="T1" fmla="*/ 0 h 257"/>
                  <a:gd name="T2" fmla="*/ 440 w 441"/>
                  <a:gd name="T3" fmla="*/ 0 h 257"/>
                  <a:gd name="T4" fmla="*/ 0 w 441"/>
                  <a:gd name="T5" fmla="*/ 246 h 257"/>
                  <a:gd name="T6" fmla="*/ 3 w 441"/>
                  <a:gd name="T7" fmla="*/ 256 h 257"/>
                  <a:gd name="T8" fmla="*/ 440 w 441"/>
                  <a:gd name="T9" fmla="*/ 6 h 257"/>
                  <a:gd name="T10" fmla="*/ 440 w 441"/>
                  <a:gd name="T11" fmla="*/ 0 h 257"/>
                  <a:gd name="T12" fmla="*/ 0 60000 65536"/>
                  <a:gd name="T13" fmla="*/ 0 60000 65536"/>
                  <a:gd name="T14" fmla="*/ 0 60000 65536"/>
                  <a:gd name="T15" fmla="*/ 0 60000 65536"/>
                  <a:gd name="T16" fmla="*/ 0 60000 65536"/>
                  <a:gd name="T17" fmla="*/ 0 60000 65536"/>
                  <a:gd name="T18" fmla="*/ 0 w 441"/>
                  <a:gd name="T19" fmla="*/ 0 h 257"/>
                  <a:gd name="T20" fmla="*/ 441 w 441"/>
                  <a:gd name="T21" fmla="*/ 257 h 257"/>
                </a:gdLst>
                <a:ahLst/>
                <a:cxnLst>
                  <a:cxn ang="T12">
                    <a:pos x="T0" y="T1"/>
                  </a:cxn>
                  <a:cxn ang="T13">
                    <a:pos x="T2" y="T3"/>
                  </a:cxn>
                  <a:cxn ang="T14">
                    <a:pos x="T4" y="T5"/>
                  </a:cxn>
                  <a:cxn ang="T15">
                    <a:pos x="T6" y="T7"/>
                  </a:cxn>
                  <a:cxn ang="T16">
                    <a:pos x="T8" y="T9"/>
                  </a:cxn>
                  <a:cxn ang="T17">
                    <a:pos x="T10" y="T11"/>
                  </a:cxn>
                </a:cxnLst>
                <a:rect l="T18" t="T19" r="T20" b="T21"/>
                <a:pathLst>
                  <a:path w="441" h="257">
                    <a:moveTo>
                      <a:pt x="440" y="0"/>
                    </a:moveTo>
                    <a:lnTo>
                      <a:pt x="440" y="0"/>
                    </a:lnTo>
                    <a:lnTo>
                      <a:pt x="0" y="246"/>
                    </a:lnTo>
                    <a:lnTo>
                      <a:pt x="3" y="256"/>
                    </a:lnTo>
                    <a:lnTo>
                      <a:pt x="440" y="6"/>
                    </a:lnTo>
                    <a:lnTo>
                      <a:pt x="440" y="0"/>
                    </a:lnTo>
                  </a:path>
                </a:pathLst>
              </a:custGeom>
              <a:solidFill>
                <a:srgbClr val="BDB597"/>
              </a:solidFill>
              <a:ln w="9525" cap="rnd">
                <a:noFill/>
                <a:round/>
              </a:ln>
            </p:spPr>
            <p:txBody>
              <a:bodyPr/>
              <a:lstStyle/>
              <a:p>
                <a:endParaRPr lang="zh-CN" altLang="en-US"/>
              </a:p>
            </p:txBody>
          </p:sp>
          <p:sp>
            <p:nvSpPr>
              <p:cNvPr id="9569" name="Freeform 168"/>
              <p:cNvSpPr/>
              <p:nvPr/>
            </p:nvSpPr>
            <p:spPr bwMode="auto">
              <a:xfrm>
                <a:off x="2355" y="2029"/>
                <a:ext cx="17" cy="55"/>
              </a:xfrm>
              <a:custGeom>
                <a:avLst/>
                <a:gdLst>
                  <a:gd name="T0" fmla="*/ 0 w 17"/>
                  <a:gd name="T1" fmla="*/ 54 h 55"/>
                  <a:gd name="T2" fmla="*/ 0 w 17"/>
                  <a:gd name="T3" fmla="*/ 54 h 55"/>
                  <a:gd name="T4" fmla="*/ 0 w 17"/>
                  <a:gd name="T5" fmla="*/ 45 h 55"/>
                  <a:gd name="T6" fmla="*/ 0 w 17"/>
                  <a:gd name="T7" fmla="*/ 27 h 55"/>
                  <a:gd name="T8" fmla="*/ 5 w 17"/>
                  <a:gd name="T9" fmla="*/ 18 h 55"/>
                  <a:gd name="T10" fmla="*/ 5 w 17"/>
                  <a:gd name="T11" fmla="*/ 9 h 55"/>
                  <a:gd name="T12" fmla="*/ 5 w 17"/>
                  <a:gd name="T13" fmla="*/ 6 h 55"/>
                  <a:gd name="T14" fmla="*/ 5 w 17"/>
                  <a:gd name="T15" fmla="*/ 2 h 55"/>
                  <a:gd name="T16" fmla="*/ 5 w 17"/>
                  <a:gd name="T17" fmla="*/ 0 h 55"/>
                  <a:gd name="T18" fmla="*/ 10 w 17"/>
                  <a:gd name="T19" fmla="*/ 0 h 55"/>
                  <a:gd name="T20" fmla="*/ 16 w 17"/>
                  <a:gd name="T21" fmla="*/ 0 h 55"/>
                  <a:gd name="T22" fmla="*/ 16 w 17"/>
                  <a:gd name="T23" fmla="*/ 24 h 55"/>
                  <a:gd name="T24" fmla="*/ 16 w 17"/>
                  <a:gd name="T25" fmla="*/ 42 h 55"/>
                  <a:gd name="T26" fmla="*/ 16 w 17"/>
                  <a:gd name="T27" fmla="*/ 47 h 55"/>
                  <a:gd name="T28" fmla="*/ 10 w 17"/>
                  <a:gd name="T29" fmla="*/ 47 h 55"/>
                  <a:gd name="T30" fmla="*/ 10 w 17"/>
                  <a:gd name="T31" fmla="*/ 51 h 55"/>
                  <a:gd name="T32" fmla="*/ 5 w 17"/>
                  <a:gd name="T33" fmla="*/ 51 h 55"/>
                  <a:gd name="T34" fmla="*/ 0 w 17"/>
                  <a:gd name="T35" fmla="*/ 54 h 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55"/>
                  <a:gd name="T56" fmla="*/ 17 w 17"/>
                  <a:gd name="T57" fmla="*/ 55 h 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55">
                    <a:moveTo>
                      <a:pt x="0" y="54"/>
                    </a:moveTo>
                    <a:lnTo>
                      <a:pt x="0" y="54"/>
                    </a:lnTo>
                    <a:lnTo>
                      <a:pt x="0" y="45"/>
                    </a:lnTo>
                    <a:lnTo>
                      <a:pt x="0" y="27"/>
                    </a:lnTo>
                    <a:lnTo>
                      <a:pt x="5" y="18"/>
                    </a:lnTo>
                    <a:lnTo>
                      <a:pt x="5" y="9"/>
                    </a:lnTo>
                    <a:lnTo>
                      <a:pt x="5" y="6"/>
                    </a:lnTo>
                    <a:lnTo>
                      <a:pt x="5" y="2"/>
                    </a:lnTo>
                    <a:lnTo>
                      <a:pt x="5" y="0"/>
                    </a:lnTo>
                    <a:lnTo>
                      <a:pt x="10" y="0"/>
                    </a:lnTo>
                    <a:lnTo>
                      <a:pt x="16" y="0"/>
                    </a:lnTo>
                    <a:lnTo>
                      <a:pt x="16" y="24"/>
                    </a:lnTo>
                    <a:lnTo>
                      <a:pt x="16" y="42"/>
                    </a:lnTo>
                    <a:lnTo>
                      <a:pt x="16" y="47"/>
                    </a:lnTo>
                    <a:lnTo>
                      <a:pt x="10" y="47"/>
                    </a:lnTo>
                    <a:lnTo>
                      <a:pt x="10" y="51"/>
                    </a:lnTo>
                    <a:lnTo>
                      <a:pt x="5" y="51"/>
                    </a:lnTo>
                    <a:lnTo>
                      <a:pt x="0" y="54"/>
                    </a:lnTo>
                  </a:path>
                </a:pathLst>
              </a:custGeom>
              <a:solidFill>
                <a:srgbClr val="BDB597"/>
              </a:solidFill>
              <a:ln w="9525" cap="rnd">
                <a:noFill/>
                <a:round/>
              </a:ln>
            </p:spPr>
            <p:txBody>
              <a:bodyPr/>
              <a:lstStyle/>
              <a:p>
                <a:endParaRPr lang="zh-CN" altLang="en-US"/>
              </a:p>
            </p:txBody>
          </p:sp>
          <p:sp>
            <p:nvSpPr>
              <p:cNvPr id="9570" name="Freeform 169"/>
              <p:cNvSpPr/>
              <p:nvPr/>
            </p:nvSpPr>
            <p:spPr bwMode="auto">
              <a:xfrm>
                <a:off x="2256" y="2083"/>
                <a:ext cx="17" cy="60"/>
              </a:xfrm>
              <a:custGeom>
                <a:avLst/>
                <a:gdLst>
                  <a:gd name="T0" fmla="*/ 0 w 17"/>
                  <a:gd name="T1" fmla="*/ 59 h 60"/>
                  <a:gd name="T2" fmla="*/ 0 w 17"/>
                  <a:gd name="T3" fmla="*/ 59 h 60"/>
                  <a:gd name="T4" fmla="*/ 0 w 17"/>
                  <a:gd name="T5" fmla="*/ 49 h 60"/>
                  <a:gd name="T6" fmla="*/ 0 w 17"/>
                  <a:gd name="T7" fmla="*/ 30 h 60"/>
                  <a:gd name="T8" fmla="*/ 0 w 17"/>
                  <a:gd name="T9" fmla="*/ 19 h 60"/>
                  <a:gd name="T10" fmla="*/ 0 w 17"/>
                  <a:gd name="T11" fmla="*/ 9 h 60"/>
                  <a:gd name="T12" fmla="*/ 5 w 17"/>
                  <a:gd name="T13" fmla="*/ 2 h 60"/>
                  <a:gd name="T14" fmla="*/ 5 w 17"/>
                  <a:gd name="T15" fmla="*/ 0 h 60"/>
                  <a:gd name="T16" fmla="*/ 10 w 17"/>
                  <a:gd name="T17" fmla="*/ 0 h 60"/>
                  <a:gd name="T18" fmla="*/ 16 w 17"/>
                  <a:gd name="T19" fmla="*/ 0 h 60"/>
                  <a:gd name="T20" fmla="*/ 16 w 17"/>
                  <a:gd name="T21" fmla="*/ 28 h 60"/>
                  <a:gd name="T22" fmla="*/ 16 w 17"/>
                  <a:gd name="T23" fmla="*/ 46 h 60"/>
                  <a:gd name="T24" fmla="*/ 16 w 17"/>
                  <a:gd name="T25" fmla="*/ 56 h 60"/>
                  <a:gd name="T26" fmla="*/ 10 w 17"/>
                  <a:gd name="T27" fmla="*/ 56 h 60"/>
                  <a:gd name="T28" fmla="*/ 5 w 17"/>
                  <a:gd name="T29" fmla="*/ 56 h 60"/>
                  <a:gd name="T30" fmla="*/ 5 w 17"/>
                  <a:gd name="T31" fmla="*/ 59 h 60"/>
                  <a:gd name="T32" fmla="*/ 0 w 17"/>
                  <a:gd name="T33" fmla="*/ 59 h 6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
                  <a:gd name="T52" fmla="*/ 0 h 60"/>
                  <a:gd name="T53" fmla="*/ 17 w 17"/>
                  <a:gd name="T54" fmla="*/ 60 h 6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 h="60">
                    <a:moveTo>
                      <a:pt x="0" y="59"/>
                    </a:moveTo>
                    <a:lnTo>
                      <a:pt x="0" y="59"/>
                    </a:lnTo>
                    <a:lnTo>
                      <a:pt x="0" y="49"/>
                    </a:lnTo>
                    <a:lnTo>
                      <a:pt x="0" y="30"/>
                    </a:lnTo>
                    <a:lnTo>
                      <a:pt x="0" y="19"/>
                    </a:lnTo>
                    <a:lnTo>
                      <a:pt x="0" y="9"/>
                    </a:lnTo>
                    <a:lnTo>
                      <a:pt x="5" y="2"/>
                    </a:lnTo>
                    <a:lnTo>
                      <a:pt x="5" y="0"/>
                    </a:lnTo>
                    <a:lnTo>
                      <a:pt x="10" y="0"/>
                    </a:lnTo>
                    <a:lnTo>
                      <a:pt x="16" y="0"/>
                    </a:lnTo>
                    <a:lnTo>
                      <a:pt x="16" y="28"/>
                    </a:lnTo>
                    <a:lnTo>
                      <a:pt x="16" y="46"/>
                    </a:lnTo>
                    <a:lnTo>
                      <a:pt x="16" y="56"/>
                    </a:lnTo>
                    <a:lnTo>
                      <a:pt x="10" y="56"/>
                    </a:lnTo>
                    <a:lnTo>
                      <a:pt x="5" y="56"/>
                    </a:lnTo>
                    <a:lnTo>
                      <a:pt x="5" y="59"/>
                    </a:lnTo>
                    <a:lnTo>
                      <a:pt x="0" y="59"/>
                    </a:lnTo>
                  </a:path>
                </a:pathLst>
              </a:custGeom>
              <a:solidFill>
                <a:srgbClr val="BDB597"/>
              </a:solidFill>
              <a:ln w="9525" cap="rnd">
                <a:noFill/>
                <a:round/>
              </a:ln>
            </p:spPr>
            <p:txBody>
              <a:bodyPr/>
              <a:lstStyle/>
              <a:p>
                <a:endParaRPr lang="zh-CN" altLang="en-US"/>
              </a:p>
            </p:txBody>
          </p:sp>
          <p:sp>
            <p:nvSpPr>
              <p:cNvPr id="9571" name="Freeform 170"/>
              <p:cNvSpPr/>
              <p:nvPr/>
            </p:nvSpPr>
            <p:spPr bwMode="auto">
              <a:xfrm>
                <a:off x="2147" y="2146"/>
                <a:ext cx="17" cy="63"/>
              </a:xfrm>
              <a:custGeom>
                <a:avLst/>
                <a:gdLst>
                  <a:gd name="T0" fmla="*/ 0 w 17"/>
                  <a:gd name="T1" fmla="*/ 62 h 63"/>
                  <a:gd name="T2" fmla="*/ 0 w 17"/>
                  <a:gd name="T3" fmla="*/ 62 h 63"/>
                  <a:gd name="T4" fmla="*/ 0 w 17"/>
                  <a:gd name="T5" fmla="*/ 52 h 63"/>
                  <a:gd name="T6" fmla="*/ 0 w 17"/>
                  <a:gd name="T7" fmla="*/ 31 h 63"/>
                  <a:gd name="T8" fmla="*/ 0 w 17"/>
                  <a:gd name="T9" fmla="*/ 18 h 63"/>
                  <a:gd name="T10" fmla="*/ 0 w 17"/>
                  <a:gd name="T11" fmla="*/ 9 h 63"/>
                  <a:gd name="T12" fmla="*/ 0 w 17"/>
                  <a:gd name="T13" fmla="*/ 6 h 63"/>
                  <a:gd name="T14" fmla="*/ 0 w 17"/>
                  <a:gd name="T15" fmla="*/ 2 h 63"/>
                  <a:gd name="T16" fmla="*/ 6 w 17"/>
                  <a:gd name="T17" fmla="*/ 2 h 63"/>
                  <a:gd name="T18" fmla="*/ 6 w 17"/>
                  <a:gd name="T19" fmla="*/ 0 h 63"/>
                  <a:gd name="T20" fmla="*/ 10 w 17"/>
                  <a:gd name="T21" fmla="*/ 0 h 63"/>
                  <a:gd name="T22" fmla="*/ 16 w 17"/>
                  <a:gd name="T23" fmla="*/ 0 h 63"/>
                  <a:gd name="T24" fmla="*/ 16 w 17"/>
                  <a:gd name="T25" fmla="*/ 28 h 63"/>
                  <a:gd name="T26" fmla="*/ 16 w 17"/>
                  <a:gd name="T27" fmla="*/ 46 h 63"/>
                  <a:gd name="T28" fmla="*/ 16 w 17"/>
                  <a:gd name="T29" fmla="*/ 55 h 63"/>
                  <a:gd name="T30" fmla="*/ 10 w 17"/>
                  <a:gd name="T31" fmla="*/ 55 h 63"/>
                  <a:gd name="T32" fmla="*/ 6 w 17"/>
                  <a:gd name="T33" fmla="*/ 55 h 63"/>
                  <a:gd name="T34" fmla="*/ 6 w 17"/>
                  <a:gd name="T35" fmla="*/ 59 h 63"/>
                  <a:gd name="T36" fmla="*/ 0 w 17"/>
                  <a:gd name="T37" fmla="*/ 62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63"/>
                  <a:gd name="T59" fmla="*/ 17 w 17"/>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63">
                    <a:moveTo>
                      <a:pt x="0" y="62"/>
                    </a:moveTo>
                    <a:lnTo>
                      <a:pt x="0" y="62"/>
                    </a:lnTo>
                    <a:lnTo>
                      <a:pt x="0" y="52"/>
                    </a:lnTo>
                    <a:lnTo>
                      <a:pt x="0" y="31"/>
                    </a:lnTo>
                    <a:lnTo>
                      <a:pt x="0" y="18"/>
                    </a:lnTo>
                    <a:lnTo>
                      <a:pt x="0" y="9"/>
                    </a:lnTo>
                    <a:lnTo>
                      <a:pt x="0" y="6"/>
                    </a:lnTo>
                    <a:lnTo>
                      <a:pt x="0" y="2"/>
                    </a:lnTo>
                    <a:lnTo>
                      <a:pt x="6" y="2"/>
                    </a:lnTo>
                    <a:lnTo>
                      <a:pt x="6" y="0"/>
                    </a:lnTo>
                    <a:lnTo>
                      <a:pt x="10" y="0"/>
                    </a:lnTo>
                    <a:lnTo>
                      <a:pt x="16" y="0"/>
                    </a:lnTo>
                    <a:lnTo>
                      <a:pt x="16" y="28"/>
                    </a:lnTo>
                    <a:lnTo>
                      <a:pt x="16" y="46"/>
                    </a:lnTo>
                    <a:lnTo>
                      <a:pt x="16" y="55"/>
                    </a:lnTo>
                    <a:lnTo>
                      <a:pt x="10" y="55"/>
                    </a:lnTo>
                    <a:lnTo>
                      <a:pt x="6" y="55"/>
                    </a:lnTo>
                    <a:lnTo>
                      <a:pt x="6" y="59"/>
                    </a:lnTo>
                    <a:lnTo>
                      <a:pt x="0" y="62"/>
                    </a:lnTo>
                  </a:path>
                </a:pathLst>
              </a:custGeom>
              <a:solidFill>
                <a:srgbClr val="BDB597"/>
              </a:solidFill>
              <a:ln w="9525" cap="rnd">
                <a:noFill/>
                <a:round/>
              </a:ln>
            </p:spPr>
            <p:txBody>
              <a:bodyPr/>
              <a:lstStyle/>
              <a:p>
                <a:endParaRPr lang="zh-CN" altLang="en-US"/>
              </a:p>
            </p:txBody>
          </p:sp>
          <p:sp>
            <p:nvSpPr>
              <p:cNvPr id="9572" name="Freeform 171"/>
              <p:cNvSpPr/>
              <p:nvPr/>
            </p:nvSpPr>
            <p:spPr bwMode="auto">
              <a:xfrm>
                <a:off x="2051" y="2167"/>
                <a:ext cx="47" cy="67"/>
              </a:xfrm>
              <a:custGeom>
                <a:avLst/>
                <a:gdLst>
                  <a:gd name="T0" fmla="*/ 46 w 47"/>
                  <a:gd name="T1" fmla="*/ 66 h 67"/>
                  <a:gd name="T2" fmla="*/ 46 w 47"/>
                  <a:gd name="T3" fmla="*/ 66 h 67"/>
                  <a:gd name="T4" fmla="*/ 0 w 47"/>
                  <a:gd name="T5" fmla="*/ 54 h 67"/>
                  <a:gd name="T6" fmla="*/ 0 w 47"/>
                  <a:gd name="T7" fmla="*/ 0 h 67"/>
                  <a:gd name="T8" fmla="*/ 46 w 47"/>
                  <a:gd name="T9" fmla="*/ 11 h 67"/>
                  <a:gd name="T10" fmla="*/ 46 w 47"/>
                  <a:gd name="T11" fmla="*/ 66 h 67"/>
                  <a:gd name="T12" fmla="*/ 0 60000 65536"/>
                  <a:gd name="T13" fmla="*/ 0 60000 65536"/>
                  <a:gd name="T14" fmla="*/ 0 60000 65536"/>
                  <a:gd name="T15" fmla="*/ 0 60000 65536"/>
                  <a:gd name="T16" fmla="*/ 0 60000 65536"/>
                  <a:gd name="T17" fmla="*/ 0 60000 65536"/>
                  <a:gd name="T18" fmla="*/ 0 w 47"/>
                  <a:gd name="T19" fmla="*/ 0 h 67"/>
                  <a:gd name="T20" fmla="*/ 47 w 47"/>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47" h="67">
                    <a:moveTo>
                      <a:pt x="46" y="66"/>
                    </a:moveTo>
                    <a:lnTo>
                      <a:pt x="46" y="66"/>
                    </a:lnTo>
                    <a:lnTo>
                      <a:pt x="0" y="54"/>
                    </a:lnTo>
                    <a:lnTo>
                      <a:pt x="0" y="0"/>
                    </a:lnTo>
                    <a:lnTo>
                      <a:pt x="46" y="11"/>
                    </a:lnTo>
                    <a:lnTo>
                      <a:pt x="46" y="66"/>
                    </a:lnTo>
                  </a:path>
                </a:pathLst>
              </a:custGeom>
              <a:solidFill>
                <a:srgbClr val="9E0005"/>
              </a:solidFill>
              <a:ln w="9525" cap="rnd">
                <a:noFill/>
                <a:round/>
              </a:ln>
            </p:spPr>
            <p:txBody>
              <a:bodyPr/>
              <a:lstStyle/>
              <a:p>
                <a:endParaRPr lang="zh-CN" altLang="en-US"/>
              </a:p>
            </p:txBody>
          </p:sp>
          <p:sp>
            <p:nvSpPr>
              <p:cNvPr id="9573" name="Freeform 172"/>
              <p:cNvSpPr/>
              <p:nvPr/>
            </p:nvSpPr>
            <p:spPr bwMode="auto">
              <a:xfrm>
                <a:off x="2051" y="2224"/>
                <a:ext cx="47" cy="20"/>
              </a:xfrm>
              <a:custGeom>
                <a:avLst/>
                <a:gdLst>
                  <a:gd name="T0" fmla="*/ 43 w 47"/>
                  <a:gd name="T1" fmla="*/ 19 h 20"/>
                  <a:gd name="T2" fmla="*/ 43 w 47"/>
                  <a:gd name="T3" fmla="*/ 19 h 20"/>
                  <a:gd name="T4" fmla="*/ 46 w 47"/>
                  <a:gd name="T5" fmla="*/ 19 h 20"/>
                  <a:gd name="T6" fmla="*/ 46 w 47"/>
                  <a:gd name="T7" fmla="*/ 16 h 20"/>
                  <a:gd name="T8" fmla="*/ 46 w 47"/>
                  <a:gd name="T9" fmla="*/ 13 h 20"/>
                  <a:gd name="T10" fmla="*/ 46 w 47"/>
                  <a:gd name="T11" fmla="*/ 10 h 20"/>
                  <a:gd name="T12" fmla="*/ 24 w 47"/>
                  <a:gd name="T13" fmla="*/ 5 h 20"/>
                  <a:gd name="T14" fmla="*/ 0 w 47"/>
                  <a:gd name="T15" fmla="*/ 0 h 20"/>
                  <a:gd name="T16" fmla="*/ 0 w 47"/>
                  <a:gd name="T17" fmla="*/ 2 h 20"/>
                  <a:gd name="T18" fmla="*/ 0 w 47"/>
                  <a:gd name="T19" fmla="*/ 5 h 20"/>
                  <a:gd name="T20" fmla="*/ 0 w 47"/>
                  <a:gd name="T21" fmla="*/ 8 h 20"/>
                  <a:gd name="T22" fmla="*/ 5 w 47"/>
                  <a:gd name="T23" fmla="*/ 8 h 20"/>
                  <a:gd name="T24" fmla="*/ 13 w 47"/>
                  <a:gd name="T25" fmla="*/ 8 h 20"/>
                  <a:gd name="T26" fmla="*/ 21 w 47"/>
                  <a:gd name="T27" fmla="*/ 10 h 20"/>
                  <a:gd name="T28" fmla="*/ 29 w 47"/>
                  <a:gd name="T29" fmla="*/ 13 h 20"/>
                  <a:gd name="T30" fmla="*/ 35 w 47"/>
                  <a:gd name="T31" fmla="*/ 13 h 20"/>
                  <a:gd name="T32" fmla="*/ 37 w 47"/>
                  <a:gd name="T33" fmla="*/ 16 h 20"/>
                  <a:gd name="T34" fmla="*/ 40 w 47"/>
                  <a:gd name="T35" fmla="*/ 16 h 20"/>
                  <a:gd name="T36" fmla="*/ 43 w 47"/>
                  <a:gd name="T37" fmla="*/ 16 h 20"/>
                  <a:gd name="T38" fmla="*/ 43 w 47"/>
                  <a:gd name="T39" fmla="*/ 19 h 2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7"/>
                  <a:gd name="T61" fmla="*/ 0 h 20"/>
                  <a:gd name="T62" fmla="*/ 47 w 47"/>
                  <a:gd name="T63" fmla="*/ 20 h 2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7" h="20">
                    <a:moveTo>
                      <a:pt x="43" y="19"/>
                    </a:moveTo>
                    <a:lnTo>
                      <a:pt x="43" y="19"/>
                    </a:lnTo>
                    <a:lnTo>
                      <a:pt x="46" y="19"/>
                    </a:lnTo>
                    <a:lnTo>
                      <a:pt x="46" y="16"/>
                    </a:lnTo>
                    <a:lnTo>
                      <a:pt x="46" y="13"/>
                    </a:lnTo>
                    <a:lnTo>
                      <a:pt x="46" y="10"/>
                    </a:lnTo>
                    <a:lnTo>
                      <a:pt x="24" y="5"/>
                    </a:lnTo>
                    <a:lnTo>
                      <a:pt x="0" y="0"/>
                    </a:lnTo>
                    <a:lnTo>
                      <a:pt x="0" y="2"/>
                    </a:lnTo>
                    <a:lnTo>
                      <a:pt x="0" y="5"/>
                    </a:lnTo>
                    <a:lnTo>
                      <a:pt x="0" y="8"/>
                    </a:lnTo>
                    <a:lnTo>
                      <a:pt x="5" y="8"/>
                    </a:lnTo>
                    <a:lnTo>
                      <a:pt x="13" y="8"/>
                    </a:lnTo>
                    <a:lnTo>
                      <a:pt x="21" y="10"/>
                    </a:lnTo>
                    <a:lnTo>
                      <a:pt x="29" y="13"/>
                    </a:lnTo>
                    <a:lnTo>
                      <a:pt x="35" y="13"/>
                    </a:lnTo>
                    <a:lnTo>
                      <a:pt x="37" y="16"/>
                    </a:lnTo>
                    <a:lnTo>
                      <a:pt x="40" y="16"/>
                    </a:lnTo>
                    <a:lnTo>
                      <a:pt x="43" y="16"/>
                    </a:lnTo>
                    <a:lnTo>
                      <a:pt x="43" y="19"/>
                    </a:lnTo>
                  </a:path>
                </a:pathLst>
              </a:custGeom>
              <a:solidFill>
                <a:srgbClr val="BDB597"/>
              </a:solidFill>
              <a:ln w="9525" cap="rnd">
                <a:noFill/>
                <a:round/>
              </a:ln>
            </p:spPr>
            <p:txBody>
              <a:bodyPr/>
              <a:lstStyle/>
              <a:p>
                <a:endParaRPr lang="zh-CN" altLang="en-US"/>
              </a:p>
            </p:txBody>
          </p:sp>
          <p:sp>
            <p:nvSpPr>
              <p:cNvPr id="9574" name="Freeform 173"/>
              <p:cNvSpPr/>
              <p:nvPr/>
            </p:nvSpPr>
            <p:spPr bwMode="auto">
              <a:xfrm>
                <a:off x="2051" y="2157"/>
                <a:ext cx="47" cy="23"/>
              </a:xfrm>
              <a:custGeom>
                <a:avLst/>
                <a:gdLst>
                  <a:gd name="T0" fmla="*/ 46 w 47"/>
                  <a:gd name="T1" fmla="*/ 22 h 23"/>
                  <a:gd name="T2" fmla="*/ 46 w 47"/>
                  <a:gd name="T3" fmla="*/ 22 h 23"/>
                  <a:gd name="T4" fmla="*/ 46 w 47"/>
                  <a:gd name="T5" fmla="*/ 19 h 23"/>
                  <a:gd name="T6" fmla="*/ 46 w 47"/>
                  <a:gd name="T7" fmla="*/ 14 h 23"/>
                  <a:gd name="T8" fmla="*/ 21 w 47"/>
                  <a:gd name="T9" fmla="*/ 7 h 23"/>
                  <a:gd name="T10" fmla="*/ 8 w 47"/>
                  <a:gd name="T11" fmla="*/ 2 h 23"/>
                  <a:gd name="T12" fmla="*/ 2 w 47"/>
                  <a:gd name="T13" fmla="*/ 0 h 23"/>
                  <a:gd name="T14" fmla="*/ 0 w 47"/>
                  <a:gd name="T15" fmla="*/ 0 h 23"/>
                  <a:gd name="T16" fmla="*/ 0 w 47"/>
                  <a:gd name="T17" fmla="*/ 2 h 23"/>
                  <a:gd name="T18" fmla="*/ 0 w 47"/>
                  <a:gd name="T19" fmla="*/ 5 h 23"/>
                  <a:gd name="T20" fmla="*/ 0 w 47"/>
                  <a:gd name="T21" fmla="*/ 7 h 23"/>
                  <a:gd name="T22" fmla="*/ 2 w 47"/>
                  <a:gd name="T23" fmla="*/ 7 h 23"/>
                  <a:gd name="T24" fmla="*/ 5 w 47"/>
                  <a:gd name="T25" fmla="*/ 11 h 23"/>
                  <a:gd name="T26" fmla="*/ 21 w 47"/>
                  <a:gd name="T27" fmla="*/ 14 h 23"/>
                  <a:gd name="T28" fmla="*/ 24 w 47"/>
                  <a:gd name="T29" fmla="*/ 14 h 23"/>
                  <a:gd name="T30" fmla="*/ 29 w 47"/>
                  <a:gd name="T31" fmla="*/ 14 h 23"/>
                  <a:gd name="T32" fmla="*/ 32 w 47"/>
                  <a:gd name="T33" fmla="*/ 16 h 23"/>
                  <a:gd name="T34" fmla="*/ 35 w 47"/>
                  <a:gd name="T35" fmla="*/ 16 h 23"/>
                  <a:gd name="T36" fmla="*/ 40 w 47"/>
                  <a:gd name="T37" fmla="*/ 19 h 23"/>
                  <a:gd name="T38" fmla="*/ 43 w 47"/>
                  <a:gd name="T39" fmla="*/ 19 h 23"/>
                  <a:gd name="T40" fmla="*/ 46 w 47"/>
                  <a:gd name="T41" fmla="*/ 22 h 2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7"/>
                  <a:gd name="T64" fmla="*/ 0 h 23"/>
                  <a:gd name="T65" fmla="*/ 47 w 47"/>
                  <a:gd name="T66" fmla="*/ 23 h 2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7" h="23">
                    <a:moveTo>
                      <a:pt x="46" y="22"/>
                    </a:moveTo>
                    <a:lnTo>
                      <a:pt x="46" y="22"/>
                    </a:lnTo>
                    <a:lnTo>
                      <a:pt x="46" y="19"/>
                    </a:lnTo>
                    <a:lnTo>
                      <a:pt x="46" y="14"/>
                    </a:lnTo>
                    <a:lnTo>
                      <a:pt x="21" y="7"/>
                    </a:lnTo>
                    <a:lnTo>
                      <a:pt x="8" y="2"/>
                    </a:lnTo>
                    <a:lnTo>
                      <a:pt x="2" y="0"/>
                    </a:lnTo>
                    <a:lnTo>
                      <a:pt x="0" y="0"/>
                    </a:lnTo>
                    <a:lnTo>
                      <a:pt x="0" y="2"/>
                    </a:lnTo>
                    <a:lnTo>
                      <a:pt x="0" y="5"/>
                    </a:lnTo>
                    <a:lnTo>
                      <a:pt x="0" y="7"/>
                    </a:lnTo>
                    <a:lnTo>
                      <a:pt x="2" y="7"/>
                    </a:lnTo>
                    <a:lnTo>
                      <a:pt x="5" y="11"/>
                    </a:lnTo>
                    <a:lnTo>
                      <a:pt x="21" y="14"/>
                    </a:lnTo>
                    <a:lnTo>
                      <a:pt x="24" y="14"/>
                    </a:lnTo>
                    <a:lnTo>
                      <a:pt x="29" y="14"/>
                    </a:lnTo>
                    <a:lnTo>
                      <a:pt x="32" y="16"/>
                    </a:lnTo>
                    <a:lnTo>
                      <a:pt x="35" y="16"/>
                    </a:lnTo>
                    <a:lnTo>
                      <a:pt x="40" y="19"/>
                    </a:lnTo>
                    <a:lnTo>
                      <a:pt x="43" y="19"/>
                    </a:lnTo>
                    <a:lnTo>
                      <a:pt x="46" y="22"/>
                    </a:lnTo>
                  </a:path>
                </a:pathLst>
              </a:custGeom>
              <a:solidFill>
                <a:srgbClr val="BDB597"/>
              </a:solidFill>
              <a:ln w="9525" cap="rnd">
                <a:noFill/>
                <a:round/>
              </a:ln>
            </p:spPr>
            <p:txBody>
              <a:bodyPr/>
              <a:lstStyle/>
              <a:p>
                <a:endParaRPr lang="zh-CN" altLang="en-US"/>
              </a:p>
            </p:txBody>
          </p:sp>
        </p:grpSp>
        <p:sp>
          <p:nvSpPr>
            <p:cNvPr id="9497" name="Freeform 174"/>
            <p:cNvSpPr/>
            <p:nvPr/>
          </p:nvSpPr>
          <p:spPr bwMode="auto">
            <a:xfrm>
              <a:off x="2499" y="1870"/>
              <a:ext cx="40" cy="71"/>
            </a:xfrm>
            <a:custGeom>
              <a:avLst/>
              <a:gdLst>
                <a:gd name="T0" fmla="*/ 0 w 40"/>
                <a:gd name="T1" fmla="*/ 70 h 71"/>
                <a:gd name="T2" fmla="*/ 0 w 40"/>
                <a:gd name="T3" fmla="*/ 70 h 71"/>
                <a:gd name="T4" fmla="*/ 2 w 40"/>
                <a:gd name="T5" fmla="*/ 17 h 71"/>
                <a:gd name="T6" fmla="*/ 39 w 40"/>
                <a:gd name="T7" fmla="*/ 0 h 71"/>
                <a:gd name="T8" fmla="*/ 36 w 40"/>
                <a:gd name="T9" fmla="*/ 48 h 71"/>
                <a:gd name="T10" fmla="*/ 0 w 40"/>
                <a:gd name="T11" fmla="*/ 70 h 71"/>
                <a:gd name="T12" fmla="*/ 0 60000 65536"/>
                <a:gd name="T13" fmla="*/ 0 60000 65536"/>
                <a:gd name="T14" fmla="*/ 0 60000 65536"/>
                <a:gd name="T15" fmla="*/ 0 60000 65536"/>
                <a:gd name="T16" fmla="*/ 0 60000 65536"/>
                <a:gd name="T17" fmla="*/ 0 60000 65536"/>
                <a:gd name="T18" fmla="*/ 0 w 40"/>
                <a:gd name="T19" fmla="*/ 0 h 71"/>
                <a:gd name="T20" fmla="*/ 40 w 40"/>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40" h="71">
                  <a:moveTo>
                    <a:pt x="0" y="70"/>
                  </a:moveTo>
                  <a:lnTo>
                    <a:pt x="0" y="70"/>
                  </a:lnTo>
                  <a:lnTo>
                    <a:pt x="2" y="17"/>
                  </a:lnTo>
                  <a:lnTo>
                    <a:pt x="39" y="0"/>
                  </a:lnTo>
                  <a:lnTo>
                    <a:pt x="36" y="48"/>
                  </a:lnTo>
                  <a:lnTo>
                    <a:pt x="0" y="70"/>
                  </a:lnTo>
                </a:path>
              </a:pathLst>
            </a:custGeom>
            <a:solidFill>
              <a:srgbClr val="BB1A50"/>
            </a:solidFill>
            <a:ln w="9525" cap="rnd">
              <a:noFill/>
              <a:round/>
            </a:ln>
          </p:spPr>
          <p:txBody>
            <a:bodyPr/>
            <a:lstStyle/>
            <a:p>
              <a:endParaRPr lang="zh-CN" altLang="en-US"/>
            </a:p>
          </p:txBody>
        </p:sp>
        <p:sp>
          <p:nvSpPr>
            <p:cNvPr id="9498" name="Freeform 175"/>
            <p:cNvSpPr/>
            <p:nvPr/>
          </p:nvSpPr>
          <p:spPr bwMode="auto">
            <a:xfrm>
              <a:off x="2468" y="1872"/>
              <a:ext cx="33" cy="69"/>
            </a:xfrm>
            <a:custGeom>
              <a:avLst/>
              <a:gdLst>
                <a:gd name="T0" fmla="*/ 29 w 33"/>
                <a:gd name="T1" fmla="*/ 68 h 69"/>
                <a:gd name="T2" fmla="*/ 29 w 33"/>
                <a:gd name="T3" fmla="*/ 68 h 69"/>
                <a:gd name="T4" fmla="*/ 0 w 33"/>
                <a:gd name="T5" fmla="*/ 49 h 69"/>
                <a:gd name="T6" fmla="*/ 2 w 33"/>
                <a:gd name="T7" fmla="*/ 0 h 69"/>
                <a:gd name="T8" fmla="*/ 32 w 33"/>
                <a:gd name="T9" fmla="*/ 15 h 69"/>
                <a:gd name="T10" fmla="*/ 29 w 33"/>
                <a:gd name="T11" fmla="*/ 68 h 69"/>
                <a:gd name="T12" fmla="*/ 0 60000 65536"/>
                <a:gd name="T13" fmla="*/ 0 60000 65536"/>
                <a:gd name="T14" fmla="*/ 0 60000 65536"/>
                <a:gd name="T15" fmla="*/ 0 60000 65536"/>
                <a:gd name="T16" fmla="*/ 0 60000 65536"/>
                <a:gd name="T17" fmla="*/ 0 60000 65536"/>
                <a:gd name="T18" fmla="*/ 0 w 33"/>
                <a:gd name="T19" fmla="*/ 0 h 69"/>
                <a:gd name="T20" fmla="*/ 33 w 33"/>
                <a:gd name="T21" fmla="*/ 69 h 69"/>
              </a:gdLst>
              <a:ahLst/>
              <a:cxnLst>
                <a:cxn ang="T12">
                  <a:pos x="T0" y="T1"/>
                </a:cxn>
                <a:cxn ang="T13">
                  <a:pos x="T2" y="T3"/>
                </a:cxn>
                <a:cxn ang="T14">
                  <a:pos x="T4" y="T5"/>
                </a:cxn>
                <a:cxn ang="T15">
                  <a:pos x="T6" y="T7"/>
                </a:cxn>
                <a:cxn ang="T16">
                  <a:pos x="T8" y="T9"/>
                </a:cxn>
                <a:cxn ang="T17">
                  <a:pos x="T10" y="T11"/>
                </a:cxn>
              </a:cxnLst>
              <a:rect l="T18" t="T19" r="T20" b="T21"/>
              <a:pathLst>
                <a:path w="33" h="69">
                  <a:moveTo>
                    <a:pt x="29" y="68"/>
                  </a:moveTo>
                  <a:lnTo>
                    <a:pt x="29" y="68"/>
                  </a:lnTo>
                  <a:lnTo>
                    <a:pt x="0" y="49"/>
                  </a:lnTo>
                  <a:lnTo>
                    <a:pt x="2" y="0"/>
                  </a:lnTo>
                  <a:lnTo>
                    <a:pt x="32" y="15"/>
                  </a:lnTo>
                  <a:lnTo>
                    <a:pt x="29" y="68"/>
                  </a:lnTo>
                </a:path>
              </a:pathLst>
            </a:custGeom>
            <a:solidFill>
              <a:srgbClr val="9E0005"/>
            </a:solidFill>
            <a:ln w="9525" cap="rnd">
              <a:noFill/>
              <a:round/>
            </a:ln>
          </p:spPr>
          <p:txBody>
            <a:bodyPr/>
            <a:lstStyle/>
            <a:p>
              <a:endParaRPr lang="zh-CN" altLang="en-US"/>
            </a:p>
          </p:txBody>
        </p:sp>
        <p:sp>
          <p:nvSpPr>
            <p:cNvPr id="9499" name="Freeform 176"/>
            <p:cNvSpPr/>
            <p:nvPr/>
          </p:nvSpPr>
          <p:spPr bwMode="auto">
            <a:xfrm>
              <a:off x="2471" y="1853"/>
              <a:ext cx="69" cy="33"/>
            </a:xfrm>
            <a:custGeom>
              <a:avLst/>
              <a:gdLst>
                <a:gd name="T0" fmla="*/ 29 w 69"/>
                <a:gd name="T1" fmla="*/ 32 h 33"/>
                <a:gd name="T2" fmla="*/ 29 w 69"/>
                <a:gd name="T3" fmla="*/ 32 h 33"/>
                <a:gd name="T4" fmla="*/ 0 w 69"/>
                <a:gd name="T5" fmla="*/ 17 h 33"/>
                <a:gd name="T6" fmla="*/ 35 w 69"/>
                <a:gd name="T7" fmla="*/ 0 h 33"/>
                <a:gd name="T8" fmla="*/ 68 w 69"/>
                <a:gd name="T9" fmla="*/ 14 h 33"/>
                <a:gd name="T10" fmla="*/ 29 w 69"/>
                <a:gd name="T11" fmla="*/ 32 h 33"/>
                <a:gd name="T12" fmla="*/ 0 60000 65536"/>
                <a:gd name="T13" fmla="*/ 0 60000 65536"/>
                <a:gd name="T14" fmla="*/ 0 60000 65536"/>
                <a:gd name="T15" fmla="*/ 0 60000 65536"/>
                <a:gd name="T16" fmla="*/ 0 60000 65536"/>
                <a:gd name="T17" fmla="*/ 0 60000 65536"/>
                <a:gd name="T18" fmla="*/ 0 w 69"/>
                <a:gd name="T19" fmla="*/ 0 h 33"/>
                <a:gd name="T20" fmla="*/ 69 w 69"/>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69" h="33">
                  <a:moveTo>
                    <a:pt x="29" y="32"/>
                  </a:moveTo>
                  <a:lnTo>
                    <a:pt x="29" y="32"/>
                  </a:lnTo>
                  <a:lnTo>
                    <a:pt x="0" y="17"/>
                  </a:lnTo>
                  <a:lnTo>
                    <a:pt x="35" y="0"/>
                  </a:lnTo>
                  <a:lnTo>
                    <a:pt x="68" y="14"/>
                  </a:lnTo>
                  <a:lnTo>
                    <a:pt x="29" y="32"/>
                  </a:lnTo>
                </a:path>
              </a:pathLst>
            </a:custGeom>
            <a:solidFill>
              <a:srgbClr val="CF5C82"/>
            </a:solidFill>
            <a:ln w="9525" cap="rnd">
              <a:noFill/>
              <a:round/>
            </a:ln>
          </p:spPr>
          <p:txBody>
            <a:bodyPr/>
            <a:lstStyle/>
            <a:p>
              <a:endParaRPr lang="zh-CN" altLang="en-US"/>
            </a:p>
          </p:txBody>
        </p:sp>
        <p:grpSp>
          <p:nvGrpSpPr>
            <p:cNvPr id="28" name="Group 177"/>
            <p:cNvGrpSpPr/>
            <p:nvPr/>
          </p:nvGrpSpPr>
          <p:grpSpPr bwMode="auto">
            <a:xfrm>
              <a:off x="2375" y="1880"/>
              <a:ext cx="123" cy="112"/>
              <a:chOff x="2375" y="1880"/>
              <a:chExt cx="123" cy="112"/>
            </a:xfrm>
          </p:grpSpPr>
          <p:sp>
            <p:nvSpPr>
              <p:cNvPr id="9546" name="Freeform 178"/>
              <p:cNvSpPr/>
              <p:nvPr/>
            </p:nvSpPr>
            <p:spPr bwMode="auto">
              <a:xfrm>
                <a:off x="2412" y="1895"/>
                <a:ext cx="86" cy="97"/>
              </a:xfrm>
              <a:custGeom>
                <a:avLst/>
                <a:gdLst>
                  <a:gd name="T0" fmla="*/ 0 w 86"/>
                  <a:gd name="T1" fmla="*/ 96 h 97"/>
                  <a:gd name="T2" fmla="*/ 0 w 86"/>
                  <a:gd name="T3" fmla="*/ 96 h 97"/>
                  <a:gd name="T4" fmla="*/ 2 w 86"/>
                  <a:gd name="T5" fmla="*/ 43 h 97"/>
                  <a:gd name="T6" fmla="*/ 85 w 86"/>
                  <a:gd name="T7" fmla="*/ 0 h 97"/>
                  <a:gd name="T8" fmla="*/ 82 w 86"/>
                  <a:gd name="T9" fmla="*/ 49 h 97"/>
                  <a:gd name="T10" fmla="*/ 0 w 86"/>
                  <a:gd name="T11" fmla="*/ 96 h 97"/>
                  <a:gd name="T12" fmla="*/ 0 60000 65536"/>
                  <a:gd name="T13" fmla="*/ 0 60000 65536"/>
                  <a:gd name="T14" fmla="*/ 0 60000 65536"/>
                  <a:gd name="T15" fmla="*/ 0 60000 65536"/>
                  <a:gd name="T16" fmla="*/ 0 60000 65536"/>
                  <a:gd name="T17" fmla="*/ 0 60000 65536"/>
                  <a:gd name="T18" fmla="*/ 0 w 86"/>
                  <a:gd name="T19" fmla="*/ 0 h 97"/>
                  <a:gd name="T20" fmla="*/ 86 w 86"/>
                  <a:gd name="T21" fmla="*/ 97 h 97"/>
                </a:gdLst>
                <a:ahLst/>
                <a:cxnLst>
                  <a:cxn ang="T12">
                    <a:pos x="T0" y="T1"/>
                  </a:cxn>
                  <a:cxn ang="T13">
                    <a:pos x="T2" y="T3"/>
                  </a:cxn>
                  <a:cxn ang="T14">
                    <a:pos x="T4" y="T5"/>
                  </a:cxn>
                  <a:cxn ang="T15">
                    <a:pos x="T6" y="T7"/>
                  </a:cxn>
                  <a:cxn ang="T16">
                    <a:pos x="T8" y="T9"/>
                  </a:cxn>
                  <a:cxn ang="T17">
                    <a:pos x="T10" y="T11"/>
                  </a:cxn>
                </a:cxnLst>
                <a:rect l="T18" t="T19" r="T20" b="T21"/>
                <a:pathLst>
                  <a:path w="86" h="97">
                    <a:moveTo>
                      <a:pt x="0" y="96"/>
                    </a:moveTo>
                    <a:lnTo>
                      <a:pt x="0" y="96"/>
                    </a:lnTo>
                    <a:lnTo>
                      <a:pt x="2" y="43"/>
                    </a:lnTo>
                    <a:lnTo>
                      <a:pt x="85" y="0"/>
                    </a:lnTo>
                    <a:lnTo>
                      <a:pt x="82" y="49"/>
                    </a:lnTo>
                    <a:lnTo>
                      <a:pt x="0" y="96"/>
                    </a:lnTo>
                  </a:path>
                </a:pathLst>
              </a:custGeom>
              <a:solidFill>
                <a:srgbClr val="BB1A50"/>
              </a:solidFill>
              <a:ln w="9525" cap="rnd">
                <a:noFill/>
                <a:round/>
              </a:ln>
            </p:spPr>
            <p:txBody>
              <a:bodyPr/>
              <a:lstStyle/>
              <a:p>
                <a:endParaRPr lang="zh-CN" altLang="en-US"/>
              </a:p>
            </p:txBody>
          </p:sp>
          <p:sp>
            <p:nvSpPr>
              <p:cNvPr id="9547" name="Freeform 179"/>
              <p:cNvSpPr/>
              <p:nvPr/>
            </p:nvSpPr>
            <p:spPr bwMode="auto">
              <a:xfrm>
                <a:off x="2375" y="1924"/>
                <a:ext cx="38" cy="68"/>
              </a:xfrm>
              <a:custGeom>
                <a:avLst/>
                <a:gdLst>
                  <a:gd name="T0" fmla="*/ 34 w 38"/>
                  <a:gd name="T1" fmla="*/ 67 h 68"/>
                  <a:gd name="T2" fmla="*/ 34 w 38"/>
                  <a:gd name="T3" fmla="*/ 67 h 68"/>
                  <a:gd name="T4" fmla="*/ 0 w 38"/>
                  <a:gd name="T5" fmla="*/ 51 h 68"/>
                  <a:gd name="T6" fmla="*/ 2 w 38"/>
                  <a:gd name="T7" fmla="*/ 0 h 68"/>
                  <a:gd name="T8" fmla="*/ 37 w 38"/>
                  <a:gd name="T9" fmla="*/ 15 h 68"/>
                  <a:gd name="T10" fmla="*/ 34 w 38"/>
                  <a:gd name="T11" fmla="*/ 67 h 68"/>
                  <a:gd name="T12" fmla="*/ 0 60000 65536"/>
                  <a:gd name="T13" fmla="*/ 0 60000 65536"/>
                  <a:gd name="T14" fmla="*/ 0 60000 65536"/>
                  <a:gd name="T15" fmla="*/ 0 60000 65536"/>
                  <a:gd name="T16" fmla="*/ 0 60000 65536"/>
                  <a:gd name="T17" fmla="*/ 0 60000 65536"/>
                  <a:gd name="T18" fmla="*/ 0 w 38"/>
                  <a:gd name="T19" fmla="*/ 0 h 68"/>
                  <a:gd name="T20" fmla="*/ 38 w 38"/>
                  <a:gd name="T21" fmla="*/ 68 h 68"/>
                </a:gdLst>
                <a:ahLst/>
                <a:cxnLst>
                  <a:cxn ang="T12">
                    <a:pos x="T0" y="T1"/>
                  </a:cxn>
                  <a:cxn ang="T13">
                    <a:pos x="T2" y="T3"/>
                  </a:cxn>
                  <a:cxn ang="T14">
                    <a:pos x="T4" y="T5"/>
                  </a:cxn>
                  <a:cxn ang="T15">
                    <a:pos x="T6" y="T7"/>
                  </a:cxn>
                  <a:cxn ang="T16">
                    <a:pos x="T8" y="T9"/>
                  </a:cxn>
                  <a:cxn ang="T17">
                    <a:pos x="T10" y="T11"/>
                  </a:cxn>
                </a:cxnLst>
                <a:rect l="T18" t="T19" r="T20" b="T21"/>
                <a:pathLst>
                  <a:path w="38" h="68">
                    <a:moveTo>
                      <a:pt x="34" y="67"/>
                    </a:moveTo>
                    <a:lnTo>
                      <a:pt x="34" y="67"/>
                    </a:lnTo>
                    <a:lnTo>
                      <a:pt x="0" y="51"/>
                    </a:lnTo>
                    <a:lnTo>
                      <a:pt x="2" y="0"/>
                    </a:lnTo>
                    <a:lnTo>
                      <a:pt x="37" y="15"/>
                    </a:lnTo>
                    <a:lnTo>
                      <a:pt x="34" y="67"/>
                    </a:lnTo>
                  </a:path>
                </a:pathLst>
              </a:custGeom>
              <a:solidFill>
                <a:srgbClr val="9E0005"/>
              </a:solidFill>
              <a:ln w="9525" cap="rnd">
                <a:noFill/>
                <a:round/>
              </a:ln>
            </p:spPr>
            <p:txBody>
              <a:bodyPr/>
              <a:lstStyle/>
              <a:p>
                <a:endParaRPr lang="zh-CN" altLang="en-US"/>
              </a:p>
            </p:txBody>
          </p:sp>
          <p:sp>
            <p:nvSpPr>
              <p:cNvPr id="9548" name="Freeform 180"/>
              <p:cNvSpPr/>
              <p:nvPr/>
            </p:nvSpPr>
            <p:spPr bwMode="auto">
              <a:xfrm>
                <a:off x="2377" y="1880"/>
                <a:ext cx="121" cy="57"/>
              </a:xfrm>
              <a:custGeom>
                <a:avLst/>
                <a:gdLst>
                  <a:gd name="T0" fmla="*/ 36 w 121"/>
                  <a:gd name="T1" fmla="*/ 56 h 57"/>
                  <a:gd name="T2" fmla="*/ 36 w 121"/>
                  <a:gd name="T3" fmla="*/ 56 h 57"/>
                  <a:gd name="T4" fmla="*/ 0 w 121"/>
                  <a:gd name="T5" fmla="*/ 38 h 57"/>
                  <a:gd name="T6" fmla="*/ 86 w 121"/>
                  <a:gd name="T7" fmla="*/ 0 h 57"/>
                  <a:gd name="T8" fmla="*/ 120 w 121"/>
                  <a:gd name="T9" fmla="*/ 15 h 57"/>
                  <a:gd name="T10" fmla="*/ 36 w 121"/>
                  <a:gd name="T11" fmla="*/ 56 h 57"/>
                  <a:gd name="T12" fmla="*/ 0 60000 65536"/>
                  <a:gd name="T13" fmla="*/ 0 60000 65536"/>
                  <a:gd name="T14" fmla="*/ 0 60000 65536"/>
                  <a:gd name="T15" fmla="*/ 0 60000 65536"/>
                  <a:gd name="T16" fmla="*/ 0 60000 65536"/>
                  <a:gd name="T17" fmla="*/ 0 60000 65536"/>
                  <a:gd name="T18" fmla="*/ 0 w 121"/>
                  <a:gd name="T19" fmla="*/ 0 h 57"/>
                  <a:gd name="T20" fmla="*/ 121 w 121"/>
                  <a:gd name="T21" fmla="*/ 57 h 57"/>
                </a:gdLst>
                <a:ahLst/>
                <a:cxnLst>
                  <a:cxn ang="T12">
                    <a:pos x="T0" y="T1"/>
                  </a:cxn>
                  <a:cxn ang="T13">
                    <a:pos x="T2" y="T3"/>
                  </a:cxn>
                  <a:cxn ang="T14">
                    <a:pos x="T4" y="T5"/>
                  </a:cxn>
                  <a:cxn ang="T15">
                    <a:pos x="T6" y="T7"/>
                  </a:cxn>
                  <a:cxn ang="T16">
                    <a:pos x="T8" y="T9"/>
                  </a:cxn>
                  <a:cxn ang="T17">
                    <a:pos x="T10" y="T11"/>
                  </a:cxn>
                </a:cxnLst>
                <a:rect l="T18" t="T19" r="T20" b="T21"/>
                <a:pathLst>
                  <a:path w="121" h="57">
                    <a:moveTo>
                      <a:pt x="36" y="56"/>
                    </a:moveTo>
                    <a:lnTo>
                      <a:pt x="36" y="56"/>
                    </a:lnTo>
                    <a:lnTo>
                      <a:pt x="0" y="38"/>
                    </a:lnTo>
                    <a:lnTo>
                      <a:pt x="86" y="0"/>
                    </a:lnTo>
                    <a:lnTo>
                      <a:pt x="120" y="15"/>
                    </a:lnTo>
                    <a:lnTo>
                      <a:pt x="36" y="56"/>
                    </a:lnTo>
                  </a:path>
                </a:pathLst>
              </a:custGeom>
              <a:solidFill>
                <a:srgbClr val="CF5C82"/>
              </a:solidFill>
              <a:ln w="9525" cap="rnd">
                <a:noFill/>
                <a:round/>
              </a:ln>
            </p:spPr>
            <p:txBody>
              <a:bodyPr/>
              <a:lstStyle/>
              <a:p>
                <a:endParaRPr lang="zh-CN" altLang="en-US"/>
              </a:p>
            </p:txBody>
          </p:sp>
        </p:grpSp>
        <p:grpSp>
          <p:nvGrpSpPr>
            <p:cNvPr id="29" name="Group 181"/>
            <p:cNvGrpSpPr/>
            <p:nvPr/>
          </p:nvGrpSpPr>
          <p:grpSpPr bwMode="auto">
            <a:xfrm>
              <a:off x="2275" y="1925"/>
              <a:ext cx="131" cy="121"/>
              <a:chOff x="2275" y="1925"/>
              <a:chExt cx="131" cy="121"/>
            </a:xfrm>
          </p:grpSpPr>
          <p:sp>
            <p:nvSpPr>
              <p:cNvPr id="9543" name="Freeform 182"/>
              <p:cNvSpPr/>
              <p:nvPr/>
            </p:nvSpPr>
            <p:spPr bwMode="auto">
              <a:xfrm>
                <a:off x="2315" y="1945"/>
                <a:ext cx="91" cy="100"/>
              </a:xfrm>
              <a:custGeom>
                <a:avLst/>
                <a:gdLst>
                  <a:gd name="T0" fmla="*/ 0 w 91"/>
                  <a:gd name="T1" fmla="*/ 99 h 100"/>
                  <a:gd name="T2" fmla="*/ 0 w 91"/>
                  <a:gd name="T3" fmla="*/ 99 h 100"/>
                  <a:gd name="T4" fmla="*/ 2 w 91"/>
                  <a:gd name="T5" fmla="*/ 46 h 100"/>
                  <a:gd name="T6" fmla="*/ 90 w 91"/>
                  <a:gd name="T7" fmla="*/ 0 h 100"/>
                  <a:gd name="T8" fmla="*/ 87 w 91"/>
                  <a:gd name="T9" fmla="*/ 52 h 100"/>
                  <a:gd name="T10" fmla="*/ 0 w 91"/>
                  <a:gd name="T11" fmla="*/ 99 h 100"/>
                  <a:gd name="T12" fmla="*/ 0 60000 65536"/>
                  <a:gd name="T13" fmla="*/ 0 60000 65536"/>
                  <a:gd name="T14" fmla="*/ 0 60000 65536"/>
                  <a:gd name="T15" fmla="*/ 0 60000 65536"/>
                  <a:gd name="T16" fmla="*/ 0 60000 65536"/>
                  <a:gd name="T17" fmla="*/ 0 60000 65536"/>
                  <a:gd name="T18" fmla="*/ 0 w 91"/>
                  <a:gd name="T19" fmla="*/ 0 h 100"/>
                  <a:gd name="T20" fmla="*/ 91 w 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1" h="100">
                    <a:moveTo>
                      <a:pt x="0" y="99"/>
                    </a:moveTo>
                    <a:lnTo>
                      <a:pt x="0" y="99"/>
                    </a:lnTo>
                    <a:lnTo>
                      <a:pt x="2" y="46"/>
                    </a:lnTo>
                    <a:lnTo>
                      <a:pt x="90" y="0"/>
                    </a:lnTo>
                    <a:lnTo>
                      <a:pt x="87" y="52"/>
                    </a:lnTo>
                    <a:lnTo>
                      <a:pt x="0" y="99"/>
                    </a:lnTo>
                  </a:path>
                </a:pathLst>
              </a:custGeom>
              <a:solidFill>
                <a:srgbClr val="BB1A50"/>
              </a:solidFill>
              <a:ln w="9525" cap="rnd">
                <a:noFill/>
                <a:round/>
              </a:ln>
            </p:spPr>
            <p:txBody>
              <a:bodyPr/>
              <a:lstStyle/>
              <a:p>
                <a:endParaRPr lang="zh-CN" altLang="en-US"/>
              </a:p>
            </p:txBody>
          </p:sp>
          <p:sp>
            <p:nvSpPr>
              <p:cNvPr id="9544" name="Freeform 183"/>
              <p:cNvSpPr/>
              <p:nvPr/>
            </p:nvSpPr>
            <p:spPr bwMode="auto">
              <a:xfrm>
                <a:off x="2275" y="1978"/>
                <a:ext cx="41" cy="68"/>
              </a:xfrm>
              <a:custGeom>
                <a:avLst/>
                <a:gdLst>
                  <a:gd name="T0" fmla="*/ 37 w 41"/>
                  <a:gd name="T1" fmla="*/ 67 h 68"/>
                  <a:gd name="T2" fmla="*/ 37 w 41"/>
                  <a:gd name="T3" fmla="*/ 67 h 68"/>
                  <a:gd name="T4" fmla="*/ 0 w 41"/>
                  <a:gd name="T5" fmla="*/ 51 h 68"/>
                  <a:gd name="T6" fmla="*/ 2 w 41"/>
                  <a:gd name="T7" fmla="*/ 0 h 68"/>
                  <a:gd name="T8" fmla="*/ 40 w 41"/>
                  <a:gd name="T9" fmla="*/ 15 h 68"/>
                  <a:gd name="T10" fmla="*/ 37 w 41"/>
                  <a:gd name="T11" fmla="*/ 67 h 68"/>
                  <a:gd name="T12" fmla="*/ 0 60000 65536"/>
                  <a:gd name="T13" fmla="*/ 0 60000 65536"/>
                  <a:gd name="T14" fmla="*/ 0 60000 65536"/>
                  <a:gd name="T15" fmla="*/ 0 60000 65536"/>
                  <a:gd name="T16" fmla="*/ 0 60000 65536"/>
                  <a:gd name="T17" fmla="*/ 0 60000 65536"/>
                  <a:gd name="T18" fmla="*/ 0 w 41"/>
                  <a:gd name="T19" fmla="*/ 0 h 68"/>
                  <a:gd name="T20" fmla="*/ 41 w 41"/>
                  <a:gd name="T21" fmla="*/ 68 h 68"/>
                </a:gdLst>
                <a:ahLst/>
                <a:cxnLst>
                  <a:cxn ang="T12">
                    <a:pos x="T0" y="T1"/>
                  </a:cxn>
                  <a:cxn ang="T13">
                    <a:pos x="T2" y="T3"/>
                  </a:cxn>
                  <a:cxn ang="T14">
                    <a:pos x="T4" y="T5"/>
                  </a:cxn>
                  <a:cxn ang="T15">
                    <a:pos x="T6" y="T7"/>
                  </a:cxn>
                  <a:cxn ang="T16">
                    <a:pos x="T8" y="T9"/>
                  </a:cxn>
                  <a:cxn ang="T17">
                    <a:pos x="T10" y="T11"/>
                  </a:cxn>
                </a:cxnLst>
                <a:rect l="T18" t="T19" r="T20" b="T21"/>
                <a:pathLst>
                  <a:path w="41" h="68">
                    <a:moveTo>
                      <a:pt x="37" y="67"/>
                    </a:moveTo>
                    <a:lnTo>
                      <a:pt x="37" y="67"/>
                    </a:lnTo>
                    <a:lnTo>
                      <a:pt x="0" y="51"/>
                    </a:lnTo>
                    <a:lnTo>
                      <a:pt x="2" y="0"/>
                    </a:lnTo>
                    <a:lnTo>
                      <a:pt x="40" y="15"/>
                    </a:lnTo>
                    <a:lnTo>
                      <a:pt x="37" y="67"/>
                    </a:lnTo>
                  </a:path>
                </a:pathLst>
              </a:custGeom>
              <a:solidFill>
                <a:srgbClr val="9E0005"/>
              </a:solidFill>
              <a:ln w="9525" cap="rnd">
                <a:noFill/>
                <a:round/>
              </a:ln>
            </p:spPr>
            <p:txBody>
              <a:bodyPr/>
              <a:lstStyle/>
              <a:p>
                <a:endParaRPr lang="zh-CN" altLang="en-US"/>
              </a:p>
            </p:txBody>
          </p:sp>
          <p:sp>
            <p:nvSpPr>
              <p:cNvPr id="9545" name="Freeform 184"/>
              <p:cNvSpPr/>
              <p:nvPr/>
            </p:nvSpPr>
            <p:spPr bwMode="auto">
              <a:xfrm>
                <a:off x="2278" y="1925"/>
                <a:ext cx="128" cy="66"/>
              </a:xfrm>
              <a:custGeom>
                <a:avLst/>
                <a:gdLst>
                  <a:gd name="T0" fmla="*/ 38 w 128"/>
                  <a:gd name="T1" fmla="*/ 65 h 66"/>
                  <a:gd name="T2" fmla="*/ 38 w 128"/>
                  <a:gd name="T3" fmla="*/ 65 h 66"/>
                  <a:gd name="T4" fmla="*/ 0 w 128"/>
                  <a:gd name="T5" fmla="*/ 46 h 66"/>
                  <a:gd name="T6" fmla="*/ 91 w 128"/>
                  <a:gd name="T7" fmla="*/ 0 h 66"/>
                  <a:gd name="T8" fmla="*/ 127 w 128"/>
                  <a:gd name="T9" fmla="*/ 18 h 66"/>
                  <a:gd name="T10" fmla="*/ 38 w 128"/>
                  <a:gd name="T11" fmla="*/ 65 h 66"/>
                  <a:gd name="T12" fmla="*/ 0 60000 65536"/>
                  <a:gd name="T13" fmla="*/ 0 60000 65536"/>
                  <a:gd name="T14" fmla="*/ 0 60000 65536"/>
                  <a:gd name="T15" fmla="*/ 0 60000 65536"/>
                  <a:gd name="T16" fmla="*/ 0 60000 65536"/>
                  <a:gd name="T17" fmla="*/ 0 60000 65536"/>
                  <a:gd name="T18" fmla="*/ 0 w 128"/>
                  <a:gd name="T19" fmla="*/ 0 h 66"/>
                  <a:gd name="T20" fmla="*/ 128 w 128"/>
                  <a:gd name="T21" fmla="*/ 66 h 66"/>
                </a:gdLst>
                <a:ahLst/>
                <a:cxnLst>
                  <a:cxn ang="T12">
                    <a:pos x="T0" y="T1"/>
                  </a:cxn>
                  <a:cxn ang="T13">
                    <a:pos x="T2" y="T3"/>
                  </a:cxn>
                  <a:cxn ang="T14">
                    <a:pos x="T4" y="T5"/>
                  </a:cxn>
                  <a:cxn ang="T15">
                    <a:pos x="T6" y="T7"/>
                  </a:cxn>
                  <a:cxn ang="T16">
                    <a:pos x="T8" y="T9"/>
                  </a:cxn>
                  <a:cxn ang="T17">
                    <a:pos x="T10" y="T11"/>
                  </a:cxn>
                </a:cxnLst>
                <a:rect l="T18" t="T19" r="T20" b="T21"/>
                <a:pathLst>
                  <a:path w="128" h="66">
                    <a:moveTo>
                      <a:pt x="38" y="65"/>
                    </a:moveTo>
                    <a:lnTo>
                      <a:pt x="38" y="65"/>
                    </a:lnTo>
                    <a:lnTo>
                      <a:pt x="0" y="46"/>
                    </a:lnTo>
                    <a:lnTo>
                      <a:pt x="91" y="0"/>
                    </a:lnTo>
                    <a:lnTo>
                      <a:pt x="127" y="18"/>
                    </a:lnTo>
                    <a:lnTo>
                      <a:pt x="38" y="65"/>
                    </a:lnTo>
                  </a:path>
                </a:pathLst>
              </a:custGeom>
              <a:solidFill>
                <a:srgbClr val="CF5C82"/>
              </a:solidFill>
              <a:ln w="9525" cap="rnd">
                <a:noFill/>
                <a:round/>
              </a:ln>
            </p:spPr>
            <p:txBody>
              <a:bodyPr/>
              <a:lstStyle/>
              <a:p>
                <a:endParaRPr lang="zh-CN" altLang="en-US"/>
              </a:p>
            </p:txBody>
          </p:sp>
        </p:grpSp>
        <p:grpSp>
          <p:nvGrpSpPr>
            <p:cNvPr id="30" name="Group 185"/>
            <p:cNvGrpSpPr/>
            <p:nvPr/>
          </p:nvGrpSpPr>
          <p:grpSpPr bwMode="auto">
            <a:xfrm>
              <a:off x="2167" y="1984"/>
              <a:ext cx="144" cy="123"/>
              <a:chOff x="2167" y="1984"/>
              <a:chExt cx="144" cy="123"/>
            </a:xfrm>
          </p:grpSpPr>
          <p:sp>
            <p:nvSpPr>
              <p:cNvPr id="9540" name="Freeform 186"/>
              <p:cNvSpPr/>
              <p:nvPr/>
            </p:nvSpPr>
            <p:spPr bwMode="auto">
              <a:xfrm>
                <a:off x="2208" y="2000"/>
                <a:ext cx="102" cy="107"/>
              </a:xfrm>
              <a:custGeom>
                <a:avLst/>
                <a:gdLst>
                  <a:gd name="T0" fmla="*/ 0 w 102"/>
                  <a:gd name="T1" fmla="*/ 106 h 107"/>
                  <a:gd name="T2" fmla="*/ 0 w 102"/>
                  <a:gd name="T3" fmla="*/ 106 h 107"/>
                  <a:gd name="T4" fmla="*/ 2 w 102"/>
                  <a:gd name="T5" fmla="*/ 49 h 107"/>
                  <a:gd name="T6" fmla="*/ 101 w 102"/>
                  <a:gd name="T7" fmla="*/ 0 h 107"/>
                  <a:gd name="T8" fmla="*/ 98 w 102"/>
                  <a:gd name="T9" fmla="*/ 53 h 107"/>
                  <a:gd name="T10" fmla="*/ 0 w 102"/>
                  <a:gd name="T11" fmla="*/ 106 h 107"/>
                  <a:gd name="T12" fmla="*/ 0 60000 65536"/>
                  <a:gd name="T13" fmla="*/ 0 60000 65536"/>
                  <a:gd name="T14" fmla="*/ 0 60000 65536"/>
                  <a:gd name="T15" fmla="*/ 0 60000 65536"/>
                  <a:gd name="T16" fmla="*/ 0 60000 65536"/>
                  <a:gd name="T17" fmla="*/ 0 60000 65536"/>
                  <a:gd name="T18" fmla="*/ 0 w 102"/>
                  <a:gd name="T19" fmla="*/ 0 h 107"/>
                  <a:gd name="T20" fmla="*/ 102 w 102"/>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02" h="107">
                    <a:moveTo>
                      <a:pt x="0" y="106"/>
                    </a:moveTo>
                    <a:lnTo>
                      <a:pt x="0" y="106"/>
                    </a:lnTo>
                    <a:lnTo>
                      <a:pt x="2" y="49"/>
                    </a:lnTo>
                    <a:lnTo>
                      <a:pt x="101" y="0"/>
                    </a:lnTo>
                    <a:lnTo>
                      <a:pt x="98" y="53"/>
                    </a:lnTo>
                    <a:lnTo>
                      <a:pt x="0" y="106"/>
                    </a:lnTo>
                  </a:path>
                </a:pathLst>
              </a:custGeom>
              <a:solidFill>
                <a:srgbClr val="BB1A50"/>
              </a:solidFill>
              <a:ln w="9525" cap="rnd">
                <a:noFill/>
                <a:round/>
              </a:ln>
            </p:spPr>
            <p:txBody>
              <a:bodyPr/>
              <a:lstStyle/>
              <a:p>
                <a:endParaRPr lang="zh-CN" altLang="en-US"/>
              </a:p>
            </p:txBody>
          </p:sp>
          <p:sp>
            <p:nvSpPr>
              <p:cNvPr id="9541" name="Freeform 187"/>
              <p:cNvSpPr/>
              <p:nvPr/>
            </p:nvSpPr>
            <p:spPr bwMode="auto">
              <a:xfrm>
                <a:off x="2167" y="2036"/>
                <a:ext cx="43" cy="71"/>
              </a:xfrm>
              <a:custGeom>
                <a:avLst/>
                <a:gdLst>
                  <a:gd name="T0" fmla="*/ 39 w 43"/>
                  <a:gd name="T1" fmla="*/ 70 h 71"/>
                  <a:gd name="T2" fmla="*/ 39 w 43"/>
                  <a:gd name="T3" fmla="*/ 70 h 71"/>
                  <a:gd name="T4" fmla="*/ 0 w 43"/>
                  <a:gd name="T5" fmla="*/ 54 h 71"/>
                  <a:gd name="T6" fmla="*/ 0 w 43"/>
                  <a:gd name="T7" fmla="*/ 0 h 71"/>
                  <a:gd name="T8" fmla="*/ 42 w 43"/>
                  <a:gd name="T9" fmla="*/ 15 h 71"/>
                  <a:gd name="T10" fmla="*/ 39 w 43"/>
                  <a:gd name="T11" fmla="*/ 70 h 71"/>
                  <a:gd name="T12" fmla="*/ 0 60000 65536"/>
                  <a:gd name="T13" fmla="*/ 0 60000 65536"/>
                  <a:gd name="T14" fmla="*/ 0 60000 65536"/>
                  <a:gd name="T15" fmla="*/ 0 60000 65536"/>
                  <a:gd name="T16" fmla="*/ 0 60000 65536"/>
                  <a:gd name="T17" fmla="*/ 0 60000 65536"/>
                  <a:gd name="T18" fmla="*/ 0 w 43"/>
                  <a:gd name="T19" fmla="*/ 0 h 71"/>
                  <a:gd name="T20" fmla="*/ 43 w 43"/>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43" h="71">
                    <a:moveTo>
                      <a:pt x="39" y="70"/>
                    </a:moveTo>
                    <a:lnTo>
                      <a:pt x="39" y="70"/>
                    </a:lnTo>
                    <a:lnTo>
                      <a:pt x="0" y="54"/>
                    </a:lnTo>
                    <a:lnTo>
                      <a:pt x="0" y="0"/>
                    </a:lnTo>
                    <a:lnTo>
                      <a:pt x="42" y="15"/>
                    </a:lnTo>
                    <a:lnTo>
                      <a:pt x="39" y="70"/>
                    </a:lnTo>
                  </a:path>
                </a:pathLst>
              </a:custGeom>
              <a:solidFill>
                <a:srgbClr val="9E0005"/>
              </a:solidFill>
              <a:ln w="9525" cap="rnd">
                <a:noFill/>
                <a:round/>
              </a:ln>
            </p:spPr>
            <p:txBody>
              <a:bodyPr/>
              <a:lstStyle/>
              <a:p>
                <a:endParaRPr lang="zh-CN" altLang="en-US"/>
              </a:p>
            </p:txBody>
          </p:sp>
          <p:sp>
            <p:nvSpPr>
              <p:cNvPr id="9542" name="Freeform 188"/>
              <p:cNvSpPr/>
              <p:nvPr/>
            </p:nvSpPr>
            <p:spPr bwMode="auto">
              <a:xfrm>
                <a:off x="2167" y="1984"/>
                <a:ext cx="144" cy="64"/>
              </a:xfrm>
              <a:custGeom>
                <a:avLst/>
                <a:gdLst>
                  <a:gd name="T0" fmla="*/ 44 w 144"/>
                  <a:gd name="T1" fmla="*/ 63 h 64"/>
                  <a:gd name="T2" fmla="*/ 44 w 144"/>
                  <a:gd name="T3" fmla="*/ 63 h 64"/>
                  <a:gd name="T4" fmla="*/ 0 w 144"/>
                  <a:gd name="T5" fmla="*/ 47 h 64"/>
                  <a:gd name="T6" fmla="*/ 101 w 144"/>
                  <a:gd name="T7" fmla="*/ 0 h 64"/>
                  <a:gd name="T8" fmla="*/ 143 w 144"/>
                  <a:gd name="T9" fmla="*/ 15 h 64"/>
                  <a:gd name="T10" fmla="*/ 44 w 144"/>
                  <a:gd name="T11" fmla="*/ 63 h 64"/>
                  <a:gd name="T12" fmla="*/ 0 60000 65536"/>
                  <a:gd name="T13" fmla="*/ 0 60000 65536"/>
                  <a:gd name="T14" fmla="*/ 0 60000 65536"/>
                  <a:gd name="T15" fmla="*/ 0 60000 65536"/>
                  <a:gd name="T16" fmla="*/ 0 60000 65536"/>
                  <a:gd name="T17" fmla="*/ 0 60000 65536"/>
                  <a:gd name="T18" fmla="*/ 0 w 144"/>
                  <a:gd name="T19" fmla="*/ 0 h 64"/>
                  <a:gd name="T20" fmla="*/ 144 w 144"/>
                  <a:gd name="T21" fmla="*/ 64 h 64"/>
                </a:gdLst>
                <a:ahLst/>
                <a:cxnLst>
                  <a:cxn ang="T12">
                    <a:pos x="T0" y="T1"/>
                  </a:cxn>
                  <a:cxn ang="T13">
                    <a:pos x="T2" y="T3"/>
                  </a:cxn>
                  <a:cxn ang="T14">
                    <a:pos x="T4" y="T5"/>
                  </a:cxn>
                  <a:cxn ang="T15">
                    <a:pos x="T6" y="T7"/>
                  </a:cxn>
                  <a:cxn ang="T16">
                    <a:pos x="T8" y="T9"/>
                  </a:cxn>
                  <a:cxn ang="T17">
                    <a:pos x="T10" y="T11"/>
                  </a:cxn>
                </a:cxnLst>
                <a:rect l="T18" t="T19" r="T20" b="T21"/>
                <a:pathLst>
                  <a:path w="144" h="64">
                    <a:moveTo>
                      <a:pt x="44" y="63"/>
                    </a:moveTo>
                    <a:lnTo>
                      <a:pt x="44" y="63"/>
                    </a:lnTo>
                    <a:lnTo>
                      <a:pt x="0" y="47"/>
                    </a:lnTo>
                    <a:lnTo>
                      <a:pt x="101" y="0"/>
                    </a:lnTo>
                    <a:lnTo>
                      <a:pt x="143" y="15"/>
                    </a:lnTo>
                    <a:lnTo>
                      <a:pt x="44" y="63"/>
                    </a:lnTo>
                  </a:path>
                </a:pathLst>
              </a:custGeom>
              <a:solidFill>
                <a:srgbClr val="CF5C82"/>
              </a:solidFill>
              <a:ln w="9525" cap="rnd">
                <a:noFill/>
                <a:round/>
              </a:ln>
            </p:spPr>
            <p:txBody>
              <a:bodyPr/>
              <a:lstStyle/>
              <a:p>
                <a:endParaRPr lang="zh-CN" altLang="en-US"/>
              </a:p>
            </p:txBody>
          </p:sp>
        </p:grpSp>
        <p:grpSp>
          <p:nvGrpSpPr>
            <p:cNvPr id="31" name="Group 189"/>
            <p:cNvGrpSpPr/>
            <p:nvPr/>
          </p:nvGrpSpPr>
          <p:grpSpPr bwMode="auto">
            <a:xfrm>
              <a:off x="2048" y="2039"/>
              <a:ext cx="157" cy="129"/>
              <a:chOff x="2048" y="2039"/>
              <a:chExt cx="157" cy="129"/>
            </a:xfrm>
          </p:grpSpPr>
          <p:sp>
            <p:nvSpPr>
              <p:cNvPr id="9537" name="Freeform 190"/>
              <p:cNvSpPr/>
              <p:nvPr/>
            </p:nvSpPr>
            <p:spPr bwMode="auto">
              <a:xfrm>
                <a:off x="2097" y="2058"/>
                <a:ext cx="108" cy="110"/>
              </a:xfrm>
              <a:custGeom>
                <a:avLst/>
                <a:gdLst>
                  <a:gd name="T0" fmla="*/ 0 w 108"/>
                  <a:gd name="T1" fmla="*/ 109 h 110"/>
                  <a:gd name="T2" fmla="*/ 0 w 108"/>
                  <a:gd name="T3" fmla="*/ 109 h 110"/>
                  <a:gd name="T4" fmla="*/ 2 w 108"/>
                  <a:gd name="T5" fmla="*/ 53 h 110"/>
                  <a:gd name="T6" fmla="*/ 107 w 108"/>
                  <a:gd name="T7" fmla="*/ 0 h 110"/>
                  <a:gd name="T8" fmla="*/ 104 w 108"/>
                  <a:gd name="T9" fmla="*/ 53 h 110"/>
                  <a:gd name="T10" fmla="*/ 0 w 108"/>
                  <a:gd name="T11" fmla="*/ 109 h 110"/>
                  <a:gd name="T12" fmla="*/ 0 60000 65536"/>
                  <a:gd name="T13" fmla="*/ 0 60000 65536"/>
                  <a:gd name="T14" fmla="*/ 0 60000 65536"/>
                  <a:gd name="T15" fmla="*/ 0 60000 65536"/>
                  <a:gd name="T16" fmla="*/ 0 60000 65536"/>
                  <a:gd name="T17" fmla="*/ 0 60000 65536"/>
                  <a:gd name="T18" fmla="*/ 0 w 108"/>
                  <a:gd name="T19" fmla="*/ 0 h 110"/>
                  <a:gd name="T20" fmla="*/ 108 w 108"/>
                  <a:gd name="T21" fmla="*/ 110 h 110"/>
                </a:gdLst>
                <a:ahLst/>
                <a:cxnLst>
                  <a:cxn ang="T12">
                    <a:pos x="T0" y="T1"/>
                  </a:cxn>
                  <a:cxn ang="T13">
                    <a:pos x="T2" y="T3"/>
                  </a:cxn>
                  <a:cxn ang="T14">
                    <a:pos x="T4" y="T5"/>
                  </a:cxn>
                  <a:cxn ang="T15">
                    <a:pos x="T6" y="T7"/>
                  </a:cxn>
                  <a:cxn ang="T16">
                    <a:pos x="T8" y="T9"/>
                  </a:cxn>
                  <a:cxn ang="T17">
                    <a:pos x="T10" y="T11"/>
                  </a:cxn>
                </a:cxnLst>
                <a:rect l="T18" t="T19" r="T20" b="T21"/>
                <a:pathLst>
                  <a:path w="108" h="110">
                    <a:moveTo>
                      <a:pt x="0" y="109"/>
                    </a:moveTo>
                    <a:lnTo>
                      <a:pt x="0" y="109"/>
                    </a:lnTo>
                    <a:lnTo>
                      <a:pt x="2" y="53"/>
                    </a:lnTo>
                    <a:lnTo>
                      <a:pt x="107" y="0"/>
                    </a:lnTo>
                    <a:lnTo>
                      <a:pt x="104" y="53"/>
                    </a:lnTo>
                    <a:lnTo>
                      <a:pt x="0" y="109"/>
                    </a:lnTo>
                  </a:path>
                </a:pathLst>
              </a:custGeom>
              <a:solidFill>
                <a:srgbClr val="BB1A50"/>
              </a:solidFill>
              <a:ln w="9525" cap="rnd">
                <a:noFill/>
                <a:round/>
              </a:ln>
            </p:spPr>
            <p:txBody>
              <a:bodyPr/>
              <a:lstStyle/>
              <a:p>
                <a:endParaRPr lang="zh-CN" altLang="en-US"/>
              </a:p>
            </p:txBody>
          </p:sp>
          <p:sp>
            <p:nvSpPr>
              <p:cNvPr id="9538" name="Freeform 191"/>
              <p:cNvSpPr/>
              <p:nvPr/>
            </p:nvSpPr>
            <p:spPr bwMode="auto">
              <a:xfrm>
                <a:off x="2051" y="2097"/>
                <a:ext cx="47" cy="71"/>
              </a:xfrm>
              <a:custGeom>
                <a:avLst/>
                <a:gdLst>
                  <a:gd name="T0" fmla="*/ 43 w 47"/>
                  <a:gd name="T1" fmla="*/ 70 h 71"/>
                  <a:gd name="T2" fmla="*/ 43 w 47"/>
                  <a:gd name="T3" fmla="*/ 70 h 71"/>
                  <a:gd name="T4" fmla="*/ 0 w 47"/>
                  <a:gd name="T5" fmla="*/ 57 h 71"/>
                  <a:gd name="T6" fmla="*/ 0 w 47"/>
                  <a:gd name="T7" fmla="*/ 0 h 71"/>
                  <a:gd name="T8" fmla="*/ 46 w 47"/>
                  <a:gd name="T9" fmla="*/ 15 h 71"/>
                  <a:gd name="T10" fmla="*/ 43 w 47"/>
                  <a:gd name="T11" fmla="*/ 70 h 71"/>
                  <a:gd name="T12" fmla="*/ 0 60000 65536"/>
                  <a:gd name="T13" fmla="*/ 0 60000 65536"/>
                  <a:gd name="T14" fmla="*/ 0 60000 65536"/>
                  <a:gd name="T15" fmla="*/ 0 60000 65536"/>
                  <a:gd name="T16" fmla="*/ 0 60000 65536"/>
                  <a:gd name="T17" fmla="*/ 0 60000 65536"/>
                  <a:gd name="T18" fmla="*/ 0 w 47"/>
                  <a:gd name="T19" fmla="*/ 0 h 71"/>
                  <a:gd name="T20" fmla="*/ 47 w 47"/>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47" h="71">
                    <a:moveTo>
                      <a:pt x="43" y="70"/>
                    </a:moveTo>
                    <a:lnTo>
                      <a:pt x="43" y="70"/>
                    </a:lnTo>
                    <a:lnTo>
                      <a:pt x="0" y="57"/>
                    </a:lnTo>
                    <a:lnTo>
                      <a:pt x="0" y="0"/>
                    </a:lnTo>
                    <a:lnTo>
                      <a:pt x="46" y="15"/>
                    </a:lnTo>
                    <a:lnTo>
                      <a:pt x="43" y="70"/>
                    </a:lnTo>
                  </a:path>
                </a:pathLst>
              </a:custGeom>
              <a:solidFill>
                <a:srgbClr val="9E0005"/>
              </a:solidFill>
              <a:ln w="9525" cap="rnd">
                <a:noFill/>
                <a:round/>
              </a:ln>
            </p:spPr>
            <p:txBody>
              <a:bodyPr/>
              <a:lstStyle/>
              <a:p>
                <a:endParaRPr lang="zh-CN" altLang="en-US"/>
              </a:p>
            </p:txBody>
          </p:sp>
          <p:sp>
            <p:nvSpPr>
              <p:cNvPr id="9539" name="Freeform 192"/>
              <p:cNvSpPr/>
              <p:nvPr/>
            </p:nvSpPr>
            <p:spPr bwMode="auto">
              <a:xfrm>
                <a:off x="2048" y="2039"/>
                <a:ext cx="157" cy="71"/>
              </a:xfrm>
              <a:custGeom>
                <a:avLst/>
                <a:gdLst>
                  <a:gd name="T0" fmla="*/ 50 w 157"/>
                  <a:gd name="T1" fmla="*/ 70 h 71"/>
                  <a:gd name="T2" fmla="*/ 50 w 157"/>
                  <a:gd name="T3" fmla="*/ 70 h 71"/>
                  <a:gd name="T4" fmla="*/ 0 w 157"/>
                  <a:gd name="T5" fmla="*/ 54 h 71"/>
                  <a:gd name="T6" fmla="*/ 111 w 157"/>
                  <a:gd name="T7" fmla="*/ 0 h 71"/>
                  <a:gd name="T8" fmla="*/ 156 w 157"/>
                  <a:gd name="T9" fmla="*/ 17 h 71"/>
                  <a:gd name="T10" fmla="*/ 50 w 157"/>
                  <a:gd name="T11" fmla="*/ 70 h 71"/>
                  <a:gd name="T12" fmla="*/ 0 60000 65536"/>
                  <a:gd name="T13" fmla="*/ 0 60000 65536"/>
                  <a:gd name="T14" fmla="*/ 0 60000 65536"/>
                  <a:gd name="T15" fmla="*/ 0 60000 65536"/>
                  <a:gd name="T16" fmla="*/ 0 60000 65536"/>
                  <a:gd name="T17" fmla="*/ 0 60000 65536"/>
                  <a:gd name="T18" fmla="*/ 0 w 157"/>
                  <a:gd name="T19" fmla="*/ 0 h 71"/>
                  <a:gd name="T20" fmla="*/ 157 w 157"/>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157" h="71">
                    <a:moveTo>
                      <a:pt x="50" y="70"/>
                    </a:moveTo>
                    <a:lnTo>
                      <a:pt x="50" y="70"/>
                    </a:lnTo>
                    <a:lnTo>
                      <a:pt x="0" y="54"/>
                    </a:lnTo>
                    <a:lnTo>
                      <a:pt x="111" y="0"/>
                    </a:lnTo>
                    <a:lnTo>
                      <a:pt x="156" y="17"/>
                    </a:lnTo>
                    <a:lnTo>
                      <a:pt x="50" y="70"/>
                    </a:lnTo>
                  </a:path>
                </a:pathLst>
              </a:custGeom>
              <a:solidFill>
                <a:srgbClr val="CF5C82"/>
              </a:solidFill>
              <a:ln w="9525" cap="rnd">
                <a:noFill/>
                <a:round/>
              </a:ln>
            </p:spPr>
            <p:txBody>
              <a:bodyPr/>
              <a:lstStyle/>
              <a:p>
                <a:endParaRPr lang="zh-CN" altLang="en-US"/>
              </a:p>
            </p:txBody>
          </p:sp>
        </p:grpSp>
        <p:sp>
          <p:nvSpPr>
            <p:cNvPr id="9504" name="Freeform 193"/>
            <p:cNvSpPr/>
            <p:nvPr/>
          </p:nvSpPr>
          <p:spPr bwMode="auto">
            <a:xfrm>
              <a:off x="2496" y="1889"/>
              <a:ext cx="17" cy="55"/>
            </a:xfrm>
            <a:custGeom>
              <a:avLst/>
              <a:gdLst>
                <a:gd name="T0" fmla="*/ 0 w 17"/>
                <a:gd name="T1" fmla="*/ 54 h 55"/>
                <a:gd name="T2" fmla="*/ 0 w 17"/>
                <a:gd name="T3" fmla="*/ 54 h 55"/>
                <a:gd name="T4" fmla="*/ 0 w 17"/>
                <a:gd name="T5" fmla="*/ 27 h 55"/>
                <a:gd name="T6" fmla="*/ 0 w 17"/>
                <a:gd name="T7" fmla="*/ 18 h 55"/>
                <a:gd name="T8" fmla="*/ 4 w 17"/>
                <a:gd name="T9" fmla="*/ 9 h 55"/>
                <a:gd name="T10" fmla="*/ 4 w 17"/>
                <a:gd name="T11" fmla="*/ 2 h 55"/>
                <a:gd name="T12" fmla="*/ 4 w 17"/>
                <a:gd name="T13" fmla="*/ 0 h 55"/>
                <a:gd name="T14" fmla="*/ 11 w 17"/>
                <a:gd name="T15" fmla="*/ 0 h 55"/>
                <a:gd name="T16" fmla="*/ 16 w 17"/>
                <a:gd name="T17" fmla="*/ 2 h 55"/>
                <a:gd name="T18" fmla="*/ 11 w 17"/>
                <a:gd name="T19" fmla="*/ 24 h 55"/>
                <a:gd name="T20" fmla="*/ 11 w 17"/>
                <a:gd name="T21" fmla="*/ 51 h 55"/>
                <a:gd name="T22" fmla="*/ 4 w 17"/>
                <a:gd name="T23" fmla="*/ 51 h 55"/>
                <a:gd name="T24" fmla="*/ 0 w 17"/>
                <a:gd name="T25" fmla="*/ 51 h 55"/>
                <a:gd name="T26" fmla="*/ 0 w 17"/>
                <a:gd name="T27" fmla="*/ 54 h 5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55"/>
                <a:gd name="T44" fmla="*/ 17 w 17"/>
                <a:gd name="T45" fmla="*/ 55 h 5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55">
                  <a:moveTo>
                    <a:pt x="0" y="54"/>
                  </a:moveTo>
                  <a:lnTo>
                    <a:pt x="0" y="54"/>
                  </a:lnTo>
                  <a:lnTo>
                    <a:pt x="0" y="27"/>
                  </a:lnTo>
                  <a:lnTo>
                    <a:pt x="0" y="18"/>
                  </a:lnTo>
                  <a:lnTo>
                    <a:pt x="4" y="9"/>
                  </a:lnTo>
                  <a:lnTo>
                    <a:pt x="4" y="2"/>
                  </a:lnTo>
                  <a:lnTo>
                    <a:pt x="4" y="0"/>
                  </a:lnTo>
                  <a:lnTo>
                    <a:pt x="11" y="0"/>
                  </a:lnTo>
                  <a:lnTo>
                    <a:pt x="16" y="2"/>
                  </a:lnTo>
                  <a:lnTo>
                    <a:pt x="11" y="24"/>
                  </a:lnTo>
                  <a:lnTo>
                    <a:pt x="11" y="51"/>
                  </a:lnTo>
                  <a:lnTo>
                    <a:pt x="4" y="51"/>
                  </a:lnTo>
                  <a:lnTo>
                    <a:pt x="0" y="51"/>
                  </a:lnTo>
                  <a:lnTo>
                    <a:pt x="0" y="54"/>
                  </a:lnTo>
                </a:path>
              </a:pathLst>
            </a:custGeom>
            <a:solidFill>
              <a:srgbClr val="BDB597"/>
            </a:solidFill>
            <a:ln w="9525" cap="rnd">
              <a:noFill/>
              <a:round/>
            </a:ln>
          </p:spPr>
          <p:txBody>
            <a:bodyPr/>
            <a:lstStyle/>
            <a:p>
              <a:endParaRPr lang="zh-CN" altLang="en-US"/>
            </a:p>
          </p:txBody>
        </p:sp>
        <p:sp>
          <p:nvSpPr>
            <p:cNvPr id="9505" name="Freeform 194"/>
            <p:cNvSpPr/>
            <p:nvPr/>
          </p:nvSpPr>
          <p:spPr bwMode="auto">
            <a:xfrm>
              <a:off x="2097" y="1863"/>
              <a:ext cx="443" cy="251"/>
            </a:xfrm>
            <a:custGeom>
              <a:avLst/>
              <a:gdLst>
                <a:gd name="T0" fmla="*/ 442 w 443"/>
                <a:gd name="T1" fmla="*/ 0 h 251"/>
                <a:gd name="T2" fmla="*/ 442 w 443"/>
                <a:gd name="T3" fmla="*/ 0 h 251"/>
                <a:gd name="T4" fmla="*/ 0 w 443"/>
                <a:gd name="T5" fmla="*/ 243 h 251"/>
                <a:gd name="T6" fmla="*/ 0 w 443"/>
                <a:gd name="T7" fmla="*/ 250 h 251"/>
                <a:gd name="T8" fmla="*/ 442 w 443"/>
                <a:gd name="T9" fmla="*/ 9 h 251"/>
                <a:gd name="T10" fmla="*/ 442 w 443"/>
                <a:gd name="T11" fmla="*/ 0 h 251"/>
                <a:gd name="T12" fmla="*/ 0 60000 65536"/>
                <a:gd name="T13" fmla="*/ 0 60000 65536"/>
                <a:gd name="T14" fmla="*/ 0 60000 65536"/>
                <a:gd name="T15" fmla="*/ 0 60000 65536"/>
                <a:gd name="T16" fmla="*/ 0 60000 65536"/>
                <a:gd name="T17" fmla="*/ 0 60000 65536"/>
                <a:gd name="T18" fmla="*/ 0 w 443"/>
                <a:gd name="T19" fmla="*/ 0 h 251"/>
                <a:gd name="T20" fmla="*/ 443 w 443"/>
                <a:gd name="T21" fmla="*/ 251 h 251"/>
              </a:gdLst>
              <a:ahLst/>
              <a:cxnLst>
                <a:cxn ang="T12">
                  <a:pos x="T0" y="T1"/>
                </a:cxn>
                <a:cxn ang="T13">
                  <a:pos x="T2" y="T3"/>
                </a:cxn>
                <a:cxn ang="T14">
                  <a:pos x="T4" y="T5"/>
                </a:cxn>
                <a:cxn ang="T15">
                  <a:pos x="T6" y="T7"/>
                </a:cxn>
                <a:cxn ang="T16">
                  <a:pos x="T8" y="T9"/>
                </a:cxn>
                <a:cxn ang="T17">
                  <a:pos x="T10" y="T11"/>
                </a:cxn>
              </a:cxnLst>
              <a:rect l="T18" t="T19" r="T20" b="T21"/>
              <a:pathLst>
                <a:path w="443" h="251">
                  <a:moveTo>
                    <a:pt x="442" y="0"/>
                  </a:moveTo>
                  <a:lnTo>
                    <a:pt x="442" y="0"/>
                  </a:lnTo>
                  <a:lnTo>
                    <a:pt x="0" y="243"/>
                  </a:lnTo>
                  <a:lnTo>
                    <a:pt x="0" y="250"/>
                  </a:lnTo>
                  <a:lnTo>
                    <a:pt x="442" y="9"/>
                  </a:lnTo>
                  <a:lnTo>
                    <a:pt x="442" y="0"/>
                  </a:lnTo>
                </a:path>
              </a:pathLst>
            </a:custGeom>
            <a:solidFill>
              <a:srgbClr val="BDB597"/>
            </a:solidFill>
            <a:ln w="9525" cap="rnd">
              <a:noFill/>
              <a:round/>
            </a:ln>
          </p:spPr>
          <p:txBody>
            <a:bodyPr/>
            <a:lstStyle/>
            <a:p>
              <a:endParaRPr lang="zh-CN" altLang="en-US"/>
            </a:p>
          </p:txBody>
        </p:sp>
        <p:sp>
          <p:nvSpPr>
            <p:cNvPr id="9506" name="Freeform 195"/>
            <p:cNvSpPr/>
            <p:nvPr/>
          </p:nvSpPr>
          <p:spPr bwMode="auto">
            <a:xfrm>
              <a:off x="2404" y="1943"/>
              <a:ext cx="17" cy="56"/>
            </a:xfrm>
            <a:custGeom>
              <a:avLst/>
              <a:gdLst>
                <a:gd name="T0" fmla="*/ 0 w 17"/>
                <a:gd name="T1" fmla="*/ 55 h 56"/>
                <a:gd name="T2" fmla="*/ 0 w 17"/>
                <a:gd name="T3" fmla="*/ 55 h 56"/>
                <a:gd name="T4" fmla="*/ 0 w 17"/>
                <a:gd name="T5" fmla="*/ 27 h 56"/>
                <a:gd name="T6" fmla="*/ 0 w 17"/>
                <a:gd name="T7" fmla="*/ 18 h 56"/>
                <a:gd name="T8" fmla="*/ 6 w 17"/>
                <a:gd name="T9" fmla="*/ 9 h 56"/>
                <a:gd name="T10" fmla="*/ 6 w 17"/>
                <a:gd name="T11" fmla="*/ 2 h 56"/>
                <a:gd name="T12" fmla="*/ 6 w 17"/>
                <a:gd name="T13" fmla="*/ 0 h 56"/>
                <a:gd name="T14" fmla="*/ 10 w 17"/>
                <a:gd name="T15" fmla="*/ 0 h 56"/>
                <a:gd name="T16" fmla="*/ 16 w 17"/>
                <a:gd name="T17" fmla="*/ 0 h 56"/>
                <a:gd name="T18" fmla="*/ 16 w 17"/>
                <a:gd name="T19" fmla="*/ 24 h 56"/>
                <a:gd name="T20" fmla="*/ 10 w 17"/>
                <a:gd name="T21" fmla="*/ 42 h 56"/>
                <a:gd name="T22" fmla="*/ 10 w 17"/>
                <a:gd name="T23" fmla="*/ 48 h 56"/>
                <a:gd name="T24" fmla="*/ 10 w 17"/>
                <a:gd name="T25" fmla="*/ 52 h 56"/>
                <a:gd name="T26" fmla="*/ 6 w 17"/>
                <a:gd name="T27" fmla="*/ 52 h 56"/>
                <a:gd name="T28" fmla="*/ 0 w 17"/>
                <a:gd name="T29" fmla="*/ 52 h 56"/>
                <a:gd name="T30" fmla="*/ 0 w 17"/>
                <a:gd name="T31" fmla="*/ 55 h 5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
                <a:gd name="T49" fmla="*/ 0 h 56"/>
                <a:gd name="T50" fmla="*/ 17 w 17"/>
                <a:gd name="T51" fmla="*/ 56 h 5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 h="56">
                  <a:moveTo>
                    <a:pt x="0" y="55"/>
                  </a:moveTo>
                  <a:lnTo>
                    <a:pt x="0" y="55"/>
                  </a:lnTo>
                  <a:lnTo>
                    <a:pt x="0" y="27"/>
                  </a:lnTo>
                  <a:lnTo>
                    <a:pt x="0" y="18"/>
                  </a:lnTo>
                  <a:lnTo>
                    <a:pt x="6" y="9"/>
                  </a:lnTo>
                  <a:lnTo>
                    <a:pt x="6" y="2"/>
                  </a:lnTo>
                  <a:lnTo>
                    <a:pt x="6" y="0"/>
                  </a:lnTo>
                  <a:lnTo>
                    <a:pt x="10" y="0"/>
                  </a:lnTo>
                  <a:lnTo>
                    <a:pt x="16" y="0"/>
                  </a:lnTo>
                  <a:lnTo>
                    <a:pt x="16" y="24"/>
                  </a:lnTo>
                  <a:lnTo>
                    <a:pt x="10" y="42"/>
                  </a:lnTo>
                  <a:lnTo>
                    <a:pt x="10" y="48"/>
                  </a:lnTo>
                  <a:lnTo>
                    <a:pt x="10" y="52"/>
                  </a:lnTo>
                  <a:lnTo>
                    <a:pt x="6" y="52"/>
                  </a:lnTo>
                  <a:lnTo>
                    <a:pt x="0" y="52"/>
                  </a:lnTo>
                  <a:lnTo>
                    <a:pt x="0" y="55"/>
                  </a:lnTo>
                </a:path>
              </a:pathLst>
            </a:custGeom>
            <a:solidFill>
              <a:srgbClr val="BDB597"/>
            </a:solidFill>
            <a:ln w="9525" cap="rnd">
              <a:noFill/>
              <a:round/>
            </a:ln>
          </p:spPr>
          <p:txBody>
            <a:bodyPr/>
            <a:lstStyle/>
            <a:p>
              <a:endParaRPr lang="zh-CN" altLang="en-US"/>
            </a:p>
          </p:txBody>
        </p:sp>
        <p:sp>
          <p:nvSpPr>
            <p:cNvPr id="9507" name="Freeform 196"/>
            <p:cNvSpPr/>
            <p:nvPr/>
          </p:nvSpPr>
          <p:spPr bwMode="auto">
            <a:xfrm>
              <a:off x="2310" y="1998"/>
              <a:ext cx="17" cy="55"/>
            </a:xfrm>
            <a:custGeom>
              <a:avLst/>
              <a:gdLst>
                <a:gd name="T0" fmla="*/ 0 w 17"/>
                <a:gd name="T1" fmla="*/ 54 h 55"/>
                <a:gd name="T2" fmla="*/ 0 w 17"/>
                <a:gd name="T3" fmla="*/ 54 h 55"/>
                <a:gd name="T4" fmla="*/ 0 w 17"/>
                <a:gd name="T5" fmla="*/ 47 h 55"/>
                <a:gd name="T6" fmla="*/ 0 w 17"/>
                <a:gd name="T7" fmla="*/ 27 h 55"/>
                <a:gd name="T8" fmla="*/ 0 w 17"/>
                <a:gd name="T9" fmla="*/ 9 h 55"/>
                <a:gd name="T10" fmla="*/ 0 w 17"/>
                <a:gd name="T11" fmla="*/ 0 h 55"/>
                <a:gd name="T12" fmla="*/ 4 w 17"/>
                <a:gd name="T13" fmla="*/ 0 h 55"/>
                <a:gd name="T14" fmla="*/ 11 w 17"/>
                <a:gd name="T15" fmla="*/ 0 h 55"/>
                <a:gd name="T16" fmla="*/ 16 w 17"/>
                <a:gd name="T17" fmla="*/ 0 h 55"/>
                <a:gd name="T18" fmla="*/ 11 w 17"/>
                <a:gd name="T19" fmla="*/ 24 h 55"/>
                <a:gd name="T20" fmla="*/ 11 w 17"/>
                <a:gd name="T21" fmla="*/ 42 h 55"/>
                <a:gd name="T22" fmla="*/ 11 w 17"/>
                <a:gd name="T23" fmla="*/ 51 h 55"/>
                <a:gd name="T24" fmla="*/ 4 w 17"/>
                <a:gd name="T25" fmla="*/ 51 h 55"/>
                <a:gd name="T26" fmla="*/ 0 w 17"/>
                <a:gd name="T27" fmla="*/ 54 h 5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55"/>
                <a:gd name="T44" fmla="*/ 17 w 17"/>
                <a:gd name="T45" fmla="*/ 55 h 5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55">
                  <a:moveTo>
                    <a:pt x="0" y="54"/>
                  </a:moveTo>
                  <a:lnTo>
                    <a:pt x="0" y="54"/>
                  </a:lnTo>
                  <a:lnTo>
                    <a:pt x="0" y="47"/>
                  </a:lnTo>
                  <a:lnTo>
                    <a:pt x="0" y="27"/>
                  </a:lnTo>
                  <a:lnTo>
                    <a:pt x="0" y="9"/>
                  </a:lnTo>
                  <a:lnTo>
                    <a:pt x="0" y="0"/>
                  </a:lnTo>
                  <a:lnTo>
                    <a:pt x="4" y="0"/>
                  </a:lnTo>
                  <a:lnTo>
                    <a:pt x="11" y="0"/>
                  </a:lnTo>
                  <a:lnTo>
                    <a:pt x="16" y="0"/>
                  </a:lnTo>
                  <a:lnTo>
                    <a:pt x="11" y="24"/>
                  </a:lnTo>
                  <a:lnTo>
                    <a:pt x="11" y="42"/>
                  </a:lnTo>
                  <a:lnTo>
                    <a:pt x="11" y="51"/>
                  </a:lnTo>
                  <a:lnTo>
                    <a:pt x="4" y="51"/>
                  </a:lnTo>
                  <a:lnTo>
                    <a:pt x="0" y="54"/>
                  </a:lnTo>
                </a:path>
              </a:pathLst>
            </a:custGeom>
            <a:solidFill>
              <a:srgbClr val="BDB597"/>
            </a:solidFill>
            <a:ln w="9525" cap="rnd">
              <a:noFill/>
              <a:round/>
            </a:ln>
          </p:spPr>
          <p:txBody>
            <a:bodyPr/>
            <a:lstStyle/>
            <a:p>
              <a:endParaRPr lang="zh-CN" altLang="en-US"/>
            </a:p>
          </p:txBody>
        </p:sp>
        <p:sp>
          <p:nvSpPr>
            <p:cNvPr id="9508" name="Freeform 197"/>
            <p:cNvSpPr/>
            <p:nvPr/>
          </p:nvSpPr>
          <p:spPr bwMode="auto">
            <a:xfrm>
              <a:off x="2204" y="2051"/>
              <a:ext cx="17" cy="63"/>
            </a:xfrm>
            <a:custGeom>
              <a:avLst/>
              <a:gdLst>
                <a:gd name="T0" fmla="*/ 0 w 17"/>
                <a:gd name="T1" fmla="*/ 62 h 63"/>
                <a:gd name="T2" fmla="*/ 0 w 17"/>
                <a:gd name="T3" fmla="*/ 62 h 63"/>
                <a:gd name="T4" fmla="*/ 0 w 17"/>
                <a:gd name="T5" fmla="*/ 52 h 63"/>
                <a:gd name="T6" fmla="*/ 0 w 17"/>
                <a:gd name="T7" fmla="*/ 31 h 63"/>
                <a:gd name="T8" fmla="*/ 0 w 17"/>
                <a:gd name="T9" fmla="*/ 18 h 63"/>
                <a:gd name="T10" fmla="*/ 0 w 17"/>
                <a:gd name="T11" fmla="*/ 9 h 63"/>
                <a:gd name="T12" fmla="*/ 0 w 17"/>
                <a:gd name="T13" fmla="*/ 6 h 63"/>
                <a:gd name="T14" fmla="*/ 0 w 17"/>
                <a:gd name="T15" fmla="*/ 2 h 63"/>
                <a:gd name="T16" fmla="*/ 0 w 17"/>
                <a:gd name="T17" fmla="*/ 0 h 63"/>
                <a:gd name="T18" fmla="*/ 4 w 17"/>
                <a:gd name="T19" fmla="*/ 0 h 63"/>
                <a:gd name="T20" fmla="*/ 11 w 17"/>
                <a:gd name="T21" fmla="*/ 0 h 63"/>
                <a:gd name="T22" fmla="*/ 16 w 17"/>
                <a:gd name="T23" fmla="*/ 0 h 63"/>
                <a:gd name="T24" fmla="*/ 16 w 17"/>
                <a:gd name="T25" fmla="*/ 28 h 63"/>
                <a:gd name="T26" fmla="*/ 11 w 17"/>
                <a:gd name="T27" fmla="*/ 46 h 63"/>
                <a:gd name="T28" fmla="*/ 11 w 17"/>
                <a:gd name="T29" fmla="*/ 52 h 63"/>
                <a:gd name="T30" fmla="*/ 11 w 17"/>
                <a:gd name="T31" fmla="*/ 55 h 63"/>
                <a:gd name="T32" fmla="*/ 11 w 17"/>
                <a:gd name="T33" fmla="*/ 59 h 63"/>
                <a:gd name="T34" fmla="*/ 4 w 17"/>
                <a:gd name="T35" fmla="*/ 59 h 63"/>
                <a:gd name="T36" fmla="*/ 0 w 17"/>
                <a:gd name="T37" fmla="*/ 59 h 63"/>
                <a:gd name="T38" fmla="*/ 0 w 17"/>
                <a:gd name="T39" fmla="*/ 62 h 6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
                <a:gd name="T61" fmla="*/ 0 h 63"/>
                <a:gd name="T62" fmla="*/ 17 w 17"/>
                <a:gd name="T63" fmla="*/ 63 h 6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 h="63">
                  <a:moveTo>
                    <a:pt x="0" y="62"/>
                  </a:moveTo>
                  <a:lnTo>
                    <a:pt x="0" y="62"/>
                  </a:lnTo>
                  <a:lnTo>
                    <a:pt x="0" y="52"/>
                  </a:lnTo>
                  <a:lnTo>
                    <a:pt x="0" y="31"/>
                  </a:lnTo>
                  <a:lnTo>
                    <a:pt x="0" y="18"/>
                  </a:lnTo>
                  <a:lnTo>
                    <a:pt x="0" y="9"/>
                  </a:lnTo>
                  <a:lnTo>
                    <a:pt x="0" y="6"/>
                  </a:lnTo>
                  <a:lnTo>
                    <a:pt x="0" y="2"/>
                  </a:lnTo>
                  <a:lnTo>
                    <a:pt x="0" y="0"/>
                  </a:lnTo>
                  <a:lnTo>
                    <a:pt x="4" y="0"/>
                  </a:lnTo>
                  <a:lnTo>
                    <a:pt x="11" y="0"/>
                  </a:lnTo>
                  <a:lnTo>
                    <a:pt x="16" y="0"/>
                  </a:lnTo>
                  <a:lnTo>
                    <a:pt x="16" y="28"/>
                  </a:lnTo>
                  <a:lnTo>
                    <a:pt x="11" y="46"/>
                  </a:lnTo>
                  <a:lnTo>
                    <a:pt x="11" y="52"/>
                  </a:lnTo>
                  <a:lnTo>
                    <a:pt x="11" y="55"/>
                  </a:lnTo>
                  <a:lnTo>
                    <a:pt x="11" y="59"/>
                  </a:lnTo>
                  <a:lnTo>
                    <a:pt x="4" y="59"/>
                  </a:lnTo>
                  <a:lnTo>
                    <a:pt x="0" y="59"/>
                  </a:lnTo>
                  <a:lnTo>
                    <a:pt x="0" y="62"/>
                  </a:lnTo>
                </a:path>
              </a:pathLst>
            </a:custGeom>
            <a:solidFill>
              <a:srgbClr val="BDB597"/>
            </a:solidFill>
            <a:ln w="9525" cap="rnd">
              <a:noFill/>
              <a:round/>
            </a:ln>
          </p:spPr>
          <p:txBody>
            <a:bodyPr/>
            <a:lstStyle/>
            <a:p>
              <a:endParaRPr lang="zh-CN" altLang="en-US"/>
            </a:p>
          </p:txBody>
        </p:sp>
        <p:grpSp>
          <p:nvGrpSpPr>
            <p:cNvPr id="248032" name="Group 198"/>
            <p:cNvGrpSpPr/>
            <p:nvPr/>
          </p:nvGrpSpPr>
          <p:grpSpPr bwMode="auto">
            <a:xfrm>
              <a:off x="2425" y="1796"/>
              <a:ext cx="118" cy="110"/>
              <a:chOff x="2425" y="1796"/>
              <a:chExt cx="118" cy="110"/>
            </a:xfrm>
          </p:grpSpPr>
          <p:sp>
            <p:nvSpPr>
              <p:cNvPr id="9534" name="Freeform 199"/>
              <p:cNvSpPr/>
              <p:nvPr/>
            </p:nvSpPr>
            <p:spPr bwMode="auto">
              <a:xfrm>
                <a:off x="2460" y="1815"/>
                <a:ext cx="83" cy="91"/>
              </a:xfrm>
              <a:custGeom>
                <a:avLst/>
                <a:gdLst>
                  <a:gd name="T0" fmla="*/ 0 w 83"/>
                  <a:gd name="T1" fmla="*/ 90 h 91"/>
                  <a:gd name="T2" fmla="*/ 0 w 83"/>
                  <a:gd name="T3" fmla="*/ 90 h 91"/>
                  <a:gd name="T4" fmla="*/ 2 w 83"/>
                  <a:gd name="T5" fmla="*/ 40 h 91"/>
                  <a:gd name="T6" fmla="*/ 82 w 83"/>
                  <a:gd name="T7" fmla="*/ 0 h 91"/>
                  <a:gd name="T8" fmla="*/ 79 w 83"/>
                  <a:gd name="T9" fmla="*/ 49 h 91"/>
                  <a:gd name="T10" fmla="*/ 0 w 83"/>
                  <a:gd name="T11" fmla="*/ 90 h 91"/>
                  <a:gd name="T12" fmla="*/ 0 60000 65536"/>
                  <a:gd name="T13" fmla="*/ 0 60000 65536"/>
                  <a:gd name="T14" fmla="*/ 0 60000 65536"/>
                  <a:gd name="T15" fmla="*/ 0 60000 65536"/>
                  <a:gd name="T16" fmla="*/ 0 60000 65536"/>
                  <a:gd name="T17" fmla="*/ 0 60000 65536"/>
                  <a:gd name="T18" fmla="*/ 0 w 83"/>
                  <a:gd name="T19" fmla="*/ 0 h 91"/>
                  <a:gd name="T20" fmla="*/ 83 w 83"/>
                  <a:gd name="T21" fmla="*/ 91 h 91"/>
                </a:gdLst>
                <a:ahLst/>
                <a:cxnLst>
                  <a:cxn ang="T12">
                    <a:pos x="T0" y="T1"/>
                  </a:cxn>
                  <a:cxn ang="T13">
                    <a:pos x="T2" y="T3"/>
                  </a:cxn>
                  <a:cxn ang="T14">
                    <a:pos x="T4" y="T5"/>
                  </a:cxn>
                  <a:cxn ang="T15">
                    <a:pos x="T6" y="T7"/>
                  </a:cxn>
                  <a:cxn ang="T16">
                    <a:pos x="T8" y="T9"/>
                  </a:cxn>
                  <a:cxn ang="T17">
                    <a:pos x="T10" y="T11"/>
                  </a:cxn>
                </a:cxnLst>
                <a:rect l="T18" t="T19" r="T20" b="T21"/>
                <a:pathLst>
                  <a:path w="83" h="91">
                    <a:moveTo>
                      <a:pt x="0" y="90"/>
                    </a:moveTo>
                    <a:lnTo>
                      <a:pt x="0" y="90"/>
                    </a:lnTo>
                    <a:lnTo>
                      <a:pt x="2" y="40"/>
                    </a:lnTo>
                    <a:lnTo>
                      <a:pt x="82" y="0"/>
                    </a:lnTo>
                    <a:lnTo>
                      <a:pt x="79" y="49"/>
                    </a:lnTo>
                    <a:lnTo>
                      <a:pt x="0" y="90"/>
                    </a:lnTo>
                  </a:path>
                </a:pathLst>
              </a:custGeom>
              <a:solidFill>
                <a:srgbClr val="BB1A50"/>
              </a:solidFill>
              <a:ln w="9525" cap="rnd">
                <a:noFill/>
                <a:round/>
              </a:ln>
            </p:spPr>
            <p:txBody>
              <a:bodyPr/>
              <a:lstStyle/>
              <a:p>
                <a:endParaRPr lang="zh-CN" altLang="en-US"/>
              </a:p>
            </p:txBody>
          </p:sp>
          <p:sp>
            <p:nvSpPr>
              <p:cNvPr id="9535" name="Freeform 200"/>
              <p:cNvSpPr/>
              <p:nvPr/>
            </p:nvSpPr>
            <p:spPr bwMode="auto">
              <a:xfrm>
                <a:off x="2425" y="1837"/>
                <a:ext cx="36" cy="69"/>
              </a:xfrm>
              <a:custGeom>
                <a:avLst/>
                <a:gdLst>
                  <a:gd name="T0" fmla="*/ 32 w 36"/>
                  <a:gd name="T1" fmla="*/ 68 h 69"/>
                  <a:gd name="T2" fmla="*/ 32 w 36"/>
                  <a:gd name="T3" fmla="*/ 68 h 69"/>
                  <a:gd name="T4" fmla="*/ 0 w 36"/>
                  <a:gd name="T5" fmla="*/ 52 h 69"/>
                  <a:gd name="T6" fmla="*/ 2 w 36"/>
                  <a:gd name="T7" fmla="*/ 0 h 69"/>
                  <a:gd name="T8" fmla="*/ 35 w 36"/>
                  <a:gd name="T9" fmla="*/ 18 h 69"/>
                  <a:gd name="T10" fmla="*/ 32 w 36"/>
                  <a:gd name="T11" fmla="*/ 68 h 69"/>
                  <a:gd name="T12" fmla="*/ 0 60000 65536"/>
                  <a:gd name="T13" fmla="*/ 0 60000 65536"/>
                  <a:gd name="T14" fmla="*/ 0 60000 65536"/>
                  <a:gd name="T15" fmla="*/ 0 60000 65536"/>
                  <a:gd name="T16" fmla="*/ 0 60000 65536"/>
                  <a:gd name="T17" fmla="*/ 0 60000 65536"/>
                  <a:gd name="T18" fmla="*/ 0 w 36"/>
                  <a:gd name="T19" fmla="*/ 0 h 69"/>
                  <a:gd name="T20" fmla="*/ 36 w 36"/>
                  <a:gd name="T21" fmla="*/ 69 h 69"/>
                </a:gdLst>
                <a:ahLst/>
                <a:cxnLst>
                  <a:cxn ang="T12">
                    <a:pos x="T0" y="T1"/>
                  </a:cxn>
                  <a:cxn ang="T13">
                    <a:pos x="T2" y="T3"/>
                  </a:cxn>
                  <a:cxn ang="T14">
                    <a:pos x="T4" y="T5"/>
                  </a:cxn>
                  <a:cxn ang="T15">
                    <a:pos x="T6" y="T7"/>
                  </a:cxn>
                  <a:cxn ang="T16">
                    <a:pos x="T8" y="T9"/>
                  </a:cxn>
                  <a:cxn ang="T17">
                    <a:pos x="T10" y="T11"/>
                  </a:cxn>
                </a:cxnLst>
                <a:rect l="T18" t="T19" r="T20" b="T21"/>
                <a:pathLst>
                  <a:path w="36" h="69">
                    <a:moveTo>
                      <a:pt x="32" y="68"/>
                    </a:moveTo>
                    <a:lnTo>
                      <a:pt x="32" y="68"/>
                    </a:lnTo>
                    <a:lnTo>
                      <a:pt x="0" y="52"/>
                    </a:lnTo>
                    <a:lnTo>
                      <a:pt x="2" y="0"/>
                    </a:lnTo>
                    <a:lnTo>
                      <a:pt x="35" y="18"/>
                    </a:lnTo>
                    <a:lnTo>
                      <a:pt x="32" y="68"/>
                    </a:lnTo>
                  </a:path>
                </a:pathLst>
              </a:custGeom>
              <a:solidFill>
                <a:srgbClr val="9E0005"/>
              </a:solidFill>
              <a:ln w="9525" cap="rnd">
                <a:noFill/>
                <a:round/>
              </a:ln>
            </p:spPr>
            <p:txBody>
              <a:bodyPr/>
              <a:lstStyle/>
              <a:p>
                <a:endParaRPr lang="zh-CN" altLang="en-US"/>
              </a:p>
            </p:txBody>
          </p:sp>
          <p:sp>
            <p:nvSpPr>
              <p:cNvPr id="9536" name="Freeform 201"/>
              <p:cNvSpPr/>
              <p:nvPr/>
            </p:nvSpPr>
            <p:spPr bwMode="auto">
              <a:xfrm>
                <a:off x="2428" y="1796"/>
                <a:ext cx="114" cy="58"/>
              </a:xfrm>
              <a:custGeom>
                <a:avLst/>
                <a:gdLst>
                  <a:gd name="T0" fmla="*/ 33 w 114"/>
                  <a:gd name="T1" fmla="*/ 57 h 58"/>
                  <a:gd name="T2" fmla="*/ 33 w 114"/>
                  <a:gd name="T3" fmla="*/ 57 h 58"/>
                  <a:gd name="T4" fmla="*/ 0 w 114"/>
                  <a:gd name="T5" fmla="*/ 38 h 58"/>
                  <a:gd name="T6" fmla="*/ 82 w 114"/>
                  <a:gd name="T7" fmla="*/ 0 h 58"/>
                  <a:gd name="T8" fmla="*/ 113 w 114"/>
                  <a:gd name="T9" fmla="*/ 18 h 58"/>
                  <a:gd name="T10" fmla="*/ 33 w 114"/>
                  <a:gd name="T11" fmla="*/ 57 h 58"/>
                  <a:gd name="T12" fmla="*/ 0 60000 65536"/>
                  <a:gd name="T13" fmla="*/ 0 60000 65536"/>
                  <a:gd name="T14" fmla="*/ 0 60000 65536"/>
                  <a:gd name="T15" fmla="*/ 0 60000 65536"/>
                  <a:gd name="T16" fmla="*/ 0 60000 65536"/>
                  <a:gd name="T17" fmla="*/ 0 60000 65536"/>
                  <a:gd name="T18" fmla="*/ 0 w 114"/>
                  <a:gd name="T19" fmla="*/ 0 h 58"/>
                  <a:gd name="T20" fmla="*/ 114 w 114"/>
                  <a:gd name="T21" fmla="*/ 58 h 58"/>
                </a:gdLst>
                <a:ahLst/>
                <a:cxnLst>
                  <a:cxn ang="T12">
                    <a:pos x="T0" y="T1"/>
                  </a:cxn>
                  <a:cxn ang="T13">
                    <a:pos x="T2" y="T3"/>
                  </a:cxn>
                  <a:cxn ang="T14">
                    <a:pos x="T4" y="T5"/>
                  </a:cxn>
                  <a:cxn ang="T15">
                    <a:pos x="T6" y="T7"/>
                  </a:cxn>
                  <a:cxn ang="T16">
                    <a:pos x="T8" y="T9"/>
                  </a:cxn>
                  <a:cxn ang="T17">
                    <a:pos x="T10" y="T11"/>
                  </a:cxn>
                </a:cxnLst>
                <a:rect l="T18" t="T19" r="T20" b="T21"/>
                <a:pathLst>
                  <a:path w="114" h="58">
                    <a:moveTo>
                      <a:pt x="33" y="57"/>
                    </a:moveTo>
                    <a:lnTo>
                      <a:pt x="33" y="57"/>
                    </a:lnTo>
                    <a:lnTo>
                      <a:pt x="0" y="38"/>
                    </a:lnTo>
                    <a:lnTo>
                      <a:pt x="82" y="0"/>
                    </a:lnTo>
                    <a:lnTo>
                      <a:pt x="113" y="18"/>
                    </a:lnTo>
                    <a:lnTo>
                      <a:pt x="33" y="57"/>
                    </a:lnTo>
                  </a:path>
                </a:pathLst>
              </a:custGeom>
              <a:solidFill>
                <a:srgbClr val="CF5C82"/>
              </a:solidFill>
              <a:ln w="9525" cap="rnd">
                <a:noFill/>
                <a:round/>
              </a:ln>
            </p:spPr>
            <p:txBody>
              <a:bodyPr/>
              <a:lstStyle/>
              <a:p>
                <a:endParaRPr lang="zh-CN" altLang="en-US"/>
              </a:p>
            </p:txBody>
          </p:sp>
        </p:grpSp>
        <p:grpSp>
          <p:nvGrpSpPr>
            <p:cNvPr id="248033" name="Group 202"/>
            <p:cNvGrpSpPr/>
            <p:nvPr/>
          </p:nvGrpSpPr>
          <p:grpSpPr bwMode="auto">
            <a:xfrm>
              <a:off x="2326" y="1843"/>
              <a:ext cx="129" cy="117"/>
              <a:chOff x="2326" y="1843"/>
              <a:chExt cx="129" cy="117"/>
            </a:xfrm>
          </p:grpSpPr>
          <p:sp>
            <p:nvSpPr>
              <p:cNvPr id="9531" name="Freeform 203"/>
              <p:cNvSpPr/>
              <p:nvPr/>
            </p:nvSpPr>
            <p:spPr bwMode="auto">
              <a:xfrm>
                <a:off x="2366" y="1863"/>
                <a:ext cx="89" cy="97"/>
              </a:xfrm>
              <a:custGeom>
                <a:avLst/>
                <a:gdLst>
                  <a:gd name="T0" fmla="*/ 0 w 89"/>
                  <a:gd name="T1" fmla="*/ 96 h 97"/>
                  <a:gd name="T2" fmla="*/ 0 w 89"/>
                  <a:gd name="T3" fmla="*/ 96 h 97"/>
                  <a:gd name="T4" fmla="*/ 2 w 89"/>
                  <a:gd name="T5" fmla="*/ 39 h 97"/>
                  <a:gd name="T6" fmla="*/ 88 w 89"/>
                  <a:gd name="T7" fmla="*/ 0 h 97"/>
                  <a:gd name="T8" fmla="*/ 85 w 89"/>
                  <a:gd name="T9" fmla="*/ 49 h 97"/>
                  <a:gd name="T10" fmla="*/ 0 w 89"/>
                  <a:gd name="T11" fmla="*/ 96 h 97"/>
                  <a:gd name="T12" fmla="*/ 0 60000 65536"/>
                  <a:gd name="T13" fmla="*/ 0 60000 65536"/>
                  <a:gd name="T14" fmla="*/ 0 60000 65536"/>
                  <a:gd name="T15" fmla="*/ 0 60000 65536"/>
                  <a:gd name="T16" fmla="*/ 0 60000 65536"/>
                  <a:gd name="T17" fmla="*/ 0 60000 65536"/>
                  <a:gd name="T18" fmla="*/ 0 w 89"/>
                  <a:gd name="T19" fmla="*/ 0 h 97"/>
                  <a:gd name="T20" fmla="*/ 89 w 89"/>
                  <a:gd name="T21" fmla="*/ 97 h 97"/>
                </a:gdLst>
                <a:ahLst/>
                <a:cxnLst>
                  <a:cxn ang="T12">
                    <a:pos x="T0" y="T1"/>
                  </a:cxn>
                  <a:cxn ang="T13">
                    <a:pos x="T2" y="T3"/>
                  </a:cxn>
                  <a:cxn ang="T14">
                    <a:pos x="T4" y="T5"/>
                  </a:cxn>
                  <a:cxn ang="T15">
                    <a:pos x="T6" y="T7"/>
                  </a:cxn>
                  <a:cxn ang="T16">
                    <a:pos x="T8" y="T9"/>
                  </a:cxn>
                  <a:cxn ang="T17">
                    <a:pos x="T10" y="T11"/>
                  </a:cxn>
                </a:cxnLst>
                <a:rect l="T18" t="T19" r="T20" b="T21"/>
                <a:pathLst>
                  <a:path w="89" h="97">
                    <a:moveTo>
                      <a:pt x="0" y="96"/>
                    </a:moveTo>
                    <a:lnTo>
                      <a:pt x="0" y="96"/>
                    </a:lnTo>
                    <a:lnTo>
                      <a:pt x="2" y="39"/>
                    </a:lnTo>
                    <a:lnTo>
                      <a:pt x="88" y="0"/>
                    </a:lnTo>
                    <a:lnTo>
                      <a:pt x="85" y="49"/>
                    </a:lnTo>
                    <a:lnTo>
                      <a:pt x="0" y="96"/>
                    </a:lnTo>
                  </a:path>
                </a:pathLst>
              </a:custGeom>
              <a:solidFill>
                <a:srgbClr val="BB1A50"/>
              </a:solidFill>
              <a:ln w="9525" cap="rnd">
                <a:noFill/>
                <a:round/>
              </a:ln>
            </p:spPr>
            <p:txBody>
              <a:bodyPr/>
              <a:lstStyle/>
              <a:p>
                <a:endParaRPr lang="zh-CN" altLang="en-US"/>
              </a:p>
            </p:txBody>
          </p:sp>
          <p:sp>
            <p:nvSpPr>
              <p:cNvPr id="9532" name="Freeform 204"/>
              <p:cNvSpPr/>
              <p:nvPr/>
            </p:nvSpPr>
            <p:spPr bwMode="auto">
              <a:xfrm>
                <a:off x="2326" y="1889"/>
                <a:ext cx="41" cy="71"/>
              </a:xfrm>
              <a:custGeom>
                <a:avLst/>
                <a:gdLst>
                  <a:gd name="T0" fmla="*/ 37 w 41"/>
                  <a:gd name="T1" fmla="*/ 70 h 71"/>
                  <a:gd name="T2" fmla="*/ 37 w 41"/>
                  <a:gd name="T3" fmla="*/ 70 h 71"/>
                  <a:gd name="T4" fmla="*/ 0 w 41"/>
                  <a:gd name="T5" fmla="*/ 52 h 71"/>
                  <a:gd name="T6" fmla="*/ 2 w 41"/>
                  <a:gd name="T7" fmla="*/ 0 h 71"/>
                  <a:gd name="T8" fmla="*/ 40 w 41"/>
                  <a:gd name="T9" fmla="*/ 15 h 71"/>
                  <a:gd name="T10" fmla="*/ 37 w 41"/>
                  <a:gd name="T11" fmla="*/ 70 h 71"/>
                  <a:gd name="T12" fmla="*/ 0 60000 65536"/>
                  <a:gd name="T13" fmla="*/ 0 60000 65536"/>
                  <a:gd name="T14" fmla="*/ 0 60000 65536"/>
                  <a:gd name="T15" fmla="*/ 0 60000 65536"/>
                  <a:gd name="T16" fmla="*/ 0 60000 65536"/>
                  <a:gd name="T17" fmla="*/ 0 60000 65536"/>
                  <a:gd name="T18" fmla="*/ 0 w 41"/>
                  <a:gd name="T19" fmla="*/ 0 h 71"/>
                  <a:gd name="T20" fmla="*/ 41 w 41"/>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41" h="71">
                    <a:moveTo>
                      <a:pt x="37" y="70"/>
                    </a:moveTo>
                    <a:lnTo>
                      <a:pt x="37" y="70"/>
                    </a:lnTo>
                    <a:lnTo>
                      <a:pt x="0" y="52"/>
                    </a:lnTo>
                    <a:lnTo>
                      <a:pt x="2" y="0"/>
                    </a:lnTo>
                    <a:lnTo>
                      <a:pt x="40" y="15"/>
                    </a:lnTo>
                    <a:lnTo>
                      <a:pt x="37" y="70"/>
                    </a:lnTo>
                  </a:path>
                </a:pathLst>
              </a:custGeom>
              <a:solidFill>
                <a:srgbClr val="9E0005"/>
              </a:solidFill>
              <a:ln w="9525" cap="rnd">
                <a:noFill/>
                <a:round/>
              </a:ln>
            </p:spPr>
            <p:txBody>
              <a:bodyPr/>
              <a:lstStyle/>
              <a:p>
                <a:endParaRPr lang="zh-CN" altLang="en-US"/>
              </a:p>
            </p:txBody>
          </p:sp>
          <p:sp>
            <p:nvSpPr>
              <p:cNvPr id="9533" name="Freeform 205"/>
              <p:cNvSpPr/>
              <p:nvPr/>
            </p:nvSpPr>
            <p:spPr bwMode="auto">
              <a:xfrm>
                <a:off x="2330" y="1843"/>
                <a:ext cx="125" cy="58"/>
              </a:xfrm>
              <a:custGeom>
                <a:avLst/>
                <a:gdLst>
                  <a:gd name="T0" fmla="*/ 38 w 125"/>
                  <a:gd name="T1" fmla="*/ 57 h 58"/>
                  <a:gd name="T2" fmla="*/ 38 w 125"/>
                  <a:gd name="T3" fmla="*/ 57 h 58"/>
                  <a:gd name="T4" fmla="*/ 0 w 125"/>
                  <a:gd name="T5" fmla="*/ 39 h 58"/>
                  <a:gd name="T6" fmla="*/ 91 w 125"/>
                  <a:gd name="T7" fmla="*/ 0 h 58"/>
                  <a:gd name="T8" fmla="*/ 124 w 125"/>
                  <a:gd name="T9" fmla="*/ 17 h 58"/>
                  <a:gd name="T10" fmla="*/ 38 w 125"/>
                  <a:gd name="T11" fmla="*/ 57 h 58"/>
                  <a:gd name="T12" fmla="*/ 0 60000 65536"/>
                  <a:gd name="T13" fmla="*/ 0 60000 65536"/>
                  <a:gd name="T14" fmla="*/ 0 60000 65536"/>
                  <a:gd name="T15" fmla="*/ 0 60000 65536"/>
                  <a:gd name="T16" fmla="*/ 0 60000 65536"/>
                  <a:gd name="T17" fmla="*/ 0 60000 65536"/>
                  <a:gd name="T18" fmla="*/ 0 w 125"/>
                  <a:gd name="T19" fmla="*/ 0 h 58"/>
                  <a:gd name="T20" fmla="*/ 125 w 125"/>
                  <a:gd name="T21" fmla="*/ 58 h 58"/>
                </a:gdLst>
                <a:ahLst/>
                <a:cxnLst>
                  <a:cxn ang="T12">
                    <a:pos x="T0" y="T1"/>
                  </a:cxn>
                  <a:cxn ang="T13">
                    <a:pos x="T2" y="T3"/>
                  </a:cxn>
                  <a:cxn ang="T14">
                    <a:pos x="T4" y="T5"/>
                  </a:cxn>
                  <a:cxn ang="T15">
                    <a:pos x="T6" y="T7"/>
                  </a:cxn>
                  <a:cxn ang="T16">
                    <a:pos x="T8" y="T9"/>
                  </a:cxn>
                  <a:cxn ang="T17">
                    <a:pos x="T10" y="T11"/>
                  </a:cxn>
                </a:cxnLst>
                <a:rect l="T18" t="T19" r="T20" b="T21"/>
                <a:pathLst>
                  <a:path w="125" h="58">
                    <a:moveTo>
                      <a:pt x="38" y="57"/>
                    </a:moveTo>
                    <a:lnTo>
                      <a:pt x="38" y="57"/>
                    </a:lnTo>
                    <a:lnTo>
                      <a:pt x="0" y="39"/>
                    </a:lnTo>
                    <a:lnTo>
                      <a:pt x="91" y="0"/>
                    </a:lnTo>
                    <a:lnTo>
                      <a:pt x="124" y="17"/>
                    </a:lnTo>
                    <a:lnTo>
                      <a:pt x="38" y="57"/>
                    </a:lnTo>
                  </a:path>
                </a:pathLst>
              </a:custGeom>
              <a:solidFill>
                <a:srgbClr val="CF5C82"/>
              </a:solidFill>
              <a:ln w="9525" cap="rnd">
                <a:noFill/>
                <a:round/>
              </a:ln>
            </p:spPr>
            <p:txBody>
              <a:bodyPr/>
              <a:lstStyle/>
              <a:p>
                <a:endParaRPr lang="zh-CN" altLang="en-US"/>
              </a:p>
            </p:txBody>
          </p:sp>
        </p:grpSp>
        <p:grpSp>
          <p:nvGrpSpPr>
            <p:cNvPr id="248034" name="Group 206"/>
            <p:cNvGrpSpPr/>
            <p:nvPr/>
          </p:nvGrpSpPr>
          <p:grpSpPr bwMode="auto">
            <a:xfrm>
              <a:off x="2220" y="1892"/>
              <a:ext cx="141" cy="122"/>
              <a:chOff x="2220" y="1892"/>
              <a:chExt cx="141" cy="122"/>
            </a:xfrm>
          </p:grpSpPr>
          <p:sp>
            <p:nvSpPr>
              <p:cNvPr id="9528" name="Freeform 207"/>
              <p:cNvSpPr/>
              <p:nvPr/>
            </p:nvSpPr>
            <p:spPr bwMode="auto">
              <a:xfrm>
                <a:off x="2264" y="1911"/>
                <a:ext cx="97" cy="103"/>
              </a:xfrm>
              <a:custGeom>
                <a:avLst/>
                <a:gdLst>
                  <a:gd name="T0" fmla="*/ 0 w 97"/>
                  <a:gd name="T1" fmla="*/ 102 h 103"/>
                  <a:gd name="T2" fmla="*/ 0 w 97"/>
                  <a:gd name="T3" fmla="*/ 102 h 103"/>
                  <a:gd name="T4" fmla="*/ 2 w 97"/>
                  <a:gd name="T5" fmla="*/ 46 h 103"/>
                  <a:gd name="T6" fmla="*/ 96 w 97"/>
                  <a:gd name="T7" fmla="*/ 0 h 103"/>
                  <a:gd name="T8" fmla="*/ 93 w 97"/>
                  <a:gd name="T9" fmla="*/ 55 h 103"/>
                  <a:gd name="T10" fmla="*/ 0 w 97"/>
                  <a:gd name="T11" fmla="*/ 102 h 103"/>
                  <a:gd name="T12" fmla="*/ 0 60000 65536"/>
                  <a:gd name="T13" fmla="*/ 0 60000 65536"/>
                  <a:gd name="T14" fmla="*/ 0 60000 65536"/>
                  <a:gd name="T15" fmla="*/ 0 60000 65536"/>
                  <a:gd name="T16" fmla="*/ 0 60000 65536"/>
                  <a:gd name="T17" fmla="*/ 0 60000 65536"/>
                  <a:gd name="T18" fmla="*/ 0 w 97"/>
                  <a:gd name="T19" fmla="*/ 0 h 103"/>
                  <a:gd name="T20" fmla="*/ 97 w 97"/>
                  <a:gd name="T21" fmla="*/ 103 h 103"/>
                </a:gdLst>
                <a:ahLst/>
                <a:cxnLst>
                  <a:cxn ang="T12">
                    <a:pos x="T0" y="T1"/>
                  </a:cxn>
                  <a:cxn ang="T13">
                    <a:pos x="T2" y="T3"/>
                  </a:cxn>
                  <a:cxn ang="T14">
                    <a:pos x="T4" y="T5"/>
                  </a:cxn>
                  <a:cxn ang="T15">
                    <a:pos x="T6" y="T7"/>
                  </a:cxn>
                  <a:cxn ang="T16">
                    <a:pos x="T8" y="T9"/>
                  </a:cxn>
                  <a:cxn ang="T17">
                    <a:pos x="T10" y="T11"/>
                  </a:cxn>
                </a:cxnLst>
                <a:rect l="T18" t="T19" r="T20" b="T21"/>
                <a:pathLst>
                  <a:path w="97" h="103">
                    <a:moveTo>
                      <a:pt x="0" y="102"/>
                    </a:moveTo>
                    <a:lnTo>
                      <a:pt x="0" y="102"/>
                    </a:lnTo>
                    <a:lnTo>
                      <a:pt x="2" y="46"/>
                    </a:lnTo>
                    <a:lnTo>
                      <a:pt x="96" y="0"/>
                    </a:lnTo>
                    <a:lnTo>
                      <a:pt x="93" y="55"/>
                    </a:lnTo>
                    <a:lnTo>
                      <a:pt x="0" y="102"/>
                    </a:lnTo>
                  </a:path>
                </a:pathLst>
              </a:custGeom>
              <a:solidFill>
                <a:srgbClr val="BB1A50"/>
              </a:solidFill>
              <a:ln w="9525" cap="rnd">
                <a:noFill/>
                <a:round/>
              </a:ln>
            </p:spPr>
            <p:txBody>
              <a:bodyPr/>
              <a:lstStyle/>
              <a:p>
                <a:endParaRPr lang="zh-CN" altLang="en-US"/>
              </a:p>
            </p:txBody>
          </p:sp>
          <p:sp>
            <p:nvSpPr>
              <p:cNvPr id="9529" name="Freeform 208"/>
              <p:cNvSpPr/>
              <p:nvPr/>
            </p:nvSpPr>
            <p:spPr bwMode="auto">
              <a:xfrm>
                <a:off x="2220" y="1940"/>
                <a:ext cx="44" cy="74"/>
              </a:xfrm>
              <a:custGeom>
                <a:avLst/>
                <a:gdLst>
                  <a:gd name="T0" fmla="*/ 40 w 44"/>
                  <a:gd name="T1" fmla="*/ 73 h 74"/>
                  <a:gd name="T2" fmla="*/ 40 w 44"/>
                  <a:gd name="T3" fmla="*/ 73 h 74"/>
                  <a:gd name="T4" fmla="*/ 0 w 44"/>
                  <a:gd name="T5" fmla="*/ 57 h 74"/>
                  <a:gd name="T6" fmla="*/ 2 w 44"/>
                  <a:gd name="T7" fmla="*/ 0 h 74"/>
                  <a:gd name="T8" fmla="*/ 43 w 44"/>
                  <a:gd name="T9" fmla="*/ 18 h 74"/>
                  <a:gd name="T10" fmla="*/ 40 w 44"/>
                  <a:gd name="T11" fmla="*/ 73 h 74"/>
                  <a:gd name="T12" fmla="*/ 0 60000 65536"/>
                  <a:gd name="T13" fmla="*/ 0 60000 65536"/>
                  <a:gd name="T14" fmla="*/ 0 60000 65536"/>
                  <a:gd name="T15" fmla="*/ 0 60000 65536"/>
                  <a:gd name="T16" fmla="*/ 0 60000 65536"/>
                  <a:gd name="T17" fmla="*/ 0 60000 65536"/>
                  <a:gd name="T18" fmla="*/ 0 w 44"/>
                  <a:gd name="T19" fmla="*/ 0 h 74"/>
                  <a:gd name="T20" fmla="*/ 44 w 44"/>
                  <a:gd name="T21" fmla="*/ 74 h 74"/>
                </a:gdLst>
                <a:ahLst/>
                <a:cxnLst>
                  <a:cxn ang="T12">
                    <a:pos x="T0" y="T1"/>
                  </a:cxn>
                  <a:cxn ang="T13">
                    <a:pos x="T2" y="T3"/>
                  </a:cxn>
                  <a:cxn ang="T14">
                    <a:pos x="T4" y="T5"/>
                  </a:cxn>
                  <a:cxn ang="T15">
                    <a:pos x="T6" y="T7"/>
                  </a:cxn>
                  <a:cxn ang="T16">
                    <a:pos x="T8" y="T9"/>
                  </a:cxn>
                  <a:cxn ang="T17">
                    <a:pos x="T10" y="T11"/>
                  </a:cxn>
                </a:cxnLst>
                <a:rect l="T18" t="T19" r="T20" b="T21"/>
                <a:pathLst>
                  <a:path w="44" h="74">
                    <a:moveTo>
                      <a:pt x="40" y="73"/>
                    </a:moveTo>
                    <a:lnTo>
                      <a:pt x="40" y="73"/>
                    </a:lnTo>
                    <a:lnTo>
                      <a:pt x="0" y="57"/>
                    </a:lnTo>
                    <a:lnTo>
                      <a:pt x="2" y="0"/>
                    </a:lnTo>
                    <a:lnTo>
                      <a:pt x="43" y="18"/>
                    </a:lnTo>
                    <a:lnTo>
                      <a:pt x="40" y="73"/>
                    </a:lnTo>
                  </a:path>
                </a:pathLst>
              </a:custGeom>
              <a:solidFill>
                <a:srgbClr val="9E0005"/>
              </a:solidFill>
              <a:ln w="9525" cap="rnd">
                <a:noFill/>
                <a:round/>
              </a:ln>
            </p:spPr>
            <p:txBody>
              <a:bodyPr/>
              <a:lstStyle/>
              <a:p>
                <a:endParaRPr lang="zh-CN" altLang="en-US"/>
              </a:p>
            </p:txBody>
          </p:sp>
          <p:sp>
            <p:nvSpPr>
              <p:cNvPr id="9530" name="Freeform 209"/>
              <p:cNvSpPr/>
              <p:nvPr/>
            </p:nvSpPr>
            <p:spPr bwMode="auto">
              <a:xfrm>
                <a:off x="2224" y="1892"/>
                <a:ext cx="137" cy="65"/>
              </a:xfrm>
              <a:custGeom>
                <a:avLst/>
                <a:gdLst>
                  <a:gd name="T0" fmla="*/ 41 w 137"/>
                  <a:gd name="T1" fmla="*/ 64 h 65"/>
                  <a:gd name="T2" fmla="*/ 41 w 137"/>
                  <a:gd name="T3" fmla="*/ 64 h 65"/>
                  <a:gd name="T4" fmla="*/ 0 w 137"/>
                  <a:gd name="T5" fmla="*/ 45 h 65"/>
                  <a:gd name="T6" fmla="*/ 97 w 137"/>
                  <a:gd name="T7" fmla="*/ 0 h 65"/>
                  <a:gd name="T8" fmla="*/ 136 w 137"/>
                  <a:gd name="T9" fmla="*/ 18 h 65"/>
                  <a:gd name="T10" fmla="*/ 41 w 137"/>
                  <a:gd name="T11" fmla="*/ 64 h 65"/>
                  <a:gd name="T12" fmla="*/ 0 60000 65536"/>
                  <a:gd name="T13" fmla="*/ 0 60000 65536"/>
                  <a:gd name="T14" fmla="*/ 0 60000 65536"/>
                  <a:gd name="T15" fmla="*/ 0 60000 65536"/>
                  <a:gd name="T16" fmla="*/ 0 60000 65536"/>
                  <a:gd name="T17" fmla="*/ 0 60000 65536"/>
                  <a:gd name="T18" fmla="*/ 0 w 137"/>
                  <a:gd name="T19" fmla="*/ 0 h 65"/>
                  <a:gd name="T20" fmla="*/ 137 w 137"/>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137" h="65">
                    <a:moveTo>
                      <a:pt x="41" y="64"/>
                    </a:moveTo>
                    <a:lnTo>
                      <a:pt x="41" y="64"/>
                    </a:lnTo>
                    <a:lnTo>
                      <a:pt x="0" y="45"/>
                    </a:lnTo>
                    <a:lnTo>
                      <a:pt x="97" y="0"/>
                    </a:lnTo>
                    <a:lnTo>
                      <a:pt x="136" y="18"/>
                    </a:lnTo>
                    <a:lnTo>
                      <a:pt x="41" y="64"/>
                    </a:lnTo>
                  </a:path>
                </a:pathLst>
              </a:custGeom>
              <a:solidFill>
                <a:srgbClr val="CF5C82"/>
              </a:solidFill>
              <a:ln w="9525" cap="rnd">
                <a:noFill/>
                <a:round/>
              </a:ln>
            </p:spPr>
            <p:txBody>
              <a:bodyPr/>
              <a:lstStyle/>
              <a:p>
                <a:endParaRPr lang="zh-CN" altLang="en-US"/>
              </a:p>
            </p:txBody>
          </p:sp>
        </p:grpSp>
        <p:grpSp>
          <p:nvGrpSpPr>
            <p:cNvPr id="248036" name="Group 210"/>
            <p:cNvGrpSpPr/>
            <p:nvPr/>
          </p:nvGrpSpPr>
          <p:grpSpPr bwMode="auto">
            <a:xfrm>
              <a:off x="2109" y="1945"/>
              <a:ext cx="150" cy="127"/>
              <a:chOff x="2109" y="1945"/>
              <a:chExt cx="150" cy="127"/>
            </a:xfrm>
          </p:grpSpPr>
          <p:sp>
            <p:nvSpPr>
              <p:cNvPr id="9525" name="Freeform 211"/>
              <p:cNvSpPr/>
              <p:nvPr/>
            </p:nvSpPr>
            <p:spPr bwMode="auto">
              <a:xfrm>
                <a:off x="2154" y="1966"/>
                <a:ext cx="104" cy="106"/>
              </a:xfrm>
              <a:custGeom>
                <a:avLst/>
                <a:gdLst>
                  <a:gd name="T0" fmla="*/ 0 w 104"/>
                  <a:gd name="T1" fmla="*/ 105 h 106"/>
                  <a:gd name="T2" fmla="*/ 0 w 104"/>
                  <a:gd name="T3" fmla="*/ 105 h 106"/>
                  <a:gd name="T4" fmla="*/ 0 w 104"/>
                  <a:gd name="T5" fmla="*/ 49 h 106"/>
                  <a:gd name="T6" fmla="*/ 103 w 104"/>
                  <a:gd name="T7" fmla="*/ 0 h 106"/>
                  <a:gd name="T8" fmla="*/ 103 w 104"/>
                  <a:gd name="T9" fmla="*/ 55 h 106"/>
                  <a:gd name="T10" fmla="*/ 0 w 104"/>
                  <a:gd name="T11" fmla="*/ 105 h 106"/>
                  <a:gd name="T12" fmla="*/ 0 60000 65536"/>
                  <a:gd name="T13" fmla="*/ 0 60000 65536"/>
                  <a:gd name="T14" fmla="*/ 0 60000 65536"/>
                  <a:gd name="T15" fmla="*/ 0 60000 65536"/>
                  <a:gd name="T16" fmla="*/ 0 60000 65536"/>
                  <a:gd name="T17" fmla="*/ 0 60000 65536"/>
                  <a:gd name="T18" fmla="*/ 0 w 104"/>
                  <a:gd name="T19" fmla="*/ 0 h 106"/>
                  <a:gd name="T20" fmla="*/ 104 w 104"/>
                  <a:gd name="T21" fmla="*/ 106 h 106"/>
                </a:gdLst>
                <a:ahLst/>
                <a:cxnLst>
                  <a:cxn ang="T12">
                    <a:pos x="T0" y="T1"/>
                  </a:cxn>
                  <a:cxn ang="T13">
                    <a:pos x="T2" y="T3"/>
                  </a:cxn>
                  <a:cxn ang="T14">
                    <a:pos x="T4" y="T5"/>
                  </a:cxn>
                  <a:cxn ang="T15">
                    <a:pos x="T6" y="T7"/>
                  </a:cxn>
                  <a:cxn ang="T16">
                    <a:pos x="T8" y="T9"/>
                  </a:cxn>
                  <a:cxn ang="T17">
                    <a:pos x="T10" y="T11"/>
                  </a:cxn>
                </a:cxnLst>
                <a:rect l="T18" t="T19" r="T20" b="T21"/>
                <a:pathLst>
                  <a:path w="104" h="106">
                    <a:moveTo>
                      <a:pt x="0" y="105"/>
                    </a:moveTo>
                    <a:lnTo>
                      <a:pt x="0" y="105"/>
                    </a:lnTo>
                    <a:lnTo>
                      <a:pt x="0" y="49"/>
                    </a:lnTo>
                    <a:lnTo>
                      <a:pt x="103" y="0"/>
                    </a:lnTo>
                    <a:lnTo>
                      <a:pt x="103" y="55"/>
                    </a:lnTo>
                    <a:lnTo>
                      <a:pt x="0" y="105"/>
                    </a:lnTo>
                  </a:path>
                </a:pathLst>
              </a:custGeom>
              <a:solidFill>
                <a:srgbClr val="BB1A50"/>
              </a:solidFill>
              <a:ln w="9525" cap="rnd">
                <a:noFill/>
                <a:round/>
              </a:ln>
            </p:spPr>
            <p:txBody>
              <a:bodyPr/>
              <a:lstStyle/>
              <a:p>
                <a:endParaRPr lang="zh-CN" altLang="en-US"/>
              </a:p>
            </p:txBody>
          </p:sp>
          <p:sp>
            <p:nvSpPr>
              <p:cNvPr id="9526" name="Freeform 212"/>
              <p:cNvSpPr/>
              <p:nvPr/>
            </p:nvSpPr>
            <p:spPr bwMode="auto">
              <a:xfrm>
                <a:off x="2109" y="1997"/>
                <a:ext cx="44" cy="74"/>
              </a:xfrm>
              <a:custGeom>
                <a:avLst/>
                <a:gdLst>
                  <a:gd name="T0" fmla="*/ 43 w 44"/>
                  <a:gd name="T1" fmla="*/ 73 h 74"/>
                  <a:gd name="T2" fmla="*/ 43 w 44"/>
                  <a:gd name="T3" fmla="*/ 73 h 74"/>
                  <a:gd name="T4" fmla="*/ 0 w 44"/>
                  <a:gd name="T5" fmla="*/ 57 h 74"/>
                  <a:gd name="T6" fmla="*/ 0 w 44"/>
                  <a:gd name="T7" fmla="*/ 0 h 74"/>
                  <a:gd name="T8" fmla="*/ 43 w 44"/>
                  <a:gd name="T9" fmla="*/ 18 h 74"/>
                  <a:gd name="T10" fmla="*/ 43 w 44"/>
                  <a:gd name="T11" fmla="*/ 73 h 74"/>
                  <a:gd name="T12" fmla="*/ 0 60000 65536"/>
                  <a:gd name="T13" fmla="*/ 0 60000 65536"/>
                  <a:gd name="T14" fmla="*/ 0 60000 65536"/>
                  <a:gd name="T15" fmla="*/ 0 60000 65536"/>
                  <a:gd name="T16" fmla="*/ 0 60000 65536"/>
                  <a:gd name="T17" fmla="*/ 0 60000 65536"/>
                  <a:gd name="T18" fmla="*/ 0 w 44"/>
                  <a:gd name="T19" fmla="*/ 0 h 74"/>
                  <a:gd name="T20" fmla="*/ 44 w 44"/>
                  <a:gd name="T21" fmla="*/ 74 h 74"/>
                </a:gdLst>
                <a:ahLst/>
                <a:cxnLst>
                  <a:cxn ang="T12">
                    <a:pos x="T0" y="T1"/>
                  </a:cxn>
                  <a:cxn ang="T13">
                    <a:pos x="T2" y="T3"/>
                  </a:cxn>
                  <a:cxn ang="T14">
                    <a:pos x="T4" y="T5"/>
                  </a:cxn>
                  <a:cxn ang="T15">
                    <a:pos x="T6" y="T7"/>
                  </a:cxn>
                  <a:cxn ang="T16">
                    <a:pos x="T8" y="T9"/>
                  </a:cxn>
                  <a:cxn ang="T17">
                    <a:pos x="T10" y="T11"/>
                  </a:cxn>
                </a:cxnLst>
                <a:rect l="T18" t="T19" r="T20" b="T21"/>
                <a:pathLst>
                  <a:path w="44" h="74">
                    <a:moveTo>
                      <a:pt x="43" y="73"/>
                    </a:moveTo>
                    <a:lnTo>
                      <a:pt x="43" y="73"/>
                    </a:lnTo>
                    <a:lnTo>
                      <a:pt x="0" y="57"/>
                    </a:lnTo>
                    <a:lnTo>
                      <a:pt x="0" y="0"/>
                    </a:lnTo>
                    <a:lnTo>
                      <a:pt x="43" y="18"/>
                    </a:lnTo>
                    <a:lnTo>
                      <a:pt x="43" y="73"/>
                    </a:lnTo>
                  </a:path>
                </a:pathLst>
              </a:custGeom>
              <a:solidFill>
                <a:srgbClr val="9E0005"/>
              </a:solidFill>
              <a:ln w="9525" cap="rnd">
                <a:noFill/>
                <a:round/>
              </a:ln>
            </p:spPr>
            <p:txBody>
              <a:bodyPr/>
              <a:lstStyle/>
              <a:p>
                <a:endParaRPr lang="zh-CN" altLang="en-US"/>
              </a:p>
            </p:txBody>
          </p:sp>
          <p:sp>
            <p:nvSpPr>
              <p:cNvPr id="9527" name="Freeform 213"/>
              <p:cNvSpPr/>
              <p:nvPr/>
            </p:nvSpPr>
            <p:spPr bwMode="auto">
              <a:xfrm>
                <a:off x="2110" y="1945"/>
                <a:ext cx="149" cy="68"/>
              </a:xfrm>
              <a:custGeom>
                <a:avLst/>
                <a:gdLst>
                  <a:gd name="T0" fmla="*/ 45 w 149"/>
                  <a:gd name="T1" fmla="*/ 67 h 68"/>
                  <a:gd name="T2" fmla="*/ 45 w 149"/>
                  <a:gd name="T3" fmla="*/ 67 h 68"/>
                  <a:gd name="T4" fmla="*/ 0 w 149"/>
                  <a:gd name="T5" fmla="*/ 48 h 68"/>
                  <a:gd name="T6" fmla="*/ 106 w 149"/>
                  <a:gd name="T7" fmla="*/ 0 h 68"/>
                  <a:gd name="T8" fmla="*/ 148 w 149"/>
                  <a:gd name="T9" fmla="*/ 18 h 68"/>
                  <a:gd name="T10" fmla="*/ 45 w 149"/>
                  <a:gd name="T11" fmla="*/ 67 h 68"/>
                  <a:gd name="T12" fmla="*/ 0 60000 65536"/>
                  <a:gd name="T13" fmla="*/ 0 60000 65536"/>
                  <a:gd name="T14" fmla="*/ 0 60000 65536"/>
                  <a:gd name="T15" fmla="*/ 0 60000 65536"/>
                  <a:gd name="T16" fmla="*/ 0 60000 65536"/>
                  <a:gd name="T17" fmla="*/ 0 60000 65536"/>
                  <a:gd name="T18" fmla="*/ 0 w 149"/>
                  <a:gd name="T19" fmla="*/ 0 h 68"/>
                  <a:gd name="T20" fmla="*/ 149 w 149"/>
                  <a:gd name="T21" fmla="*/ 68 h 68"/>
                </a:gdLst>
                <a:ahLst/>
                <a:cxnLst>
                  <a:cxn ang="T12">
                    <a:pos x="T0" y="T1"/>
                  </a:cxn>
                  <a:cxn ang="T13">
                    <a:pos x="T2" y="T3"/>
                  </a:cxn>
                  <a:cxn ang="T14">
                    <a:pos x="T4" y="T5"/>
                  </a:cxn>
                  <a:cxn ang="T15">
                    <a:pos x="T6" y="T7"/>
                  </a:cxn>
                  <a:cxn ang="T16">
                    <a:pos x="T8" y="T9"/>
                  </a:cxn>
                  <a:cxn ang="T17">
                    <a:pos x="T10" y="T11"/>
                  </a:cxn>
                </a:cxnLst>
                <a:rect l="T18" t="T19" r="T20" b="T21"/>
                <a:pathLst>
                  <a:path w="149" h="68">
                    <a:moveTo>
                      <a:pt x="45" y="67"/>
                    </a:moveTo>
                    <a:lnTo>
                      <a:pt x="45" y="67"/>
                    </a:lnTo>
                    <a:lnTo>
                      <a:pt x="0" y="48"/>
                    </a:lnTo>
                    <a:lnTo>
                      <a:pt x="106" y="0"/>
                    </a:lnTo>
                    <a:lnTo>
                      <a:pt x="148" y="18"/>
                    </a:lnTo>
                    <a:lnTo>
                      <a:pt x="45" y="67"/>
                    </a:lnTo>
                  </a:path>
                </a:pathLst>
              </a:custGeom>
              <a:solidFill>
                <a:srgbClr val="CF5C82"/>
              </a:solidFill>
              <a:ln w="9525" cap="rnd">
                <a:noFill/>
                <a:round/>
              </a:ln>
            </p:spPr>
            <p:txBody>
              <a:bodyPr/>
              <a:lstStyle/>
              <a:p>
                <a:endParaRPr lang="zh-CN" altLang="en-US"/>
              </a:p>
            </p:txBody>
          </p:sp>
        </p:grpSp>
        <p:sp>
          <p:nvSpPr>
            <p:cNvPr id="9513" name="Freeform 214"/>
            <p:cNvSpPr/>
            <p:nvPr/>
          </p:nvSpPr>
          <p:spPr bwMode="auto">
            <a:xfrm>
              <a:off x="2097" y="2022"/>
              <a:ext cx="48" cy="85"/>
            </a:xfrm>
            <a:custGeom>
              <a:avLst/>
              <a:gdLst>
                <a:gd name="T0" fmla="*/ 0 w 48"/>
                <a:gd name="T1" fmla="*/ 84 h 85"/>
                <a:gd name="T2" fmla="*/ 0 w 48"/>
                <a:gd name="T3" fmla="*/ 84 h 85"/>
                <a:gd name="T4" fmla="*/ 0 w 48"/>
                <a:gd name="T5" fmla="*/ 24 h 85"/>
                <a:gd name="T6" fmla="*/ 47 w 48"/>
                <a:gd name="T7" fmla="*/ 0 h 85"/>
                <a:gd name="T8" fmla="*/ 47 w 48"/>
                <a:gd name="T9" fmla="*/ 55 h 85"/>
                <a:gd name="T10" fmla="*/ 0 w 48"/>
                <a:gd name="T11" fmla="*/ 84 h 85"/>
                <a:gd name="T12" fmla="*/ 0 60000 65536"/>
                <a:gd name="T13" fmla="*/ 0 60000 65536"/>
                <a:gd name="T14" fmla="*/ 0 60000 65536"/>
                <a:gd name="T15" fmla="*/ 0 60000 65536"/>
                <a:gd name="T16" fmla="*/ 0 60000 65536"/>
                <a:gd name="T17" fmla="*/ 0 60000 65536"/>
                <a:gd name="T18" fmla="*/ 0 w 48"/>
                <a:gd name="T19" fmla="*/ 0 h 85"/>
                <a:gd name="T20" fmla="*/ 48 w 48"/>
                <a:gd name="T21" fmla="*/ 85 h 85"/>
              </a:gdLst>
              <a:ahLst/>
              <a:cxnLst>
                <a:cxn ang="T12">
                  <a:pos x="T0" y="T1"/>
                </a:cxn>
                <a:cxn ang="T13">
                  <a:pos x="T2" y="T3"/>
                </a:cxn>
                <a:cxn ang="T14">
                  <a:pos x="T4" y="T5"/>
                </a:cxn>
                <a:cxn ang="T15">
                  <a:pos x="T6" y="T7"/>
                </a:cxn>
                <a:cxn ang="T16">
                  <a:pos x="T8" y="T9"/>
                </a:cxn>
                <a:cxn ang="T17">
                  <a:pos x="T10" y="T11"/>
                </a:cxn>
              </a:cxnLst>
              <a:rect l="T18" t="T19" r="T20" b="T21"/>
              <a:pathLst>
                <a:path w="48" h="85">
                  <a:moveTo>
                    <a:pt x="0" y="84"/>
                  </a:moveTo>
                  <a:lnTo>
                    <a:pt x="0" y="84"/>
                  </a:lnTo>
                  <a:lnTo>
                    <a:pt x="0" y="24"/>
                  </a:lnTo>
                  <a:lnTo>
                    <a:pt x="47" y="0"/>
                  </a:lnTo>
                  <a:lnTo>
                    <a:pt x="47" y="55"/>
                  </a:lnTo>
                  <a:lnTo>
                    <a:pt x="0" y="84"/>
                  </a:lnTo>
                </a:path>
              </a:pathLst>
            </a:custGeom>
            <a:solidFill>
              <a:srgbClr val="BB1A50"/>
            </a:solidFill>
            <a:ln w="9525" cap="rnd">
              <a:noFill/>
              <a:round/>
            </a:ln>
          </p:spPr>
          <p:txBody>
            <a:bodyPr/>
            <a:lstStyle/>
            <a:p>
              <a:endParaRPr lang="zh-CN" altLang="en-US"/>
            </a:p>
          </p:txBody>
        </p:sp>
        <p:sp>
          <p:nvSpPr>
            <p:cNvPr id="9514" name="Freeform 215"/>
            <p:cNvSpPr/>
            <p:nvPr/>
          </p:nvSpPr>
          <p:spPr bwMode="auto">
            <a:xfrm>
              <a:off x="2048" y="2003"/>
              <a:ext cx="97" cy="43"/>
            </a:xfrm>
            <a:custGeom>
              <a:avLst/>
              <a:gdLst>
                <a:gd name="T0" fmla="*/ 46 w 97"/>
                <a:gd name="T1" fmla="*/ 42 h 43"/>
                <a:gd name="T2" fmla="*/ 46 w 97"/>
                <a:gd name="T3" fmla="*/ 42 h 43"/>
                <a:gd name="T4" fmla="*/ 0 w 97"/>
                <a:gd name="T5" fmla="*/ 26 h 43"/>
                <a:gd name="T6" fmla="*/ 52 w 97"/>
                <a:gd name="T7" fmla="*/ 0 h 43"/>
                <a:gd name="T8" fmla="*/ 96 w 97"/>
                <a:gd name="T9" fmla="*/ 17 h 43"/>
                <a:gd name="T10" fmla="*/ 46 w 97"/>
                <a:gd name="T11" fmla="*/ 42 h 43"/>
                <a:gd name="T12" fmla="*/ 0 60000 65536"/>
                <a:gd name="T13" fmla="*/ 0 60000 65536"/>
                <a:gd name="T14" fmla="*/ 0 60000 65536"/>
                <a:gd name="T15" fmla="*/ 0 60000 65536"/>
                <a:gd name="T16" fmla="*/ 0 60000 65536"/>
                <a:gd name="T17" fmla="*/ 0 60000 65536"/>
                <a:gd name="T18" fmla="*/ 0 w 97"/>
                <a:gd name="T19" fmla="*/ 0 h 43"/>
                <a:gd name="T20" fmla="*/ 97 w 97"/>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97" h="43">
                  <a:moveTo>
                    <a:pt x="46" y="42"/>
                  </a:moveTo>
                  <a:lnTo>
                    <a:pt x="46" y="42"/>
                  </a:lnTo>
                  <a:lnTo>
                    <a:pt x="0" y="26"/>
                  </a:lnTo>
                  <a:lnTo>
                    <a:pt x="52" y="0"/>
                  </a:lnTo>
                  <a:lnTo>
                    <a:pt x="96" y="17"/>
                  </a:lnTo>
                  <a:lnTo>
                    <a:pt x="46" y="42"/>
                  </a:lnTo>
                </a:path>
              </a:pathLst>
            </a:custGeom>
            <a:solidFill>
              <a:srgbClr val="CF5C82"/>
            </a:solidFill>
            <a:ln w="9525" cap="rnd">
              <a:noFill/>
              <a:round/>
            </a:ln>
          </p:spPr>
          <p:txBody>
            <a:bodyPr/>
            <a:lstStyle/>
            <a:p>
              <a:endParaRPr lang="zh-CN" altLang="en-US"/>
            </a:p>
          </p:txBody>
        </p:sp>
        <p:sp>
          <p:nvSpPr>
            <p:cNvPr id="9515" name="Freeform 216"/>
            <p:cNvSpPr/>
            <p:nvPr/>
          </p:nvSpPr>
          <p:spPr bwMode="auto">
            <a:xfrm>
              <a:off x="2454" y="1856"/>
              <a:ext cx="17" cy="60"/>
            </a:xfrm>
            <a:custGeom>
              <a:avLst/>
              <a:gdLst>
                <a:gd name="T0" fmla="*/ 0 w 17"/>
                <a:gd name="T1" fmla="*/ 59 h 60"/>
                <a:gd name="T2" fmla="*/ 0 w 17"/>
                <a:gd name="T3" fmla="*/ 59 h 60"/>
                <a:gd name="T4" fmla="*/ 0 w 17"/>
                <a:gd name="T5" fmla="*/ 28 h 60"/>
                <a:gd name="T6" fmla="*/ 6 w 17"/>
                <a:gd name="T7" fmla="*/ 9 h 60"/>
                <a:gd name="T8" fmla="*/ 6 w 17"/>
                <a:gd name="T9" fmla="*/ 2 h 60"/>
                <a:gd name="T10" fmla="*/ 6 w 17"/>
                <a:gd name="T11" fmla="*/ 0 h 60"/>
                <a:gd name="T12" fmla="*/ 10 w 17"/>
                <a:gd name="T13" fmla="*/ 0 h 60"/>
                <a:gd name="T14" fmla="*/ 16 w 17"/>
                <a:gd name="T15" fmla="*/ 0 h 60"/>
                <a:gd name="T16" fmla="*/ 16 w 17"/>
                <a:gd name="T17" fmla="*/ 28 h 60"/>
                <a:gd name="T18" fmla="*/ 10 w 17"/>
                <a:gd name="T19" fmla="*/ 52 h 60"/>
                <a:gd name="T20" fmla="*/ 6 w 17"/>
                <a:gd name="T21" fmla="*/ 52 h 60"/>
                <a:gd name="T22" fmla="*/ 0 w 17"/>
                <a:gd name="T23" fmla="*/ 56 h 60"/>
                <a:gd name="T24" fmla="*/ 0 w 17"/>
                <a:gd name="T25" fmla="*/ 59 h 6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
                <a:gd name="T40" fmla="*/ 0 h 60"/>
                <a:gd name="T41" fmla="*/ 17 w 17"/>
                <a:gd name="T42" fmla="*/ 60 h 6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 h="60">
                  <a:moveTo>
                    <a:pt x="0" y="59"/>
                  </a:moveTo>
                  <a:lnTo>
                    <a:pt x="0" y="59"/>
                  </a:lnTo>
                  <a:lnTo>
                    <a:pt x="0" y="28"/>
                  </a:lnTo>
                  <a:lnTo>
                    <a:pt x="6" y="9"/>
                  </a:lnTo>
                  <a:lnTo>
                    <a:pt x="6" y="2"/>
                  </a:lnTo>
                  <a:lnTo>
                    <a:pt x="6" y="0"/>
                  </a:lnTo>
                  <a:lnTo>
                    <a:pt x="10" y="0"/>
                  </a:lnTo>
                  <a:lnTo>
                    <a:pt x="16" y="0"/>
                  </a:lnTo>
                  <a:lnTo>
                    <a:pt x="16" y="28"/>
                  </a:lnTo>
                  <a:lnTo>
                    <a:pt x="10" y="52"/>
                  </a:lnTo>
                  <a:lnTo>
                    <a:pt x="6" y="52"/>
                  </a:lnTo>
                  <a:lnTo>
                    <a:pt x="0" y="56"/>
                  </a:lnTo>
                  <a:lnTo>
                    <a:pt x="0" y="59"/>
                  </a:lnTo>
                </a:path>
              </a:pathLst>
            </a:custGeom>
            <a:solidFill>
              <a:srgbClr val="BDB597"/>
            </a:solidFill>
            <a:ln w="9525" cap="rnd">
              <a:noFill/>
              <a:round/>
            </a:ln>
          </p:spPr>
          <p:txBody>
            <a:bodyPr/>
            <a:lstStyle/>
            <a:p>
              <a:endParaRPr lang="zh-CN" altLang="en-US"/>
            </a:p>
          </p:txBody>
        </p:sp>
        <p:sp>
          <p:nvSpPr>
            <p:cNvPr id="9516" name="Freeform 217"/>
            <p:cNvSpPr/>
            <p:nvPr/>
          </p:nvSpPr>
          <p:spPr bwMode="auto">
            <a:xfrm>
              <a:off x="2358" y="1908"/>
              <a:ext cx="17" cy="59"/>
            </a:xfrm>
            <a:custGeom>
              <a:avLst/>
              <a:gdLst>
                <a:gd name="T0" fmla="*/ 0 w 17"/>
                <a:gd name="T1" fmla="*/ 58 h 59"/>
                <a:gd name="T2" fmla="*/ 0 w 17"/>
                <a:gd name="T3" fmla="*/ 58 h 59"/>
                <a:gd name="T4" fmla="*/ 4 w 17"/>
                <a:gd name="T5" fmla="*/ 49 h 59"/>
                <a:gd name="T6" fmla="*/ 4 w 17"/>
                <a:gd name="T7" fmla="*/ 27 h 59"/>
                <a:gd name="T8" fmla="*/ 4 w 17"/>
                <a:gd name="T9" fmla="*/ 18 h 59"/>
                <a:gd name="T10" fmla="*/ 4 w 17"/>
                <a:gd name="T11" fmla="*/ 8 h 59"/>
                <a:gd name="T12" fmla="*/ 4 w 17"/>
                <a:gd name="T13" fmla="*/ 6 h 59"/>
                <a:gd name="T14" fmla="*/ 4 w 17"/>
                <a:gd name="T15" fmla="*/ 2 h 59"/>
                <a:gd name="T16" fmla="*/ 4 w 17"/>
                <a:gd name="T17" fmla="*/ 0 h 59"/>
                <a:gd name="T18" fmla="*/ 8 w 17"/>
                <a:gd name="T19" fmla="*/ 0 h 59"/>
                <a:gd name="T20" fmla="*/ 12 w 17"/>
                <a:gd name="T21" fmla="*/ 0 h 59"/>
                <a:gd name="T22" fmla="*/ 16 w 17"/>
                <a:gd name="T23" fmla="*/ 0 h 59"/>
                <a:gd name="T24" fmla="*/ 12 w 17"/>
                <a:gd name="T25" fmla="*/ 24 h 59"/>
                <a:gd name="T26" fmla="*/ 12 w 17"/>
                <a:gd name="T27" fmla="*/ 42 h 59"/>
                <a:gd name="T28" fmla="*/ 12 w 17"/>
                <a:gd name="T29" fmla="*/ 49 h 59"/>
                <a:gd name="T30" fmla="*/ 12 w 17"/>
                <a:gd name="T31" fmla="*/ 51 h 59"/>
                <a:gd name="T32" fmla="*/ 8 w 17"/>
                <a:gd name="T33" fmla="*/ 51 h 59"/>
                <a:gd name="T34" fmla="*/ 4 w 17"/>
                <a:gd name="T35" fmla="*/ 51 h 59"/>
                <a:gd name="T36" fmla="*/ 4 w 17"/>
                <a:gd name="T37" fmla="*/ 55 h 59"/>
                <a:gd name="T38" fmla="*/ 0 w 17"/>
                <a:gd name="T39" fmla="*/ 58 h 5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
                <a:gd name="T61" fmla="*/ 0 h 59"/>
                <a:gd name="T62" fmla="*/ 17 w 17"/>
                <a:gd name="T63" fmla="*/ 59 h 5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 h="59">
                  <a:moveTo>
                    <a:pt x="0" y="58"/>
                  </a:moveTo>
                  <a:lnTo>
                    <a:pt x="0" y="58"/>
                  </a:lnTo>
                  <a:lnTo>
                    <a:pt x="4" y="49"/>
                  </a:lnTo>
                  <a:lnTo>
                    <a:pt x="4" y="27"/>
                  </a:lnTo>
                  <a:lnTo>
                    <a:pt x="4" y="18"/>
                  </a:lnTo>
                  <a:lnTo>
                    <a:pt x="4" y="8"/>
                  </a:lnTo>
                  <a:lnTo>
                    <a:pt x="4" y="6"/>
                  </a:lnTo>
                  <a:lnTo>
                    <a:pt x="4" y="2"/>
                  </a:lnTo>
                  <a:lnTo>
                    <a:pt x="4" y="0"/>
                  </a:lnTo>
                  <a:lnTo>
                    <a:pt x="8" y="0"/>
                  </a:lnTo>
                  <a:lnTo>
                    <a:pt x="12" y="0"/>
                  </a:lnTo>
                  <a:lnTo>
                    <a:pt x="16" y="0"/>
                  </a:lnTo>
                  <a:lnTo>
                    <a:pt x="12" y="24"/>
                  </a:lnTo>
                  <a:lnTo>
                    <a:pt x="12" y="42"/>
                  </a:lnTo>
                  <a:lnTo>
                    <a:pt x="12" y="49"/>
                  </a:lnTo>
                  <a:lnTo>
                    <a:pt x="12" y="51"/>
                  </a:lnTo>
                  <a:lnTo>
                    <a:pt x="8" y="51"/>
                  </a:lnTo>
                  <a:lnTo>
                    <a:pt x="4" y="51"/>
                  </a:lnTo>
                  <a:lnTo>
                    <a:pt x="4" y="55"/>
                  </a:lnTo>
                  <a:lnTo>
                    <a:pt x="0" y="58"/>
                  </a:lnTo>
                </a:path>
              </a:pathLst>
            </a:custGeom>
            <a:solidFill>
              <a:srgbClr val="BDB597"/>
            </a:solidFill>
            <a:ln w="9525" cap="rnd">
              <a:noFill/>
              <a:round/>
            </a:ln>
          </p:spPr>
          <p:txBody>
            <a:bodyPr/>
            <a:lstStyle/>
            <a:p>
              <a:endParaRPr lang="zh-CN" altLang="en-US"/>
            </a:p>
          </p:txBody>
        </p:sp>
        <p:sp>
          <p:nvSpPr>
            <p:cNvPr id="9517" name="Freeform 218"/>
            <p:cNvSpPr/>
            <p:nvPr/>
          </p:nvSpPr>
          <p:spPr bwMode="auto">
            <a:xfrm>
              <a:off x="2258" y="1959"/>
              <a:ext cx="17" cy="65"/>
            </a:xfrm>
            <a:custGeom>
              <a:avLst/>
              <a:gdLst>
                <a:gd name="T0" fmla="*/ 0 w 17"/>
                <a:gd name="T1" fmla="*/ 64 h 65"/>
                <a:gd name="T2" fmla="*/ 0 w 17"/>
                <a:gd name="T3" fmla="*/ 64 h 65"/>
                <a:gd name="T4" fmla="*/ 0 w 17"/>
                <a:gd name="T5" fmla="*/ 30 h 65"/>
                <a:gd name="T6" fmla="*/ 0 w 17"/>
                <a:gd name="T7" fmla="*/ 21 h 65"/>
                <a:gd name="T8" fmla="*/ 0 w 17"/>
                <a:gd name="T9" fmla="*/ 9 h 65"/>
                <a:gd name="T10" fmla="*/ 0 w 17"/>
                <a:gd name="T11" fmla="*/ 6 h 65"/>
                <a:gd name="T12" fmla="*/ 0 w 17"/>
                <a:gd name="T13" fmla="*/ 2 h 65"/>
                <a:gd name="T14" fmla="*/ 0 w 17"/>
                <a:gd name="T15" fmla="*/ 0 h 65"/>
                <a:gd name="T16" fmla="*/ 6 w 17"/>
                <a:gd name="T17" fmla="*/ 0 h 65"/>
                <a:gd name="T18" fmla="*/ 10 w 17"/>
                <a:gd name="T19" fmla="*/ 0 h 65"/>
                <a:gd name="T20" fmla="*/ 16 w 17"/>
                <a:gd name="T21" fmla="*/ 0 h 65"/>
                <a:gd name="T22" fmla="*/ 10 w 17"/>
                <a:gd name="T23" fmla="*/ 27 h 65"/>
                <a:gd name="T24" fmla="*/ 10 w 17"/>
                <a:gd name="T25" fmla="*/ 45 h 65"/>
                <a:gd name="T26" fmla="*/ 10 w 17"/>
                <a:gd name="T27" fmla="*/ 54 h 65"/>
                <a:gd name="T28" fmla="*/ 10 w 17"/>
                <a:gd name="T29" fmla="*/ 57 h 65"/>
                <a:gd name="T30" fmla="*/ 6 w 17"/>
                <a:gd name="T31" fmla="*/ 57 h 65"/>
                <a:gd name="T32" fmla="*/ 0 w 17"/>
                <a:gd name="T33" fmla="*/ 61 h 65"/>
                <a:gd name="T34" fmla="*/ 0 w 17"/>
                <a:gd name="T35" fmla="*/ 64 h 6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65"/>
                <a:gd name="T56" fmla="*/ 17 w 17"/>
                <a:gd name="T57" fmla="*/ 65 h 6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65">
                  <a:moveTo>
                    <a:pt x="0" y="64"/>
                  </a:moveTo>
                  <a:lnTo>
                    <a:pt x="0" y="64"/>
                  </a:lnTo>
                  <a:lnTo>
                    <a:pt x="0" y="30"/>
                  </a:lnTo>
                  <a:lnTo>
                    <a:pt x="0" y="21"/>
                  </a:lnTo>
                  <a:lnTo>
                    <a:pt x="0" y="9"/>
                  </a:lnTo>
                  <a:lnTo>
                    <a:pt x="0" y="6"/>
                  </a:lnTo>
                  <a:lnTo>
                    <a:pt x="0" y="2"/>
                  </a:lnTo>
                  <a:lnTo>
                    <a:pt x="0" y="0"/>
                  </a:lnTo>
                  <a:lnTo>
                    <a:pt x="6" y="0"/>
                  </a:lnTo>
                  <a:lnTo>
                    <a:pt x="10" y="0"/>
                  </a:lnTo>
                  <a:lnTo>
                    <a:pt x="16" y="0"/>
                  </a:lnTo>
                  <a:lnTo>
                    <a:pt x="10" y="27"/>
                  </a:lnTo>
                  <a:lnTo>
                    <a:pt x="10" y="45"/>
                  </a:lnTo>
                  <a:lnTo>
                    <a:pt x="10" y="54"/>
                  </a:lnTo>
                  <a:lnTo>
                    <a:pt x="10" y="57"/>
                  </a:lnTo>
                  <a:lnTo>
                    <a:pt x="6" y="57"/>
                  </a:lnTo>
                  <a:lnTo>
                    <a:pt x="0" y="61"/>
                  </a:lnTo>
                  <a:lnTo>
                    <a:pt x="0" y="64"/>
                  </a:lnTo>
                </a:path>
              </a:pathLst>
            </a:custGeom>
            <a:solidFill>
              <a:srgbClr val="BDB597"/>
            </a:solidFill>
            <a:ln w="9525" cap="rnd">
              <a:noFill/>
              <a:round/>
            </a:ln>
          </p:spPr>
          <p:txBody>
            <a:bodyPr/>
            <a:lstStyle/>
            <a:p>
              <a:endParaRPr lang="zh-CN" altLang="en-US"/>
            </a:p>
          </p:txBody>
        </p:sp>
        <p:sp>
          <p:nvSpPr>
            <p:cNvPr id="9518" name="Freeform 219"/>
            <p:cNvSpPr/>
            <p:nvPr/>
          </p:nvSpPr>
          <p:spPr bwMode="auto">
            <a:xfrm>
              <a:off x="2147" y="2019"/>
              <a:ext cx="17" cy="63"/>
            </a:xfrm>
            <a:custGeom>
              <a:avLst/>
              <a:gdLst>
                <a:gd name="T0" fmla="*/ 0 w 17"/>
                <a:gd name="T1" fmla="*/ 62 h 63"/>
                <a:gd name="T2" fmla="*/ 0 w 17"/>
                <a:gd name="T3" fmla="*/ 62 h 63"/>
                <a:gd name="T4" fmla="*/ 0 w 17"/>
                <a:gd name="T5" fmla="*/ 52 h 63"/>
                <a:gd name="T6" fmla="*/ 0 w 17"/>
                <a:gd name="T7" fmla="*/ 31 h 63"/>
                <a:gd name="T8" fmla="*/ 0 w 17"/>
                <a:gd name="T9" fmla="*/ 18 h 63"/>
                <a:gd name="T10" fmla="*/ 0 w 17"/>
                <a:gd name="T11" fmla="*/ 9 h 63"/>
                <a:gd name="T12" fmla="*/ 0 w 17"/>
                <a:gd name="T13" fmla="*/ 2 h 63"/>
                <a:gd name="T14" fmla="*/ 0 w 17"/>
                <a:gd name="T15" fmla="*/ 0 h 63"/>
                <a:gd name="T16" fmla="*/ 6 w 17"/>
                <a:gd name="T17" fmla="*/ 0 h 63"/>
                <a:gd name="T18" fmla="*/ 10 w 17"/>
                <a:gd name="T19" fmla="*/ 0 h 63"/>
                <a:gd name="T20" fmla="*/ 16 w 17"/>
                <a:gd name="T21" fmla="*/ 0 h 63"/>
                <a:gd name="T22" fmla="*/ 16 w 17"/>
                <a:gd name="T23" fmla="*/ 28 h 63"/>
                <a:gd name="T24" fmla="*/ 16 w 17"/>
                <a:gd name="T25" fmla="*/ 46 h 63"/>
                <a:gd name="T26" fmla="*/ 16 w 17"/>
                <a:gd name="T27" fmla="*/ 55 h 63"/>
                <a:gd name="T28" fmla="*/ 10 w 17"/>
                <a:gd name="T29" fmla="*/ 55 h 63"/>
                <a:gd name="T30" fmla="*/ 6 w 17"/>
                <a:gd name="T31" fmla="*/ 55 h 63"/>
                <a:gd name="T32" fmla="*/ 6 w 17"/>
                <a:gd name="T33" fmla="*/ 59 h 63"/>
                <a:gd name="T34" fmla="*/ 0 w 17"/>
                <a:gd name="T35" fmla="*/ 62 h 6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63"/>
                <a:gd name="T56" fmla="*/ 17 w 17"/>
                <a:gd name="T57" fmla="*/ 63 h 6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63">
                  <a:moveTo>
                    <a:pt x="0" y="62"/>
                  </a:moveTo>
                  <a:lnTo>
                    <a:pt x="0" y="62"/>
                  </a:lnTo>
                  <a:lnTo>
                    <a:pt x="0" y="52"/>
                  </a:lnTo>
                  <a:lnTo>
                    <a:pt x="0" y="31"/>
                  </a:lnTo>
                  <a:lnTo>
                    <a:pt x="0" y="18"/>
                  </a:lnTo>
                  <a:lnTo>
                    <a:pt x="0" y="9"/>
                  </a:lnTo>
                  <a:lnTo>
                    <a:pt x="0" y="2"/>
                  </a:lnTo>
                  <a:lnTo>
                    <a:pt x="0" y="0"/>
                  </a:lnTo>
                  <a:lnTo>
                    <a:pt x="6" y="0"/>
                  </a:lnTo>
                  <a:lnTo>
                    <a:pt x="10" y="0"/>
                  </a:lnTo>
                  <a:lnTo>
                    <a:pt x="16" y="0"/>
                  </a:lnTo>
                  <a:lnTo>
                    <a:pt x="16" y="28"/>
                  </a:lnTo>
                  <a:lnTo>
                    <a:pt x="16" y="46"/>
                  </a:lnTo>
                  <a:lnTo>
                    <a:pt x="16" y="55"/>
                  </a:lnTo>
                  <a:lnTo>
                    <a:pt x="10" y="55"/>
                  </a:lnTo>
                  <a:lnTo>
                    <a:pt x="6" y="55"/>
                  </a:lnTo>
                  <a:lnTo>
                    <a:pt x="6" y="59"/>
                  </a:lnTo>
                  <a:lnTo>
                    <a:pt x="0" y="62"/>
                  </a:lnTo>
                </a:path>
              </a:pathLst>
            </a:custGeom>
            <a:solidFill>
              <a:srgbClr val="BDB597"/>
            </a:solidFill>
            <a:ln w="9525" cap="rnd">
              <a:noFill/>
              <a:round/>
            </a:ln>
          </p:spPr>
          <p:txBody>
            <a:bodyPr/>
            <a:lstStyle/>
            <a:p>
              <a:endParaRPr lang="zh-CN" altLang="en-US"/>
            </a:p>
          </p:txBody>
        </p:sp>
        <p:sp>
          <p:nvSpPr>
            <p:cNvPr id="9519" name="Freeform 220"/>
            <p:cNvSpPr/>
            <p:nvPr/>
          </p:nvSpPr>
          <p:spPr bwMode="auto">
            <a:xfrm>
              <a:off x="2048" y="2032"/>
              <a:ext cx="47" cy="75"/>
            </a:xfrm>
            <a:custGeom>
              <a:avLst/>
              <a:gdLst>
                <a:gd name="T0" fmla="*/ 46 w 47"/>
                <a:gd name="T1" fmla="*/ 74 h 75"/>
                <a:gd name="T2" fmla="*/ 46 w 47"/>
                <a:gd name="T3" fmla="*/ 74 h 75"/>
                <a:gd name="T4" fmla="*/ 0 w 47"/>
                <a:gd name="T5" fmla="*/ 58 h 75"/>
                <a:gd name="T6" fmla="*/ 0 w 47"/>
                <a:gd name="T7" fmla="*/ 0 h 75"/>
                <a:gd name="T8" fmla="*/ 46 w 47"/>
                <a:gd name="T9" fmla="*/ 15 h 75"/>
                <a:gd name="T10" fmla="*/ 46 w 47"/>
                <a:gd name="T11" fmla="*/ 74 h 75"/>
                <a:gd name="T12" fmla="*/ 0 60000 65536"/>
                <a:gd name="T13" fmla="*/ 0 60000 65536"/>
                <a:gd name="T14" fmla="*/ 0 60000 65536"/>
                <a:gd name="T15" fmla="*/ 0 60000 65536"/>
                <a:gd name="T16" fmla="*/ 0 60000 65536"/>
                <a:gd name="T17" fmla="*/ 0 60000 65536"/>
                <a:gd name="T18" fmla="*/ 0 w 47"/>
                <a:gd name="T19" fmla="*/ 0 h 75"/>
                <a:gd name="T20" fmla="*/ 47 w 47"/>
                <a:gd name="T21" fmla="*/ 75 h 75"/>
              </a:gdLst>
              <a:ahLst/>
              <a:cxnLst>
                <a:cxn ang="T12">
                  <a:pos x="T0" y="T1"/>
                </a:cxn>
                <a:cxn ang="T13">
                  <a:pos x="T2" y="T3"/>
                </a:cxn>
                <a:cxn ang="T14">
                  <a:pos x="T4" y="T5"/>
                </a:cxn>
                <a:cxn ang="T15">
                  <a:pos x="T6" y="T7"/>
                </a:cxn>
                <a:cxn ang="T16">
                  <a:pos x="T8" y="T9"/>
                </a:cxn>
                <a:cxn ang="T17">
                  <a:pos x="T10" y="T11"/>
                </a:cxn>
              </a:cxnLst>
              <a:rect l="T18" t="T19" r="T20" b="T21"/>
              <a:pathLst>
                <a:path w="47" h="75">
                  <a:moveTo>
                    <a:pt x="46" y="74"/>
                  </a:moveTo>
                  <a:lnTo>
                    <a:pt x="46" y="74"/>
                  </a:lnTo>
                  <a:lnTo>
                    <a:pt x="0" y="58"/>
                  </a:lnTo>
                  <a:lnTo>
                    <a:pt x="0" y="0"/>
                  </a:lnTo>
                  <a:lnTo>
                    <a:pt x="46" y="15"/>
                  </a:lnTo>
                  <a:lnTo>
                    <a:pt x="46" y="74"/>
                  </a:lnTo>
                </a:path>
              </a:pathLst>
            </a:custGeom>
            <a:solidFill>
              <a:srgbClr val="9E0005"/>
            </a:solidFill>
            <a:ln w="9525" cap="rnd">
              <a:noFill/>
              <a:round/>
            </a:ln>
          </p:spPr>
          <p:txBody>
            <a:bodyPr/>
            <a:lstStyle/>
            <a:p>
              <a:endParaRPr lang="zh-CN" altLang="en-US"/>
            </a:p>
          </p:txBody>
        </p:sp>
        <p:sp>
          <p:nvSpPr>
            <p:cNvPr id="9520" name="Freeform 221"/>
            <p:cNvSpPr/>
            <p:nvPr/>
          </p:nvSpPr>
          <p:spPr bwMode="auto">
            <a:xfrm>
              <a:off x="2047" y="2090"/>
              <a:ext cx="50" cy="26"/>
            </a:xfrm>
            <a:custGeom>
              <a:avLst/>
              <a:gdLst>
                <a:gd name="T0" fmla="*/ 49 w 50"/>
                <a:gd name="T1" fmla="*/ 25 h 26"/>
                <a:gd name="T2" fmla="*/ 49 w 50"/>
                <a:gd name="T3" fmla="*/ 25 h 26"/>
                <a:gd name="T4" fmla="*/ 49 w 50"/>
                <a:gd name="T5" fmla="*/ 22 h 26"/>
                <a:gd name="T6" fmla="*/ 46 w 50"/>
                <a:gd name="T7" fmla="*/ 16 h 26"/>
                <a:gd name="T8" fmla="*/ 24 w 50"/>
                <a:gd name="T9" fmla="*/ 8 h 26"/>
                <a:gd name="T10" fmla="*/ 0 w 50"/>
                <a:gd name="T11" fmla="*/ 0 h 26"/>
                <a:gd name="T12" fmla="*/ 0 w 50"/>
                <a:gd name="T13" fmla="*/ 2 h 26"/>
                <a:gd name="T14" fmla="*/ 0 w 50"/>
                <a:gd name="T15" fmla="*/ 5 h 26"/>
                <a:gd name="T16" fmla="*/ 0 w 50"/>
                <a:gd name="T17" fmla="*/ 8 h 26"/>
                <a:gd name="T18" fmla="*/ 2 w 50"/>
                <a:gd name="T19" fmla="*/ 8 h 26"/>
                <a:gd name="T20" fmla="*/ 8 w 50"/>
                <a:gd name="T21" fmla="*/ 10 h 26"/>
                <a:gd name="T22" fmla="*/ 24 w 50"/>
                <a:gd name="T23" fmla="*/ 14 h 26"/>
                <a:gd name="T24" fmla="*/ 32 w 50"/>
                <a:gd name="T25" fmla="*/ 16 h 26"/>
                <a:gd name="T26" fmla="*/ 35 w 50"/>
                <a:gd name="T27" fmla="*/ 19 h 26"/>
                <a:gd name="T28" fmla="*/ 40 w 50"/>
                <a:gd name="T29" fmla="*/ 19 h 26"/>
                <a:gd name="T30" fmla="*/ 43 w 50"/>
                <a:gd name="T31" fmla="*/ 22 h 26"/>
                <a:gd name="T32" fmla="*/ 46 w 50"/>
                <a:gd name="T33" fmla="*/ 22 h 26"/>
                <a:gd name="T34" fmla="*/ 49 w 50"/>
                <a:gd name="T35" fmla="*/ 22 h 26"/>
                <a:gd name="T36" fmla="*/ 49 w 50"/>
                <a:gd name="T37" fmla="*/ 25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0"/>
                <a:gd name="T58" fmla="*/ 0 h 26"/>
                <a:gd name="T59" fmla="*/ 50 w 50"/>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0" h="26">
                  <a:moveTo>
                    <a:pt x="49" y="25"/>
                  </a:moveTo>
                  <a:lnTo>
                    <a:pt x="49" y="25"/>
                  </a:lnTo>
                  <a:lnTo>
                    <a:pt x="49" y="22"/>
                  </a:lnTo>
                  <a:lnTo>
                    <a:pt x="46" y="16"/>
                  </a:lnTo>
                  <a:lnTo>
                    <a:pt x="24" y="8"/>
                  </a:lnTo>
                  <a:lnTo>
                    <a:pt x="0" y="0"/>
                  </a:lnTo>
                  <a:lnTo>
                    <a:pt x="0" y="2"/>
                  </a:lnTo>
                  <a:lnTo>
                    <a:pt x="0" y="5"/>
                  </a:lnTo>
                  <a:lnTo>
                    <a:pt x="0" y="8"/>
                  </a:lnTo>
                  <a:lnTo>
                    <a:pt x="2" y="8"/>
                  </a:lnTo>
                  <a:lnTo>
                    <a:pt x="8" y="10"/>
                  </a:lnTo>
                  <a:lnTo>
                    <a:pt x="24" y="14"/>
                  </a:lnTo>
                  <a:lnTo>
                    <a:pt x="32" y="16"/>
                  </a:lnTo>
                  <a:lnTo>
                    <a:pt x="35" y="19"/>
                  </a:lnTo>
                  <a:lnTo>
                    <a:pt x="40" y="19"/>
                  </a:lnTo>
                  <a:lnTo>
                    <a:pt x="43" y="22"/>
                  </a:lnTo>
                  <a:lnTo>
                    <a:pt x="46" y="22"/>
                  </a:lnTo>
                  <a:lnTo>
                    <a:pt x="49" y="22"/>
                  </a:lnTo>
                  <a:lnTo>
                    <a:pt x="49" y="25"/>
                  </a:lnTo>
                </a:path>
              </a:pathLst>
            </a:custGeom>
            <a:solidFill>
              <a:srgbClr val="BDB597"/>
            </a:solidFill>
            <a:ln w="9525" cap="rnd">
              <a:noFill/>
              <a:round/>
            </a:ln>
          </p:spPr>
          <p:txBody>
            <a:bodyPr/>
            <a:lstStyle/>
            <a:p>
              <a:endParaRPr lang="zh-CN" altLang="en-US"/>
            </a:p>
          </p:txBody>
        </p:sp>
        <p:sp>
          <p:nvSpPr>
            <p:cNvPr id="9521" name="Freeform 222"/>
            <p:cNvSpPr/>
            <p:nvPr/>
          </p:nvSpPr>
          <p:spPr bwMode="auto">
            <a:xfrm>
              <a:off x="2101" y="2000"/>
              <a:ext cx="53" cy="24"/>
            </a:xfrm>
            <a:custGeom>
              <a:avLst/>
              <a:gdLst>
                <a:gd name="T0" fmla="*/ 46 w 53"/>
                <a:gd name="T1" fmla="*/ 23 h 24"/>
                <a:gd name="T2" fmla="*/ 46 w 53"/>
                <a:gd name="T3" fmla="*/ 23 h 24"/>
                <a:gd name="T4" fmla="*/ 49 w 53"/>
                <a:gd name="T5" fmla="*/ 23 h 24"/>
                <a:gd name="T6" fmla="*/ 49 w 53"/>
                <a:gd name="T7" fmla="*/ 20 h 24"/>
                <a:gd name="T8" fmla="*/ 49 w 53"/>
                <a:gd name="T9" fmla="*/ 17 h 24"/>
                <a:gd name="T10" fmla="*/ 52 w 53"/>
                <a:gd name="T11" fmla="*/ 14 h 24"/>
                <a:gd name="T12" fmla="*/ 30 w 53"/>
                <a:gd name="T13" fmla="*/ 5 h 24"/>
                <a:gd name="T14" fmla="*/ 16 w 53"/>
                <a:gd name="T15" fmla="*/ 0 h 24"/>
                <a:gd name="T16" fmla="*/ 11 w 53"/>
                <a:gd name="T17" fmla="*/ 0 h 24"/>
                <a:gd name="T18" fmla="*/ 8 w 53"/>
                <a:gd name="T19" fmla="*/ 0 h 24"/>
                <a:gd name="T20" fmla="*/ 5 w 53"/>
                <a:gd name="T21" fmla="*/ 0 h 24"/>
                <a:gd name="T22" fmla="*/ 2 w 53"/>
                <a:gd name="T23" fmla="*/ 0 h 24"/>
                <a:gd name="T24" fmla="*/ 2 w 53"/>
                <a:gd name="T25" fmla="*/ 2 h 24"/>
                <a:gd name="T26" fmla="*/ 0 w 53"/>
                <a:gd name="T27" fmla="*/ 2 h 24"/>
                <a:gd name="T28" fmla="*/ 2 w 53"/>
                <a:gd name="T29" fmla="*/ 5 h 24"/>
                <a:gd name="T30" fmla="*/ 8 w 53"/>
                <a:gd name="T31" fmla="*/ 5 h 24"/>
                <a:gd name="T32" fmla="*/ 21 w 53"/>
                <a:gd name="T33" fmla="*/ 11 h 24"/>
                <a:gd name="T34" fmla="*/ 30 w 53"/>
                <a:gd name="T35" fmla="*/ 14 h 24"/>
                <a:gd name="T36" fmla="*/ 38 w 53"/>
                <a:gd name="T37" fmla="*/ 17 h 24"/>
                <a:gd name="T38" fmla="*/ 40 w 53"/>
                <a:gd name="T39" fmla="*/ 20 h 24"/>
                <a:gd name="T40" fmla="*/ 44 w 53"/>
                <a:gd name="T41" fmla="*/ 20 h 24"/>
                <a:gd name="T42" fmla="*/ 46 w 53"/>
                <a:gd name="T43" fmla="*/ 23 h 2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3"/>
                <a:gd name="T67" fmla="*/ 0 h 24"/>
                <a:gd name="T68" fmla="*/ 53 w 53"/>
                <a:gd name="T69" fmla="*/ 24 h 2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3" h="24">
                  <a:moveTo>
                    <a:pt x="46" y="23"/>
                  </a:moveTo>
                  <a:lnTo>
                    <a:pt x="46" y="23"/>
                  </a:lnTo>
                  <a:lnTo>
                    <a:pt x="49" y="23"/>
                  </a:lnTo>
                  <a:lnTo>
                    <a:pt x="49" y="20"/>
                  </a:lnTo>
                  <a:lnTo>
                    <a:pt x="49" y="17"/>
                  </a:lnTo>
                  <a:lnTo>
                    <a:pt x="52" y="14"/>
                  </a:lnTo>
                  <a:lnTo>
                    <a:pt x="30" y="5"/>
                  </a:lnTo>
                  <a:lnTo>
                    <a:pt x="16" y="0"/>
                  </a:lnTo>
                  <a:lnTo>
                    <a:pt x="11" y="0"/>
                  </a:lnTo>
                  <a:lnTo>
                    <a:pt x="8" y="0"/>
                  </a:lnTo>
                  <a:lnTo>
                    <a:pt x="5" y="0"/>
                  </a:lnTo>
                  <a:lnTo>
                    <a:pt x="2" y="0"/>
                  </a:lnTo>
                  <a:lnTo>
                    <a:pt x="2" y="2"/>
                  </a:lnTo>
                  <a:lnTo>
                    <a:pt x="0" y="2"/>
                  </a:lnTo>
                  <a:lnTo>
                    <a:pt x="2" y="5"/>
                  </a:lnTo>
                  <a:lnTo>
                    <a:pt x="8" y="5"/>
                  </a:lnTo>
                  <a:lnTo>
                    <a:pt x="21" y="11"/>
                  </a:lnTo>
                  <a:lnTo>
                    <a:pt x="30" y="14"/>
                  </a:lnTo>
                  <a:lnTo>
                    <a:pt x="38" y="17"/>
                  </a:lnTo>
                  <a:lnTo>
                    <a:pt x="40" y="20"/>
                  </a:lnTo>
                  <a:lnTo>
                    <a:pt x="44" y="20"/>
                  </a:lnTo>
                  <a:lnTo>
                    <a:pt x="46" y="23"/>
                  </a:lnTo>
                </a:path>
              </a:pathLst>
            </a:custGeom>
            <a:solidFill>
              <a:srgbClr val="BDB597"/>
            </a:solidFill>
            <a:ln w="9525" cap="rnd">
              <a:noFill/>
              <a:round/>
            </a:ln>
          </p:spPr>
          <p:txBody>
            <a:bodyPr/>
            <a:lstStyle/>
            <a:p>
              <a:endParaRPr lang="zh-CN" altLang="en-US"/>
            </a:p>
          </p:txBody>
        </p:sp>
        <p:sp>
          <p:nvSpPr>
            <p:cNvPr id="9522" name="Freeform 223"/>
            <p:cNvSpPr/>
            <p:nvPr/>
          </p:nvSpPr>
          <p:spPr bwMode="auto">
            <a:xfrm>
              <a:off x="2216" y="1942"/>
              <a:ext cx="49" cy="24"/>
            </a:xfrm>
            <a:custGeom>
              <a:avLst/>
              <a:gdLst>
                <a:gd name="T0" fmla="*/ 45 w 49"/>
                <a:gd name="T1" fmla="*/ 23 h 24"/>
                <a:gd name="T2" fmla="*/ 45 w 49"/>
                <a:gd name="T3" fmla="*/ 23 h 24"/>
                <a:gd name="T4" fmla="*/ 48 w 49"/>
                <a:gd name="T5" fmla="*/ 23 h 24"/>
                <a:gd name="T6" fmla="*/ 48 w 49"/>
                <a:gd name="T7" fmla="*/ 20 h 24"/>
                <a:gd name="T8" fmla="*/ 48 w 49"/>
                <a:gd name="T9" fmla="*/ 17 h 24"/>
                <a:gd name="T10" fmla="*/ 48 w 49"/>
                <a:gd name="T11" fmla="*/ 14 h 24"/>
                <a:gd name="T12" fmla="*/ 29 w 49"/>
                <a:gd name="T13" fmla="*/ 6 h 24"/>
                <a:gd name="T14" fmla="*/ 16 w 49"/>
                <a:gd name="T15" fmla="*/ 0 h 24"/>
                <a:gd name="T16" fmla="*/ 10 w 49"/>
                <a:gd name="T17" fmla="*/ 0 h 24"/>
                <a:gd name="T18" fmla="*/ 8 w 49"/>
                <a:gd name="T19" fmla="*/ 0 h 24"/>
                <a:gd name="T20" fmla="*/ 5 w 49"/>
                <a:gd name="T21" fmla="*/ 0 h 24"/>
                <a:gd name="T22" fmla="*/ 2 w 49"/>
                <a:gd name="T23" fmla="*/ 0 h 24"/>
                <a:gd name="T24" fmla="*/ 2 w 49"/>
                <a:gd name="T25" fmla="*/ 2 h 24"/>
                <a:gd name="T26" fmla="*/ 0 w 49"/>
                <a:gd name="T27" fmla="*/ 2 h 24"/>
                <a:gd name="T28" fmla="*/ 0 w 49"/>
                <a:gd name="T29" fmla="*/ 6 h 24"/>
                <a:gd name="T30" fmla="*/ 2 w 49"/>
                <a:gd name="T31" fmla="*/ 6 h 24"/>
                <a:gd name="T32" fmla="*/ 8 w 49"/>
                <a:gd name="T33" fmla="*/ 6 h 24"/>
                <a:gd name="T34" fmla="*/ 21 w 49"/>
                <a:gd name="T35" fmla="*/ 11 h 24"/>
                <a:gd name="T36" fmla="*/ 29 w 49"/>
                <a:gd name="T37" fmla="*/ 14 h 24"/>
                <a:gd name="T38" fmla="*/ 37 w 49"/>
                <a:gd name="T39" fmla="*/ 17 h 24"/>
                <a:gd name="T40" fmla="*/ 40 w 49"/>
                <a:gd name="T41" fmla="*/ 20 h 24"/>
                <a:gd name="T42" fmla="*/ 42 w 49"/>
                <a:gd name="T43" fmla="*/ 20 h 24"/>
                <a:gd name="T44" fmla="*/ 42 w 49"/>
                <a:gd name="T45" fmla="*/ 23 h 24"/>
                <a:gd name="T46" fmla="*/ 45 w 49"/>
                <a:gd name="T47" fmla="*/ 23 h 2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9"/>
                <a:gd name="T73" fmla="*/ 0 h 24"/>
                <a:gd name="T74" fmla="*/ 49 w 49"/>
                <a:gd name="T75" fmla="*/ 24 h 2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9" h="24">
                  <a:moveTo>
                    <a:pt x="45" y="23"/>
                  </a:moveTo>
                  <a:lnTo>
                    <a:pt x="45" y="23"/>
                  </a:lnTo>
                  <a:lnTo>
                    <a:pt x="48" y="23"/>
                  </a:lnTo>
                  <a:lnTo>
                    <a:pt x="48" y="20"/>
                  </a:lnTo>
                  <a:lnTo>
                    <a:pt x="48" y="17"/>
                  </a:lnTo>
                  <a:lnTo>
                    <a:pt x="48" y="14"/>
                  </a:lnTo>
                  <a:lnTo>
                    <a:pt x="29" y="6"/>
                  </a:lnTo>
                  <a:lnTo>
                    <a:pt x="16" y="0"/>
                  </a:lnTo>
                  <a:lnTo>
                    <a:pt x="10" y="0"/>
                  </a:lnTo>
                  <a:lnTo>
                    <a:pt x="8" y="0"/>
                  </a:lnTo>
                  <a:lnTo>
                    <a:pt x="5" y="0"/>
                  </a:lnTo>
                  <a:lnTo>
                    <a:pt x="2" y="0"/>
                  </a:lnTo>
                  <a:lnTo>
                    <a:pt x="2" y="2"/>
                  </a:lnTo>
                  <a:lnTo>
                    <a:pt x="0" y="2"/>
                  </a:lnTo>
                  <a:lnTo>
                    <a:pt x="0" y="6"/>
                  </a:lnTo>
                  <a:lnTo>
                    <a:pt x="2" y="6"/>
                  </a:lnTo>
                  <a:lnTo>
                    <a:pt x="8" y="6"/>
                  </a:lnTo>
                  <a:lnTo>
                    <a:pt x="21" y="11"/>
                  </a:lnTo>
                  <a:lnTo>
                    <a:pt x="29" y="14"/>
                  </a:lnTo>
                  <a:lnTo>
                    <a:pt x="37" y="17"/>
                  </a:lnTo>
                  <a:lnTo>
                    <a:pt x="40" y="20"/>
                  </a:lnTo>
                  <a:lnTo>
                    <a:pt x="42" y="20"/>
                  </a:lnTo>
                  <a:lnTo>
                    <a:pt x="42" y="23"/>
                  </a:lnTo>
                  <a:lnTo>
                    <a:pt x="45" y="23"/>
                  </a:lnTo>
                </a:path>
              </a:pathLst>
            </a:custGeom>
            <a:solidFill>
              <a:srgbClr val="BDB597"/>
            </a:solidFill>
            <a:ln w="9525" cap="rnd">
              <a:noFill/>
              <a:round/>
            </a:ln>
          </p:spPr>
          <p:txBody>
            <a:bodyPr/>
            <a:lstStyle/>
            <a:p>
              <a:endParaRPr lang="zh-CN" altLang="en-US"/>
            </a:p>
          </p:txBody>
        </p:sp>
        <p:sp>
          <p:nvSpPr>
            <p:cNvPr id="9523" name="Freeform 224"/>
            <p:cNvSpPr/>
            <p:nvPr/>
          </p:nvSpPr>
          <p:spPr bwMode="auto">
            <a:xfrm>
              <a:off x="2320" y="1889"/>
              <a:ext cx="46" cy="20"/>
            </a:xfrm>
            <a:custGeom>
              <a:avLst/>
              <a:gdLst>
                <a:gd name="T0" fmla="*/ 34 w 46"/>
                <a:gd name="T1" fmla="*/ 19 h 20"/>
                <a:gd name="T2" fmla="*/ 34 w 46"/>
                <a:gd name="T3" fmla="*/ 19 h 20"/>
                <a:gd name="T4" fmla="*/ 36 w 46"/>
                <a:gd name="T5" fmla="*/ 19 h 20"/>
                <a:gd name="T6" fmla="*/ 39 w 46"/>
                <a:gd name="T7" fmla="*/ 19 h 20"/>
                <a:gd name="T8" fmla="*/ 45 w 46"/>
                <a:gd name="T9" fmla="*/ 16 h 20"/>
                <a:gd name="T10" fmla="*/ 28 w 46"/>
                <a:gd name="T11" fmla="*/ 8 h 20"/>
                <a:gd name="T12" fmla="*/ 16 w 46"/>
                <a:gd name="T13" fmla="*/ 2 h 20"/>
                <a:gd name="T14" fmla="*/ 10 w 46"/>
                <a:gd name="T15" fmla="*/ 0 h 20"/>
                <a:gd name="T16" fmla="*/ 8 w 46"/>
                <a:gd name="T17" fmla="*/ 0 h 20"/>
                <a:gd name="T18" fmla="*/ 5 w 46"/>
                <a:gd name="T19" fmla="*/ 2 h 20"/>
                <a:gd name="T20" fmla="*/ 2 w 46"/>
                <a:gd name="T21" fmla="*/ 2 h 20"/>
                <a:gd name="T22" fmla="*/ 2 w 46"/>
                <a:gd name="T23" fmla="*/ 5 h 20"/>
                <a:gd name="T24" fmla="*/ 0 w 46"/>
                <a:gd name="T25" fmla="*/ 5 h 20"/>
                <a:gd name="T26" fmla="*/ 2 w 46"/>
                <a:gd name="T27" fmla="*/ 5 h 20"/>
                <a:gd name="T28" fmla="*/ 5 w 46"/>
                <a:gd name="T29" fmla="*/ 8 h 20"/>
                <a:gd name="T30" fmla="*/ 16 w 46"/>
                <a:gd name="T31" fmla="*/ 10 h 20"/>
                <a:gd name="T32" fmla="*/ 20 w 46"/>
                <a:gd name="T33" fmla="*/ 13 h 20"/>
                <a:gd name="T34" fmla="*/ 26 w 46"/>
                <a:gd name="T35" fmla="*/ 16 h 20"/>
                <a:gd name="T36" fmla="*/ 28 w 46"/>
                <a:gd name="T37" fmla="*/ 16 h 20"/>
                <a:gd name="T38" fmla="*/ 32 w 46"/>
                <a:gd name="T39" fmla="*/ 16 h 20"/>
                <a:gd name="T40" fmla="*/ 32 w 46"/>
                <a:gd name="T41" fmla="*/ 19 h 20"/>
                <a:gd name="T42" fmla="*/ 34 w 46"/>
                <a:gd name="T43" fmla="*/ 19 h 2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6"/>
                <a:gd name="T67" fmla="*/ 0 h 20"/>
                <a:gd name="T68" fmla="*/ 46 w 46"/>
                <a:gd name="T69" fmla="*/ 20 h 2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6" h="20">
                  <a:moveTo>
                    <a:pt x="34" y="19"/>
                  </a:moveTo>
                  <a:lnTo>
                    <a:pt x="34" y="19"/>
                  </a:lnTo>
                  <a:lnTo>
                    <a:pt x="36" y="19"/>
                  </a:lnTo>
                  <a:lnTo>
                    <a:pt x="39" y="19"/>
                  </a:lnTo>
                  <a:lnTo>
                    <a:pt x="45" y="16"/>
                  </a:lnTo>
                  <a:lnTo>
                    <a:pt x="28" y="8"/>
                  </a:lnTo>
                  <a:lnTo>
                    <a:pt x="16" y="2"/>
                  </a:lnTo>
                  <a:lnTo>
                    <a:pt x="10" y="0"/>
                  </a:lnTo>
                  <a:lnTo>
                    <a:pt x="8" y="0"/>
                  </a:lnTo>
                  <a:lnTo>
                    <a:pt x="5" y="2"/>
                  </a:lnTo>
                  <a:lnTo>
                    <a:pt x="2" y="2"/>
                  </a:lnTo>
                  <a:lnTo>
                    <a:pt x="2" y="5"/>
                  </a:lnTo>
                  <a:lnTo>
                    <a:pt x="0" y="5"/>
                  </a:lnTo>
                  <a:lnTo>
                    <a:pt x="2" y="5"/>
                  </a:lnTo>
                  <a:lnTo>
                    <a:pt x="5" y="8"/>
                  </a:lnTo>
                  <a:lnTo>
                    <a:pt x="16" y="10"/>
                  </a:lnTo>
                  <a:lnTo>
                    <a:pt x="20" y="13"/>
                  </a:lnTo>
                  <a:lnTo>
                    <a:pt x="26" y="16"/>
                  </a:lnTo>
                  <a:lnTo>
                    <a:pt x="28" y="16"/>
                  </a:lnTo>
                  <a:lnTo>
                    <a:pt x="32" y="16"/>
                  </a:lnTo>
                  <a:lnTo>
                    <a:pt x="32" y="19"/>
                  </a:lnTo>
                  <a:lnTo>
                    <a:pt x="34" y="19"/>
                  </a:lnTo>
                </a:path>
              </a:pathLst>
            </a:custGeom>
            <a:solidFill>
              <a:srgbClr val="BDB597"/>
            </a:solidFill>
            <a:ln w="9525" cap="rnd">
              <a:noFill/>
              <a:round/>
            </a:ln>
          </p:spPr>
          <p:txBody>
            <a:bodyPr/>
            <a:lstStyle/>
            <a:p>
              <a:endParaRPr lang="zh-CN" altLang="en-US"/>
            </a:p>
          </p:txBody>
        </p:sp>
        <p:sp>
          <p:nvSpPr>
            <p:cNvPr id="9524" name="Freeform 225"/>
            <p:cNvSpPr/>
            <p:nvPr/>
          </p:nvSpPr>
          <p:spPr bwMode="auto">
            <a:xfrm>
              <a:off x="2417" y="1837"/>
              <a:ext cx="47" cy="24"/>
            </a:xfrm>
            <a:custGeom>
              <a:avLst/>
              <a:gdLst>
                <a:gd name="T0" fmla="*/ 34 w 47"/>
                <a:gd name="T1" fmla="*/ 23 h 24"/>
                <a:gd name="T2" fmla="*/ 34 w 47"/>
                <a:gd name="T3" fmla="*/ 23 h 24"/>
                <a:gd name="T4" fmla="*/ 38 w 47"/>
                <a:gd name="T5" fmla="*/ 23 h 24"/>
                <a:gd name="T6" fmla="*/ 40 w 47"/>
                <a:gd name="T7" fmla="*/ 20 h 24"/>
                <a:gd name="T8" fmla="*/ 46 w 47"/>
                <a:gd name="T9" fmla="*/ 14 h 24"/>
                <a:gd name="T10" fmla="*/ 30 w 47"/>
                <a:gd name="T11" fmla="*/ 8 h 24"/>
                <a:gd name="T12" fmla="*/ 11 w 47"/>
                <a:gd name="T13" fmla="*/ 0 h 24"/>
                <a:gd name="T14" fmla="*/ 7 w 47"/>
                <a:gd name="T15" fmla="*/ 0 h 24"/>
                <a:gd name="T16" fmla="*/ 5 w 47"/>
                <a:gd name="T17" fmla="*/ 2 h 24"/>
                <a:gd name="T18" fmla="*/ 2 w 47"/>
                <a:gd name="T19" fmla="*/ 5 h 24"/>
                <a:gd name="T20" fmla="*/ 0 w 47"/>
                <a:gd name="T21" fmla="*/ 5 h 24"/>
                <a:gd name="T22" fmla="*/ 2 w 47"/>
                <a:gd name="T23" fmla="*/ 5 h 24"/>
                <a:gd name="T24" fmla="*/ 5 w 47"/>
                <a:gd name="T25" fmla="*/ 8 h 24"/>
                <a:gd name="T26" fmla="*/ 15 w 47"/>
                <a:gd name="T27" fmla="*/ 11 h 24"/>
                <a:gd name="T28" fmla="*/ 21 w 47"/>
                <a:gd name="T29" fmla="*/ 14 h 24"/>
                <a:gd name="T30" fmla="*/ 26 w 47"/>
                <a:gd name="T31" fmla="*/ 17 h 24"/>
                <a:gd name="T32" fmla="*/ 32 w 47"/>
                <a:gd name="T33" fmla="*/ 20 h 24"/>
                <a:gd name="T34" fmla="*/ 34 w 47"/>
                <a:gd name="T35" fmla="*/ 23 h 2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7"/>
                <a:gd name="T55" fmla="*/ 0 h 24"/>
                <a:gd name="T56" fmla="*/ 47 w 47"/>
                <a:gd name="T57" fmla="*/ 24 h 2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7" h="24">
                  <a:moveTo>
                    <a:pt x="34" y="23"/>
                  </a:moveTo>
                  <a:lnTo>
                    <a:pt x="34" y="23"/>
                  </a:lnTo>
                  <a:lnTo>
                    <a:pt x="38" y="23"/>
                  </a:lnTo>
                  <a:lnTo>
                    <a:pt x="40" y="20"/>
                  </a:lnTo>
                  <a:lnTo>
                    <a:pt x="46" y="14"/>
                  </a:lnTo>
                  <a:lnTo>
                    <a:pt x="30" y="8"/>
                  </a:lnTo>
                  <a:lnTo>
                    <a:pt x="11" y="0"/>
                  </a:lnTo>
                  <a:lnTo>
                    <a:pt x="7" y="0"/>
                  </a:lnTo>
                  <a:lnTo>
                    <a:pt x="5" y="2"/>
                  </a:lnTo>
                  <a:lnTo>
                    <a:pt x="2" y="5"/>
                  </a:lnTo>
                  <a:lnTo>
                    <a:pt x="0" y="5"/>
                  </a:lnTo>
                  <a:lnTo>
                    <a:pt x="2" y="5"/>
                  </a:lnTo>
                  <a:lnTo>
                    <a:pt x="5" y="8"/>
                  </a:lnTo>
                  <a:lnTo>
                    <a:pt x="15" y="11"/>
                  </a:lnTo>
                  <a:lnTo>
                    <a:pt x="21" y="14"/>
                  </a:lnTo>
                  <a:lnTo>
                    <a:pt x="26" y="17"/>
                  </a:lnTo>
                  <a:lnTo>
                    <a:pt x="32" y="20"/>
                  </a:lnTo>
                  <a:lnTo>
                    <a:pt x="34" y="23"/>
                  </a:lnTo>
                </a:path>
              </a:pathLst>
            </a:custGeom>
            <a:solidFill>
              <a:srgbClr val="BDB597"/>
            </a:solidFill>
            <a:ln w="9525" cap="rnd">
              <a:noFill/>
              <a:round/>
            </a:ln>
          </p:spPr>
          <p:txBody>
            <a:bodyPr/>
            <a:lstStyle/>
            <a:p>
              <a:endParaRPr lang="zh-CN" altLang="en-US"/>
            </a:p>
          </p:txBody>
        </p:sp>
      </p:grpSp>
      <p:sp>
        <p:nvSpPr>
          <p:cNvPr id="9243" name="Rectangle 226"/>
          <p:cNvSpPr>
            <a:spLocks noChangeArrowheads="1"/>
          </p:cNvSpPr>
          <p:nvPr/>
        </p:nvSpPr>
        <p:spPr bwMode="auto">
          <a:xfrm>
            <a:off x="4632325" y="3488841"/>
            <a:ext cx="790575" cy="63500"/>
          </a:xfrm>
          <a:prstGeom prst="rect">
            <a:avLst/>
          </a:prstGeom>
          <a:gradFill rotWithShape="0">
            <a:gsLst>
              <a:gs pos="0">
                <a:srgbClr val="05B5DE"/>
              </a:gs>
              <a:gs pos="100000">
                <a:srgbClr val="E6F7FC"/>
              </a:gs>
            </a:gsLst>
            <a:lin ang="0" scaled="1"/>
          </a:gradFill>
          <a:ln w="9525">
            <a:noFill/>
            <a:miter lim="800000"/>
          </a:ln>
        </p:spPr>
        <p:txBody>
          <a:bodyPr wrap="none" anchor="ctr"/>
          <a:lstStyle/>
          <a:p>
            <a:endParaRPr lang="zh-CN" altLang="en-US"/>
          </a:p>
        </p:txBody>
      </p:sp>
      <p:sp>
        <p:nvSpPr>
          <p:cNvPr id="248035" name="Rectangle 227"/>
          <p:cNvSpPr>
            <a:spLocks noChangeArrowheads="1"/>
          </p:cNvSpPr>
          <p:nvPr/>
        </p:nvSpPr>
        <p:spPr bwMode="auto">
          <a:xfrm>
            <a:off x="684213" y="4815991"/>
            <a:ext cx="2501900" cy="282575"/>
          </a:xfrm>
          <a:prstGeom prst="rect">
            <a:avLst/>
          </a:prstGeom>
          <a:noFill/>
          <a:ln w="9525">
            <a:noFill/>
            <a:miter lim="800000"/>
          </a:ln>
          <a:effectLst/>
        </p:spPr>
        <p:txBody>
          <a:bodyPr lIns="102026" tIns="51012" rIns="102026" bIns="51012">
            <a:spAutoFit/>
          </a:bodyPr>
          <a:lstStyle/>
          <a:p>
            <a:pPr defTabSz="1050925" eaLnBrk="0" hangingPunct="0">
              <a:lnSpc>
                <a:spcPct val="85000"/>
              </a:lnSpc>
              <a:defRPr/>
            </a:pPr>
            <a:r>
              <a:rPr kumimoji="1" lang="zh-CN" altLang="en-US" sz="1400" b="0">
                <a:effectLst>
                  <a:outerShdw blurRad="38100" dist="38100" dir="2700000" algn="tl">
                    <a:srgbClr val="C0C0C0"/>
                  </a:outerShdw>
                </a:effectLst>
                <a:latin typeface="ACaslon Bold" charset="0"/>
              </a:rPr>
              <a:t>人事部</a:t>
            </a:r>
          </a:p>
        </p:txBody>
      </p:sp>
      <p:grpSp>
        <p:nvGrpSpPr>
          <p:cNvPr id="248037" name="Group 228"/>
          <p:cNvGrpSpPr/>
          <p:nvPr/>
        </p:nvGrpSpPr>
        <p:grpSpPr bwMode="auto">
          <a:xfrm>
            <a:off x="5102225" y="3361841"/>
            <a:ext cx="460375" cy="317500"/>
            <a:chOff x="2653" y="1995"/>
            <a:chExt cx="258" cy="202"/>
          </a:xfrm>
        </p:grpSpPr>
        <p:grpSp>
          <p:nvGrpSpPr>
            <p:cNvPr id="248038" name="Group 229"/>
            <p:cNvGrpSpPr/>
            <p:nvPr/>
          </p:nvGrpSpPr>
          <p:grpSpPr bwMode="auto">
            <a:xfrm>
              <a:off x="2654" y="2065"/>
              <a:ext cx="142" cy="132"/>
              <a:chOff x="2654" y="2065"/>
              <a:chExt cx="142" cy="132"/>
            </a:xfrm>
          </p:grpSpPr>
          <p:sp>
            <p:nvSpPr>
              <p:cNvPr id="9465" name="Freeform 230"/>
              <p:cNvSpPr/>
              <p:nvPr/>
            </p:nvSpPr>
            <p:spPr bwMode="auto">
              <a:xfrm>
                <a:off x="2654" y="2066"/>
                <a:ext cx="136" cy="124"/>
              </a:xfrm>
              <a:custGeom>
                <a:avLst/>
                <a:gdLst>
                  <a:gd name="T0" fmla="*/ 135 w 136"/>
                  <a:gd name="T1" fmla="*/ 33 h 124"/>
                  <a:gd name="T2" fmla="*/ 135 w 136"/>
                  <a:gd name="T3" fmla="*/ 123 h 124"/>
                  <a:gd name="T4" fmla="*/ 0 w 136"/>
                  <a:gd name="T5" fmla="*/ 83 h 124"/>
                  <a:gd name="T6" fmla="*/ 0 w 136"/>
                  <a:gd name="T7" fmla="*/ 0 h 124"/>
                  <a:gd name="T8" fmla="*/ 135 w 136"/>
                  <a:gd name="T9" fmla="*/ 33 h 124"/>
                  <a:gd name="T10" fmla="*/ 0 60000 65536"/>
                  <a:gd name="T11" fmla="*/ 0 60000 65536"/>
                  <a:gd name="T12" fmla="*/ 0 60000 65536"/>
                  <a:gd name="T13" fmla="*/ 0 60000 65536"/>
                  <a:gd name="T14" fmla="*/ 0 60000 65536"/>
                  <a:gd name="T15" fmla="*/ 0 w 136"/>
                  <a:gd name="T16" fmla="*/ 0 h 124"/>
                  <a:gd name="T17" fmla="*/ 136 w 136"/>
                  <a:gd name="T18" fmla="*/ 124 h 124"/>
                </a:gdLst>
                <a:ahLst/>
                <a:cxnLst>
                  <a:cxn ang="T10">
                    <a:pos x="T0" y="T1"/>
                  </a:cxn>
                  <a:cxn ang="T11">
                    <a:pos x="T2" y="T3"/>
                  </a:cxn>
                  <a:cxn ang="T12">
                    <a:pos x="T4" y="T5"/>
                  </a:cxn>
                  <a:cxn ang="T13">
                    <a:pos x="T6" y="T7"/>
                  </a:cxn>
                  <a:cxn ang="T14">
                    <a:pos x="T8" y="T9"/>
                  </a:cxn>
                </a:cxnLst>
                <a:rect l="T15" t="T16" r="T17" b="T18"/>
                <a:pathLst>
                  <a:path w="136" h="124">
                    <a:moveTo>
                      <a:pt x="135" y="33"/>
                    </a:moveTo>
                    <a:lnTo>
                      <a:pt x="135" y="123"/>
                    </a:lnTo>
                    <a:lnTo>
                      <a:pt x="0" y="83"/>
                    </a:lnTo>
                    <a:lnTo>
                      <a:pt x="0" y="0"/>
                    </a:lnTo>
                    <a:lnTo>
                      <a:pt x="135" y="33"/>
                    </a:lnTo>
                  </a:path>
                </a:pathLst>
              </a:custGeom>
              <a:gradFill rotWithShape="0">
                <a:gsLst>
                  <a:gs pos="0">
                    <a:srgbClr val="D49FFF"/>
                  </a:gs>
                  <a:gs pos="100000">
                    <a:srgbClr val="3F2F4C"/>
                  </a:gs>
                </a:gsLst>
                <a:lin ang="2700000" scaled="1"/>
              </a:gradFill>
              <a:ln w="9525" cap="rnd">
                <a:noFill/>
                <a:round/>
              </a:ln>
            </p:spPr>
            <p:txBody>
              <a:bodyPr/>
              <a:lstStyle/>
              <a:p>
                <a:endParaRPr lang="zh-CN" altLang="en-US"/>
              </a:p>
            </p:txBody>
          </p:sp>
          <p:sp>
            <p:nvSpPr>
              <p:cNvPr id="9466" name="Freeform 231"/>
              <p:cNvSpPr/>
              <p:nvPr/>
            </p:nvSpPr>
            <p:spPr bwMode="auto">
              <a:xfrm>
                <a:off x="2655" y="2065"/>
                <a:ext cx="141" cy="132"/>
              </a:xfrm>
              <a:custGeom>
                <a:avLst/>
                <a:gdLst>
                  <a:gd name="T0" fmla="*/ 140 w 141"/>
                  <a:gd name="T1" fmla="*/ 36 h 132"/>
                  <a:gd name="T2" fmla="*/ 140 w 141"/>
                  <a:gd name="T3" fmla="*/ 131 h 132"/>
                  <a:gd name="T4" fmla="*/ 0 w 141"/>
                  <a:gd name="T5" fmla="*/ 88 h 132"/>
                  <a:gd name="T6" fmla="*/ 0 w 141"/>
                  <a:gd name="T7" fmla="*/ 0 h 132"/>
                  <a:gd name="T8" fmla="*/ 140 w 141"/>
                  <a:gd name="T9" fmla="*/ 36 h 132"/>
                  <a:gd name="T10" fmla="*/ 0 60000 65536"/>
                  <a:gd name="T11" fmla="*/ 0 60000 65536"/>
                  <a:gd name="T12" fmla="*/ 0 60000 65536"/>
                  <a:gd name="T13" fmla="*/ 0 60000 65536"/>
                  <a:gd name="T14" fmla="*/ 0 60000 65536"/>
                  <a:gd name="T15" fmla="*/ 0 w 141"/>
                  <a:gd name="T16" fmla="*/ 0 h 132"/>
                  <a:gd name="T17" fmla="*/ 141 w 141"/>
                  <a:gd name="T18" fmla="*/ 132 h 132"/>
                </a:gdLst>
                <a:ahLst/>
                <a:cxnLst>
                  <a:cxn ang="T10">
                    <a:pos x="T0" y="T1"/>
                  </a:cxn>
                  <a:cxn ang="T11">
                    <a:pos x="T2" y="T3"/>
                  </a:cxn>
                  <a:cxn ang="T12">
                    <a:pos x="T4" y="T5"/>
                  </a:cxn>
                  <a:cxn ang="T13">
                    <a:pos x="T6" y="T7"/>
                  </a:cxn>
                  <a:cxn ang="T14">
                    <a:pos x="T8" y="T9"/>
                  </a:cxn>
                </a:cxnLst>
                <a:rect l="T15" t="T16" r="T17" b="T18"/>
                <a:pathLst>
                  <a:path w="141" h="132">
                    <a:moveTo>
                      <a:pt x="140" y="36"/>
                    </a:moveTo>
                    <a:lnTo>
                      <a:pt x="140" y="131"/>
                    </a:lnTo>
                    <a:lnTo>
                      <a:pt x="0" y="88"/>
                    </a:lnTo>
                    <a:lnTo>
                      <a:pt x="0" y="0"/>
                    </a:lnTo>
                    <a:lnTo>
                      <a:pt x="140" y="36"/>
                    </a:lnTo>
                  </a:path>
                </a:pathLst>
              </a:custGeom>
              <a:gradFill rotWithShape="0">
                <a:gsLst>
                  <a:gs pos="0">
                    <a:srgbClr val="D49FFF"/>
                  </a:gs>
                  <a:gs pos="100000">
                    <a:srgbClr val="3F2F4C"/>
                  </a:gs>
                </a:gsLst>
                <a:lin ang="2700000" scaled="1"/>
              </a:gradFill>
              <a:ln w="9525" cap="rnd">
                <a:noFill/>
                <a:round/>
              </a:ln>
            </p:spPr>
            <p:txBody>
              <a:bodyPr/>
              <a:lstStyle/>
              <a:p>
                <a:endParaRPr lang="zh-CN" altLang="en-US"/>
              </a:p>
            </p:txBody>
          </p:sp>
        </p:grpSp>
        <p:grpSp>
          <p:nvGrpSpPr>
            <p:cNvPr id="248039" name="Group 232"/>
            <p:cNvGrpSpPr/>
            <p:nvPr/>
          </p:nvGrpSpPr>
          <p:grpSpPr bwMode="auto">
            <a:xfrm>
              <a:off x="2653" y="1995"/>
              <a:ext cx="256" cy="108"/>
              <a:chOff x="2653" y="1995"/>
              <a:chExt cx="256" cy="108"/>
            </a:xfrm>
          </p:grpSpPr>
          <p:sp>
            <p:nvSpPr>
              <p:cNvPr id="9463" name="Freeform 233"/>
              <p:cNvSpPr/>
              <p:nvPr/>
            </p:nvSpPr>
            <p:spPr bwMode="auto">
              <a:xfrm>
                <a:off x="2654" y="1995"/>
                <a:ext cx="249" cy="103"/>
              </a:xfrm>
              <a:custGeom>
                <a:avLst/>
                <a:gdLst>
                  <a:gd name="T0" fmla="*/ 137 w 249"/>
                  <a:gd name="T1" fmla="*/ 102 h 103"/>
                  <a:gd name="T2" fmla="*/ 0 w 249"/>
                  <a:gd name="T3" fmla="*/ 68 h 103"/>
                  <a:gd name="T4" fmla="*/ 129 w 249"/>
                  <a:gd name="T5" fmla="*/ 0 h 103"/>
                  <a:gd name="T6" fmla="*/ 248 w 249"/>
                  <a:gd name="T7" fmla="*/ 27 h 103"/>
                  <a:gd name="T8" fmla="*/ 137 w 249"/>
                  <a:gd name="T9" fmla="*/ 102 h 103"/>
                  <a:gd name="T10" fmla="*/ 0 60000 65536"/>
                  <a:gd name="T11" fmla="*/ 0 60000 65536"/>
                  <a:gd name="T12" fmla="*/ 0 60000 65536"/>
                  <a:gd name="T13" fmla="*/ 0 60000 65536"/>
                  <a:gd name="T14" fmla="*/ 0 60000 65536"/>
                  <a:gd name="T15" fmla="*/ 0 w 249"/>
                  <a:gd name="T16" fmla="*/ 0 h 103"/>
                  <a:gd name="T17" fmla="*/ 249 w 249"/>
                  <a:gd name="T18" fmla="*/ 103 h 103"/>
                </a:gdLst>
                <a:ahLst/>
                <a:cxnLst>
                  <a:cxn ang="T10">
                    <a:pos x="T0" y="T1"/>
                  </a:cxn>
                  <a:cxn ang="T11">
                    <a:pos x="T2" y="T3"/>
                  </a:cxn>
                  <a:cxn ang="T12">
                    <a:pos x="T4" y="T5"/>
                  </a:cxn>
                  <a:cxn ang="T13">
                    <a:pos x="T6" y="T7"/>
                  </a:cxn>
                  <a:cxn ang="T14">
                    <a:pos x="T8" y="T9"/>
                  </a:cxn>
                </a:cxnLst>
                <a:rect l="T15" t="T16" r="T17" b="T18"/>
                <a:pathLst>
                  <a:path w="249" h="103">
                    <a:moveTo>
                      <a:pt x="137" y="102"/>
                    </a:moveTo>
                    <a:lnTo>
                      <a:pt x="0" y="68"/>
                    </a:lnTo>
                    <a:lnTo>
                      <a:pt x="129" y="0"/>
                    </a:lnTo>
                    <a:lnTo>
                      <a:pt x="248" y="27"/>
                    </a:lnTo>
                    <a:lnTo>
                      <a:pt x="137" y="102"/>
                    </a:lnTo>
                  </a:path>
                </a:pathLst>
              </a:custGeom>
              <a:solidFill>
                <a:srgbClr val="D49FFF"/>
              </a:solidFill>
              <a:ln w="9525" cap="rnd">
                <a:noFill/>
                <a:round/>
              </a:ln>
            </p:spPr>
            <p:txBody>
              <a:bodyPr/>
              <a:lstStyle/>
              <a:p>
                <a:endParaRPr lang="zh-CN" altLang="en-US"/>
              </a:p>
            </p:txBody>
          </p:sp>
          <p:sp>
            <p:nvSpPr>
              <p:cNvPr id="9464" name="Freeform 234"/>
              <p:cNvSpPr/>
              <p:nvPr/>
            </p:nvSpPr>
            <p:spPr bwMode="auto">
              <a:xfrm>
                <a:off x="2653" y="1995"/>
                <a:ext cx="256" cy="108"/>
              </a:xfrm>
              <a:custGeom>
                <a:avLst/>
                <a:gdLst>
                  <a:gd name="T0" fmla="*/ 141 w 256"/>
                  <a:gd name="T1" fmla="*/ 107 h 108"/>
                  <a:gd name="T2" fmla="*/ 0 w 256"/>
                  <a:gd name="T3" fmla="*/ 71 h 108"/>
                  <a:gd name="T4" fmla="*/ 133 w 256"/>
                  <a:gd name="T5" fmla="*/ 0 h 108"/>
                  <a:gd name="T6" fmla="*/ 255 w 256"/>
                  <a:gd name="T7" fmla="*/ 28 h 108"/>
                  <a:gd name="T8" fmla="*/ 141 w 256"/>
                  <a:gd name="T9" fmla="*/ 107 h 108"/>
                  <a:gd name="T10" fmla="*/ 0 60000 65536"/>
                  <a:gd name="T11" fmla="*/ 0 60000 65536"/>
                  <a:gd name="T12" fmla="*/ 0 60000 65536"/>
                  <a:gd name="T13" fmla="*/ 0 60000 65536"/>
                  <a:gd name="T14" fmla="*/ 0 60000 65536"/>
                  <a:gd name="T15" fmla="*/ 0 w 256"/>
                  <a:gd name="T16" fmla="*/ 0 h 108"/>
                  <a:gd name="T17" fmla="*/ 256 w 256"/>
                  <a:gd name="T18" fmla="*/ 108 h 108"/>
                </a:gdLst>
                <a:ahLst/>
                <a:cxnLst>
                  <a:cxn ang="T10">
                    <a:pos x="T0" y="T1"/>
                  </a:cxn>
                  <a:cxn ang="T11">
                    <a:pos x="T2" y="T3"/>
                  </a:cxn>
                  <a:cxn ang="T12">
                    <a:pos x="T4" y="T5"/>
                  </a:cxn>
                  <a:cxn ang="T13">
                    <a:pos x="T6" y="T7"/>
                  </a:cxn>
                  <a:cxn ang="T14">
                    <a:pos x="T8" y="T9"/>
                  </a:cxn>
                </a:cxnLst>
                <a:rect l="T15" t="T16" r="T17" b="T18"/>
                <a:pathLst>
                  <a:path w="256" h="108">
                    <a:moveTo>
                      <a:pt x="141" y="107"/>
                    </a:moveTo>
                    <a:lnTo>
                      <a:pt x="0" y="71"/>
                    </a:lnTo>
                    <a:lnTo>
                      <a:pt x="133" y="0"/>
                    </a:lnTo>
                    <a:lnTo>
                      <a:pt x="255" y="28"/>
                    </a:lnTo>
                    <a:lnTo>
                      <a:pt x="141" y="107"/>
                    </a:lnTo>
                  </a:path>
                </a:pathLst>
              </a:custGeom>
              <a:solidFill>
                <a:srgbClr val="D49FFF"/>
              </a:solidFill>
              <a:ln w="9525" cap="rnd">
                <a:noFill/>
                <a:round/>
              </a:ln>
            </p:spPr>
            <p:txBody>
              <a:bodyPr/>
              <a:lstStyle/>
              <a:p>
                <a:endParaRPr lang="zh-CN" altLang="en-US"/>
              </a:p>
            </p:txBody>
          </p:sp>
        </p:grpSp>
        <p:grpSp>
          <p:nvGrpSpPr>
            <p:cNvPr id="248040" name="Group 235"/>
            <p:cNvGrpSpPr/>
            <p:nvPr/>
          </p:nvGrpSpPr>
          <p:grpSpPr bwMode="auto">
            <a:xfrm>
              <a:off x="2796" y="2022"/>
              <a:ext cx="115" cy="175"/>
              <a:chOff x="2796" y="2022"/>
              <a:chExt cx="115" cy="175"/>
            </a:xfrm>
          </p:grpSpPr>
          <p:sp>
            <p:nvSpPr>
              <p:cNvPr id="9461" name="Freeform 236"/>
              <p:cNvSpPr/>
              <p:nvPr/>
            </p:nvSpPr>
            <p:spPr bwMode="auto">
              <a:xfrm>
                <a:off x="2797" y="2023"/>
                <a:ext cx="108" cy="167"/>
              </a:xfrm>
              <a:custGeom>
                <a:avLst/>
                <a:gdLst>
                  <a:gd name="T0" fmla="*/ 107 w 108"/>
                  <a:gd name="T1" fmla="*/ 0 h 167"/>
                  <a:gd name="T2" fmla="*/ 0 w 108"/>
                  <a:gd name="T3" fmla="*/ 75 h 167"/>
                  <a:gd name="T4" fmla="*/ 0 w 108"/>
                  <a:gd name="T5" fmla="*/ 166 h 167"/>
                  <a:gd name="T6" fmla="*/ 107 w 108"/>
                  <a:gd name="T7" fmla="*/ 79 h 167"/>
                  <a:gd name="T8" fmla="*/ 107 w 108"/>
                  <a:gd name="T9" fmla="*/ 0 h 167"/>
                  <a:gd name="T10" fmla="*/ 0 60000 65536"/>
                  <a:gd name="T11" fmla="*/ 0 60000 65536"/>
                  <a:gd name="T12" fmla="*/ 0 60000 65536"/>
                  <a:gd name="T13" fmla="*/ 0 60000 65536"/>
                  <a:gd name="T14" fmla="*/ 0 60000 65536"/>
                  <a:gd name="T15" fmla="*/ 0 w 108"/>
                  <a:gd name="T16" fmla="*/ 0 h 167"/>
                  <a:gd name="T17" fmla="*/ 108 w 108"/>
                  <a:gd name="T18" fmla="*/ 167 h 167"/>
                </a:gdLst>
                <a:ahLst/>
                <a:cxnLst>
                  <a:cxn ang="T10">
                    <a:pos x="T0" y="T1"/>
                  </a:cxn>
                  <a:cxn ang="T11">
                    <a:pos x="T2" y="T3"/>
                  </a:cxn>
                  <a:cxn ang="T12">
                    <a:pos x="T4" y="T5"/>
                  </a:cxn>
                  <a:cxn ang="T13">
                    <a:pos x="T6" y="T7"/>
                  </a:cxn>
                  <a:cxn ang="T14">
                    <a:pos x="T8" y="T9"/>
                  </a:cxn>
                </a:cxnLst>
                <a:rect l="T15" t="T16" r="T17" b="T18"/>
                <a:pathLst>
                  <a:path w="108" h="167">
                    <a:moveTo>
                      <a:pt x="107" y="0"/>
                    </a:moveTo>
                    <a:lnTo>
                      <a:pt x="0" y="75"/>
                    </a:lnTo>
                    <a:lnTo>
                      <a:pt x="0" y="166"/>
                    </a:lnTo>
                    <a:lnTo>
                      <a:pt x="107" y="79"/>
                    </a:lnTo>
                    <a:lnTo>
                      <a:pt x="107" y="0"/>
                    </a:lnTo>
                  </a:path>
                </a:pathLst>
              </a:custGeom>
              <a:gradFill rotWithShape="0">
                <a:gsLst>
                  <a:gs pos="0">
                    <a:srgbClr val="44394C"/>
                  </a:gs>
                  <a:gs pos="100000">
                    <a:srgbClr val="E3BEFF"/>
                  </a:gs>
                </a:gsLst>
                <a:lin ang="2700000" scaled="1"/>
              </a:gradFill>
              <a:ln w="9525" cap="rnd">
                <a:noFill/>
                <a:round/>
              </a:ln>
            </p:spPr>
            <p:txBody>
              <a:bodyPr/>
              <a:lstStyle/>
              <a:p>
                <a:endParaRPr lang="zh-CN" altLang="en-US"/>
              </a:p>
            </p:txBody>
          </p:sp>
          <p:sp>
            <p:nvSpPr>
              <p:cNvPr id="9462" name="Freeform 237"/>
              <p:cNvSpPr/>
              <p:nvPr/>
            </p:nvSpPr>
            <p:spPr bwMode="auto">
              <a:xfrm>
                <a:off x="2796" y="2022"/>
                <a:ext cx="115" cy="175"/>
              </a:xfrm>
              <a:custGeom>
                <a:avLst/>
                <a:gdLst>
                  <a:gd name="T0" fmla="*/ 114 w 115"/>
                  <a:gd name="T1" fmla="*/ 0 h 175"/>
                  <a:gd name="T2" fmla="*/ 0 w 115"/>
                  <a:gd name="T3" fmla="*/ 80 h 175"/>
                  <a:gd name="T4" fmla="*/ 0 w 115"/>
                  <a:gd name="T5" fmla="*/ 174 h 175"/>
                  <a:gd name="T6" fmla="*/ 114 w 115"/>
                  <a:gd name="T7" fmla="*/ 84 h 175"/>
                  <a:gd name="T8" fmla="*/ 114 w 115"/>
                  <a:gd name="T9" fmla="*/ 0 h 175"/>
                  <a:gd name="T10" fmla="*/ 0 60000 65536"/>
                  <a:gd name="T11" fmla="*/ 0 60000 65536"/>
                  <a:gd name="T12" fmla="*/ 0 60000 65536"/>
                  <a:gd name="T13" fmla="*/ 0 60000 65536"/>
                  <a:gd name="T14" fmla="*/ 0 60000 65536"/>
                  <a:gd name="T15" fmla="*/ 0 w 115"/>
                  <a:gd name="T16" fmla="*/ 0 h 175"/>
                  <a:gd name="T17" fmla="*/ 115 w 115"/>
                  <a:gd name="T18" fmla="*/ 175 h 175"/>
                </a:gdLst>
                <a:ahLst/>
                <a:cxnLst>
                  <a:cxn ang="T10">
                    <a:pos x="T0" y="T1"/>
                  </a:cxn>
                  <a:cxn ang="T11">
                    <a:pos x="T2" y="T3"/>
                  </a:cxn>
                  <a:cxn ang="T12">
                    <a:pos x="T4" y="T5"/>
                  </a:cxn>
                  <a:cxn ang="T13">
                    <a:pos x="T6" y="T7"/>
                  </a:cxn>
                  <a:cxn ang="T14">
                    <a:pos x="T8" y="T9"/>
                  </a:cxn>
                </a:cxnLst>
                <a:rect l="T15" t="T16" r="T17" b="T18"/>
                <a:pathLst>
                  <a:path w="115" h="175">
                    <a:moveTo>
                      <a:pt x="114" y="0"/>
                    </a:moveTo>
                    <a:lnTo>
                      <a:pt x="0" y="80"/>
                    </a:lnTo>
                    <a:lnTo>
                      <a:pt x="0" y="174"/>
                    </a:lnTo>
                    <a:lnTo>
                      <a:pt x="114" y="84"/>
                    </a:lnTo>
                    <a:lnTo>
                      <a:pt x="114" y="0"/>
                    </a:lnTo>
                  </a:path>
                </a:pathLst>
              </a:custGeom>
              <a:gradFill rotWithShape="0">
                <a:gsLst>
                  <a:gs pos="0">
                    <a:srgbClr val="44394C"/>
                  </a:gs>
                  <a:gs pos="100000">
                    <a:srgbClr val="E3BEFF"/>
                  </a:gs>
                </a:gsLst>
                <a:lin ang="2700000" scaled="1"/>
              </a:gradFill>
              <a:ln w="9525" cap="rnd">
                <a:noFill/>
                <a:round/>
              </a:ln>
            </p:spPr>
            <p:txBody>
              <a:bodyPr/>
              <a:lstStyle/>
              <a:p>
                <a:endParaRPr lang="zh-CN" altLang="en-US"/>
              </a:p>
            </p:txBody>
          </p:sp>
        </p:grpSp>
      </p:grpSp>
      <p:sp>
        <p:nvSpPr>
          <p:cNvPr id="248046" name="Rectangle 238"/>
          <p:cNvSpPr>
            <a:spLocks noChangeArrowheads="1"/>
          </p:cNvSpPr>
          <p:nvPr/>
        </p:nvSpPr>
        <p:spPr bwMode="auto">
          <a:xfrm>
            <a:off x="5006975" y="3107841"/>
            <a:ext cx="762000" cy="282575"/>
          </a:xfrm>
          <a:prstGeom prst="rect">
            <a:avLst/>
          </a:prstGeom>
          <a:noFill/>
          <a:ln w="9525">
            <a:noFill/>
            <a:miter lim="800000"/>
          </a:ln>
          <a:effectLst/>
        </p:spPr>
        <p:txBody>
          <a:bodyPr lIns="102026" tIns="51012" rIns="102026" bIns="51012">
            <a:spAutoFit/>
          </a:bodyPr>
          <a:lstStyle/>
          <a:p>
            <a:pPr defTabSz="1050925" eaLnBrk="0" hangingPunct="0">
              <a:lnSpc>
                <a:spcPct val="85000"/>
              </a:lnSpc>
              <a:defRPr/>
            </a:pPr>
            <a:r>
              <a:rPr kumimoji="1" lang="zh-CN" altLang="en-US" sz="1400" b="0">
                <a:effectLst>
                  <a:outerShdw blurRad="38100" dist="38100" dir="2700000" algn="tl">
                    <a:srgbClr val="C0C0C0"/>
                  </a:outerShdw>
                </a:effectLst>
                <a:latin typeface="ACaslon Bold" charset="0"/>
              </a:rPr>
              <a:t>路由</a:t>
            </a:r>
          </a:p>
        </p:txBody>
      </p:sp>
      <p:sp>
        <p:nvSpPr>
          <p:cNvPr id="9247" name="Line 239"/>
          <p:cNvSpPr>
            <a:spLocks noChangeShapeType="1"/>
          </p:cNvSpPr>
          <p:nvPr/>
        </p:nvSpPr>
        <p:spPr bwMode="auto">
          <a:xfrm>
            <a:off x="2333625" y="2114066"/>
            <a:ext cx="828675" cy="0"/>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9248" name="Line 240"/>
          <p:cNvSpPr>
            <a:spLocks noChangeShapeType="1"/>
          </p:cNvSpPr>
          <p:nvPr/>
        </p:nvSpPr>
        <p:spPr bwMode="auto">
          <a:xfrm>
            <a:off x="2286000" y="4136541"/>
            <a:ext cx="919163" cy="0"/>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9249" name="Line 241"/>
          <p:cNvSpPr>
            <a:spLocks noChangeShapeType="1"/>
          </p:cNvSpPr>
          <p:nvPr/>
        </p:nvSpPr>
        <p:spPr bwMode="auto">
          <a:xfrm>
            <a:off x="954088" y="5095391"/>
            <a:ext cx="2262187" cy="0"/>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9250" name="Line 242"/>
          <p:cNvSpPr>
            <a:spLocks noChangeShapeType="1"/>
          </p:cNvSpPr>
          <p:nvPr/>
        </p:nvSpPr>
        <p:spPr bwMode="auto">
          <a:xfrm>
            <a:off x="2239963" y="3171341"/>
            <a:ext cx="1533525" cy="0"/>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9251" name="Freeform 243"/>
          <p:cNvSpPr/>
          <p:nvPr/>
        </p:nvSpPr>
        <p:spPr bwMode="auto">
          <a:xfrm>
            <a:off x="3143250" y="2171216"/>
            <a:ext cx="647700" cy="2921000"/>
          </a:xfrm>
          <a:custGeom>
            <a:avLst/>
            <a:gdLst>
              <a:gd name="T0" fmla="*/ 0 w 364"/>
              <a:gd name="T1" fmla="*/ 0 h 1841"/>
              <a:gd name="T2" fmla="*/ 363 w 364"/>
              <a:gd name="T3" fmla="*/ 0 h 1841"/>
              <a:gd name="T4" fmla="*/ 363 w 364"/>
              <a:gd name="T5" fmla="*/ 1840 h 1841"/>
              <a:gd name="T6" fmla="*/ 38 w 364"/>
              <a:gd name="T7" fmla="*/ 1840 h 1841"/>
              <a:gd name="T8" fmla="*/ 0 60000 65536"/>
              <a:gd name="T9" fmla="*/ 0 60000 65536"/>
              <a:gd name="T10" fmla="*/ 0 60000 65536"/>
              <a:gd name="T11" fmla="*/ 0 60000 65536"/>
              <a:gd name="T12" fmla="*/ 0 w 364"/>
              <a:gd name="T13" fmla="*/ 0 h 1841"/>
              <a:gd name="T14" fmla="*/ 364 w 364"/>
              <a:gd name="T15" fmla="*/ 1841 h 1841"/>
            </a:gdLst>
            <a:ahLst/>
            <a:cxnLst>
              <a:cxn ang="T8">
                <a:pos x="T0" y="T1"/>
              </a:cxn>
              <a:cxn ang="T9">
                <a:pos x="T2" y="T3"/>
              </a:cxn>
              <a:cxn ang="T10">
                <a:pos x="T4" y="T5"/>
              </a:cxn>
              <a:cxn ang="T11">
                <a:pos x="T6" y="T7"/>
              </a:cxn>
            </a:cxnLst>
            <a:rect l="T12" t="T13" r="T14" b="T15"/>
            <a:pathLst>
              <a:path w="364" h="1841">
                <a:moveTo>
                  <a:pt x="0" y="0"/>
                </a:moveTo>
                <a:lnTo>
                  <a:pt x="363" y="0"/>
                </a:lnTo>
                <a:lnTo>
                  <a:pt x="363" y="1840"/>
                </a:lnTo>
                <a:lnTo>
                  <a:pt x="38" y="1840"/>
                </a:lnTo>
              </a:path>
            </a:pathLst>
          </a:custGeom>
          <a:noFill/>
          <a:ln w="25399" cap="rnd">
            <a:solidFill>
              <a:schemeClr val="tx1"/>
            </a:solidFill>
            <a:round/>
            <a:headEnd type="none" w="sm" len="sm"/>
            <a:tailEnd type="none" w="sm" len="sm"/>
          </a:ln>
        </p:spPr>
        <p:txBody>
          <a:bodyPr/>
          <a:lstStyle/>
          <a:p>
            <a:endParaRPr lang="zh-CN" altLang="en-US"/>
          </a:p>
        </p:txBody>
      </p:sp>
      <p:sp>
        <p:nvSpPr>
          <p:cNvPr id="9252" name="Line 244"/>
          <p:cNvSpPr>
            <a:spLocks noChangeShapeType="1"/>
          </p:cNvSpPr>
          <p:nvPr/>
        </p:nvSpPr>
        <p:spPr bwMode="auto">
          <a:xfrm>
            <a:off x="3159125" y="4136541"/>
            <a:ext cx="614363" cy="0"/>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9253" name="Line 245"/>
          <p:cNvSpPr>
            <a:spLocks noChangeShapeType="1"/>
          </p:cNvSpPr>
          <p:nvPr/>
        </p:nvSpPr>
        <p:spPr bwMode="auto">
          <a:xfrm flipV="1">
            <a:off x="2116138" y="2114066"/>
            <a:ext cx="0" cy="520700"/>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9254" name="Line 246"/>
          <p:cNvSpPr>
            <a:spLocks noChangeShapeType="1"/>
          </p:cNvSpPr>
          <p:nvPr/>
        </p:nvSpPr>
        <p:spPr bwMode="auto">
          <a:xfrm flipV="1">
            <a:off x="1811338" y="2114066"/>
            <a:ext cx="0" cy="549275"/>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9255" name="Line 247"/>
          <p:cNvSpPr>
            <a:spLocks noChangeShapeType="1"/>
          </p:cNvSpPr>
          <p:nvPr/>
        </p:nvSpPr>
        <p:spPr bwMode="auto">
          <a:xfrm flipV="1">
            <a:off x="1354138" y="2114066"/>
            <a:ext cx="0" cy="425450"/>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9256" name="Line 248"/>
          <p:cNvSpPr>
            <a:spLocks noChangeShapeType="1"/>
          </p:cNvSpPr>
          <p:nvPr/>
        </p:nvSpPr>
        <p:spPr bwMode="auto">
          <a:xfrm>
            <a:off x="820738" y="2114066"/>
            <a:ext cx="1524000" cy="0"/>
          </a:xfrm>
          <a:prstGeom prst="line">
            <a:avLst/>
          </a:prstGeom>
          <a:noFill/>
          <a:ln w="25399">
            <a:solidFill>
              <a:schemeClr val="tx1"/>
            </a:solidFill>
            <a:round/>
            <a:headEnd type="none" w="sm" len="sm"/>
            <a:tailEnd type="none" w="sm" len="sm"/>
          </a:ln>
        </p:spPr>
        <p:txBody>
          <a:bodyPr wrap="none" anchor="ctr"/>
          <a:lstStyle/>
          <a:p>
            <a:endParaRPr lang="zh-CN" altLang="en-US"/>
          </a:p>
        </p:txBody>
      </p:sp>
      <p:pic>
        <p:nvPicPr>
          <p:cNvPr id="9257" name="Picture 249"/>
          <p:cNvPicPr>
            <a:picLocks noChangeArrowheads="1"/>
          </p:cNvPicPr>
          <p:nvPr/>
        </p:nvPicPr>
        <p:blipFill>
          <a:blip r:embed="rId5"/>
          <a:srcRect/>
          <a:stretch>
            <a:fillRect/>
          </a:stretch>
        </p:blipFill>
        <p:spPr bwMode="auto">
          <a:xfrm>
            <a:off x="1230313" y="2488716"/>
            <a:ext cx="400050" cy="330200"/>
          </a:xfrm>
          <a:prstGeom prst="rect">
            <a:avLst/>
          </a:prstGeom>
          <a:noFill/>
          <a:ln w="9525">
            <a:noFill/>
            <a:miter lim="800000"/>
            <a:headEnd/>
            <a:tailEnd/>
          </a:ln>
        </p:spPr>
      </p:pic>
      <p:pic>
        <p:nvPicPr>
          <p:cNvPr id="9258" name="Picture 250"/>
          <p:cNvPicPr>
            <a:picLocks noChangeArrowheads="1"/>
          </p:cNvPicPr>
          <p:nvPr/>
        </p:nvPicPr>
        <p:blipFill>
          <a:blip r:embed="rId5"/>
          <a:srcRect/>
          <a:stretch>
            <a:fillRect/>
          </a:stretch>
        </p:blipFill>
        <p:spPr bwMode="auto">
          <a:xfrm>
            <a:off x="1604963" y="2488716"/>
            <a:ext cx="400050" cy="330200"/>
          </a:xfrm>
          <a:prstGeom prst="rect">
            <a:avLst/>
          </a:prstGeom>
          <a:noFill/>
          <a:ln w="9525">
            <a:noFill/>
            <a:miter lim="800000"/>
            <a:headEnd/>
            <a:tailEnd/>
          </a:ln>
        </p:spPr>
      </p:pic>
      <p:pic>
        <p:nvPicPr>
          <p:cNvPr id="9259" name="Picture 251"/>
          <p:cNvPicPr>
            <a:picLocks noChangeArrowheads="1"/>
          </p:cNvPicPr>
          <p:nvPr/>
        </p:nvPicPr>
        <p:blipFill>
          <a:blip r:embed="rId5"/>
          <a:srcRect/>
          <a:stretch>
            <a:fillRect/>
          </a:stretch>
        </p:blipFill>
        <p:spPr bwMode="auto">
          <a:xfrm>
            <a:off x="2001838" y="2488716"/>
            <a:ext cx="400050" cy="330200"/>
          </a:xfrm>
          <a:prstGeom prst="rect">
            <a:avLst/>
          </a:prstGeom>
          <a:noFill/>
          <a:ln w="9525">
            <a:noFill/>
            <a:miter lim="800000"/>
            <a:headEnd/>
            <a:tailEnd/>
          </a:ln>
        </p:spPr>
      </p:pic>
      <p:graphicFrame>
        <p:nvGraphicFramePr>
          <p:cNvPr id="9219" name="Object 252"/>
          <p:cNvGraphicFramePr/>
          <p:nvPr/>
        </p:nvGraphicFramePr>
        <p:xfrm>
          <a:off x="855663" y="1948966"/>
          <a:ext cx="288925" cy="488950"/>
        </p:xfrm>
        <a:graphic>
          <a:graphicData uri="http://schemas.openxmlformats.org/presentationml/2006/ole">
            <mc:AlternateContent xmlns:mc="http://schemas.openxmlformats.org/markup-compatibility/2006">
              <mc:Choice xmlns:v="urn:schemas-microsoft-com:vml" Requires="v">
                <p:oleObj spid="_x0000_s4188" r:id="rId6" imgW="1962150" imgH="2638425" progId="">
                  <p:embed/>
                </p:oleObj>
              </mc:Choice>
              <mc:Fallback>
                <p:oleObj r:id="rId6" imgW="1962150" imgH="2638425" progId="">
                  <p:embed/>
                  <p:pic>
                    <p:nvPicPr>
                      <p:cNvPr id="9219" name="Object 25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5663" y="1948966"/>
                        <a:ext cx="28892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60" name="Line 253"/>
          <p:cNvSpPr>
            <a:spLocks noChangeShapeType="1"/>
          </p:cNvSpPr>
          <p:nvPr/>
        </p:nvSpPr>
        <p:spPr bwMode="auto">
          <a:xfrm flipV="1">
            <a:off x="2133600" y="3190391"/>
            <a:ext cx="0" cy="444500"/>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9261" name="Line 254"/>
          <p:cNvSpPr>
            <a:spLocks noChangeShapeType="1"/>
          </p:cNvSpPr>
          <p:nvPr/>
        </p:nvSpPr>
        <p:spPr bwMode="auto">
          <a:xfrm flipV="1">
            <a:off x="1779588" y="3174516"/>
            <a:ext cx="0" cy="546100"/>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9262" name="Line 255"/>
          <p:cNvSpPr>
            <a:spLocks noChangeShapeType="1"/>
          </p:cNvSpPr>
          <p:nvPr/>
        </p:nvSpPr>
        <p:spPr bwMode="auto">
          <a:xfrm flipV="1">
            <a:off x="1358900" y="3174516"/>
            <a:ext cx="0" cy="425450"/>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9263" name="Line 256"/>
          <p:cNvSpPr>
            <a:spLocks noChangeShapeType="1"/>
          </p:cNvSpPr>
          <p:nvPr/>
        </p:nvSpPr>
        <p:spPr bwMode="auto">
          <a:xfrm>
            <a:off x="785813" y="3164991"/>
            <a:ext cx="1527175" cy="6350"/>
          </a:xfrm>
          <a:prstGeom prst="line">
            <a:avLst/>
          </a:prstGeom>
          <a:noFill/>
          <a:ln w="25399">
            <a:solidFill>
              <a:schemeClr val="tx1"/>
            </a:solidFill>
            <a:round/>
            <a:headEnd type="none" w="sm" len="sm"/>
            <a:tailEnd type="none" w="sm" len="sm"/>
          </a:ln>
        </p:spPr>
        <p:txBody>
          <a:bodyPr wrap="none" anchor="ctr"/>
          <a:lstStyle/>
          <a:p>
            <a:endParaRPr lang="zh-CN" altLang="en-US"/>
          </a:p>
        </p:txBody>
      </p:sp>
      <p:pic>
        <p:nvPicPr>
          <p:cNvPr id="9264" name="Picture 257"/>
          <p:cNvPicPr>
            <a:picLocks noChangeArrowheads="1"/>
          </p:cNvPicPr>
          <p:nvPr/>
        </p:nvPicPr>
        <p:blipFill>
          <a:blip r:embed="rId5"/>
          <a:srcRect/>
          <a:stretch>
            <a:fillRect/>
          </a:stretch>
        </p:blipFill>
        <p:spPr bwMode="auto">
          <a:xfrm>
            <a:off x="1214438" y="3479316"/>
            <a:ext cx="401637" cy="330200"/>
          </a:xfrm>
          <a:prstGeom prst="rect">
            <a:avLst/>
          </a:prstGeom>
          <a:noFill/>
          <a:ln w="9525">
            <a:noFill/>
            <a:miter lim="800000"/>
            <a:headEnd/>
            <a:tailEnd/>
          </a:ln>
        </p:spPr>
      </p:pic>
      <p:pic>
        <p:nvPicPr>
          <p:cNvPr id="9265" name="Picture 258"/>
          <p:cNvPicPr>
            <a:picLocks noChangeArrowheads="1"/>
          </p:cNvPicPr>
          <p:nvPr/>
        </p:nvPicPr>
        <p:blipFill>
          <a:blip r:embed="rId5"/>
          <a:srcRect/>
          <a:stretch>
            <a:fillRect/>
          </a:stretch>
        </p:blipFill>
        <p:spPr bwMode="auto">
          <a:xfrm>
            <a:off x="1589088" y="3479316"/>
            <a:ext cx="401637" cy="330200"/>
          </a:xfrm>
          <a:prstGeom prst="rect">
            <a:avLst/>
          </a:prstGeom>
          <a:noFill/>
          <a:ln w="9525">
            <a:noFill/>
            <a:miter lim="800000"/>
            <a:headEnd/>
            <a:tailEnd/>
          </a:ln>
        </p:spPr>
      </p:pic>
      <p:pic>
        <p:nvPicPr>
          <p:cNvPr id="9266" name="Picture 259"/>
          <p:cNvPicPr>
            <a:picLocks noChangeArrowheads="1"/>
          </p:cNvPicPr>
          <p:nvPr/>
        </p:nvPicPr>
        <p:blipFill>
          <a:blip r:embed="rId5"/>
          <a:srcRect/>
          <a:stretch>
            <a:fillRect/>
          </a:stretch>
        </p:blipFill>
        <p:spPr bwMode="auto">
          <a:xfrm>
            <a:off x="1985963" y="3479316"/>
            <a:ext cx="401637" cy="330200"/>
          </a:xfrm>
          <a:prstGeom prst="rect">
            <a:avLst/>
          </a:prstGeom>
          <a:noFill/>
          <a:ln w="9525">
            <a:noFill/>
            <a:miter lim="800000"/>
            <a:headEnd/>
            <a:tailEnd/>
          </a:ln>
        </p:spPr>
      </p:pic>
      <p:graphicFrame>
        <p:nvGraphicFramePr>
          <p:cNvPr id="9220" name="Object 260"/>
          <p:cNvGraphicFramePr/>
          <p:nvPr/>
        </p:nvGraphicFramePr>
        <p:xfrm>
          <a:off x="839788" y="2942741"/>
          <a:ext cx="288925" cy="488950"/>
        </p:xfrm>
        <a:graphic>
          <a:graphicData uri="http://schemas.openxmlformats.org/presentationml/2006/ole">
            <mc:AlternateContent xmlns:mc="http://schemas.openxmlformats.org/markup-compatibility/2006">
              <mc:Choice xmlns:v="urn:schemas-microsoft-com:vml" Requires="v">
                <p:oleObj spid="_x0000_s4189" r:id="rId7" imgW="1962150" imgH="2638425" progId="">
                  <p:embed/>
                </p:oleObj>
              </mc:Choice>
              <mc:Fallback>
                <p:oleObj r:id="rId7" imgW="1962150" imgH="2638425" progId="">
                  <p:embed/>
                  <p:pic>
                    <p:nvPicPr>
                      <p:cNvPr id="9220" name="Object 26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9788" y="2942741"/>
                        <a:ext cx="28892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67" name="Line 261"/>
          <p:cNvSpPr>
            <a:spLocks noChangeShapeType="1"/>
          </p:cNvSpPr>
          <p:nvPr/>
        </p:nvSpPr>
        <p:spPr bwMode="auto">
          <a:xfrm flipV="1">
            <a:off x="2133600" y="4158766"/>
            <a:ext cx="0" cy="444500"/>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9268" name="Line 262"/>
          <p:cNvSpPr>
            <a:spLocks noChangeShapeType="1"/>
          </p:cNvSpPr>
          <p:nvPr/>
        </p:nvSpPr>
        <p:spPr bwMode="auto">
          <a:xfrm flipV="1">
            <a:off x="1776413" y="4142891"/>
            <a:ext cx="0" cy="546100"/>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9269" name="Line 263"/>
          <p:cNvSpPr>
            <a:spLocks noChangeShapeType="1"/>
          </p:cNvSpPr>
          <p:nvPr/>
        </p:nvSpPr>
        <p:spPr bwMode="auto">
          <a:xfrm flipV="1">
            <a:off x="1358900" y="4142891"/>
            <a:ext cx="0" cy="428625"/>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9270" name="Line 264"/>
          <p:cNvSpPr>
            <a:spLocks noChangeShapeType="1"/>
          </p:cNvSpPr>
          <p:nvPr/>
        </p:nvSpPr>
        <p:spPr bwMode="auto">
          <a:xfrm>
            <a:off x="782638" y="4136541"/>
            <a:ext cx="1530350" cy="6350"/>
          </a:xfrm>
          <a:prstGeom prst="line">
            <a:avLst/>
          </a:prstGeom>
          <a:noFill/>
          <a:ln w="25399">
            <a:solidFill>
              <a:schemeClr val="tx1"/>
            </a:solidFill>
            <a:round/>
            <a:headEnd type="none" w="sm" len="sm"/>
            <a:tailEnd type="none" w="sm" len="sm"/>
          </a:ln>
        </p:spPr>
        <p:txBody>
          <a:bodyPr wrap="none" anchor="ctr"/>
          <a:lstStyle/>
          <a:p>
            <a:endParaRPr lang="zh-CN" altLang="en-US"/>
          </a:p>
        </p:txBody>
      </p:sp>
      <p:pic>
        <p:nvPicPr>
          <p:cNvPr id="9271" name="Picture 265"/>
          <p:cNvPicPr>
            <a:picLocks noChangeArrowheads="1"/>
          </p:cNvPicPr>
          <p:nvPr/>
        </p:nvPicPr>
        <p:blipFill>
          <a:blip r:embed="rId5"/>
          <a:srcRect/>
          <a:stretch>
            <a:fillRect/>
          </a:stretch>
        </p:blipFill>
        <p:spPr bwMode="auto">
          <a:xfrm>
            <a:off x="1211263" y="4450866"/>
            <a:ext cx="400050" cy="330200"/>
          </a:xfrm>
          <a:prstGeom prst="rect">
            <a:avLst/>
          </a:prstGeom>
          <a:noFill/>
          <a:ln w="9525">
            <a:noFill/>
            <a:miter lim="800000"/>
            <a:headEnd/>
            <a:tailEnd/>
          </a:ln>
        </p:spPr>
      </p:pic>
      <p:pic>
        <p:nvPicPr>
          <p:cNvPr id="9272" name="Picture 266"/>
          <p:cNvPicPr>
            <a:picLocks noChangeArrowheads="1"/>
          </p:cNvPicPr>
          <p:nvPr/>
        </p:nvPicPr>
        <p:blipFill>
          <a:blip r:embed="rId5"/>
          <a:srcRect/>
          <a:stretch>
            <a:fillRect/>
          </a:stretch>
        </p:blipFill>
        <p:spPr bwMode="auto">
          <a:xfrm>
            <a:off x="1589088" y="4450866"/>
            <a:ext cx="396875" cy="330200"/>
          </a:xfrm>
          <a:prstGeom prst="rect">
            <a:avLst/>
          </a:prstGeom>
          <a:noFill/>
          <a:ln w="9525">
            <a:noFill/>
            <a:miter lim="800000"/>
            <a:headEnd/>
            <a:tailEnd/>
          </a:ln>
        </p:spPr>
      </p:pic>
      <p:pic>
        <p:nvPicPr>
          <p:cNvPr id="9273" name="Picture 267"/>
          <p:cNvPicPr>
            <a:picLocks noChangeArrowheads="1"/>
          </p:cNvPicPr>
          <p:nvPr/>
        </p:nvPicPr>
        <p:blipFill>
          <a:blip r:embed="rId5"/>
          <a:srcRect/>
          <a:stretch>
            <a:fillRect/>
          </a:stretch>
        </p:blipFill>
        <p:spPr bwMode="auto">
          <a:xfrm>
            <a:off x="1982788" y="4450866"/>
            <a:ext cx="400050" cy="330200"/>
          </a:xfrm>
          <a:prstGeom prst="rect">
            <a:avLst/>
          </a:prstGeom>
          <a:noFill/>
          <a:ln w="9525">
            <a:noFill/>
            <a:miter lim="800000"/>
            <a:headEnd/>
            <a:tailEnd/>
          </a:ln>
        </p:spPr>
      </p:pic>
      <p:graphicFrame>
        <p:nvGraphicFramePr>
          <p:cNvPr id="9221" name="Object 268"/>
          <p:cNvGraphicFramePr/>
          <p:nvPr/>
        </p:nvGraphicFramePr>
        <p:xfrm>
          <a:off x="839788" y="3907941"/>
          <a:ext cx="285750" cy="495300"/>
        </p:xfrm>
        <a:graphic>
          <a:graphicData uri="http://schemas.openxmlformats.org/presentationml/2006/ole">
            <mc:AlternateContent xmlns:mc="http://schemas.openxmlformats.org/markup-compatibility/2006">
              <mc:Choice xmlns:v="urn:schemas-microsoft-com:vml" Requires="v">
                <p:oleObj spid="_x0000_s4190" r:id="rId8" imgW="1962150" imgH="2638425" progId="">
                  <p:embed/>
                </p:oleObj>
              </mc:Choice>
              <mc:Fallback>
                <p:oleObj r:id="rId8" imgW="1962150" imgH="2638425" progId="">
                  <p:embed/>
                  <p:pic>
                    <p:nvPicPr>
                      <p:cNvPr id="9221" name="Object 26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9788" y="3907941"/>
                        <a:ext cx="28575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74" name="Line 269"/>
          <p:cNvSpPr>
            <a:spLocks noChangeShapeType="1"/>
          </p:cNvSpPr>
          <p:nvPr/>
        </p:nvSpPr>
        <p:spPr bwMode="auto">
          <a:xfrm flipV="1">
            <a:off x="1744663" y="5095391"/>
            <a:ext cx="0" cy="549275"/>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9275" name="Line 270"/>
          <p:cNvSpPr>
            <a:spLocks noChangeShapeType="1"/>
          </p:cNvSpPr>
          <p:nvPr/>
        </p:nvSpPr>
        <p:spPr bwMode="auto">
          <a:xfrm flipV="1">
            <a:off x="1327150" y="5095391"/>
            <a:ext cx="0" cy="425450"/>
          </a:xfrm>
          <a:prstGeom prst="line">
            <a:avLst/>
          </a:prstGeom>
          <a:noFill/>
          <a:ln w="25399">
            <a:solidFill>
              <a:schemeClr val="tx1"/>
            </a:solidFill>
            <a:round/>
            <a:headEnd type="none" w="sm" len="sm"/>
            <a:tailEnd type="none" w="sm" len="sm"/>
          </a:ln>
        </p:spPr>
        <p:txBody>
          <a:bodyPr wrap="none" anchor="ctr"/>
          <a:lstStyle/>
          <a:p>
            <a:endParaRPr lang="zh-CN" altLang="en-US"/>
          </a:p>
        </p:txBody>
      </p:sp>
      <p:pic>
        <p:nvPicPr>
          <p:cNvPr id="9276" name="Picture 271"/>
          <p:cNvPicPr>
            <a:picLocks noChangeArrowheads="1"/>
          </p:cNvPicPr>
          <p:nvPr/>
        </p:nvPicPr>
        <p:blipFill>
          <a:blip r:embed="rId5"/>
          <a:srcRect/>
          <a:stretch>
            <a:fillRect/>
          </a:stretch>
        </p:blipFill>
        <p:spPr bwMode="auto">
          <a:xfrm>
            <a:off x="1176338" y="5403366"/>
            <a:ext cx="400050" cy="330200"/>
          </a:xfrm>
          <a:prstGeom prst="rect">
            <a:avLst/>
          </a:prstGeom>
          <a:noFill/>
          <a:ln w="9525">
            <a:noFill/>
            <a:miter lim="800000"/>
            <a:headEnd/>
            <a:tailEnd/>
          </a:ln>
        </p:spPr>
      </p:pic>
      <p:pic>
        <p:nvPicPr>
          <p:cNvPr id="9277" name="Picture 272"/>
          <p:cNvPicPr>
            <a:picLocks noChangeArrowheads="1"/>
          </p:cNvPicPr>
          <p:nvPr/>
        </p:nvPicPr>
        <p:blipFill>
          <a:blip r:embed="rId5"/>
          <a:srcRect/>
          <a:stretch>
            <a:fillRect/>
          </a:stretch>
        </p:blipFill>
        <p:spPr bwMode="auto">
          <a:xfrm>
            <a:off x="1557338" y="5403366"/>
            <a:ext cx="396875" cy="330200"/>
          </a:xfrm>
          <a:prstGeom prst="rect">
            <a:avLst/>
          </a:prstGeom>
          <a:noFill/>
          <a:ln w="9525">
            <a:noFill/>
            <a:miter lim="800000"/>
            <a:headEnd/>
            <a:tailEnd/>
          </a:ln>
        </p:spPr>
      </p:pic>
      <p:graphicFrame>
        <p:nvGraphicFramePr>
          <p:cNvPr id="9222" name="Object 273"/>
          <p:cNvGraphicFramePr/>
          <p:nvPr/>
        </p:nvGraphicFramePr>
        <p:xfrm>
          <a:off x="804863" y="4863616"/>
          <a:ext cx="285750" cy="488950"/>
        </p:xfrm>
        <a:graphic>
          <a:graphicData uri="http://schemas.openxmlformats.org/presentationml/2006/ole">
            <mc:AlternateContent xmlns:mc="http://schemas.openxmlformats.org/markup-compatibility/2006">
              <mc:Choice xmlns:v="urn:schemas-microsoft-com:vml" Requires="v">
                <p:oleObj spid="_x0000_s4191" r:id="rId9" imgW="1962150" imgH="2638425" progId="">
                  <p:embed/>
                </p:oleObj>
              </mc:Choice>
              <mc:Fallback>
                <p:oleObj r:id="rId9" imgW="1962150" imgH="2638425" progId="">
                  <p:embed/>
                  <p:pic>
                    <p:nvPicPr>
                      <p:cNvPr id="9222" name="Object 27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4863" y="4863616"/>
                        <a:ext cx="28575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48082" name="Picture 274"/>
          <p:cNvPicPr>
            <a:picLocks noChangeArrowheads="1"/>
          </p:cNvPicPr>
          <p:nvPr/>
        </p:nvPicPr>
        <p:blipFill>
          <a:blip r:embed="rId10"/>
          <a:srcRect/>
          <a:stretch>
            <a:fillRect/>
          </a:stretch>
        </p:blipFill>
        <p:spPr bwMode="auto">
          <a:xfrm>
            <a:off x="6326188" y="1679091"/>
            <a:ext cx="2227262" cy="1095375"/>
          </a:xfrm>
          <a:prstGeom prst="rect">
            <a:avLst/>
          </a:prstGeom>
          <a:noFill/>
          <a:ln w="9525">
            <a:noFill/>
            <a:miter lim="800000"/>
            <a:headEnd/>
            <a:tailEnd/>
          </a:ln>
          <a:effectLst>
            <a:outerShdw dist="107763" dir="2700000" algn="ctr" rotWithShape="0">
              <a:schemeClr val="bg2"/>
            </a:outerShdw>
          </a:effectLst>
        </p:spPr>
      </p:pic>
      <p:sp>
        <p:nvSpPr>
          <p:cNvPr id="248083" name="Rectangle 275"/>
          <p:cNvSpPr>
            <a:spLocks noChangeArrowheads="1"/>
          </p:cNvSpPr>
          <p:nvPr/>
        </p:nvSpPr>
        <p:spPr bwMode="auto">
          <a:xfrm>
            <a:off x="7000875" y="2129941"/>
            <a:ext cx="1636713" cy="452437"/>
          </a:xfrm>
          <a:prstGeom prst="rect">
            <a:avLst/>
          </a:prstGeom>
          <a:noFill/>
          <a:ln w="9525">
            <a:noFill/>
            <a:miter lim="800000"/>
          </a:ln>
          <a:effectLst/>
        </p:spPr>
        <p:txBody>
          <a:bodyPr lIns="102026" tIns="51012" rIns="102026" bIns="51012">
            <a:spAutoFit/>
          </a:bodyPr>
          <a:lstStyle/>
          <a:p>
            <a:pPr defTabSz="1050925" eaLnBrk="0" hangingPunct="0">
              <a:defRPr/>
            </a:pPr>
            <a:r>
              <a:rPr kumimoji="1" lang="en-US" altLang="zh-CN" sz="2300">
                <a:effectLst>
                  <a:outerShdw blurRad="38100" dist="38100" dir="2700000" algn="tl">
                    <a:srgbClr val="C0C0C0"/>
                  </a:outerShdw>
                </a:effectLst>
                <a:latin typeface="ACaslon Bold" charset="0"/>
              </a:rPr>
              <a:t>Internet</a:t>
            </a:r>
          </a:p>
        </p:txBody>
      </p:sp>
      <p:grpSp>
        <p:nvGrpSpPr>
          <p:cNvPr id="248041" name="Group 276"/>
          <p:cNvGrpSpPr/>
          <p:nvPr/>
        </p:nvGrpSpPr>
        <p:grpSpPr bwMode="auto">
          <a:xfrm>
            <a:off x="5897563" y="2942741"/>
            <a:ext cx="619125" cy="320675"/>
            <a:chOff x="3097" y="1731"/>
            <a:chExt cx="348" cy="202"/>
          </a:xfrm>
        </p:grpSpPr>
        <p:grpSp>
          <p:nvGrpSpPr>
            <p:cNvPr id="248042" name="Group 277"/>
            <p:cNvGrpSpPr/>
            <p:nvPr/>
          </p:nvGrpSpPr>
          <p:grpSpPr bwMode="auto">
            <a:xfrm>
              <a:off x="3098" y="1801"/>
              <a:ext cx="192" cy="132"/>
              <a:chOff x="3098" y="1801"/>
              <a:chExt cx="192" cy="132"/>
            </a:xfrm>
          </p:grpSpPr>
          <p:sp>
            <p:nvSpPr>
              <p:cNvPr id="9456" name="Freeform 278"/>
              <p:cNvSpPr/>
              <p:nvPr/>
            </p:nvSpPr>
            <p:spPr bwMode="auto">
              <a:xfrm>
                <a:off x="3098" y="1802"/>
                <a:ext cx="184" cy="124"/>
              </a:xfrm>
              <a:custGeom>
                <a:avLst/>
                <a:gdLst>
                  <a:gd name="T0" fmla="*/ 183 w 184"/>
                  <a:gd name="T1" fmla="*/ 33 h 124"/>
                  <a:gd name="T2" fmla="*/ 183 w 184"/>
                  <a:gd name="T3" fmla="*/ 123 h 124"/>
                  <a:gd name="T4" fmla="*/ 0 w 184"/>
                  <a:gd name="T5" fmla="*/ 83 h 124"/>
                  <a:gd name="T6" fmla="*/ 0 w 184"/>
                  <a:gd name="T7" fmla="*/ 0 h 124"/>
                  <a:gd name="T8" fmla="*/ 183 w 184"/>
                  <a:gd name="T9" fmla="*/ 33 h 124"/>
                  <a:gd name="T10" fmla="*/ 0 60000 65536"/>
                  <a:gd name="T11" fmla="*/ 0 60000 65536"/>
                  <a:gd name="T12" fmla="*/ 0 60000 65536"/>
                  <a:gd name="T13" fmla="*/ 0 60000 65536"/>
                  <a:gd name="T14" fmla="*/ 0 60000 65536"/>
                  <a:gd name="T15" fmla="*/ 0 w 184"/>
                  <a:gd name="T16" fmla="*/ 0 h 124"/>
                  <a:gd name="T17" fmla="*/ 184 w 184"/>
                  <a:gd name="T18" fmla="*/ 124 h 124"/>
                </a:gdLst>
                <a:ahLst/>
                <a:cxnLst>
                  <a:cxn ang="T10">
                    <a:pos x="T0" y="T1"/>
                  </a:cxn>
                  <a:cxn ang="T11">
                    <a:pos x="T2" y="T3"/>
                  </a:cxn>
                  <a:cxn ang="T12">
                    <a:pos x="T4" y="T5"/>
                  </a:cxn>
                  <a:cxn ang="T13">
                    <a:pos x="T6" y="T7"/>
                  </a:cxn>
                  <a:cxn ang="T14">
                    <a:pos x="T8" y="T9"/>
                  </a:cxn>
                </a:cxnLst>
                <a:rect l="T15" t="T16" r="T17" b="T18"/>
                <a:pathLst>
                  <a:path w="184" h="124">
                    <a:moveTo>
                      <a:pt x="183" y="33"/>
                    </a:moveTo>
                    <a:lnTo>
                      <a:pt x="183" y="123"/>
                    </a:lnTo>
                    <a:lnTo>
                      <a:pt x="0" y="83"/>
                    </a:lnTo>
                    <a:lnTo>
                      <a:pt x="0" y="0"/>
                    </a:lnTo>
                    <a:lnTo>
                      <a:pt x="183" y="33"/>
                    </a:lnTo>
                  </a:path>
                </a:pathLst>
              </a:custGeom>
              <a:gradFill rotWithShape="0">
                <a:gsLst>
                  <a:gs pos="0">
                    <a:srgbClr val="33CC33"/>
                  </a:gs>
                  <a:gs pos="100000">
                    <a:srgbClr val="2EB72E"/>
                  </a:gs>
                </a:gsLst>
                <a:path path="rect">
                  <a:fillToRect l="50000" t="50000" r="50000" b="50000"/>
                </a:path>
              </a:gradFill>
              <a:ln w="9525" cap="rnd">
                <a:noFill/>
                <a:round/>
              </a:ln>
            </p:spPr>
            <p:txBody>
              <a:bodyPr/>
              <a:lstStyle/>
              <a:p>
                <a:endParaRPr lang="zh-CN" altLang="en-US"/>
              </a:p>
            </p:txBody>
          </p:sp>
          <p:sp>
            <p:nvSpPr>
              <p:cNvPr id="9457" name="Freeform 279"/>
              <p:cNvSpPr/>
              <p:nvPr/>
            </p:nvSpPr>
            <p:spPr bwMode="auto">
              <a:xfrm>
                <a:off x="3100" y="1801"/>
                <a:ext cx="190" cy="132"/>
              </a:xfrm>
              <a:custGeom>
                <a:avLst/>
                <a:gdLst>
                  <a:gd name="T0" fmla="*/ 189 w 190"/>
                  <a:gd name="T1" fmla="*/ 36 h 132"/>
                  <a:gd name="T2" fmla="*/ 189 w 190"/>
                  <a:gd name="T3" fmla="*/ 131 h 132"/>
                  <a:gd name="T4" fmla="*/ 0 w 190"/>
                  <a:gd name="T5" fmla="*/ 88 h 132"/>
                  <a:gd name="T6" fmla="*/ 0 w 190"/>
                  <a:gd name="T7" fmla="*/ 0 h 132"/>
                  <a:gd name="T8" fmla="*/ 189 w 190"/>
                  <a:gd name="T9" fmla="*/ 36 h 132"/>
                  <a:gd name="T10" fmla="*/ 0 60000 65536"/>
                  <a:gd name="T11" fmla="*/ 0 60000 65536"/>
                  <a:gd name="T12" fmla="*/ 0 60000 65536"/>
                  <a:gd name="T13" fmla="*/ 0 60000 65536"/>
                  <a:gd name="T14" fmla="*/ 0 60000 65536"/>
                  <a:gd name="T15" fmla="*/ 0 w 190"/>
                  <a:gd name="T16" fmla="*/ 0 h 132"/>
                  <a:gd name="T17" fmla="*/ 190 w 190"/>
                  <a:gd name="T18" fmla="*/ 132 h 132"/>
                </a:gdLst>
                <a:ahLst/>
                <a:cxnLst>
                  <a:cxn ang="T10">
                    <a:pos x="T0" y="T1"/>
                  </a:cxn>
                  <a:cxn ang="T11">
                    <a:pos x="T2" y="T3"/>
                  </a:cxn>
                  <a:cxn ang="T12">
                    <a:pos x="T4" y="T5"/>
                  </a:cxn>
                  <a:cxn ang="T13">
                    <a:pos x="T6" y="T7"/>
                  </a:cxn>
                  <a:cxn ang="T14">
                    <a:pos x="T8" y="T9"/>
                  </a:cxn>
                </a:cxnLst>
                <a:rect l="T15" t="T16" r="T17" b="T18"/>
                <a:pathLst>
                  <a:path w="190" h="132">
                    <a:moveTo>
                      <a:pt x="189" y="36"/>
                    </a:moveTo>
                    <a:lnTo>
                      <a:pt x="189" y="131"/>
                    </a:lnTo>
                    <a:lnTo>
                      <a:pt x="0" y="88"/>
                    </a:lnTo>
                    <a:lnTo>
                      <a:pt x="0" y="0"/>
                    </a:lnTo>
                    <a:lnTo>
                      <a:pt x="189" y="36"/>
                    </a:lnTo>
                  </a:path>
                </a:pathLst>
              </a:custGeom>
              <a:gradFill rotWithShape="0">
                <a:gsLst>
                  <a:gs pos="0">
                    <a:srgbClr val="33CC33"/>
                  </a:gs>
                  <a:gs pos="100000">
                    <a:srgbClr val="2EB72E"/>
                  </a:gs>
                </a:gsLst>
                <a:path path="rect">
                  <a:fillToRect l="50000" t="50000" r="50000" b="50000"/>
                </a:path>
              </a:gradFill>
              <a:ln w="9525" cap="rnd">
                <a:noFill/>
                <a:round/>
              </a:ln>
            </p:spPr>
            <p:txBody>
              <a:bodyPr/>
              <a:lstStyle/>
              <a:p>
                <a:endParaRPr lang="zh-CN" altLang="en-US"/>
              </a:p>
            </p:txBody>
          </p:sp>
        </p:grpSp>
        <p:grpSp>
          <p:nvGrpSpPr>
            <p:cNvPr id="248043" name="Group 280"/>
            <p:cNvGrpSpPr/>
            <p:nvPr/>
          </p:nvGrpSpPr>
          <p:grpSpPr bwMode="auto">
            <a:xfrm>
              <a:off x="3097" y="1731"/>
              <a:ext cx="345" cy="108"/>
              <a:chOff x="3097" y="1731"/>
              <a:chExt cx="345" cy="108"/>
            </a:xfrm>
          </p:grpSpPr>
          <p:sp>
            <p:nvSpPr>
              <p:cNvPr id="9454" name="Freeform 281"/>
              <p:cNvSpPr/>
              <p:nvPr/>
            </p:nvSpPr>
            <p:spPr bwMode="auto">
              <a:xfrm>
                <a:off x="3098" y="1731"/>
                <a:ext cx="336" cy="103"/>
              </a:xfrm>
              <a:custGeom>
                <a:avLst/>
                <a:gdLst>
                  <a:gd name="T0" fmla="*/ 185 w 336"/>
                  <a:gd name="T1" fmla="*/ 102 h 103"/>
                  <a:gd name="T2" fmla="*/ 0 w 336"/>
                  <a:gd name="T3" fmla="*/ 68 h 103"/>
                  <a:gd name="T4" fmla="*/ 174 w 336"/>
                  <a:gd name="T5" fmla="*/ 0 h 103"/>
                  <a:gd name="T6" fmla="*/ 335 w 336"/>
                  <a:gd name="T7" fmla="*/ 27 h 103"/>
                  <a:gd name="T8" fmla="*/ 185 w 336"/>
                  <a:gd name="T9" fmla="*/ 102 h 103"/>
                  <a:gd name="T10" fmla="*/ 0 60000 65536"/>
                  <a:gd name="T11" fmla="*/ 0 60000 65536"/>
                  <a:gd name="T12" fmla="*/ 0 60000 65536"/>
                  <a:gd name="T13" fmla="*/ 0 60000 65536"/>
                  <a:gd name="T14" fmla="*/ 0 60000 65536"/>
                  <a:gd name="T15" fmla="*/ 0 w 336"/>
                  <a:gd name="T16" fmla="*/ 0 h 103"/>
                  <a:gd name="T17" fmla="*/ 336 w 336"/>
                  <a:gd name="T18" fmla="*/ 103 h 103"/>
                </a:gdLst>
                <a:ahLst/>
                <a:cxnLst>
                  <a:cxn ang="T10">
                    <a:pos x="T0" y="T1"/>
                  </a:cxn>
                  <a:cxn ang="T11">
                    <a:pos x="T2" y="T3"/>
                  </a:cxn>
                  <a:cxn ang="T12">
                    <a:pos x="T4" y="T5"/>
                  </a:cxn>
                  <a:cxn ang="T13">
                    <a:pos x="T6" y="T7"/>
                  </a:cxn>
                  <a:cxn ang="T14">
                    <a:pos x="T8" y="T9"/>
                  </a:cxn>
                </a:cxnLst>
                <a:rect l="T15" t="T16" r="T17" b="T18"/>
                <a:pathLst>
                  <a:path w="336" h="103">
                    <a:moveTo>
                      <a:pt x="185" y="102"/>
                    </a:moveTo>
                    <a:lnTo>
                      <a:pt x="0" y="68"/>
                    </a:lnTo>
                    <a:lnTo>
                      <a:pt x="174" y="0"/>
                    </a:lnTo>
                    <a:lnTo>
                      <a:pt x="335" y="27"/>
                    </a:lnTo>
                    <a:lnTo>
                      <a:pt x="185" y="102"/>
                    </a:lnTo>
                  </a:path>
                </a:pathLst>
              </a:custGeom>
              <a:gradFill rotWithShape="0">
                <a:gsLst>
                  <a:gs pos="0">
                    <a:srgbClr val="33CC33"/>
                  </a:gs>
                  <a:gs pos="100000">
                    <a:srgbClr val="2EB72E"/>
                  </a:gs>
                </a:gsLst>
                <a:path path="rect">
                  <a:fillToRect l="50000" t="50000" r="50000" b="50000"/>
                </a:path>
              </a:gradFill>
              <a:ln w="9525" cap="rnd">
                <a:noFill/>
                <a:round/>
              </a:ln>
            </p:spPr>
            <p:txBody>
              <a:bodyPr/>
              <a:lstStyle/>
              <a:p>
                <a:endParaRPr lang="zh-CN" altLang="en-US"/>
              </a:p>
            </p:txBody>
          </p:sp>
          <p:sp>
            <p:nvSpPr>
              <p:cNvPr id="9455" name="Freeform 282"/>
              <p:cNvSpPr/>
              <p:nvPr/>
            </p:nvSpPr>
            <p:spPr bwMode="auto">
              <a:xfrm>
                <a:off x="3097" y="1731"/>
                <a:ext cx="345" cy="108"/>
              </a:xfrm>
              <a:custGeom>
                <a:avLst/>
                <a:gdLst>
                  <a:gd name="T0" fmla="*/ 190 w 345"/>
                  <a:gd name="T1" fmla="*/ 107 h 108"/>
                  <a:gd name="T2" fmla="*/ 0 w 345"/>
                  <a:gd name="T3" fmla="*/ 71 h 108"/>
                  <a:gd name="T4" fmla="*/ 179 w 345"/>
                  <a:gd name="T5" fmla="*/ 0 h 108"/>
                  <a:gd name="T6" fmla="*/ 344 w 345"/>
                  <a:gd name="T7" fmla="*/ 28 h 108"/>
                  <a:gd name="T8" fmla="*/ 190 w 345"/>
                  <a:gd name="T9" fmla="*/ 107 h 108"/>
                  <a:gd name="T10" fmla="*/ 0 60000 65536"/>
                  <a:gd name="T11" fmla="*/ 0 60000 65536"/>
                  <a:gd name="T12" fmla="*/ 0 60000 65536"/>
                  <a:gd name="T13" fmla="*/ 0 60000 65536"/>
                  <a:gd name="T14" fmla="*/ 0 60000 65536"/>
                  <a:gd name="T15" fmla="*/ 0 w 345"/>
                  <a:gd name="T16" fmla="*/ 0 h 108"/>
                  <a:gd name="T17" fmla="*/ 345 w 345"/>
                  <a:gd name="T18" fmla="*/ 108 h 108"/>
                </a:gdLst>
                <a:ahLst/>
                <a:cxnLst>
                  <a:cxn ang="T10">
                    <a:pos x="T0" y="T1"/>
                  </a:cxn>
                  <a:cxn ang="T11">
                    <a:pos x="T2" y="T3"/>
                  </a:cxn>
                  <a:cxn ang="T12">
                    <a:pos x="T4" y="T5"/>
                  </a:cxn>
                  <a:cxn ang="T13">
                    <a:pos x="T6" y="T7"/>
                  </a:cxn>
                  <a:cxn ang="T14">
                    <a:pos x="T8" y="T9"/>
                  </a:cxn>
                </a:cxnLst>
                <a:rect l="T15" t="T16" r="T17" b="T18"/>
                <a:pathLst>
                  <a:path w="345" h="108">
                    <a:moveTo>
                      <a:pt x="190" y="107"/>
                    </a:moveTo>
                    <a:lnTo>
                      <a:pt x="0" y="71"/>
                    </a:lnTo>
                    <a:lnTo>
                      <a:pt x="179" y="0"/>
                    </a:lnTo>
                    <a:lnTo>
                      <a:pt x="344" y="28"/>
                    </a:lnTo>
                    <a:lnTo>
                      <a:pt x="190" y="107"/>
                    </a:lnTo>
                  </a:path>
                </a:pathLst>
              </a:custGeom>
              <a:gradFill rotWithShape="0">
                <a:gsLst>
                  <a:gs pos="0">
                    <a:srgbClr val="33CC33"/>
                  </a:gs>
                  <a:gs pos="100000">
                    <a:srgbClr val="2EB72E"/>
                  </a:gs>
                </a:gsLst>
                <a:path path="rect">
                  <a:fillToRect l="50000" t="50000" r="50000" b="50000"/>
                </a:path>
              </a:gradFill>
              <a:ln w="9525" cap="rnd">
                <a:noFill/>
                <a:round/>
              </a:ln>
            </p:spPr>
            <p:txBody>
              <a:bodyPr/>
              <a:lstStyle/>
              <a:p>
                <a:endParaRPr lang="zh-CN" altLang="en-US"/>
              </a:p>
            </p:txBody>
          </p:sp>
        </p:grpSp>
        <p:grpSp>
          <p:nvGrpSpPr>
            <p:cNvPr id="248044" name="Group 283"/>
            <p:cNvGrpSpPr/>
            <p:nvPr/>
          </p:nvGrpSpPr>
          <p:grpSpPr bwMode="auto">
            <a:xfrm>
              <a:off x="3290" y="1758"/>
              <a:ext cx="155" cy="175"/>
              <a:chOff x="3290" y="1758"/>
              <a:chExt cx="155" cy="175"/>
            </a:xfrm>
          </p:grpSpPr>
          <p:sp>
            <p:nvSpPr>
              <p:cNvPr id="9452" name="Freeform 284"/>
              <p:cNvSpPr/>
              <p:nvPr/>
            </p:nvSpPr>
            <p:spPr bwMode="auto">
              <a:xfrm>
                <a:off x="3291" y="1759"/>
                <a:ext cx="146" cy="167"/>
              </a:xfrm>
              <a:custGeom>
                <a:avLst/>
                <a:gdLst>
                  <a:gd name="T0" fmla="*/ 145 w 146"/>
                  <a:gd name="T1" fmla="*/ 0 h 167"/>
                  <a:gd name="T2" fmla="*/ 0 w 146"/>
                  <a:gd name="T3" fmla="*/ 75 h 167"/>
                  <a:gd name="T4" fmla="*/ 0 w 146"/>
                  <a:gd name="T5" fmla="*/ 166 h 167"/>
                  <a:gd name="T6" fmla="*/ 145 w 146"/>
                  <a:gd name="T7" fmla="*/ 79 h 167"/>
                  <a:gd name="T8" fmla="*/ 145 w 146"/>
                  <a:gd name="T9" fmla="*/ 0 h 167"/>
                  <a:gd name="T10" fmla="*/ 0 60000 65536"/>
                  <a:gd name="T11" fmla="*/ 0 60000 65536"/>
                  <a:gd name="T12" fmla="*/ 0 60000 65536"/>
                  <a:gd name="T13" fmla="*/ 0 60000 65536"/>
                  <a:gd name="T14" fmla="*/ 0 60000 65536"/>
                  <a:gd name="T15" fmla="*/ 0 w 146"/>
                  <a:gd name="T16" fmla="*/ 0 h 167"/>
                  <a:gd name="T17" fmla="*/ 146 w 146"/>
                  <a:gd name="T18" fmla="*/ 167 h 167"/>
                </a:gdLst>
                <a:ahLst/>
                <a:cxnLst>
                  <a:cxn ang="T10">
                    <a:pos x="T0" y="T1"/>
                  </a:cxn>
                  <a:cxn ang="T11">
                    <a:pos x="T2" y="T3"/>
                  </a:cxn>
                  <a:cxn ang="T12">
                    <a:pos x="T4" y="T5"/>
                  </a:cxn>
                  <a:cxn ang="T13">
                    <a:pos x="T6" y="T7"/>
                  </a:cxn>
                  <a:cxn ang="T14">
                    <a:pos x="T8" y="T9"/>
                  </a:cxn>
                </a:cxnLst>
                <a:rect l="T15" t="T16" r="T17" b="T18"/>
                <a:pathLst>
                  <a:path w="146" h="167">
                    <a:moveTo>
                      <a:pt x="145" y="0"/>
                    </a:moveTo>
                    <a:lnTo>
                      <a:pt x="0" y="75"/>
                    </a:lnTo>
                    <a:lnTo>
                      <a:pt x="0" y="166"/>
                    </a:lnTo>
                    <a:lnTo>
                      <a:pt x="145" y="79"/>
                    </a:lnTo>
                    <a:lnTo>
                      <a:pt x="145" y="0"/>
                    </a:lnTo>
                  </a:path>
                </a:pathLst>
              </a:custGeom>
              <a:gradFill rotWithShape="0">
                <a:gsLst>
                  <a:gs pos="0">
                    <a:srgbClr val="33CC33"/>
                  </a:gs>
                  <a:gs pos="100000">
                    <a:srgbClr val="2EB72E"/>
                  </a:gs>
                </a:gsLst>
                <a:path path="rect">
                  <a:fillToRect l="50000" t="50000" r="50000" b="50000"/>
                </a:path>
              </a:gradFill>
              <a:ln w="9525" cap="rnd">
                <a:noFill/>
                <a:round/>
              </a:ln>
            </p:spPr>
            <p:txBody>
              <a:bodyPr/>
              <a:lstStyle/>
              <a:p>
                <a:endParaRPr lang="zh-CN" altLang="en-US"/>
              </a:p>
            </p:txBody>
          </p:sp>
          <p:sp>
            <p:nvSpPr>
              <p:cNvPr id="9453" name="Freeform 285"/>
              <p:cNvSpPr/>
              <p:nvPr/>
            </p:nvSpPr>
            <p:spPr bwMode="auto">
              <a:xfrm>
                <a:off x="3290" y="1758"/>
                <a:ext cx="155" cy="175"/>
              </a:xfrm>
              <a:custGeom>
                <a:avLst/>
                <a:gdLst>
                  <a:gd name="T0" fmla="*/ 154 w 155"/>
                  <a:gd name="T1" fmla="*/ 0 h 175"/>
                  <a:gd name="T2" fmla="*/ 0 w 155"/>
                  <a:gd name="T3" fmla="*/ 80 h 175"/>
                  <a:gd name="T4" fmla="*/ 0 w 155"/>
                  <a:gd name="T5" fmla="*/ 174 h 175"/>
                  <a:gd name="T6" fmla="*/ 154 w 155"/>
                  <a:gd name="T7" fmla="*/ 84 h 175"/>
                  <a:gd name="T8" fmla="*/ 154 w 155"/>
                  <a:gd name="T9" fmla="*/ 0 h 175"/>
                  <a:gd name="T10" fmla="*/ 0 60000 65536"/>
                  <a:gd name="T11" fmla="*/ 0 60000 65536"/>
                  <a:gd name="T12" fmla="*/ 0 60000 65536"/>
                  <a:gd name="T13" fmla="*/ 0 60000 65536"/>
                  <a:gd name="T14" fmla="*/ 0 60000 65536"/>
                  <a:gd name="T15" fmla="*/ 0 w 155"/>
                  <a:gd name="T16" fmla="*/ 0 h 175"/>
                  <a:gd name="T17" fmla="*/ 155 w 155"/>
                  <a:gd name="T18" fmla="*/ 175 h 175"/>
                </a:gdLst>
                <a:ahLst/>
                <a:cxnLst>
                  <a:cxn ang="T10">
                    <a:pos x="T0" y="T1"/>
                  </a:cxn>
                  <a:cxn ang="T11">
                    <a:pos x="T2" y="T3"/>
                  </a:cxn>
                  <a:cxn ang="T12">
                    <a:pos x="T4" y="T5"/>
                  </a:cxn>
                  <a:cxn ang="T13">
                    <a:pos x="T6" y="T7"/>
                  </a:cxn>
                  <a:cxn ang="T14">
                    <a:pos x="T8" y="T9"/>
                  </a:cxn>
                </a:cxnLst>
                <a:rect l="T15" t="T16" r="T17" b="T18"/>
                <a:pathLst>
                  <a:path w="155" h="175">
                    <a:moveTo>
                      <a:pt x="154" y="0"/>
                    </a:moveTo>
                    <a:lnTo>
                      <a:pt x="0" y="80"/>
                    </a:lnTo>
                    <a:lnTo>
                      <a:pt x="0" y="174"/>
                    </a:lnTo>
                    <a:lnTo>
                      <a:pt x="154" y="84"/>
                    </a:lnTo>
                    <a:lnTo>
                      <a:pt x="154" y="0"/>
                    </a:lnTo>
                  </a:path>
                </a:pathLst>
              </a:custGeom>
              <a:gradFill rotWithShape="0">
                <a:gsLst>
                  <a:gs pos="0">
                    <a:srgbClr val="33CC33"/>
                  </a:gs>
                  <a:gs pos="100000">
                    <a:srgbClr val="2EB72E"/>
                  </a:gs>
                </a:gsLst>
                <a:path path="rect">
                  <a:fillToRect l="50000" t="50000" r="50000" b="50000"/>
                </a:path>
              </a:gradFill>
              <a:ln w="9525" cap="rnd">
                <a:noFill/>
                <a:round/>
              </a:ln>
            </p:spPr>
            <p:txBody>
              <a:bodyPr/>
              <a:lstStyle/>
              <a:p>
                <a:endParaRPr lang="zh-CN" altLang="en-US"/>
              </a:p>
            </p:txBody>
          </p:sp>
        </p:grpSp>
      </p:grpSp>
      <p:sp>
        <p:nvSpPr>
          <p:cNvPr id="248094" name="Rectangle 286"/>
          <p:cNvSpPr>
            <a:spLocks noChangeArrowheads="1"/>
          </p:cNvSpPr>
          <p:nvPr/>
        </p:nvSpPr>
        <p:spPr bwMode="auto">
          <a:xfrm>
            <a:off x="5692775" y="2691916"/>
            <a:ext cx="973138" cy="282575"/>
          </a:xfrm>
          <a:prstGeom prst="rect">
            <a:avLst/>
          </a:prstGeom>
          <a:noFill/>
          <a:ln w="9525">
            <a:noFill/>
            <a:miter lim="800000"/>
          </a:ln>
          <a:effectLst/>
        </p:spPr>
        <p:txBody>
          <a:bodyPr lIns="102026" tIns="51012" rIns="102026" bIns="51012">
            <a:spAutoFit/>
          </a:bodyPr>
          <a:lstStyle/>
          <a:p>
            <a:pPr defTabSz="1050925" eaLnBrk="0" hangingPunct="0">
              <a:lnSpc>
                <a:spcPct val="85000"/>
              </a:lnSpc>
              <a:defRPr/>
            </a:pPr>
            <a:r>
              <a:rPr kumimoji="1" lang="zh-CN" altLang="en-US" sz="1400" b="0">
                <a:effectLst>
                  <a:outerShdw blurRad="38100" dist="38100" dir="2700000" algn="tl">
                    <a:srgbClr val="C0C0C0"/>
                  </a:outerShdw>
                </a:effectLst>
                <a:latin typeface="ACaslon Bold" charset="0"/>
              </a:rPr>
              <a:t>中继</a:t>
            </a:r>
          </a:p>
        </p:txBody>
      </p:sp>
      <p:grpSp>
        <p:nvGrpSpPr>
          <p:cNvPr id="248045" name="Group 287"/>
          <p:cNvGrpSpPr/>
          <p:nvPr/>
        </p:nvGrpSpPr>
        <p:grpSpPr bwMode="auto">
          <a:xfrm>
            <a:off x="4008438" y="2901466"/>
            <a:ext cx="482600" cy="304800"/>
            <a:chOff x="2040" y="1704"/>
            <a:chExt cx="271" cy="193"/>
          </a:xfrm>
        </p:grpSpPr>
        <p:grpSp>
          <p:nvGrpSpPr>
            <p:cNvPr id="248047" name="Group 288"/>
            <p:cNvGrpSpPr/>
            <p:nvPr/>
          </p:nvGrpSpPr>
          <p:grpSpPr bwMode="auto">
            <a:xfrm>
              <a:off x="2041" y="1771"/>
              <a:ext cx="149" cy="126"/>
              <a:chOff x="2041" y="1771"/>
              <a:chExt cx="149" cy="126"/>
            </a:xfrm>
          </p:grpSpPr>
          <p:sp>
            <p:nvSpPr>
              <p:cNvPr id="9447" name="Freeform 289"/>
              <p:cNvSpPr/>
              <p:nvPr/>
            </p:nvSpPr>
            <p:spPr bwMode="auto">
              <a:xfrm>
                <a:off x="2041" y="1772"/>
                <a:ext cx="143" cy="118"/>
              </a:xfrm>
              <a:custGeom>
                <a:avLst/>
                <a:gdLst>
                  <a:gd name="T0" fmla="*/ 142 w 143"/>
                  <a:gd name="T1" fmla="*/ 31 h 118"/>
                  <a:gd name="T2" fmla="*/ 142 w 143"/>
                  <a:gd name="T3" fmla="*/ 117 h 118"/>
                  <a:gd name="T4" fmla="*/ 0 w 143"/>
                  <a:gd name="T5" fmla="*/ 79 h 118"/>
                  <a:gd name="T6" fmla="*/ 0 w 143"/>
                  <a:gd name="T7" fmla="*/ 0 h 118"/>
                  <a:gd name="T8" fmla="*/ 142 w 143"/>
                  <a:gd name="T9" fmla="*/ 31 h 118"/>
                  <a:gd name="T10" fmla="*/ 0 60000 65536"/>
                  <a:gd name="T11" fmla="*/ 0 60000 65536"/>
                  <a:gd name="T12" fmla="*/ 0 60000 65536"/>
                  <a:gd name="T13" fmla="*/ 0 60000 65536"/>
                  <a:gd name="T14" fmla="*/ 0 60000 65536"/>
                  <a:gd name="T15" fmla="*/ 0 w 143"/>
                  <a:gd name="T16" fmla="*/ 0 h 118"/>
                  <a:gd name="T17" fmla="*/ 143 w 143"/>
                  <a:gd name="T18" fmla="*/ 118 h 118"/>
                </a:gdLst>
                <a:ahLst/>
                <a:cxnLst>
                  <a:cxn ang="T10">
                    <a:pos x="T0" y="T1"/>
                  </a:cxn>
                  <a:cxn ang="T11">
                    <a:pos x="T2" y="T3"/>
                  </a:cxn>
                  <a:cxn ang="T12">
                    <a:pos x="T4" y="T5"/>
                  </a:cxn>
                  <a:cxn ang="T13">
                    <a:pos x="T6" y="T7"/>
                  </a:cxn>
                  <a:cxn ang="T14">
                    <a:pos x="T8" y="T9"/>
                  </a:cxn>
                </a:cxnLst>
                <a:rect l="T15" t="T16" r="T17" b="T18"/>
                <a:pathLst>
                  <a:path w="143" h="118">
                    <a:moveTo>
                      <a:pt x="142" y="31"/>
                    </a:moveTo>
                    <a:lnTo>
                      <a:pt x="142" y="117"/>
                    </a:lnTo>
                    <a:lnTo>
                      <a:pt x="0" y="79"/>
                    </a:lnTo>
                    <a:lnTo>
                      <a:pt x="0" y="0"/>
                    </a:lnTo>
                    <a:lnTo>
                      <a:pt x="142" y="31"/>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9448" name="Freeform 290"/>
              <p:cNvSpPr/>
              <p:nvPr/>
            </p:nvSpPr>
            <p:spPr bwMode="auto">
              <a:xfrm>
                <a:off x="2042" y="1771"/>
                <a:ext cx="148" cy="126"/>
              </a:xfrm>
              <a:custGeom>
                <a:avLst/>
                <a:gdLst>
                  <a:gd name="T0" fmla="*/ 147 w 148"/>
                  <a:gd name="T1" fmla="*/ 34 h 126"/>
                  <a:gd name="T2" fmla="*/ 147 w 148"/>
                  <a:gd name="T3" fmla="*/ 125 h 126"/>
                  <a:gd name="T4" fmla="*/ 0 w 148"/>
                  <a:gd name="T5" fmla="*/ 84 h 126"/>
                  <a:gd name="T6" fmla="*/ 0 w 148"/>
                  <a:gd name="T7" fmla="*/ 0 h 126"/>
                  <a:gd name="T8" fmla="*/ 147 w 148"/>
                  <a:gd name="T9" fmla="*/ 34 h 126"/>
                  <a:gd name="T10" fmla="*/ 0 60000 65536"/>
                  <a:gd name="T11" fmla="*/ 0 60000 65536"/>
                  <a:gd name="T12" fmla="*/ 0 60000 65536"/>
                  <a:gd name="T13" fmla="*/ 0 60000 65536"/>
                  <a:gd name="T14" fmla="*/ 0 60000 65536"/>
                  <a:gd name="T15" fmla="*/ 0 w 148"/>
                  <a:gd name="T16" fmla="*/ 0 h 126"/>
                  <a:gd name="T17" fmla="*/ 148 w 148"/>
                  <a:gd name="T18" fmla="*/ 126 h 126"/>
                </a:gdLst>
                <a:ahLst/>
                <a:cxnLst>
                  <a:cxn ang="T10">
                    <a:pos x="T0" y="T1"/>
                  </a:cxn>
                  <a:cxn ang="T11">
                    <a:pos x="T2" y="T3"/>
                  </a:cxn>
                  <a:cxn ang="T12">
                    <a:pos x="T4" y="T5"/>
                  </a:cxn>
                  <a:cxn ang="T13">
                    <a:pos x="T6" y="T7"/>
                  </a:cxn>
                  <a:cxn ang="T14">
                    <a:pos x="T8" y="T9"/>
                  </a:cxn>
                </a:cxnLst>
                <a:rect l="T15" t="T16" r="T17" b="T18"/>
                <a:pathLst>
                  <a:path w="148" h="126">
                    <a:moveTo>
                      <a:pt x="147" y="34"/>
                    </a:moveTo>
                    <a:lnTo>
                      <a:pt x="147" y="125"/>
                    </a:lnTo>
                    <a:lnTo>
                      <a:pt x="0" y="84"/>
                    </a:lnTo>
                    <a:lnTo>
                      <a:pt x="0" y="0"/>
                    </a:lnTo>
                    <a:lnTo>
                      <a:pt x="147" y="34"/>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nvGrpSpPr>
            <p:cNvPr id="248048" name="Group 291"/>
            <p:cNvGrpSpPr/>
            <p:nvPr/>
          </p:nvGrpSpPr>
          <p:grpSpPr bwMode="auto">
            <a:xfrm>
              <a:off x="2040" y="1704"/>
              <a:ext cx="269" cy="103"/>
              <a:chOff x="2040" y="1704"/>
              <a:chExt cx="269" cy="103"/>
            </a:xfrm>
          </p:grpSpPr>
          <p:sp>
            <p:nvSpPr>
              <p:cNvPr id="9445" name="Freeform 292"/>
              <p:cNvSpPr/>
              <p:nvPr/>
            </p:nvSpPr>
            <p:spPr bwMode="auto">
              <a:xfrm>
                <a:off x="2041" y="1704"/>
                <a:ext cx="262" cy="98"/>
              </a:xfrm>
              <a:custGeom>
                <a:avLst/>
                <a:gdLst>
                  <a:gd name="T0" fmla="*/ 144 w 262"/>
                  <a:gd name="T1" fmla="*/ 97 h 98"/>
                  <a:gd name="T2" fmla="*/ 0 w 262"/>
                  <a:gd name="T3" fmla="*/ 64 h 98"/>
                  <a:gd name="T4" fmla="*/ 135 w 262"/>
                  <a:gd name="T5" fmla="*/ 0 h 98"/>
                  <a:gd name="T6" fmla="*/ 261 w 262"/>
                  <a:gd name="T7" fmla="*/ 25 h 98"/>
                  <a:gd name="T8" fmla="*/ 144 w 262"/>
                  <a:gd name="T9" fmla="*/ 97 h 98"/>
                  <a:gd name="T10" fmla="*/ 0 60000 65536"/>
                  <a:gd name="T11" fmla="*/ 0 60000 65536"/>
                  <a:gd name="T12" fmla="*/ 0 60000 65536"/>
                  <a:gd name="T13" fmla="*/ 0 60000 65536"/>
                  <a:gd name="T14" fmla="*/ 0 60000 65536"/>
                  <a:gd name="T15" fmla="*/ 0 w 262"/>
                  <a:gd name="T16" fmla="*/ 0 h 98"/>
                  <a:gd name="T17" fmla="*/ 262 w 262"/>
                  <a:gd name="T18" fmla="*/ 98 h 98"/>
                </a:gdLst>
                <a:ahLst/>
                <a:cxnLst>
                  <a:cxn ang="T10">
                    <a:pos x="T0" y="T1"/>
                  </a:cxn>
                  <a:cxn ang="T11">
                    <a:pos x="T2" y="T3"/>
                  </a:cxn>
                  <a:cxn ang="T12">
                    <a:pos x="T4" y="T5"/>
                  </a:cxn>
                  <a:cxn ang="T13">
                    <a:pos x="T6" y="T7"/>
                  </a:cxn>
                  <a:cxn ang="T14">
                    <a:pos x="T8" y="T9"/>
                  </a:cxn>
                </a:cxnLst>
                <a:rect l="T15" t="T16" r="T17" b="T18"/>
                <a:pathLst>
                  <a:path w="262" h="98">
                    <a:moveTo>
                      <a:pt x="144" y="97"/>
                    </a:moveTo>
                    <a:lnTo>
                      <a:pt x="0" y="64"/>
                    </a:lnTo>
                    <a:lnTo>
                      <a:pt x="135" y="0"/>
                    </a:lnTo>
                    <a:lnTo>
                      <a:pt x="261" y="25"/>
                    </a:lnTo>
                    <a:lnTo>
                      <a:pt x="144" y="97"/>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9446" name="Freeform 293"/>
              <p:cNvSpPr/>
              <p:nvPr/>
            </p:nvSpPr>
            <p:spPr bwMode="auto">
              <a:xfrm>
                <a:off x="2040" y="1704"/>
                <a:ext cx="269" cy="103"/>
              </a:xfrm>
              <a:custGeom>
                <a:avLst/>
                <a:gdLst>
                  <a:gd name="T0" fmla="*/ 148 w 269"/>
                  <a:gd name="T1" fmla="*/ 102 h 103"/>
                  <a:gd name="T2" fmla="*/ 0 w 269"/>
                  <a:gd name="T3" fmla="*/ 67 h 103"/>
                  <a:gd name="T4" fmla="*/ 139 w 269"/>
                  <a:gd name="T5" fmla="*/ 0 h 103"/>
                  <a:gd name="T6" fmla="*/ 268 w 269"/>
                  <a:gd name="T7" fmla="*/ 27 h 103"/>
                  <a:gd name="T8" fmla="*/ 148 w 269"/>
                  <a:gd name="T9" fmla="*/ 102 h 103"/>
                  <a:gd name="T10" fmla="*/ 0 60000 65536"/>
                  <a:gd name="T11" fmla="*/ 0 60000 65536"/>
                  <a:gd name="T12" fmla="*/ 0 60000 65536"/>
                  <a:gd name="T13" fmla="*/ 0 60000 65536"/>
                  <a:gd name="T14" fmla="*/ 0 60000 65536"/>
                  <a:gd name="T15" fmla="*/ 0 w 269"/>
                  <a:gd name="T16" fmla="*/ 0 h 103"/>
                  <a:gd name="T17" fmla="*/ 269 w 269"/>
                  <a:gd name="T18" fmla="*/ 103 h 103"/>
                </a:gdLst>
                <a:ahLst/>
                <a:cxnLst>
                  <a:cxn ang="T10">
                    <a:pos x="T0" y="T1"/>
                  </a:cxn>
                  <a:cxn ang="T11">
                    <a:pos x="T2" y="T3"/>
                  </a:cxn>
                  <a:cxn ang="T12">
                    <a:pos x="T4" y="T5"/>
                  </a:cxn>
                  <a:cxn ang="T13">
                    <a:pos x="T6" y="T7"/>
                  </a:cxn>
                  <a:cxn ang="T14">
                    <a:pos x="T8" y="T9"/>
                  </a:cxn>
                </a:cxnLst>
                <a:rect l="T15" t="T16" r="T17" b="T18"/>
                <a:pathLst>
                  <a:path w="269" h="103">
                    <a:moveTo>
                      <a:pt x="148" y="102"/>
                    </a:moveTo>
                    <a:lnTo>
                      <a:pt x="0" y="67"/>
                    </a:lnTo>
                    <a:lnTo>
                      <a:pt x="139" y="0"/>
                    </a:lnTo>
                    <a:lnTo>
                      <a:pt x="268" y="27"/>
                    </a:lnTo>
                    <a:lnTo>
                      <a:pt x="148" y="102"/>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nvGrpSpPr>
            <p:cNvPr id="248049" name="Group 294"/>
            <p:cNvGrpSpPr/>
            <p:nvPr/>
          </p:nvGrpSpPr>
          <p:grpSpPr bwMode="auto">
            <a:xfrm>
              <a:off x="2190" y="1730"/>
              <a:ext cx="121" cy="167"/>
              <a:chOff x="2190" y="1730"/>
              <a:chExt cx="121" cy="167"/>
            </a:xfrm>
          </p:grpSpPr>
          <p:sp>
            <p:nvSpPr>
              <p:cNvPr id="9443" name="Freeform 295"/>
              <p:cNvSpPr/>
              <p:nvPr/>
            </p:nvSpPr>
            <p:spPr bwMode="auto">
              <a:xfrm>
                <a:off x="2191" y="1731"/>
                <a:ext cx="114" cy="159"/>
              </a:xfrm>
              <a:custGeom>
                <a:avLst/>
                <a:gdLst>
                  <a:gd name="T0" fmla="*/ 113 w 114"/>
                  <a:gd name="T1" fmla="*/ 0 h 159"/>
                  <a:gd name="T2" fmla="*/ 0 w 114"/>
                  <a:gd name="T3" fmla="*/ 71 h 159"/>
                  <a:gd name="T4" fmla="*/ 0 w 114"/>
                  <a:gd name="T5" fmla="*/ 158 h 159"/>
                  <a:gd name="T6" fmla="*/ 113 w 114"/>
                  <a:gd name="T7" fmla="*/ 76 h 159"/>
                  <a:gd name="T8" fmla="*/ 113 w 114"/>
                  <a:gd name="T9" fmla="*/ 0 h 159"/>
                  <a:gd name="T10" fmla="*/ 0 60000 65536"/>
                  <a:gd name="T11" fmla="*/ 0 60000 65536"/>
                  <a:gd name="T12" fmla="*/ 0 60000 65536"/>
                  <a:gd name="T13" fmla="*/ 0 60000 65536"/>
                  <a:gd name="T14" fmla="*/ 0 60000 65536"/>
                  <a:gd name="T15" fmla="*/ 0 w 114"/>
                  <a:gd name="T16" fmla="*/ 0 h 159"/>
                  <a:gd name="T17" fmla="*/ 114 w 114"/>
                  <a:gd name="T18" fmla="*/ 159 h 159"/>
                </a:gdLst>
                <a:ahLst/>
                <a:cxnLst>
                  <a:cxn ang="T10">
                    <a:pos x="T0" y="T1"/>
                  </a:cxn>
                  <a:cxn ang="T11">
                    <a:pos x="T2" y="T3"/>
                  </a:cxn>
                  <a:cxn ang="T12">
                    <a:pos x="T4" y="T5"/>
                  </a:cxn>
                  <a:cxn ang="T13">
                    <a:pos x="T6" y="T7"/>
                  </a:cxn>
                  <a:cxn ang="T14">
                    <a:pos x="T8" y="T9"/>
                  </a:cxn>
                </a:cxnLst>
                <a:rect l="T15" t="T16" r="T17" b="T18"/>
                <a:pathLst>
                  <a:path w="114" h="159">
                    <a:moveTo>
                      <a:pt x="113" y="0"/>
                    </a:moveTo>
                    <a:lnTo>
                      <a:pt x="0" y="71"/>
                    </a:lnTo>
                    <a:lnTo>
                      <a:pt x="0" y="158"/>
                    </a:lnTo>
                    <a:lnTo>
                      <a:pt x="113" y="76"/>
                    </a:lnTo>
                    <a:lnTo>
                      <a:pt x="113" y="0"/>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9444" name="Freeform 296"/>
              <p:cNvSpPr/>
              <p:nvPr/>
            </p:nvSpPr>
            <p:spPr bwMode="auto">
              <a:xfrm>
                <a:off x="2190" y="1730"/>
                <a:ext cx="121" cy="167"/>
              </a:xfrm>
              <a:custGeom>
                <a:avLst/>
                <a:gdLst>
                  <a:gd name="T0" fmla="*/ 120 w 121"/>
                  <a:gd name="T1" fmla="*/ 0 h 167"/>
                  <a:gd name="T2" fmla="*/ 0 w 121"/>
                  <a:gd name="T3" fmla="*/ 76 h 167"/>
                  <a:gd name="T4" fmla="*/ 0 w 121"/>
                  <a:gd name="T5" fmla="*/ 166 h 167"/>
                  <a:gd name="T6" fmla="*/ 120 w 121"/>
                  <a:gd name="T7" fmla="*/ 80 h 167"/>
                  <a:gd name="T8" fmla="*/ 120 w 121"/>
                  <a:gd name="T9" fmla="*/ 0 h 167"/>
                  <a:gd name="T10" fmla="*/ 0 60000 65536"/>
                  <a:gd name="T11" fmla="*/ 0 60000 65536"/>
                  <a:gd name="T12" fmla="*/ 0 60000 65536"/>
                  <a:gd name="T13" fmla="*/ 0 60000 65536"/>
                  <a:gd name="T14" fmla="*/ 0 60000 65536"/>
                  <a:gd name="T15" fmla="*/ 0 w 121"/>
                  <a:gd name="T16" fmla="*/ 0 h 167"/>
                  <a:gd name="T17" fmla="*/ 121 w 121"/>
                  <a:gd name="T18" fmla="*/ 167 h 167"/>
                </a:gdLst>
                <a:ahLst/>
                <a:cxnLst>
                  <a:cxn ang="T10">
                    <a:pos x="T0" y="T1"/>
                  </a:cxn>
                  <a:cxn ang="T11">
                    <a:pos x="T2" y="T3"/>
                  </a:cxn>
                  <a:cxn ang="T12">
                    <a:pos x="T4" y="T5"/>
                  </a:cxn>
                  <a:cxn ang="T13">
                    <a:pos x="T6" y="T7"/>
                  </a:cxn>
                  <a:cxn ang="T14">
                    <a:pos x="T8" y="T9"/>
                  </a:cxn>
                </a:cxnLst>
                <a:rect l="T15" t="T16" r="T17" b="T18"/>
                <a:pathLst>
                  <a:path w="121" h="167">
                    <a:moveTo>
                      <a:pt x="120" y="0"/>
                    </a:moveTo>
                    <a:lnTo>
                      <a:pt x="0" y="76"/>
                    </a:lnTo>
                    <a:lnTo>
                      <a:pt x="0" y="166"/>
                    </a:lnTo>
                    <a:lnTo>
                      <a:pt x="120" y="80"/>
                    </a:lnTo>
                    <a:lnTo>
                      <a:pt x="120" y="0"/>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grpSp>
        <p:nvGrpSpPr>
          <p:cNvPr id="248050" name="Group 297"/>
          <p:cNvGrpSpPr/>
          <p:nvPr/>
        </p:nvGrpSpPr>
        <p:grpSpPr bwMode="auto">
          <a:xfrm>
            <a:off x="2682875" y="2037866"/>
            <a:ext cx="460375" cy="320675"/>
            <a:chOff x="1297" y="1161"/>
            <a:chExt cx="258" cy="202"/>
          </a:xfrm>
        </p:grpSpPr>
        <p:grpSp>
          <p:nvGrpSpPr>
            <p:cNvPr id="248051" name="Group 298"/>
            <p:cNvGrpSpPr/>
            <p:nvPr/>
          </p:nvGrpSpPr>
          <p:grpSpPr bwMode="auto">
            <a:xfrm>
              <a:off x="1298" y="1231"/>
              <a:ext cx="142" cy="132"/>
              <a:chOff x="1298" y="1231"/>
              <a:chExt cx="142" cy="132"/>
            </a:xfrm>
          </p:grpSpPr>
          <p:sp>
            <p:nvSpPr>
              <p:cNvPr id="9438" name="Freeform 299"/>
              <p:cNvSpPr/>
              <p:nvPr/>
            </p:nvSpPr>
            <p:spPr bwMode="auto">
              <a:xfrm>
                <a:off x="1298" y="1232"/>
                <a:ext cx="136" cy="124"/>
              </a:xfrm>
              <a:custGeom>
                <a:avLst/>
                <a:gdLst>
                  <a:gd name="T0" fmla="*/ 135 w 136"/>
                  <a:gd name="T1" fmla="*/ 33 h 124"/>
                  <a:gd name="T2" fmla="*/ 135 w 136"/>
                  <a:gd name="T3" fmla="*/ 123 h 124"/>
                  <a:gd name="T4" fmla="*/ 0 w 136"/>
                  <a:gd name="T5" fmla="*/ 83 h 124"/>
                  <a:gd name="T6" fmla="*/ 0 w 136"/>
                  <a:gd name="T7" fmla="*/ 0 h 124"/>
                  <a:gd name="T8" fmla="*/ 135 w 136"/>
                  <a:gd name="T9" fmla="*/ 33 h 124"/>
                  <a:gd name="T10" fmla="*/ 0 60000 65536"/>
                  <a:gd name="T11" fmla="*/ 0 60000 65536"/>
                  <a:gd name="T12" fmla="*/ 0 60000 65536"/>
                  <a:gd name="T13" fmla="*/ 0 60000 65536"/>
                  <a:gd name="T14" fmla="*/ 0 60000 65536"/>
                  <a:gd name="T15" fmla="*/ 0 w 136"/>
                  <a:gd name="T16" fmla="*/ 0 h 124"/>
                  <a:gd name="T17" fmla="*/ 136 w 136"/>
                  <a:gd name="T18" fmla="*/ 124 h 124"/>
                </a:gdLst>
                <a:ahLst/>
                <a:cxnLst>
                  <a:cxn ang="T10">
                    <a:pos x="T0" y="T1"/>
                  </a:cxn>
                  <a:cxn ang="T11">
                    <a:pos x="T2" y="T3"/>
                  </a:cxn>
                  <a:cxn ang="T12">
                    <a:pos x="T4" y="T5"/>
                  </a:cxn>
                  <a:cxn ang="T13">
                    <a:pos x="T6" y="T7"/>
                  </a:cxn>
                  <a:cxn ang="T14">
                    <a:pos x="T8" y="T9"/>
                  </a:cxn>
                </a:cxnLst>
                <a:rect l="T15" t="T16" r="T17" b="T18"/>
                <a:pathLst>
                  <a:path w="136" h="124">
                    <a:moveTo>
                      <a:pt x="135" y="33"/>
                    </a:moveTo>
                    <a:lnTo>
                      <a:pt x="135" y="123"/>
                    </a:lnTo>
                    <a:lnTo>
                      <a:pt x="0" y="83"/>
                    </a:lnTo>
                    <a:lnTo>
                      <a:pt x="0" y="0"/>
                    </a:lnTo>
                    <a:lnTo>
                      <a:pt x="135" y="33"/>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9439" name="Freeform 300"/>
              <p:cNvSpPr/>
              <p:nvPr/>
            </p:nvSpPr>
            <p:spPr bwMode="auto">
              <a:xfrm>
                <a:off x="1299" y="1231"/>
                <a:ext cx="141" cy="132"/>
              </a:xfrm>
              <a:custGeom>
                <a:avLst/>
                <a:gdLst>
                  <a:gd name="T0" fmla="*/ 140 w 141"/>
                  <a:gd name="T1" fmla="*/ 36 h 132"/>
                  <a:gd name="T2" fmla="*/ 140 w 141"/>
                  <a:gd name="T3" fmla="*/ 131 h 132"/>
                  <a:gd name="T4" fmla="*/ 0 w 141"/>
                  <a:gd name="T5" fmla="*/ 88 h 132"/>
                  <a:gd name="T6" fmla="*/ 0 w 141"/>
                  <a:gd name="T7" fmla="*/ 0 h 132"/>
                  <a:gd name="T8" fmla="*/ 140 w 141"/>
                  <a:gd name="T9" fmla="*/ 36 h 132"/>
                  <a:gd name="T10" fmla="*/ 0 60000 65536"/>
                  <a:gd name="T11" fmla="*/ 0 60000 65536"/>
                  <a:gd name="T12" fmla="*/ 0 60000 65536"/>
                  <a:gd name="T13" fmla="*/ 0 60000 65536"/>
                  <a:gd name="T14" fmla="*/ 0 60000 65536"/>
                  <a:gd name="T15" fmla="*/ 0 w 141"/>
                  <a:gd name="T16" fmla="*/ 0 h 132"/>
                  <a:gd name="T17" fmla="*/ 141 w 141"/>
                  <a:gd name="T18" fmla="*/ 132 h 132"/>
                </a:gdLst>
                <a:ahLst/>
                <a:cxnLst>
                  <a:cxn ang="T10">
                    <a:pos x="T0" y="T1"/>
                  </a:cxn>
                  <a:cxn ang="T11">
                    <a:pos x="T2" y="T3"/>
                  </a:cxn>
                  <a:cxn ang="T12">
                    <a:pos x="T4" y="T5"/>
                  </a:cxn>
                  <a:cxn ang="T13">
                    <a:pos x="T6" y="T7"/>
                  </a:cxn>
                  <a:cxn ang="T14">
                    <a:pos x="T8" y="T9"/>
                  </a:cxn>
                </a:cxnLst>
                <a:rect l="T15" t="T16" r="T17" b="T18"/>
                <a:pathLst>
                  <a:path w="141" h="132">
                    <a:moveTo>
                      <a:pt x="140" y="36"/>
                    </a:moveTo>
                    <a:lnTo>
                      <a:pt x="140" y="131"/>
                    </a:lnTo>
                    <a:lnTo>
                      <a:pt x="0" y="88"/>
                    </a:lnTo>
                    <a:lnTo>
                      <a:pt x="0" y="0"/>
                    </a:lnTo>
                    <a:lnTo>
                      <a:pt x="140" y="36"/>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nvGrpSpPr>
            <p:cNvPr id="248052" name="Group 301"/>
            <p:cNvGrpSpPr/>
            <p:nvPr/>
          </p:nvGrpSpPr>
          <p:grpSpPr bwMode="auto">
            <a:xfrm>
              <a:off x="1297" y="1161"/>
              <a:ext cx="256" cy="108"/>
              <a:chOff x="1297" y="1161"/>
              <a:chExt cx="256" cy="108"/>
            </a:xfrm>
          </p:grpSpPr>
          <p:sp>
            <p:nvSpPr>
              <p:cNvPr id="9436" name="Freeform 302"/>
              <p:cNvSpPr/>
              <p:nvPr/>
            </p:nvSpPr>
            <p:spPr bwMode="auto">
              <a:xfrm>
                <a:off x="1298" y="1161"/>
                <a:ext cx="249" cy="103"/>
              </a:xfrm>
              <a:custGeom>
                <a:avLst/>
                <a:gdLst>
                  <a:gd name="T0" fmla="*/ 137 w 249"/>
                  <a:gd name="T1" fmla="*/ 102 h 103"/>
                  <a:gd name="T2" fmla="*/ 0 w 249"/>
                  <a:gd name="T3" fmla="*/ 68 h 103"/>
                  <a:gd name="T4" fmla="*/ 129 w 249"/>
                  <a:gd name="T5" fmla="*/ 0 h 103"/>
                  <a:gd name="T6" fmla="*/ 248 w 249"/>
                  <a:gd name="T7" fmla="*/ 27 h 103"/>
                  <a:gd name="T8" fmla="*/ 137 w 249"/>
                  <a:gd name="T9" fmla="*/ 102 h 103"/>
                  <a:gd name="T10" fmla="*/ 0 60000 65536"/>
                  <a:gd name="T11" fmla="*/ 0 60000 65536"/>
                  <a:gd name="T12" fmla="*/ 0 60000 65536"/>
                  <a:gd name="T13" fmla="*/ 0 60000 65536"/>
                  <a:gd name="T14" fmla="*/ 0 60000 65536"/>
                  <a:gd name="T15" fmla="*/ 0 w 249"/>
                  <a:gd name="T16" fmla="*/ 0 h 103"/>
                  <a:gd name="T17" fmla="*/ 249 w 249"/>
                  <a:gd name="T18" fmla="*/ 103 h 103"/>
                </a:gdLst>
                <a:ahLst/>
                <a:cxnLst>
                  <a:cxn ang="T10">
                    <a:pos x="T0" y="T1"/>
                  </a:cxn>
                  <a:cxn ang="T11">
                    <a:pos x="T2" y="T3"/>
                  </a:cxn>
                  <a:cxn ang="T12">
                    <a:pos x="T4" y="T5"/>
                  </a:cxn>
                  <a:cxn ang="T13">
                    <a:pos x="T6" y="T7"/>
                  </a:cxn>
                  <a:cxn ang="T14">
                    <a:pos x="T8" y="T9"/>
                  </a:cxn>
                </a:cxnLst>
                <a:rect l="T15" t="T16" r="T17" b="T18"/>
                <a:pathLst>
                  <a:path w="249" h="103">
                    <a:moveTo>
                      <a:pt x="137" y="102"/>
                    </a:moveTo>
                    <a:lnTo>
                      <a:pt x="0" y="68"/>
                    </a:lnTo>
                    <a:lnTo>
                      <a:pt x="129" y="0"/>
                    </a:lnTo>
                    <a:lnTo>
                      <a:pt x="248" y="27"/>
                    </a:lnTo>
                    <a:lnTo>
                      <a:pt x="137" y="102"/>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9437" name="Freeform 303"/>
              <p:cNvSpPr/>
              <p:nvPr/>
            </p:nvSpPr>
            <p:spPr bwMode="auto">
              <a:xfrm>
                <a:off x="1297" y="1161"/>
                <a:ext cx="256" cy="108"/>
              </a:xfrm>
              <a:custGeom>
                <a:avLst/>
                <a:gdLst>
                  <a:gd name="T0" fmla="*/ 141 w 256"/>
                  <a:gd name="T1" fmla="*/ 107 h 108"/>
                  <a:gd name="T2" fmla="*/ 0 w 256"/>
                  <a:gd name="T3" fmla="*/ 71 h 108"/>
                  <a:gd name="T4" fmla="*/ 133 w 256"/>
                  <a:gd name="T5" fmla="*/ 0 h 108"/>
                  <a:gd name="T6" fmla="*/ 255 w 256"/>
                  <a:gd name="T7" fmla="*/ 28 h 108"/>
                  <a:gd name="T8" fmla="*/ 141 w 256"/>
                  <a:gd name="T9" fmla="*/ 107 h 108"/>
                  <a:gd name="T10" fmla="*/ 0 60000 65536"/>
                  <a:gd name="T11" fmla="*/ 0 60000 65536"/>
                  <a:gd name="T12" fmla="*/ 0 60000 65536"/>
                  <a:gd name="T13" fmla="*/ 0 60000 65536"/>
                  <a:gd name="T14" fmla="*/ 0 60000 65536"/>
                  <a:gd name="T15" fmla="*/ 0 w 256"/>
                  <a:gd name="T16" fmla="*/ 0 h 108"/>
                  <a:gd name="T17" fmla="*/ 256 w 256"/>
                  <a:gd name="T18" fmla="*/ 108 h 108"/>
                </a:gdLst>
                <a:ahLst/>
                <a:cxnLst>
                  <a:cxn ang="T10">
                    <a:pos x="T0" y="T1"/>
                  </a:cxn>
                  <a:cxn ang="T11">
                    <a:pos x="T2" y="T3"/>
                  </a:cxn>
                  <a:cxn ang="T12">
                    <a:pos x="T4" y="T5"/>
                  </a:cxn>
                  <a:cxn ang="T13">
                    <a:pos x="T6" y="T7"/>
                  </a:cxn>
                  <a:cxn ang="T14">
                    <a:pos x="T8" y="T9"/>
                  </a:cxn>
                </a:cxnLst>
                <a:rect l="T15" t="T16" r="T17" b="T18"/>
                <a:pathLst>
                  <a:path w="256" h="108">
                    <a:moveTo>
                      <a:pt x="141" y="107"/>
                    </a:moveTo>
                    <a:lnTo>
                      <a:pt x="0" y="71"/>
                    </a:lnTo>
                    <a:lnTo>
                      <a:pt x="133" y="0"/>
                    </a:lnTo>
                    <a:lnTo>
                      <a:pt x="255" y="28"/>
                    </a:lnTo>
                    <a:lnTo>
                      <a:pt x="141" y="107"/>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nvGrpSpPr>
            <p:cNvPr id="248053" name="Group 304"/>
            <p:cNvGrpSpPr/>
            <p:nvPr/>
          </p:nvGrpSpPr>
          <p:grpSpPr bwMode="auto">
            <a:xfrm>
              <a:off x="1440" y="1188"/>
              <a:ext cx="115" cy="175"/>
              <a:chOff x="1440" y="1188"/>
              <a:chExt cx="115" cy="175"/>
            </a:xfrm>
          </p:grpSpPr>
          <p:sp>
            <p:nvSpPr>
              <p:cNvPr id="9434" name="Freeform 305"/>
              <p:cNvSpPr/>
              <p:nvPr/>
            </p:nvSpPr>
            <p:spPr bwMode="auto">
              <a:xfrm>
                <a:off x="1441" y="1189"/>
                <a:ext cx="108" cy="167"/>
              </a:xfrm>
              <a:custGeom>
                <a:avLst/>
                <a:gdLst>
                  <a:gd name="T0" fmla="*/ 107 w 108"/>
                  <a:gd name="T1" fmla="*/ 0 h 167"/>
                  <a:gd name="T2" fmla="*/ 0 w 108"/>
                  <a:gd name="T3" fmla="*/ 75 h 167"/>
                  <a:gd name="T4" fmla="*/ 0 w 108"/>
                  <a:gd name="T5" fmla="*/ 166 h 167"/>
                  <a:gd name="T6" fmla="*/ 107 w 108"/>
                  <a:gd name="T7" fmla="*/ 79 h 167"/>
                  <a:gd name="T8" fmla="*/ 107 w 108"/>
                  <a:gd name="T9" fmla="*/ 0 h 167"/>
                  <a:gd name="T10" fmla="*/ 0 60000 65536"/>
                  <a:gd name="T11" fmla="*/ 0 60000 65536"/>
                  <a:gd name="T12" fmla="*/ 0 60000 65536"/>
                  <a:gd name="T13" fmla="*/ 0 60000 65536"/>
                  <a:gd name="T14" fmla="*/ 0 60000 65536"/>
                  <a:gd name="T15" fmla="*/ 0 w 108"/>
                  <a:gd name="T16" fmla="*/ 0 h 167"/>
                  <a:gd name="T17" fmla="*/ 108 w 108"/>
                  <a:gd name="T18" fmla="*/ 167 h 167"/>
                </a:gdLst>
                <a:ahLst/>
                <a:cxnLst>
                  <a:cxn ang="T10">
                    <a:pos x="T0" y="T1"/>
                  </a:cxn>
                  <a:cxn ang="T11">
                    <a:pos x="T2" y="T3"/>
                  </a:cxn>
                  <a:cxn ang="T12">
                    <a:pos x="T4" y="T5"/>
                  </a:cxn>
                  <a:cxn ang="T13">
                    <a:pos x="T6" y="T7"/>
                  </a:cxn>
                  <a:cxn ang="T14">
                    <a:pos x="T8" y="T9"/>
                  </a:cxn>
                </a:cxnLst>
                <a:rect l="T15" t="T16" r="T17" b="T18"/>
                <a:pathLst>
                  <a:path w="108" h="167">
                    <a:moveTo>
                      <a:pt x="107" y="0"/>
                    </a:moveTo>
                    <a:lnTo>
                      <a:pt x="0" y="75"/>
                    </a:lnTo>
                    <a:lnTo>
                      <a:pt x="0" y="166"/>
                    </a:lnTo>
                    <a:lnTo>
                      <a:pt x="107" y="79"/>
                    </a:lnTo>
                    <a:lnTo>
                      <a:pt x="107" y="0"/>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9435" name="Freeform 306"/>
              <p:cNvSpPr/>
              <p:nvPr/>
            </p:nvSpPr>
            <p:spPr bwMode="auto">
              <a:xfrm>
                <a:off x="1440" y="1188"/>
                <a:ext cx="115" cy="175"/>
              </a:xfrm>
              <a:custGeom>
                <a:avLst/>
                <a:gdLst>
                  <a:gd name="T0" fmla="*/ 114 w 115"/>
                  <a:gd name="T1" fmla="*/ 0 h 175"/>
                  <a:gd name="T2" fmla="*/ 0 w 115"/>
                  <a:gd name="T3" fmla="*/ 80 h 175"/>
                  <a:gd name="T4" fmla="*/ 0 w 115"/>
                  <a:gd name="T5" fmla="*/ 174 h 175"/>
                  <a:gd name="T6" fmla="*/ 114 w 115"/>
                  <a:gd name="T7" fmla="*/ 84 h 175"/>
                  <a:gd name="T8" fmla="*/ 114 w 115"/>
                  <a:gd name="T9" fmla="*/ 0 h 175"/>
                  <a:gd name="T10" fmla="*/ 0 60000 65536"/>
                  <a:gd name="T11" fmla="*/ 0 60000 65536"/>
                  <a:gd name="T12" fmla="*/ 0 60000 65536"/>
                  <a:gd name="T13" fmla="*/ 0 60000 65536"/>
                  <a:gd name="T14" fmla="*/ 0 60000 65536"/>
                  <a:gd name="T15" fmla="*/ 0 w 115"/>
                  <a:gd name="T16" fmla="*/ 0 h 175"/>
                  <a:gd name="T17" fmla="*/ 115 w 115"/>
                  <a:gd name="T18" fmla="*/ 175 h 175"/>
                </a:gdLst>
                <a:ahLst/>
                <a:cxnLst>
                  <a:cxn ang="T10">
                    <a:pos x="T0" y="T1"/>
                  </a:cxn>
                  <a:cxn ang="T11">
                    <a:pos x="T2" y="T3"/>
                  </a:cxn>
                  <a:cxn ang="T12">
                    <a:pos x="T4" y="T5"/>
                  </a:cxn>
                  <a:cxn ang="T13">
                    <a:pos x="T6" y="T7"/>
                  </a:cxn>
                  <a:cxn ang="T14">
                    <a:pos x="T8" y="T9"/>
                  </a:cxn>
                </a:cxnLst>
                <a:rect l="T15" t="T16" r="T17" b="T18"/>
                <a:pathLst>
                  <a:path w="115" h="175">
                    <a:moveTo>
                      <a:pt x="114" y="0"/>
                    </a:moveTo>
                    <a:lnTo>
                      <a:pt x="0" y="80"/>
                    </a:lnTo>
                    <a:lnTo>
                      <a:pt x="0" y="174"/>
                    </a:lnTo>
                    <a:lnTo>
                      <a:pt x="114" y="84"/>
                    </a:lnTo>
                    <a:lnTo>
                      <a:pt x="114" y="0"/>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grpSp>
        <p:nvGrpSpPr>
          <p:cNvPr id="248054" name="Group 307"/>
          <p:cNvGrpSpPr/>
          <p:nvPr/>
        </p:nvGrpSpPr>
        <p:grpSpPr bwMode="auto">
          <a:xfrm>
            <a:off x="2682875" y="3028466"/>
            <a:ext cx="460375" cy="320675"/>
            <a:chOff x="1297" y="1785"/>
            <a:chExt cx="258" cy="202"/>
          </a:xfrm>
        </p:grpSpPr>
        <p:grpSp>
          <p:nvGrpSpPr>
            <p:cNvPr id="248055" name="Group 308"/>
            <p:cNvGrpSpPr/>
            <p:nvPr/>
          </p:nvGrpSpPr>
          <p:grpSpPr bwMode="auto">
            <a:xfrm>
              <a:off x="1298" y="1855"/>
              <a:ext cx="142" cy="132"/>
              <a:chOff x="1298" y="1855"/>
              <a:chExt cx="142" cy="132"/>
            </a:xfrm>
          </p:grpSpPr>
          <p:sp>
            <p:nvSpPr>
              <p:cNvPr id="9429" name="Freeform 309"/>
              <p:cNvSpPr/>
              <p:nvPr/>
            </p:nvSpPr>
            <p:spPr bwMode="auto">
              <a:xfrm>
                <a:off x="1298" y="1856"/>
                <a:ext cx="136" cy="124"/>
              </a:xfrm>
              <a:custGeom>
                <a:avLst/>
                <a:gdLst>
                  <a:gd name="T0" fmla="*/ 135 w 136"/>
                  <a:gd name="T1" fmla="*/ 33 h 124"/>
                  <a:gd name="T2" fmla="*/ 135 w 136"/>
                  <a:gd name="T3" fmla="*/ 123 h 124"/>
                  <a:gd name="T4" fmla="*/ 0 w 136"/>
                  <a:gd name="T5" fmla="*/ 83 h 124"/>
                  <a:gd name="T6" fmla="*/ 0 w 136"/>
                  <a:gd name="T7" fmla="*/ 0 h 124"/>
                  <a:gd name="T8" fmla="*/ 135 w 136"/>
                  <a:gd name="T9" fmla="*/ 33 h 124"/>
                  <a:gd name="T10" fmla="*/ 0 60000 65536"/>
                  <a:gd name="T11" fmla="*/ 0 60000 65536"/>
                  <a:gd name="T12" fmla="*/ 0 60000 65536"/>
                  <a:gd name="T13" fmla="*/ 0 60000 65536"/>
                  <a:gd name="T14" fmla="*/ 0 60000 65536"/>
                  <a:gd name="T15" fmla="*/ 0 w 136"/>
                  <a:gd name="T16" fmla="*/ 0 h 124"/>
                  <a:gd name="T17" fmla="*/ 136 w 136"/>
                  <a:gd name="T18" fmla="*/ 124 h 124"/>
                </a:gdLst>
                <a:ahLst/>
                <a:cxnLst>
                  <a:cxn ang="T10">
                    <a:pos x="T0" y="T1"/>
                  </a:cxn>
                  <a:cxn ang="T11">
                    <a:pos x="T2" y="T3"/>
                  </a:cxn>
                  <a:cxn ang="T12">
                    <a:pos x="T4" y="T5"/>
                  </a:cxn>
                  <a:cxn ang="T13">
                    <a:pos x="T6" y="T7"/>
                  </a:cxn>
                  <a:cxn ang="T14">
                    <a:pos x="T8" y="T9"/>
                  </a:cxn>
                </a:cxnLst>
                <a:rect l="T15" t="T16" r="T17" b="T18"/>
                <a:pathLst>
                  <a:path w="136" h="124">
                    <a:moveTo>
                      <a:pt x="135" y="33"/>
                    </a:moveTo>
                    <a:lnTo>
                      <a:pt x="135" y="123"/>
                    </a:lnTo>
                    <a:lnTo>
                      <a:pt x="0" y="83"/>
                    </a:lnTo>
                    <a:lnTo>
                      <a:pt x="0" y="0"/>
                    </a:lnTo>
                    <a:lnTo>
                      <a:pt x="135" y="33"/>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9430" name="Freeform 310"/>
              <p:cNvSpPr/>
              <p:nvPr/>
            </p:nvSpPr>
            <p:spPr bwMode="auto">
              <a:xfrm>
                <a:off x="1299" y="1855"/>
                <a:ext cx="141" cy="132"/>
              </a:xfrm>
              <a:custGeom>
                <a:avLst/>
                <a:gdLst>
                  <a:gd name="T0" fmla="*/ 140 w 141"/>
                  <a:gd name="T1" fmla="*/ 36 h 132"/>
                  <a:gd name="T2" fmla="*/ 140 w 141"/>
                  <a:gd name="T3" fmla="*/ 131 h 132"/>
                  <a:gd name="T4" fmla="*/ 0 w 141"/>
                  <a:gd name="T5" fmla="*/ 88 h 132"/>
                  <a:gd name="T6" fmla="*/ 0 w 141"/>
                  <a:gd name="T7" fmla="*/ 0 h 132"/>
                  <a:gd name="T8" fmla="*/ 140 w 141"/>
                  <a:gd name="T9" fmla="*/ 36 h 132"/>
                  <a:gd name="T10" fmla="*/ 0 60000 65536"/>
                  <a:gd name="T11" fmla="*/ 0 60000 65536"/>
                  <a:gd name="T12" fmla="*/ 0 60000 65536"/>
                  <a:gd name="T13" fmla="*/ 0 60000 65536"/>
                  <a:gd name="T14" fmla="*/ 0 60000 65536"/>
                  <a:gd name="T15" fmla="*/ 0 w 141"/>
                  <a:gd name="T16" fmla="*/ 0 h 132"/>
                  <a:gd name="T17" fmla="*/ 141 w 141"/>
                  <a:gd name="T18" fmla="*/ 132 h 132"/>
                </a:gdLst>
                <a:ahLst/>
                <a:cxnLst>
                  <a:cxn ang="T10">
                    <a:pos x="T0" y="T1"/>
                  </a:cxn>
                  <a:cxn ang="T11">
                    <a:pos x="T2" y="T3"/>
                  </a:cxn>
                  <a:cxn ang="T12">
                    <a:pos x="T4" y="T5"/>
                  </a:cxn>
                  <a:cxn ang="T13">
                    <a:pos x="T6" y="T7"/>
                  </a:cxn>
                  <a:cxn ang="T14">
                    <a:pos x="T8" y="T9"/>
                  </a:cxn>
                </a:cxnLst>
                <a:rect l="T15" t="T16" r="T17" b="T18"/>
                <a:pathLst>
                  <a:path w="141" h="132">
                    <a:moveTo>
                      <a:pt x="140" y="36"/>
                    </a:moveTo>
                    <a:lnTo>
                      <a:pt x="140" y="131"/>
                    </a:lnTo>
                    <a:lnTo>
                      <a:pt x="0" y="88"/>
                    </a:lnTo>
                    <a:lnTo>
                      <a:pt x="0" y="0"/>
                    </a:lnTo>
                    <a:lnTo>
                      <a:pt x="140" y="36"/>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nvGrpSpPr>
            <p:cNvPr id="248056" name="Group 311"/>
            <p:cNvGrpSpPr/>
            <p:nvPr/>
          </p:nvGrpSpPr>
          <p:grpSpPr bwMode="auto">
            <a:xfrm>
              <a:off x="1297" y="1785"/>
              <a:ext cx="256" cy="108"/>
              <a:chOff x="1297" y="1785"/>
              <a:chExt cx="256" cy="108"/>
            </a:xfrm>
          </p:grpSpPr>
          <p:sp>
            <p:nvSpPr>
              <p:cNvPr id="9427" name="Freeform 312"/>
              <p:cNvSpPr/>
              <p:nvPr/>
            </p:nvSpPr>
            <p:spPr bwMode="auto">
              <a:xfrm>
                <a:off x="1298" y="1785"/>
                <a:ext cx="249" cy="103"/>
              </a:xfrm>
              <a:custGeom>
                <a:avLst/>
                <a:gdLst>
                  <a:gd name="T0" fmla="*/ 137 w 249"/>
                  <a:gd name="T1" fmla="*/ 102 h 103"/>
                  <a:gd name="T2" fmla="*/ 0 w 249"/>
                  <a:gd name="T3" fmla="*/ 68 h 103"/>
                  <a:gd name="T4" fmla="*/ 129 w 249"/>
                  <a:gd name="T5" fmla="*/ 0 h 103"/>
                  <a:gd name="T6" fmla="*/ 248 w 249"/>
                  <a:gd name="T7" fmla="*/ 27 h 103"/>
                  <a:gd name="T8" fmla="*/ 137 w 249"/>
                  <a:gd name="T9" fmla="*/ 102 h 103"/>
                  <a:gd name="T10" fmla="*/ 0 60000 65536"/>
                  <a:gd name="T11" fmla="*/ 0 60000 65536"/>
                  <a:gd name="T12" fmla="*/ 0 60000 65536"/>
                  <a:gd name="T13" fmla="*/ 0 60000 65536"/>
                  <a:gd name="T14" fmla="*/ 0 60000 65536"/>
                  <a:gd name="T15" fmla="*/ 0 w 249"/>
                  <a:gd name="T16" fmla="*/ 0 h 103"/>
                  <a:gd name="T17" fmla="*/ 249 w 249"/>
                  <a:gd name="T18" fmla="*/ 103 h 103"/>
                </a:gdLst>
                <a:ahLst/>
                <a:cxnLst>
                  <a:cxn ang="T10">
                    <a:pos x="T0" y="T1"/>
                  </a:cxn>
                  <a:cxn ang="T11">
                    <a:pos x="T2" y="T3"/>
                  </a:cxn>
                  <a:cxn ang="T12">
                    <a:pos x="T4" y="T5"/>
                  </a:cxn>
                  <a:cxn ang="T13">
                    <a:pos x="T6" y="T7"/>
                  </a:cxn>
                  <a:cxn ang="T14">
                    <a:pos x="T8" y="T9"/>
                  </a:cxn>
                </a:cxnLst>
                <a:rect l="T15" t="T16" r="T17" b="T18"/>
                <a:pathLst>
                  <a:path w="249" h="103">
                    <a:moveTo>
                      <a:pt x="137" y="102"/>
                    </a:moveTo>
                    <a:lnTo>
                      <a:pt x="0" y="68"/>
                    </a:lnTo>
                    <a:lnTo>
                      <a:pt x="129" y="0"/>
                    </a:lnTo>
                    <a:lnTo>
                      <a:pt x="248" y="27"/>
                    </a:lnTo>
                    <a:lnTo>
                      <a:pt x="137" y="102"/>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9428" name="Freeform 313"/>
              <p:cNvSpPr/>
              <p:nvPr/>
            </p:nvSpPr>
            <p:spPr bwMode="auto">
              <a:xfrm>
                <a:off x="1297" y="1785"/>
                <a:ext cx="256" cy="108"/>
              </a:xfrm>
              <a:custGeom>
                <a:avLst/>
                <a:gdLst>
                  <a:gd name="T0" fmla="*/ 141 w 256"/>
                  <a:gd name="T1" fmla="*/ 107 h 108"/>
                  <a:gd name="T2" fmla="*/ 0 w 256"/>
                  <a:gd name="T3" fmla="*/ 71 h 108"/>
                  <a:gd name="T4" fmla="*/ 133 w 256"/>
                  <a:gd name="T5" fmla="*/ 0 h 108"/>
                  <a:gd name="T6" fmla="*/ 255 w 256"/>
                  <a:gd name="T7" fmla="*/ 28 h 108"/>
                  <a:gd name="T8" fmla="*/ 141 w 256"/>
                  <a:gd name="T9" fmla="*/ 107 h 108"/>
                  <a:gd name="T10" fmla="*/ 0 60000 65536"/>
                  <a:gd name="T11" fmla="*/ 0 60000 65536"/>
                  <a:gd name="T12" fmla="*/ 0 60000 65536"/>
                  <a:gd name="T13" fmla="*/ 0 60000 65536"/>
                  <a:gd name="T14" fmla="*/ 0 60000 65536"/>
                  <a:gd name="T15" fmla="*/ 0 w 256"/>
                  <a:gd name="T16" fmla="*/ 0 h 108"/>
                  <a:gd name="T17" fmla="*/ 256 w 256"/>
                  <a:gd name="T18" fmla="*/ 108 h 108"/>
                </a:gdLst>
                <a:ahLst/>
                <a:cxnLst>
                  <a:cxn ang="T10">
                    <a:pos x="T0" y="T1"/>
                  </a:cxn>
                  <a:cxn ang="T11">
                    <a:pos x="T2" y="T3"/>
                  </a:cxn>
                  <a:cxn ang="T12">
                    <a:pos x="T4" y="T5"/>
                  </a:cxn>
                  <a:cxn ang="T13">
                    <a:pos x="T6" y="T7"/>
                  </a:cxn>
                  <a:cxn ang="T14">
                    <a:pos x="T8" y="T9"/>
                  </a:cxn>
                </a:cxnLst>
                <a:rect l="T15" t="T16" r="T17" b="T18"/>
                <a:pathLst>
                  <a:path w="256" h="108">
                    <a:moveTo>
                      <a:pt x="141" y="107"/>
                    </a:moveTo>
                    <a:lnTo>
                      <a:pt x="0" y="71"/>
                    </a:lnTo>
                    <a:lnTo>
                      <a:pt x="133" y="0"/>
                    </a:lnTo>
                    <a:lnTo>
                      <a:pt x="255" y="28"/>
                    </a:lnTo>
                    <a:lnTo>
                      <a:pt x="141" y="107"/>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nvGrpSpPr>
            <p:cNvPr id="248057" name="Group 314"/>
            <p:cNvGrpSpPr/>
            <p:nvPr/>
          </p:nvGrpSpPr>
          <p:grpSpPr bwMode="auto">
            <a:xfrm>
              <a:off x="1440" y="1812"/>
              <a:ext cx="115" cy="175"/>
              <a:chOff x="1440" y="1812"/>
              <a:chExt cx="115" cy="175"/>
            </a:xfrm>
          </p:grpSpPr>
          <p:sp>
            <p:nvSpPr>
              <p:cNvPr id="9425" name="Freeform 315"/>
              <p:cNvSpPr/>
              <p:nvPr/>
            </p:nvSpPr>
            <p:spPr bwMode="auto">
              <a:xfrm>
                <a:off x="1441" y="1813"/>
                <a:ext cx="108" cy="167"/>
              </a:xfrm>
              <a:custGeom>
                <a:avLst/>
                <a:gdLst>
                  <a:gd name="T0" fmla="*/ 107 w 108"/>
                  <a:gd name="T1" fmla="*/ 0 h 167"/>
                  <a:gd name="T2" fmla="*/ 0 w 108"/>
                  <a:gd name="T3" fmla="*/ 75 h 167"/>
                  <a:gd name="T4" fmla="*/ 0 w 108"/>
                  <a:gd name="T5" fmla="*/ 166 h 167"/>
                  <a:gd name="T6" fmla="*/ 107 w 108"/>
                  <a:gd name="T7" fmla="*/ 79 h 167"/>
                  <a:gd name="T8" fmla="*/ 107 w 108"/>
                  <a:gd name="T9" fmla="*/ 0 h 167"/>
                  <a:gd name="T10" fmla="*/ 0 60000 65536"/>
                  <a:gd name="T11" fmla="*/ 0 60000 65536"/>
                  <a:gd name="T12" fmla="*/ 0 60000 65536"/>
                  <a:gd name="T13" fmla="*/ 0 60000 65536"/>
                  <a:gd name="T14" fmla="*/ 0 60000 65536"/>
                  <a:gd name="T15" fmla="*/ 0 w 108"/>
                  <a:gd name="T16" fmla="*/ 0 h 167"/>
                  <a:gd name="T17" fmla="*/ 108 w 108"/>
                  <a:gd name="T18" fmla="*/ 167 h 167"/>
                </a:gdLst>
                <a:ahLst/>
                <a:cxnLst>
                  <a:cxn ang="T10">
                    <a:pos x="T0" y="T1"/>
                  </a:cxn>
                  <a:cxn ang="T11">
                    <a:pos x="T2" y="T3"/>
                  </a:cxn>
                  <a:cxn ang="T12">
                    <a:pos x="T4" y="T5"/>
                  </a:cxn>
                  <a:cxn ang="T13">
                    <a:pos x="T6" y="T7"/>
                  </a:cxn>
                  <a:cxn ang="T14">
                    <a:pos x="T8" y="T9"/>
                  </a:cxn>
                </a:cxnLst>
                <a:rect l="T15" t="T16" r="T17" b="T18"/>
                <a:pathLst>
                  <a:path w="108" h="167">
                    <a:moveTo>
                      <a:pt x="107" y="0"/>
                    </a:moveTo>
                    <a:lnTo>
                      <a:pt x="0" y="75"/>
                    </a:lnTo>
                    <a:lnTo>
                      <a:pt x="0" y="166"/>
                    </a:lnTo>
                    <a:lnTo>
                      <a:pt x="107" y="79"/>
                    </a:lnTo>
                    <a:lnTo>
                      <a:pt x="107" y="0"/>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9426" name="Freeform 316"/>
              <p:cNvSpPr/>
              <p:nvPr/>
            </p:nvSpPr>
            <p:spPr bwMode="auto">
              <a:xfrm>
                <a:off x="1440" y="1812"/>
                <a:ext cx="115" cy="175"/>
              </a:xfrm>
              <a:custGeom>
                <a:avLst/>
                <a:gdLst>
                  <a:gd name="T0" fmla="*/ 114 w 115"/>
                  <a:gd name="T1" fmla="*/ 0 h 175"/>
                  <a:gd name="T2" fmla="*/ 0 w 115"/>
                  <a:gd name="T3" fmla="*/ 80 h 175"/>
                  <a:gd name="T4" fmla="*/ 0 w 115"/>
                  <a:gd name="T5" fmla="*/ 174 h 175"/>
                  <a:gd name="T6" fmla="*/ 114 w 115"/>
                  <a:gd name="T7" fmla="*/ 84 h 175"/>
                  <a:gd name="T8" fmla="*/ 114 w 115"/>
                  <a:gd name="T9" fmla="*/ 0 h 175"/>
                  <a:gd name="T10" fmla="*/ 0 60000 65536"/>
                  <a:gd name="T11" fmla="*/ 0 60000 65536"/>
                  <a:gd name="T12" fmla="*/ 0 60000 65536"/>
                  <a:gd name="T13" fmla="*/ 0 60000 65536"/>
                  <a:gd name="T14" fmla="*/ 0 60000 65536"/>
                  <a:gd name="T15" fmla="*/ 0 w 115"/>
                  <a:gd name="T16" fmla="*/ 0 h 175"/>
                  <a:gd name="T17" fmla="*/ 115 w 115"/>
                  <a:gd name="T18" fmla="*/ 175 h 175"/>
                </a:gdLst>
                <a:ahLst/>
                <a:cxnLst>
                  <a:cxn ang="T10">
                    <a:pos x="T0" y="T1"/>
                  </a:cxn>
                  <a:cxn ang="T11">
                    <a:pos x="T2" y="T3"/>
                  </a:cxn>
                  <a:cxn ang="T12">
                    <a:pos x="T4" y="T5"/>
                  </a:cxn>
                  <a:cxn ang="T13">
                    <a:pos x="T6" y="T7"/>
                  </a:cxn>
                  <a:cxn ang="T14">
                    <a:pos x="T8" y="T9"/>
                  </a:cxn>
                </a:cxnLst>
                <a:rect l="T15" t="T16" r="T17" b="T18"/>
                <a:pathLst>
                  <a:path w="115" h="175">
                    <a:moveTo>
                      <a:pt x="114" y="0"/>
                    </a:moveTo>
                    <a:lnTo>
                      <a:pt x="0" y="80"/>
                    </a:lnTo>
                    <a:lnTo>
                      <a:pt x="0" y="174"/>
                    </a:lnTo>
                    <a:lnTo>
                      <a:pt x="114" y="84"/>
                    </a:lnTo>
                    <a:lnTo>
                      <a:pt x="114" y="0"/>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grpSp>
        <p:nvGrpSpPr>
          <p:cNvPr id="248058" name="Group 317"/>
          <p:cNvGrpSpPr/>
          <p:nvPr/>
        </p:nvGrpSpPr>
        <p:grpSpPr bwMode="auto">
          <a:xfrm>
            <a:off x="2682875" y="3942866"/>
            <a:ext cx="460375" cy="320675"/>
            <a:chOff x="1297" y="2361"/>
            <a:chExt cx="258" cy="202"/>
          </a:xfrm>
        </p:grpSpPr>
        <p:grpSp>
          <p:nvGrpSpPr>
            <p:cNvPr id="248059" name="Group 318"/>
            <p:cNvGrpSpPr/>
            <p:nvPr/>
          </p:nvGrpSpPr>
          <p:grpSpPr bwMode="auto">
            <a:xfrm>
              <a:off x="1298" y="2431"/>
              <a:ext cx="142" cy="132"/>
              <a:chOff x="1298" y="2431"/>
              <a:chExt cx="142" cy="132"/>
            </a:xfrm>
          </p:grpSpPr>
          <p:sp>
            <p:nvSpPr>
              <p:cNvPr id="9420" name="Freeform 319"/>
              <p:cNvSpPr/>
              <p:nvPr/>
            </p:nvSpPr>
            <p:spPr bwMode="auto">
              <a:xfrm>
                <a:off x="1298" y="2432"/>
                <a:ext cx="136" cy="124"/>
              </a:xfrm>
              <a:custGeom>
                <a:avLst/>
                <a:gdLst>
                  <a:gd name="T0" fmla="*/ 135 w 136"/>
                  <a:gd name="T1" fmla="*/ 33 h 124"/>
                  <a:gd name="T2" fmla="*/ 135 w 136"/>
                  <a:gd name="T3" fmla="*/ 123 h 124"/>
                  <a:gd name="T4" fmla="*/ 0 w 136"/>
                  <a:gd name="T5" fmla="*/ 83 h 124"/>
                  <a:gd name="T6" fmla="*/ 0 w 136"/>
                  <a:gd name="T7" fmla="*/ 0 h 124"/>
                  <a:gd name="T8" fmla="*/ 135 w 136"/>
                  <a:gd name="T9" fmla="*/ 33 h 124"/>
                  <a:gd name="T10" fmla="*/ 0 60000 65536"/>
                  <a:gd name="T11" fmla="*/ 0 60000 65536"/>
                  <a:gd name="T12" fmla="*/ 0 60000 65536"/>
                  <a:gd name="T13" fmla="*/ 0 60000 65536"/>
                  <a:gd name="T14" fmla="*/ 0 60000 65536"/>
                  <a:gd name="T15" fmla="*/ 0 w 136"/>
                  <a:gd name="T16" fmla="*/ 0 h 124"/>
                  <a:gd name="T17" fmla="*/ 136 w 136"/>
                  <a:gd name="T18" fmla="*/ 124 h 124"/>
                </a:gdLst>
                <a:ahLst/>
                <a:cxnLst>
                  <a:cxn ang="T10">
                    <a:pos x="T0" y="T1"/>
                  </a:cxn>
                  <a:cxn ang="T11">
                    <a:pos x="T2" y="T3"/>
                  </a:cxn>
                  <a:cxn ang="T12">
                    <a:pos x="T4" y="T5"/>
                  </a:cxn>
                  <a:cxn ang="T13">
                    <a:pos x="T6" y="T7"/>
                  </a:cxn>
                  <a:cxn ang="T14">
                    <a:pos x="T8" y="T9"/>
                  </a:cxn>
                </a:cxnLst>
                <a:rect l="T15" t="T16" r="T17" b="T18"/>
                <a:pathLst>
                  <a:path w="136" h="124">
                    <a:moveTo>
                      <a:pt x="135" y="33"/>
                    </a:moveTo>
                    <a:lnTo>
                      <a:pt x="135" y="123"/>
                    </a:lnTo>
                    <a:lnTo>
                      <a:pt x="0" y="83"/>
                    </a:lnTo>
                    <a:lnTo>
                      <a:pt x="0" y="0"/>
                    </a:lnTo>
                    <a:lnTo>
                      <a:pt x="135" y="33"/>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9421" name="Freeform 320"/>
              <p:cNvSpPr/>
              <p:nvPr/>
            </p:nvSpPr>
            <p:spPr bwMode="auto">
              <a:xfrm>
                <a:off x="1299" y="2431"/>
                <a:ext cx="141" cy="132"/>
              </a:xfrm>
              <a:custGeom>
                <a:avLst/>
                <a:gdLst>
                  <a:gd name="T0" fmla="*/ 140 w 141"/>
                  <a:gd name="T1" fmla="*/ 36 h 132"/>
                  <a:gd name="T2" fmla="*/ 140 w 141"/>
                  <a:gd name="T3" fmla="*/ 131 h 132"/>
                  <a:gd name="T4" fmla="*/ 0 w 141"/>
                  <a:gd name="T5" fmla="*/ 88 h 132"/>
                  <a:gd name="T6" fmla="*/ 0 w 141"/>
                  <a:gd name="T7" fmla="*/ 0 h 132"/>
                  <a:gd name="T8" fmla="*/ 140 w 141"/>
                  <a:gd name="T9" fmla="*/ 36 h 132"/>
                  <a:gd name="T10" fmla="*/ 0 60000 65536"/>
                  <a:gd name="T11" fmla="*/ 0 60000 65536"/>
                  <a:gd name="T12" fmla="*/ 0 60000 65536"/>
                  <a:gd name="T13" fmla="*/ 0 60000 65536"/>
                  <a:gd name="T14" fmla="*/ 0 60000 65536"/>
                  <a:gd name="T15" fmla="*/ 0 w 141"/>
                  <a:gd name="T16" fmla="*/ 0 h 132"/>
                  <a:gd name="T17" fmla="*/ 141 w 141"/>
                  <a:gd name="T18" fmla="*/ 132 h 132"/>
                </a:gdLst>
                <a:ahLst/>
                <a:cxnLst>
                  <a:cxn ang="T10">
                    <a:pos x="T0" y="T1"/>
                  </a:cxn>
                  <a:cxn ang="T11">
                    <a:pos x="T2" y="T3"/>
                  </a:cxn>
                  <a:cxn ang="T12">
                    <a:pos x="T4" y="T5"/>
                  </a:cxn>
                  <a:cxn ang="T13">
                    <a:pos x="T6" y="T7"/>
                  </a:cxn>
                  <a:cxn ang="T14">
                    <a:pos x="T8" y="T9"/>
                  </a:cxn>
                </a:cxnLst>
                <a:rect l="T15" t="T16" r="T17" b="T18"/>
                <a:pathLst>
                  <a:path w="141" h="132">
                    <a:moveTo>
                      <a:pt x="140" y="36"/>
                    </a:moveTo>
                    <a:lnTo>
                      <a:pt x="140" y="131"/>
                    </a:lnTo>
                    <a:lnTo>
                      <a:pt x="0" y="88"/>
                    </a:lnTo>
                    <a:lnTo>
                      <a:pt x="0" y="0"/>
                    </a:lnTo>
                    <a:lnTo>
                      <a:pt x="140" y="36"/>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nvGrpSpPr>
            <p:cNvPr id="248060" name="Group 321"/>
            <p:cNvGrpSpPr/>
            <p:nvPr/>
          </p:nvGrpSpPr>
          <p:grpSpPr bwMode="auto">
            <a:xfrm>
              <a:off x="1297" y="2361"/>
              <a:ext cx="256" cy="108"/>
              <a:chOff x="1297" y="2361"/>
              <a:chExt cx="256" cy="108"/>
            </a:xfrm>
          </p:grpSpPr>
          <p:sp>
            <p:nvSpPr>
              <p:cNvPr id="9418" name="Freeform 322"/>
              <p:cNvSpPr/>
              <p:nvPr/>
            </p:nvSpPr>
            <p:spPr bwMode="auto">
              <a:xfrm>
                <a:off x="1298" y="2361"/>
                <a:ext cx="249" cy="103"/>
              </a:xfrm>
              <a:custGeom>
                <a:avLst/>
                <a:gdLst>
                  <a:gd name="T0" fmla="*/ 137 w 249"/>
                  <a:gd name="T1" fmla="*/ 102 h 103"/>
                  <a:gd name="T2" fmla="*/ 0 w 249"/>
                  <a:gd name="T3" fmla="*/ 68 h 103"/>
                  <a:gd name="T4" fmla="*/ 129 w 249"/>
                  <a:gd name="T5" fmla="*/ 0 h 103"/>
                  <a:gd name="T6" fmla="*/ 248 w 249"/>
                  <a:gd name="T7" fmla="*/ 27 h 103"/>
                  <a:gd name="T8" fmla="*/ 137 w 249"/>
                  <a:gd name="T9" fmla="*/ 102 h 103"/>
                  <a:gd name="T10" fmla="*/ 0 60000 65536"/>
                  <a:gd name="T11" fmla="*/ 0 60000 65536"/>
                  <a:gd name="T12" fmla="*/ 0 60000 65536"/>
                  <a:gd name="T13" fmla="*/ 0 60000 65536"/>
                  <a:gd name="T14" fmla="*/ 0 60000 65536"/>
                  <a:gd name="T15" fmla="*/ 0 w 249"/>
                  <a:gd name="T16" fmla="*/ 0 h 103"/>
                  <a:gd name="T17" fmla="*/ 249 w 249"/>
                  <a:gd name="T18" fmla="*/ 103 h 103"/>
                </a:gdLst>
                <a:ahLst/>
                <a:cxnLst>
                  <a:cxn ang="T10">
                    <a:pos x="T0" y="T1"/>
                  </a:cxn>
                  <a:cxn ang="T11">
                    <a:pos x="T2" y="T3"/>
                  </a:cxn>
                  <a:cxn ang="T12">
                    <a:pos x="T4" y="T5"/>
                  </a:cxn>
                  <a:cxn ang="T13">
                    <a:pos x="T6" y="T7"/>
                  </a:cxn>
                  <a:cxn ang="T14">
                    <a:pos x="T8" y="T9"/>
                  </a:cxn>
                </a:cxnLst>
                <a:rect l="T15" t="T16" r="T17" b="T18"/>
                <a:pathLst>
                  <a:path w="249" h="103">
                    <a:moveTo>
                      <a:pt x="137" y="102"/>
                    </a:moveTo>
                    <a:lnTo>
                      <a:pt x="0" y="68"/>
                    </a:lnTo>
                    <a:lnTo>
                      <a:pt x="129" y="0"/>
                    </a:lnTo>
                    <a:lnTo>
                      <a:pt x="248" y="27"/>
                    </a:lnTo>
                    <a:lnTo>
                      <a:pt x="137" y="102"/>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9419" name="Freeform 323"/>
              <p:cNvSpPr/>
              <p:nvPr/>
            </p:nvSpPr>
            <p:spPr bwMode="auto">
              <a:xfrm>
                <a:off x="1297" y="2361"/>
                <a:ext cx="256" cy="108"/>
              </a:xfrm>
              <a:custGeom>
                <a:avLst/>
                <a:gdLst>
                  <a:gd name="T0" fmla="*/ 141 w 256"/>
                  <a:gd name="T1" fmla="*/ 107 h 108"/>
                  <a:gd name="T2" fmla="*/ 0 w 256"/>
                  <a:gd name="T3" fmla="*/ 71 h 108"/>
                  <a:gd name="T4" fmla="*/ 133 w 256"/>
                  <a:gd name="T5" fmla="*/ 0 h 108"/>
                  <a:gd name="T6" fmla="*/ 255 w 256"/>
                  <a:gd name="T7" fmla="*/ 28 h 108"/>
                  <a:gd name="T8" fmla="*/ 141 w 256"/>
                  <a:gd name="T9" fmla="*/ 107 h 108"/>
                  <a:gd name="T10" fmla="*/ 0 60000 65536"/>
                  <a:gd name="T11" fmla="*/ 0 60000 65536"/>
                  <a:gd name="T12" fmla="*/ 0 60000 65536"/>
                  <a:gd name="T13" fmla="*/ 0 60000 65536"/>
                  <a:gd name="T14" fmla="*/ 0 60000 65536"/>
                  <a:gd name="T15" fmla="*/ 0 w 256"/>
                  <a:gd name="T16" fmla="*/ 0 h 108"/>
                  <a:gd name="T17" fmla="*/ 256 w 256"/>
                  <a:gd name="T18" fmla="*/ 108 h 108"/>
                </a:gdLst>
                <a:ahLst/>
                <a:cxnLst>
                  <a:cxn ang="T10">
                    <a:pos x="T0" y="T1"/>
                  </a:cxn>
                  <a:cxn ang="T11">
                    <a:pos x="T2" y="T3"/>
                  </a:cxn>
                  <a:cxn ang="T12">
                    <a:pos x="T4" y="T5"/>
                  </a:cxn>
                  <a:cxn ang="T13">
                    <a:pos x="T6" y="T7"/>
                  </a:cxn>
                  <a:cxn ang="T14">
                    <a:pos x="T8" y="T9"/>
                  </a:cxn>
                </a:cxnLst>
                <a:rect l="T15" t="T16" r="T17" b="T18"/>
                <a:pathLst>
                  <a:path w="256" h="108">
                    <a:moveTo>
                      <a:pt x="141" y="107"/>
                    </a:moveTo>
                    <a:lnTo>
                      <a:pt x="0" y="71"/>
                    </a:lnTo>
                    <a:lnTo>
                      <a:pt x="133" y="0"/>
                    </a:lnTo>
                    <a:lnTo>
                      <a:pt x="255" y="28"/>
                    </a:lnTo>
                    <a:lnTo>
                      <a:pt x="141" y="107"/>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nvGrpSpPr>
            <p:cNvPr id="248061" name="Group 324"/>
            <p:cNvGrpSpPr/>
            <p:nvPr/>
          </p:nvGrpSpPr>
          <p:grpSpPr bwMode="auto">
            <a:xfrm>
              <a:off x="1440" y="2388"/>
              <a:ext cx="115" cy="175"/>
              <a:chOff x="1440" y="2388"/>
              <a:chExt cx="115" cy="175"/>
            </a:xfrm>
          </p:grpSpPr>
          <p:sp>
            <p:nvSpPr>
              <p:cNvPr id="9416" name="Freeform 325"/>
              <p:cNvSpPr/>
              <p:nvPr/>
            </p:nvSpPr>
            <p:spPr bwMode="auto">
              <a:xfrm>
                <a:off x="1441" y="2389"/>
                <a:ext cx="108" cy="167"/>
              </a:xfrm>
              <a:custGeom>
                <a:avLst/>
                <a:gdLst>
                  <a:gd name="T0" fmla="*/ 107 w 108"/>
                  <a:gd name="T1" fmla="*/ 0 h 167"/>
                  <a:gd name="T2" fmla="*/ 0 w 108"/>
                  <a:gd name="T3" fmla="*/ 75 h 167"/>
                  <a:gd name="T4" fmla="*/ 0 w 108"/>
                  <a:gd name="T5" fmla="*/ 166 h 167"/>
                  <a:gd name="T6" fmla="*/ 107 w 108"/>
                  <a:gd name="T7" fmla="*/ 79 h 167"/>
                  <a:gd name="T8" fmla="*/ 107 w 108"/>
                  <a:gd name="T9" fmla="*/ 0 h 167"/>
                  <a:gd name="T10" fmla="*/ 0 60000 65536"/>
                  <a:gd name="T11" fmla="*/ 0 60000 65536"/>
                  <a:gd name="T12" fmla="*/ 0 60000 65536"/>
                  <a:gd name="T13" fmla="*/ 0 60000 65536"/>
                  <a:gd name="T14" fmla="*/ 0 60000 65536"/>
                  <a:gd name="T15" fmla="*/ 0 w 108"/>
                  <a:gd name="T16" fmla="*/ 0 h 167"/>
                  <a:gd name="T17" fmla="*/ 108 w 108"/>
                  <a:gd name="T18" fmla="*/ 167 h 167"/>
                </a:gdLst>
                <a:ahLst/>
                <a:cxnLst>
                  <a:cxn ang="T10">
                    <a:pos x="T0" y="T1"/>
                  </a:cxn>
                  <a:cxn ang="T11">
                    <a:pos x="T2" y="T3"/>
                  </a:cxn>
                  <a:cxn ang="T12">
                    <a:pos x="T4" y="T5"/>
                  </a:cxn>
                  <a:cxn ang="T13">
                    <a:pos x="T6" y="T7"/>
                  </a:cxn>
                  <a:cxn ang="T14">
                    <a:pos x="T8" y="T9"/>
                  </a:cxn>
                </a:cxnLst>
                <a:rect l="T15" t="T16" r="T17" b="T18"/>
                <a:pathLst>
                  <a:path w="108" h="167">
                    <a:moveTo>
                      <a:pt x="107" y="0"/>
                    </a:moveTo>
                    <a:lnTo>
                      <a:pt x="0" y="75"/>
                    </a:lnTo>
                    <a:lnTo>
                      <a:pt x="0" y="166"/>
                    </a:lnTo>
                    <a:lnTo>
                      <a:pt x="107" y="79"/>
                    </a:lnTo>
                    <a:lnTo>
                      <a:pt x="107" y="0"/>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9417" name="Freeform 326"/>
              <p:cNvSpPr/>
              <p:nvPr/>
            </p:nvSpPr>
            <p:spPr bwMode="auto">
              <a:xfrm>
                <a:off x="1440" y="2388"/>
                <a:ext cx="115" cy="175"/>
              </a:xfrm>
              <a:custGeom>
                <a:avLst/>
                <a:gdLst>
                  <a:gd name="T0" fmla="*/ 114 w 115"/>
                  <a:gd name="T1" fmla="*/ 0 h 175"/>
                  <a:gd name="T2" fmla="*/ 0 w 115"/>
                  <a:gd name="T3" fmla="*/ 80 h 175"/>
                  <a:gd name="T4" fmla="*/ 0 w 115"/>
                  <a:gd name="T5" fmla="*/ 174 h 175"/>
                  <a:gd name="T6" fmla="*/ 114 w 115"/>
                  <a:gd name="T7" fmla="*/ 84 h 175"/>
                  <a:gd name="T8" fmla="*/ 114 w 115"/>
                  <a:gd name="T9" fmla="*/ 0 h 175"/>
                  <a:gd name="T10" fmla="*/ 0 60000 65536"/>
                  <a:gd name="T11" fmla="*/ 0 60000 65536"/>
                  <a:gd name="T12" fmla="*/ 0 60000 65536"/>
                  <a:gd name="T13" fmla="*/ 0 60000 65536"/>
                  <a:gd name="T14" fmla="*/ 0 60000 65536"/>
                  <a:gd name="T15" fmla="*/ 0 w 115"/>
                  <a:gd name="T16" fmla="*/ 0 h 175"/>
                  <a:gd name="T17" fmla="*/ 115 w 115"/>
                  <a:gd name="T18" fmla="*/ 175 h 175"/>
                </a:gdLst>
                <a:ahLst/>
                <a:cxnLst>
                  <a:cxn ang="T10">
                    <a:pos x="T0" y="T1"/>
                  </a:cxn>
                  <a:cxn ang="T11">
                    <a:pos x="T2" y="T3"/>
                  </a:cxn>
                  <a:cxn ang="T12">
                    <a:pos x="T4" y="T5"/>
                  </a:cxn>
                  <a:cxn ang="T13">
                    <a:pos x="T6" y="T7"/>
                  </a:cxn>
                  <a:cxn ang="T14">
                    <a:pos x="T8" y="T9"/>
                  </a:cxn>
                </a:cxnLst>
                <a:rect l="T15" t="T16" r="T17" b="T18"/>
                <a:pathLst>
                  <a:path w="115" h="175">
                    <a:moveTo>
                      <a:pt x="114" y="0"/>
                    </a:moveTo>
                    <a:lnTo>
                      <a:pt x="0" y="80"/>
                    </a:lnTo>
                    <a:lnTo>
                      <a:pt x="0" y="174"/>
                    </a:lnTo>
                    <a:lnTo>
                      <a:pt x="114" y="84"/>
                    </a:lnTo>
                    <a:lnTo>
                      <a:pt x="114" y="0"/>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grpSp>
        <p:nvGrpSpPr>
          <p:cNvPr id="248062" name="Group 327"/>
          <p:cNvGrpSpPr/>
          <p:nvPr/>
        </p:nvGrpSpPr>
        <p:grpSpPr bwMode="auto">
          <a:xfrm>
            <a:off x="2701925" y="4895366"/>
            <a:ext cx="460375" cy="320675"/>
            <a:chOff x="1309" y="2961"/>
            <a:chExt cx="258" cy="202"/>
          </a:xfrm>
        </p:grpSpPr>
        <p:grpSp>
          <p:nvGrpSpPr>
            <p:cNvPr id="248063" name="Group 328"/>
            <p:cNvGrpSpPr/>
            <p:nvPr/>
          </p:nvGrpSpPr>
          <p:grpSpPr bwMode="auto">
            <a:xfrm>
              <a:off x="1310" y="3031"/>
              <a:ext cx="142" cy="132"/>
              <a:chOff x="1310" y="3031"/>
              <a:chExt cx="142" cy="132"/>
            </a:xfrm>
          </p:grpSpPr>
          <p:sp>
            <p:nvSpPr>
              <p:cNvPr id="9411" name="Freeform 329"/>
              <p:cNvSpPr/>
              <p:nvPr/>
            </p:nvSpPr>
            <p:spPr bwMode="auto">
              <a:xfrm>
                <a:off x="1310" y="3032"/>
                <a:ext cx="136" cy="124"/>
              </a:xfrm>
              <a:custGeom>
                <a:avLst/>
                <a:gdLst>
                  <a:gd name="T0" fmla="*/ 135 w 136"/>
                  <a:gd name="T1" fmla="*/ 33 h 124"/>
                  <a:gd name="T2" fmla="*/ 135 w 136"/>
                  <a:gd name="T3" fmla="*/ 123 h 124"/>
                  <a:gd name="T4" fmla="*/ 0 w 136"/>
                  <a:gd name="T5" fmla="*/ 83 h 124"/>
                  <a:gd name="T6" fmla="*/ 0 w 136"/>
                  <a:gd name="T7" fmla="*/ 0 h 124"/>
                  <a:gd name="T8" fmla="*/ 135 w 136"/>
                  <a:gd name="T9" fmla="*/ 33 h 124"/>
                  <a:gd name="T10" fmla="*/ 0 60000 65536"/>
                  <a:gd name="T11" fmla="*/ 0 60000 65536"/>
                  <a:gd name="T12" fmla="*/ 0 60000 65536"/>
                  <a:gd name="T13" fmla="*/ 0 60000 65536"/>
                  <a:gd name="T14" fmla="*/ 0 60000 65536"/>
                  <a:gd name="T15" fmla="*/ 0 w 136"/>
                  <a:gd name="T16" fmla="*/ 0 h 124"/>
                  <a:gd name="T17" fmla="*/ 136 w 136"/>
                  <a:gd name="T18" fmla="*/ 124 h 124"/>
                </a:gdLst>
                <a:ahLst/>
                <a:cxnLst>
                  <a:cxn ang="T10">
                    <a:pos x="T0" y="T1"/>
                  </a:cxn>
                  <a:cxn ang="T11">
                    <a:pos x="T2" y="T3"/>
                  </a:cxn>
                  <a:cxn ang="T12">
                    <a:pos x="T4" y="T5"/>
                  </a:cxn>
                  <a:cxn ang="T13">
                    <a:pos x="T6" y="T7"/>
                  </a:cxn>
                  <a:cxn ang="T14">
                    <a:pos x="T8" y="T9"/>
                  </a:cxn>
                </a:cxnLst>
                <a:rect l="T15" t="T16" r="T17" b="T18"/>
                <a:pathLst>
                  <a:path w="136" h="124">
                    <a:moveTo>
                      <a:pt x="135" y="33"/>
                    </a:moveTo>
                    <a:lnTo>
                      <a:pt x="135" y="123"/>
                    </a:lnTo>
                    <a:lnTo>
                      <a:pt x="0" y="83"/>
                    </a:lnTo>
                    <a:lnTo>
                      <a:pt x="0" y="0"/>
                    </a:lnTo>
                    <a:lnTo>
                      <a:pt x="135" y="33"/>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9412" name="Freeform 330"/>
              <p:cNvSpPr/>
              <p:nvPr/>
            </p:nvSpPr>
            <p:spPr bwMode="auto">
              <a:xfrm>
                <a:off x="1311" y="3031"/>
                <a:ext cx="141" cy="132"/>
              </a:xfrm>
              <a:custGeom>
                <a:avLst/>
                <a:gdLst>
                  <a:gd name="T0" fmla="*/ 140 w 141"/>
                  <a:gd name="T1" fmla="*/ 36 h 132"/>
                  <a:gd name="T2" fmla="*/ 140 w 141"/>
                  <a:gd name="T3" fmla="*/ 131 h 132"/>
                  <a:gd name="T4" fmla="*/ 0 w 141"/>
                  <a:gd name="T5" fmla="*/ 88 h 132"/>
                  <a:gd name="T6" fmla="*/ 0 w 141"/>
                  <a:gd name="T7" fmla="*/ 0 h 132"/>
                  <a:gd name="T8" fmla="*/ 140 w 141"/>
                  <a:gd name="T9" fmla="*/ 36 h 132"/>
                  <a:gd name="T10" fmla="*/ 0 60000 65536"/>
                  <a:gd name="T11" fmla="*/ 0 60000 65536"/>
                  <a:gd name="T12" fmla="*/ 0 60000 65536"/>
                  <a:gd name="T13" fmla="*/ 0 60000 65536"/>
                  <a:gd name="T14" fmla="*/ 0 60000 65536"/>
                  <a:gd name="T15" fmla="*/ 0 w 141"/>
                  <a:gd name="T16" fmla="*/ 0 h 132"/>
                  <a:gd name="T17" fmla="*/ 141 w 141"/>
                  <a:gd name="T18" fmla="*/ 132 h 132"/>
                </a:gdLst>
                <a:ahLst/>
                <a:cxnLst>
                  <a:cxn ang="T10">
                    <a:pos x="T0" y="T1"/>
                  </a:cxn>
                  <a:cxn ang="T11">
                    <a:pos x="T2" y="T3"/>
                  </a:cxn>
                  <a:cxn ang="T12">
                    <a:pos x="T4" y="T5"/>
                  </a:cxn>
                  <a:cxn ang="T13">
                    <a:pos x="T6" y="T7"/>
                  </a:cxn>
                  <a:cxn ang="T14">
                    <a:pos x="T8" y="T9"/>
                  </a:cxn>
                </a:cxnLst>
                <a:rect l="T15" t="T16" r="T17" b="T18"/>
                <a:pathLst>
                  <a:path w="141" h="132">
                    <a:moveTo>
                      <a:pt x="140" y="36"/>
                    </a:moveTo>
                    <a:lnTo>
                      <a:pt x="140" y="131"/>
                    </a:lnTo>
                    <a:lnTo>
                      <a:pt x="0" y="88"/>
                    </a:lnTo>
                    <a:lnTo>
                      <a:pt x="0" y="0"/>
                    </a:lnTo>
                    <a:lnTo>
                      <a:pt x="140" y="36"/>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nvGrpSpPr>
            <p:cNvPr id="248064" name="Group 331"/>
            <p:cNvGrpSpPr/>
            <p:nvPr/>
          </p:nvGrpSpPr>
          <p:grpSpPr bwMode="auto">
            <a:xfrm>
              <a:off x="1309" y="2961"/>
              <a:ext cx="256" cy="108"/>
              <a:chOff x="1309" y="2961"/>
              <a:chExt cx="256" cy="108"/>
            </a:xfrm>
          </p:grpSpPr>
          <p:sp>
            <p:nvSpPr>
              <p:cNvPr id="9409" name="Freeform 332"/>
              <p:cNvSpPr/>
              <p:nvPr/>
            </p:nvSpPr>
            <p:spPr bwMode="auto">
              <a:xfrm>
                <a:off x="1310" y="2961"/>
                <a:ext cx="249" cy="103"/>
              </a:xfrm>
              <a:custGeom>
                <a:avLst/>
                <a:gdLst>
                  <a:gd name="T0" fmla="*/ 137 w 249"/>
                  <a:gd name="T1" fmla="*/ 102 h 103"/>
                  <a:gd name="T2" fmla="*/ 0 w 249"/>
                  <a:gd name="T3" fmla="*/ 68 h 103"/>
                  <a:gd name="T4" fmla="*/ 129 w 249"/>
                  <a:gd name="T5" fmla="*/ 0 h 103"/>
                  <a:gd name="T6" fmla="*/ 248 w 249"/>
                  <a:gd name="T7" fmla="*/ 27 h 103"/>
                  <a:gd name="T8" fmla="*/ 137 w 249"/>
                  <a:gd name="T9" fmla="*/ 102 h 103"/>
                  <a:gd name="T10" fmla="*/ 0 60000 65536"/>
                  <a:gd name="T11" fmla="*/ 0 60000 65536"/>
                  <a:gd name="T12" fmla="*/ 0 60000 65536"/>
                  <a:gd name="T13" fmla="*/ 0 60000 65536"/>
                  <a:gd name="T14" fmla="*/ 0 60000 65536"/>
                  <a:gd name="T15" fmla="*/ 0 w 249"/>
                  <a:gd name="T16" fmla="*/ 0 h 103"/>
                  <a:gd name="T17" fmla="*/ 249 w 249"/>
                  <a:gd name="T18" fmla="*/ 103 h 103"/>
                </a:gdLst>
                <a:ahLst/>
                <a:cxnLst>
                  <a:cxn ang="T10">
                    <a:pos x="T0" y="T1"/>
                  </a:cxn>
                  <a:cxn ang="T11">
                    <a:pos x="T2" y="T3"/>
                  </a:cxn>
                  <a:cxn ang="T12">
                    <a:pos x="T4" y="T5"/>
                  </a:cxn>
                  <a:cxn ang="T13">
                    <a:pos x="T6" y="T7"/>
                  </a:cxn>
                  <a:cxn ang="T14">
                    <a:pos x="T8" y="T9"/>
                  </a:cxn>
                </a:cxnLst>
                <a:rect l="T15" t="T16" r="T17" b="T18"/>
                <a:pathLst>
                  <a:path w="249" h="103">
                    <a:moveTo>
                      <a:pt x="137" y="102"/>
                    </a:moveTo>
                    <a:lnTo>
                      <a:pt x="0" y="68"/>
                    </a:lnTo>
                    <a:lnTo>
                      <a:pt x="129" y="0"/>
                    </a:lnTo>
                    <a:lnTo>
                      <a:pt x="248" y="27"/>
                    </a:lnTo>
                    <a:lnTo>
                      <a:pt x="137" y="102"/>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9410" name="Freeform 333"/>
              <p:cNvSpPr/>
              <p:nvPr/>
            </p:nvSpPr>
            <p:spPr bwMode="auto">
              <a:xfrm>
                <a:off x="1309" y="2961"/>
                <a:ext cx="256" cy="108"/>
              </a:xfrm>
              <a:custGeom>
                <a:avLst/>
                <a:gdLst>
                  <a:gd name="T0" fmla="*/ 141 w 256"/>
                  <a:gd name="T1" fmla="*/ 107 h 108"/>
                  <a:gd name="T2" fmla="*/ 0 w 256"/>
                  <a:gd name="T3" fmla="*/ 71 h 108"/>
                  <a:gd name="T4" fmla="*/ 133 w 256"/>
                  <a:gd name="T5" fmla="*/ 0 h 108"/>
                  <a:gd name="T6" fmla="*/ 255 w 256"/>
                  <a:gd name="T7" fmla="*/ 28 h 108"/>
                  <a:gd name="T8" fmla="*/ 141 w 256"/>
                  <a:gd name="T9" fmla="*/ 107 h 108"/>
                  <a:gd name="T10" fmla="*/ 0 60000 65536"/>
                  <a:gd name="T11" fmla="*/ 0 60000 65536"/>
                  <a:gd name="T12" fmla="*/ 0 60000 65536"/>
                  <a:gd name="T13" fmla="*/ 0 60000 65536"/>
                  <a:gd name="T14" fmla="*/ 0 60000 65536"/>
                  <a:gd name="T15" fmla="*/ 0 w 256"/>
                  <a:gd name="T16" fmla="*/ 0 h 108"/>
                  <a:gd name="T17" fmla="*/ 256 w 256"/>
                  <a:gd name="T18" fmla="*/ 108 h 108"/>
                </a:gdLst>
                <a:ahLst/>
                <a:cxnLst>
                  <a:cxn ang="T10">
                    <a:pos x="T0" y="T1"/>
                  </a:cxn>
                  <a:cxn ang="T11">
                    <a:pos x="T2" y="T3"/>
                  </a:cxn>
                  <a:cxn ang="T12">
                    <a:pos x="T4" y="T5"/>
                  </a:cxn>
                  <a:cxn ang="T13">
                    <a:pos x="T6" y="T7"/>
                  </a:cxn>
                  <a:cxn ang="T14">
                    <a:pos x="T8" y="T9"/>
                  </a:cxn>
                </a:cxnLst>
                <a:rect l="T15" t="T16" r="T17" b="T18"/>
                <a:pathLst>
                  <a:path w="256" h="108">
                    <a:moveTo>
                      <a:pt x="141" y="107"/>
                    </a:moveTo>
                    <a:lnTo>
                      <a:pt x="0" y="71"/>
                    </a:lnTo>
                    <a:lnTo>
                      <a:pt x="133" y="0"/>
                    </a:lnTo>
                    <a:lnTo>
                      <a:pt x="255" y="28"/>
                    </a:lnTo>
                    <a:lnTo>
                      <a:pt x="141" y="107"/>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nvGrpSpPr>
            <p:cNvPr id="248065" name="Group 334"/>
            <p:cNvGrpSpPr/>
            <p:nvPr/>
          </p:nvGrpSpPr>
          <p:grpSpPr bwMode="auto">
            <a:xfrm>
              <a:off x="1452" y="2988"/>
              <a:ext cx="115" cy="175"/>
              <a:chOff x="1452" y="2988"/>
              <a:chExt cx="115" cy="175"/>
            </a:xfrm>
          </p:grpSpPr>
          <p:sp>
            <p:nvSpPr>
              <p:cNvPr id="9407" name="Freeform 335"/>
              <p:cNvSpPr/>
              <p:nvPr/>
            </p:nvSpPr>
            <p:spPr bwMode="auto">
              <a:xfrm>
                <a:off x="1453" y="2989"/>
                <a:ext cx="108" cy="167"/>
              </a:xfrm>
              <a:custGeom>
                <a:avLst/>
                <a:gdLst>
                  <a:gd name="T0" fmla="*/ 107 w 108"/>
                  <a:gd name="T1" fmla="*/ 0 h 167"/>
                  <a:gd name="T2" fmla="*/ 0 w 108"/>
                  <a:gd name="T3" fmla="*/ 75 h 167"/>
                  <a:gd name="T4" fmla="*/ 0 w 108"/>
                  <a:gd name="T5" fmla="*/ 166 h 167"/>
                  <a:gd name="T6" fmla="*/ 107 w 108"/>
                  <a:gd name="T7" fmla="*/ 79 h 167"/>
                  <a:gd name="T8" fmla="*/ 107 w 108"/>
                  <a:gd name="T9" fmla="*/ 0 h 167"/>
                  <a:gd name="T10" fmla="*/ 0 60000 65536"/>
                  <a:gd name="T11" fmla="*/ 0 60000 65536"/>
                  <a:gd name="T12" fmla="*/ 0 60000 65536"/>
                  <a:gd name="T13" fmla="*/ 0 60000 65536"/>
                  <a:gd name="T14" fmla="*/ 0 60000 65536"/>
                  <a:gd name="T15" fmla="*/ 0 w 108"/>
                  <a:gd name="T16" fmla="*/ 0 h 167"/>
                  <a:gd name="T17" fmla="*/ 108 w 108"/>
                  <a:gd name="T18" fmla="*/ 167 h 167"/>
                </a:gdLst>
                <a:ahLst/>
                <a:cxnLst>
                  <a:cxn ang="T10">
                    <a:pos x="T0" y="T1"/>
                  </a:cxn>
                  <a:cxn ang="T11">
                    <a:pos x="T2" y="T3"/>
                  </a:cxn>
                  <a:cxn ang="T12">
                    <a:pos x="T4" y="T5"/>
                  </a:cxn>
                  <a:cxn ang="T13">
                    <a:pos x="T6" y="T7"/>
                  </a:cxn>
                  <a:cxn ang="T14">
                    <a:pos x="T8" y="T9"/>
                  </a:cxn>
                </a:cxnLst>
                <a:rect l="T15" t="T16" r="T17" b="T18"/>
                <a:pathLst>
                  <a:path w="108" h="167">
                    <a:moveTo>
                      <a:pt x="107" y="0"/>
                    </a:moveTo>
                    <a:lnTo>
                      <a:pt x="0" y="75"/>
                    </a:lnTo>
                    <a:lnTo>
                      <a:pt x="0" y="166"/>
                    </a:lnTo>
                    <a:lnTo>
                      <a:pt x="107" y="79"/>
                    </a:lnTo>
                    <a:lnTo>
                      <a:pt x="107" y="0"/>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9408" name="Freeform 336"/>
              <p:cNvSpPr/>
              <p:nvPr/>
            </p:nvSpPr>
            <p:spPr bwMode="auto">
              <a:xfrm>
                <a:off x="1452" y="2988"/>
                <a:ext cx="115" cy="175"/>
              </a:xfrm>
              <a:custGeom>
                <a:avLst/>
                <a:gdLst>
                  <a:gd name="T0" fmla="*/ 114 w 115"/>
                  <a:gd name="T1" fmla="*/ 0 h 175"/>
                  <a:gd name="T2" fmla="*/ 0 w 115"/>
                  <a:gd name="T3" fmla="*/ 80 h 175"/>
                  <a:gd name="T4" fmla="*/ 0 w 115"/>
                  <a:gd name="T5" fmla="*/ 174 h 175"/>
                  <a:gd name="T6" fmla="*/ 114 w 115"/>
                  <a:gd name="T7" fmla="*/ 84 h 175"/>
                  <a:gd name="T8" fmla="*/ 114 w 115"/>
                  <a:gd name="T9" fmla="*/ 0 h 175"/>
                  <a:gd name="T10" fmla="*/ 0 60000 65536"/>
                  <a:gd name="T11" fmla="*/ 0 60000 65536"/>
                  <a:gd name="T12" fmla="*/ 0 60000 65536"/>
                  <a:gd name="T13" fmla="*/ 0 60000 65536"/>
                  <a:gd name="T14" fmla="*/ 0 60000 65536"/>
                  <a:gd name="T15" fmla="*/ 0 w 115"/>
                  <a:gd name="T16" fmla="*/ 0 h 175"/>
                  <a:gd name="T17" fmla="*/ 115 w 115"/>
                  <a:gd name="T18" fmla="*/ 175 h 175"/>
                </a:gdLst>
                <a:ahLst/>
                <a:cxnLst>
                  <a:cxn ang="T10">
                    <a:pos x="T0" y="T1"/>
                  </a:cxn>
                  <a:cxn ang="T11">
                    <a:pos x="T2" y="T3"/>
                  </a:cxn>
                  <a:cxn ang="T12">
                    <a:pos x="T4" y="T5"/>
                  </a:cxn>
                  <a:cxn ang="T13">
                    <a:pos x="T6" y="T7"/>
                  </a:cxn>
                  <a:cxn ang="T14">
                    <a:pos x="T8" y="T9"/>
                  </a:cxn>
                </a:cxnLst>
                <a:rect l="T15" t="T16" r="T17" b="T18"/>
                <a:pathLst>
                  <a:path w="115" h="175">
                    <a:moveTo>
                      <a:pt x="114" y="0"/>
                    </a:moveTo>
                    <a:lnTo>
                      <a:pt x="0" y="80"/>
                    </a:lnTo>
                    <a:lnTo>
                      <a:pt x="0" y="174"/>
                    </a:lnTo>
                    <a:lnTo>
                      <a:pt x="114" y="84"/>
                    </a:lnTo>
                    <a:lnTo>
                      <a:pt x="114" y="0"/>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sp>
        <p:nvSpPr>
          <p:cNvPr id="9287" name="Line 337"/>
          <p:cNvSpPr>
            <a:spLocks noChangeShapeType="1"/>
          </p:cNvSpPr>
          <p:nvPr/>
        </p:nvSpPr>
        <p:spPr bwMode="auto">
          <a:xfrm flipV="1">
            <a:off x="2173288" y="5114441"/>
            <a:ext cx="0" cy="546100"/>
          </a:xfrm>
          <a:prstGeom prst="line">
            <a:avLst/>
          </a:prstGeom>
          <a:noFill/>
          <a:ln w="25399">
            <a:solidFill>
              <a:schemeClr val="tx1"/>
            </a:solidFill>
            <a:round/>
            <a:headEnd type="none" w="sm" len="sm"/>
            <a:tailEnd type="none" w="sm" len="sm"/>
          </a:ln>
        </p:spPr>
        <p:txBody>
          <a:bodyPr wrap="none" anchor="ctr"/>
          <a:lstStyle/>
          <a:p>
            <a:endParaRPr lang="zh-CN" altLang="en-US"/>
          </a:p>
        </p:txBody>
      </p:sp>
      <p:pic>
        <p:nvPicPr>
          <p:cNvPr id="9288" name="Picture 338"/>
          <p:cNvPicPr>
            <a:picLocks noChangeArrowheads="1"/>
          </p:cNvPicPr>
          <p:nvPr/>
        </p:nvPicPr>
        <p:blipFill>
          <a:blip r:embed="rId5"/>
          <a:srcRect/>
          <a:stretch>
            <a:fillRect/>
          </a:stretch>
        </p:blipFill>
        <p:spPr bwMode="auto">
          <a:xfrm>
            <a:off x="1962150" y="5387491"/>
            <a:ext cx="398463" cy="330200"/>
          </a:xfrm>
          <a:prstGeom prst="rect">
            <a:avLst/>
          </a:prstGeom>
          <a:noFill/>
          <a:ln w="9525">
            <a:noFill/>
            <a:miter lim="800000"/>
            <a:headEnd/>
            <a:tailEnd/>
          </a:ln>
        </p:spPr>
      </p:pic>
      <p:grpSp>
        <p:nvGrpSpPr>
          <p:cNvPr id="248066" name="Group 339"/>
          <p:cNvGrpSpPr/>
          <p:nvPr/>
        </p:nvGrpSpPr>
        <p:grpSpPr bwMode="auto">
          <a:xfrm>
            <a:off x="7040563" y="3549166"/>
            <a:ext cx="1574800" cy="1652587"/>
            <a:chOff x="3737" y="2113"/>
            <a:chExt cx="883" cy="1043"/>
          </a:xfrm>
        </p:grpSpPr>
        <p:grpSp>
          <p:nvGrpSpPr>
            <p:cNvPr id="248067" name="Group 340"/>
            <p:cNvGrpSpPr/>
            <p:nvPr/>
          </p:nvGrpSpPr>
          <p:grpSpPr bwMode="auto">
            <a:xfrm>
              <a:off x="3747" y="2113"/>
              <a:ext cx="710" cy="623"/>
              <a:chOff x="3747" y="2113"/>
              <a:chExt cx="710" cy="623"/>
            </a:xfrm>
          </p:grpSpPr>
          <p:grpSp>
            <p:nvGrpSpPr>
              <p:cNvPr id="248068" name="Group 341"/>
              <p:cNvGrpSpPr/>
              <p:nvPr/>
            </p:nvGrpSpPr>
            <p:grpSpPr bwMode="auto">
              <a:xfrm>
                <a:off x="3747" y="2113"/>
                <a:ext cx="710" cy="623"/>
                <a:chOff x="3747" y="2113"/>
                <a:chExt cx="710" cy="623"/>
              </a:xfrm>
            </p:grpSpPr>
            <p:grpSp>
              <p:nvGrpSpPr>
                <p:cNvPr id="248069" name="Group 342"/>
                <p:cNvGrpSpPr/>
                <p:nvPr/>
              </p:nvGrpSpPr>
              <p:grpSpPr bwMode="auto">
                <a:xfrm>
                  <a:off x="3747" y="2113"/>
                  <a:ext cx="710" cy="623"/>
                  <a:chOff x="3747" y="2113"/>
                  <a:chExt cx="710" cy="623"/>
                </a:xfrm>
              </p:grpSpPr>
              <p:sp>
                <p:nvSpPr>
                  <p:cNvPr id="9386" name="Freeform 343"/>
                  <p:cNvSpPr/>
                  <p:nvPr/>
                </p:nvSpPr>
                <p:spPr bwMode="auto">
                  <a:xfrm>
                    <a:off x="3991" y="2532"/>
                    <a:ext cx="340" cy="76"/>
                  </a:xfrm>
                  <a:custGeom>
                    <a:avLst/>
                    <a:gdLst>
                      <a:gd name="T0" fmla="*/ 0 w 340"/>
                      <a:gd name="T1" fmla="*/ 75 h 76"/>
                      <a:gd name="T2" fmla="*/ 254 w 340"/>
                      <a:gd name="T3" fmla="*/ 75 h 76"/>
                      <a:gd name="T4" fmla="*/ 339 w 340"/>
                      <a:gd name="T5" fmla="*/ 0 h 76"/>
                      <a:gd name="T6" fmla="*/ 80 w 340"/>
                      <a:gd name="T7" fmla="*/ 0 h 76"/>
                      <a:gd name="T8" fmla="*/ 0 w 340"/>
                      <a:gd name="T9" fmla="*/ 75 h 76"/>
                      <a:gd name="T10" fmla="*/ 0 60000 65536"/>
                      <a:gd name="T11" fmla="*/ 0 60000 65536"/>
                      <a:gd name="T12" fmla="*/ 0 60000 65536"/>
                      <a:gd name="T13" fmla="*/ 0 60000 65536"/>
                      <a:gd name="T14" fmla="*/ 0 60000 65536"/>
                      <a:gd name="T15" fmla="*/ 0 w 340"/>
                      <a:gd name="T16" fmla="*/ 0 h 76"/>
                      <a:gd name="T17" fmla="*/ 340 w 340"/>
                      <a:gd name="T18" fmla="*/ 76 h 76"/>
                    </a:gdLst>
                    <a:ahLst/>
                    <a:cxnLst>
                      <a:cxn ang="T10">
                        <a:pos x="T0" y="T1"/>
                      </a:cxn>
                      <a:cxn ang="T11">
                        <a:pos x="T2" y="T3"/>
                      </a:cxn>
                      <a:cxn ang="T12">
                        <a:pos x="T4" y="T5"/>
                      </a:cxn>
                      <a:cxn ang="T13">
                        <a:pos x="T6" y="T7"/>
                      </a:cxn>
                      <a:cxn ang="T14">
                        <a:pos x="T8" y="T9"/>
                      </a:cxn>
                    </a:cxnLst>
                    <a:rect l="T15" t="T16" r="T17" b="T18"/>
                    <a:pathLst>
                      <a:path w="340" h="76">
                        <a:moveTo>
                          <a:pt x="0" y="75"/>
                        </a:moveTo>
                        <a:lnTo>
                          <a:pt x="254" y="75"/>
                        </a:lnTo>
                        <a:lnTo>
                          <a:pt x="339" y="0"/>
                        </a:lnTo>
                        <a:lnTo>
                          <a:pt x="80" y="0"/>
                        </a:lnTo>
                        <a:lnTo>
                          <a:pt x="0" y="75"/>
                        </a:lnTo>
                      </a:path>
                    </a:pathLst>
                  </a:custGeom>
                  <a:solidFill>
                    <a:srgbClr val="DADADA"/>
                  </a:solidFill>
                  <a:ln w="9525" cap="rnd">
                    <a:noFill/>
                    <a:round/>
                  </a:ln>
                </p:spPr>
                <p:txBody>
                  <a:bodyPr wrap="none" lIns="98624" tIns="49313" rIns="98624" bIns="49313">
                    <a:spAutoFit/>
                  </a:bodyPr>
                  <a:lstStyle/>
                  <a:p>
                    <a:endParaRPr lang="zh-CN" altLang="en-US"/>
                  </a:p>
                </p:txBody>
              </p:sp>
              <p:sp>
                <p:nvSpPr>
                  <p:cNvPr id="9387" name="Freeform 344"/>
                  <p:cNvSpPr/>
                  <p:nvPr/>
                </p:nvSpPr>
                <p:spPr bwMode="auto">
                  <a:xfrm>
                    <a:off x="4092" y="2549"/>
                    <a:ext cx="120" cy="37"/>
                  </a:xfrm>
                  <a:custGeom>
                    <a:avLst/>
                    <a:gdLst>
                      <a:gd name="T0" fmla="*/ 0 w 120"/>
                      <a:gd name="T1" fmla="*/ 36 h 37"/>
                      <a:gd name="T2" fmla="*/ 119 w 120"/>
                      <a:gd name="T3" fmla="*/ 36 h 37"/>
                      <a:gd name="T4" fmla="*/ 119 w 120"/>
                      <a:gd name="T5" fmla="*/ 0 h 37"/>
                      <a:gd name="T6" fmla="*/ 0 w 120"/>
                      <a:gd name="T7" fmla="*/ 0 h 37"/>
                      <a:gd name="T8" fmla="*/ 0 w 120"/>
                      <a:gd name="T9" fmla="*/ 36 h 37"/>
                      <a:gd name="T10" fmla="*/ 0 60000 65536"/>
                      <a:gd name="T11" fmla="*/ 0 60000 65536"/>
                      <a:gd name="T12" fmla="*/ 0 60000 65536"/>
                      <a:gd name="T13" fmla="*/ 0 60000 65536"/>
                      <a:gd name="T14" fmla="*/ 0 60000 65536"/>
                      <a:gd name="T15" fmla="*/ 0 w 120"/>
                      <a:gd name="T16" fmla="*/ 0 h 37"/>
                      <a:gd name="T17" fmla="*/ 120 w 120"/>
                      <a:gd name="T18" fmla="*/ 37 h 37"/>
                    </a:gdLst>
                    <a:ahLst/>
                    <a:cxnLst>
                      <a:cxn ang="T10">
                        <a:pos x="T0" y="T1"/>
                      </a:cxn>
                      <a:cxn ang="T11">
                        <a:pos x="T2" y="T3"/>
                      </a:cxn>
                      <a:cxn ang="T12">
                        <a:pos x="T4" y="T5"/>
                      </a:cxn>
                      <a:cxn ang="T13">
                        <a:pos x="T6" y="T7"/>
                      </a:cxn>
                      <a:cxn ang="T14">
                        <a:pos x="T8" y="T9"/>
                      </a:cxn>
                    </a:cxnLst>
                    <a:rect l="T15" t="T16" r="T17" b="T18"/>
                    <a:pathLst>
                      <a:path w="120" h="37">
                        <a:moveTo>
                          <a:pt x="0" y="36"/>
                        </a:moveTo>
                        <a:lnTo>
                          <a:pt x="119" y="36"/>
                        </a:lnTo>
                        <a:lnTo>
                          <a:pt x="119" y="0"/>
                        </a:lnTo>
                        <a:lnTo>
                          <a:pt x="0" y="0"/>
                        </a:lnTo>
                        <a:lnTo>
                          <a:pt x="0" y="36"/>
                        </a:lnTo>
                      </a:path>
                    </a:pathLst>
                  </a:custGeom>
                  <a:solidFill>
                    <a:srgbClr val="9E9898"/>
                  </a:solidFill>
                  <a:ln w="9525" cap="rnd">
                    <a:noFill/>
                    <a:round/>
                  </a:ln>
                </p:spPr>
                <p:txBody>
                  <a:bodyPr wrap="none" lIns="98624" tIns="49313" rIns="98624" bIns="49313">
                    <a:spAutoFit/>
                  </a:bodyPr>
                  <a:lstStyle/>
                  <a:p>
                    <a:endParaRPr lang="zh-CN" altLang="en-US"/>
                  </a:p>
                </p:txBody>
              </p:sp>
              <p:sp>
                <p:nvSpPr>
                  <p:cNvPr id="9388" name="Freeform 345"/>
                  <p:cNvSpPr/>
                  <p:nvPr/>
                </p:nvSpPr>
                <p:spPr bwMode="auto">
                  <a:xfrm>
                    <a:off x="4250" y="2529"/>
                    <a:ext cx="108" cy="96"/>
                  </a:xfrm>
                  <a:custGeom>
                    <a:avLst/>
                    <a:gdLst>
                      <a:gd name="T0" fmla="*/ 107 w 108"/>
                      <a:gd name="T1" fmla="*/ 1 h 96"/>
                      <a:gd name="T2" fmla="*/ 84 w 108"/>
                      <a:gd name="T3" fmla="*/ 0 h 96"/>
                      <a:gd name="T4" fmla="*/ 0 w 108"/>
                      <a:gd name="T5" fmla="*/ 73 h 96"/>
                      <a:gd name="T6" fmla="*/ 0 w 108"/>
                      <a:gd name="T7" fmla="*/ 95 h 96"/>
                      <a:gd name="T8" fmla="*/ 107 w 108"/>
                      <a:gd name="T9" fmla="*/ 1 h 96"/>
                      <a:gd name="T10" fmla="*/ 0 60000 65536"/>
                      <a:gd name="T11" fmla="*/ 0 60000 65536"/>
                      <a:gd name="T12" fmla="*/ 0 60000 65536"/>
                      <a:gd name="T13" fmla="*/ 0 60000 65536"/>
                      <a:gd name="T14" fmla="*/ 0 60000 65536"/>
                      <a:gd name="T15" fmla="*/ 0 w 108"/>
                      <a:gd name="T16" fmla="*/ 0 h 96"/>
                      <a:gd name="T17" fmla="*/ 108 w 108"/>
                      <a:gd name="T18" fmla="*/ 96 h 96"/>
                    </a:gdLst>
                    <a:ahLst/>
                    <a:cxnLst>
                      <a:cxn ang="T10">
                        <a:pos x="T0" y="T1"/>
                      </a:cxn>
                      <a:cxn ang="T11">
                        <a:pos x="T2" y="T3"/>
                      </a:cxn>
                      <a:cxn ang="T12">
                        <a:pos x="T4" y="T5"/>
                      </a:cxn>
                      <a:cxn ang="T13">
                        <a:pos x="T6" y="T7"/>
                      </a:cxn>
                      <a:cxn ang="T14">
                        <a:pos x="T8" y="T9"/>
                      </a:cxn>
                    </a:cxnLst>
                    <a:rect l="T15" t="T16" r="T17" b="T18"/>
                    <a:pathLst>
                      <a:path w="108" h="96">
                        <a:moveTo>
                          <a:pt x="107" y="1"/>
                        </a:moveTo>
                        <a:lnTo>
                          <a:pt x="84" y="0"/>
                        </a:lnTo>
                        <a:lnTo>
                          <a:pt x="0" y="73"/>
                        </a:lnTo>
                        <a:lnTo>
                          <a:pt x="0" y="95"/>
                        </a:lnTo>
                        <a:lnTo>
                          <a:pt x="107" y="1"/>
                        </a:lnTo>
                      </a:path>
                    </a:pathLst>
                  </a:custGeom>
                  <a:solidFill>
                    <a:srgbClr val="6B645F"/>
                  </a:solidFill>
                  <a:ln w="9525" cap="rnd">
                    <a:noFill/>
                    <a:round/>
                  </a:ln>
                </p:spPr>
                <p:txBody>
                  <a:bodyPr wrap="none" lIns="98624" tIns="49313" rIns="98624" bIns="49313">
                    <a:spAutoFit/>
                  </a:bodyPr>
                  <a:lstStyle/>
                  <a:p>
                    <a:endParaRPr lang="zh-CN" altLang="en-US"/>
                  </a:p>
                </p:txBody>
              </p:sp>
              <p:sp>
                <p:nvSpPr>
                  <p:cNvPr id="9389" name="Freeform 346"/>
                  <p:cNvSpPr/>
                  <p:nvPr/>
                </p:nvSpPr>
                <p:spPr bwMode="auto">
                  <a:xfrm>
                    <a:off x="3991" y="2607"/>
                    <a:ext cx="260" cy="33"/>
                  </a:xfrm>
                  <a:custGeom>
                    <a:avLst/>
                    <a:gdLst>
                      <a:gd name="T0" fmla="*/ 259 w 260"/>
                      <a:gd name="T1" fmla="*/ 32 h 33"/>
                      <a:gd name="T2" fmla="*/ 0 w 260"/>
                      <a:gd name="T3" fmla="*/ 32 h 33"/>
                      <a:gd name="T4" fmla="*/ 0 w 260"/>
                      <a:gd name="T5" fmla="*/ 0 h 33"/>
                      <a:gd name="T6" fmla="*/ 259 w 260"/>
                      <a:gd name="T7" fmla="*/ 0 h 33"/>
                      <a:gd name="T8" fmla="*/ 259 w 260"/>
                      <a:gd name="T9" fmla="*/ 32 h 33"/>
                      <a:gd name="T10" fmla="*/ 0 60000 65536"/>
                      <a:gd name="T11" fmla="*/ 0 60000 65536"/>
                      <a:gd name="T12" fmla="*/ 0 60000 65536"/>
                      <a:gd name="T13" fmla="*/ 0 60000 65536"/>
                      <a:gd name="T14" fmla="*/ 0 60000 65536"/>
                      <a:gd name="T15" fmla="*/ 0 w 260"/>
                      <a:gd name="T16" fmla="*/ 0 h 33"/>
                      <a:gd name="T17" fmla="*/ 260 w 260"/>
                      <a:gd name="T18" fmla="*/ 33 h 33"/>
                    </a:gdLst>
                    <a:ahLst/>
                    <a:cxnLst>
                      <a:cxn ang="T10">
                        <a:pos x="T0" y="T1"/>
                      </a:cxn>
                      <a:cxn ang="T11">
                        <a:pos x="T2" y="T3"/>
                      </a:cxn>
                      <a:cxn ang="T12">
                        <a:pos x="T4" y="T5"/>
                      </a:cxn>
                      <a:cxn ang="T13">
                        <a:pos x="T6" y="T7"/>
                      </a:cxn>
                      <a:cxn ang="T14">
                        <a:pos x="T8" y="T9"/>
                      </a:cxn>
                    </a:cxnLst>
                    <a:rect l="T15" t="T16" r="T17" b="T18"/>
                    <a:pathLst>
                      <a:path w="260" h="33">
                        <a:moveTo>
                          <a:pt x="259" y="32"/>
                        </a:moveTo>
                        <a:lnTo>
                          <a:pt x="0" y="32"/>
                        </a:lnTo>
                        <a:lnTo>
                          <a:pt x="0" y="0"/>
                        </a:lnTo>
                        <a:lnTo>
                          <a:pt x="259" y="0"/>
                        </a:lnTo>
                        <a:lnTo>
                          <a:pt x="259" y="32"/>
                        </a:lnTo>
                      </a:path>
                    </a:pathLst>
                  </a:custGeom>
                  <a:solidFill>
                    <a:srgbClr val="9E9898"/>
                  </a:solidFill>
                  <a:ln w="9525" cap="rnd">
                    <a:noFill/>
                    <a:round/>
                  </a:ln>
                </p:spPr>
                <p:txBody>
                  <a:bodyPr wrap="none" lIns="98624" tIns="49313" rIns="98624" bIns="49313">
                    <a:spAutoFit/>
                  </a:bodyPr>
                  <a:lstStyle/>
                  <a:p>
                    <a:endParaRPr lang="zh-CN" altLang="en-US"/>
                  </a:p>
                </p:txBody>
              </p:sp>
              <p:sp>
                <p:nvSpPr>
                  <p:cNvPr id="9390" name="Freeform 347"/>
                  <p:cNvSpPr/>
                  <p:nvPr/>
                </p:nvSpPr>
                <p:spPr bwMode="auto">
                  <a:xfrm>
                    <a:off x="4091" y="2537"/>
                    <a:ext cx="173" cy="49"/>
                  </a:xfrm>
                  <a:custGeom>
                    <a:avLst/>
                    <a:gdLst>
                      <a:gd name="T0" fmla="*/ 0 w 173"/>
                      <a:gd name="T1" fmla="*/ 0 h 49"/>
                      <a:gd name="T2" fmla="*/ 0 w 173"/>
                      <a:gd name="T3" fmla="*/ 12 h 49"/>
                      <a:gd name="T4" fmla="*/ 120 w 173"/>
                      <a:gd name="T5" fmla="*/ 12 h 49"/>
                      <a:gd name="T6" fmla="*/ 120 w 173"/>
                      <a:gd name="T7" fmla="*/ 48 h 49"/>
                      <a:gd name="T8" fmla="*/ 172 w 173"/>
                      <a:gd name="T9" fmla="*/ 0 h 49"/>
                      <a:gd name="T10" fmla="*/ 0 w 173"/>
                      <a:gd name="T11" fmla="*/ 0 h 49"/>
                      <a:gd name="T12" fmla="*/ 0 60000 65536"/>
                      <a:gd name="T13" fmla="*/ 0 60000 65536"/>
                      <a:gd name="T14" fmla="*/ 0 60000 65536"/>
                      <a:gd name="T15" fmla="*/ 0 60000 65536"/>
                      <a:gd name="T16" fmla="*/ 0 60000 65536"/>
                      <a:gd name="T17" fmla="*/ 0 60000 65536"/>
                      <a:gd name="T18" fmla="*/ 0 w 173"/>
                      <a:gd name="T19" fmla="*/ 0 h 49"/>
                      <a:gd name="T20" fmla="*/ 173 w 173"/>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173" h="49">
                        <a:moveTo>
                          <a:pt x="0" y="0"/>
                        </a:moveTo>
                        <a:lnTo>
                          <a:pt x="0" y="12"/>
                        </a:lnTo>
                        <a:lnTo>
                          <a:pt x="120" y="12"/>
                        </a:lnTo>
                        <a:lnTo>
                          <a:pt x="120" y="48"/>
                        </a:lnTo>
                        <a:lnTo>
                          <a:pt x="172" y="0"/>
                        </a:lnTo>
                        <a:lnTo>
                          <a:pt x="0" y="0"/>
                        </a:lnTo>
                      </a:path>
                    </a:pathLst>
                  </a:custGeom>
                  <a:solidFill>
                    <a:srgbClr val="6B645F"/>
                  </a:solidFill>
                  <a:ln w="9525" cap="rnd">
                    <a:noFill/>
                    <a:round/>
                  </a:ln>
                </p:spPr>
                <p:txBody>
                  <a:bodyPr wrap="none" lIns="98624" tIns="49313" rIns="98624" bIns="49313">
                    <a:spAutoFit/>
                  </a:bodyPr>
                  <a:lstStyle/>
                  <a:p>
                    <a:endParaRPr lang="zh-CN" altLang="en-US"/>
                  </a:p>
                </p:txBody>
              </p:sp>
              <p:sp>
                <p:nvSpPr>
                  <p:cNvPr id="9391" name="Freeform 348"/>
                  <p:cNvSpPr/>
                  <p:nvPr/>
                </p:nvSpPr>
                <p:spPr bwMode="auto">
                  <a:xfrm>
                    <a:off x="4363" y="2646"/>
                    <a:ext cx="70" cy="90"/>
                  </a:xfrm>
                  <a:custGeom>
                    <a:avLst/>
                    <a:gdLst>
                      <a:gd name="T0" fmla="*/ 0 w 70"/>
                      <a:gd name="T1" fmla="*/ 89 h 90"/>
                      <a:gd name="T2" fmla="*/ 0 w 70"/>
                      <a:gd name="T3" fmla="*/ 58 h 90"/>
                      <a:gd name="T4" fmla="*/ 69 w 70"/>
                      <a:gd name="T5" fmla="*/ 0 h 90"/>
                      <a:gd name="T6" fmla="*/ 69 w 70"/>
                      <a:gd name="T7" fmla="*/ 30 h 90"/>
                      <a:gd name="T8" fmla="*/ 0 w 70"/>
                      <a:gd name="T9" fmla="*/ 89 h 90"/>
                      <a:gd name="T10" fmla="*/ 0 60000 65536"/>
                      <a:gd name="T11" fmla="*/ 0 60000 65536"/>
                      <a:gd name="T12" fmla="*/ 0 60000 65536"/>
                      <a:gd name="T13" fmla="*/ 0 60000 65536"/>
                      <a:gd name="T14" fmla="*/ 0 60000 65536"/>
                      <a:gd name="T15" fmla="*/ 0 w 70"/>
                      <a:gd name="T16" fmla="*/ 0 h 90"/>
                      <a:gd name="T17" fmla="*/ 70 w 70"/>
                      <a:gd name="T18" fmla="*/ 90 h 90"/>
                    </a:gdLst>
                    <a:ahLst/>
                    <a:cxnLst>
                      <a:cxn ang="T10">
                        <a:pos x="T0" y="T1"/>
                      </a:cxn>
                      <a:cxn ang="T11">
                        <a:pos x="T2" y="T3"/>
                      </a:cxn>
                      <a:cxn ang="T12">
                        <a:pos x="T4" y="T5"/>
                      </a:cxn>
                      <a:cxn ang="T13">
                        <a:pos x="T6" y="T7"/>
                      </a:cxn>
                      <a:cxn ang="T14">
                        <a:pos x="T8" y="T9"/>
                      </a:cxn>
                    </a:cxnLst>
                    <a:rect l="T15" t="T16" r="T17" b="T18"/>
                    <a:pathLst>
                      <a:path w="70" h="90">
                        <a:moveTo>
                          <a:pt x="0" y="89"/>
                        </a:moveTo>
                        <a:lnTo>
                          <a:pt x="0" y="58"/>
                        </a:lnTo>
                        <a:lnTo>
                          <a:pt x="69" y="0"/>
                        </a:lnTo>
                        <a:lnTo>
                          <a:pt x="69" y="30"/>
                        </a:lnTo>
                        <a:lnTo>
                          <a:pt x="0" y="89"/>
                        </a:lnTo>
                      </a:path>
                    </a:pathLst>
                  </a:custGeom>
                  <a:solidFill>
                    <a:srgbClr val="6B645F"/>
                  </a:solidFill>
                  <a:ln w="9525" cap="rnd">
                    <a:noFill/>
                    <a:round/>
                  </a:ln>
                </p:spPr>
                <p:txBody>
                  <a:bodyPr wrap="none" lIns="98624" tIns="49313" rIns="98624" bIns="49313">
                    <a:spAutoFit/>
                  </a:bodyPr>
                  <a:lstStyle/>
                  <a:p>
                    <a:endParaRPr lang="zh-CN" altLang="en-US"/>
                  </a:p>
                </p:txBody>
              </p:sp>
              <p:sp>
                <p:nvSpPr>
                  <p:cNvPr id="9392" name="Freeform 349"/>
                  <p:cNvSpPr/>
                  <p:nvPr/>
                </p:nvSpPr>
                <p:spPr bwMode="auto">
                  <a:xfrm>
                    <a:off x="4400" y="2113"/>
                    <a:ext cx="57" cy="427"/>
                  </a:xfrm>
                  <a:custGeom>
                    <a:avLst/>
                    <a:gdLst>
                      <a:gd name="T0" fmla="*/ 0 w 57"/>
                      <a:gd name="T1" fmla="*/ 51 h 427"/>
                      <a:gd name="T2" fmla="*/ 56 w 57"/>
                      <a:gd name="T3" fmla="*/ 0 h 427"/>
                      <a:gd name="T4" fmla="*/ 56 w 57"/>
                      <a:gd name="T5" fmla="*/ 374 h 427"/>
                      <a:gd name="T6" fmla="*/ 0 w 57"/>
                      <a:gd name="T7" fmla="*/ 426 h 427"/>
                      <a:gd name="T8" fmla="*/ 0 w 57"/>
                      <a:gd name="T9" fmla="*/ 51 h 427"/>
                      <a:gd name="T10" fmla="*/ 0 60000 65536"/>
                      <a:gd name="T11" fmla="*/ 0 60000 65536"/>
                      <a:gd name="T12" fmla="*/ 0 60000 65536"/>
                      <a:gd name="T13" fmla="*/ 0 60000 65536"/>
                      <a:gd name="T14" fmla="*/ 0 60000 65536"/>
                      <a:gd name="T15" fmla="*/ 0 w 57"/>
                      <a:gd name="T16" fmla="*/ 0 h 427"/>
                      <a:gd name="T17" fmla="*/ 57 w 57"/>
                      <a:gd name="T18" fmla="*/ 427 h 427"/>
                    </a:gdLst>
                    <a:ahLst/>
                    <a:cxnLst>
                      <a:cxn ang="T10">
                        <a:pos x="T0" y="T1"/>
                      </a:cxn>
                      <a:cxn ang="T11">
                        <a:pos x="T2" y="T3"/>
                      </a:cxn>
                      <a:cxn ang="T12">
                        <a:pos x="T4" y="T5"/>
                      </a:cxn>
                      <a:cxn ang="T13">
                        <a:pos x="T6" y="T7"/>
                      </a:cxn>
                      <a:cxn ang="T14">
                        <a:pos x="T8" y="T9"/>
                      </a:cxn>
                    </a:cxnLst>
                    <a:rect l="T15" t="T16" r="T17" b="T18"/>
                    <a:pathLst>
                      <a:path w="57" h="427">
                        <a:moveTo>
                          <a:pt x="0" y="51"/>
                        </a:moveTo>
                        <a:lnTo>
                          <a:pt x="56" y="0"/>
                        </a:lnTo>
                        <a:lnTo>
                          <a:pt x="56" y="374"/>
                        </a:lnTo>
                        <a:lnTo>
                          <a:pt x="0" y="426"/>
                        </a:lnTo>
                        <a:lnTo>
                          <a:pt x="0" y="51"/>
                        </a:lnTo>
                      </a:path>
                    </a:pathLst>
                  </a:custGeom>
                  <a:solidFill>
                    <a:srgbClr val="6B645F"/>
                  </a:solidFill>
                  <a:ln w="9525" cap="rnd">
                    <a:noFill/>
                    <a:round/>
                  </a:ln>
                </p:spPr>
                <p:txBody>
                  <a:bodyPr wrap="none" lIns="98624" tIns="49313" rIns="98624" bIns="49313">
                    <a:spAutoFit/>
                  </a:bodyPr>
                  <a:lstStyle/>
                  <a:p>
                    <a:endParaRPr lang="zh-CN" altLang="en-US"/>
                  </a:p>
                </p:txBody>
              </p:sp>
              <p:sp>
                <p:nvSpPr>
                  <p:cNvPr id="9393" name="Freeform 350"/>
                  <p:cNvSpPr/>
                  <p:nvPr/>
                </p:nvSpPr>
                <p:spPr bwMode="auto">
                  <a:xfrm>
                    <a:off x="3892" y="2114"/>
                    <a:ext cx="563" cy="49"/>
                  </a:xfrm>
                  <a:custGeom>
                    <a:avLst/>
                    <a:gdLst>
                      <a:gd name="T0" fmla="*/ 0 w 563"/>
                      <a:gd name="T1" fmla="*/ 48 h 49"/>
                      <a:gd name="T2" fmla="*/ 55 w 563"/>
                      <a:gd name="T3" fmla="*/ 0 h 49"/>
                      <a:gd name="T4" fmla="*/ 562 w 563"/>
                      <a:gd name="T5" fmla="*/ 0 h 49"/>
                      <a:gd name="T6" fmla="*/ 506 w 563"/>
                      <a:gd name="T7" fmla="*/ 48 h 49"/>
                      <a:gd name="T8" fmla="*/ 0 w 563"/>
                      <a:gd name="T9" fmla="*/ 48 h 49"/>
                      <a:gd name="T10" fmla="*/ 0 60000 65536"/>
                      <a:gd name="T11" fmla="*/ 0 60000 65536"/>
                      <a:gd name="T12" fmla="*/ 0 60000 65536"/>
                      <a:gd name="T13" fmla="*/ 0 60000 65536"/>
                      <a:gd name="T14" fmla="*/ 0 60000 65536"/>
                      <a:gd name="T15" fmla="*/ 0 w 563"/>
                      <a:gd name="T16" fmla="*/ 0 h 49"/>
                      <a:gd name="T17" fmla="*/ 563 w 563"/>
                      <a:gd name="T18" fmla="*/ 49 h 49"/>
                    </a:gdLst>
                    <a:ahLst/>
                    <a:cxnLst>
                      <a:cxn ang="T10">
                        <a:pos x="T0" y="T1"/>
                      </a:cxn>
                      <a:cxn ang="T11">
                        <a:pos x="T2" y="T3"/>
                      </a:cxn>
                      <a:cxn ang="T12">
                        <a:pos x="T4" y="T5"/>
                      </a:cxn>
                      <a:cxn ang="T13">
                        <a:pos x="T6" y="T7"/>
                      </a:cxn>
                      <a:cxn ang="T14">
                        <a:pos x="T8" y="T9"/>
                      </a:cxn>
                    </a:cxnLst>
                    <a:rect l="T15" t="T16" r="T17" b="T18"/>
                    <a:pathLst>
                      <a:path w="563" h="49">
                        <a:moveTo>
                          <a:pt x="0" y="48"/>
                        </a:moveTo>
                        <a:lnTo>
                          <a:pt x="55" y="0"/>
                        </a:lnTo>
                        <a:lnTo>
                          <a:pt x="562" y="0"/>
                        </a:lnTo>
                        <a:lnTo>
                          <a:pt x="506" y="48"/>
                        </a:lnTo>
                        <a:lnTo>
                          <a:pt x="0" y="48"/>
                        </a:lnTo>
                      </a:path>
                    </a:pathLst>
                  </a:custGeom>
                  <a:solidFill>
                    <a:srgbClr val="DADADA"/>
                  </a:solidFill>
                  <a:ln w="9525" cap="rnd">
                    <a:noFill/>
                    <a:round/>
                  </a:ln>
                </p:spPr>
                <p:txBody>
                  <a:bodyPr wrap="none" lIns="98624" tIns="49313" rIns="98624" bIns="49313">
                    <a:spAutoFit/>
                  </a:bodyPr>
                  <a:lstStyle/>
                  <a:p>
                    <a:endParaRPr lang="zh-CN" altLang="en-US"/>
                  </a:p>
                </p:txBody>
              </p:sp>
              <p:sp>
                <p:nvSpPr>
                  <p:cNvPr id="9394" name="Freeform 351"/>
                  <p:cNvSpPr/>
                  <p:nvPr/>
                </p:nvSpPr>
                <p:spPr bwMode="auto">
                  <a:xfrm>
                    <a:off x="3748" y="2702"/>
                    <a:ext cx="616" cy="34"/>
                  </a:xfrm>
                  <a:custGeom>
                    <a:avLst/>
                    <a:gdLst>
                      <a:gd name="T0" fmla="*/ 615 w 616"/>
                      <a:gd name="T1" fmla="*/ 33 h 34"/>
                      <a:gd name="T2" fmla="*/ 0 w 616"/>
                      <a:gd name="T3" fmla="*/ 33 h 34"/>
                      <a:gd name="T4" fmla="*/ 0 w 616"/>
                      <a:gd name="T5" fmla="*/ 0 h 34"/>
                      <a:gd name="T6" fmla="*/ 615 w 616"/>
                      <a:gd name="T7" fmla="*/ 0 h 34"/>
                      <a:gd name="T8" fmla="*/ 615 w 616"/>
                      <a:gd name="T9" fmla="*/ 33 h 34"/>
                      <a:gd name="T10" fmla="*/ 0 60000 65536"/>
                      <a:gd name="T11" fmla="*/ 0 60000 65536"/>
                      <a:gd name="T12" fmla="*/ 0 60000 65536"/>
                      <a:gd name="T13" fmla="*/ 0 60000 65536"/>
                      <a:gd name="T14" fmla="*/ 0 60000 65536"/>
                      <a:gd name="T15" fmla="*/ 0 w 616"/>
                      <a:gd name="T16" fmla="*/ 0 h 34"/>
                      <a:gd name="T17" fmla="*/ 616 w 616"/>
                      <a:gd name="T18" fmla="*/ 34 h 34"/>
                    </a:gdLst>
                    <a:ahLst/>
                    <a:cxnLst>
                      <a:cxn ang="T10">
                        <a:pos x="T0" y="T1"/>
                      </a:cxn>
                      <a:cxn ang="T11">
                        <a:pos x="T2" y="T3"/>
                      </a:cxn>
                      <a:cxn ang="T12">
                        <a:pos x="T4" y="T5"/>
                      </a:cxn>
                      <a:cxn ang="T13">
                        <a:pos x="T6" y="T7"/>
                      </a:cxn>
                      <a:cxn ang="T14">
                        <a:pos x="T8" y="T9"/>
                      </a:cxn>
                    </a:cxnLst>
                    <a:rect l="T15" t="T16" r="T17" b="T18"/>
                    <a:pathLst>
                      <a:path w="616" h="34">
                        <a:moveTo>
                          <a:pt x="615" y="33"/>
                        </a:moveTo>
                        <a:lnTo>
                          <a:pt x="0" y="33"/>
                        </a:lnTo>
                        <a:lnTo>
                          <a:pt x="0" y="0"/>
                        </a:lnTo>
                        <a:lnTo>
                          <a:pt x="615" y="0"/>
                        </a:lnTo>
                        <a:lnTo>
                          <a:pt x="615" y="33"/>
                        </a:lnTo>
                      </a:path>
                    </a:pathLst>
                  </a:custGeom>
                  <a:solidFill>
                    <a:srgbClr val="9E9898"/>
                  </a:solidFill>
                  <a:ln w="9525" cap="rnd">
                    <a:noFill/>
                    <a:round/>
                  </a:ln>
                </p:spPr>
                <p:txBody>
                  <a:bodyPr wrap="none" lIns="98624" tIns="49313" rIns="98624" bIns="49313">
                    <a:spAutoFit/>
                  </a:bodyPr>
                  <a:lstStyle/>
                  <a:p>
                    <a:endParaRPr lang="zh-CN" altLang="en-US"/>
                  </a:p>
                </p:txBody>
              </p:sp>
              <p:sp>
                <p:nvSpPr>
                  <p:cNvPr id="9395" name="Freeform 352"/>
                  <p:cNvSpPr/>
                  <p:nvPr/>
                </p:nvSpPr>
                <p:spPr bwMode="auto">
                  <a:xfrm>
                    <a:off x="3747" y="2645"/>
                    <a:ext cx="686" cy="58"/>
                  </a:xfrm>
                  <a:custGeom>
                    <a:avLst/>
                    <a:gdLst>
                      <a:gd name="T0" fmla="*/ 685 w 686"/>
                      <a:gd name="T1" fmla="*/ 0 h 58"/>
                      <a:gd name="T2" fmla="*/ 617 w 686"/>
                      <a:gd name="T3" fmla="*/ 57 h 58"/>
                      <a:gd name="T4" fmla="*/ 0 w 686"/>
                      <a:gd name="T5" fmla="*/ 57 h 58"/>
                      <a:gd name="T6" fmla="*/ 64 w 686"/>
                      <a:gd name="T7" fmla="*/ 0 h 58"/>
                      <a:gd name="T8" fmla="*/ 685 w 686"/>
                      <a:gd name="T9" fmla="*/ 0 h 58"/>
                      <a:gd name="T10" fmla="*/ 0 60000 65536"/>
                      <a:gd name="T11" fmla="*/ 0 60000 65536"/>
                      <a:gd name="T12" fmla="*/ 0 60000 65536"/>
                      <a:gd name="T13" fmla="*/ 0 60000 65536"/>
                      <a:gd name="T14" fmla="*/ 0 60000 65536"/>
                      <a:gd name="T15" fmla="*/ 0 w 686"/>
                      <a:gd name="T16" fmla="*/ 0 h 58"/>
                      <a:gd name="T17" fmla="*/ 686 w 686"/>
                      <a:gd name="T18" fmla="*/ 58 h 58"/>
                    </a:gdLst>
                    <a:ahLst/>
                    <a:cxnLst>
                      <a:cxn ang="T10">
                        <a:pos x="T0" y="T1"/>
                      </a:cxn>
                      <a:cxn ang="T11">
                        <a:pos x="T2" y="T3"/>
                      </a:cxn>
                      <a:cxn ang="T12">
                        <a:pos x="T4" y="T5"/>
                      </a:cxn>
                      <a:cxn ang="T13">
                        <a:pos x="T6" y="T7"/>
                      </a:cxn>
                      <a:cxn ang="T14">
                        <a:pos x="T8" y="T9"/>
                      </a:cxn>
                    </a:cxnLst>
                    <a:rect l="T15" t="T16" r="T17" b="T18"/>
                    <a:pathLst>
                      <a:path w="686" h="58">
                        <a:moveTo>
                          <a:pt x="685" y="0"/>
                        </a:moveTo>
                        <a:lnTo>
                          <a:pt x="617" y="57"/>
                        </a:lnTo>
                        <a:lnTo>
                          <a:pt x="0" y="57"/>
                        </a:lnTo>
                        <a:lnTo>
                          <a:pt x="64" y="0"/>
                        </a:lnTo>
                        <a:lnTo>
                          <a:pt x="685" y="0"/>
                        </a:lnTo>
                      </a:path>
                    </a:pathLst>
                  </a:custGeom>
                  <a:solidFill>
                    <a:srgbClr val="DADADA"/>
                  </a:solidFill>
                  <a:ln w="9525" cap="rnd">
                    <a:noFill/>
                    <a:round/>
                  </a:ln>
                </p:spPr>
                <p:txBody>
                  <a:bodyPr wrap="none" lIns="98624" tIns="49313" rIns="98624" bIns="49313">
                    <a:spAutoFit/>
                  </a:bodyPr>
                  <a:lstStyle/>
                  <a:p>
                    <a:endParaRPr lang="zh-CN" altLang="en-US"/>
                  </a:p>
                </p:txBody>
              </p:sp>
              <p:grpSp>
                <p:nvGrpSpPr>
                  <p:cNvPr id="248070" name="Group 353"/>
                  <p:cNvGrpSpPr/>
                  <p:nvPr/>
                </p:nvGrpSpPr>
                <p:grpSpPr bwMode="auto">
                  <a:xfrm>
                    <a:off x="3785" y="2657"/>
                    <a:ext cx="604" cy="37"/>
                    <a:chOff x="3785" y="2657"/>
                    <a:chExt cx="604" cy="37"/>
                  </a:xfrm>
                </p:grpSpPr>
                <p:sp>
                  <p:nvSpPr>
                    <p:cNvPr id="9400" name="Line 354"/>
                    <p:cNvSpPr>
                      <a:spLocks noChangeShapeType="1"/>
                    </p:cNvSpPr>
                    <p:nvPr/>
                  </p:nvSpPr>
                  <p:spPr bwMode="auto">
                    <a:xfrm>
                      <a:off x="3830" y="2657"/>
                      <a:ext cx="559" cy="0"/>
                    </a:xfrm>
                    <a:prstGeom prst="line">
                      <a:avLst/>
                    </a:prstGeom>
                    <a:noFill/>
                    <a:ln w="12699">
                      <a:solidFill>
                        <a:srgbClr val="6B645F"/>
                      </a:solidFill>
                      <a:round/>
                      <a:headEnd type="none" w="sm" len="sm"/>
                      <a:tailEnd type="none" w="sm" len="sm"/>
                    </a:ln>
                  </p:spPr>
                  <p:txBody>
                    <a:bodyPr wrap="none" lIns="98624" tIns="49313" rIns="98624" bIns="49313">
                      <a:spAutoFit/>
                    </a:bodyPr>
                    <a:lstStyle/>
                    <a:p>
                      <a:endParaRPr lang="zh-CN" altLang="en-US"/>
                    </a:p>
                  </p:txBody>
                </p:sp>
                <p:sp>
                  <p:nvSpPr>
                    <p:cNvPr id="9401" name="Line 355"/>
                    <p:cNvSpPr>
                      <a:spLocks noChangeShapeType="1"/>
                    </p:cNvSpPr>
                    <p:nvPr/>
                  </p:nvSpPr>
                  <p:spPr bwMode="auto">
                    <a:xfrm>
                      <a:off x="3816" y="2669"/>
                      <a:ext cx="560" cy="0"/>
                    </a:xfrm>
                    <a:prstGeom prst="line">
                      <a:avLst/>
                    </a:prstGeom>
                    <a:noFill/>
                    <a:ln w="12699">
                      <a:solidFill>
                        <a:srgbClr val="6B645F"/>
                      </a:solidFill>
                      <a:round/>
                      <a:headEnd type="none" w="sm" len="sm"/>
                      <a:tailEnd type="none" w="sm" len="sm"/>
                    </a:ln>
                  </p:spPr>
                  <p:txBody>
                    <a:bodyPr wrap="none" lIns="98624" tIns="49313" rIns="98624" bIns="49313">
                      <a:spAutoFit/>
                    </a:bodyPr>
                    <a:lstStyle/>
                    <a:p>
                      <a:endParaRPr lang="zh-CN" altLang="en-US"/>
                    </a:p>
                  </p:txBody>
                </p:sp>
                <p:sp>
                  <p:nvSpPr>
                    <p:cNvPr id="9402" name="Line 356"/>
                    <p:cNvSpPr>
                      <a:spLocks noChangeShapeType="1"/>
                    </p:cNvSpPr>
                    <p:nvPr/>
                  </p:nvSpPr>
                  <p:spPr bwMode="auto">
                    <a:xfrm>
                      <a:off x="3803" y="2682"/>
                      <a:ext cx="560" cy="0"/>
                    </a:xfrm>
                    <a:prstGeom prst="line">
                      <a:avLst/>
                    </a:prstGeom>
                    <a:noFill/>
                    <a:ln w="12699">
                      <a:solidFill>
                        <a:srgbClr val="6B645F"/>
                      </a:solidFill>
                      <a:round/>
                      <a:headEnd type="none" w="sm" len="sm"/>
                      <a:tailEnd type="none" w="sm" len="sm"/>
                    </a:ln>
                  </p:spPr>
                  <p:txBody>
                    <a:bodyPr wrap="none" lIns="98624" tIns="49313" rIns="98624" bIns="49313">
                      <a:spAutoFit/>
                    </a:bodyPr>
                    <a:lstStyle/>
                    <a:p>
                      <a:endParaRPr lang="zh-CN" altLang="en-US"/>
                    </a:p>
                  </p:txBody>
                </p:sp>
                <p:sp>
                  <p:nvSpPr>
                    <p:cNvPr id="9403" name="Line 357"/>
                    <p:cNvSpPr>
                      <a:spLocks noChangeShapeType="1"/>
                    </p:cNvSpPr>
                    <p:nvPr/>
                  </p:nvSpPr>
                  <p:spPr bwMode="auto">
                    <a:xfrm>
                      <a:off x="3785" y="2694"/>
                      <a:ext cx="561" cy="0"/>
                    </a:xfrm>
                    <a:prstGeom prst="line">
                      <a:avLst/>
                    </a:prstGeom>
                    <a:noFill/>
                    <a:ln w="12699">
                      <a:solidFill>
                        <a:srgbClr val="6B645F"/>
                      </a:solidFill>
                      <a:round/>
                      <a:headEnd type="none" w="sm" len="sm"/>
                      <a:tailEnd type="none" w="sm" len="sm"/>
                    </a:ln>
                  </p:spPr>
                  <p:txBody>
                    <a:bodyPr wrap="none" lIns="98624" tIns="49313" rIns="98624" bIns="49313">
                      <a:spAutoFit/>
                    </a:bodyPr>
                    <a:lstStyle/>
                    <a:p>
                      <a:endParaRPr lang="zh-CN" altLang="en-US"/>
                    </a:p>
                  </p:txBody>
                </p:sp>
              </p:grpSp>
              <p:sp>
                <p:nvSpPr>
                  <p:cNvPr id="9397" name="Rectangle 358"/>
                  <p:cNvSpPr>
                    <a:spLocks noChangeArrowheads="1"/>
                  </p:cNvSpPr>
                  <p:nvPr/>
                </p:nvSpPr>
                <p:spPr bwMode="auto">
                  <a:xfrm>
                    <a:off x="3892" y="2162"/>
                    <a:ext cx="508" cy="377"/>
                  </a:xfrm>
                  <a:prstGeom prst="rect">
                    <a:avLst/>
                  </a:prstGeom>
                  <a:solidFill>
                    <a:srgbClr val="9E9898"/>
                  </a:solidFill>
                  <a:ln w="9525">
                    <a:noFill/>
                    <a:miter lim="800000"/>
                  </a:ln>
                </p:spPr>
                <p:txBody>
                  <a:bodyPr wrap="none" lIns="98624" tIns="49313" rIns="98624" bIns="49313">
                    <a:spAutoFit/>
                  </a:bodyPr>
                  <a:lstStyle/>
                  <a:p>
                    <a:endParaRPr lang="zh-CN" altLang="en-US"/>
                  </a:p>
                </p:txBody>
              </p:sp>
              <p:sp>
                <p:nvSpPr>
                  <p:cNvPr id="9398" name="Freeform 359"/>
                  <p:cNvSpPr/>
                  <p:nvPr/>
                </p:nvSpPr>
                <p:spPr bwMode="auto">
                  <a:xfrm>
                    <a:off x="3947" y="2210"/>
                    <a:ext cx="400" cy="274"/>
                  </a:xfrm>
                  <a:custGeom>
                    <a:avLst/>
                    <a:gdLst>
                      <a:gd name="T0" fmla="*/ 399 w 400"/>
                      <a:gd name="T1" fmla="*/ 273 h 274"/>
                      <a:gd name="T2" fmla="*/ 0 w 400"/>
                      <a:gd name="T3" fmla="*/ 273 h 274"/>
                      <a:gd name="T4" fmla="*/ 0 w 400"/>
                      <a:gd name="T5" fmla="*/ 0 h 274"/>
                      <a:gd name="T6" fmla="*/ 399 w 400"/>
                      <a:gd name="T7" fmla="*/ 0 h 274"/>
                      <a:gd name="T8" fmla="*/ 399 w 400"/>
                      <a:gd name="T9" fmla="*/ 273 h 274"/>
                      <a:gd name="T10" fmla="*/ 0 60000 65536"/>
                      <a:gd name="T11" fmla="*/ 0 60000 65536"/>
                      <a:gd name="T12" fmla="*/ 0 60000 65536"/>
                      <a:gd name="T13" fmla="*/ 0 60000 65536"/>
                      <a:gd name="T14" fmla="*/ 0 60000 65536"/>
                      <a:gd name="T15" fmla="*/ 0 w 400"/>
                      <a:gd name="T16" fmla="*/ 0 h 274"/>
                      <a:gd name="T17" fmla="*/ 400 w 400"/>
                      <a:gd name="T18" fmla="*/ 274 h 274"/>
                    </a:gdLst>
                    <a:ahLst/>
                    <a:cxnLst>
                      <a:cxn ang="T10">
                        <a:pos x="T0" y="T1"/>
                      </a:cxn>
                      <a:cxn ang="T11">
                        <a:pos x="T2" y="T3"/>
                      </a:cxn>
                      <a:cxn ang="T12">
                        <a:pos x="T4" y="T5"/>
                      </a:cxn>
                      <a:cxn ang="T13">
                        <a:pos x="T6" y="T7"/>
                      </a:cxn>
                      <a:cxn ang="T14">
                        <a:pos x="T8" y="T9"/>
                      </a:cxn>
                    </a:cxnLst>
                    <a:rect l="T15" t="T16" r="T17" b="T18"/>
                    <a:pathLst>
                      <a:path w="400" h="274">
                        <a:moveTo>
                          <a:pt x="399" y="273"/>
                        </a:moveTo>
                        <a:lnTo>
                          <a:pt x="0" y="273"/>
                        </a:lnTo>
                        <a:lnTo>
                          <a:pt x="0" y="0"/>
                        </a:lnTo>
                        <a:lnTo>
                          <a:pt x="399" y="0"/>
                        </a:lnTo>
                        <a:lnTo>
                          <a:pt x="399" y="273"/>
                        </a:lnTo>
                      </a:path>
                    </a:pathLst>
                  </a:custGeom>
                  <a:solidFill>
                    <a:srgbClr val="DADADA"/>
                  </a:solidFill>
                  <a:ln w="9525" cap="rnd">
                    <a:noFill/>
                    <a:round/>
                  </a:ln>
                </p:spPr>
                <p:txBody>
                  <a:bodyPr wrap="none" lIns="98624" tIns="49313" rIns="98624" bIns="49313">
                    <a:spAutoFit/>
                  </a:bodyPr>
                  <a:lstStyle/>
                  <a:p>
                    <a:endParaRPr lang="zh-CN" altLang="en-US"/>
                  </a:p>
                </p:txBody>
              </p:sp>
              <p:sp>
                <p:nvSpPr>
                  <p:cNvPr id="9399" name="Freeform 360"/>
                  <p:cNvSpPr/>
                  <p:nvPr/>
                </p:nvSpPr>
                <p:spPr bwMode="auto">
                  <a:xfrm>
                    <a:off x="3947" y="2210"/>
                    <a:ext cx="400" cy="274"/>
                  </a:xfrm>
                  <a:custGeom>
                    <a:avLst/>
                    <a:gdLst>
                      <a:gd name="T0" fmla="*/ 399 w 400"/>
                      <a:gd name="T1" fmla="*/ 0 h 274"/>
                      <a:gd name="T2" fmla="*/ 0 w 400"/>
                      <a:gd name="T3" fmla="*/ 0 h 274"/>
                      <a:gd name="T4" fmla="*/ 0 w 400"/>
                      <a:gd name="T5" fmla="*/ 273 h 274"/>
                      <a:gd name="T6" fmla="*/ 95 w 400"/>
                      <a:gd name="T7" fmla="*/ 185 h 274"/>
                      <a:gd name="T8" fmla="*/ 289 w 400"/>
                      <a:gd name="T9" fmla="*/ 95 h 274"/>
                      <a:gd name="T10" fmla="*/ 399 w 400"/>
                      <a:gd name="T11" fmla="*/ 0 h 274"/>
                      <a:gd name="T12" fmla="*/ 0 60000 65536"/>
                      <a:gd name="T13" fmla="*/ 0 60000 65536"/>
                      <a:gd name="T14" fmla="*/ 0 60000 65536"/>
                      <a:gd name="T15" fmla="*/ 0 60000 65536"/>
                      <a:gd name="T16" fmla="*/ 0 60000 65536"/>
                      <a:gd name="T17" fmla="*/ 0 60000 65536"/>
                      <a:gd name="T18" fmla="*/ 0 w 400"/>
                      <a:gd name="T19" fmla="*/ 0 h 274"/>
                      <a:gd name="T20" fmla="*/ 400 w 400"/>
                      <a:gd name="T21" fmla="*/ 274 h 274"/>
                    </a:gdLst>
                    <a:ahLst/>
                    <a:cxnLst>
                      <a:cxn ang="T12">
                        <a:pos x="T0" y="T1"/>
                      </a:cxn>
                      <a:cxn ang="T13">
                        <a:pos x="T2" y="T3"/>
                      </a:cxn>
                      <a:cxn ang="T14">
                        <a:pos x="T4" y="T5"/>
                      </a:cxn>
                      <a:cxn ang="T15">
                        <a:pos x="T6" y="T7"/>
                      </a:cxn>
                      <a:cxn ang="T16">
                        <a:pos x="T8" y="T9"/>
                      </a:cxn>
                      <a:cxn ang="T17">
                        <a:pos x="T10" y="T11"/>
                      </a:cxn>
                    </a:cxnLst>
                    <a:rect l="T18" t="T19" r="T20" b="T21"/>
                    <a:pathLst>
                      <a:path w="400" h="274">
                        <a:moveTo>
                          <a:pt x="399" y="0"/>
                        </a:moveTo>
                        <a:lnTo>
                          <a:pt x="0" y="0"/>
                        </a:lnTo>
                        <a:lnTo>
                          <a:pt x="0" y="273"/>
                        </a:lnTo>
                        <a:lnTo>
                          <a:pt x="95" y="185"/>
                        </a:lnTo>
                        <a:lnTo>
                          <a:pt x="289" y="95"/>
                        </a:lnTo>
                        <a:lnTo>
                          <a:pt x="399" y="0"/>
                        </a:lnTo>
                      </a:path>
                    </a:pathLst>
                  </a:custGeom>
                  <a:solidFill>
                    <a:srgbClr val="6B645F"/>
                  </a:solidFill>
                  <a:ln w="9525" cap="rnd">
                    <a:noFill/>
                    <a:round/>
                  </a:ln>
                </p:spPr>
                <p:txBody>
                  <a:bodyPr wrap="none" lIns="98624" tIns="49313" rIns="98624" bIns="49313">
                    <a:spAutoFit/>
                  </a:bodyPr>
                  <a:lstStyle/>
                  <a:p>
                    <a:endParaRPr lang="zh-CN" altLang="en-US"/>
                  </a:p>
                </p:txBody>
              </p:sp>
            </p:grpSp>
            <p:sp>
              <p:nvSpPr>
                <p:cNvPr id="9385" name="Freeform 361"/>
                <p:cNvSpPr/>
                <p:nvPr/>
              </p:nvSpPr>
              <p:spPr bwMode="auto">
                <a:xfrm>
                  <a:off x="3957" y="2224"/>
                  <a:ext cx="374" cy="245"/>
                </a:xfrm>
                <a:custGeom>
                  <a:avLst/>
                  <a:gdLst>
                    <a:gd name="T0" fmla="*/ 373 w 374"/>
                    <a:gd name="T1" fmla="*/ 244 h 245"/>
                    <a:gd name="T2" fmla="*/ 0 w 374"/>
                    <a:gd name="T3" fmla="*/ 244 h 245"/>
                    <a:gd name="T4" fmla="*/ 0 w 374"/>
                    <a:gd name="T5" fmla="*/ 0 h 245"/>
                    <a:gd name="T6" fmla="*/ 373 w 374"/>
                    <a:gd name="T7" fmla="*/ 0 h 245"/>
                    <a:gd name="T8" fmla="*/ 373 w 374"/>
                    <a:gd name="T9" fmla="*/ 244 h 245"/>
                    <a:gd name="T10" fmla="*/ 0 60000 65536"/>
                    <a:gd name="T11" fmla="*/ 0 60000 65536"/>
                    <a:gd name="T12" fmla="*/ 0 60000 65536"/>
                    <a:gd name="T13" fmla="*/ 0 60000 65536"/>
                    <a:gd name="T14" fmla="*/ 0 60000 65536"/>
                    <a:gd name="T15" fmla="*/ 0 w 374"/>
                    <a:gd name="T16" fmla="*/ 0 h 245"/>
                    <a:gd name="T17" fmla="*/ 374 w 374"/>
                    <a:gd name="T18" fmla="*/ 245 h 245"/>
                  </a:gdLst>
                  <a:ahLst/>
                  <a:cxnLst>
                    <a:cxn ang="T10">
                      <a:pos x="T0" y="T1"/>
                    </a:cxn>
                    <a:cxn ang="T11">
                      <a:pos x="T2" y="T3"/>
                    </a:cxn>
                    <a:cxn ang="T12">
                      <a:pos x="T4" y="T5"/>
                    </a:cxn>
                    <a:cxn ang="T13">
                      <a:pos x="T6" y="T7"/>
                    </a:cxn>
                    <a:cxn ang="T14">
                      <a:pos x="T8" y="T9"/>
                    </a:cxn>
                  </a:cxnLst>
                  <a:rect l="T15" t="T16" r="T17" b="T18"/>
                  <a:pathLst>
                    <a:path w="374" h="245">
                      <a:moveTo>
                        <a:pt x="373" y="244"/>
                      </a:moveTo>
                      <a:lnTo>
                        <a:pt x="0" y="244"/>
                      </a:lnTo>
                      <a:lnTo>
                        <a:pt x="0" y="0"/>
                      </a:lnTo>
                      <a:lnTo>
                        <a:pt x="373" y="0"/>
                      </a:lnTo>
                      <a:lnTo>
                        <a:pt x="373" y="244"/>
                      </a:lnTo>
                    </a:path>
                  </a:pathLst>
                </a:custGeom>
                <a:gradFill rotWithShape="0">
                  <a:gsLst>
                    <a:gs pos="0">
                      <a:srgbClr val="FC0128"/>
                    </a:gs>
                    <a:gs pos="100000">
                      <a:srgbClr val="650010"/>
                    </a:gs>
                  </a:gsLst>
                  <a:lin ang="2700000" scaled="1"/>
                </a:gradFill>
                <a:ln w="9525" cap="rnd">
                  <a:noFill/>
                  <a:round/>
                </a:ln>
              </p:spPr>
              <p:txBody>
                <a:bodyPr wrap="none" lIns="98624" tIns="49313" rIns="98624" bIns="49313">
                  <a:spAutoFit/>
                </a:bodyPr>
                <a:lstStyle/>
                <a:p>
                  <a:endParaRPr lang="zh-CN" altLang="en-US"/>
                </a:p>
              </p:txBody>
            </p:sp>
          </p:grpSp>
          <p:grpSp>
            <p:nvGrpSpPr>
              <p:cNvPr id="248071" name="Group 362"/>
              <p:cNvGrpSpPr/>
              <p:nvPr/>
            </p:nvGrpSpPr>
            <p:grpSpPr bwMode="auto">
              <a:xfrm>
                <a:off x="4030" y="2210"/>
                <a:ext cx="226" cy="220"/>
                <a:chOff x="4030" y="2210"/>
                <a:chExt cx="226" cy="220"/>
              </a:xfrm>
            </p:grpSpPr>
            <p:grpSp>
              <p:nvGrpSpPr>
                <p:cNvPr id="248072" name="Group 363"/>
                <p:cNvGrpSpPr/>
                <p:nvPr/>
              </p:nvGrpSpPr>
              <p:grpSpPr bwMode="auto">
                <a:xfrm>
                  <a:off x="4030" y="2402"/>
                  <a:ext cx="27" cy="28"/>
                  <a:chOff x="4030" y="2402"/>
                  <a:chExt cx="27" cy="28"/>
                </a:xfrm>
              </p:grpSpPr>
              <p:sp>
                <p:nvSpPr>
                  <p:cNvPr id="9382" name="Oval 364"/>
                  <p:cNvSpPr>
                    <a:spLocks noChangeArrowheads="1"/>
                  </p:cNvSpPr>
                  <p:nvPr/>
                </p:nvSpPr>
                <p:spPr bwMode="auto">
                  <a:xfrm rot="-7200000">
                    <a:off x="4046" y="2419"/>
                    <a:ext cx="10" cy="12"/>
                  </a:xfrm>
                  <a:prstGeom prst="ellipse">
                    <a:avLst/>
                  </a:prstGeom>
                  <a:solidFill>
                    <a:schemeClr val="tx1"/>
                  </a:solidFill>
                  <a:ln w="50799">
                    <a:solidFill>
                      <a:schemeClr val="accent1"/>
                    </a:solidFill>
                    <a:round/>
                  </a:ln>
                </p:spPr>
                <p:txBody>
                  <a:bodyPr wrap="none" lIns="98624" tIns="49313" rIns="98624" bIns="49313">
                    <a:spAutoFit/>
                  </a:bodyPr>
                  <a:lstStyle/>
                  <a:p>
                    <a:endParaRPr lang="zh-CN" altLang="en-US"/>
                  </a:p>
                </p:txBody>
              </p:sp>
              <p:sp>
                <p:nvSpPr>
                  <p:cNvPr id="9383" name="Oval 365"/>
                  <p:cNvSpPr>
                    <a:spLocks noChangeArrowheads="1"/>
                  </p:cNvSpPr>
                  <p:nvPr/>
                </p:nvSpPr>
                <p:spPr bwMode="auto">
                  <a:xfrm rot="-7200000">
                    <a:off x="4031" y="2401"/>
                    <a:ext cx="9" cy="11"/>
                  </a:xfrm>
                  <a:prstGeom prst="ellipse">
                    <a:avLst/>
                  </a:prstGeom>
                  <a:solidFill>
                    <a:schemeClr val="tx1"/>
                  </a:solidFill>
                  <a:ln w="50799">
                    <a:solidFill>
                      <a:schemeClr val="accent1"/>
                    </a:solidFill>
                    <a:round/>
                  </a:ln>
                </p:spPr>
                <p:txBody>
                  <a:bodyPr wrap="none" lIns="98624" tIns="49313" rIns="98624" bIns="49313">
                    <a:spAutoFit/>
                  </a:bodyPr>
                  <a:lstStyle/>
                  <a:p>
                    <a:endParaRPr lang="zh-CN" altLang="en-US"/>
                  </a:p>
                </p:txBody>
              </p:sp>
            </p:grpSp>
            <p:grpSp>
              <p:nvGrpSpPr>
                <p:cNvPr id="248073" name="Group 366"/>
                <p:cNvGrpSpPr/>
                <p:nvPr/>
              </p:nvGrpSpPr>
              <p:grpSpPr bwMode="auto">
                <a:xfrm>
                  <a:off x="4229" y="2321"/>
                  <a:ext cx="27" cy="31"/>
                  <a:chOff x="4229" y="2321"/>
                  <a:chExt cx="27" cy="31"/>
                </a:xfrm>
              </p:grpSpPr>
              <p:sp>
                <p:nvSpPr>
                  <p:cNvPr id="9380" name="Oval 367"/>
                  <p:cNvSpPr>
                    <a:spLocks noChangeArrowheads="1"/>
                  </p:cNvSpPr>
                  <p:nvPr/>
                </p:nvSpPr>
                <p:spPr bwMode="auto">
                  <a:xfrm rot="-7200000">
                    <a:off x="4245" y="2341"/>
                    <a:ext cx="11" cy="11"/>
                  </a:xfrm>
                  <a:prstGeom prst="ellipse">
                    <a:avLst/>
                  </a:prstGeom>
                  <a:solidFill>
                    <a:schemeClr val="tx1"/>
                  </a:solidFill>
                  <a:ln w="50799">
                    <a:solidFill>
                      <a:schemeClr val="accent1"/>
                    </a:solidFill>
                    <a:round/>
                  </a:ln>
                </p:spPr>
                <p:txBody>
                  <a:bodyPr wrap="none" lIns="98624" tIns="49313" rIns="98624" bIns="49313">
                    <a:spAutoFit/>
                  </a:bodyPr>
                  <a:lstStyle/>
                  <a:p>
                    <a:endParaRPr lang="zh-CN" altLang="en-US"/>
                  </a:p>
                </p:txBody>
              </p:sp>
              <p:sp>
                <p:nvSpPr>
                  <p:cNvPr id="9381" name="Oval 368"/>
                  <p:cNvSpPr>
                    <a:spLocks noChangeArrowheads="1"/>
                  </p:cNvSpPr>
                  <p:nvPr/>
                </p:nvSpPr>
                <p:spPr bwMode="auto">
                  <a:xfrm rot="-7200000">
                    <a:off x="4229" y="2321"/>
                    <a:ext cx="11" cy="11"/>
                  </a:xfrm>
                  <a:prstGeom prst="ellipse">
                    <a:avLst/>
                  </a:prstGeom>
                  <a:solidFill>
                    <a:schemeClr val="tx1"/>
                  </a:solidFill>
                  <a:ln w="50799">
                    <a:solidFill>
                      <a:schemeClr val="accent1"/>
                    </a:solidFill>
                    <a:round/>
                  </a:ln>
                </p:spPr>
                <p:txBody>
                  <a:bodyPr wrap="none" lIns="98624" tIns="49313" rIns="98624" bIns="49313">
                    <a:spAutoFit/>
                  </a:bodyPr>
                  <a:lstStyle/>
                  <a:p>
                    <a:endParaRPr lang="zh-CN" altLang="en-US"/>
                  </a:p>
                </p:txBody>
              </p:sp>
            </p:grpSp>
            <p:sp>
              <p:nvSpPr>
                <p:cNvPr id="9364" name="Line 369"/>
                <p:cNvSpPr>
                  <a:spLocks noChangeShapeType="1"/>
                </p:cNvSpPr>
                <p:nvPr/>
              </p:nvSpPr>
              <p:spPr bwMode="auto">
                <a:xfrm flipH="1">
                  <a:off x="4040" y="2327"/>
                  <a:ext cx="197" cy="79"/>
                </a:xfrm>
                <a:prstGeom prst="line">
                  <a:avLst/>
                </a:prstGeom>
                <a:noFill/>
                <a:ln w="50799">
                  <a:solidFill>
                    <a:schemeClr val="accent1"/>
                  </a:solidFill>
                  <a:round/>
                  <a:headEnd type="none" w="sm" len="sm"/>
                  <a:tailEnd type="none" w="sm" len="sm"/>
                </a:ln>
              </p:spPr>
              <p:txBody>
                <a:bodyPr wrap="none" lIns="98624" tIns="49313" rIns="98624" bIns="49313">
                  <a:spAutoFit/>
                </a:bodyPr>
                <a:lstStyle/>
                <a:p>
                  <a:endParaRPr lang="zh-CN" altLang="en-US"/>
                </a:p>
              </p:txBody>
            </p:sp>
            <p:sp>
              <p:nvSpPr>
                <p:cNvPr id="9365" name="Oval 370"/>
                <p:cNvSpPr>
                  <a:spLocks noChangeArrowheads="1"/>
                </p:cNvSpPr>
                <p:nvPr/>
              </p:nvSpPr>
              <p:spPr bwMode="auto">
                <a:xfrm rot="-3600000">
                  <a:off x="4031" y="2341"/>
                  <a:ext cx="9" cy="11"/>
                </a:xfrm>
                <a:prstGeom prst="ellipse">
                  <a:avLst/>
                </a:prstGeom>
                <a:solidFill>
                  <a:schemeClr val="tx1"/>
                </a:solidFill>
                <a:ln w="50799">
                  <a:solidFill>
                    <a:schemeClr val="accent1"/>
                  </a:solidFill>
                  <a:round/>
                </a:ln>
              </p:spPr>
              <p:txBody>
                <a:bodyPr wrap="none" lIns="98624" tIns="49313" rIns="98624" bIns="49313">
                  <a:spAutoFit/>
                </a:bodyPr>
                <a:lstStyle/>
                <a:p>
                  <a:endParaRPr lang="zh-CN" altLang="en-US"/>
                </a:p>
              </p:txBody>
            </p:sp>
            <p:sp>
              <p:nvSpPr>
                <p:cNvPr id="9366" name="Oval 371"/>
                <p:cNvSpPr>
                  <a:spLocks noChangeArrowheads="1"/>
                </p:cNvSpPr>
                <p:nvPr/>
              </p:nvSpPr>
              <p:spPr bwMode="auto">
                <a:xfrm rot="-3600000">
                  <a:off x="4046" y="2321"/>
                  <a:ext cx="10" cy="11"/>
                </a:xfrm>
                <a:prstGeom prst="ellipse">
                  <a:avLst/>
                </a:prstGeom>
                <a:solidFill>
                  <a:schemeClr val="tx1"/>
                </a:solidFill>
                <a:ln w="50799">
                  <a:solidFill>
                    <a:schemeClr val="accent1"/>
                  </a:solidFill>
                  <a:round/>
                </a:ln>
              </p:spPr>
              <p:txBody>
                <a:bodyPr wrap="none" lIns="98624" tIns="49313" rIns="98624" bIns="49313">
                  <a:spAutoFit/>
                </a:bodyPr>
                <a:lstStyle/>
                <a:p>
                  <a:endParaRPr lang="zh-CN" altLang="en-US"/>
                </a:p>
              </p:txBody>
            </p:sp>
            <p:sp>
              <p:nvSpPr>
                <p:cNvPr id="9367" name="Oval 372"/>
                <p:cNvSpPr>
                  <a:spLocks noChangeArrowheads="1"/>
                </p:cNvSpPr>
                <p:nvPr/>
              </p:nvSpPr>
              <p:spPr bwMode="auto">
                <a:xfrm rot="-3600000">
                  <a:off x="4229" y="2419"/>
                  <a:ext cx="11" cy="12"/>
                </a:xfrm>
                <a:prstGeom prst="ellipse">
                  <a:avLst/>
                </a:prstGeom>
                <a:solidFill>
                  <a:schemeClr val="tx1"/>
                </a:solidFill>
                <a:ln w="50799">
                  <a:solidFill>
                    <a:schemeClr val="accent1"/>
                  </a:solidFill>
                  <a:round/>
                </a:ln>
              </p:spPr>
              <p:txBody>
                <a:bodyPr wrap="none" lIns="98624" tIns="49313" rIns="98624" bIns="49313">
                  <a:spAutoFit/>
                </a:bodyPr>
                <a:lstStyle/>
                <a:p>
                  <a:endParaRPr lang="zh-CN" altLang="en-US"/>
                </a:p>
              </p:txBody>
            </p:sp>
            <p:sp>
              <p:nvSpPr>
                <p:cNvPr id="9368" name="Oval 373"/>
                <p:cNvSpPr>
                  <a:spLocks noChangeArrowheads="1"/>
                </p:cNvSpPr>
                <p:nvPr/>
              </p:nvSpPr>
              <p:spPr bwMode="auto">
                <a:xfrm rot="-3600000">
                  <a:off x="4245" y="2401"/>
                  <a:ext cx="11" cy="11"/>
                </a:xfrm>
                <a:prstGeom prst="ellipse">
                  <a:avLst/>
                </a:prstGeom>
                <a:solidFill>
                  <a:schemeClr val="tx1"/>
                </a:solidFill>
                <a:ln w="50799">
                  <a:solidFill>
                    <a:schemeClr val="accent1"/>
                  </a:solidFill>
                  <a:round/>
                </a:ln>
              </p:spPr>
              <p:txBody>
                <a:bodyPr wrap="none" lIns="98624" tIns="49313" rIns="98624" bIns="49313">
                  <a:spAutoFit/>
                </a:bodyPr>
                <a:lstStyle/>
                <a:p>
                  <a:endParaRPr lang="zh-CN" altLang="en-US"/>
                </a:p>
              </p:txBody>
            </p:sp>
            <p:sp>
              <p:nvSpPr>
                <p:cNvPr id="9369" name="Line 374"/>
                <p:cNvSpPr>
                  <a:spLocks noChangeShapeType="1"/>
                </p:cNvSpPr>
                <p:nvPr/>
              </p:nvSpPr>
              <p:spPr bwMode="auto">
                <a:xfrm flipH="1" flipV="1">
                  <a:off x="4040" y="2327"/>
                  <a:ext cx="197" cy="79"/>
                </a:xfrm>
                <a:prstGeom prst="line">
                  <a:avLst/>
                </a:prstGeom>
                <a:noFill/>
                <a:ln w="50799">
                  <a:solidFill>
                    <a:schemeClr val="accent1"/>
                  </a:solidFill>
                  <a:round/>
                  <a:headEnd type="none" w="sm" len="sm"/>
                  <a:tailEnd type="none" w="sm" len="sm"/>
                </a:ln>
              </p:spPr>
              <p:txBody>
                <a:bodyPr wrap="none" lIns="98624" tIns="49313" rIns="98624" bIns="49313">
                  <a:spAutoFit/>
                </a:bodyPr>
                <a:lstStyle/>
                <a:p>
                  <a:endParaRPr lang="zh-CN" altLang="en-US"/>
                </a:p>
              </p:txBody>
            </p:sp>
            <p:sp>
              <p:nvSpPr>
                <p:cNvPr id="9370" name="Oval 375"/>
                <p:cNvSpPr>
                  <a:spLocks noChangeArrowheads="1"/>
                </p:cNvSpPr>
                <p:nvPr/>
              </p:nvSpPr>
              <p:spPr bwMode="auto">
                <a:xfrm>
                  <a:off x="4092" y="2210"/>
                  <a:ext cx="93" cy="86"/>
                </a:xfrm>
                <a:prstGeom prst="ellipse">
                  <a:avLst/>
                </a:prstGeom>
                <a:solidFill>
                  <a:schemeClr val="tx1"/>
                </a:solidFill>
                <a:ln w="12699">
                  <a:solidFill>
                    <a:schemeClr val="accent1"/>
                  </a:solidFill>
                  <a:round/>
                </a:ln>
              </p:spPr>
              <p:txBody>
                <a:bodyPr wrap="none" lIns="98624" tIns="49313" rIns="98624" bIns="49313">
                  <a:spAutoFit/>
                </a:bodyPr>
                <a:lstStyle/>
                <a:p>
                  <a:endParaRPr lang="zh-CN" altLang="en-US"/>
                </a:p>
              </p:txBody>
            </p:sp>
            <p:sp>
              <p:nvSpPr>
                <p:cNvPr id="9371" name="Oval 376"/>
                <p:cNvSpPr>
                  <a:spLocks noChangeArrowheads="1"/>
                </p:cNvSpPr>
                <p:nvPr/>
              </p:nvSpPr>
              <p:spPr bwMode="auto">
                <a:xfrm>
                  <a:off x="4111" y="2265"/>
                  <a:ext cx="58" cy="69"/>
                </a:xfrm>
                <a:prstGeom prst="ellipse">
                  <a:avLst/>
                </a:prstGeom>
                <a:solidFill>
                  <a:schemeClr val="tx1"/>
                </a:solidFill>
                <a:ln w="12699">
                  <a:solidFill>
                    <a:schemeClr val="accent1"/>
                  </a:solidFill>
                  <a:round/>
                </a:ln>
              </p:spPr>
              <p:txBody>
                <a:bodyPr wrap="none" lIns="98624" tIns="49313" rIns="98624" bIns="49313">
                  <a:spAutoFit/>
                </a:bodyPr>
                <a:lstStyle/>
                <a:p>
                  <a:endParaRPr lang="zh-CN" altLang="en-US"/>
                </a:p>
              </p:txBody>
            </p:sp>
            <p:grpSp>
              <p:nvGrpSpPr>
                <p:cNvPr id="248074" name="Group 377"/>
                <p:cNvGrpSpPr/>
                <p:nvPr/>
              </p:nvGrpSpPr>
              <p:grpSpPr bwMode="auto">
                <a:xfrm>
                  <a:off x="4102" y="2239"/>
                  <a:ext cx="74" cy="80"/>
                  <a:chOff x="4102" y="2239"/>
                  <a:chExt cx="74" cy="80"/>
                </a:xfrm>
              </p:grpSpPr>
              <p:sp>
                <p:nvSpPr>
                  <p:cNvPr id="9373" name="Line 378"/>
                  <p:cNvSpPr>
                    <a:spLocks noChangeShapeType="1"/>
                  </p:cNvSpPr>
                  <p:nvPr/>
                </p:nvSpPr>
                <p:spPr bwMode="auto">
                  <a:xfrm flipV="1">
                    <a:off x="4115" y="2305"/>
                    <a:ext cx="47" cy="2"/>
                  </a:xfrm>
                  <a:prstGeom prst="line">
                    <a:avLst/>
                  </a:prstGeom>
                  <a:noFill/>
                  <a:ln w="12699">
                    <a:solidFill>
                      <a:schemeClr val="accent1"/>
                    </a:solidFill>
                    <a:round/>
                    <a:headEnd type="none" w="sm" len="sm"/>
                    <a:tailEnd type="none" w="sm" len="sm"/>
                  </a:ln>
                </p:spPr>
                <p:txBody>
                  <a:bodyPr wrap="none" lIns="98624" tIns="49313" rIns="98624" bIns="49313">
                    <a:spAutoFit/>
                  </a:bodyPr>
                  <a:lstStyle/>
                  <a:p>
                    <a:endParaRPr lang="zh-CN" altLang="en-US"/>
                  </a:p>
                </p:txBody>
              </p:sp>
              <p:grpSp>
                <p:nvGrpSpPr>
                  <p:cNvPr id="248075" name="Group 379"/>
                  <p:cNvGrpSpPr/>
                  <p:nvPr/>
                </p:nvGrpSpPr>
                <p:grpSpPr bwMode="auto">
                  <a:xfrm>
                    <a:off x="4102" y="2239"/>
                    <a:ext cx="74" cy="25"/>
                    <a:chOff x="4102" y="2239"/>
                    <a:chExt cx="74" cy="25"/>
                  </a:xfrm>
                </p:grpSpPr>
                <p:sp>
                  <p:nvSpPr>
                    <p:cNvPr id="9376" name="Line 380"/>
                    <p:cNvSpPr>
                      <a:spLocks noChangeShapeType="1"/>
                    </p:cNvSpPr>
                    <p:nvPr/>
                  </p:nvSpPr>
                  <p:spPr bwMode="auto">
                    <a:xfrm>
                      <a:off x="4102" y="2239"/>
                      <a:ext cx="29" cy="25"/>
                    </a:xfrm>
                    <a:prstGeom prst="line">
                      <a:avLst/>
                    </a:prstGeom>
                    <a:noFill/>
                    <a:ln w="12699">
                      <a:solidFill>
                        <a:schemeClr val="accent1"/>
                      </a:solidFill>
                      <a:round/>
                      <a:headEnd type="none" w="sm" len="sm"/>
                      <a:tailEnd type="none" w="sm" len="sm"/>
                    </a:ln>
                  </p:spPr>
                  <p:txBody>
                    <a:bodyPr wrap="none" lIns="98624" tIns="49313" rIns="98624" bIns="49313">
                      <a:spAutoFit/>
                    </a:bodyPr>
                    <a:lstStyle/>
                    <a:p>
                      <a:endParaRPr lang="zh-CN" altLang="en-US"/>
                    </a:p>
                  </p:txBody>
                </p:sp>
                <p:sp>
                  <p:nvSpPr>
                    <p:cNvPr id="9377" name="Line 381"/>
                    <p:cNvSpPr>
                      <a:spLocks noChangeShapeType="1"/>
                    </p:cNvSpPr>
                    <p:nvPr/>
                  </p:nvSpPr>
                  <p:spPr bwMode="auto">
                    <a:xfrm flipV="1">
                      <a:off x="4102" y="2239"/>
                      <a:ext cx="29" cy="25"/>
                    </a:xfrm>
                    <a:prstGeom prst="line">
                      <a:avLst/>
                    </a:prstGeom>
                    <a:noFill/>
                    <a:ln w="12699">
                      <a:solidFill>
                        <a:schemeClr val="accent1"/>
                      </a:solidFill>
                      <a:round/>
                      <a:headEnd type="none" w="sm" len="sm"/>
                      <a:tailEnd type="none" w="sm" len="sm"/>
                    </a:ln>
                  </p:spPr>
                  <p:txBody>
                    <a:bodyPr wrap="none" lIns="98624" tIns="49313" rIns="98624" bIns="49313">
                      <a:spAutoFit/>
                    </a:bodyPr>
                    <a:lstStyle/>
                    <a:p>
                      <a:endParaRPr lang="zh-CN" altLang="en-US"/>
                    </a:p>
                  </p:txBody>
                </p:sp>
                <p:sp>
                  <p:nvSpPr>
                    <p:cNvPr id="9378" name="Line 382"/>
                    <p:cNvSpPr>
                      <a:spLocks noChangeShapeType="1"/>
                    </p:cNvSpPr>
                    <p:nvPr/>
                  </p:nvSpPr>
                  <p:spPr bwMode="auto">
                    <a:xfrm>
                      <a:off x="4147" y="2239"/>
                      <a:ext cx="29" cy="25"/>
                    </a:xfrm>
                    <a:prstGeom prst="line">
                      <a:avLst/>
                    </a:prstGeom>
                    <a:noFill/>
                    <a:ln w="12699">
                      <a:solidFill>
                        <a:schemeClr val="accent1"/>
                      </a:solidFill>
                      <a:round/>
                      <a:headEnd type="none" w="sm" len="sm"/>
                      <a:tailEnd type="none" w="sm" len="sm"/>
                    </a:ln>
                  </p:spPr>
                  <p:txBody>
                    <a:bodyPr wrap="none" lIns="98624" tIns="49313" rIns="98624" bIns="49313">
                      <a:spAutoFit/>
                    </a:bodyPr>
                    <a:lstStyle/>
                    <a:p>
                      <a:endParaRPr lang="zh-CN" altLang="en-US"/>
                    </a:p>
                  </p:txBody>
                </p:sp>
                <p:sp>
                  <p:nvSpPr>
                    <p:cNvPr id="9379" name="Line 383"/>
                    <p:cNvSpPr>
                      <a:spLocks noChangeShapeType="1"/>
                    </p:cNvSpPr>
                    <p:nvPr/>
                  </p:nvSpPr>
                  <p:spPr bwMode="auto">
                    <a:xfrm flipV="1">
                      <a:off x="4147" y="2239"/>
                      <a:ext cx="29" cy="25"/>
                    </a:xfrm>
                    <a:prstGeom prst="line">
                      <a:avLst/>
                    </a:prstGeom>
                    <a:noFill/>
                    <a:ln w="12699">
                      <a:solidFill>
                        <a:schemeClr val="accent1"/>
                      </a:solidFill>
                      <a:round/>
                      <a:headEnd type="none" w="sm" len="sm"/>
                      <a:tailEnd type="none" w="sm" len="sm"/>
                    </a:ln>
                  </p:spPr>
                  <p:txBody>
                    <a:bodyPr wrap="none" lIns="98624" tIns="49313" rIns="98624" bIns="49313">
                      <a:spAutoFit/>
                    </a:bodyPr>
                    <a:lstStyle/>
                    <a:p>
                      <a:endParaRPr lang="zh-CN" altLang="en-US"/>
                    </a:p>
                  </p:txBody>
                </p:sp>
              </p:grpSp>
              <p:sp>
                <p:nvSpPr>
                  <p:cNvPr id="9375" name="Line 384"/>
                  <p:cNvSpPr>
                    <a:spLocks noChangeShapeType="1"/>
                  </p:cNvSpPr>
                  <p:nvPr/>
                </p:nvSpPr>
                <p:spPr bwMode="auto">
                  <a:xfrm>
                    <a:off x="4141" y="2297"/>
                    <a:ext cx="0" cy="22"/>
                  </a:xfrm>
                  <a:prstGeom prst="line">
                    <a:avLst/>
                  </a:prstGeom>
                  <a:noFill/>
                  <a:ln w="12699">
                    <a:solidFill>
                      <a:schemeClr val="accent1"/>
                    </a:solidFill>
                    <a:round/>
                    <a:headEnd type="none" w="sm" len="sm"/>
                    <a:tailEnd type="none" w="sm" len="sm"/>
                  </a:ln>
                </p:spPr>
                <p:txBody>
                  <a:bodyPr wrap="none" lIns="98624" tIns="49313" rIns="98624" bIns="49313">
                    <a:spAutoFit/>
                  </a:bodyPr>
                  <a:lstStyle/>
                  <a:p>
                    <a:endParaRPr lang="zh-CN" altLang="en-US"/>
                  </a:p>
                </p:txBody>
              </p:sp>
            </p:grpSp>
          </p:grpSp>
        </p:grpSp>
        <p:sp>
          <p:nvSpPr>
            <p:cNvPr id="248193" name="Rectangle 385"/>
            <p:cNvSpPr>
              <a:spLocks noChangeArrowheads="1"/>
            </p:cNvSpPr>
            <p:nvPr/>
          </p:nvSpPr>
          <p:spPr bwMode="auto">
            <a:xfrm>
              <a:off x="3737" y="2834"/>
              <a:ext cx="883" cy="322"/>
            </a:xfrm>
            <a:prstGeom prst="rect">
              <a:avLst/>
            </a:prstGeom>
            <a:noFill/>
            <a:ln w="9525">
              <a:noFill/>
              <a:miter lim="800000"/>
            </a:ln>
            <a:effectLst/>
          </p:spPr>
          <p:txBody>
            <a:bodyPr wrap="none" lIns="98624" tIns="49313" rIns="98624" bIns="49313">
              <a:spAutoFit/>
            </a:bodyPr>
            <a:lstStyle/>
            <a:p>
              <a:pPr defTabSz="979805" eaLnBrk="0" hangingPunct="0">
                <a:defRPr/>
              </a:pPr>
              <a:r>
                <a:rPr kumimoji="1" lang="zh-CN" altLang="en-US" sz="2700" i="1">
                  <a:effectLst>
                    <a:outerShdw blurRad="38100" dist="38100" dir="2700000" algn="tl">
                      <a:srgbClr val="C0C0C0"/>
                    </a:outerShdw>
                  </a:effectLst>
                  <a:latin typeface="Helvetica" charset="0"/>
                </a:rPr>
                <a:t>外部攻击</a:t>
              </a:r>
            </a:p>
          </p:txBody>
        </p:sp>
      </p:grpSp>
      <p:sp>
        <p:nvSpPr>
          <p:cNvPr id="248194" name="Line 386"/>
          <p:cNvSpPr>
            <a:spLocks noChangeShapeType="1"/>
          </p:cNvSpPr>
          <p:nvPr/>
        </p:nvSpPr>
        <p:spPr bwMode="auto">
          <a:xfrm flipV="1">
            <a:off x="7780338" y="2764941"/>
            <a:ext cx="0" cy="822325"/>
          </a:xfrm>
          <a:prstGeom prst="line">
            <a:avLst/>
          </a:prstGeom>
          <a:noFill/>
          <a:ln w="126999">
            <a:solidFill>
              <a:schemeClr val="hlink"/>
            </a:solidFill>
            <a:round/>
            <a:headEnd type="none" w="sm" len="sm"/>
            <a:tailEnd type="none" w="sm" len="sm"/>
          </a:ln>
        </p:spPr>
        <p:txBody>
          <a:bodyPr wrap="none" anchor="ctr"/>
          <a:lstStyle/>
          <a:p>
            <a:endParaRPr lang="zh-CN" altLang="en-US"/>
          </a:p>
        </p:txBody>
      </p:sp>
      <p:sp>
        <p:nvSpPr>
          <p:cNvPr id="248195" name="Line 387"/>
          <p:cNvSpPr>
            <a:spLocks noChangeShapeType="1"/>
          </p:cNvSpPr>
          <p:nvPr/>
        </p:nvSpPr>
        <p:spPr bwMode="auto">
          <a:xfrm flipH="1">
            <a:off x="6419850" y="2717316"/>
            <a:ext cx="503238" cy="269875"/>
          </a:xfrm>
          <a:prstGeom prst="line">
            <a:avLst/>
          </a:prstGeom>
          <a:noFill/>
          <a:ln w="126999">
            <a:solidFill>
              <a:schemeClr val="hlink"/>
            </a:solidFill>
            <a:round/>
            <a:headEnd type="none" w="sm" len="sm"/>
            <a:tailEnd type="none" w="sm" len="sm"/>
          </a:ln>
        </p:spPr>
        <p:txBody>
          <a:bodyPr wrap="none" anchor="ctr"/>
          <a:lstStyle/>
          <a:p>
            <a:endParaRPr lang="zh-CN" altLang="en-US"/>
          </a:p>
        </p:txBody>
      </p:sp>
      <p:sp>
        <p:nvSpPr>
          <p:cNvPr id="248196" name="Line 388"/>
          <p:cNvSpPr>
            <a:spLocks noChangeShapeType="1"/>
          </p:cNvSpPr>
          <p:nvPr/>
        </p:nvSpPr>
        <p:spPr bwMode="auto">
          <a:xfrm flipH="1">
            <a:off x="5530850" y="3187216"/>
            <a:ext cx="523875" cy="276225"/>
          </a:xfrm>
          <a:prstGeom prst="line">
            <a:avLst/>
          </a:prstGeom>
          <a:noFill/>
          <a:ln w="126999">
            <a:solidFill>
              <a:schemeClr val="hlink"/>
            </a:solidFill>
            <a:round/>
            <a:headEnd type="none" w="sm" len="sm"/>
            <a:tailEnd type="none" w="sm" len="sm"/>
          </a:ln>
        </p:spPr>
        <p:txBody>
          <a:bodyPr wrap="none" anchor="ctr"/>
          <a:lstStyle/>
          <a:p>
            <a:endParaRPr lang="zh-CN" altLang="en-US"/>
          </a:p>
        </p:txBody>
      </p:sp>
      <p:sp>
        <p:nvSpPr>
          <p:cNvPr id="248197" name="Line 389"/>
          <p:cNvSpPr>
            <a:spLocks noChangeShapeType="1"/>
          </p:cNvSpPr>
          <p:nvPr/>
        </p:nvSpPr>
        <p:spPr bwMode="auto">
          <a:xfrm flipH="1">
            <a:off x="4554538" y="3530116"/>
            <a:ext cx="547687" cy="0"/>
          </a:xfrm>
          <a:prstGeom prst="line">
            <a:avLst/>
          </a:prstGeom>
          <a:noFill/>
          <a:ln w="126999">
            <a:solidFill>
              <a:schemeClr val="hlink"/>
            </a:solidFill>
            <a:round/>
            <a:headEnd type="none" w="sm" len="sm"/>
            <a:tailEnd type="none" w="sm" len="sm"/>
          </a:ln>
        </p:spPr>
        <p:txBody>
          <a:bodyPr wrap="none" anchor="ctr"/>
          <a:lstStyle/>
          <a:p>
            <a:endParaRPr lang="zh-CN" altLang="en-US"/>
          </a:p>
        </p:txBody>
      </p:sp>
      <p:sp>
        <p:nvSpPr>
          <p:cNvPr id="248198" name="Line 390"/>
          <p:cNvSpPr>
            <a:spLocks noChangeShapeType="1"/>
          </p:cNvSpPr>
          <p:nvPr/>
        </p:nvSpPr>
        <p:spPr bwMode="auto">
          <a:xfrm flipH="1">
            <a:off x="3792538" y="3561866"/>
            <a:ext cx="304800" cy="0"/>
          </a:xfrm>
          <a:prstGeom prst="line">
            <a:avLst/>
          </a:prstGeom>
          <a:noFill/>
          <a:ln w="126999">
            <a:solidFill>
              <a:schemeClr val="hlink"/>
            </a:solidFill>
            <a:round/>
            <a:headEnd type="none" w="sm" len="sm"/>
            <a:tailEnd type="none" w="sm" len="sm"/>
          </a:ln>
        </p:spPr>
        <p:txBody>
          <a:bodyPr wrap="none" anchor="ctr"/>
          <a:lstStyle/>
          <a:p>
            <a:endParaRPr lang="zh-CN" altLang="en-US"/>
          </a:p>
        </p:txBody>
      </p:sp>
      <p:sp>
        <p:nvSpPr>
          <p:cNvPr id="248199" name="Line 391"/>
          <p:cNvSpPr>
            <a:spLocks noChangeShapeType="1"/>
          </p:cNvSpPr>
          <p:nvPr/>
        </p:nvSpPr>
        <p:spPr bwMode="auto">
          <a:xfrm flipV="1">
            <a:off x="3773488" y="2136291"/>
            <a:ext cx="0" cy="1450975"/>
          </a:xfrm>
          <a:prstGeom prst="line">
            <a:avLst/>
          </a:prstGeom>
          <a:noFill/>
          <a:ln w="126999">
            <a:solidFill>
              <a:schemeClr val="hlink"/>
            </a:solidFill>
            <a:round/>
            <a:headEnd type="none" w="sm" len="sm"/>
            <a:tailEnd type="none" w="sm" len="sm"/>
          </a:ln>
        </p:spPr>
        <p:txBody>
          <a:bodyPr wrap="none" anchor="ctr"/>
          <a:lstStyle/>
          <a:p>
            <a:endParaRPr lang="zh-CN" altLang="en-US"/>
          </a:p>
        </p:txBody>
      </p:sp>
      <p:sp>
        <p:nvSpPr>
          <p:cNvPr id="248200" name="Line 392"/>
          <p:cNvSpPr>
            <a:spLocks noChangeShapeType="1"/>
          </p:cNvSpPr>
          <p:nvPr/>
        </p:nvSpPr>
        <p:spPr bwMode="auto">
          <a:xfrm flipH="1">
            <a:off x="3130550" y="2164866"/>
            <a:ext cx="695325" cy="0"/>
          </a:xfrm>
          <a:prstGeom prst="line">
            <a:avLst/>
          </a:prstGeom>
          <a:noFill/>
          <a:ln w="126999">
            <a:solidFill>
              <a:schemeClr val="hlink"/>
            </a:solidFill>
            <a:round/>
            <a:headEnd type="none" w="sm" len="sm"/>
            <a:tailEnd type="none" w="sm" len="sm"/>
          </a:ln>
        </p:spPr>
        <p:txBody>
          <a:bodyPr wrap="none" anchor="ctr"/>
          <a:lstStyle/>
          <a:p>
            <a:endParaRPr lang="zh-CN" altLang="en-US"/>
          </a:p>
        </p:txBody>
      </p:sp>
      <p:grpSp>
        <p:nvGrpSpPr>
          <p:cNvPr id="248076" name="Group 393"/>
          <p:cNvGrpSpPr/>
          <p:nvPr/>
        </p:nvGrpSpPr>
        <p:grpSpPr bwMode="auto">
          <a:xfrm>
            <a:off x="1277938" y="1885466"/>
            <a:ext cx="2451100" cy="2555875"/>
            <a:chOff x="412" y="1134"/>
            <a:chExt cx="1372" cy="1610"/>
          </a:xfrm>
        </p:grpSpPr>
        <p:grpSp>
          <p:nvGrpSpPr>
            <p:cNvPr id="248077" name="Group 394"/>
            <p:cNvGrpSpPr/>
            <p:nvPr/>
          </p:nvGrpSpPr>
          <p:grpSpPr bwMode="auto">
            <a:xfrm>
              <a:off x="1098" y="1134"/>
              <a:ext cx="365" cy="325"/>
              <a:chOff x="1098" y="1134"/>
              <a:chExt cx="365" cy="325"/>
            </a:xfrm>
          </p:grpSpPr>
          <p:sp>
            <p:nvSpPr>
              <p:cNvPr id="9355" name="Freeform 395"/>
              <p:cNvSpPr/>
              <p:nvPr/>
            </p:nvSpPr>
            <p:spPr bwMode="auto">
              <a:xfrm>
                <a:off x="1098" y="1134"/>
                <a:ext cx="365" cy="325"/>
              </a:xfrm>
              <a:custGeom>
                <a:avLst/>
                <a:gdLst>
                  <a:gd name="T0" fmla="*/ 200 w 365"/>
                  <a:gd name="T1" fmla="*/ 322 h 325"/>
                  <a:gd name="T2" fmla="*/ 227 w 365"/>
                  <a:gd name="T3" fmla="*/ 318 h 325"/>
                  <a:gd name="T4" fmla="*/ 252 w 365"/>
                  <a:gd name="T5" fmla="*/ 311 h 325"/>
                  <a:gd name="T6" fmla="*/ 276 w 365"/>
                  <a:gd name="T7" fmla="*/ 300 h 325"/>
                  <a:gd name="T8" fmla="*/ 297 w 365"/>
                  <a:gd name="T9" fmla="*/ 287 h 325"/>
                  <a:gd name="T10" fmla="*/ 316 w 365"/>
                  <a:gd name="T11" fmla="*/ 270 h 325"/>
                  <a:gd name="T12" fmla="*/ 332 w 365"/>
                  <a:gd name="T13" fmla="*/ 252 h 325"/>
                  <a:gd name="T14" fmla="*/ 345 w 365"/>
                  <a:gd name="T15" fmla="*/ 232 h 325"/>
                  <a:gd name="T16" fmla="*/ 355 w 365"/>
                  <a:gd name="T17" fmla="*/ 209 h 325"/>
                  <a:gd name="T18" fmla="*/ 361 w 365"/>
                  <a:gd name="T19" fmla="*/ 186 h 325"/>
                  <a:gd name="T20" fmla="*/ 364 w 365"/>
                  <a:gd name="T21" fmla="*/ 161 h 325"/>
                  <a:gd name="T22" fmla="*/ 361 w 365"/>
                  <a:gd name="T23" fmla="*/ 137 h 325"/>
                  <a:gd name="T24" fmla="*/ 355 w 365"/>
                  <a:gd name="T25" fmla="*/ 113 h 325"/>
                  <a:gd name="T26" fmla="*/ 345 w 365"/>
                  <a:gd name="T27" fmla="*/ 91 h 325"/>
                  <a:gd name="T28" fmla="*/ 332 w 365"/>
                  <a:gd name="T29" fmla="*/ 71 h 325"/>
                  <a:gd name="T30" fmla="*/ 316 w 365"/>
                  <a:gd name="T31" fmla="*/ 52 h 325"/>
                  <a:gd name="T32" fmla="*/ 297 w 365"/>
                  <a:gd name="T33" fmla="*/ 36 h 325"/>
                  <a:gd name="T34" fmla="*/ 276 w 365"/>
                  <a:gd name="T35" fmla="*/ 23 h 325"/>
                  <a:gd name="T36" fmla="*/ 252 w 365"/>
                  <a:gd name="T37" fmla="*/ 12 h 325"/>
                  <a:gd name="T38" fmla="*/ 227 w 365"/>
                  <a:gd name="T39" fmla="*/ 5 h 325"/>
                  <a:gd name="T40" fmla="*/ 200 w 365"/>
                  <a:gd name="T41" fmla="*/ 0 h 325"/>
                  <a:gd name="T42" fmla="*/ 172 w 365"/>
                  <a:gd name="T43" fmla="*/ 0 h 325"/>
                  <a:gd name="T44" fmla="*/ 145 w 365"/>
                  <a:gd name="T45" fmla="*/ 3 h 325"/>
                  <a:gd name="T46" fmla="*/ 119 w 365"/>
                  <a:gd name="T47" fmla="*/ 9 h 325"/>
                  <a:gd name="T48" fmla="*/ 94 w 365"/>
                  <a:gd name="T49" fmla="*/ 19 h 325"/>
                  <a:gd name="T50" fmla="*/ 73 w 365"/>
                  <a:gd name="T51" fmla="*/ 32 h 325"/>
                  <a:gd name="T52" fmla="*/ 53 w 365"/>
                  <a:gd name="T53" fmla="*/ 47 h 325"/>
                  <a:gd name="T54" fmla="*/ 36 w 365"/>
                  <a:gd name="T55" fmla="*/ 65 h 325"/>
                  <a:gd name="T56" fmla="*/ 21 w 365"/>
                  <a:gd name="T57" fmla="*/ 84 h 325"/>
                  <a:gd name="T58" fmla="*/ 10 w 365"/>
                  <a:gd name="T59" fmla="*/ 106 h 325"/>
                  <a:gd name="T60" fmla="*/ 3 w 365"/>
                  <a:gd name="T61" fmla="*/ 129 h 325"/>
                  <a:gd name="T62" fmla="*/ 0 w 365"/>
                  <a:gd name="T63" fmla="*/ 153 h 325"/>
                  <a:gd name="T64" fmla="*/ 0 w 365"/>
                  <a:gd name="T65" fmla="*/ 178 h 325"/>
                  <a:gd name="T66" fmla="*/ 5 w 365"/>
                  <a:gd name="T67" fmla="*/ 202 h 325"/>
                  <a:gd name="T68" fmla="*/ 14 w 365"/>
                  <a:gd name="T69" fmla="*/ 225 h 325"/>
                  <a:gd name="T70" fmla="*/ 26 w 365"/>
                  <a:gd name="T71" fmla="*/ 245 h 325"/>
                  <a:gd name="T72" fmla="*/ 41 w 365"/>
                  <a:gd name="T73" fmla="*/ 264 h 325"/>
                  <a:gd name="T74" fmla="*/ 59 w 365"/>
                  <a:gd name="T75" fmla="*/ 281 h 325"/>
                  <a:gd name="T76" fmla="*/ 80 w 365"/>
                  <a:gd name="T77" fmla="*/ 296 h 325"/>
                  <a:gd name="T78" fmla="*/ 102 w 365"/>
                  <a:gd name="T79" fmla="*/ 307 h 325"/>
                  <a:gd name="T80" fmla="*/ 127 w 365"/>
                  <a:gd name="T81" fmla="*/ 316 h 325"/>
                  <a:gd name="T82" fmla="*/ 154 w 365"/>
                  <a:gd name="T83" fmla="*/ 322 h 325"/>
                  <a:gd name="T84" fmla="*/ 181 w 365"/>
                  <a:gd name="T85" fmla="*/ 324 h 32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65"/>
                  <a:gd name="T130" fmla="*/ 0 h 325"/>
                  <a:gd name="T131" fmla="*/ 365 w 365"/>
                  <a:gd name="T132" fmla="*/ 325 h 32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65" h="325">
                    <a:moveTo>
                      <a:pt x="181" y="324"/>
                    </a:moveTo>
                    <a:lnTo>
                      <a:pt x="191" y="323"/>
                    </a:lnTo>
                    <a:lnTo>
                      <a:pt x="200" y="322"/>
                    </a:lnTo>
                    <a:lnTo>
                      <a:pt x="209" y="322"/>
                    </a:lnTo>
                    <a:lnTo>
                      <a:pt x="218" y="320"/>
                    </a:lnTo>
                    <a:lnTo>
                      <a:pt x="227" y="318"/>
                    </a:lnTo>
                    <a:lnTo>
                      <a:pt x="235" y="316"/>
                    </a:lnTo>
                    <a:lnTo>
                      <a:pt x="244" y="314"/>
                    </a:lnTo>
                    <a:lnTo>
                      <a:pt x="252" y="311"/>
                    </a:lnTo>
                    <a:lnTo>
                      <a:pt x="260" y="307"/>
                    </a:lnTo>
                    <a:lnTo>
                      <a:pt x="268" y="304"/>
                    </a:lnTo>
                    <a:lnTo>
                      <a:pt x="276" y="300"/>
                    </a:lnTo>
                    <a:lnTo>
                      <a:pt x="283" y="296"/>
                    </a:lnTo>
                    <a:lnTo>
                      <a:pt x="290" y="291"/>
                    </a:lnTo>
                    <a:lnTo>
                      <a:pt x="297" y="287"/>
                    </a:lnTo>
                    <a:lnTo>
                      <a:pt x="304" y="281"/>
                    </a:lnTo>
                    <a:lnTo>
                      <a:pt x="310" y="276"/>
                    </a:lnTo>
                    <a:lnTo>
                      <a:pt x="316" y="270"/>
                    </a:lnTo>
                    <a:lnTo>
                      <a:pt x="322" y="264"/>
                    </a:lnTo>
                    <a:lnTo>
                      <a:pt x="327" y="258"/>
                    </a:lnTo>
                    <a:lnTo>
                      <a:pt x="332" y="252"/>
                    </a:lnTo>
                    <a:lnTo>
                      <a:pt x="337" y="245"/>
                    </a:lnTo>
                    <a:lnTo>
                      <a:pt x="341" y="239"/>
                    </a:lnTo>
                    <a:lnTo>
                      <a:pt x="345" y="232"/>
                    </a:lnTo>
                    <a:lnTo>
                      <a:pt x="349" y="225"/>
                    </a:lnTo>
                    <a:lnTo>
                      <a:pt x="353" y="217"/>
                    </a:lnTo>
                    <a:lnTo>
                      <a:pt x="355" y="209"/>
                    </a:lnTo>
                    <a:lnTo>
                      <a:pt x="358" y="202"/>
                    </a:lnTo>
                    <a:lnTo>
                      <a:pt x="360" y="194"/>
                    </a:lnTo>
                    <a:lnTo>
                      <a:pt x="361" y="186"/>
                    </a:lnTo>
                    <a:lnTo>
                      <a:pt x="362" y="178"/>
                    </a:lnTo>
                    <a:lnTo>
                      <a:pt x="363" y="170"/>
                    </a:lnTo>
                    <a:lnTo>
                      <a:pt x="364" y="161"/>
                    </a:lnTo>
                    <a:lnTo>
                      <a:pt x="363" y="153"/>
                    </a:lnTo>
                    <a:lnTo>
                      <a:pt x="362" y="145"/>
                    </a:lnTo>
                    <a:lnTo>
                      <a:pt x="361" y="137"/>
                    </a:lnTo>
                    <a:lnTo>
                      <a:pt x="360" y="129"/>
                    </a:lnTo>
                    <a:lnTo>
                      <a:pt x="358" y="121"/>
                    </a:lnTo>
                    <a:lnTo>
                      <a:pt x="355" y="113"/>
                    </a:lnTo>
                    <a:lnTo>
                      <a:pt x="353" y="106"/>
                    </a:lnTo>
                    <a:lnTo>
                      <a:pt x="349" y="98"/>
                    </a:lnTo>
                    <a:lnTo>
                      <a:pt x="345" y="91"/>
                    </a:lnTo>
                    <a:lnTo>
                      <a:pt x="341" y="84"/>
                    </a:lnTo>
                    <a:lnTo>
                      <a:pt x="337" y="77"/>
                    </a:lnTo>
                    <a:lnTo>
                      <a:pt x="332" y="71"/>
                    </a:lnTo>
                    <a:lnTo>
                      <a:pt x="327" y="65"/>
                    </a:lnTo>
                    <a:lnTo>
                      <a:pt x="322" y="58"/>
                    </a:lnTo>
                    <a:lnTo>
                      <a:pt x="316" y="52"/>
                    </a:lnTo>
                    <a:lnTo>
                      <a:pt x="310" y="47"/>
                    </a:lnTo>
                    <a:lnTo>
                      <a:pt x="304" y="42"/>
                    </a:lnTo>
                    <a:lnTo>
                      <a:pt x="297" y="36"/>
                    </a:lnTo>
                    <a:lnTo>
                      <a:pt x="290" y="32"/>
                    </a:lnTo>
                    <a:lnTo>
                      <a:pt x="283" y="27"/>
                    </a:lnTo>
                    <a:lnTo>
                      <a:pt x="276" y="23"/>
                    </a:lnTo>
                    <a:lnTo>
                      <a:pt x="268" y="19"/>
                    </a:lnTo>
                    <a:lnTo>
                      <a:pt x="260" y="15"/>
                    </a:lnTo>
                    <a:lnTo>
                      <a:pt x="252" y="12"/>
                    </a:lnTo>
                    <a:lnTo>
                      <a:pt x="244" y="9"/>
                    </a:lnTo>
                    <a:lnTo>
                      <a:pt x="235" y="7"/>
                    </a:lnTo>
                    <a:lnTo>
                      <a:pt x="227" y="5"/>
                    </a:lnTo>
                    <a:lnTo>
                      <a:pt x="218" y="3"/>
                    </a:lnTo>
                    <a:lnTo>
                      <a:pt x="209" y="1"/>
                    </a:lnTo>
                    <a:lnTo>
                      <a:pt x="200" y="0"/>
                    </a:lnTo>
                    <a:lnTo>
                      <a:pt x="191" y="0"/>
                    </a:lnTo>
                    <a:lnTo>
                      <a:pt x="181" y="0"/>
                    </a:lnTo>
                    <a:lnTo>
                      <a:pt x="172" y="0"/>
                    </a:lnTo>
                    <a:lnTo>
                      <a:pt x="163" y="0"/>
                    </a:lnTo>
                    <a:lnTo>
                      <a:pt x="154" y="1"/>
                    </a:lnTo>
                    <a:lnTo>
                      <a:pt x="145" y="3"/>
                    </a:lnTo>
                    <a:lnTo>
                      <a:pt x="136" y="5"/>
                    </a:lnTo>
                    <a:lnTo>
                      <a:pt x="127" y="7"/>
                    </a:lnTo>
                    <a:lnTo>
                      <a:pt x="119" y="9"/>
                    </a:lnTo>
                    <a:lnTo>
                      <a:pt x="111" y="12"/>
                    </a:lnTo>
                    <a:lnTo>
                      <a:pt x="102" y="15"/>
                    </a:lnTo>
                    <a:lnTo>
                      <a:pt x="94" y="19"/>
                    </a:lnTo>
                    <a:lnTo>
                      <a:pt x="87" y="23"/>
                    </a:lnTo>
                    <a:lnTo>
                      <a:pt x="80" y="27"/>
                    </a:lnTo>
                    <a:lnTo>
                      <a:pt x="73" y="32"/>
                    </a:lnTo>
                    <a:lnTo>
                      <a:pt x="66" y="36"/>
                    </a:lnTo>
                    <a:lnTo>
                      <a:pt x="59" y="42"/>
                    </a:lnTo>
                    <a:lnTo>
                      <a:pt x="53" y="47"/>
                    </a:lnTo>
                    <a:lnTo>
                      <a:pt x="47" y="52"/>
                    </a:lnTo>
                    <a:lnTo>
                      <a:pt x="41" y="58"/>
                    </a:lnTo>
                    <a:lnTo>
                      <a:pt x="36" y="65"/>
                    </a:lnTo>
                    <a:lnTo>
                      <a:pt x="31" y="71"/>
                    </a:lnTo>
                    <a:lnTo>
                      <a:pt x="26" y="77"/>
                    </a:lnTo>
                    <a:lnTo>
                      <a:pt x="21" y="84"/>
                    </a:lnTo>
                    <a:lnTo>
                      <a:pt x="17" y="91"/>
                    </a:lnTo>
                    <a:lnTo>
                      <a:pt x="14" y="98"/>
                    </a:lnTo>
                    <a:lnTo>
                      <a:pt x="10" y="106"/>
                    </a:lnTo>
                    <a:lnTo>
                      <a:pt x="8" y="113"/>
                    </a:lnTo>
                    <a:lnTo>
                      <a:pt x="5" y="121"/>
                    </a:lnTo>
                    <a:lnTo>
                      <a:pt x="3" y="129"/>
                    </a:lnTo>
                    <a:lnTo>
                      <a:pt x="2" y="137"/>
                    </a:lnTo>
                    <a:lnTo>
                      <a:pt x="0" y="145"/>
                    </a:lnTo>
                    <a:lnTo>
                      <a:pt x="0" y="153"/>
                    </a:lnTo>
                    <a:lnTo>
                      <a:pt x="0" y="161"/>
                    </a:lnTo>
                    <a:lnTo>
                      <a:pt x="0" y="170"/>
                    </a:lnTo>
                    <a:lnTo>
                      <a:pt x="0" y="178"/>
                    </a:lnTo>
                    <a:lnTo>
                      <a:pt x="2" y="186"/>
                    </a:lnTo>
                    <a:lnTo>
                      <a:pt x="3" y="194"/>
                    </a:lnTo>
                    <a:lnTo>
                      <a:pt x="5" y="202"/>
                    </a:lnTo>
                    <a:lnTo>
                      <a:pt x="8" y="209"/>
                    </a:lnTo>
                    <a:lnTo>
                      <a:pt x="10" y="217"/>
                    </a:lnTo>
                    <a:lnTo>
                      <a:pt x="14" y="225"/>
                    </a:lnTo>
                    <a:lnTo>
                      <a:pt x="17" y="232"/>
                    </a:lnTo>
                    <a:lnTo>
                      <a:pt x="21" y="239"/>
                    </a:lnTo>
                    <a:lnTo>
                      <a:pt x="26" y="245"/>
                    </a:lnTo>
                    <a:lnTo>
                      <a:pt x="31" y="252"/>
                    </a:lnTo>
                    <a:lnTo>
                      <a:pt x="36" y="258"/>
                    </a:lnTo>
                    <a:lnTo>
                      <a:pt x="41" y="264"/>
                    </a:lnTo>
                    <a:lnTo>
                      <a:pt x="47" y="270"/>
                    </a:lnTo>
                    <a:lnTo>
                      <a:pt x="53" y="276"/>
                    </a:lnTo>
                    <a:lnTo>
                      <a:pt x="59" y="281"/>
                    </a:lnTo>
                    <a:lnTo>
                      <a:pt x="66" y="287"/>
                    </a:lnTo>
                    <a:lnTo>
                      <a:pt x="73" y="291"/>
                    </a:lnTo>
                    <a:lnTo>
                      <a:pt x="80" y="296"/>
                    </a:lnTo>
                    <a:lnTo>
                      <a:pt x="87" y="300"/>
                    </a:lnTo>
                    <a:lnTo>
                      <a:pt x="94" y="304"/>
                    </a:lnTo>
                    <a:lnTo>
                      <a:pt x="102" y="307"/>
                    </a:lnTo>
                    <a:lnTo>
                      <a:pt x="111" y="311"/>
                    </a:lnTo>
                    <a:lnTo>
                      <a:pt x="119" y="314"/>
                    </a:lnTo>
                    <a:lnTo>
                      <a:pt x="127" y="316"/>
                    </a:lnTo>
                    <a:lnTo>
                      <a:pt x="136" y="318"/>
                    </a:lnTo>
                    <a:lnTo>
                      <a:pt x="145" y="320"/>
                    </a:lnTo>
                    <a:lnTo>
                      <a:pt x="154" y="322"/>
                    </a:lnTo>
                    <a:lnTo>
                      <a:pt x="163" y="322"/>
                    </a:lnTo>
                    <a:lnTo>
                      <a:pt x="172" y="323"/>
                    </a:lnTo>
                    <a:lnTo>
                      <a:pt x="181" y="324"/>
                    </a:lnTo>
                    <a:lnTo>
                      <a:pt x="181" y="323"/>
                    </a:lnTo>
                    <a:lnTo>
                      <a:pt x="181" y="324"/>
                    </a:lnTo>
                  </a:path>
                </a:pathLst>
              </a:custGeom>
              <a:solidFill>
                <a:srgbClr val="CC0000"/>
              </a:solidFill>
              <a:ln w="9525" cap="rnd">
                <a:noFill/>
                <a:round/>
              </a:ln>
            </p:spPr>
            <p:txBody>
              <a:bodyPr wrap="none" lIns="98624" tIns="49313" rIns="98624" bIns="49313" anchor="ctr"/>
              <a:lstStyle/>
              <a:p>
                <a:endParaRPr lang="zh-CN" altLang="en-US"/>
              </a:p>
            </p:txBody>
          </p:sp>
          <p:sp>
            <p:nvSpPr>
              <p:cNvPr id="9356" name="Freeform 396"/>
              <p:cNvSpPr/>
              <p:nvPr/>
            </p:nvSpPr>
            <p:spPr bwMode="auto">
              <a:xfrm>
                <a:off x="1129" y="1162"/>
                <a:ext cx="305" cy="271"/>
              </a:xfrm>
              <a:custGeom>
                <a:avLst/>
                <a:gdLst>
                  <a:gd name="T0" fmla="*/ 167 w 305"/>
                  <a:gd name="T1" fmla="*/ 269 h 271"/>
                  <a:gd name="T2" fmla="*/ 190 w 305"/>
                  <a:gd name="T3" fmla="*/ 265 h 271"/>
                  <a:gd name="T4" fmla="*/ 211 w 305"/>
                  <a:gd name="T5" fmla="*/ 259 h 271"/>
                  <a:gd name="T6" fmla="*/ 230 w 305"/>
                  <a:gd name="T7" fmla="*/ 250 h 271"/>
                  <a:gd name="T8" fmla="*/ 248 w 305"/>
                  <a:gd name="T9" fmla="*/ 239 h 271"/>
                  <a:gd name="T10" fmla="*/ 264 w 305"/>
                  <a:gd name="T11" fmla="*/ 225 h 271"/>
                  <a:gd name="T12" fmla="*/ 277 w 305"/>
                  <a:gd name="T13" fmla="*/ 210 h 271"/>
                  <a:gd name="T14" fmla="*/ 288 w 305"/>
                  <a:gd name="T15" fmla="*/ 193 h 271"/>
                  <a:gd name="T16" fmla="*/ 296 w 305"/>
                  <a:gd name="T17" fmla="*/ 175 h 271"/>
                  <a:gd name="T18" fmla="*/ 302 w 305"/>
                  <a:gd name="T19" fmla="*/ 155 h 271"/>
                  <a:gd name="T20" fmla="*/ 304 w 305"/>
                  <a:gd name="T21" fmla="*/ 134 h 271"/>
                  <a:gd name="T22" fmla="*/ 302 w 305"/>
                  <a:gd name="T23" fmla="*/ 113 h 271"/>
                  <a:gd name="T24" fmla="*/ 296 w 305"/>
                  <a:gd name="T25" fmla="*/ 94 h 271"/>
                  <a:gd name="T26" fmla="*/ 288 w 305"/>
                  <a:gd name="T27" fmla="*/ 76 h 271"/>
                  <a:gd name="T28" fmla="*/ 277 w 305"/>
                  <a:gd name="T29" fmla="*/ 59 h 271"/>
                  <a:gd name="T30" fmla="*/ 264 w 305"/>
                  <a:gd name="T31" fmla="*/ 44 h 271"/>
                  <a:gd name="T32" fmla="*/ 248 w 305"/>
                  <a:gd name="T33" fmla="*/ 30 h 271"/>
                  <a:gd name="T34" fmla="*/ 230 w 305"/>
                  <a:gd name="T35" fmla="*/ 19 h 271"/>
                  <a:gd name="T36" fmla="*/ 211 w 305"/>
                  <a:gd name="T37" fmla="*/ 10 h 271"/>
                  <a:gd name="T38" fmla="*/ 190 w 305"/>
                  <a:gd name="T39" fmla="*/ 4 h 271"/>
                  <a:gd name="T40" fmla="*/ 167 w 305"/>
                  <a:gd name="T41" fmla="*/ 0 h 271"/>
                  <a:gd name="T42" fmla="*/ 144 w 305"/>
                  <a:gd name="T43" fmla="*/ 0 h 271"/>
                  <a:gd name="T44" fmla="*/ 121 w 305"/>
                  <a:gd name="T45" fmla="*/ 2 h 271"/>
                  <a:gd name="T46" fmla="*/ 99 w 305"/>
                  <a:gd name="T47" fmla="*/ 8 h 271"/>
                  <a:gd name="T48" fmla="*/ 79 w 305"/>
                  <a:gd name="T49" fmla="*/ 16 h 271"/>
                  <a:gd name="T50" fmla="*/ 61 w 305"/>
                  <a:gd name="T51" fmla="*/ 26 h 271"/>
                  <a:gd name="T52" fmla="*/ 44 w 305"/>
                  <a:gd name="T53" fmla="*/ 39 h 271"/>
                  <a:gd name="T54" fmla="*/ 30 w 305"/>
                  <a:gd name="T55" fmla="*/ 53 h 271"/>
                  <a:gd name="T56" fmla="*/ 18 w 305"/>
                  <a:gd name="T57" fmla="*/ 70 h 271"/>
                  <a:gd name="T58" fmla="*/ 9 w 305"/>
                  <a:gd name="T59" fmla="*/ 88 h 271"/>
                  <a:gd name="T60" fmla="*/ 3 w 305"/>
                  <a:gd name="T61" fmla="*/ 107 h 271"/>
                  <a:gd name="T62" fmla="*/ 0 w 305"/>
                  <a:gd name="T63" fmla="*/ 127 h 271"/>
                  <a:gd name="T64" fmla="*/ 0 w 305"/>
                  <a:gd name="T65" fmla="*/ 148 h 271"/>
                  <a:gd name="T66" fmla="*/ 5 w 305"/>
                  <a:gd name="T67" fmla="*/ 168 h 271"/>
                  <a:gd name="T68" fmla="*/ 12 w 305"/>
                  <a:gd name="T69" fmla="*/ 187 h 271"/>
                  <a:gd name="T70" fmla="*/ 22 w 305"/>
                  <a:gd name="T71" fmla="*/ 204 h 271"/>
                  <a:gd name="T72" fmla="*/ 35 w 305"/>
                  <a:gd name="T73" fmla="*/ 220 h 271"/>
                  <a:gd name="T74" fmla="*/ 49 w 305"/>
                  <a:gd name="T75" fmla="*/ 234 h 271"/>
                  <a:gd name="T76" fmla="*/ 67 w 305"/>
                  <a:gd name="T77" fmla="*/ 246 h 271"/>
                  <a:gd name="T78" fmla="*/ 86 w 305"/>
                  <a:gd name="T79" fmla="*/ 256 h 271"/>
                  <a:gd name="T80" fmla="*/ 106 w 305"/>
                  <a:gd name="T81" fmla="*/ 264 h 271"/>
                  <a:gd name="T82" fmla="*/ 128 w 305"/>
                  <a:gd name="T83" fmla="*/ 268 h 271"/>
                  <a:gd name="T84" fmla="*/ 152 w 305"/>
                  <a:gd name="T85" fmla="*/ 270 h 27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05"/>
                  <a:gd name="T130" fmla="*/ 0 h 271"/>
                  <a:gd name="T131" fmla="*/ 305 w 305"/>
                  <a:gd name="T132" fmla="*/ 271 h 27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05" h="271">
                    <a:moveTo>
                      <a:pt x="152" y="270"/>
                    </a:moveTo>
                    <a:lnTo>
                      <a:pt x="159" y="269"/>
                    </a:lnTo>
                    <a:lnTo>
                      <a:pt x="167" y="269"/>
                    </a:lnTo>
                    <a:lnTo>
                      <a:pt x="175" y="268"/>
                    </a:lnTo>
                    <a:lnTo>
                      <a:pt x="182" y="267"/>
                    </a:lnTo>
                    <a:lnTo>
                      <a:pt x="190" y="265"/>
                    </a:lnTo>
                    <a:lnTo>
                      <a:pt x="197" y="264"/>
                    </a:lnTo>
                    <a:lnTo>
                      <a:pt x="204" y="261"/>
                    </a:lnTo>
                    <a:lnTo>
                      <a:pt x="211" y="259"/>
                    </a:lnTo>
                    <a:lnTo>
                      <a:pt x="217" y="256"/>
                    </a:lnTo>
                    <a:lnTo>
                      <a:pt x="224" y="253"/>
                    </a:lnTo>
                    <a:lnTo>
                      <a:pt x="230" y="250"/>
                    </a:lnTo>
                    <a:lnTo>
                      <a:pt x="236" y="246"/>
                    </a:lnTo>
                    <a:lnTo>
                      <a:pt x="242" y="243"/>
                    </a:lnTo>
                    <a:lnTo>
                      <a:pt x="248" y="239"/>
                    </a:lnTo>
                    <a:lnTo>
                      <a:pt x="254" y="234"/>
                    </a:lnTo>
                    <a:lnTo>
                      <a:pt x="259" y="230"/>
                    </a:lnTo>
                    <a:lnTo>
                      <a:pt x="264" y="225"/>
                    </a:lnTo>
                    <a:lnTo>
                      <a:pt x="269" y="220"/>
                    </a:lnTo>
                    <a:lnTo>
                      <a:pt x="273" y="215"/>
                    </a:lnTo>
                    <a:lnTo>
                      <a:pt x="277" y="210"/>
                    </a:lnTo>
                    <a:lnTo>
                      <a:pt x="282" y="204"/>
                    </a:lnTo>
                    <a:lnTo>
                      <a:pt x="285" y="199"/>
                    </a:lnTo>
                    <a:lnTo>
                      <a:pt x="288" y="193"/>
                    </a:lnTo>
                    <a:lnTo>
                      <a:pt x="291" y="187"/>
                    </a:lnTo>
                    <a:lnTo>
                      <a:pt x="294" y="181"/>
                    </a:lnTo>
                    <a:lnTo>
                      <a:pt x="296" y="175"/>
                    </a:lnTo>
                    <a:lnTo>
                      <a:pt x="299" y="168"/>
                    </a:lnTo>
                    <a:lnTo>
                      <a:pt x="300" y="161"/>
                    </a:lnTo>
                    <a:lnTo>
                      <a:pt x="302" y="155"/>
                    </a:lnTo>
                    <a:lnTo>
                      <a:pt x="303" y="148"/>
                    </a:lnTo>
                    <a:lnTo>
                      <a:pt x="303" y="141"/>
                    </a:lnTo>
                    <a:lnTo>
                      <a:pt x="304" y="134"/>
                    </a:lnTo>
                    <a:lnTo>
                      <a:pt x="303" y="127"/>
                    </a:lnTo>
                    <a:lnTo>
                      <a:pt x="303" y="120"/>
                    </a:lnTo>
                    <a:lnTo>
                      <a:pt x="302" y="113"/>
                    </a:lnTo>
                    <a:lnTo>
                      <a:pt x="300" y="107"/>
                    </a:lnTo>
                    <a:lnTo>
                      <a:pt x="299" y="101"/>
                    </a:lnTo>
                    <a:lnTo>
                      <a:pt x="296" y="94"/>
                    </a:lnTo>
                    <a:lnTo>
                      <a:pt x="294" y="88"/>
                    </a:lnTo>
                    <a:lnTo>
                      <a:pt x="291" y="82"/>
                    </a:lnTo>
                    <a:lnTo>
                      <a:pt x="288" y="76"/>
                    </a:lnTo>
                    <a:lnTo>
                      <a:pt x="285" y="70"/>
                    </a:lnTo>
                    <a:lnTo>
                      <a:pt x="282" y="64"/>
                    </a:lnTo>
                    <a:lnTo>
                      <a:pt x="277" y="59"/>
                    </a:lnTo>
                    <a:lnTo>
                      <a:pt x="273" y="53"/>
                    </a:lnTo>
                    <a:lnTo>
                      <a:pt x="269" y="48"/>
                    </a:lnTo>
                    <a:lnTo>
                      <a:pt x="264" y="44"/>
                    </a:lnTo>
                    <a:lnTo>
                      <a:pt x="259" y="39"/>
                    </a:lnTo>
                    <a:lnTo>
                      <a:pt x="254" y="34"/>
                    </a:lnTo>
                    <a:lnTo>
                      <a:pt x="248" y="30"/>
                    </a:lnTo>
                    <a:lnTo>
                      <a:pt x="242" y="26"/>
                    </a:lnTo>
                    <a:lnTo>
                      <a:pt x="236" y="23"/>
                    </a:lnTo>
                    <a:lnTo>
                      <a:pt x="230" y="19"/>
                    </a:lnTo>
                    <a:lnTo>
                      <a:pt x="224" y="16"/>
                    </a:lnTo>
                    <a:lnTo>
                      <a:pt x="217" y="13"/>
                    </a:lnTo>
                    <a:lnTo>
                      <a:pt x="211" y="10"/>
                    </a:lnTo>
                    <a:lnTo>
                      <a:pt x="204" y="8"/>
                    </a:lnTo>
                    <a:lnTo>
                      <a:pt x="197" y="5"/>
                    </a:lnTo>
                    <a:lnTo>
                      <a:pt x="190" y="4"/>
                    </a:lnTo>
                    <a:lnTo>
                      <a:pt x="182" y="2"/>
                    </a:lnTo>
                    <a:lnTo>
                      <a:pt x="175" y="1"/>
                    </a:lnTo>
                    <a:lnTo>
                      <a:pt x="167" y="0"/>
                    </a:lnTo>
                    <a:lnTo>
                      <a:pt x="159" y="0"/>
                    </a:lnTo>
                    <a:lnTo>
                      <a:pt x="152" y="0"/>
                    </a:lnTo>
                    <a:lnTo>
                      <a:pt x="144" y="0"/>
                    </a:lnTo>
                    <a:lnTo>
                      <a:pt x="136" y="0"/>
                    </a:lnTo>
                    <a:lnTo>
                      <a:pt x="128" y="1"/>
                    </a:lnTo>
                    <a:lnTo>
                      <a:pt x="121" y="2"/>
                    </a:lnTo>
                    <a:lnTo>
                      <a:pt x="113" y="4"/>
                    </a:lnTo>
                    <a:lnTo>
                      <a:pt x="106" y="5"/>
                    </a:lnTo>
                    <a:lnTo>
                      <a:pt x="99" y="8"/>
                    </a:lnTo>
                    <a:lnTo>
                      <a:pt x="92" y="10"/>
                    </a:lnTo>
                    <a:lnTo>
                      <a:pt x="86" y="13"/>
                    </a:lnTo>
                    <a:lnTo>
                      <a:pt x="79" y="16"/>
                    </a:lnTo>
                    <a:lnTo>
                      <a:pt x="73" y="19"/>
                    </a:lnTo>
                    <a:lnTo>
                      <a:pt x="67" y="23"/>
                    </a:lnTo>
                    <a:lnTo>
                      <a:pt x="61" y="26"/>
                    </a:lnTo>
                    <a:lnTo>
                      <a:pt x="55" y="30"/>
                    </a:lnTo>
                    <a:lnTo>
                      <a:pt x="49" y="34"/>
                    </a:lnTo>
                    <a:lnTo>
                      <a:pt x="44" y="39"/>
                    </a:lnTo>
                    <a:lnTo>
                      <a:pt x="39" y="44"/>
                    </a:lnTo>
                    <a:lnTo>
                      <a:pt x="35" y="48"/>
                    </a:lnTo>
                    <a:lnTo>
                      <a:pt x="30" y="53"/>
                    </a:lnTo>
                    <a:lnTo>
                      <a:pt x="26" y="59"/>
                    </a:lnTo>
                    <a:lnTo>
                      <a:pt x="22" y="64"/>
                    </a:lnTo>
                    <a:lnTo>
                      <a:pt x="18" y="70"/>
                    </a:lnTo>
                    <a:lnTo>
                      <a:pt x="15" y="76"/>
                    </a:lnTo>
                    <a:lnTo>
                      <a:pt x="12" y="82"/>
                    </a:lnTo>
                    <a:lnTo>
                      <a:pt x="9" y="88"/>
                    </a:lnTo>
                    <a:lnTo>
                      <a:pt x="7" y="94"/>
                    </a:lnTo>
                    <a:lnTo>
                      <a:pt x="5" y="101"/>
                    </a:lnTo>
                    <a:lnTo>
                      <a:pt x="3" y="107"/>
                    </a:lnTo>
                    <a:lnTo>
                      <a:pt x="2" y="113"/>
                    </a:lnTo>
                    <a:lnTo>
                      <a:pt x="0" y="120"/>
                    </a:lnTo>
                    <a:lnTo>
                      <a:pt x="0" y="127"/>
                    </a:lnTo>
                    <a:lnTo>
                      <a:pt x="0" y="134"/>
                    </a:lnTo>
                    <a:lnTo>
                      <a:pt x="0" y="141"/>
                    </a:lnTo>
                    <a:lnTo>
                      <a:pt x="0" y="148"/>
                    </a:lnTo>
                    <a:lnTo>
                      <a:pt x="2" y="155"/>
                    </a:lnTo>
                    <a:lnTo>
                      <a:pt x="3" y="161"/>
                    </a:lnTo>
                    <a:lnTo>
                      <a:pt x="5" y="168"/>
                    </a:lnTo>
                    <a:lnTo>
                      <a:pt x="7" y="175"/>
                    </a:lnTo>
                    <a:lnTo>
                      <a:pt x="9" y="181"/>
                    </a:lnTo>
                    <a:lnTo>
                      <a:pt x="12" y="187"/>
                    </a:lnTo>
                    <a:lnTo>
                      <a:pt x="15" y="193"/>
                    </a:lnTo>
                    <a:lnTo>
                      <a:pt x="18" y="199"/>
                    </a:lnTo>
                    <a:lnTo>
                      <a:pt x="22" y="204"/>
                    </a:lnTo>
                    <a:lnTo>
                      <a:pt x="26" y="210"/>
                    </a:lnTo>
                    <a:lnTo>
                      <a:pt x="30" y="215"/>
                    </a:lnTo>
                    <a:lnTo>
                      <a:pt x="35" y="220"/>
                    </a:lnTo>
                    <a:lnTo>
                      <a:pt x="39" y="225"/>
                    </a:lnTo>
                    <a:lnTo>
                      <a:pt x="44" y="230"/>
                    </a:lnTo>
                    <a:lnTo>
                      <a:pt x="49" y="234"/>
                    </a:lnTo>
                    <a:lnTo>
                      <a:pt x="55" y="239"/>
                    </a:lnTo>
                    <a:lnTo>
                      <a:pt x="61" y="243"/>
                    </a:lnTo>
                    <a:lnTo>
                      <a:pt x="67" y="246"/>
                    </a:lnTo>
                    <a:lnTo>
                      <a:pt x="73" y="250"/>
                    </a:lnTo>
                    <a:lnTo>
                      <a:pt x="79" y="253"/>
                    </a:lnTo>
                    <a:lnTo>
                      <a:pt x="86" y="256"/>
                    </a:lnTo>
                    <a:lnTo>
                      <a:pt x="92" y="259"/>
                    </a:lnTo>
                    <a:lnTo>
                      <a:pt x="99" y="261"/>
                    </a:lnTo>
                    <a:lnTo>
                      <a:pt x="106" y="264"/>
                    </a:lnTo>
                    <a:lnTo>
                      <a:pt x="113" y="265"/>
                    </a:lnTo>
                    <a:lnTo>
                      <a:pt x="121" y="267"/>
                    </a:lnTo>
                    <a:lnTo>
                      <a:pt x="128" y="268"/>
                    </a:lnTo>
                    <a:lnTo>
                      <a:pt x="136" y="269"/>
                    </a:lnTo>
                    <a:lnTo>
                      <a:pt x="144" y="269"/>
                    </a:lnTo>
                    <a:lnTo>
                      <a:pt x="152" y="270"/>
                    </a:lnTo>
                  </a:path>
                </a:pathLst>
              </a:custGeom>
              <a:solidFill>
                <a:srgbClr val="FFFFFF"/>
              </a:solidFill>
              <a:ln w="9525" cap="rnd">
                <a:noFill/>
                <a:round/>
              </a:ln>
            </p:spPr>
            <p:txBody>
              <a:bodyPr wrap="none" lIns="98624" tIns="49313" rIns="98624" bIns="49313" anchor="ctr"/>
              <a:lstStyle/>
              <a:p>
                <a:endParaRPr lang="zh-CN" altLang="en-US"/>
              </a:p>
            </p:txBody>
          </p:sp>
          <p:sp>
            <p:nvSpPr>
              <p:cNvPr id="9357" name="Freeform 397"/>
              <p:cNvSpPr/>
              <p:nvPr/>
            </p:nvSpPr>
            <p:spPr bwMode="auto">
              <a:xfrm>
                <a:off x="1197" y="1164"/>
                <a:ext cx="176" cy="265"/>
              </a:xfrm>
              <a:custGeom>
                <a:avLst/>
                <a:gdLst>
                  <a:gd name="T0" fmla="*/ 175 w 176"/>
                  <a:gd name="T1" fmla="*/ 252 h 265"/>
                  <a:gd name="T2" fmla="*/ 20 w 176"/>
                  <a:gd name="T3" fmla="*/ 0 h 265"/>
                  <a:gd name="T4" fmla="*/ 0 w 176"/>
                  <a:gd name="T5" fmla="*/ 10 h 265"/>
                  <a:gd name="T6" fmla="*/ 153 w 176"/>
                  <a:gd name="T7" fmla="*/ 264 h 265"/>
                  <a:gd name="T8" fmla="*/ 175 w 176"/>
                  <a:gd name="T9" fmla="*/ 252 h 265"/>
                  <a:gd name="T10" fmla="*/ 0 60000 65536"/>
                  <a:gd name="T11" fmla="*/ 0 60000 65536"/>
                  <a:gd name="T12" fmla="*/ 0 60000 65536"/>
                  <a:gd name="T13" fmla="*/ 0 60000 65536"/>
                  <a:gd name="T14" fmla="*/ 0 60000 65536"/>
                  <a:gd name="T15" fmla="*/ 0 w 176"/>
                  <a:gd name="T16" fmla="*/ 0 h 265"/>
                  <a:gd name="T17" fmla="*/ 176 w 176"/>
                  <a:gd name="T18" fmla="*/ 265 h 265"/>
                </a:gdLst>
                <a:ahLst/>
                <a:cxnLst>
                  <a:cxn ang="T10">
                    <a:pos x="T0" y="T1"/>
                  </a:cxn>
                  <a:cxn ang="T11">
                    <a:pos x="T2" y="T3"/>
                  </a:cxn>
                  <a:cxn ang="T12">
                    <a:pos x="T4" y="T5"/>
                  </a:cxn>
                  <a:cxn ang="T13">
                    <a:pos x="T6" y="T7"/>
                  </a:cxn>
                  <a:cxn ang="T14">
                    <a:pos x="T8" y="T9"/>
                  </a:cxn>
                </a:cxnLst>
                <a:rect l="T15" t="T16" r="T17" b="T18"/>
                <a:pathLst>
                  <a:path w="176" h="265">
                    <a:moveTo>
                      <a:pt x="175" y="252"/>
                    </a:moveTo>
                    <a:lnTo>
                      <a:pt x="20" y="0"/>
                    </a:lnTo>
                    <a:lnTo>
                      <a:pt x="0" y="10"/>
                    </a:lnTo>
                    <a:lnTo>
                      <a:pt x="153" y="264"/>
                    </a:lnTo>
                    <a:lnTo>
                      <a:pt x="175" y="252"/>
                    </a:lnTo>
                  </a:path>
                </a:pathLst>
              </a:custGeom>
              <a:solidFill>
                <a:srgbClr val="CC0000"/>
              </a:solidFill>
              <a:ln w="9525" cap="rnd">
                <a:noFill/>
                <a:round/>
              </a:ln>
            </p:spPr>
            <p:txBody>
              <a:bodyPr wrap="none" lIns="98624" tIns="49313" rIns="98624" bIns="49313" anchor="ctr"/>
              <a:lstStyle/>
              <a:p>
                <a:endParaRPr lang="zh-CN" altLang="en-US"/>
              </a:p>
            </p:txBody>
          </p:sp>
        </p:grpSp>
        <p:sp>
          <p:nvSpPr>
            <p:cNvPr id="248206" name="Rectangle 398"/>
            <p:cNvSpPr>
              <a:spLocks noChangeArrowheads="1"/>
            </p:cNvSpPr>
            <p:nvPr/>
          </p:nvSpPr>
          <p:spPr bwMode="auto">
            <a:xfrm>
              <a:off x="412" y="1648"/>
              <a:ext cx="1372" cy="1096"/>
            </a:xfrm>
            <a:prstGeom prst="rect">
              <a:avLst/>
            </a:prstGeom>
            <a:solidFill>
              <a:srgbClr val="FFFF00"/>
            </a:solidFill>
            <a:ln w="50799">
              <a:solidFill>
                <a:srgbClr val="CC0000"/>
              </a:solidFill>
              <a:miter lim="800000"/>
            </a:ln>
            <a:effectLst/>
          </p:spPr>
          <p:txBody>
            <a:bodyPr wrap="none" lIns="98624" tIns="49313" rIns="98624" bIns="49313" anchor="ctr"/>
            <a:lstStyle/>
            <a:p>
              <a:pPr defTabSz="979805" eaLnBrk="0" hangingPunct="0">
                <a:defRPr/>
              </a:pPr>
              <a:r>
                <a:rPr kumimoji="1" lang="zh-CN" altLang="en-US" sz="2200" b="1" dirty="0">
                  <a:solidFill>
                    <a:srgbClr val="FF0000"/>
                  </a:solidFill>
                  <a:latin typeface="Helvetica" charset="0"/>
                </a:rPr>
                <a:t>警告</a:t>
              </a:r>
              <a:r>
                <a:rPr kumimoji="1" lang="en-US" altLang="zh-CN" sz="2200" b="1" dirty="0">
                  <a:solidFill>
                    <a:srgbClr val="FF0000"/>
                  </a:solidFill>
                  <a:latin typeface="Helvetica" charset="0"/>
                </a:rPr>
                <a:t>!</a:t>
              </a:r>
            </a:p>
            <a:p>
              <a:pPr defTabSz="979805" eaLnBrk="0" hangingPunct="0">
                <a:defRPr/>
              </a:pPr>
              <a:endParaRPr kumimoji="1" lang="en-US" altLang="zh-CN" sz="2200" b="1" dirty="0">
                <a:solidFill>
                  <a:srgbClr val="FF0000"/>
                </a:solidFill>
                <a:latin typeface="Helvetica" charset="0"/>
              </a:endParaRPr>
            </a:p>
            <a:p>
              <a:pPr defTabSz="979805" eaLnBrk="0" hangingPunct="0">
                <a:defRPr/>
              </a:pPr>
              <a:r>
                <a:rPr kumimoji="1" lang="zh-CN" altLang="en-US" sz="2000" b="1" dirty="0">
                  <a:solidFill>
                    <a:srgbClr val="FF0000"/>
                  </a:solidFill>
                  <a:latin typeface="Helvetica" charset="0"/>
                </a:rPr>
                <a:t>记录攻击</a:t>
              </a:r>
            </a:p>
          </p:txBody>
        </p:sp>
        <p:sp>
          <p:nvSpPr>
            <p:cNvPr id="9354" name="Line 399"/>
            <p:cNvSpPr>
              <a:spLocks noChangeShapeType="1"/>
            </p:cNvSpPr>
            <p:nvPr/>
          </p:nvSpPr>
          <p:spPr bwMode="auto">
            <a:xfrm flipH="1">
              <a:off x="1140" y="1440"/>
              <a:ext cx="84" cy="210"/>
            </a:xfrm>
            <a:prstGeom prst="line">
              <a:avLst/>
            </a:prstGeom>
            <a:noFill/>
            <a:ln w="50799">
              <a:solidFill>
                <a:srgbClr val="CC0000"/>
              </a:solidFill>
              <a:round/>
              <a:headEnd type="none" w="sm" len="sm"/>
              <a:tailEnd type="none" w="sm" len="sm"/>
            </a:ln>
          </p:spPr>
          <p:txBody>
            <a:bodyPr wrap="none" lIns="98624" tIns="49313" rIns="98624" bIns="49313" anchor="ctr"/>
            <a:lstStyle/>
            <a:p>
              <a:endParaRPr lang="zh-CN" altLang="en-US"/>
            </a:p>
          </p:txBody>
        </p:sp>
      </p:grpSp>
      <p:sp>
        <p:nvSpPr>
          <p:cNvPr id="248208" name="Line 400"/>
          <p:cNvSpPr>
            <a:spLocks noChangeShapeType="1"/>
          </p:cNvSpPr>
          <p:nvPr/>
        </p:nvSpPr>
        <p:spPr bwMode="auto">
          <a:xfrm flipH="1">
            <a:off x="3108325" y="2158516"/>
            <a:ext cx="708025" cy="0"/>
          </a:xfrm>
          <a:prstGeom prst="line">
            <a:avLst/>
          </a:prstGeom>
          <a:noFill/>
          <a:ln w="126999">
            <a:solidFill>
              <a:srgbClr val="66FF33"/>
            </a:solidFill>
            <a:round/>
            <a:headEnd type="none" w="sm" len="sm"/>
            <a:tailEnd type="none" w="sm" len="sm"/>
          </a:ln>
        </p:spPr>
        <p:txBody>
          <a:bodyPr wrap="none" anchor="ctr"/>
          <a:lstStyle/>
          <a:p>
            <a:endParaRPr lang="zh-CN" altLang="en-US"/>
          </a:p>
        </p:txBody>
      </p:sp>
      <p:sp>
        <p:nvSpPr>
          <p:cNvPr id="248209" name="Line 401"/>
          <p:cNvSpPr>
            <a:spLocks noChangeShapeType="1"/>
          </p:cNvSpPr>
          <p:nvPr/>
        </p:nvSpPr>
        <p:spPr bwMode="auto">
          <a:xfrm flipV="1">
            <a:off x="3773488" y="2088666"/>
            <a:ext cx="0" cy="1485900"/>
          </a:xfrm>
          <a:prstGeom prst="line">
            <a:avLst/>
          </a:prstGeom>
          <a:noFill/>
          <a:ln w="126999">
            <a:solidFill>
              <a:srgbClr val="66FF33"/>
            </a:solidFill>
            <a:round/>
            <a:headEnd type="none" w="sm" len="sm"/>
            <a:tailEnd type="none" w="sm" len="sm"/>
          </a:ln>
        </p:spPr>
        <p:txBody>
          <a:bodyPr wrap="none" anchor="ctr"/>
          <a:lstStyle/>
          <a:p>
            <a:endParaRPr lang="zh-CN" altLang="en-US"/>
          </a:p>
        </p:txBody>
      </p:sp>
      <p:sp>
        <p:nvSpPr>
          <p:cNvPr id="248210" name="Line 402"/>
          <p:cNvSpPr>
            <a:spLocks noChangeShapeType="1"/>
          </p:cNvSpPr>
          <p:nvPr/>
        </p:nvSpPr>
        <p:spPr bwMode="auto">
          <a:xfrm flipH="1">
            <a:off x="3716338" y="3561866"/>
            <a:ext cx="381000" cy="0"/>
          </a:xfrm>
          <a:prstGeom prst="line">
            <a:avLst/>
          </a:prstGeom>
          <a:noFill/>
          <a:ln w="126999">
            <a:solidFill>
              <a:srgbClr val="66FF33"/>
            </a:solidFill>
            <a:round/>
            <a:headEnd type="none" w="sm" len="sm"/>
            <a:tailEnd type="none" w="sm" len="sm"/>
          </a:ln>
        </p:spPr>
        <p:txBody>
          <a:bodyPr wrap="none" anchor="ctr"/>
          <a:lstStyle/>
          <a:p>
            <a:endParaRPr lang="zh-CN" altLang="en-US"/>
          </a:p>
        </p:txBody>
      </p:sp>
      <p:sp>
        <p:nvSpPr>
          <p:cNvPr id="248211" name="Line 403"/>
          <p:cNvSpPr>
            <a:spLocks noChangeShapeType="1"/>
          </p:cNvSpPr>
          <p:nvPr/>
        </p:nvSpPr>
        <p:spPr bwMode="auto">
          <a:xfrm flipH="1">
            <a:off x="4565650" y="3530116"/>
            <a:ext cx="546100" cy="0"/>
          </a:xfrm>
          <a:prstGeom prst="line">
            <a:avLst/>
          </a:prstGeom>
          <a:noFill/>
          <a:ln w="126999">
            <a:solidFill>
              <a:srgbClr val="66FF33"/>
            </a:solidFill>
            <a:round/>
            <a:headEnd type="none" w="sm" len="sm"/>
            <a:tailEnd type="none" w="sm" len="sm"/>
          </a:ln>
        </p:spPr>
        <p:txBody>
          <a:bodyPr wrap="none" anchor="ctr"/>
          <a:lstStyle/>
          <a:p>
            <a:endParaRPr lang="zh-CN" altLang="en-US"/>
          </a:p>
        </p:txBody>
      </p:sp>
      <p:sp>
        <p:nvSpPr>
          <p:cNvPr id="248212" name="Line 404"/>
          <p:cNvSpPr>
            <a:spLocks noChangeShapeType="1"/>
          </p:cNvSpPr>
          <p:nvPr/>
        </p:nvSpPr>
        <p:spPr bwMode="auto">
          <a:xfrm flipH="1">
            <a:off x="5530850" y="3187216"/>
            <a:ext cx="523875" cy="276225"/>
          </a:xfrm>
          <a:prstGeom prst="line">
            <a:avLst/>
          </a:prstGeom>
          <a:noFill/>
          <a:ln w="126999">
            <a:solidFill>
              <a:srgbClr val="66FF33"/>
            </a:solidFill>
            <a:round/>
            <a:headEnd type="none" w="sm" len="sm"/>
            <a:tailEnd type="none" w="sm" len="sm"/>
          </a:ln>
        </p:spPr>
        <p:txBody>
          <a:bodyPr wrap="none" anchor="ctr"/>
          <a:lstStyle/>
          <a:p>
            <a:endParaRPr lang="zh-CN" altLang="en-US"/>
          </a:p>
        </p:txBody>
      </p:sp>
      <p:sp>
        <p:nvSpPr>
          <p:cNvPr id="248213" name="Line 405"/>
          <p:cNvSpPr>
            <a:spLocks noChangeShapeType="1"/>
          </p:cNvSpPr>
          <p:nvPr/>
        </p:nvSpPr>
        <p:spPr bwMode="auto">
          <a:xfrm flipH="1">
            <a:off x="6419850" y="2717316"/>
            <a:ext cx="503238" cy="269875"/>
          </a:xfrm>
          <a:prstGeom prst="line">
            <a:avLst/>
          </a:prstGeom>
          <a:noFill/>
          <a:ln w="126999">
            <a:solidFill>
              <a:srgbClr val="66FF33"/>
            </a:solidFill>
            <a:round/>
            <a:headEnd type="none" w="sm" len="sm"/>
            <a:tailEnd type="none" w="sm" len="sm"/>
          </a:ln>
        </p:spPr>
        <p:txBody>
          <a:bodyPr wrap="none" anchor="ctr"/>
          <a:lstStyle/>
          <a:p>
            <a:endParaRPr lang="zh-CN" altLang="en-US"/>
          </a:p>
        </p:txBody>
      </p:sp>
      <p:sp>
        <p:nvSpPr>
          <p:cNvPr id="248214" name="Line 406"/>
          <p:cNvSpPr>
            <a:spLocks noChangeShapeType="1"/>
          </p:cNvSpPr>
          <p:nvPr/>
        </p:nvSpPr>
        <p:spPr bwMode="auto">
          <a:xfrm flipV="1">
            <a:off x="7780338" y="2764941"/>
            <a:ext cx="0" cy="822325"/>
          </a:xfrm>
          <a:prstGeom prst="line">
            <a:avLst/>
          </a:prstGeom>
          <a:noFill/>
          <a:ln w="126999">
            <a:solidFill>
              <a:srgbClr val="66FF33"/>
            </a:solidFill>
            <a:round/>
            <a:headEnd type="none" w="sm" len="sm"/>
            <a:tailEnd type="none" w="sm" len="sm"/>
          </a:ln>
        </p:spPr>
        <p:txBody>
          <a:bodyPr wrap="none" anchor="ctr"/>
          <a:lstStyle/>
          <a:p>
            <a:endParaRPr lang="zh-CN" altLang="en-US"/>
          </a:p>
        </p:txBody>
      </p:sp>
      <p:grpSp>
        <p:nvGrpSpPr>
          <p:cNvPr id="248078" name="Group 407"/>
          <p:cNvGrpSpPr/>
          <p:nvPr/>
        </p:nvGrpSpPr>
        <p:grpSpPr bwMode="auto">
          <a:xfrm>
            <a:off x="6935787" y="3536466"/>
            <a:ext cx="1617290" cy="1660529"/>
            <a:chOff x="3744" y="2107"/>
            <a:chExt cx="905" cy="1045"/>
          </a:xfrm>
        </p:grpSpPr>
        <p:grpSp>
          <p:nvGrpSpPr>
            <p:cNvPr id="248079" name="Group 408"/>
            <p:cNvGrpSpPr/>
            <p:nvPr/>
          </p:nvGrpSpPr>
          <p:grpSpPr bwMode="auto">
            <a:xfrm>
              <a:off x="3753" y="2107"/>
              <a:ext cx="710" cy="623"/>
              <a:chOff x="3753" y="2107"/>
              <a:chExt cx="710" cy="623"/>
            </a:xfrm>
          </p:grpSpPr>
          <p:grpSp>
            <p:nvGrpSpPr>
              <p:cNvPr id="248080" name="Group 409"/>
              <p:cNvGrpSpPr/>
              <p:nvPr/>
            </p:nvGrpSpPr>
            <p:grpSpPr bwMode="auto">
              <a:xfrm>
                <a:off x="3753" y="2107"/>
                <a:ext cx="710" cy="623"/>
                <a:chOff x="3753" y="2107"/>
                <a:chExt cx="710" cy="623"/>
              </a:xfrm>
            </p:grpSpPr>
            <p:grpSp>
              <p:nvGrpSpPr>
                <p:cNvPr id="248081" name="Group 410"/>
                <p:cNvGrpSpPr/>
                <p:nvPr/>
              </p:nvGrpSpPr>
              <p:grpSpPr bwMode="auto">
                <a:xfrm>
                  <a:off x="3753" y="2107"/>
                  <a:ext cx="710" cy="623"/>
                  <a:chOff x="3753" y="2107"/>
                  <a:chExt cx="710" cy="623"/>
                </a:xfrm>
              </p:grpSpPr>
              <p:sp>
                <p:nvSpPr>
                  <p:cNvPr id="9334" name="Freeform 411"/>
                  <p:cNvSpPr/>
                  <p:nvPr/>
                </p:nvSpPr>
                <p:spPr bwMode="auto">
                  <a:xfrm>
                    <a:off x="3997" y="2526"/>
                    <a:ext cx="340" cy="76"/>
                  </a:xfrm>
                  <a:custGeom>
                    <a:avLst/>
                    <a:gdLst>
                      <a:gd name="T0" fmla="*/ 0 w 340"/>
                      <a:gd name="T1" fmla="*/ 75 h 76"/>
                      <a:gd name="T2" fmla="*/ 254 w 340"/>
                      <a:gd name="T3" fmla="*/ 75 h 76"/>
                      <a:gd name="T4" fmla="*/ 339 w 340"/>
                      <a:gd name="T5" fmla="*/ 0 h 76"/>
                      <a:gd name="T6" fmla="*/ 80 w 340"/>
                      <a:gd name="T7" fmla="*/ 0 h 76"/>
                      <a:gd name="T8" fmla="*/ 0 w 340"/>
                      <a:gd name="T9" fmla="*/ 75 h 76"/>
                      <a:gd name="T10" fmla="*/ 0 60000 65536"/>
                      <a:gd name="T11" fmla="*/ 0 60000 65536"/>
                      <a:gd name="T12" fmla="*/ 0 60000 65536"/>
                      <a:gd name="T13" fmla="*/ 0 60000 65536"/>
                      <a:gd name="T14" fmla="*/ 0 60000 65536"/>
                      <a:gd name="T15" fmla="*/ 0 w 340"/>
                      <a:gd name="T16" fmla="*/ 0 h 76"/>
                      <a:gd name="T17" fmla="*/ 340 w 340"/>
                      <a:gd name="T18" fmla="*/ 76 h 76"/>
                    </a:gdLst>
                    <a:ahLst/>
                    <a:cxnLst>
                      <a:cxn ang="T10">
                        <a:pos x="T0" y="T1"/>
                      </a:cxn>
                      <a:cxn ang="T11">
                        <a:pos x="T2" y="T3"/>
                      </a:cxn>
                      <a:cxn ang="T12">
                        <a:pos x="T4" y="T5"/>
                      </a:cxn>
                      <a:cxn ang="T13">
                        <a:pos x="T6" y="T7"/>
                      </a:cxn>
                      <a:cxn ang="T14">
                        <a:pos x="T8" y="T9"/>
                      </a:cxn>
                    </a:cxnLst>
                    <a:rect l="T15" t="T16" r="T17" b="T18"/>
                    <a:pathLst>
                      <a:path w="340" h="76">
                        <a:moveTo>
                          <a:pt x="0" y="75"/>
                        </a:moveTo>
                        <a:lnTo>
                          <a:pt x="254" y="75"/>
                        </a:lnTo>
                        <a:lnTo>
                          <a:pt x="339" y="0"/>
                        </a:lnTo>
                        <a:lnTo>
                          <a:pt x="80" y="0"/>
                        </a:lnTo>
                        <a:lnTo>
                          <a:pt x="0" y="75"/>
                        </a:lnTo>
                      </a:path>
                    </a:pathLst>
                  </a:custGeom>
                  <a:solidFill>
                    <a:schemeClr val="bg2"/>
                  </a:solidFill>
                  <a:ln w="9525" cap="rnd">
                    <a:noFill/>
                    <a:round/>
                  </a:ln>
                </p:spPr>
                <p:txBody>
                  <a:bodyPr wrap="none" lIns="98624" tIns="49313" rIns="98624" bIns="49313">
                    <a:spAutoFit/>
                  </a:bodyPr>
                  <a:lstStyle/>
                  <a:p>
                    <a:endParaRPr lang="zh-CN" altLang="en-US"/>
                  </a:p>
                </p:txBody>
              </p:sp>
              <p:sp>
                <p:nvSpPr>
                  <p:cNvPr id="9335" name="Freeform 412"/>
                  <p:cNvSpPr/>
                  <p:nvPr/>
                </p:nvSpPr>
                <p:spPr bwMode="auto">
                  <a:xfrm>
                    <a:off x="4098" y="2543"/>
                    <a:ext cx="120" cy="37"/>
                  </a:xfrm>
                  <a:custGeom>
                    <a:avLst/>
                    <a:gdLst>
                      <a:gd name="T0" fmla="*/ 0 w 120"/>
                      <a:gd name="T1" fmla="*/ 36 h 37"/>
                      <a:gd name="T2" fmla="*/ 119 w 120"/>
                      <a:gd name="T3" fmla="*/ 36 h 37"/>
                      <a:gd name="T4" fmla="*/ 119 w 120"/>
                      <a:gd name="T5" fmla="*/ 0 h 37"/>
                      <a:gd name="T6" fmla="*/ 0 w 120"/>
                      <a:gd name="T7" fmla="*/ 0 h 37"/>
                      <a:gd name="T8" fmla="*/ 0 w 120"/>
                      <a:gd name="T9" fmla="*/ 36 h 37"/>
                      <a:gd name="T10" fmla="*/ 0 60000 65536"/>
                      <a:gd name="T11" fmla="*/ 0 60000 65536"/>
                      <a:gd name="T12" fmla="*/ 0 60000 65536"/>
                      <a:gd name="T13" fmla="*/ 0 60000 65536"/>
                      <a:gd name="T14" fmla="*/ 0 60000 65536"/>
                      <a:gd name="T15" fmla="*/ 0 w 120"/>
                      <a:gd name="T16" fmla="*/ 0 h 37"/>
                      <a:gd name="T17" fmla="*/ 120 w 120"/>
                      <a:gd name="T18" fmla="*/ 37 h 37"/>
                    </a:gdLst>
                    <a:ahLst/>
                    <a:cxnLst>
                      <a:cxn ang="T10">
                        <a:pos x="T0" y="T1"/>
                      </a:cxn>
                      <a:cxn ang="T11">
                        <a:pos x="T2" y="T3"/>
                      </a:cxn>
                      <a:cxn ang="T12">
                        <a:pos x="T4" y="T5"/>
                      </a:cxn>
                      <a:cxn ang="T13">
                        <a:pos x="T6" y="T7"/>
                      </a:cxn>
                      <a:cxn ang="T14">
                        <a:pos x="T8" y="T9"/>
                      </a:cxn>
                    </a:cxnLst>
                    <a:rect l="T15" t="T16" r="T17" b="T18"/>
                    <a:pathLst>
                      <a:path w="120" h="37">
                        <a:moveTo>
                          <a:pt x="0" y="36"/>
                        </a:moveTo>
                        <a:lnTo>
                          <a:pt x="119" y="36"/>
                        </a:lnTo>
                        <a:lnTo>
                          <a:pt x="119" y="0"/>
                        </a:lnTo>
                        <a:lnTo>
                          <a:pt x="0" y="0"/>
                        </a:lnTo>
                        <a:lnTo>
                          <a:pt x="0" y="36"/>
                        </a:lnTo>
                      </a:path>
                    </a:pathLst>
                  </a:custGeom>
                  <a:solidFill>
                    <a:schemeClr val="bg2"/>
                  </a:solidFill>
                  <a:ln w="9525" cap="rnd">
                    <a:noFill/>
                    <a:round/>
                  </a:ln>
                </p:spPr>
                <p:txBody>
                  <a:bodyPr wrap="none" lIns="98624" tIns="49313" rIns="98624" bIns="49313">
                    <a:spAutoFit/>
                  </a:bodyPr>
                  <a:lstStyle/>
                  <a:p>
                    <a:endParaRPr lang="zh-CN" altLang="en-US"/>
                  </a:p>
                </p:txBody>
              </p:sp>
              <p:sp>
                <p:nvSpPr>
                  <p:cNvPr id="9336" name="Freeform 413"/>
                  <p:cNvSpPr/>
                  <p:nvPr/>
                </p:nvSpPr>
                <p:spPr bwMode="auto">
                  <a:xfrm>
                    <a:off x="4256" y="2523"/>
                    <a:ext cx="108" cy="96"/>
                  </a:xfrm>
                  <a:custGeom>
                    <a:avLst/>
                    <a:gdLst>
                      <a:gd name="T0" fmla="*/ 107 w 108"/>
                      <a:gd name="T1" fmla="*/ 1 h 96"/>
                      <a:gd name="T2" fmla="*/ 84 w 108"/>
                      <a:gd name="T3" fmla="*/ 0 h 96"/>
                      <a:gd name="T4" fmla="*/ 0 w 108"/>
                      <a:gd name="T5" fmla="*/ 73 h 96"/>
                      <a:gd name="T6" fmla="*/ 0 w 108"/>
                      <a:gd name="T7" fmla="*/ 95 h 96"/>
                      <a:gd name="T8" fmla="*/ 107 w 108"/>
                      <a:gd name="T9" fmla="*/ 1 h 96"/>
                      <a:gd name="T10" fmla="*/ 0 60000 65536"/>
                      <a:gd name="T11" fmla="*/ 0 60000 65536"/>
                      <a:gd name="T12" fmla="*/ 0 60000 65536"/>
                      <a:gd name="T13" fmla="*/ 0 60000 65536"/>
                      <a:gd name="T14" fmla="*/ 0 60000 65536"/>
                      <a:gd name="T15" fmla="*/ 0 w 108"/>
                      <a:gd name="T16" fmla="*/ 0 h 96"/>
                      <a:gd name="T17" fmla="*/ 108 w 108"/>
                      <a:gd name="T18" fmla="*/ 96 h 96"/>
                    </a:gdLst>
                    <a:ahLst/>
                    <a:cxnLst>
                      <a:cxn ang="T10">
                        <a:pos x="T0" y="T1"/>
                      </a:cxn>
                      <a:cxn ang="T11">
                        <a:pos x="T2" y="T3"/>
                      </a:cxn>
                      <a:cxn ang="T12">
                        <a:pos x="T4" y="T5"/>
                      </a:cxn>
                      <a:cxn ang="T13">
                        <a:pos x="T6" y="T7"/>
                      </a:cxn>
                      <a:cxn ang="T14">
                        <a:pos x="T8" y="T9"/>
                      </a:cxn>
                    </a:cxnLst>
                    <a:rect l="T15" t="T16" r="T17" b="T18"/>
                    <a:pathLst>
                      <a:path w="108" h="96">
                        <a:moveTo>
                          <a:pt x="107" y="1"/>
                        </a:moveTo>
                        <a:lnTo>
                          <a:pt x="84" y="0"/>
                        </a:lnTo>
                        <a:lnTo>
                          <a:pt x="0" y="73"/>
                        </a:lnTo>
                        <a:lnTo>
                          <a:pt x="0" y="95"/>
                        </a:lnTo>
                        <a:lnTo>
                          <a:pt x="107" y="1"/>
                        </a:lnTo>
                      </a:path>
                    </a:pathLst>
                  </a:custGeom>
                  <a:solidFill>
                    <a:schemeClr val="bg2"/>
                  </a:solidFill>
                  <a:ln w="9525" cap="rnd">
                    <a:noFill/>
                    <a:round/>
                  </a:ln>
                </p:spPr>
                <p:txBody>
                  <a:bodyPr wrap="none" lIns="98624" tIns="49313" rIns="98624" bIns="49313">
                    <a:spAutoFit/>
                  </a:bodyPr>
                  <a:lstStyle/>
                  <a:p>
                    <a:endParaRPr lang="zh-CN" altLang="en-US"/>
                  </a:p>
                </p:txBody>
              </p:sp>
              <p:sp>
                <p:nvSpPr>
                  <p:cNvPr id="9337" name="Freeform 414"/>
                  <p:cNvSpPr/>
                  <p:nvPr/>
                </p:nvSpPr>
                <p:spPr bwMode="auto">
                  <a:xfrm>
                    <a:off x="3997" y="2601"/>
                    <a:ext cx="260" cy="33"/>
                  </a:xfrm>
                  <a:custGeom>
                    <a:avLst/>
                    <a:gdLst>
                      <a:gd name="T0" fmla="*/ 259 w 260"/>
                      <a:gd name="T1" fmla="*/ 32 h 33"/>
                      <a:gd name="T2" fmla="*/ 0 w 260"/>
                      <a:gd name="T3" fmla="*/ 32 h 33"/>
                      <a:gd name="T4" fmla="*/ 0 w 260"/>
                      <a:gd name="T5" fmla="*/ 0 h 33"/>
                      <a:gd name="T6" fmla="*/ 259 w 260"/>
                      <a:gd name="T7" fmla="*/ 0 h 33"/>
                      <a:gd name="T8" fmla="*/ 259 w 260"/>
                      <a:gd name="T9" fmla="*/ 32 h 33"/>
                      <a:gd name="T10" fmla="*/ 0 60000 65536"/>
                      <a:gd name="T11" fmla="*/ 0 60000 65536"/>
                      <a:gd name="T12" fmla="*/ 0 60000 65536"/>
                      <a:gd name="T13" fmla="*/ 0 60000 65536"/>
                      <a:gd name="T14" fmla="*/ 0 60000 65536"/>
                      <a:gd name="T15" fmla="*/ 0 w 260"/>
                      <a:gd name="T16" fmla="*/ 0 h 33"/>
                      <a:gd name="T17" fmla="*/ 260 w 260"/>
                      <a:gd name="T18" fmla="*/ 33 h 33"/>
                    </a:gdLst>
                    <a:ahLst/>
                    <a:cxnLst>
                      <a:cxn ang="T10">
                        <a:pos x="T0" y="T1"/>
                      </a:cxn>
                      <a:cxn ang="T11">
                        <a:pos x="T2" y="T3"/>
                      </a:cxn>
                      <a:cxn ang="T12">
                        <a:pos x="T4" y="T5"/>
                      </a:cxn>
                      <a:cxn ang="T13">
                        <a:pos x="T6" y="T7"/>
                      </a:cxn>
                      <a:cxn ang="T14">
                        <a:pos x="T8" y="T9"/>
                      </a:cxn>
                    </a:cxnLst>
                    <a:rect l="T15" t="T16" r="T17" b="T18"/>
                    <a:pathLst>
                      <a:path w="260" h="33">
                        <a:moveTo>
                          <a:pt x="259" y="32"/>
                        </a:moveTo>
                        <a:lnTo>
                          <a:pt x="0" y="32"/>
                        </a:lnTo>
                        <a:lnTo>
                          <a:pt x="0" y="0"/>
                        </a:lnTo>
                        <a:lnTo>
                          <a:pt x="259" y="0"/>
                        </a:lnTo>
                        <a:lnTo>
                          <a:pt x="259" y="32"/>
                        </a:lnTo>
                      </a:path>
                    </a:pathLst>
                  </a:custGeom>
                  <a:solidFill>
                    <a:schemeClr val="bg2"/>
                  </a:solidFill>
                  <a:ln w="9525" cap="rnd">
                    <a:noFill/>
                    <a:round/>
                  </a:ln>
                </p:spPr>
                <p:txBody>
                  <a:bodyPr wrap="none" lIns="98624" tIns="49313" rIns="98624" bIns="49313">
                    <a:spAutoFit/>
                  </a:bodyPr>
                  <a:lstStyle/>
                  <a:p>
                    <a:endParaRPr lang="zh-CN" altLang="en-US"/>
                  </a:p>
                </p:txBody>
              </p:sp>
              <p:sp>
                <p:nvSpPr>
                  <p:cNvPr id="9338" name="Freeform 415"/>
                  <p:cNvSpPr/>
                  <p:nvPr/>
                </p:nvSpPr>
                <p:spPr bwMode="auto">
                  <a:xfrm>
                    <a:off x="4097" y="2531"/>
                    <a:ext cx="173" cy="49"/>
                  </a:xfrm>
                  <a:custGeom>
                    <a:avLst/>
                    <a:gdLst>
                      <a:gd name="T0" fmla="*/ 0 w 173"/>
                      <a:gd name="T1" fmla="*/ 0 h 49"/>
                      <a:gd name="T2" fmla="*/ 0 w 173"/>
                      <a:gd name="T3" fmla="*/ 12 h 49"/>
                      <a:gd name="T4" fmla="*/ 120 w 173"/>
                      <a:gd name="T5" fmla="*/ 12 h 49"/>
                      <a:gd name="T6" fmla="*/ 120 w 173"/>
                      <a:gd name="T7" fmla="*/ 48 h 49"/>
                      <a:gd name="T8" fmla="*/ 172 w 173"/>
                      <a:gd name="T9" fmla="*/ 0 h 49"/>
                      <a:gd name="T10" fmla="*/ 0 w 173"/>
                      <a:gd name="T11" fmla="*/ 0 h 49"/>
                      <a:gd name="T12" fmla="*/ 0 60000 65536"/>
                      <a:gd name="T13" fmla="*/ 0 60000 65536"/>
                      <a:gd name="T14" fmla="*/ 0 60000 65536"/>
                      <a:gd name="T15" fmla="*/ 0 60000 65536"/>
                      <a:gd name="T16" fmla="*/ 0 60000 65536"/>
                      <a:gd name="T17" fmla="*/ 0 60000 65536"/>
                      <a:gd name="T18" fmla="*/ 0 w 173"/>
                      <a:gd name="T19" fmla="*/ 0 h 49"/>
                      <a:gd name="T20" fmla="*/ 173 w 173"/>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173" h="49">
                        <a:moveTo>
                          <a:pt x="0" y="0"/>
                        </a:moveTo>
                        <a:lnTo>
                          <a:pt x="0" y="12"/>
                        </a:lnTo>
                        <a:lnTo>
                          <a:pt x="120" y="12"/>
                        </a:lnTo>
                        <a:lnTo>
                          <a:pt x="120" y="48"/>
                        </a:lnTo>
                        <a:lnTo>
                          <a:pt x="172" y="0"/>
                        </a:lnTo>
                        <a:lnTo>
                          <a:pt x="0" y="0"/>
                        </a:lnTo>
                      </a:path>
                    </a:pathLst>
                  </a:custGeom>
                  <a:solidFill>
                    <a:schemeClr val="bg2"/>
                  </a:solidFill>
                  <a:ln w="9525" cap="rnd">
                    <a:noFill/>
                    <a:round/>
                  </a:ln>
                </p:spPr>
                <p:txBody>
                  <a:bodyPr wrap="none" lIns="98624" tIns="49313" rIns="98624" bIns="49313">
                    <a:spAutoFit/>
                  </a:bodyPr>
                  <a:lstStyle/>
                  <a:p>
                    <a:endParaRPr lang="zh-CN" altLang="en-US"/>
                  </a:p>
                </p:txBody>
              </p:sp>
              <p:sp>
                <p:nvSpPr>
                  <p:cNvPr id="9339" name="Freeform 416"/>
                  <p:cNvSpPr/>
                  <p:nvPr/>
                </p:nvSpPr>
                <p:spPr bwMode="auto">
                  <a:xfrm>
                    <a:off x="4369" y="2640"/>
                    <a:ext cx="70" cy="90"/>
                  </a:xfrm>
                  <a:custGeom>
                    <a:avLst/>
                    <a:gdLst>
                      <a:gd name="T0" fmla="*/ 0 w 70"/>
                      <a:gd name="T1" fmla="*/ 89 h 90"/>
                      <a:gd name="T2" fmla="*/ 0 w 70"/>
                      <a:gd name="T3" fmla="*/ 58 h 90"/>
                      <a:gd name="T4" fmla="*/ 69 w 70"/>
                      <a:gd name="T5" fmla="*/ 0 h 90"/>
                      <a:gd name="T6" fmla="*/ 69 w 70"/>
                      <a:gd name="T7" fmla="*/ 30 h 90"/>
                      <a:gd name="T8" fmla="*/ 0 w 70"/>
                      <a:gd name="T9" fmla="*/ 89 h 90"/>
                      <a:gd name="T10" fmla="*/ 0 60000 65536"/>
                      <a:gd name="T11" fmla="*/ 0 60000 65536"/>
                      <a:gd name="T12" fmla="*/ 0 60000 65536"/>
                      <a:gd name="T13" fmla="*/ 0 60000 65536"/>
                      <a:gd name="T14" fmla="*/ 0 60000 65536"/>
                      <a:gd name="T15" fmla="*/ 0 w 70"/>
                      <a:gd name="T16" fmla="*/ 0 h 90"/>
                      <a:gd name="T17" fmla="*/ 70 w 70"/>
                      <a:gd name="T18" fmla="*/ 90 h 90"/>
                    </a:gdLst>
                    <a:ahLst/>
                    <a:cxnLst>
                      <a:cxn ang="T10">
                        <a:pos x="T0" y="T1"/>
                      </a:cxn>
                      <a:cxn ang="T11">
                        <a:pos x="T2" y="T3"/>
                      </a:cxn>
                      <a:cxn ang="T12">
                        <a:pos x="T4" y="T5"/>
                      </a:cxn>
                      <a:cxn ang="T13">
                        <a:pos x="T6" y="T7"/>
                      </a:cxn>
                      <a:cxn ang="T14">
                        <a:pos x="T8" y="T9"/>
                      </a:cxn>
                    </a:cxnLst>
                    <a:rect l="T15" t="T16" r="T17" b="T18"/>
                    <a:pathLst>
                      <a:path w="70" h="90">
                        <a:moveTo>
                          <a:pt x="0" y="89"/>
                        </a:moveTo>
                        <a:lnTo>
                          <a:pt x="0" y="58"/>
                        </a:lnTo>
                        <a:lnTo>
                          <a:pt x="69" y="0"/>
                        </a:lnTo>
                        <a:lnTo>
                          <a:pt x="69" y="30"/>
                        </a:lnTo>
                        <a:lnTo>
                          <a:pt x="0" y="89"/>
                        </a:lnTo>
                      </a:path>
                    </a:pathLst>
                  </a:custGeom>
                  <a:solidFill>
                    <a:schemeClr val="bg2"/>
                  </a:solidFill>
                  <a:ln w="9525" cap="rnd">
                    <a:noFill/>
                    <a:round/>
                  </a:ln>
                </p:spPr>
                <p:txBody>
                  <a:bodyPr wrap="none" lIns="98624" tIns="49313" rIns="98624" bIns="49313">
                    <a:spAutoFit/>
                  </a:bodyPr>
                  <a:lstStyle/>
                  <a:p>
                    <a:endParaRPr lang="zh-CN" altLang="en-US"/>
                  </a:p>
                </p:txBody>
              </p:sp>
              <p:sp>
                <p:nvSpPr>
                  <p:cNvPr id="9340" name="Freeform 417"/>
                  <p:cNvSpPr/>
                  <p:nvPr/>
                </p:nvSpPr>
                <p:spPr bwMode="auto">
                  <a:xfrm>
                    <a:off x="4406" y="2107"/>
                    <a:ext cx="57" cy="427"/>
                  </a:xfrm>
                  <a:custGeom>
                    <a:avLst/>
                    <a:gdLst>
                      <a:gd name="T0" fmla="*/ 0 w 57"/>
                      <a:gd name="T1" fmla="*/ 51 h 427"/>
                      <a:gd name="T2" fmla="*/ 56 w 57"/>
                      <a:gd name="T3" fmla="*/ 0 h 427"/>
                      <a:gd name="T4" fmla="*/ 56 w 57"/>
                      <a:gd name="T5" fmla="*/ 374 h 427"/>
                      <a:gd name="T6" fmla="*/ 0 w 57"/>
                      <a:gd name="T7" fmla="*/ 426 h 427"/>
                      <a:gd name="T8" fmla="*/ 0 w 57"/>
                      <a:gd name="T9" fmla="*/ 51 h 427"/>
                      <a:gd name="T10" fmla="*/ 0 60000 65536"/>
                      <a:gd name="T11" fmla="*/ 0 60000 65536"/>
                      <a:gd name="T12" fmla="*/ 0 60000 65536"/>
                      <a:gd name="T13" fmla="*/ 0 60000 65536"/>
                      <a:gd name="T14" fmla="*/ 0 60000 65536"/>
                      <a:gd name="T15" fmla="*/ 0 w 57"/>
                      <a:gd name="T16" fmla="*/ 0 h 427"/>
                      <a:gd name="T17" fmla="*/ 57 w 57"/>
                      <a:gd name="T18" fmla="*/ 427 h 427"/>
                    </a:gdLst>
                    <a:ahLst/>
                    <a:cxnLst>
                      <a:cxn ang="T10">
                        <a:pos x="T0" y="T1"/>
                      </a:cxn>
                      <a:cxn ang="T11">
                        <a:pos x="T2" y="T3"/>
                      </a:cxn>
                      <a:cxn ang="T12">
                        <a:pos x="T4" y="T5"/>
                      </a:cxn>
                      <a:cxn ang="T13">
                        <a:pos x="T6" y="T7"/>
                      </a:cxn>
                      <a:cxn ang="T14">
                        <a:pos x="T8" y="T9"/>
                      </a:cxn>
                    </a:cxnLst>
                    <a:rect l="T15" t="T16" r="T17" b="T18"/>
                    <a:pathLst>
                      <a:path w="57" h="427">
                        <a:moveTo>
                          <a:pt x="0" y="51"/>
                        </a:moveTo>
                        <a:lnTo>
                          <a:pt x="56" y="0"/>
                        </a:lnTo>
                        <a:lnTo>
                          <a:pt x="56" y="374"/>
                        </a:lnTo>
                        <a:lnTo>
                          <a:pt x="0" y="426"/>
                        </a:lnTo>
                        <a:lnTo>
                          <a:pt x="0" y="51"/>
                        </a:lnTo>
                      </a:path>
                    </a:pathLst>
                  </a:custGeom>
                  <a:solidFill>
                    <a:schemeClr val="bg2"/>
                  </a:solidFill>
                  <a:ln w="9525" cap="rnd">
                    <a:noFill/>
                    <a:round/>
                  </a:ln>
                </p:spPr>
                <p:txBody>
                  <a:bodyPr wrap="none" lIns="98624" tIns="49313" rIns="98624" bIns="49313">
                    <a:spAutoFit/>
                  </a:bodyPr>
                  <a:lstStyle/>
                  <a:p>
                    <a:endParaRPr lang="zh-CN" altLang="en-US"/>
                  </a:p>
                </p:txBody>
              </p:sp>
              <p:sp>
                <p:nvSpPr>
                  <p:cNvPr id="9341" name="Freeform 418"/>
                  <p:cNvSpPr/>
                  <p:nvPr/>
                </p:nvSpPr>
                <p:spPr bwMode="auto">
                  <a:xfrm>
                    <a:off x="3898" y="2108"/>
                    <a:ext cx="563" cy="49"/>
                  </a:xfrm>
                  <a:custGeom>
                    <a:avLst/>
                    <a:gdLst>
                      <a:gd name="T0" fmla="*/ 0 w 563"/>
                      <a:gd name="T1" fmla="*/ 48 h 49"/>
                      <a:gd name="T2" fmla="*/ 55 w 563"/>
                      <a:gd name="T3" fmla="*/ 0 h 49"/>
                      <a:gd name="T4" fmla="*/ 562 w 563"/>
                      <a:gd name="T5" fmla="*/ 0 h 49"/>
                      <a:gd name="T6" fmla="*/ 506 w 563"/>
                      <a:gd name="T7" fmla="*/ 48 h 49"/>
                      <a:gd name="T8" fmla="*/ 0 w 563"/>
                      <a:gd name="T9" fmla="*/ 48 h 49"/>
                      <a:gd name="T10" fmla="*/ 0 60000 65536"/>
                      <a:gd name="T11" fmla="*/ 0 60000 65536"/>
                      <a:gd name="T12" fmla="*/ 0 60000 65536"/>
                      <a:gd name="T13" fmla="*/ 0 60000 65536"/>
                      <a:gd name="T14" fmla="*/ 0 60000 65536"/>
                      <a:gd name="T15" fmla="*/ 0 w 563"/>
                      <a:gd name="T16" fmla="*/ 0 h 49"/>
                      <a:gd name="T17" fmla="*/ 563 w 563"/>
                      <a:gd name="T18" fmla="*/ 49 h 49"/>
                    </a:gdLst>
                    <a:ahLst/>
                    <a:cxnLst>
                      <a:cxn ang="T10">
                        <a:pos x="T0" y="T1"/>
                      </a:cxn>
                      <a:cxn ang="T11">
                        <a:pos x="T2" y="T3"/>
                      </a:cxn>
                      <a:cxn ang="T12">
                        <a:pos x="T4" y="T5"/>
                      </a:cxn>
                      <a:cxn ang="T13">
                        <a:pos x="T6" y="T7"/>
                      </a:cxn>
                      <a:cxn ang="T14">
                        <a:pos x="T8" y="T9"/>
                      </a:cxn>
                    </a:cxnLst>
                    <a:rect l="T15" t="T16" r="T17" b="T18"/>
                    <a:pathLst>
                      <a:path w="563" h="49">
                        <a:moveTo>
                          <a:pt x="0" y="48"/>
                        </a:moveTo>
                        <a:lnTo>
                          <a:pt x="55" y="0"/>
                        </a:lnTo>
                        <a:lnTo>
                          <a:pt x="562" y="0"/>
                        </a:lnTo>
                        <a:lnTo>
                          <a:pt x="506" y="48"/>
                        </a:lnTo>
                        <a:lnTo>
                          <a:pt x="0" y="48"/>
                        </a:lnTo>
                      </a:path>
                    </a:pathLst>
                  </a:custGeom>
                  <a:solidFill>
                    <a:schemeClr val="bg2"/>
                  </a:solidFill>
                  <a:ln w="9525" cap="rnd">
                    <a:noFill/>
                    <a:round/>
                  </a:ln>
                </p:spPr>
                <p:txBody>
                  <a:bodyPr wrap="none" lIns="98624" tIns="49313" rIns="98624" bIns="49313">
                    <a:spAutoFit/>
                  </a:bodyPr>
                  <a:lstStyle/>
                  <a:p>
                    <a:endParaRPr lang="zh-CN" altLang="en-US"/>
                  </a:p>
                </p:txBody>
              </p:sp>
              <p:sp>
                <p:nvSpPr>
                  <p:cNvPr id="9342" name="Freeform 419"/>
                  <p:cNvSpPr/>
                  <p:nvPr/>
                </p:nvSpPr>
                <p:spPr bwMode="auto">
                  <a:xfrm>
                    <a:off x="3754" y="2696"/>
                    <a:ext cx="616" cy="34"/>
                  </a:xfrm>
                  <a:custGeom>
                    <a:avLst/>
                    <a:gdLst>
                      <a:gd name="T0" fmla="*/ 615 w 616"/>
                      <a:gd name="T1" fmla="*/ 33 h 34"/>
                      <a:gd name="T2" fmla="*/ 0 w 616"/>
                      <a:gd name="T3" fmla="*/ 33 h 34"/>
                      <a:gd name="T4" fmla="*/ 0 w 616"/>
                      <a:gd name="T5" fmla="*/ 0 h 34"/>
                      <a:gd name="T6" fmla="*/ 615 w 616"/>
                      <a:gd name="T7" fmla="*/ 0 h 34"/>
                      <a:gd name="T8" fmla="*/ 615 w 616"/>
                      <a:gd name="T9" fmla="*/ 33 h 34"/>
                      <a:gd name="T10" fmla="*/ 0 60000 65536"/>
                      <a:gd name="T11" fmla="*/ 0 60000 65536"/>
                      <a:gd name="T12" fmla="*/ 0 60000 65536"/>
                      <a:gd name="T13" fmla="*/ 0 60000 65536"/>
                      <a:gd name="T14" fmla="*/ 0 60000 65536"/>
                      <a:gd name="T15" fmla="*/ 0 w 616"/>
                      <a:gd name="T16" fmla="*/ 0 h 34"/>
                      <a:gd name="T17" fmla="*/ 616 w 616"/>
                      <a:gd name="T18" fmla="*/ 34 h 34"/>
                    </a:gdLst>
                    <a:ahLst/>
                    <a:cxnLst>
                      <a:cxn ang="T10">
                        <a:pos x="T0" y="T1"/>
                      </a:cxn>
                      <a:cxn ang="T11">
                        <a:pos x="T2" y="T3"/>
                      </a:cxn>
                      <a:cxn ang="T12">
                        <a:pos x="T4" y="T5"/>
                      </a:cxn>
                      <a:cxn ang="T13">
                        <a:pos x="T6" y="T7"/>
                      </a:cxn>
                      <a:cxn ang="T14">
                        <a:pos x="T8" y="T9"/>
                      </a:cxn>
                    </a:cxnLst>
                    <a:rect l="T15" t="T16" r="T17" b="T18"/>
                    <a:pathLst>
                      <a:path w="616" h="34">
                        <a:moveTo>
                          <a:pt x="615" y="33"/>
                        </a:moveTo>
                        <a:lnTo>
                          <a:pt x="0" y="33"/>
                        </a:lnTo>
                        <a:lnTo>
                          <a:pt x="0" y="0"/>
                        </a:lnTo>
                        <a:lnTo>
                          <a:pt x="615" y="0"/>
                        </a:lnTo>
                        <a:lnTo>
                          <a:pt x="615" y="33"/>
                        </a:lnTo>
                      </a:path>
                    </a:pathLst>
                  </a:custGeom>
                  <a:solidFill>
                    <a:schemeClr val="bg2"/>
                  </a:solidFill>
                  <a:ln w="9525" cap="rnd">
                    <a:noFill/>
                    <a:round/>
                  </a:ln>
                </p:spPr>
                <p:txBody>
                  <a:bodyPr wrap="none" lIns="98624" tIns="49313" rIns="98624" bIns="49313">
                    <a:spAutoFit/>
                  </a:bodyPr>
                  <a:lstStyle/>
                  <a:p>
                    <a:endParaRPr lang="zh-CN" altLang="en-US"/>
                  </a:p>
                </p:txBody>
              </p:sp>
              <p:sp>
                <p:nvSpPr>
                  <p:cNvPr id="9343" name="Freeform 420"/>
                  <p:cNvSpPr/>
                  <p:nvPr/>
                </p:nvSpPr>
                <p:spPr bwMode="auto">
                  <a:xfrm>
                    <a:off x="3753" y="2639"/>
                    <a:ext cx="686" cy="58"/>
                  </a:xfrm>
                  <a:custGeom>
                    <a:avLst/>
                    <a:gdLst>
                      <a:gd name="T0" fmla="*/ 685 w 686"/>
                      <a:gd name="T1" fmla="*/ 0 h 58"/>
                      <a:gd name="T2" fmla="*/ 617 w 686"/>
                      <a:gd name="T3" fmla="*/ 57 h 58"/>
                      <a:gd name="T4" fmla="*/ 0 w 686"/>
                      <a:gd name="T5" fmla="*/ 57 h 58"/>
                      <a:gd name="T6" fmla="*/ 64 w 686"/>
                      <a:gd name="T7" fmla="*/ 0 h 58"/>
                      <a:gd name="T8" fmla="*/ 685 w 686"/>
                      <a:gd name="T9" fmla="*/ 0 h 58"/>
                      <a:gd name="T10" fmla="*/ 0 60000 65536"/>
                      <a:gd name="T11" fmla="*/ 0 60000 65536"/>
                      <a:gd name="T12" fmla="*/ 0 60000 65536"/>
                      <a:gd name="T13" fmla="*/ 0 60000 65536"/>
                      <a:gd name="T14" fmla="*/ 0 60000 65536"/>
                      <a:gd name="T15" fmla="*/ 0 w 686"/>
                      <a:gd name="T16" fmla="*/ 0 h 58"/>
                      <a:gd name="T17" fmla="*/ 686 w 686"/>
                      <a:gd name="T18" fmla="*/ 58 h 58"/>
                    </a:gdLst>
                    <a:ahLst/>
                    <a:cxnLst>
                      <a:cxn ang="T10">
                        <a:pos x="T0" y="T1"/>
                      </a:cxn>
                      <a:cxn ang="T11">
                        <a:pos x="T2" y="T3"/>
                      </a:cxn>
                      <a:cxn ang="T12">
                        <a:pos x="T4" y="T5"/>
                      </a:cxn>
                      <a:cxn ang="T13">
                        <a:pos x="T6" y="T7"/>
                      </a:cxn>
                      <a:cxn ang="T14">
                        <a:pos x="T8" y="T9"/>
                      </a:cxn>
                    </a:cxnLst>
                    <a:rect l="T15" t="T16" r="T17" b="T18"/>
                    <a:pathLst>
                      <a:path w="686" h="58">
                        <a:moveTo>
                          <a:pt x="685" y="0"/>
                        </a:moveTo>
                        <a:lnTo>
                          <a:pt x="617" y="57"/>
                        </a:lnTo>
                        <a:lnTo>
                          <a:pt x="0" y="57"/>
                        </a:lnTo>
                        <a:lnTo>
                          <a:pt x="64" y="0"/>
                        </a:lnTo>
                        <a:lnTo>
                          <a:pt x="685" y="0"/>
                        </a:lnTo>
                      </a:path>
                    </a:pathLst>
                  </a:custGeom>
                  <a:solidFill>
                    <a:schemeClr val="bg2"/>
                  </a:solidFill>
                  <a:ln w="9525" cap="rnd">
                    <a:noFill/>
                    <a:round/>
                  </a:ln>
                </p:spPr>
                <p:txBody>
                  <a:bodyPr wrap="none" lIns="98624" tIns="49313" rIns="98624" bIns="49313">
                    <a:spAutoFit/>
                  </a:bodyPr>
                  <a:lstStyle/>
                  <a:p>
                    <a:endParaRPr lang="zh-CN" altLang="en-US"/>
                  </a:p>
                </p:txBody>
              </p:sp>
              <p:grpSp>
                <p:nvGrpSpPr>
                  <p:cNvPr id="248084" name="Group 421"/>
                  <p:cNvGrpSpPr/>
                  <p:nvPr/>
                </p:nvGrpSpPr>
                <p:grpSpPr bwMode="auto">
                  <a:xfrm>
                    <a:off x="3791" y="2651"/>
                    <a:ext cx="604" cy="37"/>
                    <a:chOff x="3791" y="2651"/>
                    <a:chExt cx="604" cy="37"/>
                  </a:xfrm>
                </p:grpSpPr>
                <p:sp>
                  <p:nvSpPr>
                    <p:cNvPr id="9348" name="Line 422"/>
                    <p:cNvSpPr>
                      <a:spLocks noChangeShapeType="1"/>
                    </p:cNvSpPr>
                    <p:nvPr/>
                  </p:nvSpPr>
                  <p:spPr bwMode="auto">
                    <a:xfrm>
                      <a:off x="3836" y="2651"/>
                      <a:ext cx="559" cy="0"/>
                    </a:xfrm>
                    <a:prstGeom prst="line">
                      <a:avLst/>
                    </a:prstGeom>
                    <a:noFill/>
                    <a:ln w="12699">
                      <a:solidFill>
                        <a:srgbClr val="6B645F"/>
                      </a:solidFill>
                      <a:round/>
                      <a:headEnd type="none" w="sm" len="sm"/>
                      <a:tailEnd type="none" w="sm" len="sm"/>
                    </a:ln>
                  </p:spPr>
                  <p:txBody>
                    <a:bodyPr wrap="none" lIns="98624" tIns="49313" rIns="98624" bIns="49313">
                      <a:spAutoFit/>
                    </a:bodyPr>
                    <a:lstStyle/>
                    <a:p>
                      <a:endParaRPr lang="zh-CN" altLang="en-US"/>
                    </a:p>
                  </p:txBody>
                </p:sp>
                <p:sp>
                  <p:nvSpPr>
                    <p:cNvPr id="9349" name="Line 423"/>
                    <p:cNvSpPr>
                      <a:spLocks noChangeShapeType="1"/>
                    </p:cNvSpPr>
                    <p:nvPr/>
                  </p:nvSpPr>
                  <p:spPr bwMode="auto">
                    <a:xfrm>
                      <a:off x="3822" y="2663"/>
                      <a:ext cx="560" cy="0"/>
                    </a:xfrm>
                    <a:prstGeom prst="line">
                      <a:avLst/>
                    </a:prstGeom>
                    <a:noFill/>
                    <a:ln w="12699">
                      <a:solidFill>
                        <a:srgbClr val="6B645F"/>
                      </a:solidFill>
                      <a:round/>
                      <a:headEnd type="none" w="sm" len="sm"/>
                      <a:tailEnd type="none" w="sm" len="sm"/>
                    </a:ln>
                  </p:spPr>
                  <p:txBody>
                    <a:bodyPr wrap="none" lIns="98624" tIns="49313" rIns="98624" bIns="49313">
                      <a:spAutoFit/>
                    </a:bodyPr>
                    <a:lstStyle/>
                    <a:p>
                      <a:endParaRPr lang="zh-CN" altLang="en-US"/>
                    </a:p>
                  </p:txBody>
                </p:sp>
                <p:sp>
                  <p:nvSpPr>
                    <p:cNvPr id="9350" name="Line 424"/>
                    <p:cNvSpPr>
                      <a:spLocks noChangeShapeType="1"/>
                    </p:cNvSpPr>
                    <p:nvPr/>
                  </p:nvSpPr>
                  <p:spPr bwMode="auto">
                    <a:xfrm>
                      <a:off x="3809" y="2676"/>
                      <a:ext cx="560" cy="0"/>
                    </a:xfrm>
                    <a:prstGeom prst="line">
                      <a:avLst/>
                    </a:prstGeom>
                    <a:noFill/>
                    <a:ln w="12699">
                      <a:solidFill>
                        <a:srgbClr val="6B645F"/>
                      </a:solidFill>
                      <a:round/>
                      <a:headEnd type="none" w="sm" len="sm"/>
                      <a:tailEnd type="none" w="sm" len="sm"/>
                    </a:ln>
                  </p:spPr>
                  <p:txBody>
                    <a:bodyPr wrap="none" lIns="98624" tIns="49313" rIns="98624" bIns="49313">
                      <a:spAutoFit/>
                    </a:bodyPr>
                    <a:lstStyle/>
                    <a:p>
                      <a:endParaRPr lang="zh-CN" altLang="en-US"/>
                    </a:p>
                  </p:txBody>
                </p:sp>
                <p:sp>
                  <p:nvSpPr>
                    <p:cNvPr id="9351" name="Line 425"/>
                    <p:cNvSpPr>
                      <a:spLocks noChangeShapeType="1"/>
                    </p:cNvSpPr>
                    <p:nvPr/>
                  </p:nvSpPr>
                  <p:spPr bwMode="auto">
                    <a:xfrm>
                      <a:off x="3791" y="2688"/>
                      <a:ext cx="561" cy="0"/>
                    </a:xfrm>
                    <a:prstGeom prst="line">
                      <a:avLst/>
                    </a:prstGeom>
                    <a:noFill/>
                    <a:ln w="12699">
                      <a:solidFill>
                        <a:srgbClr val="6B645F"/>
                      </a:solidFill>
                      <a:round/>
                      <a:headEnd type="none" w="sm" len="sm"/>
                      <a:tailEnd type="none" w="sm" len="sm"/>
                    </a:ln>
                  </p:spPr>
                  <p:txBody>
                    <a:bodyPr wrap="none" lIns="98624" tIns="49313" rIns="98624" bIns="49313">
                      <a:spAutoFit/>
                    </a:bodyPr>
                    <a:lstStyle/>
                    <a:p>
                      <a:endParaRPr lang="zh-CN" altLang="en-US"/>
                    </a:p>
                  </p:txBody>
                </p:sp>
              </p:grpSp>
              <p:sp>
                <p:nvSpPr>
                  <p:cNvPr id="9345" name="Rectangle 426"/>
                  <p:cNvSpPr>
                    <a:spLocks noChangeArrowheads="1"/>
                  </p:cNvSpPr>
                  <p:nvPr/>
                </p:nvSpPr>
                <p:spPr bwMode="auto">
                  <a:xfrm>
                    <a:off x="3898" y="2156"/>
                    <a:ext cx="508" cy="377"/>
                  </a:xfrm>
                  <a:prstGeom prst="rect">
                    <a:avLst/>
                  </a:prstGeom>
                  <a:solidFill>
                    <a:schemeClr val="bg2"/>
                  </a:solidFill>
                  <a:ln w="9525">
                    <a:noFill/>
                    <a:miter lim="800000"/>
                  </a:ln>
                </p:spPr>
                <p:txBody>
                  <a:bodyPr wrap="none" lIns="98624" tIns="49313" rIns="98624" bIns="49313">
                    <a:spAutoFit/>
                  </a:bodyPr>
                  <a:lstStyle/>
                  <a:p>
                    <a:endParaRPr lang="zh-CN" altLang="en-US"/>
                  </a:p>
                </p:txBody>
              </p:sp>
              <p:sp>
                <p:nvSpPr>
                  <p:cNvPr id="9346" name="Freeform 427"/>
                  <p:cNvSpPr/>
                  <p:nvPr/>
                </p:nvSpPr>
                <p:spPr bwMode="auto">
                  <a:xfrm>
                    <a:off x="3953" y="2204"/>
                    <a:ext cx="400" cy="274"/>
                  </a:xfrm>
                  <a:custGeom>
                    <a:avLst/>
                    <a:gdLst>
                      <a:gd name="T0" fmla="*/ 399 w 400"/>
                      <a:gd name="T1" fmla="*/ 273 h 274"/>
                      <a:gd name="T2" fmla="*/ 0 w 400"/>
                      <a:gd name="T3" fmla="*/ 273 h 274"/>
                      <a:gd name="T4" fmla="*/ 0 w 400"/>
                      <a:gd name="T5" fmla="*/ 0 h 274"/>
                      <a:gd name="T6" fmla="*/ 399 w 400"/>
                      <a:gd name="T7" fmla="*/ 0 h 274"/>
                      <a:gd name="T8" fmla="*/ 399 w 400"/>
                      <a:gd name="T9" fmla="*/ 273 h 274"/>
                      <a:gd name="T10" fmla="*/ 0 60000 65536"/>
                      <a:gd name="T11" fmla="*/ 0 60000 65536"/>
                      <a:gd name="T12" fmla="*/ 0 60000 65536"/>
                      <a:gd name="T13" fmla="*/ 0 60000 65536"/>
                      <a:gd name="T14" fmla="*/ 0 60000 65536"/>
                      <a:gd name="T15" fmla="*/ 0 w 400"/>
                      <a:gd name="T16" fmla="*/ 0 h 274"/>
                      <a:gd name="T17" fmla="*/ 400 w 400"/>
                      <a:gd name="T18" fmla="*/ 274 h 274"/>
                    </a:gdLst>
                    <a:ahLst/>
                    <a:cxnLst>
                      <a:cxn ang="T10">
                        <a:pos x="T0" y="T1"/>
                      </a:cxn>
                      <a:cxn ang="T11">
                        <a:pos x="T2" y="T3"/>
                      </a:cxn>
                      <a:cxn ang="T12">
                        <a:pos x="T4" y="T5"/>
                      </a:cxn>
                      <a:cxn ang="T13">
                        <a:pos x="T6" y="T7"/>
                      </a:cxn>
                      <a:cxn ang="T14">
                        <a:pos x="T8" y="T9"/>
                      </a:cxn>
                    </a:cxnLst>
                    <a:rect l="T15" t="T16" r="T17" b="T18"/>
                    <a:pathLst>
                      <a:path w="400" h="274">
                        <a:moveTo>
                          <a:pt x="399" y="273"/>
                        </a:moveTo>
                        <a:lnTo>
                          <a:pt x="0" y="273"/>
                        </a:lnTo>
                        <a:lnTo>
                          <a:pt x="0" y="0"/>
                        </a:lnTo>
                        <a:lnTo>
                          <a:pt x="399" y="0"/>
                        </a:lnTo>
                        <a:lnTo>
                          <a:pt x="399" y="273"/>
                        </a:lnTo>
                      </a:path>
                    </a:pathLst>
                  </a:custGeom>
                  <a:solidFill>
                    <a:schemeClr val="bg2"/>
                  </a:solidFill>
                  <a:ln w="9525" cap="rnd">
                    <a:noFill/>
                    <a:round/>
                  </a:ln>
                </p:spPr>
                <p:txBody>
                  <a:bodyPr wrap="none" lIns="98624" tIns="49313" rIns="98624" bIns="49313">
                    <a:spAutoFit/>
                  </a:bodyPr>
                  <a:lstStyle/>
                  <a:p>
                    <a:endParaRPr lang="zh-CN" altLang="en-US"/>
                  </a:p>
                </p:txBody>
              </p:sp>
              <p:sp>
                <p:nvSpPr>
                  <p:cNvPr id="9347" name="Freeform 428"/>
                  <p:cNvSpPr/>
                  <p:nvPr/>
                </p:nvSpPr>
                <p:spPr bwMode="auto">
                  <a:xfrm>
                    <a:off x="3953" y="2204"/>
                    <a:ext cx="400" cy="274"/>
                  </a:xfrm>
                  <a:custGeom>
                    <a:avLst/>
                    <a:gdLst>
                      <a:gd name="T0" fmla="*/ 399 w 400"/>
                      <a:gd name="T1" fmla="*/ 0 h 274"/>
                      <a:gd name="T2" fmla="*/ 0 w 400"/>
                      <a:gd name="T3" fmla="*/ 0 h 274"/>
                      <a:gd name="T4" fmla="*/ 0 w 400"/>
                      <a:gd name="T5" fmla="*/ 273 h 274"/>
                      <a:gd name="T6" fmla="*/ 95 w 400"/>
                      <a:gd name="T7" fmla="*/ 185 h 274"/>
                      <a:gd name="T8" fmla="*/ 289 w 400"/>
                      <a:gd name="T9" fmla="*/ 95 h 274"/>
                      <a:gd name="T10" fmla="*/ 399 w 400"/>
                      <a:gd name="T11" fmla="*/ 0 h 274"/>
                      <a:gd name="T12" fmla="*/ 0 60000 65536"/>
                      <a:gd name="T13" fmla="*/ 0 60000 65536"/>
                      <a:gd name="T14" fmla="*/ 0 60000 65536"/>
                      <a:gd name="T15" fmla="*/ 0 60000 65536"/>
                      <a:gd name="T16" fmla="*/ 0 60000 65536"/>
                      <a:gd name="T17" fmla="*/ 0 60000 65536"/>
                      <a:gd name="T18" fmla="*/ 0 w 400"/>
                      <a:gd name="T19" fmla="*/ 0 h 274"/>
                      <a:gd name="T20" fmla="*/ 400 w 400"/>
                      <a:gd name="T21" fmla="*/ 274 h 274"/>
                    </a:gdLst>
                    <a:ahLst/>
                    <a:cxnLst>
                      <a:cxn ang="T12">
                        <a:pos x="T0" y="T1"/>
                      </a:cxn>
                      <a:cxn ang="T13">
                        <a:pos x="T2" y="T3"/>
                      </a:cxn>
                      <a:cxn ang="T14">
                        <a:pos x="T4" y="T5"/>
                      </a:cxn>
                      <a:cxn ang="T15">
                        <a:pos x="T6" y="T7"/>
                      </a:cxn>
                      <a:cxn ang="T16">
                        <a:pos x="T8" y="T9"/>
                      </a:cxn>
                      <a:cxn ang="T17">
                        <a:pos x="T10" y="T11"/>
                      </a:cxn>
                    </a:cxnLst>
                    <a:rect l="T18" t="T19" r="T20" b="T21"/>
                    <a:pathLst>
                      <a:path w="400" h="274">
                        <a:moveTo>
                          <a:pt x="399" y="0"/>
                        </a:moveTo>
                        <a:lnTo>
                          <a:pt x="0" y="0"/>
                        </a:lnTo>
                        <a:lnTo>
                          <a:pt x="0" y="273"/>
                        </a:lnTo>
                        <a:lnTo>
                          <a:pt x="95" y="185"/>
                        </a:lnTo>
                        <a:lnTo>
                          <a:pt x="289" y="95"/>
                        </a:lnTo>
                        <a:lnTo>
                          <a:pt x="399" y="0"/>
                        </a:lnTo>
                      </a:path>
                    </a:pathLst>
                  </a:custGeom>
                  <a:solidFill>
                    <a:schemeClr val="bg2"/>
                  </a:solidFill>
                  <a:ln w="9525" cap="rnd">
                    <a:noFill/>
                    <a:round/>
                  </a:ln>
                </p:spPr>
                <p:txBody>
                  <a:bodyPr wrap="none" lIns="98624" tIns="49313" rIns="98624" bIns="49313">
                    <a:spAutoFit/>
                  </a:bodyPr>
                  <a:lstStyle/>
                  <a:p>
                    <a:endParaRPr lang="zh-CN" altLang="en-US"/>
                  </a:p>
                </p:txBody>
              </p:sp>
            </p:grpSp>
            <p:sp>
              <p:nvSpPr>
                <p:cNvPr id="9333" name="Freeform 429"/>
                <p:cNvSpPr/>
                <p:nvPr/>
              </p:nvSpPr>
              <p:spPr bwMode="auto">
                <a:xfrm>
                  <a:off x="3963" y="2218"/>
                  <a:ext cx="374" cy="245"/>
                </a:xfrm>
                <a:custGeom>
                  <a:avLst/>
                  <a:gdLst>
                    <a:gd name="T0" fmla="*/ 373 w 374"/>
                    <a:gd name="T1" fmla="*/ 244 h 245"/>
                    <a:gd name="T2" fmla="*/ 0 w 374"/>
                    <a:gd name="T3" fmla="*/ 244 h 245"/>
                    <a:gd name="T4" fmla="*/ 0 w 374"/>
                    <a:gd name="T5" fmla="*/ 0 h 245"/>
                    <a:gd name="T6" fmla="*/ 373 w 374"/>
                    <a:gd name="T7" fmla="*/ 0 h 245"/>
                    <a:gd name="T8" fmla="*/ 373 w 374"/>
                    <a:gd name="T9" fmla="*/ 244 h 245"/>
                    <a:gd name="T10" fmla="*/ 0 60000 65536"/>
                    <a:gd name="T11" fmla="*/ 0 60000 65536"/>
                    <a:gd name="T12" fmla="*/ 0 60000 65536"/>
                    <a:gd name="T13" fmla="*/ 0 60000 65536"/>
                    <a:gd name="T14" fmla="*/ 0 60000 65536"/>
                    <a:gd name="T15" fmla="*/ 0 w 374"/>
                    <a:gd name="T16" fmla="*/ 0 h 245"/>
                    <a:gd name="T17" fmla="*/ 374 w 374"/>
                    <a:gd name="T18" fmla="*/ 245 h 245"/>
                  </a:gdLst>
                  <a:ahLst/>
                  <a:cxnLst>
                    <a:cxn ang="T10">
                      <a:pos x="T0" y="T1"/>
                    </a:cxn>
                    <a:cxn ang="T11">
                      <a:pos x="T2" y="T3"/>
                    </a:cxn>
                    <a:cxn ang="T12">
                      <a:pos x="T4" y="T5"/>
                    </a:cxn>
                    <a:cxn ang="T13">
                      <a:pos x="T6" y="T7"/>
                    </a:cxn>
                    <a:cxn ang="T14">
                      <a:pos x="T8" y="T9"/>
                    </a:cxn>
                  </a:cxnLst>
                  <a:rect l="T15" t="T16" r="T17" b="T18"/>
                  <a:pathLst>
                    <a:path w="374" h="245">
                      <a:moveTo>
                        <a:pt x="373" y="244"/>
                      </a:moveTo>
                      <a:lnTo>
                        <a:pt x="0" y="244"/>
                      </a:lnTo>
                      <a:lnTo>
                        <a:pt x="0" y="0"/>
                      </a:lnTo>
                      <a:lnTo>
                        <a:pt x="373" y="0"/>
                      </a:lnTo>
                      <a:lnTo>
                        <a:pt x="373" y="244"/>
                      </a:lnTo>
                    </a:path>
                  </a:pathLst>
                </a:custGeom>
                <a:solidFill>
                  <a:schemeClr val="bg2"/>
                </a:solidFill>
                <a:ln w="9525" cap="rnd">
                  <a:noFill/>
                  <a:round/>
                </a:ln>
              </p:spPr>
              <p:txBody>
                <a:bodyPr wrap="none" lIns="98624" tIns="49313" rIns="98624" bIns="49313">
                  <a:spAutoFit/>
                </a:bodyPr>
                <a:lstStyle/>
                <a:p>
                  <a:endParaRPr lang="zh-CN" altLang="en-US"/>
                </a:p>
              </p:txBody>
            </p:sp>
          </p:grpSp>
          <p:grpSp>
            <p:nvGrpSpPr>
              <p:cNvPr id="248085" name="Group 430"/>
              <p:cNvGrpSpPr/>
              <p:nvPr/>
            </p:nvGrpSpPr>
            <p:grpSpPr bwMode="auto">
              <a:xfrm>
                <a:off x="4036" y="2204"/>
                <a:ext cx="226" cy="220"/>
                <a:chOff x="4036" y="2204"/>
                <a:chExt cx="226" cy="220"/>
              </a:xfrm>
            </p:grpSpPr>
            <p:grpSp>
              <p:nvGrpSpPr>
                <p:cNvPr id="248086" name="Group 431"/>
                <p:cNvGrpSpPr/>
                <p:nvPr/>
              </p:nvGrpSpPr>
              <p:grpSpPr bwMode="auto">
                <a:xfrm>
                  <a:off x="4036" y="2396"/>
                  <a:ext cx="27" cy="28"/>
                  <a:chOff x="4036" y="2396"/>
                  <a:chExt cx="27" cy="28"/>
                </a:xfrm>
              </p:grpSpPr>
              <p:sp>
                <p:nvSpPr>
                  <p:cNvPr id="9330" name="Oval 432"/>
                  <p:cNvSpPr>
                    <a:spLocks noChangeArrowheads="1"/>
                  </p:cNvSpPr>
                  <p:nvPr/>
                </p:nvSpPr>
                <p:spPr bwMode="auto">
                  <a:xfrm rot="-7200000">
                    <a:off x="4052" y="2413"/>
                    <a:ext cx="10" cy="12"/>
                  </a:xfrm>
                  <a:prstGeom prst="ellipse">
                    <a:avLst/>
                  </a:prstGeom>
                  <a:solidFill>
                    <a:schemeClr val="bg2"/>
                  </a:solidFill>
                  <a:ln w="50799">
                    <a:solidFill>
                      <a:schemeClr val="accent1"/>
                    </a:solidFill>
                    <a:round/>
                  </a:ln>
                </p:spPr>
                <p:txBody>
                  <a:bodyPr wrap="none" lIns="98624" tIns="49313" rIns="98624" bIns="49313">
                    <a:spAutoFit/>
                  </a:bodyPr>
                  <a:lstStyle/>
                  <a:p>
                    <a:endParaRPr lang="zh-CN" altLang="en-US"/>
                  </a:p>
                </p:txBody>
              </p:sp>
              <p:sp>
                <p:nvSpPr>
                  <p:cNvPr id="9331" name="Oval 433"/>
                  <p:cNvSpPr>
                    <a:spLocks noChangeArrowheads="1"/>
                  </p:cNvSpPr>
                  <p:nvPr/>
                </p:nvSpPr>
                <p:spPr bwMode="auto">
                  <a:xfrm rot="-7200000">
                    <a:off x="4037" y="2395"/>
                    <a:ext cx="9" cy="11"/>
                  </a:xfrm>
                  <a:prstGeom prst="ellipse">
                    <a:avLst/>
                  </a:prstGeom>
                  <a:solidFill>
                    <a:schemeClr val="bg2"/>
                  </a:solidFill>
                  <a:ln w="50799">
                    <a:solidFill>
                      <a:schemeClr val="accent1"/>
                    </a:solidFill>
                    <a:round/>
                  </a:ln>
                </p:spPr>
                <p:txBody>
                  <a:bodyPr wrap="none" lIns="98624" tIns="49313" rIns="98624" bIns="49313">
                    <a:spAutoFit/>
                  </a:bodyPr>
                  <a:lstStyle/>
                  <a:p>
                    <a:endParaRPr lang="zh-CN" altLang="en-US"/>
                  </a:p>
                </p:txBody>
              </p:sp>
            </p:grpSp>
            <p:grpSp>
              <p:nvGrpSpPr>
                <p:cNvPr id="248087" name="Group 434"/>
                <p:cNvGrpSpPr/>
                <p:nvPr/>
              </p:nvGrpSpPr>
              <p:grpSpPr bwMode="auto">
                <a:xfrm>
                  <a:off x="4235" y="2315"/>
                  <a:ext cx="27" cy="31"/>
                  <a:chOff x="4235" y="2315"/>
                  <a:chExt cx="27" cy="31"/>
                </a:xfrm>
              </p:grpSpPr>
              <p:sp>
                <p:nvSpPr>
                  <p:cNvPr id="9328" name="Oval 435"/>
                  <p:cNvSpPr>
                    <a:spLocks noChangeArrowheads="1"/>
                  </p:cNvSpPr>
                  <p:nvPr/>
                </p:nvSpPr>
                <p:spPr bwMode="auto">
                  <a:xfrm rot="-7200000">
                    <a:off x="4251" y="2335"/>
                    <a:ext cx="11" cy="11"/>
                  </a:xfrm>
                  <a:prstGeom prst="ellipse">
                    <a:avLst/>
                  </a:prstGeom>
                  <a:solidFill>
                    <a:schemeClr val="bg2"/>
                  </a:solidFill>
                  <a:ln w="50799">
                    <a:solidFill>
                      <a:schemeClr val="accent1"/>
                    </a:solidFill>
                    <a:round/>
                  </a:ln>
                </p:spPr>
                <p:txBody>
                  <a:bodyPr wrap="none" lIns="98624" tIns="49313" rIns="98624" bIns="49313">
                    <a:spAutoFit/>
                  </a:bodyPr>
                  <a:lstStyle/>
                  <a:p>
                    <a:endParaRPr lang="zh-CN" altLang="en-US"/>
                  </a:p>
                </p:txBody>
              </p:sp>
              <p:sp>
                <p:nvSpPr>
                  <p:cNvPr id="9329" name="Oval 436"/>
                  <p:cNvSpPr>
                    <a:spLocks noChangeArrowheads="1"/>
                  </p:cNvSpPr>
                  <p:nvPr/>
                </p:nvSpPr>
                <p:spPr bwMode="auto">
                  <a:xfrm rot="-7200000">
                    <a:off x="4235" y="2315"/>
                    <a:ext cx="11" cy="11"/>
                  </a:xfrm>
                  <a:prstGeom prst="ellipse">
                    <a:avLst/>
                  </a:prstGeom>
                  <a:solidFill>
                    <a:schemeClr val="bg2"/>
                  </a:solidFill>
                  <a:ln w="50799">
                    <a:solidFill>
                      <a:schemeClr val="accent1"/>
                    </a:solidFill>
                    <a:round/>
                  </a:ln>
                </p:spPr>
                <p:txBody>
                  <a:bodyPr wrap="none" lIns="98624" tIns="49313" rIns="98624" bIns="49313">
                    <a:spAutoFit/>
                  </a:bodyPr>
                  <a:lstStyle/>
                  <a:p>
                    <a:endParaRPr lang="zh-CN" altLang="en-US"/>
                  </a:p>
                </p:txBody>
              </p:sp>
            </p:grpSp>
            <p:sp>
              <p:nvSpPr>
                <p:cNvPr id="9312" name="Line 437"/>
                <p:cNvSpPr>
                  <a:spLocks noChangeShapeType="1"/>
                </p:cNvSpPr>
                <p:nvPr/>
              </p:nvSpPr>
              <p:spPr bwMode="auto">
                <a:xfrm flipH="1">
                  <a:off x="4046" y="2321"/>
                  <a:ext cx="197" cy="79"/>
                </a:xfrm>
                <a:prstGeom prst="line">
                  <a:avLst/>
                </a:prstGeom>
                <a:noFill/>
                <a:ln w="50799">
                  <a:solidFill>
                    <a:schemeClr val="accent1"/>
                  </a:solidFill>
                  <a:round/>
                  <a:headEnd type="none" w="sm" len="sm"/>
                  <a:tailEnd type="none" w="sm" len="sm"/>
                </a:ln>
              </p:spPr>
              <p:txBody>
                <a:bodyPr wrap="none" lIns="98624" tIns="49313" rIns="98624" bIns="49313">
                  <a:spAutoFit/>
                </a:bodyPr>
                <a:lstStyle/>
                <a:p>
                  <a:endParaRPr lang="zh-CN" altLang="en-US"/>
                </a:p>
              </p:txBody>
            </p:sp>
            <p:sp>
              <p:nvSpPr>
                <p:cNvPr id="9313" name="Oval 438"/>
                <p:cNvSpPr>
                  <a:spLocks noChangeArrowheads="1"/>
                </p:cNvSpPr>
                <p:nvPr/>
              </p:nvSpPr>
              <p:spPr bwMode="auto">
                <a:xfrm rot="-3600000">
                  <a:off x="4037" y="2335"/>
                  <a:ext cx="9" cy="11"/>
                </a:xfrm>
                <a:prstGeom prst="ellipse">
                  <a:avLst/>
                </a:prstGeom>
                <a:solidFill>
                  <a:schemeClr val="bg2"/>
                </a:solidFill>
                <a:ln w="50799">
                  <a:solidFill>
                    <a:schemeClr val="accent1"/>
                  </a:solidFill>
                  <a:round/>
                </a:ln>
              </p:spPr>
              <p:txBody>
                <a:bodyPr wrap="none" lIns="98624" tIns="49313" rIns="98624" bIns="49313">
                  <a:spAutoFit/>
                </a:bodyPr>
                <a:lstStyle/>
                <a:p>
                  <a:endParaRPr lang="zh-CN" altLang="en-US"/>
                </a:p>
              </p:txBody>
            </p:sp>
            <p:sp>
              <p:nvSpPr>
                <p:cNvPr id="9314" name="Oval 439"/>
                <p:cNvSpPr>
                  <a:spLocks noChangeArrowheads="1"/>
                </p:cNvSpPr>
                <p:nvPr/>
              </p:nvSpPr>
              <p:spPr bwMode="auto">
                <a:xfrm rot="-3600000">
                  <a:off x="4052" y="2315"/>
                  <a:ext cx="10" cy="11"/>
                </a:xfrm>
                <a:prstGeom prst="ellipse">
                  <a:avLst/>
                </a:prstGeom>
                <a:solidFill>
                  <a:schemeClr val="bg2"/>
                </a:solidFill>
                <a:ln w="50799">
                  <a:solidFill>
                    <a:schemeClr val="accent1"/>
                  </a:solidFill>
                  <a:round/>
                </a:ln>
              </p:spPr>
              <p:txBody>
                <a:bodyPr wrap="none" lIns="98624" tIns="49313" rIns="98624" bIns="49313">
                  <a:spAutoFit/>
                </a:bodyPr>
                <a:lstStyle/>
                <a:p>
                  <a:endParaRPr lang="zh-CN" altLang="en-US"/>
                </a:p>
              </p:txBody>
            </p:sp>
            <p:sp>
              <p:nvSpPr>
                <p:cNvPr id="9315" name="Oval 440"/>
                <p:cNvSpPr>
                  <a:spLocks noChangeArrowheads="1"/>
                </p:cNvSpPr>
                <p:nvPr/>
              </p:nvSpPr>
              <p:spPr bwMode="auto">
                <a:xfrm rot="-3600000">
                  <a:off x="4235" y="2413"/>
                  <a:ext cx="11" cy="12"/>
                </a:xfrm>
                <a:prstGeom prst="ellipse">
                  <a:avLst/>
                </a:prstGeom>
                <a:solidFill>
                  <a:schemeClr val="bg2"/>
                </a:solidFill>
                <a:ln w="50799">
                  <a:solidFill>
                    <a:schemeClr val="accent1"/>
                  </a:solidFill>
                  <a:round/>
                </a:ln>
              </p:spPr>
              <p:txBody>
                <a:bodyPr wrap="none" lIns="98624" tIns="49313" rIns="98624" bIns="49313">
                  <a:spAutoFit/>
                </a:bodyPr>
                <a:lstStyle/>
                <a:p>
                  <a:endParaRPr lang="zh-CN" altLang="en-US"/>
                </a:p>
              </p:txBody>
            </p:sp>
            <p:sp>
              <p:nvSpPr>
                <p:cNvPr id="9316" name="Oval 441"/>
                <p:cNvSpPr>
                  <a:spLocks noChangeArrowheads="1"/>
                </p:cNvSpPr>
                <p:nvPr/>
              </p:nvSpPr>
              <p:spPr bwMode="auto">
                <a:xfrm rot="-3600000">
                  <a:off x="4251" y="2395"/>
                  <a:ext cx="11" cy="11"/>
                </a:xfrm>
                <a:prstGeom prst="ellipse">
                  <a:avLst/>
                </a:prstGeom>
                <a:solidFill>
                  <a:schemeClr val="bg2"/>
                </a:solidFill>
                <a:ln w="50799">
                  <a:solidFill>
                    <a:schemeClr val="accent1"/>
                  </a:solidFill>
                  <a:round/>
                </a:ln>
              </p:spPr>
              <p:txBody>
                <a:bodyPr wrap="none" lIns="98624" tIns="49313" rIns="98624" bIns="49313">
                  <a:spAutoFit/>
                </a:bodyPr>
                <a:lstStyle/>
                <a:p>
                  <a:endParaRPr lang="zh-CN" altLang="en-US"/>
                </a:p>
              </p:txBody>
            </p:sp>
            <p:sp>
              <p:nvSpPr>
                <p:cNvPr id="9317" name="Line 442"/>
                <p:cNvSpPr>
                  <a:spLocks noChangeShapeType="1"/>
                </p:cNvSpPr>
                <p:nvPr/>
              </p:nvSpPr>
              <p:spPr bwMode="auto">
                <a:xfrm flipH="1" flipV="1">
                  <a:off x="4046" y="2321"/>
                  <a:ext cx="197" cy="79"/>
                </a:xfrm>
                <a:prstGeom prst="line">
                  <a:avLst/>
                </a:prstGeom>
                <a:noFill/>
                <a:ln w="50799">
                  <a:solidFill>
                    <a:schemeClr val="accent1"/>
                  </a:solidFill>
                  <a:round/>
                  <a:headEnd type="none" w="sm" len="sm"/>
                  <a:tailEnd type="none" w="sm" len="sm"/>
                </a:ln>
              </p:spPr>
              <p:txBody>
                <a:bodyPr wrap="none" lIns="98624" tIns="49313" rIns="98624" bIns="49313">
                  <a:spAutoFit/>
                </a:bodyPr>
                <a:lstStyle/>
                <a:p>
                  <a:endParaRPr lang="zh-CN" altLang="en-US"/>
                </a:p>
              </p:txBody>
            </p:sp>
            <p:sp>
              <p:nvSpPr>
                <p:cNvPr id="9318" name="Oval 443"/>
                <p:cNvSpPr>
                  <a:spLocks noChangeArrowheads="1"/>
                </p:cNvSpPr>
                <p:nvPr/>
              </p:nvSpPr>
              <p:spPr bwMode="auto">
                <a:xfrm>
                  <a:off x="4098" y="2204"/>
                  <a:ext cx="93" cy="86"/>
                </a:xfrm>
                <a:prstGeom prst="ellipse">
                  <a:avLst/>
                </a:prstGeom>
                <a:solidFill>
                  <a:schemeClr val="bg2"/>
                </a:solidFill>
                <a:ln w="12699">
                  <a:solidFill>
                    <a:schemeClr val="accent1"/>
                  </a:solidFill>
                  <a:round/>
                </a:ln>
              </p:spPr>
              <p:txBody>
                <a:bodyPr wrap="none" lIns="98624" tIns="49313" rIns="98624" bIns="49313">
                  <a:spAutoFit/>
                </a:bodyPr>
                <a:lstStyle/>
                <a:p>
                  <a:endParaRPr lang="zh-CN" altLang="en-US"/>
                </a:p>
              </p:txBody>
            </p:sp>
            <p:sp>
              <p:nvSpPr>
                <p:cNvPr id="9319" name="Oval 444"/>
                <p:cNvSpPr>
                  <a:spLocks noChangeArrowheads="1"/>
                </p:cNvSpPr>
                <p:nvPr/>
              </p:nvSpPr>
              <p:spPr bwMode="auto">
                <a:xfrm>
                  <a:off x="4117" y="2259"/>
                  <a:ext cx="58" cy="69"/>
                </a:xfrm>
                <a:prstGeom prst="ellipse">
                  <a:avLst/>
                </a:prstGeom>
                <a:solidFill>
                  <a:schemeClr val="bg2"/>
                </a:solidFill>
                <a:ln w="12699">
                  <a:solidFill>
                    <a:schemeClr val="accent1"/>
                  </a:solidFill>
                  <a:round/>
                </a:ln>
              </p:spPr>
              <p:txBody>
                <a:bodyPr wrap="none" lIns="98624" tIns="49313" rIns="98624" bIns="49313">
                  <a:spAutoFit/>
                </a:bodyPr>
                <a:lstStyle/>
                <a:p>
                  <a:endParaRPr lang="zh-CN" altLang="en-US"/>
                </a:p>
              </p:txBody>
            </p:sp>
            <p:grpSp>
              <p:nvGrpSpPr>
                <p:cNvPr id="248088" name="Group 445"/>
                <p:cNvGrpSpPr/>
                <p:nvPr/>
              </p:nvGrpSpPr>
              <p:grpSpPr bwMode="auto">
                <a:xfrm>
                  <a:off x="4108" y="2233"/>
                  <a:ext cx="74" cy="80"/>
                  <a:chOff x="4108" y="2233"/>
                  <a:chExt cx="74" cy="80"/>
                </a:xfrm>
              </p:grpSpPr>
              <p:sp>
                <p:nvSpPr>
                  <p:cNvPr id="9321" name="Line 446"/>
                  <p:cNvSpPr>
                    <a:spLocks noChangeShapeType="1"/>
                  </p:cNvSpPr>
                  <p:nvPr/>
                </p:nvSpPr>
                <p:spPr bwMode="auto">
                  <a:xfrm flipV="1">
                    <a:off x="4121" y="2299"/>
                    <a:ext cx="47" cy="2"/>
                  </a:xfrm>
                  <a:prstGeom prst="line">
                    <a:avLst/>
                  </a:prstGeom>
                  <a:noFill/>
                  <a:ln w="12699">
                    <a:solidFill>
                      <a:schemeClr val="accent1"/>
                    </a:solidFill>
                    <a:round/>
                    <a:headEnd type="none" w="sm" len="sm"/>
                    <a:tailEnd type="none" w="sm" len="sm"/>
                  </a:ln>
                </p:spPr>
                <p:txBody>
                  <a:bodyPr wrap="none" lIns="98624" tIns="49313" rIns="98624" bIns="49313">
                    <a:spAutoFit/>
                  </a:bodyPr>
                  <a:lstStyle/>
                  <a:p>
                    <a:endParaRPr lang="zh-CN" altLang="en-US"/>
                  </a:p>
                </p:txBody>
              </p:sp>
              <p:grpSp>
                <p:nvGrpSpPr>
                  <p:cNvPr id="248089" name="Group 447"/>
                  <p:cNvGrpSpPr/>
                  <p:nvPr/>
                </p:nvGrpSpPr>
                <p:grpSpPr bwMode="auto">
                  <a:xfrm>
                    <a:off x="4108" y="2233"/>
                    <a:ext cx="74" cy="25"/>
                    <a:chOff x="4108" y="2233"/>
                    <a:chExt cx="74" cy="25"/>
                  </a:xfrm>
                </p:grpSpPr>
                <p:sp>
                  <p:nvSpPr>
                    <p:cNvPr id="9324" name="Line 448"/>
                    <p:cNvSpPr>
                      <a:spLocks noChangeShapeType="1"/>
                    </p:cNvSpPr>
                    <p:nvPr/>
                  </p:nvSpPr>
                  <p:spPr bwMode="auto">
                    <a:xfrm>
                      <a:off x="4108" y="2233"/>
                      <a:ext cx="29" cy="25"/>
                    </a:xfrm>
                    <a:prstGeom prst="line">
                      <a:avLst/>
                    </a:prstGeom>
                    <a:noFill/>
                    <a:ln w="12699">
                      <a:solidFill>
                        <a:schemeClr val="accent1"/>
                      </a:solidFill>
                      <a:round/>
                      <a:headEnd type="none" w="sm" len="sm"/>
                      <a:tailEnd type="none" w="sm" len="sm"/>
                    </a:ln>
                  </p:spPr>
                  <p:txBody>
                    <a:bodyPr wrap="none" lIns="98624" tIns="49313" rIns="98624" bIns="49313">
                      <a:spAutoFit/>
                    </a:bodyPr>
                    <a:lstStyle/>
                    <a:p>
                      <a:endParaRPr lang="zh-CN" altLang="en-US"/>
                    </a:p>
                  </p:txBody>
                </p:sp>
                <p:sp>
                  <p:nvSpPr>
                    <p:cNvPr id="9325" name="Line 449"/>
                    <p:cNvSpPr>
                      <a:spLocks noChangeShapeType="1"/>
                    </p:cNvSpPr>
                    <p:nvPr/>
                  </p:nvSpPr>
                  <p:spPr bwMode="auto">
                    <a:xfrm flipV="1">
                      <a:off x="4108" y="2233"/>
                      <a:ext cx="29" cy="25"/>
                    </a:xfrm>
                    <a:prstGeom prst="line">
                      <a:avLst/>
                    </a:prstGeom>
                    <a:noFill/>
                    <a:ln w="12699">
                      <a:solidFill>
                        <a:schemeClr val="accent1"/>
                      </a:solidFill>
                      <a:round/>
                      <a:headEnd type="none" w="sm" len="sm"/>
                      <a:tailEnd type="none" w="sm" len="sm"/>
                    </a:ln>
                  </p:spPr>
                  <p:txBody>
                    <a:bodyPr wrap="none" lIns="98624" tIns="49313" rIns="98624" bIns="49313">
                      <a:spAutoFit/>
                    </a:bodyPr>
                    <a:lstStyle/>
                    <a:p>
                      <a:endParaRPr lang="zh-CN" altLang="en-US"/>
                    </a:p>
                  </p:txBody>
                </p:sp>
                <p:sp>
                  <p:nvSpPr>
                    <p:cNvPr id="9326" name="Line 450"/>
                    <p:cNvSpPr>
                      <a:spLocks noChangeShapeType="1"/>
                    </p:cNvSpPr>
                    <p:nvPr/>
                  </p:nvSpPr>
                  <p:spPr bwMode="auto">
                    <a:xfrm>
                      <a:off x="4153" y="2233"/>
                      <a:ext cx="29" cy="25"/>
                    </a:xfrm>
                    <a:prstGeom prst="line">
                      <a:avLst/>
                    </a:prstGeom>
                    <a:noFill/>
                    <a:ln w="12699">
                      <a:solidFill>
                        <a:schemeClr val="accent1"/>
                      </a:solidFill>
                      <a:round/>
                      <a:headEnd type="none" w="sm" len="sm"/>
                      <a:tailEnd type="none" w="sm" len="sm"/>
                    </a:ln>
                  </p:spPr>
                  <p:txBody>
                    <a:bodyPr wrap="none" lIns="98624" tIns="49313" rIns="98624" bIns="49313">
                      <a:spAutoFit/>
                    </a:bodyPr>
                    <a:lstStyle/>
                    <a:p>
                      <a:endParaRPr lang="zh-CN" altLang="en-US"/>
                    </a:p>
                  </p:txBody>
                </p:sp>
                <p:sp>
                  <p:nvSpPr>
                    <p:cNvPr id="9327" name="Line 451"/>
                    <p:cNvSpPr>
                      <a:spLocks noChangeShapeType="1"/>
                    </p:cNvSpPr>
                    <p:nvPr/>
                  </p:nvSpPr>
                  <p:spPr bwMode="auto">
                    <a:xfrm flipV="1">
                      <a:off x="4153" y="2233"/>
                      <a:ext cx="29" cy="25"/>
                    </a:xfrm>
                    <a:prstGeom prst="line">
                      <a:avLst/>
                    </a:prstGeom>
                    <a:noFill/>
                    <a:ln w="12699">
                      <a:solidFill>
                        <a:schemeClr val="accent1"/>
                      </a:solidFill>
                      <a:round/>
                      <a:headEnd type="none" w="sm" len="sm"/>
                      <a:tailEnd type="none" w="sm" len="sm"/>
                    </a:ln>
                  </p:spPr>
                  <p:txBody>
                    <a:bodyPr wrap="none" lIns="98624" tIns="49313" rIns="98624" bIns="49313">
                      <a:spAutoFit/>
                    </a:bodyPr>
                    <a:lstStyle/>
                    <a:p>
                      <a:endParaRPr lang="zh-CN" altLang="en-US"/>
                    </a:p>
                  </p:txBody>
                </p:sp>
              </p:grpSp>
              <p:sp>
                <p:nvSpPr>
                  <p:cNvPr id="9323" name="Line 452"/>
                  <p:cNvSpPr>
                    <a:spLocks noChangeShapeType="1"/>
                  </p:cNvSpPr>
                  <p:nvPr/>
                </p:nvSpPr>
                <p:spPr bwMode="auto">
                  <a:xfrm>
                    <a:off x="4147" y="2291"/>
                    <a:ext cx="0" cy="22"/>
                  </a:xfrm>
                  <a:prstGeom prst="line">
                    <a:avLst/>
                  </a:prstGeom>
                  <a:noFill/>
                  <a:ln w="12699">
                    <a:solidFill>
                      <a:schemeClr val="accent1"/>
                    </a:solidFill>
                    <a:round/>
                    <a:headEnd type="none" w="sm" len="sm"/>
                    <a:tailEnd type="none" w="sm" len="sm"/>
                  </a:ln>
                </p:spPr>
                <p:txBody>
                  <a:bodyPr wrap="none" lIns="98624" tIns="49313" rIns="98624" bIns="49313">
                    <a:spAutoFit/>
                  </a:bodyPr>
                  <a:lstStyle/>
                  <a:p>
                    <a:endParaRPr lang="zh-CN" altLang="en-US"/>
                  </a:p>
                </p:txBody>
              </p:sp>
            </p:grpSp>
          </p:grpSp>
        </p:grpSp>
        <p:sp>
          <p:nvSpPr>
            <p:cNvPr id="248261" name="Rectangle 453"/>
            <p:cNvSpPr>
              <a:spLocks noChangeArrowheads="1"/>
            </p:cNvSpPr>
            <p:nvPr/>
          </p:nvSpPr>
          <p:spPr bwMode="auto">
            <a:xfrm>
              <a:off x="3744" y="2828"/>
              <a:ext cx="905" cy="324"/>
            </a:xfrm>
            <a:prstGeom prst="rect">
              <a:avLst/>
            </a:prstGeom>
            <a:solidFill>
              <a:srgbClr val="FFC000"/>
            </a:solidFill>
            <a:ln w="9525">
              <a:noFill/>
              <a:miter lim="800000"/>
            </a:ln>
            <a:effectLst/>
          </p:spPr>
          <p:txBody>
            <a:bodyPr wrap="square" lIns="98624" tIns="49313" rIns="98624" bIns="49313">
              <a:spAutoFit/>
            </a:bodyPr>
            <a:lstStyle/>
            <a:p>
              <a:pPr defTabSz="979805" eaLnBrk="0" hangingPunct="0">
                <a:defRPr/>
              </a:pPr>
              <a:r>
                <a:rPr kumimoji="1" lang="zh-CN" altLang="en-US" sz="2700" b="1" i="1" dirty="0">
                  <a:effectLst>
                    <a:outerShdw blurRad="38100" dist="38100" dir="2700000" algn="tl">
                      <a:srgbClr val="FFFFFF"/>
                    </a:outerShdw>
                  </a:effectLst>
                  <a:latin typeface="Helvetica" charset="0"/>
                </a:rPr>
                <a:t>外部攻击</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48045"/>
                                        </p:tgtEl>
                                        <p:attrNameLst>
                                          <p:attrName>style.visibility</p:attrName>
                                        </p:attrNameLst>
                                      </p:cBhvr>
                                      <p:to>
                                        <p:strVal val="visible"/>
                                      </p:to>
                                    </p:set>
                                    <p:animEffect transition="in" filter="dissolve">
                                      <p:cBhvr>
                                        <p:cTn id="7" dur="500"/>
                                        <p:tgtEl>
                                          <p:spTgt spid="248045"/>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48050"/>
                                        </p:tgtEl>
                                        <p:attrNameLst>
                                          <p:attrName>style.visibility</p:attrName>
                                        </p:attrNameLst>
                                      </p:cBhvr>
                                      <p:to>
                                        <p:strVal val="visible"/>
                                      </p:to>
                                    </p:set>
                                    <p:animEffect transition="in" filter="dissolve">
                                      <p:cBhvr>
                                        <p:cTn id="11" dur="500"/>
                                        <p:tgtEl>
                                          <p:spTgt spid="248050"/>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248054"/>
                                        </p:tgtEl>
                                        <p:attrNameLst>
                                          <p:attrName>style.visibility</p:attrName>
                                        </p:attrNameLst>
                                      </p:cBhvr>
                                      <p:to>
                                        <p:strVal val="visible"/>
                                      </p:to>
                                    </p:set>
                                    <p:animEffect transition="in" filter="dissolve">
                                      <p:cBhvr>
                                        <p:cTn id="15" dur="500"/>
                                        <p:tgtEl>
                                          <p:spTgt spid="248054"/>
                                        </p:tgtEl>
                                      </p:cBhvr>
                                    </p:animEffect>
                                  </p:childTnLst>
                                </p:cTn>
                              </p:par>
                            </p:childTnLst>
                          </p:cTn>
                        </p:par>
                        <p:par>
                          <p:cTn id="16" fill="hold">
                            <p:stCondLst>
                              <p:cond delay="1500"/>
                            </p:stCondLst>
                            <p:childTnLst>
                              <p:par>
                                <p:cTn id="17" presetID="9" presetClass="entr" presetSubtype="0" fill="hold" nodeType="afterEffect">
                                  <p:stCondLst>
                                    <p:cond delay="0"/>
                                  </p:stCondLst>
                                  <p:childTnLst>
                                    <p:set>
                                      <p:cBhvr>
                                        <p:cTn id="18" dur="1" fill="hold">
                                          <p:stCondLst>
                                            <p:cond delay="0"/>
                                          </p:stCondLst>
                                        </p:cTn>
                                        <p:tgtEl>
                                          <p:spTgt spid="248058"/>
                                        </p:tgtEl>
                                        <p:attrNameLst>
                                          <p:attrName>style.visibility</p:attrName>
                                        </p:attrNameLst>
                                      </p:cBhvr>
                                      <p:to>
                                        <p:strVal val="visible"/>
                                      </p:to>
                                    </p:set>
                                    <p:animEffect transition="in" filter="dissolve">
                                      <p:cBhvr>
                                        <p:cTn id="19" dur="500"/>
                                        <p:tgtEl>
                                          <p:spTgt spid="248058"/>
                                        </p:tgtEl>
                                      </p:cBhvr>
                                    </p:animEffect>
                                  </p:childTnLst>
                                </p:cTn>
                              </p:par>
                            </p:childTnLst>
                          </p:cTn>
                        </p:par>
                        <p:par>
                          <p:cTn id="20" fill="hold">
                            <p:stCondLst>
                              <p:cond delay="2000"/>
                            </p:stCondLst>
                            <p:childTnLst>
                              <p:par>
                                <p:cTn id="21" presetID="9" presetClass="entr" presetSubtype="0" fill="hold" nodeType="afterEffect">
                                  <p:stCondLst>
                                    <p:cond delay="0"/>
                                  </p:stCondLst>
                                  <p:childTnLst>
                                    <p:set>
                                      <p:cBhvr>
                                        <p:cTn id="22" dur="1" fill="hold">
                                          <p:stCondLst>
                                            <p:cond delay="0"/>
                                          </p:stCondLst>
                                        </p:cTn>
                                        <p:tgtEl>
                                          <p:spTgt spid="248062"/>
                                        </p:tgtEl>
                                        <p:attrNameLst>
                                          <p:attrName>style.visibility</p:attrName>
                                        </p:attrNameLst>
                                      </p:cBhvr>
                                      <p:to>
                                        <p:strVal val="visible"/>
                                      </p:to>
                                    </p:set>
                                    <p:animEffect transition="in" filter="dissolve">
                                      <p:cBhvr>
                                        <p:cTn id="23" dur="500"/>
                                        <p:tgtEl>
                                          <p:spTgt spid="248062"/>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248066"/>
                                        </p:tgtEl>
                                        <p:attrNameLst>
                                          <p:attrName>style.visibility</p:attrName>
                                        </p:attrNameLst>
                                      </p:cBhvr>
                                      <p:to>
                                        <p:strVal val="visible"/>
                                      </p:to>
                                    </p:set>
                                    <p:animEffect transition="in" filter="dissolve">
                                      <p:cBhvr>
                                        <p:cTn id="28" dur="500"/>
                                        <p:tgtEl>
                                          <p:spTgt spid="24806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248194"/>
                                        </p:tgtEl>
                                        <p:attrNameLst>
                                          <p:attrName>style.visibility</p:attrName>
                                        </p:attrNameLst>
                                      </p:cBhvr>
                                      <p:to>
                                        <p:strVal val="visible"/>
                                      </p:to>
                                    </p:set>
                                    <p:animEffect transition="in" filter="wipe(down)">
                                      <p:cBhvr>
                                        <p:cTn id="33" dur="500"/>
                                        <p:tgtEl>
                                          <p:spTgt spid="248194"/>
                                        </p:tgtEl>
                                      </p:cBhvr>
                                    </p:animEffect>
                                  </p:childTnLst>
                                </p:cTn>
                              </p:par>
                            </p:childTnLst>
                          </p:cTn>
                        </p:par>
                        <p:par>
                          <p:cTn id="34" fill="hold">
                            <p:stCondLst>
                              <p:cond delay="500"/>
                            </p:stCondLst>
                            <p:childTnLst>
                              <p:par>
                                <p:cTn id="35" presetID="22" presetClass="entr" presetSubtype="1" fill="hold" grpId="0" nodeType="afterEffect">
                                  <p:stCondLst>
                                    <p:cond delay="0"/>
                                  </p:stCondLst>
                                  <p:childTnLst>
                                    <p:set>
                                      <p:cBhvr>
                                        <p:cTn id="36" dur="1" fill="hold">
                                          <p:stCondLst>
                                            <p:cond delay="0"/>
                                          </p:stCondLst>
                                        </p:cTn>
                                        <p:tgtEl>
                                          <p:spTgt spid="248195"/>
                                        </p:tgtEl>
                                        <p:attrNameLst>
                                          <p:attrName>style.visibility</p:attrName>
                                        </p:attrNameLst>
                                      </p:cBhvr>
                                      <p:to>
                                        <p:strVal val="visible"/>
                                      </p:to>
                                    </p:set>
                                    <p:animEffect transition="in" filter="wipe(up)">
                                      <p:cBhvr>
                                        <p:cTn id="37" dur="500"/>
                                        <p:tgtEl>
                                          <p:spTgt spid="248195"/>
                                        </p:tgtEl>
                                      </p:cBhvr>
                                    </p:animEffect>
                                  </p:childTnLst>
                                </p:cTn>
                              </p:par>
                            </p:childTnLst>
                          </p:cTn>
                        </p:par>
                        <p:par>
                          <p:cTn id="38" fill="hold">
                            <p:stCondLst>
                              <p:cond delay="1000"/>
                            </p:stCondLst>
                            <p:childTnLst>
                              <p:par>
                                <p:cTn id="39" presetID="22" presetClass="entr" presetSubtype="1" fill="hold" grpId="0" nodeType="afterEffect">
                                  <p:stCondLst>
                                    <p:cond delay="0"/>
                                  </p:stCondLst>
                                  <p:childTnLst>
                                    <p:set>
                                      <p:cBhvr>
                                        <p:cTn id="40" dur="1" fill="hold">
                                          <p:stCondLst>
                                            <p:cond delay="0"/>
                                          </p:stCondLst>
                                        </p:cTn>
                                        <p:tgtEl>
                                          <p:spTgt spid="248196"/>
                                        </p:tgtEl>
                                        <p:attrNameLst>
                                          <p:attrName>style.visibility</p:attrName>
                                        </p:attrNameLst>
                                      </p:cBhvr>
                                      <p:to>
                                        <p:strVal val="visible"/>
                                      </p:to>
                                    </p:set>
                                    <p:animEffect transition="in" filter="wipe(up)">
                                      <p:cBhvr>
                                        <p:cTn id="41" dur="500"/>
                                        <p:tgtEl>
                                          <p:spTgt spid="248196"/>
                                        </p:tgtEl>
                                      </p:cBhvr>
                                    </p:animEffect>
                                  </p:childTnLst>
                                </p:cTn>
                              </p:par>
                            </p:childTnLst>
                          </p:cTn>
                        </p:par>
                        <p:par>
                          <p:cTn id="42" fill="hold">
                            <p:stCondLst>
                              <p:cond delay="1500"/>
                            </p:stCondLst>
                            <p:childTnLst>
                              <p:par>
                                <p:cTn id="43" presetID="22" presetClass="entr" presetSubtype="2" fill="hold" grpId="0" nodeType="afterEffect">
                                  <p:stCondLst>
                                    <p:cond delay="0"/>
                                  </p:stCondLst>
                                  <p:childTnLst>
                                    <p:set>
                                      <p:cBhvr>
                                        <p:cTn id="44" dur="1" fill="hold">
                                          <p:stCondLst>
                                            <p:cond delay="0"/>
                                          </p:stCondLst>
                                        </p:cTn>
                                        <p:tgtEl>
                                          <p:spTgt spid="248197"/>
                                        </p:tgtEl>
                                        <p:attrNameLst>
                                          <p:attrName>style.visibility</p:attrName>
                                        </p:attrNameLst>
                                      </p:cBhvr>
                                      <p:to>
                                        <p:strVal val="visible"/>
                                      </p:to>
                                    </p:set>
                                    <p:animEffect transition="in" filter="wipe(right)">
                                      <p:cBhvr>
                                        <p:cTn id="45" dur="500"/>
                                        <p:tgtEl>
                                          <p:spTgt spid="248197"/>
                                        </p:tgtEl>
                                      </p:cBhvr>
                                    </p:animEffect>
                                  </p:childTnLst>
                                </p:cTn>
                              </p:par>
                            </p:childTnLst>
                          </p:cTn>
                        </p:par>
                        <p:par>
                          <p:cTn id="46" fill="hold">
                            <p:stCondLst>
                              <p:cond delay="2000"/>
                            </p:stCondLst>
                            <p:childTnLst>
                              <p:par>
                                <p:cTn id="47" presetID="22" presetClass="entr" presetSubtype="2" fill="hold" grpId="0" nodeType="afterEffect">
                                  <p:stCondLst>
                                    <p:cond delay="0"/>
                                  </p:stCondLst>
                                  <p:childTnLst>
                                    <p:set>
                                      <p:cBhvr>
                                        <p:cTn id="48" dur="1" fill="hold">
                                          <p:stCondLst>
                                            <p:cond delay="0"/>
                                          </p:stCondLst>
                                        </p:cTn>
                                        <p:tgtEl>
                                          <p:spTgt spid="248198"/>
                                        </p:tgtEl>
                                        <p:attrNameLst>
                                          <p:attrName>style.visibility</p:attrName>
                                        </p:attrNameLst>
                                      </p:cBhvr>
                                      <p:to>
                                        <p:strVal val="visible"/>
                                      </p:to>
                                    </p:set>
                                    <p:animEffect transition="in" filter="wipe(right)">
                                      <p:cBhvr>
                                        <p:cTn id="49" dur="500"/>
                                        <p:tgtEl>
                                          <p:spTgt spid="248198"/>
                                        </p:tgtEl>
                                      </p:cBhvr>
                                    </p:animEffect>
                                  </p:childTnLst>
                                </p:cTn>
                              </p:par>
                            </p:childTnLst>
                          </p:cTn>
                        </p:par>
                        <p:par>
                          <p:cTn id="50" fill="hold">
                            <p:stCondLst>
                              <p:cond delay="2500"/>
                            </p:stCondLst>
                            <p:childTnLst>
                              <p:par>
                                <p:cTn id="51" presetID="22" presetClass="entr" presetSubtype="4" fill="hold" grpId="0" nodeType="afterEffect">
                                  <p:stCondLst>
                                    <p:cond delay="0"/>
                                  </p:stCondLst>
                                  <p:childTnLst>
                                    <p:set>
                                      <p:cBhvr>
                                        <p:cTn id="52" dur="1" fill="hold">
                                          <p:stCondLst>
                                            <p:cond delay="0"/>
                                          </p:stCondLst>
                                        </p:cTn>
                                        <p:tgtEl>
                                          <p:spTgt spid="248199"/>
                                        </p:tgtEl>
                                        <p:attrNameLst>
                                          <p:attrName>style.visibility</p:attrName>
                                        </p:attrNameLst>
                                      </p:cBhvr>
                                      <p:to>
                                        <p:strVal val="visible"/>
                                      </p:to>
                                    </p:set>
                                    <p:animEffect transition="in" filter="wipe(down)">
                                      <p:cBhvr>
                                        <p:cTn id="53" dur="500"/>
                                        <p:tgtEl>
                                          <p:spTgt spid="248199"/>
                                        </p:tgtEl>
                                      </p:cBhvr>
                                    </p:animEffect>
                                  </p:childTnLst>
                                </p:cTn>
                              </p:par>
                            </p:childTnLst>
                          </p:cTn>
                        </p:par>
                        <p:par>
                          <p:cTn id="54" fill="hold">
                            <p:stCondLst>
                              <p:cond delay="3000"/>
                            </p:stCondLst>
                            <p:childTnLst>
                              <p:par>
                                <p:cTn id="55" presetID="22" presetClass="entr" presetSubtype="2" fill="hold" grpId="0" nodeType="afterEffect">
                                  <p:stCondLst>
                                    <p:cond delay="0"/>
                                  </p:stCondLst>
                                  <p:childTnLst>
                                    <p:set>
                                      <p:cBhvr>
                                        <p:cTn id="56" dur="1" fill="hold">
                                          <p:stCondLst>
                                            <p:cond delay="0"/>
                                          </p:stCondLst>
                                        </p:cTn>
                                        <p:tgtEl>
                                          <p:spTgt spid="248200"/>
                                        </p:tgtEl>
                                        <p:attrNameLst>
                                          <p:attrName>style.visibility</p:attrName>
                                        </p:attrNameLst>
                                      </p:cBhvr>
                                      <p:to>
                                        <p:strVal val="visible"/>
                                      </p:to>
                                    </p:set>
                                    <p:animEffect transition="in" filter="wipe(right)">
                                      <p:cBhvr>
                                        <p:cTn id="57" dur="500"/>
                                        <p:tgtEl>
                                          <p:spTgt spid="248200"/>
                                        </p:tgtEl>
                                      </p:cBhvr>
                                    </p:animEffect>
                                  </p:childTnLst>
                                </p:cTn>
                              </p:par>
                            </p:childTnLst>
                          </p:cTn>
                        </p:par>
                        <p:par>
                          <p:cTn id="58" fill="hold">
                            <p:stCondLst>
                              <p:cond delay="3500"/>
                            </p:stCondLst>
                            <p:childTnLst>
                              <p:par>
                                <p:cTn id="59" presetID="22" presetClass="entr" presetSubtype="1" fill="hold" nodeType="afterEffect">
                                  <p:stCondLst>
                                    <p:cond delay="0"/>
                                  </p:stCondLst>
                                  <p:childTnLst>
                                    <p:set>
                                      <p:cBhvr>
                                        <p:cTn id="60" dur="1" fill="hold">
                                          <p:stCondLst>
                                            <p:cond delay="0"/>
                                          </p:stCondLst>
                                        </p:cTn>
                                        <p:tgtEl>
                                          <p:spTgt spid="248076"/>
                                        </p:tgtEl>
                                        <p:attrNameLst>
                                          <p:attrName>style.visibility</p:attrName>
                                        </p:attrNameLst>
                                      </p:cBhvr>
                                      <p:to>
                                        <p:strVal val="visible"/>
                                      </p:to>
                                    </p:set>
                                    <p:animEffect transition="in" filter="wipe(up)">
                                      <p:cBhvr>
                                        <p:cTn id="61" dur="500"/>
                                        <p:tgtEl>
                                          <p:spTgt spid="248076"/>
                                        </p:tgtEl>
                                      </p:cBhvr>
                                    </p:animEffect>
                                  </p:childTnLst>
                                </p:cTn>
                              </p:par>
                            </p:childTnLst>
                          </p:cTn>
                        </p:par>
                        <p:par>
                          <p:cTn id="62" fill="hold">
                            <p:stCondLst>
                              <p:cond delay="4000"/>
                            </p:stCondLst>
                            <p:childTnLst>
                              <p:par>
                                <p:cTn id="63" presetID="22" presetClass="entr" presetSubtype="8" fill="hold" grpId="0" nodeType="afterEffect">
                                  <p:stCondLst>
                                    <p:cond delay="0"/>
                                  </p:stCondLst>
                                  <p:childTnLst>
                                    <p:set>
                                      <p:cBhvr>
                                        <p:cTn id="64" dur="1" fill="hold">
                                          <p:stCondLst>
                                            <p:cond delay="0"/>
                                          </p:stCondLst>
                                        </p:cTn>
                                        <p:tgtEl>
                                          <p:spTgt spid="248208"/>
                                        </p:tgtEl>
                                        <p:attrNameLst>
                                          <p:attrName>style.visibility</p:attrName>
                                        </p:attrNameLst>
                                      </p:cBhvr>
                                      <p:to>
                                        <p:strVal val="visible"/>
                                      </p:to>
                                    </p:set>
                                    <p:animEffect transition="in" filter="wipe(left)">
                                      <p:cBhvr>
                                        <p:cTn id="65" dur="500"/>
                                        <p:tgtEl>
                                          <p:spTgt spid="248208"/>
                                        </p:tgtEl>
                                      </p:cBhvr>
                                    </p:animEffect>
                                  </p:childTnLst>
                                </p:cTn>
                              </p:par>
                            </p:childTnLst>
                          </p:cTn>
                        </p:par>
                        <p:par>
                          <p:cTn id="66" fill="hold">
                            <p:stCondLst>
                              <p:cond delay="4500"/>
                            </p:stCondLst>
                            <p:childTnLst>
                              <p:par>
                                <p:cTn id="67" presetID="22" presetClass="entr" presetSubtype="1" fill="hold" grpId="0" nodeType="afterEffect">
                                  <p:stCondLst>
                                    <p:cond delay="0"/>
                                  </p:stCondLst>
                                  <p:childTnLst>
                                    <p:set>
                                      <p:cBhvr>
                                        <p:cTn id="68" dur="1" fill="hold">
                                          <p:stCondLst>
                                            <p:cond delay="0"/>
                                          </p:stCondLst>
                                        </p:cTn>
                                        <p:tgtEl>
                                          <p:spTgt spid="248209"/>
                                        </p:tgtEl>
                                        <p:attrNameLst>
                                          <p:attrName>style.visibility</p:attrName>
                                        </p:attrNameLst>
                                      </p:cBhvr>
                                      <p:to>
                                        <p:strVal val="visible"/>
                                      </p:to>
                                    </p:set>
                                    <p:animEffect transition="in" filter="wipe(up)">
                                      <p:cBhvr>
                                        <p:cTn id="69" dur="500"/>
                                        <p:tgtEl>
                                          <p:spTgt spid="248209"/>
                                        </p:tgtEl>
                                      </p:cBhvr>
                                    </p:animEffect>
                                  </p:childTnLst>
                                </p:cTn>
                              </p:par>
                            </p:childTnLst>
                          </p:cTn>
                        </p:par>
                        <p:par>
                          <p:cTn id="70" fill="hold">
                            <p:stCondLst>
                              <p:cond delay="5000"/>
                            </p:stCondLst>
                            <p:childTnLst>
                              <p:par>
                                <p:cTn id="71" presetID="22" presetClass="entr" presetSubtype="8" fill="hold" grpId="0" nodeType="afterEffect">
                                  <p:stCondLst>
                                    <p:cond delay="0"/>
                                  </p:stCondLst>
                                  <p:childTnLst>
                                    <p:set>
                                      <p:cBhvr>
                                        <p:cTn id="72" dur="1" fill="hold">
                                          <p:stCondLst>
                                            <p:cond delay="0"/>
                                          </p:stCondLst>
                                        </p:cTn>
                                        <p:tgtEl>
                                          <p:spTgt spid="248210"/>
                                        </p:tgtEl>
                                        <p:attrNameLst>
                                          <p:attrName>style.visibility</p:attrName>
                                        </p:attrNameLst>
                                      </p:cBhvr>
                                      <p:to>
                                        <p:strVal val="visible"/>
                                      </p:to>
                                    </p:set>
                                    <p:animEffect transition="in" filter="wipe(left)">
                                      <p:cBhvr>
                                        <p:cTn id="73" dur="500"/>
                                        <p:tgtEl>
                                          <p:spTgt spid="248210"/>
                                        </p:tgtEl>
                                      </p:cBhvr>
                                    </p:animEffect>
                                  </p:childTnLst>
                                </p:cTn>
                              </p:par>
                            </p:childTnLst>
                          </p:cTn>
                        </p:par>
                        <p:par>
                          <p:cTn id="74" fill="hold">
                            <p:stCondLst>
                              <p:cond delay="5500"/>
                            </p:stCondLst>
                            <p:childTnLst>
                              <p:par>
                                <p:cTn id="75" presetID="22" presetClass="entr" presetSubtype="8" fill="hold" grpId="0" nodeType="afterEffect">
                                  <p:stCondLst>
                                    <p:cond delay="0"/>
                                  </p:stCondLst>
                                  <p:childTnLst>
                                    <p:set>
                                      <p:cBhvr>
                                        <p:cTn id="76" dur="1" fill="hold">
                                          <p:stCondLst>
                                            <p:cond delay="0"/>
                                          </p:stCondLst>
                                        </p:cTn>
                                        <p:tgtEl>
                                          <p:spTgt spid="248211"/>
                                        </p:tgtEl>
                                        <p:attrNameLst>
                                          <p:attrName>style.visibility</p:attrName>
                                        </p:attrNameLst>
                                      </p:cBhvr>
                                      <p:to>
                                        <p:strVal val="visible"/>
                                      </p:to>
                                    </p:set>
                                    <p:animEffect transition="in" filter="wipe(left)">
                                      <p:cBhvr>
                                        <p:cTn id="77" dur="500"/>
                                        <p:tgtEl>
                                          <p:spTgt spid="248211"/>
                                        </p:tgtEl>
                                      </p:cBhvr>
                                    </p:animEffect>
                                  </p:childTnLst>
                                </p:cTn>
                              </p:par>
                            </p:childTnLst>
                          </p:cTn>
                        </p:par>
                        <p:par>
                          <p:cTn id="78" fill="hold">
                            <p:stCondLst>
                              <p:cond delay="6000"/>
                            </p:stCondLst>
                            <p:childTnLst>
                              <p:par>
                                <p:cTn id="79" presetID="22" presetClass="entr" presetSubtype="4" fill="hold" grpId="0" nodeType="afterEffect">
                                  <p:stCondLst>
                                    <p:cond delay="0"/>
                                  </p:stCondLst>
                                  <p:childTnLst>
                                    <p:set>
                                      <p:cBhvr>
                                        <p:cTn id="80" dur="1" fill="hold">
                                          <p:stCondLst>
                                            <p:cond delay="0"/>
                                          </p:stCondLst>
                                        </p:cTn>
                                        <p:tgtEl>
                                          <p:spTgt spid="248212"/>
                                        </p:tgtEl>
                                        <p:attrNameLst>
                                          <p:attrName>style.visibility</p:attrName>
                                        </p:attrNameLst>
                                      </p:cBhvr>
                                      <p:to>
                                        <p:strVal val="visible"/>
                                      </p:to>
                                    </p:set>
                                    <p:animEffect transition="in" filter="wipe(down)">
                                      <p:cBhvr>
                                        <p:cTn id="81" dur="500"/>
                                        <p:tgtEl>
                                          <p:spTgt spid="248212"/>
                                        </p:tgtEl>
                                      </p:cBhvr>
                                    </p:animEffect>
                                  </p:childTnLst>
                                </p:cTn>
                              </p:par>
                            </p:childTnLst>
                          </p:cTn>
                        </p:par>
                        <p:par>
                          <p:cTn id="82" fill="hold">
                            <p:stCondLst>
                              <p:cond delay="6500"/>
                            </p:stCondLst>
                            <p:childTnLst>
                              <p:par>
                                <p:cTn id="83" presetID="22" presetClass="entr" presetSubtype="4" fill="hold" grpId="0" nodeType="afterEffect">
                                  <p:stCondLst>
                                    <p:cond delay="0"/>
                                  </p:stCondLst>
                                  <p:childTnLst>
                                    <p:set>
                                      <p:cBhvr>
                                        <p:cTn id="84" dur="1" fill="hold">
                                          <p:stCondLst>
                                            <p:cond delay="0"/>
                                          </p:stCondLst>
                                        </p:cTn>
                                        <p:tgtEl>
                                          <p:spTgt spid="248213"/>
                                        </p:tgtEl>
                                        <p:attrNameLst>
                                          <p:attrName>style.visibility</p:attrName>
                                        </p:attrNameLst>
                                      </p:cBhvr>
                                      <p:to>
                                        <p:strVal val="visible"/>
                                      </p:to>
                                    </p:set>
                                    <p:animEffect transition="in" filter="wipe(down)">
                                      <p:cBhvr>
                                        <p:cTn id="85" dur="500"/>
                                        <p:tgtEl>
                                          <p:spTgt spid="248213"/>
                                        </p:tgtEl>
                                      </p:cBhvr>
                                    </p:animEffect>
                                  </p:childTnLst>
                                </p:cTn>
                              </p:par>
                            </p:childTnLst>
                          </p:cTn>
                        </p:par>
                        <p:par>
                          <p:cTn id="86" fill="hold">
                            <p:stCondLst>
                              <p:cond delay="7000"/>
                            </p:stCondLst>
                            <p:childTnLst>
                              <p:par>
                                <p:cTn id="87" presetID="22" presetClass="entr" presetSubtype="1" fill="hold" grpId="0" nodeType="afterEffect">
                                  <p:stCondLst>
                                    <p:cond delay="0"/>
                                  </p:stCondLst>
                                  <p:childTnLst>
                                    <p:set>
                                      <p:cBhvr>
                                        <p:cTn id="88" dur="1" fill="hold">
                                          <p:stCondLst>
                                            <p:cond delay="0"/>
                                          </p:stCondLst>
                                        </p:cTn>
                                        <p:tgtEl>
                                          <p:spTgt spid="248214"/>
                                        </p:tgtEl>
                                        <p:attrNameLst>
                                          <p:attrName>style.visibility</p:attrName>
                                        </p:attrNameLst>
                                      </p:cBhvr>
                                      <p:to>
                                        <p:strVal val="visible"/>
                                      </p:to>
                                    </p:set>
                                    <p:animEffect transition="in" filter="wipe(up)">
                                      <p:cBhvr>
                                        <p:cTn id="89" dur="500"/>
                                        <p:tgtEl>
                                          <p:spTgt spid="248214"/>
                                        </p:tgtEl>
                                      </p:cBhvr>
                                    </p:animEffect>
                                  </p:childTnLst>
                                </p:cTn>
                              </p:par>
                            </p:childTnLst>
                          </p:cTn>
                        </p:par>
                        <p:par>
                          <p:cTn id="90" fill="hold">
                            <p:stCondLst>
                              <p:cond delay="7500"/>
                            </p:stCondLst>
                            <p:childTnLst>
                              <p:par>
                                <p:cTn id="91" presetID="9" presetClass="entr" presetSubtype="0" fill="hold" nodeType="afterEffect">
                                  <p:stCondLst>
                                    <p:cond delay="0"/>
                                  </p:stCondLst>
                                  <p:childTnLst>
                                    <p:set>
                                      <p:cBhvr>
                                        <p:cTn id="92" dur="1" fill="hold">
                                          <p:stCondLst>
                                            <p:cond delay="0"/>
                                          </p:stCondLst>
                                        </p:cTn>
                                        <p:tgtEl>
                                          <p:spTgt spid="248078"/>
                                        </p:tgtEl>
                                        <p:attrNameLst>
                                          <p:attrName>style.visibility</p:attrName>
                                        </p:attrNameLst>
                                      </p:cBhvr>
                                      <p:to>
                                        <p:strVal val="visible"/>
                                      </p:to>
                                    </p:set>
                                    <p:animEffect transition="in" filter="dissolve">
                                      <p:cBhvr>
                                        <p:cTn id="93" dur="500"/>
                                        <p:tgtEl>
                                          <p:spTgt spid="248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194" grpId="0" animBg="1"/>
      <p:bldP spid="248195" grpId="0" animBg="1"/>
      <p:bldP spid="248196" grpId="0" animBg="1"/>
      <p:bldP spid="248197" grpId="0" animBg="1"/>
      <p:bldP spid="248198" grpId="0" animBg="1"/>
      <p:bldP spid="248199" grpId="0" animBg="1"/>
      <p:bldP spid="248200" grpId="0" animBg="1"/>
      <p:bldP spid="248208" grpId="0" animBg="1"/>
      <p:bldP spid="248209" grpId="0" animBg="1"/>
      <p:bldP spid="248210" grpId="0" animBg="1"/>
      <p:bldP spid="248211" grpId="0" animBg="1"/>
      <p:bldP spid="248212" grpId="0" animBg="1"/>
      <p:bldP spid="248213" grpId="0" animBg="1"/>
      <p:bldP spid="248214" grpId="0" animBg="1"/>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9" name="Rectangle 4"/>
          <p:cNvSpPr>
            <a:spLocks noChangeArrowheads="1"/>
          </p:cNvSpPr>
          <p:nvPr/>
        </p:nvSpPr>
        <p:spPr bwMode="auto">
          <a:xfrm>
            <a:off x="3981450" y="2749574"/>
            <a:ext cx="2819400" cy="457200"/>
          </a:xfrm>
          <a:prstGeom prst="rect">
            <a:avLst/>
          </a:prstGeom>
          <a:noFill/>
          <a:ln w="9525">
            <a:noFill/>
            <a:miter lim="800000"/>
          </a:ln>
        </p:spPr>
        <p:txBody>
          <a:bodyPr>
            <a:spAutoFit/>
          </a:bodyPr>
          <a:lstStyle/>
          <a:p>
            <a:pPr algn="l"/>
            <a:endParaRPr kumimoji="1" lang="zh-CN" altLang="zh-CN" sz="2400" b="0">
              <a:latin typeface="Times New Roman" panose="02020603050405020304" pitchFamily="18" charset="0"/>
            </a:endParaRPr>
          </a:p>
        </p:txBody>
      </p:sp>
      <p:sp>
        <p:nvSpPr>
          <p:cNvPr id="248837" name="Rectangle 5"/>
          <p:cNvSpPr>
            <a:spLocks noChangeArrowheads="1"/>
          </p:cNvSpPr>
          <p:nvPr/>
        </p:nvSpPr>
        <p:spPr bwMode="auto">
          <a:xfrm>
            <a:off x="5133975" y="1985987"/>
            <a:ext cx="184150" cy="701675"/>
          </a:xfrm>
          <a:prstGeom prst="rect">
            <a:avLst/>
          </a:prstGeom>
          <a:noFill/>
          <a:ln w="9525">
            <a:noFill/>
            <a:miter lim="800000"/>
          </a:ln>
        </p:spPr>
        <p:txBody>
          <a:bodyPr wrap="none">
            <a:spAutoFit/>
          </a:bodyPr>
          <a:lstStyle/>
          <a:p>
            <a:pPr>
              <a:defRPr/>
            </a:pPr>
            <a:endParaRPr kumimoji="1" lang="zh-CN" altLang="zh-CN" sz="4000">
              <a:effectLst>
                <a:outerShdw blurRad="38100" dist="38100" dir="2700000" algn="tl">
                  <a:srgbClr val="C0C0C0"/>
                </a:outerShdw>
              </a:effectLst>
              <a:latin typeface="Times New Roman" panose="02020603050405020304" pitchFamily="18" charset="0"/>
            </a:endParaRPr>
          </a:p>
        </p:txBody>
      </p:sp>
      <p:sp>
        <p:nvSpPr>
          <p:cNvPr id="10251" name="Rectangle 6"/>
          <p:cNvSpPr>
            <a:spLocks noChangeArrowheads="1"/>
          </p:cNvSpPr>
          <p:nvPr/>
        </p:nvSpPr>
        <p:spPr bwMode="auto">
          <a:xfrm>
            <a:off x="1619250" y="1604987"/>
            <a:ext cx="2819400" cy="457200"/>
          </a:xfrm>
          <a:prstGeom prst="rect">
            <a:avLst/>
          </a:prstGeom>
          <a:noFill/>
          <a:ln w="9525">
            <a:noFill/>
            <a:miter lim="800000"/>
          </a:ln>
        </p:spPr>
        <p:txBody>
          <a:bodyPr>
            <a:spAutoFit/>
          </a:bodyPr>
          <a:lstStyle/>
          <a:p>
            <a:pPr algn="l"/>
            <a:endParaRPr kumimoji="1" lang="zh-CN" altLang="zh-CN" sz="2400" b="0">
              <a:latin typeface="Times New Roman" panose="02020603050405020304" pitchFamily="18" charset="0"/>
            </a:endParaRPr>
          </a:p>
        </p:txBody>
      </p:sp>
      <p:sp>
        <p:nvSpPr>
          <p:cNvPr id="10252" name="Oval 7"/>
          <p:cNvSpPr>
            <a:spLocks noChangeArrowheads="1"/>
          </p:cNvSpPr>
          <p:nvPr/>
        </p:nvSpPr>
        <p:spPr bwMode="auto">
          <a:xfrm>
            <a:off x="2855913" y="1763737"/>
            <a:ext cx="2286000" cy="3749675"/>
          </a:xfrm>
          <a:prstGeom prst="ellipse">
            <a:avLst/>
          </a:prstGeom>
          <a:gradFill rotWithShape="0">
            <a:gsLst>
              <a:gs pos="0">
                <a:srgbClr val="063DE8"/>
              </a:gs>
              <a:gs pos="100000">
                <a:srgbClr val="010617"/>
              </a:gs>
            </a:gsLst>
            <a:path path="shape">
              <a:fillToRect l="50000" t="50000" r="50000" b="50000"/>
            </a:path>
          </a:gradFill>
          <a:ln w="9525">
            <a:noFill/>
            <a:round/>
          </a:ln>
        </p:spPr>
        <p:txBody>
          <a:bodyPr wrap="none" anchor="ctr"/>
          <a:lstStyle/>
          <a:p>
            <a:endParaRPr lang="zh-CN" altLang="en-US"/>
          </a:p>
        </p:txBody>
      </p:sp>
      <p:sp>
        <p:nvSpPr>
          <p:cNvPr id="10253" name="Rectangle 8"/>
          <p:cNvSpPr>
            <a:spLocks noChangeArrowheads="1"/>
          </p:cNvSpPr>
          <p:nvPr/>
        </p:nvSpPr>
        <p:spPr bwMode="auto">
          <a:xfrm rot="-1800000">
            <a:off x="5186363" y="2938487"/>
            <a:ext cx="2108200" cy="88900"/>
          </a:xfrm>
          <a:prstGeom prst="rect">
            <a:avLst/>
          </a:prstGeom>
          <a:gradFill rotWithShape="0">
            <a:gsLst>
              <a:gs pos="0">
                <a:srgbClr val="E6F7FC"/>
              </a:gs>
              <a:gs pos="100000">
                <a:srgbClr val="05B5DE"/>
              </a:gs>
            </a:gsLst>
            <a:lin ang="0" scaled="1"/>
          </a:gradFill>
          <a:ln w="9525">
            <a:noFill/>
            <a:miter lim="800000"/>
          </a:ln>
        </p:spPr>
        <p:txBody>
          <a:bodyPr wrap="none" anchor="ctr"/>
          <a:lstStyle/>
          <a:p>
            <a:endParaRPr lang="zh-CN" altLang="en-US"/>
          </a:p>
        </p:txBody>
      </p:sp>
      <p:sp>
        <p:nvSpPr>
          <p:cNvPr id="10254" name="Line 9"/>
          <p:cNvSpPr>
            <a:spLocks noChangeShapeType="1"/>
          </p:cNvSpPr>
          <p:nvPr/>
        </p:nvSpPr>
        <p:spPr bwMode="auto">
          <a:xfrm>
            <a:off x="3662363" y="3500462"/>
            <a:ext cx="619125" cy="0"/>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10255" name="Rectangle 10"/>
          <p:cNvSpPr>
            <a:spLocks noChangeArrowheads="1"/>
          </p:cNvSpPr>
          <p:nvPr/>
        </p:nvSpPr>
        <p:spPr bwMode="auto">
          <a:xfrm>
            <a:off x="1682750" y="5827737"/>
            <a:ext cx="1928813" cy="409575"/>
          </a:xfrm>
          <a:prstGeom prst="rect">
            <a:avLst/>
          </a:prstGeom>
          <a:noFill/>
          <a:ln w="9525">
            <a:noFill/>
            <a:miter lim="800000"/>
          </a:ln>
        </p:spPr>
        <p:txBody>
          <a:bodyPr wrap="none" anchor="ctr"/>
          <a:lstStyle/>
          <a:p>
            <a:endParaRPr lang="zh-CN" altLang="en-US"/>
          </a:p>
        </p:txBody>
      </p:sp>
      <p:sp>
        <p:nvSpPr>
          <p:cNvPr id="248843" name="Rectangle 11"/>
          <p:cNvSpPr>
            <a:spLocks noChangeArrowheads="1"/>
          </p:cNvSpPr>
          <p:nvPr/>
        </p:nvSpPr>
        <p:spPr bwMode="auto">
          <a:xfrm>
            <a:off x="4643240" y="1646579"/>
            <a:ext cx="1653517" cy="964795"/>
          </a:xfrm>
          <a:prstGeom prst="rect">
            <a:avLst/>
          </a:prstGeom>
          <a:noFill/>
          <a:ln w="9525">
            <a:noFill/>
            <a:miter lim="800000"/>
          </a:ln>
          <a:effectLst/>
        </p:spPr>
        <p:txBody>
          <a:bodyPr wrap="square" lIns="102026" tIns="51012" rIns="102026" bIns="51012">
            <a:spAutoFit/>
          </a:bodyPr>
          <a:lstStyle/>
          <a:p>
            <a:pPr defTabSz="1050925" eaLnBrk="0" hangingPunct="0"/>
            <a:r>
              <a:rPr kumimoji="1" lang="en-US" altLang="zh-CN" sz="1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DMZ</a:t>
            </a:r>
          </a:p>
          <a:p>
            <a:pPr marL="285750" indent="-285750" defTabSz="1050925" eaLnBrk="0" hangingPunct="0">
              <a:buClr>
                <a:srgbClr val="FF0000"/>
              </a:buClr>
              <a:buFont typeface="Wingdings" panose="05000000000000000000" pitchFamily="2" charset="2"/>
              <a:buChar char="u"/>
            </a:pPr>
            <a:r>
              <a:rPr kumimoji="1" lang="en-US" altLang="zh-CN" sz="1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E-Mail</a:t>
            </a:r>
          </a:p>
          <a:p>
            <a:pPr marL="285750" indent="-285750" defTabSz="1050925" eaLnBrk="0" hangingPunct="0">
              <a:buClr>
                <a:srgbClr val="FF0000"/>
              </a:buClr>
              <a:buFont typeface="Wingdings" panose="05000000000000000000" pitchFamily="2" charset="2"/>
              <a:buChar char="u"/>
            </a:pPr>
            <a:r>
              <a:rPr kumimoji="1" lang="en-US" altLang="zh-CN" sz="1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File Transfer</a:t>
            </a:r>
          </a:p>
          <a:p>
            <a:pPr marL="285750" indent="-285750" defTabSz="1050925" eaLnBrk="0" hangingPunct="0">
              <a:buClr>
                <a:srgbClr val="FF0000"/>
              </a:buClr>
              <a:buFont typeface="Wingdings" panose="05000000000000000000" pitchFamily="2" charset="2"/>
              <a:buChar char="u"/>
            </a:pPr>
            <a:r>
              <a:rPr kumimoji="1" lang="en-US" altLang="zh-CN" sz="1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HTTP</a:t>
            </a:r>
          </a:p>
        </p:txBody>
      </p:sp>
      <p:sp>
        <p:nvSpPr>
          <p:cNvPr id="248844" name="Rectangle 12"/>
          <p:cNvSpPr>
            <a:spLocks noChangeArrowheads="1"/>
          </p:cNvSpPr>
          <p:nvPr/>
        </p:nvSpPr>
        <p:spPr bwMode="auto">
          <a:xfrm>
            <a:off x="3675063" y="4265637"/>
            <a:ext cx="1509712" cy="472352"/>
          </a:xfrm>
          <a:prstGeom prst="rect">
            <a:avLst/>
          </a:prstGeom>
          <a:noFill/>
          <a:ln w="9525">
            <a:noFill/>
            <a:miter lim="800000"/>
          </a:ln>
          <a:effectLst/>
        </p:spPr>
        <p:txBody>
          <a:bodyPr lIns="102026" tIns="51012" rIns="102026" bIns="51012">
            <a:spAutoFit/>
          </a:bodyPr>
          <a:lstStyle/>
          <a:p>
            <a:pPr defTabSz="1050925" eaLnBrk="0" hangingPunct="0"/>
            <a:r>
              <a:rPr kumimoji="1" lang="en-US" altLang="zh-CN" sz="2400" i="1" dirty="0">
                <a:solidFill>
                  <a:srgbClr val="FF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Intranet</a:t>
            </a:r>
          </a:p>
        </p:txBody>
      </p:sp>
      <p:sp>
        <p:nvSpPr>
          <p:cNvPr id="10258" name="Freeform 13"/>
          <p:cNvSpPr/>
          <p:nvPr/>
        </p:nvSpPr>
        <p:spPr bwMode="auto">
          <a:xfrm>
            <a:off x="4110038" y="2513037"/>
            <a:ext cx="646112" cy="568325"/>
          </a:xfrm>
          <a:custGeom>
            <a:avLst/>
            <a:gdLst>
              <a:gd name="T0" fmla="*/ 0 w 364"/>
              <a:gd name="T1" fmla="*/ 0 h 357"/>
              <a:gd name="T2" fmla="*/ 0 w 364"/>
              <a:gd name="T3" fmla="*/ 356 h 357"/>
              <a:gd name="T4" fmla="*/ 363 w 364"/>
              <a:gd name="T5" fmla="*/ 356 h 357"/>
              <a:gd name="T6" fmla="*/ 0 60000 65536"/>
              <a:gd name="T7" fmla="*/ 0 60000 65536"/>
              <a:gd name="T8" fmla="*/ 0 60000 65536"/>
              <a:gd name="T9" fmla="*/ 0 w 364"/>
              <a:gd name="T10" fmla="*/ 0 h 357"/>
              <a:gd name="T11" fmla="*/ 364 w 364"/>
              <a:gd name="T12" fmla="*/ 357 h 357"/>
            </a:gdLst>
            <a:ahLst/>
            <a:cxnLst>
              <a:cxn ang="T6">
                <a:pos x="T0" y="T1"/>
              </a:cxn>
              <a:cxn ang="T7">
                <a:pos x="T2" y="T3"/>
              </a:cxn>
              <a:cxn ang="T8">
                <a:pos x="T4" y="T5"/>
              </a:cxn>
            </a:cxnLst>
            <a:rect l="T9" t="T10" r="T11" b="T12"/>
            <a:pathLst>
              <a:path w="364" h="357">
                <a:moveTo>
                  <a:pt x="0" y="0"/>
                </a:moveTo>
                <a:lnTo>
                  <a:pt x="0" y="356"/>
                </a:lnTo>
                <a:lnTo>
                  <a:pt x="363" y="356"/>
                </a:lnTo>
              </a:path>
            </a:pathLst>
          </a:custGeom>
          <a:noFill/>
          <a:ln w="25399" cap="rnd">
            <a:solidFill>
              <a:schemeClr val="tx1"/>
            </a:solidFill>
            <a:round/>
            <a:headEnd type="none" w="sm" len="sm"/>
            <a:tailEnd type="none" w="sm" len="sm"/>
          </a:ln>
        </p:spPr>
        <p:txBody>
          <a:bodyPr/>
          <a:lstStyle/>
          <a:p>
            <a:endParaRPr lang="zh-CN" altLang="en-US"/>
          </a:p>
        </p:txBody>
      </p:sp>
      <p:graphicFrame>
        <p:nvGraphicFramePr>
          <p:cNvPr id="10242" name="Object 14"/>
          <p:cNvGraphicFramePr/>
          <p:nvPr/>
        </p:nvGraphicFramePr>
        <p:xfrm>
          <a:off x="3833813" y="1728812"/>
          <a:ext cx="622300" cy="1057275"/>
        </p:xfrm>
        <a:graphic>
          <a:graphicData uri="http://schemas.openxmlformats.org/presentationml/2006/ole">
            <mc:AlternateContent xmlns:mc="http://schemas.openxmlformats.org/markup-compatibility/2006">
              <mc:Choice xmlns:v="urn:schemas-microsoft-com:vml" Requires="v">
                <p:oleObj spid="_x0000_s5211" r:id="rId3" imgW="1962150" imgH="2638425" progId="">
                  <p:embed/>
                </p:oleObj>
              </mc:Choice>
              <mc:Fallback>
                <p:oleObj r:id="rId3" imgW="1962150" imgH="2638425" progId="">
                  <p:embed/>
                  <p:pic>
                    <p:nvPicPr>
                      <p:cNvPr id="10242" name="Object 1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33813" y="1728812"/>
                        <a:ext cx="622300" cy="105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8847" name="Rectangle 15"/>
          <p:cNvSpPr>
            <a:spLocks noChangeArrowheads="1"/>
          </p:cNvSpPr>
          <p:nvPr/>
        </p:nvSpPr>
        <p:spPr bwMode="auto">
          <a:xfrm>
            <a:off x="1866830" y="5741719"/>
            <a:ext cx="1982788" cy="456194"/>
          </a:xfrm>
          <a:prstGeom prst="rect">
            <a:avLst/>
          </a:prstGeom>
          <a:noFill/>
          <a:ln w="9525">
            <a:noFill/>
            <a:miter lim="800000"/>
          </a:ln>
          <a:effectLst/>
        </p:spPr>
        <p:txBody>
          <a:bodyPr wrap="square" lIns="102026" tIns="51012" rIns="102026" bIns="51012">
            <a:spAutoFit/>
          </a:bodyPr>
          <a:lstStyle/>
          <a:p>
            <a:pPr algn="l" defTabSz="1050925" eaLnBrk="0" hangingPunct="0">
              <a:lnSpc>
                <a:spcPct val="85000"/>
              </a:lnSpc>
              <a:defRPr/>
            </a:pPr>
            <a:r>
              <a:rPr kumimoji="1" lang="zh-CN" altLang="en-US" sz="2700" b="1" dirty="0">
                <a:effectLst>
                  <a:outerShdw blurRad="38100" dist="38100" dir="2700000" algn="tl">
                    <a:srgbClr val="C0C0C0"/>
                  </a:outerShdw>
                </a:effectLst>
                <a:latin typeface="ACaslon Bold" charset="0"/>
              </a:rPr>
              <a:t>企业网络</a:t>
            </a:r>
          </a:p>
        </p:txBody>
      </p:sp>
      <p:sp>
        <p:nvSpPr>
          <p:cNvPr id="248848" name="Rectangle 16"/>
          <p:cNvSpPr>
            <a:spLocks noChangeArrowheads="1"/>
          </p:cNvSpPr>
          <p:nvPr/>
        </p:nvSpPr>
        <p:spPr bwMode="auto">
          <a:xfrm>
            <a:off x="1069975" y="1849462"/>
            <a:ext cx="1609725" cy="282575"/>
          </a:xfrm>
          <a:prstGeom prst="rect">
            <a:avLst/>
          </a:prstGeom>
          <a:noFill/>
          <a:ln w="9525">
            <a:noFill/>
            <a:miter lim="800000"/>
          </a:ln>
          <a:effectLst/>
        </p:spPr>
        <p:txBody>
          <a:bodyPr lIns="102026" tIns="51012" rIns="102026" bIns="51012">
            <a:spAutoFit/>
          </a:bodyPr>
          <a:lstStyle/>
          <a:p>
            <a:pPr defTabSz="1050925" eaLnBrk="0" hangingPunct="0">
              <a:lnSpc>
                <a:spcPct val="85000"/>
              </a:lnSpc>
              <a:defRPr/>
            </a:pPr>
            <a:r>
              <a:rPr kumimoji="1" lang="zh-CN" altLang="en-US" sz="1400" b="0">
                <a:effectLst>
                  <a:outerShdw blurRad="38100" dist="38100" dir="2700000" algn="tl">
                    <a:srgbClr val="C0C0C0"/>
                  </a:outerShdw>
                </a:effectLst>
                <a:latin typeface="ACaslon Bold" charset="0"/>
              </a:rPr>
              <a:t>生产部</a:t>
            </a:r>
          </a:p>
        </p:txBody>
      </p:sp>
      <p:sp>
        <p:nvSpPr>
          <p:cNvPr id="248849" name="Rectangle 17"/>
          <p:cNvSpPr>
            <a:spLocks noChangeArrowheads="1"/>
          </p:cNvSpPr>
          <p:nvPr/>
        </p:nvSpPr>
        <p:spPr bwMode="auto">
          <a:xfrm>
            <a:off x="1016000" y="2830537"/>
            <a:ext cx="1690688" cy="282575"/>
          </a:xfrm>
          <a:prstGeom prst="rect">
            <a:avLst/>
          </a:prstGeom>
          <a:noFill/>
          <a:ln w="9525">
            <a:noFill/>
            <a:miter lim="800000"/>
          </a:ln>
          <a:effectLst/>
        </p:spPr>
        <p:txBody>
          <a:bodyPr lIns="102026" tIns="51012" rIns="102026" bIns="51012">
            <a:spAutoFit/>
          </a:bodyPr>
          <a:lstStyle/>
          <a:p>
            <a:pPr defTabSz="1050925" eaLnBrk="0" hangingPunct="0">
              <a:lnSpc>
                <a:spcPct val="85000"/>
              </a:lnSpc>
              <a:defRPr/>
            </a:pPr>
            <a:r>
              <a:rPr kumimoji="1" lang="zh-CN" altLang="en-US" sz="1400" b="0">
                <a:effectLst>
                  <a:outerShdw blurRad="38100" dist="38100" dir="2700000" algn="tl">
                    <a:srgbClr val="C0C0C0"/>
                  </a:outerShdw>
                </a:effectLst>
                <a:latin typeface="ACaslon Bold" charset="0"/>
              </a:rPr>
              <a:t>工程部</a:t>
            </a:r>
          </a:p>
        </p:txBody>
      </p:sp>
      <p:sp>
        <p:nvSpPr>
          <p:cNvPr id="248850" name="Rectangle 18"/>
          <p:cNvSpPr>
            <a:spLocks noChangeArrowheads="1"/>
          </p:cNvSpPr>
          <p:nvPr/>
        </p:nvSpPr>
        <p:spPr bwMode="auto">
          <a:xfrm>
            <a:off x="1039813" y="3830662"/>
            <a:ext cx="1511300" cy="282575"/>
          </a:xfrm>
          <a:prstGeom prst="rect">
            <a:avLst/>
          </a:prstGeom>
          <a:noFill/>
          <a:ln w="9525">
            <a:noFill/>
            <a:miter lim="800000"/>
          </a:ln>
          <a:effectLst/>
        </p:spPr>
        <p:txBody>
          <a:bodyPr lIns="102026" tIns="51012" rIns="102026" bIns="51012">
            <a:spAutoFit/>
          </a:bodyPr>
          <a:lstStyle/>
          <a:p>
            <a:pPr defTabSz="1050925" eaLnBrk="0" hangingPunct="0">
              <a:lnSpc>
                <a:spcPct val="85000"/>
              </a:lnSpc>
              <a:defRPr/>
            </a:pPr>
            <a:r>
              <a:rPr kumimoji="1" lang="zh-CN" altLang="en-US" sz="1400" b="0">
                <a:effectLst>
                  <a:outerShdw blurRad="38100" dist="38100" dir="2700000" algn="tl">
                    <a:srgbClr val="C0C0C0"/>
                  </a:outerShdw>
                </a:effectLst>
                <a:latin typeface="ACaslon Bold" charset="0"/>
              </a:rPr>
              <a:t>市场部</a:t>
            </a:r>
          </a:p>
        </p:txBody>
      </p:sp>
      <p:grpSp>
        <p:nvGrpSpPr>
          <p:cNvPr id="2" name="Group 19"/>
          <p:cNvGrpSpPr/>
          <p:nvPr/>
        </p:nvGrpSpPr>
        <p:grpSpPr bwMode="auto">
          <a:xfrm>
            <a:off x="3887788" y="3008337"/>
            <a:ext cx="885825" cy="1174750"/>
            <a:chOff x="2047" y="1796"/>
            <a:chExt cx="496" cy="739"/>
          </a:xfrm>
        </p:grpSpPr>
        <p:sp>
          <p:nvSpPr>
            <p:cNvPr id="10403" name="Freeform 20"/>
            <p:cNvSpPr/>
            <p:nvPr/>
          </p:nvSpPr>
          <p:spPr bwMode="auto">
            <a:xfrm>
              <a:off x="2485" y="2196"/>
              <a:ext cx="35" cy="67"/>
            </a:xfrm>
            <a:custGeom>
              <a:avLst/>
              <a:gdLst>
                <a:gd name="T0" fmla="*/ 0 w 35"/>
                <a:gd name="T1" fmla="*/ 66 h 67"/>
                <a:gd name="T2" fmla="*/ 0 w 35"/>
                <a:gd name="T3" fmla="*/ 66 h 67"/>
                <a:gd name="T4" fmla="*/ 2 w 35"/>
                <a:gd name="T5" fmla="*/ 24 h 67"/>
                <a:gd name="T6" fmla="*/ 34 w 35"/>
                <a:gd name="T7" fmla="*/ 0 h 67"/>
                <a:gd name="T8" fmla="*/ 31 w 35"/>
                <a:gd name="T9" fmla="*/ 44 h 67"/>
                <a:gd name="T10" fmla="*/ 0 w 35"/>
                <a:gd name="T11" fmla="*/ 66 h 67"/>
                <a:gd name="T12" fmla="*/ 0 60000 65536"/>
                <a:gd name="T13" fmla="*/ 0 60000 65536"/>
                <a:gd name="T14" fmla="*/ 0 60000 65536"/>
                <a:gd name="T15" fmla="*/ 0 60000 65536"/>
                <a:gd name="T16" fmla="*/ 0 60000 65536"/>
                <a:gd name="T17" fmla="*/ 0 60000 65536"/>
                <a:gd name="T18" fmla="*/ 0 w 35"/>
                <a:gd name="T19" fmla="*/ 0 h 67"/>
                <a:gd name="T20" fmla="*/ 35 w 35"/>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35" h="67">
                  <a:moveTo>
                    <a:pt x="0" y="66"/>
                  </a:moveTo>
                  <a:lnTo>
                    <a:pt x="0" y="66"/>
                  </a:lnTo>
                  <a:lnTo>
                    <a:pt x="2" y="24"/>
                  </a:lnTo>
                  <a:lnTo>
                    <a:pt x="34" y="0"/>
                  </a:lnTo>
                  <a:lnTo>
                    <a:pt x="31" y="44"/>
                  </a:lnTo>
                  <a:lnTo>
                    <a:pt x="0" y="66"/>
                  </a:lnTo>
                </a:path>
              </a:pathLst>
            </a:custGeom>
            <a:solidFill>
              <a:srgbClr val="BB1A50"/>
            </a:solidFill>
            <a:ln w="9525" cap="rnd">
              <a:noFill/>
              <a:round/>
            </a:ln>
          </p:spPr>
          <p:txBody>
            <a:bodyPr/>
            <a:lstStyle/>
            <a:p>
              <a:endParaRPr lang="zh-CN" altLang="en-US"/>
            </a:p>
          </p:txBody>
        </p:sp>
        <p:sp>
          <p:nvSpPr>
            <p:cNvPr id="10404" name="Freeform 21"/>
            <p:cNvSpPr/>
            <p:nvPr/>
          </p:nvSpPr>
          <p:spPr bwMode="auto">
            <a:xfrm>
              <a:off x="2454" y="2212"/>
              <a:ext cx="32" cy="51"/>
            </a:xfrm>
            <a:custGeom>
              <a:avLst/>
              <a:gdLst>
                <a:gd name="T0" fmla="*/ 28 w 32"/>
                <a:gd name="T1" fmla="*/ 50 h 51"/>
                <a:gd name="T2" fmla="*/ 28 w 32"/>
                <a:gd name="T3" fmla="*/ 50 h 51"/>
                <a:gd name="T4" fmla="*/ 0 w 32"/>
                <a:gd name="T5" fmla="*/ 43 h 51"/>
                <a:gd name="T6" fmla="*/ 0 w 32"/>
                <a:gd name="T7" fmla="*/ 0 h 51"/>
                <a:gd name="T8" fmla="*/ 31 w 32"/>
                <a:gd name="T9" fmla="*/ 8 h 51"/>
                <a:gd name="T10" fmla="*/ 28 w 32"/>
                <a:gd name="T11" fmla="*/ 50 h 51"/>
                <a:gd name="T12" fmla="*/ 0 60000 65536"/>
                <a:gd name="T13" fmla="*/ 0 60000 65536"/>
                <a:gd name="T14" fmla="*/ 0 60000 65536"/>
                <a:gd name="T15" fmla="*/ 0 60000 65536"/>
                <a:gd name="T16" fmla="*/ 0 60000 65536"/>
                <a:gd name="T17" fmla="*/ 0 60000 65536"/>
                <a:gd name="T18" fmla="*/ 0 w 32"/>
                <a:gd name="T19" fmla="*/ 0 h 51"/>
                <a:gd name="T20" fmla="*/ 32 w 32"/>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32" h="51">
                  <a:moveTo>
                    <a:pt x="28" y="50"/>
                  </a:moveTo>
                  <a:lnTo>
                    <a:pt x="28" y="50"/>
                  </a:lnTo>
                  <a:lnTo>
                    <a:pt x="0" y="43"/>
                  </a:lnTo>
                  <a:lnTo>
                    <a:pt x="0" y="0"/>
                  </a:lnTo>
                  <a:lnTo>
                    <a:pt x="31" y="8"/>
                  </a:lnTo>
                  <a:lnTo>
                    <a:pt x="28" y="50"/>
                  </a:lnTo>
                </a:path>
              </a:pathLst>
            </a:custGeom>
            <a:solidFill>
              <a:srgbClr val="9E0005"/>
            </a:solidFill>
            <a:ln w="9525" cap="rnd">
              <a:noFill/>
              <a:round/>
            </a:ln>
          </p:spPr>
          <p:txBody>
            <a:bodyPr/>
            <a:lstStyle/>
            <a:p>
              <a:endParaRPr lang="zh-CN" altLang="en-US"/>
            </a:p>
          </p:txBody>
        </p:sp>
        <p:sp>
          <p:nvSpPr>
            <p:cNvPr id="10405" name="Freeform 22"/>
            <p:cNvSpPr/>
            <p:nvPr/>
          </p:nvSpPr>
          <p:spPr bwMode="auto">
            <a:xfrm>
              <a:off x="2453" y="2187"/>
              <a:ext cx="67" cy="31"/>
            </a:xfrm>
            <a:custGeom>
              <a:avLst/>
              <a:gdLst>
                <a:gd name="T0" fmla="*/ 33 w 67"/>
                <a:gd name="T1" fmla="*/ 30 h 31"/>
                <a:gd name="T2" fmla="*/ 33 w 67"/>
                <a:gd name="T3" fmla="*/ 30 h 31"/>
                <a:gd name="T4" fmla="*/ 0 w 67"/>
                <a:gd name="T5" fmla="*/ 19 h 31"/>
                <a:gd name="T6" fmla="*/ 35 w 67"/>
                <a:gd name="T7" fmla="*/ 0 h 31"/>
                <a:gd name="T8" fmla="*/ 66 w 67"/>
                <a:gd name="T9" fmla="*/ 10 h 31"/>
                <a:gd name="T10" fmla="*/ 33 w 67"/>
                <a:gd name="T11" fmla="*/ 30 h 31"/>
                <a:gd name="T12" fmla="*/ 0 60000 65536"/>
                <a:gd name="T13" fmla="*/ 0 60000 65536"/>
                <a:gd name="T14" fmla="*/ 0 60000 65536"/>
                <a:gd name="T15" fmla="*/ 0 60000 65536"/>
                <a:gd name="T16" fmla="*/ 0 60000 65536"/>
                <a:gd name="T17" fmla="*/ 0 60000 65536"/>
                <a:gd name="T18" fmla="*/ 0 w 67"/>
                <a:gd name="T19" fmla="*/ 0 h 31"/>
                <a:gd name="T20" fmla="*/ 67 w 67"/>
                <a:gd name="T21" fmla="*/ 31 h 31"/>
              </a:gdLst>
              <a:ahLst/>
              <a:cxnLst>
                <a:cxn ang="T12">
                  <a:pos x="T0" y="T1"/>
                </a:cxn>
                <a:cxn ang="T13">
                  <a:pos x="T2" y="T3"/>
                </a:cxn>
                <a:cxn ang="T14">
                  <a:pos x="T4" y="T5"/>
                </a:cxn>
                <a:cxn ang="T15">
                  <a:pos x="T6" y="T7"/>
                </a:cxn>
                <a:cxn ang="T16">
                  <a:pos x="T8" y="T9"/>
                </a:cxn>
                <a:cxn ang="T17">
                  <a:pos x="T10" y="T11"/>
                </a:cxn>
              </a:cxnLst>
              <a:rect l="T18" t="T19" r="T20" b="T21"/>
              <a:pathLst>
                <a:path w="67" h="31">
                  <a:moveTo>
                    <a:pt x="33" y="30"/>
                  </a:moveTo>
                  <a:lnTo>
                    <a:pt x="33" y="30"/>
                  </a:lnTo>
                  <a:lnTo>
                    <a:pt x="0" y="19"/>
                  </a:lnTo>
                  <a:lnTo>
                    <a:pt x="35" y="0"/>
                  </a:lnTo>
                  <a:lnTo>
                    <a:pt x="66" y="10"/>
                  </a:lnTo>
                  <a:lnTo>
                    <a:pt x="33" y="30"/>
                  </a:lnTo>
                </a:path>
              </a:pathLst>
            </a:custGeom>
            <a:solidFill>
              <a:srgbClr val="CF5C82"/>
            </a:solidFill>
            <a:ln w="9525" cap="rnd">
              <a:noFill/>
              <a:round/>
            </a:ln>
          </p:spPr>
          <p:txBody>
            <a:bodyPr/>
            <a:lstStyle/>
            <a:p>
              <a:endParaRPr lang="zh-CN" altLang="en-US"/>
            </a:p>
          </p:txBody>
        </p:sp>
        <p:grpSp>
          <p:nvGrpSpPr>
            <p:cNvPr id="3" name="Group 23"/>
            <p:cNvGrpSpPr/>
            <p:nvPr/>
          </p:nvGrpSpPr>
          <p:grpSpPr bwMode="auto">
            <a:xfrm>
              <a:off x="2363" y="2214"/>
              <a:ext cx="118" cy="109"/>
              <a:chOff x="2363" y="2214"/>
              <a:chExt cx="118" cy="109"/>
            </a:xfrm>
          </p:grpSpPr>
          <p:sp>
            <p:nvSpPr>
              <p:cNvPr id="10603" name="Freeform 24"/>
              <p:cNvSpPr/>
              <p:nvPr/>
            </p:nvSpPr>
            <p:spPr bwMode="auto">
              <a:xfrm>
                <a:off x="2400" y="2228"/>
                <a:ext cx="81" cy="95"/>
              </a:xfrm>
              <a:custGeom>
                <a:avLst/>
                <a:gdLst>
                  <a:gd name="T0" fmla="*/ 0 w 81"/>
                  <a:gd name="T1" fmla="*/ 94 h 95"/>
                  <a:gd name="T2" fmla="*/ 0 w 81"/>
                  <a:gd name="T3" fmla="*/ 94 h 95"/>
                  <a:gd name="T4" fmla="*/ 0 w 81"/>
                  <a:gd name="T5" fmla="*/ 48 h 95"/>
                  <a:gd name="T6" fmla="*/ 80 w 81"/>
                  <a:gd name="T7" fmla="*/ 0 h 95"/>
                  <a:gd name="T8" fmla="*/ 77 w 81"/>
                  <a:gd name="T9" fmla="*/ 42 h 95"/>
                  <a:gd name="T10" fmla="*/ 0 w 81"/>
                  <a:gd name="T11" fmla="*/ 94 h 95"/>
                  <a:gd name="T12" fmla="*/ 0 60000 65536"/>
                  <a:gd name="T13" fmla="*/ 0 60000 65536"/>
                  <a:gd name="T14" fmla="*/ 0 60000 65536"/>
                  <a:gd name="T15" fmla="*/ 0 60000 65536"/>
                  <a:gd name="T16" fmla="*/ 0 60000 65536"/>
                  <a:gd name="T17" fmla="*/ 0 60000 65536"/>
                  <a:gd name="T18" fmla="*/ 0 w 81"/>
                  <a:gd name="T19" fmla="*/ 0 h 95"/>
                  <a:gd name="T20" fmla="*/ 81 w 81"/>
                  <a:gd name="T21" fmla="*/ 95 h 95"/>
                </a:gdLst>
                <a:ahLst/>
                <a:cxnLst>
                  <a:cxn ang="T12">
                    <a:pos x="T0" y="T1"/>
                  </a:cxn>
                  <a:cxn ang="T13">
                    <a:pos x="T2" y="T3"/>
                  </a:cxn>
                  <a:cxn ang="T14">
                    <a:pos x="T4" y="T5"/>
                  </a:cxn>
                  <a:cxn ang="T15">
                    <a:pos x="T6" y="T7"/>
                  </a:cxn>
                  <a:cxn ang="T16">
                    <a:pos x="T8" y="T9"/>
                  </a:cxn>
                  <a:cxn ang="T17">
                    <a:pos x="T10" y="T11"/>
                  </a:cxn>
                </a:cxnLst>
                <a:rect l="T18" t="T19" r="T20" b="T21"/>
                <a:pathLst>
                  <a:path w="81" h="95">
                    <a:moveTo>
                      <a:pt x="0" y="94"/>
                    </a:moveTo>
                    <a:lnTo>
                      <a:pt x="0" y="94"/>
                    </a:lnTo>
                    <a:lnTo>
                      <a:pt x="0" y="48"/>
                    </a:lnTo>
                    <a:lnTo>
                      <a:pt x="80" y="0"/>
                    </a:lnTo>
                    <a:lnTo>
                      <a:pt x="77" y="42"/>
                    </a:lnTo>
                    <a:lnTo>
                      <a:pt x="0" y="94"/>
                    </a:lnTo>
                  </a:path>
                </a:pathLst>
              </a:custGeom>
              <a:solidFill>
                <a:srgbClr val="BB1A50"/>
              </a:solidFill>
              <a:ln w="9525" cap="rnd">
                <a:noFill/>
                <a:round/>
              </a:ln>
            </p:spPr>
            <p:txBody>
              <a:bodyPr/>
              <a:lstStyle/>
              <a:p>
                <a:endParaRPr lang="zh-CN" altLang="en-US"/>
              </a:p>
            </p:txBody>
          </p:sp>
          <p:sp>
            <p:nvSpPr>
              <p:cNvPr id="10604" name="Freeform 25"/>
              <p:cNvSpPr/>
              <p:nvPr/>
            </p:nvSpPr>
            <p:spPr bwMode="auto">
              <a:xfrm>
                <a:off x="2363" y="2269"/>
                <a:ext cx="35" cy="54"/>
              </a:xfrm>
              <a:custGeom>
                <a:avLst/>
                <a:gdLst>
                  <a:gd name="T0" fmla="*/ 34 w 35"/>
                  <a:gd name="T1" fmla="*/ 53 h 54"/>
                  <a:gd name="T2" fmla="*/ 34 w 35"/>
                  <a:gd name="T3" fmla="*/ 53 h 54"/>
                  <a:gd name="T4" fmla="*/ 0 w 35"/>
                  <a:gd name="T5" fmla="*/ 46 h 54"/>
                  <a:gd name="T6" fmla="*/ 2 w 35"/>
                  <a:gd name="T7" fmla="*/ 0 h 54"/>
                  <a:gd name="T8" fmla="*/ 34 w 35"/>
                  <a:gd name="T9" fmla="*/ 8 h 54"/>
                  <a:gd name="T10" fmla="*/ 34 w 35"/>
                  <a:gd name="T11" fmla="*/ 53 h 54"/>
                  <a:gd name="T12" fmla="*/ 0 60000 65536"/>
                  <a:gd name="T13" fmla="*/ 0 60000 65536"/>
                  <a:gd name="T14" fmla="*/ 0 60000 65536"/>
                  <a:gd name="T15" fmla="*/ 0 60000 65536"/>
                  <a:gd name="T16" fmla="*/ 0 60000 65536"/>
                  <a:gd name="T17" fmla="*/ 0 60000 65536"/>
                  <a:gd name="T18" fmla="*/ 0 w 35"/>
                  <a:gd name="T19" fmla="*/ 0 h 54"/>
                  <a:gd name="T20" fmla="*/ 35 w 35"/>
                  <a:gd name="T21" fmla="*/ 54 h 54"/>
                </a:gdLst>
                <a:ahLst/>
                <a:cxnLst>
                  <a:cxn ang="T12">
                    <a:pos x="T0" y="T1"/>
                  </a:cxn>
                  <a:cxn ang="T13">
                    <a:pos x="T2" y="T3"/>
                  </a:cxn>
                  <a:cxn ang="T14">
                    <a:pos x="T4" y="T5"/>
                  </a:cxn>
                  <a:cxn ang="T15">
                    <a:pos x="T6" y="T7"/>
                  </a:cxn>
                  <a:cxn ang="T16">
                    <a:pos x="T8" y="T9"/>
                  </a:cxn>
                  <a:cxn ang="T17">
                    <a:pos x="T10" y="T11"/>
                  </a:cxn>
                </a:cxnLst>
                <a:rect l="T18" t="T19" r="T20" b="T21"/>
                <a:pathLst>
                  <a:path w="35" h="54">
                    <a:moveTo>
                      <a:pt x="34" y="53"/>
                    </a:moveTo>
                    <a:lnTo>
                      <a:pt x="34" y="53"/>
                    </a:lnTo>
                    <a:lnTo>
                      <a:pt x="0" y="46"/>
                    </a:lnTo>
                    <a:lnTo>
                      <a:pt x="2" y="0"/>
                    </a:lnTo>
                    <a:lnTo>
                      <a:pt x="34" y="8"/>
                    </a:lnTo>
                    <a:lnTo>
                      <a:pt x="34" y="53"/>
                    </a:lnTo>
                  </a:path>
                </a:pathLst>
              </a:custGeom>
              <a:solidFill>
                <a:srgbClr val="9E0005"/>
              </a:solidFill>
              <a:ln w="9525" cap="rnd">
                <a:noFill/>
                <a:round/>
              </a:ln>
            </p:spPr>
            <p:txBody>
              <a:bodyPr/>
              <a:lstStyle/>
              <a:p>
                <a:endParaRPr lang="zh-CN" altLang="en-US"/>
              </a:p>
            </p:txBody>
          </p:sp>
          <p:sp>
            <p:nvSpPr>
              <p:cNvPr id="10605" name="Freeform 26"/>
              <p:cNvSpPr/>
              <p:nvPr/>
            </p:nvSpPr>
            <p:spPr bwMode="auto">
              <a:xfrm>
                <a:off x="2366" y="2214"/>
                <a:ext cx="115" cy="62"/>
              </a:xfrm>
              <a:custGeom>
                <a:avLst/>
                <a:gdLst>
                  <a:gd name="T0" fmla="*/ 33 w 115"/>
                  <a:gd name="T1" fmla="*/ 61 h 62"/>
                  <a:gd name="T2" fmla="*/ 33 w 115"/>
                  <a:gd name="T3" fmla="*/ 61 h 62"/>
                  <a:gd name="T4" fmla="*/ 0 w 115"/>
                  <a:gd name="T5" fmla="*/ 51 h 62"/>
                  <a:gd name="T6" fmla="*/ 83 w 115"/>
                  <a:gd name="T7" fmla="*/ 0 h 62"/>
                  <a:gd name="T8" fmla="*/ 114 w 115"/>
                  <a:gd name="T9" fmla="*/ 11 h 62"/>
                  <a:gd name="T10" fmla="*/ 33 w 115"/>
                  <a:gd name="T11" fmla="*/ 61 h 62"/>
                  <a:gd name="T12" fmla="*/ 0 60000 65536"/>
                  <a:gd name="T13" fmla="*/ 0 60000 65536"/>
                  <a:gd name="T14" fmla="*/ 0 60000 65536"/>
                  <a:gd name="T15" fmla="*/ 0 60000 65536"/>
                  <a:gd name="T16" fmla="*/ 0 60000 65536"/>
                  <a:gd name="T17" fmla="*/ 0 60000 65536"/>
                  <a:gd name="T18" fmla="*/ 0 w 115"/>
                  <a:gd name="T19" fmla="*/ 0 h 62"/>
                  <a:gd name="T20" fmla="*/ 115 w 115"/>
                  <a:gd name="T21" fmla="*/ 62 h 62"/>
                </a:gdLst>
                <a:ahLst/>
                <a:cxnLst>
                  <a:cxn ang="T12">
                    <a:pos x="T0" y="T1"/>
                  </a:cxn>
                  <a:cxn ang="T13">
                    <a:pos x="T2" y="T3"/>
                  </a:cxn>
                  <a:cxn ang="T14">
                    <a:pos x="T4" y="T5"/>
                  </a:cxn>
                  <a:cxn ang="T15">
                    <a:pos x="T6" y="T7"/>
                  </a:cxn>
                  <a:cxn ang="T16">
                    <a:pos x="T8" y="T9"/>
                  </a:cxn>
                  <a:cxn ang="T17">
                    <a:pos x="T10" y="T11"/>
                  </a:cxn>
                </a:cxnLst>
                <a:rect l="T18" t="T19" r="T20" b="T21"/>
                <a:pathLst>
                  <a:path w="115" h="62">
                    <a:moveTo>
                      <a:pt x="33" y="61"/>
                    </a:moveTo>
                    <a:lnTo>
                      <a:pt x="33" y="61"/>
                    </a:lnTo>
                    <a:lnTo>
                      <a:pt x="0" y="51"/>
                    </a:lnTo>
                    <a:lnTo>
                      <a:pt x="83" y="0"/>
                    </a:lnTo>
                    <a:lnTo>
                      <a:pt x="114" y="11"/>
                    </a:lnTo>
                    <a:lnTo>
                      <a:pt x="33" y="61"/>
                    </a:lnTo>
                  </a:path>
                </a:pathLst>
              </a:custGeom>
              <a:solidFill>
                <a:srgbClr val="CF5C82"/>
              </a:solidFill>
              <a:ln w="9525" cap="rnd">
                <a:noFill/>
                <a:round/>
              </a:ln>
            </p:spPr>
            <p:txBody>
              <a:bodyPr/>
              <a:lstStyle/>
              <a:p>
                <a:endParaRPr lang="zh-CN" altLang="en-US"/>
              </a:p>
            </p:txBody>
          </p:sp>
        </p:grpSp>
        <p:grpSp>
          <p:nvGrpSpPr>
            <p:cNvPr id="4" name="Group 27"/>
            <p:cNvGrpSpPr/>
            <p:nvPr/>
          </p:nvGrpSpPr>
          <p:grpSpPr bwMode="auto">
            <a:xfrm>
              <a:off x="2269" y="2275"/>
              <a:ext cx="127" cy="116"/>
              <a:chOff x="2269" y="2275"/>
              <a:chExt cx="127" cy="116"/>
            </a:xfrm>
          </p:grpSpPr>
          <p:sp>
            <p:nvSpPr>
              <p:cNvPr id="10600" name="Freeform 28"/>
              <p:cNvSpPr/>
              <p:nvPr/>
            </p:nvSpPr>
            <p:spPr bwMode="auto">
              <a:xfrm>
                <a:off x="2306" y="2285"/>
                <a:ext cx="90" cy="106"/>
              </a:xfrm>
              <a:custGeom>
                <a:avLst/>
                <a:gdLst>
                  <a:gd name="T0" fmla="*/ 0 w 90"/>
                  <a:gd name="T1" fmla="*/ 105 h 106"/>
                  <a:gd name="T2" fmla="*/ 0 w 90"/>
                  <a:gd name="T3" fmla="*/ 105 h 106"/>
                  <a:gd name="T4" fmla="*/ 2 w 90"/>
                  <a:gd name="T5" fmla="*/ 55 h 106"/>
                  <a:gd name="T6" fmla="*/ 89 w 90"/>
                  <a:gd name="T7" fmla="*/ 0 h 106"/>
                  <a:gd name="T8" fmla="*/ 86 w 90"/>
                  <a:gd name="T9" fmla="*/ 49 h 106"/>
                  <a:gd name="T10" fmla="*/ 0 w 90"/>
                  <a:gd name="T11" fmla="*/ 105 h 106"/>
                  <a:gd name="T12" fmla="*/ 0 60000 65536"/>
                  <a:gd name="T13" fmla="*/ 0 60000 65536"/>
                  <a:gd name="T14" fmla="*/ 0 60000 65536"/>
                  <a:gd name="T15" fmla="*/ 0 60000 65536"/>
                  <a:gd name="T16" fmla="*/ 0 60000 65536"/>
                  <a:gd name="T17" fmla="*/ 0 60000 65536"/>
                  <a:gd name="T18" fmla="*/ 0 w 90"/>
                  <a:gd name="T19" fmla="*/ 0 h 106"/>
                  <a:gd name="T20" fmla="*/ 90 w 90"/>
                  <a:gd name="T21" fmla="*/ 106 h 106"/>
                </a:gdLst>
                <a:ahLst/>
                <a:cxnLst>
                  <a:cxn ang="T12">
                    <a:pos x="T0" y="T1"/>
                  </a:cxn>
                  <a:cxn ang="T13">
                    <a:pos x="T2" y="T3"/>
                  </a:cxn>
                  <a:cxn ang="T14">
                    <a:pos x="T4" y="T5"/>
                  </a:cxn>
                  <a:cxn ang="T15">
                    <a:pos x="T6" y="T7"/>
                  </a:cxn>
                  <a:cxn ang="T16">
                    <a:pos x="T8" y="T9"/>
                  </a:cxn>
                  <a:cxn ang="T17">
                    <a:pos x="T10" y="T11"/>
                  </a:cxn>
                </a:cxnLst>
                <a:rect l="T18" t="T19" r="T20" b="T21"/>
                <a:pathLst>
                  <a:path w="90" h="106">
                    <a:moveTo>
                      <a:pt x="0" y="105"/>
                    </a:moveTo>
                    <a:lnTo>
                      <a:pt x="0" y="105"/>
                    </a:lnTo>
                    <a:lnTo>
                      <a:pt x="2" y="55"/>
                    </a:lnTo>
                    <a:lnTo>
                      <a:pt x="89" y="0"/>
                    </a:lnTo>
                    <a:lnTo>
                      <a:pt x="86" y="49"/>
                    </a:lnTo>
                    <a:lnTo>
                      <a:pt x="0" y="105"/>
                    </a:lnTo>
                  </a:path>
                </a:pathLst>
              </a:custGeom>
              <a:solidFill>
                <a:srgbClr val="BB1A50"/>
              </a:solidFill>
              <a:ln w="9525" cap="rnd">
                <a:noFill/>
                <a:round/>
              </a:ln>
            </p:spPr>
            <p:txBody>
              <a:bodyPr/>
              <a:lstStyle/>
              <a:p>
                <a:endParaRPr lang="zh-CN" altLang="en-US"/>
              </a:p>
            </p:txBody>
          </p:sp>
          <p:sp>
            <p:nvSpPr>
              <p:cNvPr id="10601" name="Freeform 29"/>
              <p:cNvSpPr/>
              <p:nvPr/>
            </p:nvSpPr>
            <p:spPr bwMode="auto">
              <a:xfrm>
                <a:off x="2269" y="2336"/>
                <a:ext cx="38" cy="55"/>
              </a:xfrm>
              <a:custGeom>
                <a:avLst/>
                <a:gdLst>
                  <a:gd name="T0" fmla="*/ 34 w 38"/>
                  <a:gd name="T1" fmla="*/ 54 h 55"/>
                  <a:gd name="T2" fmla="*/ 34 w 38"/>
                  <a:gd name="T3" fmla="*/ 54 h 55"/>
                  <a:gd name="T4" fmla="*/ 0 w 38"/>
                  <a:gd name="T5" fmla="*/ 45 h 55"/>
                  <a:gd name="T6" fmla="*/ 2 w 38"/>
                  <a:gd name="T7" fmla="*/ 0 h 55"/>
                  <a:gd name="T8" fmla="*/ 37 w 38"/>
                  <a:gd name="T9" fmla="*/ 6 h 55"/>
                  <a:gd name="T10" fmla="*/ 34 w 38"/>
                  <a:gd name="T11" fmla="*/ 54 h 55"/>
                  <a:gd name="T12" fmla="*/ 0 60000 65536"/>
                  <a:gd name="T13" fmla="*/ 0 60000 65536"/>
                  <a:gd name="T14" fmla="*/ 0 60000 65536"/>
                  <a:gd name="T15" fmla="*/ 0 60000 65536"/>
                  <a:gd name="T16" fmla="*/ 0 60000 65536"/>
                  <a:gd name="T17" fmla="*/ 0 60000 65536"/>
                  <a:gd name="T18" fmla="*/ 0 w 38"/>
                  <a:gd name="T19" fmla="*/ 0 h 55"/>
                  <a:gd name="T20" fmla="*/ 38 w 38"/>
                  <a:gd name="T21" fmla="*/ 55 h 55"/>
                </a:gdLst>
                <a:ahLst/>
                <a:cxnLst>
                  <a:cxn ang="T12">
                    <a:pos x="T0" y="T1"/>
                  </a:cxn>
                  <a:cxn ang="T13">
                    <a:pos x="T2" y="T3"/>
                  </a:cxn>
                  <a:cxn ang="T14">
                    <a:pos x="T4" y="T5"/>
                  </a:cxn>
                  <a:cxn ang="T15">
                    <a:pos x="T6" y="T7"/>
                  </a:cxn>
                  <a:cxn ang="T16">
                    <a:pos x="T8" y="T9"/>
                  </a:cxn>
                  <a:cxn ang="T17">
                    <a:pos x="T10" y="T11"/>
                  </a:cxn>
                </a:cxnLst>
                <a:rect l="T18" t="T19" r="T20" b="T21"/>
                <a:pathLst>
                  <a:path w="38" h="55">
                    <a:moveTo>
                      <a:pt x="34" y="54"/>
                    </a:moveTo>
                    <a:lnTo>
                      <a:pt x="34" y="54"/>
                    </a:lnTo>
                    <a:lnTo>
                      <a:pt x="0" y="45"/>
                    </a:lnTo>
                    <a:lnTo>
                      <a:pt x="2" y="0"/>
                    </a:lnTo>
                    <a:lnTo>
                      <a:pt x="37" y="6"/>
                    </a:lnTo>
                    <a:lnTo>
                      <a:pt x="34" y="54"/>
                    </a:lnTo>
                  </a:path>
                </a:pathLst>
              </a:custGeom>
              <a:solidFill>
                <a:srgbClr val="9E0005"/>
              </a:solidFill>
              <a:ln w="9525" cap="rnd">
                <a:noFill/>
                <a:round/>
              </a:ln>
            </p:spPr>
            <p:txBody>
              <a:bodyPr/>
              <a:lstStyle/>
              <a:p>
                <a:endParaRPr lang="zh-CN" altLang="en-US"/>
              </a:p>
            </p:txBody>
          </p:sp>
          <p:sp>
            <p:nvSpPr>
              <p:cNvPr id="10602" name="Freeform 30"/>
              <p:cNvSpPr/>
              <p:nvPr/>
            </p:nvSpPr>
            <p:spPr bwMode="auto">
              <a:xfrm>
                <a:off x="2269" y="2275"/>
                <a:ext cx="127" cy="65"/>
              </a:xfrm>
              <a:custGeom>
                <a:avLst/>
                <a:gdLst>
                  <a:gd name="T0" fmla="*/ 39 w 127"/>
                  <a:gd name="T1" fmla="*/ 64 h 65"/>
                  <a:gd name="T2" fmla="*/ 39 w 127"/>
                  <a:gd name="T3" fmla="*/ 64 h 65"/>
                  <a:gd name="T4" fmla="*/ 0 w 127"/>
                  <a:gd name="T5" fmla="*/ 57 h 65"/>
                  <a:gd name="T6" fmla="*/ 89 w 127"/>
                  <a:gd name="T7" fmla="*/ 0 h 65"/>
                  <a:gd name="T8" fmla="*/ 126 w 127"/>
                  <a:gd name="T9" fmla="*/ 9 h 65"/>
                  <a:gd name="T10" fmla="*/ 39 w 127"/>
                  <a:gd name="T11" fmla="*/ 64 h 65"/>
                  <a:gd name="T12" fmla="*/ 0 60000 65536"/>
                  <a:gd name="T13" fmla="*/ 0 60000 65536"/>
                  <a:gd name="T14" fmla="*/ 0 60000 65536"/>
                  <a:gd name="T15" fmla="*/ 0 60000 65536"/>
                  <a:gd name="T16" fmla="*/ 0 60000 65536"/>
                  <a:gd name="T17" fmla="*/ 0 60000 65536"/>
                  <a:gd name="T18" fmla="*/ 0 w 127"/>
                  <a:gd name="T19" fmla="*/ 0 h 65"/>
                  <a:gd name="T20" fmla="*/ 127 w 127"/>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127" h="65">
                    <a:moveTo>
                      <a:pt x="39" y="64"/>
                    </a:moveTo>
                    <a:lnTo>
                      <a:pt x="39" y="64"/>
                    </a:lnTo>
                    <a:lnTo>
                      <a:pt x="0" y="57"/>
                    </a:lnTo>
                    <a:lnTo>
                      <a:pt x="89" y="0"/>
                    </a:lnTo>
                    <a:lnTo>
                      <a:pt x="126" y="9"/>
                    </a:lnTo>
                    <a:lnTo>
                      <a:pt x="39" y="64"/>
                    </a:lnTo>
                  </a:path>
                </a:pathLst>
              </a:custGeom>
              <a:solidFill>
                <a:srgbClr val="CF5C82"/>
              </a:solidFill>
              <a:ln w="9525" cap="rnd">
                <a:noFill/>
                <a:round/>
              </a:ln>
            </p:spPr>
            <p:txBody>
              <a:bodyPr/>
              <a:lstStyle/>
              <a:p>
                <a:endParaRPr lang="zh-CN" altLang="en-US"/>
              </a:p>
            </p:txBody>
          </p:sp>
        </p:grpSp>
        <p:grpSp>
          <p:nvGrpSpPr>
            <p:cNvPr id="5" name="Group 31"/>
            <p:cNvGrpSpPr/>
            <p:nvPr/>
          </p:nvGrpSpPr>
          <p:grpSpPr bwMode="auto">
            <a:xfrm>
              <a:off x="2167" y="2342"/>
              <a:ext cx="135" cy="119"/>
              <a:chOff x="2167" y="2342"/>
              <a:chExt cx="135" cy="119"/>
            </a:xfrm>
          </p:grpSpPr>
          <p:sp>
            <p:nvSpPr>
              <p:cNvPr id="10597" name="Freeform 32"/>
              <p:cNvSpPr/>
              <p:nvPr/>
            </p:nvSpPr>
            <p:spPr bwMode="auto">
              <a:xfrm>
                <a:off x="2207" y="2352"/>
                <a:ext cx="95" cy="109"/>
              </a:xfrm>
              <a:custGeom>
                <a:avLst/>
                <a:gdLst>
                  <a:gd name="T0" fmla="*/ 0 w 95"/>
                  <a:gd name="T1" fmla="*/ 108 h 109"/>
                  <a:gd name="T2" fmla="*/ 0 w 95"/>
                  <a:gd name="T3" fmla="*/ 108 h 109"/>
                  <a:gd name="T4" fmla="*/ 2 w 95"/>
                  <a:gd name="T5" fmla="*/ 58 h 109"/>
                  <a:gd name="T6" fmla="*/ 94 w 95"/>
                  <a:gd name="T7" fmla="*/ 0 h 109"/>
                  <a:gd name="T8" fmla="*/ 91 w 95"/>
                  <a:gd name="T9" fmla="*/ 45 h 109"/>
                  <a:gd name="T10" fmla="*/ 0 w 95"/>
                  <a:gd name="T11" fmla="*/ 108 h 109"/>
                  <a:gd name="T12" fmla="*/ 0 60000 65536"/>
                  <a:gd name="T13" fmla="*/ 0 60000 65536"/>
                  <a:gd name="T14" fmla="*/ 0 60000 65536"/>
                  <a:gd name="T15" fmla="*/ 0 60000 65536"/>
                  <a:gd name="T16" fmla="*/ 0 60000 65536"/>
                  <a:gd name="T17" fmla="*/ 0 60000 65536"/>
                  <a:gd name="T18" fmla="*/ 0 w 95"/>
                  <a:gd name="T19" fmla="*/ 0 h 109"/>
                  <a:gd name="T20" fmla="*/ 95 w 95"/>
                  <a:gd name="T21" fmla="*/ 109 h 109"/>
                </a:gdLst>
                <a:ahLst/>
                <a:cxnLst>
                  <a:cxn ang="T12">
                    <a:pos x="T0" y="T1"/>
                  </a:cxn>
                  <a:cxn ang="T13">
                    <a:pos x="T2" y="T3"/>
                  </a:cxn>
                  <a:cxn ang="T14">
                    <a:pos x="T4" y="T5"/>
                  </a:cxn>
                  <a:cxn ang="T15">
                    <a:pos x="T6" y="T7"/>
                  </a:cxn>
                  <a:cxn ang="T16">
                    <a:pos x="T8" y="T9"/>
                  </a:cxn>
                  <a:cxn ang="T17">
                    <a:pos x="T10" y="T11"/>
                  </a:cxn>
                </a:cxnLst>
                <a:rect l="T18" t="T19" r="T20" b="T21"/>
                <a:pathLst>
                  <a:path w="95" h="109">
                    <a:moveTo>
                      <a:pt x="0" y="108"/>
                    </a:moveTo>
                    <a:lnTo>
                      <a:pt x="0" y="108"/>
                    </a:lnTo>
                    <a:lnTo>
                      <a:pt x="2" y="58"/>
                    </a:lnTo>
                    <a:lnTo>
                      <a:pt x="94" y="0"/>
                    </a:lnTo>
                    <a:lnTo>
                      <a:pt x="91" y="45"/>
                    </a:lnTo>
                    <a:lnTo>
                      <a:pt x="0" y="108"/>
                    </a:lnTo>
                  </a:path>
                </a:pathLst>
              </a:custGeom>
              <a:solidFill>
                <a:srgbClr val="BB1A50"/>
              </a:solidFill>
              <a:ln w="9525" cap="rnd">
                <a:noFill/>
                <a:round/>
              </a:ln>
            </p:spPr>
            <p:txBody>
              <a:bodyPr/>
              <a:lstStyle/>
              <a:p>
                <a:endParaRPr lang="zh-CN" altLang="en-US"/>
              </a:p>
            </p:txBody>
          </p:sp>
          <p:sp>
            <p:nvSpPr>
              <p:cNvPr id="10598" name="Freeform 33"/>
              <p:cNvSpPr/>
              <p:nvPr/>
            </p:nvSpPr>
            <p:spPr bwMode="auto">
              <a:xfrm>
                <a:off x="2167" y="2406"/>
                <a:ext cx="41" cy="55"/>
              </a:xfrm>
              <a:custGeom>
                <a:avLst/>
                <a:gdLst>
                  <a:gd name="T0" fmla="*/ 37 w 41"/>
                  <a:gd name="T1" fmla="*/ 54 h 55"/>
                  <a:gd name="T2" fmla="*/ 37 w 41"/>
                  <a:gd name="T3" fmla="*/ 54 h 55"/>
                  <a:gd name="T4" fmla="*/ 0 w 41"/>
                  <a:gd name="T5" fmla="*/ 47 h 55"/>
                  <a:gd name="T6" fmla="*/ 0 w 41"/>
                  <a:gd name="T7" fmla="*/ 0 h 55"/>
                  <a:gd name="T8" fmla="*/ 40 w 41"/>
                  <a:gd name="T9" fmla="*/ 6 h 55"/>
                  <a:gd name="T10" fmla="*/ 37 w 41"/>
                  <a:gd name="T11" fmla="*/ 54 h 55"/>
                  <a:gd name="T12" fmla="*/ 0 60000 65536"/>
                  <a:gd name="T13" fmla="*/ 0 60000 65536"/>
                  <a:gd name="T14" fmla="*/ 0 60000 65536"/>
                  <a:gd name="T15" fmla="*/ 0 60000 65536"/>
                  <a:gd name="T16" fmla="*/ 0 60000 65536"/>
                  <a:gd name="T17" fmla="*/ 0 60000 65536"/>
                  <a:gd name="T18" fmla="*/ 0 w 41"/>
                  <a:gd name="T19" fmla="*/ 0 h 55"/>
                  <a:gd name="T20" fmla="*/ 41 w 41"/>
                  <a:gd name="T21" fmla="*/ 55 h 55"/>
                </a:gdLst>
                <a:ahLst/>
                <a:cxnLst>
                  <a:cxn ang="T12">
                    <a:pos x="T0" y="T1"/>
                  </a:cxn>
                  <a:cxn ang="T13">
                    <a:pos x="T2" y="T3"/>
                  </a:cxn>
                  <a:cxn ang="T14">
                    <a:pos x="T4" y="T5"/>
                  </a:cxn>
                  <a:cxn ang="T15">
                    <a:pos x="T6" y="T7"/>
                  </a:cxn>
                  <a:cxn ang="T16">
                    <a:pos x="T8" y="T9"/>
                  </a:cxn>
                  <a:cxn ang="T17">
                    <a:pos x="T10" y="T11"/>
                  </a:cxn>
                </a:cxnLst>
                <a:rect l="T18" t="T19" r="T20" b="T21"/>
                <a:pathLst>
                  <a:path w="41" h="55">
                    <a:moveTo>
                      <a:pt x="37" y="54"/>
                    </a:moveTo>
                    <a:lnTo>
                      <a:pt x="37" y="54"/>
                    </a:lnTo>
                    <a:lnTo>
                      <a:pt x="0" y="47"/>
                    </a:lnTo>
                    <a:lnTo>
                      <a:pt x="0" y="0"/>
                    </a:lnTo>
                    <a:lnTo>
                      <a:pt x="40" y="6"/>
                    </a:lnTo>
                    <a:lnTo>
                      <a:pt x="37" y="54"/>
                    </a:lnTo>
                  </a:path>
                </a:pathLst>
              </a:custGeom>
              <a:solidFill>
                <a:srgbClr val="9E0005"/>
              </a:solidFill>
              <a:ln w="9525" cap="rnd">
                <a:noFill/>
                <a:round/>
              </a:ln>
            </p:spPr>
            <p:txBody>
              <a:bodyPr/>
              <a:lstStyle/>
              <a:p>
                <a:endParaRPr lang="zh-CN" altLang="en-US"/>
              </a:p>
            </p:txBody>
          </p:sp>
          <p:sp>
            <p:nvSpPr>
              <p:cNvPr id="10599" name="Freeform 34"/>
              <p:cNvSpPr/>
              <p:nvPr/>
            </p:nvSpPr>
            <p:spPr bwMode="auto">
              <a:xfrm>
                <a:off x="2167" y="2342"/>
                <a:ext cx="135" cy="68"/>
              </a:xfrm>
              <a:custGeom>
                <a:avLst/>
                <a:gdLst>
                  <a:gd name="T0" fmla="*/ 41 w 135"/>
                  <a:gd name="T1" fmla="*/ 67 h 68"/>
                  <a:gd name="T2" fmla="*/ 41 w 135"/>
                  <a:gd name="T3" fmla="*/ 67 h 68"/>
                  <a:gd name="T4" fmla="*/ 0 w 135"/>
                  <a:gd name="T5" fmla="*/ 57 h 68"/>
                  <a:gd name="T6" fmla="*/ 94 w 135"/>
                  <a:gd name="T7" fmla="*/ 0 h 68"/>
                  <a:gd name="T8" fmla="*/ 134 w 135"/>
                  <a:gd name="T9" fmla="*/ 9 h 68"/>
                  <a:gd name="T10" fmla="*/ 41 w 135"/>
                  <a:gd name="T11" fmla="*/ 67 h 68"/>
                  <a:gd name="T12" fmla="*/ 0 60000 65536"/>
                  <a:gd name="T13" fmla="*/ 0 60000 65536"/>
                  <a:gd name="T14" fmla="*/ 0 60000 65536"/>
                  <a:gd name="T15" fmla="*/ 0 60000 65536"/>
                  <a:gd name="T16" fmla="*/ 0 60000 65536"/>
                  <a:gd name="T17" fmla="*/ 0 60000 65536"/>
                  <a:gd name="T18" fmla="*/ 0 w 135"/>
                  <a:gd name="T19" fmla="*/ 0 h 68"/>
                  <a:gd name="T20" fmla="*/ 135 w 135"/>
                  <a:gd name="T21" fmla="*/ 68 h 68"/>
                </a:gdLst>
                <a:ahLst/>
                <a:cxnLst>
                  <a:cxn ang="T12">
                    <a:pos x="T0" y="T1"/>
                  </a:cxn>
                  <a:cxn ang="T13">
                    <a:pos x="T2" y="T3"/>
                  </a:cxn>
                  <a:cxn ang="T14">
                    <a:pos x="T4" y="T5"/>
                  </a:cxn>
                  <a:cxn ang="T15">
                    <a:pos x="T6" y="T7"/>
                  </a:cxn>
                  <a:cxn ang="T16">
                    <a:pos x="T8" y="T9"/>
                  </a:cxn>
                  <a:cxn ang="T17">
                    <a:pos x="T10" y="T11"/>
                  </a:cxn>
                </a:cxnLst>
                <a:rect l="T18" t="T19" r="T20" b="T21"/>
                <a:pathLst>
                  <a:path w="135" h="68">
                    <a:moveTo>
                      <a:pt x="41" y="67"/>
                    </a:moveTo>
                    <a:lnTo>
                      <a:pt x="41" y="67"/>
                    </a:lnTo>
                    <a:lnTo>
                      <a:pt x="0" y="57"/>
                    </a:lnTo>
                    <a:lnTo>
                      <a:pt x="94" y="0"/>
                    </a:lnTo>
                    <a:lnTo>
                      <a:pt x="134" y="9"/>
                    </a:lnTo>
                    <a:lnTo>
                      <a:pt x="41" y="67"/>
                    </a:lnTo>
                  </a:path>
                </a:pathLst>
              </a:custGeom>
              <a:solidFill>
                <a:srgbClr val="CF5C82"/>
              </a:solidFill>
              <a:ln w="9525" cap="rnd">
                <a:noFill/>
                <a:round/>
              </a:ln>
            </p:spPr>
            <p:txBody>
              <a:bodyPr/>
              <a:lstStyle/>
              <a:p>
                <a:endParaRPr lang="zh-CN" altLang="en-US"/>
              </a:p>
            </p:txBody>
          </p:sp>
        </p:grpSp>
        <p:sp>
          <p:nvSpPr>
            <p:cNvPr id="10409" name="Freeform 35"/>
            <p:cNvSpPr/>
            <p:nvPr/>
          </p:nvSpPr>
          <p:spPr bwMode="auto">
            <a:xfrm>
              <a:off x="2100" y="2415"/>
              <a:ext cx="102" cy="120"/>
            </a:xfrm>
            <a:custGeom>
              <a:avLst/>
              <a:gdLst>
                <a:gd name="T0" fmla="*/ 0 w 102"/>
                <a:gd name="T1" fmla="*/ 119 h 120"/>
                <a:gd name="T2" fmla="*/ 0 w 102"/>
                <a:gd name="T3" fmla="*/ 119 h 120"/>
                <a:gd name="T4" fmla="*/ 0 w 102"/>
                <a:gd name="T5" fmla="*/ 65 h 120"/>
                <a:gd name="T6" fmla="*/ 101 w 102"/>
                <a:gd name="T7" fmla="*/ 0 h 120"/>
                <a:gd name="T8" fmla="*/ 98 w 102"/>
                <a:gd name="T9" fmla="*/ 50 h 120"/>
                <a:gd name="T10" fmla="*/ 0 w 102"/>
                <a:gd name="T11" fmla="*/ 119 h 120"/>
                <a:gd name="T12" fmla="*/ 0 60000 65536"/>
                <a:gd name="T13" fmla="*/ 0 60000 65536"/>
                <a:gd name="T14" fmla="*/ 0 60000 65536"/>
                <a:gd name="T15" fmla="*/ 0 60000 65536"/>
                <a:gd name="T16" fmla="*/ 0 60000 65536"/>
                <a:gd name="T17" fmla="*/ 0 60000 65536"/>
                <a:gd name="T18" fmla="*/ 0 w 102"/>
                <a:gd name="T19" fmla="*/ 0 h 120"/>
                <a:gd name="T20" fmla="*/ 102 w 102"/>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2" h="120">
                  <a:moveTo>
                    <a:pt x="0" y="119"/>
                  </a:moveTo>
                  <a:lnTo>
                    <a:pt x="0" y="119"/>
                  </a:lnTo>
                  <a:lnTo>
                    <a:pt x="0" y="65"/>
                  </a:lnTo>
                  <a:lnTo>
                    <a:pt x="101" y="0"/>
                  </a:lnTo>
                  <a:lnTo>
                    <a:pt x="98" y="50"/>
                  </a:lnTo>
                  <a:lnTo>
                    <a:pt x="0" y="119"/>
                  </a:lnTo>
                </a:path>
              </a:pathLst>
            </a:custGeom>
            <a:solidFill>
              <a:srgbClr val="BB1A50"/>
            </a:solidFill>
            <a:ln w="9525" cap="rnd">
              <a:noFill/>
              <a:round/>
            </a:ln>
          </p:spPr>
          <p:txBody>
            <a:bodyPr/>
            <a:lstStyle/>
            <a:p>
              <a:endParaRPr lang="zh-CN" altLang="en-US"/>
            </a:p>
          </p:txBody>
        </p:sp>
        <p:sp>
          <p:nvSpPr>
            <p:cNvPr id="10410" name="Freeform 36"/>
            <p:cNvSpPr/>
            <p:nvPr/>
          </p:nvSpPr>
          <p:spPr bwMode="auto">
            <a:xfrm>
              <a:off x="2057" y="2477"/>
              <a:ext cx="43" cy="58"/>
            </a:xfrm>
            <a:custGeom>
              <a:avLst/>
              <a:gdLst>
                <a:gd name="T0" fmla="*/ 42 w 43"/>
                <a:gd name="T1" fmla="*/ 57 h 58"/>
                <a:gd name="T2" fmla="*/ 42 w 43"/>
                <a:gd name="T3" fmla="*/ 57 h 58"/>
                <a:gd name="T4" fmla="*/ 0 w 43"/>
                <a:gd name="T5" fmla="*/ 45 h 58"/>
                <a:gd name="T6" fmla="*/ 0 w 43"/>
                <a:gd name="T7" fmla="*/ 0 h 58"/>
                <a:gd name="T8" fmla="*/ 42 w 43"/>
                <a:gd name="T9" fmla="*/ 6 h 58"/>
                <a:gd name="T10" fmla="*/ 42 w 43"/>
                <a:gd name="T11" fmla="*/ 57 h 58"/>
                <a:gd name="T12" fmla="*/ 0 60000 65536"/>
                <a:gd name="T13" fmla="*/ 0 60000 65536"/>
                <a:gd name="T14" fmla="*/ 0 60000 65536"/>
                <a:gd name="T15" fmla="*/ 0 60000 65536"/>
                <a:gd name="T16" fmla="*/ 0 60000 65536"/>
                <a:gd name="T17" fmla="*/ 0 60000 65536"/>
                <a:gd name="T18" fmla="*/ 0 w 43"/>
                <a:gd name="T19" fmla="*/ 0 h 58"/>
                <a:gd name="T20" fmla="*/ 43 w 43"/>
                <a:gd name="T21" fmla="*/ 58 h 58"/>
              </a:gdLst>
              <a:ahLst/>
              <a:cxnLst>
                <a:cxn ang="T12">
                  <a:pos x="T0" y="T1"/>
                </a:cxn>
                <a:cxn ang="T13">
                  <a:pos x="T2" y="T3"/>
                </a:cxn>
                <a:cxn ang="T14">
                  <a:pos x="T4" y="T5"/>
                </a:cxn>
                <a:cxn ang="T15">
                  <a:pos x="T6" y="T7"/>
                </a:cxn>
                <a:cxn ang="T16">
                  <a:pos x="T8" y="T9"/>
                </a:cxn>
                <a:cxn ang="T17">
                  <a:pos x="T10" y="T11"/>
                </a:cxn>
              </a:cxnLst>
              <a:rect l="T18" t="T19" r="T20" b="T21"/>
              <a:pathLst>
                <a:path w="43" h="58">
                  <a:moveTo>
                    <a:pt x="42" y="57"/>
                  </a:moveTo>
                  <a:lnTo>
                    <a:pt x="42" y="57"/>
                  </a:lnTo>
                  <a:lnTo>
                    <a:pt x="0" y="45"/>
                  </a:lnTo>
                  <a:lnTo>
                    <a:pt x="0" y="0"/>
                  </a:lnTo>
                  <a:lnTo>
                    <a:pt x="42" y="6"/>
                  </a:lnTo>
                  <a:lnTo>
                    <a:pt x="42" y="57"/>
                  </a:lnTo>
                </a:path>
              </a:pathLst>
            </a:custGeom>
            <a:solidFill>
              <a:srgbClr val="9E0005"/>
            </a:solidFill>
            <a:ln w="9525" cap="rnd">
              <a:noFill/>
              <a:round/>
            </a:ln>
          </p:spPr>
          <p:txBody>
            <a:bodyPr/>
            <a:lstStyle/>
            <a:p>
              <a:endParaRPr lang="zh-CN" altLang="en-US"/>
            </a:p>
          </p:txBody>
        </p:sp>
        <p:sp>
          <p:nvSpPr>
            <p:cNvPr id="10411" name="Freeform 37"/>
            <p:cNvSpPr/>
            <p:nvPr/>
          </p:nvSpPr>
          <p:spPr bwMode="auto">
            <a:xfrm>
              <a:off x="2057" y="2409"/>
              <a:ext cx="146" cy="71"/>
            </a:xfrm>
            <a:custGeom>
              <a:avLst/>
              <a:gdLst>
                <a:gd name="T0" fmla="*/ 44 w 146"/>
                <a:gd name="T1" fmla="*/ 70 h 71"/>
                <a:gd name="T2" fmla="*/ 44 w 146"/>
                <a:gd name="T3" fmla="*/ 70 h 71"/>
                <a:gd name="T4" fmla="*/ 0 w 146"/>
                <a:gd name="T5" fmla="*/ 63 h 71"/>
                <a:gd name="T6" fmla="*/ 103 w 146"/>
                <a:gd name="T7" fmla="*/ 0 h 71"/>
                <a:gd name="T8" fmla="*/ 145 w 146"/>
                <a:gd name="T9" fmla="*/ 6 h 71"/>
                <a:gd name="T10" fmla="*/ 44 w 146"/>
                <a:gd name="T11" fmla="*/ 70 h 71"/>
                <a:gd name="T12" fmla="*/ 0 60000 65536"/>
                <a:gd name="T13" fmla="*/ 0 60000 65536"/>
                <a:gd name="T14" fmla="*/ 0 60000 65536"/>
                <a:gd name="T15" fmla="*/ 0 60000 65536"/>
                <a:gd name="T16" fmla="*/ 0 60000 65536"/>
                <a:gd name="T17" fmla="*/ 0 60000 65536"/>
                <a:gd name="T18" fmla="*/ 0 w 146"/>
                <a:gd name="T19" fmla="*/ 0 h 71"/>
                <a:gd name="T20" fmla="*/ 146 w 146"/>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146" h="71">
                  <a:moveTo>
                    <a:pt x="44" y="70"/>
                  </a:moveTo>
                  <a:lnTo>
                    <a:pt x="44" y="70"/>
                  </a:lnTo>
                  <a:lnTo>
                    <a:pt x="0" y="63"/>
                  </a:lnTo>
                  <a:lnTo>
                    <a:pt x="103" y="0"/>
                  </a:lnTo>
                  <a:lnTo>
                    <a:pt x="145" y="6"/>
                  </a:lnTo>
                  <a:lnTo>
                    <a:pt x="44" y="70"/>
                  </a:lnTo>
                </a:path>
              </a:pathLst>
            </a:custGeom>
            <a:solidFill>
              <a:srgbClr val="CF5C82"/>
            </a:solidFill>
            <a:ln w="9525" cap="rnd">
              <a:noFill/>
              <a:round/>
            </a:ln>
          </p:spPr>
          <p:txBody>
            <a:bodyPr/>
            <a:lstStyle/>
            <a:p>
              <a:endParaRPr lang="zh-CN" altLang="en-US"/>
            </a:p>
          </p:txBody>
        </p:sp>
        <p:sp>
          <p:nvSpPr>
            <p:cNvPr id="10412" name="Freeform 38"/>
            <p:cNvSpPr/>
            <p:nvPr/>
          </p:nvSpPr>
          <p:spPr bwMode="auto">
            <a:xfrm>
              <a:off x="2480" y="2221"/>
              <a:ext cx="17" cy="49"/>
            </a:xfrm>
            <a:custGeom>
              <a:avLst/>
              <a:gdLst>
                <a:gd name="T0" fmla="*/ 0 w 17"/>
                <a:gd name="T1" fmla="*/ 48 h 49"/>
                <a:gd name="T2" fmla="*/ 0 w 17"/>
                <a:gd name="T3" fmla="*/ 48 h 49"/>
                <a:gd name="T4" fmla="*/ 0 w 17"/>
                <a:gd name="T5" fmla="*/ 24 h 49"/>
                <a:gd name="T6" fmla="*/ 4 w 17"/>
                <a:gd name="T7" fmla="*/ 8 h 49"/>
                <a:gd name="T8" fmla="*/ 4 w 17"/>
                <a:gd name="T9" fmla="*/ 2 h 49"/>
                <a:gd name="T10" fmla="*/ 4 w 17"/>
                <a:gd name="T11" fmla="*/ 0 h 49"/>
                <a:gd name="T12" fmla="*/ 11 w 17"/>
                <a:gd name="T13" fmla="*/ 0 h 49"/>
                <a:gd name="T14" fmla="*/ 16 w 17"/>
                <a:gd name="T15" fmla="*/ 0 h 49"/>
                <a:gd name="T16" fmla="*/ 11 w 17"/>
                <a:gd name="T17" fmla="*/ 21 h 49"/>
                <a:gd name="T18" fmla="*/ 11 w 17"/>
                <a:gd name="T19" fmla="*/ 45 h 49"/>
                <a:gd name="T20" fmla="*/ 4 w 17"/>
                <a:gd name="T21" fmla="*/ 45 h 49"/>
                <a:gd name="T22" fmla="*/ 0 w 17"/>
                <a:gd name="T23" fmla="*/ 48 h 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
                <a:gd name="T37" fmla="*/ 0 h 49"/>
                <a:gd name="T38" fmla="*/ 17 w 17"/>
                <a:gd name="T39" fmla="*/ 49 h 4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 h="49">
                  <a:moveTo>
                    <a:pt x="0" y="48"/>
                  </a:moveTo>
                  <a:lnTo>
                    <a:pt x="0" y="48"/>
                  </a:lnTo>
                  <a:lnTo>
                    <a:pt x="0" y="24"/>
                  </a:lnTo>
                  <a:lnTo>
                    <a:pt x="4" y="8"/>
                  </a:lnTo>
                  <a:lnTo>
                    <a:pt x="4" y="2"/>
                  </a:lnTo>
                  <a:lnTo>
                    <a:pt x="4" y="0"/>
                  </a:lnTo>
                  <a:lnTo>
                    <a:pt x="11" y="0"/>
                  </a:lnTo>
                  <a:lnTo>
                    <a:pt x="16" y="0"/>
                  </a:lnTo>
                  <a:lnTo>
                    <a:pt x="11" y="21"/>
                  </a:lnTo>
                  <a:lnTo>
                    <a:pt x="11" y="45"/>
                  </a:lnTo>
                  <a:lnTo>
                    <a:pt x="4" y="45"/>
                  </a:lnTo>
                  <a:lnTo>
                    <a:pt x="0" y="48"/>
                  </a:lnTo>
                </a:path>
              </a:pathLst>
            </a:custGeom>
            <a:solidFill>
              <a:srgbClr val="BDB597"/>
            </a:solidFill>
            <a:ln w="9525" cap="rnd">
              <a:noFill/>
              <a:round/>
            </a:ln>
          </p:spPr>
          <p:txBody>
            <a:bodyPr/>
            <a:lstStyle/>
            <a:p>
              <a:endParaRPr lang="zh-CN" altLang="en-US"/>
            </a:p>
          </p:txBody>
        </p:sp>
        <p:sp>
          <p:nvSpPr>
            <p:cNvPr id="10413" name="Freeform 39"/>
            <p:cNvSpPr/>
            <p:nvPr/>
          </p:nvSpPr>
          <p:spPr bwMode="auto">
            <a:xfrm>
              <a:off x="2101" y="2192"/>
              <a:ext cx="419" cy="292"/>
            </a:xfrm>
            <a:custGeom>
              <a:avLst/>
              <a:gdLst>
                <a:gd name="T0" fmla="*/ 418 w 419"/>
                <a:gd name="T1" fmla="*/ 0 h 292"/>
                <a:gd name="T2" fmla="*/ 418 w 419"/>
                <a:gd name="T3" fmla="*/ 0 h 292"/>
                <a:gd name="T4" fmla="*/ 0 w 419"/>
                <a:gd name="T5" fmla="*/ 284 h 292"/>
                <a:gd name="T6" fmla="*/ 0 w 419"/>
                <a:gd name="T7" fmla="*/ 291 h 292"/>
                <a:gd name="T8" fmla="*/ 418 w 419"/>
                <a:gd name="T9" fmla="*/ 6 h 292"/>
                <a:gd name="T10" fmla="*/ 418 w 419"/>
                <a:gd name="T11" fmla="*/ 0 h 292"/>
                <a:gd name="T12" fmla="*/ 0 60000 65536"/>
                <a:gd name="T13" fmla="*/ 0 60000 65536"/>
                <a:gd name="T14" fmla="*/ 0 60000 65536"/>
                <a:gd name="T15" fmla="*/ 0 60000 65536"/>
                <a:gd name="T16" fmla="*/ 0 60000 65536"/>
                <a:gd name="T17" fmla="*/ 0 60000 65536"/>
                <a:gd name="T18" fmla="*/ 0 w 419"/>
                <a:gd name="T19" fmla="*/ 0 h 292"/>
                <a:gd name="T20" fmla="*/ 419 w 419"/>
                <a:gd name="T21" fmla="*/ 292 h 292"/>
              </a:gdLst>
              <a:ahLst/>
              <a:cxnLst>
                <a:cxn ang="T12">
                  <a:pos x="T0" y="T1"/>
                </a:cxn>
                <a:cxn ang="T13">
                  <a:pos x="T2" y="T3"/>
                </a:cxn>
                <a:cxn ang="T14">
                  <a:pos x="T4" y="T5"/>
                </a:cxn>
                <a:cxn ang="T15">
                  <a:pos x="T6" y="T7"/>
                </a:cxn>
                <a:cxn ang="T16">
                  <a:pos x="T8" y="T9"/>
                </a:cxn>
                <a:cxn ang="T17">
                  <a:pos x="T10" y="T11"/>
                </a:cxn>
              </a:cxnLst>
              <a:rect l="T18" t="T19" r="T20" b="T21"/>
              <a:pathLst>
                <a:path w="419" h="292">
                  <a:moveTo>
                    <a:pt x="418" y="0"/>
                  </a:moveTo>
                  <a:lnTo>
                    <a:pt x="418" y="0"/>
                  </a:lnTo>
                  <a:lnTo>
                    <a:pt x="0" y="284"/>
                  </a:lnTo>
                  <a:lnTo>
                    <a:pt x="0" y="291"/>
                  </a:lnTo>
                  <a:lnTo>
                    <a:pt x="418" y="6"/>
                  </a:lnTo>
                  <a:lnTo>
                    <a:pt x="418" y="0"/>
                  </a:lnTo>
                </a:path>
              </a:pathLst>
            </a:custGeom>
            <a:solidFill>
              <a:srgbClr val="BDB597"/>
            </a:solidFill>
            <a:ln w="9525" cap="rnd">
              <a:noFill/>
              <a:round/>
            </a:ln>
          </p:spPr>
          <p:txBody>
            <a:bodyPr/>
            <a:lstStyle/>
            <a:p>
              <a:endParaRPr lang="zh-CN" altLang="en-US"/>
            </a:p>
          </p:txBody>
        </p:sp>
        <p:sp>
          <p:nvSpPr>
            <p:cNvPr id="10414" name="Freeform 40"/>
            <p:cNvSpPr/>
            <p:nvPr/>
          </p:nvSpPr>
          <p:spPr bwMode="auto">
            <a:xfrm>
              <a:off x="2394" y="2282"/>
              <a:ext cx="17" cy="51"/>
            </a:xfrm>
            <a:custGeom>
              <a:avLst/>
              <a:gdLst>
                <a:gd name="T0" fmla="*/ 0 w 17"/>
                <a:gd name="T1" fmla="*/ 50 h 51"/>
                <a:gd name="T2" fmla="*/ 0 w 17"/>
                <a:gd name="T3" fmla="*/ 50 h 51"/>
                <a:gd name="T4" fmla="*/ 0 w 17"/>
                <a:gd name="T5" fmla="*/ 26 h 51"/>
                <a:gd name="T6" fmla="*/ 0 w 17"/>
                <a:gd name="T7" fmla="*/ 17 h 51"/>
                <a:gd name="T8" fmla="*/ 0 w 17"/>
                <a:gd name="T9" fmla="*/ 8 h 51"/>
                <a:gd name="T10" fmla="*/ 0 w 17"/>
                <a:gd name="T11" fmla="*/ 6 h 51"/>
                <a:gd name="T12" fmla="*/ 0 w 17"/>
                <a:gd name="T13" fmla="*/ 2 h 51"/>
                <a:gd name="T14" fmla="*/ 10 w 17"/>
                <a:gd name="T15" fmla="*/ 2 h 51"/>
                <a:gd name="T16" fmla="*/ 10 w 17"/>
                <a:gd name="T17" fmla="*/ 0 h 51"/>
                <a:gd name="T18" fmla="*/ 16 w 17"/>
                <a:gd name="T19" fmla="*/ 0 h 51"/>
                <a:gd name="T20" fmla="*/ 16 w 17"/>
                <a:gd name="T21" fmla="*/ 23 h 51"/>
                <a:gd name="T22" fmla="*/ 16 w 17"/>
                <a:gd name="T23" fmla="*/ 38 h 51"/>
                <a:gd name="T24" fmla="*/ 16 w 17"/>
                <a:gd name="T25" fmla="*/ 43 h 51"/>
                <a:gd name="T26" fmla="*/ 10 w 17"/>
                <a:gd name="T27" fmla="*/ 47 h 51"/>
                <a:gd name="T28" fmla="*/ 0 w 17"/>
                <a:gd name="T29" fmla="*/ 47 h 51"/>
                <a:gd name="T30" fmla="*/ 0 w 17"/>
                <a:gd name="T31" fmla="*/ 50 h 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
                <a:gd name="T49" fmla="*/ 0 h 51"/>
                <a:gd name="T50" fmla="*/ 17 w 17"/>
                <a:gd name="T51" fmla="*/ 51 h 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 h="51">
                  <a:moveTo>
                    <a:pt x="0" y="50"/>
                  </a:moveTo>
                  <a:lnTo>
                    <a:pt x="0" y="50"/>
                  </a:lnTo>
                  <a:lnTo>
                    <a:pt x="0" y="26"/>
                  </a:lnTo>
                  <a:lnTo>
                    <a:pt x="0" y="17"/>
                  </a:lnTo>
                  <a:lnTo>
                    <a:pt x="0" y="8"/>
                  </a:lnTo>
                  <a:lnTo>
                    <a:pt x="0" y="6"/>
                  </a:lnTo>
                  <a:lnTo>
                    <a:pt x="0" y="2"/>
                  </a:lnTo>
                  <a:lnTo>
                    <a:pt x="10" y="2"/>
                  </a:lnTo>
                  <a:lnTo>
                    <a:pt x="10" y="0"/>
                  </a:lnTo>
                  <a:lnTo>
                    <a:pt x="16" y="0"/>
                  </a:lnTo>
                  <a:lnTo>
                    <a:pt x="16" y="23"/>
                  </a:lnTo>
                  <a:lnTo>
                    <a:pt x="16" y="38"/>
                  </a:lnTo>
                  <a:lnTo>
                    <a:pt x="16" y="43"/>
                  </a:lnTo>
                  <a:lnTo>
                    <a:pt x="10" y="47"/>
                  </a:lnTo>
                  <a:lnTo>
                    <a:pt x="0" y="47"/>
                  </a:lnTo>
                  <a:lnTo>
                    <a:pt x="0" y="50"/>
                  </a:lnTo>
                </a:path>
              </a:pathLst>
            </a:custGeom>
            <a:solidFill>
              <a:srgbClr val="BDB597"/>
            </a:solidFill>
            <a:ln w="9525" cap="rnd">
              <a:noFill/>
              <a:round/>
            </a:ln>
          </p:spPr>
          <p:txBody>
            <a:bodyPr/>
            <a:lstStyle/>
            <a:p>
              <a:endParaRPr lang="zh-CN" altLang="en-US"/>
            </a:p>
          </p:txBody>
        </p:sp>
        <p:sp>
          <p:nvSpPr>
            <p:cNvPr id="10415" name="Freeform 41"/>
            <p:cNvSpPr/>
            <p:nvPr/>
          </p:nvSpPr>
          <p:spPr bwMode="auto">
            <a:xfrm>
              <a:off x="2301" y="2345"/>
              <a:ext cx="17" cy="53"/>
            </a:xfrm>
            <a:custGeom>
              <a:avLst/>
              <a:gdLst>
                <a:gd name="T0" fmla="*/ 0 w 17"/>
                <a:gd name="T1" fmla="*/ 52 h 53"/>
                <a:gd name="T2" fmla="*/ 0 w 17"/>
                <a:gd name="T3" fmla="*/ 52 h 53"/>
                <a:gd name="T4" fmla="*/ 0 w 17"/>
                <a:gd name="T5" fmla="*/ 27 h 53"/>
                <a:gd name="T6" fmla="*/ 0 w 17"/>
                <a:gd name="T7" fmla="*/ 17 h 53"/>
                <a:gd name="T8" fmla="*/ 0 w 17"/>
                <a:gd name="T9" fmla="*/ 8 h 53"/>
                <a:gd name="T10" fmla="*/ 4 w 17"/>
                <a:gd name="T11" fmla="*/ 2 h 53"/>
                <a:gd name="T12" fmla="*/ 4 w 17"/>
                <a:gd name="T13" fmla="*/ 0 h 53"/>
                <a:gd name="T14" fmla="*/ 11 w 17"/>
                <a:gd name="T15" fmla="*/ 0 h 53"/>
                <a:gd name="T16" fmla="*/ 16 w 17"/>
                <a:gd name="T17" fmla="*/ 0 h 53"/>
                <a:gd name="T18" fmla="*/ 16 w 17"/>
                <a:gd name="T19" fmla="*/ 24 h 53"/>
                <a:gd name="T20" fmla="*/ 11 w 17"/>
                <a:gd name="T21" fmla="*/ 39 h 53"/>
                <a:gd name="T22" fmla="*/ 11 w 17"/>
                <a:gd name="T23" fmla="*/ 45 h 53"/>
                <a:gd name="T24" fmla="*/ 11 w 17"/>
                <a:gd name="T25" fmla="*/ 49 h 53"/>
                <a:gd name="T26" fmla="*/ 4 w 17"/>
                <a:gd name="T27" fmla="*/ 49 h 53"/>
                <a:gd name="T28" fmla="*/ 0 w 17"/>
                <a:gd name="T29" fmla="*/ 52 h 5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
                <a:gd name="T46" fmla="*/ 0 h 53"/>
                <a:gd name="T47" fmla="*/ 17 w 17"/>
                <a:gd name="T48" fmla="*/ 53 h 5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 h="53">
                  <a:moveTo>
                    <a:pt x="0" y="52"/>
                  </a:moveTo>
                  <a:lnTo>
                    <a:pt x="0" y="52"/>
                  </a:lnTo>
                  <a:lnTo>
                    <a:pt x="0" y="27"/>
                  </a:lnTo>
                  <a:lnTo>
                    <a:pt x="0" y="17"/>
                  </a:lnTo>
                  <a:lnTo>
                    <a:pt x="0" y="8"/>
                  </a:lnTo>
                  <a:lnTo>
                    <a:pt x="4" y="2"/>
                  </a:lnTo>
                  <a:lnTo>
                    <a:pt x="4" y="0"/>
                  </a:lnTo>
                  <a:lnTo>
                    <a:pt x="11" y="0"/>
                  </a:lnTo>
                  <a:lnTo>
                    <a:pt x="16" y="0"/>
                  </a:lnTo>
                  <a:lnTo>
                    <a:pt x="16" y="24"/>
                  </a:lnTo>
                  <a:lnTo>
                    <a:pt x="11" y="39"/>
                  </a:lnTo>
                  <a:lnTo>
                    <a:pt x="11" y="45"/>
                  </a:lnTo>
                  <a:lnTo>
                    <a:pt x="11" y="49"/>
                  </a:lnTo>
                  <a:lnTo>
                    <a:pt x="4" y="49"/>
                  </a:lnTo>
                  <a:lnTo>
                    <a:pt x="0" y="52"/>
                  </a:lnTo>
                </a:path>
              </a:pathLst>
            </a:custGeom>
            <a:solidFill>
              <a:srgbClr val="BDB597"/>
            </a:solidFill>
            <a:ln w="9525" cap="rnd">
              <a:noFill/>
              <a:round/>
            </a:ln>
          </p:spPr>
          <p:txBody>
            <a:bodyPr/>
            <a:lstStyle/>
            <a:p>
              <a:endParaRPr lang="zh-CN" altLang="en-US"/>
            </a:p>
          </p:txBody>
        </p:sp>
        <p:sp>
          <p:nvSpPr>
            <p:cNvPr id="10416" name="Freeform 42"/>
            <p:cNvSpPr/>
            <p:nvPr/>
          </p:nvSpPr>
          <p:spPr bwMode="auto">
            <a:xfrm>
              <a:off x="2202" y="2413"/>
              <a:ext cx="17" cy="55"/>
            </a:xfrm>
            <a:custGeom>
              <a:avLst/>
              <a:gdLst>
                <a:gd name="T0" fmla="*/ 0 w 17"/>
                <a:gd name="T1" fmla="*/ 54 h 55"/>
                <a:gd name="T2" fmla="*/ 0 w 17"/>
                <a:gd name="T3" fmla="*/ 54 h 55"/>
                <a:gd name="T4" fmla="*/ 0 w 17"/>
                <a:gd name="T5" fmla="*/ 44 h 55"/>
                <a:gd name="T6" fmla="*/ 0 w 17"/>
                <a:gd name="T7" fmla="*/ 27 h 55"/>
                <a:gd name="T8" fmla="*/ 0 w 17"/>
                <a:gd name="T9" fmla="*/ 18 h 55"/>
                <a:gd name="T10" fmla="*/ 0 w 17"/>
                <a:gd name="T11" fmla="*/ 9 h 55"/>
                <a:gd name="T12" fmla="*/ 0 w 17"/>
                <a:gd name="T13" fmla="*/ 2 h 55"/>
                <a:gd name="T14" fmla="*/ 4 w 17"/>
                <a:gd name="T15" fmla="*/ 0 h 55"/>
                <a:gd name="T16" fmla="*/ 11 w 17"/>
                <a:gd name="T17" fmla="*/ 0 h 55"/>
                <a:gd name="T18" fmla="*/ 16 w 17"/>
                <a:gd name="T19" fmla="*/ 0 h 55"/>
                <a:gd name="T20" fmla="*/ 16 w 17"/>
                <a:gd name="T21" fmla="*/ 23 h 55"/>
                <a:gd name="T22" fmla="*/ 16 w 17"/>
                <a:gd name="T23" fmla="*/ 39 h 55"/>
                <a:gd name="T24" fmla="*/ 11 w 17"/>
                <a:gd name="T25" fmla="*/ 44 h 55"/>
                <a:gd name="T26" fmla="*/ 11 w 17"/>
                <a:gd name="T27" fmla="*/ 47 h 55"/>
                <a:gd name="T28" fmla="*/ 11 w 17"/>
                <a:gd name="T29" fmla="*/ 51 h 55"/>
                <a:gd name="T30" fmla="*/ 4 w 17"/>
                <a:gd name="T31" fmla="*/ 51 h 55"/>
                <a:gd name="T32" fmla="*/ 0 w 17"/>
                <a:gd name="T33" fmla="*/ 51 h 55"/>
                <a:gd name="T34" fmla="*/ 0 w 17"/>
                <a:gd name="T35" fmla="*/ 54 h 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55"/>
                <a:gd name="T56" fmla="*/ 17 w 17"/>
                <a:gd name="T57" fmla="*/ 55 h 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55">
                  <a:moveTo>
                    <a:pt x="0" y="54"/>
                  </a:moveTo>
                  <a:lnTo>
                    <a:pt x="0" y="54"/>
                  </a:lnTo>
                  <a:lnTo>
                    <a:pt x="0" y="44"/>
                  </a:lnTo>
                  <a:lnTo>
                    <a:pt x="0" y="27"/>
                  </a:lnTo>
                  <a:lnTo>
                    <a:pt x="0" y="18"/>
                  </a:lnTo>
                  <a:lnTo>
                    <a:pt x="0" y="9"/>
                  </a:lnTo>
                  <a:lnTo>
                    <a:pt x="0" y="2"/>
                  </a:lnTo>
                  <a:lnTo>
                    <a:pt x="4" y="0"/>
                  </a:lnTo>
                  <a:lnTo>
                    <a:pt x="11" y="0"/>
                  </a:lnTo>
                  <a:lnTo>
                    <a:pt x="16" y="0"/>
                  </a:lnTo>
                  <a:lnTo>
                    <a:pt x="16" y="23"/>
                  </a:lnTo>
                  <a:lnTo>
                    <a:pt x="16" y="39"/>
                  </a:lnTo>
                  <a:lnTo>
                    <a:pt x="11" y="44"/>
                  </a:lnTo>
                  <a:lnTo>
                    <a:pt x="11" y="47"/>
                  </a:lnTo>
                  <a:lnTo>
                    <a:pt x="11" y="51"/>
                  </a:lnTo>
                  <a:lnTo>
                    <a:pt x="4" y="51"/>
                  </a:lnTo>
                  <a:lnTo>
                    <a:pt x="0" y="51"/>
                  </a:lnTo>
                  <a:lnTo>
                    <a:pt x="0" y="54"/>
                  </a:lnTo>
                </a:path>
              </a:pathLst>
            </a:custGeom>
            <a:solidFill>
              <a:srgbClr val="BDB597"/>
            </a:solidFill>
            <a:ln w="9525" cap="rnd">
              <a:noFill/>
              <a:round/>
            </a:ln>
          </p:spPr>
          <p:txBody>
            <a:bodyPr/>
            <a:lstStyle/>
            <a:p>
              <a:endParaRPr lang="zh-CN" altLang="en-US"/>
            </a:p>
          </p:txBody>
        </p:sp>
        <p:grpSp>
          <p:nvGrpSpPr>
            <p:cNvPr id="6" name="Group 43"/>
            <p:cNvGrpSpPr/>
            <p:nvPr/>
          </p:nvGrpSpPr>
          <p:grpSpPr bwMode="auto">
            <a:xfrm>
              <a:off x="2412" y="2134"/>
              <a:ext cx="111" cy="107"/>
              <a:chOff x="2412" y="2134"/>
              <a:chExt cx="111" cy="107"/>
            </a:xfrm>
          </p:grpSpPr>
          <p:sp>
            <p:nvSpPr>
              <p:cNvPr id="10594" name="Freeform 44"/>
              <p:cNvSpPr/>
              <p:nvPr/>
            </p:nvSpPr>
            <p:spPr bwMode="auto">
              <a:xfrm>
                <a:off x="2446" y="2147"/>
                <a:ext cx="77" cy="94"/>
              </a:xfrm>
              <a:custGeom>
                <a:avLst/>
                <a:gdLst>
                  <a:gd name="T0" fmla="*/ 0 w 77"/>
                  <a:gd name="T1" fmla="*/ 93 h 94"/>
                  <a:gd name="T2" fmla="*/ 0 w 77"/>
                  <a:gd name="T3" fmla="*/ 93 h 94"/>
                  <a:gd name="T4" fmla="*/ 2 w 77"/>
                  <a:gd name="T5" fmla="*/ 46 h 94"/>
                  <a:gd name="T6" fmla="*/ 76 w 77"/>
                  <a:gd name="T7" fmla="*/ 0 h 94"/>
                  <a:gd name="T8" fmla="*/ 73 w 77"/>
                  <a:gd name="T9" fmla="*/ 46 h 94"/>
                  <a:gd name="T10" fmla="*/ 0 w 77"/>
                  <a:gd name="T11" fmla="*/ 93 h 94"/>
                  <a:gd name="T12" fmla="*/ 0 60000 65536"/>
                  <a:gd name="T13" fmla="*/ 0 60000 65536"/>
                  <a:gd name="T14" fmla="*/ 0 60000 65536"/>
                  <a:gd name="T15" fmla="*/ 0 60000 65536"/>
                  <a:gd name="T16" fmla="*/ 0 60000 65536"/>
                  <a:gd name="T17" fmla="*/ 0 60000 65536"/>
                  <a:gd name="T18" fmla="*/ 0 w 77"/>
                  <a:gd name="T19" fmla="*/ 0 h 94"/>
                  <a:gd name="T20" fmla="*/ 77 w 77"/>
                  <a:gd name="T21" fmla="*/ 94 h 94"/>
                </a:gdLst>
                <a:ahLst/>
                <a:cxnLst>
                  <a:cxn ang="T12">
                    <a:pos x="T0" y="T1"/>
                  </a:cxn>
                  <a:cxn ang="T13">
                    <a:pos x="T2" y="T3"/>
                  </a:cxn>
                  <a:cxn ang="T14">
                    <a:pos x="T4" y="T5"/>
                  </a:cxn>
                  <a:cxn ang="T15">
                    <a:pos x="T6" y="T7"/>
                  </a:cxn>
                  <a:cxn ang="T16">
                    <a:pos x="T8" y="T9"/>
                  </a:cxn>
                  <a:cxn ang="T17">
                    <a:pos x="T10" y="T11"/>
                  </a:cxn>
                </a:cxnLst>
                <a:rect l="T18" t="T19" r="T20" b="T21"/>
                <a:pathLst>
                  <a:path w="77" h="94">
                    <a:moveTo>
                      <a:pt x="0" y="93"/>
                    </a:moveTo>
                    <a:lnTo>
                      <a:pt x="0" y="93"/>
                    </a:lnTo>
                    <a:lnTo>
                      <a:pt x="2" y="46"/>
                    </a:lnTo>
                    <a:lnTo>
                      <a:pt x="76" y="0"/>
                    </a:lnTo>
                    <a:lnTo>
                      <a:pt x="73" y="46"/>
                    </a:lnTo>
                    <a:lnTo>
                      <a:pt x="0" y="93"/>
                    </a:lnTo>
                  </a:path>
                </a:pathLst>
              </a:custGeom>
              <a:solidFill>
                <a:srgbClr val="BB1A50"/>
              </a:solidFill>
              <a:ln w="9525" cap="rnd">
                <a:noFill/>
                <a:round/>
              </a:ln>
            </p:spPr>
            <p:txBody>
              <a:bodyPr/>
              <a:lstStyle/>
              <a:p>
                <a:endParaRPr lang="zh-CN" altLang="en-US"/>
              </a:p>
            </p:txBody>
          </p:sp>
          <p:sp>
            <p:nvSpPr>
              <p:cNvPr id="10595" name="Freeform 45"/>
              <p:cNvSpPr/>
              <p:nvPr/>
            </p:nvSpPr>
            <p:spPr bwMode="auto">
              <a:xfrm>
                <a:off x="2412" y="2187"/>
                <a:ext cx="35" cy="54"/>
              </a:xfrm>
              <a:custGeom>
                <a:avLst/>
                <a:gdLst>
                  <a:gd name="T0" fmla="*/ 31 w 35"/>
                  <a:gd name="T1" fmla="*/ 53 h 54"/>
                  <a:gd name="T2" fmla="*/ 31 w 35"/>
                  <a:gd name="T3" fmla="*/ 53 h 54"/>
                  <a:gd name="T4" fmla="*/ 0 w 35"/>
                  <a:gd name="T5" fmla="*/ 44 h 54"/>
                  <a:gd name="T6" fmla="*/ 2 w 35"/>
                  <a:gd name="T7" fmla="*/ 0 h 54"/>
                  <a:gd name="T8" fmla="*/ 34 w 35"/>
                  <a:gd name="T9" fmla="*/ 8 h 54"/>
                  <a:gd name="T10" fmla="*/ 31 w 35"/>
                  <a:gd name="T11" fmla="*/ 53 h 54"/>
                  <a:gd name="T12" fmla="*/ 0 60000 65536"/>
                  <a:gd name="T13" fmla="*/ 0 60000 65536"/>
                  <a:gd name="T14" fmla="*/ 0 60000 65536"/>
                  <a:gd name="T15" fmla="*/ 0 60000 65536"/>
                  <a:gd name="T16" fmla="*/ 0 60000 65536"/>
                  <a:gd name="T17" fmla="*/ 0 60000 65536"/>
                  <a:gd name="T18" fmla="*/ 0 w 35"/>
                  <a:gd name="T19" fmla="*/ 0 h 54"/>
                  <a:gd name="T20" fmla="*/ 35 w 35"/>
                  <a:gd name="T21" fmla="*/ 54 h 54"/>
                </a:gdLst>
                <a:ahLst/>
                <a:cxnLst>
                  <a:cxn ang="T12">
                    <a:pos x="T0" y="T1"/>
                  </a:cxn>
                  <a:cxn ang="T13">
                    <a:pos x="T2" y="T3"/>
                  </a:cxn>
                  <a:cxn ang="T14">
                    <a:pos x="T4" y="T5"/>
                  </a:cxn>
                  <a:cxn ang="T15">
                    <a:pos x="T6" y="T7"/>
                  </a:cxn>
                  <a:cxn ang="T16">
                    <a:pos x="T8" y="T9"/>
                  </a:cxn>
                  <a:cxn ang="T17">
                    <a:pos x="T10" y="T11"/>
                  </a:cxn>
                </a:cxnLst>
                <a:rect l="T18" t="T19" r="T20" b="T21"/>
                <a:pathLst>
                  <a:path w="35" h="54">
                    <a:moveTo>
                      <a:pt x="31" y="53"/>
                    </a:moveTo>
                    <a:lnTo>
                      <a:pt x="31" y="53"/>
                    </a:lnTo>
                    <a:lnTo>
                      <a:pt x="0" y="44"/>
                    </a:lnTo>
                    <a:lnTo>
                      <a:pt x="2" y="0"/>
                    </a:lnTo>
                    <a:lnTo>
                      <a:pt x="34" y="8"/>
                    </a:lnTo>
                    <a:lnTo>
                      <a:pt x="31" y="53"/>
                    </a:lnTo>
                  </a:path>
                </a:pathLst>
              </a:custGeom>
              <a:solidFill>
                <a:srgbClr val="9E0005"/>
              </a:solidFill>
              <a:ln w="9525" cap="rnd">
                <a:noFill/>
                <a:round/>
              </a:ln>
            </p:spPr>
            <p:txBody>
              <a:bodyPr/>
              <a:lstStyle/>
              <a:p>
                <a:endParaRPr lang="zh-CN" altLang="en-US"/>
              </a:p>
            </p:txBody>
          </p:sp>
          <p:sp>
            <p:nvSpPr>
              <p:cNvPr id="10596" name="Freeform 46"/>
              <p:cNvSpPr/>
              <p:nvPr/>
            </p:nvSpPr>
            <p:spPr bwMode="auto">
              <a:xfrm>
                <a:off x="2414" y="2134"/>
                <a:ext cx="109" cy="59"/>
              </a:xfrm>
              <a:custGeom>
                <a:avLst/>
                <a:gdLst>
                  <a:gd name="T0" fmla="*/ 33 w 109"/>
                  <a:gd name="T1" fmla="*/ 58 h 59"/>
                  <a:gd name="T2" fmla="*/ 33 w 109"/>
                  <a:gd name="T3" fmla="*/ 58 h 59"/>
                  <a:gd name="T4" fmla="*/ 0 w 109"/>
                  <a:gd name="T5" fmla="*/ 48 h 59"/>
                  <a:gd name="T6" fmla="*/ 80 w 109"/>
                  <a:gd name="T7" fmla="*/ 0 h 59"/>
                  <a:gd name="T8" fmla="*/ 108 w 109"/>
                  <a:gd name="T9" fmla="*/ 11 h 59"/>
                  <a:gd name="T10" fmla="*/ 33 w 109"/>
                  <a:gd name="T11" fmla="*/ 58 h 59"/>
                  <a:gd name="T12" fmla="*/ 0 60000 65536"/>
                  <a:gd name="T13" fmla="*/ 0 60000 65536"/>
                  <a:gd name="T14" fmla="*/ 0 60000 65536"/>
                  <a:gd name="T15" fmla="*/ 0 60000 65536"/>
                  <a:gd name="T16" fmla="*/ 0 60000 65536"/>
                  <a:gd name="T17" fmla="*/ 0 60000 65536"/>
                  <a:gd name="T18" fmla="*/ 0 w 109"/>
                  <a:gd name="T19" fmla="*/ 0 h 59"/>
                  <a:gd name="T20" fmla="*/ 109 w 109"/>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109" h="59">
                    <a:moveTo>
                      <a:pt x="33" y="58"/>
                    </a:moveTo>
                    <a:lnTo>
                      <a:pt x="33" y="58"/>
                    </a:lnTo>
                    <a:lnTo>
                      <a:pt x="0" y="48"/>
                    </a:lnTo>
                    <a:lnTo>
                      <a:pt x="80" y="0"/>
                    </a:lnTo>
                    <a:lnTo>
                      <a:pt x="108" y="11"/>
                    </a:lnTo>
                    <a:lnTo>
                      <a:pt x="33" y="58"/>
                    </a:lnTo>
                  </a:path>
                </a:pathLst>
              </a:custGeom>
              <a:solidFill>
                <a:srgbClr val="CF5C82"/>
              </a:solidFill>
              <a:ln w="9525" cap="rnd">
                <a:noFill/>
                <a:round/>
              </a:ln>
            </p:spPr>
            <p:txBody>
              <a:bodyPr/>
              <a:lstStyle/>
              <a:p>
                <a:endParaRPr lang="zh-CN" altLang="en-US"/>
              </a:p>
            </p:txBody>
          </p:sp>
        </p:grpSp>
        <p:grpSp>
          <p:nvGrpSpPr>
            <p:cNvPr id="7" name="Group 47"/>
            <p:cNvGrpSpPr/>
            <p:nvPr/>
          </p:nvGrpSpPr>
          <p:grpSpPr bwMode="auto">
            <a:xfrm>
              <a:off x="2318" y="2192"/>
              <a:ext cx="122" cy="113"/>
              <a:chOff x="2318" y="2192"/>
              <a:chExt cx="122" cy="113"/>
            </a:xfrm>
          </p:grpSpPr>
          <p:sp>
            <p:nvSpPr>
              <p:cNvPr id="10591" name="Freeform 48"/>
              <p:cNvSpPr/>
              <p:nvPr/>
            </p:nvSpPr>
            <p:spPr bwMode="auto">
              <a:xfrm>
                <a:off x="2354" y="2202"/>
                <a:ext cx="86" cy="103"/>
              </a:xfrm>
              <a:custGeom>
                <a:avLst/>
                <a:gdLst>
                  <a:gd name="T0" fmla="*/ 0 w 86"/>
                  <a:gd name="T1" fmla="*/ 102 h 103"/>
                  <a:gd name="T2" fmla="*/ 0 w 86"/>
                  <a:gd name="T3" fmla="*/ 102 h 103"/>
                  <a:gd name="T4" fmla="*/ 2 w 86"/>
                  <a:gd name="T5" fmla="*/ 52 h 103"/>
                  <a:gd name="T6" fmla="*/ 85 w 86"/>
                  <a:gd name="T7" fmla="*/ 0 h 103"/>
                  <a:gd name="T8" fmla="*/ 82 w 86"/>
                  <a:gd name="T9" fmla="*/ 49 h 103"/>
                  <a:gd name="T10" fmla="*/ 0 w 86"/>
                  <a:gd name="T11" fmla="*/ 102 h 103"/>
                  <a:gd name="T12" fmla="*/ 0 60000 65536"/>
                  <a:gd name="T13" fmla="*/ 0 60000 65536"/>
                  <a:gd name="T14" fmla="*/ 0 60000 65536"/>
                  <a:gd name="T15" fmla="*/ 0 60000 65536"/>
                  <a:gd name="T16" fmla="*/ 0 60000 65536"/>
                  <a:gd name="T17" fmla="*/ 0 60000 65536"/>
                  <a:gd name="T18" fmla="*/ 0 w 86"/>
                  <a:gd name="T19" fmla="*/ 0 h 103"/>
                  <a:gd name="T20" fmla="*/ 86 w 86"/>
                  <a:gd name="T21" fmla="*/ 103 h 103"/>
                </a:gdLst>
                <a:ahLst/>
                <a:cxnLst>
                  <a:cxn ang="T12">
                    <a:pos x="T0" y="T1"/>
                  </a:cxn>
                  <a:cxn ang="T13">
                    <a:pos x="T2" y="T3"/>
                  </a:cxn>
                  <a:cxn ang="T14">
                    <a:pos x="T4" y="T5"/>
                  </a:cxn>
                  <a:cxn ang="T15">
                    <a:pos x="T6" y="T7"/>
                  </a:cxn>
                  <a:cxn ang="T16">
                    <a:pos x="T8" y="T9"/>
                  </a:cxn>
                  <a:cxn ang="T17">
                    <a:pos x="T10" y="T11"/>
                  </a:cxn>
                </a:cxnLst>
                <a:rect l="T18" t="T19" r="T20" b="T21"/>
                <a:pathLst>
                  <a:path w="86" h="103">
                    <a:moveTo>
                      <a:pt x="0" y="102"/>
                    </a:moveTo>
                    <a:lnTo>
                      <a:pt x="0" y="102"/>
                    </a:lnTo>
                    <a:lnTo>
                      <a:pt x="2" y="52"/>
                    </a:lnTo>
                    <a:lnTo>
                      <a:pt x="85" y="0"/>
                    </a:lnTo>
                    <a:lnTo>
                      <a:pt x="82" y="49"/>
                    </a:lnTo>
                    <a:lnTo>
                      <a:pt x="0" y="102"/>
                    </a:lnTo>
                  </a:path>
                </a:pathLst>
              </a:custGeom>
              <a:solidFill>
                <a:srgbClr val="BB1A50"/>
              </a:solidFill>
              <a:ln w="9525" cap="rnd">
                <a:noFill/>
                <a:round/>
              </a:ln>
            </p:spPr>
            <p:txBody>
              <a:bodyPr/>
              <a:lstStyle/>
              <a:p>
                <a:endParaRPr lang="zh-CN" altLang="en-US"/>
              </a:p>
            </p:txBody>
          </p:sp>
          <p:sp>
            <p:nvSpPr>
              <p:cNvPr id="10592" name="Freeform 49"/>
              <p:cNvSpPr/>
              <p:nvPr/>
            </p:nvSpPr>
            <p:spPr bwMode="auto">
              <a:xfrm>
                <a:off x="2318" y="2247"/>
                <a:ext cx="38" cy="58"/>
              </a:xfrm>
              <a:custGeom>
                <a:avLst/>
                <a:gdLst>
                  <a:gd name="T0" fmla="*/ 34 w 38"/>
                  <a:gd name="T1" fmla="*/ 57 h 58"/>
                  <a:gd name="T2" fmla="*/ 34 w 38"/>
                  <a:gd name="T3" fmla="*/ 57 h 58"/>
                  <a:gd name="T4" fmla="*/ 0 w 38"/>
                  <a:gd name="T5" fmla="*/ 47 h 58"/>
                  <a:gd name="T6" fmla="*/ 2 w 38"/>
                  <a:gd name="T7" fmla="*/ 0 h 58"/>
                  <a:gd name="T8" fmla="*/ 37 w 38"/>
                  <a:gd name="T9" fmla="*/ 9 h 58"/>
                  <a:gd name="T10" fmla="*/ 34 w 38"/>
                  <a:gd name="T11" fmla="*/ 57 h 58"/>
                  <a:gd name="T12" fmla="*/ 0 60000 65536"/>
                  <a:gd name="T13" fmla="*/ 0 60000 65536"/>
                  <a:gd name="T14" fmla="*/ 0 60000 65536"/>
                  <a:gd name="T15" fmla="*/ 0 60000 65536"/>
                  <a:gd name="T16" fmla="*/ 0 60000 65536"/>
                  <a:gd name="T17" fmla="*/ 0 60000 65536"/>
                  <a:gd name="T18" fmla="*/ 0 w 38"/>
                  <a:gd name="T19" fmla="*/ 0 h 58"/>
                  <a:gd name="T20" fmla="*/ 38 w 38"/>
                  <a:gd name="T21" fmla="*/ 58 h 58"/>
                </a:gdLst>
                <a:ahLst/>
                <a:cxnLst>
                  <a:cxn ang="T12">
                    <a:pos x="T0" y="T1"/>
                  </a:cxn>
                  <a:cxn ang="T13">
                    <a:pos x="T2" y="T3"/>
                  </a:cxn>
                  <a:cxn ang="T14">
                    <a:pos x="T4" y="T5"/>
                  </a:cxn>
                  <a:cxn ang="T15">
                    <a:pos x="T6" y="T7"/>
                  </a:cxn>
                  <a:cxn ang="T16">
                    <a:pos x="T8" y="T9"/>
                  </a:cxn>
                  <a:cxn ang="T17">
                    <a:pos x="T10" y="T11"/>
                  </a:cxn>
                </a:cxnLst>
                <a:rect l="T18" t="T19" r="T20" b="T21"/>
                <a:pathLst>
                  <a:path w="38" h="58">
                    <a:moveTo>
                      <a:pt x="34" y="57"/>
                    </a:moveTo>
                    <a:lnTo>
                      <a:pt x="34" y="57"/>
                    </a:lnTo>
                    <a:lnTo>
                      <a:pt x="0" y="47"/>
                    </a:lnTo>
                    <a:lnTo>
                      <a:pt x="2" y="0"/>
                    </a:lnTo>
                    <a:lnTo>
                      <a:pt x="37" y="9"/>
                    </a:lnTo>
                    <a:lnTo>
                      <a:pt x="34" y="57"/>
                    </a:lnTo>
                  </a:path>
                </a:pathLst>
              </a:custGeom>
              <a:solidFill>
                <a:srgbClr val="9E0005"/>
              </a:solidFill>
              <a:ln w="9525" cap="rnd">
                <a:noFill/>
                <a:round/>
              </a:ln>
            </p:spPr>
            <p:txBody>
              <a:bodyPr/>
              <a:lstStyle/>
              <a:p>
                <a:endParaRPr lang="zh-CN" altLang="en-US"/>
              </a:p>
            </p:txBody>
          </p:sp>
          <p:sp>
            <p:nvSpPr>
              <p:cNvPr id="10593" name="Freeform 50"/>
              <p:cNvSpPr/>
              <p:nvPr/>
            </p:nvSpPr>
            <p:spPr bwMode="auto">
              <a:xfrm>
                <a:off x="2321" y="2192"/>
                <a:ext cx="119" cy="62"/>
              </a:xfrm>
              <a:custGeom>
                <a:avLst/>
                <a:gdLst>
                  <a:gd name="T0" fmla="*/ 35 w 119"/>
                  <a:gd name="T1" fmla="*/ 61 h 62"/>
                  <a:gd name="T2" fmla="*/ 35 w 119"/>
                  <a:gd name="T3" fmla="*/ 61 h 62"/>
                  <a:gd name="T4" fmla="*/ 0 w 119"/>
                  <a:gd name="T5" fmla="*/ 52 h 62"/>
                  <a:gd name="T6" fmla="*/ 84 w 119"/>
                  <a:gd name="T7" fmla="*/ 0 h 62"/>
                  <a:gd name="T8" fmla="*/ 118 w 119"/>
                  <a:gd name="T9" fmla="*/ 8 h 62"/>
                  <a:gd name="T10" fmla="*/ 35 w 119"/>
                  <a:gd name="T11" fmla="*/ 61 h 62"/>
                  <a:gd name="T12" fmla="*/ 0 60000 65536"/>
                  <a:gd name="T13" fmla="*/ 0 60000 65536"/>
                  <a:gd name="T14" fmla="*/ 0 60000 65536"/>
                  <a:gd name="T15" fmla="*/ 0 60000 65536"/>
                  <a:gd name="T16" fmla="*/ 0 60000 65536"/>
                  <a:gd name="T17" fmla="*/ 0 60000 65536"/>
                  <a:gd name="T18" fmla="*/ 0 w 119"/>
                  <a:gd name="T19" fmla="*/ 0 h 62"/>
                  <a:gd name="T20" fmla="*/ 119 w 119"/>
                  <a:gd name="T21" fmla="*/ 62 h 62"/>
                </a:gdLst>
                <a:ahLst/>
                <a:cxnLst>
                  <a:cxn ang="T12">
                    <a:pos x="T0" y="T1"/>
                  </a:cxn>
                  <a:cxn ang="T13">
                    <a:pos x="T2" y="T3"/>
                  </a:cxn>
                  <a:cxn ang="T14">
                    <a:pos x="T4" y="T5"/>
                  </a:cxn>
                  <a:cxn ang="T15">
                    <a:pos x="T6" y="T7"/>
                  </a:cxn>
                  <a:cxn ang="T16">
                    <a:pos x="T8" y="T9"/>
                  </a:cxn>
                  <a:cxn ang="T17">
                    <a:pos x="T10" y="T11"/>
                  </a:cxn>
                </a:cxnLst>
                <a:rect l="T18" t="T19" r="T20" b="T21"/>
                <a:pathLst>
                  <a:path w="119" h="62">
                    <a:moveTo>
                      <a:pt x="35" y="61"/>
                    </a:moveTo>
                    <a:lnTo>
                      <a:pt x="35" y="61"/>
                    </a:lnTo>
                    <a:lnTo>
                      <a:pt x="0" y="52"/>
                    </a:lnTo>
                    <a:lnTo>
                      <a:pt x="84" y="0"/>
                    </a:lnTo>
                    <a:lnTo>
                      <a:pt x="118" y="8"/>
                    </a:lnTo>
                    <a:lnTo>
                      <a:pt x="35" y="61"/>
                    </a:lnTo>
                  </a:path>
                </a:pathLst>
              </a:custGeom>
              <a:solidFill>
                <a:srgbClr val="CF5C82"/>
              </a:solidFill>
              <a:ln w="9525" cap="rnd">
                <a:noFill/>
                <a:round/>
              </a:ln>
            </p:spPr>
            <p:txBody>
              <a:bodyPr/>
              <a:lstStyle/>
              <a:p>
                <a:endParaRPr lang="zh-CN" altLang="en-US"/>
              </a:p>
            </p:txBody>
          </p:sp>
        </p:grpSp>
        <p:grpSp>
          <p:nvGrpSpPr>
            <p:cNvPr id="8" name="Group 51"/>
            <p:cNvGrpSpPr/>
            <p:nvPr/>
          </p:nvGrpSpPr>
          <p:grpSpPr bwMode="auto">
            <a:xfrm>
              <a:off x="2218" y="2253"/>
              <a:ext cx="133" cy="116"/>
              <a:chOff x="2218" y="2253"/>
              <a:chExt cx="133" cy="116"/>
            </a:xfrm>
          </p:grpSpPr>
          <p:sp>
            <p:nvSpPr>
              <p:cNvPr id="10588" name="Freeform 52"/>
              <p:cNvSpPr/>
              <p:nvPr/>
            </p:nvSpPr>
            <p:spPr bwMode="auto">
              <a:xfrm>
                <a:off x="2258" y="2262"/>
                <a:ext cx="93" cy="107"/>
              </a:xfrm>
              <a:custGeom>
                <a:avLst/>
                <a:gdLst>
                  <a:gd name="T0" fmla="*/ 0 w 93"/>
                  <a:gd name="T1" fmla="*/ 106 h 107"/>
                  <a:gd name="T2" fmla="*/ 0 w 93"/>
                  <a:gd name="T3" fmla="*/ 106 h 107"/>
                  <a:gd name="T4" fmla="*/ 2 w 93"/>
                  <a:gd name="T5" fmla="*/ 55 h 107"/>
                  <a:gd name="T6" fmla="*/ 92 w 93"/>
                  <a:gd name="T7" fmla="*/ 0 h 107"/>
                  <a:gd name="T8" fmla="*/ 89 w 93"/>
                  <a:gd name="T9" fmla="*/ 50 h 107"/>
                  <a:gd name="T10" fmla="*/ 0 w 93"/>
                  <a:gd name="T11" fmla="*/ 106 h 107"/>
                  <a:gd name="T12" fmla="*/ 0 60000 65536"/>
                  <a:gd name="T13" fmla="*/ 0 60000 65536"/>
                  <a:gd name="T14" fmla="*/ 0 60000 65536"/>
                  <a:gd name="T15" fmla="*/ 0 60000 65536"/>
                  <a:gd name="T16" fmla="*/ 0 60000 65536"/>
                  <a:gd name="T17" fmla="*/ 0 60000 65536"/>
                  <a:gd name="T18" fmla="*/ 0 w 93"/>
                  <a:gd name="T19" fmla="*/ 0 h 107"/>
                  <a:gd name="T20" fmla="*/ 93 w 9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93" h="107">
                    <a:moveTo>
                      <a:pt x="0" y="106"/>
                    </a:moveTo>
                    <a:lnTo>
                      <a:pt x="0" y="106"/>
                    </a:lnTo>
                    <a:lnTo>
                      <a:pt x="2" y="55"/>
                    </a:lnTo>
                    <a:lnTo>
                      <a:pt x="92" y="0"/>
                    </a:lnTo>
                    <a:lnTo>
                      <a:pt x="89" y="50"/>
                    </a:lnTo>
                    <a:lnTo>
                      <a:pt x="0" y="106"/>
                    </a:lnTo>
                  </a:path>
                </a:pathLst>
              </a:custGeom>
              <a:solidFill>
                <a:srgbClr val="BB1A50"/>
              </a:solidFill>
              <a:ln w="9525" cap="rnd">
                <a:noFill/>
                <a:round/>
              </a:ln>
            </p:spPr>
            <p:txBody>
              <a:bodyPr/>
              <a:lstStyle/>
              <a:p>
                <a:endParaRPr lang="zh-CN" altLang="en-US"/>
              </a:p>
            </p:txBody>
          </p:sp>
          <p:sp>
            <p:nvSpPr>
              <p:cNvPr id="10589" name="Freeform 53"/>
              <p:cNvSpPr/>
              <p:nvPr/>
            </p:nvSpPr>
            <p:spPr bwMode="auto">
              <a:xfrm>
                <a:off x="2218" y="2310"/>
                <a:ext cx="41" cy="59"/>
              </a:xfrm>
              <a:custGeom>
                <a:avLst/>
                <a:gdLst>
                  <a:gd name="T0" fmla="*/ 37 w 41"/>
                  <a:gd name="T1" fmla="*/ 58 h 59"/>
                  <a:gd name="T2" fmla="*/ 37 w 41"/>
                  <a:gd name="T3" fmla="*/ 58 h 59"/>
                  <a:gd name="T4" fmla="*/ 0 w 41"/>
                  <a:gd name="T5" fmla="*/ 51 h 59"/>
                  <a:gd name="T6" fmla="*/ 2 w 41"/>
                  <a:gd name="T7" fmla="*/ 0 h 59"/>
                  <a:gd name="T8" fmla="*/ 40 w 41"/>
                  <a:gd name="T9" fmla="*/ 8 h 59"/>
                  <a:gd name="T10" fmla="*/ 37 w 41"/>
                  <a:gd name="T11" fmla="*/ 58 h 59"/>
                  <a:gd name="T12" fmla="*/ 0 60000 65536"/>
                  <a:gd name="T13" fmla="*/ 0 60000 65536"/>
                  <a:gd name="T14" fmla="*/ 0 60000 65536"/>
                  <a:gd name="T15" fmla="*/ 0 60000 65536"/>
                  <a:gd name="T16" fmla="*/ 0 60000 65536"/>
                  <a:gd name="T17" fmla="*/ 0 60000 65536"/>
                  <a:gd name="T18" fmla="*/ 0 w 41"/>
                  <a:gd name="T19" fmla="*/ 0 h 59"/>
                  <a:gd name="T20" fmla="*/ 41 w 41"/>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41" h="59">
                    <a:moveTo>
                      <a:pt x="37" y="58"/>
                    </a:moveTo>
                    <a:lnTo>
                      <a:pt x="37" y="58"/>
                    </a:lnTo>
                    <a:lnTo>
                      <a:pt x="0" y="51"/>
                    </a:lnTo>
                    <a:lnTo>
                      <a:pt x="2" y="0"/>
                    </a:lnTo>
                    <a:lnTo>
                      <a:pt x="40" y="8"/>
                    </a:lnTo>
                    <a:lnTo>
                      <a:pt x="37" y="58"/>
                    </a:lnTo>
                  </a:path>
                </a:pathLst>
              </a:custGeom>
              <a:solidFill>
                <a:srgbClr val="9E0005"/>
              </a:solidFill>
              <a:ln w="9525" cap="rnd">
                <a:noFill/>
                <a:round/>
              </a:ln>
            </p:spPr>
            <p:txBody>
              <a:bodyPr/>
              <a:lstStyle/>
              <a:p>
                <a:endParaRPr lang="zh-CN" altLang="en-US"/>
              </a:p>
            </p:txBody>
          </p:sp>
          <p:sp>
            <p:nvSpPr>
              <p:cNvPr id="10590" name="Freeform 54"/>
              <p:cNvSpPr/>
              <p:nvPr/>
            </p:nvSpPr>
            <p:spPr bwMode="auto">
              <a:xfrm>
                <a:off x="2221" y="2253"/>
                <a:ext cx="130" cy="65"/>
              </a:xfrm>
              <a:custGeom>
                <a:avLst/>
                <a:gdLst>
                  <a:gd name="T0" fmla="*/ 39 w 130"/>
                  <a:gd name="T1" fmla="*/ 64 h 65"/>
                  <a:gd name="T2" fmla="*/ 39 w 130"/>
                  <a:gd name="T3" fmla="*/ 64 h 65"/>
                  <a:gd name="T4" fmla="*/ 0 w 130"/>
                  <a:gd name="T5" fmla="*/ 54 h 65"/>
                  <a:gd name="T6" fmla="*/ 92 w 130"/>
                  <a:gd name="T7" fmla="*/ 0 h 65"/>
                  <a:gd name="T8" fmla="*/ 129 w 130"/>
                  <a:gd name="T9" fmla="*/ 9 h 65"/>
                  <a:gd name="T10" fmla="*/ 39 w 130"/>
                  <a:gd name="T11" fmla="*/ 64 h 65"/>
                  <a:gd name="T12" fmla="*/ 0 60000 65536"/>
                  <a:gd name="T13" fmla="*/ 0 60000 65536"/>
                  <a:gd name="T14" fmla="*/ 0 60000 65536"/>
                  <a:gd name="T15" fmla="*/ 0 60000 65536"/>
                  <a:gd name="T16" fmla="*/ 0 60000 65536"/>
                  <a:gd name="T17" fmla="*/ 0 60000 65536"/>
                  <a:gd name="T18" fmla="*/ 0 w 130"/>
                  <a:gd name="T19" fmla="*/ 0 h 65"/>
                  <a:gd name="T20" fmla="*/ 130 w 130"/>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130" h="65">
                    <a:moveTo>
                      <a:pt x="39" y="64"/>
                    </a:moveTo>
                    <a:lnTo>
                      <a:pt x="39" y="64"/>
                    </a:lnTo>
                    <a:lnTo>
                      <a:pt x="0" y="54"/>
                    </a:lnTo>
                    <a:lnTo>
                      <a:pt x="92" y="0"/>
                    </a:lnTo>
                    <a:lnTo>
                      <a:pt x="129" y="9"/>
                    </a:lnTo>
                    <a:lnTo>
                      <a:pt x="39" y="64"/>
                    </a:lnTo>
                  </a:path>
                </a:pathLst>
              </a:custGeom>
              <a:solidFill>
                <a:srgbClr val="CF5C82"/>
              </a:solidFill>
              <a:ln w="9525" cap="rnd">
                <a:noFill/>
                <a:round/>
              </a:ln>
            </p:spPr>
            <p:txBody>
              <a:bodyPr/>
              <a:lstStyle/>
              <a:p>
                <a:endParaRPr lang="zh-CN" altLang="en-US"/>
              </a:p>
            </p:txBody>
          </p:sp>
        </p:grpSp>
        <p:grpSp>
          <p:nvGrpSpPr>
            <p:cNvPr id="9" name="Group 55"/>
            <p:cNvGrpSpPr/>
            <p:nvPr/>
          </p:nvGrpSpPr>
          <p:grpSpPr bwMode="auto">
            <a:xfrm>
              <a:off x="2109" y="2317"/>
              <a:ext cx="144" cy="122"/>
              <a:chOff x="2109" y="2317"/>
              <a:chExt cx="144" cy="122"/>
            </a:xfrm>
          </p:grpSpPr>
          <p:sp>
            <p:nvSpPr>
              <p:cNvPr id="10585" name="Freeform 56"/>
              <p:cNvSpPr/>
              <p:nvPr/>
            </p:nvSpPr>
            <p:spPr bwMode="auto">
              <a:xfrm>
                <a:off x="2154" y="2327"/>
                <a:ext cx="98" cy="112"/>
              </a:xfrm>
              <a:custGeom>
                <a:avLst/>
                <a:gdLst>
                  <a:gd name="T0" fmla="*/ 0 w 98"/>
                  <a:gd name="T1" fmla="*/ 111 h 112"/>
                  <a:gd name="T2" fmla="*/ 0 w 98"/>
                  <a:gd name="T3" fmla="*/ 111 h 112"/>
                  <a:gd name="T4" fmla="*/ 0 w 98"/>
                  <a:gd name="T5" fmla="*/ 61 h 112"/>
                  <a:gd name="T6" fmla="*/ 97 w 98"/>
                  <a:gd name="T7" fmla="*/ 0 h 112"/>
                  <a:gd name="T8" fmla="*/ 94 w 98"/>
                  <a:gd name="T9" fmla="*/ 49 h 112"/>
                  <a:gd name="T10" fmla="*/ 0 w 98"/>
                  <a:gd name="T11" fmla="*/ 111 h 112"/>
                  <a:gd name="T12" fmla="*/ 0 60000 65536"/>
                  <a:gd name="T13" fmla="*/ 0 60000 65536"/>
                  <a:gd name="T14" fmla="*/ 0 60000 65536"/>
                  <a:gd name="T15" fmla="*/ 0 60000 65536"/>
                  <a:gd name="T16" fmla="*/ 0 60000 65536"/>
                  <a:gd name="T17" fmla="*/ 0 60000 65536"/>
                  <a:gd name="T18" fmla="*/ 0 w 98"/>
                  <a:gd name="T19" fmla="*/ 0 h 112"/>
                  <a:gd name="T20" fmla="*/ 98 w 98"/>
                  <a:gd name="T21" fmla="*/ 112 h 112"/>
                </a:gdLst>
                <a:ahLst/>
                <a:cxnLst>
                  <a:cxn ang="T12">
                    <a:pos x="T0" y="T1"/>
                  </a:cxn>
                  <a:cxn ang="T13">
                    <a:pos x="T2" y="T3"/>
                  </a:cxn>
                  <a:cxn ang="T14">
                    <a:pos x="T4" y="T5"/>
                  </a:cxn>
                  <a:cxn ang="T15">
                    <a:pos x="T6" y="T7"/>
                  </a:cxn>
                  <a:cxn ang="T16">
                    <a:pos x="T8" y="T9"/>
                  </a:cxn>
                  <a:cxn ang="T17">
                    <a:pos x="T10" y="T11"/>
                  </a:cxn>
                </a:cxnLst>
                <a:rect l="T18" t="T19" r="T20" b="T21"/>
                <a:pathLst>
                  <a:path w="98" h="112">
                    <a:moveTo>
                      <a:pt x="0" y="111"/>
                    </a:moveTo>
                    <a:lnTo>
                      <a:pt x="0" y="111"/>
                    </a:lnTo>
                    <a:lnTo>
                      <a:pt x="0" y="61"/>
                    </a:lnTo>
                    <a:lnTo>
                      <a:pt x="97" y="0"/>
                    </a:lnTo>
                    <a:lnTo>
                      <a:pt x="94" y="49"/>
                    </a:lnTo>
                    <a:lnTo>
                      <a:pt x="0" y="111"/>
                    </a:lnTo>
                  </a:path>
                </a:pathLst>
              </a:custGeom>
              <a:solidFill>
                <a:srgbClr val="BB1A50"/>
              </a:solidFill>
              <a:ln w="9525" cap="rnd">
                <a:noFill/>
                <a:round/>
              </a:ln>
            </p:spPr>
            <p:txBody>
              <a:bodyPr/>
              <a:lstStyle/>
              <a:p>
                <a:endParaRPr lang="zh-CN" altLang="en-US"/>
              </a:p>
            </p:txBody>
          </p:sp>
          <p:sp>
            <p:nvSpPr>
              <p:cNvPr id="10586" name="Freeform 57"/>
              <p:cNvSpPr/>
              <p:nvPr/>
            </p:nvSpPr>
            <p:spPr bwMode="auto">
              <a:xfrm>
                <a:off x="2109" y="2380"/>
                <a:ext cx="44" cy="59"/>
              </a:xfrm>
              <a:custGeom>
                <a:avLst/>
                <a:gdLst>
                  <a:gd name="T0" fmla="*/ 43 w 44"/>
                  <a:gd name="T1" fmla="*/ 58 h 59"/>
                  <a:gd name="T2" fmla="*/ 43 w 44"/>
                  <a:gd name="T3" fmla="*/ 58 h 59"/>
                  <a:gd name="T4" fmla="*/ 0 w 44"/>
                  <a:gd name="T5" fmla="*/ 51 h 59"/>
                  <a:gd name="T6" fmla="*/ 0 w 44"/>
                  <a:gd name="T7" fmla="*/ 0 h 59"/>
                  <a:gd name="T8" fmla="*/ 43 w 44"/>
                  <a:gd name="T9" fmla="*/ 9 h 59"/>
                  <a:gd name="T10" fmla="*/ 43 w 44"/>
                  <a:gd name="T11" fmla="*/ 58 h 59"/>
                  <a:gd name="T12" fmla="*/ 0 60000 65536"/>
                  <a:gd name="T13" fmla="*/ 0 60000 65536"/>
                  <a:gd name="T14" fmla="*/ 0 60000 65536"/>
                  <a:gd name="T15" fmla="*/ 0 60000 65536"/>
                  <a:gd name="T16" fmla="*/ 0 60000 65536"/>
                  <a:gd name="T17" fmla="*/ 0 60000 65536"/>
                  <a:gd name="T18" fmla="*/ 0 w 44"/>
                  <a:gd name="T19" fmla="*/ 0 h 59"/>
                  <a:gd name="T20" fmla="*/ 44 w 44"/>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44" h="59">
                    <a:moveTo>
                      <a:pt x="43" y="58"/>
                    </a:moveTo>
                    <a:lnTo>
                      <a:pt x="43" y="58"/>
                    </a:lnTo>
                    <a:lnTo>
                      <a:pt x="0" y="51"/>
                    </a:lnTo>
                    <a:lnTo>
                      <a:pt x="0" y="0"/>
                    </a:lnTo>
                    <a:lnTo>
                      <a:pt x="43" y="9"/>
                    </a:lnTo>
                    <a:lnTo>
                      <a:pt x="43" y="58"/>
                    </a:lnTo>
                  </a:path>
                </a:pathLst>
              </a:custGeom>
              <a:solidFill>
                <a:srgbClr val="9E0005"/>
              </a:solidFill>
              <a:ln w="9525" cap="rnd">
                <a:noFill/>
                <a:round/>
              </a:ln>
            </p:spPr>
            <p:txBody>
              <a:bodyPr/>
              <a:lstStyle/>
              <a:p>
                <a:endParaRPr lang="zh-CN" altLang="en-US"/>
              </a:p>
            </p:txBody>
          </p:sp>
          <p:sp>
            <p:nvSpPr>
              <p:cNvPr id="10587" name="Freeform 58"/>
              <p:cNvSpPr/>
              <p:nvPr/>
            </p:nvSpPr>
            <p:spPr bwMode="auto">
              <a:xfrm>
                <a:off x="2110" y="2317"/>
                <a:ext cx="143" cy="71"/>
              </a:xfrm>
              <a:custGeom>
                <a:avLst/>
                <a:gdLst>
                  <a:gd name="T0" fmla="*/ 44 w 143"/>
                  <a:gd name="T1" fmla="*/ 70 h 71"/>
                  <a:gd name="T2" fmla="*/ 44 w 143"/>
                  <a:gd name="T3" fmla="*/ 70 h 71"/>
                  <a:gd name="T4" fmla="*/ 0 w 143"/>
                  <a:gd name="T5" fmla="*/ 61 h 71"/>
                  <a:gd name="T6" fmla="*/ 102 w 143"/>
                  <a:gd name="T7" fmla="*/ 0 h 71"/>
                  <a:gd name="T8" fmla="*/ 142 w 143"/>
                  <a:gd name="T9" fmla="*/ 8 h 71"/>
                  <a:gd name="T10" fmla="*/ 44 w 143"/>
                  <a:gd name="T11" fmla="*/ 70 h 71"/>
                  <a:gd name="T12" fmla="*/ 0 60000 65536"/>
                  <a:gd name="T13" fmla="*/ 0 60000 65536"/>
                  <a:gd name="T14" fmla="*/ 0 60000 65536"/>
                  <a:gd name="T15" fmla="*/ 0 60000 65536"/>
                  <a:gd name="T16" fmla="*/ 0 60000 65536"/>
                  <a:gd name="T17" fmla="*/ 0 60000 65536"/>
                  <a:gd name="T18" fmla="*/ 0 w 143"/>
                  <a:gd name="T19" fmla="*/ 0 h 71"/>
                  <a:gd name="T20" fmla="*/ 143 w 143"/>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143" h="71">
                    <a:moveTo>
                      <a:pt x="44" y="70"/>
                    </a:moveTo>
                    <a:lnTo>
                      <a:pt x="44" y="70"/>
                    </a:lnTo>
                    <a:lnTo>
                      <a:pt x="0" y="61"/>
                    </a:lnTo>
                    <a:lnTo>
                      <a:pt x="102" y="0"/>
                    </a:lnTo>
                    <a:lnTo>
                      <a:pt x="142" y="8"/>
                    </a:lnTo>
                    <a:lnTo>
                      <a:pt x="44" y="70"/>
                    </a:lnTo>
                  </a:path>
                </a:pathLst>
              </a:custGeom>
              <a:solidFill>
                <a:srgbClr val="CF5C82"/>
              </a:solidFill>
              <a:ln w="9525" cap="rnd">
                <a:noFill/>
                <a:round/>
              </a:ln>
            </p:spPr>
            <p:txBody>
              <a:bodyPr/>
              <a:lstStyle/>
              <a:p>
                <a:endParaRPr lang="zh-CN" altLang="en-US"/>
              </a:p>
            </p:txBody>
          </p:sp>
        </p:grpSp>
        <p:sp>
          <p:nvSpPr>
            <p:cNvPr id="10421" name="Freeform 59"/>
            <p:cNvSpPr/>
            <p:nvPr/>
          </p:nvSpPr>
          <p:spPr bwMode="auto">
            <a:xfrm>
              <a:off x="2101" y="2397"/>
              <a:ext cx="47" cy="81"/>
            </a:xfrm>
            <a:custGeom>
              <a:avLst/>
              <a:gdLst>
                <a:gd name="T0" fmla="*/ 0 w 47"/>
                <a:gd name="T1" fmla="*/ 80 h 81"/>
                <a:gd name="T2" fmla="*/ 0 w 47"/>
                <a:gd name="T3" fmla="*/ 80 h 81"/>
                <a:gd name="T4" fmla="*/ 0 w 47"/>
                <a:gd name="T5" fmla="*/ 30 h 81"/>
                <a:gd name="T6" fmla="*/ 46 w 47"/>
                <a:gd name="T7" fmla="*/ 0 h 81"/>
                <a:gd name="T8" fmla="*/ 46 w 47"/>
                <a:gd name="T9" fmla="*/ 49 h 81"/>
                <a:gd name="T10" fmla="*/ 0 w 47"/>
                <a:gd name="T11" fmla="*/ 80 h 81"/>
                <a:gd name="T12" fmla="*/ 0 60000 65536"/>
                <a:gd name="T13" fmla="*/ 0 60000 65536"/>
                <a:gd name="T14" fmla="*/ 0 60000 65536"/>
                <a:gd name="T15" fmla="*/ 0 60000 65536"/>
                <a:gd name="T16" fmla="*/ 0 60000 65536"/>
                <a:gd name="T17" fmla="*/ 0 60000 65536"/>
                <a:gd name="T18" fmla="*/ 0 w 47"/>
                <a:gd name="T19" fmla="*/ 0 h 81"/>
                <a:gd name="T20" fmla="*/ 47 w 47"/>
                <a:gd name="T21" fmla="*/ 81 h 81"/>
              </a:gdLst>
              <a:ahLst/>
              <a:cxnLst>
                <a:cxn ang="T12">
                  <a:pos x="T0" y="T1"/>
                </a:cxn>
                <a:cxn ang="T13">
                  <a:pos x="T2" y="T3"/>
                </a:cxn>
                <a:cxn ang="T14">
                  <a:pos x="T4" y="T5"/>
                </a:cxn>
                <a:cxn ang="T15">
                  <a:pos x="T6" y="T7"/>
                </a:cxn>
                <a:cxn ang="T16">
                  <a:pos x="T8" y="T9"/>
                </a:cxn>
                <a:cxn ang="T17">
                  <a:pos x="T10" y="T11"/>
                </a:cxn>
              </a:cxnLst>
              <a:rect l="T18" t="T19" r="T20" b="T21"/>
              <a:pathLst>
                <a:path w="47" h="81">
                  <a:moveTo>
                    <a:pt x="0" y="80"/>
                  </a:moveTo>
                  <a:lnTo>
                    <a:pt x="0" y="80"/>
                  </a:lnTo>
                  <a:lnTo>
                    <a:pt x="0" y="30"/>
                  </a:lnTo>
                  <a:lnTo>
                    <a:pt x="46" y="0"/>
                  </a:lnTo>
                  <a:lnTo>
                    <a:pt x="46" y="49"/>
                  </a:lnTo>
                  <a:lnTo>
                    <a:pt x="0" y="80"/>
                  </a:lnTo>
                </a:path>
              </a:pathLst>
            </a:custGeom>
            <a:solidFill>
              <a:srgbClr val="BB1A50"/>
            </a:solidFill>
            <a:ln w="9525" cap="rnd">
              <a:noFill/>
              <a:round/>
            </a:ln>
          </p:spPr>
          <p:txBody>
            <a:bodyPr/>
            <a:lstStyle/>
            <a:p>
              <a:endParaRPr lang="zh-CN" altLang="en-US"/>
            </a:p>
          </p:txBody>
        </p:sp>
        <p:sp>
          <p:nvSpPr>
            <p:cNvPr id="10422" name="Freeform 60"/>
            <p:cNvSpPr/>
            <p:nvPr/>
          </p:nvSpPr>
          <p:spPr bwMode="auto">
            <a:xfrm>
              <a:off x="2057" y="2387"/>
              <a:ext cx="91" cy="39"/>
            </a:xfrm>
            <a:custGeom>
              <a:avLst/>
              <a:gdLst>
                <a:gd name="T0" fmla="*/ 43 w 91"/>
                <a:gd name="T1" fmla="*/ 38 h 39"/>
                <a:gd name="T2" fmla="*/ 43 w 91"/>
                <a:gd name="T3" fmla="*/ 38 h 39"/>
                <a:gd name="T4" fmla="*/ 0 w 91"/>
                <a:gd name="T5" fmla="*/ 28 h 39"/>
                <a:gd name="T6" fmla="*/ 46 w 91"/>
                <a:gd name="T7" fmla="*/ 0 h 39"/>
                <a:gd name="T8" fmla="*/ 90 w 91"/>
                <a:gd name="T9" fmla="*/ 9 h 39"/>
                <a:gd name="T10" fmla="*/ 43 w 91"/>
                <a:gd name="T11" fmla="*/ 38 h 39"/>
                <a:gd name="T12" fmla="*/ 0 60000 65536"/>
                <a:gd name="T13" fmla="*/ 0 60000 65536"/>
                <a:gd name="T14" fmla="*/ 0 60000 65536"/>
                <a:gd name="T15" fmla="*/ 0 60000 65536"/>
                <a:gd name="T16" fmla="*/ 0 60000 65536"/>
                <a:gd name="T17" fmla="*/ 0 60000 65536"/>
                <a:gd name="T18" fmla="*/ 0 w 91"/>
                <a:gd name="T19" fmla="*/ 0 h 39"/>
                <a:gd name="T20" fmla="*/ 91 w 91"/>
                <a:gd name="T21" fmla="*/ 39 h 39"/>
              </a:gdLst>
              <a:ahLst/>
              <a:cxnLst>
                <a:cxn ang="T12">
                  <a:pos x="T0" y="T1"/>
                </a:cxn>
                <a:cxn ang="T13">
                  <a:pos x="T2" y="T3"/>
                </a:cxn>
                <a:cxn ang="T14">
                  <a:pos x="T4" y="T5"/>
                </a:cxn>
                <a:cxn ang="T15">
                  <a:pos x="T6" y="T7"/>
                </a:cxn>
                <a:cxn ang="T16">
                  <a:pos x="T8" y="T9"/>
                </a:cxn>
                <a:cxn ang="T17">
                  <a:pos x="T10" y="T11"/>
                </a:cxn>
              </a:cxnLst>
              <a:rect l="T18" t="T19" r="T20" b="T21"/>
              <a:pathLst>
                <a:path w="91" h="39">
                  <a:moveTo>
                    <a:pt x="43" y="38"/>
                  </a:moveTo>
                  <a:lnTo>
                    <a:pt x="43" y="38"/>
                  </a:lnTo>
                  <a:lnTo>
                    <a:pt x="0" y="28"/>
                  </a:lnTo>
                  <a:lnTo>
                    <a:pt x="46" y="0"/>
                  </a:lnTo>
                  <a:lnTo>
                    <a:pt x="90" y="9"/>
                  </a:lnTo>
                  <a:lnTo>
                    <a:pt x="43" y="38"/>
                  </a:lnTo>
                </a:path>
              </a:pathLst>
            </a:custGeom>
            <a:solidFill>
              <a:srgbClr val="CF5C82"/>
            </a:solidFill>
            <a:ln w="9525" cap="rnd">
              <a:noFill/>
              <a:round/>
            </a:ln>
          </p:spPr>
          <p:txBody>
            <a:bodyPr/>
            <a:lstStyle/>
            <a:p>
              <a:endParaRPr lang="zh-CN" altLang="en-US"/>
            </a:p>
          </p:txBody>
        </p:sp>
        <p:sp>
          <p:nvSpPr>
            <p:cNvPr id="10423" name="Freeform 61"/>
            <p:cNvSpPr/>
            <p:nvPr/>
          </p:nvSpPr>
          <p:spPr bwMode="auto">
            <a:xfrm>
              <a:off x="2440" y="2198"/>
              <a:ext cx="17" cy="52"/>
            </a:xfrm>
            <a:custGeom>
              <a:avLst/>
              <a:gdLst>
                <a:gd name="T0" fmla="*/ 0 w 17"/>
                <a:gd name="T1" fmla="*/ 51 h 52"/>
                <a:gd name="T2" fmla="*/ 0 w 17"/>
                <a:gd name="T3" fmla="*/ 51 h 52"/>
                <a:gd name="T4" fmla="*/ 0 w 17"/>
                <a:gd name="T5" fmla="*/ 23 h 52"/>
                <a:gd name="T6" fmla="*/ 0 w 17"/>
                <a:gd name="T7" fmla="*/ 9 h 52"/>
                <a:gd name="T8" fmla="*/ 4 w 17"/>
                <a:gd name="T9" fmla="*/ 2 h 52"/>
                <a:gd name="T10" fmla="*/ 4 w 17"/>
                <a:gd name="T11" fmla="*/ 0 h 52"/>
                <a:gd name="T12" fmla="*/ 11 w 17"/>
                <a:gd name="T13" fmla="*/ 0 h 52"/>
                <a:gd name="T14" fmla="*/ 16 w 17"/>
                <a:gd name="T15" fmla="*/ 0 h 52"/>
                <a:gd name="T16" fmla="*/ 11 w 17"/>
                <a:gd name="T17" fmla="*/ 20 h 52"/>
                <a:gd name="T18" fmla="*/ 11 w 17"/>
                <a:gd name="T19" fmla="*/ 44 h 52"/>
                <a:gd name="T20" fmla="*/ 4 w 17"/>
                <a:gd name="T21" fmla="*/ 44 h 52"/>
                <a:gd name="T22" fmla="*/ 0 w 17"/>
                <a:gd name="T23" fmla="*/ 48 h 52"/>
                <a:gd name="T24" fmla="*/ 0 w 17"/>
                <a:gd name="T25" fmla="*/ 51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
                <a:gd name="T40" fmla="*/ 0 h 52"/>
                <a:gd name="T41" fmla="*/ 17 w 17"/>
                <a:gd name="T42" fmla="*/ 52 h 5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 h="52">
                  <a:moveTo>
                    <a:pt x="0" y="51"/>
                  </a:moveTo>
                  <a:lnTo>
                    <a:pt x="0" y="51"/>
                  </a:lnTo>
                  <a:lnTo>
                    <a:pt x="0" y="23"/>
                  </a:lnTo>
                  <a:lnTo>
                    <a:pt x="0" y="9"/>
                  </a:lnTo>
                  <a:lnTo>
                    <a:pt x="4" y="2"/>
                  </a:lnTo>
                  <a:lnTo>
                    <a:pt x="4" y="0"/>
                  </a:lnTo>
                  <a:lnTo>
                    <a:pt x="11" y="0"/>
                  </a:lnTo>
                  <a:lnTo>
                    <a:pt x="16" y="0"/>
                  </a:lnTo>
                  <a:lnTo>
                    <a:pt x="11" y="20"/>
                  </a:lnTo>
                  <a:lnTo>
                    <a:pt x="11" y="44"/>
                  </a:lnTo>
                  <a:lnTo>
                    <a:pt x="4" y="44"/>
                  </a:lnTo>
                  <a:lnTo>
                    <a:pt x="0" y="48"/>
                  </a:lnTo>
                  <a:lnTo>
                    <a:pt x="0" y="51"/>
                  </a:lnTo>
                </a:path>
              </a:pathLst>
            </a:custGeom>
            <a:solidFill>
              <a:srgbClr val="BDB597"/>
            </a:solidFill>
            <a:ln w="9525" cap="rnd">
              <a:noFill/>
              <a:round/>
            </a:ln>
          </p:spPr>
          <p:txBody>
            <a:bodyPr/>
            <a:lstStyle/>
            <a:p>
              <a:endParaRPr lang="zh-CN" altLang="en-US"/>
            </a:p>
          </p:txBody>
        </p:sp>
        <p:sp>
          <p:nvSpPr>
            <p:cNvPr id="10424" name="Freeform 62"/>
            <p:cNvSpPr/>
            <p:nvPr/>
          </p:nvSpPr>
          <p:spPr bwMode="auto">
            <a:xfrm>
              <a:off x="2098" y="2142"/>
              <a:ext cx="428" cy="284"/>
            </a:xfrm>
            <a:custGeom>
              <a:avLst/>
              <a:gdLst>
                <a:gd name="T0" fmla="*/ 427 w 428"/>
                <a:gd name="T1" fmla="*/ 0 h 284"/>
                <a:gd name="T2" fmla="*/ 427 w 428"/>
                <a:gd name="T3" fmla="*/ 0 h 284"/>
                <a:gd name="T4" fmla="*/ 0 w 428"/>
                <a:gd name="T5" fmla="*/ 276 h 284"/>
                <a:gd name="T6" fmla="*/ 3 w 428"/>
                <a:gd name="T7" fmla="*/ 283 h 284"/>
                <a:gd name="T8" fmla="*/ 423 w 428"/>
                <a:gd name="T9" fmla="*/ 6 h 284"/>
                <a:gd name="T10" fmla="*/ 427 w 428"/>
                <a:gd name="T11" fmla="*/ 0 h 284"/>
                <a:gd name="T12" fmla="*/ 0 60000 65536"/>
                <a:gd name="T13" fmla="*/ 0 60000 65536"/>
                <a:gd name="T14" fmla="*/ 0 60000 65536"/>
                <a:gd name="T15" fmla="*/ 0 60000 65536"/>
                <a:gd name="T16" fmla="*/ 0 60000 65536"/>
                <a:gd name="T17" fmla="*/ 0 60000 65536"/>
                <a:gd name="T18" fmla="*/ 0 w 428"/>
                <a:gd name="T19" fmla="*/ 0 h 284"/>
                <a:gd name="T20" fmla="*/ 428 w 428"/>
                <a:gd name="T21" fmla="*/ 284 h 284"/>
              </a:gdLst>
              <a:ahLst/>
              <a:cxnLst>
                <a:cxn ang="T12">
                  <a:pos x="T0" y="T1"/>
                </a:cxn>
                <a:cxn ang="T13">
                  <a:pos x="T2" y="T3"/>
                </a:cxn>
                <a:cxn ang="T14">
                  <a:pos x="T4" y="T5"/>
                </a:cxn>
                <a:cxn ang="T15">
                  <a:pos x="T6" y="T7"/>
                </a:cxn>
                <a:cxn ang="T16">
                  <a:pos x="T8" y="T9"/>
                </a:cxn>
                <a:cxn ang="T17">
                  <a:pos x="T10" y="T11"/>
                </a:cxn>
              </a:cxnLst>
              <a:rect l="T18" t="T19" r="T20" b="T21"/>
              <a:pathLst>
                <a:path w="428" h="284">
                  <a:moveTo>
                    <a:pt x="427" y="0"/>
                  </a:moveTo>
                  <a:lnTo>
                    <a:pt x="427" y="0"/>
                  </a:lnTo>
                  <a:lnTo>
                    <a:pt x="0" y="276"/>
                  </a:lnTo>
                  <a:lnTo>
                    <a:pt x="3" y="283"/>
                  </a:lnTo>
                  <a:lnTo>
                    <a:pt x="423" y="6"/>
                  </a:lnTo>
                  <a:lnTo>
                    <a:pt x="427" y="0"/>
                  </a:lnTo>
                </a:path>
              </a:pathLst>
            </a:custGeom>
            <a:solidFill>
              <a:srgbClr val="BDB597"/>
            </a:solidFill>
            <a:ln w="9525" cap="rnd">
              <a:noFill/>
              <a:round/>
            </a:ln>
          </p:spPr>
          <p:txBody>
            <a:bodyPr/>
            <a:lstStyle/>
            <a:p>
              <a:endParaRPr lang="zh-CN" altLang="en-US"/>
            </a:p>
          </p:txBody>
        </p:sp>
        <p:sp>
          <p:nvSpPr>
            <p:cNvPr id="10425" name="Freeform 63"/>
            <p:cNvSpPr/>
            <p:nvPr/>
          </p:nvSpPr>
          <p:spPr bwMode="auto">
            <a:xfrm>
              <a:off x="2350" y="2259"/>
              <a:ext cx="17" cy="52"/>
            </a:xfrm>
            <a:custGeom>
              <a:avLst/>
              <a:gdLst>
                <a:gd name="T0" fmla="*/ 0 w 17"/>
                <a:gd name="T1" fmla="*/ 51 h 52"/>
                <a:gd name="T2" fmla="*/ 0 w 17"/>
                <a:gd name="T3" fmla="*/ 51 h 52"/>
                <a:gd name="T4" fmla="*/ 0 w 17"/>
                <a:gd name="T5" fmla="*/ 24 h 52"/>
                <a:gd name="T6" fmla="*/ 0 w 17"/>
                <a:gd name="T7" fmla="*/ 15 h 52"/>
                <a:gd name="T8" fmla="*/ 0 w 17"/>
                <a:gd name="T9" fmla="*/ 8 h 52"/>
                <a:gd name="T10" fmla="*/ 4 w 17"/>
                <a:gd name="T11" fmla="*/ 2 h 52"/>
                <a:gd name="T12" fmla="*/ 4 w 17"/>
                <a:gd name="T13" fmla="*/ 0 h 52"/>
                <a:gd name="T14" fmla="*/ 11 w 17"/>
                <a:gd name="T15" fmla="*/ 0 h 52"/>
                <a:gd name="T16" fmla="*/ 16 w 17"/>
                <a:gd name="T17" fmla="*/ 0 h 52"/>
                <a:gd name="T18" fmla="*/ 11 w 17"/>
                <a:gd name="T19" fmla="*/ 20 h 52"/>
                <a:gd name="T20" fmla="*/ 11 w 17"/>
                <a:gd name="T21" fmla="*/ 39 h 52"/>
                <a:gd name="T22" fmla="*/ 11 w 17"/>
                <a:gd name="T23" fmla="*/ 44 h 52"/>
                <a:gd name="T24" fmla="*/ 4 w 17"/>
                <a:gd name="T25" fmla="*/ 44 h 52"/>
                <a:gd name="T26" fmla="*/ 4 w 17"/>
                <a:gd name="T27" fmla="*/ 48 h 52"/>
                <a:gd name="T28" fmla="*/ 0 w 17"/>
                <a:gd name="T29" fmla="*/ 48 h 52"/>
                <a:gd name="T30" fmla="*/ 0 w 17"/>
                <a:gd name="T31" fmla="*/ 51 h 5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
                <a:gd name="T49" fmla="*/ 0 h 52"/>
                <a:gd name="T50" fmla="*/ 17 w 17"/>
                <a:gd name="T51" fmla="*/ 52 h 5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 h="52">
                  <a:moveTo>
                    <a:pt x="0" y="51"/>
                  </a:moveTo>
                  <a:lnTo>
                    <a:pt x="0" y="51"/>
                  </a:lnTo>
                  <a:lnTo>
                    <a:pt x="0" y="24"/>
                  </a:lnTo>
                  <a:lnTo>
                    <a:pt x="0" y="15"/>
                  </a:lnTo>
                  <a:lnTo>
                    <a:pt x="0" y="8"/>
                  </a:lnTo>
                  <a:lnTo>
                    <a:pt x="4" y="2"/>
                  </a:lnTo>
                  <a:lnTo>
                    <a:pt x="4" y="0"/>
                  </a:lnTo>
                  <a:lnTo>
                    <a:pt x="11" y="0"/>
                  </a:lnTo>
                  <a:lnTo>
                    <a:pt x="16" y="0"/>
                  </a:lnTo>
                  <a:lnTo>
                    <a:pt x="11" y="20"/>
                  </a:lnTo>
                  <a:lnTo>
                    <a:pt x="11" y="39"/>
                  </a:lnTo>
                  <a:lnTo>
                    <a:pt x="11" y="44"/>
                  </a:lnTo>
                  <a:lnTo>
                    <a:pt x="4" y="44"/>
                  </a:lnTo>
                  <a:lnTo>
                    <a:pt x="4" y="48"/>
                  </a:lnTo>
                  <a:lnTo>
                    <a:pt x="0" y="48"/>
                  </a:lnTo>
                  <a:lnTo>
                    <a:pt x="0" y="51"/>
                  </a:lnTo>
                </a:path>
              </a:pathLst>
            </a:custGeom>
            <a:solidFill>
              <a:srgbClr val="BDB597"/>
            </a:solidFill>
            <a:ln w="9525" cap="rnd">
              <a:noFill/>
              <a:round/>
            </a:ln>
          </p:spPr>
          <p:txBody>
            <a:bodyPr/>
            <a:lstStyle/>
            <a:p>
              <a:endParaRPr lang="zh-CN" altLang="en-US"/>
            </a:p>
          </p:txBody>
        </p:sp>
        <p:sp>
          <p:nvSpPr>
            <p:cNvPr id="10426" name="Freeform 64"/>
            <p:cNvSpPr/>
            <p:nvPr/>
          </p:nvSpPr>
          <p:spPr bwMode="auto">
            <a:xfrm>
              <a:off x="2251" y="2320"/>
              <a:ext cx="17" cy="55"/>
            </a:xfrm>
            <a:custGeom>
              <a:avLst/>
              <a:gdLst>
                <a:gd name="T0" fmla="*/ 0 w 17"/>
                <a:gd name="T1" fmla="*/ 54 h 55"/>
                <a:gd name="T2" fmla="*/ 0 w 17"/>
                <a:gd name="T3" fmla="*/ 54 h 55"/>
                <a:gd name="T4" fmla="*/ 0 w 17"/>
                <a:gd name="T5" fmla="*/ 47 h 55"/>
                <a:gd name="T6" fmla="*/ 0 w 17"/>
                <a:gd name="T7" fmla="*/ 38 h 55"/>
                <a:gd name="T8" fmla="*/ 0 w 17"/>
                <a:gd name="T9" fmla="*/ 29 h 55"/>
                <a:gd name="T10" fmla="*/ 0 w 17"/>
                <a:gd name="T11" fmla="*/ 18 h 55"/>
                <a:gd name="T12" fmla="*/ 0 w 17"/>
                <a:gd name="T13" fmla="*/ 11 h 55"/>
                <a:gd name="T14" fmla="*/ 0 w 17"/>
                <a:gd name="T15" fmla="*/ 6 h 55"/>
                <a:gd name="T16" fmla="*/ 5 w 17"/>
                <a:gd name="T17" fmla="*/ 2 h 55"/>
                <a:gd name="T18" fmla="*/ 10 w 17"/>
                <a:gd name="T19" fmla="*/ 0 h 55"/>
                <a:gd name="T20" fmla="*/ 16 w 17"/>
                <a:gd name="T21" fmla="*/ 0 h 55"/>
                <a:gd name="T22" fmla="*/ 16 w 17"/>
                <a:gd name="T23" fmla="*/ 24 h 55"/>
                <a:gd name="T24" fmla="*/ 10 w 17"/>
                <a:gd name="T25" fmla="*/ 42 h 55"/>
                <a:gd name="T26" fmla="*/ 10 w 17"/>
                <a:gd name="T27" fmla="*/ 47 h 55"/>
                <a:gd name="T28" fmla="*/ 10 w 17"/>
                <a:gd name="T29" fmla="*/ 51 h 55"/>
                <a:gd name="T30" fmla="*/ 5 w 17"/>
                <a:gd name="T31" fmla="*/ 51 h 55"/>
                <a:gd name="T32" fmla="*/ 5 w 17"/>
                <a:gd name="T33" fmla="*/ 54 h 55"/>
                <a:gd name="T34" fmla="*/ 0 w 17"/>
                <a:gd name="T35" fmla="*/ 54 h 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55"/>
                <a:gd name="T56" fmla="*/ 17 w 17"/>
                <a:gd name="T57" fmla="*/ 55 h 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55">
                  <a:moveTo>
                    <a:pt x="0" y="54"/>
                  </a:moveTo>
                  <a:lnTo>
                    <a:pt x="0" y="54"/>
                  </a:lnTo>
                  <a:lnTo>
                    <a:pt x="0" y="47"/>
                  </a:lnTo>
                  <a:lnTo>
                    <a:pt x="0" y="38"/>
                  </a:lnTo>
                  <a:lnTo>
                    <a:pt x="0" y="29"/>
                  </a:lnTo>
                  <a:lnTo>
                    <a:pt x="0" y="18"/>
                  </a:lnTo>
                  <a:lnTo>
                    <a:pt x="0" y="11"/>
                  </a:lnTo>
                  <a:lnTo>
                    <a:pt x="0" y="6"/>
                  </a:lnTo>
                  <a:lnTo>
                    <a:pt x="5" y="2"/>
                  </a:lnTo>
                  <a:lnTo>
                    <a:pt x="10" y="0"/>
                  </a:lnTo>
                  <a:lnTo>
                    <a:pt x="16" y="0"/>
                  </a:lnTo>
                  <a:lnTo>
                    <a:pt x="16" y="24"/>
                  </a:lnTo>
                  <a:lnTo>
                    <a:pt x="10" y="42"/>
                  </a:lnTo>
                  <a:lnTo>
                    <a:pt x="10" y="47"/>
                  </a:lnTo>
                  <a:lnTo>
                    <a:pt x="10" y="51"/>
                  </a:lnTo>
                  <a:lnTo>
                    <a:pt x="5" y="51"/>
                  </a:lnTo>
                  <a:lnTo>
                    <a:pt x="5" y="54"/>
                  </a:lnTo>
                  <a:lnTo>
                    <a:pt x="0" y="54"/>
                  </a:lnTo>
                </a:path>
              </a:pathLst>
            </a:custGeom>
            <a:solidFill>
              <a:srgbClr val="BDB597"/>
            </a:solidFill>
            <a:ln w="9525" cap="rnd">
              <a:noFill/>
              <a:round/>
            </a:ln>
          </p:spPr>
          <p:txBody>
            <a:bodyPr/>
            <a:lstStyle/>
            <a:p>
              <a:endParaRPr lang="zh-CN" altLang="en-US"/>
            </a:p>
          </p:txBody>
        </p:sp>
        <p:sp>
          <p:nvSpPr>
            <p:cNvPr id="10427" name="Freeform 65"/>
            <p:cNvSpPr/>
            <p:nvPr/>
          </p:nvSpPr>
          <p:spPr bwMode="auto">
            <a:xfrm>
              <a:off x="2147" y="2390"/>
              <a:ext cx="17" cy="59"/>
            </a:xfrm>
            <a:custGeom>
              <a:avLst/>
              <a:gdLst>
                <a:gd name="T0" fmla="*/ 6 w 17"/>
                <a:gd name="T1" fmla="*/ 58 h 59"/>
                <a:gd name="T2" fmla="*/ 6 w 17"/>
                <a:gd name="T3" fmla="*/ 58 h 59"/>
                <a:gd name="T4" fmla="*/ 0 w 17"/>
                <a:gd name="T5" fmla="*/ 48 h 59"/>
                <a:gd name="T6" fmla="*/ 0 w 17"/>
                <a:gd name="T7" fmla="*/ 30 h 59"/>
                <a:gd name="T8" fmla="*/ 0 w 17"/>
                <a:gd name="T9" fmla="*/ 21 h 59"/>
                <a:gd name="T10" fmla="*/ 6 w 17"/>
                <a:gd name="T11" fmla="*/ 11 h 59"/>
                <a:gd name="T12" fmla="*/ 6 w 17"/>
                <a:gd name="T13" fmla="*/ 6 h 59"/>
                <a:gd name="T14" fmla="*/ 6 w 17"/>
                <a:gd name="T15" fmla="*/ 2 h 59"/>
                <a:gd name="T16" fmla="*/ 10 w 17"/>
                <a:gd name="T17" fmla="*/ 2 h 59"/>
                <a:gd name="T18" fmla="*/ 10 w 17"/>
                <a:gd name="T19" fmla="*/ 0 h 59"/>
                <a:gd name="T20" fmla="*/ 16 w 17"/>
                <a:gd name="T21" fmla="*/ 0 h 59"/>
                <a:gd name="T22" fmla="*/ 16 w 17"/>
                <a:gd name="T23" fmla="*/ 24 h 59"/>
                <a:gd name="T24" fmla="*/ 16 w 17"/>
                <a:gd name="T25" fmla="*/ 42 h 59"/>
                <a:gd name="T26" fmla="*/ 16 w 17"/>
                <a:gd name="T27" fmla="*/ 51 h 59"/>
                <a:gd name="T28" fmla="*/ 10 w 17"/>
                <a:gd name="T29" fmla="*/ 51 h 59"/>
                <a:gd name="T30" fmla="*/ 6 w 17"/>
                <a:gd name="T31" fmla="*/ 51 h 59"/>
                <a:gd name="T32" fmla="*/ 6 w 17"/>
                <a:gd name="T33" fmla="*/ 55 h 59"/>
                <a:gd name="T34" fmla="*/ 6 w 17"/>
                <a:gd name="T35" fmla="*/ 58 h 5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59"/>
                <a:gd name="T56" fmla="*/ 17 w 17"/>
                <a:gd name="T57" fmla="*/ 59 h 5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59">
                  <a:moveTo>
                    <a:pt x="6" y="58"/>
                  </a:moveTo>
                  <a:lnTo>
                    <a:pt x="6" y="58"/>
                  </a:lnTo>
                  <a:lnTo>
                    <a:pt x="0" y="48"/>
                  </a:lnTo>
                  <a:lnTo>
                    <a:pt x="0" y="30"/>
                  </a:lnTo>
                  <a:lnTo>
                    <a:pt x="0" y="21"/>
                  </a:lnTo>
                  <a:lnTo>
                    <a:pt x="6" y="11"/>
                  </a:lnTo>
                  <a:lnTo>
                    <a:pt x="6" y="6"/>
                  </a:lnTo>
                  <a:lnTo>
                    <a:pt x="6" y="2"/>
                  </a:lnTo>
                  <a:lnTo>
                    <a:pt x="10" y="2"/>
                  </a:lnTo>
                  <a:lnTo>
                    <a:pt x="10" y="0"/>
                  </a:lnTo>
                  <a:lnTo>
                    <a:pt x="16" y="0"/>
                  </a:lnTo>
                  <a:lnTo>
                    <a:pt x="16" y="24"/>
                  </a:lnTo>
                  <a:lnTo>
                    <a:pt x="16" y="42"/>
                  </a:lnTo>
                  <a:lnTo>
                    <a:pt x="16" y="51"/>
                  </a:lnTo>
                  <a:lnTo>
                    <a:pt x="10" y="51"/>
                  </a:lnTo>
                  <a:lnTo>
                    <a:pt x="6" y="51"/>
                  </a:lnTo>
                  <a:lnTo>
                    <a:pt x="6" y="55"/>
                  </a:lnTo>
                  <a:lnTo>
                    <a:pt x="6" y="58"/>
                  </a:lnTo>
                </a:path>
              </a:pathLst>
            </a:custGeom>
            <a:solidFill>
              <a:srgbClr val="BDB597"/>
            </a:solidFill>
            <a:ln w="9525" cap="rnd">
              <a:noFill/>
              <a:round/>
            </a:ln>
          </p:spPr>
          <p:txBody>
            <a:bodyPr/>
            <a:lstStyle/>
            <a:p>
              <a:endParaRPr lang="zh-CN" altLang="en-US"/>
            </a:p>
          </p:txBody>
        </p:sp>
        <p:sp>
          <p:nvSpPr>
            <p:cNvPr id="10428" name="Freeform 66"/>
            <p:cNvSpPr/>
            <p:nvPr/>
          </p:nvSpPr>
          <p:spPr bwMode="auto">
            <a:xfrm>
              <a:off x="2057" y="2419"/>
              <a:ext cx="43" cy="59"/>
            </a:xfrm>
            <a:custGeom>
              <a:avLst/>
              <a:gdLst>
                <a:gd name="T0" fmla="*/ 42 w 43"/>
                <a:gd name="T1" fmla="*/ 58 h 59"/>
                <a:gd name="T2" fmla="*/ 42 w 43"/>
                <a:gd name="T3" fmla="*/ 58 h 59"/>
                <a:gd name="T4" fmla="*/ 0 w 43"/>
                <a:gd name="T5" fmla="*/ 51 h 59"/>
                <a:gd name="T6" fmla="*/ 0 w 43"/>
                <a:gd name="T7" fmla="*/ 0 h 59"/>
                <a:gd name="T8" fmla="*/ 42 w 43"/>
                <a:gd name="T9" fmla="*/ 8 h 59"/>
                <a:gd name="T10" fmla="*/ 42 w 43"/>
                <a:gd name="T11" fmla="*/ 58 h 59"/>
                <a:gd name="T12" fmla="*/ 0 60000 65536"/>
                <a:gd name="T13" fmla="*/ 0 60000 65536"/>
                <a:gd name="T14" fmla="*/ 0 60000 65536"/>
                <a:gd name="T15" fmla="*/ 0 60000 65536"/>
                <a:gd name="T16" fmla="*/ 0 60000 65536"/>
                <a:gd name="T17" fmla="*/ 0 60000 65536"/>
                <a:gd name="T18" fmla="*/ 0 w 43"/>
                <a:gd name="T19" fmla="*/ 0 h 59"/>
                <a:gd name="T20" fmla="*/ 43 w 43"/>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43" h="59">
                  <a:moveTo>
                    <a:pt x="42" y="58"/>
                  </a:moveTo>
                  <a:lnTo>
                    <a:pt x="42" y="58"/>
                  </a:lnTo>
                  <a:lnTo>
                    <a:pt x="0" y="51"/>
                  </a:lnTo>
                  <a:lnTo>
                    <a:pt x="0" y="0"/>
                  </a:lnTo>
                  <a:lnTo>
                    <a:pt x="42" y="8"/>
                  </a:lnTo>
                  <a:lnTo>
                    <a:pt x="42" y="58"/>
                  </a:lnTo>
                </a:path>
              </a:pathLst>
            </a:custGeom>
            <a:solidFill>
              <a:srgbClr val="9E0005"/>
            </a:solidFill>
            <a:ln w="9525" cap="rnd">
              <a:noFill/>
              <a:round/>
            </a:ln>
          </p:spPr>
          <p:txBody>
            <a:bodyPr/>
            <a:lstStyle/>
            <a:p>
              <a:endParaRPr lang="zh-CN" altLang="en-US"/>
            </a:p>
          </p:txBody>
        </p:sp>
        <p:sp>
          <p:nvSpPr>
            <p:cNvPr id="10429" name="Freeform 67"/>
            <p:cNvSpPr/>
            <p:nvPr/>
          </p:nvSpPr>
          <p:spPr bwMode="auto">
            <a:xfrm>
              <a:off x="2053" y="2474"/>
              <a:ext cx="47" cy="17"/>
            </a:xfrm>
            <a:custGeom>
              <a:avLst/>
              <a:gdLst>
                <a:gd name="T0" fmla="*/ 43 w 47"/>
                <a:gd name="T1" fmla="*/ 16 h 17"/>
                <a:gd name="T2" fmla="*/ 43 w 47"/>
                <a:gd name="T3" fmla="*/ 16 h 17"/>
                <a:gd name="T4" fmla="*/ 46 w 47"/>
                <a:gd name="T5" fmla="*/ 16 h 17"/>
                <a:gd name="T6" fmla="*/ 46 w 47"/>
                <a:gd name="T7" fmla="*/ 12 h 17"/>
                <a:gd name="T8" fmla="*/ 46 w 47"/>
                <a:gd name="T9" fmla="*/ 9 h 17"/>
                <a:gd name="T10" fmla="*/ 46 w 47"/>
                <a:gd name="T11" fmla="*/ 6 h 17"/>
                <a:gd name="T12" fmla="*/ 24 w 47"/>
                <a:gd name="T13" fmla="*/ 3 h 17"/>
                <a:gd name="T14" fmla="*/ 8 w 47"/>
                <a:gd name="T15" fmla="*/ 0 h 17"/>
                <a:gd name="T16" fmla="*/ 2 w 47"/>
                <a:gd name="T17" fmla="*/ 0 h 17"/>
                <a:gd name="T18" fmla="*/ 0 w 47"/>
                <a:gd name="T19" fmla="*/ 0 h 17"/>
                <a:gd name="T20" fmla="*/ 0 w 47"/>
                <a:gd name="T21" fmla="*/ 3 h 17"/>
                <a:gd name="T22" fmla="*/ 0 w 47"/>
                <a:gd name="T23" fmla="*/ 6 h 17"/>
                <a:gd name="T24" fmla="*/ 2 w 47"/>
                <a:gd name="T25" fmla="*/ 6 h 17"/>
                <a:gd name="T26" fmla="*/ 8 w 47"/>
                <a:gd name="T27" fmla="*/ 9 h 17"/>
                <a:gd name="T28" fmla="*/ 21 w 47"/>
                <a:gd name="T29" fmla="*/ 9 h 17"/>
                <a:gd name="T30" fmla="*/ 29 w 47"/>
                <a:gd name="T31" fmla="*/ 9 h 17"/>
                <a:gd name="T32" fmla="*/ 32 w 47"/>
                <a:gd name="T33" fmla="*/ 12 h 17"/>
                <a:gd name="T34" fmla="*/ 35 w 47"/>
                <a:gd name="T35" fmla="*/ 12 h 17"/>
                <a:gd name="T36" fmla="*/ 37 w 47"/>
                <a:gd name="T37" fmla="*/ 12 h 17"/>
                <a:gd name="T38" fmla="*/ 40 w 47"/>
                <a:gd name="T39" fmla="*/ 12 h 17"/>
                <a:gd name="T40" fmla="*/ 43 w 47"/>
                <a:gd name="T41" fmla="*/ 12 h 17"/>
                <a:gd name="T42" fmla="*/ 43 w 47"/>
                <a:gd name="T43" fmla="*/ 16 h 1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7"/>
                <a:gd name="T67" fmla="*/ 0 h 17"/>
                <a:gd name="T68" fmla="*/ 47 w 47"/>
                <a:gd name="T69" fmla="*/ 17 h 1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7" h="17">
                  <a:moveTo>
                    <a:pt x="43" y="16"/>
                  </a:moveTo>
                  <a:lnTo>
                    <a:pt x="43" y="16"/>
                  </a:lnTo>
                  <a:lnTo>
                    <a:pt x="46" y="16"/>
                  </a:lnTo>
                  <a:lnTo>
                    <a:pt x="46" y="12"/>
                  </a:lnTo>
                  <a:lnTo>
                    <a:pt x="46" y="9"/>
                  </a:lnTo>
                  <a:lnTo>
                    <a:pt x="46" y="6"/>
                  </a:lnTo>
                  <a:lnTo>
                    <a:pt x="24" y="3"/>
                  </a:lnTo>
                  <a:lnTo>
                    <a:pt x="8" y="0"/>
                  </a:lnTo>
                  <a:lnTo>
                    <a:pt x="2" y="0"/>
                  </a:lnTo>
                  <a:lnTo>
                    <a:pt x="0" y="0"/>
                  </a:lnTo>
                  <a:lnTo>
                    <a:pt x="0" y="3"/>
                  </a:lnTo>
                  <a:lnTo>
                    <a:pt x="0" y="6"/>
                  </a:lnTo>
                  <a:lnTo>
                    <a:pt x="2" y="6"/>
                  </a:lnTo>
                  <a:lnTo>
                    <a:pt x="8" y="9"/>
                  </a:lnTo>
                  <a:lnTo>
                    <a:pt x="21" y="9"/>
                  </a:lnTo>
                  <a:lnTo>
                    <a:pt x="29" y="9"/>
                  </a:lnTo>
                  <a:lnTo>
                    <a:pt x="32" y="12"/>
                  </a:lnTo>
                  <a:lnTo>
                    <a:pt x="35" y="12"/>
                  </a:lnTo>
                  <a:lnTo>
                    <a:pt x="37" y="12"/>
                  </a:lnTo>
                  <a:lnTo>
                    <a:pt x="40" y="12"/>
                  </a:lnTo>
                  <a:lnTo>
                    <a:pt x="43" y="12"/>
                  </a:lnTo>
                  <a:lnTo>
                    <a:pt x="43" y="16"/>
                  </a:lnTo>
                </a:path>
              </a:pathLst>
            </a:custGeom>
            <a:solidFill>
              <a:srgbClr val="BDB597"/>
            </a:solidFill>
            <a:ln w="9525" cap="rnd">
              <a:noFill/>
              <a:round/>
            </a:ln>
          </p:spPr>
          <p:txBody>
            <a:bodyPr/>
            <a:lstStyle/>
            <a:p>
              <a:endParaRPr lang="zh-CN" altLang="en-US"/>
            </a:p>
          </p:txBody>
        </p:sp>
        <p:sp>
          <p:nvSpPr>
            <p:cNvPr id="10430" name="Freeform 68"/>
            <p:cNvSpPr/>
            <p:nvPr/>
          </p:nvSpPr>
          <p:spPr bwMode="auto">
            <a:xfrm>
              <a:off x="2053" y="2413"/>
              <a:ext cx="47" cy="17"/>
            </a:xfrm>
            <a:custGeom>
              <a:avLst/>
              <a:gdLst>
                <a:gd name="T0" fmla="*/ 46 w 47"/>
                <a:gd name="T1" fmla="*/ 16 h 17"/>
                <a:gd name="T2" fmla="*/ 46 w 47"/>
                <a:gd name="T3" fmla="*/ 16 h 17"/>
                <a:gd name="T4" fmla="*/ 46 w 47"/>
                <a:gd name="T5" fmla="*/ 12 h 17"/>
                <a:gd name="T6" fmla="*/ 46 w 47"/>
                <a:gd name="T7" fmla="*/ 9 h 17"/>
                <a:gd name="T8" fmla="*/ 24 w 47"/>
                <a:gd name="T9" fmla="*/ 3 h 17"/>
                <a:gd name="T10" fmla="*/ 2 w 47"/>
                <a:gd name="T11" fmla="*/ 0 h 17"/>
                <a:gd name="T12" fmla="*/ 0 w 47"/>
                <a:gd name="T13" fmla="*/ 0 h 17"/>
                <a:gd name="T14" fmla="*/ 0 w 47"/>
                <a:gd name="T15" fmla="*/ 3 h 17"/>
                <a:gd name="T16" fmla="*/ 0 w 47"/>
                <a:gd name="T17" fmla="*/ 6 h 17"/>
                <a:gd name="T18" fmla="*/ 2 w 47"/>
                <a:gd name="T19" fmla="*/ 6 h 17"/>
                <a:gd name="T20" fmla="*/ 8 w 47"/>
                <a:gd name="T21" fmla="*/ 9 h 17"/>
                <a:gd name="T22" fmla="*/ 21 w 47"/>
                <a:gd name="T23" fmla="*/ 9 h 17"/>
                <a:gd name="T24" fmla="*/ 29 w 47"/>
                <a:gd name="T25" fmla="*/ 12 h 17"/>
                <a:gd name="T26" fmla="*/ 32 w 47"/>
                <a:gd name="T27" fmla="*/ 12 h 17"/>
                <a:gd name="T28" fmla="*/ 35 w 47"/>
                <a:gd name="T29" fmla="*/ 12 h 17"/>
                <a:gd name="T30" fmla="*/ 40 w 47"/>
                <a:gd name="T31" fmla="*/ 12 h 17"/>
                <a:gd name="T32" fmla="*/ 40 w 47"/>
                <a:gd name="T33" fmla="*/ 16 h 17"/>
                <a:gd name="T34" fmla="*/ 43 w 47"/>
                <a:gd name="T35" fmla="*/ 16 h 17"/>
                <a:gd name="T36" fmla="*/ 46 w 47"/>
                <a:gd name="T37" fmla="*/ 16 h 1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7"/>
                <a:gd name="T58" fmla="*/ 0 h 17"/>
                <a:gd name="T59" fmla="*/ 47 w 47"/>
                <a:gd name="T60" fmla="*/ 17 h 1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7" h="17">
                  <a:moveTo>
                    <a:pt x="46" y="16"/>
                  </a:moveTo>
                  <a:lnTo>
                    <a:pt x="46" y="16"/>
                  </a:lnTo>
                  <a:lnTo>
                    <a:pt x="46" y="12"/>
                  </a:lnTo>
                  <a:lnTo>
                    <a:pt x="46" y="9"/>
                  </a:lnTo>
                  <a:lnTo>
                    <a:pt x="24" y="3"/>
                  </a:lnTo>
                  <a:lnTo>
                    <a:pt x="2" y="0"/>
                  </a:lnTo>
                  <a:lnTo>
                    <a:pt x="0" y="0"/>
                  </a:lnTo>
                  <a:lnTo>
                    <a:pt x="0" y="3"/>
                  </a:lnTo>
                  <a:lnTo>
                    <a:pt x="0" y="6"/>
                  </a:lnTo>
                  <a:lnTo>
                    <a:pt x="2" y="6"/>
                  </a:lnTo>
                  <a:lnTo>
                    <a:pt x="8" y="9"/>
                  </a:lnTo>
                  <a:lnTo>
                    <a:pt x="21" y="9"/>
                  </a:lnTo>
                  <a:lnTo>
                    <a:pt x="29" y="12"/>
                  </a:lnTo>
                  <a:lnTo>
                    <a:pt x="32" y="12"/>
                  </a:lnTo>
                  <a:lnTo>
                    <a:pt x="35" y="12"/>
                  </a:lnTo>
                  <a:lnTo>
                    <a:pt x="40" y="12"/>
                  </a:lnTo>
                  <a:lnTo>
                    <a:pt x="40" y="16"/>
                  </a:lnTo>
                  <a:lnTo>
                    <a:pt x="43" y="16"/>
                  </a:lnTo>
                  <a:lnTo>
                    <a:pt x="46" y="16"/>
                  </a:lnTo>
                </a:path>
              </a:pathLst>
            </a:custGeom>
            <a:solidFill>
              <a:srgbClr val="BDB597"/>
            </a:solidFill>
            <a:ln w="9525" cap="rnd">
              <a:noFill/>
              <a:round/>
            </a:ln>
          </p:spPr>
          <p:txBody>
            <a:bodyPr/>
            <a:lstStyle/>
            <a:p>
              <a:endParaRPr lang="zh-CN" altLang="en-US"/>
            </a:p>
          </p:txBody>
        </p:sp>
        <p:grpSp>
          <p:nvGrpSpPr>
            <p:cNvPr id="10" name="Group 69"/>
            <p:cNvGrpSpPr/>
            <p:nvPr/>
          </p:nvGrpSpPr>
          <p:grpSpPr bwMode="auto">
            <a:xfrm>
              <a:off x="2053" y="2026"/>
              <a:ext cx="478" cy="390"/>
              <a:chOff x="2053" y="2026"/>
              <a:chExt cx="478" cy="390"/>
            </a:xfrm>
          </p:grpSpPr>
          <p:sp>
            <p:nvSpPr>
              <p:cNvPr id="10535" name="Freeform 70"/>
              <p:cNvSpPr/>
              <p:nvPr/>
            </p:nvSpPr>
            <p:spPr bwMode="auto">
              <a:xfrm>
                <a:off x="2489" y="2090"/>
                <a:ext cx="38" cy="71"/>
              </a:xfrm>
              <a:custGeom>
                <a:avLst/>
                <a:gdLst>
                  <a:gd name="T0" fmla="*/ 0 w 38"/>
                  <a:gd name="T1" fmla="*/ 70 h 71"/>
                  <a:gd name="T2" fmla="*/ 0 w 38"/>
                  <a:gd name="T3" fmla="*/ 70 h 71"/>
                  <a:gd name="T4" fmla="*/ 2 w 38"/>
                  <a:gd name="T5" fmla="*/ 21 h 71"/>
                  <a:gd name="T6" fmla="*/ 37 w 38"/>
                  <a:gd name="T7" fmla="*/ 0 h 71"/>
                  <a:gd name="T8" fmla="*/ 34 w 38"/>
                  <a:gd name="T9" fmla="*/ 45 h 71"/>
                  <a:gd name="T10" fmla="*/ 0 w 38"/>
                  <a:gd name="T11" fmla="*/ 70 h 71"/>
                  <a:gd name="T12" fmla="*/ 0 60000 65536"/>
                  <a:gd name="T13" fmla="*/ 0 60000 65536"/>
                  <a:gd name="T14" fmla="*/ 0 60000 65536"/>
                  <a:gd name="T15" fmla="*/ 0 60000 65536"/>
                  <a:gd name="T16" fmla="*/ 0 60000 65536"/>
                  <a:gd name="T17" fmla="*/ 0 60000 65536"/>
                  <a:gd name="T18" fmla="*/ 0 w 38"/>
                  <a:gd name="T19" fmla="*/ 0 h 71"/>
                  <a:gd name="T20" fmla="*/ 38 w 38"/>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38" h="71">
                    <a:moveTo>
                      <a:pt x="0" y="70"/>
                    </a:moveTo>
                    <a:lnTo>
                      <a:pt x="0" y="70"/>
                    </a:lnTo>
                    <a:lnTo>
                      <a:pt x="2" y="21"/>
                    </a:lnTo>
                    <a:lnTo>
                      <a:pt x="37" y="0"/>
                    </a:lnTo>
                    <a:lnTo>
                      <a:pt x="34" y="45"/>
                    </a:lnTo>
                    <a:lnTo>
                      <a:pt x="0" y="70"/>
                    </a:lnTo>
                  </a:path>
                </a:pathLst>
              </a:custGeom>
              <a:solidFill>
                <a:srgbClr val="BB1A50"/>
              </a:solidFill>
              <a:ln w="9525" cap="rnd">
                <a:noFill/>
                <a:round/>
              </a:ln>
            </p:spPr>
            <p:txBody>
              <a:bodyPr/>
              <a:lstStyle/>
              <a:p>
                <a:endParaRPr lang="zh-CN" altLang="en-US"/>
              </a:p>
            </p:txBody>
          </p:sp>
          <p:sp>
            <p:nvSpPr>
              <p:cNvPr id="10536" name="Freeform 71"/>
              <p:cNvSpPr/>
              <p:nvPr/>
            </p:nvSpPr>
            <p:spPr bwMode="auto">
              <a:xfrm>
                <a:off x="2457" y="2098"/>
                <a:ext cx="33" cy="63"/>
              </a:xfrm>
              <a:custGeom>
                <a:avLst/>
                <a:gdLst>
                  <a:gd name="T0" fmla="*/ 29 w 33"/>
                  <a:gd name="T1" fmla="*/ 62 h 63"/>
                  <a:gd name="T2" fmla="*/ 29 w 33"/>
                  <a:gd name="T3" fmla="*/ 62 h 63"/>
                  <a:gd name="T4" fmla="*/ 0 w 33"/>
                  <a:gd name="T5" fmla="*/ 49 h 63"/>
                  <a:gd name="T6" fmla="*/ 2 w 33"/>
                  <a:gd name="T7" fmla="*/ 0 h 63"/>
                  <a:gd name="T8" fmla="*/ 32 w 33"/>
                  <a:gd name="T9" fmla="*/ 12 h 63"/>
                  <a:gd name="T10" fmla="*/ 29 w 33"/>
                  <a:gd name="T11" fmla="*/ 62 h 63"/>
                  <a:gd name="T12" fmla="*/ 0 60000 65536"/>
                  <a:gd name="T13" fmla="*/ 0 60000 65536"/>
                  <a:gd name="T14" fmla="*/ 0 60000 65536"/>
                  <a:gd name="T15" fmla="*/ 0 60000 65536"/>
                  <a:gd name="T16" fmla="*/ 0 60000 65536"/>
                  <a:gd name="T17" fmla="*/ 0 60000 65536"/>
                  <a:gd name="T18" fmla="*/ 0 w 33"/>
                  <a:gd name="T19" fmla="*/ 0 h 63"/>
                  <a:gd name="T20" fmla="*/ 33 w 33"/>
                  <a:gd name="T21" fmla="*/ 63 h 63"/>
                </a:gdLst>
                <a:ahLst/>
                <a:cxnLst>
                  <a:cxn ang="T12">
                    <a:pos x="T0" y="T1"/>
                  </a:cxn>
                  <a:cxn ang="T13">
                    <a:pos x="T2" y="T3"/>
                  </a:cxn>
                  <a:cxn ang="T14">
                    <a:pos x="T4" y="T5"/>
                  </a:cxn>
                  <a:cxn ang="T15">
                    <a:pos x="T6" y="T7"/>
                  </a:cxn>
                  <a:cxn ang="T16">
                    <a:pos x="T8" y="T9"/>
                  </a:cxn>
                  <a:cxn ang="T17">
                    <a:pos x="T10" y="T11"/>
                  </a:cxn>
                </a:cxnLst>
                <a:rect l="T18" t="T19" r="T20" b="T21"/>
                <a:pathLst>
                  <a:path w="33" h="63">
                    <a:moveTo>
                      <a:pt x="29" y="62"/>
                    </a:moveTo>
                    <a:lnTo>
                      <a:pt x="29" y="62"/>
                    </a:lnTo>
                    <a:lnTo>
                      <a:pt x="0" y="49"/>
                    </a:lnTo>
                    <a:lnTo>
                      <a:pt x="2" y="0"/>
                    </a:lnTo>
                    <a:lnTo>
                      <a:pt x="32" y="12"/>
                    </a:lnTo>
                    <a:lnTo>
                      <a:pt x="29" y="62"/>
                    </a:lnTo>
                  </a:path>
                </a:pathLst>
              </a:custGeom>
              <a:solidFill>
                <a:srgbClr val="9E0005"/>
              </a:solidFill>
              <a:ln w="9525" cap="rnd">
                <a:noFill/>
                <a:round/>
              </a:ln>
            </p:spPr>
            <p:txBody>
              <a:bodyPr/>
              <a:lstStyle/>
              <a:p>
                <a:endParaRPr lang="zh-CN" altLang="en-US"/>
              </a:p>
            </p:txBody>
          </p:sp>
          <p:sp>
            <p:nvSpPr>
              <p:cNvPr id="10537" name="Freeform 72"/>
              <p:cNvSpPr/>
              <p:nvPr/>
            </p:nvSpPr>
            <p:spPr bwMode="auto">
              <a:xfrm>
                <a:off x="2460" y="2077"/>
                <a:ext cx="67" cy="33"/>
              </a:xfrm>
              <a:custGeom>
                <a:avLst/>
                <a:gdLst>
                  <a:gd name="T0" fmla="*/ 30 w 67"/>
                  <a:gd name="T1" fmla="*/ 32 h 33"/>
                  <a:gd name="T2" fmla="*/ 30 w 67"/>
                  <a:gd name="T3" fmla="*/ 32 h 33"/>
                  <a:gd name="T4" fmla="*/ 0 w 67"/>
                  <a:gd name="T5" fmla="*/ 20 h 33"/>
                  <a:gd name="T6" fmla="*/ 35 w 67"/>
                  <a:gd name="T7" fmla="*/ 0 h 33"/>
                  <a:gd name="T8" fmla="*/ 66 w 67"/>
                  <a:gd name="T9" fmla="*/ 14 h 33"/>
                  <a:gd name="T10" fmla="*/ 30 w 67"/>
                  <a:gd name="T11" fmla="*/ 32 h 33"/>
                  <a:gd name="T12" fmla="*/ 0 60000 65536"/>
                  <a:gd name="T13" fmla="*/ 0 60000 65536"/>
                  <a:gd name="T14" fmla="*/ 0 60000 65536"/>
                  <a:gd name="T15" fmla="*/ 0 60000 65536"/>
                  <a:gd name="T16" fmla="*/ 0 60000 65536"/>
                  <a:gd name="T17" fmla="*/ 0 60000 65536"/>
                  <a:gd name="T18" fmla="*/ 0 w 67"/>
                  <a:gd name="T19" fmla="*/ 0 h 33"/>
                  <a:gd name="T20" fmla="*/ 67 w 67"/>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67" h="33">
                    <a:moveTo>
                      <a:pt x="30" y="32"/>
                    </a:moveTo>
                    <a:lnTo>
                      <a:pt x="30" y="32"/>
                    </a:lnTo>
                    <a:lnTo>
                      <a:pt x="0" y="20"/>
                    </a:lnTo>
                    <a:lnTo>
                      <a:pt x="35" y="0"/>
                    </a:lnTo>
                    <a:lnTo>
                      <a:pt x="66" y="14"/>
                    </a:lnTo>
                    <a:lnTo>
                      <a:pt x="30" y="32"/>
                    </a:lnTo>
                  </a:path>
                </a:pathLst>
              </a:custGeom>
              <a:solidFill>
                <a:srgbClr val="CF5C82"/>
              </a:solidFill>
              <a:ln w="9525" cap="rnd">
                <a:noFill/>
                <a:round/>
              </a:ln>
            </p:spPr>
            <p:txBody>
              <a:bodyPr/>
              <a:lstStyle/>
              <a:p>
                <a:endParaRPr lang="zh-CN" altLang="en-US"/>
              </a:p>
            </p:txBody>
          </p:sp>
          <p:grpSp>
            <p:nvGrpSpPr>
              <p:cNvPr id="11" name="Group 73"/>
              <p:cNvGrpSpPr/>
              <p:nvPr/>
            </p:nvGrpSpPr>
            <p:grpSpPr bwMode="auto">
              <a:xfrm>
                <a:off x="2368" y="2105"/>
                <a:ext cx="118" cy="113"/>
                <a:chOff x="2368" y="2105"/>
                <a:chExt cx="118" cy="113"/>
              </a:xfrm>
            </p:grpSpPr>
            <p:sp>
              <p:nvSpPr>
                <p:cNvPr id="10582" name="Freeform 74"/>
                <p:cNvSpPr/>
                <p:nvPr/>
              </p:nvSpPr>
              <p:spPr bwMode="auto">
                <a:xfrm>
                  <a:off x="2404" y="2118"/>
                  <a:ext cx="82" cy="100"/>
                </a:xfrm>
                <a:custGeom>
                  <a:avLst/>
                  <a:gdLst>
                    <a:gd name="T0" fmla="*/ 0 w 82"/>
                    <a:gd name="T1" fmla="*/ 99 h 100"/>
                    <a:gd name="T2" fmla="*/ 0 w 82"/>
                    <a:gd name="T3" fmla="*/ 99 h 100"/>
                    <a:gd name="T4" fmla="*/ 2 w 82"/>
                    <a:gd name="T5" fmla="*/ 49 h 100"/>
                    <a:gd name="T6" fmla="*/ 81 w 82"/>
                    <a:gd name="T7" fmla="*/ 0 h 100"/>
                    <a:gd name="T8" fmla="*/ 78 w 82"/>
                    <a:gd name="T9" fmla="*/ 49 h 100"/>
                    <a:gd name="T10" fmla="*/ 0 w 82"/>
                    <a:gd name="T11" fmla="*/ 99 h 100"/>
                    <a:gd name="T12" fmla="*/ 0 60000 65536"/>
                    <a:gd name="T13" fmla="*/ 0 60000 65536"/>
                    <a:gd name="T14" fmla="*/ 0 60000 65536"/>
                    <a:gd name="T15" fmla="*/ 0 60000 65536"/>
                    <a:gd name="T16" fmla="*/ 0 60000 65536"/>
                    <a:gd name="T17" fmla="*/ 0 60000 65536"/>
                    <a:gd name="T18" fmla="*/ 0 w 82"/>
                    <a:gd name="T19" fmla="*/ 0 h 100"/>
                    <a:gd name="T20" fmla="*/ 82 w 82"/>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82" h="100">
                      <a:moveTo>
                        <a:pt x="0" y="99"/>
                      </a:moveTo>
                      <a:lnTo>
                        <a:pt x="0" y="99"/>
                      </a:lnTo>
                      <a:lnTo>
                        <a:pt x="2" y="49"/>
                      </a:lnTo>
                      <a:lnTo>
                        <a:pt x="81" y="0"/>
                      </a:lnTo>
                      <a:lnTo>
                        <a:pt x="78" y="49"/>
                      </a:lnTo>
                      <a:lnTo>
                        <a:pt x="0" y="99"/>
                      </a:lnTo>
                    </a:path>
                  </a:pathLst>
                </a:custGeom>
                <a:solidFill>
                  <a:srgbClr val="BB1A50"/>
                </a:solidFill>
                <a:ln w="9525" cap="rnd">
                  <a:noFill/>
                  <a:round/>
                </a:ln>
              </p:spPr>
              <p:txBody>
                <a:bodyPr/>
                <a:lstStyle/>
                <a:p>
                  <a:endParaRPr lang="zh-CN" altLang="en-US"/>
                </a:p>
              </p:txBody>
            </p:sp>
            <p:sp>
              <p:nvSpPr>
                <p:cNvPr id="10583" name="Freeform 75"/>
                <p:cNvSpPr/>
                <p:nvPr/>
              </p:nvSpPr>
              <p:spPr bwMode="auto">
                <a:xfrm>
                  <a:off x="2368" y="2157"/>
                  <a:ext cx="36" cy="61"/>
                </a:xfrm>
                <a:custGeom>
                  <a:avLst/>
                  <a:gdLst>
                    <a:gd name="T0" fmla="*/ 32 w 36"/>
                    <a:gd name="T1" fmla="*/ 60 h 61"/>
                    <a:gd name="T2" fmla="*/ 32 w 36"/>
                    <a:gd name="T3" fmla="*/ 60 h 61"/>
                    <a:gd name="T4" fmla="*/ 0 w 36"/>
                    <a:gd name="T5" fmla="*/ 48 h 61"/>
                    <a:gd name="T6" fmla="*/ 0 w 36"/>
                    <a:gd name="T7" fmla="*/ 0 h 61"/>
                    <a:gd name="T8" fmla="*/ 35 w 36"/>
                    <a:gd name="T9" fmla="*/ 11 h 61"/>
                    <a:gd name="T10" fmla="*/ 32 w 36"/>
                    <a:gd name="T11" fmla="*/ 60 h 61"/>
                    <a:gd name="T12" fmla="*/ 0 60000 65536"/>
                    <a:gd name="T13" fmla="*/ 0 60000 65536"/>
                    <a:gd name="T14" fmla="*/ 0 60000 65536"/>
                    <a:gd name="T15" fmla="*/ 0 60000 65536"/>
                    <a:gd name="T16" fmla="*/ 0 60000 65536"/>
                    <a:gd name="T17" fmla="*/ 0 60000 65536"/>
                    <a:gd name="T18" fmla="*/ 0 w 36"/>
                    <a:gd name="T19" fmla="*/ 0 h 61"/>
                    <a:gd name="T20" fmla="*/ 36 w 36"/>
                    <a:gd name="T21" fmla="*/ 61 h 61"/>
                  </a:gdLst>
                  <a:ahLst/>
                  <a:cxnLst>
                    <a:cxn ang="T12">
                      <a:pos x="T0" y="T1"/>
                    </a:cxn>
                    <a:cxn ang="T13">
                      <a:pos x="T2" y="T3"/>
                    </a:cxn>
                    <a:cxn ang="T14">
                      <a:pos x="T4" y="T5"/>
                    </a:cxn>
                    <a:cxn ang="T15">
                      <a:pos x="T6" y="T7"/>
                    </a:cxn>
                    <a:cxn ang="T16">
                      <a:pos x="T8" y="T9"/>
                    </a:cxn>
                    <a:cxn ang="T17">
                      <a:pos x="T10" y="T11"/>
                    </a:cxn>
                  </a:cxnLst>
                  <a:rect l="T18" t="T19" r="T20" b="T21"/>
                  <a:pathLst>
                    <a:path w="36" h="61">
                      <a:moveTo>
                        <a:pt x="32" y="60"/>
                      </a:moveTo>
                      <a:lnTo>
                        <a:pt x="32" y="60"/>
                      </a:lnTo>
                      <a:lnTo>
                        <a:pt x="0" y="48"/>
                      </a:lnTo>
                      <a:lnTo>
                        <a:pt x="0" y="0"/>
                      </a:lnTo>
                      <a:lnTo>
                        <a:pt x="35" y="11"/>
                      </a:lnTo>
                      <a:lnTo>
                        <a:pt x="32" y="60"/>
                      </a:lnTo>
                    </a:path>
                  </a:pathLst>
                </a:custGeom>
                <a:solidFill>
                  <a:srgbClr val="9E0005"/>
                </a:solidFill>
                <a:ln w="9525" cap="rnd">
                  <a:noFill/>
                  <a:round/>
                </a:ln>
              </p:spPr>
              <p:txBody>
                <a:bodyPr/>
                <a:lstStyle/>
                <a:p>
                  <a:endParaRPr lang="zh-CN" altLang="en-US"/>
                </a:p>
              </p:txBody>
            </p:sp>
            <p:sp>
              <p:nvSpPr>
                <p:cNvPr id="10584" name="Freeform 76"/>
                <p:cNvSpPr/>
                <p:nvPr/>
              </p:nvSpPr>
              <p:spPr bwMode="auto">
                <a:xfrm>
                  <a:off x="2369" y="2105"/>
                  <a:ext cx="117" cy="63"/>
                </a:xfrm>
                <a:custGeom>
                  <a:avLst/>
                  <a:gdLst>
                    <a:gd name="T0" fmla="*/ 36 w 117"/>
                    <a:gd name="T1" fmla="*/ 62 h 63"/>
                    <a:gd name="T2" fmla="*/ 36 w 117"/>
                    <a:gd name="T3" fmla="*/ 62 h 63"/>
                    <a:gd name="T4" fmla="*/ 0 w 117"/>
                    <a:gd name="T5" fmla="*/ 49 h 63"/>
                    <a:gd name="T6" fmla="*/ 83 w 117"/>
                    <a:gd name="T7" fmla="*/ 0 h 63"/>
                    <a:gd name="T8" fmla="*/ 116 w 117"/>
                    <a:gd name="T9" fmla="*/ 12 h 63"/>
                    <a:gd name="T10" fmla="*/ 36 w 117"/>
                    <a:gd name="T11" fmla="*/ 62 h 63"/>
                    <a:gd name="T12" fmla="*/ 0 60000 65536"/>
                    <a:gd name="T13" fmla="*/ 0 60000 65536"/>
                    <a:gd name="T14" fmla="*/ 0 60000 65536"/>
                    <a:gd name="T15" fmla="*/ 0 60000 65536"/>
                    <a:gd name="T16" fmla="*/ 0 60000 65536"/>
                    <a:gd name="T17" fmla="*/ 0 60000 65536"/>
                    <a:gd name="T18" fmla="*/ 0 w 117"/>
                    <a:gd name="T19" fmla="*/ 0 h 63"/>
                    <a:gd name="T20" fmla="*/ 117 w 117"/>
                    <a:gd name="T21" fmla="*/ 63 h 63"/>
                  </a:gdLst>
                  <a:ahLst/>
                  <a:cxnLst>
                    <a:cxn ang="T12">
                      <a:pos x="T0" y="T1"/>
                    </a:cxn>
                    <a:cxn ang="T13">
                      <a:pos x="T2" y="T3"/>
                    </a:cxn>
                    <a:cxn ang="T14">
                      <a:pos x="T4" y="T5"/>
                    </a:cxn>
                    <a:cxn ang="T15">
                      <a:pos x="T6" y="T7"/>
                    </a:cxn>
                    <a:cxn ang="T16">
                      <a:pos x="T8" y="T9"/>
                    </a:cxn>
                    <a:cxn ang="T17">
                      <a:pos x="T10" y="T11"/>
                    </a:cxn>
                  </a:cxnLst>
                  <a:rect l="T18" t="T19" r="T20" b="T21"/>
                  <a:pathLst>
                    <a:path w="117" h="63">
                      <a:moveTo>
                        <a:pt x="36" y="62"/>
                      </a:moveTo>
                      <a:lnTo>
                        <a:pt x="36" y="62"/>
                      </a:lnTo>
                      <a:lnTo>
                        <a:pt x="0" y="49"/>
                      </a:lnTo>
                      <a:lnTo>
                        <a:pt x="83" y="0"/>
                      </a:lnTo>
                      <a:lnTo>
                        <a:pt x="116" y="12"/>
                      </a:lnTo>
                      <a:lnTo>
                        <a:pt x="36" y="62"/>
                      </a:lnTo>
                    </a:path>
                  </a:pathLst>
                </a:custGeom>
                <a:solidFill>
                  <a:srgbClr val="CF5C82"/>
                </a:solidFill>
                <a:ln w="9525" cap="rnd">
                  <a:noFill/>
                  <a:round/>
                </a:ln>
              </p:spPr>
              <p:txBody>
                <a:bodyPr/>
                <a:lstStyle/>
                <a:p>
                  <a:endParaRPr lang="zh-CN" altLang="en-US"/>
                </a:p>
              </p:txBody>
            </p:sp>
          </p:grpSp>
          <p:grpSp>
            <p:nvGrpSpPr>
              <p:cNvPr id="12" name="Group 77"/>
              <p:cNvGrpSpPr/>
              <p:nvPr/>
            </p:nvGrpSpPr>
            <p:grpSpPr bwMode="auto">
              <a:xfrm>
                <a:off x="2272" y="2162"/>
                <a:ext cx="126" cy="117"/>
                <a:chOff x="2272" y="2162"/>
                <a:chExt cx="126" cy="117"/>
              </a:xfrm>
            </p:grpSpPr>
            <p:sp>
              <p:nvSpPr>
                <p:cNvPr id="10579" name="Freeform 78"/>
                <p:cNvSpPr/>
                <p:nvPr/>
              </p:nvSpPr>
              <p:spPr bwMode="auto">
                <a:xfrm>
                  <a:off x="2310" y="2176"/>
                  <a:ext cx="88" cy="103"/>
                </a:xfrm>
                <a:custGeom>
                  <a:avLst/>
                  <a:gdLst>
                    <a:gd name="T0" fmla="*/ 0 w 88"/>
                    <a:gd name="T1" fmla="*/ 102 h 103"/>
                    <a:gd name="T2" fmla="*/ 0 w 88"/>
                    <a:gd name="T3" fmla="*/ 102 h 103"/>
                    <a:gd name="T4" fmla="*/ 2 w 88"/>
                    <a:gd name="T5" fmla="*/ 52 h 103"/>
                    <a:gd name="T6" fmla="*/ 87 w 88"/>
                    <a:gd name="T7" fmla="*/ 0 h 103"/>
                    <a:gd name="T8" fmla="*/ 84 w 88"/>
                    <a:gd name="T9" fmla="*/ 49 h 103"/>
                    <a:gd name="T10" fmla="*/ 0 w 88"/>
                    <a:gd name="T11" fmla="*/ 102 h 103"/>
                    <a:gd name="T12" fmla="*/ 0 60000 65536"/>
                    <a:gd name="T13" fmla="*/ 0 60000 65536"/>
                    <a:gd name="T14" fmla="*/ 0 60000 65536"/>
                    <a:gd name="T15" fmla="*/ 0 60000 65536"/>
                    <a:gd name="T16" fmla="*/ 0 60000 65536"/>
                    <a:gd name="T17" fmla="*/ 0 60000 65536"/>
                    <a:gd name="T18" fmla="*/ 0 w 88"/>
                    <a:gd name="T19" fmla="*/ 0 h 103"/>
                    <a:gd name="T20" fmla="*/ 88 w 88"/>
                    <a:gd name="T21" fmla="*/ 103 h 103"/>
                  </a:gdLst>
                  <a:ahLst/>
                  <a:cxnLst>
                    <a:cxn ang="T12">
                      <a:pos x="T0" y="T1"/>
                    </a:cxn>
                    <a:cxn ang="T13">
                      <a:pos x="T2" y="T3"/>
                    </a:cxn>
                    <a:cxn ang="T14">
                      <a:pos x="T4" y="T5"/>
                    </a:cxn>
                    <a:cxn ang="T15">
                      <a:pos x="T6" y="T7"/>
                    </a:cxn>
                    <a:cxn ang="T16">
                      <a:pos x="T8" y="T9"/>
                    </a:cxn>
                    <a:cxn ang="T17">
                      <a:pos x="T10" y="T11"/>
                    </a:cxn>
                  </a:cxnLst>
                  <a:rect l="T18" t="T19" r="T20" b="T21"/>
                  <a:pathLst>
                    <a:path w="88" h="103">
                      <a:moveTo>
                        <a:pt x="0" y="102"/>
                      </a:moveTo>
                      <a:lnTo>
                        <a:pt x="0" y="102"/>
                      </a:lnTo>
                      <a:lnTo>
                        <a:pt x="2" y="52"/>
                      </a:lnTo>
                      <a:lnTo>
                        <a:pt x="87" y="0"/>
                      </a:lnTo>
                      <a:lnTo>
                        <a:pt x="84" y="49"/>
                      </a:lnTo>
                      <a:lnTo>
                        <a:pt x="0" y="102"/>
                      </a:lnTo>
                    </a:path>
                  </a:pathLst>
                </a:custGeom>
                <a:solidFill>
                  <a:srgbClr val="BB1A50"/>
                </a:solidFill>
                <a:ln w="9525" cap="rnd">
                  <a:noFill/>
                  <a:round/>
                </a:ln>
              </p:spPr>
              <p:txBody>
                <a:bodyPr/>
                <a:lstStyle/>
                <a:p>
                  <a:endParaRPr lang="zh-CN" altLang="en-US"/>
                </a:p>
              </p:txBody>
            </p:sp>
            <p:sp>
              <p:nvSpPr>
                <p:cNvPr id="10580" name="Freeform 79"/>
                <p:cNvSpPr/>
                <p:nvPr/>
              </p:nvSpPr>
              <p:spPr bwMode="auto">
                <a:xfrm>
                  <a:off x="2272" y="2221"/>
                  <a:ext cx="39" cy="58"/>
                </a:xfrm>
                <a:custGeom>
                  <a:avLst/>
                  <a:gdLst>
                    <a:gd name="T0" fmla="*/ 35 w 39"/>
                    <a:gd name="T1" fmla="*/ 57 h 58"/>
                    <a:gd name="T2" fmla="*/ 35 w 39"/>
                    <a:gd name="T3" fmla="*/ 57 h 58"/>
                    <a:gd name="T4" fmla="*/ 0 w 39"/>
                    <a:gd name="T5" fmla="*/ 48 h 58"/>
                    <a:gd name="T6" fmla="*/ 0 w 39"/>
                    <a:gd name="T7" fmla="*/ 0 h 58"/>
                    <a:gd name="T8" fmla="*/ 38 w 39"/>
                    <a:gd name="T9" fmla="*/ 8 h 58"/>
                    <a:gd name="T10" fmla="*/ 35 w 39"/>
                    <a:gd name="T11" fmla="*/ 57 h 58"/>
                    <a:gd name="T12" fmla="*/ 0 60000 65536"/>
                    <a:gd name="T13" fmla="*/ 0 60000 65536"/>
                    <a:gd name="T14" fmla="*/ 0 60000 65536"/>
                    <a:gd name="T15" fmla="*/ 0 60000 65536"/>
                    <a:gd name="T16" fmla="*/ 0 60000 65536"/>
                    <a:gd name="T17" fmla="*/ 0 60000 65536"/>
                    <a:gd name="T18" fmla="*/ 0 w 39"/>
                    <a:gd name="T19" fmla="*/ 0 h 58"/>
                    <a:gd name="T20" fmla="*/ 39 w 39"/>
                    <a:gd name="T21" fmla="*/ 58 h 58"/>
                  </a:gdLst>
                  <a:ahLst/>
                  <a:cxnLst>
                    <a:cxn ang="T12">
                      <a:pos x="T0" y="T1"/>
                    </a:cxn>
                    <a:cxn ang="T13">
                      <a:pos x="T2" y="T3"/>
                    </a:cxn>
                    <a:cxn ang="T14">
                      <a:pos x="T4" y="T5"/>
                    </a:cxn>
                    <a:cxn ang="T15">
                      <a:pos x="T6" y="T7"/>
                    </a:cxn>
                    <a:cxn ang="T16">
                      <a:pos x="T8" y="T9"/>
                    </a:cxn>
                    <a:cxn ang="T17">
                      <a:pos x="T10" y="T11"/>
                    </a:cxn>
                  </a:cxnLst>
                  <a:rect l="T18" t="T19" r="T20" b="T21"/>
                  <a:pathLst>
                    <a:path w="39" h="58">
                      <a:moveTo>
                        <a:pt x="35" y="57"/>
                      </a:moveTo>
                      <a:lnTo>
                        <a:pt x="35" y="57"/>
                      </a:lnTo>
                      <a:lnTo>
                        <a:pt x="0" y="48"/>
                      </a:lnTo>
                      <a:lnTo>
                        <a:pt x="0" y="0"/>
                      </a:lnTo>
                      <a:lnTo>
                        <a:pt x="38" y="8"/>
                      </a:lnTo>
                      <a:lnTo>
                        <a:pt x="35" y="57"/>
                      </a:lnTo>
                    </a:path>
                  </a:pathLst>
                </a:custGeom>
                <a:solidFill>
                  <a:srgbClr val="9E0005"/>
                </a:solidFill>
                <a:ln w="9525" cap="rnd">
                  <a:noFill/>
                  <a:round/>
                </a:ln>
              </p:spPr>
              <p:txBody>
                <a:bodyPr/>
                <a:lstStyle/>
                <a:p>
                  <a:endParaRPr lang="zh-CN" altLang="en-US"/>
                </a:p>
              </p:txBody>
            </p:sp>
            <p:sp>
              <p:nvSpPr>
                <p:cNvPr id="10581" name="Freeform 80"/>
                <p:cNvSpPr/>
                <p:nvPr/>
              </p:nvSpPr>
              <p:spPr bwMode="auto">
                <a:xfrm>
                  <a:off x="2272" y="2162"/>
                  <a:ext cx="126" cy="67"/>
                </a:xfrm>
                <a:custGeom>
                  <a:avLst/>
                  <a:gdLst>
                    <a:gd name="T0" fmla="*/ 39 w 126"/>
                    <a:gd name="T1" fmla="*/ 66 h 67"/>
                    <a:gd name="T2" fmla="*/ 39 w 126"/>
                    <a:gd name="T3" fmla="*/ 66 h 67"/>
                    <a:gd name="T4" fmla="*/ 0 w 126"/>
                    <a:gd name="T5" fmla="*/ 56 h 67"/>
                    <a:gd name="T6" fmla="*/ 91 w 126"/>
                    <a:gd name="T7" fmla="*/ 0 h 67"/>
                    <a:gd name="T8" fmla="*/ 125 w 126"/>
                    <a:gd name="T9" fmla="*/ 12 h 67"/>
                    <a:gd name="T10" fmla="*/ 39 w 126"/>
                    <a:gd name="T11" fmla="*/ 66 h 67"/>
                    <a:gd name="T12" fmla="*/ 0 60000 65536"/>
                    <a:gd name="T13" fmla="*/ 0 60000 65536"/>
                    <a:gd name="T14" fmla="*/ 0 60000 65536"/>
                    <a:gd name="T15" fmla="*/ 0 60000 65536"/>
                    <a:gd name="T16" fmla="*/ 0 60000 65536"/>
                    <a:gd name="T17" fmla="*/ 0 60000 65536"/>
                    <a:gd name="T18" fmla="*/ 0 w 126"/>
                    <a:gd name="T19" fmla="*/ 0 h 67"/>
                    <a:gd name="T20" fmla="*/ 126 w 126"/>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126" h="67">
                      <a:moveTo>
                        <a:pt x="39" y="66"/>
                      </a:moveTo>
                      <a:lnTo>
                        <a:pt x="39" y="66"/>
                      </a:lnTo>
                      <a:lnTo>
                        <a:pt x="0" y="56"/>
                      </a:lnTo>
                      <a:lnTo>
                        <a:pt x="91" y="0"/>
                      </a:lnTo>
                      <a:lnTo>
                        <a:pt x="125" y="12"/>
                      </a:lnTo>
                      <a:lnTo>
                        <a:pt x="39" y="66"/>
                      </a:lnTo>
                    </a:path>
                  </a:pathLst>
                </a:custGeom>
                <a:solidFill>
                  <a:srgbClr val="CF5C82"/>
                </a:solidFill>
                <a:ln w="9525" cap="rnd">
                  <a:noFill/>
                  <a:round/>
                </a:ln>
              </p:spPr>
              <p:txBody>
                <a:bodyPr/>
                <a:lstStyle/>
                <a:p>
                  <a:endParaRPr lang="zh-CN" altLang="en-US"/>
                </a:p>
              </p:txBody>
            </p:sp>
          </p:grpSp>
          <p:grpSp>
            <p:nvGrpSpPr>
              <p:cNvPr id="13" name="Group 81"/>
              <p:cNvGrpSpPr/>
              <p:nvPr/>
            </p:nvGrpSpPr>
            <p:grpSpPr bwMode="auto">
              <a:xfrm>
                <a:off x="2166" y="2228"/>
                <a:ext cx="139" cy="118"/>
                <a:chOff x="2166" y="2228"/>
                <a:chExt cx="139" cy="118"/>
              </a:xfrm>
            </p:grpSpPr>
            <p:sp>
              <p:nvSpPr>
                <p:cNvPr id="10576" name="Freeform 82"/>
                <p:cNvSpPr/>
                <p:nvPr/>
              </p:nvSpPr>
              <p:spPr bwMode="auto">
                <a:xfrm>
                  <a:off x="2209" y="2237"/>
                  <a:ext cx="96" cy="109"/>
                </a:xfrm>
                <a:custGeom>
                  <a:avLst/>
                  <a:gdLst>
                    <a:gd name="T0" fmla="*/ 0 w 96"/>
                    <a:gd name="T1" fmla="*/ 108 h 109"/>
                    <a:gd name="T2" fmla="*/ 0 w 96"/>
                    <a:gd name="T3" fmla="*/ 108 h 109"/>
                    <a:gd name="T4" fmla="*/ 0 w 96"/>
                    <a:gd name="T5" fmla="*/ 58 h 109"/>
                    <a:gd name="T6" fmla="*/ 95 w 96"/>
                    <a:gd name="T7" fmla="*/ 0 h 109"/>
                    <a:gd name="T8" fmla="*/ 92 w 96"/>
                    <a:gd name="T9" fmla="*/ 49 h 109"/>
                    <a:gd name="T10" fmla="*/ 0 w 96"/>
                    <a:gd name="T11" fmla="*/ 108 h 109"/>
                    <a:gd name="T12" fmla="*/ 0 60000 65536"/>
                    <a:gd name="T13" fmla="*/ 0 60000 65536"/>
                    <a:gd name="T14" fmla="*/ 0 60000 65536"/>
                    <a:gd name="T15" fmla="*/ 0 60000 65536"/>
                    <a:gd name="T16" fmla="*/ 0 60000 65536"/>
                    <a:gd name="T17" fmla="*/ 0 60000 65536"/>
                    <a:gd name="T18" fmla="*/ 0 w 96"/>
                    <a:gd name="T19" fmla="*/ 0 h 109"/>
                    <a:gd name="T20" fmla="*/ 96 w 96"/>
                    <a:gd name="T21" fmla="*/ 109 h 109"/>
                  </a:gdLst>
                  <a:ahLst/>
                  <a:cxnLst>
                    <a:cxn ang="T12">
                      <a:pos x="T0" y="T1"/>
                    </a:cxn>
                    <a:cxn ang="T13">
                      <a:pos x="T2" y="T3"/>
                    </a:cxn>
                    <a:cxn ang="T14">
                      <a:pos x="T4" y="T5"/>
                    </a:cxn>
                    <a:cxn ang="T15">
                      <a:pos x="T6" y="T7"/>
                    </a:cxn>
                    <a:cxn ang="T16">
                      <a:pos x="T8" y="T9"/>
                    </a:cxn>
                    <a:cxn ang="T17">
                      <a:pos x="T10" y="T11"/>
                    </a:cxn>
                  </a:cxnLst>
                  <a:rect l="T18" t="T19" r="T20" b="T21"/>
                  <a:pathLst>
                    <a:path w="96" h="109">
                      <a:moveTo>
                        <a:pt x="0" y="108"/>
                      </a:moveTo>
                      <a:lnTo>
                        <a:pt x="0" y="108"/>
                      </a:lnTo>
                      <a:lnTo>
                        <a:pt x="0" y="58"/>
                      </a:lnTo>
                      <a:lnTo>
                        <a:pt x="95" y="0"/>
                      </a:lnTo>
                      <a:lnTo>
                        <a:pt x="92" y="49"/>
                      </a:lnTo>
                      <a:lnTo>
                        <a:pt x="0" y="108"/>
                      </a:lnTo>
                    </a:path>
                  </a:pathLst>
                </a:custGeom>
                <a:solidFill>
                  <a:srgbClr val="BB1A50"/>
                </a:solidFill>
                <a:ln w="9525" cap="rnd">
                  <a:noFill/>
                  <a:round/>
                </a:ln>
              </p:spPr>
              <p:txBody>
                <a:bodyPr/>
                <a:lstStyle/>
                <a:p>
                  <a:endParaRPr lang="zh-CN" altLang="en-US"/>
                </a:p>
              </p:txBody>
            </p:sp>
            <p:sp>
              <p:nvSpPr>
                <p:cNvPr id="10577" name="Freeform 83"/>
                <p:cNvSpPr/>
                <p:nvPr/>
              </p:nvSpPr>
              <p:spPr bwMode="auto">
                <a:xfrm>
                  <a:off x="2167" y="2285"/>
                  <a:ext cx="41" cy="61"/>
                </a:xfrm>
                <a:custGeom>
                  <a:avLst/>
                  <a:gdLst>
                    <a:gd name="T0" fmla="*/ 40 w 41"/>
                    <a:gd name="T1" fmla="*/ 60 h 61"/>
                    <a:gd name="T2" fmla="*/ 40 w 41"/>
                    <a:gd name="T3" fmla="*/ 60 h 61"/>
                    <a:gd name="T4" fmla="*/ 0 w 41"/>
                    <a:gd name="T5" fmla="*/ 51 h 61"/>
                    <a:gd name="T6" fmla="*/ 0 w 41"/>
                    <a:gd name="T7" fmla="*/ 0 h 61"/>
                    <a:gd name="T8" fmla="*/ 40 w 41"/>
                    <a:gd name="T9" fmla="*/ 11 h 61"/>
                    <a:gd name="T10" fmla="*/ 40 w 41"/>
                    <a:gd name="T11" fmla="*/ 60 h 61"/>
                    <a:gd name="T12" fmla="*/ 0 60000 65536"/>
                    <a:gd name="T13" fmla="*/ 0 60000 65536"/>
                    <a:gd name="T14" fmla="*/ 0 60000 65536"/>
                    <a:gd name="T15" fmla="*/ 0 60000 65536"/>
                    <a:gd name="T16" fmla="*/ 0 60000 65536"/>
                    <a:gd name="T17" fmla="*/ 0 60000 65536"/>
                    <a:gd name="T18" fmla="*/ 0 w 41"/>
                    <a:gd name="T19" fmla="*/ 0 h 61"/>
                    <a:gd name="T20" fmla="*/ 41 w 41"/>
                    <a:gd name="T21" fmla="*/ 61 h 61"/>
                  </a:gdLst>
                  <a:ahLst/>
                  <a:cxnLst>
                    <a:cxn ang="T12">
                      <a:pos x="T0" y="T1"/>
                    </a:cxn>
                    <a:cxn ang="T13">
                      <a:pos x="T2" y="T3"/>
                    </a:cxn>
                    <a:cxn ang="T14">
                      <a:pos x="T4" y="T5"/>
                    </a:cxn>
                    <a:cxn ang="T15">
                      <a:pos x="T6" y="T7"/>
                    </a:cxn>
                    <a:cxn ang="T16">
                      <a:pos x="T8" y="T9"/>
                    </a:cxn>
                    <a:cxn ang="T17">
                      <a:pos x="T10" y="T11"/>
                    </a:cxn>
                  </a:cxnLst>
                  <a:rect l="T18" t="T19" r="T20" b="T21"/>
                  <a:pathLst>
                    <a:path w="41" h="61">
                      <a:moveTo>
                        <a:pt x="40" y="60"/>
                      </a:moveTo>
                      <a:lnTo>
                        <a:pt x="40" y="60"/>
                      </a:lnTo>
                      <a:lnTo>
                        <a:pt x="0" y="51"/>
                      </a:lnTo>
                      <a:lnTo>
                        <a:pt x="0" y="0"/>
                      </a:lnTo>
                      <a:lnTo>
                        <a:pt x="40" y="11"/>
                      </a:lnTo>
                      <a:lnTo>
                        <a:pt x="40" y="60"/>
                      </a:lnTo>
                    </a:path>
                  </a:pathLst>
                </a:custGeom>
                <a:solidFill>
                  <a:srgbClr val="9E0005"/>
                </a:solidFill>
                <a:ln w="9525" cap="rnd">
                  <a:noFill/>
                  <a:round/>
                </a:ln>
              </p:spPr>
              <p:txBody>
                <a:bodyPr/>
                <a:lstStyle/>
                <a:p>
                  <a:endParaRPr lang="zh-CN" altLang="en-US"/>
                </a:p>
              </p:txBody>
            </p:sp>
            <p:sp>
              <p:nvSpPr>
                <p:cNvPr id="10578" name="Freeform 84"/>
                <p:cNvSpPr/>
                <p:nvPr/>
              </p:nvSpPr>
              <p:spPr bwMode="auto">
                <a:xfrm>
                  <a:off x="2166" y="2228"/>
                  <a:ext cx="138" cy="67"/>
                </a:xfrm>
                <a:custGeom>
                  <a:avLst/>
                  <a:gdLst>
                    <a:gd name="T0" fmla="*/ 41 w 138"/>
                    <a:gd name="T1" fmla="*/ 66 h 67"/>
                    <a:gd name="T2" fmla="*/ 41 w 138"/>
                    <a:gd name="T3" fmla="*/ 66 h 67"/>
                    <a:gd name="T4" fmla="*/ 0 w 138"/>
                    <a:gd name="T5" fmla="*/ 54 h 67"/>
                    <a:gd name="T6" fmla="*/ 97 w 138"/>
                    <a:gd name="T7" fmla="*/ 0 h 67"/>
                    <a:gd name="T8" fmla="*/ 137 w 138"/>
                    <a:gd name="T9" fmla="*/ 9 h 67"/>
                    <a:gd name="T10" fmla="*/ 41 w 138"/>
                    <a:gd name="T11" fmla="*/ 66 h 67"/>
                    <a:gd name="T12" fmla="*/ 0 60000 65536"/>
                    <a:gd name="T13" fmla="*/ 0 60000 65536"/>
                    <a:gd name="T14" fmla="*/ 0 60000 65536"/>
                    <a:gd name="T15" fmla="*/ 0 60000 65536"/>
                    <a:gd name="T16" fmla="*/ 0 60000 65536"/>
                    <a:gd name="T17" fmla="*/ 0 60000 65536"/>
                    <a:gd name="T18" fmla="*/ 0 w 138"/>
                    <a:gd name="T19" fmla="*/ 0 h 67"/>
                    <a:gd name="T20" fmla="*/ 138 w 138"/>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138" h="67">
                      <a:moveTo>
                        <a:pt x="41" y="66"/>
                      </a:moveTo>
                      <a:lnTo>
                        <a:pt x="41" y="66"/>
                      </a:lnTo>
                      <a:lnTo>
                        <a:pt x="0" y="54"/>
                      </a:lnTo>
                      <a:lnTo>
                        <a:pt x="97" y="0"/>
                      </a:lnTo>
                      <a:lnTo>
                        <a:pt x="137" y="9"/>
                      </a:lnTo>
                      <a:lnTo>
                        <a:pt x="41" y="66"/>
                      </a:lnTo>
                    </a:path>
                  </a:pathLst>
                </a:custGeom>
                <a:solidFill>
                  <a:srgbClr val="CF5C82"/>
                </a:solidFill>
                <a:ln w="9525" cap="rnd">
                  <a:noFill/>
                  <a:round/>
                </a:ln>
              </p:spPr>
              <p:txBody>
                <a:bodyPr/>
                <a:lstStyle/>
                <a:p>
                  <a:endParaRPr lang="zh-CN" altLang="en-US"/>
                </a:p>
              </p:txBody>
            </p:sp>
          </p:grpSp>
          <p:grpSp>
            <p:nvGrpSpPr>
              <p:cNvPr id="14" name="Group 85"/>
              <p:cNvGrpSpPr/>
              <p:nvPr/>
            </p:nvGrpSpPr>
            <p:grpSpPr bwMode="auto">
              <a:xfrm>
                <a:off x="2053" y="2291"/>
                <a:ext cx="150" cy="125"/>
                <a:chOff x="2053" y="2291"/>
                <a:chExt cx="150" cy="125"/>
              </a:xfrm>
            </p:grpSpPr>
            <p:sp>
              <p:nvSpPr>
                <p:cNvPr id="10573" name="Freeform 86"/>
                <p:cNvSpPr/>
                <p:nvPr/>
              </p:nvSpPr>
              <p:spPr bwMode="auto">
                <a:xfrm>
                  <a:off x="2098" y="2301"/>
                  <a:ext cx="104" cy="115"/>
                </a:xfrm>
                <a:custGeom>
                  <a:avLst/>
                  <a:gdLst>
                    <a:gd name="T0" fmla="*/ 0 w 104"/>
                    <a:gd name="T1" fmla="*/ 114 h 115"/>
                    <a:gd name="T2" fmla="*/ 0 w 104"/>
                    <a:gd name="T3" fmla="*/ 114 h 115"/>
                    <a:gd name="T4" fmla="*/ 0 w 104"/>
                    <a:gd name="T5" fmla="*/ 61 h 115"/>
                    <a:gd name="T6" fmla="*/ 103 w 104"/>
                    <a:gd name="T7" fmla="*/ 0 h 115"/>
                    <a:gd name="T8" fmla="*/ 103 w 104"/>
                    <a:gd name="T9" fmla="*/ 52 h 115"/>
                    <a:gd name="T10" fmla="*/ 0 w 104"/>
                    <a:gd name="T11" fmla="*/ 114 h 115"/>
                    <a:gd name="T12" fmla="*/ 0 60000 65536"/>
                    <a:gd name="T13" fmla="*/ 0 60000 65536"/>
                    <a:gd name="T14" fmla="*/ 0 60000 65536"/>
                    <a:gd name="T15" fmla="*/ 0 60000 65536"/>
                    <a:gd name="T16" fmla="*/ 0 60000 65536"/>
                    <a:gd name="T17" fmla="*/ 0 60000 65536"/>
                    <a:gd name="T18" fmla="*/ 0 w 104"/>
                    <a:gd name="T19" fmla="*/ 0 h 115"/>
                    <a:gd name="T20" fmla="*/ 104 w 104"/>
                    <a:gd name="T21" fmla="*/ 115 h 115"/>
                  </a:gdLst>
                  <a:ahLst/>
                  <a:cxnLst>
                    <a:cxn ang="T12">
                      <a:pos x="T0" y="T1"/>
                    </a:cxn>
                    <a:cxn ang="T13">
                      <a:pos x="T2" y="T3"/>
                    </a:cxn>
                    <a:cxn ang="T14">
                      <a:pos x="T4" y="T5"/>
                    </a:cxn>
                    <a:cxn ang="T15">
                      <a:pos x="T6" y="T7"/>
                    </a:cxn>
                    <a:cxn ang="T16">
                      <a:pos x="T8" y="T9"/>
                    </a:cxn>
                    <a:cxn ang="T17">
                      <a:pos x="T10" y="T11"/>
                    </a:cxn>
                  </a:cxnLst>
                  <a:rect l="T18" t="T19" r="T20" b="T21"/>
                  <a:pathLst>
                    <a:path w="104" h="115">
                      <a:moveTo>
                        <a:pt x="0" y="114"/>
                      </a:moveTo>
                      <a:lnTo>
                        <a:pt x="0" y="114"/>
                      </a:lnTo>
                      <a:lnTo>
                        <a:pt x="0" y="61"/>
                      </a:lnTo>
                      <a:lnTo>
                        <a:pt x="103" y="0"/>
                      </a:lnTo>
                      <a:lnTo>
                        <a:pt x="103" y="52"/>
                      </a:lnTo>
                      <a:lnTo>
                        <a:pt x="0" y="114"/>
                      </a:lnTo>
                    </a:path>
                  </a:pathLst>
                </a:custGeom>
                <a:solidFill>
                  <a:srgbClr val="BB1A50"/>
                </a:solidFill>
                <a:ln w="9525" cap="rnd">
                  <a:noFill/>
                  <a:round/>
                </a:ln>
              </p:spPr>
              <p:txBody>
                <a:bodyPr/>
                <a:lstStyle/>
                <a:p>
                  <a:endParaRPr lang="zh-CN" altLang="en-US"/>
                </a:p>
              </p:txBody>
            </p:sp>
            <p:sp>
              <p:nvSpPr>
                <p:cNvPr id="10574" name="Freeform 87"/>
                <p:cNvSpPr/>
                <p:nvPr/>
              </p:nvSpPr>
              <p:spPr bwMode="auto">
                <a:xfrm>
                  <a:off x="2053" y="2355"/>
                  <a:ext cx="45" cy="61"/>
                </a:xfrm>
                <a:custGeom>
                  <a:avLst/>
                  <a:gdLst>
                    <a:gd name="T0" fmla="*/ 44 w 45"/>
                    <a:gd name="T1" fmla="*/ 60 h 61"/>
                    <a:gd name="T2" fmla="*/ 44 w 45"/>
                    <a:gd name="T3" fmla="*/ 60 h 61"/>
                    <a:gd name="T4" fmla="*/ 0 w 45"/>
                    <a:gd name="T5" fmla="*/ 53 h 61"/>
                    <a:gd name="T6" fmla="*/ 0 w 45"/>
                    <a:gd name="T7" fmla="*/ 0 h 61"/>
                    <a:gd name="T8" fmla="*/ 44 w 45"/>
                    <a:gd name="T9" fmla="*/ 8 h 61"/>
                    <a:gd name="T10" fmla="*/ 44 w 45"/>
                    <a:gd name="T11" fmla="*/ 60 h 61"/>
                    <a:gd name="T12" fmla="*/ 0 60000 65536"/>
                    <a:gd name="T13" fmla="*/ 0 60000 65536"/>
                    <a:gd name="T14" fmla="*/ 0 60000 65536"/>
                    <a:gd name="T15" fmla="*/ 0 60000 65536"/>
                    <a:gd name="T16" fmla="*/ 0 60000 65536"/>
                    <a:gd name="T17" fmla="*/ 0 60000 65536"/>
                    <a:gd name="T18" fmla="*/ 0 w 45"/>
                    <a:gd name="T19" fmla="*/ 0 h 61"/>
                    <a:gd name="T20" fmla="*/ 45 w 45"/>
                    <a:gd name="T21" fmla="*/ 61 h 61"/>
                  </a:gdLst>
                  <a:ahLst/>
                  <a:cxnLst>
                    <a:cxn ang="T12">
                      <a:pos x="T0" y="T1"/>
                    </a:cxn>
                    <a:cxn ang="T13">
                      <a:pos x="T2" y="T3"/>
                    </a:cxn>
                    <a:cxn ang="T14">
                      <a:pos x="T4" y="T5"/>
                    </a:cxn>
                    <a:cxn ang="T15">
                      <a:pos x="T6" y="T7"/>
                    </a:cxn>
                    <a:cxn ang="T16">
                      <a:pos x="T8" y="T9"/>
                    </a:cxn>
                    <a:cxn ang="T17">
                      <a:pos x="T10" y="T11"/>
                    </a:cxn>
                  </a:cxnLst>
                  <a:rect l="T18" t="T19" r="T20" b="T21"/>
                  <a:pathLst>
                    <a:path w="45" h="61">
                      <a:moveTo>
                        <a:pt x="44" y="60"/>
                      </a:moveTo>
                      <a:lnTo>
                        <a:pt x="44" y="60"/>
                      </a:lnTo>
                      <a:lnTo>
                        <a:pt x="0" y="53"/>
                      </a:lnTo>
                      <a:lnTo>
                        <a:pt x="0" y="0"/>
                      </a:lnTo>
                      <a:lnTo>
                        <a:pt x="44" y="8"/>
                      </a:lnTo>
                      <a:lnTo>
                        <a:pt x="44" y="60"/>
                      </a:lnTo>
                    </a:path>
                  </a:pathLst>
                </a:custGeom>
                <a:solidFill>
                  <a:srgbClr val="9E0005"/>
                </a:solidFill>
                <a:ln w="9525" cap="rnd">
                  <a:noFill/>
                  <a:round/>
                </a:ln>
              </p:spPr>
              <p:txBody>
                <a:bodyPr/>
                <a:lstStyle/>
                <a:p>
                  <a:endParaRPr lang="zh-CN" altLang="en-US"/>
                </a:p>
              </p:txBody>
            </p:sp>
            <p:sp>
              <p:nvSpPr>
                <p:cNvPr id="10575" name="Freeform 88"/>
                <p:cNvSpPr/>
                <p:nvPr/>
              </p:nvSpPr>
              <p:spPr bwMode="auto">
                <a:xfrm>
                  <a:off x="2053" y="2291"/>
                  <a:ext cx="150" cy="72"/>
                </a:xfrm>
                <a:custGeom>
                  <a:avLst/>
                  <a:gdLst>
                    <a:gd name="T0" fmla="*/ 45 w 150"/>
                    <a:gd name="T1" fmla="*/ 71 h 72"/>
                    <a:gd name="T2" fmla="*/ 45 w 150"/>
                    <a:gd name="T3" fmla="*/ 71 h 72"/>
                    <a:gd name="T4" fmla="*/ 0 w 150"/>
                    <a:gd name="T5" fmla="*/ 62 h 72"/>
                    <a:gd name="T6" fmla="*/ 107 w 150"/>
                    <a:gd name="T7" fmla="*/ 0 h 72"/>
                    <a:gd name="T8" fmla="*/ 149 w 150"/>
                    <a:gd name="T9" fmla="*/ 8 h 72"/>
                    <a:gd name="T10" fmla="*/ 45 w 150"/>
                    <a:gd name="T11" fmla="*/ 71 h 72"/>
                    <a:gd name="T12" fmla="*/ 0 60000 65536"/>
                    <a:gd name="T13" fmla="*/ 0 60000 65536"/>
                    <a:gd name="T14" fmla="*/ 0 60000 65536"/>
                    <a:gd name="T15" fmla="*/ 0 60000 65536"/>
                    <a:gd name="T16" fmla="*/ 0 60000 65536"/>
                    <a:gd name="T17" fmla="*/ 0 60000 65536"/>
                    <a:gd name="T18" fmla="*/ 0 w 150"/>
                    <a:gd name="T19" fmla="*/ 0 h 72"/>
                    <a:gd name="T20" fmla="*/ 150 w 150"/>
                    <a:gd name="T21" fmla="*/ 72 h 72"/>
                  </a:gdLst>
                  <a:ahLst/>
                  <a:cxnLst>
                    <a:cxn ang="T12">
                      <a:pos x="T0" y="T1"/>
                    </a:cxn>
                    <a:cxn ang="T13">
                      <a:pos x="T2" y="T3"/>
                    </a:cxn>
                    <a:cxn ang="T14">
                      <a:pos x="T4" y="T5"/>
                    </a:cxn>
                    <a:cxn ang="T15">
                      <a:pos x="T6" y="T7"/>
                    </a:cxn>
                    <a:cxn ang="T16">
                      <a:pos x="T8" y="T9"/>
                    </a:cxn>
                    <a:cxn ang="T17">
                      <a:pos x="T10" y="T11"/>
                    </a:cxn>
                  </a:cxnLst>
                  <a:rect l="T18" t="T19" r="T20" b="T21"/>
                  <a:pathLst>
                    <a:path w="150" h="72">
                      <a:moveTo>
                        <a:pt x="45" y="71"/>
                      </a:moveTo>
                      <a:lnTo>
                        <a:pt x="45" y="71"/>
                      </a:lnTo>
                      <a:lnTo>
                        <a:pt x="0" y="62"/>
                      </a:lnTo>
                      <a:lnTo>
                        <a:pt x="107" y="0"/>
                      </a:lnTo>
                      <a:lnTo>
                        <a:pt x="149" y="8"/>
                      </a:lnTo>
                      <a:lnTo>
                        <a:pt x="45" y="71"/>
                      </a:lnTo>
                    </a:path>
                  </a:pathLst>
                </a:custGeom>
                <a:solidFill>
                  <a:srgbClr val="CF5C82"/>
                </a:solidFill>
                <a:ln w="9525" cap="rnd">
                  <a:noFill/>
                  <a:round/>
                </a:ln>
              </p:spPr>
              <p:txBody>
                <a:bodyPr/>
                <a:lstStyle/>
                <a:p>
                  <a:endParaRPr lang="zh-CN" altLang="en-US"/>
                </a:p>
              </p:txBody>
            </p:sp>
          </p:grpSp>
          <p:sp>
            <p:nvSpPr>
              <p:cNvPr id="10542" name="Freeform 89"/>
              <p:cNvSpPr/>
              <p:nvPr/>
            </p:nvSpPr>
            <p:spPr bwMode="auto">
              <a:xfrm>
                <a:off x="2484" y="2115"/>
                <a:ext cx="17" cy="49"/>
              </a:xfrm>
              <a:custGeom>
                <a:avLst/>
                <a:gdLst>
                  <a:gd name="T0" fmla="*/ 0 w 17"/>
                  <a:gd name="T1" fmla="*/ 48 h 49"/>
                  <a:gd name="T2" fmla="*/ 0 w 17"/>
                  <a:gd name="T3" fmla="*/ 48 h 49"/>
                  <a:gd name="T4" fmla="*/ 0 w 17"/>
                  <a:gd name="T5" fmla="*/ 24 h 49"/>
                  <a:gd name="T6" fmla="*/ 4 w 17"/>
                  <a:gd name="T7" fmla="*/ 6 h 49"/>
                  <a:gd name="T8" fmla="*/ 4 w 17"/>
                  <a:gd name="T9" fmla="*/ 0 h 49"/>
                  <a:gd name="T10" fmla="*/ 11 w 17"/>
                  <a:gd name="T11" fmla="*/ 0 h 49"/>
                  <a:gd name="T12" fmla="*/ 16 w 17"/>
                  <a:gd name="T13" fmla="*/ 0 h 49"/>
                  <a:gd name="T14" fmla="*/ 11 w 17"/>
                  <a:gd name="T15" fmla="*/ 20 h 49"/>
                  <a:gd name="T16" fmla="*/ 11 w 17"/>
                  <a:gd name="T17" fmla="*/ 36 h 49"/>
                  <a:gd name="T18" fmla="*/ 11 w 17"/>
                  <a:gd name="T19" fmla="*/ 45 h 49"/>
                  <a:gd name="T20" fmla="*/ 4 w 17"/>
                  <a:gd name="T21" fmla="*/ 45 h 49"/>
                  <a:gd name="T22" fmla="*/ 0 w 17"/>
                  <a:gd name="T23" fmla="*/ 48 h 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
                  <a:gd name="T37" fmla="*/ 0 h 49"/>
                  <a:gd name="T38" fmla="*/ 17 w 17"/>
                  <a:gd name="T39" fmla="*/ 49 h 4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 h="49">
                    <a:moveTo>
                      <a:pt x="0" y="48"/>
                    </a:moveTo>
                    <a:lnTo>
                      <a:pt x="0" y="48"/>
                    </a:lnTo>
                    <a:lnTo>
                      <a:pt x="0" y="24"/>
                    </a:lnTo>
                    <a:lnTo>
                      <a:pt x="4" y="6"/>
                    </a:lnTo>
                    <a:lnTo>
                      <a:pt x="4" y="0"/>
                    </a:lnTo>
                    <a:lnTo>
                      <a:pt x="11" y="0"/>
                    </a:lnTo>
                    <a:lnTo>
                      <a:pt x="16" y="0"/>
                    </a:lnTo>
                    <a:lnTo>
                      <a:pt x="11" y="20"/>
                    </a:lnTo>
                    <a:lnTo>
                      <a:pt x="11" y="36"/>
                    </a:lnTo>
                    <a:lnTo>
                      <a:pt x="11" y="45"/>
                    </a:lnTo>
                    <a:lnTo>
                      <a:pt x="4" y="45"/>
                    </a:lnTo>
                    <a:lnTo>
                      <a:pt x="0" y="48"/>
                    </a:lnTo>
                  </a:path>
                </a:pathLst>
              </a:custGeom>
              <a:solidFill>
                <a:srgbClr val="BDB597"/>
              </a:solidFill>
              <a:ln w="9525" cap="rnd">
                <a:noFill/>
                <a:round/>
              </a:ln>
            </p:spPr>
            <p:txBody>
              <a:bodyPr/>
              <a:lstStyle/>
              <a:p>
                <a:endParaRPr lang="zh-CN" altLang="en-US"/>
              </a:p>
            </p:txBody>
          </p:sp>
          <p:sp>
            <p:nvSpPr>
              <p:cNvPr id="10543" name="Freeform 90"/>
              <p:cNvSpPr/>
              <p:nvPr/>
            </p:nvSpPr>
            <p:spPr bwMode="auto">
              <a:xfrm>
                <a:off x="2098" y="2086"/>
                <a:ext cx="428" cy="279"/>
              </a:xfrm>
              <a:custGeom>
                <a:avLst/>
                <a:gdLst>
                  <a:gd name="T0" fmla="*/ 427 w 428"/>
                  <a:gd name="T1" fmla="*/ 0 h 279"/>
                  <a:gd name="T2" fmla="*/ 427 w 428"/>
                  <a:gd name="T3" fmla="*/ 0 h 279"/>
                  <a:gd name="T4" fmla="*/ 0 w 428"/>
                  <a:gd name="T5" fmla="*/ 271 h 279"/>
                  <a:gd name="T6" fmla="*/ 0 w 428"/>
                  <a:gd name="T7" fmla="*/ 278 h 279"/>
                  <a:gd name="T8" fmla="*/ 427 w 428"/>
                  <a:gd name="T9" fmla="*/ 6 h 279"/>
                  <a:gd name="T10" fmla="*/ 427 w 428"/>
                  <a:gd name="T11" fmla="*/ 0 h 279"/>
                  <a:gd name="T12" fmla="*/ 0 60000 65536"/>
                  <a:gd name="T13" fmla="*/ 0 60000 65536"/>
                  <a:gd name="T14" fmla="*/ 0 60000 65536"/>
                  <a:gd name="T15" fmla="*/ 0 60000 65536"/>
                  <a:gd name="T16" fmla="*/ 0 60000 65536"/>
                  <a:gd name="T17" fmla="*/ 0 60000 65536"/>
                  <a:gd name="T18" fmla="*/ 0 w 428"/>
                  <a:gd name="T19" fmla="*/ 0 h 279"/>
                  <a:gd name="T20" fmla="*/ 428 w 428"/>
                  <a:gd name="T21" fmla="*/ 279 h 279"/>
                </a:gdLst>
                <a:ahLst/>
                <a:cxnLst>
                  <a:cxn ang="T12">
                    <a:pos x="T0" y="T1"/>
                  </a:cxn>
                  <a:cxn ang="T13">
                    <a:pos x="T2" y="T3"/>
                  </a:cxn>
                  <a:cxn ang="T14">
                    <a:pos x="T4" y="T5"/>
                  </a:cxn>
                  <a:cxn ang="T15">
                    <a:pos x="T6" y="T7"/>
                  </a:cxn>
                  <a:cxn ang="T16">
                    <a:pos x="T8" y="T9"/>
                  </a:cxn>
                  <a:cxn ang="T17">
                    <a:pos x="T10" y="T11"/>
                  </a:cxn>
                </a:cxnLst>
                <a:rect l="T18" t="T19" r="T20" b="T21"/>
                <a:pathLst>
                  <a:path w="428" h="279">
                    <a:moveTo>
                      <a:pt x="427" y="0"/>
                    </a:moveTo>
                    <a:lnTo>
                      <a:pt x="427" y="0"/>
                    </a:lnTo>
                    <a:lnTo>
                      <a:pt x="0" y="271"/>
                    </a:lnTo>
                    <a:lnTo>
                      <a:pt x="0" y="278"/>
                    </a:lnTo>
                    <a:lnTo>
                      <a:pt x="427" y="6"/>
                    </a:lnTo>
                    <a:lnTo>
                      <a:pt x="427" y="0"/>
                    </a:lnTo>
                  </a:path>
                </a:pathLst>
              </a:custGeom>
              <a:solidFill>
                <a:srgbClr val="BDB597"/>
              </a:solidFill>
              <a:ln w="9525" cap="rnd">
                <a:noFill/>
                <a:round/>
              </a:ln>
            </p:spPr>
            <p:txBody>
              <a:bodyPr/>
              <a:lstStyle/>
              <a:p>
                <a:endParaRPr lang="zh-CN" altLang="en-US"/>
              </a:p>
            </p:txBody>
          </p:sp>
          <p:sp>
            <p:nvSpPr>
              <p:cNvPr id="10544" name="Freeform 91"/>
              <p:cNvSpPr/>
              <p:nvPr/>
            </p:nvSpPr>
            <p:spPr bwMode="auto">
              <a:xfrm>
                <a:off x="2396" y="2173"/>
                <a:ext cx="17" cy="52"/>
              </a:xfrm>
              <a:custGeom>
                <a:avLst/>
                <a:gdLst>
                  <a:gd name="T0" fmla="*/ 0 w 17"/>
                  <a:gd name="T1" fmla="*/ 51 h 52"/>
                  <a:gd name="T2" fmla="*/ 0 w 17"/>
                  <a:gd name="T3" fmla="*/ 51 h 52"/>
                  <a:gd name="T4" fmla="*/ 0 w 17"/>
                  <a:gd name="T5" fmla="*/ 42 h 52"/>
                  <a:gd name="T6" fmla="*/ 0 w 17"/>
                  <a:gd name="T7" fmla="*/ 26 h 52"/>
                  <a:gd name="T8" fmla="*/ 0 w 17"/>
                  <a:gd name="T9" fmla="*/ 15 h 52"/>
                  <a:gd name="T10" fmla="*/ 4 w 17"/>
                  <a:gd name="T11" fmla="*/ 8 h 52"/>
                  <a:gd name="T12" fmla="*/ 4 w 17"/>
                  <a:gd name="T13" fmla="*/ 6 h 52"/>
                  <a:gd name="T14" fmla="*/ 4 w 17"/>
                  <a:gd name="T15" fmla="*/ 2 h 52"/>
                  <a:gd name="T16" fmla="*/ 4 w 17"/>
                  <a:gd name="T17" fmla="*/ 0 h 52"/>
                  <a:gd name="T18" fmla="*/ 11 w 17"/>
                  <a:gd name="T19" fmla="*/ 0 h 52"/>
                  <a:gd name="T20" fmla="*/ 16 w 17"/>
                  <a:gd name="T21" fmla="*/ 0 h 52"/>
                  <a:gd name="T22" fmla="*/ 16 w 17"/>
                  <a:gd name="T23" fmla="*/ 24 h 52"/>
                  <a:gd name="T24" fmla="*/ 11 w 17"/>
                  <a:gd name="T25" fmla="*/ 39 h 52"/>
                  <a:gd name="T26" fmla="*/ 11 w 17"/>
                  <a:gd name="T27" fmla="*/ 44 h 52"/>
                  <a:gd name="T28" fmla="*/ 11 w 17"/>
                  <a:gd name="T29" fmla="*/ 48 h 52"/>
                  <a:gd name="T30" fmla="*/ 4 w 17"/>
                  <a:gd name="T31" fmla="*/ 48 h 52"/>
                  <a:gd name="T32" fmla="*/ 0 w 17"/>
                  <a:gd name="T33" fmla="*/ 48 h 52"/>
                  <a:gd name="T34" fmla="*/ 0 w 17"/>
                  <a:gd name="T35" fmla="*/ 51 h 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52"/>
                  <a:gd name="T56" fmla="*/ 17 w 17"/>
                  <a:gd name="T57" fmla="*/ 52 h 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52">
                    <a:moveTo>
                      <a:pt x="0" y="51"/>
                    </a:moveTo>
                    <a:lnTo>
                      <a:pt x="0" y="51"/>
                    </a:lnTo>
                    <a:lnTo>
                      <a:pt x="0" y="42"/>
                    </a:lnTo>
                    <a:lnTo>
                      <a:pt x="0" y="26"/>
                    </a:lnTo>
                    <a:lnTo>
                      <a:pt x="0" y="15"/>
                    </a:lnTo>
                    <a:lnTo>
                      <a:pt x="4" y="8"/>
                    </a:lnTo>
                    <a:lnTo>
                      <a:pt x="4" y="6"/>
                    </a:lnTo>
                    <a:lnTo>
                      <a:pt x="4" y="2"/>
                    </a:lnTo>
                    <a:lnTo>
                      <a:pt x="4" y="0"/>
                    </a:lnTo>
                    <a:lnTo>
                      <a:pt x="11" y="0"/>
                    </a:lnTo>
                    <a:lnTo>
                      <a:pt x="16" y="0"/>
                    </a:lnTo>
                    <a:lnTo>
                      <a:pt x="16" y="24"/>
                    </a:lnTo>
                    <a:lnTo>
                      <a:pt x="11" y="39"/>
                    </a:lnTo>
                    <a:lnTo>
                      <a:pt x="11" y="44"/>
                    </a:lnTo>
                    <a:lnTo>
                      <a:pt x="11" y="48"/>
                    </a:lnTo>
                    <a:lnTo>
                      <a:pt x="4" y="48"/>
                    </a:lnTo>
                    <a:lnTo>
                      <a:pt x="0" y="48"/>
                    </a:lnTo>
                    <a:lnTo>
                      <a:pt x="0" y="51"/>
                    </a:lnTo>
                  </a:path>
                </a:pathLst>
              </a:custGeom>
              <a:solidFill>
                <a:srgbClr val="BDB597"/>
              </a:solidFill>
              <a:ln w="9525" cap="rnd">
                <a:noFill/>
                <a:round/>
              </a:ln>
            </p:spPr>
            <p:txBody>
              <a:bodyPr/>
              <a:lstStyle/>
              <a:p>
                <a:endParaRPr lang="zh-CN" altLang="en-US"/>
              </a:p>
            </p:txBody>
          </p:sp>
          <p:sp>
            <p:nvSpPr>
              <p:cNvPr id="10545" name="Freeform 92"/>
              <p:cNvSpPr/>
              <p:nvPr/>
            </p:nvSpPr>
            <p:spPr bwMode="auto">
              <a:xfrm>
                <a:off x="2304" y="2233"/>
                <a:ext cx="17" cy="56"/>
              </a:xfrm>
              <a:custGeom>
                <a:avLst/>
                <a:gdLst>
                  <a:gd name="T0" fmla="*/ 0 w 17"/>
                  <a:gd name="T1" fmla="*/ 55 h 56"/>
                  <a:gd name="T2" fmla="*/ 0 w 17"/>
                  <a:gd name="T3" fmla="*/ 55 h 56"/>
                  <a:gd name="T4" fmla="*/ 0 w 17"/>
                  <a:gd name="T5" fmla="*/ 27 h 56"/>
                  <a:gd name="T6" fmla="*/ 0 w 17"/>
                  <a:gd name="T7" fmla="*/ 18 h 56"/>
                  <a:gd name="T8" fmla="*/ 0 w 17"/>
                  <a:gd name="T9" fmla="*/ 9 h 56"/>
                  <a:gd name="T10" fmla="*/ 0 w 17"/>
                  <a:gd name="T11" fmla="*/ 2 h 56"/>
                  <a:gd name="T12" fmla="*/ 4 w 17"/>
                  <a:gd name="T13" fmla="*/ 0 h 56"/>
                  <a:gd name="T14" fmla="*/ 11 w 17"/>
                  <a:gd name="T15" fmla="*/ 0 h 56"/>
                  <a:gd name="T16" fmla="*/ 16 w 17"/>
                  <a:gd name="T17" fmla="*/ 0 h 56"/>
                  <a:gd name="T18" fmla="*/ 11 w 17"/>
                  <a:gd name="T19" fmla="*/ 24 h 56"/>
                  <a:gd name="T20" fmla="*/ 11 w 17"/>
                  <a:gd name="T21" fmla="*/ 39 h 56"/>
                  <a:gd name="T22" fmla="*/ 11 w 17"/>
                  <a:gd name="T23" fmla="*/ 48 h 56"/>
                  <a:gd name="T24" fmla="*/ 4 w 17"/>
                  <a:gd name="T25" fmla="*/ 48 h 56"/>
                  <a:gd name="T26" fmla="*/ 4 w 17"/>
                  <a:gd name="T27" fmla="*/ 52 h 56"/>
                  <a:gd name="T28" fmla="*/ 0 w 17"/>
                  <a:gd name="T29" fmla="*/ 52 h 56"/>
                  <a:gd name="T30" fmla="*/ 0 w 17"/>
                  <a:gd name="T31" fmla="*/ 55 h 5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
                  <a:gd name="T49" fmla="*/ 0 h 56"/>
                  <a:gd name="T50" fmla="*/ 17 w 17"/>
                  <a:gd name="T51" fmla="*/ 56 h 5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 h="56">
                    <a:moveTo>
                      <a:pt x="0" y="55"/>
                    </a:moveTo>
                    <a:lnTo>
                      <a:pt x="0" y="55"/>
                    </a:lnTo>
                    <a:lnTo>
                      <a:pt x="0" y="27"/>
                    </a:lnTo>
                    <a:lnTo>
                      <a:pt x="0" y="18"/>
                    </a:lnTo>
                    <a:lnTo>
                      <a:pt x="0" y="9"/>
                    </a:lnTo>
                    <a:lnTo>
                      <a:pt x="0" y="2"/>
                    </a:lnTo>
                    <a:lnTo>
                      <a:pt x="4" y="0"/>
                    </a:lnTo>
                    <a:lnTo>
                      <a:pt x="11" y="0"/>
                    </a:lnTo>
                    <a:lnTo>
                      <a:pt x="16" y="0"/>
                    </a:lnTo>
                    <a:lnTo>
                      <a:pt x="11" y="24"/>
                    </a:lnTo>
                    <a:lnTo>
                      <a:pt x="11" y="39"/>
                    </a:lnTo>
                    <a:lnTo>
                      <a:pt x="11" y="48"/>
                    </a:lnTo>
                    <a:lnTo>
                      <a:pt x="4" y="48"/>
                    </a:lnTo>
                    <a:lnTo>
                      <a:pt x="4" y="52"/>
                    </a:lnTo>
                    <a:lnTo>
                      <a:pt x="0" y="52"/>
                    </a:lnTo>
                    <a:lnTo>
                      <a:pt x="0" y="55"/>
                    </a:lnTo>
                  </a:path>
                </a:pathLst>
              </a:custGeom>
              <a:solidFill>
                <a:srgbClr val="BDB597"/>
              </a:solidFill>
              <a:ln w="9525" cap="rnd">
                <a:noFill/>
                <a:round/>
              </a:ln>
            </p:spPr>
            <p:txBody>
              <a:bodyPr/>
              <a:lstStyle/>
              <a:p>
                <a:endParaRPr lang="zh-CN" altLang="en-US"/>
              </a:p>
            </p:txBody>
          </p:sp>
          <p:sp>
            <p:nvSpPr>
              <p:cNvPr id="10546" name="Freeform 93"/>
              <p:cNvSpPr/>
              <p:nvPr/>
            </p:nvSpPr>
            <p:spPr bwMode="auto">
              <a:xfrm>
                <a:off x="2202" y="2298"/>
                <a:ext cx="17" cy="55"/>
              </a:xfrm>
              <a:custGeom>
                <a:avLst/>
                <a:gdLst>
                  <a:gd name="T0" fmla="*/ 0 w 17"/>
                  <a:gd name="T1" fmla="*/ 54 h 55"/>
                  <a:gd name="T2" fmla="*/ 0 w 17"/>
                  <a:gd name="T3" fmla="*/ 54 h 55"/>
                  <a:gd name="T4" fmla="*/ 0 w 17"/>
                  <a:gd name="T5" fmla="*/ 45 h 55"/>
                  <a:gd name="T6" fmla="*/ 0 w 17"/>
                  <a:gd name="T7" fmla="*/ 27 h 55"/>
                  <a:gd name="T8" fmla="*/ 0 w 17"/>
                  <a:gd name="T9" fmla="*/ 18 h 55"/>
                  <a:gd name="T10" fmla="*/ 0 w 17"/>
                  <a:gd name="T11" fmla="*/ 9 h 55"/>
                  <a:gd name="T12" fmla="*/ 0 w 17"/>
                  <a:gd name="T13" fmla="*/ 6 h 55"/>
                  <a:gd name="T14" fmla="*/ 4 w 17"/>
                  <a:gd name="T15" fmla="*/ 2 h 55"/>
                  <a:gd name="T16" fmla="*/ 4 w 17"/>
                  <a:gd name="T17" fmla="*/ 0 h 55"/>
                  <a:gd name="T18" fmla="*/ 11 w 17"/>
                  <a:gd name="T19" fmla="*/ 0 h 55"/>
                  <a:gd name="T20" fmla="*/ 16 w 17"/>
                  <a:gd name="T21" fmla="*/ 0 h 55"/>
                  <a:gd name="T22" fmla="*/ 16 w 17"/>
                  <a:gd name="T23" fmla="*/ 24 h 55"/>
                  <a:gd name="T24" fmla="*/ 16 w 17"/>
                  <a:gd name="T25" fmla="*/ 42 h 55"/>
                  <a:gd name="T26" fmla="*/ 16 w 17"/>
                  <a:gd name="T27" fmla="*/ 45 h 55"/>
                  <a:gd name="T28" fmla="*/ 16 w 17"/>
                  <a:gd name="T29" fmla="*/ 47 h 55"/>
                  <a:gd name="T30" fmla="*/ 16 w 17"/>
                  <a:gd name="T31" fmla="*/ 51 h 55"/>
                  <a:gd name="T32" fmla="*/ 11 w 17"/>
                  <a:gd name="T33" fmla="*/ 51 h 55"/>
                  <a:gd name="T34" fmla="*/ 4 w 17"/>
                  <a:gd name="T35" fmla="*/ 51 h 55"/>
                  <a:gd name="T36" fmla="*/ 4 w 17"/>
                  <a:gd name="T37" fmla="*/ 54 h 55"/>
                  <a:gd name="T38" fmla="*/ 0 w 17"/>
                  <a:gd name="T39" fmla="*/ 54 h 5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
                  <a:gd name="T61" fmla="*/ 0 h 55"/>
                  <a:gd name="T62" fmla="*/ 17 w 17"/>
                  <a:gd name="T63" fmla="*/ 55 h 5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 h="55">
                    <a:moveTo>
                      <a:pt x="0" y="54"/>
                    </a:moveTo>
                    <a:lnTo>
                      <a:pt x="0" y="54"/>
                    </a:lnTo>
                    <a:lnTo>
                      <a:pt x="0" y="45"/>
                    </a:lnTo>
                    <a:lnTo>
                      <a:pt x="0" y="27"/>
                    </a:lnTo>
                    <a:lnTo>
                      <a:pt x="0" y="18"/>
                    </a:lnTo>
                    <a:lnTo>
                      <a:pt x="0" y="9"/>
                    </a:lnTo>
                    <a:lnTo>
                      <a:pt x="0" y="6"/>
                    </a:lnTo>
                    <a:lnTo>
                      <a:pt x="4" y="2"/>
                    </a:lnTo>
                    <a:lnTo>
                      <a:pt x="4" y="0"/>
                    </a:lnTo>
                    <a:lnTo>
                      <a:pt x="11" y="0"/>
                    </a:lnTo>
                    <a:lnTo>
                      <a:pt x="16" y="0"/>
                    </a:lnTo>
                    <a:lnTo>
                      <a:pt x="16" y="24"/>
                    </a:lnTo>
                    <a:lnTo>
                      <a:pt x="16" y="42"/>
                    </a:lnTo>
                    <a:lnTo>
                      <a:pt x="16" y="45"/>
                    </a:lnTo>
                    <a:lnTo>
                      <a:pt x="16" y="47"/>
                    </a:lnTo>
                    <a:lnTo>
                      <a:pt x="16" y="51"/>
                    </a:lnTo>
                    <a:lnTo>
                      <a:pt x="11" y="51"/>
                    </a:lnTo>
                    <a:lnTo>
                      <a:pt x="4" y="51"/>
                    </a:lnTo>
                    <a:lnTo>
                      <a:pt x="4" y="54"/>
                    </a:lnTo>
                    <a:lnTo>
                      <a:pt x="0" y="54"/>
                    </a:lnTo>
                  </a:path>
                </a:pathLst>
              </a:custGeom>
              <a:solidFill>
                <a:srgbClr val="BDB597"/>
              </a:solidFill>
              <a:ln w="9525" cap="rnd">
                <a:noFill/>
                <a:round/>
              </a:ln>
            </p:spPr>
            <p:txBody>
              <a:bodyPr/>
              <a:lstStyle/>
              <a:p>
                <a:endParaRPr lang="zh-CN" altLang="en-US"/>
              </a:p>
            </p:txBody>
          </p:sp>
          <p:grpSp>
            <p:nvGrpSpPr>
              <p:cNvPr id="15" name="Group 94"/>
              <p:cNvGrpSpPr/>
              <p:nvPr/>
            </p:nvGrpSpPr>
            <p:grpSpPr bwMode="auto">
              <a:xfrm>
                <a:off x="2417" y="2026"/>
                <a:ext cx="113" cy="109"/>
                <a:chOff x="2417" y="2026"/>
                <a:chExt cx="113" cy="109"/>
              </a:xfrm>
            </p:grpSpPr>
            <p:sp>
              <p:nvSpPr>
                <p:cNvPr id="10570" name="Freeform 95"/>
                <p:cNvSpPr/>
                <p:nvPr/>
              </p:nvSpPr>
              <p:spPr bwMode="auto">
                <a:xfrm>
                  <a:off x="2449" y="2039"/>
                  <a:ext cx="81" cy="96"/>
                </a:xfrm>
                <a:custGeom>
                  <a:avLst/>
                  <a:gdLst>
                    <a:gd name="T0" fmla="*/ 0 w 81"/>
                    <a:gd name="T1" fmla="*/ 95 h 96"/>
                    <a:gd name="T2" fmla="*/ 0 w 81"/>
                    <a:gd name="T3" fmla="*/ 95 h 96"/>
                    <a:gd name="T4" fmla="*/ 2 w 81"/>
                    <a:gd name="T5" fmla="*/ 45 h 96"/>
                    <a:gd name="T6" fmla="*/ 80 w 81"/>
                    <a:gd name="T7" fmla="*/ 0 h 96"/>
                    <a:gd name="T8" fmla="*/ 77 w 81"/>
                    <a:gd name="T9" fmla="*/ 49 h 96"/>
                    <a:gd name="T10" fmla="*/ 0 w 81"/>
                    <a:gd name="T11" fmla="*/ 95 h 96"/>
                    <a:gd name="T12" fmla="*/ 0 60000 65536"/>
                    <a:gd name="T13" fmla="*/ 0 60000 65536"/>
                    <a:gd name="T14" fmla="*/ 0 60000 65536"/>
                    <a:gd name="T15" fmla="*/ 0 60000 65536"/>
                    <a:gd name="T16" fmla="*/ 0 60000 65536"/>
                    <a:gd name="T17" fmla="*/ 0 60000 65536"/>
                    <a:gd name="T18" fmla="*/ 0 w 81"/>
                    <a:gd name="T19" fmla="*/ 0 h 96"/>
                    <a:gd name="T20" fmla="*/ 81 w 81"/>
                    <a:gd name="T21" fmla="*/ 96 h 96"/>
                  </a:gdLst>
                  <a:ahLst/>
                  <a:cxnLst>
                    <a:cxn ang="T12">
                      <a:pos x="T0" y="T1"/>
                    </a:cxn>
                    <a:cxn ang="T13">
                      <a:pos x="T2" y="T3"/>
                    </a:cxn>
                    <a:cxn ang="T14">
                      <a:pos x="T4" y="T5"/>
                    </a:cxn>
                    <a:cxn ang="T15">
                      <a:pos x="T6" y="T7"/>
                    </a:cxn>
                    <a:cxn ang="T16">
                      <a:pos x="T8" y="T9"/>
                    </a:cxn>
                    <a:cxn ang="T17">
                      <a:pos x="T10" y="T11"/>
                    </a:cxn>
                  </a:cxnLst>
                  <a:rect l="T18" t="T19" r="T20" b="T21"/>
                  <a:pathLst>
                    <a:path w="81" h="96">
                      <a:moveTo>
                        <a:pt x="0" y="95"/>
                      </a:moveTo>
                      <a:lnTo>
                        <a:pt x="0" y="95"/>
                      </a:lnTo>
                      <a:lnTo>
                        <a:pt x="2" y="45"/>
                      </a:lnTo>
                      <a:lnTo>
                        <a:pt x="80" y="0"/>
                      </a:lnTo>
                      <a:lnTo>
                        <a:pt x="77" y="49"/>
                      </a:lnTo>
                      <a:lnTo>
                        <a:pt x="0" y="95"/>
                      </a:lnTo>
                    </a:path>
                  </a:pathLst>
                </a:custGeom>
                <a:solidFill>
                  <a:srgbClr val="BB1A50"/>
                </a:solidFill>
                <a:ln w="9525" cap="rnd">
                  <a:noFill/>
                  <a:round/>
                </a:ln>
              </p:spPr>
              <p:txBody>
                <a:bodyPr/>
                <a:lstStyle/>
                <a:p>
                  <a:endParaRPr lang="zh-CN" altLang="en-US"/>
                </a:p>
              </p:txBody>
            </p:sp>
            <p:sp>
              <p:nvSpPr>
                <p:cNvPr id="10571" name="Freeform 96"/>
                <p:cNvSpPr/>
                <p:nvPr/>
              </p:nvSpPr>
              <p:spPr bwMode="auto">
                <a:xfrm>
                  <a:off x="2417" y="2073"/>
                  <a:ext cx="33" cy="62"/>
                </a:xfrm>
                <a:custGeom>
                  <a:avLst/>
                  <a:gdLst>
                    <a:gd name="T0" fmla="*/ 29 w 33"/>
                    <a:gd name="T1" fmla="*/ 61 h 62"/>
                    <a:gd name="T2" fmla="*/ 29 w 33"/>
                    <a:gd name="T3" fmla="*/ 61 h 62"/>
                    <a:gd name="T4" fmla="*/ 0 w 33"/>
                    <a:gd name="T5" fmla="*/ 48 h 62"/>
                    <a:gd name="T6" fmla="*/ 0 w 33"/>
                    <a:gd name="T7" fmla="*/ 0 h 62"/>
                    <a:gd name="T8" fmla="*/ 32 w 33"/>
                    <a:gd name="T9" fmla="*/ 12 h 62"/>
                    <a:gd name="T10" fmla="*/ 29 w 33"/>
                    <a:gd name="T11" fmla="*/ 61 h 62"/>
                    <a:gd name="T12" fmla="*/ 0 60000 65536"/>
                    <a:gd name="T13" fmla="*/ 0 60000 65536"/>
                    <a:gd name="T14" fmla="*/ 0 60000 65536"/>
                    <a:gd name="T15" fmla="*/ 0 60000 65536"/>
                    <a:gd name="T16" fmla="*/ 0 60000 65536"/>
                    <a:gd name="T17" fmla="*/ 0 60000 65536"/>
                    <a:gd name="T18" fmla="*/ 0 w 33"/>
                    <a:gd name="T19" fmla="*/ 0 h 62"/>
                    <a:gd name="T20" fmla="*/ 33 w 33"/>
                    <a:gd name="T21" fmla="*/ 62 h 62"/>
                  </a:gdLst>
                  <a:ahLst/>
                  <a:cxnLst>
                    <a:cxn ang="T12">
                      <a:pos x="T0" y="T1"/>
                    </a:cxn>
                    <a:cxn ang="T13">
                      <a:pos x="T2" y="T3"/>
                    </a:cxn>
                    <a:cxn ang="T14">
                      <a:pos x="T4" y="T5"/>
                    </a:cxn>
                    <a:cxn ang="T15">
                      <a:pos x="T6" y="T7"/>
                    </a:cxn>
                    <a:cxn ang="T16">
                      <a:pos x="T8" y="T9"/>
                    </a:cxn>
                    <a:cxn ang="T17">
                      <a:pos x="T10" y="T11"/>
                    </a:cxn>
                  </a:cxnLst>
                  <a:rect l="T18" t="T19" r="T20" b="T21"/>
                  <a:pathLst>
                    <a:path w="33" h="62">
                      <a:moveTo>
                        <a:pt x="29" y="61"/>
                      </a:moveTo>
                      <a:lnTo>
                        <a:pt x="29" y="61"/>
                      </a:lnTo>
                      <a:lnTo>
                        <a:pt x="0" y="48"/>
                      </a:lnTo>
                      <a:lnTo>
                        <a:pt x="0" y="0"/>
                      </a:lnTo>
                      <a:lnTo>
                        <a:pt x="32" y="12"/>
                      </a:lnTo>
                      <a:lnTo>
                        <a:pt x="29" y="61"/>
                      </a:lnTo>
                    </a:path>
                  </a:pathLst>
                </a:custGeom>
                <a:solidFill>
                  <a:srgbClr val="9E0005"/>
                </a:solidFill>
                <a:ln w="9525" cap="rnd">
                  <a:noFill/>
                  <a:round/>
                </a:ln>
              </p:spPr>
              <p:txBody>
                <a:bodyPr/>
                <a:lstStyle/>
                <a:p>
                  <a:endParaRPr lang="zh-CN" altLang="en-US"/>
                </a:p>
              </p:txBody>
            </p:sp>
            <p:sp>
              <p:nvSpPr>
                <p:cNvPr id="10572" name="Freeform 97"/>
                <p:cNvSpPr/>
                <p:nvPr/>
              </p:nvSpPr>
              <p:spPr bwMode="auto">
                <a:xfrm>
                  <a:off x="2417" y="2026"/>
                  <a:ext cx="113" cy="58"/>
                </a:xfrm>
                <a:custGeom>
                  <a:avLst/>
                  <a:gdLst>
                    <a:gd name="T0" fmla="*/ 33 w 113"/>
                    <a:gd name="T1" fmla="*/ 57 h 58"/>
                    <a:gd name="T2" fmla="*/ 33 w 113"/>
                    <a:gd name="T3" fmla="*/ 57 h 58"/>
                    <a:gd name="T4" fmla="*/ 0 w 113"/>
                    <a:gd name="T5" fmla="*/ 45 h 58"/>
                    <a:gd name="T6" fmla="*/ 84 w 113"/>
                    <a:gd name="T7" fmla="*/ 0 h 58"/>
                    <a:gd name="T8" fmla="*/ 112 w 113"/>
                    <a:gd name="T9" fmla="*/ 11 h 58"/>
                    <a:gd name="T10" fmla="*/ 33 w 113"/>
                    <a:gd name="T11" fmla="*/ 57 h 58"/>
                    <a:gd name="T12" fmla="*/ 0 60000 65536"/>
                    <a:gd name="T13" fmla="*/ 0 60000 65536"/>
                    <a:gd name="T14" fmla="*/ 0 60000 65536"/>
                    <a:gd name="T15" fmla="*/ 0 60000 65536"/>
                    <a:gd name="T16" fmla="*/ 0 60000 65536"/>
                    <a:gd name="T17" fmla="*/ 0 60000 65536"/>
                    <a:gd name="T18" fmla="*/ 0 w 113"/>
                    <a:gd name="T19" fmla="*/ 0 h 58"/>
                    <a:gd name="T20" fmla="*/ 113 w 113"/>
                    <a:gd name="T21" fmla="*/ 58 h 58"/>
                  </a:gdLst>
                  <a:ahLst/>
                  <a:cxnLst>
                    <a:cxn ang="T12">
                      <a:pos x="T0" y="T1"/>
                    </a:cxn>
                    <a:cxn ang="T13">
                      <a:pos x="T2" y="T3"/>
                    </a:cxn>
                    <a:cxn ang="T14">
                      <a:pos x="T4" y="T5"/>
                    </a:cxn>
                    <a:cxn ang="T15">
                      <a:pos x="T6" y="T7"/>
                    </a:cxn>
                    <a:cxn ang="T16">
                      <a:pos x="T8" y="T9"/>
                    </a:cxn>
                    <a:cxn ang="T17">
                      <a:pos x="T10" y="T11"/>
                    </a:cxn>
                  </a:cxnLst>
                  <a:rect l="T18" t="T19" r="T20" b="T21"/>
                  <a:pathLst>
                    <a:path w="113" h="58">
                      <a:moveTo>
                        <a:pt x="33" y="57"/>
                      </a:moveTo>
                      <a:lnTo>
                        <a:pt x="33" y="57"/>
                      </a:lnTo>
                      <a:lnTo>
                        <a:pt x="0" y="45"/>
                      </a:lnTo>
                      <a:lnTo>
                        <a:pt x="84" y="0"/>
                      </a:lnTo>
                      <a:lnTo>
                        <a:pt x="112" y="11"/>
                      </a:lnTo>
                      <a:lnTo>
                        <a:pt x="33" y="57"/>
                      </a:lnTo>
                    </a:path>
                  </a:pathLst>
                </a:custGeom>
                <a:solidFill>
                  <a:srgbClr val="CF5C82"/>
                </a:solidFill>
                <a:ln w="9525" cap="rnd">
                  <a:noFill/>
                  <a:round/>
                </a:ln>
              </p:spPr>
              <p:txBody>
                <a:bodyPr/>
                <a:lstStyle/>
                <a:p>
                  <a:endParaRPr lang="zh-CN" altLang="en-US"/>
                </a:p>
              </p:txBody>
            </p:sp>
          </p:grpSp>
          <p:grpSp>
            <p:nvGrpSpPr>
              <p:cNvPr id="16" name="Group 98"/>
              <p:cNvGrpSpPr/>
              <p:nvPr/>
            </p:nvGrpSpPr>
            <p:grpSpPr bwMode="auto">
              <a:xfrm>
                <a:off x="2321" y="2081"/>
                <a:ext cx="123" cy="112"/>
                <a:chOff x="2321" y="2081"/>
                <a:chExt cx="123" cy="112"/>
              </a:xfrm>
            </p:grpSpPr>
            <p:sp>
              <p:nvSpPr>
                <p:cNvPr id="10567" name="Freeform 99"/>
                <p:cNvSpPr/>
                <p:nvPr/>
              </p:nvSpPr>
              <p:spPr bwMode="auto">
                <a:xfrm>
                  <a:off x="2358" y="2093"/>
                  <a:ext cx="86" cy="100"/>
                </a:xfrm>
                <a:custGeom>
                  <a:avLst/>
                  <a:gdLst>
                    <a:gd name="T0" fmla="*/ 0 w 86"/>
                    <a:gd name="T1" fmla="*/ 99 h 100"/>
                    <a:gd name="T2" fmla="*/ 0 w 86"/>
                    <a:gd name="T3" fmla="*/ 99 h 100"/>
                    <a:gd name="T4" fmla="*/ 2 w 86"/>
                    <a:gd name="T5" fmla="*/ 49 h 100"/>
                    <a:gd name="T6" fmla="*/ 85 w 86"/>
                    <a:gd name="T7" fmla="*/ 0 h 100"/>
                    <a:gd name="T8" fmla="*/ 82 w 86"/>
                    <a:gd name="T9" fmla="*/ 49 h 100"/>
                    <a:gd name="T10" fmla="*/ 0 w 86"/>
                    <a:gd name="T11" fmla="*/ 99 h 100"/>
                    <a:gd name="T12" fmla="*/ 0 60000 65536"/>
                    <a:gd name="T13" fmla="*/ 0 60000 65536"/>
                    <a:gd name="T14" fmla="*/ 0 60000 65536"/>
                    <a:gd name="T15" fmla="*/ 0 60000 65536"/>
                    <a:gd name="T16" fmla="*/ 0 60000 65536"/>
                    <a:gd name="T17" fmla="*/ 0 60000 65536"/>
                    <a:gd name="T18" fmla="*/ 0 w 86"/>
                    <a:gd name="T19" fmla="*/ 0 h 100"/>
                    <a:gd name="T20" fmla="*/ 86 w 86"/>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86" h="100">
                      <a:moveTo>
                        <a:pt x="0" y="99"/>
                      </a:moveTo>
                      <a:lnTo>
                        <a:pt x="0" y="99"/>
                      </a:lnTo>
                      <a:lnTo>
                        <a:pt x="2" y="49"/>
                      </a:lnTo>
                      <a:lnTo>
                        <a:pt x="85" y="0"/>
                      </a:lnTo>
                      <a:lnTo>
                        <a:pt x="82" y="49"/>
                      </a:lnTo>
                      <a:lnTo>
                        <a:pt x="0" y="99"/>
                      </a:lnTo>
                    </a:path>
                  </a:pathLst>
                </a:custGeom>
                <a:solidFill>
                  <a:srgbClr val="BB1A50"/>
                </a:solidFill>
                <a:ln w="9525" cap="rnd">
                  <a:noFill/>
                  <a:round/>
                </a:ln>
              </p:spPr>
              <p:txBody>
                <a:bodyPr/>
                <a:lstStyle/>
                <a:p>
                  <a:endParaRPr lang="zh-CN" altLang="en-US"/>
                </a:p>
              </p:txBody>
            </p:sp>
            <p:sp>
              <p:nvSpPr>
                <p:cNvPr id="10568" name="Freeform 100"/>
                <p:cNvSpPr/>
                <p:nvPr/>
              </p:nvSpPr>
              <p:spPr bwMode="auto">
                <a:xfrm>
                  <a:off x="2321" y="2132"/>
                  <a:ext cx="38" cy="61"/>
                </a:xfrm>
                <a:custGeom>
                  <a:avLst/>
                  <a:gdLst>
                    <a:gd name="T0" fmla="*/ 34 w 38"/>
                    <a:gd name="T1" fmla="*/ 60 h 61"/>
                    <a:gd name="T2" fmla="*/ 34 w 38"/>
                    <a:gd name="T3" fmla="*/ 60 h 61"/>
                    <a:gd name="T4" fmla="*/ 0 w 38"/>
                    <a:gd name="T5" fmla="*/ 48 h 61"/>
                    <a:gd name="T6" fmla="*/ 2 w 38"/>
                    <a:gd name="T7" fmla="*/ 0 h 61"/>
                    <a:gd name="T8" fmla="*/ 37 w 38"/>
                    <a:gd name="T9" fmla="*/ 11 h 61"/>
                    <a:gd name="T10" fmla="*/ 34 w 38"/>
                    <a:gd name="T11" fmla="*/ 60 h 61"/>
                    <a:gd name="T12" fmla="*/ 0 60000 65536"/>
                    <a:gd name="T13" fmla="*/ 0 60000 65536"/>
                    <a:gd name="T14" fmla="*/ 0 60000 65536"/>
                    <a:gd name="T15" fmla="*/ 0 60000 65536"/>
                    <a:gd name="T16" fmla="*/ 0 60000 65536"/>
                    <a:gd name="T17" fmla="*/ 0 60000 65536"/>
                    <a:gd name="T18" fmla="*/ 0 w 38"/>
                    <a:gd name="T19" fmla="*/ 0 h 61"/>
                    <a:gd name="T20" fmla="*/ 38 w 38"/>
                    <a:gd name="T21" fmla="*/ 61 h 61"/>
                  </a:gdLst>
                  <a:ahLst/>
                  <a:cxnLst>
                    <a:cxn ang="T12">
                      <a:pos x="T0" y="T1"/>
                    </a:cxn>
                    <a:cxn ang="T13">
                      <a:pos x="T2" y="T3"/>
                    </a:cxn>
                    <a:cxn ang="T14">
                      <a:pos x="T4" y="T5"/>
                    </a:cxn>
                    <a:cxn ang="T15">
                      <a:pos x="T6" y="T7"/>
                    </a:cxn>
                    <a:cxn ang="T16">
                      <a:pos x="T8" y="T9"/>
                    </a:cxn>
                    <a:cxn ang="T17">
                      <a:pos x="T10" y="T11"/>
                    </a:cxn>
                  </a:cxnLst>
                  <a:rect l="T18" t="T19" r="T20" b="T21"/>
                  <a:pathLst>
                    <a:path w="38" h="61">
                      <a:moveTo>
                        <a:pt x="34" y="60"/>
                      </a:moveTo>
                      <a:lnTo>
                        <a:pt x="34" y="60"/>
                      </a:lnTo>
                      <a:lnTo>
                        <a:pt x="0" y="48"/>
                      </a:lnTo>
                      <a:lnTo>
                        <a:pt x="2" y="0"/>
                      </a:lnTo>
                      <a:lnTo>
                        <a:pt x="37" y="11"/>
                      </a:lnTo>
                      <a:lnTo>
                        <a:pt x="34" y="60"/>
                      </a:lnTo>
                    </a:path>
                  </a:pathLst>
                </a:custGeom>
                <a:solidFill>
                  <a:srgbClr val="9E0005"/>
                </a:solidFill>
                <a:ln w="9525" cap="rnd">
                  <a:noFill/>
                  <a:round/>
                </a:ln>
              </p:spPr>
              <p:txBody>
                <a:bodyPr/>
                <a:lstStyle/>
                <a:p>
                  <a:endParaRPr lang="zh-CN" altLang="en-US"/>
                </a:p>
              </p:txBody>
            </p:sp>
            <p:sp>
              <p:nvSpPr>
                <p:cNvPr id="10569" name="Freeform 101"/>
                <p:cNvSpPr/>
                <p:nvPr/>
              </p:nvSpPr>
              <p:spPr bwMode="auto">
                <a:xfrm>
                  <a:off x="2323" y="2081"/>
                  <a:ext cx="121" cy="62"/>
                </a:xfrm>
                <a:custGeom>
                  <a:avLst/>
                  <a:gdLst>
                    <a:gd name="T0" fmla="*/ 36 w 121"/>
                    <a:gd name="T1" fmla="*/ 61 h 62"/>
                    <a:gd name="T2" fmla="*/ 36 w 121"/>
                    <a:gd name="T3" fmla="*/ 61 h 62"/>
                    <a:gd name="T4" fmla="*/ 0 w 121"/>
                    <a:gd name="T5" fmla="*/ 49 h 62"/>
                    <a:gd name="T6" fmla="*/ 86 w 121"/>
                    <a:gd name="T7" fmla="*/ 0 h 62"/>
                    <a:gd name="T8" fmla="*/ 120 w 121"/>
                    <a:gd name="T9" fmla="*/ 11 h 62"/>
                    <a:gd name="T10" fmla="*/ 36 w 121"/>
                    <a:gd name="T11" fmla="*/ 61 h 62"/>
                    <a:gd name="T12" fmla="*/ 0 60000 65536"/>
                    <a:gd name="T13" fmla="*/ 0 60000 65536"/>
                    <a:gd name="T14" fmla="*/ 0 60000 65536"/>
                    <a:gd name="T15" fmla="*/ 0 60000 65536"/>
                    <a:gd name="T16" fmla="*/ 0 60000 65536"/>
                    <a:gd name="T17" fmla="*/ 0 60000 65536"/>
                    <a:gd name="T18" fmla="*/ 0 w 121"/>
                    <a:gd name="T19" fmla="*/ 0 h 62"/>
                    <a:gd name="T20" fmla="*/ 121 w 121"/>
                    <a:gd name="T21" fmla="*/ 62 h 62"/>
                  </a:gdLst>
                  <a:ahLst/>
                  <a:cxnLst>
                    <a:cxn ang="T12">
                      <a:pos x="T0" y="T1"/>
                    </a:cxn>
                    <a:cxn ang="T13">
                      <a:pos x="T2" y="T3"/>
                    </a:cxn>
                    <a:cxn ang="T14">
                      <a:pos x="T4" y="T5"/>
                    </a:cxn>
                    <a:cxn ang="T15">
                      <a:pos x="T6" y="T7"/>
                    </a:cxn>
                    <a:cxn ang="T16">
                      <a:pos x="T8" y="T9"/>
                    </a:cxn>
                    <a:cxn ang="T17">
                      <a:pos x="T10" y="T11"/>
                    </a:cxn>
                  </a:cxnLst>
                  <a:rect l="T18" t="T19" r="T20" b="T21"/>
                  <a:pathLst>
                    <a:path w="121" h="62">
                      <a:moveTo>
                        <a:pt x="36" y="61"/>
                      </a:moveTo>
                      <a:lnTo>
                        <a:pt x="36" y="61"/>
                      </a:lnTo>
                      <a:lnTo>
                        <a:pt x="0" y="49"/>
                      </a:lnTo>
                      <a:lnTo>
                        <a:pt x="86" y="0"/>
                      </a:lnTo>
                      <a:lnTo>
                        <a:pt x="120" y="11"/>
                      </a:lnTo>
                      <a:lnTo>
                        <a:pt x="36" y="61"/>
                      </a:lnTo>
                    </a:path>
                  </a:pathLst>
                </a:custGeom>
                <a:solidFill>
                  <a:srgbClr val="CF5C82"/>
                </a:solidFill>
                <a:ln w="9525" cap="rnd">
                  <a:noFill/>
                  <a:round/>
                </a:ln>
              </p:spPr>
              <p:txBody>
                <a:bodyPr/>
                <a:lstStyle/>
                <a:p>
                  <a:endParaRPr lang="zh-CN" altLang="en-US"/>
                </a:p>
              </p:txBody>
            </p:sp>
          </p:grpSp>
          <p:grpSp>
            <p:nvGrpSpPr>
              <p:cNvPr id="17" name="Group 102"/>
              <p:cNvGrpSpPr/>
              <p:nvPr/>
            </p:nvGrpSpPr>
            <p:grpSpPr bwMode="auto">
              <a:xfrm>
                <a:off x="2221" y="2138"/>
                <a:ext cx="131" cy="120"/>
                <a:chOff x="2221" y="2138"/>
                <a:chExt cx="131" cy="120"/>
              </a:xfrm>
            </p:grpSpPr>
            <p:sp>
              <p:nvSpPr>
                <p:cNvPr id="10564" name="Freeform 103"/>
                <p:cNvSpPr/>
                <p:nvPr/>
              </p:nvSpPr>
              <p:spPr bwMode="auto">
                <a:xfrm>
                  <a:off x="2260" y="2151"/>
                  <a:ext cx="92" cy="107"/>
                </a:xfrm>
                <a:custGeom>
                  <a:avLst/>
                  <a:gdLst>
                    <a:gd name="T0" fmla="*/ 0 w 92"/>
                    <a:gd name="T1" fmla="*/ 106 h 107"/>
                    <a:gd name="T2" fmla="*/ 0 w 92"/>
                    <a:gd name="T3" fmla="*/ 106 h 107"/>
                    <a:gd name="T4" fmla="*/ 0 w 92"/>
                    <a:gd name="T5" fmla="*/ 53 h 107"/>
                    <a:gd name="T6" fmla="*/ 91 w 92"/>
                    <a:gd name="T7" fmla="*/ 0 h 107"/>
                    <a:gd name="T8" fmla="*/ 88 w 92"/>
                    <a:gd name="T9" fmla="*/ 50 h 107"/>
                    <a:gd name="T10" fmla="*/ 0 w 92"/>
                    <a:gd name="T11" fmla="*/ 106 h 107"/>
                    <a:gd name="T12" fmla="*/ 0 60000 65536"/>
                    <a:gd name="T13" fmla="*/ 0 60000 65536"/>
                    <a:gd name="T14" fmla="*/ 0 60000 65536"/>
                    <a:gd name="T15" fmla="*/ 0 60000 65536"/>
                    <a:gd name="T16" fmla="*/ 0 60000 65536"/>
                    <a:gd name="T17" fmla="*/ 0 60000 65536"/>
                    <a:gd name="T18" fmla="*/ 0 w 92"/>
                    <a:gd name="T19" fmla="*/ 0 h 107"/>
                    <a:gd name="T20" fmla="*/ 92 w 92"/>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92" h="107">
                      <a:moveTo>
                        <a:pt x="0" y="106"/>
                      </a:moveTo>
                      <a:lnTo>
                        <a:pt x="0" y="106"/>
                      </a:lnTo>
                      <a:lnTo>
                        <a:pt x="0" y="53"/>
                      </a:lnTo>
                      <a:lnTo>
                        <a:pt x="91" y="0"/>
                      </a:lnTo>
                      <a:lnTo>
                        <a:pt x="88" y="50"/>
                      </a:lnTo>
                      <a:lnTo>
                        <a:pt x="0" y="106"/>
                      </a:lnTo>
                    </a:path>
                  </a:pathLst>
                </a:custGeom>
                <a:solidFill>
                  <a:srgbClr val="BB1A50"/>
                </a:solidFill>
                <a:ln w="9525" cap="rnd">
                  <a:noFill/>
                  <a:round/>
                </a:ln>
              </p:spPr>
              <p:txBody>
                <a:bodyPr/>
                <a:lstStyle/>
                <a:p>
                  <a:endParaRPr lang="zh-CN" altLang="en-US"/>
                </a:p>
              </p:txBody>
            </p:sp>
            <p:sp>
              <p:nvSpPr>
                <p:cNvPr id="10565" name="Freeform 104"/>
                <p:cNvSpPr/>
                <p:nvPr/>
              </p:nvSpPr>
              <p:spPr bwMode="auto">
                <a:xfrm>
                  <a:off x="2221" y="2192"/>
                  <a:ext cx="38" cy="66"/>
                </a:xfrm>
                <a:custGeom>
                  <a:avLst/>
                  <a:gdLst>
                    <a:gd name="T0" fmla="*/ 37 w 38"/>
                    <a:gd name="T1" fmla="*/ 65 h 66"/>
                    <a:gd name="T2" fmla="*/ 37 w 38"/>
                    <a:gd name="T3" fmla="*/ 65 h 66"/>
                    <a:gd name="T4" fmla="*/ 0 w 38"/>
                    <a:gd name="T5" fmla="*/ 52 h 66"/>
                    <a:gd name="T6" fmla="*/ 0 w 38"/>
                    <a:gd name="T7" fmla="*/ 0 h 66"/>
                    <a:gd name="T8" fmla="*/ 37 w 38"/>
                    <a:gd name="T9" fmla="*/ 12 h 66"/>
                    <a:gd name="T10" fmla="*/ 37 w 38"/>
                    <a:gd name="T11" fmla="*/ 65 h 66"/>
                    <a:gd name="T12" fmla="*/ 0 60000 65536"/>
                    <a:gd name="T13" fmla="*/ 0 60000 65536"/>
                    <a:gd name="T14" fmla="*/ 0 60000 65536"/>
                    <a:gd name="T15" fmla="*/ 0 60000 65536"/>
                    <a:gd name="T16" fmla="*/ 0 60000 65536"/>
                    <a:gd name="T17" fmla="*/ 0 60000 65536"/>
                    <a:gd name="T18" fmla="*/ 0 w 38"/>
                    <a:gd name="T19" fmla="*/ 0 h 66"/>
                    <a:gd name="T20" fmla="*/ 38 w 38"/>
                    <a:gd name="T21" fmla="*/ 66 h 66"/>
                  </a:gdLst>
                  <a:ahLst/>
                  <a:cxnLst>
                    <a:cxn ang="T12">
                      <a:pos x="T0" y="T1"/>
                    </a:cxn>
                    <a:cxn ang="T13">
                      <a:pos x="T2" y="T3"/>
                    </a:cxn>
                    <a:cxn ang="T14">
                      <a:pos x="T4" y="T5"/>
                    </a:cxn>
                    <a:cxn ang="T15">
                      <a:pos x="T6" y="T7"/>
                    </a:cxn>
                    <a:cxn ang="T16">
                      <a:pos x="T8" y="T9"/>
                    </a:cxn>
                    <a:cxn ang="T17">
                      <a:pos x="T10" y="T11"/>
                    </a:cxn>
                  </a:cxnLst>
                  <a:rect l="T18" t="T19" r="T20" b="T21"/>
                  <a:pathLst>
                    <a:path w="38" h="66">
                      <a:moveTo>
                        <a:pt x="37" y="65"/>
                      </a:moveTo>
                      <a:lnTo>
                        <a:pt x="37" y="65"/>
                      </a:lnTo>
                      <a:lnTo>
                        <a:pt x="0" y="52"/>
                      </a:lnTo>
                      <a:lnTo>
                        <a:pt x="0" y="0"/>
                      </a:lnTo>
                      <a:lnTo>
                        <a:pt x="37" y="12"/>
                      </a:lnTo>
                      <a:lnTo>
                        <a:pt x="37" y="65"/>
                      </a:lnTo>
                    </a:path>
                  </a:pathLst>
                </a:custGeom>
                <a:solidFill>
                  <a:srgbClr val="9E0005"/>
                </a:solidFill>
                <a:ln w="9525" cap="rnd">
                  <a:noFill/>
                  <a:round/>
                </a:ln>
              </p:spPr>
              <p:txBody>
                <a:bodyPr/>
                <a:lstStyle/>
                <a:p>
                  <a:endParaRPr lang="zh-CN" altLang="en-US"/>
                </a:p>
              </p:txBody>
            </p:sp>
            <p:sp>
              <p:nvSpPr>
                <p:cNvPr id="10566" name="Freeform 105"/>
                <p:cNvSpPr/>
                <p:nvPr/>
              </p:nvSpPr>
              <p:spPr bwMode="auto">
                <a:xfrm>
                  <a:off x="2221" y="2138"/>
                  <a:ext cx="131" cy="65"/>
                </a:xfrm>
                <a:custGeom>
                  <a:avLst/>
                  <a:gdLst>
                    <a:gd name="T0" fmla="*/ 39 w 131"/>
                    <a:gd name="T1" fmla="*/ 64 h 65"/>
                    <a:gd name="T2" fmla="*/ 39 w 131"/>
                    <a:gd name="T3" fmla="*/ 64 h 65"/>
                    <a:gd name="T4" fmla="*/ 0 w 131"/>
                    <a:gd name="T5" fmla="*/ 51 h 65"/>
                    <a:gd name="T6" fmla="*/ 94 w 131"/>
                    <a:gd name="T7" fmla="*/ 0 h 65"/>
                    <a:gd name="T8" fmla="*/ 130 w 131"/>
                    <a:gd name="T9" fmla="*/ 12 h 65"/>
                    <a:gd name="T10" fmla="*/ 39 w 131"/>
                    <a:gd name="T11" fmla="*/ 64 h 65"/>
                    <a:gd name="T12" fmla="*/ 0 60000 65536"/>
                    <a:gd name="T13" fmla="*/ 0 60000 65536"/>
                    <a:gd name="T14" fmla="*/ 0 60000 65536"/>
                    <a:gd name="T15" fmla="*/ 0 60000 65536"/>
                    <a:gd name="T16" fmla="*/ 0 60000 65536"/>
                    <a:gd name="T17" fmla="*/ 0 60000 65536"/>
                    <a:gd name="T18" fmla="*/ 0 w 131"/>
                    <a:gd name="T19" fmla="*/ 0 h 65"/>
                    <a:gd name="T20" fmla="*/ 131 w 131"/>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131" h="65">
                      <a:moveTo>
                        <a:pt x="39" y="64"/>
                      </a:moveTo>
                      <a:lnTo>
                        <a:pt x="39" y="64"/>
                      </a:lnTo>
                      <a:lnTo>
                        <a:pt x="0" y="51"/>
                      </a:lnTo>
                      <a:lnTo>
                        <a:pt x="94" y="0"/>
                      </a:lnTo>
                      <a:lnTo>
                        <a:pt x="130" y="12"/>
                      </a:lnTo>
                      <a:lnTo>
                        <a:pt x="39" y="64"/>
                      </a:lnTo>
                    </a:path>
                  </a:pathLst>
                </a:custGeom>
                <a:solidFill>
                  <a:srgbClr val="CF5C82"/>
                </a:solidFill>
                <a:ln w="9525" cap="rnd">
                  <a:noFill/>
                  <a:round/>
                </a:ln>
              </p:spPr>
              <p:txBody>
                <a:bodyPr/>
                <a:lstStyle/>
                <a:p>
                  <a:endParaRPr lang="zh-CN" altLang="en-US"/>
                </a:p>
              </p:txBody>
            </p:sp>
          </p:grpSp>
          <p:grpSp>
            <p:nvGrpSpPr>
              <p:cNvPr id="18" name="Group 106"/>
              <p:cNvGrpSpPr/>
              <p:nvPr/>
            </p:nvGrpSpPr>
            <p:grpSpPr bwMode="auto">
              <a:xfrm>
                <a:off x="2109" y="2198"/>
                <a:ext cx="144" cy="123"/>
                <a:chOff x="2109" y="2198"/>
                <a:chExt cx="144" cy="123"/>
              </a:xfrm>
            </p:grpSpPr>
            <p:sp>
              <p:nvSpPr>
                <p:cNvPr id="10561" name="Freeform 107"/>
                <p:cNvSpPr/>
                <p:nvPr/>
              </p:nvSpPr>
              <p:spPr bwMode="auto">
                <a:xfrm>
                  <a:off x="2154" y="2212"/>
                  <a:ext cx="98" cy="109"/>
                </a:xfrm>
                <a:custGeom>
                  <a:avLst/>
                  <a:gdLst>
                    <a:gd name="T0" fmla="*/ 0 w 98"/>
                    <a:gd name="T1" fmla="*/ 108 h 109"/>
                    <a:gd name="T2" fmla="*/ 0 w 98"/>
                    <a:gd name="T3" fmla="*/ 108 h 109"/>
                    <a:gd name="T4" fmla="*/ 0 w 98"/>
                    <a:gd name="T5" fmla="*/ 55 h 109"/>
                    <a:gd name="T6" fmla="*/ 97 w 98"/>
                    <a:gd name="T7" fmla="*/ 0 h 109"/>
                    <a:gd name="T8" fmla="*/ 97 w 98"/>
                    <a:gd name="T9" fmla="*/ 49 h 109"/>
                    <a:gd name="T10" fmla="*/ 0 w 98"/>
                    <a:gd name="T11" fmla="*/ 108 h 109"/>
                    <a:gd name="T12" fmla="*/ 0 60000 65536"/>
                    <a:gd name="T13" fmla="*/ 0 60000 65536"/>
                    <a:gd name="T14" fmla="*/ 0 60000 65536"/>
                    <a:gd name="T15" fmla="*/ 0 60000 65536"/>
                    <a:gd name="T16" fmla="*/ 0 60000 65536"/>
                    <a:gd name="T17" fmla="*/ 0 60000 65536"/>
                    <a:gd name="T18" fmla="*/ 0 w 98"/>
                    <a:gd name="T19" fmla="*/ 0 h 109"/>
                    <a:gd name="T20" fmla="*/ 98 w 98"/>
                    <a:gd name="T21" fmla="*/ 109 h 109"/>
                  </a:gdLst>
                  <a:ahLst/>
                  <a:cxnLst>
                    <a:cxn ang="T12">
                      <a:pos x="T0" y="T1"/>
                    </a:cxn>
                    <a:cxn ang="T13">
                      <a:pos x="T2" y="T3"/>
                    </a:cxn>
                    <a:cxn ang="T14">
                      <a:pos x="T4" y="T5"/>
                    </a:cxn>
                    <a:cxn ang="T15">
                      <a:pos x="T6" y="T7"/>
                    </a:cxn>
                    <a:cxn ang="T16">
                      <a:pos x="T8" y="T9"/>
                    </a:cxn>
                    <a:cxn ang="T17">
                      <a:pos x="T10" y="T11"/>
                    </a:cxn>
                  </a:cxnLst>
                  <a:rect l="T18" t="T19" r="T20" b="T21"/>
                  <a:pathLst>
                    <a:path w="98" h="109">
                      <a:moveTo>
                        <a:pt x="0" y="108"/>
                      </a:moveTo>
                      <a:lnTo>
                        <a:pt x="0" y="108"/>
                      </a:lnTo>
                      <a:lnTo>
                        <a:pt x="0" y="55"/>
                      </a:lnTo>
                      <a:lnTo>
                        <a:pt x="97" y="0"/>
                      </a:lnTo>
                      <a:lnTo>
                        <a:pt x="97" y="49"/>
                      </a:lnTo>
                      <a:lnTo>
                        <a:pt x="0" y="108"/>
                      </a:lnTo>
                    </a:path>
                  </a:pathLst>
                </a:custGeom>
                <a:solidFill>
                  <a:srgbClr val="BB1A50"/>
                </a:solidFill>
                <a:ln w="9525" cap="rnd">
                  <a:noFill/>
                  <a:round/>
                </a:ln>
              </p:spPr>
              <p:txBody>
                <a:bodyPr/>
                <a:lstStyle/>
                <a:p>
                  <a:endParaRPr lang="zh-CN" altLang="en-US"/>
                </a:p>
              </p:txBody>
            </p:sp>
            <p:sp>
              <p:nvSpPr>
                <p:cNvPr id="10562" name="Freeform 108"/>
                <p:cNvSpPr/>
                <p:nvPr/>
              </p:nvSpPr>
              <p:spPr bwMode="auto">
                <a:xfrm>
                  <a:off x="2109" y="2259"/>
                  <a:ext cx="44" cy="62"/>
                </a:xfrm>
                <a:custGeom>
                  <a:avLst/>
                  <a:gdLst>
                    <a:gd name="T0" fmla="*/ 43 w 44"/>
                    <a:gd name="T1" fmla="*/ 61 h 62"/>
                    <a:gd name="T2" fmla="*/ 43 w 44"/>
                    <a:gd name="T3" fmla="*/ 61 h 62"/>
                    <a:gd name="T4" fmla="*/ 0 w 44"/>
                    <a:gd name="T5" fmla="*/ 52 h 62"/>
                    <a:gd name="T6" fmla="*/ 0 w 44"/>
                    <a:gd name="T7" fmla="*/ 0 h 62"/>
                    <a:gd name="T8" fmla="*/ 43 w 44"/>
                    <a:gd name="T9" fmla="*/ 8 h 62"/>
                    <a:gd name="T10" fmla="*/ 43 w 44"/>
                    <a:gd name="T11" fmla="*/ 61 h 62"/>
                    <a:gd name="T12" fmla="*/ 0 60000 65536"/>
                    <a:gd name="T13" fmla="*/ 0 60000 65536"/>
                    <a:gd name="T14" fmla="*/ 0 60000 65536"/>
                    <a:gd name="T15" fmla="*/ 0 60000 65536"/>
                    <a:gd name="T16" fmla="*/ 0 60000 65536"/>
                    <a:gd name="T17" fmla="*/ 0 60000 65536"/>
                    <a:gd name="T18" fmla="*/ 0 w 44"/>
                    <a:gd name="T19" fmla="*/ 0 h 62"/>
                    <a:gd name="T20" fmla="*/ 44 w 44"/>
                    <a:gd name="T21" fmla="*/ 62 h 62"/>
                  </a:gdLst>
                  <a:ahLst/>
                  <a:cxnLst>
                    <a:cxn ang="T12">
                      <a:pos x="T0" y="T1"/>
                    </a:cxn>
                    <a:cxn ang="T13">
                      <a:pos x="T2" y="T3"/>
                    </a:cxn>
                    <a:cxn ang="T14">
                      <a:pos x="T4" y="T5"/>
                    </a:cxn>
                    <a:cxn ang="T15">
                      <a:pos x="T6" y="T7"/>
                    </a:cxn>
                    <a:cxn ang="T16">
                      <a:pos x="T8" y="T9"/>
                    </a:cxn>
                    <a:cxn ang="T17">
                      <a:pos x="T10" y="T11"/>
                    </a:cxn>
                  </a:cxnLst>
                  <a:rect l="T18" t="T19" r="T20" b="T21"/>
                  <a:pathLst>
                    <a:path w="44" h="62">
                      <a:moveTo>
                        <a:pt x="43" y="61"/>
                      </a:moveTo>
                      <a:lnTo>
                        <a:pt x="43" y="61"/>
                      </a:lnTo>
                      <a:lnTo>
                        <a:pt x="0" y="52"/>
                      </a:lnTo>
                      <a:lnTo>
                        <a:pt x="0" y="0"/>
                      </a:lnTo>
                      <a:lnTo>
                        <a:pt x="43" y="8"/>
                      </a:lnTo>
                      <a:lnTo>
                        <a:pt x="43" y="61"/>
                      </a:lnTo>
                    </a:path>
                  </a:pathLst>
                </a:custGeom>
                <a:solidFill>
                  <a:srgbClr val="9E0005"/>
                </a:solidFill>
                <a:ln w="9525" cap="rnd">
                  <a:noFill/>
                  <a:round/>
                </a:ln>
              </p:spPr>
              <p:txBody>
                <a:bodyPr/>
                <a:lstStyle/>
                <a:p>
                  <a:endParaRPr lang="zh-CN" altLang="en-US"/>
                </a:p>
              </p:txBody>
            </p:sp>
            <p:sp>
              <p:nvSpPr>
                <p:cNvPr id="10563" name="Freeform 109"/>
                <p:cNvSpPr/>
                <p:nvPr/>
              </p:nvSpPr>
              <p:spPr bwMode="auto">
                <a:xfrm>
                  <a:off x="2110" y="2198"/>
                  <a:ext cx="143" cy="69"/>
                </a:xfrm>
                <a:custGeom>
                  <a:avLst/>
                  <a:gdLst>
                    <a:gd name="T0" fmla="*/ 44 w 143"/>
                    <a:gd name="T1" fmla="*/ 68 h 69"/>
                    <a:gd name="T2" fmla="*/ 44 w 143"/>
                    <a:gd name="T3" fmla="*/ 68 h 69"/>
                    <a:gd name="T4" fmla="*/ 0 w 143"/>
                    <a:gd name="T5" fmla="*/ 58 h 69"/>
                    <a:gd name="T6" fmla="*/ 102 w 143"/>
                    <a:gd name="T7" fmla="*/ 0 h 69"/>
                    <a:gd name="T8" fmla="*/ 142 w 143"/>
                    <a:gd name="T9" fmla="*/ 12 h 69"/>
                    <a:gd name="T10" fmla="*/ 44 w 143"/>
                    <a:gd name="T11" fmla="*/ 68 h 69"/>
                    <a:gd name="T12" fmla="*/ 0 60000 65536"/>
                    <a:gd name="T13" fmla="*/ 0 60000 65536"/>
                    <a:gd name="T14" fmla="*/ 0 60000 65536"/>
                    <a:gd name="T15" fmla="*/ 0 60000 65536"/>
                    <a:gd name="T16" fmla="*/ 0 60000 65536"/>
                    <a:gd name="T17" fmla="*/ 0 60000 65536"/>
                    <a:gd name="T18" fmla="*/ 0 w 143"/>
                    <a:gd name="T19" fmla="*/ 0 h 69"/>
                    <a:gd name="T20" fmla="*/ 143 w 143"/>
                    <a:gd name="T21" fmla="*/ 69 h 69"/>
                  </a:gdLst>
                  <a:ahLst/>
                  <a:cxnLst>
                    <a:cxn ang="T12">
                      <a:pos x="T0" y="T1"/>
                    </a:cxn>
                    <a:cxn ang="T13">
                      <a:pos x="T2" y="T3"/>
                    </a:cxn>
                    <a:cxn ang="T14">
                      <a:pos x="T4" y="T5"/>
                    </a:cxn>
                    <a:cxn ang="T15">
                      <a:pos x="T6" y="T7"/>
                    </a:cxn>
                    <a:cxn ang="T16">
                      <a:pos x="T8" y="T9"/>
                    </a:cxn>
                    <a:cxn ang="T17">
                      <a:pos x="T10" y="T11"/>
                    </a:cxn>
                  </a:cxnLst>
                  <a:rect l="T18" t="T19" r="T20" b="T21"/>
                  <a:pathLst>
                    <a:path w="143" h="69">
                      <a:moveTo>
                        <a:pt x="44" y="68"/>
                      </a:moveTo>
                      <a:lnTo>
                        <a:pt x="44" y="68"/>
                      </a:lnTo>
                      <a:lnTo>
                        <a:pt x="0" y="58"/>
                      </a:lnTo>
                      <a:lnTo>
                        <a:pt x="102" y="0"/>
                      </a:lnTo>
                      <a:lnTo>
                        <a:pt x="142" y="12"/>
                      </a:lnTo>
                      <a:lnTo>
                        <a:pt x="44" y="68"/>
                      </a:lnTo>
                    </a:path>
                  </a:pathLst>
                </a:custGeom>
                <a:solidFill>
                  <a:srgbClr val="CF5C82"/>
                </a:solidFill>
                <a:ln w="9525" cap="rnd">
                  <a:noFill/>
                  <a:round/>
                </a:ln>
              </p:spPr>
              <p:txBody>
                <a:bodyPr/>
                <a:lstStyle/>
                <a:p>
                  <a:endParaRPr lang="zh-CN" altLang="en-US"/>
                </a:p>
              </p:txBody>
            </p:sp>
          </p:grpSp>
          <p:sp>
            <p:nvSpPr>
              <p:cNvPr id="10551" name="Freeform 110"/>
              <p:cNvSpPr/>
              <p:nvPr/>
            </p:nvSpPr>
            <p:spPr bwMode="auto">
              <a:xfrm>
                <a:off x="2099" y="2275"/>
                <a:ext cx="49" cy="84"/>
              </a:xfrm>
              <a:custGeom>
                <a:avLst/>
                <a:gdLst>
                  <a:gd name="T0" fmla="*/ 0 w 49"/>
                  <a:gd name="T1" fmla="*/ 83 h 84"/>
                  <a:gd name="T2" fmla="*/ 0 w 49"/>
                  <a:gd name="T3" fmla="*/ 83 h 84"/>
                  <a:gd name="T4" fmla="*/ 0 w 49"/>
                  <a:gd name="T5" fmla="*/ 30 h 84"/>
                  <a:gd name="T6" fmla="*/ 48 w 49"/>
                  <a:gd name="T7" fmla="*/ 0 h 84"/>
                  <a:gd name="T8" fmla="*/ 45 w 49"/>
                  <a:gd name="T9" fmla="*/ 55 h 84"/>
                  <a:gd name="T10" fmla="*/ 0 w 49"/>
                  <a:gd name="T11" fmla="*/ 83 h 84"/>
                  <a:gd name="T12" fmla="*/ 0 60000 65536"/>
                  <a:gd name="T13" fmla="*/ 0 60000 65536"/>
                  <a:gd name="T14" fmla="*/ 0 60000 65536"/>
                  <a:gd name="T15" fmla="*/ 0 60000 65536"/>
                  <a:gd name="T16" fmla="*/ 0 60000 65536"/>
                  <a:gd name="T17" fmla="*/ 0 60000 65536"/>
                  <a:gd name="T18" fmla="*/ 0 w 49"/>
                  <a:gd name="T19" fmla="*/ 0 h 84"/>
                  <a:gd name="T20" fmla="*/ 49 w 49"/>
                  <a:gd name="T21" fmla="*/ 84 h 84"/>
                </a:gdLst>
                <a:ahLst/>
                <a:cxnLst>
                  <a:cxn ang="T12">
                    <a:pos x="T0" y="T1"/>
                  </a:cxn>
                  <a:cxn ang="T13">
                    <a:pos x="T2" y="T3"/>
                  </a:cxn>
                  <a:cxn ang="T14">
                    <a:pos x="T4" y="T5"/>
                  </a:cxn>
                  <a:cxn ang="T15">
                    <a:pos x="T6" y="T7"/>
                  </a:cxn>
                  <a:cxn ang="T16">
                    <a:pos x="T8" y="T9"/>
                  </a:cxn>
                  <a:cxn ang="T17">
                    <a:pos x="T10" y="T11"/>
                  </a:cxn>
                </a:cxnLst>
                <a:rect l="T18" t="T19" r="T20" b="T21"/>
                <a:pathLst>
                  <a:path w="49" h="84">
                    <a:moveTo>
                      <a:pt x="0" y="83"/>
                    </a:moveTo>
                    <a:lnTo>
                      <a:pt x="0" y="83"/>
                    </a:lnTo>
                    <a:lnTo>
                      <a:pt x="0" y="30"/>
                    </a:lnTo>
                    <a:lnTo>
                      <a:pt x="48" y="0"/>
                    </a:lnTo>
                    <a:lnTo>
                      <a:pt x="45" y="55"/>
                    </a:lnTo>
                    <a:lnTo>
                      <a:pt x="0" y="83"/>
                    </a:lnTo>
                  </a:path>
                </a:pathLst>
              </a:custGeom>
              <a:solidFill>
                <a:srgbClr val="BB1A50"/>
              </a:solidFill>
              <a:ln w="9525" cap="rnd">
                <a:noFill/>
                <a:round/>
              </a:ln>
            </p:spPr>
            <p:txBody>
              <a:bodyPr/>
              <a:lstStyle/>
              <a:p>
                <a:endParaRPr lang="zh-CN" altLang="en-US"/>
              </a:p>
            </p:txBody>
          </p:sp>
          <p:sp>
            <p:nvSpPr>
              <p:cNvPr id="10552" name="Freeform 111"/>
              <p:cNvSpPr/>
              <p:nvPr/>
            </p:nvSpPr>
            <p:spPr bwMode="auto">
              <a:xfrm>
                <a:off x="2053" y="2266"/>
                <a:ext cx="95" cy="39"/>
              </a:xfrm>
              <a:custGeom>
                <a:avLst/>
                <a:gdLst>
                  <a:gd name="T0" fmla="*/ 44 w 95"/>
                  <a:gd name="T1" fmla="*/ 38 h 39"/>
                  <a:gd name="T2" fmla="*/ 44 w 95"/>
                  <a:gd name="T3" fmla="*/ 38 h 39"/>
                  <a:gd name="T4" fmla="*/ 0 w 95"/>
                  <a:gd name="T5" fmla="*/ 26 h 39"/>
                  <a:gd name="T6" fmla="*/ 49 w 95"/>
                  <a:gd name="T7" fmla="*/ 0 h 39"/>
                  <a:gd name="T8" fmla="*/ 94 w 95"/>
                  <a:gd name="T9" fmla="*/ 9 h 39"/>
                  <a:gd name="T10" fmla="*/ 44 w 95"/>
                  <a:gd name="T11" fmla="*/ 38 h 39"/>
                  <a:gd name="T12" fmla="*/ 0 60000 65536"/>
                  <a:gd name="T13" fmla="*/ 0 60000 65536"/>
                  <a:gd name="T14" fmla="*/ 0 60000 65536"/>
                  <a:gd name="T15" fmla="*/ 0 60000 65536"/>
                  <a:gd name="T16" fmla="*/ 0 60000 65536"/>
                  <a:gd name="T17" fmla="*/ 0 60000 65536"/>
                  <a:gd name="T18" fmla="*/ 0 w 95"/>
                  <a:gd name="T19" fmla="*/ 0 h 39"/>
                  <a:gd name="T20" fmla="*/ 95 w 95"/>
                  <a:gd name="T21" fmla="*/ 39 h 39"/>
                </a:gdLst>
                <a:ahLst/>
                <a:cxnLst>
                  <a:cxn ang="T12">
                    <a:pos x="T0" y="T1"/>
                  </a:cxn>
                  <a:cxn ang="T13">
                    <a:pos x="T2" y="T3"/>
                  </a:cxn>
                  <a:cxn ang="T14">
                    <a:pos x="T4" y="T5"/>
                  </a:cxn>
                  <a:cxn ang="T15">
                    <a:pos x="T6" y="T7"/>
                  </a:cxn>
                  <a:cxn ang="T16">
                    <a:pos x="T8" y="T9"/>
                  </a:cxn>
                  <a:cxn ang="T17">
                    <a:pos x="T10" y="T11"/>
                  </a:cxn>
                </a:cxnLst>
                <a:rect l="T18" t="T19" r="T20" b="T21"/>
                <a:pathLst>
                  <a:path w="95" h="39">
                    <a:moveTo>
                      <a:pt x="44" y="38"/>
                    </a:moveTo>
                    <a:lnTo>
                      <a:pt x="44" y="38"/>
                    </a:lnTo>
                    <a:lnTo>
                      <a:pt x="0" y="26"/>
                    </a:lnTo>
                    <a:lnTo>
                      <a:pt x="49" y="0"/>
                    </a:lnTo>
                    <a:lnTo>
                      <a:pt x="94" y="9"/>
                    </a:lnTo>
                    <a:lnTo>
                      <a:pt x="44" y="38"/>
                    </a:lnTo>
                  </a:path>
                </a:pathLst>
              </a:custGeom>
              <a:solidFill>
                <a:srgbClr val="CF5C82"/>
              </a:solidFill>
              <a:ln w="9525" cap="rnd">
                <a:noFill/>
                <a:round/>
              </a:ln>
            </p:spPr>
            <p:txBody>
              <a:bodyPr/>
              <a:lstStyle/>
              <a:p>
                <a:endParaRPr lang="zh-CN" altLang="en-US"/>
              </a:p>
            </p:txBody>
          </p:sp>
          <p:sp>
            <p:nvSpPr>
              <p:cNvPr id="10553" name="Freeform 112"/>
              <p:cNvSpPr/>
              <p:nvPr/>
            </p:nvSpPr>
            <p:spPr bwMode="auto">
              <a:xfrm>
                <a:off x="2442" y="2090"/>
                <a:ext cx="17" cy="53"/>
              </a:xfrm>
              <a:custGeom>
                <a:avLst/>
                <a:gdLst>
                  <a:gd name="T0" fmla="*/ 0 w 17"/>
                  <a:gd name="T1" fmla="*/ 52 h 53"/>
                  <a:gd name="T2" fmla="*/ 0 w 17"/>
                  <a:gd name="T3" fmla="*/ 52 h 53"/>
                  <a:gd name="T4" fmla="*/ 4 w 17"/>
                  <a:gd name="T5" fmla="*/ 24 h 53"/>
                  <a:gd name="T6" fmla="*/ 4 w 17"/>
                  <a:gd name="T7" fmla="*/ 6 h 53"/>
                  <a:gd name="T8" fmla="*/ 4 w 17"/>
                  <a:gd name="T9" fmla="*/ 2 h 53"/>
                  <a:gd name="T10" fmla="*/ 4 w 17"/>
                  <a:gd name="T11" fmla="*/ 0 h 53"/>
                  <a:gd name="T12" fmla="*/ 11 w 17"/>
                  <a:gd name="T13" fmla="*/ 0 h 53"/>
                  <a:gd name="T14" fmla="*/ 16 w 17"/>
                  <a:gd name="T15" fmla="*/ 0 h 53"/>
                  <a:gd name="T16" fmla="*/ 16 w 17"/>
                  <a:gd name="T17" fmla="*/ 20 h 53"/>
                  <a:gd name="T18" fmla="*/ 11 w 17"/>
                  <a:gd name="T19" fmla="*/ 45 h 53"/>
                  <a:gd name="T20" fmla="*/ 11 w 17"/>
                  <a:gd name="T21" fmla="*/ 49 h 53"/>
                  <a:gd name="T22" fmla="*/ 11 w 17"/>
                  <a:gd name="T23" fmla="*/ 45 h 53"/>
                  <a:gd name="T24" fmla="*/ 4 w 17"/>
                  <a:gd name="T25" fmla="*/ 49 h 53"/>
                  <a:gd name="T26" fmla="*/ 0 w 17"/>
                  <a:gd name="T27" fmla="*/ 52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53"/>
                  <a:gd name="T44" fmla="*/ 17 w 17"/>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53">
                    <a:moveTo>
                      <a:pt x="0" y="52"/>
                    </a:moveTo>
                    <a:lnTo>
                      <a:pt x="0" y="52"/>
                    </a:lnTo>
                    <a:lnTo>
                      <a:pt x="4" y="24"/>
                    </a:lnTo>
                    <a:lnTo>
                      <a:pt x="4" y="6"/>
                    </a:lnTo>
                    <a:lnTo>
                      <a:pt x="4" y="2"/>
                    </a:lnTo>
                    <a:lnTo>
                      <a:pt x="4" y="0"/>
                    </a:lnTo>
                    <a:lnTo>
                      <a:pt x="11" y="0"/>
                    </a:lnTo>
                    <a:lnTo>
                      <a:pt x="16" y="0"/>
                    </a:lnTo>
                    <a:lnTo>
                      <a:pt x="16" y="20"/>
                    </a:lnTo>
                    <a:lnTo>
                      <a:pt x="11" y="45"/>
                    </a:lnTo>
                    <a:lnTo>
                      <a:pt x="11" y="49"/>
                    </a:lnTo>
                    <a:lnTo>
                      <a:pt x="11" y="45"/>
                    </a:lnTo>
                    <a:lnTo>
                      <a:pt x="4" y="49"/>
                    </a:lnTo>
                    <a:lnTo>
                      <a:pt x="0" y="52"/>
                    </a:lnTo>
                  </a:path>
                </a:pathLst>
              </a:custGeom>
              <a:solidFill>
                <a:srgbClr val="BDB597"/>
              </a:solidFill>
              <a:ln w="9525" cap="rnd">
                <a:noFill/>
                <a:round/>
              </a:ln>
            </p:spPr>
            <p:txBody>
              <a:bodyPr/>
              <a:lstStyle/>
              <a:p>
                <a:endParaRPr lang="zh-CN" altLang="en-US"/>
              </a:p>
            </p:txBody>
          </p:sp>
          <p:sp>
            <p:nvSpPr>
              <p:cNvPr id="10554" name="Freeform 113"/>
              <p:cNvSpPr/>
              <p:nvPr/>
            </p:nvSpPr>
            <p:spPr bwMode="auto">
              <a:xfrm>
                <a:off x="2099" y="2032"/>
                <a:ext cx="432" cy="273"/>
              </a:xfrm>
              <a:custGeom>
                <a:avLst/>
                <a:gdLst>
                  <a:gd name="T0" fmla="*/ 431 w 432"/>
                  <a:gd name="T1" fmla="*/ 0 h 273"/>
                  <a:gd name="T2" fmla="*/ 431 w 432"/>
                  <a:gd name="T3" fmla="*/ 0 h 273"/>
                  <a:gd name="T4" fmla="*/ 0 w 432"/>
                  <a:gd name="T5" fmla="*/ 265 h 273"/>
                  <a:gd name="T6" fmla="*/ 0 w 432"/>
                  <a:gd name="T7" fmla="*/ 272 h 273"/>
                  <a:gd name="T8" fmla="*/ 431 w 432"/>
                  <a:gd name="T9" fmla="*/ 6 h 273"/>
                  <a:gd name="T10" fmla="*/ 431 w 432"/>
                  <a:gd name="T11" fmla="*/ 0 h 273"/>
                  <a:gd name="T12" fmla="*/ 0 60000 65536"/>
                  <a:gd name="T13" fmla="*/ 0 60000 65536"/>
                  <a:gd name="T14" fmla="*/ 0 60000 65536"/>
                  <a:gd name="T15" fmla="*/ 0 60000 65536"/>
                  <a:gd name="T16" fmla="*/ 0 60000 65536"/>
                  <a:gd name="T17" fmla="*/ 0 60000 65536"/>
                  <a:gd name="T18" fmla="*/ 0 w 432"/>
                  <a:gd name="T19" fmla="*/ 0 h 273"/>
                  <a:gd name="T20" fmla="*/ 432 w 432"/>
                  <a:gd name="T21" fmla="*/ 273 h 273"/>
                </a:gdLst>
                <a:ahLst/>
                <a:cxnLst>
                  <a:cxn ang="T12">
                    <a:pos x="T0" y="T1"/>
                  </a:cxn>
                  <a:cxn ang="T13">
                    <a:pos x="T2" y="T3"/>
                  </a:cxn>
                  <a:cxn ang="T14">
                    <a:pos x="T4" y="T5"/>
                  </a:cxn>
                  <a:cxn ang="T15">
                    <a:pos x="T6" y="T7"/>
                  </a:cxn>
                  <a:cxn ang="T16">
                    <a:pos x="T8" y="T9"/>
                  </a:cxn>
                  <a:cxn ang="T17">
                    <a:pos x="T10" y="T11"/>
                  </a:cxn>
                </a:cxnLst>
                <a:rect l="T18" t="T19" r="T20" b="T21"/>
                <a:pathLst>
                  <a:path w="432" h="273">
                    <a:moveTo>
                      <a:pt x="431" y="0"/>
                    </a:moveTo>
                    <a:lnTo>
                      <a:pt x="431" y="0"/>
                    </a:lnTo>
                    <a:lnTo>
                      <a:pt x="0" y="265"/>
                    </a:lnTo>
                    <a:lnTo>
                      <a:pt x="0" y="272"/>
                    </a:lnTo>
                    <a:lnTo>
                      <a:pt x="431" y="6"/>
                    </a:lnTo>
                    <a:lnTo>
                      <a:pt x="431" y="0"/>
                    </a:lnTo>
                  </a:path>
                </a:pathLst>
              </a:custGeom>
              <a:solidFill>
                <a:srgbClr val="BDB597"/>
              </a:solidFill>
              <a:ln w="9525" cap="rnd">
                <a:noFill/>
                <a:round/>
              </a:ln>
            </p:spPr>
            <p:txBody>
              <a:bodyPr/>
              <a:lstStyle/>
              <a:p>
                <a:endParaRPr lang="zh-CN" altLang="en-US"/>
              </a:p>
            </p:txBody>
          </p:sp>
          <p:sp>
            <p:nvSpPr>
              <p:cNvPr id="10555" name="Freeform 114"/>
              <p:cNvSpPr/>
              <p:nvPr/>
            </p:nvSpPr>
            <p:spPr bwMode="auto">
              <a:xfrm>
                <a:off x="2350" y="2143"/>
                <a:ext cx="17" cy="56"/>
              </a:xfrm>
              <a:custGeom>
                <a:avLst/>
                <a:gdLst>
                  <a:gd name="T0" fmla="*/ 0 w 17"/>
                  <a:gd name="T1" fmla="*/ 55 h 56"/>
                  <a:gd name="T2" fmla="*/ 0 w 17"/>
                  <a:gd name="T3" fmla="*/ 55 h 56"/>
                  <a:gd name="T4" fmla="*/ 0 w 17"/>
                  <a:gd name="T5" fmla="*/ 45 h 56"/>
                  <a:gd name="T6" fmla="*/ 0 w 17"/>
                  <a:gd name="T7" fmla="*/ 27 h 56"/>
                  <a:gd name="T8" fmla="*/ 0 w 17"/>
                  <a:gd name="T9" fmla="*/ 18 h 56"/>
                  <a:gd name="T10" fmla="*/ 6 w 17"/>
                  <a:gd name="T11" fmla="*/ 9 h 56"/>
                  <a:gd name="T12" fmla="*/ 6 w 17"/>
                  <a:gd name="T13" fmla="*/ 2 h 56"/>
                  <a:gd name="T14" fmla="*/ 6 w 17"/>
                  <a:gd name="T15" fmla="*/ 0 h 56"/>
                  <a:gd name="T16" fmla="*/ 10 w 17"/>
                  <a:gd name="T17" fmla="*/ 0 h 56"/>
                  <a:gd name="T18" fmla="*/ 16 w 17"/>
                  <a:gd name="T19" fmla="*/ 0 h 56"/>
                  <a:gd name="T20" fmla="*/ 16 w 17"/>
                  <a:gd name="T21" fmla="*/ 24 h 56"/>
                  <a:gd name="T22" fmla="*/ 10 w 17"/>
                  <a:gd name="T23" fmla="*/ 42 h 56"/>
                  <a:gd name="T24" fmla="*/ 10 w 17"/>
                  <a:gd name="T25" fmla="*/ 48 h 56"/>
                  <a:gd name="T26" fmla="*/ 10 w 17"/>
                  <a:gd name="T27" fmla="*/ 52 h 56"/>
                  <a:gd name="T28" fmla="*/ 6 w 17"/>
                  <a:gd name="T29" fmla="*/ 52 h 56"/>
                  <a:gd name="T30" fmla="*/ 0 w 17"/>
                  <a:gd name="T31" fmla="*/ 52 h 56"/>
                  <a:gd name="T32" fmla="*/ 0 w 17"/>
                  <a:gd name="T33" fmla="*/ 55 h 5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
                  <a:gd name="T52" fmla="*/ 0 h 56"/>
                  <a:gd name="T53" fmla="*/ 17 w 17"/>
                  <a:gd name="T54" fmla="*/ 56 h 5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 h="56">
                    <a:moveTo>
                      <a:pt x="0" y="55"/>
                    </a:moveTo>
                    <a:lnTo>
                      <a:pt x="0" y="55"/>
                    </a:lnTo>
                    <a:lnTo>
                      <a:pt x="0" y="45"/>
                    </a:lnTo>
                    <a:lnTo>
                      <a:pt x="0" y="27"/>
                    </a:lnTo>
                    <a:lnTo>
                      <a:pt x="0" y="18"/>
                    </a:lnTo>
                    <a:lnTo>
                      <a:pt x="6" y="9"/>
                    </a:lnTo>
                    <a:lnTo>
                      <a:pt x="6" y="2"/>
                    </a:lnTo>
                    <a:lnTo>
                      <a:pt x="6" y="0"/>
                    </a:lnTo>
                    <a:lnTo>
                      <a:pt x="10" y="0"/>
                    </a:lnTo>
                    <a:lnTo>
                      <a:pt x="16" y="0"/>
                    </a:lnTo>
                    <a:lnTo>
                      <a:pt x="16" y="24"/>
                    </a:lnTo>
                    <a:lnTo>
                      <a:pt x="10" y="42"/>
                    </a:lnTo>
                    <a:lnTo>
                      <a:pt x="10" y="48"/>
                    </a:lnTo>
                    <a:lnTo>
                      <a:pt x="10" y="52"/>
                    </a:lnTo>
                    <a:lnTo>
                      <a:pt x="6" y="52"/>
                    </a:lnTo>
                    <a:lnTo>
                      <a:pt x="0" y="52"/>
                    </a:lnTo>
                    <a:lnTo>
                      <a:pt x="0" y="55"/>
                    </a:lnTo>
                  </a:path>
                </a:pathLst>
              </a:custGeom>
              <a:solidFill>
                <a:srgbClr val="BDB597"/>
              </a:solidFill>
              <a:ln w="9525" cap="rnd">
                <a:noFill/>
                <a:round/>
              </a:ln>
            </p:spPr>
            <p:txBody>
              <a:bodyPr/>
              <a:lstStyle/>
              <a:p>
                <a:endParaRPr lang="zh-CN" altLang="en-US"/>
              </a:p>
            </p:txBody>
          </p:sp>
          <p:sp>
            <p:nvSpPr>
              <p:cNvPr id="10556" name="Freeform 115"/>
              <p:cNvSpPr/>
              <p:nvPr/>
            </p:nvSpPr>
            <p:spPr bwMode="auto">
              <a:xfrm>
                <a:off x="2256" y="2205"/>
                <a:ext cx="17" cy="55"/>
              </a:xfrm>
              <a:custGeom>
                <a:avLst/>
                <a:gdLst>
                  <a:gd name="T0" fmla="*/ 0 w 17"/>
                  <a:gd name="T1" fmla="*/ 54 h 55"/>
                  <a:gd name="T2" fmla="*/ 0 w 17"/>
                  <a:gd name="T3" fmla="*/ 54 h 55"/>
                  <a:gd name="T4" fmla="*/ 0 w 17"/>
                  <a:gd name="T5" fmla="*/ 47 h 55"/>
                  <a:gd name="T6" fmla="*/ 0 w 17"/>
                  <a:gd name="T7" fmla="*/ 27 h 55"/>
                  <a:gd name="T8" fmla="*/ 0 w 17"/>
                  <a:gd name="T9" fmla="*/ 18 h 55"/>
                  <a:gd name="T10" fmla="*/ 0 w 17"/>
                  <a:gd name="T11" fmla="*/ 9 h 55"/>
                  <a:gd name="T12" fmla="*/ 0 w 17"/>
                  <a:gd name="T13" fmla="*/ 6 h 55"/>
                  <a:gd name="T14" fmla="*/ 0 w 17"/>
                  <a:gd name="T15" fmla="*/ 2 h 55"/>
                  <a:gd name="T16" fmla="*/ 0 w 17"/>
                  <a:gd name="T17" fmla="*/ 0 h 55"/>
                  <a:gd name="T18" fmla="*/ 8 w 17"/>
                  <a:gd name="T19" fmla="*/ 0 h 55"/>
                  <a:gd name="T20" fmla="*/ 16 w 17"/>
                  <a:gd name="T21" fmla="*/ 0 h 55"/>
                  <a:gd name="T22" fmla="*/ 16 w 17"/>
                  <a:gd name="T23" fmla="*/ 24 h 55"/>
                  <a:gd name="T24" fmla="*/ 16 w 17"/>
                  <a:gd name="T25" fmla="*/ 42 h 55"/>
                  <a:gd name="T26" fmla="*/ 16 w 17"/>
                  <a:gd name="T27" fmla="*/ 47 h 55"/>
                  <a:gd name="T28" fmla="*/ 16 w 17"/>
                  <a:gd name="T29" fmla="*/ 51 h 55"/>
                  <a:gd name="T30" fmla="*/ 8 w 17"/>
                  <a:gd name="T31" fmla="*/ 51 h 55"/>
                  <a:gd name="T32" fmla="*/ 8 w 17"/>
                  <a:gd name="T33" fmla="*/ 54 h 55"/>
                  <a:gd name="T34" fmla="*/ 0 w 17"/>
                  <a:gd name="T35" fmla="*/ 54 h 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55"/>
                  <a:gd name="T56" fmla="*/ 17 w 17"/>
                  <a:gd name="T57" fmla="*/ 55 h 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55">
                    <a:moveTo>
                      <a:pt x="0" y="54"/>
                    </a:moveTo>
                    <a:lnTo>
                      <a:pt x="0" y="54"/>
                    </a:lnTo>
                    <a:lnTo>
                      <a:pt x="0" y="47"/>
                    </a:lnTo>
                    <a:lnTo>
                      <a:pt x="0" y="27"/>
                    </a:lnTo>
                    <a:lnTo>
                      <a:pt x="0" y="18"/>
                    </a:lnTo>
                    <a:lnTo>
                      <a:pt x="0" y="9"/>
                    </a:lnTo>
                    <a:lnTo>
                      <a:pt x="0" y="6"/>
                    </a:lnTo>
                    <a:lnTo>
                      <a:pt x="0" y="2"/>
                    </a:lnTo>
                    <a:lnTo>
                      <a:pt x="0" y="0"/>
                    </a:lnTo>
                    <a:lnTo>
                      <a:pt x="8" y="0"/>
                    </a:lnTo>
                    <a:lnTo>
                      <a:pt x="16" y="0"/>
                    </a:lnTo>
                    <a:lnTo>
                      <a:pt x="16" y="24"/>
                    </a:lnTo>
                    <a:lnTo>
                      <a:pt x="16" y="42"/>
                    </a:lnTo>
                    <a:lnTo>
                      <a:pt x="16" y="47"/>
                    </a:lnTo>
                    <a:lnTo>
                      <a:pt x="16" y="51"/>
                    </a:lnTo>
                    <a:lnTo>
                      <a:pt x="8" y="51"/>
                    </a:lnTo>
                    <a:lnTo>
                      <a:pt x="8" y="54"/>
                    </a:lnTo>
                    <a:lnTo>
                      <a:pt x="0" y="54"/>
                    </a:lnTo>
                  </a:path>
                </a:pathLst>
              </a:custGeom>
              <a:solidFill>
                <a:srgbClr val="BDB597"/>
              </a:solidFill>
              <a:ln w="9525" cap="rnd">
                <a:noFill/>
                <a:round/>
              </a:ln>
            </p:spPr>
            <p:txBody>
              <a:bodyPr/>
              <a:lstStyle/>
              <a:p>
                <a:endParaRPr lang="zh-CN" altLang="en-US"/>
              </a:p>
            </p:txBody>
          </p:sp>
          <p:sp>
            <p:nvSpPr>
              <p:cNvPr id="10557" name="Freeform 116"/>
              <p:cNvSpPr/>
              <p:nvPr/>
            </p:nvSpPr>
            <p:spPr bwMode="auto">
              <a:xfrm>
                <a:off x="2147" y="2272"/>
                <a:ext cx="17" cy="59"/>
              </a:xfrm>
              <a:custGeom>
                <a:avLst/>
                <a:gdLst>
                  <a:gd name="T0" fmla="*/ 0 w 17"/>
                  <a:gd name="T1" fmla="*/ 58 h 59"/>
                  <a:gd name="T2" fmla="*/ 0 w 17"/>
                  <a:gd name="T3" fmla="*/ 58 h 59"/>
                  <a:gd name="T4" fmla="*/ 0 w 17"/>
                  <a:gd name="T5" fmla="*/ 48 h 59"/>
                  <a:gd name="T6" fmla="*/ 0 w 17"/>
                  <a:gd name="T7" fmla="*/ 30 h 59"/>
                  <a:gd name="T8" fmla="*/ 0 w 17"/>
                  <a:gd name="T9" fmla="*/ 18 h 59"/>
                  <a:gd name="T10" fmla="*/ 0 w 17"/>
                  <a:gd name="T11" fmla="*/ 9 h 59"/>
                  <a:gd name="T12" fmla="*/ 6 w 17"/>
                  <a:gd name="T13" fmla="*/ 2 h 59"/>
                  <a:gd name="T14" fmla="*/ 6 w 17"/>
                  <a:gd name="T15" fmla="*/ 0 h 59"/>
                  <a:gd name="T16" fmla="*/ 10 w 17"/>
                  <a:gd name="T17" fmla="*/ 0 h 59"/>
                  <a:gd name="T18" fmla="*/ 16 w 17"/>
                  <a:gd name="T19" fmla="*/ 0 h 59"/>
                  <a:gd name="T20" fmla="*/ 16 w 17"/>
                  <a:gd name="T21" fmla="*/ 24 h 59"/>
                  <a:gd name="T22" fmla="*/ 16 w 17"/>
                  <a:gd name="T23" fmla="*/ 42 h 59"/>
                  <a:gd name="T24" fmla="*/ 16 w 17"/>
                  <a:gd name="T25" fmla="*/ 51 h 59"/>
                  <a:gd name="T26" fmla="*/ 10 w 17"/>
                  <a:gd name="T27" fmla="*/ 51 h 59"/>
                  <a:gd name="T28" fmla="*/ 6 w 17"/>
                  <a:gd name="T29" fmla="*/ 51 h 59"/>
                  <a:gd name="T30" fmla="*/ 6 w 17"/>
                  <a:gd name="T31" fmla="*/ 55 h 59"/>
                  <a:gd name="T32" fmla="*/ 6 w 17"/>
                  <a:gd name="T33" fmla="*/ 58 h 59"/>
                  <a:gd name="T34" fmla="*/ 0 w 17"/>
                  <a:gd name="T35" fmla="*/ 58 h 5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59"/>
                  <a:gd name="T56" fmla="*/ 17 w 17"/>
                  <a:gd name="T57" fmla="*/ 59 h 5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59">
                    <a:moveTo>
                      <a:pt x="0" y="58"/>
                    </a:moveTo>
                    <a:lnTo>
                      <a:pt x="0" y="58"/>
                    </a:lnTo>
                    <a:lnTo>
                      <a:pt x="0" y="48"/>
                    </a:lnTo>
                    <a:lnTo>
                      <a:pt x="0" y="30"/>
                    </a:lnTo>
                    <a:lnTo>
                      <a:pt x="0" y="18"/>
                    </a:lnTo>
                    <a:lnTo>
                      <a:pt x="0" y="9"/>
                    </a:lnTo>
                    <a:lnTo>
                      <a:pt x="6" y="2"/>
                    </a:lnTo>
                    <a:lnTo>
                      <a:pt x="6" y="0"/>
                    </a:lnTo>
                    <a:lnTo>
                      <a:pt x="10" y="0"/>
                    </a:lnTo>
                    <a:lnTo>
                      <a:pt x="16" y="0"/>
                    </a:lnTo>
                    <a:lnTo>
                      <a:pt x="16" y="24"/>
                    </a:lnTo>
                    <a:lnTo>
                      <a:pt x="16" y="42"/>
                    </a:lnTo>
                    <a:lnTo>
                      <a:pt x="16" y="51"/>
                    </a:lnTo>
                    <a:lnTo>
                      <a:pt x="10" y="51"/>
                    </a:lnTo>
                    <a:lnTo>
                      <a:pt x="6" y="51"/>
                    </a:lnTo>
                    <a:lnTo>
                      <a:pt x="6" y="55"/>
                    </a:lnTo>
                    <a:lnTo>
                      <a:pt x="6" y="58"/>
                    </a:lnTo>
                    <a:lnTo>
                      <a:pt x="0" y="58"/>
                    </a:lnTo>
                  </a:path>
                </a:pathLst>
              </a:custGeom>
              <a:solidFill>
                <a:srgbClr val="BDB597"/>
              </a:solidFill>
              <a:ln w="9525" cap="rnd">
                <a:noFill/>
                <a:round/>
              </a:ln>
            </p:spPr>
            <p:txBody>
              <a:bodyPr/>
              <a:lstStyle/>
              <a:p>
                <a:endParaRPr lang="zh-CN" altLang="en-US"/>
              </a:p>
            </p:txBody>
          </p:sp>
          <p:sp>
            <p:nvSpPr>
              <p:cNvPr id="10558" name="Freeform 117"/>
              <p:cNvSpPr/>
              <p:nvPr/>
            </p:nvSpPr>
            <p:spPr bwMode="auto">
              <a:xfrm>
                <a:off x="2053" y="2294"/>
                <a:ext cx="45" cy="65"/>
              </a:xfrm>
              <a:custGeom>
                <a:avLst/>
                <a:gdLst>
                  <a:gd name="T0" fmla="*/ 44 w 45"/>
                  <a:gd name="T1" fmla="*/ 64 h 65"/>
                  <a:gd name="T2" fmla="*/ 44 w 45"/>
                  <a:gd name="T3" fmla="*/ 64 h 65"/>
                  <a:gd name="T4" fmla="*/ 0 w 45"/>
                  <a:gd name="T5" fmla="*/ 55 h 65"/>
                  <a:gd name="T6" fmla="*/ 0 w 45"/>
                  <a:gd name="T7" fmla="*/ 0 h 65"/>
                  <a:gd name="T8" fmla="*/ 44 w 45"/>
                  <a:gd name="T9" fmla="*/ 12 h 65"/>
                  <a:gd name="T10" fmla="*/ 44 w 45"/>
                  <a:gd name="T11" fmla="*/ 64 h 65"/>
                  <a:gd name="T12" fmla="*/ 0 60000 65536"/>
                  <a:gd name="T13" fmla="*/ 0 60000 65536"/>
                  <a:gd name="T14" fmla="*/ 0 60000 65536"/>
                  <a:gd name="T15" fmla="*/ 0 60000 65536"/>
                  <a:gd name="T16" fmla="*/ 0 60000 65536"/>
                  <a:gd name="T17" fmla="*/ 0 60000 65536"/>
                  <a:gd name="T18" fmla="*/ 0 w 45"/>
                  <a:gd name="T19" fmla="*/ 0 h 65"/>
                  <a:gd name="T20" fmla="*/ 45 w 45"/>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45" h="65">
                    <a:moveTo>
                      <a:pt x="44" y="64"/>
                    </a:moveTo>
                    <a:lnTo>
                      <a:pt x="44" y="64"/>
                    </a:lnTo>
                    <a:lnTo>
                      <a:pt x="0" y="55"/>
                    </a:lnTo>
                    <a:lnTo>
                      <a:pt x="0" y="0"/>
                    </a:lnTo>
                    <a:lnTo>
                      <a:pt x="44" y="12"/>
                    </a:lnTo>
                    <a:lnTo>
                      <a:pt x="44" y="64"/>
                    </a:lnTo>
                  </a:path>
                </a:pathLst>
              </a:custGeom>
              <a:solidFill>
                <a:srgbClr val="9E0005"/>
              </a:solidFill>
              <a:ln w="9525" cap="rnd">
                <a:noFill/>
                <a:round/>
              </a:ln>
            </p:spPr>
            <p:txBody>
              <a:bodyPr/>
              <a:lstStyle/>
              <a:p>
                <a:endParaRPr lang="zh-CN" altLang="en-US"/>
              </a:p>
            </p:txBody>
          </p:sp>
          <p:sp>
            <p:nvSpPr>
              <p:cNvPr id="10559" name="Freeform 118"/>
              <p:cNvSpPr/>
              <p:nvPr/>
            </p:nvSpPr>
            <p:spPr bwMode="auto">
              <a:xfrm>
                <a:off x="2053" y="2352"/>
                <a:ext cx="45" cy="17"/>
              </a:xfrm>
              <a:custGeom>
                <a:avLst/>
                <a:gdLst>
                  <a:gd name="T0" fmla="*/ 44 w 45"/>
                  <a:gd name="T1" fmla="*/ 16 h 17"/>
                  <a:gd name="T2" fmla="*/ 44 w 45"/>
                  <a:gd name="T3" fmla="*/ 16 h 17"/>
                  <a:gd name="T4" fmla="*/ 44 w 45"/>
                  <a:gd name="T5" fmla="*/ 12 h 17"/>
                  <a:gd name="T6" fmla="*/ 44 w 45"/>
                  <a:gd name="T7" fmla="*/ 9 h 17"/>
                  <a:gd name="T8" fmla="*/ 22 w 45"/>
                  <a:gd name="T9" fmla="*/ 3 h 17"/>
                  <a:gd name="T10" fmla="*/ 0 w 45"/>
                  <a:gd name="T11" fmla="*/ 0 h 17"/>
                  <a:gd name="T12" fmla="*/ 0 w 45"/>
                  <a:gd name="T13" fmla="*/ 3 h 17"/>
                  <a:gd name="T14" fmla="*/ 0 w 45"/>
                  <a:gd name="T15" fmla="*/ 6 h 17"/>
                  <a:gd name="T16" fmla="*/ 5 w 45"/>
                  <a:gd name="T17" fmla="*/ 9 h 17"/>
                  <a:gd name="T18" fmla="*/ 19 w 45"/>
                  <a:gd name="T19" fmla="*/ 9 h 17"/>
                  <a:gd name="T20" fmla="*/ 27 w 45"/>
                  <a:gd name="T21" fmla="*/ 12 h 17"/>
                  <a:gd name="T22" fmla="*/ 35 w 45"/>
                  <a:gd name="T23" fmla="*/ 12 h 17"/>
                  <a:gd name="T24" fmla="*/ 38 w 45"/>
                  <a:gd name="T25" fmla="*/ 12 h 17"/>
                  <a:gd name="T26" fmla="*/ 41 w 45"/>
                  <a:gd name="T27" fmla="*/ 16 h 17"/>
                  <a:gd name="T28" fmla="*/ 44 w 45"/>
                  <a:gd name="T29" fmla="*/ 16 h 1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5"/>
                  <a:gd name="T46" fmla="*/ 0 h 17"/>
                  <a:gd name="T47" fmla="*/ 45 w 45"/>
                  <a:gd name="T48" fmla="*/ 17 h 1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5" h="17">
                    <a:moveTo>
                      <a:pt x="44" y="16"/>
                    </a:moveTo>
                    <a:lnTo>
                      <a:pt x="44" y="16"/>
                    </a:lnTo>
                    <a:lnTo>
                      <a:pt x="44" y="12"/>
                    </a:lnTo>
                    <a:lnTo>
                      <a:pt x="44" y="9"/>
                    </a:lnTo>
                    <a:lnTo>
                      <a:pt x="22" y="3"/>
                    </a:lnTo>
                    <a:lnTo>
                      <a:pt x="0" y="0"/>
                    </a:lnTo>
                    <a:lnTo>
                      <a:pt x="0" y="3"/>
                    </a:lnTo>
                    <a:lnTo>
                      <a:pt x="0" y="6"/>
                    </a:lnTo>
                    <a:lnTo>
                      <a:pt x="5" y="9"/>
                    </a:lnTo>
                    <a:lnTo>
                      <a:pt x="19" y="9"/>
                    </a:lnTo>
                    <a:lnTo>
                      <a:pt x="27" y="12"/>
                    </a:lnTo>
                    <a:lnTo>
                      <a:pt x="35" y="12"/>
                    </a:lnTo>
                    <a:lnTo>
                      <a:pt x="38" y="12"/>
                    </a:lnTo>
                    <a:lnTo>
                      <a:pt x="41" y="16"/>
                    </a:lnTo>
                    <a:lnTo>
                      <a:pt x="44" y="16"/>
                    </a:lnTo>
                  </a:path>
                </a:pathLst>
              </a:custGeom>
              <a:solidFill>
                <a:srgbClr val="BDB597"/>
              </a:solidFill>
              <a:ln w="9525" cap="rnd">
                <a:noFill/>
                <a:round/>
              </a:ln>
            </p:spPr>
            <p:txBody>
              <a:bodyPr/>
              <a:lstStyle/>
              <a:p>
                <a:endParaRPr lang="zh-CN" altLang="en-US"/>
              </a:p>
            </p:txBody>
          </p:sp>
          <p:sp>
            <p:nvSpPr>
              <p:cNvPr id="10560" name="Freeform 119"/>
              <p:cNvSpPr/>
              <p:nvPr/>
            </p:nvSpPr>
            <p:spPr bwMode="auto">
              <a:xfrm>
                <a:off x="2053" y="2288"/>
                <a:ext cx="45" cy="17"/>
              </a:xfrm>
              <a:custGeom>
                <a:avLst/>
                <a:gdLst>
                  <a:gd name="T0" fmla="*/ 44 w 45"/>
                  <a:gd name="T1" fmla="*/ 16 h 17"/>
                  <a:gd name="T2" fmla="*/ 44 w 45"/>
                  <a:gd name="T3" fmla="*/ 16 h 17"/>
                  <a:gd name="T4" fmla="*/ 44 w 45"/>
                  <a:gd name="T5" fmla="*/ 13 h 17"/>
                  <a:gd name="T6" fmla="*/ 44 w 45"/>
                  <a:gd name="T7" fmla="*/ 10 h 17"/>
                  <a:gd name="T8" fmla="*/ 22 w 45"/>
                  <a:gd name="T9" fmla="*/ 5 h 17"/>
                  <a:gd name="T10" fmla="*/ 0 w 45"/>
                  <a:gd name="T11" fmla="*/ 0 h 17"/>
                  <a:gd name="T12" fmla="*/ 0 w 45"/>
                  <a:gd name="T13" fmla="*/ 2 h 17"/>
                  <a:gd name="T14" fmla="*/ 0 w 45"/>
                  <a:gd name="T15" fmla="*/ 5 h 17"/>
                  <a:gd name="T16" fmla="*/ 5 w 45"/>
                  <a:gd name="T17" fmla="*/ 8 h 17"/>
                  <a:gd name="T18" fmla="*/ 13 w 45"/>
                  <a:gd name="T19" fmla="*/ 8 h 17"/>
                  <a:gd name="T20" fmla="*/ 19 w 45"/>
                  <a:gd name="T21" fmla="*/ 10 h 17"/>
                  <a:gd name="T22" fmla="*/ 27 w 45"/>
                  <a:gd name="T23" fmla="*/ 10 h 17"/>
                  <a:gd name="T24" fmla="*/ 35 w 45"/>
                  <a:gd name="T25" fmla="*/ 13 h 17"/>
                  <a:gd name="T26" fmla="*/ 38 w 45"/>
                  <a:gd name="T27" fmla="*/ 13 h 17"/>
                  <a:gd name="T28" fmla="*/ 41 w 45"/>
                  <a:gd name="T29" fmla="*/ 16 h 17"/>
                  <a:gd name="T30" fmla="*/ 44 w 45"/>
                  <a:gd name="T31" fmla="*/ 16 h 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17"/>
                  <a:gd name="T50" fmla="*/ 45 w 45"/>
                  <a:gd name="T51" fmla="*/ 17 h 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17">
                    <a:moveTo>
                      <a:pt x="44" y="16"/>
                    </a:moveTo>
                    <a:lnTo>
                      <a:pt x="44" y="16"/>
                    </a:lnTo>
                    <a:lnTo>
                      <a:pt x="44" y="13"/>
                    </a:lnTo>
                    <a:lnTo>
                      <a:pt x="44" y="10"/>
                    </a:lnTo>
                    <a:lnTo>
                      <a:pt x="22" y="5"/>
                    </a:lnTo>
                    <a:lnTo>
                      <a:pt x="0" y="0"/>
                    </a:lnTo>
                    <a:lnTo>
                      <a:pt x="0" y="2"/>
                    </a:lnTo>
                    <a:lnTo>
                      <a:pt x="0" y="5"/>
                    </a:lnTo>
                    <a:lnTo>
                      <a:pt x="5" y="8"/>
                    </a:lnTo>
                    <a:lnTo>
                      <a:pt x="13" y="8"/>
                    </a:lnTo>
                    <a:lnTo>
                      <a:pt x="19" y="10"/>
                    </a:lnTo>
                    <a:lnTo>
                      <a:pt x="27" y="10"/>
                    </a:lnTo>
                    <a:lnTo>
                      <a:pt x="35" y="13"/>
                    </a:lnTo>
                    <a:lnTo>
                      <a:pt x="38" y="13"/>
                    </a:lnTo>
                    <a:lnTo>
                      <a:pt x="41" y="16"/>
                    </a:lnTo>
                    <a:lnTo>
                      <a:pt x="44" y="16"/>
                    </a:lnTo>
                  </a:path>
                </a:pathLst>
              </a:custGeom>
              <a:solidFill>
                <a:srgbClr val="BDB597"/>
              </a:solidFill>
              <a:ln w="9525" cap="rnd">
                <a:noFill/>
                <a:round/>
              </a:ln>
            </p:spPr>
            <p:txBody>
              <a:bodyPr/>
              <a:lstStyle/>
              <a:p>
                <a:endParaRPr lang="zh-CN" altLang="en-US"/>
              </a:p>
            </p:txBody>
          </p:sp>
        </p:grpSp>
        <p:grpSp>
          <p:nvGrpSpPr>
            <p:cNvPr id="19" name="Group 120"/>
            <p:cNvGrpSpPr/>
            <p:nvPr/>
          </p:nvGrpSpPr>
          <p:grpSpPr bwMode="auto">
            <a:xfrm>
              <a:off x="2050" y="1915"/>
              <a:ext cx="488" cy="380"/>
              <a:chOff x="2050" y="1915"/>
              <a:chExt cx="488" cy="380"/>
            </a:xfrm>
          </p:grpSpPr>
          <p:sp>
            <p:nvSpPr>
              <p:cNvPr id="10485" name="Freeform 121"/>
              <p:cNvSpPr/>
              <p:nvPr/>
            </p:nvSpPr>
            <p:spPr bwMode="auto">
              <a:xfrm>
                <a:off x="2494" y="1980"/>
                <a:ext cx="37" cy="72"/>
              </a:xfrm>
              <a:custGeom>
                <a:avLst/>
                <a:gdLst>
                  <a:gd name="T0" fmla="*/ 0 w 37"/>
                  <a:gd name="T1" fmla="*/ 71 h 72"/>
                  <a:gd name="T2" fmla="*/ 0 w 37"/>
                  <a:gd name="T3" fmla="*/ 71 h 72"/>
                  <a:gd name="T4" fmla="*/ 2 w 37"/>
                  <a:gd name="T5" fmla="*/ 21 h 72"/>
                  <a:gd name="T6" fmla="*/ 36 w 37"/>
                  <a:gd name="T7" fmla="*/ 0 h 72"/>
                  <a:gd name="T8" fmla="*/ 33 w 37"/>
                  <a:gd name="T9" fmla="*/ 49 h 72"/>
                  <a:gd name="T10" fmla="*/ 0 w 37"/>
                  <a:gd name="T11" fmla="*/ 71 h 72"/>
                  <a:gd name="T12" fmla="*/ 0 60000 65536"/>
                  <a:gd name="T13" fmla="*/ 0 60000 65536"/>
                  <a:gd name="T14" fmla="*/ 0 60000 65536"/>
                  <a:gd name="T15" fmla="*/ 0 60000 65536"/>
                  <a:gd name="T16" fmla="*/ 0 60000 65536"/>
                  <a:gd name="T17" fmla="*/ 0 60000 65536"/>
                  <a:gd name="T18" fmla="*/ 0 w 37"/>
                  <a:gd name="T19" fmla="*/ 0 h 72"/>
                  <a:gd name="T20" fmla="*/ 37 w 37"/>
                  <a:gd name="T21" fmla="*/ 72 h 72"/>
                </a:gdLst>
                <a:ahLst/>
                <a:cxnLst>
                  <a:cxn ang="T12">
                    <a:pos x="T0" y="T1"/>
                  </a:cxn>
                  <a:cxn ang="T13">
                    <a:pos x="T2" y="T3"/>
                  </a:cxn>
                  <a:cxn ang="T14">
                    <a:pos x="T4" y="T5"/>
                  </a:cxn>
                  <a:cxn ang="T15">
                    <a:pos x="T6" y="T7"/>
                  </a:cxn>
                  <a:cxn ang="T16">
                    <a:pos x="T8" y="T9"/>
                  </a:cxn>
                  <a:cxn ang="T17">
                    <a:pos x="T10" y="T11"/>
                  </a:cxn>
                </a:cxnLst>
                <a:rect l="T18" t="T19" r="T20" b="T21"/>
                <a:pathLst>
                  <a:path w="37" h="72">
                    <a:moveTo>
                      <a:pt x="0" y="71"/>
                    </a:moveTo>
                    <a:lnTo>
                      <a:pt x="0" y="71"/>
                    </a:lnTo>
                    <a:lnTo>
                      <a:pt x="2" y="21"/>
                    </a:lnTo>
                    <a:lnTo>
                      <a:pt x="36" y="0"/>
                    </a:lnTo>
                    <a:lnTo>
                      <a:pt x="33" y="49"/>
                    </a:lnTo>
                    <a:lnTo>
                      <a:pt x="0" y="71"/>
                    </a:lnTo>
                  </a:path>
                </a:pathLst>
              </a:custGeom>
              <a:solidFill>
                <a:srgbClr val="BB1A50"/>
              </a:solidFill>
              <a:ln w="9525" cap="rnd">
                <a:noFill/>
                <a:round/>
              </a:ln>
            </p:spPr>
            <p:txBody>
              <a:bodyPr/>
              <a:lstStyle/>
              <a:p>
                <a:endParaRPr lang="zh-CN" altLang="en-US"/>
              </a:p>
            </p:txBody>
          </p:sp>
          <p:sp>
            <p:nvSpPr>
              <p:cNvPr id="10486" name="Freeform 122"/>
              <p:cNvSpPr/>
              <p:nvPr/>
            </p:nvSpPr>
            <p:spPr bwMode="auto">
              <a:xfrm>
                <a:off x="2462" y="1988"/>
                <a:ext cx="32" cy="65"/>
              </a:xfrm>
              <a:custGeom>
                <a:avLst/>
                <a:gdLst>
                  <a:gd name="T0" fmla="*/ 28 w 32"/>
                  <a:gd name="T1" fmla="*/ 64 h 65"/>
                  <a:gd name="T2" fmla="*/ 28 w 32"/>
                  <a:gd name="T3" fmla="*/ 64 h 65"/>
                  <a:gd name="T4" fmla="*/ 0 w 32"/>
                  <a:gd name="T5" fmla="*/ 48 h 65"/>
                  <a:gd name="T6" fmla="*/ 2 w 32"/>
                  <a:gd name="T7" fmla="*/ 0 h 65"/>
                  <a:gd name="T8" fmla="*/ 31 w 32"/>
                  <a:gd name="T9" fmla="*/ 15 h 65"/>
                  <a:gd name="T10" fmla="*/ 28 w 32"/>
                  <a:gd name="T11" fmla="*/ 64 h 65"/>
                  <a:gd name="T12" fmla="*/ 0 60000 65536"/>
                  <a:gd name="T13" fmla="*/ 0 60000 65536"/>
                  <a:gd name="T14" fmla="*/ 0 60000 65536"/>
                  <a:gd name="T15" fmla="*/ 0 60000 65536"/>
                  <a:gd name="T16" fmla="*/ 0 60000 65536"/>
                  <a:gd name="T17" fmla="*/ 0 60000 65536"/>
                  <a:gd name="T18" fmla="*/ 0 w 32"/>
                  <a:gd name="T19" fmla="*/ 0 h 65"/>
                  <a:gd name="T20" fmla="*/ 32 w 32"/>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32" h="65">
                    <a:moveTo>
                      <a:pt x="28" y="64"/>
                    </a:moveTo>
                    <a:lnTo>
                      <a:pt x="28" y="64"/>
                    </a:lnTo>
                    <a:lnTo>
                      <a:pt x="0" y="48"/>
                    </a:lnTo>
                    <a:lnTo>
                      <a:pt x="2" y="0"/>
                    </a:lnTo>
                    <a:lnTo>
                      <a:pt x="31" y="15"/>
                    </a:lnTo>
                    <a:lnTo>
                      <a:pt x="28" y="64"/>
                    </a:lnTo>
                  </a:path>
                </a:pathLst>
              </a:custGeom>
              <a:solidFill>
                <a:srgbClr val="9E0005"/>
              </a:solidFill>
              <a:ln w="9525" cap="rnd">
                <a:noFill/>
                <a:round/>
              </a:ln>
            </p:spPr>
            <p:txBody>
              <a:bodyPr/>
              <a:lstStyle/>
              <a:p>
                <a:endParaRPr lang="zh-CN" altLang="en-US"/>
              </a:p>
            </p:txBody>
          </p:sp>
          <p:sp>
            <p:nvSpPr>
              <p:cNvPr id="10487" name="Freeform 123"/>
              <p:cNvSpPr/>
              <p:nvPr/>
            </p:nvSpPr>
            <p:spPr bwMode="auto">
              <a:xfrm>
                <a:off x="2466" y="1968"/>
                <a:ext cx="65" cy="33"/>
              </a:xfrm>
              <a:custGeom>
                <a:avLst/>
                <a:gdLst>
                  <a:gd name="T0" fmla="*/ 29 w 65"/>
                  <a:gd name="T1" fmla="*/ 32 h 33"/>
                  <a:gd name="T2" fmla="*/ 29 w 65"/>
                  <a:gd name="T3" fmla="*/ 32 h 33"/>
                  <a:gd name="T4" fmla="*/ 0 w 65"/>
                  <a:gd name="T5" fmla="*/ 17 h 33"/>
                  <a:gd name="T6" fmla="*/ 34 w 65"/>
                  <a:gd name="T7" fmla="*/ 0 h 33"/>
                  <a:gd name="T8" fmla="*/ 64 w 65"/>
                  <a:gd name="T9" fmla="*/ 14 h 33"/>
                  <a:gd name="T10" fmla="*/ 29 w 65"/>
                  <a:gd name="T11" fmla="*/ 32 h 33"/>
                  <a:gd name="T12" fmla="*/ 0 60000 65536"/>
                  <a:gd name="T13" fmla="*/ 0 60000 65536"/>
                  <a:gd name="T14" fmla="*/ 0 60000 65536"/>
                  <a:gd name="T15" fmla="*/ 0 60000 65536"/>
                  <a:gd name="T16" fmla="*/ 0 60000 65536"/>
                  <a:gd name="T17" fmla="*/ 0 60000 65536"/>
                  <a:gd name="T18" fmla="*/ 0 w 65"/>
                  <a:gd name="T19" fmla="*/ 0 h 33"/>
                  <a:gd name="T20" fmla="*/ 65 w 65"/>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65" h="33">
                    <a:moveTo>
                      <a:pt x="29" y="32"/>
                    </a:moveTo>
                    <a:lnTo>
                      <a:pt x="29" y="32"/>
                    </a:lnTo>
                    <a:lnTo>
                      <a:pt x="0" y="17"/>
                    </a:lnTo>
                    <a:lnTo>
                      <a:pt x="34" y="0"/>
                    </a:lnTo>
                    <a:lnTo>
                      <a:pt x="64" y="14"/>
                    </a:lnTo>
                    <a:lnTo>
                      <a:pt x="29" y="32"/>
                    </a:lnTo>
                  </a:path>
                </a:pathLst>
              </a:custGeom>
              <a:solidFill>
                <a:srgbClr val="CF5C82"/>
              </a:solidFill>
              <a:ln w="9525" cap="rnd">
                <a:noFill/>
                <a:round/>
              </a:ln>
            </p:spPr>
            <p:txBody>
              <a:bodyPr/>
              <a:lstStyle/>
              <a:p>
                <a:endParaRPr lang="zh-CN" altLang="en-US"/>
              </a:p>
            </p:txBody>
          </p:sp>
          <p:grpSp>
            <p:nvGrpSpPr>
              <p:cNvPr id="20" name="Group 124"/>
              <p:cNvGrpSpPr/>
              <p:nvPr/>
            </p:nvGrpSpPr>
            <p:grpSpPr bwMode="auto">
              <a:xfrm>
                <a:off x="2372" y="1993"/>
                <a:ext cx="120" cy="114"/>
                <a:chOff x="2372" y="1993"/>
                <a:chExt cx="120" cy="114"/>
              </a:xfrm>
            </p:grpSpPr>
            <p:sp>
              <p:nvSpPr>
                <p:cNvPr id="10532" name="Freeform 125"/>
                <p:cNvSpPr/>
                <p:nvPr/>
              </p:nvSpPr>
              <p:spPr bwMode="auto">
                <a:xfrm>
                  <a:off x="2405" y="2010"/>
                  <a:ext cx="87" cy="97"/>
                </a:xfrm>
                <a:custGeom>
                  <a:avLst/>
                  <a:gdLst>
                    <a:gd name="T0" fmla="*/ 0 w 87"/>
                    <a:gd name="T1" fmla="*/ 96 h 97"/>
                    <a:gd name="T2" fmla="*/ 0 w 87"/>
                    <a:gd name="T3" fmla="*/ 96 h 97"/>
                    <a:gd name="T4" fmla="*/ 2 w 87"/>
                    <a:gd name="T5" fmla="*/ 46 h 97"/>
                    <a:gd name="T6" fmla="*/ 86 w 87"/>
                    <a:gd name="T7" fmla="*/ 0 h 97"/>
                    <a:gd name="T8" fmla="*/ 83 w 87"/>
                    <a:gd name="T9" fmla="*/ 49 h 97"/>
                    <a:gd name="T10" fmla="*/ 0 w 87"/>
                    <a:gd name="T11" fmla="*/ 96 h 97"/>
                    <a:gd name="T12" fmla="*/ 0 60000 65536"/>
                    <a:gd name="T13" fmla="*/ 0 60000 65536"/>
                    <a:gd name="T14" fmla="*/ 0 60000 65536"/>
                    <a:gd name="T15" fmla="*/ 0 60000 65536"/>
                    <a:gd name="T16" fmla="*/ 0 60000 65536"/>
                    <a:gd name="T17" fmla="*/ 0 60000 65536"/>
                    <a:gd name="T18" fmla="*/ 0 w 87"/>
                    <a:gd name="T19" fmla="*/ 0 h 97"/>
                    <a:gd name="T20" fmla="*/ 87 w 87"/>
                    <a:gd name="T21" fmla="*/ 97 h 97"/>
                  </a:gdLst>
                  <a:ahLst/>
                  <a:cxnLst>
                    <a:cxn ang="T12">
                      <a:pos x="T0" y="T1"/>
                    </a:cxn>
                    <a:cxn ang="T13">
                      <a:pos x="T2" y="T3"/>
                    </a:cxn>
                    <a:cxn ang="T14">
                      <a:pos x="T4" y="T5"/>
                    </a:cxn>
                    <a:cxn ang="T15">
                      <a:pos x="T6" y="T7"/>
                    </a:cxn>
                    <a:cxn ang="T16">
                      <a:pos x="T8" y="T9"/>
                    </a:cxn>
                    <a:cxn ang="T17">
                      <a:pos x="T10" y="T11"/>
                    </a:cxn>
                  </a:cxnLst>
                  <a:rect l="T18" t="T19" r="T20" b="T21"/>
                  <a:pathLst>
                    <a:path w="87" h="97">
                      <a:moveTo>
                        <a:pt x="0" y="96"/>
                      </a:moveTo>
                      <a:lnTo>
                        <a:pt x="0" y="96"/>
                      </a:lnTo>
                      <a:lnTo>
                        <a:pt x="2" y="46"/>
                      </a:lnTo>
                      <a:lnTo>
                        <a:pt x="86" y="0"/>
                      </a:lnTo>
                      <a:lnTo>
                        <a:pt x="83" y="49"/>
                      </a:lnTo>
                      <a:lnTo>
                        <a:pt x="0" y="96"/>
                      </a:lnTo>
                    </a:path>
                  </a:pathLst>
                </a:custGeom>
                <a:solidFill>
                  <a:srgbClr val="BB1A50"/>
                </a:solidFill>
                <a:ln w="9525" cap="rnd">
                  <a:noFill/>
                  <a:round/>
                </a:ln>
              </p:spPr>
              <p:txBody>
                <a:bodyPr/>
                <a:lstStyle/>
                <a:p>
                  <a:endParaRPr lang="zh-CN" altLang="en-US"/>
                </a:p>
              </p:txBody>
            </p:sp>
            <p:sp>
              <p:nvSpPr>
                <p:cNvPr id="10533" name="Freeform 126"/>
                <p:cNvSpPr/>
                <p:nvPr/>
              </p:nvSpPr>
              <p:spPr bwMode="auto">
                <a:xfrm>
                  <a:off x="2372" y="2042"/>
                  <a:ext cx="34" cy="65"/>
                </a:xfrm>
                <a:custGeom>
                  <a:avLst/>
                  <a:gdLst>
                    <a:gd name="T0" fmla="*/ 30 w 34"/>
                    <a:gd name="T1" fmla="*/ 64 h 65"/>
                    <a:gd name="T2" fmla="*/ 30 w 34"/>
                    <a:gd name="T3" fmla="*/ 64 h 65"/>
                    <a:gd name="T4" fmla="*/ 0 w 34"/>
                    <a:gd name="T5" fmla="*/ 51 h 65"/>
                    <a:gd name="T6" fmla="*/ 2 w 34"/>
                    <a:gd name="T7" fmla="*/ 0 h 65"/>
                    <a:gd name="T8" fmla="*/ 33 w 34"/>
                    <a:gd name="T9" fmla="*/ 15 h 65"/>
                    <a:gd name="T10" fmla="*/ 30 w 34"/>
                    <a:gd name="T11" fmla="*/ 64 h 65"/>
                    <a:gd name="T12" fmla="*/ 0 60000 65536"/>
                    <a:gd name="T13" fmla="*/ 0 60000 65536"/>
                    <a:gd name="T14" fmla="*/ 0 60000 65536"/>
                    <a:gd name="T15" fmla="*/ 0 60000 65536"/>
                    <a:gd name="T16" fmla="*/ 0 60000 65536"/>
                    <a:gd name="T17" fmla="*/ 0 60000 65536"/>
                    <a:gd name="T18" fmla="*/ 0 w 34"/>
                    <a:gd name="T19" fmla="*/ 0 h 65"/>
                    <a:gd name="T20" fmla="*/ 34 w 34"/>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34" h="65">
                      <a:moveTo>
                        <a:pt x="30" y="64"/>
                      </a:moveTo>
                      <a:lnTo>
                        <a:pt x="30" y="64"/>
                      </a:lnTo>
                      <a:lnTo>
                        <a:pt x="0" y="51"/>
                      </a:lnTo>
                      <a:lnTo>
                        <a:pt x="2" y="0"/>
                      </a:lnTo>
                      <a:lnTo>
                        <a:pt x="33" y="15"/>
                      </a:lnTo>
                      <a:lnTo>
                        <a:pt x="30" y="64"/>
                      </a:lnTo>
                    </a:path>
                  </a:pathLst>
                </a:custGeom>
                <a:solidFill>
                  <a:srgbClr val="9E0005"/>
                </a:solidFill>
                <a:ln w="9525" cap="rnd">
                  <a:noFill/>
                  <a:round/>
                </a:ln>
              </p:spPr>
              <p:txBody>
                <a:bodyPr/>
                <a:lstStyle/>
                <a:p>
                  <a:endParaRPr lang="zh-CN" altLang="en-US"/>
                </a:p>
              </p:txBody>
            </p:sp>
            <p:sp>
              <p:nvSpPr>
                <p:cNvPr id="10534" name="Freeform 127"/>
                <p:cNvSpPr/>
                <p:nvPr/>
              </p:nvSpPr>
              <p:spPr bwMode="auto">
                <a:xfrm>
                  <a:off x="2375" y="1993"/>
                  <a:ext cx="117" cy="63"/>
                </a:xfrm>
                <a:custGeom>
                  <a:avLst/>
                  <a:gdLst>
                    <a:gd name="T0" fmla="*/ 33 w 117"/>
                    <a:gd name="T1" fmla="*/ 62 h 63"/>
                    <a:gd name="T2" fmla="*/ 33 w 117"/>
                    <a:gd name="T3" fmla="*/ 62 h 63"/>
                    <a:gd name="T4" fmla="*/ 0 w 117"/>
                    <a:gd name="T5" fmla="*/ 46 h 63"/>
                    <a:gd name="T6" fmla="*/ 82 w 117"/>
                    <a:gd name="T7" fmla="*/ 0 h 63"/>
                    <a:gd name="T8" fmla="*/ 116 w 117"/>
                    <a:gd name="T9" fmla="*/ 15 h 63"/>
                    <a:gd name="T10" fmla="*/ 33 w 117"/>
                    <a:gd name="T11" fmla="*/ 62 h 63"/>
                    <a:gd name="T12" fmla="*/ 0 60000 65536"/>
                    <a:gd name="T13" fmla="*/ 0 60000 65536"/>
                    <a:gd name="T14" fmla="*/ 0 60000 65536"/>
                    <a:gd name="T15" fmla="*/ 0 60000 65536"/>
                    <a:gd name="T16" fmla="*/ 0 60000 65536"/>
                    <a:gd name="T17" fmla="*/ 0 60000 65536"/>
                    <a:gd name="T18" fmla="*/ 0 w 117"/>
                    <a:gd name="T19" fmla="*/ 0 h 63"/>
                    <a:gd name="T20" fmla="*/ 117 w 117"/>
                    <a:gd name="T21" fmla="*/ 63 h 63"/>
                  </a:gdLst>
                  <a:ahLst/>
                  <a:cxnLst>
                    <a:cxn ang="T12">
                      <a:pos x="T0" y="T1"/>
                    </a:cxn>
                    <a:cxn ang="T13">
                      <a:pos x="T2" y="T3"/>
                    </a:cxn>
                    <a:cxn ang="T14">
                      <a:pos x="T4" y="T5"/>
                    </a:cxn>
                    <a:cxn ang="T15">
                      <a:pos x="T6" y="T7"/>
                    </a:cxn>
                    <a:cxn ang="T16">
                      <a:pos x="T8" y="T9"/>
                    </a:cxn>
                    <a:cxn ang="T17">
                      <a:pos x="T10" y="T11"/>
                    </a:cxn>
                  </a:cxnLst>
                  <a:rect l="T18" t="T19" r="T20" b="T21"/>
                  <a:pathLst>
                    <a:path w="117" h="63">
                      <a:moveTo>
                        <a:pt x="33" y="62"/>
                      </a:moveTo>
                      <a:lnTo>
                        <a:pt x="33" y="62"/>
                      </a:lnTo>
                      <a:lnTo>
                        <a:pt x="0" y="46"/>
                      </a:lnTo>
                      <a:lnTo>
                        <a:pt x="82" y="0"/>
                      </a:lnTo>
                      <a:lnTo>
                        <a:pt x="116" y="15"/>
                      </a:lnTo>
                      <a:lnTo>
                        <a:pt x="33" y="62"/>
                      </a:lnTo>
                    </a:path>
                  </a:pathLst>
                </a:custGeom>
                <a:solidFill>
                  <a:srgbClr val="CF5C82"/>
                </a:solidFill>
                <a:ln w="9525" cap="rnd">
                  <a:noFill/>
                  <a:round/>
                </a:ln>
              </p:spPr>
              <p:txBody>
                <a:bodyPr/>
                <a:lstStyle/>
                <a:p>
                  <a:endParaRPr lang="zh-CN" altLang="en-US"/>
                </a:p>
              </p:txBody>
            </p:sp>
          </p:grpSp>
          <p:grpSp>
            <p:nvGrpSpPr>
              <p:cNvPr id="21" name="Group 128"/>
              <p:cNvGrpSpPr/>
              <p:nvPr/>
            </p:nvGrpSpPr>
            <p:grpSpPr bwMode="auto">
              <a:xfrm>
                <a:off x="2272" y="2047"/>
                <a:ext cx="129" cy="117"/>
                <a:chOff x="2272" y="2047"/>
                <a:chExt cx="129" cy="117"/>
              </a:xfrm>
            </p:grpSpPr>
            <p:sp>
              <p:nvSpPr>
                <p:cNvPr id="10529" name="Freeform 129"/>
                <p:cNvSpPr/>
                <p:nvPr/>
              </p:nvSpPr>
              <p:spPr bwMode="auto">
                <a:xfrm>
                  <a:off x="2312" y="2064"/>
                  <a:ext cx="89" cy="100"/>
                </a:xfrm>
                <a:custGeom>
                  <a:avLst/>
                  <a:gdLst>
                    <a:gd name="T0" fmla="*/ 0 w 89"/>
                    <a:gd name="T1" fmla="*/ 99 h 100"/>
                    <a:gd name="T2" fmla="*/ 0 w 89"/>
                    <a:gd name="T3" fmla="*/ 99 h 100"/>
                    <a:gd name="T4" fmla="*/ 2 w 89"/>
                    <a:gd name="T5" fmla="*/ 49 h 100"/>
                    <a:gd name="T6" fmla="*/ 88 w 89"/>
                    <a:gd name="T7" fmla="*/ 0 h 100"/>
                    <a:gd name="T8" fmla="*/ 88 w 89"/>
                    <a:gd name="T9" fmla="*/ 49 h 100"/>
                    <a:gd name="T10" fmla="*/ 0 w 89"/>
                    <a:gd name="T11" fmla="*/ 99 h 100"/>
                    <a:gd name="T12" fmla="*/ 0 60000 65536"/>
                    <a:gd name="T13" fmla="*/ 0 60000 65536"/>
                    <a:gd name="T14" fmla="*/ 0 60000 65536"/>
                    <a:gd name="T15" fmla="*/ 0 60000 65536"/>
                    <a:gd name="T16" fmla="*/ 0 60000 65536"/>
                    <a:gd name="T17" fmla="*/ 0 60000 65536"/>
                    <a:gd name="T18" fmla="*/ 0 w 89"/>
                    <a:gd name="T19" fmla="*/ 0 h 100"/>
                    <a:gd name="T20" fmla="*/ 89 w 89"/>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89" h="100">
                      <a:moveTo>
                        <a:pt x="0" y="99"/>
                      </a:moveTo>
                      <a:lnTo>
                        <a:pt x="0" y="99"/>
                      </a:lnTo>
                      <a:lnTo>
                        <a:pt x="2" y="49"/>
                      </a:lnTo>
                      <a:lnTo>
                        <a:pt x="88" y="0"/>
                      </a:lnTo>
                      <a:lnTo>
                        <a:pt x="88" y="49"/>
                      </a:lnTo>
                      <a:lnTo>
                        <a:pt x="0" y="99"/>
                      </a:lnTo>
                    </a:path>
                  </a:pathLst>
                </a:custGeom>
                <a:solidFill>
                  <a:srgbClr val="BB1A50"/>
                </a:solidFill>
                <a:ln w="9525" cap="rnd">
                  <a:noFill/>
                  <a:round/>
                </a:ln>
              </p:spPr>
              <p:txBody>
                <a:bodyPr/>
                <a:lstStyle/>
                <a:p>
                  <a:endParaRPr lang="zh-CN" altLang="en-US"/>
                </a:p>
              </p:txBody>
            </p:sp>
            <p:sp>
              <p:nvSpPr>
                <p:cNvPr id="10530" name="Freeform 130"/>
                <p:cNvSpPr/>
                <p:nvPr/>
              </p:nvSpPr>
              <p:spPr bwMode="auto">
                <a:xfrm>
                  <a:off x="2272" y="2099"/>
                  <a:ext cx="41" cy="65"/>
                </a:xfrm>
                <a:custGeom>
                  <a:avLst/>
                  <a:gdLst>
                    <a:gd name="T0" fmla="*/ 37 w 41"/>
                    <a:gd name="T1" fmla="*/ 64 h 65"/>
                    <a:gd name="T2" fmla="*/ 37 w 41"/>
                    <a:gd name="T3" fmla="*/ 64 h 65"/>
                    <a:gd name="T4" fmla="*/ 0 w 41"/>
                    <a:gd name="T5" fmla="*/ 51 h 65"/>
                    <a:gd name="T6" fmla="*/ 2 w 41"/>
                    <a:gd name="T7" fmla="*/ 0 h 65"/>
                    <a:gd name="T8" fmla="*/ 40 w 41"/>
                    <a:gd name="T9" fmla="*/ 15 h 65"/>
                    <a:gd name="T10" fmla="*/ 37 w 41"/>
                    <a:gd name="T11" fmla="*/ 64 h 65"/>
                    <a:gd name="T12" fmla="*/ 0 60000 65536"/>
                    <a:gd name="T13" fmla="*/ 0 60000 65536"/>
                    <a:gd name="T14" fmla="*/ 0 60000 65536"/>
                    <a:gd name="T15" fmla="*/ 0 60000 65536"/>
                    <a:gd name="T16" fmla="*/ 0 60000 65536"/>
                    <a:gd name="T17" fmla="*/ 0 60000 65536"/>
                    <a:gd name="T18" fmla="*/ 0 w 41"/>
                    <a:gd name="T19" fmla="*/ 0 h 65"/>
                    <a:gd name="T20" fmla="*/ 41 w 41"/>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41" h="65">
                      <a:moveTo>
                        <a:pt x="37" y="64"/>
                      </a:moveTo>
                      <a:lnTo>
                        <a:pt x="37" y="64"/>
                      </a:lnTo>
                      <a:lnTo>
                        <a:pt x="0" y="51"/>
                      </a:lnTo>
                      <a:lnTo>
                        <a:pt x="2" y="0"/>
                      </a:lnTo>
                      <a:lnTo>
                        <a:pt x="40" y="15"/>
                      </a:lnTo>
                      <a:lnTo>
                        <a:pt x="37" y="64"/>
                      </a:lnTo>
                    </a:path>
                  </a:pathLst>
                </a:custGeom>
                <a:solidFill>
                  <a:srgbClr val="9E0005"/>
                </a:solidFill>
                <a:ln w="9525" cap="rnd">
                  <a:noFill/>
                  <a:round/>
                </a:ln>
              </p:spPr>
              <p:txBody>
                <a:bodyPr/>
                <a:lstStyle/>
                <a:p>
                  <a:endParaRPr lang="zh-CN" altLang="en-US"/>
                </a:p>
              </p:txBody>
            </p:sp>
            <p:sp>
              <p:nvSpPr>
                <p:cNvPr id="10531" name="Freeform 131"/>
                <p:cNvSpPr/>
                <p:nvPr/>
              </p:nvSpPr>
              <p:spPr bwMode="auto">
                <a:xfrm>
                  <a:off x="2275" y="2047"/>
                  <a:ext cx="126" cy="67"/>
                </a:xfrm>
                <a:custGeom>
                  <a:avLst/>
                  <a:gdLst>
                    <a:gd name="T0" fmla="*/ 39 w 126"/>
                    <a:gd name="T1" fmla="*/ 66 h 67"/>
                    <a:gd name="T2" fmla="*/ 39 w 126"/>
                    <a:gd name="T3" fmla="*/ 66 h 67"/>
                    <a:gd name="T4" fmla="*/ 0 w 126"/>
                    <a:gd name="T5" fmla="*/ 50 h 67"/>
                    <a:gd name="T6" fmla="*/ 91 w 126"/>
                    <a:gd name="T7" fmla="*/ 0 h 67"/>
                    <a:gd name="T8" fmla="*/ 125 w 126"/>
                    <a:gd name="T9" fmla="*/ 15 h 67"/>
                    <a:gd name="T10" fmla="*/ 39 w 126"/>
                    <a:gd name="T11" fmla="*/ 66 h 67"/>
                    <a:gd name="T12" fmla="*/ 0 60000 65536"/>
                    <a:gd name="T13" fmla="*/ 0 60000 65536"/>
                    <a:gd name="T14" fmla="*/ 0 60000 65536"/>
                    <a:gd name="T15" fmla="*/ 0 60000 65536"/>
                    <a:gd name="T16" fmla="*/ 0 60000 65536"/>
                    <a:gd name="T17" fmla="*/ 0 60000 65536"/>
                    <a:gd name="T18" fmla="*/ 0 w 126"/>
                    <a:gd name="T19" fmla="*/ 0 h 67"/>
                    <a:gd name="T20" fmla="*/ 126 w 126"/>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126" h="67">
                      <a:moveTo>
                        <a:pt x="39" y="66"/>
                      </a:moveTo>
                      <a:lnTo>
                        <a:pt x="39" y="66"/>
                      </a:lnTo>
                      <a:lnTo>
                        <a:pt x="0" y="50"/>
                      </a:lnTo>
                      <a:lnTo>
                        <a:pt x="91" y="0"/>
                      </a:lnTo>
                      <a:lnTo>
                        <a:pt x="125" y="15"/>
                      </a:lnTo>
                      <a:lnTo>
                        <a:pt x="39" y="66"/>
                      </a:lnTo>
                    </a:path>
                  </a:pathLst>
                </a:custGeom>
                <a:solidFill>
                  <a:srgbClr val="CF5C82"/>
                </a:solidFill>
                <a:ln w="9525" cap="rnd">
                  <a:noFill/>
                  <a:round/>
                </a:ln>
              </p:spPr>
              <p:txBody>
                <a:bodyPr/>
                <a:lstStyle/>
                <a:p>
                  <a:endParaRPr lang="zh-CN" altLang="en-US"/>
                </a:p>
              </p:txBody>
            </p:sp>
          </p:grpSp>
          <p:grpSp>
            <p:nvGrpSpPr>
              <p:cNvPr id="22" name="Group 132"/>
              <p:cNvGrpSpPr/>
              <p:nvPr/>
            </p:nvGrpSpPr>
            <p:grpSpPr bwMode="auto">
              <a:xfrm>
                <a:off x="2167" y="2106"/>
                <a:ext cx="140" cy="123"/>
                <a:chOff x="2167" y="2106"/>
                <a:chExt cx="140" cy="123"/>
              </a:xfrm>
            </p:grpSpPr>
            <p:sp>
              <p:nvSpPr>
                <p:cNvPr id="10526" name="Freeform 133"/>
                <p:cNvSpPr/>
                <p:nvPr/>
              </p:nvSpPr>
              <p:spPr bwMode="auto">
                <a:xfrm>
                  <a:off x="2208" y="2122"/>
                  <a:ext cx="98" cy="107"/>
                </a:xfrm>
                <a:custGeom>
                  <a:avLst/>
                  <a:gdLst>
                    <a:gd name="T0" fmla="*/ 0 w 98"/>
                    <a:gd name="T1" fmla="*/ 106 h 107"/>
                    <a:gd name="T2" fmla="*/ 0 w 98"/>
                    <a:gd name="T3" fmla="*/ 106 h 107"/>
                    <a:gd name="T4" fmla="*/ 0 w 98"/>
                    <a:gd name="T5" fmla="*/ 53 h 107"/>
                    <a:gd name="T6" fmla="*/ 97 w 98"/>
                    <a:gd name="T7" fmla="*/ 0 h 107"/>
                    <a:gd name="T8" fmla="*/ 94 w 98"/>
                    <a:gd name="T9" fmla="*/ 50 h 107"/>
                    <a:gd name="T10" fmla="*/ 0 w 98"/>
                    <a:gd name="T11" fmla="*/ 106 h 107"/>
                    <a:gd name="T12" fmla="*/ 0 60000 65536"/>
                    <a:gd name="T13" fmla="*/ 0 60000 65536"/>
                    <a:gd name="T14" fmla="*/ 0 60000 65536"/>
                    <a:gd name="T15" fmla="*/ 0 60000 65536"/>
                    <a:gd name="T16" fmla="*/ 0 60000 65536"/>
                    <a:gd name="T17" fmla="*/ 0 60000 65536"/>
                    <a:gd name="T18" fmla="*/ 0 w 98"/>
                    <a:gd name="T19" fmla="*/ 0 h 107"/>
                    <a:gd name="T20" fmla="*/ 98 w 98"/>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98" h="107">
                      <a:moveTo>
                        <a:pt x="0" y="106"/>
                      </a:moveTo>
                      <a:lnTo>
                        <a:pt x="0" y="106"/>
                      </a:lnTo>
                      <a:lnTo>
                        <a:pt x="0" y="53"/>
                      </a:lnTo>
                      <a:lnTo>
                        <a:pt x="97" y="0"/>
                      </a:lnTo>
                      <a:lnTo>
                        <a:pt x="94" y="50"/>
                      </a:lnTo>
                      <a:lnTo>
                        <a:pt x="0" y="106"/>
                      </a:lnTo>
                    </a:path>
                  </a:pathLst>
                </a:custGeom>
                <a:solidFill>
                  <a:srgbClr val="BB1A50"/>
                </a:solidFill>
                <a:ln w="9525" cap="rnd">
                  <a:noFill/>
                  <a:round/>
                </a:ln>
              </p:spPr>
              <p:txBody>
                <a:bodyPr/>
                <a:lstStyle/>
                <a:p>
                  <a:endParaRPr lang="zh-CN" altLang="en-US"/>
                </a:p>
              </p:txBody>
            </p:sp>
            <p:sp>
              <p:nvSpPr>
                <p:cNvPr id="10527" name="Freeform 134"/>
                <p:cNvSpPr/>
                <p:nvPr/>
              </p:nvSpPr>
              <p:spPr bwMode="auto">
                <a:xfrm>
                  <a:off x="2167" y="2162"/>
                  <a:ext cx="41" cy="67"/>
                </a:xfrm>
                <a:custGeom>
                  <a:avLst/>
                  <a:gdLst>
                    <a:gd name="T0" fmla="*/ 40 w 41"/>
                    <a:gd name="T1" fmla="*/ 66 h 67"/>
                    <a:gd name="T2" fmla="*/ 40 w 41"/>
                    <a:gd name="T3" fmla="*/ 66 h 67"/>
                    <a:gd name="T4" fmla="*/ 0 w 41"/>
                    <a:gd name="T5" fmla="*/ 56 h 67"/>
                    <a:gd name="T6" fmla="*/ 0 w 41"/>
                    <a:gd name="T7" fmla="*/ 0 h 67"/>
                    <a:gd name="T8" fmla="*/ 40 w 41"/>
                    <a:gd name="T9" fmla="*/ 12 h 67"/>
                    <a:gd name="T10" fmla="*/ 40 w 41"/>
                    <a:gd name="T11" fmla="*/ 66 h 67"/>
                    <a:gd name="T12" fmla="*/ 0 60000 65536"/>
                    <a:gd name="T13" fmla="*/ 0 60000 65536"/>
                    <a:gd name="T14" fmla="*/ 0 60000 65536"/>
                    <a:gd name="T15" fmla="*/ 0 60000 65536"/>
                    <a:gd name="T16" fmla="*/ 0 60000 65536"/>
                    <a:gd name="T17" fmla="*/ 0 60000 65536"/>
                    <a:gd name="T18" fmla="*/ 0 w 41"/>
                    <a:gd name="T19" fmla="*/ 0 h 67"/>
                    <a:gd name="T20" fmla="*/ 41 w 41"/>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41" h="67">
                      <a:moveTo>
                        <a:pt x="40" y="66"/>
                      </a:moveTo>
                      <a:lnTo>
                        <a:pt x="40" y="66"/>
                      </a:lnTo>
                      <a:lnTo>
                        <a:pt x="0" y="56"/>
                      </a:lnTo>
                      <a:lnTo>
                        <a:pt x="0" y="0"/>
                      </a:lnTo>
                      <a:lnTo>
                        <a:pt x="40" y="12"/>
                      </a:lnTo>
                      <a:lnTo>
                        <a:pt x="40" y="66"/>
                      </a:lnTo>
                    </a:path>
                  </a:pathLst>
                </a:custGeom>
                <a:solidFill>
                  <a:srgbClr val="9E0005"/>
                </a:solidFill>
                <a:ln w="9525" cap="rnd">
                  <a:noFill/>
                  <a:round/>
                </a:ln>
              </p:spPr>
              <p:txBody>
                <a:bodyPr/>
                <a:lstStyle/>
                <a:p>
                  <a:endParaRPr lang="zh-CN" altLang="en-US"/>
                </a:p>
              </p:txBody>
            </p:sp>
            <p:sp>
              <p:nvSpPr>
                <p:cNvPr id="10528" name="Freeform 135"/>
                <p:cNvSpPr/>
                <p:nvPr/>
              </p:nvSpPr>
              <p:spPr bwMode="auto">
                <a:xfrm>
                  <a:off x="2167" y="2106"/>
                  <a:ext cx="140" cy="68"/>
                </a:xfrm>
                <a:custGeom>
                  <a:avLst/>
                  <a:gdLst>
                    <a:gd name="T0" fmla="*/ 41 w 140"/>
                    <a:gd name="T1" fmla="*/ 67 h 68"/>
                    <a:gd name="T2" fmla="*/ 41 w 140"/>
                    <a:gd name="T3" fmla="*/ 67 h 68"/>
                    <a:gd name="T4" fmla="*/ 0 w 140"/>
                    <a:gd name="T5" fmla="*/ 54 h 68"/>
                    <a:gd name="T6" fmla="*/ 99 w 140"/>
                    <a:gd name="T7" fmla="*/ 0 h 68"/>
                    <a:gd name="T8" fmla="*/ 139 w 140"/>
                    <a:gd name="T9" fmla="*/ 15 h 68"/>
                    <a:gd name="T10" fmla="*/ 41 w 140"/>
                    <a:gd name="T11" fmla="*/ 67 h 68"/>
                    <a:gd name="T12" fmla="*/ 0 60000 65536"/>
                    <a:gd name="T13" fmla="*/ 0 60000 65536"/>
                    <a:gd name="T14" fmla="*/ 0 60000 65536"/>
                    <a:gd name="T15" fmla="*/ 0 60000 65536"/>
                    <a:gd name="T16" fmla="*/ 0 60000 65536"/>
                    <a:gd name="T17" fmla="*/ 0 60000 65536"/>
                    <a:gd name="T18" fmla="*/ 0 w 140"/>
                    <a:gd name="T19" fmla="*/ 0 h 68"/>
                    <a:gd name="T20" fmla="*/ 140 w 140"/>
                    <a:gd name="T21" fmla="*/ 68 h 68"/>
                  </a:gdLst>
                  <a:ahLst/>
                  <a:cxnLst>
                    <a:cxn ang="T12">
                      <a:pos x="T0" y="T1"/>
                    </a:cxn>
                    <a:cxn ang="T13">
                      <a:pos x="T2" y="T3"/>
                    </a:cxn>
                    <a:cxn ang="T14">
                      <a:pos x="T4" y="T5"/>
                    </a:cxn>
                    <a:cxn ang="T15">
                      <a:pos x="T6" y="T7"/>
                    </a:cxn>
                    <a:cxn ang="T16">
                      <a:pos x="T8" y="T9"/>
                    </a:cxn>
                    <a:cxn ang="T17">
                      <a:pos x="T10" y="T11"/>
                    </a:cxn>
                  </a:cxnLst>
                  <a:rect l="T18" t="T19" r="T20" b="T21"/>
                  <a:pathLst>
                    <a:path w="140" h="68">
                      <a:moveTo>
                        <a:pt x="41" y="67"/>
                      </a:moveTo>
                      <a:lnTo>
                        <a:pt x="41" y="67"/>
                      </a:lnTo>
                      <a:lnTo>
                        <a:pt x="0" y="54"/>
                      </a:lnTo>
                      <a:lnTo>
                        <a:pt x="99" y="0"/>
                      </a:lnTo>
                      <a:lnTo>
                        <a:pt x="139" y="15"/>
                      </a:lnTo>
                      <a:lnTo>
                        <a:pt x="41" y="67"/>
                      </a:lnTo>
                    </a:path>
                  </a:pathLst>
                </a:custGeom>
                <a:solidFill>
                  <a:srgbClr val="CF5C82"/>
                </a:solidFill>
                <a:ln w="9525" cap="rnd">
                  <a:noFill/>
                  <a:round/>
                </a:ln>
              </p:spPr>
              <p:txBody>
                <a:bodyPr/>
                <a:lstStyle/>
                <a:p>
                  <a:endParaRPr lang="zh-CN" altLang="en-US"/>
                </a:p>
              </p:txBody>
            </p:sp>
          </p:grpSp>
          <p:grpSp>
            <p:nvGrpSpPr>
              <p:cNvPr id="23" name="Group 136"/>
              <p:cNvGrpSpPr/>
              <p:nvPr/>
            </p:nvGrpSpPr>
            <p:grpSpPr bwMode="auto">
              <a:xfrm>
                <a:off x="2050" y="2167"/>
                <a:ext cx="152" cy="128"/>
                <a:chOff x="2050" y="2167"/>
                <a:chExt cx="152" cy="128"/>
              </a:xfrm>
            </p:grpSpPr>
            <p:sp>
              <p:nvSpPr>
                <p:cNvPr id="10523" name="Freeform 137"/>
                <p:cNvSpPr/>
                <p:nvPr/>
              </p:nvSpPr>
              <p:spPr bwMode="auto">
                <a:xfrm>
                  <a:off x="2098" y="2183"/>
                  <a:ext cx="104" cy="112"/>
                </a:xfrm>
                <a:custGeom>
                  <a:avLst/>
                  <a:gdLst>
                    <a:gd name="T0" fmla="*/ 0 w 104"/>
                    <a:gd name="T1" fmla="*/ 111 h 112"/>
                    <a:gd name="T2" fmla="*/ 0 w 104"/>
                    <a:gd name="T3" fmla="*/ 111 h 112"/>
                    <a:gd name="T4" fmla="*/ 0 w 104"/>
                    <a:gd name="T5" fmla="*/ 55 h 112"/>
                    <a:gd name="T6" fmla="*/ 103 w 104"/>
                    <a:gd name="T7" fmla="*/ 0 h 112"/>
                    <a:gd name="T8" fmla="*/ 103 w 104"/>
                    <a:gd name="T9" fmla="*/ 52 h 112"/>
                    <a:gd name="T10" fmla="*/ 0 w 104"/>
                    <a:gd name="T11" fmla="*/ 111 h 112"/>
                    <a:gd name="T12" fmla="*/ 0 60000 65536"/>
                    <a:gd name="T13" fmla="*/ 0 60000 65536"/>
                    <a:gd name="T14" fmla="*/ 0 60000 65536"/>
                    <a:gd name="T15" fmla="*/ 0 60000 65536"/>
                    <a:gd name="T16" fmla="*/ 0 60000 65536"/>
                    <a:gd name="T17" fmla="*/ 0 60000 65536"/>
                    <a:gd name="T18" fmla="*/ 0 w 104"/>
                    <a:gd name="T19" fmla="*/ 0 h 112"/>
                    <a:gd name="T20" fmla="*/ 104 w 104"/>
                    <a:gd name="T21" fmla="*/ 112 h 112"/>
                  </a:gdLst>
                  <a:ahLst/>
                  <a:cxnLst>
                    <a:cxn ang="T12">
                      <a:pos x="T0" y="T1"/>
                    </a:cxn>
                    <a:cxn ang="T13">
                      <a:pos x="T2" y="T3"/>
                    </a:cxn>
                    <a:cxn ang="T14">
                      <a:pos x="T4" y="T5"/>
                    </a:cxn>
                    <a:cxn ang="T15">
                      <a:pos x="T6" y="T7"/>
                    </a:cxn>
                    <a:cxn ang="T16">
                      <a:pos x="T8" y="T9"/>
                    </a:cxn>
                    <a:cxn ang="T17">
                      <a:pos x="T10" y="T11"/>
                    </a:cxn>
                  </a:cxnLst>
                  <a:rect l="T18" t="T19" r="T20" b="T21"/>
                  <a:pathLst>
                    <a:path w="104" h="112">
                      <a:moveTo>
                        <a:pt x="0" y="111"/>
                      </a:moveTo>
                      <a:lnTo>
                        <a:pt x="0" y="111"/>
                      </a:lnTo>
                      <a:lnTo>
                        <a:pt x="0" y="55"/>
                      </a:lnTo>
                      <a:lnTo>
                        <a:pt x="103" y="0"/>
                      </a:lnTo>
                      <a:lnTo>
                        <a:pt x="103" y="52"/>
                      </a:lnTo>
                      <a:lnTo>
                        <a:pt x="0" y="111"/>
                      </a:lnTo>
                    </a:path>
                  </a:pathLst>
                </a:custGeom>
                <a:solidFill>
                  <a:srgbClr val="BB1A50"/>
                </a:solidFill>
                <a:ln w="9525" cap="rnd">
                  <a:noFill/>
                  <a:round/>
                </a:ln>
              </p:spPr>
              <p:txBody>
                <a:bodyPr/>
                <a:lstStyle/>
                <a:p>
                  <a:endParaRPr lang="zh-CN" altLang="en-US"/>
                </a:p>
              </p:txBody>
            </p:sp>
            <p:sp>
              <p:nvSpPr>
                <p:cNvPr id="10524" name="Freeform 138"/>
                <p:cNvSpPr/>
                <p:nvPr/>
              </p:nvSpPr>
              <p:spPr bwMode="auto">
                <a:xfrm>
                  <a:off x="2051" y="2231"/>
                  <a:ext cx="47" cy="64"/>
                </a:xfrm>
                <a:custGeom>
                  <a:avLst/>
                  <a:gdLst>
                    <a:gd name="T0" fmla="*/ 46 w 47"/>
                    <a:gd name="T1" fmla="*/ 63 h 64"/>
                    <a:gd name="T2" fmla="*/ 46 w 47"/>
                    <a:gd name="T3" fmla="*/ 63 h 64"/>
                    <a:gd name="T4" fmla="*/ 0 w 47"/>
                    <a:gd name="T5" fmla="*/ 54 h 64"/>
                    <a:gd name="T6" fmla="*/ 0 w 47"/>
                    <a:gd name="T7" fmla="*/ 0 h 64"/>
                    <a:gd name="T8" fmla="*/ 46 w 47"/>
                    <a:gd name="T9" fmla="*/ 9 h 64"/>
                    <a:gd name="T10" fmla="*/ 46 w 47"/>
                    <a:gd name="T11" fmla="*/ 63 h 64"/>
                    <a:gd name="T12" fmla="*/ 0 60000 65536"/>
                    <a:gd name="T13" fmla="*/ 0 60000 65536"/>
                    <a:gd name="T14" fmla="*/ 0 60000 65536"/>
                    <a:gd name="T15" fmla="*/ 0 60000 65536"/>
                    <a:gd name="T16" fmla="*/ 0 60000 65536"/>
                    <a:gd name="T17" fmla="*/ 0 60000 65536"/>
                    <a:gd name="T18" fmla="*/ 0 w 47"/>
                    <a:gd name="T19" fmla="*/ 0 h 64"/>
                    <a:gd name="T20" fmla="*/ 47 w 47"/>
                    <a:gd name="T21" fmla="*/ 64 h 64"/>
                  </a:gdLst>
                  <a:ahLst/>
                  <a:cxnLst>
                    <a:cxn ang="T12">
                      <a:pos x="T0" y="T1"/>
                    </a:cxn>
                    <a:cxn ang="T13">
                      <a:pos x="T2" y="T3"/>
                    </a:cxn>
                    <a:cxn ang="T14">
                      <a:pos x="T4" y="T5"/>
                    </a:cxn>
                    <a:cxn ang="T15">
                      <a:pos x="T6" y="T7"/>
                    </a:cxn>
                    <a:cxn ang="T16">
                      <a:pos x="T8" y="T9"/>
                    </a:cxn>
                    <a:cxn ang="T17">
                      <a:pos x="T10" y="T11"/>
                    </a:cxn>
                  </a:cxnLst>
                  <a:rect l="T18" t="T19" r="T20" b="T21"/>
                  <a:pathLst>
                    <a:path w="47" h="64">
                      <a:moveTo>
                        <a:pt x="46" y="63"/>
                      </a:moveTo>
                      <a:lnTo>
                        <a:pt x="46" y="63"/>
                      </a:lnTo>
                      <a:lnTo>
                        <a:pt x="0" y="54"/>
                      </a:lnTo>
                      <a:lnTo>
                        <a:pt x="0" y="0"/>
                      </a:lnTo>
                      <a:lnTo>
                        <a:pt x="46" y="9"/>
                      </a:lnTo>
                      <a:lnTo>
                        <a:pt x="46" y="63"/>
                      </a:lnTo>
                    </a:path>
                  </a:pathLst>
                </a:custGeom>
                <a:solidFill>
                  <a:srgbClr val="9E0005"/>
                </a:solidFill>
                <a:ln w="9525" cap="rnd">
                  <a:noFill/>
                  <a:round/>
                </a:ln>
              </p:spPr>
              <p:txBody>
                <a:bodyPr/>
                <a:lstStyle/>
                <a:p>
                  <a:endParaRPr lang="zh-CN" altLang="en-US"/>
                </a:p>
              </p:txBody>
            </p:sp>
            <p:sp>
              <p:nvSpPr>
                <p:cNvPr id="10525" name="Freeform 139"/>
                <p:cNvSpPr/>
                <p:nvPr/>
              </p:nvSpPr>
              <p:spPr bwMode="auto">
                <a:xfrm>
                  <a:off x="2050" y="2167"/>
                  <a:ext cx="152" cy="71"/>
                </a:xfrm>
                <a:custGeom>
                  <a:avLst/>
                  <a:gdLst>
                    <a:gd name="T0" fmla="*/ 47 w 152"/>
                    <a:gd name="T1" fmla="*/ 70 h 71"/>
                    <a:gd name="T2" fmla="*/ 47 w 152"/>
                    <a:gd name="T3" fmla="*/ 70 h 71"/>
                    <a:gd name="T4" fmla="*/ 0 w 152"/>
                    <a:gd name="T5" fmla="*/ 57 h 71"/>
                    <a:gd name="T6" fmla="*/ 109 w 152"/>
                    <a:gd name="T7" fmla="*/ 0 h 71"/>
                    <a:gd name="T8" fmla="*/ 151 w 152"/>
                    <a:gd name="T9" fmla="*/ 15 h 71"/>
                    <a:gd name="T10" fmla="*/ 47 w 152"/>
                    <a:gd name="T11" fmla="*/ 70 h 71"/>
                    <a:gd name="T12" fmla="*/ 0 60000 65536"/>
                    <a:gd name="T13" fmla="*/ 0 60000 65536"/>
                    <a:gd name="T14" fmla="*/ 0 60000 65536"/>
                    <a:gd name="T15" fmla="*/ 0 60000 65536"/>
                    <a:gd name="T16" fmla="*/ 0 60000 65536"/>
                    <a:gd name="T17" fmla="*/ 0 60000 65536"/>
                    <a:gd name="T18" fmla="*/ 0 w 152"/>
                    <a:gd name="T19" fmla="*/ 0 h 71"/>
                    <a:gd name="T20" fmla="*/ 152 w 152"/>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152" h="71">
                      <a:moveTo>
                        <a:pt x="47" y="70"/>
                      </a:moveTo>
                      <a:lnTo>
                        <a:pt x="47" y="70"/>
                      </a:lnTo>
                      <a:lnTo>
                        <a:pt x="0" y="57"/>
                      </a:lnTo>
                      <a:lnTo>
                        <a:pt x="109" y="0"/>
                      </a:lnTo>
                      <a:lnTo>
                        <a:pt x="151" y="15"/>
                      </a:lnTo>
                      <a:lnTo>
                        <a:pt x="47" y="70"/>
                      </a:lnTo>
                    </a:path>
                  </a:pathLst>
                </a:custGeom>
                <a:solidFill>
                  <a:srgbClr val="CF5C82"/>
                </a:solidFill>
                <a:ln w="9525" cap="rnd">
                  <a:noFill/>
                  <a:round/>
                </a:ln>
              </p:spPr>
              <p:txBody>
                <a:bodyPr/>
                <a:lstStyle/>
                <a:p>
                  <a:endParaRPr lang="zh-CN" altLang="en-US"/>
                </a:p>
              </p:txBody>
            </p:sp>
          </p:grpSp>
          <p:sp>
            <p:nvSpPr>
              <p:cNvPr id="10492" name="Freeform 140"/>
              <p:cNvSpPr/>
              <p:nvPr/>
            </p:nvSpPr>
            <p:spPr bwMode="auto">
              <a:xfrm>
                <a:off x="2491" y="2003"/>
                <a:ext cx="17" cy="53"/>
              </a:xfrm>
              <a:custGeom>
                <a:avLst/>
                <a:gdLst>
                  <a:gd name="T0" fmla="*/ 0 w 17"/>
                  <a:gd name="T1" fmla="*/ 52 h 53"/>
                  <a:gd name="T2" fmla="*/ 0 w 17"/>
                  <a:gd name="T3" fmla="*/ 52 h 53"/>
                  <a:gd name="T4" fmla="*/ 0 w 17"/>
                  <a:gd name="T5" fmla="*/ 27 h 53"/>
                  <a:gd name="T6" fmla="*/ 0 w 17"/>
                  <a:gd name="T7" fmla="*/ 17 h 53"/>
                  <a:gd name="T8" fmla="*/ 4 w 17"/>
                  <a:gd name="T9" fmla="*/ 8 h 53"/>
                  <a:gd name="T10" fmla="*/ 4 w 17"/>
                  <a:gd name="T11" fmla="*/ 6 h 53"/>
                  <a:gd name="T12" fmla="*/ 4 w 17"/>
                  <a:gd name="T13" fmla="*/ 2 h 53"/>
                  <a:gd name="T14" fmla="*/ 4 w 17"/>
                  <a:gd name="T15" fmla="*/ 0 h 53"/>
                  <a:gd name="T16" fmla="*/ 11 w 17"/>
                  <a:gd name="T17" fmla="*/ 0 h 53"/>
                  <a:gd name="T18" fmla="*/ 16 w 17"/>
                  <a:gd name="T19" fmla="*/ 0 h 53"/>
                  <a:gd name="T20" fmla="*/ 11 w 17"/>
                  <a:gd name="T21" fmla="*/ 24 h 53"/>
                  <a:gd name="T22" fmla="*/ 11 w 17"/>
                  <a:gd name="T23" fmla="*/ 49 h 53"/>
                  <a:gd name="T24" fmla="*/ 4 w 17"/>
                  <a:gd name="T25" fmla="*/ 49 h 53"/>
                  <a:gd name="T26" fmla="*/ 0 w 17"/>
                  <a:gd name="T27" fmla="*/ 52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53"/>
                  <a:gd name="T44" fmla="*/ 17 w 17"/>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53">
                    <a:moveTo>
                      <a:pt x="0" y="52"/>
                    </a:moveTo>
                    <a:lnTo>
                      <a:pt x="0" y="52"/>
                    </a:lnTo>
                    <a:lnTo>
                      <a:pt x="0" y="27"/>
                    </a:lnTo>
                    <a:lnTo>
                      <a:pt x="0" y="17"/>
                    </a:lnTo>
                    <a:lnTo>
                      <a:pt x="4" y="8"/>
                    </a:lnTo>
                    <a:lnTo>
                      <a:pt x="4" y="6"/>
                    </a:lnTo>
                    <a:lnTo>
                      <a:pt x="4" y="2"/>
                    </a:lnTo>
                    <a:lnTo>
                      <a:pt x="4" y="0"/>
                    </a:lnTo>
                    <a:lnTo>
                      <a:pt x="11" y="0"/>
                    </a:lnTo>
                    <a:lnTo>
                      <a:pt x="16" y="0"/>
                    </a:lnTo>
                    <a:lnTo>
                      <a:pt x="11" y="24"/>
                    </a:lnTo>
                    <a:lnTo>
                      <a:pt x="11" y="49"/>
                    </a:lnTo>
                    <a:lnTo>
                      <a:pt x="4" y="49"/>
                    </a:lnTo>
                    <a:lnTo>
                      <a:pt x="0" y="52"/>
                    </a:lnTo>
                  </a:path>
                </a:pathLst>
              </a:custGeom>
              <a:solidFill>
                <a:srgbClr val="BDB597"/>
              </a:solidFill>
              <a:ln w="9525" cap="rnd">
                <a:noFill/>
                <a:round/>
              </a:ln>
            </p:spPr>
            <p:txBody>
              <a:bodyPr/>
              <a:lstStyle/>
              <a:p>
                <a:endParaRPr lang="zh-CN" altLang="en-US"/>
              </a:p>
            </p:txBody>
          </p:sp>
          <p:sp>
            <p:nvSpPr>
              <p:cNvPr id="10493" name="Freeform 141"/>
              <p:cNvSpPr/>
              <p:nvPr/>
            </p:nvSpPr>
            <p:spPr bwMode="auto">
              <a:xfrm>
                <a:off x="2099" y="1978"/>
                <a:ext cx="432" cy="263"/>
              </a:xfrm>
              <a:custGeom>
                <a:avLst/>
                <a:gdLst>
                  <a:gd name="T0" fmla="*/ 431 w 432"/>
                  <a:gd name="T1" fmla="*/ 0 h 263"/>
                  <a:gd name="T2" fmla="*/ 431 w 432"/>
                  <a:gd name="T3" fmla="*/ 0 h 263"/>
                  <a:gd name="T4" fmla="*/ 0 w 432"/>
                  <a:gd name="T5" fmla="*/ 255 h 263"/>
                  <a:gd name="T6" fmla="*/ 0 w 432"/>
                  <a:gd name="T7" fmla="*/ 262 h 263"/>
                  <a:gd name="T8" fmla="*/ 431 w 432"/>
                  <a:gd name="T9" fmla="*/ 6 h 263"/>
                  <a:gd name="T10" fmla="*/ 431 w 432"/>
                  <a:gd name="T11" fmla="*/ 0 h 263"/>
                  <a:gd name="T12" fmla="*/ 0 60000 65536"/>
                  <a:gd name="T13" fmla="*/ 0 60000 65536"/>
                  <a:gd name="T14" fmla="*/ 0 60000 65536"/>
                  <a:gd name="T15" fmla="*/ 0 60000 65536"/>
                  <a:gd name="T16" fmla="*/ 0 60000 65536"/>
                  <a:gd name="T17" fmla="*/ 0 60000 65536"/>
                  <a:gd name="T18" fmla="*/ 0 w 432"/>
                  <a:gd name="T19" fmla="*/ 0 h 263"/>
                  <a:gd name="T20" fmla="*/ 432 w 432"/>
                  <a:gd name="T21" fmla="*/ 263 h 263"/>
                </a:gdLst>
                <a:ahLst/>
                <a:cxnLst>
                  <a:cxn ang="T12">
                    <a:pos x="T0" y="T1"/>
                  </a:cxn>
                  <a:cxn ang="T13">
                    <a:pos x="T2" y="T3"/>
                  </a:cxn>
                  <a:cxn ang="T14">
                    <a:pos x="T4" y="T5"/>
                  </a:cxn>
                  <a:cxn ang="T15">
                    <a:pos x="T6" y="T7"/>
                  </a:cxn>
                  <a:cxn ang="T16">
                    <a:pos x="T8" y="T9"/>
                  </a:cxn>
                  <a:cxn ang="T17">
                    <a:pos x="T10" y="T11"/>
                  </a:cxn>
                </a:cxnLst>
                <a:rect l="T18" t="T19" r="T20" b="T21"/>
                <a:pathLst>
                  <a:path w="432" h="263">
                    <a:moveTo>
                      <a:pt x="431" y="0"/>
                    </a:moveTo>
                    <a:lnTo>
                      <a:pt x="431" y="0"/>
                    </a:lnTo>
                    <a:lnTo>
                      <a:pt x="0" y="255"/>
                    </a:lnTo>
                    <a:lnTo>
                      <a:pt x="0" y="262"/>
                    </a:lnTo>
                    <a:lnTo>
                      <a:pt x="431" y="6"/>
                    </a:lnTo>
                    <a:lnTo>
                      <a:pt x="431" y="0"/>
                    </a:lnTo>
                  </a:path>
                </a:pathLst>
              </a:custGeom>
              <a:solidFill>
                <a:srgbClr val="BDB597"/>
              </a:solidFill>
              <a:ln w="9525" cap="rnd">
                <a:noFill/>
                <a:round/>
              </a:ln>
            </p:spPr>
            <p:txBody>
              <a:bodyPr/>
              <a:lstStyle/>
              <a:p>
                <a:endParaRPr lang="zh-CN" altLang="en-US"/>
              </a:p>
            </p:txBody>
          </p:sp>
          <p:sp>
            <p:nvSpPr>
              <p:cNvPr id="10494" name="Freeform 142"/>
              <p:cNvSpPr/>
              <p:nvPr/>
            </p:nvSpPr>
            <p:spPr bwMode="auto">
              <a:xfrm>
                <a:off x="2400" y="2058"/>
                <a:ext cx="17" cy="56"/>
              </a:xfrm>
              <a:custGeom>
                <a:avLst/>
                <a:gdLst>
                  <a:gd name="T0" fmla="*/ 0 w 17"/>
                  <a:gd name="T1" fmla="*/ 55 h 56"/>
                  <a:gd name="T2" fmla="*/ 0 w 17"/>
                  <a:gd name="T3" fmla="*/ 55 h 56"/>
                  <a:gd name="T4" fmla="*/ 4 w 17"/>
                  <a:gd name="T5" fmla="*/ 45 h 56"/>
                  <a:gd name="T6" fmla="*/ 4 w 17"/>
                  <a:gd name="T7" fmla="*/ 27 h 56"/>
                  <a:gd name="T8" fmla="*/ 4 w 17"/>
                  <a:gd name="T9" fmla="*/ 18 h 56"/>
                  <a:gd name="T10" fmla="*/ 4 w 17"/>
                  <a:gd name="T11" fmla="*/ 9 h 56"/>
                  <a:gd name="T12" fmla="*/ 4 w 17"/>
                  <a:gd name="T13" fmla="*/ 6 h 56"/>
                  <a:gd name="T14" fmla="*/ 4 w 17"/>
                  <a:gd name="T15" fmla="*/ 2 h 56"/>
                  <a:gd name="T16" fmla="*/ 11 w 17"/>
                  <a:gd name="T17" fmla="*/ 0 h 56"/>
                  <a:gd name="T18" fmla="*/ 16 w 17"/>
                  <a:gd name="T19" fmla="*/ 0 h 56"/>
                  <a:gd name="T20" fmla="*/ 16 w 17"/>
                  <a:gd name="T21" fmla="*/ 24 h 56"/>
                  <a:gd name="T22" fmla="*/ 16 w 17"/>
                  <a:gd name="T23" fmla="*/ 52 h 56"/>
                  <a:gd name="T24" fmla="*/ 11 w 17"/>
                  <a:gd name="T25" fmla="*/ 52 h 56"/>
                  <a:gd name="T26" fmla="*/ 4 w 17"/>
                  <a:gd name="T27" fmla="*/ 52 h 56"/>
                  <a:gd name="T28" fmla="*/ 4 w 17"/>
                  <a:gd name="T29" fmla="*/ 55 h 56"/>
                  <a:gd name="T30" fmla="*/ 0 w 17"/>
                  <a:gd name="T31" fmla="*/ 55 h 5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
                  <a:gd name="T49" fmla="*/ 0 h 56"/>
                  <a:gd name="T50" fmla="*/ 17 w 17"/>
                  <a:gd name="T51" fmla="*/ 56 h 5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 h="56">
                    <a:moveTo>
                      <a:pt x="0" y="55"/>
                    </a:moveTo>
                    <a:lnTo>
                      <a:pt x="0" y="55"/>
                    </a:lnTo>
                    <a:lnTo>
                      <a:pt x="4" y="45"/>
                    </a:lnTo>
                    <a:lnTo>
                      <a:pt x="4" y="27"/>
                    </a:lnTo>
                    <a:lnTo>
                      <a:pt x="4" y="18"/>
                    </a:lnTo>
                    <a:lnTo>
                      <a:pt x="4" y="9"/>
                    </a:lnTo>
                    <a:lnTo>
                      <a:pt x="4" y="6"/>
                    </a:lnTo>
                    <a:lnTo>
                      <a:pt x="4" y="2"/>
                    </a:lnTo>
                    <a:lnTo>
                      <a:pt x="11" y="0"/>
                    </a:lnTo>
                    <a:lnTo>
                      <a:pt x="16" y="0"/>
                    </a:lnTo>
                    <a:lnTo>
                      <a:pt x="16" y="24"/>
                    </a:lnTo>
                    <a:lnTo>
                      <a:pt x="16" y="52"/>
                    </a:lnTo>
                    <a:lnTo>
                      <a:pt x="11" y="52"/>
                    </a:lnTo>
                    <a:lnTo>
                      <a:pt x="4" y="52"/>
                    </a:lnTo>
                    <a:lnTo>
                      <a:pt x="4" y="55"/>
                    </a:lnTo>
                    <a:lnTo>
                      <a:pt x="0" y="55"/>
                    </a:lnTo>
                  </a:path>
                </a:pathLst>
              </a:custGeom>
              <a:solidFill>
                <a:srgbClr val="BDB597"/>
              </a:solidFill>
              <a:ln w="9525" cap="rnd">
                <a:noFill/>
                <a:round/>
              </a:ln>
            </p:spPr>
            <p:txBody>
              <a:bodyPr/>
              <a:lstStyle/>
              <a:p>
                <a:endParaRPr lang="zh-CN" altLang="en-US"/>
              </a:p>
            </p:txBody>
          </p:sp>
          <p:sp>
            <p:nvSpPr>
              <p:cNvPr id="10495" name="Freeform 143"/>
              <p:cNvSpPr/>
              <p:nvPr/>
            </p:nvSpPr>
            <p:spPr bwMode="auto">
              <a:xfrm>
                <a:off x="2305" y="2115"/>
                <a:ext cx="17" cy="59"/>
              </a:xfrm>
              <a:custGeom>
                <a:avLst/>
                <a:gdLst>
                  <a:gd name="T0" fmla="*/ 0 w 17"/>
                  <a:gd name="T1" fmla="*/ 58 h 59"/>
                  <a:gd name="T2" fmla="*/ 0 w 17"/>
                  <a:gd name="T3" fmla="*/ 58 h 59"/>
                  <a:gd name="T4" fmla="*/ 0 w 17"/>
                  <a:gd name="T5" fmla="*/ 30 h 59"/>
                  <a:gd name="T6" fmla="*/ 0 w 17"/>
                  <a:gd name="T7" fmla="*/ 18 h 59"/>
                  <a:gd name="T8" fmla="*/ 0 w 17"/>
                  <a:gd name="T9" fmla="*/ 9 h 59"/>
                  <a:gd name="T10" fmla="*/ 0 w 17"/>
                  <a:gd name="T11" fmla="*/ 2 h 59"/>
                  <a:gd name="T12" fmla="*/ 4 w 17"/>
                  <a:gd name="T13" fmla="*/ 2 h 59"/>
                  <a:gd name="T14" fmla="*/ 4 w 17"/>
                  <a:gd name="T15" fmla="*/ 0 h 59"/>
                  <a:gd name="T16" fmla="*/ 11 w 17"/>
                  <a:gd name="T17" fmla="*/ 0 h 59"/>
                  <a:gd name="T18" fmla="*/ 16 w 17"/>
                  <a:gd name="T19" fmla="*/ 0 h 59"/>
                  <a:gd name="T20" fmla="*/ 11 w 17"/>
                  <a:gd name="T21" fmla="*/ 24 h 59"/>
                  <a:gd name="T22" fmla="*/ 11 w 17"/>
                  <a:gd name="T23" fmla="*/ 42 h 59"/>
                  <a:gd name="T24" fmla="*/ 11 w 17"/>
                  <a:gd name="T25" fmla="*/ 51 h 59"/>
                  <a:gd name="T26" fmla="*/ 4 w 17"/>
                  <a:gd name="T27" fmla="*/ 55 h 59"/>
                  <a:gd name="T28" fmla="*/ 0 w 17"/>
                  <a:gd name="T29" fmla="*/ 55 h 59"/>
                  <a:gd name="T30" fmla="*/ 0 w 17"/>
                  <a:gd name="T31" fmla="*/ 58 h 5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
                  <a:gd name="T49" fmla="*/ 0 h 59"/>
                  <a:gd name="T50" fmla="*/ 17 w 17"/>
                  <a:gd name="T51" fmla="*/ 59 h 5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 h="59">
                    <a:moveTo>
                      <a:pt x="0" y="58"/>
                    </a:moveTo>
                    <a:lnTo>
                      <a:pt x="0" y="58"/>
                    </a:lnTo>
                    <a:lnTo>
                      <a:pt x="0" y="30"/>
                    </a:lnTo>
                    <a:lnTo>
                      <a:pt x="0" y="18"/>
                    </a:lnTo>
                    <a:lnTo>
                      <a:pt x="0" y="9"/>
                    </a:lnTo>
                    <a:lnTo>
                      <a:pt x="0" y="2"/>
                    </a:lnTo>
                    <a:lnTo>
                      <a:pt x="4" y="2"/>
                    </a:lnTo>
                    <a:lnTo>
                      <a:pt x="4" y="0"/>
                    </a:lnTo>
                    <a:lnTo>
                      <a:pt x="11" y="0"/>
                    </a:lnTo>
                    <a:lnTo>
                      <a:pt x="16" y="0"/>
                    </a:lnTo>
                    <a:lnTo>
                      <a:pt x="11" y="24"/>
                    </a:lnTo>
                    <a:lnTo>
                      <a:pt x="11" y="42"/>
                    </a:lnTo>
                    <a:lnTo>
                      <a:pt x="11" y="51"/>
                    </a:lnTo>
                    <a:lnTo>
                      <a:pt x="4" y="55"/>
                    </a:lnTo>
                    <a:lnTo>
                      <a:pt x="0" y="55"/>
                    </a:lnTo>
                    <a:lnTo>
                      <a:pt x="0" y="58"/>
                    </a:lnTo>
                  </a:path>
                </a:pathLst>
              </a:custGeom>
              <a:solidFill>
                <a:srgbClr val="BDB597"/>
              </a:solidFill>
              <a:ln w="9525" cap="rnd">
                <a:noFill/>
                <a:round/>
              </a:ln>
            </p:spPr>
            <p:txBody>
              <a:bodyPr/>
              <a:lstStyle/>
              <a:p>
                <a:endParaRPr lang="zh-CN" altLang="en-US"/>
              </a:p>
            </p:txBody>
          </p:sp>
          <p:sp>
            <p:nvSpPr>
              <p:cNvPr id="10496" name="Freeform 144"/>
              <p:cNvSpPr/>
              <p:nvPr/>
            </p:nvSpPr>
            <p:spPr bwMode="auto">
              <a:xfrm>
                <a:off x="2202" y="2176"/>
                <a:ext cx="17" cy="58"/>
              </a:xfrm>
              <a:custGeom>
                <a:avLst/>
                <a:gdLst>
                  <a:gd name="T0" fmla="*/ 4 w 17"/>
                  <a:gd name="T1" fmla="*/ 57 h 58"/>
                  <a:gd name="T2" fmla="*/ 4 w 17"/>
                  <a:gd name="T3" fmla="*/ 57 h 58"/>
                  <a:gd name="T4" fmla="*/ 0 w 17"/>
                  <a:gd name="T5" fmla="*/ 48 h 58"/>
                  <a:gd name="T6" fmla="*/ 0 w 17"/>
                  <a:gd name="T7" fmla="*/ 30 h 58"/>
                  <a:gd name="T8" fmla="*/ 4 w 17"/>
                  <a:gd name="T9" fmla="*/ 17 h 58"/>
                  <a:gd name="T10" fmla="*/ 4 w 17"/>
                  <a:gd name="T11" fmla="*/ 8 h 58"/>
                  <a:gd name="T12" fmla="*/ 4 w 17"/>
                  <a:gd name="T13" fmla="*/ 2 h 58"/>
                  <a:gd name="T14" fmla="*/ 4 w 17"/>
                  <a:gd name="T15" fmla="*/ 0 h 58"/>
                  <a:gd name="T16" fmla="*/ 11 w 17"/>
                  <a:gd name="T17" fmla="*/ 0 h 58"/>
                  <a:gd name="T18" fmla="*/ 16 w 17"/>
                  <a:gd name="T19" fmla="*/ 0 h 58"/>
                  <a:gd name="T20" fmla="*/ 16 w 17"/>
                  <a:gd name="T21" fmla="*/ 26 h 58"/>
                  <a:gd name="T22" fmla="*/ 16 w 17"/>
                  <a:gd name="T23" fmla="*/ 41 h 58"/>
                  <a:gd name="T24" fmla="*/ 16 w 17"/>
                  <a:gd name="T25" fmla="*/ 48 h 58"/>
                  <a:gd name="T26" fmla="*/ 16 w 17"/>
                  <a:gd name="T27" fmla="*/ 50 h 58"/>
                  <a:gd name="T28" fmla="*/ 16 w 17"/>
                  <a:gd name="T29" fmla="*/ 54 h 58"/>
                  <a:gd name="T30" fmla="*/ 11 w 17"/>
                  <a:gd name="T31" fmla="*/ 54 h 58"/>
                  <a:gd name="T32" fmla="*/ 4 w 17"/>
                  <a:gd name="T33" fmla="*/ 54 h 58"/>
                  <a:gd name="T34" fmla="*/ 4 w 17"/>
                  <a:gd name="T35" fmla="*/ 57 h 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58"/>
                  <a:gd name="T56" fmla="*/ 17 w 17"/>
                  <a:gd name="T57" fmla="*/ 58 h 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58">
                    <a:moveTo>
                      <a:pt x="4" y="57"/>
                    </a:moveTo>
                    <a:lnTo>
                      <a:pt x="4" y="57"/>
                    </a:lnTo>
                    <a:lnTo>
                      <a:pt x="0" y="48"/>
                    </a:lnTo>
                    <a:lnTo>
                      <a:pt x="0" y="30"/>
                    </a:lnTo>
                    <a:lnTo>
                      <a:pt x="4" y="17"/>
                    </a:lnTo>
                    <a:lnTo>
                      <a:pt x="4" y="8"/>
                    </a:lnTo>
                    <a:lnTo>
                      <a:pt x="4" y="2"/>
                    </a:lnTo>
                    <a:lnTo>
                      <a:pt x="4" y="0"/>
                    </a:lnTo>
                    <a:lnTo>
                      <a:pt x="11" y="0"/>
                    </a:lnTo>
                    <a:lnTo>
                      <a:pt x="16" y="0"/>
                    </a:lnTo>
                    <a:lnTo>
                      <a:pt x="16" y="26"/>
                    </a:lnTo>
                    <a:lnTo>
                      <a:pt x="16" y="41"/>
                    </a:lnTo>
                    <a:lnTo>
                      <a:pt x="16" y="48"/>
                    </a:lnTo>
                    <a:lnTo>
                      <a:pt x="16" y="50"/>
                    </a:lnTo>
                    <a:lnTo>
                      <a:pt x="16" y="54"/>
                    </a:lnTo>
                    <a:lnTo>
                      <a:pt x="11" y="54"/>
                    </a:lnTo>
                    <a:lnTo>
                      <a:pt x="4" y="54"/>
                    </a:lnTo>
                    <a:lnTo>
                      <a:pt x="4" y="57"/>
                    </a:lnTo>
                  </a:path>
                </a:pathLst>
              </a:custGeom>
              <a:solidFill>
                <a:srgbClr val="BDB597"/>
              </a:solidFill>
              <a:ln w="9525" cap="rnd">
                <a:noFill/>
                <a:round/>
              </a:ln>
            </p:spPr>
            <p:txBody>
              <a:bodyPr/>
              <a:lstStyle/>
              <a:p>
                <a:endParaRPr lang="zh-CN" altLang="en-US"/>
              </a:p>
            </p:txBody>
          </p:sp>
          <p:grpSp>
            <p:nvGrpSpPr>
              <p:cNvPr id="24" name="Group 145"/>
              <p:cNvGrpSpPr/>
              <p:nvPr/>
            </p:nvGrpSpPr>
            <p:grpSpPr bwMode="auto">
              <a:xfrm>
                <a:off x="2421" y="1915"/>
                <a:ext cx="117" cy="109"/>
                <a:chOff x="2421" y="1915"/>
                <a:chExt cx="117" cy="109"/>
              </a:xfrm>
            </p:grpSpPr>
            <p:sp>
              <p:nvSpPr>
                <p:cNvPr id="10520" name="Freeform 146"/>
                <p:cNvSpPr/>
                <p:nvPr/>
              </p:nvSpPr>
              <p:spPr bwMode="auto">
                <a:xfrm>
                  <a:off x="2453" y="1930"/>
                  <a:ext cx="84" cy="94"/>
                </a:xfrm>
                <a:custGeom>
                  <a:avLst/>
                  <a:gdLst>
                    <a:gd name="T0" fmla="*/ 0 w 84"/>
                    <a:gd name="T1" fmla="*/ 93 h 94"/>
                    <a:gd name="T2" fmla="*/ 0 w 84"/>
                    <a:gd name="T3" fmla="*/ 93 h 94"/>
                    <a:gd name="T4" fmla="*/ 2 w 84"/>
                    <a:gd name="T5" fmla="*/ 43 h 94"/>
                    <a:gd name="T6" fmla="*/ 83 w 84"/>
                    <a:gd name="T7" fmla="*/ 0 h 94"/>
                    <a:gd name="T8" fmla="*/ 77 w 84"/>
                    <a:gd name="T9" fmla="*/ 49 h 94"/>
                    <a:gd name="T10" fmla="*/ 0 w 84"/>
                    <a:gd name="T11" fmla="*/ 93 h 94"/>
                    <a:gd name="T12" fmla="*/ 0 60000 65536"/>
                    <a:gd name="T13" fmla="*/ 0 60000 65536"/>
                    <a:gd name="T14" fmla="*/ 0 60000 65536"/>
                    <a:gd name="T15" fmla="*/ 0 60000 65536"/>
                    <a:gd name="T16" fmla="*/ 0 60000 65536"/>
                    <a:gd name="T17" fmla="*/ 0 60000 65536"/>
                    <a:gd name="T18" fmla="*/ 0 w 84"/>
                    <a:gd name="T19" fmla="*/ 0 h 94"/>
                    <a:gd name="T20" fmla="*/ 84 w 84"/>
                    <a:gd name="T21" fmla="*/ 94 h 94"/>
                  </a:gdLst>
                  <a:ahLst/>
                  <a:cxnLst>
                    <a:cxn ang="T12">
                      <a:pos x="T0" y="T1"/>
                    </a:cxn>
                    <a:cxn ang="T13">
                      <a:pos x="T2" y="T3"/>
                    </a:cxn>
                    <a:cxn ang="T14">
                      <a:pos x="T4" y="T5"/>
                    </a:cxn>
                    <a:cxn ang="T15">
                      <a:pos x="T6" y="T7"/>
                    </a:cxn>
                    <a:cxn ang="T16">
                      <a:pos x="T8" y="T9"/>
                    </a:cxn>
                    <a:cxn ang="T17">
                      <a:pos x="T10" y="T11"/>
                    </a:cxn>
                  </a:cxnLst>
                  <a:rect l="T18" t="T19" r="T20" b="T21"/>
                  <a:pathLst>
                    <a:path w="84" h="94">
                      <a:moveTo>
                        <a:pt x="0" y="93"/>
                      </a:moveTo>
                      <a:lnTo>
                        <a:pt x="0" y="93"/>
                      </a:lnTo>
                      <a:lnTo>
                        <a:pt x="2" y="43"/>
                      </a:lnTo>
                      <a:lnTo>
                        <a:pt x="83" y="0"/>
                      </a:lnTo>
                      <a:lnTo>
                        <a:pt x="77" y="49"/>
                      </a:lnTo>
                      <a:lnTo>
                        <a:pt x="0" y="93"/>
                      </a:lnTo>
                    </a:path>
                  </a:pathLst>
                </a:custGeom>
                <a:solidFill>
                  <a:srgbClr val="BB1A50"/>
                </a:solidFill>
                <a:ln w="9525" cap="rnd">
                  <a:noFill/>
                  <a:round/>
                </a:ln>
              </p:spPr>
              <p:txBody>
                <a:bodyPr/>
                <a:lstStyle/>
                <a:p>
                  <a:endParaRPr lang="zh-CN" altLang="en-US"/>
                </a:p>
              </p:txBody>
            </p:sp>
            <p:sp>
              <p:nvSpPr>
                <p:cNvPr id="10521" name="Freeform 147"/>
                <p:cNvSpPr/>
                <p:nvPr/>
              </p:nvSpPr>
              <p:spPr bwMode="auto">
                <a:xfrm>
                  <a:off x="2421" y="1955"/>
                  <a:ext cx="34" cy="68"/>
                </a:xfrm>
                <a:custGeom>
                  <a:avLst/>
                  <a:gdLst>
                    <a:gd name="T0" fmla="*/ 30 w 34"/>
                    <a:gd name="T1" fmla="*/ 67 h 68"/>
                    <a:gd name="T2" fmla="*/ 30 w 34"/>
                    <a:gd name="T3" fmla="*/ 67 h 68"/>
                    <a:gd name="T4" fmla="*/ 0 w 34"/>
                    <a:gd name="T5" fmla="*/ 51 h 68"/>
                    <a:gd name="T6" fmla="*/ 2 w 34"/>
                    <a:gd name="T7" fmla="*/ 0 h 68"/>
                    <a:gd name="T8" fmla="*/ 33 w 34"/>
                    <a:gd name="T9" fmla="*/ 18 h 68"/>
                    <a:gd name="T10" fmla="*/ 30 w 34"/>
                    <a:gd name="T11" fmla="*/ 67 h 68"/>
                    <a:gd name="T12" fmla="*/ 0 60000 65536"/>
                    <a:gd name="T13" fmla="*/ 0 60000 65536"/>
                    <a:gd name="T14" fmla="*/ 0 60000 65536"/>
                    <a:gd name="T15" fmla="*/ 0 60000 65536"/>
                    <a:gd name="T16" fmla="*/ 0 60000 65536"/>
                    <a:gd name="T17" fmla="*/ 0 60000 65536"/>
                    <a:gd name="T18" fmla="*/ 0 w 34"/>
                    <a:gd name="T19" fmla="*/ 0 h 68"/>
                    <a:gd name="T20" fmla="*/ 34 w 34"/>
                    <a:gd name="T21" fmla="*/ 68 h 68"/>
                  </a:gdLst>
                  <a:ahLst/>
                  <a:cxnLst>
                    <a:cxn ang="T12">
                      <a:pos x="T0" y="T1"/>
                    </a:cxn>
                    <a:cxn ang="T13">
                      <a:pos x="T2" y="T3"/>
                    </a:cxn>
                    <a:cxn ang="T14">
                      <a:pos x="T4" y="T5"/>
                    </a:cxn>
                    <a:cxn ang="T15">
                      <a:pos x="T6" y="T7"/>
                    </a:cxn>
                    <a:cxn ang="T16">
                      <a:pos x="T8" y="T9"/>
                    </a:cxn>
                    <a:cxn ang="T17">
                      <a:pos x="T10" y="T11"/>
                    </a:cxn>
                  </a:cxnLst>
                  <a:rect l="T18" t="T19" r="T20" b="T21"/>
                  <a:pathLst>
                    <a:path w="34" h="68">
                      <a:moveTo>
                        <a:pt x="30" y="67"/>
                      </a:moveTo>
                      <a:lnTo>
                        <a:pt x="30" y="67"/>
                      </a:lnTo>
                      <a:lnTo>
                        <a:pt x="0" y="51"/>
                      </a:lnTo>
                      <a:lnTo>
                        <a:pt x="2" y="0"/>
                      </a:lnTo>
                      <a:lnTo>
                        <a:pt x="33" y="18"/>
                      </a:lnTo>
                      <a:lnTo>
                        <a:pt x="30" y="67"/>
                      </a:lnTo>
                    </a:path>
                  </a:pathLst>
                </a:custGeom>
                <a:solidFill>
                  <a:srgbClr val="9E0005"/>
                </a:solidFill>
                <a:ln w="9525" cap="rnd">
                  <a:noFill/>
                  <a:round/>
                </a:ln>
              </p:spPr>
              <p:txBody>
                <a:bodyPr/>
                <a:lstStyle/>
                <a:p>
                  <a:endParaRPr lang="zh-CN" altLang="en-US"/>
                </a:p>
              </p:txBody>
            </p:sp>
            <p:sp>
              <p:nvSpPr>
                <p:cNvPr id="10522" name="Freeform 148"/>
                <p:cNvSpPr/>
                <p:nvPr/>
              </p:nvSpPr>
              <p:spPr bwMode="auto">
                <a:xfrm>
                  <a:off x="2423" y="1915"/>
                  <a:ext cx="115" cy="57"/>
                </a:xfrm>
                <a:custGeom>
                  <a:avLst/>
                  <a:gdLst>
                    <a:gd name="T0" fmla="*/ 33 w 115"/>
                    <a:gd name="T1" fmla="*/ 56 h 57"/>
                    <a:gd name="T2" fmla="*/ 33 w 115"/>
                    <a:gd name="T3" fmla="*/ 56 h 57"/>
                    <a:gd name="T4" fmla="*/ 0 w 115"/>
                    <a:gd name="T5" fmla="*/ 38 h 57"/>
                    <a:gd name="T6" fmla="*/ 83 w 115"/>
                    <a:gd name="T7" fmla="*/ 0 h 57"/>
                    <a:gd name="T8" fmla="*/ 114 w 115"/>
                    <a:gd name="T9" fmla="*/ 15 h 57"/>
                    <a:gd name="T10" fmla="*/ 33 w 115"/>
                    <a:gd name="T11" fmla="*/ 56 h 57"/>
                    <a:gd name="T12" fmla="*/ 0 60000 65536"/>
                    <a:gd name="T13" fmla="*/ 0 60000 65536"/>
                    <a:gd name="T14" fmla="*/ 0 60000 65536"/>
                    <a:gd name="T15" fmla="*/ 0 60000 65536"/>
                    <a:gd name="T16" fmla="*/ 0 60000 65536"/>
                    <a:gd name="T17" fmla="*/ 0 60000 65536"/>
                    <a:gd name="T18" fmla="*/ 0 w 115"/>
                    <a:gd name="T19" fmla="*/ 0 h 57"/>
                    <a:gd name="T20" fmla="*/ 115 w 115"/>
                    <a:gd name="T21" fmla="*/ 57 h 57"/>
                  </a:gdLst>
                  <a:ahLst/>
                  <a:cxnLst>
                    <a:cxn ang="T12">
                      <a:pos x="T0" y="T1"/>
                    </a:cxn>
                    <a:cxn ang="T13">
                      <a:pos x="T2" y="T3"/>
                    </a:cxn>
                    <a:cxn ang="T14">
                      <a:pos x="T4" y="T5"/>
                    </a:cxn>
                    <a:cxn ang="T15">
                      <a:pos x="T6" y="T7"/>
                    </a:cxn>
                    <a:cxn ang="T16">
                      <a:pos x="T8" y="T9"/>
                    </a:cxn>
                    <a:cxn ang="T17">
                      <a:pos x="T10" y="T11"/>
                    </a:cxn>
                  </a:cxnLst>
                  <a:rect l="T18" t="T19" r="T20" b="T21"/>
                  <a:pathLst>
                    <a:path w="115" h="57">
                      <a:moveTo>
                        <a:pt x="33" y="56"/>
                      </a:moveTo>
                      <a:lnTo>
                        <a:pt x="33" y="56"/>
                      </a:lnTo>
                      <a:lnTo>
                        <a:pt x="0" y="38"/>
                      </a:lnTo>
                      <a:lnTo>
                        <a:pt x="83" y="0"/>
                      </a:lnTo>
                      <a:lnTo>
                        <a:pt x="114" y="15"/>
                      </a:lnTo>
                      <a:lnTo>
                        <a:pt x="33" y="56"/>
                      </a:lnTo>
                    </a:path>
                  </a:pathLst>
                </a:custGeom>
                <a:solidFill>
                  <a:srgbClr val="CF5C82"/>
                </a:solidFill>
                <a:ln w="9525" cap="rnd">
                  <a:noFill/>
                  <a:round/>
                </a:ln>
              </p:spPr>
              <p:txBody>
                <a:bodyPr/>
                <a:lstStyle/>
                <a:p>
                  <a:endParaRPr lang="zh-CN" altLang="en-US"/>
                </a:p>
              </p:txBody>
            </p:sp>
          </p:grpSp>
          <p:grpSp>
            <p:nvGrpSpPr>
              <p:cNvPr id="25" name="Group 149"/>
              <p:cNvGrpSpPr/>
              <p:nvPr/>
            </p:nvGrpSpPr>
            <p:grpSpPr bwMode="auto">
              <a:xfrm>
                <a:off x="2323" y="1961"/>
                <a:ext cx="126" cy="117"/>
                <a:chOff x="2323" y="1961"/>
                <a:chExt cx="126" cy="117"/>
              </a:xfrm>
            </p:grpSpPr>
            <p:sp>
              <p:nvSpPr>
                <p:cNvPr id="10517" name="Freeform 150"/>
                <p:cNvSpPr/>
                <p:nvPr/>
              </p:nvSpPr>
              <p:spPr bwMode="auto">
                <a:xfrm>
                  <a:off x="2359" y="1981"/>
                  <a:ext cx="90" cy="97"/>
                </a:xfrm>
                <a:custGeom>
                  <a:avLst/>
                  <a:gdLst>
                    <a:gd name="T0" fmla="*/ 0 w 90"/>
                    <a:gd name="T1" fmla="*/ 96 h 97"/>
                    <a:gd name="T2" fmla="*/ 0 w 90"/>
                    <a:gd name="T3" fmla="*/ 96 h 97"/>
                    <a:gd name="T4" fmla="*/ 2 w 90"/>
                    <a:gd name="T5" fmla="*/ 43 h 97"/>
                    <a:gd name="T6" fmla="*/ 89 w 90"/>
                    <a:gd name="T7" fmla="*/ 0 h 97"/>
                    <a:gd name="T8" fmla="*/ 86 w 90"/>
                    <a:gd name="T9" fmla="*/ 49 h 97"/>
                    <a:gd name="T10" fmla="*/ 0 w 90"/>
                    <a:gd name="T11" fmla="*/ 96 h 97"/>
                    <a:gd name="T12" fmla="*/ 0 60000 65536"/>
                    <a:gd name="T13" fmla="*/ 0 60000 65536"/>
                    <a:gd name="T14" fmla="*/ 0 60000 65536"/>
                    <a:gd name="T15" fmla="*/ 0 60000 65536"/>
                    <a:gd name="T16" fmla="*/ 0 60000 65536"/>
                    <a:gd name="T17" fmla="*/ 0 60000 65536"/>
                    <a:gd name="T18" fmla="*/ 0 w 90"/>
                    <a:gd name="T19" fmla="*/ 0 h 97"/>
                    <a:gd name="T20" fmla="*/ 90 w 90"/>
                    <a:gd name="T21" fmla="*/ 97 h 97"/>
                  </a:gdLst>
                  <a:ahLst/>
                  <a:cxnLst>
                    <a:cxn ang="T12">
                      <a:pos x="T0" y="T1"/>
                    </a:cxn>
                    <a:cxn ang="T13">
                      <a:pos x="T2" y="T3"/>
                    </a:cxn>
                    <a:cxn ang="T14">
                      <a:pos x="T4" y="T5"/>
                    </a:cxn>
                    <a:cxn ang="T15">
                      <a:pos x="T6" y="T7"/>
                    </a:cxn>
                    <a:cxn ang="T16">
                      <a:pos x="T8" y="T9"/>
                    </a:cxn>
                    <a:cxn ang="T17">
                      <a:pos x="T10" y="T11"/>
                    </a:cxn>
                  </a:cxnLst>
                  <a:rect l="T18" t="T19" r="T20" b="T21"/>
                  <a:pathLst>
                    <a:path w="90" h="97">
                      <a:moveTo>
                        <a:pt x="0" y="96"/>
                      </a:moveTo>
                      <a:lnTo>
                        <a:pt x="0" y="96"/>
                      </a:lnTo>
                      <a:lnTo>
                        <a:pt x="2" y="43"/>
                      </a:lnTo>
                      <a:lnTo>
                        <a:pt x="89" y="0"/>
                      </a:lnTo>
                      <a:lnTo>
                        <a:pt x="86" y="49"/>
                      </a:lnTo>
                      <a:lnTo>
                        <a:pt x="0" y="96"/>
                      </a:lnTo>
                    </a:path>
                  </a:pathLst>
                </a:custGeom>
                <a:solidFill>
                  <a:srgbClr val="BB1A50"/>
                </a:solidFill>
                <a:ln w="9525" cap="rnd">
                  <a:noFill/>
                  <a:round/>
                </a:ln>
              </p:spPr>
              <p:txBody>
                <a:bodyPr/>
                <a:lstStyle/>
                <a:p>
                  <a:endParaRPr lang="zh-CN" altLang="en-US"/>
                </a:p>
              </p:txBody>
            </p:sp>
            <p:sp>
              <p:nvSpPr>
                <p:cNvPr id="10518" name="Freeform 151"/>
                <p:cNvSpPr/>
                <p:nvPr/>
              </p:nvSpPr>
              <p:spPr bwMode="auto">
                <a:xfrm>
                  <a:off x="2323" y="2009"/>
                  <a:ext cx="38" cy="69"/>
                </a:xfrm>
                <a:custGeom>
                  <a:avLst/>
                  <a:gdLst>
                    <a:gd name="T0" fmla="*/ 34 w 38"/>
                    <a:gd name="T1" fmla="*/ 68 h 69"/>
                    <a:gd name="T2" fmla="*/ 34 w 38"/>
                    <a:gd name="T3" fmla="*/ 68 h 69"/>
                    <a:gd name="T4" fmla="*/ 0 w 38"/>
                    <a:gd name="T5" fmla="*/ 52 h 69"/>
                    <a:gd name="T6" fmla="*/ 2 w 38"/>
                    <a:gd name="T7" fmla="*/ 0 h 69"/>
                    <a:gd name="T8" fmla="*/ 37 w 38"/>
                    <a:gd name="T9" fmla="*/ 15 h 69"/>
                    <a:gd name="T10" fmla="*/ 34 w 38"/>
                    <a:gd name="T11" fmla="*/ 68 h 69"/>
                    <a:gd name="T12" fmla="*/ 0 60000 65536"/>
                    <a:gd name="T13" fmla="*/ 0 60000 65536"/>
                    <a:gd name="T14" fmla="*/ 0 60000 65536"/>
                    <a:gd name="T15" fmla="*/ 0 60000 65536"/>
                    <a:gd name="T16" fmla="*/ 0 60000 65536"/>
                    <a:gd name="T17" fmla="*/ 0 60000 65536"/>
                    <a:gd name="T18" fmla="*/ 0 w 38"/>
                    <a:gd name="T19" fmla="*/ 0 h 69"/>
                    <a:gd name="T20" fmla="*/ 38 w 38"/>
                    <a:gd name="T21" fmla="*/ 69 h 69"/>
                  </a:gdLst>
                  <a:ahLst/>
                  <a:cxnLst>
                    <a:cxn ang="T12">
                      <a:pos x="T0" y="T1"/>
                    </a:cxn>
                    <a:cxn ang="T13">
                      <a:pos x="T2" y="T3"/>
                    </a:cxn>
                    <a:cxn ang="T14">
                      <a:pos x="T4" y="T5"/>
                    </a:cxn>
                    <a:cxn ang="T15">
                      <a:pos x="T6" y="T7"/>
                    </a:cxn>
                    <a:cxn ang="T16">
                      <a:pos x="T8" y="T9"/>
                    </a:cxn>
                    <a:cxn ang="T17">
                      <a:pos x="T10" y="T11"/>
                    </a:cxn>
                  </a:cxnLst>
                  <a:rect l="T18" t="T19" r="T20" b="T21"/>
                  <a:pathLst>
                    <a:path w="38" h="69">
                      <a:moveTo>
                        <a:pt x="34" y="68"/>
                      </a:moveTo>
                      <a:lnTo>
                        <a:pt x="34" y="68"/>
                      </a:lnTo>
                      <a:lnTo>
                        <a:pt x="0" y="52"/>
                      </a:lnTo>
                      <a:lnTo>
                        <a:pt x="2" y="0"/>
                      </a:lnTo>
                      <a:lnTo>
                        <a:pt x="37" y="15"/>
                      </a:lnTo>
                      <a:lnTo>
                        <a:pt x="34" y="68"/>
                      </a:lnTo>
                    </a:path>
                  </a:pathLst>
                </a:custGeom>
                <a:solidFill>
                  <a:srgbClr val="9E0005"/>
                </a:solidFill>
                <a:ln w="9525" cap="rnd">
                  <a:noFill/>
                  <a:round/>
                </a:ln>
              </p:spPr>
              <p:txBody>
                <a:bodyPr/>
                <a:lstStyle/>
                <a:p>
                  <a:endParaRPr lang="zh-CN" altLang="en-US"/>
                </a:p>
              </p:txBody>
            </p:sp>
            <p:sp>
              <p:nvSpPr>
                <p:cNvPr id="10519" name="Freeform 152"/>
                <p:cNvSpPr/>
                <p:nvPr/>
              </p:nvSpPr>
              <p:spPr bwMode="auto">
                <a:xfrm>
                  <a:off x="2325" y="1961"/>
                  <a:ext cx="124" cy="63"/>
                </a:xfrm>
                <a:custGeom>
                  <a:avLst/>
                  <a:gdLst>
                    <a:gd name="T0" fmla="*/ 36 w 124"/>
                    <a:gd name="T1" fmla="*/ 62 h 63"/>
                    <a:gd name="T2" fmla="*/ 36 w 124"/>
                    <a:gd name="T3" fmla="*/ 62 h 63"/>
                    <a:gd name="T4" fmla="*/ 0 w 124"/>
                    <a:gd name="T5" fmla="*/ 46 h 63"/>
                    <a:gd name="T6" fmla="*/ 89 w 124"/>
                    <a:gd name="T7" fmla="*/ 0 h 63"/>
                    <a:gd name="T8" fmla="*/ 123 w 124"/>
                    <a:gd name="T9" fmla="*/ 18 h 63"/>
                    <a:gd name="T10" fmla="*/ 36 w 124"/>
                    <a:gd name="T11" fmla="*/ 62 h 63"/>
                    <a:gd name="T12" fmla="*/ 0 60000 65536"/>
                    <a:gd name="T13" fmla="*/ 0 60000 65536"/>
                    <a:gd name="T14" fmla="*/ 0 60000 65536"/>
                    <a:gd name="T15" fmla="*/ 0 60000 65536"/>
                    <a:gd name="T16" fmla="*/ 0 60000 65536"/>
                    <a:gd name="T17" fmla="*/ 0 60000 65536"/>
                    <a:gd name="T18" fmla="*/ 0 w 124"/>
                    <a:gd name="T19" fmla="*/ 0 h 63"/>
                    <a:gd name="T20" fmla="*/ 124 w 124"/>
                    <a:gd name="T21" fmla="*/ 63 h 63"/>
                  </a:gdLst>
                  <a:ahLst/>
                  <a:cxnLst>
                    <a:cxn ang="T12">
                      <a:pos x="T0" y="T1"/>
                    </a:cxn>
                    <a:cxn ang="T13">
                      <a:pos x="T2" y="T3"/>
                    </a:cxn>
                    <a:cxn ang="T14">
                      <a:pos x="T4" y="T5"/>
                    </a:cxn>
                    <a:cxn ang="T15">
                      <a:pos x="T6" y="T7"/>
                    </a:cxn>
                    <a:cxn ang="T16">
                      <a:pos x="T8" y="T9"/>
                    </a:cxn>
                    <a:cxn ang="T17">
                      <a:pos x="T10" y="T11"/>
                    </a:cxn>
                  </a:cxnLst>
                  <a:rect l="T18" t="T19" r="T20" b="T21"/>
                  <a:pathLst>
                    <a:path w="124" h="63">
                      <a:moveTo>
                        <a:pt x="36" y="62"/>
                      </a:moveTo>
                      <a:lnTo>
                        <a:pt x="36" y="62"/>
                      </a:lnTo>
                      <a:lnTo>
                        <a:pt x="0" y="46"/>
                      </a:lnTo>
                      <a:lnTo>
                        <a:pt x="89" y="0"/>
                      </a:lnTo>
                      <a:lnTo>
                        <a:pt x="123" y="18"/>
                      </a:lnTo>
                      <a:lnTo>
                        <a:pt x="36" y="62"/>
                      </a:lnTo>
                    </a:path>
                  </a:pathLst>
                </a:custGeom>
                <a:solidFill>
                  <a:srgbClr val="CF5C82"/>
                </a:solidFill>
                <a:ln w="9525" cap="rnd">
                  <a:noFill/>
                  <a:round/>
                </a:ln>
              </p:spPr>
              <p:txBody>
                <a:bodyPr/>
                <a:lstStyle/>
                <a:p>
                  <a:endParaRPr lang="zh-CN" altLang="en-US"/>
                </a:p>
              </p:txBody>
            </p:sp>
          </p:grpSp>
          <p:grpSp>
            <p:nvGrpSpPr>
              <p:cNvPr id="26" name="Group 153"/>
              <p:cNvGrpSpPr/>
              <p:nvPr/>
            </p:nvGrpSpPr>
            <p:grpSpPr bwMode="auto">
              <a:xfrm>
                <a:off x="2220" y="2015"/>
                <a:ext cx="136" cy="120"/>
                <a:chOff x="2220" y="2015"/>
                <a:chExt cx="136" cy="120"/>
              </a:xfrm>
            </p:grpSpPr>
            <p:sp>
              <p:nvSpPr>
                <p:cNvPr id="10514" name="Freeform 154"/>
                <p:cNvSpPr/>
                <p:nvPr/>
              </p:nvSpPr>
              <p:spPr bwMode="auto">
                <a:xfrm>
                  <a:off x="2260" y="2032"/>
                  <a:ext cx="96" cy="103"/>
                </a:xfrm>
                <a:custGeom>
                  <a:avLst/>
                  <a:gdLst>
                    <a:gd name="T0" fmla="*/ 0 w 96"/>
                    <a:gd name="T1" fmla="*/ 102 h 103"/>
                    <a:gd name="T2" fmla="*/ 0 w 96"/>
                    <a:gd name="T3" fmla="*/ 102 h 103"/>
                    <a:gd name="T4" fmla="*/ 2 w 96"/>
                    <a:gd name="T5" fmla="*/ 49 h 103"/>
                    <a:gd name="T6" fmla="*/ 95 w 96"/>
                    <a:gd name="T7" fmla="*/ 0 h 103"/>
                    <a:gd name="T8" fmla="*/ 95 w 96"/>
                    <a:gd name="T9" fmla="*/ 52 h 103"/>
                    <a:gd name="T10" fmla="*/ 0 w 96"/>
                    <a:gd name="T11" fmla="*/ 102 h 103"/>
                    <a:gd name="T12" fmla="*/ 0 60000 65536"/>
                    <a:gd name="T13" fmla="*/ 0 60000 65536"/>
                    <a:gd name="T14" fmla="*/ 0 60000 65536"/>
                    <a:gd name="T15" fmla="*/ 0 60000 65536"/>
                    <a:gd name="T16" fmla="*/ 0 60000 65536"/>
                    <a:gd name="T17" fmla="*/ 0 60000 65536"/>
                    <a:gd name="T18" fmla="*/ 0 w 96"/>
                    <a:gd name="T19" fmla="*/ 0 h 103"/>
                    <a:gd name="T20" fmla="*/ 96 w 96"/>
                    <a:gd name="T21" fmla="*/ 103 h 103"/>
                  </a:gdLst>
                  <a:ahLst/>
                  <a:cxnLst>
                    <a:cxn ang="T12">
                      <a:pos x="T0" y="T1"/>
                    </a:cxn>
                    <a:cxn ang="T13">
                      <a:pos x="T2" y="T3"/>
                    </a:cxn>
                    <a:cxn ang="T14">
                      <a:pos x="T4" y="T5"/>
                    </a:cxn>
                    <a:cxn ang="T15">
                      <a:pos x="T6" y="T7"/>
                    </a:cxn>
                    <a:cxn ang="T16">
                      <a:pos x="T8" y="T9"/>
                    </a:cxn>
                    <a:cxn ang="T17">
                      <a:pos x="T10" y="T11"/>
                    </a:cxn>
                  </a:cxnLst>
                  <a:rect l="T18" t="T19" r="T20" b="T21"/>
                  <a:pathLst>
                    <a:path w="96" h="103">
                      <a:moveTo>
                        <a:pt x="0" y="102"/>
                      </a:moveTo>
                      <a:lnTo>
                        <a:pt x="0" y="102"/>
                      </a:lnTo>
                      <a:lnTo>
                        <a:pt x="2" y="49"/>
                      </a:lnTo>
                      <a:lnTo>
                        <a:pt x="95" y="0"/>
                      </a:lnTo>
                      <a:lnTo>
                        <a:pt x="95" y="52"/>
                      </a:lnTo>
                      <a:lnTo>
                        <a:pt x="0" y="102"/>
                      </a:lnTo>
                    </a:path>
                  </a:pathLst>
                </a:custGeom>
                <a:solidFill>
                  <a:srgbClr val="BB1A50"/>
                </a:solidFill>
                <a:ln w="9525" cap="rnd">
                  <a:noFill/>
                  <a:round/>
                </a:ln>
              </p:spPr>
              <p:txBody>
                <a:bodyPr/>
                <a:lstStyle/>
                <a:p>
                  <a:endParaRPr lang="zh-CN" altLang="en-US"/>
                </a:p>
              </p:txBody>
            </p:sp>
            <p:sp>
              <p:nvSpPr>
                <p:cNvPr id="10515" name="Freeform 155"/>
                <p:cNvSpPr/>
                <p:nvPr/>
              </p:nvSpPr>
              <p:spPr bwMode="auto">
                <a:xfrm>
                  <a:off x="2220" y="2070"/>
                  <a:ext cx="40" cy="65"/>
                </a:xfrm>
                <a:custGeom>
                  <a:avLst/>
                  <a:gdLst>
                    <a:gd name="T0" fmla="*/ 36 w 40"/>
                    <a:gd name="T1" fmla="*/ 64 h 65"/>
                    <a:gd name="T2" fmla="*/ 36 w 40"/>
                    <a:gd name="T3" fmla="*/ 64 h 65"/>
                    <a:gd name="T4" fmla="*/ 0 w 40"/>
                    <a:gd name="T5" fmla="*/ 52 h 65"/>
                    <a:gd name="T6" fmla="*/ 0 w 40"/>
                    <a:gd name="T7" fmla="*/ 0 h 65"/>
                    <a:gd name="T8" fmla="*/ 39 w 40"/>
                    <a:gd name="T9" fmla="*/ 11 h 65"/>
                    <a:gd name="T10" fmla="*/ 36 w 40"/>
                    <a:gd name="T11" fmla="*/ 64 h 65"/>
                    <a:gd name="T12" fmla="*/ 0 60000 65536"/>
                    <a:gd name="T13" fmla="*/ 0 60000 65536"/>
                    <a:gd name="T14" fmla="*/ 0 60000 65536"/>
                    <a:gd name="T15" fmla="*/ 0 60000 65536"/>
                    <a:gd name="T16" fmla="*/ 0 60000 65536"/>
                    <a:gd name="T17" fmla="*/ 0 60000 65536"/>
                    <a:gd name="T18" fmla="*/ 0 w 40"/>
                    <a:gd name="T19" fmla="*/ 0 h 65"/>
                    <a:gd name="T20" fmla="*/ 40 w 40"/>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40" h="65">
                      <a:moveTo>
                        <a:pt x="36" y="64"/>
                      </a:moveTo>
                      <a:lnTo>
                        <a:pt x="36" y="64"/>
                      </a:lnTo>
                      <a:lnTo>
                        <a:pt x="0" y="52"/>
                      </a:lnTo>
                      <a:lnTo>
                        <a:pt x="0" y="0"/>
                      </a:lnTo>
                      <a:lnTo>
                        <a:pt x="39" y="11"/>
                      </a:lnTo>
                      <a:lnTo>
                        <a:pt x="36" y="64"/>
                      </a:lnTo>
                    </a:path>
                  </a:pathLst>
                </a:custGeom>
                <a:solidFill>
                  <a:srgbClr val="9E0005"/>
                </a:solidFill>
                <a:ln w="9525" cap="rnd">
                  <a:noFill/>
                  <a:round/>
                </a:ln>
              </p:spPr>
              <p:txBody>
                <a:bodyPr/>
                <a:lstStyle/>
                <a:p>
                  <a:endParaRPr lang="zh-CN" altLang="en-US"/>
                </a:p>
              </p:txBody>
            </p:sp>
            <p:sp>
              <p:nvSpPr>
                <p:cNvPr id="10516" name="Freeform 156"/>
                <p:cNvSpPr/>
                <p:nvPr/>
              </p:nvSpPr>
              <p:spPr bwMode="auto">
                <a:xfrm>
                  <a:off x="2221" y="2015"/>
                  <a:ext cx="135" cy="66"/>
                </a:xfrm>
                <a:custGeom>
                  <a:avLst/>
                  <a:gdLst>
                    <a:gd name="T0" fmla="*/ 42 w 135"/>
                    <a:gd name="T1" fmla="*/ 65 h 66"/>
                    <a:gd name="T2" fmla="*/ 42 w 135"/>
                    <a:gd name="T3" fmla="*/ 65 h 66"/>
                    <a:gd name="T4" fmla="*/ 0 w 135"/>
                    <a:gd name="T5" fmla="*/ 49 h 66"/>
                    <a:gd name="T6" fmla="*/ 98 w 135"/>
                    <a:gd name="T7" fmla="*/ 0 h 66"/>
                    <a:gd name="T8" fmla="*/ 134 w 135"/>
                    <a:gd name="T9" fmla="*/ 15 h 66"/>
                    <a:gd name="T10" fmla="*/ 42 w 135"/>
                    <a:gd name="T11" fmla="*/ 65 h 66"/>
                    <a:gd name="T12" fmla="*/ 0 60000 65536"/>
                    <a:gd name="T13" fmla="*/ 0 60000 65536"/>
                    <a:gd name="T14" fmla="*/ 0 60000 65536"/>
                    <a:gd name="T15" fmla="*/ 0 60000 65536"/>
                    <a:gd name="T16" fmla="*/ 0 60000 65536"/>
                    <a:gd name="T17" fmla="*/ 0 60000 65536"/>
                    <a:gd name="T18" fmla="*/ 0 w 135"/>
                    <a:gd name="T19" fmla="*/ 0 h 66"/>
                    <a:gd name="T20" fmla="*/ 135 w 135"/>
                    <a:gd name="T21" fmla="*/ 66 h 66"/>
                  </a:gdLst>
                  <a:ahLst/>
                  <a:cxnLst>
                    <a:cxn ang="T12">
                      <a:pos x="T0" y="T1"/>
                    </a:cxn>
                    <a:cxn ang="T13">
                      <a:pos x="T2" y="T3"/>
                    </a:cxn>
                    <a:cxn ang="T14">
                      <a:pos x="T4" y="T5"/>
                    </a:cxn>
                    <a:cxn ang="T15">
                      <a:pos x="T6" y="T7"/>
                    </a:cxn>
                    <a:cxn ang="T16">
                      <a:pos x="T8" y="T9"/>
                    </a:cxn>
                    <a:cxn ang="T17">
                      <a:pos x="T10" y="T11"/>
                    </a:cxn>
                  </a:cxnLst>
                  <a:rect l="T18" t="T19" r="T20" b="T21"/>
                  <a:pathLst>
                    <a:path w="135" h="66">
                      <a:moveTo>
                        <a:pt x="42" y="65"/>
                      </a:moveTo>
                      <a:lnTo>
                        <a:pt x="42" y="65"/>
                      </a:lnTo>
                      <a:lnTo>
                        <a:pt x="0" y="49"/>
                      </a:lnTo>
                      <a:lnTo>
                        <a:pt x="98" y="0"/>
                      </a:lnTo>
                      <a:lnTo>
                        <a:pt x="134" y="15"/>
                      </a:lnTo>
                      <a:lnTo>
                        <a:pt x="42" y="65"/>
                      </a:lnTo>
                    </a:path>
                  </a:pathLst>
                </a:custGeom>
                <a:solidFill>
                  <a:srgbClr val="CF5C82"/>
                </a:solidFill>
                <a:ln w="9525" cap="rnd">
                  <a:noFill/>
                  <a:round/>
                </a:ln>
              </p:spPr>
              <p:txBody>
                <a:bodyPr/>
                <a:lstStyle/>
                <a:p>
                  <a:endParaRPr lang="zh-CN" altLang="en-US"/>
                </a:p>
              </p:txBody>
            </p:sp>
          </p:grpSp>
          <p:grpSp>
            <p:nvGrpSpPr>
              <p:cNvPr id="27" name="Group 157"/>
              <p:cNvGrpSpPr/>
              <p:nvPr/>
            </p:nvGrpSpPr>
            <p:grpSpPr bwMode="auto">
              <a:xfrm>
                <a:off x="2109" y="2072"/>
                <a:ext cx="148" cy="127"/>
                <a:chOff x="2109" y="2072"/>
                <a:chExt cx="148" cy="127"/>
              </a:xfrm>
            </p:grpSpPr>
            <p:sp>
              <p:nvSpPr>
                <p:cNvPr id="10511" name="Freeform 158"/>
                <p:cNvSpPr/>
                <p:nvPr/>
              </p:nvSpPr>
              <p:spPr bwMode="auto">
                <a:xfrm>
                  <a:off x="2154" y="2090"/>
                  <a:ext cx="102" cy="109"/>
                </a:xfrm>
                <a:custGeom>
                  <a:avLst/>
                  <a:gdLst>
                    <a:gd name="T0" fmla="*/ 0 w 102"/>
                    <a:gd name="T1" fmla="*/ 108 h 109"/>
                    <a:gd name="T2" fmla="*/ 0 w 102"/>
                    <a:gd name="T3" fmla="*/ 108 h 109"/>
                    <a:gd name="T4" fmla="*/ 0 w 102"/>
                    <a:gd name="T5" fmla="*/ 52 h 109"/>
                    <a:gd name="T6" fmla="*/ 101 w 102"/>
                    <a:gd name="T7" fmla="*/ 0 h 109"/>
                    <a:gd name="T8" fmla="*/ 98 w 102"/>
                    <a:gd name="T9" fmla="*/ 52 h 109"/>
                    <a:gd name="T10" fmla="*/ 0 w 102"/>
                    <a:gd name="T11" fmla="*/ 108 h 109"/>
                    <a:gd name="T12" fmla="*/ 0 60000 65536"/>
                    <a:gd name="T13" fmla="*/ 0 60000 65536"/>
                    <a:gd name="T14" fmla="*/ 0 60000 65536"/>
                    <a:gd name="T15" fmla="*/ 0 60000 65536"/>
                    <a:gd name="T16" fmla="*/ 0 60000 65536"/>
                    <a:gd name="T17" fmla="*/ 0 60000 65536"/>
                    <a:gd name="T18" fmla="*/ 0 w 102"/>
                    <a:gd name="T19" fmla="*/ 0 h 109"/>
                    <a:gd name="T20" fmla="*/ 102 w 102"/>
                    <a:gd name="T21" fmla="*/ 109 h 109"/>
                  </a:gdLst>
                  <a:ahLst/>
                  <a:cxnLst>
                    <a:cxn ang="T12">
                      <a:pos x="T0" y="T1"/>
                    </a:cxn>
                    <a:cxn ang="T13">
                      <a:pos x="T2" y="T3"/>
                    </a:cxn>
                    <a:cxn ang="T14">
                      <a:pos x="T4" y="T5"/>
                    </a:cxn>
                    <a:cxn ang="T15">
                      <a:pos x="T6" y="T7"/>
                    </a:cxn>
                    <a:cxn ang="T16">
                      <a:pos x="T8" y="T9"/>
                    </a:cxn>
                    <a:cxn ang="T17">
                      <a:pos x="T10" y="T11"/>
                    </a:cxn>
                  </a:cxnLst>
                  <a:rect l="T18" t="T19" r="T20" b="T21"/>
                  <a:pathLst>
                    <a:path w="102" h="109">
                      <a:moveTo>
                        <a:pt x="0" y="108"/>
                      </a:moveTo>
                      <a:lnTo>
                        <a:pt x="0" y="108"/>
                      </a:lnTo>
                      <a:lnTo>
                        <a:pt x="0" y="52"/>
                      </a:lnTo>
                      <a:lnTo>
                        <a:pt x="101" y="0"/>
                      </a:lnTo>
                      <a:lnTo>
                        <a:pt x="98" y="52"/>
                      </a:lnTo>
                      <a:lnTo>
                        <a:pt x="0" y="108"/>
                      </a:lnTo>
                    </a:path>
                  </a:pathLst>
                </a:custGeom>
                <a:solidFill>
                  <a:srgbClr val="BB1A50"/>
                </a:solidFill>
                <a:ln w="9525" cap="rnd">
                  <a:noFill/>
                  <a:round/>
                </a:ln>
              </p:spPr>
              <p:txBody>
                <a:bodyPr/>
                <a:lstStyle/>
                <a:p>
                  <a:endParaRPr lang="zh-CN" altLang="en-US"/>
                </a:p>
              </p:txBody>
            </p:sp>
            <p:sp>
              <p:nvSpPr>
                <p:cNvPr id="10512" name="Freeform 159"/>
                <p:cNvSpPr/>
                <p:nvPr/>
              </p:nvSpPr>
              <p:spPr bwMode="auto">
                <a:xfrm>
                  <a:off x="2109" y="2132"/>
                  <a:ext cx="44" cy="67"/>
                </a:xfrm>
                <a:custGeom>
                  <a:avLst/>
                  <a:gdLst>
                    <a:gd name="T0" fmla="*/ 43 w 44"/>
                    <a:gd name="T1" fmla="*/ 66 h 67"/>
                    <a:gd name="T2" fmla="*/ 43 w 44"/>
                    <a:gd name="T3" fmla="*/ 66 h 67"/>
                    <a:gd name="T4" fmla="*/ 0 w 44"/>
                    <a:gd name="T5" fmla="*/ 54 h 67"/>
                    <a:gd name="T6" fmla="*/ 0 w 44"/>
                    <a:gd name="T7" fmla="*/ 0 h 67"/>
                    <a:gd name="T8" fmla="*/ 43 w 44"/>
                    <a:gd name="T9" fmla="*/ 11 h 67"/>
                    <a:gd name="T10" fmla="*/ 43 w 44"/>
                    <a:gd name="T11" fmla="*/ 66 h 67"/>
                    <a:gd name="T12" fmla="*/ 0 60000 65536"/>
                    <a:gd name="T13" fmla="*/ 0 60000 65536"/>
                    <a:gd name="T14" fmla="*/ 0 60000 65536"/>
                    <a:gd name="T15" fmla="*/ 0 60000 65536"/>
                    <a:gd name="T16" fmla="*/ 0 60000 65536"/>
                    <a:gd name="T17" fmla="*/ 0 60000 65536"/>
                    <a:gd name="T18" fmla="*/ 0 w 44"/>
                    <a:gd name="T19" fmla="*/ 0 h 67"/>
                    <a:gd name="T20" fmla="*/ 44 w 44"/>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44" h="67">
                      <a:moveTo>
                        <a:pt x="43" y="66"/>
                      </a:moveTo>
                      <a:lnTo>
                        <a:pt x="43" y="66"/>
                      </a:lnTo>
                      <a:lnTo>
                        <a:pt x="0" y="54"/>
                      </a:lnTo>
                      <a:lnTo>
                        <a:pt x="0" y="0"/>
                      </a:lnTo>
                      <a:lnTo>
                        <a:pt x="43" y="11"/>
                      </a:lnTo>
                      <a:lnTo>
                        <a:pt x="43" y="66"/>
                      </a:lnTo>
                    </a:path>
                  </a:pathLst>
                </a:custGeom>
                <a:solidFill>
                  <a:srgbClr val="9E0005"/>
                </a:solidFill>
                <a:ln w="9525" cap="rnd">
                  <a:noFill/>
                  <a:round/>
                </a:ln>
              </p:spPr>
              <p:txBody>
                <a:bodyPr/>
                <a:lstStyle/>
                <a:p>
                  <a:endParaRPr lang="zh-CN" altLang="en-US"/>
                </a:p>
              </p:txBody>
            </p:sp>
            <p:sp>
              <p:nvSpPr>
                <p:cNvPr id="10513" name="Freeform 160"/>
                <p:cNvSpPr/>
                <p:nvPr/>
              </p:nvSpPr>
              <p:spPr bwMode="auto">
                <a:xfrm>
                  <a:off x="2110" y="2072"/>
                  <a:ext cx="147" cy="71"/>
                </a:xfrm>
                <a:custGeom>
                  <a:avLst/>
                  <a:gdLst>
                    <a:gd name="T0" fmla="*/ 44 w 147"/>
                    <a:gd name="T1" fmla="*/ 70 h 71"/>
                    <a:gd name="T2" fmla="*/ 44 w 147"/>
                    <a:gd name="T3" fmla="*/ 70 h 71"/>
                    <a:gd name="T4" fmla="*/ 0 w 147"/>
                    <a:gd name="T5" fmla="*/ 57 h 71"/>
                    <a:gd name="T6" fmla="*/ 104 w 147"/>
                    <a:gd name="T7" fmla="*/ 0 h 71"/>
                    <a:gd name="T8" fmla="*/ 146 w 147"/>
                    <a:gd name="T9" fmla="*/ 15 h 71"/>
                    <a:gd name="T10" fmla="*/ 44 w 147"/>
                    <a:gd name="T11" fmla="*/ 70 h 71"/>
                    <a:gd name="T12" fmla="*/ 0 60000 65536"/>
                    <a:gd name="T13" fmla="*/ 0 60000 65536"/>
                    <a:gd name="T14" fmla="*/ 0 60000 65536"/>
                    <a:gd name="T15" fmla="*/ 0 60000 65536"/>
                    <a:gd name="T16" fmla="*/ 0 60000 65536"/>
                    <a:gd name="T17" fmla="*/ 0 60000 65536"/>
                    <a:gd name="T18" fmla="*/ 0 w 147"/>
                    <a:gd name="T19" fmla="*/ 0 h 71"/>
                    <a:gd name="T20" fmla="*/ 147 w 147"/>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147" h="71">
                      <a:moveTo>
                        <a:pt x="44" y="70"/>
                      </a:moveTo>
                      <a:lnTo>
                        <a:pt x="44" y="70"/>
                      </a:lnTo>
                      <a:lnTo>
                        <a:pt x="0" y="57"/>
                      </a:lnTo>
                      <a:lnTo>
                        <a:pt x="104" y="0"/>
                      </a:lnTo>
                      <a:lnTo>
                        <a:pt x="146" y="15"/>
                      </a:lnTo>
                      <a:lnTo>
                        <a:pt x="44" y="70"/>
                      </a:lnTo>
                    </a:path>
                  </a:pathLst>
                </a:custGeom>
                <a:solidFill>
                  <a:srgbClr val="CF5C82"/>
                </a:solidFill>
                <a:ln w="9525" cap="rnd">
                  <a:noFill/>
                  <a:round/>
                </a:ln>
              </p:spPr>
              <p:txBody>
                <a:bodyPr/>
                <a:lstStyle/>
                <a:p>
                  <a:endParaRPr lang="zh-CN" altLang="en-US"/>
                </a:p>
              </p:txBody>
            </p:sp>
          </p:grpSp>
          <p:sp>
            <p:nvSpPr>
              <p:cNvPr id="10501" name="Freeform 161"/>
              <p:cNvSpPr/>
              <p:nvPr/>
            </p:nvSpPr>
            <p:spPr bwMode="auto">
              <a:xfrm>
                <a:off x="2099" y="2151"/>
                <a:ext cx="49" cy="83"/>
              </a:xfrm>
              <a:custGeom>
                <a:avLst/>
                <a:gdLst>
                  <a:gd name="T0" fmla="*/ 0 w 49"/>
                  <a:gd name="T1" fmla="*/ 82 h 83"/>
                  <a:gd name="T2" fmla="*/ 0 w 49"/>
                  <a:gd name="T3" fmla="*/ 82 h 83"/>
                  <a:gd name="T4" fmla="*/ 0 w 49"/>
                  <a:gd name="T5" fmla="*/ 27 h 83"/>
                  <a:gd name="T6" fmla="*/ 48 w 49"/>
                  <a:gd name="T7" fmla="*/ 0 h 83"/>
                  <a:gd name="T8" fmla="*/ 45 w 49"/>
                  <a:gd name="T9" fmla="*/ 54 h 83"/>
                  <a:gd name="T10" fmla="*/ 0 w 49"/>
                  <a:gd name="T11" fmla="*/ 82 h 83"/>
                  <a:gd name="T12" fmla="*/ 0 60000 65536"/>
                  <a:gd name="T13" fmla="*/ 0 60000 65536"/>
                  <a:gd name="T14" fmla="*/ 0 60000 65536"/>
                  <a:gd name="T15" fmla="*/ 0 60000 65536"/>
                  <a:gd name="T16" fmla="*/ 0 60000 65536"/>
                  <a:gd name="T17" fmla="*/ 0 60000 65536"/>
                  <a:gd name="T18" fmla="*/ 0 w 49"/>
                  <a:gd name="T19" fmla="*/ 0 h 83"/>
                  <a:gd name="T20" fmla="*/ 49 w 49"/>
                  <a:gd name="T21" fmla="*/ 83 h 83"/>
                </a:gdLst>
                <a:ahLst/>
                <a:cxnLst>
                  <a:cxn ang="T12">
                    <a:pos x="T0" y="T1"/>
                  </a:cxn>
                  <a:cxn ang="T13">
                    <a:pos x="T2" y="T3"/>
                  </a:cxn>
                  <a:cxn ang="T14">
                    <a:pos x="T4" y="T5"/>
                  </a:cxn>
                  <a:cxn ang="T15">
                    <a:pos x="T6" y="T7"/>
                  </a:cxn>
                  <a:cxn ang="T16">
                    <a:pos x="T8" y="T9"/>
                  </a:cxn>
                  <a:cxn ang="T17">
                    <a:pos x="T10" y="T11"/>
                  </a:cxn>
                </a:cxnLst>
                <a:rect l="T18" t="T19" r="T20" b="T21"/>
                <a:pathLst>
                  <a:path w="49" h="83">
                    <a:moveTo>
                      <a:pt x="0" y="82"/>
                    </a:moveTo>
                    <a:lnTo>
                      <a:pt x="0" y="82"/>
                    </a:lnTo>
                    <a:lnTo>
                      <a:pt x="0" y="27"/>
                    </a:lnTo>
                    <a:lnTo>
                      <a:pt x="48" y="0"/>
                    </a:lnTo>
                    <a:lnTo>
                      <a:pt x="45" y="54"/>
                    </a:lnTo>
                    <a:lnTo>
                      <a:pt x="0" y="82"/>
                    </a:lnTo>
                  </a:path>
                </a:pathLst>
              </a:custGeom>
              <a:solidFill>
                <a:srgbClr val="BB1A50"/>
              </a:solidFill>
              <a:ln w="9525" cap="rnd">
                <a:noFill/>
                <a:round/>
              </a:ln>
            </p:spPr>
            <p:txBody>
              <a:bodyPr/>
              <a:lstStyle/>
              <a:p>
                <a:endParaRPr lang="zh-CN" altLang="en-US"/>
              </a:p>
            </p:txBody>
          </p:sp>
          <p:sp>
            <p:nvSpPr>
              <p:cNvPr id="10502" name="Freeform 162"/>
              <p:cNvSpPr/>
              <p:nvPr/>
            </p:nvSpPr>
            <p:spPr bwMode="auto">
              <a:xfrm>
                <a:off x="2051" y="2138"/>
                <a:ext cx="97" cy="39"/>
              </a:xfrm>
              <a:custGeom>
                <a:avLst/>
                <a:gdLst>
                  <a:gd name="T0" fmla="*/ 46 w 97"/>
                  <a:gd name="T1" fmla="*/ 38 h 39"/>
                  <a:gd name="T2" fmla="*/ 46 w 97"/>
                  <a:gd name="T3" fmla="*/ 38 h 39"/>
                  <a:gd name="T4" fmla="*/ 0 w 97"/>
                  <a:gd name="T5" fmla="*/ 26 h 39"/>
                  <a:gd name="T6" fmla="*/ 49 w 97"/>
                  <a:gd name="T7" fmla="*/ 0 h 39"/>
                  <a:gd name="T8" fmla="*/ 96 w 97"/>
                  <a:gd name="T9" fmla="*/ 11 h 39"/>
                  <a:gd name="T10" fmla="*/ 46 w 97"/>
                  <a:gd name="T11" fmla="*/ 38 h 39"/>
                  <a:gd name="T12" fmla="*/ 0 60000 65536"/>
                  <a:gd name="T13" fmla="*/ 0 60000 65536"/>
                  <a:gd name="T14" fmla="*/ 0 60000 65536"/>
                  <a:gd name="T15" fmla="*/ 0 60000 65536"/>
                  <a:gd name="T16" fmla="*/ 0 60000 65536"/>
                  <a:gd name="T17" fmla="*/ 0 60000 65536"/>
                  <a:gd name="T18" fmla="*/ 0 w 97"/>
                  <a:gd name="T19" fmla="*/ 0 h 39"/>
                  <a:gd name="T20" fmla="*/ 97 w 97"/>
                  <a:gd name="T21" fmla="*/ 39 h 39"/>
                </a:gdLst>
                <a:ahLst/>
                <a:cxnLst>
                  <a:cxn ang="T12">
                    <a:pos x="T0" y="T1"/>
                  </a:cxn>
                  <a:cxn ang="T13">
                    <a:pos x="T2" y="T3"/>
                  </a:cxn>
                  <a:cxn ang="T14">
                    <a:pos x="T4" y="T5"/>
                  </a:cxn>
                  <a:cxn ang="T15">
                    <a:pos x="T6" y="T7"/>
                  </a:cxn>
                  <a:cxn ang="T16">
                    <a:pos x="T8" y="T9"/>
                  </a:cxn>
                  <a:cxn ang="T17">
                    <a:pos x="T10" y="T11"/>
                  </a:cxn>
                </a:cxnLst>
                <a:rect l="T18" t="T19" r="T20" b="T21"/>
                <a:pathLst>
                  <a:path w="97" h="39">
                    <a:moveTo>
                      <a:pt x="46" y="38"/>
                    </a:moveTo>
                    <a:lnTo>
                      <a:pt x="46" y="38"/>
                    </a:lnTo>
                    <a:lnTo>
                      <a:pt x="0" y="26"/>
                    </a:lnTo>
                    <a:lnTo>
                      <a:pt x="49" y="0"/>
                    </a:lnTo>
                    <a:lnTo>
                      <a:pt x="96" y="11"/>
                    </a:lnTo>
                    <a:lnTo>
                      <a:pt x="46" y="38"/>
                    </a:lnTo>
                  </a:path>
                </a:pathLst>
              </a:custGeom>
              <a:solidFill>
                <a:srgbClr val="CF5C82"/>
              </a:solidFill>
              <a:ln w="9525" cap="rnd">
                <a:noFill/>
                <a:round/>
              </a:ln>
            </p:spPr>
            <p:txBody>
              <a:bodyPr/>
              <a:lstStyle/>
              <a:p>
                <a:endParaRPr lang="zh-CN" altLang="en-US"/>
              </a:p>
            </p:txBody>
          </p:sp>
          <p:sp>
            <p:nvSpPr>
              <p:cNvPr id="10503" name="Freeform 163"/>
              <p:cNvSpPr/>
              <p:nvPr/>
            </p:nvSpPr>
            <p:spPr bwMode="auto">
              <a:xfrm>
                <a:off x="2449" y="1975"/>
                <a:ext cx="17" cy="55"/>
              </a:xfrm>
              <a:custGeom>
                <a:avLst/>
                <a:gdLst>
                  <a:gd name="T0" fmla="*/ 0 w 17"/>
                  <a:gd name="T1" fmla="*/ 54 h 55"/>
                  <a:gd name="T2" fmla="*/ 0 w 17"/>
                  <a:gd name="T3" fmla="*/ 54 h 55"/>
                  <a:gd name="T4" fmla="*/ 0 w 17"/>
                  <a:gd name="T5" fmla="*/ 27 h 55"/>
                  <a:gd name="T6" fmla="*/ 5 w 17"/>
                  <a:gd name="T7" fmla="*/ 9 h 55"/>
                  <a:gd name="T8" fmla="*/ 5 w 17"/>
                  <a:gd name="T9" fmla="*/ 2 h 55"/>
                  <a:gd name="T10" fmla="*/ 5 w 17"/>
                  <a:gd name="T11" fmla="*/ 0 h 55"/>
                  <a:gd name="T12" fmla="*/ 10 w 17"/>
                  <a:gd name="T13" fmla="*/ 0 h 55"/>
                  <a:gd name="T14" fmla="*/ 16 w 17"/>
                  <a:gd name="T15" fmla="*/ 0 h 55"/>
                  <a:gd name="T16" fmla="*/ 16 w 17"/>
                  <a:gd name="T17" fmla="*/ 24 h 55"/>
                  <a:gd name="T18" fmla="*/ 10 w 17"/>
                  <a:gd name="T19" fmla="*/ 47 h 55"/>
                  <a:gd name="T20" fmla="*/ 10 w 17"/>
                  <a:gd name="T21" fmla="*/ 51 h 55"/>
                  <a:gd name="T22" fmla="*/ 5 w 17"/>
                  <a:gd name="T23" fmla="*/ 47 h 55"/>
                  <a:gd name="T24" fmla="*/ 5 w 17"/>
                  <a:gd name="T25" fmla="*/ 51 h 55"/>
                  <a:gd name="T26" fmla="*/ 0 w 17"/>
                  <a:gd name="T27" fmla="*/ 51 h 55"/>
                  <a:gd name="T28" fmla="*/ 0 w 17"/>
                  <a:gd name="T29" fmla="*/ 54 h 5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
                  <a:gd name="T46" fmla="*/ 0 h 55"/>
                  <a:gd name="T47" fmla="*/ 17 w 17"/>
                  <a:gd name="T48" fmla="*/ 55 h 5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 h="55">
                    <a:moveTo>
                      <a:pt x="0" y="54"/>
                    </a:moveTo>
                    <a:lnTo>
                      <a:pt x="0" y="54"/>
                    </a:lnTo>
                    <a:lnTo>
                      <a:pt x="0" y="27"/>
                    </a:lnTo>
                    <a:lnTo>
                      <a:pt x="5" y="9"/>
                    </a:lnTo>
                    <a:lnTo>
                      <a:pt x="5" y="2"/>
                    </a:lnTo>
                    <a:lnTo>
                      <a:pt x="5" y="0"/>
                    </a:lnTo>
                    <a:lnTo>
                      <a:pt x="10" y="0"/>
                    </a:lnTo>
                    <a:lnTo>
                      <a:pt x="16" y="0"/>
                    </a:lnTo>
                    <a:lnTo>
                      <a:pt x="16" y="24"/>
                    </a:lnTo>
                    <a:lnTo>
                      <a:pt x="10" y="47"/>
                    </a:lnTo>
                    <a:lnTo>
                      <a:pt x="10" y="51"/>
                    </a:lnTo>
                    <a:lnTo>
                      <a:pt x="5" y="47"/>
                    </a:lnTo>
                    <a:lnTo>
                      <a:pt x="5" y="51"/>
                    </a:lnTo>
                    <a:lnTo>
                      <a:pt x="0" y="51"/>
                    </a:lnTo>
                    <a:lnTo>
                      <a:pt x="0" y="54"/>
                    </a:lnTo>
                  </a:path>
                </a:pathLst>
              </a:custGeom>
              <a:solidFill>
                <a:srgbClr val="BDB597"/>
              </a:solidFill>
              <a:ln w="9525" cap="rnd">
                <a:noFill/>
                <a:round/>
              </a:ln>
            </p:spPr>
            <p:txBody>
              <a:bodyPr/>
              <a:lstStyle/>
              <a:p>
                <a:endParaRPr lang="zh-CN" altLang="en-US"/>
              </a:p>
            </p:txBody>
          </p:sp>
          <p:sp>
            <p:nvSpPr>
              <p:cNvPr id="10504" name="Freeform 164"/>
              <p:cNvSpPr/>
              <p:nvPr/>
            </p:nvSpPr>
            <p:spPr bwMode="auto">
              <a:xfrm>
                <a:off x="2097" y="1923"/>
                <a:ext cx="441" cy="257"/>
              </a:xfrm>
              <a:custGeom>
                <a:avLst/>
                <a:gdLst>
                  <a:gd name="T0" fmla="*/ 440 w 441"/>
                  <a:gd name="T1" fmla="*/ 0 h 257"/>
                  <a:gd name="T2" fmla="*/ 440 w 441"/>
                  <a:gd name="T3" fmla="*/ 0 h 257"/>
                  <a:gd name="T4" fmla="*/ 0 w 441"/>
                  <a:gd name="T5" fmla="*/ 246 h 257"/>
                  <a:gd name="T6" fmla="*/ 3 w 441"/>
                  <a:gd name="T7" fmla="*/ 256 h 257"/>
                  <a:gd name="T8" fmla="*/ 440 w 441"/>
                  <a:gd name="T9" fmla="*/ 6 h 257"/>
                  <a:gd name="T10" fmla="*/ 440 w 441"/>
                  <a:gd name="T11" fmla="*/ 0 h 257"/>
                  <a:gd name="T12" fmla="*/ 0 60000 65536"/>
                  <a:gd name="T13" fmla="*/ 0 60000 65536"/>
                  <a:gd name="T14" fmla="*/ 0 60000 65536"/>
                  <a:gd name="T15" fmla="*/ 0 60000 65536"/>
                  <a:gd name="T16" fmla="*/ 0 60000 65536"/>
                  <a:gd name="T17" fmla="*/ 0 60000 65536"/>
                  <a:gd name="T18" fmla="*/ 0 w 441"/>
                  <a:gd name="T19" fmla="*/ 0 h 257"/>
                  <a:gd name="T20" fmla="*/ 441 w 441"/>
                  <a:gd name="T21" fmla="*/ 257 h 257"/>
                </a:gdLst>
                <a:ahLst/>
                <a:cxnLst>
                  <a:cxn ang="T12">
                    <a:pos x="T0" y="T1"/>
                  </a:cxn>
                  <a:cxn ang="T13">
                    <a:pos x="T2" y="T3"/>
                  </a:cxn>
                  <a:cxn ang="T14">
                    <a:pos x="T4" y="T5"/>
                  </a:cxn>
                  <a:cxn ang="T15">
                    <a:pos x="T6" y="T7"/>
                  </a:cxn>
                  <a:cxn ang="T16">
                    <a:pos x="T8" y="T9"/>
                  </a:cxn>
                  <a:cxn ang="T17">
                    <a:pos x="T10" y="T11"/>
                  </a:cxn>
                </a:cxnLst>
                <a:rect l="T18" t="T19" r="T20" b="T21"/>
                <a:pathLst>
                  <a:path w="441" h="257">
                    <a:moveTo>
                      <a:pt x="440" y="0"/>
                    </a:moveTo>
                    <a:lnTo>
                      <a:pt x="440" y="0"/>
                    </a:lnTo>
                    <a:lnTo>
                      <a:pt x="0" y="246"/>
                    </a:lnTo>
                    <a:lnTo>
                      <a:pt x="3" y="256"/>
                    </a:lnTo>
                    <a:lnTo>
                      <a:pt x="440" y="6"/>
                    </a:lnTo>
                    <a:lnTo>
                      <a:pt x="440" y="0"/>
                    </a:lnTo>
                  </a:path>
                </a:pathLst>
              </a:custGeom>
              <a:solidFill>
                <a:srgbClr val="BDB597"/>
              </a:solidFill>
              <a:ln w="9525" cap="rnd">
                <a:noFill/>
                <a:round/>
              </a:ln>
            </p:spPr>
            <p:txBody>
              <a:bodyPr/>
              <a:lstStyle/>
              <a:p>
                <a:endParaRPr lang="zh-CN" altLang="en-US"/>
              </a:p>
            </p:txBody>
          </p:sp>
          <p:sp>
            <p:nvSpPr>
              <p:cNvPr id="10505" name="Freeform 165"/>
              <p:cNvSpPr/>
              <p:nvPr/>
            </p:nvSpPr>
            <p:spPr bwMode="auto">
              <a:xfrm>
                <a:off x="2355" y="2029"/>
                <a:ext cx="17" cy="55"/>
              </a:xfrm>
              <a:custGeom>
                <a:avLst/>
                <a:gdLst>
                  <a:gd name="T0" fmla="*/ 0 w 17"/>
                  <a:gd name="T1" fmla="*/ 54 h 55"/>
                  <a:gd name="T2" fmla="*/ 0 w 17"/>
                  <a:gd name="T3" fmla="*/ 54 h 55"/>
                  <a:gd name="T4" fmla="*/ 0 w 17"/>
                  <a:gd name="T5" fmla="*/ 45 h 55"/>
                  <a:gd name="T6" fmla="*/ 0 w 17"/>
                  <a:gd name="T7" fmla="*/ 27 h 55"/>
                  <a:gd name="T8" fmla="*/ 5 w 17"/>
                  <a:gd name="T9" fmla="*/ 18 h 55"/>
                  <a:gd name="T10" fmla="*/ 5 w 17"/>
                  <a:gd name="T11" fmla="*/ 9 h 55"/>
                  <a:gd name="T12" fmla="*/ 5 w 17"/>
                  <a:gd name="T13" fmla="*/ 6 h 55"/>
                  <a:gd name="T14" fmla="*/ 5 w 17"/>
                  <a:gd name="T15" fmla="*/ 2 h 55"/>
                  <a:gd name="T16" fmla="*/ 5 w 17"/>
                  <a:gd name="T17" fmla="*/ 0 h 55"/>
                  <a:gd name="T18" fmla="*/ 10 w 17"/>
                  <a:gd name="T19" fmla="*/ 0 h 55"/>
                  <a:gd name="T20" fmla="*/ 16 w 17"/>
                  <a:gd name="T21" fmla="*/ 0 h 55"/>
                  <a:gd name="T22" fmla="*/ 16 w 17"/>
                  <a:gd name="T23" fmla="*/ 24 h 55"/>
                  <a:gd name="T24" fmla="*/ 16 w 17"/>
                  <a:gd name="T25" fmla="*/ 42 h 55"/>
                  <a:gd name="T26" fmla="*/ 16 w 17"/>
                  <a:gd name="T27" fmla="*/ 47 h 55"/>
                  <a:gd name="T28" fmla="*/ 10 w 17"/>
                  <a:gd name="T29" fmla="*/ 47 h 55"/>
                  <a:gd name="T30" fmla="*/ 10 w 17"/>
                  <a:gd name="T31" fmla="*/ 51 h 55"/>
                  <a:gd name="T32" fmla="*/ 5 w 17"/>
                  <a:gd name="T33" fmla="*/ 51 h 55"/>
                  <a:gd name="T34" fmla="*/ 0 w 17"/>
                  <a:gd name="T35" fmla="*/ 54 h 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55"/>
                  <a:gd name="T56" fmla="*/ 17 w 17"/>
                  <a:gd name="T57" fmla="*/ 55 h 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55">
                    <a:moveTo>
                      <a:pt x="0" y="54"/>
                    </a:moveTo>
                    <a:lnTo>
                      <a:pt x="0" y="54"/>
                    </a:lnTo>
                    <a:lnTo>
                      <a:pt x="0" y="45"/>
                    </a:lnTo>
                    <a:lnTo>
                      <a:pt x="0" y="27"/>
                    </a:lnTo>
                    <a:lnTo>
                      <a:pt x="5" y="18"/>
                    </a:lnTo>
                    <a:lnTo>
                      <a:pt x="5" y="9"/>
                    </a:lnTo>
                    <a:lnTo>
                      <a:pt x="5" y="6"/>
                    </a:lnTo>
                    <a:lnTo>
                      <a:pt x="5" y="2"/>
                    </a:lnTo>
                    <a:lnTo>
                      <a:pt x="5" y="0"/>
                    </a:lnTo>
                    <a:lnTo>
                      <a:pt x="10" y="0"/>
                    </a:lnTo>
                    <a:lnTo>
                      <a:pt x="16" y="0"/>
                    </a:lnTo>
                    <a:lnTo>
                      <a:pt x="16" y="24"/>
                    </a:lnTo>
                    <a:lnTo>
                      <a:pt x="16" y="42"/>
                    </a:lnTo>
                    <a:lnTo>
                      <a:pt x="16" y="47"/>
                    </a:lnTo>
                    <a:lnTo>
                      <a:pt x="10" y="47"/>
                    </a:lnTo>
                    <a:lnTo>
                      <a:pt x="10" y="51"/>
                    </a:lnTo>
                    <a:lnTo>
                      <a:pt x="5" y="51"/>
                    </a:lnTo>
                    <a:lnTo>
                      <a:pt x="0" y="54"/>
                    </a:lnTo>
                  </a:path>
                </a:pathLst>
              </a:custGeom>
              <a:solidFill>
                <a:srgbClr val="BDB597"/>
              </a:solidFill>
              <a:ln w="9525" cap="rnd">
                <a:noFill/>
                <a:round/>
              </a:ln>
            </p:spPr>
            <p:txBody>
              <a:bodyPr/>
              <a:lstStyle/>
              <a:p>
                <a:endParaRPr lang="zh-CN" altLang="en-US"/>
              </a:p>
            </p:txBody>
          </p:sp>
          <p:sp>
            <p:nvSpPr>
              <p:cNvPr id="10506" name="Freeform 166"/>
              <p:cNvSpPr/>
              <p:nvPr/>
            </p:nvSpPr>
            <p:spPr bwMode="auto">
              <a:xfrm>
                <a:off x="2256" y="2083"/>
                <a:ext cx="17" cy="60"/>
              </a:xfrm>
              <a:custGeom>
                <a:avLst/>
                <a:gdLst>
                  <a:gd name="T0" fmla="*/ 0 w 17"/>
                  <a:gd name="T1" fmla="*/ 59 h 60"/>
                  <a:gd name="T2" fmla="*/ 0 w 17"/>
                  <a:gd name="T3" fmla="*/ 59 h 60"/>
                  <a:gd name="T4" fmla="*/ 0 w 17"/>
                  <a:gd name="T5" fmla="*/ 49 h 60"/>
                  <a:gd name="T6" fmla="*/ 0 w 17"/>
                  <a:gd name="T7" fmla="*/ 30 h 60"/>
                  <a:gd name="T8" fmla="*/ 0 w 17"/>
                  <a:gd name="T9" fmla="*/ 19 h 60"/>
                  <a:gd name="T10" fmla="*/ 0 w 17"/>
                  <a:gd name="T11" fmla="*/ 9 h 60"/>
                  <a:gd name="T12" fmla="*/ 5 w 17"/>
                  <a:gd name="T13" fmla="*/ 2 h 60"/>
                  <a:gd name="T14" fmla="*/ 5 w 17"/>
                  <a:gd name="T15" fmla="*/ 0 h 60"/>
                  <a:gd name="T16" fmla="*/ 10 w 17"/>
                  <a:gd name="T17" fmla="*/ 0 h 60"/>
                  <a:gd name="T18" fmla="*/ 16 w 17"/>
                  <a:gd name="T19" fmla="*/ 0 h 60"/>
                  <a:gd name="T20" fmla="*/ 16 w 17"/>
                  <a:gd name="T21" fmla="*/ 28 h 60"/>
                  <a:gd name="T22" fmla="*/ 16 w 17"/>
                  <a:gd name="T23" fmla="*/ 46 h 60"/>
                  <a:gd name="T24" fmla="*/ 16 w 17"/>
                  <a:gd name="T25" fmla="*/ 56 h 60"/>
                  <a:gd name="T26" fmla="*/ 10 w 17"/>
                  <a:gd name="T27" fmla="*/ 56 h 60"/>
                  <a:gd name="T28" fmla="*/ 5 w 17"/>
                  <a:gd name="T29" fmla="*/ 56 h 60"/>
                  <a:gd name="T30" fmla="*/ 5 w 17"/>
                  <a:gd name="T31" fmla="*/ 59 h 60"/>
                  <a:gd name="T32" fmla="*/ 0 w 17"/>
                  <a:gd name="T33" fmla="*/ 59 h 6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
                  <a:gd name="T52" fmla="*/ 0 h 60"/>
                  <a:gd name="T53" fmla="*/ 17 w 17"/>
                  <a:gd name="T54" fmla="*/ 60 h 6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 h="60">
                    <a:moveTo>
                      <a:pt x="0" y="59"/>
                    </a:moveTo>
                    <a:lnTo>
                      <a:pt x="0" y="59"/>
                    </a:lnTo>
                    <a:lnTo>
                      <a:pt x="0" y="49"/>
                    </a:lnTo>
                    <a:lnTo>
                      <a:pt x="0" y="30"/>
                    </a:lnTo>
                    <a:lnTo>
                      <a:pt x="0" y="19"/>
                    </a:lnTo>
                    <a:lnTo>
                      <a:pt x="0" y="9"/>
                    </a:lnTo>
                    <a:lnTo>
                      <a:pt x="5" y="2"/>
                    </a:lnTo>
                    <a:lnTo>
                      <a:pt x="5" y="0"/>
                    </a:lnTo>
                    <a:lnTo>
                      <a:pt x="10" y="0"/>
                    </a:lnTo>
                    <a:lnTo>
                      <a:pt x="16" y="0"/>
                    </a:lnTo>
                    <a:lnTo>
                      <a:pt x="16" y="28"/>
                    </a:lnTo>
                    <a:lnTo>
                      <a:pt x="16" y="46"/>
                    </a:lnTo>
                    <a:lnTo>
                      <a:pt x="16" y="56"/>
                    </a:lnTo>
                    <a:lnTo>
                      <a:pt x="10" y="56"/>
                    </a:lnTo>
                    <a:lnTo>
                      <a:pt x="5" y="56"/>
                    </a:lnTo>
                    <a:lnTo>
                      <a:pt x="5" y="59"/>
                    </a:lnTo>
                    <a:lnTo>
                      <a:pt x="0" y="59"/>
                    </a:lnTo>
                  </a:path>
                </a:pathLst>
              </a:custGeom>
              <a:solidFill>
                <a:srgbClr val="BDB597"/>
              </a:solidFill>
              <a:ln w="9525" cap="rnd">
                <a:noFill/>
                <a:round/>
              </a:ln>
            </p:spPr>
            <p:txBody>
              <a:bodyPr/>
              <a:lstStyle/>
              <a:p>
                <a:endParaRPr lang="zh-CN" altLang="en-US"/>
              </a:p>
            </p:txBody>
          </p:sp>
          <p:sp>
            <p:nvSpPr>
              <p:cNvPr id="10507" name="Freeform 167"/>
              <p:cNvSpPr/>
              <p:nvPr/>
            </p:nvSpPr>
            <p:spPr bwMode="auto">
              <a:xfrm>
                <a:off x="2147" y="2146"/>
                <a:ext cx="17" cy="63"/>
              </a:xfrm>
              <a:custGeom>
                <a:avLst/>
                <a:gdLst>
                  <a:gd name="T0" fmla="*/ 0 w 17"/>
                  <a:gd name="T1" fmla="*/ 62 h 63"/>
                  <a:gd name="T2" fmla="*/ 0 w 17"/>
                  <a:gd name="T3" fmla="*/ 62 h 63"/>
                  <a:gd name="T4" fmla="*/ 0 w 17"/>
                  <a:gd name="T5" fmla="*/ 52 h 63"/>
                  <a:gd name="T6" fmla="*/ 0 w 17"/>
                  <a:gd name="T7" fmla="*/ 31 h 63"/>
                  <a:gd name="T8" fmla="*/ 0 w 17"/>
                  <a:gd name="T9" fmla="*/ 18 h 63"/>
                  <a:gd name="T10" fmla="*/ 0 w 17"/>
                  <a:gd name="T11" fmla="*/ 9 h 63"/>
                  <a:gd name="T12" fmla="*/ 0 w 17"/>
                  <a:gd name="T13" fmla="*/ 6 h 63"/>
                  <a:gd name="T14" fmla="*/ 0 w 17"/>
                  <a:gd name="T15" fmla="*/ 2 h 63"/>
                  <a:gd name="T16" fmla="*/ 6 w 17"/>
                  <a:gd name="T17" fmla="*/ 2 h 63"/>
                  <a:gd name="T18" fmla="*/ 6 w 17"/>
                  <a:gd name="T19" fmla="*/ 0 h 63"/>
                  <a:gd name="T20" fmla="*/ 10 w 17"/>
                  <a:gd name="T21" fmla="*/ 0 h 63"/>
                  <a:gd name="T22" fmla="*/ 16 w 17"/>
                  <a:gd name="T23" fmla="*/ 0 h 63"/>
                  <a:gd name="T24" fmla="*/ 16 w 17"/>
                  <a:gd name="T25" fmla="*/ 28 h 63"/>
                  <a:gd name="T26" fmla="*/ 16 w 17"/>
                  <a:gd name="T27" fmla="*/ 46 h 63"/>
                  <a:gd name="T28" fmla="*/ 16 w 17"/>
                  <a:gd name="T29" fmla="*/ 55 h 63"/>
                  <a:gd name="T30" fmla="*/ 10 w 17"/>
                  <a:gd name="T31" fmla="*/ 55 h 63"/>
                  <a:gd name="T32" fmla="*/ 6 w 17"/>
                  <a:gd name="T33" fmla="*/ 55 h 63"/>
                  <a:gd name="T34" fmla="*/ 6 w 17"/>
                  <a:gd name="T35" fmla="*/ 59 h 63"/>
                  <a:gd name="T36" fmla="*/ 0 w 17"/>
                  <a:gd name="T37" fmla="*/ 62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63"/>
                  <a:gd name="T59" fmla="*/ 17 w 17"/>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63">
                    <a:moveTo>
                      <a:pt x="0" y="62"/>
                    </a:moveTo>
                    <a:lnTo>
                      <a:pt x="0" y="62"/>
                    </a:lnTo>
                    <a:lnTo>
                      <a:pt x="0" y="52"/>
                    </a:lnTo>
                    <a:lnTo>
                      <a:pt x="0" y="31"/>
                    </a:lnTo>
                    <a:lnTo>
                      <a:pt x="0" y="18"/>
                    </a:lnTo>
                    <a:lnTo>
                      <a:pt x="0" y="9"/>
                    </a:lnTo>
                    <a:lnTo>
                      <a:pt x="0" y="6"/>
                    </a:lnTo>
                    <a:lnTo>
                      <a:pt x="0" y="2"/>
                    </a:lnTo>
                    <a:lnTo>
                      <a:pt x="6" y="2"/>
                    </a:lnTo>
                    <a:lnTo>
                      <a:pt x="6" y="0"/>
                    </a:lnTo>
                    <a:lnTo>
                      <a:pt x="10" y="0"/>
                    </a:lnTo>
                    <a:lnTo>
                      <a:pt x="16" y="0"/>
                    </a:lnTo>
                    <a:lnTo>
                      <a:pt x="16" y="28"/>
                    </a:lnTo>
                    <a:lnTo>
                      <a:pt x="16" y="46"/>
                    </a:lnTo>
                    <a:lnTo>
                      <a:pt x="16" y="55"/>
                    </a:lnTo>
                    <a:lnTo>
                      <a:pt x="10" y="55"/>
                    </a:lnTo>
                    <a:lnTo>
                      <a:pt x="6" y="55"/>
                    </a:lnTo>
                    <a:lnTo>
                      <a:pt x="6" y="59"/>
                    </a:lnTo>
                    <a:lnTo>
                      <a:pt x="0" y="62"/>
                    </a:lnTo>
                  </a:path>
                </a:pathLst>
              </a:custGeom>
              <a:solidFill>
                <a:srgbClr val="BDB597"/>
              </a:solidFill>
              <a:ln w="9525" cap="rnd">
                <a:noFill/>
                <a:round/>
              </a:ln>
            </p:spPr>
            <p:txBody>
              <a:bodyPr/>
              <a:lstStyle/>
              <a:p>
                <a:endParaRPr lang="zh-CN" altLang="en-US"/>
              </a:p>
            </p:txBody>
          </p:sp>
          <p:sp>
            <p:nvSpPr>
              <p:cNvPr id="10508" name="Freeform 168"/>
              <p:cNvSpPr/>
              <p:nvPr/>
            </p:nvSpPr>
            <p:spPr bwMode="auto">
              <a:xfrm>
                <a:off x="2051" y="2167"/>
                <a:ext cx="47" cy="67"/>
              </a:xfrm>
              <a:custGeom>
                <a:avLst/>
                <a:gdLst>
                  <a:gd name="T0" fmla="*/ 46 w 47"/>
                  <a:gd name="T1" fmla="*/ 66 h 67"/>
                  <a:gd name="T2" fmla="*/ 46 w 47"/>
                  <a:gd name="T3" fmla="*/ 66 h 67"/>
                  <a:gd name="T4" fmla="*/ 0 w 47"/>
                  <a:gd name="T5" fmla="*/ 54 h 67"/>
                  <a:gd name="T6" fmla="*/ 0 w 47"/>
                  <a:gd name="T7" fmla="*/ 0 h 67"/>
                  <a:gd name="T8" fmla="*/ 46 w 47"/>
                  <a:gd name="T9" fmla="*/ 11 h 67"/>
                  <a:gd name="T10" fmla="*/ 46 w 47"/>
                  <a:gd name="T11" fmla="*/ 66 h 67"/>
                  <a:gd name="T12" fmla="*/ 0 60000 65536"/>
                  <a:gd name="T13" fmla="*/ 0 60000 65536"/>
                  <a:gd name="T14" fmla="*/ 0 60000 65536"/>
                  <a:gd name="T15" fmla="*/ 0 60000 65536"/>
                  <a:gd name="T16" fmla="*/ 0 60000 65536"/>
                  <a:gd name="T17" fmla="*/ 0 60000 65536"/>
                  <a:gd name="T18" fmla="*/ 0 w 47"/>
                  <a:gd name="T19" fmla="*/ 0 h 67"/>
                  <a:gd name="T20" fmla="*/ 47 w 47"/>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47" h="67">
                    <a:moveTo>
                      <a:pt x="46" y="66"/>
                    </a:moveTo>
                    <a:lnTo>
                      <a:pt x="46" y="66"/>
                    </a:lnTo>
                    <a:lnTo>
                      <a:pt x="0" y="54"/>
                    </a:lnTo>
                    <a:lnTo>
                      <a:pt x="0" y="0"/>
                    </a:lnTo>
                    <a:lnTo>
                      <a:pt x="46" y="11"/>
                    </a:lnTo>
                    <a:lnTo>
                      <a:pt x="46" y="66"/>
                    </a:lnTo>
                  </a:path>
                </a:pathLst>
              </a:custGeom>
              <a:solidFill>
                <a:srgbClr val="9E0005"/>
              </a:solidFill>
              <a:ln w="9525" cap="rnd">
                <a:noFill/>
                <a:round/>
              </a:ln>
            </p:spPr>
            <p:txBody>
              <a:bodyPr/>
              <a:lstStyle/>
              <a:p>
                <a:endParaRPr lang="zh-CN" altLang="en-US"/>
              </a:p>
            </p:txBody>
          </p:sp>
          <p:sp>
            <p:nvSpPr>
              <p:cNvPr id="10509" name="Freeform 169"/>
              <p:cNvSpPr/>
              <p:nvPr/>
            </p:nvSpPr>
            <p:spPr bwMode="auto">
              <a:xfrm>
                <a:off x="2051" y="2224"/>
                <a:ext cx="47" cy="20"/>
              </a:xfrm>
              <a:custGeom>
                <a:avLst/>
                <a:gdLst>
                  <a:gd name="T0" fmla="*/ 43 w 47"/>
                  <a:gd name="T1" fmla="*/ 19 h 20"/>
                  <a:gd name="T2" fmla="*/ 43 w 47"/>
                  <a:gd name="T3" fmla="*/ 19 h 20"/>
                  <a:gd name="T4" fmla="*/ 46 w 47"/>
                  <a:gd name="T5" fmla="*/ 19 h 20"/>
                  <a:gd name="T6" fmla="*/ 46 w 47"/>
                  <a:gd name="T7" fmla="*/ 16 h 20"/>
                  <a:gd name="T8" fmla="*/ 46 w 47"/>
                  <a:gd name="T9" fmla="*/ 13 h 20"/>
                  <a:gd name="T10" fmla="*/ 46 w 47"/>
                  <a:gd name="T11" fmla="*/ 10 h 20"/>
                  <a:gd name="T12" fmla="*/ 24 w 47"/>
                  <a:gd name="T13" fmla="*/ 5 h 20"/>
                  <a:gd name="T14" fmla="*/ 0 w 47"/>
                  <a:gd name="T15" fmla="*/ 0 h 20"/>
                  <a:gd name="T16" fmla="*/ 0 w 47"/>
                  <a:gd name="T17" fmla="*/ 2 h 20"/>
                  <a:gd name="T18" fmla="*/ 0 w 47"/>
                  <a:gd name="T19" fmla="*/ 5 h 20"/>
                  <a:gd name="T20" fmla="*/ 0 w 47"/>
                  <a:gd name="T21" fmla="*/ 8 h 20"/>
                  <a:gd name="T22" fmla="*/ 5 w 47"/>
                  <a:gd name="T23" fmla="*/ 8 h 20"/>
                  <a:gd name="T24" fmla="*/ 13 w 47"/>
                  <a:gd name="T25" fmla="*/ 8 h 20"/>
                  <a:gd name="T26" fmla="*/ 21 w 47"/>
                  <a:gd name="T27" fmla="*/ 10 h 20"/>
                  <a:gd name="T28" fmla="*/ 29 w 47"/>
                  <a:gd name="T29" fmla="*/ 13 h 20"/>
                  <a:gd name="T30" fmla="*/ 35 w 47"/>
                  <a:gd name="T31" fmla="*/ 13 h 20"/>
                  <a:gd name="T32" fmla="*/ 37 w 47"/>
                  <a:gd name="T33" fmla="*/ 16 h 20"/>
                  <a:gd name="T34" fmla="*/ 40 w 47"/>
                  <a:gd name="T35" fmla="*/ 16 h 20"/>
                  <a:gd name="T36" fmla="*/ 43 w 47"/>
                  <a:gd name="T37" fmla="*/ 16 h 20"/>
                  <a:gd name="T38" fmla="*/ 43 w 47"/>
                  <a:gd name="T39" fmla="*/ 19 h 2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7"/>
                  <a:gd name="T61" fmla="*/ 0 h 20"/>
                  <a:gd name="T62" fmla="*/ 47 w 47"/>
                  <a:gd name="T63" fmla="*/ 20 h 2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7" h="20">
                    <a:moveTo>
                      <a:pt x="43" y="19"/>
                    </a:moveTo>
                    <a:lnTo>
                      <a:pt x="43" y="19"/>
                    </a:lnTo>
                    <a:lnTo>
                      <a:pt x="46" y="19"/>
                    </a:lnTo>
                    <a:lnTo>
                      <a:pt x="46" y="16"/>
                    </a:lnTo>
                    <a:lnTo>
                      <a:pt x="46" y="13"/>
                    </a:lnTo>
                    <a:lnTo>
                      <a:pt x="46" y="10"/>
                    </a:lnTo>
                    <a:lnTo>
                      <a:pt x="24" y="5"/>
                    </a:lnTo>
                    <a:lnTo>
                      <a:pt x="0" y="0"/>
                    </a:lnTo>
                    <a:lnTo>
                      <a:pt x="0" y="2"/>
                    </a:lnTo>
                    <a:lnTo>
                      <a:pt x="0" y="5"/>
                    </a:lnTo>
                    <a:lnTo>
                      <a:pt x="0" y="8"/>
                    </a:lnTo>
                    <a:lnTo>
                      <a:pt x="5" y="8"/>
                    </a:lnTo>
                    <a:lnTo>
                      <a:pt x="13" y="8"/>
                    </a:lnTo>
                    <a:lnTo>
                      <a:pt x="21" y="10"/>
                    </a:lnTo>
                    <a:lnTo>
                      <a:pt x="29" y="13"/>
                    </a:lnTo>
                    <a:lnTo>
                      <a:pt x="35" y="13"/>
                    </a:lnTo>
                    <a:lnTo>
                      <a:pt x="37" y="16"/>
                    </a:lnTo>
                    <a:lnTo>
                      <a:pt x="40" y="16"/>
                    </a:lnTo>
                    <a:lnTo>
                      <a:pt x="43" y="16"/>
                    </a:lnTo>
                    <a:lnTo>
                      <a:pt x="43" y="19"/>
                    </a:lnTo>
                  </a:path>
                </a:pathLst>
              </a:custGeom>
              <a:solidFill>
                <a:srgbClr val="BDB597"/>
              </a:solidFill>
              <a:ln w="9525" cap="rnd">
                <a:noFill/>
                <a:round/>
              </a:ln>
            </p:spPr>
            <p:txBody>
              <a:bodyPr/>
              <a:lstStyle/>
              <a:p>
                <a:endParaRPr lang="zh-CN" altLang="en-US"/>
              </a:p>
            </p:txBody>
          </p:sp>
          <p:sp>
            <p:nvSpPr>
              <p:cNvPr id="10510" name="Freeform 170"/>
              <p:cNvSpPr/>
              <p:nvPr/>
            </p:nvSpPr>
            <p:spPr bwMode="auto">
              <a:xfrm>
                <a:off x="2051" y="2157"/>
                <a:ext cx="47" cy="23"/>
              </a:xfrm>
              <a:custGeom>
                <a:avLst/>
                <a:gdLst>
                  <a:gd name="T0" fmla="*/ 46 w 47"/>
                  <a:gd name="T1" fmla="*/ 22 h 23"/>
                  <a:gd name="T2" fmla="*/ 46 w 47"/>
                  <a:gd name="T3" fmla="*/ 22 h 23"/>
                  <a:gd name="T4" fmla="*/ 46 w 47"/>
                  <a:gd name="T5" fmla="*/ 19 h 23"/>
                  <a:gd name="T6" fmla="*/ 46 w 47"/>
                  <a:gd name="T7" fmla="*/ 14 h 23"/>
                  <a:gd name="T8" fmla="*/ 21 w 47"/>
                  <a:gd name="T9" fmla="*/ 7 h 23"/>
                  <a:gd name="T10" fmla="*/ 8 w 47"/>
                  <a:gd name="T11" fmla="*/ 2 h 23"/>
                  <a:gd name="T12" fmla="*/ 2 w 47"/>
                  <a:gd name="T13" fmla="*/ 0 h 23"/>
                  <a:gd name="T14" fmla="*/ 0 w 47"/>
                  <a:gd name="T15" fmla="*/ 0 h 23"/>
                  <a:gd name="T16" fmla="*/ 0 w 47"/>
                  <a:gd name="T17" fmla="*/ 2 h 23"/>
                  <a:gd name="T18" fmla="*/ 0 w 47"/>
                  <a:gd name="T19" fmla="*/ 5 h 23"/>
                  <a:gd name="T20" fmla="*/ 0 w 47"/>
                  <a:gd name="T21" fmla="*/ 7 h 23"/>
                  <a:gd name="T22" fmla="*/ 2 w 47"/>
                  <a:gd name="T23" fmla="*/ 7 h 23"/>
                  <a:gd name="T24" fmla="*/ 5 w 47"/>
                  <a:gd name="T25" fmla="*/ 11 h 23"/>
                  <a:gd name="T26" fmla="*/ 21 w 47"/>
                  <a:gd name="T27" fmla="*/ 14 h 23"/>
                  <a:gd name="T28" fmla="*/ 24 w 47"/>
                  <a:gd name="T29" fmla="*/ 14 h 23"/>
                  <a:gd name="T30" fmla="*/ 29 w 47"/>
                  <a:gd name="T31" fmla="*/ 14 h 23"/>
                  <a:gd name="T32" fmla="*/ 32 w 47"/>
                  <a:gd name="T33" fmla="*/ 16 h 23"/>
                  <a:gd name="T34" fmla="*/ 35 w 47"/>
                  <a:gd name="T35" fmla="*/ 16 h 23"/>
                  <a:gd name="T36" fmla="*/ 40 w 47"/>
                  <a:gd name="T37" fmla="*/ 19 h 23"/>
                  <a:gd name="T38" fmla="*/ 43 w 47"/>
                  <a:gd name="T39" fmla="*/ 19 h 23"/>
                  <a:gd name="T40" fmla="*/ 46 w 47"/>
                  <a:gd name="T41" fmla="*/ 22 h 2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7"/>
                  <a:gd name="T64" fmla="*/ 0 h 23"/>
                  <a:gd name="T65" fmla="*/ 47 w 47"/>
                  <a:gd name="T66" fmla="*/ 23 h 2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7" h="23">
                    <a:moveTo>
                      <a:pt x="46" y="22"/>
                    </a:moveTo>
                    <a:lnTo>
                      <a:pt x="46" y="22"/>
                    </a:lnTo>
                    <a:lnTo>
                      <a:pt x="46" y="19"/>
                    </a:lnTo>
                    <a:lnTo>
                      <a:pt x="46" y="14"/>
                    </a:lnTo>
                    <a:lnTo>
                      <a:pt x="21" y="7"/>
                    </a:lnTo>
                    <a:lnTo>
                      <a:pt x="8" y="2"/>
                    </a:lnTo>
                    <a:lnTo>
                      <a:pt x="2" y="0"/>
                    </a:lnTo>
                    <a:lnTo>
                      <a:pt x="0" y="0"/>
                    </a:lnTo>
                    <a:lnTo>
                      <a:pt x="0" y="2"/>
                    </a:lnTo>
                    <a:lnTo>
                      <a:pt x="0" y="5"/>
                    </a:lnTo>
                    <a:lnTo>
                      <a:pt x="0" y="7"/>
                    </a:lnTo>
                    <a:lnTo>
                      <a:pt x="2" y="7"/>
                    </a:lnTo>
                    <a:lnTo>
                      <a:pt x="5" y="11"/>
                    </a:lnTo>
                    <a:lnTo>
                      <a:pt x="21" y="14"/>
                    </a:lnTo>
                    <a:lnTo>
                      <a:pt x="24" y="14"/>
                    </a:lnTo>
                    <a:lnTo>
                      <a:pt x="29" y="14"/>
                    </a:lnTo>
                    <a:lnTo>
                      <a:pt x="32" y="16"/>
                    </a:lnTo>
                    <a:lnTo>
                      <a:pt x="35" y="16"/>
                    </a:lnTo>
                    <a:lnTo>
                      <a:pt x="40" y="19"/>
                    </a:lnTo>
                    <a:lnTo>
                      <a:pt x="43" y="19"/>
                    </a:lnTo>
                    <a:lnTo>
                      <a:pt x="46" y="22"/>
                    </a:lnTo>
                  </a:path>
                </a:pathLst>
              </a:custGeom>
              <a:solidFill>
                <a:srgbClr val="BDB597"/>
              </a:solidFill>
              <a:ln w="9525" cap="rnd">
                <a:noFill/>
                <a:round/>
              </a:ln>
            </p:spPr>
            <p:txBody>
              <a:bodyPr/>
              <a:lstStyle/>
              <a:p>
                <a:endParaRPr lang="zh-CN" altLang="en-US"/>
              </a:p>
            </p:txBody>
          </p:sp>
        </p:grpSp>
        <p:sp>
          <p:nvSpPr>
            <p:cNvPr id="10433" name="Freeform 171"/>
            <p:cNvSpPr/>
            <p:nvPr/>
          </p:nvSpPr>
          <p:spPr bwMode="auto">
            <a:xfrm>
              <a:off x="2499" y="1870"/>
              <a:ext cx="40" cy="71"/>
            </a:xfrm>
            <a:custGeom>
              <a:avLst/>
              <a:gdLst>
                <a:gd name="T0" fmla="*/ 0 w 40"/>
                <a:gd name="T1" fmla="*/ 70 h 71"/>
                <a:gd name="T2" fmla="*/ 0 w 40"/>
                <a:gd name="T3" fmla="*/ 70 h 71"/>
                <a:gd name="T4" fmla="*/ 2 w 40"/>
                <a:gd name="T5" fmla="*/ 17 h 71"/>
                <a:gd name="T6" fmla="*/ 39 w 40"/>
                <a:gd name="T7" fmla="*/ 0 h 71"/>
                <a:gd name="T8" fmla="*/ 36 w 40"/>
                <a:gd name="T9" fmla="*/ 48 h 71"/>
                <a:gd name="T10" fmla="*/ 0 w 40"/>
                <a:gd name="T11" fmla="*/ 70 h 71"/>
                <a:gd name="T12" fmla="*/ 0 60000 65536"/>
                <a:gd name="T13" fmla="*/ 0 60000 65536"/>
                <a:gd name="T14" fmla="*/ 0 60000 65536"/>
                <a:gd name="T15" fmla="*/ 0 60000 65536"/>
                <a:gd name="T16" fmla="*/ 0 60000 65536"/>
                <a:gd name="T17" fmla="*/ 0 60000 65536"/>
                <a:gd name="T18" fmla="*/ 0 w 40"/>
                <a:gd name="T19" fmla="*/ 0 h 71"/>
                <a:gd name="T20" fmla="*/ 40 w 40"/>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40" h="71">
                  <a:moveTo>
                    <a:pt x="0" y="70"/>
                  </a:moveTo>
                  <a:lnTo>
                    <a:pt x="0" y="70"/>
                  </a:lnTo>
                  <a:lnTo>
                    <a:pt x="2" y="17"/>
                  </a:lnTo>
                  <a:lnTo>
                    <a:pt x="39" y="0"/>
                  </a:lnTo>
                  <a:lnTo>
                    <a:pt x="36" y="48"/>
                  </a:lnTo>
                  <a:lnTo>
                    <a:pt x="0" y="70"/>
                  </a:lnTo>
                </a:path>
              </a:pathLst>
            </a:custGeom>
            <a:solidFill>
              <a:srgbClr val="BB1A50"/>
            </a:solidFill>
            <a:ln w="9525" cap="rnd">
              <a:noFill/>
              <a:round/>
            </a:ln>
          </p:spPr>
          <p:txBody>
            <a:bodyPr/>
            <a:lstStyle/>
            <a:p>
              <a:endParaRPr lang="zh-CN" altLang="en-US"/>
            </a:p>
          </p:txBody>
        </p:sp>
        <p:sp>
          <p:nvSpPr>
            <p:cNvPr id="10434" name="Freeform 172"/>
            <p:cNvSpPr/>
            <p:nvPr/>
          </p:nvSpPr>
          <p:spPr bwMode="auto">
            <a:xfrm>
              <a:off x="2468" y="1872"/>
              <a:ext cx="33" cy="69"/>
            </a:xfrm>
            <a:custGeom>
              <a:avLst/>
              <a:gdLst>
                <a:gd name="T0" fmla="*/ 29 w 33"/>
                <a:gd name="T1" fmla="*/ 68 h 69"/>
                <a:gd name="T2" fmla="*/ 29 w 33"/>
                <a:gd name="T3" fmla="*/ 68 h 69"/>
                <a:gd name="T4" fmla="*/ 0 w 33"/>
                <a:gd name="T5" fmla="*/ 49 h 69"/>
                <a:gd name="T6" fmla="*/ 2 w 33"/>
                <a:gd name="T7" fmla="*/ 0 h 69"/>
                <a:gd name="T8" fmla="*/ 32 w 33"/>
                <a:gd name="T9" fmla="*/ 15 h 69"/>
                <a:gd name="T10" fmla="*/ 29 w 33"/>
                <a:gd name="T11" fmla="*/ 68 h 69"/>
                <a:gd name="T12" fmla="*/ 0 60000 65536"/>
                <a:gd name="T13" fmla="*/ 0 60000 65536"/>
                <a:gd name="T14" fmla="*/ 0 60000 65536"/>
                <a:gd name="T15" fmla="*/ 0 60000 65536"/>
                <a:gd name="T16" fmla="*/ 0 60000 65536"/>
                <a:gd name="T17" fmla="*/ 0 60000 65536"/>
                <a:gd name="T18" fmla="*/ 0 w 33"/>
                <a:gd name="T19" fmla="*/ 0 h 69"/>
                <a:gd name="T20" fmla="*/ 33 w 33"/>
                <a:gd name="T21" fmla="*/ 69 h 69"/>
              </a:gdLst>
              <a:ahLst/>
              <a:cxnLst>
                <a:cxn ang="T12">
                  <a:pos x="T0" y="T1"/>
                </a:cxn>
                <a:cxn ang="T13">
                  <a:pos x="T2" y="T3"/>
                </a:cxn>
                <a:cxn ang="T14">
                  <a:pos x="T4" y="T5"/>
                </a:cxn>
                <a:cxn ang="T15">
                  <a:pos x="T6" y="T7"/>
                </a:cxn>
                <a:cxn ang="T16">
                  <a:pos x="T8" y="T9"/>
                </a:cxn>
                <a:cxn ang="T17">
                  <a:pos x="T10" y="T11"/>
                </a:cxn>
              </a:cxnLst>
              <a:rect l="T18" t="T19" r="T20" b="T21"/>
              <a:pathLst>
                <a:path w="33" h="69">
                  <a:moveTo>
                    <a:pt x="29" y="68"/>
                  </a:moveTo>
                  <a:lnTo>
                    <a:pt x="29" y="68"/>
                  </a:lnTo>
                  <a:lnTo>
                    <a:pt x="0" y="49"/>
                  </a:lnTo>
                  <a:lnTo>
                    <a:pt x="2" y="0"/>
                  </a:lnTo>
                  <a:lnTo>
                    <a:pt x="32" y="15"/>
                  </a:lnTo>
                  <a:lnTo>
                    <a:pt x="29" y="68"/>
                  </a:lnTo>
                </a:path>
              </a:pathLst>
            </a:custGeom>
            <a:solidFill>
              <a:srgbClr val="9E0005"/>
            </a:solidFill>
            <a:ln w="9525" cap="rnd">
              <a:noFill/>
              <a:round/>
            </a:ln>
          </p:spPr>
          <p:txBody>
            <a:bodyPr/>
            <a:lstStyle/>
            <a:p>
              <a:endParaRPr lang="zh-CN" altLang="en-US"/>
            </a:p>
          </p:txBody>
        </p:sp>
        <p:sp>
          <p:nvSpPr>
            <p:cNvPr id="10435" name="Freeform 173"/>
            <p:cNvSpPr/>
            <p:nvPr/>
          </p:nvSpPr>
          <p:spPr bwMode="auto">
            <a:xfrm>
              <a:off x="2471" y="1853"/>
              <a:ext cx="69" cy="33"/>
            </a:xfrm>
            <a:custGeom>
              <a:avLst/>
              <a:gdLst>
                <a:gd name="T0" fmla="*/ 29 w 69"/>
                <a:gd name="T1" fmla="*/ 32 h 33"/>
                <a:gd name="T2" fmla="*/ 29 w 69"/>
                <a:gd name="T3" fmla="*/ 32 h 33"/>
                <a:gd name="T4" fmla="*/ 0 w 69"/>
                <a:gd name="T5" fmla="*/ 17 h 33"/>
                <a:gd name="T6" fmla="*/ 35 w 69"/>
                <a:gd name="T7" fmla="*/ 0 h 33"/>
                <a:gd name="T8" fmla="*/ 68 w 69"/>
                <a:gd name="T9" fmla="*/ 14 h 33"/>
                <a:gd name="T10" fmla="*/ 29 w 69"/>
                <a:gd name="T11" fmla="*/ 32 h 33"/>
                <a:gd name="T12" fmla="*/ 0 60000 65536"/>
                <a:gd name="T13" fmla="*/ 0 60000 65536"/>
                <a:gd name="T14" fmla="*/ 0 60000 65536"/>
                <a:gd name="T15" fmla="*/ 0 60000 65536"/>
                <a:gd name="T16" fmla="*/ 0 60000 65536"/>
                <a:gd name="T17" fmla="*/ 0 60000 65536"/>
                <a:gd name="T18" fmla="*/ 0 w 69"/>
                <a:gd name="T19" fmla="*/ 0 h 33"/>
                <a:gd name="T20" fmla="*/ 69 w 69"/>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69" h="33">
                  <a:moveTo>
                    <a:pt x="29" y="32"/>
                  </a:moveTo>
                  <a:lnTo>
                    <a:pt x="29" y="32"/>
                  </a:lnTo>
                  <a:lnTo>
                    <a:pt x="0" y="17"/>
                  </a:lnTo>
                  <a:lnTo>
                    <a:pt x="35" y="0"/>
                  </a:lnTo>
                  <a:lnTo>
                    <a:pt x="68" y="14"/>
                  </a:lnTo>
                  <a:lnTo>
                    <a:pt x="29" y="32"/>
                  </a:lnTo>
                </a:path>
              </a:pathLst>
            </a:custGeom>
            <a:solidFill>
              <a:srgbClr val="CF5C82"/>
            </a:solidFill>
            <a:ln w="9525" cap="rnd">
              <a:noFill/>
              <a:round/>
            </a:ln>
          </p:spPr>
          <p:txBody>
            <a:bodyPr/>
            <a:lstStyle/>
            <a:p>
              <a:endParaRPr lang="zh-CN" altLang="en-US"/>
            </a:p>
          </p:txBody>
        </p:sp>
        <p:grpSp>
          <p:nvGrpSpPr>
            <p:cNvPr id="28" name="Group 174"/>
            <p:cNvGrpSpPr/>
            <p:nvPr/>
          </p:nvGrpSpPr>
          <p:grpSpPr bwMode="auto">
            <a:xfrm>
              <a:off x="2375" y="1880"/>
              <a:ext cx="123" cy="112"/>
              <a:chOff x="2375" y="1880"/>
              <a:chExt cx="123" cy="112"/>
            </a:xfrm>
          </p:grpSpPr>
          <p:sp>
            <p:nvSpPr>
              <p:cNvPr id="10482" name="Freeform 175"/>
              <p:cNvSpPr/>
              <p:nvPr/>
            </p:nvSpPr>
            <p:spPr bwMode="auto">
              <a:xfrm>
                <a:off x="2412" y="1895"/>
                <a:ext cx="86" cy="97"/>
              </a:xfrm>
              <a:custGeom>
                <a:avLst/>
                <a:gdLst>
                  <a:gd name="T0" fmla="*/ 0 w 86"/>
                  <a:gd name="T1" fmla="*/ 96 h 97"/>
                  <a:gd name="T2" fmla="*/ 0 w 86"/>
                  <a:gd name="T3" fmla="*/ 96 h 97"/>
                  <a:gd name="T4" fmla="*/ 2 w 86"/>
                  <a:gd name="T5" fmla="*/ 43 h 97"/>
                  <a:gd name="T6" fmla="*/ 85 w 86"/>
                  <a:gd name="T7" fmla="*/ 0 h 97"/>
                  <a:gd name="T8" fmla="*/ 82 w 86"/>
                  <a:gd name="T9" fmla="*/ 49 h 97"/>
                  <a:gd name="T10" fmla="*/ 0 w 86"/>
                  <a:gd name="T11" fmla="*/ 96 h 97"/>
                  <a:gd name="T12" fmla="*/ 0 60000 65536"/>
                  <a:gd name="T13" fmla="*/ 0 60000 65536"/>
                  <a:gd name="T14" fmla="*/ 0 60000 65536"/>
                  <a:gd name="T15" fmla="*/ 0 60000 65536"/>
                  <a:gd name="T16" fmla="*/ 0 60000 65536"/>
                  <a:gd name="T17" fmla="*/ 0 60000 65536"/>
                  <a:gd name="T18" fmla="*/ 0 w 86"/>
                  <a:gd name="T19" fmla="*/ 0 h 97"/>
                  <a:gd name="T20" fmla="*/ 86 w 86"/>
                  <a:gd name="T21" fmla="*/ 97 h 97"/>
                </a:gdLst>
                <a:ahLst/>
                <a:cxnLst>
                  <a:cxn ang="T12">
                    <a:pos x="T0" y="T1"/>
                  </a:cxn>
                  <a:cxn ang="T13">
                    <a:pos x="T2" y="T3"/>
                  </a:cxn>
                  <a:cxn ang="T14">
                    <a:pos x="T4" y="T5"/>
                  </a:cxn>
                  <a:cxn ang="T15">
                    <a:pos x="T6" y="T7"/>
                  </a:cxn>
                  <a:cxn ang="T16">
                    <a:pos x="T8" y="T9"/>
                  </a:cxn>
                  <a:cxn ang="T17">
                    <a:pos x="T10" y="T11"/>
                  </a:cxn>
                </a:cxnLst>
                <a:rect l="T18" t="T19" r="T20" b="T21"/>
                <a:pathLst>
                  <a:path w="86" h="97">
                    <a:moveTo>
                      <a:pt x="0" y="96"/>
                    </a:moveTo>
                    <a:lnTo>
                      <a:pt x="0" y="96"/>
                    </a:lnTo>
                    <a:lnTo>
                      <a:pt x="2" y="43"/>
                    </a:lnTo>
                    <a:lnTo>
                      <a:pt x="85" y="0"/>
                    </a:lnTo>
                    <a:lnTo>
                      <a:pt x="82" y="49"/>
                    </a:lnTo>
                    <a:lnTo>
                      <a:pt x="0" y="96"/>
                    </a:lnTo>
                  </a:path>
                </a:pathLst>
              </a:custGeom>
              <a:solidFill>
                <a:srgbClr val="BB1A50"/>
              </a:solidFill>
              <a:ln w="9525" cap="rnd">
                <a:noFill/>
                <a:round/>
              </a:ln>
            </p:spPr>
            <p:txBody>
              <a:bodyPr/>
              <a:lstStyle/>
              <a:p>
                <a:endParaRPr lang="zh-CN" altLang="en-US"/>
              </a:p>
            </p:txBody>
          </p:sp>
          <p:sp>
            <p:nvSpPr>
              <p:cNvPr id="10483" name="Freeform 176"/>
              <p:cNvSpPr/>
              <p:nvPr/>
            </p:nvSpPr>
            <p:spPr bwMode="auto">
              <a:xfrm>
                <a:off x="2375" y="1924"/>
                <a:ext cx="38" cy="68"/>
              </a:xfrm>
              <a:custGeom>
                <a:avLst/>
                <a:gdLst>
                  <a:gd name="T0" fmla="*/ 34 w 38"/>
                  <a:gd name="T1" fmla="*/ 67 h 68"/>
                  <a:gd name="T2" fmla="*/ 34 w 38"/>
                  <a:gd name="T3" fmla="*/ 67 h 68"/>
                  <a:gd name="T4" fmla="*/ 0 w 38"/>
                  <a:gd name="T5" fmla="*/ 51 h 68"/>
                  <a:gd name="T6" fmla="*/ 2 w 38"/>
                  <a:gd name="T7" fmla="*/ 0 h 68"/>
                  <a:gd name="T8" fmla="*/ 37 w 38"/>
                  <a:gd name="T9" fmla="*/ 15 h 68"/>
                  <a:gd name="T10" fmla="*/ 34 w 38"/>
                  <a:gd name="T11" fmla="*/ 67 h 68"/>
                  <a:gd name="T12" fmla="*/ 0 60000 65536"/>
                  <a:gd name="T13" fmla="*/ 0 60000 65536"/>
                  <a:gd name="T14" fmla="*/ 0 60000 65536"/>
                  <a:gd name="T15" fmla="*/ 0 60000 65536"/>
                  <a:gd name="T16" fmla="*/ 0 60000 65536"/>
                  <a:gd name="T17" fmla="*/ 0 60000 65536"/>
                  <a:gd name="T18" fmla="*/ 0 w 38"/>
                  <a:gd name="T19" fmla="*/ 0 h 68"/>
                  <a:gd name="T20" fmla="*/ 38 w 38"/>
                  <a:gd name="T21" fmla="*/ 68 h 68"/>
                </a:gdLst>
                <a:ahLst/>
                <a:cxnLst>
                  <a:cxn ang="T12">
                    <a:pos x="T0" y="T1"/>
                  </a:cxn>
                  <a:cxn ang="T13">
                    <a:pos x="T2" y="T3"/>
                  </a:cxn>
                  <a:cxn ang="T14">
                    <a:pos x="T4" y="T5"/>
                  </a:cxn>
                  <a:cxn ang="T15">
                    <a:pos x="T6" y="T7"/>
                  </a:cxn>
                  <a:cxn ang="T16">
                    <a:pos x="T8" y="T9"/>
                  </a:cxn>
                  <a:cxn ang="T17">
                    <a:pos x="T10" y="T11"/>
                  </a:cxn>
                </a:cxnLst>
                <a:rect l="T18" t="T19" r="T20" b="T21"/>
                <a:pathLst>
                  <a:path w="38" h="68">
                    <a:moveTo>
                      <a:pt x="34" y="67"/>
                    </a:moveTo>
                    <a:lnTo>
                      <a:pt x="34" y="67"/>
                    </a:lnTo>
                    <a:lnTo>
                      <a:pt x="0" y="51"/>
                    </a:lnTo>
                    <a:lnTo>
                      <a:pt x="2" y="0"/>
                    </a:lnTo>
                    <a:lnTo>
                      <a:pt x="37" y="15"/>
                    </a:lnTo>
                    <a:lnTo>
                      <a:pt x="34" y="67"/>
                    </a:lnTo>
                  </a:path>
                </a:pathLst>
              </a:custGeom>
              <a:solidFill>
                <a:srgbClr val="9E0005"/>
              </a:solidFill>
              <a:ln w="9525" cap="rnd">
                <a:noFill/>
                <a:round/>
              </a:ln>
            </p:spPr>
            <p:txBody>
              <a:bodyPr/>
              <a:lstStyle/>
              <a:p>
                <a:endParaRPr lang="zh-CN" altLang="en-US"/>
              </a:p>
            </p:txBody>
          </p:sp>
          <p:sp>
            <p:nvSpPr>
              <p:cNvPr id="10484" name="Freeform 177"/>
              <p:cNvSpPr/>
              <p:nvPr/>
            </p:nvSpPr>
            <p:spPr bwMode="auto">
              <a:xfrm>
                <a:off x="2377" y="1880"/>
                <a:ext cx="121" cy="57"/>
              </a:xfrm>
              <a:custGeom>
                <a:avLst/>
                <a:gdLst>
                  <a:gd name="T0" fmla="*/ 36 w 121"/>
                  <a:gd name="T1" fmla="*/ 56 h 57"/>
                  <a:gd name="T2" fmla="*/ 36 w 121"/>
                  <a:gd name="T3" fmla="*/ 56 h 57"/>
                  <a:gd name="T4" fmla="*/ 0 w 121"/>
                  <a:gd name="T5" fmla="*/ 38 h 57"/>
                  <a:gd name="T6" fmla="*/ 86 w 121"/>
                  <a:gd name="T7" fmla="*/ 0 h 57"/>
                  <a:gd name="T8" fmla="*/ 120 w 121"/>
                  <a:gd name="T9" fmla="*/ 15 h 57"/>
                  <a:gd name="T10" fmla="*/ 36 w 121"/>
                  <a:gd name="T11" fmla="*/ 56 h 57"/>
                  <a:gd name="T12" fmla="*/ 0 60000 65536"/>
                  <a:gd name="T13" fmla="*/ 0 60000 65536"/>
                  <a:gd name="T14" fmla="*/ 0 60000 65536"/>
                  <a:gd name="T15" fmla="*/ 0 60000 65536"/>
                  <a:gd name="T16" fmla="*/ 0 60000 65536"/>
                  <a:gd name="T17" fmla="*/ 0 60000 65536"/>
                  <a:gd name="T18" fmla="*/ 0 w 121"/>
                  <a:gd name="T19" fmla="*/ 0 h 57"/>
                  <a:gd name="T20" fmla="*/ 121 w 121"/>
                  <a:gd name="T21" fmla="*/ 57 h 57"/>
                </a:gdLst>
                <a:ahLst/>
                <a:cxnLst>
                  <a:cxn ang="T12">
                    <a:pos x="T0" y="T1"/>
                  </a:cxn>
                  <a:cxn ang="T13">
                    <a:pos x="T2" y="T3"/>
                  </a:cxn>
                  <a:cxn ang="T14">
                    <a:pos x="T4" y="T5"/>
                  </a:cxn>
                  <a:cxn ang="T15">
                    <a:pos x="T6" y="T7"/>
                  </a:cxn>
                  <a:cxn ang="T16">
                    <a:pos x="T8" y="T9"/>
                  </a:cxn>
                  <a:cxn ang="T17">
                    <a:pos x="T10" y="T11"/>
                  </a:cxn>
                </a:cxnLst>
                <a:rect l="T18" t="T19" r="T20" b="T21"/>
                <a:pathLst>
                  <a:path w="121" h="57">
                    <a:moveTo>
                      <a:pt x="36" y="56"/>
                    </a:moveTo>
                    <a:lnTo>
                      <a:pt x="36" y="56"/>
                    </a:lnTo>
                    <a:lnTo>
                      <a:pt x="0" y="38"/>
                    </a:lnTo>
                    <a:lnTo>
                      <a:pt x="86" y="0"/>
                    </a:lnTo>
                    <a:lnTo>
                      <a:pt x="120" y="15"/>
                    </a:lnTo>
                    <a:lnTo>
                      <a:pt x="36" y="56"/>
                    </a:lnTo>
                  </a:path>
                </a:pathLst>
              </a:custGeom>
              <a:solidFill>
                <a:srgbClr val="CF5C82"/>
              </a:solidFill>
              <a:ln w="9525" cap="rnd">
                <a:noFill/>
                <a:round/>
              </a:ln>
            </p:spPr>
            <p:txBody>
              <a:bodyPr/>
              <a:lstStyle/>
              <a:p>
                <a:endParaRPr lang="zh-CN" altLang="en-US"/>
              </a:p>
            </p:txBody>
          </p:sp>
        </p:grpSp>
        <p:grpSp>
          <p:nvGrpSpPr>
            <p:cNvPr id="29" name="Group 178"/>
            <p:cNvGrpSpPr/>
            <p:nvPr/>
          </p:nvGrpSpPr>
          <p:grpSpPr bwMode="auto">
            <a:xfrm>
              <a:off x="2275" y="1925"/>
              <a:ext cx="131" cy="121"/>
              <a:chOff x="2275" y="1925"/>
              <a:chExt cx="131" cy="121"/>
            </a:xfrm>
          </p:grpSpPr>
          <p:sp>
            <p:nvSpPr>
              <p:cNvPr id="10479" name="Freeform 179"/>
              <p:cNvSpPr/>
              <p:nvPr/>
            </p:nvSpPr>
            <p:spPr bwMode="auto">
              <a:xfrm>
                <a:off x="2315" y="1945"/>
                <a:ext cx="91" cy="100"/>
              </a:xfrm>
              <a:custGeom>
                <a:avLst/>
                <a:gdLst>
                  <a:gd name="T0" fmla="*/ 0 w 91"/>
                  <a:gd name="T1" fmla="*/ 99 h 100"/>
                  <a:gd name="T2" fmla="*/ 0 w 91"/>
                  <a:gd name="T3" fmla="*/ 99 h 100"/>
                  <a:gd name="T4" fmla="*/ 2 w 91"/>
                  <a:gd name="T5" fmla="*/ 46 h 100"/>
                  <a:gd name="T6" fmla="*/ 90 w 91"/>
                  <a:gd name="T7" fmla="*/ 0 h 100"/>
                  <a:gd name="T8" fmla="*/ 87 w 91"/>
                  <a:gd name="T9" fmla="*/ 52 h 100"/>
                  <a:gd name="T10" fmla="*/ 0 w 91"/>
                  <a:gd name="T11" fmla="*/ 99 h 100"/>
                  <a:gd name="T12" fmla="*/ 0 60000 65536"/>
                  <a:gd name="T13" fmla="*/ 0 60000 65536"/>
                  <a:gd name="T14" fmla="*/ 0 60000 65536"/>
                  <a:gd name="T15" fmla="*/ 0 60000 65536"/>
                  <a:gd name="T16" fmla="*/ 0 60000 65536"/>
                  <a:gd name="T17" fmla="*/ 0 60000 65536"/>
                  <a:gd name="T18" fmla="*/ 0 w 91"/>
                  <a:gd name="T19" fmla="*/ 0 h 100"/>
                  <a:gd name="T20" fmla="*/ 91 w 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1" h="100">
                    <a:moveTo>
                      <a:pt x="0" y="99"/>
                    </a:moveTo>
                    <a:lnTo>
                      <a:pt x="0" y="99"/>
                    </a:lnTo>
                    <a:lnTo>
                      <a:pt x="2" y="46"/>
                    </a:lnTo>
                    <a:lnTo>
                      <a:pt x="90" y="0"/>
                    </a:lnTo>
                    <a:lnTo>
                      <a:pt x="87" y="52"/>
                    </a:lnTo>
                    <a:lnTo>
                      <a:pt x="0" y="99"/>
                    </a:lnTo>
                  </a:path>
                </a:pathLst>
              </a:custGeom>
              <a:solidFill>
                <a:srgbClr val="BB1A50"/>
              </a:solidFill>
              <a:ln w="9525" cap="rnd">
                <a:noFill/>
                <a:round/>
              </a:ln>
            </p:spPr>
            <p:txBody>
              <a:bodyPr/>
              <a:lstStyle/>
              <a:p>
                <a:endParaRPr lang="zh-CN" altLang="en-US"/>
              </a:p>
            </p:txBody>
          </p:sp>
          <p:sp>
            <p:nvSpPr>
              <p:cNvPr id="10480" name="Freeform 180"/>
              <p:cNvSpPr/>
              <p:nvPr/>
            </p:nvSpPr>
            <p:spPr bwMode="auto">
              <a:xfrm>
                <a:off x="2275" y="1978"/>
                <a:ext cx="41" cy="68"/>
              </a:xfrm>
              <a:custGeom>
                <a:avLst/>
                <a:gdLst>
                  <a:gd name="T0" fmla="*/ 37 w 41"/>
                  <a:gd name="T1" fmla="*/ 67 h 68"/>
                  <a:gd name="T2" fmla="*/ 37 w 41"/>
                  <a:gd name="T3" fmla="*/ 67 h 68"/>
                  <a:gd name="T4" fmla="*/ 0 w 41"/>
                  <a:gd name="T5" fmla="*/ 51 h 68"/>
                  <a:gd name="T6" fmla="*/ 2 w 41"/>
                  <a:gd name="T7" fmla="*/ 0 h 68"/>
                  <a:gd name="T8" fmla="*/ 40 w 41"/>
                  <a:gd name="T9" fmla="*/ 15 h 68"/>
                  <a:gd name="T10" fmla="*/ 37 w 41"/>
                  <a:gd name="T11" fmla="*/ 67 h 68"/>
                  <a:gd name="T12" fmla="*/ 0 60000 65536"/>
                  <a:gd name="T13" fmla="*/ 0 60000 65536"/>
                  <a:gd name="T14" fmla="*/ 0 60000 65536"/>
                  <a:gd name="T15" fmla="*/ 0 60000 65536"/>
                  <a:gd name="T16" fmla="*/ 0 60000 65536"/>
                  <a:gd name="T17" fmla="*/ 0 60000 65536"/>
                  <a:gd name="T18" fmla="*/ 0 w 41"/>
                  <a:gd name="T19" fmla="*/ 0 h 68"/>
                  <a:gd name="T20" fmla="*/ 41 w 41"/>
                  <a:gd name="T21" fmla="*/ 68 h 68"/>
                </a:gdLst>
                <a:ahLst/>
                <a:cxnLst>
                  <a:cxn ang="T12">
                    <a:pos x="T0" y="T1"/>
                  </a:cxn>
                  <a:cxn ang="T13">
                    <a:pos x="T2" y="T3"/>
                  </a:cxn>
                  <a:cxn ang="T14">
                    <a:pos x="T4" y="T5"/>
                  </a:cxn>
                  <a:cxn ang="T15">
                    <a:pos x="T6" y="T7"/>
                  </a:cxn>
                  <a:cxn ang="T16">
                    <a:pos x="T8" y="T9"/>
                  </a:cxn>
                  <a:cxn ang="T17">
                    <a:pos x="T10" y="T11"/>
                  </a:cxn>
                </a:cxnLst>
                <a:rect l="T18" t="T19" r="T20" b="T21"/>
                <a:pathLst>
                  <a:path w="41" h="68">
                    <a:moveTo>
                      <a:pt x="37" y="67"/>
                    </a:moveTo>
                    <a:lnTo>
                      <a:pt x="37" y="67"/>
                    </a:lnTo>
                    <a:lnTo>
                      <a:pt x="0" y="51"/>
                    </a:lnTo>
                    <a:lnTo>
                      <a:pt x="2" y="0"/>
                    </a:lnTo>
                    <a:lnTo>
                      <a:pt x="40" y="15"/>
                    </a:lnTo>
                    <a:lnTo>
                      <a:pt x="37" y="67"/>
                    </a:lnTo>
                  </a:path>
                </a:pathLst>
              </a:custGeom>
              <a:solidFill>
                <a:srgbClr val="9E0005"/>
              </a:solidFill>
              <a:ln w="9525" cap="rnd">
                <a:noFill/>
                <a:round/>
              </a:ln>
            </p:spPr>
            <p:txBody>
              <a:bodyPr/>
              <a:lstStyle/>
              <a:p>
                <a:endParaRPr lang="zh-CN" altLang="en-US"/>
              </a:p>
            </p:txBody>
          </p:sp>
          <p:sp>
            <p:nvSpPr>
              <p:cNvPr id="10481" name="Freeform 181"/>
              <p:cNvSpPr/>
              <p:nvPr/>
            </p:nvSpPr>
            <p:spPr bwMode="auto">
              <a:xfrm>
                <a:off x="2278" y="1925"/>
                <a:ext cx="128" cy="66"/>
              </a:xfrm>
              <a:custGeom>
                <a:avLst/>
                <a:gdLst>
                  <a:gd name="T0" fmla="*/ 38 w 128"/>
                  <a:gd name="T1" fmla="*/ 65 h 66"/>
                  <a:gd name="T2" fmla="*/ 38 w 128"/>
                  <a:gd name="T3" fmla="*/ 65 h 66"/>
                  <a:gd name="T4" fmla="*/ 0 w 128"/>
                  <a:gd name="T5" fmla="*/ 46 h 66"/>
                  <a:gd name="T6" fmla="*/ 91 w 128"/>
                  <a:gd name="T7" fmla="*/ 0 h 66"/>
                  <a:gd name="T8" fmla="*/ 127 w 128"/>
                  <a:gd name="T9" fmla="*/ 18 h 66"/>
                  <a:gd name="T10" fmla="*/ 38 w 128"/>
                  <a:gd name="T11" fmla="*/ 65 h 66"/>
                  <a:gd name="T12" fmla="*/ 0 60000 65536"/>
                  <a:gd name="T13" fmla="*/ 0 60000 65536"/>
                  <a:gd name="T14" fmla="*/ 0 60000 65536"/>
                  <a:gd name="T15" fmla="*/ 0 60000 65536"/>
                  <a:gd name="T16" fmla="*/ 0 60000 65536"/>
                  <a:gd name="T17" fmla="*/ 0 60000 65536"/>
                  <a:gd name="T18" fmla="*/ 0 w 128"/>
                  <a:gd name="T19" fmla="*/ 0 h 66"/>
                  <a:gd name="T20" fmla="*/ 128 w 128"/>
                  <a:gd name="T21" fmla="*/ 66 h 66"/>
                </a:gdLst>
                <a:ahLst/>
                <a:cxnLst>
                  <a:cxn ang="T12">
                    <a:pos x="T0" y="T1"/>
                  </a:cxn>
                  <a:cxn ang="T13">
                    <a:pos x="T2" y="T3"/>
                  </a:cxn>
                  <a:cxn ang="T14">
                    <a:pos x="T4" y="T5"/>
                  </a:cxn>
                  <a:cxn ang="T15">
                    <a:pos x="T6" y="T7"/>
                  </a:cxn>
                  <a:cxn ang="T16">
                    <a:pos x="T8" y="T9"/>
                  </a:cxn>
                  <a:cxn ang="T17">
                    <a:pos x="T10" y="T11"/>
                  </a:cxn>
                </a:cxnLst>
                <a:rect l="T18" t="T19" r="T20" b="T21"/>
                <a:pathLst>
                  <a:path w="128" h="66">
                    <a:moveTo>
                      <a:pt x="38" y="65"/>
                    </a:moveTo>
                    <a:lnTo>
                      <a:pt x="38" y="65"/>
                    </a:lnTo>
                    <a:lnTo>
                      <a:pt x="0" y="46"/>
                    </a:lnTo>
                    <a:lnTo>
                      <a:pt x="91" y="0"/>
                    </a:lnTo>
                    <a:lnTo>
                      <a:pt x="127" y="18"/>
                    </a:lnTo>
                    <a:lnTo>
                      <a:pt x="38" y="65"/>
                    </a:lnTo>
                  </a:path>
                </a:pathLst>
              </a:custGeom>
              <a:solidFill>
                <a:srgbClr val="CF5C82"/>
              </a:solidFill>
              <a:ln w="9525" cap="rnd">
                <a:noFill/>
                <a:round/>
              </a:ln>
            </p:spPr>
            <p:txBody>
              <a:bodyPr/>
              <a:lstStyle/>
              <a:p>
                <a:endParaRPr lang="zh-CN" altLang="en-US"/>
              </a:p>
            </p:txBody>
          </p:sp>
        </p:grpSp>
        <p:grpSp>
          <p:nvGrpSpPr>
            <p:cNvPr id="30" name="Group 182"/>
            <p:cNvGrpSpPr/>
            <p:nvPr/>
          </p:nvGrpSpPr>
          <p:grpSpPr bwMode="auto">
            <a:xfrm>
              <a:off x="2167" y="1984"/>
              <a:ext cx="144" cy="123"/>
              <a:chOff x="2167" y="1984"/>
              <a:chExt cx="144" cy="123"/>
            </a:xfrm>
          </p:grpSpPr>
          <p:sp>
            <p:nvSpPr>
              <p:cNvPr id="10476" name="Freeform 183"/>
              <p:cNvSpPr/>
              <p:nvPr/>
            </p:nvSpPr>
            <p:spPr bwMode="auto">
              <a:xfrm>
                <a:off x="2208" y="2000"/>
                <a:ext cx="102" cy="107"/>
              </a:xfrm>
              <a:custGeom>
                <a:avLst/>
                <a:gdLst>
                  <a:gd name="T0" fmla="*/ 0 w 102"/>
                  <a:gd name="T1" fmla="*/ 106 h 107"/>
                  <a:gd name="T2" fmla="*/ 0 w 102"/>
                  <a:gd name="T3" fmla="*/ 106 h 107"/>
                  <a:gd name="T4" fmla="*/ 2 w 102"/>
                  <a:gd name="T5" fmla="*/ 49 h 107"/>
                  <a:gd name="T6" fmla="*/ 101 w 102"/>
                  <a:gd name="T7" fmla="*/ 0 h 107"/>
                  <a:gd name="T8" fmla="*/ 98 w 102"/>
                  <a:gd name="T9" fmla="*/ 53 h 107"/>
                  <a:gd name="T10" fmla="*/ 0 w 102"/>
                  <a:gd name="T11" fmla="*/ 106 h 107"/>
                  <a:gd name="T12" fmla="*/ 0 60000 65536"/>
                  <a:gd name="T13" fmla="*/ 0 60000 65536"/>
                  <a:gd name="T14" fmla="*/ 0 60000 65536"/>
                  <a:gd name="T15" fmla="*/ 0 60000 65536"/>
                  <a:gd name="T16" fmla="*/ 0 60000 65536"/>
                  <a:gd name="T17" fmla="*/ 0 60000 65536"/>
                  <a:gd name="T18" fmla="*/ 0 w 102"/>
                  <a:gd name="T19" fmla="*/ 0 h 107"/>
                  <a:gd name="T20" fmla="*/ 102 w 102"/>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02" h="107">
                    <a:moveTo>
                      <a:pt x="0" y="106"/>
                    </a:moveTo>
                    <a:lnTo>
                      <a:pt x="0" y="106"/>
                    </a:lnTo>
                    <a:lnTo>
                      <a:pt x="2" y="49"/>
                    </a:lnTo>
                    <a:lnTo>
                      <a:pt x="101" y="0"/>
                    </a:lnTo>
                    <a:lnTo>
                      <a:pt x="98" y="53"/>
                    </a:lnTo>
                    <a:lnTo>
                      <a:pt x="0" y="106"/>
                    </a:lnTo>
                  </a:path>
                </a:pathLst>
              </a:custGeom>
              <a:solidFill>
                <a:srgbClr val="BB1A50"/>
              </a:solidFill>
              <a:ln w="9525" cap="rnd">
                <a:noFill/>
                <a:round/>
              </a:ln>
            </p:spPr>
            <p:txBody>
              <a:bodyPr/>
              <a:lstStyle/>
              <a:p>
                <a:endParaRPr lang="zh-CN" altLang="en-US"/>
              </a:p>
            </p:txBody>
          </p:sp>
          <p:sp>
            <p:nvSpPr>
              <p:cNvPr id="10477" name="Freeform 184"/>
              <p:cNvSpPr/>
              <p:nvPr/>
            </p:nvSpPr>
            <p:spPr bwMode="auto">
              <a:xfrm>
                <a:off x="2167" y="2036"/>
                <a:ext cx="43" cy="71"/>
              </a:xfrm>
              <a:custGeom>
                <a:avLst/>
                <a:gdLst>
                  <a:gd name="T0" fmla="*/ 39 w 43"/>
                  <a:gd name="T1" fmla="*/ 70 h 71"/>
                  <a:gd name="T2" fmla="*/ 39 w 43"/>
                  <a:gd name="T3" fmla="*/ 70 h 71"/>
                  <a:gd name="T4" fmla="*/ 0 w 43"/>
                  <a:gd name="T5" fmla="*/ 54 h 71"/>
                  <a:gd name="T6" fmla="*/ 0 w 43"/>
                  <a:gd name="T7" fmla="*/ 0 h 71"/>
                  <a:gd name="T8" fmla="*/ 42 w 43"/>
                  <a:gd name="T9" fmla="*/ 15 h 71"/>
                  <a:gd name="T10" fmla="*/ 39 w 43"/>
                  <a:gd name="T11" fmla="*/ 70 h 71"/>
                  <a:gd name="T12" fmla="*/ 0 60000 65536"/>
                  <a:gd name="T13" fmla="*/ 0 60000 65536"/>
                  <a:gd name="T14" fmla="*/ 0 60000 65536"/>
                  <a:gd name="T15" fmla="*/ 0 60000 65536"/>
                  <a:gd name="T16" fmla="*/ 0 60000 65536"/>
                  <a:gd name="T17" fmla="*/ 0 60000 65536"/>
                  <a:gd name="T18" fmla="*/ 0 w 43"/>
                  <a:gd name="T19" fmla="*/ 0 h 71"/>
                  <a:gd name="T20" fmla="*/ 43 w 43"/>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43" h="71">
                    <a:moveTo>
                      <a:pt x="39" y="70"/>
                    </a:moveTo>
                    <a:lnTo>
                      <a:pt x="39" y="70"/>
                    </a:lnTo>
                    <a:lnTo>
                      <a:pt x="0" y="54"/>
                    </a:lnTo>
                    <a:lnTo>
                      <a:pt x="0" y="0"/>
                    </a:lnTo>
                    <a:lnTo>
                      <a:pt x="42" y="15"/>
                    </a:lnTo>
                    <a:lnTo>
                      <a:pt x="39" y="70"/>
                    </a:lnTo>
                  </a:path>
                </a:pathLst>
              </a:custGeom>
              <a:solidFill>
                <a:srgbClr val="9E0005"/>
              </a:solidFill>
              <a:ln w="9525" cap="rnd">
                <a:noFill/>
                <a:round/>
              </a:ln>
            </p:spPr>
            <p:txBody>
              <a:bodyPr/>
              <a:lstStyle/>
              <a:p>
                <a:endParaRPr lang="zh-CN" altLang="en-US"/>
              </a:p>
            </p:txBody>
          </p:sp>
          <p:sp>
            <p:nvSpPr>
              <p:cNvPr id="10478" name="Freeform 185"/>
              <p:cNvSpPr/>
              <p:nvPr/>
            </p:nvSpPr>
            <p:spPr bwMode="auto">
              <a:xfrm>
                <a:off x="2167" y="1984"/>
                <a:ext cx="144" cy="64"/>
              </a:xfrm>
              <a:custGeom>
                <a:avLst/>
                <a:gdLst>
                  <a:gd name="T0" fmla="*/ 44 w 144"/>
                  <a:gd name="T1" fmla="*/ 63 h 64"/>
                  <a:gd name="T2" fmla="*/ 44 w 144"/>
                  <a:gd name="T3" fmla="*/ 63 h 64"/>
                  <a:gd name="T4" fmla="*/ 0 w 144"/>
                  <a:gd name="T5" fmla="*/ 47 h 64"/>
                  <a:gd name="T6" fmla="*/ 101 w 144"/>
                  <a:gd name="T7" fmla="*/ 0 h 64"/>
                  <a:gd name="T8" fmla="*/ 143 w 144"/>
                  <a:gd name="T9" fmla="*/ 15 h 64"/>
                  <a:gd name="T10" fmla="*/ 44 w 144"/>
                  <a:gd name="T11" fmla="*/ 63 h 64"/>
                  <a:gd name="T12" fmla="*/ 0 60000 65536"/>
                  <a:gd name="T13" fmla="*/ 0 60000 65536"/>
                  <a:gd name="T14" fmla="*/ 0 60000 65536"/>
                  <a:gd name="T15" fmla="*/ 0 60000 65536"/>
                  <a:gd name="T16" fmla="*/ 0 60000 65536"/>
                  <a:gd name="T17" fmla="*/ 0 60000 65536"/>
                  <a:gd name="T18" fmla="*/ 0 w 144"/>
                  <a:gd name="T19" fmla="*/ 0 h 64"/>
                  <a:gd name="T20" fmla="*/ 144 w 144"/>
                  <a:gd name="T21" fmla="*/ 64 h 64"/>
                </a:gdLst>
                <a:ahLst/>
                <a:cxnLst>
                  <a:cxn ang="T12">
                    <a:pos x="T0" y="T1"/>
                  </a:cxn>
                  <a:cxn ang="T13">
                    <a:pos x="T2" y="T3"/>
                  </a:cxn>
                  <a:cxn ang="T14">
                    <a:pos x="T4" y="T5"/>
                  </a:cxn>
                  <a:cxn ang="T15">
                    <a:pos x="T6" y="T7"/>
                  </a:cxn>
                  <a:cxn ang="T16">
                    <a:pos x="T8" y="T9"/>
                  </a:cxn>
                  <a:cxn ang="T17">
                    <a:pos x="T10" y="T11"/>
                  </a:cxn>
                </a:cxnLst>
                <a:rect l="T18" t="T19" r="T20" b="T21"/>
                <a:pathLst>
                  <a:path w="144" h="64">
                    <a:moveTo>
                      <a:pt x="44" y="63"/>
                    </a:moveTo>
                    <a:lnTo>
                      <a:pt x="44" y="63"/>
                    </a:lnTo>
                    <a:lnTo>
                      <a:pt x="0" y="47"/>
                    </a:lnTo>
                    <a:lnTo>
                      <a:pt x="101" y="0"/>
                    </a:lnTo>
                    <a:lnTo>
                      <a:pt x="143" y="15"/>
                    </a:lnTo>
                    <a:lnTo>
                      <a:pt x="44" y="63"/>
                    </a:lnTo>
                  </a:path>
                </a:pathLst>
              </a:custGeom>
              <a:solidFill>
                <a:srgbClr val="CF5C82"/>
              </a:solidFill>
              <a:ln w="9525" cap="rnd">
                <a:noFill/>
                <a:round/>
              </a:ln>
            </p:spPr>
            <p:txBody>
              <a:bodyPr/>
              <a:lstStyle/>
              <a:p>
                <a:endParaRPr lang="zh-CN" altLang="en-US"/>
              </a:p>
            </p:txBody>
          </p:sp>
        </p:grpSp>
        <p:grpSp>
          <p:nvGrpSpPr>
            <p:cNvPr id="31" name="Group 186"/>
            <p:cNvGrpSpPr/>
            <p:nvPr/>
          </p:nvGrpSpPr>
          <p:grpSpPr bwMode="auto">
            <a:xfrm>
              <a:off x="2048" y="2039"/>
              <a:ext cx="157" cy="129"/>
              <a:chOff x="2048" y="2039"/>
              <a:chExt cx="157" cy="129"/>
            </a:xfrm>
          </p:grpSpPr>
          <p:sp>
            <p:nvSpPr>
              <p:cNvPr id="10473" name="Freeform 187"/>
              <p:cNvSpPr/>
              <p:nvPr/>
            </p:nvSpPr>
            <p:spPr bwMode="auto">
              <a:xfrm>
                <a:off x="2097" y="2058"/>
                <a:ext cx="108" cy="110"/>
              </a:xfrm>
              <a:custGeom>
                <a:avLst/>
                <a:gdLst>
                  <a:gd name="T0" fmla="*/ 0 w 108"/>
                  <a:gd name="T1" fmla="*/ 109 h 110"/>
                  <a:gd name="T2" fmla="*/ 0 w 108"/>
                  <a:gd name="T3" fmla="*/ 109 h 110"/>
                  <a:gd name="T4" fmla="*/ 2 w 108"/>
                  <a:gd name="T5" fmla="*/ 53 h 110"/>
                  <a:gd name="T6" fmla="*/ 107 w 108"/>
                  <a:gd name="T7" fmla="*/ 0 h 110"/>
                  <a:gd name="T8" fmla="*/ 104 w 108"/>
                  <a:gd name="T9" fmla="*/ 53 h 110"/>
                  <a:gd name="T10" fmla="*/ 0 w 108"/>
                  <a:gd name="T11" fmla="*/ 109 h 110"/>
                  <a:gd name="T12" fmla="*/ 0 60000 65536"/>
                  <a:gd name="T13" fmla="*/ 0 60000 65536"/>
                  <a:gd name="T14" fmla="*/ 0 60000 65536"/>
                  <a:gd name="T15" fmla="*/ 0 60000 65536"/>
                  <a:gd name="T16" fmla="*/ 0 60000 65536"/>
                  <a:gd name="T17" fmla="*/ 0 60000 65536"/>
                  <a:gd name="T18" fmla="*/ 0 w 108"/>
                  <a:gd name="T19" fmla="*/ 0 h 110"/>
                  <a:gd name="T20" fmla="*/ 108 w 108"/>
                  <a:gd name="T21" fmla="*/ 110 h 110"/>
                </a:gdLst>
                <a:ahLst/>
                <a:cxnLst>
                  <a:cxn ang="T12">
                    <a:pos x="T0" y="T1"/>
                  </a:cxn>
                  <a:cxn ang="T13">
                    <a:pos x="T2" y="T3"/>
                  </a:cxn>
                  <a:cxn ang="T14">
                    <a:pos x="T4" y="T5"/>
                  </a:cxn>
                  <a:cxn ang="T15">
                    <a:pos x="T6" y="T7"/>
                  </a:cxn>
                  <a:cxn ang="T16">
                    <a:pos x="T8" y="T9"/>
                  </a:cxn>
                  <a:cxn ang="T17">
                    <a:pos x="T10" y="T11"/>
                  </a:cxn>
                </a:cxnLst>
                <a:rect l="T18" t="T19" r="T20" b="T21"/>
                <a:pathLst>
                  <a:path w="108" h="110">
                    <a:moveTo>
                      <a:pt x="0" y="109"/>
                    </a:moveTo>
                    <a:lnTo>
                      <a:pt x="0" y="109"/>
                    </a:lnTo>
                    <a:lnTo>
                      <a:pt x="2" y="53"/>
                    </a:lnTo>
                    <a:lnTo>
                      <a:pt x="107" y="0"/>
                    </a:lnTo>
                    <a:lnTo>
                      <a:pt x="104" y="53"/>
                    </a:lnTo>
                    <a:lnTo>
                      <a:pt x="0" y="109"/>
                    </a:lnTo>
                  </a:path>
                </a:pathLst>
              </a:custGeom>
              <a:solidFill>
                <a:srgbClr val="BB1A50"/>
              </a:solidFill>
              <a:ln w="9525" cap="rnd">
                <a:noFill/>
                <a:round/>
              </a:ln>
            </p:spPr>
            <p:txBody>
              <a:bodyPr/>
              <a:lstStyle/>
              <a:p>
                <a:endParaRPr lang="zh-CN" altLang="en-US"/>
              </a:p>
            </p:txBody>
          </p:sp>
          <p:sp>
            <p:nvSpPr>
              <p:cNvPr id="10474" name="Freeform 188"/>
              <p:cNvSpPr/>
              <p:nvPr/>
            </p:nvSpPr>
            <p:spPr bwMode="auto">
              <a:xfrm>
                <a:off x="2051" y="2097"/>
                <a:ext cx="47" cy="71"/>
              </a:xfrm>
              <a:custGeom>
                <a:avLst/>
                <a:gdLst>
                  <a:gd name="T0" fmla="*/ 43 w 47"/>
                  <a:gd name="T1" fmla="*/ 70 h 71"/>
                  <a:gd name="T2" fmla="*/ 43 w 47"/>
                  <a:gd name="T3" fmla="*/ 70 h 71"/>
                  <a:gd name="T4" fmla="*/ 0 w 47"/>
                  <a:gd name="T5" fmla="*/ 57 h 71"/>
                  <a:gd name="T6" fmla="*/ 0 w 47"/>
                  <a:gd name="T7" fmla="*/ 0 h 71"/>
                  <a:gd name="T8" fmla="*/ 46 w 47"/>
                  <a:gd name="T9" fmla="*/ 15 h 71"/>
                  <a:gd name="T10" fmla="*/ 43 w 47"/>
                  <a:gd name="T11" fmla="*/ 70 h 71"/>
                  <a:gd name="T12" fmla="*/ 0 60000 65536"/>
                  <a:gd name="T13" fmla="*/ 0 60000 65536"/>
                  <a:gd name="T14" fmla="*/ 0 60000 65536"/>
                  <a:gd name="T15" fmla="*/ 0 60000 65536"/>
                  <a:gd name="T16" fmla="*/ 0 60000 65536"/>
                  <a:gd name="T17" fmla="*/ 0 60000 65536"/>
                  <a:gd name="T18" fmla="*/ 0 w 47"/>
                  <a:gd name="T19" fmla="*/ 0 h 71"/>
                  <a:gd name="T20" fmla="*/ 47 w 47"/>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47" h="71">
                    <a:moveTo>
                      <a:pt x="43" y="70"/>
                    </a:moveTo>
                    <a:lnTo>
                      <a:pt x="43" y="70"/>
                    </a:lnTo>
                    <a:lnTo>
                      <a:pt x="0" y="57"/>
                    </a:lnTo>
                    <a:lnTo>
                      <a:pt x="0" y="0"/>
                    </a:lnTo>
                    <a:lnTo>
                      <a:pt x="46" y="15"/>
                    </a:lnTo>
                    <a:lnTo>
                      <a:pt x="43" y="70"/>
                    </a:lnTo>
                  </a:path>
                </a:pathLst>
              </a:custGeom>
              <a:solidFill>
                <a:srgbClr val="9E0005"/>
              </a:solidFill>
              <a:ln w="9525" cap="rnd">
                <a:noFill/>
                <a:round/>
              </a:ln>
            </p:spPr>
            <p:txBody>
              <a:bodyPr/>
              <a:lstStyle/>
              <a:p>
                <a:endParaRPr lang="zh-CN" altLang="en-US"/>
              </a:p>
            </p:txBody>
          </p:sp>
          <p:sp>
            <p:nvSpPr>
              <p:cNvPr id="10475" name="Freeform 189"/>
              <p:cNvSpPr/>
              <p:nvPr/>
            </p:nvSpPr>
            <p:spPr bwMode="auto">
              <a:xfrm>
                <a:off x="2048" y="2039"/>
                <a:ext cx="157" cy="71"/>
              </a:xfrm>
              <a:custGeom>
                <a:avLst/>
                <a:gdLst>
                  <a:gd name="T0" fmla="*/ 50 w 157"/>
                  <a:gd name="T1" fmla="*/ 70 h 71"/>
                  <a:gd name="T2" fmla="*/ 50 w 157"/>
                  <a:gd name="T3" fmla="*/ 70 h 71"/>
                  <a:gd name="T4" fmla="*/ 0 w 157"/>
                  <a:gd name="T5" fmla="*/ 54 h 71"/>
                  <a:gd name="T6" fmla="*/ 111 w 157"/>
                  <a:gd name="T7" fmla="*/ 0 h 71"/>
                  <a:gd name="T8" fmla="*/ 156 w 157"/>
                  <a:gd name="T9" fmla="*/ 17 h 71"/>
                  <a:gd name="T10" fmla="*/ 50 w 157"/>
                  <a:gd name="T11" fmla="*/ 70 h 71"/>
                  <a:gd name="T12" fmla="*/ 0 60000 65536"/>
                  <a:gd name="T13" fmla="*/ 0 60000 65536"/>
                  <a:gd name="T14" fmla="*/ 0 60000 65536"/>
                  <a:gd name="T15" fmla="*/ 0 60000 65536"/>
                  <a:gd name="T16" fmla="*/ 0 60000 65536"/>
                  <a:gd name="T17" fmla="*/ 0 60000 65536"/>
                  <a:gd name="T18" fmla="*/ 0 w 157"/>
                  <a:gd name="T19" fmla="*/ 0 h 71"/>
                  <a:gd name="T20" fmla="*/ 157 w 157"/>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157" h="71">
                    <a:moveTo>
                      <a:pt x="50" y="70"/>
                    </a:moveTo>
                    <a:lnTo>
                      <a:pt x="50" y="70"/>
                    </a:lnTo>
                    <a:lnTo>
                      <a:pt x="0" y="54"/>
                    </a:lnTo>
                    <a:lnTo>
                      <a:pt x="111" y="0"/>
                    </a:lnTo>
                    <a:lnTo>
                      <a:pt x="156" y="17"/>
                    </a:lnTo>
                    <a:lnTo>
                      <a:pt x="50" y="70"/>
                    </a:lnTo>
                  </a:path>
                </a:pathLst>
              </a:custGeom>
              <a:solidFill>
                <a:srgbClr val="CF5C82"/>
              </a:solidFill>
              <a:ln w="9525" cap="rnd">
                <a:noFill/>
                <a:round/>
              </a:ln>
            </p:spPr>
            <p:txBody>
              <a:bodyPr/>
              <a:lstStyle/>
              <a:p>
                <a:endParaRPr lang="zh-CN" altLang="en-US"/>
              </a:p>
            </p:txBody>
          </p:sp>
        </p:grpSp>
        <p:sp>
          <p:nvSpPr>
            <p:cNvPr id="10440" name="Freeform 190"/>
            <p:cNvSpPr/>
            <p:nvPr/>
          </p:nvSpPr>
          <p:spPr bwMode="auto">
            <a:xfrm>
              <a:off x="2496" y="1889"/>
              <a:ext cx="17" cy="55"/>
            </a:xfrm>
            <a:custGeom>
              <a:avLst/>
              <a:gdLst>
                <a:gd name="T0" fmla="*/ 0 w 17"/>
                <a:gd name="T1" fmla="*/ 54 h 55"/>
                <a:gd name="T2" fmla="*/ 0 w 17"/>
                <a:gd name="T3" fmla="*/ 54 h 55"/>
                <a:gd name="T4" fmla="*/ 0 w 17"/>
                <a:gd name="T5" fmla="*/ 27 h 55"/>
                <a:gd name="T6" fmla="*/ 0 w 17"/>
                <a:gd name="T7" fmla="*/ 18 h 55"/>
                <a:gd name="T8" fmla="*/ 4 w 17"/>
                <a:gd name="T9" fmla="*/ 9 h 55"/>
                <a:gd name="T10" fmla="*/ 4 w 17"/>
                <a:gd name="T11" fmla="*/ 2 h 55"/>
                <a:gd name="T12" fmla="*/ 4 w 17"/>
                <a:gd name="T13" fmla="*/ 0 h 55"/>
                <a:gd name="T14" fmla="*/ 11 w 17"/>
                <a:gd name="T15" fmla="*/ 0 h 55"/>
                <a:gd name="T16" fmla="*/ 16 w 17"/>
                <a:gd name="T17" fmla="*/ 2 h 55"/>
                <a:gd name="T18" fmla="*/ 11 w 17"/>
                <a:gd name="T19" fmla="*/ 24 h 55"/>
                <a:gd name="T20" fmla="*/ 11 w 17"/>
                <a:gd name="T21" fmla="*/ 51 h 55"/>
                <a:gd name="T22" fmla="*/ 4 w 17"/>
                <a:gd name="T23" fmla="*/ 51 h 55"/>
                <a:gd name="T24" fmla="*/ 0 w 17"/>
                <a:gd name="T25" fmla="*/ 51 h 55"/>
                <a:gd name="T26" fmla="*/ 0 w 17"/>
                <a:gd name="T27" fmla="*/ 54 h 5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55"/>
                <a:gd name="T44" fmla="*/ 17 w 17"/>
                <a:gd name="T45" fmla="*/ 55 h 5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55">
                  <a:moveTo>
                    <a:pt x="0" y="54"/>
                  </a:moveTo>
                  <a:lnTo>
                    <a:pt x="0" y="54"/>
                  </a:lnTo>
                  <a:lnTo>
                    <a:pt x="0" y="27"/>
                  </a:lnTo>
                  <a:lnTo>
                    <a:pt x="0" y="18"/>
                  </a:lnTo>
                  <a:lnTo>
                    <a:pt x="4" y="9"/>
                  </a:lnTo>
                  <a:lnTo>
                    <a:pt x="4" y="2"/>
                  </a:lnTo>
                  <a:lnTo>
                    <a:pt x="4" y="0"/>
                  </a:lnTo>
                  <a:lnTo>
                    <a:pt x="11" y="0"/>
                  </a:lnTo>
                  <a:lnTo>
                    <a:pt x="16" y="2"/>
                  </a:lnTo>
                  <a:lnTo>
                    <a:pt x="11" y="24"/>
                  </a:lnTo>
                  <a:lnTo>
                    <a:pt x="11" y="51"/>
                  </a:lnTo>
                  <a:lnTo>
                    <a:pt x="4" y="51"/>
                  </a:lnTo>
                  <a:lnTo>
                    <a:pt x="0" y="51"/>
                  </a:lnTo>
                  <a:lnTo>
                    <a:pt x="0" y="54"/>
                  </a:lnTo>
                </a:path>
              </a:pathLst>
            </a:custGeom>
            <a:solidFill>
              <a:srgbClr val="BDB597"/>
            </a:solidFill>
            <a:ln w="9525" cap="rnd">
              <a:noFill/>
              <a:round/>
            </a:ln>
          </p:spPr>
          <p:txBody>
            <a:bodyPr/>
            <a:lstStyle/>
            <a:p>
              <a:endParaRPr lang="zh-CN" altLang="en-US"/>
            </a:p>
          </p:txBody>
        </p:sp>
        <p:sp>
          <p:nvSpPr>
            <p:cNvPr id="10441" name="Freeform 191"/>
            <p:cNvSpPr/>
            <p:nvPr/>
          </p:nvSpPr>
          <p:spPr bwMode="auto">
            <a:xfrm>
              <a:off x="2097" y="1863"/>
              <a:ext cx="443" cy="251"/>
            </a:xfrm>
            <a:custGeom>
              <a:avLst/>
              <a:gdLst>
                <a:gd name="T0" fmla="*/ 442 w 443"/>
                <a:gd name="T1" fmla="*/ 0 h 251"/>
                <a:gd name="T2" fmla="*/ 442 w 443"/>
                <a:gd name="T3" fmla="*/ 0 h 251"/>
                <a:gd name="T4" fmla="*/ 0 w 443"/>
                <a:gd name="T5" fmla="*/ 243 h 251"/>
                <a:gd name="T6" fmla="*/ 0 w 443"/>
                <a:gd name="T7" fmla="*/ 250 h 251"/>
                <a:gd name="T8" fmla="*/ 442 w 443"/>
                <a:gd name="T9" fmla="*/ 9 h 251"/>
                <a:gd name="T10" fmla="*/ 442 w 443"/>
                <a:gd name="T11" fmla="*/ 0 h 251"/>
                <a:gd name="T12" fmla="*/ 0 60000 65536"/>
                <a:gd name="T13" fmla="*/ 0 60000 65536"/>
                <a:gd name="T14" fmla="*/ 0 60000 65536"/>
                <a:gd name="T15" fmla="*/ 0 60000 65536"/>
                <a:gd name="T16" fmla="*/ 0 60000 65536"/>
                <a:gd name="T17" fmla="*/ 0 60000 65536"/>
                <a:gd name="T18" fmla="*/ 0 w 443"/>
                <a:gd name="T19" fmla="*/ 0 h 251"/>
                <a:gd name="T20" fmla="*/ 443 w 443"/>
                <a:gd name="T21" fmla="*/ 251 h 251"/>
              </a:gdLst>
              <a:ahLst/>
              <a:cxnLst>
                <a:cxn ang="T12">
                  <a:pos x="T0" y="T1"/>
                </a:cxn>
                <a:cxn ang="T13">
                  <a:pos x="T2" y="T3"/>
                </a:cxn>
                <a:cxn ang="T14">
                  <a:pos x="T4" y="T5"/>
                </a:cxn>
                <a:cxn ang="T15">
                  <a:pos x="T6" y="T7"/>
                </a:cxn>
                <a:cxn ang="T16">
                  <a:pos x="T8" y="T9"/>
                </a:cxn>
                <a:cxn ang="T17">
                  <a:pos x="T10" y="T11"/>
                </a:cxn>
              </a:cxnLst>
              <a:rect l="T18" t="T19" r="T20" b="T21"/>
              <a:pathLst>
                <a:path w="443" h="251">
                  <a:moveTo>
                    <a:pt x="442" y="0"/>
                  </a:moveTo>
                  <a:lnTo>
                    <a:pt x="442" y="0"/>
                  </a:lnTo>
                  <a:lnTo>
                    <a:pt x="0" y="243"/>
                  </a:lnTo>
                  <a:lnTo>
                    <a:pt x="0" y="250"/>
                  </a:lnTo>
                  <a:lnTo>
                    <a:pt x="442" y="9"/>
                  </a:lnTo>
                  <a:lnTo>
                    <a:pt x="442" y="0"/>
                  </a:lnTo>
                </a:path>
              </a:pathLst>
            </a:custGeom>
            <a:solidFill>
              <a:srgbClr val="BDB597"/>
            </a:solidFill>
            <a:ln w="9525" cap="rnd">
              <a:noFill/>
              <a:round/>
            </a:ln>
          </p:spPr>
          <p:txBody>
            <a:bodyPr/>
            <a:lstStyle/>
            <a:p>
              <a:endParaRPr lang="zh-CN" altLang="en-US"/>
            </a:p>
          </p:txBody>
        </p:sp>
        <p:sp>
          <p:nvSpPr>
            <p:cNvPr id="10442" name="Freeform 192"/>
            <p:cNvSpPr/>
            <p:nvPr/>
          </p:nvSpPr>
          <p:spPr bwMode="auto">
            <a:xfrm>
              <a:off x="2404" y="1943"/>
              <a:ext cx="17" cy="56"/>
            </a:xfrm>
            <a:custGeom>
              <a:avLst/>
              <a:gdLst>
                <a:gd name="T0" fmla="*/ 0 w 17"/>
                <a:gd name="T1" fmla="*/ 55 h 56"/>
                <a:gd name="T2" fmla="*/ 0 w 17"/>
                <a:gd name="T3" fmla="*/ 55 h 56"/>
                <a:gd name="T4" fmla="*/ 0 w 17"/>
                <a:gd name="T5" fmla="*/ 27 h 56"/>
                <a:gd name="T6" fmla="*/ 0 w 17"/>
                <a:gd name="T7" fmla="*/ 18 h 56"/>
                <a:gd name="T8" fmla="*/ 6 w 17"/>
                <a:gd name="T9" fmla="*/ 9 h 56"/>
                <a:gd name="T10" fmla="*/ 6 w 17"/>
                <a:gd name="T11" fmla="*/ 2 h 56"/>
                <a:gd name="T12" fmla="*/ 6 w 17"/>
                <a:gd name="T13" fmla="*/ 0 h 56"/>
                <a:gd name="T14" fmla="*/ 10 w 17"/>
                <a:gd name="T15" fmla="*/ 0 h 56"/>
                <a:gd name="T16" fmla="*/ 16 w 17"/>
                <a:gd name="T17" fmla="*/ 0 h 56"/>
                <a:gd name="T18" fmla="*/ 16 w 17"/>
                <a:gd name="T19" fmla="*/ 24 h 56"/>
                <a:gd name="T20" fmla="*/ 10 w 17"/>
                <a:gd name="T21" fmla="*/ 42 h 56"/>
                <a:gd name="T22" fmla="*/ 10 w 17"/>
                <a:gd name="T23" fmla="*/ 48 h 56"/>
                <a:gd name="T24" fmla="*/ 10 w 17"/>
                <a:gd name="T25" fmla="*/ 52 h 56"/>
                <a:gd name="T26" fmla="*/ 6 w 17"/>
                <a:gd name="T27" fmla="*/ 52 h 56"/>
                <a:gd name="T28" fmla="*/ 0 w 17"/>
                <a:gd name="T29" fmla="*/ 52 h 56"/>
                <a:gd name="T30" fmla="*/ 0 w 17"/>
                <a:gd name="T31" fmla="*/ 55 h 5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
                <a:gd name="T49" fmla="*/ 0 h 56"/>
                <a:gd name="T50" fmla="*/ 17 w 17"/>
                <a:gd name="T51" fmla="*/ 56 h 5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 h="56">
                  <a:moveTo>
                    <a:pt x="0" y="55"/>
                  </a:moveTo>
                  <a:lnTo>
                    <a:pt x="0" y="55"/>
                  </a:lnTo>
                  <a:lnTo>
                    <a:pt x="0" y="27"/>
                  </a:lnTo>
                  <a:lnTo>
                    <a:pt x="0" y="18"/>
                  </a:lnTo>
                  <a:lnTo>
                    <a:pt x="6" y="9"/>
                  </a:lnTo>
                  <a:lnTo>
                    <a:pt x="6" y="2"/>
                  </a:lnTo>
                  <a:lnTo>
                    <a:pt x="6" y="0"/>
                  </a:lnTo>
                  <a:lnTo>
                    <a:pt x="10" y="0"/>
                  </a:lnTo>
                  <a:lnTo>
                    <a:pt x="16" y="0"/>
                  </a:lnTo>
                  <a:lnTo>
                    <a:pt x="16" y="24"/>
                  </a:lnTo>
                  <a:lnTo>
                    <a:pt x="10" y="42"/>
                  </a:lnTo>
                  <a:lnTo>
                    <a:pt x="10" y="48"/>
                  </a:lnTo>
                  <a:lnTo>
                    <a:pt x="10" y="52"/>
                  </a:lnTo>
                  <a:lnTo>
                    <a:pt x="6" y="52"/>
                  </a:lnTo>
                  <a:lnTo>
                    <a:pt x="0" y="52"/>
                  </a:lnTo>
                  <a:lnTo>
                    <a:pt x="0" y="55"/>
                  </a:lnTo>
                </a:path>
              </a:pathLst>
            </a:custGeom>
            <a:solidFill>
              <a:srgbClr val="BDB597"/>
            </a:solidFill>
            <a:ln w="9525" cap="rnd">
              <a:noFill/>
              <a:round/>
            </a:ln>
          </p:spPr>
          <p:txBody>
            <a:bodyPr/>
            <a:lstStyle/>
            <a:p>
              <a:endParaRPr lang="zh-CN" altLang="en-US"/>
            </a:p>
          </p:txBody>
        </p:sp>
        <p:sp>
          <p:nvSpPr>
            <p:cNvPr id="10443" name="Freeform 193"/>
            <p:cNvSpPr/>
            <p:nvPr/>
          </p:nvSpPr>
          <p:spPr bwMode="auto">
            <a:xfrm>
              <a:off x="2310" y="1998"/>
              <a:ext cx="17" cy="55"/>
            </a:xfrm>
            <a:custGeom>
              <a:avLst/>
              <a:gdLst>
                <a:gd name="T0" fmla="*/ 0 w 17"/>
                <a:gd name="T1" fmla="*/ 54 h 55"/>
                <a:gd name="T2" fmla="*/ 0 w 17"/>
                <a:gd name="T3" fmla="*/ 54 h 55"/>
                <a:gd name="T4" fmla="*/ 0 w 17"/>
                <a:gd name="T5" fmla="*/ 47 h 55"/>
                <a:gd name="T6" fmla="*/ 0 w 17"/>
                <a:gd name="T7" fmla="*/ 27 h 55"/>
                <a:gd name="T8" fmla="*/ 0 w 17"/>
                <a:gd name="T9" fmla="*/ 9 h 55"/>
                <a:gd name="T10" fmla="*/ 0 w 17"/>
                <a:gd name="T11" fmla="*/ 0 h 55"/>
                <a:gd name="T12" fmla="*/ 4 w 17"/>
                <a:gd name="T13" fmla="*/ 0 h 55"/>
                <a:gd name="T14" fmla="*/ 11 w 17"/>
                <a:gd name="T15" fmla="*/ 0 h 55"/>
                <a:gd name="T16" fmla="*/ 16 w 17"/>
                <a:gd name="T17" fmla="*/ 0 h 55"/>
                <a:gd name="T18" fmla="*/ 11 w 17"/>
                <a:gd name="T19" fmla="*/ 24 h 55"/>
                <a:gd name="T20" fmla="*/ 11 w 17"/>
                <a:gd name="T21" fmla="*/ 42 h 55"/>
                <a:gd name="T22" fmla="*/ 11 w 17"/>
                <a:gd name="T23" fmla="*/ 51 h 55"/>
                <a:gd name="T24" fmla="*/ 4 w 17"/>
                <a:gd name="T25" fmla="*/ 51 h 55"/>
                <a:gd name="T26" fmla="*/ 0 w 17"/>
                <a:gd name="T27" fmla="*/ 54 h 5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55"/>
                <a:gd name="T44" fmla="*/ 17 w 17"/>
                <a:gd name="T45" fmla="*/ 55 h 5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55">
                  <a:moveTo>
                    <a:pt x="0" y="54"/>
                  </a:moveTo>
                  <a:lnTo>
                    <a:pt x="0" y="54"/>
                  </a:lnTo>
                  <a:lnTo>
                    <a:pt x="0" y="47"/>
                  </a:lnTo>
                  <a:lnTo>
                    <a:pt x="0" y="27"/>
                  </a:lnTo>
                  <a:lnTo>
                    <a:pt x="0" y="9"/>
                  </a:lnTo>
                  <a:lnTo>
                    <a:pt x="0" y="0"/>
                  </a:lnTo>
                  <a:lnTo>
                    <a:pt x="4" y="0"/>
                  </a:lnTo>
                  <a:lnTo>
                    <a:pt x="11" y="0"/>
                  </a:lnTo>
                  <a:lnTo>
                    <a:pt x="16" y="0"/>
                  </a:lnTo>
                  <a:lnTo>
                    <a:pt x="11" y="24"/>
                  </a:lnTo>
                  <a:lnTo>
                    <a:pt x="11" y="42"/>
                  </a:lnTo>
                  <a:lnTo>
                    <a:pt x="11" y="51"/>
                  </a:lnTo>
                  <a:lnTo>
                    <a:pt x="4" y="51"/>
                  </a:lnTo>
                  <a:lnTo>
                    <a:pt x="0" y="54"/>
                  </a:lnTo>
                </a:path>
              </a:pathLst>
            </a:custGeom>
            <a:solidFill>
              <a:srgbClr val="BDB597"/>
            </a:solidFill>
            <a:ln w="9525" cap="rnd">
              <a:noFill/>
              <a:round/>
            </a:ln>
          </p:spPr>
          <p:txBody>
            <a:bodyPr/>
            <a:lstStyle/>
            <a:p>
              <a:endParaRPr lang="zh-CN" altLang="en-US"/>
            </a:p>
          </p:txBody>
        </p:sp>
        <p:sp>
          <p:nvSpPr>
            <p:cNvPr id="10444" name="Freeform 194"/>
            <p:cNvSpPr/>
            <p:nvPr/>
          </p:nvSpPr>
          <p:spPr bwMode="auto">
            <a:xfrm>
              <a:off x="2204" y="2051"/>
              <a:ext cx="17" cy="63"/>
            </a:xfrm>
            <a:custGeom>
              <a:avLst/>
              <a:gdLst>
                <a:gd name="T0" fmla="*/ 0 w 17"/>
                <a:gd name="T1" fmla="*/ 62 h 63"/>
                <a:gd name="T2" fmla="*/ 0 w 17"/>
                <a:gd name="T3" fmla="*/ 62 h 63"/>
                <a:gd name="T4" fmla="*/ 0 w 17"/>
                <a:gd name="T5" fmla="*/ 52 h 63"/>
                <a:gd name="T6" fmla="*/ 0 w 17"/>
                <a:gd name="T7" fmla="*/ 31 h 63"/>
                <a:gd name="T8" fmla="*/ 0 w 17"/>
                <a:gd name="T9" fmla="*/ 18 h 63"/>
                <a:gd name="T10" fmla="*/ 0 w 17"/>
                <a:gd name="T11" fmla="*/ 9 h 63"/>
                <a:gd name="T12" fmla="*/ 0 w 17"/>
                <a:gd name="T13" fmla="*/ 6 h 63"/>
                <a:gd name="T14" fmla="*/ 0 w 17"/>
                <a:gd name="T15" fmla="*/ 2 h 63"/>
                <a:gd name="T16" fmla="*/ 0 w 17"/>
                <a:gd name="T17" fmla="*/ 0 h 63"/>
                <a:gd name="T18" fmla="*/ 4 w 17"/>
                <a:gd name="T19" fmla="*/ 0 h 63"/>
                <a:gd name="T20" fmla="*/ 11 w 17"/>
                <a:gd name="T21" fmla="*/ 0 h 63"/>
                <a:gd name="T22" fmla="*/ 16 w 17"/>
                <a:gd name="T23" fmla="*/ 0 h 63"/>
                <a:gd name="T24" fmla="*/ 16 w 17"/>
                <a:gd name="T25" fmla="*/ 28 h 63"/>
                <a:gd name="T26" fmla="*/ 11 w 17"/>
                <a:gd name="T27" fmla="*/ 46 h 63"/>
                <a:gd name="T28" fmla="*/ 11 w 17"/>
                <a:gd name="T29" fmla="*/ 52 h 63"/>
                <a:gd name="T30" fmla="*/ 11 w 17"/>
                <a:gd name="T31" fmla="*/ 55 h 63"/>
                <a:gd name="T32" fmla="*/ 11 w 17"/>
                <a:gd name="T33" fmla="*/ 59 h 63"/>
                <a:gd name="T34" fmla="*/ 4 w 17"/>
                <a:gd name="T35" fmla="*/ 59 h 63"/>
                <a:gd name="T36" fmla="*/ 0 w 17"/>
                <a:gd name="T37" fmla="*/ 59 h 63"/>
                <a:gd name="T38" fmla="*/ 0 w 17"/>
                <a:gd name="T39" fmla="*/ 62 h 6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
                <a:gd name="T61" fmla="*/ 0 h 63"/>
                <a:gd name="T62" fmla="*/ 17 w 17"/>
                <a:gd name="T63" fmla="*/ 63 h 6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 h="63">
                  <a:moveTo>
                    <a:pt x="0" y="62"/>
                  </a:moveTo>
                  <a:lnTo>
                    <a:pt x="0" y="62"/>
                  </a:lnTo>
                  <a:lnTo>
                    <a:pt x="0" y="52"/>
                  </a:lnTo>
                  <a:lnTo>
                    <a:pt x="0" y="31"/>
                  </a:lnTo>
                  <a:lnTo>
                    <a:pt x="0" y="18"/>
                  </a:lnTo>
                  <a:lnTo>
                    <a:pt x="0" y="9"/>
                  </a:lnTo>
                  <a:lnTo>
                    <a:pt x="0" y="6"/>
                  </a:lnTo>
                  <a:lnTo>
                    <a:pt x="0" y="2"/>
                  </a:lnTo>
                  <a:lnTo>
                    <a:pt x="0" y="0"/>
                  </a:lnTo>
                  <a:lnTo>
                    <a:pt x="4" y="0"/>
                  </a:lnTo>
                  <a:lnTo>
                    <a:pt x="11" y="0"/>
                  </a:lnTo>
                  <a:lnTo>
                    <a:pt x="16" y="0"/>
                  </a:lnTo>
                  <a:lnTo>
                    <a:pt x="16" y="28"/>
                  </a:lnTo>
                  <a:lnTo>
                    <a:pt x="11" y="46"/>
                  </a:lnTo>
                  <a:lnTo>
                    <a:pt x="11" y="52"/>
                  </a:lnTo>
                  <a:lnTo>
                    <a:pt x="11" y="55"/>
                  </a:lnTo>
                  <a:lnTo>
                    <a:pt x="11" y="59"/>
                  </a:lnTo>
                  <a:lnTo>
                    <a:pt x="4" y="59"/>
                  </a:lnTo>
                  <a:lnTo>
                    <a:pt x="0" y="59"/>
                  </a:lnTo>
                  <a:lnTo>
                    <a:pt x="0" y="62"/>
                  </a:lnTo>
                </a:path>
              </a:pathLst>
            </a:custGeom>
            <a:solidFill>
              <a:srgbClr val="BDB597"/>
            </a:solidFill>
            <a:ln w="9525" cap="rnd">
              <a:noFill/>
              <a:round/>
            </a:ln>
          </p:spPr>
          <p:txBody>
            <a:bodyPr/>
            <a:lstStyle/>
            <a:p>
              <a:endParaRPr lang="zh-CN" altLang="en-US"/>
            </a:p>
          </p:txBody>
        </p:sp>
        <p:grpSp>
          <p:nvGrpSpPr>
            <p:cNvPr id="10304" name="Group 195"/>
            <p:cNvGrpSpPr/>
            <p:nvPr/>
          </p:nvGrpSpPr>
          <p:grpSpPr bwMode="auto">
            <a:xfrm>
              <a:off x="2425" y="1796"/>
              <a:ext cx="118" cy="110"/>
              <a:chOff x="2425" y="1796"/>
              <a:chExt cx="118" cy="110"/>
            </a:xfrm>
          </p:grpSpPr>
          <p:sp>
            <p:nvSpPr>
              <p:cNvPr id="10470" name="Freeform 196"/>
              <p:cNvSpPr/>
              <p:nvPr/>
            </p:nvSpPr>
            <p:spPr bwMode="auto">
              <a:xfrm>
                <a:off x="2460" y="1815"/>
                <a:ext cx="83" cy="91"/>
              </a:xfrm>
              <a:custGeom>
                <a:avLst/>
                <a:gdLst>
                  <a:gd name="T0" fmla="*/ 0 w 83"/>
                  <a:gd name="T1" fmla="*/ 90 h 91"/>
                  <a:gd name="T2" fmla="*/ 0 w 83"/>
                  <a:gd name="T3" fmla="*/ 90 h 91"/>
                  <a:gd name="T4" fmla="*/ 2 w 83"/>
                  <a:gd name="T5" fmla="*/ 40 h 91"/>
                  <a:gd name="T6" fmla="*/ 82 w 83"/>
                  <a:gd name="T7" fmla="*/ 0 h 91"/>
                  <a:gd name="T8" fmla="*/ 79 w 83"/>
                  <a:gd name="T9" fmla="*/ 49 h 91"/>
                  <a:gd name="T10" fmla="*/ 0 w 83"/>
                  <a:gd name="T11" fmla="*/ 90 h 91"/>
                  <a:gd name="T12" fmla="*/ 0 60000 65536"/>
                  <a:gd name="T13" fmla="*/ 0 60000 65536"/>
                  <a:gd name="T14" fmla="*/ 0 60000 65536"/>
                  <a:gd name="T15" fmla="*/ 0 60000 65536"/>
                  <a:gd name="T16" fmla="*/ 0 60000 65536"/>
                  <a:gd name="T17" fmla="*/ 0 60000 65536"/>
                  <a:gd name="T18" fmla="*/ 0 w 83"/>
                  <a:gd name="T19" fmla="*/ 0 h 91"/>
                  <a:gd name="T20" fmla="*/ 83 w 83"/>
                  <a:gd name="T21" fmla="*/ 91 h 91"/>
                </a:gdLst>
                <a:ahLst/>
                <a:cxnLst>
                  <a:cxn ang="T12">
                    <a:pos x="T0" y="T1"/>
                  </a:cxn>
                  <a:cxn ang="T13">
                    <a:pos x="T2" y="T3"/>
                  </a:cxn>
                  <a:cxn ang="T14">
                    <a:pos x="T4" y="T5"/>
                  </a:cxn>
                  <a:cxn ang="T15">
                    <a:pos x="T6" y="T7"/>
                  </a:cxn>
                  <a:cxn ang="T16">
                    <a:pos x="T8" y="T9"/>
                  </a:cxn>
                  <a:cxn ang="T17">
                    <a:pos x="T10" y="T11"/>
                  </a:cxn>
                </a:cxnLst>
                <a:rect l="T18" t="T19" r="T20" b="T21"/>
                <a:pathLst>
                  <a:path w="83" h="91">
                    <a:moveTo>
                      <a:pt x="0" y="90"/>
                    </a:moveTo>
                    <a:lnTo>
                      <a:pt x="0" y="90"/>
                    </a:lnTo>
                    <a:lnTo>
                      <a:pt x="2" y="40"/>
                    </a:lnTo>
                    <a:lnTo>
                      <a:pt x="82" y="0"/>
                    </a:lnTo>
                    <a:lnTo>
                      <a:pt x="79" y="49"/>
                    </a:lnTo>
                    <a:lnTo>
                      <a:pt x="0" y="90"/>
                    </a:lnTo>
                  </a:path>
                </a:pathLst>
              </a:custGeom>
              <a:solidFill>
                <a:srgbClr val="BB1A50"/>
              </a:solidFill>
              <a:ln w="9525" cap="rnd">
                <a:noFill/>
                <a:round/>
              </a:ln>
            </p:spPr>
            <p:txBody>
              <a:bodyPr/>
              <a:lstStyle/>
              <a:p>
                <a:endParaRPr lang="zh-CN" altLang="en-US"/>
              </a:p>
            </p:txBody>
          </p:sp>
          <p:sp>
            <p:nvSpPr>
              <p:cNvPr id="10471" name="Freeform 197"/>
              <p:cNvSpPr/>
              <p:nvPr/>
            </p:nvSpPr>
            <p:spPr bwMode="auto">
              <a:xfrm>
                <a:off x="2425" y="1837"/>
                <a:ext cx="36" cy="69"/>
              </a:xfrm>
              <a:custGeom>
                <a:avLst/>
                <a:gdLst>
                  <a:gd name="T0" fmla="*/ 32 w 36"/>
                  <a:gd name="T1" fmla="*/ 68 h 69"/>
                  <a:gd name="T2" fmla="*/ 32 w 36"/>
                  <a:gd name="T3" fmla="*/ 68 h 69"/>
                  <a:gd name="T4" fmla="*/ 0 w 36"/>
                  <a:gd name="T5" fmla="*/ 52 h 69"/>
                  <a:gd name="T6" fmla="*/ 2 w 36"/>
                  <a:gd name="T7" fmla="*/ 0 h 69"/>
                  <a:gd name="T8" fmla="*/ 35 w 36"/>
                  <a:gd name="T9" fmla="*/ 18 h 69"/>
                  <a:gd name="T10" fmla="*/ 32 w 36"/>
                  <a:gd name="T11" fmla="*/ 68 h 69"/>
                  <a:gd name="T12" fmla="*/ 0 60000 65536"/>
                  <a:gd name="T13" fmla="*/ 0 60000 65536"/>
                  <a:gd name="T14" fmla="*/ 0 60000 65536"/>
                  <a:gd name="T15" fmla="*/ 0 60000 65536"/>
                  <a:gd name="T16" fmla="*/ 0 60000 65536"/>
                  <a:gd name="T17" fmla="*/ 0 60000 65536"/>
                  <a:gd name="T18" fmla="*/ 0 w 36"/>
                  <a:gd name="T19" fmla="*/ 0 h 69"/>
                  <a:gd name="T20" fmla="*/ 36 w 36"/>
                  <a:gd name="T21" fmla="*/ 69 h 69"/>
                </a:gdLst>
                <a:ahLst/>
                <a:cxnLst>
                  <a:cxn ang="T12">
                    <a:pos x="T0" y="T1"/>
                  </a:cxn>
                  <a:cxn ang="T13">
                    <a:pos x="T2" y="T3"/>
                  </a:cxn>
                  <a:cxn ang="T14">
                    <a:pos x="T4" y="T5"/>
                  </a:cxn>
                  <a:cxn ang="T15">
                    <a:pos x="T6" y="T7"/>
                  </a:cxn>
                  <a:cxn ang="T16">
                    <a:pos x="T8" y="T9"/>
                  </a:cxn>
                  <a:cxn ang="T17">
                    <a:pos x="T10" y="T11"/>
                  </a:cxn>
                </a:cxnLst>
                <a:rect l="T18" t="T19" r="T20" b="T21"/>
                <a:pathLst>
                  <a:path w="36" h="69">
                    <a:moveTo>
                      <a:pt x="32" y="68"/>
                    </a:moveTo>
                    <a:lnTo>
                      <a:pt x="32" y="68"/>
                    </a:lnTo>
                    <a:lnTo>
                      <a:pt x="0" y="52"/>
                    </a:lnTo>
                    <a:lnTo>
                      <a:pt x="2" y="0"/>
                    </a:lnTo>
                    <a:lnTo>
                      <a:pt x="35" y="18"/>
                    </a:lnTo>
                    <a:lnTo>
                      <a:pt x="32" y="68"/>
                    </a:lnTo>
                  </a:path>
                </a:pathLst>
              </a:custGeom>
              <a:solidFill>
                <a:srgbClr val="9E0005"/>
              </a:solidFill>
              <a:ln w="9525" cap="rnd">
                <a:noFill/>
                <a:round/>
              </a:ln>
            </p:spPr>
            <p:txBody>
              <a:bodyPr/>
              <a:lstStyle/>
              <a:p>
                <a:endParaRPr lang="zh-CN" altLang="en-US"/>
              </a:p>
            </p:txBody>
          </p:sp>
          <p:sp>
            <p:nvSpPr>
              <p:cNvPr id="10472" name="Freeform 198"/>
              <p:cNvSpPr/>
              <p:nvPr/>
            </p:nvSpPr>
            <p:spPr bwMode="auto">
              <a:xfrm>
                <a:off x="2428" y="1796"/>
                <a:ext cx="114" cy="58"/>
              </a:xfrm>
              <a:custGeom>
                <a:avLst/>
                <a:gdLst>
                  <a:gd name="T0" fmla="*/ 33 w 114"/>
                  <a:gd name="T1" fmla="*/ 57 h 58"/>
                  <a:gd name="T2" fmla="*/ 33 w 114"/>
                  <a:gd name="T3" fmla="*/ 57 h 58"/>
                  <a:gd name="T4" fmla="*/ 0 w 114"/>
                  <a:gd name="T5" fmla="*/ 38 h 58"/>
                  <a:gd name="T6" fmla="*/ 82 w 114"/>
                  <a:gd name="T7" fmla="*/ 0 h 58"/>
                  <a:gd name="T8" fmla="*/ 113 w 114"/>
                  <a:gd name="T9" fmla="*/ 18 h 58"/>
                  <a:gd name="T10" fmla="*/ 33 w 114"/>
                  <a:gd name="T11" fmla="*/ 57 h 58"/>
                  <a:gd name="T12" fmla="*/ 0 60000 65536"/>
                  <a:gd name="T13" fmla="*/ 0 60000 65536"/>
                  <a:gd name="T14" fmla="*/ 0 60000 65536"/>
                  <a:gd name="T15" fmla="*/ 0 60000 65536"/>
                  <a:gd name="T16" fmla="*/ 0 60000 65536"/>
                  <a:gd name="T17" fmla="*/ 0 60000 65536"/>
                  <a:gd name="T18" fmla="*/ 0 w 114"/>
                  <a:gd name="T19" fmla="*/ 0 h 58"/>
                  <a:gd name="T20" fmla="*/ 114 w 114"/>
                  <a:gd name="T21" fmla="*/ 58 h 58"/>
                </a:gdLst>
                <a:ahLst/>
                <a:cxnLst>
                  <a:cxn ang="T12">
                    <a:pos x="T0" y="T1"/>
                  </a:cxn>
                  <a:cxn ang="T13">
                    <a:pos x="T2" y="T3"/>
                  </a:cxn>
                  <a:cxn ang="T14">
                    <a:pos x="T4" y="T5"/>
                  </a:cxn>
                  <a:cxn ang="T15">
                    <a:pos x="T6" y="T7"/>
                  </a:cxn>
                  <a:cxn ang="T16">
                    <a:pos x="T8" y="T9"/>
                  </a:cxn>
                  <a:cxn ang="T17">
                    <a:pos x="T10" y="T11"/>
                  </a:cxn>
                </a:cxnLst>
                <a:rect l="T18" t="T19" r="T20" b="T21"/>
                <a:pathLst>
                  <a:path w="114" h="58">
                    <a:moveTo>
                      <a:pt x="33" y="57"/>
                    </a:moveTo>
                    <a:lnTo>
                      <a:pt x="33" y="57"/>
                    </a:lnTo>
                    <a:lnTo>
                      <a:pt x="0" y="38"/>
                    </a:lnTo>
                    <a:lnTo>
                      <a:pt x="82" y="0"/>
                    </a:lnTo>
                    <a:lnTo>
                      <a:pt x="113" y="18"/>
                    </a:lnTo>
                    <a:lnTo>
                      <a:pt x="33" y="57"/>
                    </a:lnTo>
                  </a:path>
                </a:pathLst>
              </a:custGeom>
              <a:solidFill>
                <a:srgbClr val="CF5C82"/>
              </a:solidFill>
              <a:ln w="9525" cap="rnd">
                <a:noFill/>
                <a:round/>
              </a:ln>
            </p:spPr>
            <p:txBody>
              <a:bodyPr/>
              <a:lstStyle/>
              <a:p>
                <a:endParaRPr lang="zh-CN" altLang="en-US"/>
              </a:p>
            </p:txBody>
          </p:sp>
        </p:grpSp>
        <p:grpSp>
          <p:nvGrpSpPr>
            <p:cNvPr id="10305" name="Group 199"/>
            <p:cNvGrpSpPr/>
            <p:nvPr/>
          </p:nvGrpSpPr>
          <p:grpSpPr bwMode="auto">
            <a:xfrm>
              <a:off x="2326" y="1843"/>
              <a:ext cx="129" cy="117"/>
              <a:chOff x="2326" y="1843"/>
              <a:chExt cx="129" cy="117"/>
            </a:xfrm>
          </p:grpSpPr>
          <p:sp>
            <p:nvSpPr>
              <p:cNvPr id="10467" name="Freeform 200"/>
              <p:cNvSpPr/>
              <p:nvPr/>
            </p:nvSpPr>
            <p:spPr bwMode="auto">
              <a:xfrm>
                <a:off x="2366" y="1863"/>
                <a:ext cx="89" cy="97"/>
              </a:xfrm>
              <a:custGeom>
                <a:avLst/>
                <a:gdLst>
                  <a:gd name="T0" fmla="*/ 0 w 89"/>
                  <a:gd name="T1" fmla="*/ 96 h 97"/>
                  <a:gd name="T2" fmla="*/ 0 w 89"/>
                  <a:gd name="T3" fmla="*/ 96 h 97"/>
                  <a:gd name="T4" fmla="*/ 2 w 89"/>
                  <a:gd name="T5" fmla="*/ 39 h 97"/>
                  <a:gd name="T6" fmla="*/ 88 w 89"/>
                  <a:gd name="T7" fmla="*/ 0 h 97"/>
                  <a:gd name="T8" fmla="*/ 85 w 89"/>
                  <a:gd name="T9" fmla="*/ 49 h 97"/>
                  <a:gd name="T10" fmla="*/ 0 w 89"/>
                  <a:gd name="T11" fmla="*/ 96 h 97"/>
                  <a:gd name="T12" fmla="*/ 0 60000 65536"/>
                  <a:gd name="T13" fmla="*/ 0 60000 65536"/>
                  <a:gd name="T14" fmla="*/ 0 60000 65536"/>
                  <a:gd name="T15" fmla="*/ 0 60000 65536"/>
                  <a:gd name="T16" fmla="*/ 0 60000 65536"/>
                  <a:gd name="T17" fmla="*/ 0 60000 65536"/>
                  <a:gd name="T18" fmla="*/ 0 w 89"/>
                  <a:gd name="T19" fmla="*/ 0 h 97"/>
                  <a:gd name="T20" fmla="*/ 89 w 89"/>
                  <a:gd name="T21" fmla="*/ 97 h 97"/>
                </a:gdLst>
                <a:ahLst/>
                <a:cxnLst>
                  <a:cxn ang="T12">
                    <a:pos x="T0" y="T1"/>
                  </a:cxn>
                  <a:cxn ang="T13">
                    <a:pos x="T2" y="T3"/>
                  </a:cxn>
                  <a:cxn ang="T14">
                    <a:pos x="T4" y="T5"/>
                  </a:cxn>
                  <a:cxn ang="T15">
                    <a:pos x="T6" y="T7"/>
                  </a:cxn>
                  <a:cxn ang="T16">
                    <a:pos x="T8" y="T9"/>
                  </a:cxn>
                  <a:cxn ang="T17">
                    <a:pos x="T10" y="T11"/>
                  </a:cxn>
                </a:cxnLst>
                <a:rect l="T18" t="T19" r="T20" b="T21"/>
                <a:pathLst>
                  <a:path w="89" h="97">
                    <a:moveTo>
                      <a:pt x="0" y="96"/>
                    </a:moveTo>
                    <a:lnTo>
                      <a:pt x="0" y="96"/>
                    </a:lnTo>
                    <a:lnTo>
                      <a:pt x="2" y="39"/>
                    </a:lnTo>
                    <a:lnTo>
                      <a:pt x="88" y="0"/>
                    </a:lnTo>
                    <a:lnTo>
                      <a:pt x="85" y="49"/>
                    </a:lnTo>
                    <a:lnTo>
                      <a:pt x="0" y="96"/>
                    </a:lnTo>
                  </a:path>
                </a:pathLst>
              </a:custGeom>
              <a:solidFill>
                <a:srgbClr val="BB1A50"/>
              </a:solidFill>
              <a:ln w="9525" cap="rnd">
                <a:noFill/>
                <a:round/>
              </a:ln>
            </p:spPr>
            <p:txBody>
              <a:bodyPr/>
              <a:lstStyle/>
              <a:p>
                <a:endParaRPr lang="zh-CN" altLang="en-US"/>
              </a:p>
            </p:txBody>
          </p:sp>
          <p:sp>
            <p:nvSpPr>
              <p:cNvPr id="10468" name="Freeform 201"/>
              <p:cNvSpPr/>
              <p:nvPr/>
            </p:nvSpPr>
            <p:spPr bwMode="auto">
              <a:xfrm>
                <a:off x="2326" y="1889"/>
                <a:ext cx="41" cy="71"/>
              </a:xfrm>
              <a:custGeom>
                <a:avLst/>
                <a:gdLst>
                  <a:gd name="T0" fmla="*/ 37 w 41"/>
                  <a:gd name="T1" fmla="*/ 70 h 71"/>
                  <a:gd name="T2" fmla="*/ 37 w 41"/>
                  <a:gd name="T3" fmla="*/ 70 h 71"/>
                  <a:gd name="T4" fmla="*/ 0 w 41"/>
                  <a:gd name="T5" fmla="*/ 52 h 71"/>
                  <a:gd name="T6" fmla="*/ 2 w 41"/>
                  <a:gd name="T7" fmla="*/ 0 h 71"/>
                  <a:gd name="T8" fmla="*/ 40 w 41"/>
                  <a:gd name="T9" fmla="*/ 15 h 71"/>
                  <a:gd name="T10" fmla="*/ 37 w 41"/>
                  <a:gd name="T11" fmla="*/ 70 h 71"/>
                  <a:gd name="T12" fmla="*/ 0 60000 65536"/>
                  <a:gd name="T13" fmla="*/ 0 60000 65536"/>
                  <a:gd name="T14" fmla="*/ 0 60000 65536"/>
                  <a:gd name="T15" fmla="*/ 0 60000 65536"/>
                  <a:gd name="T16" fmla="*/ 0 60000 65536"/>
                  <a:gd name="T17" fmla="*/ 0 60000 65536"/>
                  <a:gd name="T18" fmla="*/ 0 w 41"/>
                  <a:gd name="T19" fmla="*/ 0 h 71"/>
                  <a:gd name="T20" fmla="*/ 41 w 41"/>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41" h="71">
                    <a:moveTo>
                      <a:pt x="37" y="70"/>
                    </a:moveTo>
                    <a:lnTo>
                      <a:pt x="37" y="70"/>
                    </a:lnTo>
                    <a:lnTo>
                      <a:pt x="0" y="52"/>
                    </a:lnTo>
                    <a:lnTo>
                      <a:pt x="2" y="0"/>
                    </a:lnTo>
                    <a:lnTo>
                      <a:pt x="40" y="15"/>
                    </a:lnTo>
                    <a:lnTo>
                      <a:pt x="37" y="70"/>
                    </a:lnTo>
                  </a:path>
                </a:pathLst>
              </a:custGeom>
              <a:solidFill>
                <a:srgbClr val="9E0005"/>
              </a:solidFill>
              <a:ln w="9525" cap="rnd">
                <a:noFill/>
                <a:round/>
              </a:ln>
            </p:spPr>
            <p:txBody>
              <a:bodyPr/>
              <a:lstStyle/>
              <a:p>
                <a:endParaRPr lang="zh-CN" altLang="en-US"/>
              </a:p>
            </p:txBody>
          </p:sp>
          <p:sp>
            <p:nvSpPr>
              <p:cNvPr id="10469" name="Freeform 202"/>
              <p:cNvSpPr/>
              <p:nvPr/>
            </p:nvSpPr>
            <p:spPr bwMode="auto">
              <a:xfrm>
                <a:off x="2330" y="1843"/>
                <a:ext cx="125" cy="58"/>
              </a:xfrm>
              <a:custGeom>
                <a:avLst/>
                <a:gdLst>
                  <a:gd name="T0" fmla="*/ 38 w 125"/>
                  <a:gd name="T1" fmla="*/ 57 h 58"/>
                  <a:gd name="T2" fmla="*/ 38 w 125"/>
                  <a:gd name="T3" fmla="*/ 57 h 58"/>
                  <a:gd name="T4" fmla="*/ 0 w 125"/>
                  <a:gd name="T5" fmla="*/ 39 h 58"/>
                  <a:gd name="T6" fmla="*/ 91 w 125"/>
                  <a:gd name="T7" fmla="*/ 0 h 58"/>
                  <a:gd name="T8" fmla="*/ 124 w 125"/>
                  <a:gd name="T9" fmla="*/ 17 h 58"/>
                  <a:gd name="T10" fmla="*/ 38 w 125"/>
                  <a:gd name="T11" fmla="*/ 57 h 58"/>
                  <a:gd name="T12" fmla="*/ 0 60000 65536"/>
                  <a:gd name="T13" fmla="*/ 0 60000 65536"/>
                  <a:gd name="T14" fmla="*/ 0 60000 65536"/>
                  <a:gd name="T15" fmla="*/ 0 60000 65536"/>
                  <a:gd name="T16" fmla="*/ 0 60000 65536"/>
                  <a:gd name="T17" fmla="*/ 0 60000 65536"/>
                  <a:gd name="T18" fmla="*/ 0 w 125"/>
                  <a:gd name="T19" fmla="*/ 0 h 58"/>
                  <a:gd name="T20" fmla="*/ 125 w 125"/>
                  <a:gd name="T21" fmla="*/ 58 h 58"/>
                </a:gdLst>
                <a:ahLst/>
                <a:cxnLst>
                  <a:cxn ang="T12">
                    <a:pos x="T0" y="T1"/>
                  </a:cxn>
                  <a:cxn ang="T13">
                    <a:pos x="T2" y="T3"/>
                  </a:cxn>
                  <a:cxn ang="T14">
                    <a:pos x="T4" y="T5"/>
                  </a:cxn>
                  <a:cxn ang="T15">
                    <a:pos x="T6" y="T7"/>
                  </a:cxn>
                  <a:cxn ang="T16">
                    <a:pos x="T8" y="T9"/>
                  </a:cxn>
                  <a:cxn ang="T17">
                    <a:pos x="T10" y="T11"/>
                  </a:cxn>
                </a:cxnLst>
                <a:rect l="T18" t="T19" r="T20" b="T21"/>
                <a:pathLst>
                  <a:path w="125" h="58">
                    <a:moveTo>
                      <a:pt x="38" y="57"/>
                    </a:moveTo>
                    <a:lnTo>
                      <a:pt x="38" y="57"/>
                    </a:lnTo>
                    <a:lnTo>
                      <a:pt x="0" y="39"/>
                    </a:lnTo>
                    <a:lnTo>
                      <a:pt x="91" y="0"/>
                    </a:lnTo>
                    <a:lnTo>
                      <a:pt x="124" y="17"/>
                    </a:lnTo>
                    <a:lnTo>
                      <a:pt x="38" y="57"/>
                    </a:lnTo>
                  </a:path>
                </a:pathLst>
              </a:custGeom>
              <a:solidFill>
                <a:srgbClr val="CF5C82"/>
              </a:solidFill>
              <a:ln w="9525" cap="rnd">
                <a:noFill/>
                <a:round/>
              </a:ln>
            </p:spPr>
            <p:txBody>
              <a:bodyPr/>
              <a:lstStyle/>
              <a:p>
                <a:endParaRPr lang="zh-CN" altLang="en-US"/>
              </a:p>
            </p:txBody>
          </p:sp>
        </p:grpSp>
        <p:grpSp>
          <p:nvGrpSpPr>
            <p:cNvPr id="10306" name="Group 203"/>
            <p:cNvGrpSpPr/>
            <p:nvPr/>
          </p:nvGrpSpPr>
          <p:grpSpPr bwMode="auto">
            <a:xfrm>
              <a:off x="2220" y="1892"/>
              <a:ext cx="141" cy="122"/>
              <a:chOff x="2220" y="1892"/>
              <a:chExt cx="141" cy="122"/>
            </a:xfrm>
          </p:grpSpPr>
          <p:sp>
            <p:nvSpPr>
              <p:cNvPr id="10464" name="Freeform 204"/>
              <p:cNvSpPr/>
              <p:nvPr/>
            </p:nvSpPr>
            <p:spPr bwMode="auto">
              <a:xfrm>
                <a:off x="2264" y="1911"/>
                <a:ext cx="97" cy="103"/>
              </a:xfrm>
              <a:custGeom>
                <a:avLst/>
                <a:gdLst>
                  <a:gd name="T0" fmla="*/ 0 w 97"/>
                  <a:gd name="T1" fmla="*/ 102 h 103"/>
                  <a:gd name="T2" fmla="*/ 0 w 97"/>
                  <a:gd name="T3" fmla="*/ 102 h 103"/>
                  <a:gd name="T4" fmla="*/ 2 w 97"/>
                  <a:gd name="T5" fmla="*/ 46 h 103"/>
                  <a:gd name="T6" fmla="*/ 96 w 97"/>
                  <a:gd name="T7" fmla="*/ 0 h 103"/>
                  <a:gd name="T8" fmla="*/ 93 w 97"/>
                  <a:gd name="T9" fmla="*/ 55 h 103"/>
                  <a:gd name="T10" fmla="*/ 0 w 97"/>
                  <a:gd name="T11" fmla="*/ 102 h 103"/>
                  <a:gd name="T12" fmla="*/ 0 60000 65536"/>
                  <a:gd name="T13" fmla="*/ 0 60000 65536"/>
                  <a:gd name="T14" fmla="*/ 0 60000 65536"/>
                  <a:gd name="T15" fmla="*/ 0 60000 65536"/>
                  <a:gd name="T16" fmla="*/ 0 60000 65536"/>
                  <a:gd name="T17" fmla="*/ 0 60000 65536"/>
                  <a:gd name="T18" fmla="*/ 0 w 97"/>
                  <a:gd name="T19" fmla="*/ 0 h 103"/>
                  <a:gd name="T20" fmla="*/ 97 w 97"/>
                  <a:gd name="T21" fmla="*/ 103 h 103"/>
                </a:gdLst>
                <a:ahLst/>
                <a:cxnLst>
                  <a:cxn ang="T12">
                    <a:pos x="T0" y="T1"/>
                  </a:cxn>
                  <a:cxn ang="T13">
                    <a:pos x="T2" y="T3"/>
                  </a:cxn>
                  <a:cxn ang="T14">
                    <a:pos x="T4" y="T5"/>
                  </a:cxn>
                  <a:cxn ang="T15">
                    <a:pos x="T6" y="T7"/>
                  </a:cxn>
                  <a:cxn ang="T16">
                    <a:pos x="T8" y="T9"/>
                  </a:cxn>
                  <a:cxn ang="T17">
                    <a:pos x="T10" y="T11"/>
                  </a:cxn>
                </a:cxnLst>
                <a:rect l="T18" t="T19" r="T20" b="T21"/>
                <a:pathLst>
                  <a:path w="97" h="103">
                    <a:moveTo>
                      <a:pt x="0" y="102"/>
                    </a:moveTo>
                    <a:lnTo>
                      <a:pt x="0" y="102"/>
                    </a:lnTo>
                    <a:lnTo>
                      <a:pt x="2" y="46"/>
                    </a:lnTo>
                    <a:lnTo>
                      <a:pt x="96" y="0"/>
                    </a:lnTo>
                    <a:lnTo>
                      <a:pt x="93" y="55"/>
                    </a:lnTo>
                    <a:lnTo>
                      <a:pt x="0" y="102"/>
                    </a:lnTo>
                  </a:path>
                </a:pathLst>
              </a:custGeom>
              <a:solidFill>
                <a:srgbClr val="BB1A50"/>
              </a:solidFill>
              <a:ln w="9525" cap="rnd">
                <a:noFill/>
                <a:round/>
              </a:ln>
            </p:spPr>
            <p:txBody>
              <a:bodyPr/>
              <a:lstStyle/>
              <a:p>
                <a:endParaRPr lang="zh-CN" altLang="en-US"/>
              </a:p>
            </p:txBody>
          </p:sp>
          <p:sp>
            <p:nvSpPr>
              <p:cNvPr id="10465" name="Freeform 205"/>
              <p:cNvSpPr/>
              <p:nvPr/>
            </p:nvSpPr>
            <p:spPr bwMode="auto">
              <a:xfrm>
                <a:off x="2220" y="1940"/>
                <a:ext cx="44" cy="74"/>
              </a:xfrm>
              <a:custGeom>
                <a:avLst/>
                <a:gdLst>
                  <a:gd name="T0" fmla="*/ 40 w 44"/>
                  <a:gd name="T1" fmla="*/ 73 h 74"/>
                  <a:gd name="T2" fmla="*/ 40 w 44"/>
                  <a:gd name="T3" fmla="*/ 73 h 74"/>
                  <a:gd name="T4" fmla="*/ 0 w 44"/>
                  <a:gd name="T5" fmla="*/ 57 h 74"/>
                  <a:gd name="T6" fmla="*/ 2 w 44"/>
                  <a:gd name="T7" fmla="*/ 0 h 74"/>
                  <a:gd name="T8" fmla="*/ 43 w 44"/>
                  <a:gd name="T9" fmla="*/ 18 h 74"/>
                  <a:gd name="T10" fmla="*/ 40 w 44"/>
                  <a:gd name="T11" fmla="*/ 73 h 74"/>
                  <a:gd name="T12" fmla="*/ 0 60000 65536"/>
                  <a:gd name="T13" fmla="*/ 0 60000 65536"/>
                  <a:gd name="T14" fmla="*/ 0 60000 65536"/>
                  <a:gd name="T15" fmla="*/ 0 60000 65536"/>
                  <a:gd name="T16" fmla="*/ 0 60000 65536"/>
                  <a:gd name="T17" fmla="*/ 0 60000 65536"/>
                  <a:gd name="T18" fmla="*/ 0 w 44"/>
                  <a:gd name="T19" fmla="*/ 0 h 74"/>
                  <a:gd name="T20" fmla="*/ 44 w 44"/>
                  <a:gd name="T21" fmla="*/ 74 h 74"/>
                </a:gdLst>
                <a:ahLst/>
                <a:cxnLst>
                  <a:cxn ang="T12">
                    <a:pos x="T0" y="T1"/>
                  </a:cxn>
                  <a:cxn ang="T13">
                    <a:pos x="T2" y="T3"/>
                  </a:cxn>
                  <a:cxn ang="T14">
                    <a:pos x="T4" y="T5"/>
                  </a:cxn>
                  <a:cxn ang="T15">
                    <a:pos x="T6" y="T7"/>
                  </a:cxn>
                  <a:cxn ang="T16">
                    <a:pos x="T8" y="T9"/>
                  </a:cxn>
                  <a:cxn ang="T17">
                    <a:pos x="T10" y="T11"/>
                  </a:cxn>
                </a:cxnLst>
                <a:rect l="T18" t="T19" r="T20" b="T21"/>
                <a:pathLst>
                  <a:path w="44" h="74">
                    <a:moveTo>
                      <a:pt x="40" y="73"/>
                    </a:moveTo>
                    <a:lnTo>
                      <a:pt x="40" y="73"/>
                    </a:lnTo>
                    <a:lnTo>
                      <a:pt x="0" y="57"/>
                    </a:lnTo>
                    <a:lnTo>
                      <a:pt x="2" y="0"/>
                    </a:lnTo>
                    <a:lnTo>
                      <a:pt x="43" y="18"/>
                    </a:lnTo>
                    <a:lnTo>
                      <a:pt x="40" y="73"/>
                    </a:lnTo>
                  </a:path>
                </a:pathLst>
              </a:custGeom>
              <a:solidFill>
                <a:srgbClr val="9E0005"/>
              </a:solidFill>
              <a:ln w="9525" cap="rnd">
                <a:noFill/>
                <a:round/>
              </a:ln>
            </p:spPr>
            <p:txBody>
              <a:bodyPr/>
              <a:lstStyle/>
              <a:p>
                <a:endParaRPr lang="zh-CN" altLang="en-US"/>
              </a:p>
            </p:txBody>
          </p:sp>
          <p:sp>
            <p:nvSpPr>
              <p:cNvPr id="10466" name="Freeform 206"/>
              <p:cNvSpPr/>
              <p:nvPr/>
            </p:nvSpPr>
            <p:spPr bwMode="auto">
              <a:xfrm>
                <a:off x="2224" y="1892"/>
                <a:ext cx="137" cy="65"/>
              </a:xfrm>
              <a:custGeom>
                <a:avLst/>
                <a:gdLst>
                  <a:gd name="T0" fmla="*/ 41 w 137"/>
                  <a:gd name="T1" fmla="*/ 64 h 65"/>
                  <a:gd name="T2" fmla="*/ 41 w 137"/>
                  <a:gd name="T3" fmla="*/ 64 h 65"/>
                  <a:gd name="T4" fmla="*/ 0 w 137"/>
                  <a:gd name="T5" fmla="*/ 45 h 65"/>
                  <a:gd name="T6" fmla="*/ 97 w 137"/>
                  <a:gd name="T7" fmla="*/ 0 h 65"/>
                  <a:gd name="T8" fmla="*/ 136 w 137"/>
                  <a:gd name="T9" fmla="*/ 18 h 65"/>
                  <a:gd name="T10" fmla="*/ 41 w 137"/>
                  <a:gd name="T11" fmla="*/ 64 h 65"/>
                  <a:gd name="T12" fmla="*/ 0 60000 65536"/>
                  <a:gd name="T13" fmla="*/ 0 60000 65536"/>
                  <a:gd name="T14" fmla="*/ 0 60000 65536"/>
                  <a:gd name="T15" fmla="*/ 0 60000 65536"/>
                  <a:gd name="T16" fmla="*/ 0 60000 65536"/>
                  <a:gd name="T17" fmla="*/ 0 60000 65536"/>
                  <a:gd name="T18" fmla="*/ 0 w 137"/>
                  <a:gd name="T19" fmla="*/ 0 h 65"/>
                  <a:gd name="T20" fmla="*/ 137 w 137"/>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137" h="65">
                    <a:moveTo>
                      <a:pt x="41" y="64"/>
                    </a:moveTo>
                    <a:lnTo>
                      <a:pt x="41" y="64"/>
                    </a:lnTo>
                    <a:lnTo>
                      <a:pt x="0" y="45"/>
                    </a:lnTo>
                    <a:lnTo>
                      <a:pt x="97" y="0"/>
                    </a:lnTo>
                    <a:lnTo>
                      <a:pt x="136" y="18"/>
                    </a:lnTo>
                    <a:lnTo>
                      <a:pt x="41" y="64"/>
                    </a:lnTo>
                  </a:path>
                </a:pathLst>
              </a:custGeom>
              <a:solidFill>
                <a:srgbClr val="CF5C82"/>
              </a:solidFill>
              <a:ln w="9525" cap="rnd">
                <a:noFill/>
                <a:round/>
              </a:ln>
            </p:spPr>
            <p:txBody>
              <a:bodyPr/>
              <a:lstStyle/>
              <a:p>
                <a:endParaRPr lang="zh-CN" altLang="en-US"/>
              </a:p>
            </p:txBody>
          </p:sp>
        </p:grpSp>
        <p:grpSp>
          <p:nvGrpSpPr>
            <p:cNvPr id="10307" name="Group 207"/>
            <p:cNvGrpSpPr/>
            <p:nvPr/>
          </p:nvGrpSpPr>
          <p:grpSpPr bwMode="auto">
            <a:xfrm>
              <a:off x="2109" y="1945"/>
              <a:ext cx="150" cy="127"/>
              <a:chOff x="2109" y="1945"/>
              <a:chExt cx="150" cy="127"/>
            </a:xfrm>
          </p:grpSpPr>
          <p:sp>
            <p:nvSpPr>
              <p:cNvPr id="10461" name="Freeform 208"/>
              <p:cNvSpPr/>
              <p:nvPr/>
            </p:nvSpPr>
            <p:spPr bwMode="auto">
              <a:xfrm>
                <a:off x="2154" y="1966"/>
                <a:ext cx="104" cy="106"/>
              </a:xfrm>
              <a:custGeom>
                <a:avLst/>
                <a:gdLst>
                  <a:gd name="T0" fmla="*/ 0 w 104"/>
                  <a:gd name="T1" fmla="*/ 105 h 106"/>
                  <a:gd name="T2" fmla="*/ 0 w 104"/>
                  <a:gd name="T3" fmla="*/ 105 h 106"/>
                  <a:gd name="T4" fmla="*/ 0 w 104"/>
                  <a:gd name="T5" fmla="*/ 49 h 106"/>
                  <a:gd name="T6" fmla="*/ 103 w 104"/>
                  <a:gd name="T7" fmla="*/ 0 h 106"/>
                  <a:gd name="T8" fmla="*/ 103 w 104"/>
                  <a:gd name="T9" fmla="*/ 55 h 106"/>
                  <a:gd name="T10" fmla="*/ 0 w 104"/>
                  <a:gd name="T11" fmla="*/ 105 h 106"/>
                  <a:gd name="T12" fmla="*/ 0 60000 65536"/>
                  <a:gd name="T13" fmla="*/ 0 60000 65536"/>
                  <a:gd name="T14" fmla="*/ 0 60000 65536"/>
                  <a:gd name="T15" fmla="*/ 0 60000 65536"/>
                  <a:gd name="T16" fmla="*/ 0 60000 65536"/>
                  <a:gd name="T17" fmla="*/ 0 60000 65536"/>
                  <a:gd name="T18" fmla="*/ 0 w 104"/>
                  <a:gd name="T19" fmla="*/ 0 h 106"/>
                  <a:gd name="T20" fmla="*/ 104 w 104"/>
                  <a:gd name="T21" fmla="*/ 106 h 106"/>
                </a:gdLst>
                <a:ahLst/>
                <a:cxnLst>
                  <a:cxn ang="T12">
                    <a:pos x="T0" y="T1"/>
                  </a:cxn>
                  <a:cxn ang="T13">
                    <a:pos x="T2" y="T3"/>
                  </a:cxn>
                  <a:cxn ang="T14">
                    <a:pos x="T4" y="T5"/>
                  </a:cxn>
                  <a:cxn ang="T15">
                    <a:pos x="T6" y="T7"/>
                  </a:cxn>
                  <a:cxn ang="T16">
                    <a:pos x="T8" y="T9"/>
                  </a:cxn>
                  <a:cxn ang="T17">
                    <a:pos x="T10" y="T11"/>
                  </a:cxn>
                </a:cxnLst>
                <a:rect l="T18" t="T19" r="T20" b="T21"/>
                <a:pathLst>
                  <a:path w="104" h="106">
                    <a:moveTo>
                      <a:pt x="0" y="105"/>
                    </a:moveTo>
                    <a:lnTo>
                      <a:pt x="0" y="105"/>
                    </a:lnTo>
                    <a:lnTo>
                      <a:pt x="0" y="49"/>
                    </a:lnTo>
                    <a:lnTo>
                      <a:pt x="103" y="0"/>
                    </a:lnTo>
                    <a:lnTo>
                      <a:pt x="103" y="55"/>
                    </a:lnTo>
                    <a:lnTo>
                      <a:pt x="0" y="105"/>
                    </a:lnTo>
                  </a:path>
                </a:pathLst>
              </a:custGeom>
              <a:solidFill>
                <a:srgbClr val="BB1A50"/>
              </a:solidFill>
              <a:ln w="9525" cap="rnd">
                <a:noFill/>
                <a:round/>
              </a:ln>
            </p:spPr>
            <p:txBody>
              <a:bodyPr/>
              <a:lstStyle/>
              <a:p>
                <a:endParaRPr lang="zh-CN" altLang="en-US"/>
              </a:p>
            </p:txBody>
          </p:sp>
          <p:sp>
            <p:nvSpPr>
              <p:cNvPr id="10462" name="Freeform 209"/>
              <p:cNvSpPr/>
              <p:nvPr/>
            </p:nvSpPr>
            <p:spPr bwMode="auto">
              <a:xfrm>
                <a:off x="2109" y="1997"/>
                <a:ext cx="44" cy="74"/>
              </a:xfrm>
              <a:custGeom>
                <a:avLst/>
                <a:gdLst>
                  <a:gd name="T0" fmla="*/ 43 w 44"/>
                  <a:gd name="T1" fmla="*/ 73 h 74"/>
                  <a:gd name="T2" fmla="*/ 43 w 44"/>
                  <a:gd name="T3" fmla="*/ 73 h 74"/>
                  <a:gd name="T4" fmla="*/ 0 w 44"/>
                  <a:gd name="T5" fmla="*/ 57 h 74"/>
                  <a:gd name="T6" fmla="*/ 0 w 44"/>
                  <a:gd name="T7" fmla="*/ 0 h 74"/>
                  <a:gd name="T8" fmla="*/ 43 w 44"/>
                  <a:gd name="T9" fmla="*/ 18 h 74"/>
                  <a:gd name="T10" fmla="*/ 43 w 44"/>
                  <a:gd name="T11" fmla="*/ 73 h 74"/>
                  <a:gd name="T12" fmla="*/ 0 60000 65536"/>
                  <a:gd name="T13" fmla="*/ 0 60000 65536"/>
                  <a:gd name="T14" fmla="*/ 0 60000 65536"/>
                  <a:gd name="T15" fmla="*/ 0 60000 65536"/>
                  <a:gd name="T16" fmla="*/ 0 60000 65536"/>
                  <a:gd name="T17" fmla="*/ 0 60000 65536"/>
                  <a:gd name="T18" fmla="*/ 0 w 44"/>
                  <a:gd name="T19" fmla="*/ 0 h 74"/>
                  <a:gd name="T20" fmla="*/ 44 w 44"/>
                  <a:gd name="T21" fmla="*/ 74 h 74"/>
                </a:gdLst>
                <a:ahLst/>
                <a:cxnLst>
                  <a:cxn ang="T12">
                    <a:pos x="T0" y="T1"/>
                  </a:cxn>
                  <a:cxn ang="T13">
                    <a:pos x="T2" y="T3"/>
                  </a:cxn>
                  <a:cxn ang="T14">
                    <a:pos x="T4" y="T5"/>
                  </a:cxn>
                  <a:cxn ang="T15">
                    <a:pos x="T6" y="T7"/>
                  </a:cxn>
                  <a:cxn ang="T16">
                    <a:pos x="T8" y="T9"/>
                  </a:cxn>
                  <a:cxn ang="T17">
                    <a:pos x="T10" y="T11"/>
                  </a:cxn>
                </a:cxnLst>
                <a:rect l="T18" t="T19" r="T20" b="T21"/>
                <a:pathLst>
                  <a:path w="44" h="74">
                    <a:moveTo>
                      <a:pt x="43" y="73"/>
                    </a:moveTo>
                    <a:lnTo>
                      <a:pt x="43" y="73"/>
                    </a:lnTo>
                    <a:lnTo>
                      <a:pt x="0" y="57"/>
                    </a:lnTo>
                    <a:lnTo>
                      <a:pt x="0" y="0"/>
                    </a:lnTo>
                    <a:lnTo>
                      <a:pt x="43" y="18"/>
                    </a:lnTo>
                    <a:lnTo>
                      <a:pt x="43" y="73"/>
                    </a:lnTo>
                  </a:path>
                </a:pathLst>
              </a:custGeom>
              <a:solidFill>
                <a:srgbClr val="9E0005"/>
              </a:solidFill>
              <a:ln w="9525" cap="rnd">
                <a:noFill/>
                <a:round/>
              </a:ln>
            </p:spPr>
            <p:txBody>
              <a:bodyPr/>
              <a:lstStyle/>
              <a:p>
                <a:endParaRPr lang="zh-CN" altLang="en-US"/>
              </a:p>
            </p:txBody>
          </p:sp>
          <p:sp>
            <p:nvSpPr>
              <p:cNvPr id="10463" name="Freeform 210"/>
              <p:cNvSpPr/>
              <p:nvPr/>
            </p:nvSpPr>
            <p:spPr bwMode="auto">
              <a:xfrm>
                <a:off x="2110" y="1945"/>
                <a:ext cx="149" cy="68"/>
              </a:xfrm>
              <a:custGeom>
                <a:avLst/>
                <a:gdLst>
                  <a:gd name="T0" fmla="*/ 45 w 149"/>
                  <a:gd name="T1" fmla="*/ 67 h 68"/>
                  <a:gd name="T2" fmla="*/ 45 w 149"/>
                  <a:gd name="T3" fmla="*/ 67 h 68"/>
                  <a:gd name="T4" fmla="*/ 0 w 149"/>
                  <a:gd name="T5" fmla="*/ 48 h 68"/>
                  <a:gd name="T6" fmla="*/ 106 w 149"/>
                  <a:gd name="T7" fmla="*/ 0 h 68"/>
                  <a:gd name="T8" fmla="*/ 148 w 149"/>
                  <a:gd name="T9" fmla="*/ 18 h 68"/>
                  <a:gd name="T10" fmla="*/ 45 w 149"/>
                  <a:gd name="T11" fmla="*/ 67 h 68"/>
                  <a:gd name="T12" fmla="*/ 0 60000 65536"/>
                  <a:gd name="T13" fmla="*/ 0 60000 65536"/>
                  <a:gd name="T14" fmla="*/ 0 60000 65536"/>
                  <a:gd name="T15" fmla="*/ 0 60000 65536"/>
                  <a:gd name="T16" fmla="*/ 0 60000 65536"/>
                  <a:gd name="T17" fmla="*/ 0 60000 65536"/>
                  <a:gd name="T18" fmla="*/ 0 w 149"/>
                  <a:gd name="T19" fmla="*/ 0 h 68"/>
                  <a:gd name="T20" fmla="*/ 149 w 149"/>
                  <a:gd name="T21" fmla="*/ 68 h 68"/>
                </a:gdLst>
                <a:ahLst/>
                <a:cxnLst>
                  <a:cxn ang="T12">
                    <a:pos x="T0" y="T1"/>
                  </a:cxn>
                  <a:cxn ang="T13">
                    <a:pos x="T2" y="T3"/>
                  </a:cxn>
                  <a:cxn ang="T14">
                    <a:pos x="T4" y="T5"/>
                  </a:cxn>
                  <a:cxn ang="T15">
                    <a:pos x="T6" y="T7"/>
                  </a:cxn>
                  <a:cxn ang="T16">
                    <a:pos x="T8" y="T9"/>
                  </a:cxn>
                  <a:cxn ang="T17">
                    <a:pos x="T10" y="T11"/>
                  </a:cxn>
                </a:cxnLst>
                <a:rect l="T18" t="T19" r="T20" b="T21"/>
                <a:pathLst>
                  <a:path w="149" h="68">
                    <a:moveTo>
                      <a:pt x="45" y="67"/>
                    </a:moveTo>
                    <a:lnTo>
                      <a:pt x="45" y="67"/>
                    </a:lnTo>
                    <a:lnTo>
                      <a:pt x="0" y="48"/>
                    </a:lnTo>
                    <a:lnTo>
                      <a:pt x="106" y="0"/>
                    </a:lnTo>
                    <a:lnTo>
                      <a:pt x="148" y="18"/>
                    </a:lnTo>
                    <a:lnTo>
                      <a:pt x="45" y="67"/>
                    </a:lnTo>
                  </a:path>
                </a:pathLst>
              </a:custGeom>
              <a:solidFill>
                <a:srgbClr val="CF5C82"/>
              </a:solidFill>
              <a:ln w="9525" cap="rnd">
                <a:noFill/>
                <a:round/>
              </a:ln>
            </p:spPr>
            <p:txBody>
              <a:bodyPr/>
              <a:lstStyle/>
              <a:p>
                <a:endParaRPr lang="zh-CN" altLang="en-US"/>
              </a:p>
            </p:txBody>
          </p:sp>
        </p:grpSp>
        <p:sp>
          <p:nvSpPr>
            <p:cNvPr id="10449" name="Freeform 211"/>
            <p:cNvSpPr/>
            <p:nvPr/>
          </p:nvSpPr>
          <p:spPr bwMode="auto">
            <a:xfrm>
              <a:off x="2097" y="2022"/>
              <a:ext cx="48" cy="85"/>
            </a:xfrm>
            <a:custGeom>
              <a:avLst/>
              <a:gdLst>
                <a:gd name="T0" fmla="*/ 0 w 48"/>
                <a:gd name="T1" fmla="*/ 84 h 85"/>
                <a:gd name="T2" fmla="*/ 0 w 48"/>
                <a:gd name="T3" fmla="*/ 84 h 85"/>
                <a:gd name="T4" fmla="*/ 0 w 48"/>
                <a:gd name="T5" fmla="*/ 24 h 85"/>
                <a:gd name="T6" fmla="*/ 47 w 48"/>
                <a:gd name="T7" fmla="*/ 0 h 85"/>
                <a:gd name="T8" fmla="*/ 47 w 48"/>
                <a:gd name="T9" fmla="*/ 55 h 85"/>
                <a:gd name="T10" fmla="*/ 0 w 48"/>
                <a:gd name="T11" fmla="*/ 84 h 85"/>
                <a:gd name="T12" fmla="*/ 0 60000 65536"/>
                <a:gd name="T13" fmla="*/ 0 60000 65536"/>
                <a:gd name="T14" fmla="*/ 0 60000 65536"/>
                <a:gd name="T15" fmla="*/ 0 60000 65536"/>
                <a:gd name="T16" fmla="*/ 0 60000 65536"/>
                <a:gd name="T17" fmla="*/ 0 60000 65536"/>
                <a:gd name="T18" fmla="*/ 0 w 48"/>
                <a:gd name="T19" fmla="*/ 0 h 85"/>
                <a:gd name="T20" fmla="*/ 48 w 48"/>
                <a:gd name="T21" fmla="*/ 85 h 85"/>
              </a:gdLst>
              <a:ahLst/>
              <a:cxnLst>
                <a:cxn ang="T12">
                  <a:pos x="T0" y="T1"/>
                </a:cxn>
                <a:cxn ang="T13">
                  <a:pos x="T2" y="T3"/>
                </a:cxn>
                <a:cxn ang="T14">
                  <a:pos x="T4" y="T5"/>
                </a:cxn>
                <a:cxn ang="T15">
                  <a:pos x="T6" y="T7"/>
                </a:cxn>
                <a:cxn ang="T16">
                  <a:pos x="T8" y="T9"/>
                </a:cxn>
                <a:cxn ang="T17">
                  <a:pos x="T10" y="T11"/>
                </a:cxn>
              </a:cxnLst>
              <a:rect l="T18" t="T19" r="T20" b="T21"/>
              <a:pathLst>
                <a:path w="48" h="85">
                  <a:moveTo>
                    <a:pt x="0" y="84"/>
                  </a:moveTo>
                  <a:lnTo>
                    <a:pt x="0" y="84"/>
                  </a:lnTo>
                  <a:lnTo>
                    <a:pt x="0" y="24"/>
                  </a:lnTo>
                  <a:lnTo>
                    <a:pt x="47" y="0"/>
                  </a:lnTo>
                  <a:lnTo>
                    <a:pt x="47" y="55"/>
                  </a:lnTo>
                  <a:lnTo>
                    <a:pt x="0" y="84"/>
                  </a:lnTo>
                </a:path>
              </a:pathLst>
            </a:custGeom>
            <a:solidFill>
              <a:srgbClr val="BB1A50"/>
            </a:solidFill>
            <a:ln w="9525" cap="rnd">
              <a:noFill/>
              <a:round/>
            </a:ln>
          </p:spPr>
          <p:txBody>
            <a:bodyPr/>
            <a:lstStyle/>
            <a:p>
              <a:endParaRPr lang="zh-CN" altLang="en-US"/>
            </a:p>
          </p:txBody>
        </p:sp>
        <p:sp>
          <p:nvSpPr>
            <p:cNvPr id="10450" name="Freeform 212"/>
            <p:cNvSpPr/>
            <p:nvPr/>
          </p:nvSpPr>
          <p:spPr bwMode="auto">
            <a:xfrm>
              <a:off x="2048" y="2003"/>
              <a:ext cx="97" cy="43"/>
            </a:xfrm>
            <a:custGeom>
              <a:avLst/>
              <a:gdLst>
                <a:gd name="T0" fmla="*/ 46 w 97"/>
                <a:gd name="T1" fmla="*/ 42 h 43"/>
                <a:gd name="T2" fmla="*/ 46 w 97"/>
                <a:gd name="T3" fmla="*/ 42 h 43"/>
                <a:gd name="T4" fmla="*/ 0 w 97"/>
                <a:gd name="T5" fmla="*/ 26 h 43"/>
                <a:gd name="T6" fmla="*/ 52 w 97"/>
                <a:gd name="T7" fmla="*/ 0 h 43"/>
                <a:gd name="T8" fmla="*/ 96 w 97"/>
                <a:gd name="T9" fmla="*/ 17 h 43"/>
                <a:gd name="T10" fmla="*/ 46 w 97"/>
                <a:gd name="T11" fmla="*/ 42 h 43"/>
                <a:gd name="T12" fmla="*/ 0 60000 65536"/>
                <a:gd name="T13" fmla="*/ 0 60000 65536"/>
                <a:gd name="T14" fmla="*/ 0 60000 65536"/>
                <a:gd name="T15" fmla="*/ 0 60000 65536"/>
                <a:gd name="T16" fmla="*/ 0 60000 65536"/>
                <a:gd name="T17" fmla="*/ 0 60000 65536"/>
                <a:gd name="T18" fmla="*/ 0 w 97"/>
                <a:gd name="T19" fmla="*/ 0 h 43"/>
                <a:gd name="T20" fmla="*/ 97 w 97"/>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97" h="43">
                  <a:moveTo>
                    <a:pt x="46" y="42"/>
                  </a:moveTo>
                  <a:lnTo>
                    <a:pt x="46" y="42"/>
                  </a:lnTo>
                  <a:lnTo>
                    <a:pt x="0" y="26"/>
                  </a:lnTo>
                  <a:lnTo>
                    <a:pt x="52" y="0"/>
                  </a:lnTo>
                  <a:lnTo>
                    <a:pt x="96" y="17"/>
                  </a:lnTo>
                  <a:lnTo>
                    <a:pt x="46" y="42"/>
                  </a:lnTo>
                </a:path>
              </a:pathLst>
            </a:custGeom>
            <a:solidFill>
              <a:srgbClr val="CF5C82"/>
            </a:solidFill>
            <a:ln w="9525" cap="rnd">
              <a:noFill/>
              <a:round/>
            </a:ln>
          </p:spPr>
          <p:txBody>
            <a:bodyPr/>
            <a:lstStyle/>
            <a:p>
              <a:endParaRPr lang="zh-CN" altLang="en-US"/>
            </a:p>
          </p:txBody>
        </p:sp>
        <p:sp>
          <p:nvSpPr>
            <p:cNvPr id="10451" name="Freeform 213"/>
            <p:cNvSpPr/>
            <p:nvPr/>
          </p:nvSpPr>
          <p:spPr bwMode="auto">
            <a:xfrm>
              <a:off x="2454" y="1856"/>
              <a:ext cx="17" cy="60"/>
            </a:xfrm>
            <a:custGeom>
              <a:avLst/>
              <a:gdLst>
                <a:gd name="T0" fmla="*/ 0 w 17"/>
                <a:gd name="T1" fmla="*/ 59 h 60"/>
                <a:gd name="T2" fmla="*/ 0 w 17"/>
                <a:gd name="T3" fmla="*/ 59 h 60"/>
                <a:gd name="T4" fmla="*/ 0 w 17"/>
                <a:gd name="T5" fmla="*/ 28 h 60"/>
                <a:gd name="T6" fmla="*/ 6 w 17"/>
                <a:gd name="T7" fmla="*/ 9 h 60"/>
                <a:gd name="T8" fmla="*/ 6 w 17"/>
                <a:gd name="T9" fmla="*/ 2 h 60"/>
                <a:gd name="T10" fmla="*/ 6 w 17"/>
                <a:gd name="T11" fmla="*/ 0 h 60"/>
                <a:gd name="T12" fmla="*/ 10 w 17"/>
                <a:gd name="T13" fmla="*/ 0 h 60"/>
                <a:gd name="T14" fmla="*/ 16 w 17"/>
                <a:gd name="T15" fmla="*/ 0 h 60"/>
                <a:gd name="T16" fmla="*/ 16 w 17"/>
                <a:gd name="T17" fmla="*/ 28 h 60"/>
                <a:gd name="T18" fmla="*/ 10 w 17"/>
                <a:gd name="T19" fmla="*/ 52 h 60"/>
                <a:gd name="T20" fmla="*/ 6 w 17"/>
                <a:gd name="T21" fmla="*/ 52 h 60"/>
                <a:gd name="T22" fmla="*/ 0 w 17"/>
                <a:gd name="T23" fmla="*/ 56 h 60"/>
                <a:gd name="T24" fmla="*/ 0 w 17"/>
                <a:gd name="T25" fmla="*/ 59 h 6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
                <a:gd name="T40" fmla="*/ 0 h 60"/>
                <a:gd name="T41" fmla="*/ 17 w 17"/>
                <a:gd name="T42" fmla="*/ 60 h 6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 h="60">
                  <a:moveTo>
                    <a:pt x="0" y="59"/>
                  </a:moveTo>
                  <a:lnTo>
                    <a:pt x="0" y="59"/>
                  </a:lnTo>
                  <a:lnTo>
                    <a:pt x="0" y="28"/>
                  </a:lnTo>
                  <a:lnTo>
                    <a:pt x="6" y="9"/>
                  </a:lnTo>
                  <a:lnTo>
                    <a:pt x="6" y="2"/>
                  </a:lnTo>
                  <a:lnTo>
                    <a:pt x="6" y="0"/>
                  </a:lnTo>
                  <a:lnTo>
                    <a:pt x="10" y="0"/>
                  </a:lnTo>
                  <a:lnTo>
                    <a:pt x="16" y="0"/>
                  </a:lnTo>
                  <a:lnTo>
                    <a:pt x="16" y="28"/>
                  </a:lnTo>
                  <a:lnTo>
                    <a:pt x="10" y="52"/>
                  </a:lnTo>
                  <a:lnTo>
                    <a:pt x="6" y="52"/>
                  </a:lnTo>
                  <a:lnTo>
                    <a:pt x="0" y="56"/>
                  </a:lnTo>
                  <a:lnTo>
                    <a:pt x="0" y="59"/>
                  </a:lnTo>
                </a:path>
              </a:pathLst>
            </a:custGeom>
            <a:solidFill>
              <a:srgbClr val="BDB597"/>
            </a:solidFill>
            <a:ln w="9525" cap="rnd">
              <a:noFill/>
              <a:round/>
            </a:ln>
          </p:spPr>
          <p:txBody>
            <a:bodyPr/>
            <a:lstStyle/>
            <a:p>
              <a:endParaRPr lang="zh-CN" altLang="en-US"/>
            </a:p>
          </p:txBody>
        </p:sp>
        <p:sp>
          <p:nvSpPr>
            <p:cNvPr id="10452" name="Freeform 214"/>
            <p:cNvSpPr/>
            <p:nvPr/>
          </p:nvSpPr>
          <p:spPr bwMode="auto">
            <a:xfrm>
              <a:off x="2358" y="1908"/>
              <a:ext cx="17" cy="59"/>
            </a:xfrm>
            <a:custGeom>
              <a:avLst/>
              <a:gdLst>
                <a:gd name="T0" fmla="*/ 0 w 17"/>
                <a:gd name="T1" fmla="*/ 58 h 59"/>
                <a:gd name="T2" fmla="*/ 0 w 17"/>
                <a:gd name="T3" fmla="*/ 58 h 59"/>
                <a:gd name="T4" fmla="*/ 4 w 17"/>
                <a:gd name="T5" fmla="*/ 49 h 59"/>
                <a:gd name="T6" fmla="*/ 4 w 17"/>
                <a:gd name="T7" fmla="*/ 27 h 59"/>
                <a:gd name="T8" fmla="*/ 4 w 17"/>
                <a:gd name="T9" fmla="*/ 18 h 59"/>
                <a:gd name="T10" fmla="*/ 4 w 17"/>
                <a:gd name="T11" fmla="*/ 8 h 59"/>
                <a:gd name="T12" fmla="*/ 4 w 17"/>
                <a:gd name="T13" fmla="*/ 6 h 59"/>
                <a:gd name="T14" fmla="*/ 4 w 17"/>
                <a:gd name="T15" fmla="*/ 2 h 59"/>
                <a:gd name="T16" fmla="*/ 4 w 17"/>
                <a:gd name="T17" fmla="*/ 0 h 59"/>
                <a:gd name="T18" fmla="*/ 8 w 17"/>
                <a:gd name="T19" fmla="*/ 0 h 59"/>
                <a:gd name="T20" fmla="*/ 12 w 17"/>
                <a:gd name="T21" fmla="*/ 0 h 59"/>
                <a:gd name="T22" fmla="*/ 16 w 17"/>
                <a:gd name="T23" fmla="*/ 0 h 59"/>
                <a:gd name="T24" fmla="*/ 12 w 17"/>
                <a:gd name="T25" fmla="*/ 24 h 59"/>
                <a:gd name="T26" fmla="*/ 12 w 17"/>
                <a:gd name="T27" fmla="*/ 42 h 59"/>
                <a:gd name="T28" fmla="*/ 12 w 17"/>
                <a:gd name="T29" fmla="*/ 49 h 59"/>
                <a:gd name="T30" fmla="*/ 12 w 17"/>
                <a:gd name="T31" fmla="*/ 51 h 59"/>
                <a:gd name="T32" fmla="*/ 8 w 17"/>
                <a:gd name="T33" fmla="*/ 51 h 59"/>
                <a:gd name="T34" fmla="*/ 4 w 17"/>
                <a:gd name="T35" fmla="*/ 51 h 59"/>
                <a:gd name="T36" fmla="*/ 4 w 17"/>
                <a:gd name="T37" fmla="*/ 55 h 59"/>
                <a:gd name="T38" fmla="*/ 0 w 17"/>
                <a:gd name="T39" fmla="*/ 58 h 5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
                <a:gd name="T61" fmla="*/ 0 h 59"/>
                <a:gd name="T62" fmla="*/ 17 w 17"/>
                <a:gd name="T63" fmla="*/ 59 h 5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 h="59">
                  <a:moveTo>
                    <a:pt x="0" y="58"/>
                  </a:moveTo>
                  <a:lnTo>
                    <a:pt x="0" y="58"/>
                  </a:lnTo>
                  <a:lnTo>
                    <a:pt x="4" y="49"/>
                  </a:lnTo>
                  <a:lnTo>
                    <a:pt x="4" y="27"/>
                  </a:lnTo>
                  <a:lnTo>
                    <a:pt x="4" y="18"/>
                  </a:lnTo>
                  <a:lnTo>
                    <a:pt x="4" y="8"/>
                  </a:lnTo>
                  <a:lnTo>
                    <a:pt x="4" y="6"/>
                  </a:lnTo>
                  <a:lnTo>
                    <a:pt x="4" y="2"/>
                  </a:lnTo>
                  <a:lnTo>
                    <a:pt x="4" y="0"/>
                  </a:lnTo>
                  <a:lnTo>
                    <a:pt x="8" y="0"/>
                  </a:lnTo>
                  <a:lnTo>
                    <a:pt x="12" y="0"/>
                  </a:lnTo>
                  <a:lnTo>
                    <a:pt x="16" y="0"/>
                  </a:lnTo>
                  <a:lnTo>
                    <a:pt x="12" y="24"/>
                  </a:lnTo>
                  <a:lnTo>
                    <a:pt x="12" y="42"/>
                  </a:lnTo>
                  <a:lnTo>
                    <a:pt x="12" y="49"/>
                  </a:lnTo>
                  <a:lnTo>
                    <a:pt x="12" y="51"/>
                  </a:lnTo>
                  <a:lnTo>
                    <a:pt x="8" y="51"/>
                  </a:lnTo>
                  <a:lnTo>
                    <a:pt x="4" y="51"/>
                  </a:lnTo>
                  <a:lnTo>
                    <a:pt x="4" y="55"/>
                  </a:lnTo>
                  <a:lnTo>
                    <a:pt x="0" y="58"/>
                  </a:lnTo>
                </a:path>
              </a:pathLst>
            </a:custGeom>
            <a:solidFill>
              <a:srgbClr val="BDB597"/>
            </a:solidFill>
            <a:ln w="9525" cap="rnd">
              <a:noFill/>
              <a:round/>
            </a:ln>
          </p:spPr>
          <p:txBody>
            <a:bodyPr/>
            <a:lstStyle/>
            <a:p>
              <a:endParaRPr lang="zh-CN" altLang="en-US"/>
            </a:p>
          </p:txBody>
        </p:sp>
        <p:sp>
          <p:nvSpPr>
            <p:cNvPr id="10453" name="Freeform 215"/>
            <p:cNvSpPr/>
            <p:nvPr/>
          </p:nvSpPr>
          <p:spPr bwMode="auto">
            <a:xfrm>
              <a:off x="2258" y="1959"/>
              <a:ext cx="17" cy="65"/>
            </a:xfrm>
            <a:custGeom>
              <a:avLst/>
              <a:gdLst>
                <a:gd name="T0" fmla="*/ 0 w 17"/>
                <a:gd name="T1" fmla="*/ 64 h 65"/>
                <a:gd name="T2" fmla="*/ 0 w 17"/>
                <a:gd name="T3" fmla="*/ 64 h 65"/>
                <a:gd name="T4" fmla="*/ 0 w 17"/>
                <a:gd name="T5" fmla="*/ 30 h 65"/>
                <a:gd name="T6" fmla="*/ 0 w 17"/>
                <a:gd name="T7" fmla="*/ 21 h 65"/>
                <a:gd name="T8" fmla="*/ 0 w 17"/>
                <a:gd name="T9" fmla="*/ 9 h 65"/>
                <a:gd name="T10" fmla="*/ 0 w 17"/>
                <a:gd name="T11" fmla="*/ 6 h 65"/>
                <a:gd name="T12" fmla="*/ 0 w 17"/>
                <a:gd name="T13" fmla="*/ 2 h 65"/>
                <a:gd name="T14" fmla="*/ 0 w 17"/>
                <a:gd name="T15" fmla="*/ 0 h 65"/>
                <a:gd name="T16" fmla="*/ 6 w 17"/>
                <a:gd name="T17" fmla="*/ 0 h 65"/>
                <a:gd name="T18" fmla="*/ 10 w 17"/>
                <a:gd name="T19" fmla="*/ 0 h 65"/>
                <a:gd name="T20" fmla="*/ 16 w 17"/>
                <a:gd name="T21" fmla="*/ 0 h 65"/>
                <a:gd name="T22" fmla="*/ 10 w 17"/>
                <a:gd name="T23" fmla="*/ 27 h 65"/>
                <a:gd name="T24" fmla="*/ 10 w 17"/>
                <a:gd name="T25" fmla="*/ 45 h 65"/>
                <a:gd name="T26" fmla="*/ 10 w 17"/>
                <a:gd name="T27" fmla="*/ 54 h 65"/>
                <a:gd name="T28" fmla="*/ 10 w 17"/>
                <a:gd name="T29" fmla="*/ 57 h 65"/>
                <a:gd name="T30" fmla="*/ 6 w 17"/>
                <a:gd name="T31" fmla="*/ 57 h 65"/>
                <a:gd name="T32" fmla="*/ 0 w 17"/>
                <a:gd name="T33" fmla="*/ 61 h 65"/>
                <a:gd name="T34" fmla="*/ 0 w 17"/>
                <a:gd name="T35" fmla="*/ 64 h 6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65"/>
                <a:gd name="T56" fmla="*/ 17 w 17"/>
                <a:gd name="T57" fmla="*/ 65 h 6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65">
                  <a:moveTo>
                    <a:pt x="0" y="64"/>
                  </a:moveTo>
                  <a:lnTo>
                    <a:pt x="0" y="64"/>
                  </a:lnTo>
                  <a:lnTo>
                    <a:pt x="0" y="30"/>
                  </a:lnTo>
                  <a:lnTo>
                    <a:pt x="0" y="21"/>
                  </a:lnTo>
                  <a:lnTo>
                    <a:pt x="0" y="9"/>
                  </a:lnTo>
                  <a:lnTo>
                    <a:pt x="0" y="6"/>
                  </a:lnTo>
                  <a:lnTo>
                    <a:pt x="0" y="2"/>
                  </a:lnTo>
                  <a:lnTo>
                    <a:pt x="0" y="0"/>
                  </a:lnTo>
                  <a:lnTo>
                    <a:pt x="6" y="0"/>
                  </a:lnTo>
                  <a:lnTo>
                    <a:pt x="10" y="0"/>
                  </a:lnTo>
                  <a:lnTo>
                    <a:pt x="16" y="0"/>
                  </a:lnTo>
                  <a:lnTo>
                    <a:pt x="10" y="27"/>
                  </a:lnTo>
                  <a:lnTo>
                    <a:pt x="10" y="45"/>
                  </a:lnTo>
                  <a:lnTo>
                    <a:pt x="10" y="54"/>
                  </a:lnTo>
                  <a:lnTo>
                    <a:pt x="10" y="57"/>
                  </a:lnTo>
                  <a:lnTo>
                    <a:pt x="6" y="57"/>
                  </a:lnTo>
                  <a:lnTo>
                    <a:pt x="0" y="61"/>
                  </a:lnTo>
                  <a:lnTo>
                    <a:pt x="0" y="64"/>
                  </a:lnTo>
                </a:path>
              </a:pathLst>
            </a:custGeom>
            <a:solidFill>
              <a:srgbClr val="BDB597"/>
            </a:solidFill>
            <a:ln w="9525" cap="rnd">
              <a:noFill/>
              <a:round/>
            </a:ln>
          </p:spPr>
          <p:txBody>
            <a:bodyPr/>
            <a:lstStyle/>
            <a:p>
              <a:endParaRPr lang="zh-CN" altLang="en-US"/>
            </a:p>
          </p:txBody>
        </p:sp>
        <p:sp>
          <p:nvSpPr>
            <p:cNvPr id="10454" name="Freeform 216"/>
            <p:cNvSpPr/>
            <p:nvPr/>
          </p:nvSpPr>
          <p:spPr bwMode="auto">
            <a:xfrm>
              <a:off x="2147" y="2019"/>
              <a:ext cx="17" cy="63"/>
            </a:xfrm>
            <a:custGeom>
              <a:avLst/>
              <a:gdLst>
                <a:gd name="T0" fmla="*/ 0 w 17"/>
                <a:gd name="T1" fmla="*/ 62 h 63"/>
                <a:gd name="T2" fmla="*/ 0 w 17"/>
                <a:gd name="T3" fmla="*/ 62 h 63"/>
                <a:gd name="T4" fmla="*/ 0 w 17"/>
                <a:gd name="T5" fmla="*/ 52 h 63"/>
                <a:gd name="T6" fmla="*/ 0 w 17"/>
                <a:gd name="T7" fmla="*/ 31 h 63"/>
                <a:gd name="T8" fmla="*/ 0 w 17"/>
                <a:gd name="T9" fmla="*/ 18 h 63"/>
                <a:gd name="T10" fmla="*/ 0 w 17"/>
                <a:gd name="T11" fmla="*/ 9 h 63"/>
                <a:gd name="T12" fmla="*/ 0 w 17"/>
                <a:gd name="T13" fmla="*/ 2 h 63"/>
                <a:gd name="T14" fmla="*/ 0 w 17"/>
                <a:gd name="T15" fmla="*/ 0 h 63"/>
                <a:gd name="T16" fmla="*/ 6 w 17"/>
                <a:gd name="T17" fmla="*/ 0 h 63"/>
                <a:gd name="T18" fmla="*/ 10 w 17"/>
                <a:gd name="T19" fmla="*/ 0 h 63"/>
                <a:gd name="T20" fmla="*/ 16 w 17"/>
                <a:gd name="T21" fmla="*/ 0 h 63"/>
                <a:gd name="T22" fmla="*/ 16 w 17"/>
                <a:gd name="T23" fmla="*/ 28 h 63"/>
                <a:gd name="T24" fmla="*/ 16 w 17"/>
                <a:gd name="T25" fmla="*/ 46 h 63"/>
                <a:gd name="T26" fmla="*/ 16 w 17"/>
                <a:gd name="T27" fmla="*/ 55 h 63"/>
                <a:gd name="T28" fmla="*/ 10 w 17"/>
                <a:gd name="T29" fmla="*/ 55 h 63"/>
                <a:gd name="T30" fmla="*/ 6 w 17"/>
                <a:gd name="T31" fmla="*/ 55 h 63"/>
                <a:gd name="T32" fmla="*/ 6 w 17"/>
                <a:gd name="T33" fmla="*/ 59 h 63"/>
                <a:gd name="T34" fmla="*/ 0 w 17"/>
                <a:gd name="T35" fmla="*/ 62 h 6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63"/>
                <a:gd name="T56" fmla="*/ 17 w 17"/>
                <a:gd name="T57" fmla="*/ 63 h 6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63">
                  <a:moveTo>
                    <a:pt x="0" y="62"/>
                  </a:moveTo>
                  <a:lnTo>
                    <a:pt x="0" y="62"/>
                  </a:lnTo>
                  <a:lnTo>
                    <a:pt x="0" y="52"/>
                  </a:lnTo>
                  <a:lnTo>
                    <a:pt x="0" y="31"/>
                  </a:lnTo>
                  <a:lnTo>
                    <a:pt x="0" y="18"/>
                  </a:lnTo>
                  <a:lnTo>
                    <a:pt x="0" y="9"/>
                  </a:lnTo>
                  <a:lnTo>
                    <a:pt x="0" y="2"/>
                  </a:lnTo>
                  <a:lnTo>
                    <a:pt x="0" y="0"/>
                  </a:lnTo>
                  <a:lnTo>
                    <a:pt x="6" y="0"/>
                  </a:lnTo>
                  <a:lnTo>
                    <a:pt x="10" y="0"/>
                  </a:lnTo>
                  <a:lnTo>
                    <a:pt x="16" y="0"/>
                  </a:lnTo>
                  <a:lnTo>
                    <a:pt x="16" y="28"/>
                  </a:lnTo>
                  <a:lnTo>
                    <a:pt x="16" y="46"/>
                  </a:lnTo>
                  <a:lnTo>
                    <a:pt x="16" y="55"/>
                  </a:lnTo>
                  <a:lnTo>
                    <a:pt x="10" y="55"/>
                  </a:lnTo>
                  <a:lnTo>
                    <a:pt x="6" y="55"/>
                  </a:lnTo>
                  <a:lnTo>
                    <a:pt x="6" y="59"/>
                  </a:lnTo>
                  <a:lnTo>
                    <a:pt x="0" y="62"/>
                  </a:lnTo>
                </a:path>
              </a:pathLst>
            </a:custGeom>
            <a:solidFill>
              <a:srgbClr val="BDB597"/>
            </a:solidFill>
            <a:ln w="9525" cap="rnd">
              <a:noFill/>
              <a:round/>
            </a:ln>
          </p:spPr>
          <p:txBody>
            <a:bodyPr/>
            <a:lstStyle/>
            <a:p>
              <a:endParaRPr lang="zh-CN" altLang="en-US"/>
            </a:p>
          </p:txBody>
        </p:sp>
        <p:sp>
          <p:nvSpPr>
            <p:cNvPr id="10455" name="Freeform 217"/>
            <p:cNvSpPr/>
            <p:nvPr/>
          </p:nvSpPr>
          <p:spPr bwMode="auto">
            <a:xfrm>
              <a:off x="2048" y="2032"/>
              <a:ext cx="47" cy="75"/>
            </a:xfrm>
            <a:custGeom>
              <a:avLst/>
              <a:gdLst>
                <a:gd name="T0" fmla="*/ 46 w 47"/>
                <a:gd name="T1" fmla="*/ 74 h 75"/>
                <a:gd name="T2" fmla="*/ 46 w 47"/>
                <a:gd name="T3" fmla="*/ 74 h 75"/>
                <a:gd name="T4" fmla="*/ 0 w 47"/>
                <a:gd name="T5" fmla="*/ 58 h 75"/>
                <a:gd name="T6" fmla="*/ 0 w 47"/>
                <a:gd name="T7" fmla="*/ 0 h 75"/>
                <a:gd name="T8" fmla="*/ 46 w 47"/>
                <a:gd name="T9" fmla="*/ 15 h 75"/>
                <a:gd name="T10" fmla="*/ 46 w 47"/>
                <a:gd name="T11" fmla="*/ 74 h 75"/>
                <a:gd name="T12" fmla="*/ 0 60000 65536"/>
                <a:gd name="T13" fmla="*/ 0 60000 65536"/>
                <a:gd name="T14" fmla="*/ 0 60000 65536"/>
                <a:gd name="T15" fmla="*/ 0 60000 65536"/>
                <a:gd name="T16" fmla="*/ 0 60000 65536"/>
                <a:gd name="T17" fmla="*/ 0 60000 65536"/>
                <a:gd name="T18" fmla="*/ 0 w 47"/>
                <a:gd name="T19" fmla="*/ 0 h 75"/>
                <a:gd name="T20" fmla="*/ 47 w 47"/>
                <a:gd name="T21" fmla="*/ 75 h 75"/>
              </a:gdLst>
              <a:ahLst/>
              <a:cxnLst>
                <a:cxn ang="T12">
                  <a:pos x="T0" y="T1"/>
                </a:cxn>
                <a:cxn ang="T13">
                  <a:pos x="T2" y="T3"/>
                </a:cxn>
                <a:cxn ang="T14">
                  <a:pos x="T4" y="T5"/>
                </a:cxn>
                <a:cxn ang="T15">
                  <a:pos x="T6" y="T7"/>
                </a:cxn>
                <a:cxn ang="T16">
                  <a:pos x="T8" y="T9"/>
                </a:cxn>
                <a:cxn ang="T17">
                  <a:pos x="T10" y="T11"/>
                </a:cxn>
              </a:cxnLst>
              <a:rect l="T18" t="T19" r="T20" b="T21"/>
              <a:pathLst>
                <a:path w="47" h="75">
                  <a:moveTo>
                    <a:pt x="46" y="74"/>
                  </a:moveTo>
                  <a:lnTo>
                    <a:pt x="46" y="74"/>
                  </a:lnTo>
                  <a:lnTo>
                    <a:pt x="0" y="58"/>
                  </a:lnTo>
                  <a:lnTo>
                    <a:pt x="0" y="0"/>
                  </a:lnTo>
                  <a:lnTo>
                    <a:pt x="46" y="15"/>
                  </a:lnTo>
                  <a:lnTo>
                    <a:pt x="46" y="74"/>
                  </a:lnTo>
                </a:path>
              </a:pathLst>
            </a:custGeom>
            <a:solidFill>
              <a:srgbClr val="9E0005"/>
            </a:solidFill>
            <a:ln w="9525" cap="rnd">
              <a:noFill/>
              <a:round/>
            </a:ln>
          </p:spPr>
          <p:txBody>
            <a:bodyPr/>
            <a:lstStyle/>
            <a:p>
              <a:endParaRPr lang="zh-CN" altLang="en-US"/>
            </a:p>
          </p:txBody>
        </p:sp>
        <p:sp>
          <p:nvSpPr>
            <p:cNvPr id="10456" name="Freeform 218"/>
            <p:cNvSpPr/>
            <p:nvPr/>
          </p:nvSpPr>
          <p:spPr bwMode="auto">
            <a:xfrm>
              <a:off x="2047" y="2090"/>
              <a:ext cx="50" cy="26"/>
            </a:xfrm>
            <a:custGeom>
              <a:avLst/>
              <a:gdLst>
                <a:gd name="T0" fmla="*/ 49 w 50"/>
                <a:gd name="T1" fmla="*/ 25 h 26"/>
                <a:gd name="T2" fmla="*/ 49 w 50"/>
                <a:gd name="T3" fmla="*/ 25 h 26"/>
                <a:gd name="T4" fmla="*/ 49 w 50"/>
                <a:gd name="T5" fmla="*/ 22 h 26"/>
                <a:gd name="T6" fmla="*/ 46 w 50"/>
                <a:gd name="T7" fmla="*/ 16 h 26"/>
                <a:gd name="T8" fmla="*/ 24 w 50"/>
                <a:gd name="T9" fmla="*/ 8 h 26"/>
                <a:gd name="T10" fmla="*/ 0 w 50"/>
                <a:gd name="T11" fmla="*/ 0 h 26"/>
                <a:gd name="T12" fmla="*/ 0 w 50"/>
                <a:gd name="T13" fmla="*/ 2 h 26"/>
                <a:gd name="T14" fmla="*/ 0 w 50"/>
                <a:gd name="T15" fmla="*/ 5 h 26"/>
                <a:gd name="T16" fmla="*/ 0 w 50"/>
                <a:gd name="T17" fmla="*/ 8 h 26"/>
                <a:gd name="T18" fmla="*/ 2 w 50"/>
                <a:gd name="T19" fmla="*/ 8 h 26"/>
                <a:gd name="T20" fmla="*/ 8 w 50"/>
                <a:gd name="T21" fmla="*/ 10 h 26"/>
                <a:gd name="T22" fmla="*/ 24 w 50"/>
                <a:gd name="T23" fmla="*/ 14 h 26"/>
                <a:gd name="T24" fmla="*/ 32 w 50"/>
                <a:gd name="T25" fmla="*/ 16 h 26"/>
                <a:gd name="T26" fmla="*/ 35 w 50"/>
                <a:gd name="T27" fmla="*/ 19 h 26"/>
                <a:gd name="T28" fmla="*/ 40 w 50"/>
                <a:gd name="T29" fmla="*/ 19 h 26"/>
                <a:gd name="T30" fmla="*/ 43 w 50"/>
                <a:gd name="T31" fmla="*/ 22 h 26"/>
                <a:gd name="T32" fmla="*/ 46 w 50"/>
                <a:gd name="T33" fmla="*/ 22 h 26"/>
                <a:gd name="T34" fmla="*/ 49 w 50"/>
                <a:gd name="T35" fmla="*/ 22 h 26"/>
                <a:gd name="T36" fmla="*/ 49 w 50"/>
                <a:gd name="T37" fmla="*/ 25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0"/>
                <a:gd name="T58" fmla="*/ 0 h 26"/>
                <a:gd name="T59" fmla="*/ 50 w 50"/>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0" h="26">
                  <a:moveTo>
                    <a:pt x="49" y="25"/>
                  </a:moveTo>
                  <a:lnTo>
                    <a:pt x="49" y="25"/>
                  </a:lnTo>
                  <a:lnTo>
                    <a:pt x="49" y="22"/>
                  </a:lnTo>
                  <a:lnTo>
                    <a:pt x="46" y="16"/>
                  </a:lnTo>
                  <a:lnTo>
                    <a:pt x="24" y="8"/>
                  </a:lnTo>
                  <a:lnTo>
                    <a:pt x="0" y="0"/>
                  </a:lnTo>
                  <a:lnTo>
                    <a:pt x="0" y="2"/>
                  </a:lnTo>
                  <a:lnTo>
                    <a:pt x="0" y="5"/>
                  </a:lnTo>
                  <a:lnTo>
                    <a:pt x="0" y="8"/>
                  </a:lnTo>
                  <a:lnTo>
                    <a:pt x="2" y="8"/>
                  </a:lnTo>
                  <a:lnTo>
                    <a:pt x="8" y="10"/>
                  </a:lnTo>
                  <a:lnTo>
                    <a:pt x="24" y="14"/>
                  </a:lnTo>
                  <a:lnTo>
                    <a:pt x="32" y="16"/>
                  </a:lnTo>
                  <a:lnTo>
                    <a:pt x="35" y="19"/>
                  </a:lnTo>
                  <a:lnTo>
                    <a:pt x="40" y="19"/>
                  </a:lnTo>
                  <a:lnTo>
                    <a:pt x="43" y="22"/>
                  </a:lnTo>
                  <a:lnTo>
                    <a:pt x="46" y="22"/>
                  </a:lnTo>
                  <a:lnTo>
                    <a:pt x="49" y="22"/>
                  </a:lnTo>
                  <a:lnTo>
                    <a:pt x="49" y="25"/>
                  </a:lnTo>
                </a:path>
              </a:pathLst>
            </a:custGeom>
            <a:solidFill>
              <a:srgbClr val="BDB597"/>
            </a:solidFill>
            <a:ln w="9525" cap="rnd">
              <a:noFill/>
              <a:round/>
            </a:ln>
          </p:spPr>
          <p:txBody>
            <a:bodyPr/>
            <a:lstStyle/>
            <a:p>
              <a:endParaRPr lang="zh-CN" altLang="en-US"/>
            </a:p>
          </p:txBody>
        </p:sp>
        <p:sp>
          <p:nvSpPr>
            <p:cNvPr id="10457" name="Freeform 219"/>
            <p:cNvSpPr/>
            <p:nvPr/>
          </p:nvSpPr>
          <p:spPr bwMode="auto">
            <a:xfrm>
              <a:off x="2101" y="2000"/>
              <a:ext cx="53" cy="24"/>
            </a:xfrm>
            <a:custGeom>
              <a:avLst/>
              <a:gdLst>
                <a:gd name="T0" fmla="*/ 46 w 53"/>
                <a:gd name="T1" fmla="*/ 23 h 24"/>
                <a:gd name="T2" fmla="*/ 46 w 53"/>
                <a:gd name="T3" fmla="*/ 23 h 24"/>
                <a:gd name="T4" fmla="*/ 49 w 53"/>
                <a:gd name="T5" fmla="*/ 23 h 24"/>
                <a:gd name="T6" fmla="*/ 49 w 53"/>
                <a:gd name="T7" fmla="*/ 20 h 24"/>
                <a:gd name="T8" fmla="*/ 49 w 53"/>
                <a:gd name="T9" fmla="*/ 17 h 24"/>
                <a:gd name="T10" fmla="*/ 52 w 53"/>
                <a:gd name="T11" fmla="*/ 14 h 24"/>
                <a:gd name="T12" fmla="*/ 30 w 53"/>
                <a:gd name="T13" fmla="*/ 5 h 24"/>
                <a:gd name="T14" fmla="*/ 16 w 53"/>
                <a:gd name="T15" fmla="*/ 0 h 24"/>
                <a:gd name="T16" fmla="*/ 11 w 53"/>
                <a:gd name="T17" fmla="*/ 0 h 24"/>
                <a:gd name="T18" fmla="*/ 8 w 53"/>
                <a:gd name="T19" fmla="*/ 0 h 24"/>
                <a:gd name="T20" fmla="*/ 5 w 53"/>
                <a:gd name="T21" fmla="*/ 0 h 24"/>
                <a:gd name="T22" fmla="*/ 2 w 53"/>
                <a:gd name="T23" fmla="*/ 0 h 24"/>
                <a:gd name="T24" fmla="*/ 2 w 53"/>
                <a:gd name="T25" fmla="*/ 2 h 24"/>
                <a:gd name="T26" fmla="*/ 0 w 53"/>
                <a:gd name="T27" fmla="*/ 2 h 24"/>
                <a:gd name="T28" fmla="*/ 2 w 53"/>
                <a:gd name="T29" fmla="*/ 5 h 24"/>
                <a:gd name="T30" fmla="*/ 8 w 53"/>
                <a:gd name="T31" fmla="*/ 5 h 24"/>
                <a:gd name="T32" fmla="*/ 21 w 53"/>
                <a:gd name="T33" fmla="*/ 11 h 24"/>
                <a:gd name="T34" fmla="*/ 30 w 53"/>
                <a:gd name="T35" fmla="*/ 14 h 24"/>
                <a:gd name="T36" fmla="*/ 38 w 53"/>
                <a:gd name="T37" fmla="*/ 17 h 24"/>
                <a:gd name="T38" fmla="*/ 40 w 53"/>
                <a:gd name="T39" fmla="*/ 20 h 24"/>
                <a:gd name="T40" fmla="*/ 44 w 53"/>
                <a:gd name="T41" fmla="*/ 20 h 24"/>
                <a:gd name="T42" fmla="*/ 46 w 53"/>
                <a:gd name="T43" fmla="*/ 23 h 2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3"/>
                <a:gd name="T67" fmla="*/ 0 h 24"/>
                <a:gd name="T68" fmla="*/ 53 w 53"/>
                <a:gd name="T69" fmla="*/ 24 h 2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3" h="24">
                  <a:moveTo>
                    <a:pt x="46" y="23"/>
                  </a:moveTo>
                  <a:lnTo>
                    <a:pt x="46" y="23"/>
                  </a:lnTo>
                  <a:lnTo>
                    <a:pt x="49" y="23"/>
                  </a:lnTo>
                  <a:lnTo>
                    <a:pt x="49" y="20"/>
                  </a:lnTo>
                  <a:lnTo>
                    <a:pt x="49" y="17"/>
                  </a:lnTo>
                  <a:lnTo>
                    <a:pt x="52" y="14"/>
                  </a:lnTo>
                  <a:lnTo>
                    <a:pt x="30" y="5"/>
                  </a:lnTo>
                  <a:lnTo>
                    <a:pt x="16" y="0"/>
                  </a:lnTo>
                  <a:lnTo>
                    <a:pt x="11" y="0"/>
                  </a:lnTo>
                  <a:lnTo>
                    <a:pt x="8" y="0"/>
                  </a:lnTo>
                  <a:lnTo>
                    <a:pt x="5" y="0"/>
                  </a:lnTo>
                  <a:lnTo>
                    <a:pt x="2" y="0"/>
                  </a:lnTo>
                  <a:lnTo>
                    <a:pt x="2" y="2"/>
                  </a:lnTo>
                  <a:lnTo>
                    <a:pt x="0" y="2"/>
                  </a:lnTo>
                  <a:lnTo>
                    <a:pt x="2" y="5"/>
                  </a:lnTo>
                  <a:lnTo>
                    <a:pt x="8" y="5"/>
                  </a:lnTo>
                  <a:lnTo>
                    <a:pt x="21" y="11"/>
                  </a:lnTo>
                  <a:lnTo>
                    <a:pt x="30" y="14"/>
                  </a:lnTo>
                  <a:lnTo>
                    <a:pt x="38" y="17"/>
                  </a:lnTo>
                  <a:lnTo>
                    <a:pt x="40" y="20"/>
                  </a:lnTo>
                  <a:lnTo>
                    <a:pt x="44" y="20"/>
                  </a:lnTo>
                  <a:lnTo>
                    <a:pt x="46" y="23"/>
                  </a:lnTo>
                </a:path>
              </a:pathLst>
            </a:custGeom>
            <a:solidFill>
              <a:srgbClr val="BDB597"/>
            </a:solidFill>
            <a:ln w="9525" cap="rnd">
              <a:noFill/>
              <a:round/>
            </a:ln>
          </p:spPr>
          <p:txBody>
            <a:bodyPr/>
            <a:lstStyle/>
            <a:p>
              <a:endParaRPr lang="zh-CN" altLang="en-US"/>
            </a:p>
          </p:txBody>
        </p:sp>
        <p:sp>
          <p:nvSpPr>
            <p:cNvPr id="10458" name="Freeform 220"/>
            <p:cNvSpPr/>
            <p:nvPr/>
          </p:nvSpPr>
          <p:spPr bwMode="auto">
            <a:xfrm>
              <a:off x="2216" y="1942"/>
              <a:ext cx="49" cy="24"/>
            </a:xfrm>
            <a:custGeom>
              <a:avLst/>
              <a:gdLst>
                <a:gd name="T0" fmla="*/ 45 w 49"/>
                <a:gd name="T1" fmla="*/ 23 h 24"/>
                <a:gd name="T2" fmla="*/ 45 w 49"/>
                <a:gd name="T3" fmla="*/ 23 h 24"/>
                <a:gd name="T4" fmla="*/ 48 w 49"/>
                <a:gd name="T5" fmla="*/ 23 h 24"/>
                <a:gd name="T6" fmla="*/ 48 w 49"/>
                <a:gd name="T7" fmla="*/ 20 h 24"/>
                <a:gd name="T8" fmla="*/ 48 w 49"/>
                <a:gd name="T9" fmla="*/ 17 h 24"/>
                <a:gd name="T10" fmla="*/ 48 w 49"/>
                <a:gd name="T11" fmla="*/ 14 h 24"/>
                <a:gd name="T12" fmla="*/ 29 w 49"/>
                <a:gd name="T13" fmla="*/ 6 h 24"/>
                <a:gd name="T14" fmla="*/ 16 w 49"/>
                <a:gd name="T15" fmla="*/ 0 h 24"/>
                <a:gd name="T16" fmla="*/ 10 w 49"/>
                <a:gd name="T17" fmla="*/ 0 h 24"/>
                <a:gd name="T18" fmla="*/ 8 w 49"/>
                <a:gd name="T19" fmla="*/ 0 h 24"/>
                <a:gd name="T20" fmla="*/ 5 w 49"/>
                <a:gd name="T21" fmla="*/ 0 h 24"/>
                <a:gd name="T22" fmla="*/ 2 w 49"/>
                <a:gd name="T23" fmla="*/ 0 h 24"/>
                <a:gd name="T24" fmla="*/ 2 w 49"/>
                <a:gd name="T25" fmla="*/ 2 h 24"/>
                <a:gd name="T26" fmla="*/ 0 w 49"/>
                <a:gd name="T27" fmla="*/ 2 h 24"/>
                <a:gd name="T28" fmla="*/ 0 w 49"/>
                <a:gd name="T29" fmla="*/ 6 h 24"/>
                <a:gd name="T30" fmla="*/ 2 w 49"/>
                <a:gd name="T31" fmla="*/ 6 h 24"/>
                <a:gd name="T32" fmla="*/ 8 w 49"/>
                <a:gd name="T33" fmla="*/ 6 h 24"/>
                <a:gd name="T34" fmla="*/ 21 w 49"/>
                <a:gd name="T35" fmla="*/ 11 h 24"/>
                <a:gd name="T36" fmla="*/ 29 w 49"/>
                <a:gd name="T37" fmla="*/ 14 h 24"/>
                <a:gd name="T38" fmla="*/ 37 w 49"/>
                <a:gd name="T39" fmla="*/ 17 h 24"/>
                <a:gd name="T40" fmla="*/ 40 w 49"/>
                <a:gd name="T41" fmla="*/ 20 h 24"/>
                <a:gd name="T42" fmla="*/ 42 w 49"/>
                <a:gd name="T43" fmla="*/ 20 h 24"/>
                <a:gd name="T44" fmla="*/ 42 w 49"/>
                <a:gd name="T45" fmla="*/ 23 h 24"/>
                <a:gd name="T46" fmla="*/ 45 w 49"/>
                <a:gd name="T47" fmla="*/ 23 h 2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9"/>
                <a:gd name="T73" fmla="*/ 0 h 24"/>
                <a:gd name="T74" fmla="*/ 49 w 49"/>
                <a:gd name="T75" fmla="*/ 24 h 2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9" h="24">
                  <a:moveTo>
                    <a:pt x="45" y="23"/>
                  </a:moveTo>
                  <a:lnTo>
                    <a:pt x="45" y="23"/>
                  </a:lnTo>
                  <a:lnTo>
                    <a:pt x="48" y="23"/>
                  </a:lnTo>
                  <a:lnTo>
                    <a:pt x="48" y="20"/>
                  </a:lnTo>
                  <a:lnTo>
                    <a:pt x="48" y="17"/>
                  </a:lnTo>
                  <a:lnTo>
                    <a:pt x="48" y="14"/>
                  </a:lnTo>
                  <a:lnTo>
                    <a:pt x="29" y="6"/>
                  </a:lnTo>
                  <a:lnTo>
                    <a:pt x="16" y="0"/>
                  </a:lnTo>
                  <a:lnTo>
                    <a:pt x="10" y="0"/>
                  </a:lnTo>
                  <a:lnTo>
                    <a:pt x="8" y="0"/>
                  </a:lnTo>
                  <a:lnTo>
                    <a:pt x="5" y="0"/>
                  </a:lnTo>
                  <a:lnTo>
                    <a:pt x="2" y="0"/>
                  </a:lnTo>
                  <a:lnTo>
                    <a:pt x="2" y="2"/>
                  </a:lnTo>
                  <a:lnTo>
                    <a:pt x="0" y="2"/>
                  </a:lnTo>
                  <a:lnTo>
                    <a:pt x="0" y="6"/>
                  </a:lnTo>
                  <a:lnTo>
                    <a:pt x="2" y="6"/>
                  </a:lnTo>
                  <a:lnTo>
                    <a:pt x="8" y="6"/>
                  </a:lnTo>
                  <a:lnTo>
                    <a:pt x="21" y="11"/>
                  </a:lnTo>
                  <a:lnTo>
                    <a:pt x="29" y="14"/>
                  </a:lnTo>
                  <a:lnTo>
                    <a:pt x="37" y="17"/>
                  </a:lnTo>
                  <a:lnTo>
                    <a:pt x="40" y="20"/>
                  </a:lnTo>
                  <a:lnTo>
                    <a:pt x="42" y="20"/>
                  </a:lnTo>
                  <a:lnTo>
                    <a:pt x="42" y="23"/>
                  </a:lnTo>
                  <a:lnTo>
                    <a:pt x="45" y="23"/>
                  </a:lnTo>
                </a:path>
              </a:pathLst>
            </a:custGeom>
            <a:solidFill>
              <a:srgbClr val="BDB597"/>
            </a:solidFill>
            <a:ln w="9525" cap="rnd">
              <a:noFill/>
              <a:round/>
            </a:ln>
          </p:spPr>
          <p:txBody>
            <a:bodyPr/>
            <a:lstStyle/>
            <a:p>
              <a:endParaRPr lang="zh-CN" altLang="en-US"/>
            </a:p>
          </p:txBody>
        </p:sp>
        <p:sp>
          <p:nvSpPr>
            <p:cNvPr id="10459" name="Freeform 221"/>
            <p:cNvSpPr/>
            <p:nvPr/>
          </p:nvSpPr>
          <p:spPr bwMode="auto">
            <a:xfrm>
              <a:off x="2320" y="1889"/>
              <a:ext cx="46" cy="20"/>
            </a:xfrm>
            <a:custGeom>
              <a:avLst/>
              <a:gdLst>
                <a:gd name="T0" fmla="*/ 34 w 46"/>
                <a:gd name="T1" fmla="*/ 19 h 20"/>
                <a:gd name="T2" fmla="*/ 34 w 46"/>
                <a:gd name="T3" fmla="*/ 19 h 20"/>
                <a:gd name="T4" fmla="*/ 36 w 46"/>
                <a:gd name="T5" fmla="*/ 19 h 20"/>
                <a:gd name="T6" fmla="*/ 39 w 46"/>
                <a:gd name="T7" fmla="*/ 19 h 20"/>
                <a:gd name="T8" fmla="*/ 45 w 46"/>
                <a:gd name="T9" fmla="*/ 16 h 20"/>
                <a:gd name="T10" fmla="*/ 28 w 46"/>
                <a:gd name="T11" fmla="*/ 8 h 20"/>
                <a:gd name="T12" fmla="*/ 16 w 46"/>
                <a:gd name="T13" fmla="*/ 2 h 20"/>
                <a:gd name="T14" fmla="*/ 10 w 46"/>
                <a:gd name="T15" fmla="*/ 0 h 20"/>
                <a:gd name="T16" fmla="*/ 8 w 46"/>
                <a:gd name="T17" fmla="*/ 0 h 20"/>
                <a:gd name="T18" fmla="*/ 5 w 46"/>
                <a:gd name="T19" fmla="*/ 2 h 20"/>
                <a:gd name="T20" fmla="*/ 2 w 46"/>
                <a:gd name="T21" fmla="*/ 2 h 20"/>
                <a:gd name="T22" fmla="*/ 2 w 46"/>
                <a:gd name="T23" fmla="*/ 5 h 20"/>
                <a:gd name="T24" fmla="*/ 0 w 46"/>
                <a:gd name="T25" fmla="*/ 5 h 20"/>
                <a:gd name="T26" fmla="*/ 2 w 46"/>
                <a:gd name="T27" fmla="*/ 5 h 20"/>
                <a:gd name="T28" fmla="*/ 5 w 46"/>
                <a:gd name="T29" fmla="*/ 8 h 20"/>
                <a:gd name="T30" fmla="*/ 16 w 46"/>
                <a:gd name="T31" fmla="*/ 10 h 20"/>
                <a:gd name="T32" fmla="*/ 20 w 46"/>
                <a:gd name="T33" fmla="*/ 13 h 20"/>
                <a:gd name="T34" fmla="*/ 26 w 46"/>
                <a:gd name="T35" fmla="*/ 16 h 20"/>
                <a:gd name="T36" fmla="*/ 28 w 46"/>
                <a:gd name="T37" fmla="*/ 16 h 20"/>
                <a:gd name="T38" fmla="*/ 32 w 46"/>
                <a:gd name="T39" fmla="*/ 16 h 20"/>
                <a:gd name="T40" fmla="*/ 32 w 46"/>
                <a:gd name="T41" fmla="*/ 19 h 20"/>
                <a:gd name="T42" fmla="*/ 34 w 46"/>
                <a:gd name="T43" fmla="*/ 19 h 2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6"/>
                <a:gd name="T67" fmla="*/ 0 h 20"/>
                <a:gd name="T68" fmla="*/ 46 w 46"/>
                <a:gd name="T69" fmla="*/ 20 h 2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6" h="20">
                  <a:moveTo>
                    <a:pt x="34" y="19"/>
                  </a:moveTo>
                  <a:lnTo>
                    <a:pt x="34" y="19"/>
                  </a:lnTo>
                  <a:lnTo>
                    <a:pt x="36" y="19"/>
                  </a:lnTo>
                  <a:lnTo>
                    <a:pt x="39" y="19"/>
                  </a:lnTo>
                  <a:lnTo>
                    <a:pt x="45" y="16"/>
                  </a:lnTo>
                  <a:lnTo>
                    <a:pt x="28" y="8"/>
                  </a:lnTo>
                  <a:lnTo>
                    <a:pt x="16" y="2"/>
                  </a:lnTo>
                  <a:lnTo>
                    <a:pt x="10" y="0"/>
                  </a:lnTo>
                  <a:lnTo>
                    <a:pt x="8" y="0"/>
                  </a:lnTo>
                  <a:lnTo>
                    <a:pt x="5" y="2"/>
                  </a:lnTo>
                  <a:lnTo>
                    <a:pt x="2" y="2"/>
                  </a:lnTo>
                  <a:lnTo>
                    <a:pt x="2" y="5"/>
                  </a:lnTo>
                  <a:lnTo>
                    <a:pt x="0" y="5"/>
                  </a:lnTo>
                  <a:lnTo>
                    <a:pt x="2" y="5"/>
                  </a:lnTo>
                  <a:lnTo>
                    <a:pt x="5" y="8"/>
                  </a:lnTo>
                  <a:lnTo>
                    <a:pt x="16" y="10"/>
                  </a:lnTo>
                  <a:lnTo>
                    <a:pt x="20" y="13"/>
                  </a:lnTo>
                  <a:lnTo>
                    <a:pt x="26" y="16"/>
                  </a:lnTo>
                  <a:lnTo>
                    <a:pt x="28" y="16"/>
                  </a:lnTo>
                  <a:lnTo>
                    <a:pt x="32" y="16"/>
                  </a:lnTo>
                  <a:lnTo>
                    <a:pt x="32" y="19"/>
                  </a:lnTo>
                  <a:lnTo>
                    <a:pt x="34" y="19"/>
                  </a:lnTo>
                </a:path>
              </a:pathLst>
            </a:custGeom>
            <a:solidFill>
              <a:srgbClr val="BDB597"/>
            </a:solidFill>
            <a:ln w="9525" cap="rnd">
              <a:noFill/>
              <a:round/>
            </a:ln>
          </p:spPr>
          <p:txBody>
            <a:bodyPr/>
            <a:lstStyle/>
            <a:p>
              <a:endParaRPr lang="zh-CN" altLang="en-US"/>
            </a:p>
          </p:txBody>
        </p:sp>
        <p:sp>
          <p:nvSpPr>
            <p:cNvPr id="10460" name="Freeform 222"/>
            <p:cNvSpPr/>
            <p:nvPr/>
          </p:nvSpPr>
          <p:spPr bwMode="auto">
            <a:xfrm>
              <a:off x="2417" y="1837"/>
              <a:ext cx="47" cy="24"/>
            </a:xfrm>
            <a:custGeom>
              <a:avLst/>
              <a:gdLst>
                <a:gd name="T0" fmla="*/ 34 w 47"/>
                <a:gd name="T1" fmla="*/ 23 h 24"/>
                <a:gd name="T2" fmla="*/ 34 w 47"/>
                <a:gd name="T3" fmla="*/ 23 h 24"/>
                <a:gd name="T4" fmla="*/ 38 w 47"/>
                <a:gd name="T5" fmla="*/ 23 h 24"/>
                <a:gd name="T6" fmla="*/ 40 w 47"/>
                <a:gd name="T7" fmla="*/ 20 h 24"/>
                <a:gd name="T8" fmla="*/ 46 w 47"/>
                <a:gd name="T9" fmla="*/ 14 h 24"/>
                <a:gd name="T10" fmla="*/ 30 w 47"/>
                <a:gd name="T11" fmla="*/ 8 h 24"/>
                <a:gd name="T12" fmla="*/ 11 w 47"/>
                <a:gd name="T13" fmla="*/ 0 h 24"/>
                <a:gd name="T14" fmla="*/ 7 w 47"/>
                <a:gd name="T15" fmla="*/ 0 h 24"/>
                <a:gd name="T16" fmla="*/ 5 w 47"/>
                <a:gd name="T17" fmla="*/ 2 h 24"/>
                <a:gd name="T18" fmla="*/ 2 w 47"/>
                <a:gd name="T19" fmla="*/ 5 h 24"/>
                <a:gd name="T20" fmla="*/ 0 w 47"/>
                <a:gd name="T21" fmla="*/ 5 h 24"/>
                <a:gd name="T22" fmla="*/ 2 w 47"/>
                <a:gd name="T23" fmla="*/ 5 h 24"/>
                <a:gd name="T24" fmla="*/ 5 w 47"/>
                <a:gd name="T25" fmla="*/ 8 h 24"/>
                <a:gd name="T26" fmla="*/ 15 w 47"/>
                <a:gd name="T27" fmla="*/ 11 h 24"/>
                <a:gd name="T28" fmla="*/ 21 w 47"/>
                <a:gd name="T29" fmla="*/ 14 h 24"/>
                <a:gd name="T30" fmla="*/ 26 w 47"/>
                <a:gd name="T31" fmla="*/ 17 h 24"/>
                <a:gd name="T32" fmla="*/ 32 w 47"/>
                <a:gd name="T33" fmla="*/ 20 h 24"/>
                <a:gd name="T34" fmla="*/ 34 w 47"/>
                <a:gd name="T35" fmla="*/ 23 h 2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7"/>
                <a:gd name="T55" fmla="*/ 0 h 24"/>
                <a:gd name="T56" fmla="*/ 47 w 47"/>
                <a:gd name="T57" fmla="*/ 24 h 2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7" h="24">
                  <a:moveTo>
                    <a:pt x="34" y="23"/>
                  </a:moveTo>
                  <a:lnTo>
                    <a:pt x="34" y="23"/>
                  </a:lnTo>
                  <a:lnTo>
                    <a:pt x="38" y="23"/>
                  </a:lnTo>
                  <a:lnTo>
                    <a:pt x="40" y="20"/>
                  </a:lnTo>
                  <a:lnTo>
                    <a:pt x="46" y="14"/>
                  </a:lnTo>
                  <a:lnTo>
                    <a:pt x="30" y="8"/>
                  </a:lnTo>
                  <a:lnTo>
                    <a:pt x="11" y="0"/>
                  </a:lnTo>
                  <a:lnTo>
                    <a:pt x="7" y="0"/>
                  </a:lnTo>
                  <a:lnTo>
                    <a:pt x="5" y="2"/>
                  </a:lnTo>
                  <a:lnTo>
                    <a:pt x="2" y="5"/>
                  </a:lnTo>
                  <a:lnTo>
                    <a:pt x="0" y="5"/>
                  </a:lnTo>
                  <a:lnTo>
                    <a:pt x="2" y="5"/>
                  </a:lnTo>
                  <a:lnTo>
                    <a:pt x="5" y="8"/>
                  </a:lnTo>
                  <a:lnTo>
                    <a:pt x="15" y="11"/>
                  </a:lnTo>
                  <a:lnTo>
                    <a:pt x="21" y="14"/>
                  </a:lnTo>
                  <a:lnTo>
                    <a:pt x="26" y="17"/>
                  </a:lnTo>
                  <a:lnTo>
                    <a:pt x="32" y="20"/>
                  </a:lnTo>
                  <a:lnTo>
                    <a:pt x="34" y="23"/>
                  </a:lnTo>
                </a:path>
              </a:pathLst>
            </a:custGeom>
            <a:solidFill>
              <a:srgbClr val="BDB597"/>
            </a:solidFill>
            <a:ln w="9525" cap="rnd">
              <a:noFill/>
              <a:round/>
            </a:ln>
          </p:spPr>
          <p:txBody>
            <a:bodyPr/>
            <a:lstStyle/>
            <a:p>
              <a:endParaRPr lang="zh-CN" altLang="en-US"/>
            </a:p>
          </p:txBody>
        </p:sp>
      </p:grpSp>
      <p:sp>
        <p:nvSpPr>
          <p:cNvPr id="10264" name="Rectangle 223"/>
          <p:cNvSpPr>
            <a:spLocks noChangeArrowheads="1"/>
          </p:cNvSpPr>
          <p:nvPr/>
        </p:nvSpPr>
        <p:spPr bwMode="auto">
          <a:xfrm>
            <a:off x="4500563" y="3452837"/>
            <a:ext cx="790575" cy="63500"/>
          </a:xfrm>
          <a:prstGeom prst="rect">
            <a:avLst/>
          </a:prstGeom>
          <a:gradFill rotWithShape="0">
            <a:gsLst>
              <a:gs pos="0">
                <a:srgbClr val="05B5DE"/>
              </a:gs>
              <a:gs pos="100000">
                <a:srgbClr val="E6F7FC"/>
              </a:gs>
            </a:gsLst>
            <a:lin ang="0" scaled="1"/>
          </a:gradFill>
          <a:ln w="9525">
            <a:noFill/>
            <a:miter lim="800000"/>
          </a:ln>
        </p:spPr>
        <p:txBody>
          <a:bodyPr wrap="none" anchor="ctr"/>
          <a:lstStyle/>
          <a:p>
            <a:endParaRPr lang="zh-CN" altLang="en-US"/>
          </a:p>
        </p:txBody>
      </p:sp>
      <p:sp>
        <p:nvSpPr>
          <p:cNvPr id="249056" name="Rectangle 224"/>
          <p:cNvSpPr>
            <a:spLocks noChangeArrowheads="1"/>
          </p:cNvSpPr>
          <p:nvPr/>
        </p:nvSpPr>
        <p:spPr bwMode="auto">
          <a:xfrm>
            <a:off x="552450" y="4779987"/>
            <a:ext cx="2501900" cy="282575"/>
          </a:xfrm>
          <a:prstGeom prst="rect">
            <a:avLst/>
          </a:prstGeom>
          <a:noFill/>
          <a:ln w="9525">
            <a:noFill/>
            <a:miter lim="800000"/>
          </a:ln>
          <a:effectLst/>
        </p:spPr>
        <p:txBody>
          <a:bodyPr lIns="102026" tIns="51012" rIns="102026" bIns="51012">
            <a:spAutoFit/>
          </a:bodyPr>
          <a:lstStyle/>
          <a:p>
            <a:pPr defTabSz="1050925" eaLnBrk="0" hangingPunct="0">
              <a:lnSpc>
                <a:spcPct val="85000"/>
              </a:lnSpc>
              <a:defRPr/>
            </a:pPr>
            <a:r>
              <a:rPr kumimoji="1" lang="zh-CN" altLang="en-US" sz="1400" b="0">
                <a:effectLst>
                  <a:outerShdw blurRad="38100" dist="38100" dir="2700000" algn="tl">
                    <a:srgbClr val="C0C0C0"/>
                  </a:outerShdw>
                </a:effectLst>
                <a:latin typeface="ACaslon Bold" charset="0"/>
              </a:rPr>
              <a:t>人事部</a:t>
            </a:r>
          </a:p>
        </p:txBody>
      </p:sp>
      <p:grpSp>
        <p:nvGrpSpPr>
          <p:cNvPr id="10308" name="Group 225"/>
          <p:cNvGrpSpPr/>
          <p:nvPr/>
        </p:nvGrpSpPr>
        <p:grpSpPr bwMode="auto">
          <a:xfrm>
            <a:off x="4970463" y="3325837"/>
            <a:ext cx="460375" cy="317500"/>
            <a:chOff x="2653" y="1995"/>
            <a:chExt cx="258" cy="202"/>
          </a:xfrm>
        </p:grpSpPr>
        <p:grpSp>
          <p:nvGrpSpPr>
            <p:cNvPr id="10309" name="Group 226"/>
            <p:cNvGrpSpPr/>
            <p:nvPr/>
          </p:nvGrpSpPr>
          <p:grpSpPr bwMode="auto">
            <a:xfrm>
              <a:off x="2654" y="2065"/>
              <a:ext cx="142" cy="132"/>
              <a:chOff x="2654" y="2065"/>
              <a:chExt cx="142" cy="132"/>
            </a:xfrm>
          </p:grpSpPr>
          <p:sp>
            <p:nvSpPr>
              <p:cNvPr id="10401" name="Freeform 227"/>
              <p:cNvSpPr/>
              <p:nvPr/>
            </p:nvSpPr>
            <p:spPr bwMode="auto">
              <a:xfrm>
                <a:off x="2654" y="2066"/>
                <a:ext cx="136" cy="124"/>
              </a:xfrm>
              <a:custGeom>
                <a:avLst/>
                <a:gdLst>
                  <a:gd name="T0" fmla="*/ 135 w 136"/>
                  <a:gd name="T1" fmla="*/ 33 h 124"/>
                  <a:gd name="T2" fmla="*/ 135 w 136"/>
                  <a:gd name="T3" fmla="*/ 123 h 124"/>
                  <a:gd name="T4" fmla="*/ 0 w 136"/>
                  <a:gd name="T5" fmla="*/ 83 h 124"/>
                  <a:gd name="T6" fmla="*/ 0 w 136"/>
                  <a:gd name="T7" fmla="*/ 0 h 124"/>
                  <a:gd name="T8" fmla="*/ 135 w 136"/>
                  <a:gd name="T9" fmla="*/ 33 h 124"/>
                  <a:gd name="T10" fmla="*/ 0 60000 65536"/>
                  <a:gd name="T11" fmla="*/ 0 60000 65536"/>
                  <a:gd name="T12" fmla="*/ 0 60000 65536"/>
                  <a:gd name="T13" fmla="*/ 0 60000 65536"/>
                  <a:gd name="T14" fmla="*/ 0 60000 65536"/>
                  <a:gd name="T15" fmla="*/ 0 w 136"/>
                  <a:gd name="T16" fmla="*/ 0 h 124"/>
                  <a:gd name="T17" fmla="*/ 136 w 136"/>
                  <a:gd name="T18" fmla="*/ 124 h 124"/>
                </a:gdLst>
                <a:ahLst/>
                <a:cxnLst>
                  <a:cxn ang="T10">
                    <a:pos x="T0" y="T1"/>
                  </a:cxn>
                  <a:cxn ang="T11">
                    <a:pos x="T2" y="T3"/>
                  </a:cxn>
                  <a:cxn ang="T12">
                    <a:pos x="T4" y="T5"/>
                  </a:cxn>
                  <a:cxn ang="T13">
                    <a:pos x="T6" y="T7"/>
                  </a:cxn>
                  <a:cxn ang="T14">
                    <a:pos x="T8" y="T9"/>
                  </a:cxn>
                </a:cxnLst>
                <a:rect l="T15" t="T16" r="T17" b="T18"/>
                <a:pathLst>
                  <a:path w="136" h="124">
                    <a:moveTo>
                      <a:pt x="135" y="33"/>
                    </a:moveTo>
                    <a:lnTo>
                      <a:pt x="135" y="123"/>
                    </a:lnTo>
                    <a:lnTo>
                      <a:pt x="0" y="83"/>
                    </a:lnTo>
                    <a:lnTo>
                      <a:pt x="0" y="0"/>
                    </a:lnTo>
                    <a:lnTo>
                      <a:pt x="135" y="33"/>
                    </a:lnTo>
                  </a:path>
                </a:pathLst>
              </a:custGeom>
              <a:gradFill rotWithShape="0">
                <a:gsLst>
                  <a:gs pos="0">
                    <a:srgbClr val="D49FFF"/>
                  </a:gs>
                  <a:gs pos="100000">
                    <a:srgbClr val="3F2F4C"/>
                  </a:gs>
                </a:gsLst>
                <a:lin ang="2700000" scaled="1"/>
              </a:gradFill>
              <a:ln w="9525" cap="rnd">
                <a:noFill/>
                <a:round/>
              </a:ln>
            </p:spPr>
            <p:txBody>
              <a:bodyPr/>
              <a:lstStyle/>
              <a:p>
                <a:endParaRPr lang="zh-CN" altLang="en-US"/>
              </a:p>
            </p:txBody>
          </p:sp>
          <p:sp>
            <p:nvSpPr>
              <p:cNvPr id="10402" name="Freeform 228"/>
              <p:cNvSpPr/>
              <p:nvPr/>
            </p:nvSpPr>
            <p:spPr bwMode="auto">
              <a:xfrm>
                <a:off x="2655" y="2065"/>
                <a:ext cx="141" cy="132"/>
              </a:xfrm>
              <a:custGeom>
                <a:avLst/>
                <a:gdLst>
                  <a:gd name="T0" fmla="*/ 140 w 141"/>
                  <a:gd name="T1" fmla="*/ 36 h 132"/>
                  <a:gd name="T2" fmla="*/ 140 w 141"/>
                  <a:gd name="T3" fmla="*/ 131 h 132"/>
                  <a:gd name="T4" fmla="*/ 0 w 141"/>
                  <a:gd name="T5" fmla="*/ 88 h 132"/>
                  <a:gd name="T6" fmla="*/ 0 w 141"/>
                  <a:gd name="T7" fmla="*/ 0 h 132"/>
                  <a:gd name="T8" fmla="*/ 140 w 141"/>
                  <a:gd name="T9" fmla="*/ 36 h 132"/>
                  <a:gd name="T10" fmla="*/ 0 60000 65536"/>
                  <a:gd name="T11" fmla="*/ 0 60000 65536"/>
                  <a:gd name="T12" fmla="*/ 0 60000 65536"/>
                  <a:gd name="T13" fmla="*/ 0 60000 65536"/>
                  <a:gd name="T14" fmla="*/ 0 60000 65536"/>
                  <a:gd name="T15" fmla="*/ 0 w 141"/>
                  <a:gd name="T16" fmla="*/ 0 h 132"/>
                  <a:gd name="T17" fmla="*/ 141 w 141"/>
                  <a:gd name="T18" fmla="*/ 132 h 132"/>
                </a:gdLst>
                <a:ahLst/>
                <a:cxnLst>
                  <a:cxn ang="T10">
                    <a:pos x="T0" y="T1"/>
                  </a:cxn>
                  <a:cxn ang="T11">
                    <a:pos x="T2" y="T3"/>
                  </a:cxn>
                  <a:cxn ang="T12">
                    <a:pos x="T4" y="T5"/>
                  </a:cxn>
                  <a:cxn ang="T13">
                    <a:pos x="T6" y="T7"/>
                  </a:cxn>
                  <a:cxn ang="T14">
                    <a:pos x="T8" y="T9"/>
                  </a:cxn>
                </a:cxnLst>
                <a:rect l="T15" t="T16" r="T17" b="T18"/>
                <a:pathLst>
                  <a:path w="141" h="132">
                    <a:moveTo>
                      <a:pt x="140" y="36"/>
                    </a:moveTo>
                    <a:lnTo>
                      <a:pt x="140" y="131"/>
                    </a:lnTo>
                    <a:lnTo>
                      <a:pt x="0" y="88"/>
                    </a:lnTo>
                    <a:lnTo>
                      <a:pt x="0" y="0"/>
                    </a:lnTo>
                    <a:lnTo>
                      <a:pt x="140" y="36"/>
                    </a:lnTo>
                  </a:path>
                </a:pathLst>
              </a:custGeom>
              <a:gradFill rotWithShape="0">
                <a:gsLst>
                  <a:gs pos="0">
                    <a:srgbClr val="D49FFF"/>
                  </a:gs>
                  <a:gs pos="100000">
                    <a:srgbClr val="3F2F4C"/>
                  </a:gs>
                </a:gsLst>
                <a:lin ang="2700000" scaled="1"/>
              </a:gradFill>
              <a:ln w="9525" cap="rnd">
                <a:noFill/>
                <a:round/>
              </a:ln>
            </p:spPr>
            <p:txBody>
              <a:bodyPr/>
              <a:lstStyle/>
              <a:p>
                <a:endParaRPr lang="zh-CN" altLang="en-US"/>
              </a:p>
            </p:txBody>
          </p:sp>
        </p:grpSp>
        <p:grpSp>
          <p:nvGrpSpPr>
            <p:cNvPr id="10310" name="Group 229"/>
            <p:cNvGrpSpPr/>
            <p:nvPr/>
          </p:nvGrpSpPr>
          <p:grpSpPr bwMode="auto">
            <a:xfrm>
              <a:off x="2653" y="1995"/>
              <a:ext cx="256" cy="108"/>
              <a:chOff x="2653" y="1995"/>
              <a:chExt cx="256" cy="108"/>
            </a:xfrm>
          </p:grpSpPr>
          <p:sp>
            <p:nvSpPr>
              <p:cNvPr id="10399" name="Freeform 230"/>
              <p:cNvSpPr/>
              <p:nvPr/>
            </p:nvSpPr>
            <p:spPr bwMode="auto">
              <a:xfrm>
                <a:off x="2654" y="1995"/>
                <a:ext cx="249" cy="103"/>
              </a:xfrm>
              <a:custGeom>
                <a:avLst/>
                <a:gdLst>
                  <a:gd name="T0" fmla="*/ 137 w 249"/>
                  <a:gd name="T1" fmla="*/ 102 h 103"/>
                  <a:gd name="T2" fmla="*/ 0 w 249"/>
                  <a:gd name="T3" fmla="*/ 68 h 103"/>
                  <a:gd name="T4" fmla="*/ 129 w 249"/>
                  <a:gd name="T5" fmla="*/ 0 h 103"/>
                  <a:gd name="T6" fmla="*/ 248 w 249"/>
                  <a:gd name="T7" fmla="*/ 27 h 103"/>
                  <a:gd name="T8" fmla="*/ 137 w 249"/>
                  <a:gd name="T9" fmla="*/ 102 h 103"/>
                  <a:gd name="T10" fmla="*/ 0 60000 65536"/>
                  <a:gd name="T11" fmla="*/ 0 60000 65536"/>
                  <a:gd name="T12" fmla="*/ 0 60000 65536"/>
                  <a:gd name="T13" fmla="*/ 0 60000 65536"/>
                  <a:gd name="T14" fmla="*/ 0 60000 65536"/>
                  <a:gd name="T15" fmla="*/ 0 w 249"/>
                  <a:gd name="T16" fmla="*/ 0 h 103"/>
                  <a:gd name="T17" fmla="*/ 249 w 249"/>
                  <a:gd name="T18" fmla="*/ 103 h 103"/>
                </a:gdLst>
                <a:ahLst/>
                <a:cxnLst>
                  <a:cxn ang="T10">
                    <a:pos x="T0" y="T1"/>
                  </a:cxn>
                  <a:cxn ang="T11">
                    <a:pos x="T2" y="T3"/>
                  </a:cxn>
                  <a:cxn ang="T12">
                    <a:pos x="T4" y="T5"/>
                  </a:cxn>
                  <a:cxn ang="T13">
                    <a:pos x="T6" y="T7"/>
                  </a:cxn>
                  <a:cxn ang="T14">
                    <a:pos x="T8" y="T9"/>
                  </a:cxn>
                </a:cxnLst>
                <a:rect l="T15" t="T16" r="T17" b="T18"/>
                <a:pathLst>
                  <a:path w="249" h="103">
                    <a:moveTo>
                      <a:pt x="137" y="102"/>
                    </a:moveTo>
                    <a:lnTo>
                      <a:pt x="0" y="68"/>
                    </a:lnTo>
                    <a:lnTo>
                      <a:pt x="129" y="0"/>
                    </a:lnTo>
                    <a:lnTo>
                      <a:pt x="248" y="27"/>
                    </a:lnTo>
                    <a:lnTo>
                      <a:pt x="137" y="102"/>
                    </a:lnTo>
                  </a:path>
                </a:pathLst>
              </a:custGeom>
              <a:solidFill>
                <a:srgbClr val="D49FFF"/>
              </a:solidFill>
              <a:ln w="9525" cap="rnd">
                <a:noFill/>
                <a:round/>
              </a:ln>
            </p:spPr>
            <p:txBody>
              <a:bodyPr/>
              <a:lstStyle/>
              <a:p>
                <a:endParaRPr lang="zh-CN" altLang="en-US"/>
              </a:p>
            </p:txBody>
          </p:sp>
          <p:sp>
            <p:nvSpPr>
              <p:cNvPr id="10400" name="Freeform 231"/>
              <p:cNvSpPr/>
              <p:nvPr/>
            </p:nvSpPr>
            <p:spPr bwMode="auto">
              <a:xfrm>
                <a:off x="2653" y="1995"/>
                <a:ext cx="256" cy="108"/>
              </a:xfrm>
              <a:custGeom>
                <a:avLst/>
                <a:gdLst>
                  <a:gd name="T0" fmla="*/ 141 w 256"/>
                  <a:gd name="T1" fmla="*/ 107 h 108"/>
                  <a:gd name="T2" fmla="*/ 0 w 256"/>
                  <a:gd name="T3" fmla="*/ 71 h 108"/>
                  <a:gd name="T4" fmla="*/ 133 w 256"/>
                  <a:gd name="T5" fmla="*/ 0 h 108"/>
                  <a:gd name="T6" fmla="*/ 255 w 256"/>
                  <a:gd name="T7" fmla="*/ 28 h 108"/>
                  <a:gd name="T8" fmla="*/ 141 w 256"/>
                  <a:gd name="T9" fmla="*/ 107 h 108"/>
                  <a:gd name="T10" fmla="*/ 0 60000 65536"/>
                  <a:gd name="T11" fmla="*/ 0 60000 65536"/>
                  <a:gd name="T12" fmla="*/ 0 60000 65536"/>
                  <a:gd name="T13" fmla="*/ 0 60000 65536"/>
                  <a:gd name="T14" fmla="*/ 0 60000 65536"/>
                  <a:gd name="T15" fmla="*/ 0 w 256"/>
                  <a:gd name="T16" fmla="*/ 0 h 108"/>
                  <a:gd name="T17" fmla="*/ 256 w 256"/>
                  <a:gd name="T18" fmla="*/ 108 h 108"/>
                </a:gdLst>
                <a:ahLst/>
                <a:cxnLst>
                  <a:cxn ang="T10">
                    <a:pos x="T0" y="T1"/>
                  </a:cxn>
                  <a:cxn ang="T11">
                    <a:pos x="T2" y="T3"/>
                  </a:cxn>
                  <a:cxn ang="T12">
                    <a:pos x="T4" y="T5"/>
                  </a:cxn>
                  <a:cxn ang="T13">
                    <a:pos x="T6" y="T7"/>
                  </a:cxn>
                  <a:cxn ang="T14">
                    <a:pos x="T8" y="T9"/>
                  </a:cxn>
                </a:cxnLst>
                <a:rect l="T15" t="T16" r="T17" b="T18"/>
                <a:pathLst>
                  <a:path w="256" h="108">
                    <a:moveTo>
                      <a:pt x="141" y="107"/>
                    </a:moveTo>
                    <a:lnTo>
                      <a:pt x="0" y="71"/>
                    </a:lnTo>
                    <a:lnTo>
                      <a:pt x="133" y="0"/>
                    </a:lnTo>
                    <a:lnTo>
                      <a:pt x="255" y="28"/>
                    </a:lnTo>
                    <a:lnTo>
                      <a:pt x="141" y="107"/>
                    </a:lnTo>
                  </a:path>
                </a:pathLst>
              </a:custGeom>
              <a:solidFill>
                <a:srgbClr val="D49FFF"/>
              </a:solidFill>
              <a:ln w="9525" cap="rnd">
                <a:noFill/>
                <a:round/>
              </a:ln>
            </p:spPr>
            <p:txBody>
              <a:bodyPr/>
              <a:lstStyle/>
              <a:p>
                <a:endParaRPr lang="zh-CN" altLang="en-US"/>
              </a:p>
            </p:txBody>
          </p:sp>
        </p:grpSp>
        <p:grpSp>
          <p:nvGrpSpPr>
            <p:cNvPr id="10312" name="Group 232"/>
            <p:cNvGrpSpPr/>
            <p:nvPr/>
          </p:nvGrpSpPr>
          <p:grpSpPr bwMode="auto">
            <a:xfrm>
              <a:off x="2796" y="2022"/>
              <a:ext cx="115" cy="175"/>
              <a:chOff x="2796" y="2022"/>
              <a:chExt cx="115" cy="175"/>
            </a:xfrm>
          </p:grpSpPr>
          <p:sp>
            <p:nvSpPr>
              <p:cNvPr id="10397" name="Freeform 233"/>
              <p:cNvSpPr/>
              <p:nvPr/>
            </p:nvSpPr>
            <p:spPr bwMode="auto">
              <a:xfrm>
                <a:off x="2797" y="2023"/>
                <a:ext cx="108" cy="167"/>
              </a:xfrm>
              <a:custGeom>
                <a:avLst/>
                <a:gdLst>
                  <a:gd name="T0" fmla="*/ 107 w 108"/>
                  <a:gd name="T1" fmla="*/ 0 h 167"/>
                  <a:gd name="T2" fmla="*/ 0 w 108"/>
                  <a:gd name="T3" fmla="*/ 75 h 167"/>
                  <a:gd name="T4" fmla="*/ 0 w 108"/>
                  <a:gd name="T5" fmla="*/ 166 h 167"/>
                  <a:gd name="T6" fmla="*/ 107 w 108"/>
                  <a:gd name="T7" fmla="*/ 79 h 167"/>
                  <a:gd name="T8" fmla="*/ 107 w 108"/>
                  <a:gd name="T9" fmla="*/ 0 h 167"/>
                  <a:gd name="T10" fmla="*/ 0 60000 65536"/>
                  <a:gd name="T11" fmla="*/ 0 60000 65536"/>
                  <a:gd name="T12" fmla="*/ 0 60000 65536"/>
                  <a:gd name="T13" fmla="*/ 0 60000 65536"/>
                  <a:gd name="T14" fmla="*/ 0 60000 65536"/>
                  <a:gd name="T15" fmla="*/ 0 w 108"/>
                  <a:gd name="T16" fmla="*/ 0 h 167"/>
                  <a:gd name="T17" fmla="*/ 108 w 108"/>
                  <a:gd name="T18" fmla="*/ 167 h 167"/>
                </a:gdLst>
                <a:ahLst/>
                <a:cxnLst>
                  <a:cxn ang="T10">
                    <a:pos x="T0" y="T1"/>
                  </a:cxn>
                  <a:cxn ang="T11">
                    <a:pos x="T2" y="T3"/>
                  </a:cxn>
                  <a:cxn ang="T12">
                    <a:pos x="T4" y="T5"/>
                  </a:cxn>
                  <a:cxn ang="T13">
                    <a:pos x="T6" y="T7"/>
                  </a:cxn>
                  <a:cxn ang="T14">
                    <a:pos x="T8" y="T9"/>
                  </a:cxn>
                </a:cxnLst>
                <a:rect l="T15" t="T16" r="T17" b="T18"/>
                <a:pathLst>
                  <a:path w="108" h="167">
                    <a:moveTo>
                      <a:pt x="107" y="0"/>
                    </a:moveTo>
                    <a:lnTo>
                      <a:pt x="0" y="75"/>
                    </a:lnTo>
                    <a:lnTo>
                      <a:pt x="0" y="166"/>
                    </a:lnTo>
                    <a:lnTo>
                      <a:pt x="107" y="79"/>
                    </a:lnTo>
                    <a:lnTo>
                      <a:pt x="107" y="0"/>
                    </a:lnTo>
                  </a:path>
                </a:pathLst>
              </a:custGeom>
              <a:gradFill rotWithShape="0">
                <a:gsLst>
                  <a:gs pos="0">
                    <a:srgbClr val="44394C"/>
                  </a:gs>
                  <a:gs pos="100000">
                    <a:srgbClr val="E3BEFF"/>
                  </a:gs>
                </a:gsLst>
                <a:lin ang="2700000" scaled="1"/>
              </a:gradFill>
              <a:ln w="9525" cap="rnd">
                <a:noFill/>
                <a:round/>
              </a:ln>
            </p:spPr>
            <p:txBody>
              <a:bodyPr/>
              <a:lstStyle/>
              <a:p>
                <a:endParaRPr lang="zh-CN" altLang="en-US"/>
              </a:p>
            </p:txBody>
          </p:sp>
          <p:sp>
            <p:nvSpPr>
              <p:cNvPr id="10398" name="Freeform 234"/>
              <p:cNvSpPr/>
              <p:nvPr/>
            </p:nvSpPr>
            <p:spPr bwMode="auto">
              <a:xfrm>
                <a:off x="2796" y="2022"/>
                <a:ext cx="115" cy="175"/>
              </a:xfrm>
              <a:custGeom>
                <a:avLst/>
                <a:gdLst>
                  <a:gd name="T0" fmla="*/ 114 w 115"/>
                  <a:gd name="T1" fmla="*/ 0 h 175"/>
                  <a:gd name="T2" fmla="*/ 0 w 115"/>
                  <a:gd name="T3" fmla="*/ 80 h 175"/>
                  <a:gd name="T4" fmla="*/ 0 w 115"/>
                  <a:gd name="T5" fmla="*/ 174 h 175"/>
                  <a:gd name="T6" fmla="*/ 114 w 115"/>
                  <a:gd name="T7" fmla="*/ 84 h 175"/>
                  <a:gd name="T8" fmla="*/ 114 w 115"/>
                  <a:gd name="T9" fmla="*/ 0 h 175"/>
                  <a:gd name="T10" fmla="*/ 0 60000 65536"/>
                  <a:gd name="T11" fmla="*/ 0 60000 65536"/>
                  <a:gd name="T12" fmla="*/ 0 60000 65536"/>
                  <a:gd name="T13" fmla="*/ 0 60000 65536"/>
                  <a:gd name="T14" fmla="*/ 0 60000 65536"/>
                  <a:gd name="T15" fmla="*/ 0 w 115"/>
                  <a:gd name="T16" fmla="*/ 0 h 175"/>
                  <a:gd name="T17" fmla="*/ 115 w 115"/>
                  <a:gd name="T18" fmla="*/ 175 h 175"/>
                </a:gdLst>
                <a:ahLst/>
                <a:cxnLst>
                  <a:cxn ang="T10">
                    <a:pos x="T0" y="T1"/>
                  </a:cxn>
                  <a:cxn ang="T11">
                    <a:pos x="T2" y="T3"/>
                  </a:cxn>
                  <a:cxn ang="T12">
                    <a:pos x="T4" y="T5"/>
                  </a:cxn>
                  <a:cxn ang="T13">
                    <a:pos x="T6" y="T7"/>
                  </a:cxn>
                  <a:cxn ang="T14">
                    <a:pos x="T8" y="T9"/>
                  </a:cxn>
                </a:cxnLst>
                <a:rect l="T15" t="T16" r="T17" b="T18"/>
                <a:pathLst>
                  <a:path w="115" h="175">
                    <a:moveTo>
                      <a:pt x="114" y="0"/>
                    </a:moveTo>
                    <a:lnTo>
                      <a:pt x="0" y="80"/>
                    </a:lnTo>
                    <a:lnTo>
                      <a:pt x="0" y="174"/>
                    </a:lnTo>
                    <a:lnTo>
                      <a:pt x="114" y="84"/>
                    </a:lnTo>
                    <a:lnTo>
                      <a:pt x="114" y="0"/>
                    </a:lnTo>
                  </a:path>
                </a:pathLst>
              </a:custGeom>
              <a:gradFill rotWithShape="0">
                <a:gsLst>
                  <a:gs pos="0">
                    <a:srgbClr val="44394C"/>
                  </a:gs>
                  <a:gs pos="100000">
                    <a:srgbClr val="E3BEFF"/>
                  </a:gs>
                </a:gsLst>
                <a:lin ang="2700000" scaled="1"/>
              </a:gradFill>
              <a:ln w="9525" cap="rnd">
                <a:noFill/>
                <a:round/>
              </a:ln>
            </p:spPr>
            <p:txBody>
              <a:bodyPr/>
              <a:lstStyle/>
              <a:p>
                <a:endParaRPr lang="zh-CN" altLang="en-US"/>
              </a:p>
            </p:txBody>
          </p:sp>
        </p:grpSp>
      </p:grpSp>
      <p:sp>
        <p:nvSpPr>
          <p:cNvPr id="249067" name="Rectangle 235"/>
          <p:cNvSpPr>
            <a:spLocks noChangeArrowheads="1"/>
          </p:cNvSpPr>
          <p:nvPr/>
        </p:nvSpPr>
        <p:spPr bwMode="auto">
          <a:xfrm>
            <a:off x="4875213" y="3071837"/>
            <a:ext cx="762000" cy="282575"/>
          </a:xfrm>
          <a:prstGeom prst="rect">
            <a:avLst/>
          </a:prstGeom>
          <a:noFill/>
          <a:ln w="9525">
            <a:noFill/>
            <a:miter lim="800000"/>
          </a:ln>
          <a:effectLst/>
        </p:spPr>
        <p:txBody>
          <a:bodyPr lIns="102026" tIns="51012" rIns="102026" bIns="51012">
            <a:spAutoFit/>
          </a:bodyPr>
          <a:lstStyle/>
          <a:p>
            <a:pPr defTabSz="1050925" eaLnBrk="0" hangingPunct="0">
              <a:lnSpc>
                <a:spcPct val="85000"/>
              </a:lnSpc>
              <a:defRPr/>
            </a:pPr>
            <a:r>
              <a:rPr kumimoji="1" lang="zh-CN" altLang="en-US" sz="1400" b="0">
                <a:effectLst>
                  <a:outerShdw blurRad="38100" dist="38100" dir="2700000" algn="tl">
                    <a:srgbClr val="C0C0C0"/>
                  </a:outerShdw>
                </a:effectLst>
                <a:latin typeface="ACaslon Bold" charset="0"/>
              </a:rPr>
              <a:t>路由</a:t>
            </a:r>
          </a:p>
        </p:txBody>
      </p:sp>
      <p:sp>
        <p:nvSpPr>
          <p:cNvPr id="10268" name="Freeform 236"/>
          <p:cNvSpPr/>
          <p:nvPr/>
        </p:nvSpPr>
        <p:spPr bwMode="auto">
          <a:xfrm>
            <a:off x="2184400" y="2135212"/>
            <a:ext cx="1474788" cy="2921000"/>
          </a:xfrm>
          <a:custGeom>
            <a:avLst/>
            <a:gdLst>
              <a:gd name="T0" fmla="*/ 0 w 827"/>
              <a:gd name="T1" fmla="*/ 0 h 1841"/>
              <a:gd name="T2" fmla="*/ 826 w 827"/>
              <a:gd name="T3" fmla="*/ 0 h 1841"/>
              <a:gd name="T4" fmla="*/ 826 w 827"/>
              <a:gd name="T5" fmla="*/ 1840 h 1841"/>
              <a:gd name="T6" fmla="*/ 87 w 827"/>
              <a:gd name="T7" fmla="*/ 1840 h 1841"/>
              <a:gd name="T8" fmla="*/ 0 60000 65536"/>
              <a:gd name="T9" fmla="*/ 0 60000 65536"/>
              <a:gd name="T10" fmla="*/ 0 60000 65536"/>
              <a:gd name="T11" fmla="*/ 0 60000 65536"/>
              <a:gd name="T12" fmla="*/ 0 w 827"/>
              <a:gd name="T13" fmla="*/ 0 h 1841"/>
              <a:gd name="T14" fmla="*/ 827 w 827"/>
              <a:gd name="T15" fmla="*/ 1841 h 1841"/>
            </a:gdLst>
            <a:ahLst/>
            <a:cxnLst>
              <a:cxn ang="T8">
                <a:pos x="T0" y="T1"/>
              </a:cxn>
              <a:cxn ang="T9">
                <a:pos x="T2" y="T3"/>
              </a:cxn>
              <a:cxn ang="T10">
                <a:pos x="T4" y="T5"/>
              </a:cxn>
              <a:cxn ang="T11">
                <a:pos x="T6" y="T7"/>
              </a:cxn>
            </a:cxnLst>
            <a:rect l="T12" t="T13" r="T14" b="T15"/>
            <a:pathLst>
              <a:path w="827" h="1841">
                <a:moveTo>
                  <a:pt x="0" y="0"/>
                </a:moveTo>
                <a:lnTo>
                  <a:pt x="826" y="0"/>
                </a:lnTo>
                <a:lnTo>
                  <a:pt x="826" y="1840"/>
                </a:lnTo>
                <a:lnTo>
                  <a:pt x="87" y="1840"/>
                </a:lnTo>
              </a:path>
            </a:pathLst>
          </a:custGeom>
          <a:noFill/>
          <a:ln w="25399" cap="rnd">
            <a:solidFill>
              <a:schemeClr val="tx1"/>
            </a:solidFill>
            <a:round/>
            <a:headEnd type="none" w="sm" len="sm"/>
            <a:tailEnd type="none" w="sm" len="sm"/>
          </a:ln>
        </p:spPr>
        <p:txBody>
          <a:bodyPr/>
          <a:lstStyle/>
          <a:p>
            <a:endParaRPr lang="zh-CN" altLang="en-US"/>
          </a:p>
        </p:txBody>
      </p:sp>
      <p:sp>
        <p:nvSpPr>
          <p:cNvPr id="10269" name="Line 237"/>
          <p:cNvSpPr>
            <a:spLocks noChangeShapeType="1"/>
          </p:cNvSpPr>
          <p:nvPr/>
        </p:nvSpPr>
        <p:spPr bwMode="auto">
          <a:xfrm>
            <a:off x="2719388" y="4113237"/>
            <a:ext cx="922337" cy="0"/>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10270" name="Line 238"/>
          <p:cNvSpPr>
            <a:spLocks noChangeShapeType="1"/>
          </p:cNvSpPr>
          <p:nvPr/>
        </p:nvSpPr>
        <p:spPr bwMode="auto">
          <a:xfrm flipV="1">
            <a:off x="2014538" y="2163787"/>
            <a:ext cx="0" cy="444500"/>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10271" name="Line 239"/>
          <p:cNvSpPr>
            <a:spLocks noChangeShapeType="1"/>
          </p:cNvSpPr>
          <p:nvPr/>
        </p:nvSpPr>
        <p:spPr bwMode="auto">
          <a:xfrm flipV="1">
            <a:off x="1660525" y="2144737"/>
            <a:ext cx="0" cy="549275"/>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10272" name="Line 240"/>
          <p:cNvSpPr>
            <a:spLocks noChangeShapeType="1"/>
          </p:cNvSpPr>
          <p:nvPr/>
        </p:nvSpPr>
        <p:spPr bwMode="auto">
          <a:xfrm flipV="1">
            <a:off x="1241425" y="2144737"/>
            <a:ext cx="0" cy="425450"/>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10273" name="Line 241"/>
          <p:cNvSpPr>
            <a:spLocks noChangeShapeType="1"/>
          </p:cNvSpPr>
          <p:nvPr/>
        </p:nvSpPr>
        <p:spPr bwMode="auto">
          <a:xfrm>
            <a:off x="669925" y="2128862"/>
            <a:ext cx="1524000" cy="6350"/>
          </a:xfrm>
          <a:prstGeom prst="line">
            <a:avLst/>
          </a:prstGeom>
          <a:noFill/>
          <a:ln w="25399">
            <a:solidFill>
              <a:schemeClr val="tx1"/>
            </a:solidFill>
            <a:round/>
            <a:headEnd type="none" w="sm" len="sm"/>
            <a:tailEnd type="none" w="sm" len="sm"/>
          </a:ln>
        </p:spPr>
        <p:txBody>
          <a:bodyPr wrap="none" anchor="ctr"/>
          <a:lstStyle/>
          <a:p>
            <a:endParaRPr lang="zh-CN" altLang="en-US"/>
          </a:p>
        </p:txBody>
      </p:sp>
      <p:pic>
        <p:nvPicPr>
          <p:cNvPr id="10274" name="Picture 242"/>
          <p:cNvPicPr>
            <a:picLocks noChangeArrowheads="1"/>
          </p:cNvPicPr>
          <p:nvPr/>
        </p:nvPicPr>
        <p:blipFill>
          <a:blip r:embed="rId5"/>
          <a:srcRect/>
          <a:stretch>
            <a:fillRect/>
          </a:stretch>
        </p:blipFill>
        <p:spPr bwMode="auto">
          <a:xfrm>
            <a:off x="1098550" y="2452712"/>
            <a:ext cx="400050" cy="330200"/>
          </a:xfrm>
          <a:prstGeom prst="rect">
            <a:avLst/>
          </a:prstGeom>
          <a:noFill/>
          <a:ln w="9525">
            <a:noFill/>
            <a:miter lim="800000"/>
            <a:headEnd/>
            <a:tailEnd/>
          </a:ln>
        </p:spPr>
      </p:pic>
      <p:pic>
        <p:nvPicPr>
          <p:cNvPr id="10275" name="Picture 243"/>
          <p:cNvPicPr>
            <a:picLocks noChangeArrowheads="1"/>
          </p:cNvPicPr>
          <p:nvPr/>
        </p:nvPicPr>
        <p:blipFill>
          <a:blip r:embed="rId5"/>
          <a:srcRect/>
          <a:stretch>
            <a:fillRect/>
          </a:stretch>
        </p:blipFill>
        <p:spPr bwMode="auto">
          <a:xfrm>
            <a:off x="1473200" y="2452712"/>
            <a:ext cx="400050" cy="330200"/>
          </a:xfrm>
          <a:prstGeom prst="rect">
            <a:avLst/>
          </a:prstGeom>
          <a:noFill/>
          <a:ln w="9525">
            <a:noFill/>
            <a:miter lim="800000"/>
            <a:headEnd/>
            <a:tailEnd/>
          </a:ln>
        </p:spPr>
      </p:pic>
      <p:pic>
        <p:nvPicPr>
          <p:cNvPr id="10276" name="Picture 244"/>
          <p:cNvPicPr>
            <a:picLocks noChangeArrowheads="1"/>
          </p:cNvPicPr>
          <p:nvPr/>
        </p:nvPicPr>
        <p:blipFill>
          <a:blip r:embed="rId5"/>
          <a:srcRect/>
          <a:stretch>
            <a:fillRect/>
          </a:stretch>
        </p:blipFill>
        <p:spPr bwMode="auto">
          <a:xfrm>
            <a:off x="1870075" y="2452712"/>
            <a:ext cx="400050" cy="330200"/>
          </a:xfrm>
          <a:prstGeom prst="rect">
            <a:avLst/>
          </a:prstGeom>
          <a:noFill/>
          <a:ln w="9525">
            <a:noFill/>
            <a:miter lim="800000"/>
            <a:headEnd/>
            <a:tailEnd/>
          </a:ln>
        </p:spPr>
      </p:pic>
      <p:graphicFrame>
        <p:nvGraphicFramePr>
          <p:cNvPr id="10243" name="Object 245"/>
          <p:cNvGraphicFramePr/>
          <p:nvPr/>
        </p:nvGraphicFramePr>
        <p:xfrm>
          <a:off x="638175" y="1912962"/>
          <a:ext cx="288925" cy="488950"/>
        </p:xfrm>
        <a:graphic>
          <a:graphicData uri="http://schemas.openxmlformats.org/presentationml/2006/ole">
            <mc:AlternateContent xmlns:mc="http://schemas.openxmlformats.org/markup-compatibility/2006">
              <mc:Choice xmlns:v="urn:schemas-microsoft-com:vml" Requires="v">
                <p:oleObj spid="_x0000_s5212" r:id="rId6" imgW="1962150" imgH="2638425" progId="">
                  <p:embed/>
                </p:oleObj>
              </mc:Choice>
              <mc:Fallback>
                <p:oleObj r:id="rId6" imgW="1962150" imgH="2638425" progId="">
                  <p:embed/>
                  <p:pic>
                    <p:nvPicPr>
                      <p:cNvPr id="10243" name="Object 24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175" y="1912962"/>
                        <a:ext cx="28892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77" name="Line 246"/>
          <p:cNvSpPr>
            <a:spLocks noChangeShapeType="1"/>
          </p:cNvSpPr>
          <p:nvPr/>
        </p:nvSpPr>
        <p:spPr bwMode="auto">
          <a:xfrm flipV="1">
            <a:off x="2001838" y="3144862"/>
            <a:ext cx="0" cy="441325"/>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10278" name="Line 247"/>
          <p:cNvSpPr>
            <a:spLocks noChangeShapeType="1"/>
          </p:cNvSpPr>
          <p:nvPr/>
        </p:nvSpPr>
        <p:spPr bwMode="auto">
          <a:xfrm flipV="1">
            <a:off x="1647825" y="3138512"/>
            <a:ext cx="0" cy="546100"/>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10279" name="Line 248"/>
          <p:cNvSpPr>
            <a:spLocks noChangeShapeType="1"/>
          </p:cNvSpPr>
          <p:nvPr/>
        </p:nvSpPr>
        <p:spPr bwMode="auto">
          <a:xfrm>
            <a:off x="665163" y="3122637"/>
            <a:ext cx="2997200" cy="0"/>
          </a:xfrm>
          <a:prstGeom prst="line">
            <a:avLst/>
          </a:prstGeom>
          <a:noFill/>
          <a:ln w="25399">
            <a:solidFill>
              <a:schemeClr val="tx1"/>
            </a:solidFill>
            <a:round/>
            <a:headEnd type="none" w="sm" len="sm"/>
            <a:tailEnd type="none" w="sm" len="sm"/>
          </a:ln>
        </p:spPr>
        <p:txBody>
          <a:bodyPr wrap="none" anchor="ctr"/>
          <a:lstStyle/>
          <a:p>
            <a:endParaRPr lang="zh-CN" altLang="en-US"/>
          </a:p>
        </p:txBody>
      </p:sp>
      <p:pic>
        <p:nvPicPr>
          <p:cNvPr id="10280" name="Picture 249"/>
          <p:cNvPicPr>
            <a:picLocks noChangeArrowheads="1"/>
          </p:cNvPicPr>
          <p:nvPr/>
        </p:nvPicPr>
        <p:blipFill>
          <a:blip r:embed="rId5"/>
          <a:srcRect/>
          <a:stretch>
            <a:fillRect/>
          </a:stretch>
        </p:blipFill>
        <p:spPr bwMode="auto">
          <a:xfrm>
            <a:off x="1457325" y="3443312"/>
            <a:ext cx="401638" cy="330200"/>
          </a:xfrm>
          <a:prstGeom prst="rect">
            <a:avLst/>
          </a:prstGeom>
          <a:noFill/>
          <a:ln w="9525">
            <a:noFill/>
            <a:miter lim="800000"/>
            <a:headEnd/>
            <a:tailEnd/>
          </a:ln>
        </p:spPr>
      </p:pic>
      <p:pic>
        <p:nvPicPr>
          <p:cNvPr id="10281" name="Picture 250"/>
          <p:cNvPicPr>
            <a:picLocks noChangeArrowheads="1"/>
          </p:cNvPicPr>
          <p:nvPr/>
        </p:nvPicPr>
        <p:blipFill>
          <a:blip r:embed="rId5"/>
          <a:srcRect/>
          <a:stretch>
            <a:fillRect/>
          </a:stretch>
        </p:blipFill>
        <p:spPr bwMode="auto">
          <a:xfrm>
            <a:off x="1854200" y="3443312"/>
            <a:ext cx="401638" cy="330200"/>
          </a:xfrm>
          <a:prstGeom prst="rect">
            <a:avLst/>
          </a:prstGeom>
          <a:noFill/>
          <a:ln w="9525">
            <a:noFill/>
            <a:miter lim="800000"/>
            <a:headEnd/>
            <a:tailEnd/>
          </a:ln>
        </p:spPr>
      </p:pic>
      <p:graphicFrame>
        <p:nvGraphicFramePr>
          <p:cNvPr id="10244" name="Object 251"/>
          <p:cNvGraphicFramePr/>
          <p:nvPr/>
        </p:nvGraphicFramePr>
        <p:xfrm>
          <a:off x="622300" y="2906737"/>
          <a:ext cx="288925" cy="488950"/>
        </p:xfrm>
        <a:graphic>
          <a:graphicData uri="http://schemas.openxmlformats.org/presentationml/2006/ole">
            <mc:AlternateContent xmlns:mc="http://schemas.openxmlformats.org/markup-compatibility/2006">
              <mc:Choice xmlns:v="urn:schemas-microsoft-com:vml" Requires="v">
                <p:oleObj spid="_x0000_s5213" r:id="rId7" imgW="1962150" imgH="2638425" progId="">
                  <p:embed/>
                </p:oleObj>
              </mc:Choice>
              <mc:Fallback>
                <p:oleObj r:id="rId7" imgW="1962150" imgH="2638425" progId="">
                  <p:embed/>
                  <p:pic>
                    <p:nvPicPr>
                      <p:cNvPr id="10244" name="Object 25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300" y="2906737"/>
                        <a:ext cx="28892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82" name="Line 252"/>
          <p:cNvSpPr>
            <a:spLocks noChangeShapeType="1"/>
          </p:cNvSpPr>
          <p:nvPr/>
        </p:nvSpPr>
        <p:spPr bwMode="auto">
          <a:xfrm flipV="1">
            <a:off x="2001838" y="4122762"/>
            <a:ext cx="0" cy="444500"/>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10283" name="Line 253"/>
          <p:cNvSpPr>
            <a:spLocks noChangeShapeType="1"/>
          </p:cNvSpPr>
          <p:nvPr/>
        </p:nvSpPr>
        <p:spPr bwMode="auto">
          <a:xfrm flipV="1">
            <a:off x="1644650" y="4106887"/>
            <a:ext cx="0" cy="546100"/>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10284" name="Line 254"/>
          <p:cNvSpPr>
            <a:spLocks noChangeShapeType="1"/>
          </p:cNvSpPr>
          <p:nvPr/>
        </p:nvSpPr>
        <p:spPr bwMode="auto">
          <a:xfrm flipV="1">
            <a:off x="1227138" y="4106887"/>
            <a:ext cx="0" cy="428625"/>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10285" name="Line 255"/>
          <p:cNvSpPr>
            <a:spLocks noChangeShapeType="1"/>
          </p:cNvSpPr>
          <p:nvPr/>
        </p:nvSpPr>
        <p:spPr bwMode="auto">
          <a:xfrm flipV="1">
            <a:off x="857250" y="4113237"/>
            <a:ext cx="1905000" cy="0"/>
          </a:xfrm>
          <a:prstGeom prst="line">
            <a:avLst/>
          </a:prstGeom>
          <a:noFill/>
          <a:ln w="25399">
            <a:solidFill>
              <a:schemeClr val="tx1"/>
            </a:solidFill>
            <a:round/>
            <a:headEnd type="none" w="sm" len="sm"/>
            <a:tailEnd type="none" w="sm" len="sm"/>
          </a:ln>
        </p:spPr>
        <p:txBody>
          <a:bodyPr wrap="none" anchor="ctr"/>
          <a:lstStyle/>
          <a:p>
            <a:endParaRPr lang="zh-CN" altLang="en-US"/>
          </a:p>
        </p:txBody>
      </p:sp>
      <p:pic>
        <p:nvPicPr>
          <p:cNvPr id="10286" name="Picture 256"/>
          <p:cNvPicPr>
            <a:picLocks noChangeArrowheads="1"/>
          </p:cNvPicPr>
          <p:nvPr/>
        </p:nvPicPr>
        <p:blipFill>
          <a:blip r:embed="rId5"/>
          <a:srcRect/>
          <a:stretch>
            <a:fillRect/>
          </a:stretch>
        </p:blipFill>
        <p:spPr bwMode="auto">
          <a:xfrm>
            <a:off x="1079500" y="4414862"/>
            <a:ext cx="400050" cy="330200"/>
          </a:xfrm>
          <a:prstGeom prst="rect">
            <a:avLst/>
          </a:prstGeom>
          <a:noFill/>
          <a:ln w="9525">
            <a:noFill/>
            <a:miter lim="800000"/>
            <a:headEnd/>
            <a:tailEnd/>
          </a:ln>
        </p:spPr>
      </p:pic>
      <p:pic>
        <p:nvPicPr>
          <p:cNvPr id="10287" name="Picture 257"/>
          <p:cNvPicPr>
            <a:picLocks noChangeArrowheads="1"/>
          </p:cNvPicPr>
          <p:nvPr/>
        </p:nvPicPr>
        <p:blipFill>
          <a:blip r:embed="rId5"/>
          <a:srcRect/>
          <a:stretch>
            <a:fillRect/>
          </a:stretch>
        </p:blipFill>
        <p:spPr bwMode="auto">
          <a:xfrm>
            <a:off x="1457325" y="4414862"/>
            <a:ext cx="396875" cy="330200"/>
          </a:xfrm>
          <a:prstGeom prst="rect">
            <a:avLst/>
          </a:prstGeom>
          <a:noFill/>
          <a:ln w="9525">
            <a:noFill/>
            <a:miter lim="800000"/>
            <a:headEnd/>
            <a:tailEnd/>
          </a:ln>
        </p:spPr>
      </p:pic>
      <p:pic>
        <p:nvPicPr>
          <p:cNvPr id="10288" name="Picture 258"/>
          <p:cNvPicPr>
            <a:picLocks noChangeArrowheads="1"/>
          </p:cNvPicPr>
          <p:nvPr/>
        </p:nvPicPr>
        <p:blipFill>
          <a:blip r:embed="rId5"/>
          <a:srcRect/>
          <a:stretch>
            <a:fillRect/>
          </a:stretch>
        </p:blipFill>
        <p:spPr bwMode="auto">
          <a:xfrm>
            <a:off x="1851025" y="4414862"/>
            <a:ext cx="400050" cy="330200"/>
          </a:xfrm>
          <a:prstGeom prst="rect">
            <a:avLst/>
          </a:prstGeom>
          <a:noFill/>
          <a:ln w="9525">
            <a:noFill/>
            <a:miter lim="800000"/>
            <a:headEnd/>
            <a:tailEnd/>
          </a:ln>
        </p:spPr>
      </p:pic>
      <p:graphicFrame>
        <p:nvGraphicFramePr>
          <p:cNvPr id="10245" name="Object 259"/>
          <p:cNvGraphicFramePr/>
          <p:nvPr/>
        </p:nvGraphicFramePr>
        <p:xfrm>
          <a:off x="622300" y="3871937"/>
          <a:ext cx="285750" cy="495300"/>
        </p:xfrm>
        <a:graphic>
          <a:graphicData uri="http://schemas.openxmlformats.org/presentationml/2006/ole">
            <mc:AlternateContent xmlns:mc="http://schemas.openxmlformats.org/markup-compatibility/2006">
              <mc:Choice xmlns:v="urn:schemas-microsoft-com:vml" Requires="v">
                <p:oleObj spid="_x0000_s5214" r:id="rId8" imgW="1962150" imgH="2638425" progId="">
                  <p:embed/>
                </p:oleObj>
              </mc:Choice>
              <mc:Fallback>
                <p:oleObj r:id="rId8" imgW="1962150" imgH="2638425" progId="">
                  <p:embed/>
                  <p:pic>
                    <p:nvPicPr>
                      <p:cNvPr id="10245" name="Object 25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300" y="3871937"/>
                        <a:ext cx="28575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89" name="Line 260"/>
          <p:cNvSpPr>
            <a:spLocks noChangeShapeType="1"/>
          </p:cNvSpPr>
          <p:nvPr/>
        </p:nvSpPr>
        <p:spPr bwMode="auto">
          <a:xfrm flipV="1">
            <a:off x="1970088" y="5078437"/>
            <a:ext cx="0" cy="444500"/>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10290" name="Line 261"/>
          <p:cNvSpPr>
            <a:spLocks noChangeShapeType="1"/>
          </p:cNvSpPr>
          <p:nvPr/>
        </p:nvSpPr>
        <p:spPr bwMode="auto">
          <a:xfrm flipV="1">
            <a:off x="1612900" y="5059387"/>
            <a:ext cx="0" cy="549275"/>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10291" name="Line 262"/>
          <p:cNvSpPr>
            <a:spLocks noChangeShapeType="1"/>
          </p:cNvSpPr>
          <p:nvPr/>
        </p:nvSpPr>
        <p:spPr bwMode="auto">
          <a:xfrm>
            <a:off x="615950" y="5053037"/>
            <a:ext cx="1954213" cy="0"/>
          </a:xfrm>
          <a:prstGeom prst="line">
            <a:avLst/>
          </a:prstGeom>
          <a:noFill/>
          <a:ln w="25399">
            <a:solidFill>
              <a:schemeClr val="tx1"/>
            </a:solidFill>
            <a:round/>
            <a:headEnd type="none" w="sm" len="sm"/>
            <a:tailEnd type="none" w="sm" len="sm"/>
          </a:ln>
        </p:spPr>
        <p:txBody>
          <a:bodyPr wrap="none" anchor="ctr"/>
          <a:lstStyle/>
          <a:p>
            <a:endParaRPr lang="zh-CN" altLang="en-US"/>
          </a:p>
        </p:txBody>
      </p:sp>
      <p:pic>
        <p:nvPicPr>
          <p:cNvPr id="10292" name="Picture 263"/>
          <p:cNvPicPr>
            <a:picLocks noChangeArrowheads="1"/>
          </p:cNvPicPr>
          <p:nvPr/>
        </p:nvPicPr>
        <p:blipFill>
          <a:blip r:embed="rId5"/>
          <a:srcRect/>
          <a:stretch>
            <a:fillRect/>
          </a:stretch>
        </p:blipFill>
        <p:spPr bwMode="auto">
          <a:xfrm>
            <a:off x="1425575" y="5367362"/>
            <a:ext cx="396875" cy="330200"/>
          </a:xfrm>
          <a:prstGeom prst="rect">
            <a:avLst/>
          </a:prstGeom>
          <a:noFill/>
          <a:ln w="9525">
            <a:noFill/>
            <a:miter lim="800000"/>
            <a:headEnd/>
            <a:tailEnd/>
          </a:ln>
        </p:spPr>
      </p:pic>
      <p:pic>
        <p:nvPicPr>
          <p:cNvPr id="10293" name="Picture 264"/>
          <p:cNvPicPr>
            <a:picLocks noChangeArrowheads="1"/>
          </p:cNvPicPr>
          <p:nvPr/>
        </p:nvPicPr>
        <p:blipFill>
          <a:blip r:embed="rId5"/>
          <a:srcRect/>
          <a:stretch>
            <a:fillRect/>
          </a:stretch>
        </p:blipFill>
        <p:spPr bwMode="auto">
          <a:xfrm>
            <a:off x="1816100" y="5367362"/>
            <a:ext cx="400050" cy="330200"/>
          </a:xfrm>
          <a:prstGeom prst="rect">
            <a:avLst/>
          </a:prstGeom>
          <a:noFill/>
          <a:ln w="9525">
            <a:noFill/>
            <a:miter lim="800000"/>
            <a:headEnd/>
            <a:tailEnd/>
          </a:ln>
        </p:spPr>
      </p:pic>
      <p:graphicFrame>
        <p:nvGraphicFramePr>
          <p:cNvPr id="10246" name="Object 265"/>
          <p:cNvGraphicFramePr/>
          <p:nvPr/>
        </p:nvGraphicFramePr>
        <p:xfrm>
          <a:off x="587375" y="4827612"/>
          <a:ext cx="285750" cy="488950"/>
        </p:xfrm>
        <a:graphic>
          <a:graphicData uri="http://schemas.openxmlformats.org/presentationml/2006/ole">
            <mc:AlternateContent xmlns:mc="http://schemas.openxmlformats.org/markup-compatibility/2006">
              <mc:Choice xmlns:v="urn:schemas-microsoft-com:vml" Requires="v">
                <p:oleObj spid="_x0000_s5215" r:id="rId9" imgW="1962150" imgH="2638425" progId="">
                  <p:embed/>
                </p:oleObj>
              </mc:Choice>
              <mc:Fallback>
                <p:oleObj r:id="rId9" imgW="1962150" imgH="2638425" progId="">
                  <p:embed/>
                  <p:pic>
                    <p:nvPicPr>
                      <p:cNvPr id="10246" name="Object 26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7375" y="4827612"/>
                        <a:ext cx="28575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49098" name="Picture 266"/>
          <p:cNvPicPr>
            <a:picLocks noChangeArrowheads="1"/>
          </p:cNvPicPr>
          <p:nvPr/>
        </p:nvPicPr>
        <p:blipFill>
          <a:blip r:embed="rId10"/>
          <a:srcRect/>
          <a:stretch>
            <a:fillRect/>
          </a:stretch>
        </p:blipFill>
        <p:spPr bwMode="auto">
          <a:xfrm>
            <a:off x="6115050" y="1643087"/>
            <a:ext cx="2227263" cy="1095375"/>
          </a:xfrm>
          <a:prstGeom prst="rect">
            <a:avLst/>
          </a:prstGeom>
          <a:noFill/>
          <a:ln w="9525">
            <a:noFill/>
            <a:miter lim="800000"/>
            <a:headEnd/>
            <a:tailEnd/>
          </a:ln>
          <a:effectLst>
            <a:outerShdw dist="107763" dir="2700000" algn="ctr" rotWithShape="0">
              <a:schemeClr val="bg2"/>
            </a:outerShdw>
          </a:effectLst>
        </p:spPr>
      </p:pic>
      <p:sp>
        <p:nvSpPr>
          <p:cNvPr id="249099" name="Rectangle 267"/>
          <p:cNvSpPr>
            <a:spLocks noChangeArrowheads="1"/>
          </p:cNvSpPr>
          <p:nvPr/>
        </p:nvSpPr>
        <p:spPr bwMode="auto">
          <a:xfrm>
            <a:off x="6724650" y="2093937"/>
            <a:ext cx="1636713" cy="452437"/>
          </a:xfrm>
          <a:prstGeom prst="rect">
            <a:avLst/>
          </a:prstGeom>
          <a:noFill/>
          <a:ln w="9525">
            <a:noFill/>
            <a:miter lim="800000"/>
          </a:ln>
          <a:effectLst/>
        </p:spPr>
        <p:txBody>
          <a:bodyPr lIns="102026" tIns="51012" rIns="102026" bIns="51012">
            <a:spAutoFit/>
          </a:bodyPr>
          <a:lstStyle/>
          <a:p>
            <a:pPr defTabSz="1050925" eaLnBrk="0" hangingPunct="0">
              <a:defRPr/>
            </a:pPr>
            <a:r>
              <a:rPr kumimoji="1" lang="en-US" altLang="zh-CN" sz="2300">
                <a:effectLst>
                  <a:outerShdw blurRad="38100" dist="38100" dir="2700000" algn="tl">
                    <a:srgbClr val="C0C0C0"/>
                  </a:outerShdw>
                </a:effectLst>
                <a:latin typeface="ACaslon Bold" charset="0"/>
              </a:rPr>
              <a:t>Internet</a:t>
            </a:r>
          </a:p>
        </p:txBody>
      </p:sp>
      <p:grpSp>
        <p:nvGrpSpPr>
          <p:cNvPr id="10313" name="Group 268"/>
          <p:cNvGrpSpPr/>
          <p:nvPr/>
        </p:nvGrpSpPr>
        <p:grpSpPr bwMode="auto">
          <a:xfrm>
            <a:off x="5765800" y="2906737"/>
            <a:ext cx="619125" cy="320675"/>
            <a:chOff x="3097" y="1731"/>
            <a:chExt cx="348" cy="202"/>
          </a:xfrm>
        </p:grpSpPr>
        <p:grpSp>
          <p:nvGrpSpPr>
            <p:cNvPr id="10318" name="Group 269"/>
            <p:cNvGrpSpPr/>
            <p:nvPr/>
          </p:nvGrpSpPr>
          <p:grpSpPr bwMode="auto">
            <a:xfrm>
              <a:off x="3098" y="1801"/>
              <a:ext cx="192" cy="132"/>
              <a:chOff x="3098" y="1801"/>
              <a:chExt cx="192" cy="132"/>
            </a:xfrm>
          </p:grpSpPr>
          <p:sp>
            <p:nvSpPr>
              <p:cNvPr id="10392" name="Freeform 270"/>
              <p:cNvSpPr/>
              <p:nvPr/>
            </p:nvSpPr>
            <p:spPr bwMode="auto">
              <a:xfrm>
                <a:off x="3098" y="1802"/>
                <a:ext cx="184" cy="124"/>
              </a:xfrm>
              <a:custGeom>
                <a:avLst/>
                <a:gdLst>
                  <a:gd name="T0" fmla="*/ 183 w 184"/>
                  <a:gd name="T1" fmla="*/ 33 h 124"/>
                  <a:gd name="T2" fmla="*/ 183 w 184"/>
                  <a:gd name="T3" fmla="*/ 123 h 124"/>
                  <a:gd name="T4" fmla="*/ 0 w 184"/>
                  <a:gd name="T5" fmla="*/ 83 h 124"/>
                  <a:gd name="T6" fmla="*/ 0 w 184"/>
                  <a:gd name="T7" fmla="*/ 0 h 124"/>
                  <a:gd name="T8" fmla="*/ 183 w 184"/>
                  <a:gd name="T9" fmla="*/ 33 h 124"/>
                  <a:gd name="T10" fmla="*/ 0 60000 65536"/>
                  <a:gd name="T11" fmla="*/ 0 60000 65536"/>
                  <a:gd name="T12" fmla="*/ 0 60000 65536"/>
                  <a:gd name="T13" fmla="*/ 0 60000 65536"/>
                  <a:gd name="T14" fmla="*/ 0 60000 65536"/>
                  <a:gd name="T15" fmla="*/ 0 w 184"/>
                  <a:gd name="T16" fmla="*/ 0 h 124"/>
                  <a:gd name="T17" fmla="*/ 184 w 184"/>
                  <a:gd name="T18" fmla="*/ 124 h 124"/>
                </a:gdLst>
                <a:ahLst/>
                <a:cxnLst>
                  <a:cxn ang="T10">
                    <a:pos x="T0" y="T1"/>
                  </a:cxn>
                  <a:cxn ang="T11">
                    <a:pos x="T2" y="T3"/>
                  </a:cxn>
                  <a:cxn ang="T12">
                    <a:pos x="T4" y="T5"/>
                  </a:cxn>
                  <a:cxn ang="T13">
                    <a:pos x="T6" y="T7"/>
                  </a:cxn>
                  <a:cxn ang="T14">
                    <a:pos x="T8" y="T9"/>
                  </a:cxn>
                </a:cxnLst>
                <a:rect l="T15" t="T16" r="T17" b="T18"/>
                <a:pathLst>
                  <a:path w="184" h="124">
                    <a:moveTo>
                      <a:pt x="183" y="33"/>
                    </a:moveTo>
                    <a:lnTo>
                      <a:pt x="183" y="123"/>
                    </a:lnTo>
                    <a:lnTo>
                      <a:pt x="0" y="83"/>
                    </a:lnTo>
                    <a:lnTo>
                      <a:pt x="0" y="0"/>
                    </a:lnTo>
                    <a:lnTo>
                      <a:pt x="183" y="33"/>
                    </a:lnTo>
                  </a:path>
                </a:pathLst>
              </a:custGeom>
              <a:gradFill rotWithShape="0">
                <a:gsLst>
                  <a:gs pos="0">
                    <a:srgbClr val="33CC33"/>
                  </a:gs>
                  <a:gs pos="100000">
                    <a:srgbClr val="2EB72E"/>
                  </a:gs>
                </a:gsLst>
                <a:path path="rect">
                  <a:fillToRect l="50000" t="50000" r="50000" b="50000"/>
                </a:path>
              </a:gradFill>
              <a:ln w="9525" cap="rnd">
                <a:noFill/>
                <a:round/>
              </a:ln>
            </p:spPr>
            <p:txBody>
              <a:bodyPr/>
              <a:lstStyle/>
              <a:p>
                <a:endParaRPr lang="zh-CN" altLang="en-US"/>
              </a:p>
            </p:txBody>
          </p:sp>
          <p:sp>
            <p:nvSpPr>
              <p:cNvPr id="10393" name="Freeform 271"/>
              <p:cNvSpPr/>
              <p:nvPr/>
            </p:nvSpPr>
            <p:spPr bwMode="auto">
              <a:xfrm>
                <a:off x="3100" y="1801"/>
                <a:ext cx="190" cy="132"/>
              </a:xfrm>
              <a:custGeom>
                <a:avLst/>
                <a:gdLst>
                  <a:gd name="T0" fmla="*/ 189 w 190"/>
                  <a:gd name="T1" fmla="*/ 36 h 132"/>
                  <a:gd name="T2" fmla="*/ 189 w 190"/>
                  <a:gd name="T3" fmla="*/ 131 h 132"/>
                  <a:gd name="T4" fmla="*/ 0 w 190"/>
                  <a:gd name="T5" fmla="*/ 88 h 132"/>
                  <a:gd name="T6" fmla="*/ 0 w 190"/>
                  <a:gd name="T7" fmla="*/ 0 h 132"/>
                  <a:gd name="T8" fmla="*/ 189 w 190"/>
                  <a:gd name="T9" fmla="*/ 36 h 132"/>
                  <a:gd name="T10" fmla="*/ 0 60000 65536"/>
                  <a:gd name="T11" fmla="*/ 0 60000 65536"/>
                  <a:gd name="T12" fmla="*/ 0 60000 65536"/>
                  <a:gd name="T13" fmla="*/ 0 60000 65536"/>
                  <a:gd name="T14" fmla="*/ 0 60000 65536"/>
                  <a:gd name="T15" fmla="*/ 0 w 190"/>
                  <a:gd name="T16" fmla="*/ 0 h 132"/>
                  <a:gd name="T17" fmla="*/ 190 w 190"/>
                  <a:gd name="T18" fmla="*/ 132 h 132"/>
                </a:gdLst>
                <a:ahLst/>
                <a:cxnLst>
                  <a:cxn ang="T10">
                    <a:pos x="T0" y="T1"/>
                  </a:cxn>
                  <a:cxn ang="T11">
                    <a:pos x="T2" y="T3"/>
                  </a:cxn>
                  <a:cxn ang="T12">
                    <a:pos x="T4" y="T5"/>
                  </a:cxn>
                  <a:cxn ang="T13">
                    <a:pos x="T6" y="T7"/>
                  </a:cxn>
                  <a:cxn ang="T14">
                    <a:pos x="T8" y="T9"/>
                  </a:cxn>
                </a:cxnLst>
                <a:rect l="T15" t="T16" r="T17" b="T18"/>
                <a:pathLst>
                  <a:path w="190" h="132">
                    <a:moveTo>
                      <a:pt x="189" y="36"/>
                    </a:moveTo>
                    <a:lnTo>
                      <a:pt x="189" y="131"/>
                    </a:lnTo>
                    <a:lnTo>
                      <a:pt x="0" y="88"/>
                    </a:lnTo>
                    <a:lnTo>
                      <a:pt x="0" y="0"/>
                    </a:lnTo>
                    <a:lnTo>
                      <a:pt x="189" y="36"/>
                    </a:lnTo>
                  </a:path>
                </a:pathLst>
              </a:custGeom>
              <a:gradFill rotWithShape="0">
                <a:gsLst>
                  <a:gs pos="0">
                    <a:srgbClr val="33CC33"/>
                  </a:gs>
                  <a:gs pos="100000">
                    <a:srgbClr val="2EB72E"/>
                  </a:gs>
                </a:gsLst>
                <a:path path="rect">
                  <a:fillToRect l="50000" t="50000" r="50000" b="50000"/>
                </a:path>
              </a:gradFill>
              <a:ln w="9525" cap="rnd">
                <a:noFill/>
                <a:round/>
              </a:ln>
            </p:spPr>
            <p:txBody>
              <a:bodyPr/>
              <a:lstStyle/>
              <a:p>
                <a:endParaRPr lang="zh-CN" altLang="en-US"/>
              </a:p>
            </p:txBody>
          </p:sp>
        </p:grpSp>
        <p:grpSp>
          <p:nvGrpSpPr>
            <p:cNvPr id="10319" name="Group 272"/>
            <p:cNvGrpSpPr/>
            <p:nvPr/>
          </p:nvGrpSpPr>
          <p:grpSpPr bwMode="auto">
            <a:xfrm>
              <a:off x="3097" y="1731"/>
              <a:ext cx="345" cy="108"/>
              <a:chOff x="3097" y="1731"/>
              <a:chExt cx="345" cy="108"/>
            </a:xfrm>
          </p:grpSpPr>
          <p:sp>
            <p:nvSpPr>
              <p:cNvPr id="10390" name="Freeform 273"/>
              <p:cNvSpPr/>
              <p:nvPr/>
            </p:nvSpPr>
            <p:spPr bwMode="auto">
              <a:xfrm>
                <a:off x="3098" y="1731"/>
                <a:ext cx="336" cy="103"/>
              </a:xfrm>
              <a:custGeom>
                <a:avLst/>
                <a:gdLst>
                  <a:gd name="T0" fmla="*/ 185 w 336"/>
                  <a:gd name="T1" fmla="*/ 102 h 103"/>
                  <a:gd name="T2" fmla="*/ 0 w 336"/>
                  <a:gd name="T3" fmla="*/ 68 h 103"/>
                  <a:gd name="T4" fmla="*/ 174 w 336"/>
                  <a:gd name="T5" fmla="*/ 0 h 103"/>
                  <a:gd name="T6" fmla="*/ 335 w 336"/>
                  <a:gd name="T7" fmla="*/ 27 h 103"/>
                  <a:gd name="T8" fmla="*/ 185 w 336"/>
                  <a:gd name="T9" fmla="*/ 102 h 103"/>
                  <a:gd name="T10" fmla="*/ 0 60000 65536"/>
                  <a:gd name="T11" fmla="*/ 0 60000 65536"/>
                  <a:gd name="T12" fmla="*/ 0 60000 65536"/>
                  <a:gd name="T13" fmla="*/ 0 60000 65536"/>
                  <a:gd name="T14" fmla="*/ 0 60000 65536"/>
                  <a:gd name="T15" fmla="*/ 0 w 336"/>
                  <a:gd name="T16" fmla="*/ 0 h 103"/>
                  <a:gd name="T17" fmla="*/ 336 w 336"/>
                  <a:gd name="T18" fmla="*/ 103 h 103"/>
                </a:gdLst>
                <a:ahLst/>
                <a:cxnLst>
                  <a:cxn ang="T10">
                    <a:pos x="T0" y="T1"/>
                  </a:cxn>
                  <a:cxn ang="T11">
                    <a:pos x="T2" y="T3"/>
                  </a:cxn>
                  <a:cxn ang="T12">
                    <a:pos x="T4" y="T5"/>
                  </a:cxn>
                  <a:cxn ang="T13">
                    <a:pos x="T6" y="T7"/>
                  </a:cxn>
                  <a:cxn ang="T14">
                    <a:pos x="T8" y="T9"/>
                  </a:cxn>
                </a:cxnLst>
                <a:rect l="T15" t="T16" r="T17" b="T18"/>
                <a:pathLst>
                  <a:path w="336" h="103">
                    <a:moveTo>
                      <a:pt x="185" y="102"/>
                    </a:moveTo>
                    <a:lnTo>
                      <a:pt x="0" y="68"/>
                    </a:lnTo>
                    <a:lnTo>
                      <a:pt x="174" y="0"/>
                    </a:lnTo>
                    <a:lnTo>
                      <a:pt x="335" y="27"/>
                    </a:lnTo>
                    <a:lnTo>
                      <a:pt x="185" y="102"/>
                    </a:lnTo>
                  </a:path>
                </a:pathLst>
              </a:custGeom>
              <a:gradFill rotWithShape="0">
                <a:gsLst>
                  <a:gs pos="0">
                    <a:srgbClr val="33CC33"/>
                  </a:gs>
                  <a:gs pos="100000">
                    <a:srgbClr val="2EB72E"/>
                  </a:gs>
                </a:gsLst>
                <a:path path="rect">
                  <a:fillToRect l="50000" t="50000" r="50000" b="50000"/>
                </a:path>
              </a:gradFill>
              <a:ln w="9525" cap="rnd">
                <a:noFill/>
                <a:round/>
              </a:ln>
            </p:spPr>
            <p:txBody>
              <a:bodyPr/>
              <a:lstStyle/>
              <a:p>
                <a:endParaRPr lang="zh-CN" altLang="en-US"/>
              </a:p>
            </p:txBody>
          </p:sp>
          <p:sp>
            <p:nvSpPr>
              <p:cNvPr id="10391" name="Freeform 274"/>
              <p:cNvSpPr/>
              <p:nvPr/>
            </p:nvSpPr>
            <p:spPr bwMode="auto">
              <a:xfrm>
                <a:off x="3097" y="1731"/>
                <a:ext cx="345" cy="108"/>
              </a:xfrm>
              <a:custGeom>
                <a:avLst/>
                <a:gdLst>
                  <a:gd name="T0" fmla="*/ 190 w 345"/>
                  <a:gd name="T1" fmla="*/ 107 h 108"/>
                  <a:gd name="T2" fmla="*/ 0 w 345"/>
                  <a:gd name="T3" fmla="*/ 71 h 108"/>
                  <a:gd name="T4" fmla="*/ 179 w 345"/>
                  <a:gd name="T5" fmla="*/ 0 h 108"/>
                  <a:gd name="T6" fmla="*/ 344 w 345"/>
                  <a:gd name="T7" fmla="*/ 28 h 108"/>
                  <a:gd name="T8" fmla="*/ 190 w 345"/>
                  <a:gd name="T9" fmla="*/ 107 h 108"/>
                  <a:gd name="T10" fmla="*/ 0 60000 65536"/>
                  <a:gd name="T11" fmla="*/ 0 60000 65536"/>
                  <a:gd name="T12" fmla="*/ 0 60000 65536"/>
                  <a:gd name="T13" fmla="*/ 0 60000 65536"/>
                  <a:gd name="T14" fmla="*/ 0 60000 65536"/>
                  <a:gd name="T15" fmla="*/ 0 w 345"/>
                  <a:gd name="T16" fmla="*/ 0 h 108"/>
                  <a:gd name="T17" fmla="*/ 345 w 345"/>
                  <a:gd name="T18" fmla="*/ 108 h 108"/>
                </a:gdLst>
                <a:ahLst/>
                <a:cxnLst>
                  <a:cxn ang="T10">
                    <a:pos x="T0" y="T1"/>
                  </a:cxn>
                  <a:cxn ang="T11">
                    <a:pos x="T2" y="T3"/>
                  </a:cxn>
                  <a:cxn ang="T12">
                    <a:pos x="T4" y="T5"/>
                  </a:cxn>
                  <a:cxn ang="T13">
                    <a:pos x="T6" y="T7"/>
                  </a:cxn>
                  <a:cxn ang="T14">
                    <a:pos x="T8" y="T9"/>
                  </a:cxn>
                </a:cxnLst>
                <a:rect l="T15" t="T16" r="T17" b="T18"/>
                <a:pathLst>
                  <a:path w="345" h="108">
                    <a:moveTo>
                      <a:pt x="190" y="107"/>
                    </a:moveTo>
                    <a:lnTo>
                      <a:pt x="0" y="71"/>
                    </a:lnTo>
                    <a:lnTo>
                      <a:pt x="179" y="0"/>
                    </a:lnTo>
                    <a:lnTo>
                      <a:pt x="344" y="28"/>
                    </a:lnTo>
                    <a:lnTo>
                      <a:pt x="190" y="107"/>
                    </a:lnTo>
                  </a:path>
                </a:pathLst>
              </a:custGeom>
              <a:gradFill rotWithShape="0">
                <a:gsLst>
                  <a:gs pos="0">
                    <a:srgbClr val="33CC33"/>
                  </a:gs>
                  <a:gs pos="100000">
                    <a:srgbClr val="2EB72E"/>
                  </a:gs>
                </a:gsLst>
                <a:path path="rect">
                  <a:fillToRect l="50000" t="50000" r="50000" b="50000"/>
                </a:path>
              </a:gradFill>
              <a:ln w="9525" cap="rnd">
                <a:noFill/>
                <a:round/>
              </a:ln>
            </p:spPr>
            <p:txBody>
              <a:bodyPr/>
              <a:lstStyle/>
              <a:p>
                <a:endParaRPr lang="zh-CN" altLang="en-US"/>
              </a:p>
            </p:txBody>
          </p:sp>
        </p:grpSp>
        <p:grpSp>
          <p:nvGrpSpPr>
            <p:cNvPr id="10320" name="Group 275"/>
            <p:cNvGrpSpPr/>
            <p:nvPr/>
          </p:nvGrpSpPr>
          <p:grpSpPr bwMode="auto">
            <a:xfrm>
              <a:off x="3290" y="1758"/>
              <a:ext cx="155" cy="175"/>
              <a:chOff x="3290" y="1758"/>
              <a:chExt cx="155" cy="175"/>
            </a:xfrm>
          </p:grpSpPr>
          <p:sp>
            <p:nvSpPr>
              <p:cNvPr id="10388" name="Freeform 276"/>
              <p:cNvSpPr/>
              <p:nvPr/>
            </p:nvSpPr>
            <p:spPr bwMode="auto">
              <a:xfrm>
                <a:off x="3291" y="1759"/>
                <a:ext cx="146" cy="167"/>
              </a:xfrm>
              <a:custGeom>
                <a:avLst/>
                <a:gdLst>
                  <a:gd name="T0" fmla="*/ 145 w 146"/>
                  <a:gd name="T1" fmla="*/ 0 h 167"/>
                  <a:gd name="T2" fmla="*/ 0 w 146"/>
                  <a:gd name="T3" fmla="*/ 75 h 167"/>
                  <a:gd name="T4" fmla="*/ 0 w 146"/>
                  <a:gd name="T5" fmla="*/ 166 h 167"/>
                  <a:gd name="T6" fmla="*/ 145 w 146"/>
                  <a:gd name="T7" fmla="*/ 79 h 167"/>
                  <a:gd name="T8" fmla="*/ 145 w 146"/>
                  <a:gd name="T9" fmla="*/ 0 h 167"/>
                  <a:gd name="T10" fmla="*/ 0 60000 65536"/>
                  <a:gd name="T11" fmla="*/ 0 60000 65536"/>
                  <a:gd name="T12" fmla="*/ 0 60000 65536"/>
                  <a:gd name="T13" fmla="*/ 0 60000 65536"/>
                  <a:gd name="T14" fmla="*/ 0 60000 65536"/>
                  <a:gd name="T15" fmla="*/ 0 w 146"/>
                  <a:gd name="T16" fmla="*/ 0 h 167"/>
                  <a:gd name="T17" fmla="*/ 146 w 146"/>
                  <a:gd name="T18" fmla="*/ 167 h 167"/>
                </a:gdLst>
                <a:ahLst/>
                <a:cxnLst>
                  <a:cxn ang="T10">
                    <a:pos x="T0" y="T1"/>
                  </a:cxn>
                  <a:cxn ang="T11">
                    <a:pos x="T2" y="T3"/>
                  </a:cxn>
                  <a:cxn ang="T12">
                    <a:pos x="T4" y="T5"/>
                  </a:cxn>
                  <a:cxn ang="T13">
                    <a:pos x="T6" y="T7"/>
                  </a:cxn>
                  <a:cxn ang="T14">
                    <a:pos x="T8" y="T9"/>
                  </a:cxn>
                </a:cxnLst>
                <a:rect l="T15" t="T16" r="T17" b="T18"/>
                <a:pathLst>
                  <a:path w="146" h="167">
                    <a:moveTo>
                      <a:pt x="145" y="0"/>
                    </a:moveTo>
                    <a:lnTo>
                      <a:pt x="0" y="75"/>
                    </a:lnTo>
                    <a:lnTo>
                      <a:pt x="0" y="166"/>
                    </a:lnTo>
                    <a:lnTo>
                      <a:pt x="145" y="79"/>
                    </a:lnTo>
                    <a:lnTo>
                      <a:pt x="145" y="0"/>
                    </a:lnTo>
                  </a:path>
                </a:pathLst>
              </a:custGeom>
              <a:gradFill rotWithShape="0">
                <a:gsLst>
                  <a:gs pos="0">
                    <a:srgbClr val="33CC33"/>
                  </a:gs>
                  <a:gs pos="100000">
                    <a:srgbClr val="2EB72E"/>
                  </a:gs>
                </a:gsLst>
                <a:path path="rect">
                  <a:fillToRect l="50000" t="50000" r="50000" b="50000"/>
                </a:path>
              </a:gradFill>
              <a:ln w="9525" cap="rnd">
                <a:noFill/>
                <a:round/>
              </a:ln>
            </p:spPr>
            <p:txBody>
              <a:bodyPr/>
              <a:lstStyle/>
              <a:p>
                <a:endParaRPr lang="zh-CN" altLang="en-US"/>
              </a:p>
            </p:txBody>
          </p:sp>
          <p:sp>
            <p:nvSpPr>
              <p:cNvPr id="10389" name="Freeform 277"/>
              <p:cNvSpPr/>
              <p:nvPr/>
            </p:nvSpPr>
            <p:spPr bwMode="auto">
              <a:xfrm>
                <a:off x="3290" y="1758"/>
                <a:ext cx="155" cy="175"/>
              </a:xfrm>
              <a:custGeom>
                <a:avLst/>
                <a:gdLst>
                  <a:gd name="T0" fmla="*/ 154 w 155"/>
                  <a:gd name="T1" fmla="*/ 0 h 175"/>
                  <a:gd name="T2" fmla="*/ 0 w 155"/>
                  <a:gd name="T3" fmla="*/ 80 h 175"/>
                  <a:gd name="T4" fmla="*/ 0 w 155"/>
                  <a:gd name="T5" fmla="*/ 174 h 175"/>
                  <a:gd name="T6" fmla="*/ 154 w 155"/>
                  <a:gd name="T7" fmla="*/ 84 h 175"/>
                  <a:gd name="T8" fmla="*/ 154 w 155"/>
                  <a:gd name="T9" fmla="*/ 0 h 175"/>
                  <a:gd name="T10" fmla="*/ 0 60000 65536"/>
                  <a:gd name="T11" fmla="*/ 0 60000 65536"/>
                  <a:gd name="T12" fmla="*/ 0 60000 65536"/>
                  <a:gd name="T13" fmla="*/ 0 60000 65536"/>
                  <a:gd name="T14" fmla="*/ 0 60000 65536"/>
                  <a:gd name="T15" fmla="*/ 0 w 155"/>
                  <a:gd name="T16" fmla="*/ 0 h 175"/>
                  <a:gd name="T17" fmla="*/ 155 w 155"/>
                  <a:gd name="T18" fmla="*/ 175 h 175"/>
                </a:gdLst>
                <a:ahLst/>
                <a:cxnLst>
                  <a:cxn ang="T10">
                    <a:pos x="T0" y="T1"/>
                  </a:cxn>
                  <a:cxn ang="T11">
                    <a:pos x="T2" y="T3"/>
                  </a:cxn>
                  <a:cxn ang="T12">
                    <a:pos x="T4" y="T5"/>
                  </a:cxn>
                  <a:cxn ang="T13">
                    <a:pos x="T6" y="T7"/>
                  </a:cxn>
                  <a:cxn ang="T14">
                    <a:pos x="T8" y="T9"/>
                  </a:cxn>
                </a:cxnLst>
                <a:rect l="T15" t="T16" r="T17" b="T18"/>
                <a:pathLst>
                  <a:path w="155" h="175">
                    <a:moveTo>
                      <a:pt x="154" y="0"/>
                    </a:moveTo>
                    <a:lnTo>
                      <a:pt x="0" y="80"/>
                    </a:lnTo>
                    <a:lnTo>
                      <a:pt x="0" y="174"/>
                    </a:lnTo>
                    <a:lnTo>
                      <a:pt x="154" y="84"/>
                    </a:lnTo>
                    <a:lnTo>
                      <a:pt x="154" y="0"/>
                    </a:lnTo>
                  </a:path>
                </a:pathLst>
              </a:custGeom>
              <a:gradFill rotWithShape="0">
                <a:gsLst>
                  <a:gs pos="0">
                    <a:srgbClr val="33CC33"/>
                  </a:gs>
                  <a:gs pos="100000">
                    <a:srgbClr val="2EB72E"/>
                  </a:gs>
                </a:gsLst>
                <a:path path="rect">
                  <a:fillToRect l="50000" t="50000" r="50000" b="50000"/>
                </a:path>
              </a:gradFill>
              <a:ln w="9525" cap="rnd">
                <a:noFill/>
                <a:round/>
              </a:ln>
            </p:spPr>
            <p:txBody>
              <a:bodyPr/>
              <a:lstStyle/>
              <a:p>
                <a:endParaRPr lang="zh-CN" altLang="en-US"/>
              </a:p>
            </p:txBody>
          </p:sp>
        </p:grpSp>
      </p:grpSp>
      <p:sp>
        <p:nvSpPr>
          <p:cNvPr id="249110" name="Rectangle 278"/>
          <p:cNvSpPr>
            <a:spLocks noChangeArrowheads="1"/>
          </p:cNvSpPr>
          <p:nvPr/>
        </p:nvSpPr>
        <p:spPr bwMode="auto">
          <a:xfrm>
            <a:off x="5561013" y="2655912"/>
            <a:ext cx="973137" cy="282575"/>
          </a:xfrm>
          <a:prstGeom prst="rect">
            <a:avLst/>
          </a:prstGeom>
          <a:noFill/>
          <a:ln w="9525">
            <a:noFill/>
            <a:miter lim="800000"/>
          </a:ln>
          <a:effectLst/>
        </p:spPr>
        <p:txBody>
          <a:bodyPr lIns="102026" tIns="51012" rIns="102026" bIns="51012">
            <a:spAutoFit/>
          </a:bodyPr>
          <a:lstStyle/>
          <a:p>
            <a:pPr defTabSz="1050925" eaLnBrk="0" hangingPunct="0">
              <a:lnSpc>
                <a:spcPct val="85000"/>
              </a:lnSpc>
              <a:defRPr/>
            </a:pPr>
            <a:r>
              <a:rPr kumimoji="1" lang="zh-CN" altLang="en-US" sz="1400" b="0">
                <a:effectLst>
                  <a:outerShdw blurRad="38100" dist="38100" dir="2700000" algn="tl">
                    <a:srgbClr val="C0C0C0"/>
                  </a:outerShdw>
                </a:effectLst>
                <a:latin typeface="ACaslon Bold" charset="0"/>
              </a:rPr>
              <a:t>中继</a:t>
            </a:r>
          </a:p>
        </p:txBody>
      </p:sp>
      <p:grpSp>
        <p:nvGrpSpPr>
          <p:cNvPr id="10332" name="Group 279"/>
          <p:cNvGrpSpPr/>
          <p:nvPr/>
        </p:nvGrpSpPr>
        <p:grpSpPr bwMode="auto">
          <a:xfrm>
            <a:off x="3916363" y="2865462"/>
            <a:ext cx="485775" cy="304800"/>
            <a:chOff x="2063" y="1704"/>
            <a:chExt cx="271" cy="193"/>
          </a:xfrm>
        </p:grpSpPr>
        <p:grpSp>
          <p:nvGrpSpPr>
            <p:cNvPr id="10340" name="Group 280"/>
            <p:cNvGrpSpPr/>
            <p:nvPr/>
          </p:nvGrpSpPr>
          <p:grpSpPr bwMode="auto">
            <a:xfrm>
              <a:off x="2064" y="1771"/>
              <a:ext cx="149" cy="126"/>
              <a:chOff x="2064" y="1771"/>
              <a:chExt cx="149" cy="126"/>
            </a:xfrm>
          </p:grpSpPr>
          <p:sp>
            <p:nvSpPr>
              <p:cNvPr id="10383" name="Freeform 281"/>
              <p:cNvSpPr/>
              <p:nvPr/>
            </p:nvSpPr>
            <p:spPr bwMode="auto">
              <a:xfrm>
                <a:off x="2064" y="1772"/>
                <a:ext cx="143" cy="118"/>
              </a:xfrm>
              <a:custGeom>
                <a:avLst/>
                <a:gdLst>
                  <a:gd name="T0" fmla="*/ 142 w 143"/>
                  <a:gd name="T1" fmla="*/ 31 h 118"/>
                  <a:gd name="T2" fmla="*/ 142 w 143"/>
                  <a:gd name="T3" fmla="*/ 117 h 118"/>
                  <a:gd name="T4" fmla="*/ 0 w 143"/>
                  <a:gd name="T5" fmla="*/ 79 h 118"/>
                  <a:gd name="T6" fmla="*/ 0 w 143"/>
                  <a:gd name="T7" fmla="*/ 0 h 118"/>
                  <a:gd name="T8" fmla="*/ 142 w 143"/>
                  <a:gd name="T9" fmla="*/ 31 h 118"/>
                  <a:gd name="T10" fmla="*/ 0 60000 65536"/>
                  <a:gd name="T11" fmla="*/ 0 60000 65536"/>
                  <a:gd name="T12" fmla="*/ 0 60000 65536"/>
                  <a:gd name="T13" fmla="*/ 0 60000 65536"/>
                  <a:gd name="T14" fmla="*/ 0 60000 65536"/>
                  <a:gd name="T15" fmla="*/ 0 w 143"/>
                  <a:gd name="T16" fmla="*/ 0 h 118"/>
                  <a:gd name="T17" fmla="*/ 143 w 143"/>
                  <a:gd name="T18" fmla="*/ 118 h 118"/>
                </a:gdLst>
                <a:ahLst/>
                <a:cxnLst>
                  <a:cxn ang="T10">
                    <a:pos x="T0" y="T1"/>
                  </a:cxn>
                  <a:cxn ang="T11">
                    <a:pos x="T2" y="T3"/>
                  </a:cxn>
                  <a:cxn ang="T12">
                    <a:pos x="T4" y="T5"/>
                  </a:cxn>
                  <a:cxn ang="T13">
                    <a:pos x="T6" y="T7"/>
                  </a:cxn>
                  <a:cxn ang="T14">
                    <a:pos x="T8" y="T9"/>
                  </a:cxn>
                </a:cxnLst>
                <a:rect l="T15" t="T16" r="T17" b="T18"/>
                <a:pathLst>
                  <a:path w="143" h="118">
                    <a:moveTo>
                      <a:pt x="142" y="31"/>
                    </a:moveTo>
                    <a:lnTo>
                      <a:pt x="142" y="117"/>
                    </a:lnTo>
                    <a:lnTo>
                      <a:pt x="0" y="79"/>
                    </a:lnTo>
                    <a:lnTo>
                      <a:pt x="0" y="0"/>
                    </a:lnTo>
                    <a:lnTo>
                      <a:pt x="142" y="31"/>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10384" name="Freeform 282"/>
              <p:cNvSpPr/>
              <p:nvPr/>
            </p:nvSpPr>
            <p:spPr bwMode="auto">
              <a:xfrm>
                <a:off x="2065" y="1771"/>
                <a:ext cx="148" cy="126"/>
              </a:xfrm>
              <a:custGeom>
                <a:avLst/>
                <a:gdLst>
                  <a:gd name="T0" fmla="*/ 147 w 148"/>
                  <a:gd name="T1" fmla="*/ 34 h 126"/>
                  <a:gd name="T2" fmla="*/ 147 w 148"/>
                  <a:gd name="T3" fmla="*/ 125 h 126"/>
                  <a:gd name="T4" fmla="*/ 0 w 148"/>
                  <a:gd name="T5" fmla="*/ 84 h 126"/>
                  <a:gd name="T6" fmla="*/ 0 w 148"/>
                  <a:gd name="T7" fmla="*/ 0 h 126"/>
                  <a:gd name="T8" fmla="*/ 147 w 148"/>
                  <a:gd name="T9" fmla="*/ 34 h 126"/>
                  <a:gd name="T10" fmla="*/ 0 60000 65536"/>
                  <a:gd name="T11" fmla="*/ 0 60000 65536"/>
                  <a:gd name="T12" fmla="*/ 0 60000 65536"/>
                  <a:gd name="T13" fmla="*/ 0 60000 65536"/>
                  <a:gd name="T14" fmla="*/ 0 60000 65536"/>
                  <a:gd name="T15" fmla="*/ 0 w 148"/>
                  <a:gd name="T16" fmla="*/ 0 h 126"/>
                  <a:gd name="T17" fmla="*/ 148 w 148"/>
                  <a:gd name="T18" fmla="*/ 126 h 126"/>
                </a:gdLst>
                <a:ahLst/>
                <a:cxnLst>
                  <a:cxn ang="T10">
                    <a:pos x="T0" y="T1"/>
                  </a:cxn>
                  <a:cxn ang="T11">
                    <a:pos x="T2" y="T3"/>
                  </a:cxn>
                  <a:cxn ang="T12">
                    <a:pos x="T4" y="T5"/>
                  </a:cxn>
                  <a:cxn ang="T13">
                    <a:pos x="T6" y="T7"/>
                  </a:cxn>
                  <a:cxn ang="T14">
                    <a:pos x="T8" y="T9"/>
                  </a:cxn>
                </a:cxnLst>
                <a:rect l="T15" t="T16" r="T17" b="T18"/>
                <a:pathLst>
                  <a:path w="148" h="126">
                    <a:moveTo>
                      <a:pt x="147" y="34"/>
                    </a:moveTo>
                    <a:lnTo>
                      <a:pt x="147" y="125"/>
                    </a:lnTo>
                    <a:lnTo>
                      <a:pt x="0" y="84"/>
                    </a:lnTo>
                    <a:lnTo>
                      <a:pt x="0" y="0"/>
                    </a:lnTo>
                    <a:lnTo>
                      <a:pt x="147" y="34"/>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nvGrpSpPr>
            <p:cNvPr id="10341" name="Group 283"/>
            <p:cNvGrpSpPr/>
            <p:nvPr/>
          </p:nvGrpSpPr>
          <p:grpSpPr bwMode="auto">
            <a:xfrm>
              <a:off x="2063" y="1704"/>
              <a:ext cx="269" cy="103"/>
              <a:chOff x="2063" y="1704"/>
              <a:chExt cx="269" cy="103"/>
            </a:xfrm>
          </p:grpSpPr>
          <p:sp>
            <p:nvSpPr>
              <p:cNvPr id="10381" name="Freeform 284"/>
              <p:cNvSpPr/>
              <p:nvPr/>
            </p:nvSpPr>
            <p:spPr bwMode="auto">
              <a:xfrm>
                <a:off x="2064" y="1704"/>
                <a:ext cx="262" cy="98"/>
              </a:xfrm>
              <a:custGeom>
                <a:avLst/>
                <a:gdLst>
                  <a:gd name="T0" fmla="*/ 144 w 262"/>
                  <a:gd name="T1" fmla="*/ 97 h 98"/>
                  <a:gd name="T2" fmla="*/ 0 w 262"/>
                  <a:gd name="T3" fmla="*/ 64 h 98"/>
                  <a:gd name="T4" fmla="*/ 135 w 262"/>
                  <a:gd name="T5" fmla="*/ 0 h 98"/>
                  <a:gd name="T6" fmla="*/ 261 w 262"/>
                  <a:gd name="T7" fmla="*/ 25 h 98"/>
                  <a:gd name="T8" fmla="*/ 144 w 262"/>
                  <a:gd name="T9" fmla="*/ 97 h 98"/>
                  <a:gd name="T10" fmla="*/ 0 60000 65536"/>
                  <a:gd name="T11" fmla="*/ 0 60000 65536"/>
                  <a:gd name="T12" fmla="*/ 0 60000 65536"/>
                  <a:gd name="T13" fmla="*/ 0 60000 65536"/>
                  <a:gd name="T14" fmla="*/ 0 60000 65536"/>
                  <a:gd name="T15" fmla="*/ 0 w 262"/>
                  <a:gd name="T16" fmla="*/ 0 h 98"/>
                  <a:gd name="T17" fmla="*/ 262 w 262"/>
                  <a:gd name="T18" fmla="*/ 98 h 98"/>
                </a:gdLst>
                <a:ahLst/>
                <a:cxnLst>
                  <a:cxn ang="T10">
                    <a:pos x="T0" y="T1"/>
                  </a:cxn>
                  <a:cxn ang="T11">
                    <a:pos x="T2" y="T3"/>
                  </a:cxn>
                  <a:cxn ang="T12">
                    <a:pos x="T4" y="T5"/>
                  </a:cxn>
                  <a:cxn ang="T13">
                    <a:pos x="T6" y="T7"/>
                  </a:cxn>
                  <a:cxn ang="T14">
                    <a:pos x="T8" y="T9"/>
                  </a:cxn>
                </a:cxnLst>
                <a:rect l="T15" t="T16" r="T17" b="T18"/>
                <a:pathLst>
                  <a:path w="262" h="98">
                    <a:moveTo>
                      <a:pt x="144" y="97"/>
                    </a:moveTo>
                    <a:lnTo>
                      <a:pt x="0" y="64"/>
                    </a:lnTo>
                    <a:lnTo>
                      <a:pt x="135" y="0"/>
                    </a:lnTo>
                    <a:lnTo>
                      <a:pt x="261" y="25"/>
                    </a:lnTo>
                    <a:lnTo>
                      <a:pt x="144" y="97"/>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10382" name="Freeform 285"/>
              <p:cNvSpPr/>
              <p:nvPr/>
            </p:nvSpPr>
            <p:spPr bwMode="auto">
              <a:xfrm>
                <a:off x="2063" y="1704"/>
                <a:ext cx="269" cy="103"/>
              </a:xfrm>
              <a:custGeom>
                <a:avLst/>
                <a:gdLst>
                  <a:gd name="T0" fmla="*/ 148 w 269"/>
                  <a:gd name="T1" fmla="*/ 102 h 103"/>
                  <a:gd name="T2" fmla="*/ 0 w 269"/>
                  <a:gd name="T3" fmla="*/ 67 h 103"/>
                  <a:gd name="T4" fmla="*/ 139 w 269"/>
                  <a:gd name="T5" fmla="*/ 0 h 103"/>
                  <a:gd name="T6" fmla="*/ 268 w 269"/>
                  <a:gd name="T7" fmla="*/ 27 h 103"/>
                  <a:gd name="T8" fmla="*/ 148 w 269"/>
                  <a:gd name="T9" fmla="*/ 102 h 103"/>
                  <a:gd name="T10" fmla="*/ 0 60000 65536"/>
                  <a:gd name="T11" fmla="*/ 0 60000 65536"/>
                  <a:gd name="T12" fmla="*/ 0 60000 65536"/>
                  <a:gd name="T13" fmla="*/ 0 60000 65536"/>
                  <a:gd name="T14" fmla="*/ 0 60000 65536"/>
                  <a:gd name="T15" fmla="*/ 0 w 269"/>
                  <a:gd name="T16" fmla="*/ 0 h 103"/>
                  <a:gd name="T17" fmla="*/ 269 w 269"/>
                  <a:gd name="T18" fmla="*/ 103 h 103"/>
                </a:gdLst>
                <a:ahLst/>
                <a:cxnLst>
                  <a:cxn ang="T10">
                    <a:pos x="T0" y="T1"/>
                  </a:cxn>
                  <a:cxn ang="T11">
                    <a:pos x="T2" y="T3"/>
                  </a:cxn>
                  <a:cxn ang="T12">
                    <a:pos x="T4" y="T5"/>
                  </a:cxn>
                  <a:cxn ang="T13">
                    <a:pos x="T6" y="T7"/>
                  </a:cxn>
                  <a:cxn ang="T14">
                    <a:pos x="T8" y="T9"/>
                  </a:cxn>
                </a:cxnLst>
                <a:rect l="T15" t="T16" r="T17" b="T18"/>
                <a:pathLst>
                  <a:path w="269" h="103">
                    <a:moveTo>
                      <a:pt x="148" y="102"/>
                    </a:moveTo>
                    <a:lnTo>
                      <a:pt x="0" y="67"/>
                    </a:lnTo>
                    <a:lnTo>
                      <a:pt x="139" y="0"/>
                    </a:lnTo>
                    <a:lnTo>
                      <a:pt x="268" y="27"/>
                    </a:lnTo>
                    <a:lnTo>
                      <a:pt x="148" y="102"/>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nvGrpSpPr>
            <p:cNvPr id="10342" name="Group 286"/>
            <p:cNvGrpSpPr/>
            <p:nvPr/>
          </p:nvGrpSpPr>
          <p:grpSpPr bwMode="auto">
            <a:xfrm>
              <a:off x="2213" y="1730"/>
              <a:ext cx="121" cy="167"/>
              <a:chOff x="2213" y="1730"/>
              <a:chExt cx="121" cy="167"/>
            </a:xfrm>
          </p:grpSpPr>
          <p:sp>
            <p:nvSpPr>
              <p:cNvPr id="10379" name="Freeform 287"/>
              <p:cNvSpPr/>
              <p:nvPr/>
            </p:nvSpPr>
            <p:spPr bwMode="auto">
              <a:xfrm>
                <a:off x="2214" y="1731"/>
                <a:ext cx="114" cy="159"/>
              </a:xfrm>
              <a:custGeom>
                <a:avLst/>
                <a:gdLst>
                  <a:gd name="T0" fmla="*/ 113 w 114"/>
                  <a:gd name="T1" fmla="*/ 0 h 159"/>
                  <a:gd name="T2" fmla="*/ 0 w 114"/>
                  <a:gd name="T3" fmla="*/ 71 h 159"/>
                  <a:gd name="T4" fmla="*/ 0 w 114"/>
                  <a:gd name="T5" fmla="*/ 158 h 159"/>
                  <a:gd name="T6" fmla="*/ 113 w 114"/>
                  <a:gd name="T7" fmla="*/ 76 h 159"/>
                  <a:gd name="T8" fmla="*/ 113 w 114"/>
                  <a:gd name="T9" fmla="*/ 0 h 159"/>
                  <a:gd name="T10" fmla="*/ 0 60000 65536"/>
                  <a:gd name="T11" fmla="*/ 0 60000 65536"/>
                  <a:gd name="T12" fmla="*/ 0 60000 65536"/>
                  <a:gd name="T13" fmla="*/ 0 60000 65536"/>
                  <a:gd name="T14" fmla="*/ 0 60000 65536"/>
                  <a:gd name="T15" fmla="*/ 0 w 114"/>
                  <a:gd name="T16" fmla="*/ 0 h 159"/>
                  <a:gd name="T17" fmla="*/ 114 w 114"/>
                  <a:gd name="T18" fmla="*/ 159 h 159"/>
                </a:gdLst>
                <a:ahLst/>
                <a:cxnLst>
                  <a:cxn ang="T10">
                    <a:pos x="T0" y="T1"/>
                  </a:cxn>
                  <a:cxn ang="T11">
                    <a:pos x="T2" y="T3"/>
                  </a:cxn>
                  <a:cxn ang="T12">
                    <a:pos x="T4" y="T5"/>
                  </a:cxn>
                  <a:cxn ang="T13">
                    <a:pos x="T6" y="T7"/>
                  </a:cxn>
                  <a:cxn ang="T14">
                    <a:pos x="T8" y="T9"/>
                  </a:cxn>
                </a:cxnLst>
                <a:rect l="T15" t="T16" r="T17" b="T18"/>
                <a:pathLst>
                  <a:path w="114" h="159">
                    <a:moveTo>
                      <a:pt x="113" y="0"/>
                    </a:moveTo>
                    <a:lnTo>
                      <a:pt x="0" y="71"/>
                    </a:lnTo>
                    <a:lnTo>
                      <a:pt x="0" y="158"/>
                    </a:lnTo>
                    <a:lnTo>
                      <a:pt x="113" y="76"/>
                    </a:lnTo>
                    <a:lnTo>
                      <a:pt x="113" y="0"/>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10380" name="Freeform 288"/>
              <p:cNvSpPr/>
              <p:nvPr/>
            </p:nvSpPr>
            <p:spPr bwMode="auto">
              <a:xfrm>
                <a:off x="2213" y="1730"/>
                <a:ext cx="121" cy="167"/>
              </a:xfrm>
              <a:custGeom>
                <a:avLst/>
                <a:gdLst>
                  <a:gd name="T0" fmla="*/ 120 w 121"/>
                  <a:gd name="T1" fmla="*/ 0 h 167"/>
                  <a:gd name="T2" fmla="*/ 0 w 121"/>
                  <a:gd name="T3" fmla="*/ 76 h 167"/>
                  <a:gd name="T4" fmla="*/ 0 w 121"/>
                  <a:gd name="T5" fmla="*/ 166 h 167"/>
                  <a:gd name="T6" fmla="*/ 120 w 121"/>
                  <a:gd name="T7" fmla="*/ 80 h 167"/>
                  <a:gd name="T8" fmla="*/ 120 w 121"/>
                  <a:gd name="T9" fmla="*/ 0 h 167"/>
                  <a:gd name="T10" fmla="*/ 0 60000 65536"/>
                  <a:gd name="T11" fmla="*/ 0 60000 65536"/>
                  <a:gd name="T12" fmla="*/ 0 60000 65536"/>
                  <a:gd name="T13" fmla="*/ 0 60000 65536"/>
                  <a:gd name="T14" fmla="*/ 0 60000 65536"/>
                  <a:gd name="T15" fmla="*/ 0 w 121"/>
                  <a:gd name="T16" fmla="*/ 0 h 167"/>
                  <a:gd name="T17" fmla="*/ 121 w 121"/>
                  <a:gd name="T18" fmla="*/ 167 h 167"/>
                </a:gdLst>
                <a:ahLst/>
                <a:cxnLst>
                  <a:cxn ang="T10">
                    <a:pos x="T0" y="T1"/>
                  </a:cxn>
                  <a:cxn ang="T11">
                    <a:pos x="T2" y="T3"/>
                  </a:cxn>
                  <a:cxn ang="T12">
                    <a:pos x="T4" y="T5"/>
                  </a:cxn>
                  <a:cxn ang="T13">
                    <a:pos x="T6" y="T7"/>
                  </a:cxn>
                  <a:cxn ang="T14">
                    <a:pos x="T8" y="T9"/>
                  </a:cxn>
                </a:cxnLst>
                <a:rect l="T15" t="T16" r="T17" b="T18"/>
                <a:pathLst>
                  <a:path w="121" h="167">
                    <a:moveTo>
                      <a:pt x="120" y="0"/>
                    </a:moveTo>
                    <a:lnTo>
                      <a:pt x="0" y="76"/>
                    </a:lnTo>
                    <a:lnTo>
                      <a:pt x="0" y="166"/>
                    </a:lnTo>
                    <a:lnTo>
                      <a:pt x="120" y="80"/>
                    </a:lnTo>
                    <a:lnTo>
                      <a:pt x="120" y="0"/>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grpSp>
        <p:nvGrpSpPr>
          <p:cNvPr id="10349" name="Group 289"/>
          <p:cNvGrpSpPr/>
          <p:nvPr/>
        </p:nvGrpSpPr>
        <p:grpSpPr bwMode="auto">
          <a:xfrm>
            <a:off x="2590800" y="2001862"/>
            <a:ext cx="460375" cy="320675"/>
            <a:chOff x="1320" y="1161"/>
            <a:chExt cx="258" cy="202"/>
          </a:xfrm>
        </p:grpSpPr>
        <p:grpSp>
          <p:nvGrpSpPr>
            <p:cNvPr id="10350" name="Group 290"/>
            <p:cNvGrpSpPr/>
            <p:nvPr/>
          </p:nvGrpSpPr>
          <p:grpSpPr bwMode="auto">
            <a:xfrm>
              <a:off x="1321" y="1231"/>
              <a:ext cx="142" cy="132"/>
              <a:chOff x="1321" y="1231"/>
              <a:chExt cx="142" cy="132"/>
            </a:xfrm>
          </p:grpSpPr>
          <p:sp>
            <p:nvSpPr>
              <p:cNvPr id="10374" name="Freeform 291"/>
              <p:cNvSpPr/>
              <p:nvPr/>
            </p:nvSpPr>
            <p:spPr bwMode="auto">
              <a:xfrm>
                <a:off x="1321" y="1232"/>
                <a:ext cx="136" cy="124"/>
              </a:xfrm>
              <a:custGeom>
                <a:avLst/>
                <a:gdLst>
                  <a:gd name="T0" fmla="*/ 135 w 136"/>
                  <a:gd name="T1" fmla="*/ 33 h 124"/>
                  <a:gd name="T2" fmla="*/ 135 w 136"/>
                  <a:gd name="T3" fmla="*/ 123 h 124"/>
                  <a:gd name="T4" fmla="*/ 0 w 136"/>
                  <a:gd name="T5" fmla="*/ 83 h 124"/>
                  <a:gd name="T6" fmla="*/ 0 w 136"/>
                  <a:gd name="T7" fmla="*/ 0 h 124"/>
                  <a:gd name="T8" fmla="*/ 135 w 136"/>
                  <a:gd name="T9" fmla="*/ 33 h 124"/>
                  <a:gd name="T10" fmla="*/ 0 60000 65536"/>
                  <a:gd name="T11" fmla="*/ 0 60000 65536"/>
                  <a:gd name="T12" fmla="*/ 0 60000 65536"/>
                  <a:gd name="T13" fmla="*/ 0 60000 65536"/>
                  <a:gd name="T14" fmla="*/ 0 60000 65536"/>
                  <a:gd name="T15" fmla="*/ 0 w 136"/>
                  <a:gd name="T16" fmla="*/ 0 h 124"/>
                  <a:gd name="T17" fmla="*/ 136 w 136"/>
                  <a:gd name="T18" fmla="*/ 124 h 124"/>
                </a:gdLst>
                <a:ahLst/>
                <a:cxnLst>
                  <a:cxn ang="T10">
                    <a:pos x="T0" y="T1"/>
                  </a:cxn>
                  <a:cxn ang="T11">
                    <a:pos x="T2" y="T3"/>
                  </a:cxn>
                  <a:cxn ang="T12">
                    <a:pos x="T4" y="T5"/>
                  </a:cxn>
                  <a:cxn ang="T13">
                    <a:pos x="T6" y="T7"/>
                  </a:cxn>
                  <a:cxn ang="T14">
                    <a:pos x="T8" y="T9"/>
                  </a:cxn>
                </a:cxnLst>
                <a:rect l="T15" t="T16" r="T17" b="T18"/>
                <a:pathLst>
                  <a:path w="136" h="124">
                    <a:moveTo>
                      <a:pt x="135" y="33"/>
                    </a:moveTo>
                    <a:lnTo>
                      <a:pt x="135" y="123"/>
                    </a:lnTo>
                    <a:lnTo>
                      <a:pt x="0" y="83"/>
                    </a:lnTo>
                    <a:lnTo>
                      <a:pt x="0" y="0"/>
                    </a:lnTo>
                    <a:lnTo>
                      <a:pt x="135" y="33"/>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10375" name="Freeform 292"/>
              <p:cNvSpPr/>
              <p:nvPr/>
            </p:nvSpPr>
            <p:spPr bwMode="auto">
              <a:xfrm>
                <a:off x="1322" y="1231"/>
                <a:ext cx="141" cy="132"/>
              </a:xfrm>
              <a:custGeom>
                <a:avLst/>
                <a:gdLst>
                  <a:gd name="T0" fmla="*/ 140 w 141"/>
                  <a:gd name="T1" fmla="*/ 36 h 132"/>
                  <a:gd name="T2" fmla="*/ 140 w 141"/>
                  <a:gd name="T3" fmla="*/ 131 h 132"/>
                  <a:gd name="T4" fmla="*/ 0 w 141"/>
                  <a:gd name="T5" fmla="*/ 88 h 132"/>
                  <a:gd name="T6" fmla="*/ 0 w 141"/>
                  <a:gd name="T7" fmla="*/ 0 h 132"/>
                  <a:gd name="T8" fmla="*/ 140 w 141"/>
                  <a:gd name="T9" fmla="*/ 36 h 132"/>
                  <a:gd name="T10" fmla="*/ 0 60000 65536"/>
                  <a:gd name="T11" fmla="*/ 0 60000 65536"/>
                  <a:gd name="T12" fmla="*/ 0 60000 65536"/>
                  <a:gd name="T13" fmla="*/ 0 60000 65536"/>
                  <a:gd name="T14" fmla="*/ 0 60000 65536"/>
                  <a:gd name="T15" fmla="*/ 0 w 141"/>
                  <a:gd name="T16" fmla="*/ 0 h 132"/>
                  <a:gd name="T17" fmla="*/ 141 w 141"/>
                  <a:gd name="T18" fmla="*/ 132 h 132"/>
                </a:gdLst>
                <a:ahLst/>
                <a:cxnLst>
                  <a:cxn ang="T10">
                    <a:pos x="T0" y="T1"/>
                  </a:cxn>
                  <a:cxn ang="T11">
                    <a:pos x="T2" y="T3"/>
                  </a:cxn>
                  <a:cxn ang="T12">
                    <a:pos x="T4" y="T5"/>
                  </a:cxn>
                  <a:cxn ang="T13">
                    <a:pos x="T6" y="T7"/>
                  </a:cxn>
                  <a:cxn ang="T14">
                    <a:pos x="T8" y="T9"/>
                  </a:cxn>
                </a:cxnLst>
                <a:rect l="T15" t="T16" r="T17" b="T18"/>
                <a:pathLst>
                  <a:path w="141" h="132">
                    <a:moveTo>
                      <a:pt x="140" y="36"/>
                    </a:moveTo>
                    <a:lnTo>
                      <a:pt x="140" y="131"/>
                    </a:lnTo>
                    <a:lnTo>
                      <a:pt x="0" y="88"/>
                    </a:lnTo>
                    <a:lnTo>
                      <a:pt x="0" y="0"/>
                    </a:lnTo>
                    <a:lnTo>
                      <a:pt x="140" y="36"/>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nvGrpSpPr>
            <p:cNvPr id="10351" name="Group 293"/>
            <p:cNvGrpSpPr/>
            <p:nvPr/>
          </p:nvGrpSpPr>
          <p:grpSpPr bwMode="auto">
            <a:xfrm>
              <a:off x="1320" y="1161"/>
              <a:ext cx="256" cy="108"/>
              <a:chOff x="1320" y="1161"/>
              <a:chExt cx="256" cy="108"/>
            </a:xfrm>
          </p:grpSpPr>
          <p:sp>
            <p:nvSpPr>
              <p:cNvPr id="10372" name="Freeform 294"/>
              <p:cNvSpPr/>
              <p:nvPr/>
            </p:nvSpPr>
            <p:spPr bwMode="auto">
              <a:xfrm>
                <a:off x="1321" y="1161"/>
                <a:ext cx="249" cy="103"/>
              </a:xfrm>
              <a:custGeom>
                <a:avLst/>
                <a:gdLst>
                  <a:gd name="T0" fmla="*/ 137 w 249"/>
                  <a:gd name="T1" fmla="*/ 102 h 103"/>
                  <a:gd name="T2" fmla="*/ 0 w 249"/>
                  <a:gd name="T3" fmla="*/ 68 h 103"/>
                  <a:gd name="T4" fmla="*/ 129 w 249"/>
                  <a:gd name="T5" fmla="*/ 0 h 103"/>
                  <a:gd name="T6" fmla="*/ 248 w 249"/>
                  <a:gd name="T7" fmla="*/ 27 h 103"/>
                  <a:gd name="T8" fmla="*/ 137 w 249"/>
                  <a:gd name="T9" fmla="*/ 102 h 103"/>
                  <a:gd name="T10" fmla="*/ 0 60000 65536"/>
                  <a:gd name="T11" fmla="*/ 0 60000 65536"/>
                  <a:gd name="T12" fmla="*/ 0 60000 65536"/>
                  <a:gd name="T13" fmla="*/ 0 60000 65536"/>
                  <a:gd name="T14" fmla="*/ 0 60000 65536"/>
                  <a:gd name="T15" fmla="*/ 0 w 249"/>
                  <a:gd name="T16" fmla="*/ 0 h 103"/>
                  <a:gd name="T17" fmla="*/ 249 w 249"/>
                  <a:gd name="T18" fmla="*/ 103 h 103"/>
                </a:gdLst>
                <a:ahLst/>
                <a:cxnLst>
                  <a:cxn ang="T10">
                    <a:pos x="T0" y="T1"/>
                  </a:cxn>
                  <a:cxn ang="T11">
                    <a:pos x="T2" y="T3"/>
                  </a:cxn>
                  <a:cxn ang="T12">
                    <a:pos x="T4" y="T5"/>
                  </a:cxn>
                  <a:cxn ang="T13">
                    <a:pos x="T6" y="T7"/>
                  </a:cxn>
                  <a:cxn ang="T14">
                    <a:pos x="T8" y="T9"/>
                  </a:cxn>
                </a:cxnLst>
                <a:rect l="T15" t="T16" r="T17" b="T18"/>
                <a:pathLst>
                  <a:path w="249" h="103">
                    <a:moveTo>
                      <a:pt x="137" y="102"/>
                    </a:moveTo>
                    <a:lnTo>
                      <a:pt x="0" y="68"/>
                    </a:lnTo>
                    <a:lnTo>
                      <a:pt x="129" y="0"/>
                    </a:lnTo>
                    <a:lnTo>
                      <a:pt x="248" y="27"/>
                    </a:lnTo>
                    <a:lnTo>
                      <a:pt x="137" y="102"/>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10373" name="Freeform 295"/>
              <p:cNvSpPr/>
              <p:nvPr/>
            </p:nvSpPr>
            <p:spPr bwMode="auto">
              <a:xfrm>
                <a:off x="1320" y="1161"/>
                <a:ext cx="256" cy="108"/>
              </a:xfrm>
              <a:custGeom>
                <a:avLst/>
                <a:gdLst>
                  <a:gd name="T0" fmla="*/ 141 w 256"/>
                  <a:gd name="T1" fmla="*/ 107 h 108"/>
                  <a:gd name="T2" fmla="*/ 0 w 256"/>
                  <a:gd name="T3" fmla="*/ 71 h 108"/>
                  <a:gd name="T4" fmla="*/ 133 w 256"/>
                  <a:gd name="T5" fmla="*/ 0 h 108"/>
                  <a:gd name="T6" fmla="*/ 255 w 256"/>
                  <a:gd name="T7" fmla="*/ 28 h 108"/>
                  <a:gd name="T8" fmla="*/ 141 w 256"/>
                  <a:gd name="T9" fmla="*/ 107 h 108"/>
                  <a:gd name="T10" fmla="*/ 0 60000 65536"/>
                  <a:gd name="T11" fmla="*/ 0 60000 65536"/>
                  <a:gd name="T12" fmla="*/ 0 60000 65536"/>
                  <a:gd name="T13" fmla="*/ 0 60000 65536"/>
                  <a:gd name="T14" fmla="*/ 0 60000 65536"/>
                  <a:gd name="T15" fmla="*/ 0 w 256"/>
                  <a:gd name="T16" fmla="*/ 0 h 108"/>
                  <a:gd name="T17" fmla="*/ 256 w 256"/>
                  <a:gd name="T18" fmla="*/ 108 h 108"/>
                </a:gdLst>
                <a:ahLst/>
                <a:cxnLst>
                  <a:cxn ang="T10">
                    <a:pos x="T0" y="T1"/>
                  </a:cxn>
                  <a:cxn ang="T11">
                    <a:pos x="T2" y="T3"/>
                  </a:cxn>
                  <a:cxn ang="T12">
                    <a:pos x="T4" y="T5"/>
                  </a:cxn>
                  <a:cxn ang="T13">
                    <a:pos x="T6" y="T7"/>
                  </a:cxn>
                  <a:cxn ang="T14">
                    <a:pos x="T8" y="T9"/>
                  </a:cxn>
                </a:cxnLst>
                <a:rect l="T15" t="T16" r="T17" b="T18"/>
                <a:pathLst>
                  <a:path w="256" h="108">
                    <a:moveTo>
                      <a:pt x="141" y="107"/>
                    </a:moveTo>
                    <a:lnTo>
                      <a:pt x="0" y="71"/>
                    </a:lnTo>
                    <a:lnTo>
                      <a:pt x="133" y="0"/>
                    </a:lnTo>
                    <a:lnTo>
                      <a:pt x="255" y="28"/>
                    </a:lnTo>
                    <a:lnTo>
                      <a:pt x="141" y="107"/>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nvGrpSpPr>
            <p:cNvPr id="10358" name="Group 296"/>
            <p:cNvGrpSpPr/>
            <p:nvPr/>
          </p:nvGrpSpPr>
          <p:grpSpPr bwMode="auto">
            <a:xfrm>
              <a:off x="1463" y="1188"/>
              <a:ext cx="115" cy="175"/>
              <a:chOff x="1463" y="1188"/>
              <a:chExt cx="115" cy="175"/>
            </a:xfrm>
          </p:grpSpPr>
          <p:sp>
            <p:nvSpPr>
              <p:cNvPr id="10370" name="Freeform 297"/>
              <p:cNvSpPr/>
              <p:nvPr/>
            </p:nvSpPr>
            <p:spPr bwMode="auto">
              <a:xfrm>
                <a:off x="1464" y="1189"/>
                <a:ext cx="108" cy="167"/>
              </a:xfrm>
              <a:custGeom>
                <a:avLst/>
                <a:gdLst>
                  <a:gd name="T0" fmla="*/ 107 w 108"/>
                  <a:gd name="T1" fmla="*/ 0 h 167"/>
                  <a:gd name="T2" fmla="*/ 0 w 108"/>
                  <a:gd name="T3" fmla="*/ 75 h 167"/>
                  <a:gd name="T4" fmla="*/ 0 w 108"/>
                  <a:gd name="T5" fmla="*/ 166 h 167"/>
                  <a:gd name="T6" fmla="*/ 107 w 108"/>
                  <a:gd name="T7" fmla="*/ 79 h 167"/>
                  <a:gd name="T8" fmla="*/ 107 w 108"/>
                  <a:gd name="T9" fmla="*/ 0 h 167"/>
                  <a:gd name="T10" fmla="*/ 0 60000 65536"/>
                  <a:gd name="T11" fmla="*/ 0 60000 65536"/>
                  <a:gd name="T12" fmla="*/ 0 60000 65536"/>
                  <a:gd name="T13" fmla="*/ 0 60000 65536"/>
                  <a:gd name="T14" fmla="*/ 0 60000 65536"/>
                  <a:gd name="T15" fmla="*/ 0 w 108"/>
                  <a:gd name="T16" fmla="*/ 0 h 167"/>
                  <a:gd name="T17" fmla="*/ 108 w 108"/>
                  <a:gd name="T18" fmla="*/ 167 h 167"/>
                </a:gdLst>
                <a:ahLst/>
                <a:cxnLst>
                  <a:cxn ang="T10">
                    <a:pos x="T0" y="T1"/>
                  </a:cxn>
                  <a:cxn ang="T11">
                    <a:pos x="T2" y="T3"/>
                  </a:cxn>
                  <a:cxn ang="T12">
                    <a:pos x="T4" y="T5"/>
                  </a:cxn>
                  <a:cxn ang="T13">
                    <a:pos x="T6" y="T7"/>
                  </a:cxn>
                  <a:cxn ang="T14">
                    <a:pos x="T8" y="T9"/>
                  </a:cxn>
                </a:cxnLst>
                <a:rect l="T15" t="T16" r="T17" b="T18"/>
                <a:pathLst>
                  <a:path w="108" h="167">
                    <a:moveTo>
                      <a:pt x="107" y="0"/>
                    </a:moveTo>
                    <a:lnTo>
                      <a:pt x="0" y="75"/>
                    </a:lnTo>
                    <a:lnTo>
                      <a:pt x="0" y="166"/>
                    </a:lnTo>
                    <a:lnTo>
                      <a:pt x="107" y="79"/>
                    </a:lnTo>
                    <a:lnTo>
                      <a:pt x="107" y="0"/>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10371" name="Freeform 298"/>
              <p:cNvSpPr/>
              <p:nvPr/>
            </p:nvSpPr>
            <p:spPr bwMode="auto">
              <a:xfrm>
                <a:off x="1463" y="1188"/>
                <a:ext cx="115" cy="175"/>
              </a:xfrm>
              <a:custGeom>
                <a:avLst/>
                <a:gdLst>
                  <a:gd name="T0" fmla="*/ 114 w 115"/>
                  <a:gd name="T1" fmla="*/ 0 h 175"/>
                  <a:gd name="T2" fmla="*/ 0 w 115"/>
                  <a:gd name="T3" fmla="*/ 80 h 175"/>
                  <a:gd name="T4" fmla="*/ 0 w 115"/>
                  <a:gd name="T5" fmla="*/ 174 h 175"/>
                  <a:gd name="T6" fmla="*/ 114 w 115"/>
                  <a:gd name="T7" fmla="*/ 84 h 175"/>
                  <a:gd name="T8" fmla="*/ 114 w 115"/>
                  <a:gd name="T9" fmla="*/ 0 h 175"/>
                  <a:gd name="T10" fmla="*/ 0 60000 65536"/>
                  <a:gd name="T11" fmla="*/ 0 60000 65536"/>
                  <a:gd name="T12" fmla="*/ 0 60000 65536"/>
                  <a:gd name="T13" fmla="*/ 0 60000 65536"/>
                  <a:gd name="T14" fmla="*/ 0 60000 65536"/>
                  <a:gd name="T15" fmla="*/ 0 w 115"/>
                  <a:gd name="T16" fmla="*/ 0 h 175"/>
                  <a:gd name="T17" fmla="*/ 115 w 115"/>
                  <a:gd name="T18" fmla="*/ 175 h 175"/>
                </a:gdLst>
                <a:ahLst/>
                <a:cxnLst>
                  <a:cxn ang="T10">
                    <a:pos x="T0" y="T1"/>
                  </a:cxn>
                  <a:cxn ang="T11">
                    <a:pos x="T2" y="T3"/>
                  </a:cxn>
                  <a:cxn ang="T12">
                    <a:pos x="T4" y="T5"/>
                  </a:cxn>
                  <a:cxn ang="T13">
                    <a:pos x="T6" y="T7"/>
                  </a:cxn>
                  <a:cxn ang="T14">
                    <a:pos x="T8" y="T9"/>
                  </a:cxn>
                </a:cxnLst>
                <a:rect l="T15" t="T16" r="T17" b="T18"/>
                <a:pathLst>
                  <a:path w="115" h="175">
                    <a:moveTo>
                      <a:pt x="114" y="0"/>
                    </a:moveTo>
                    <a:lnTo>
                      <a:pt x="0" y="80"/>
                    </a:lnTo>
                    <a:lnTo>
                      <a:pt x="0" y="174"/>
                    </a:lnTo>
                    <a:lnTo>
                      <a:pt x="114" y="84"/>
                    </a:lnTo>
                    <a:lnTo>
                      <a:pt x="114" y="0"/>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sp>
        <p:nvSpPr>
          <p:cNvPr id="10300" name="Line 299"/>
          <p:cNvSpPr>
            <a:spLocks noChangeShapeType="1"/>
          </p:cNvSpPr>
          <p:nvPr/>
        </p:nvSpPr>
        <p:spPr bwMode="auto">
          <a:xfrm flipV="1">
            <a:off x="1133475" y="3128987"/>
            <a:ext cx="0" cy="523875"/>
          </a:xfrm>
          <a:prstGeom prst="line">
            <a:avLst/>
          </a:prstGeom>
          <a:noFill/>
          <a:ln w="25399">
            <a:solidFill>
              <a:schemeClr val="tx1"/>
            </a:solidFill>
            <a:round/>
            <a:headEnd type="none" w="sm" len="sm"/>
            <a:tailEnd type="none" w="sm" len="sm"/>
          </a:ln>
        </p:spPr>
        <p:txBody>
          <a:bodyPr wrap="none" anchor="ctr"/>
          <a:lstStyle/>
          <a:p>
            <a:endParaRPr lang="zh-CN" altLang="en-US"/>
          </a:p>
        </p:txBody>
      </p:sp>
      <p:grpSp>
        <p:nvGrpSpPr>
          <p:cNvPr id="10359" name="Group 300"/>
          <p:cNvGrpSpPr/>
          <p:nvPr/>
        </p:nvGrpSpPr>
        <p:grpSpPr bwMode="auto">
          <a:xfrm>
            <a:off x="2590800" y="2992462"/>
            <a:ext cx="460375" cy="320675"/>
            <a:chOff x="1320" y="1785"/>
            <a:chExt cx="258" cy="202"/>
          </a:xfrm>
        </p:grpSpPr>
        <p:grpSp>
          <p:nvGrpSpPr>
            <p:cNvPr id="10360" name="Group 301"/>
            <p:cNvGrpSpPr/>
            <p:nvPr/>
          </p:nvGrpSpPr>
          <p:grpSpPr bwMode="auto">
            <a:xfrm>
              <a:off x="1321" y="1855"/>
              <a:ext cx="142" cy="132"/>
              <a:chOff x="1321" y="1855"/>
              <a:chExt cx="142" cy="132"/>
            </a:xfrm>
          </p:grpSpPr>
          <p:sp>
            <p:nvSpPr>
              <p:cNvPr id="10365" name="Freeform 302"/>
              <p:cNvSpPr/>
              <p:nvPr/>
            </p:nvSpPr>
            <p:spPr bwMode="auto">
              <a:xfrm>
                <a:off x="1321" y="1856"/>
                <a:ext cx="136" cy="124"/>
              </a:xfrm>
              <a:custGeom>
                <a:avLst/>
                <a:gdLst>
                  <a:gd name="T0" fmla="*/ 135 w 136"/>
                  <a:gd name="T1" fmla="*/ 33 h 124"/>
                  <a:gd name="T2" fmla="*/ 135 w 136"/>
                  <a:gd name="T3" fmla="*/ 123 h 124"/>
                  <a:gd name="T4" fmla="*/ 0 w 136"/>
                  <a:gd name="T5" fmla="*/ 83 h 124"/>
                  <a:gd name="T6" fmla="*/ 0 w 136"/>
                  <a:gd name="T7" fmla="*/ 0 h 124"/>
                  <a:gd name="T8" fmla="*/ 135 w 136"/>
                  <a:gd name="T9" fmla="*/ 33 h 124"/>
                  <a:gd name="T10" fmla="*/ 0 60000 65536"/>
                  <a:gd name="T11" fmla="*/ 0 60000 65536"/>
                  <a:gd name="T12" fmla="*/ 0 60000 65536"/>
                  <a:gd name="T13" fmla="*/ 0 60000 65536"/>
                  <a:gd name="T14" fmla="*/ 0 60000 65536"/>
                  <a:gd name="T15" fmla="*/ 0 w 136"/>
                  <a:gd name="T16" fmla="*/ 0 h 124"/>
                  <a:gd name="T17" fmla="*/ 136 w 136"/>
                  <a:gd name="T18" fmla="*/ 124 h 124"/>
                </a:gdLst>
                <a:ahLst/>
                <a:cxnLst>
                  <a:cxn ang="T10">
                    <a:pos x="T0" y="T1"/>
                  </a:cxn>
                  <a:cxn ang="T11">
                    <a:pos x="T2" y="T3"/>
                  </a:cxn>
                  <a:cxn ang="T12">
                    <a:pos x="T4" y="T5"/>
                  </a:cxn>
                  <a:cxn ang="T13">
                    <a:pos x="T6" y="T7"/>
                  </a:cxn>
                  <a:cxn ang="T14">
                    <a:pos x="T8" y="T9"/>
                  </a:cxn>
                </a:cxnLst>
                <a:rect l="T15" t="T16" r="T17" b="T18"/>
                <a:pathLst>
                  <a:path w="136" h="124">
                    <a:moveTo>
                      <a:pt x="135" y="33"/>
                    </a:moveTo>
                    <a:lnTo>
                      <a:pt x="135" y="123"/>
                    </a:lnTo>
                    <a:lnTo>
                      <a:pt x="0" y="83"/>
                    </a:lnTo>
                    <a:lnTo>
                      <a:pt x="0" y="0"/>
                    </a:lnTo>
                    <a:lnTo>
                      <a:pt x="135" y="33"/>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10366" name="Freeform 303"/>
              <p:cNvSpPr/>
              <p:nvPr/>
            </p:nvSpPr>
            <p:spPr bwMode="auto">
              <a:xfrm>
                <a:off x="1322" y="1855"/>
                <a:ext cx="141" cy="132"/>
              </a:xfrm>
              <a:custGeom>
                <a:avLst/>
                <a:gdLst>
                  <a:gd name="T0" fmla="*/ 140 w 141"/>
                  <a:gd name="T1" fmla="*/ 36 h 132"/>
                  <a:gd name="T2" fmla="*/ 140 w 141"/>
                  <a:gd name="T3" fmla="*/ 131 h 132"/>
                  <a:gd name="T4" fmla="*/ 0 w 141"/>
                  <a:gd name="T5" fmla="*/ 88 h 132"/>
                  <a:gd name="T6" fmla="*/ 0 w 141"/>
                  <a:gd name="T7" fmla="*/ 0 h 132"/>
                  <a:gd name="T8" fmla="*/ 140 w 141"/>
                  <a:gd name="T9" fmla="*/ 36 h 132"/>
                  <a:gd name="T10" fmla="*/ 0 60000 65536"/>
                  <a:gd name="T11" fmla="*/ 0 60000 65536"/>
                  <a:gd name="T12" fmla="*/ 0 60000 65536"/>
                  <a:gd name="T13" fmla="*/ 0 60000 65536"/>
                  <a:gd name="T14" fmla="*/ 0 60000 65536"/>
                  <a:gd name="T15" fmla="*/ 0 w 141"/>
                  <a:gd name="T16" fmla="*/ 0 h 132"/>
                  <a:gd name="T17" fmla="*/ 141 w 141"/>
                  <a:gd name="T18" fmla="*/ 132 h 132"/>
                </a:gdLst>
                <a:ahLst/>
                <a:cxnLst>
                  <a:cxn ang="T10">
                    <a:pos x="T0" y="T1"/>
                  </a:cxn>
                  <a:cxn ang="T11">
                    <a:pos x="T2" y="T3"/>
                  </a:cxn>
                  <a:cxn ang="T12">
                    <a:pos x="T4" y="T5"/>
                  </a:cxn>
                  <a:cxn ang="T13">
                    <a:pos x="T6" y="T7"/>
                  </a:cxn>
                  <a:cxn ang="T14">
                    <a:pos x="T8" y="T9"/>
                  </a:cxn>
                </a:cxnLst>
                <a:rect l="T15" t="T16" r="T17" b="T18"/>
                <a:pathLst>
                  <a:path w="141" h="132">
                    <a:moveTo>
                      <a:pt x="140" y="36"/>
                    </a:moveTo>
                    <a:lnTo>
                      <a:pt x="140" y="131"/>
                    </a:lnTo>
                    <a:lnTo>
                      <a:pt x="0" y="88"/>
                    </a:lnTo>
                    <a:lnTo>
                      <a:pt x="0" y="0"/>
                    </a:lnTo>
                    <a:lnTo>
                      <a:pt x="140" y="36"/>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nvGrpSpPr>
            <p:cNvPr id="10367" name="Group 304"/>
            <p:cNvGrpSpPr/>
            <p:nvPr/>
          </p:nvGrpSpPr>
          <p:grpSpPr bwMode="auto">
            <a:xfrm>
              <a:off x="1320" y="1785"/>
              <a:ext cx="256" cy="108"/>
              <a:chOff x="1320" y="1785"/>
              <a:chExt cx="256" cy="108"/>
            </a:xfrm>
          </p:grpSpPr>
          <p:sp>
            <p:nvSpPr>
              <p:cNvPr id="10363" name="Freeform 305"/>
              <p:cNvSpPr/>
              <p:nvPr/>
            </p:nvSpPr>
            <p:spPr bwMode="auto">
              <a:xfrm>
                <a:off x="1321" y="1785"/>
                <a:ext cx="249" cy="103"/>
              </a:xfrm>
              <a:custGeom>
                <a:avLst/>
                <a:gdLst>
                  <a:gd name="T0" fmla="*/ 137 w 249"/>
                  <a:gd name="T1" fmla="*/ 102 h 103"/>
                  <a:gd name="T2" fmla="*/ 0 w 249"/>
                  <a:gd name="T3" fmla="*/ 68 h 103"/>
                  <a:gd name="T4" fmla="*/ 129 w 249"/>
                  <a:gd name="T5" fmla="*/ 0 h 103"/>
                  <a:gd name="T6" fmla="*/ 248 w 249"/>
                  <a:gd name="T7" fmla="*/ 27 h 103"/>
                  <a:gd name="T8" fmla="*/ 137 w 249"/>
                  <a:gd name="T9" fmla="*/ 102 h 103"/>
                  <a:gd name="T10" fmla="*/ 0 60000 65536"/>
                  <a:gd name="T11" fmla="*/ 0 60000 65536"/>
                  <a:gd name="T12" fmla="*/ 0 60000 65536"/>
                  <a:gd name="T13" fmla="*/ 0 60000 65536"/>
                  <a:gd name="T14" fmla="*/ 0 60000 65536"/>
                  <a:gd name="T15" fmla="*/ 0 w 249"/>
                  <a:gd name="T16" fmla="*/ 0 h 103"/>
                  <a:gd name="T17" fmla="*/ 249 w 249"/>
                  <a:gd name="T18" fmla="*/ 103 h 103"/>
                </a:gdLst>
                <a:ahLst/>
                <a:cxnLst>
                  <a:cxn ang="T10">
                    <a:pos x="T0" y="T1"/>
                  </a:cxn>
                  <a:cxn ang="T11">
                    <a:pos x="T2" y="T3"/>
                  </a:cxn>
                  <a:cxn ang="T12">
                    <a:pos x="T4" y="T5"/>
                  </a:cxn>
                  <a:cxn ang="T13">
                    <a:pos x="T6" y="T7"/>
                  </a:cxn>
                  <a:cxn ang="T14">
                    <a:pos x="T8" y="T9"/>
                  </a:cxn>
                </a:cxnLst>
                <a:rect l="T15" t="T16" r="T17" b="T18"/>
                <a:pathLst>
                  <a:path w="249" h="103">
                    <a:moveTo>
                      <a:pt x="137" y="102"/>
                    </a:moveTo>
                    <a:lnTo>
                      <a:pt x="0" y="68"/>
                    </a:lnTo>
                    <a:lnTo>
                      <a:pt x="129" y="0"/>
                    </a:lnTo>
                    <a:lnTo>
                      <a:pt x="248" y="27"/>
                    </a:lnTo>
                    <a:lnTo>
                      <a:pt x="137" y="102"/>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10364" name="Freeform 306"/>
              <p:cNvSpPr/>
              <p:nvPr/>
            </p:nvSpPr>
            <p:spPr bwMode="auto">
              <a:xfrm>
                <a:off x="1320" y="1785"/>
                <a:ext cx="256" cy="108"/>
              </a:xfrm>
              <a:custGeom>
                <a:avLst/>
                <a:gdLst>
                  <a:gd name="T0" fmla="*/ 141 w 256"/>
                  <a:gd name="T1" fmla="*/ 107 h 108"/>
                  <a:gd name="T2" fmla="*/ 0 w 256"/>
                  <a:gd name="T3" fmla="*/ 71 h 108"/>
                  <a:gd name="T4" fmla="*/ 133 w 256"/>
                  <a:gd name="T5" fmla="*/ 0 h 108"/>
                  <a:gd name="T6" fmla="*/ 255 w 256"/>
                  <a:gd name="T7" fmla="*/ 28 h 108"/>
                  <a:gd name="T8" fmla="*/ 141 w 256"/>
                  <a:gd name="T9" fmla="*/ 107 h 108"/>
                  <a:gd name="T10" fmla="*/ 0 60000 65536"/>
                  <a:gd name="T11" fmla="*/ 0 60000 65536"/>
                  <a:gd name="T12" fmla="*/ 0 60000 65536"/>
                  <a:gd name="T13" fmla="*/ 0 60000 65536"/>
                  <a:gd name="T14" fmla="*/ 0 60000 65536"/>
                  <a:gd name="T15" fmla="*/ 0 w 256"/>
                  <a:gd name="T16" fmla="*/ 0 h 108"/>
                  <a:gd name="T17" fmla="*/ 256 w 256"/>
                  <a:gd name="T18" fmla="*/ 108 h 108"/>
                </a:gdLst>
                <a:ahLst/>
                <a:cxnLst>
                  <a:cxn ang="T10">
                    <a:pos x="T0" y="T1"/>
                  </a:cxn>
                  <a:cxn ang="T11">
                    <a:pos x="T2" y="T3"/>
                  </a:cxn>
                  <a:cxn ang="T12">
                    <a:pos x="T4" y="T5"/>
                  </a:cxn>
                  <a:cxn ang="T13">
                    <a:pos x="T6" y="T7"/>
                  </a:cxn>
                  <a:cxn ang="T14">
                    <a:pos x="T8" y="T9"/>
                  </a:cxn>
                </a:cxnLst>
                <a:rect l="T15" t="T16" r="T17" b="T18"/>
                <a:pathLst>
                  <a:path w="256" h="108">
                    <a:moveTo>
                      <a:pt x="141" y="107"/>
                    </a:moveTo>
                    <a:lnTo>
                      <a:pt x="0" y="71"/>
                    </a:lnTo>
                    <a:lnTo>
                      <a:pt x="133" y="0"/>
                    </a:lnTo>
                    <a:lnTo>
                      <a:pt x="255" y="28"/>
                    </a:lnTo>
                    <a:lnTo>
                      <a:pt x="141" y="107"/>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nvGrpSpPr>
            <p:cNvPr id="248832" name="Group 307"/>
            <p:cNvGrpSpPr/>
            <p:nvPr/>
          </p:nvGrpSpPr>
          <p:grpSpPr bwMode="auto">
            <a:xfrm>
              <a:off x="1463" y="1812"/>
              <a:ext cx="115" cy="175"/>
              <a:chOff x="1463" y="1812"/>
              <a:chExt cx="115" cy="175"/>
            </a:xfrm>
          </p:grpSpPr>
          <p:sp>
            <p:nvSpPr>
              <p:cNvPr id="10361" name="Freeform 308"/>
              <p:cNvSpPr/>
              <p:nvPr/>
            </p:nvSpPr>
            <p:spPr bwMode="auto">
              <a:xfrm>
                <a:off x="1464" y="1813"/>
                <a:ext cx="108" cy="167"/>
              </a:xfrm>
              <a:custGeom>
                <a:avLst/>
                <a:gdLst>
                  <a:gd name="T0" fmla="*/ 107 w 108"/>
                  <a:gd name="T1" fmla="*/ 0 h 167"/>
                  <a:gd name="T2" fmla="*/ 0 w 108"/>
                  <a:gd name="T3" fmla="*/ 75 h 167"/>
                  <a:gd name="T4" fmla="*/ 0 w 108"/>
                  <a:gd name="T5" fmla="*/ 166 h 167"/>
                  <a:gd name="T6" fmla="*/ 107 w 108"/>
                  <a:gd name="T7" fmla="*/ 79 h 167"/>
                  <a:gd name="T8" fmla="*/ 107 w 108"/>
                  <a:gd name="T9" fmla="*/ 0 h 167"/>
                  <a:gd name="T10" fmla="*/ 0 60000 65536"/>
                  <a:gd name="T11" fmla="*/ 0 60000 65536"/>
                  <a:gd name="T12" fmla="*/ 0 60000 65536"/>
                  <a:gd name="T13" fmla="*/ 0 60000 65536"/>
                  <a:gd name="T14" fmla="*/ 0 60000 65536"/>
                  <a:gd name="T15" fmla="*/ 0 w 108"/>
                  <a:gd name="T16" fmla="*/ 0 h 167"/>
                  <a:gd name="T17" fmla="*/ 108 w 108"/>
                  <a:gd name="T18" fmla="*/ 167 h 167"/>
                </a:gdLst>
                <a:ahLst/>
                <a:cxnLst>
                  <a:cxn ang="T10">
                    <a:pos x="T0" y="T1"/>
                  </a:cxn>
                  <a:cxn ang="T11">
                    <a:pos x="T2" y="T3"/>
                  </a:cxn>
                  <a:cxn ang="T12">
                    <a:pos x="T4" y="T5"/>
                  </a:cxn>
                  <a:cxn ang="T13">
                    <a:pos x="T6" y="T7"/>
                  </a:cxn>
                  <a:cxn ang="T14">
                    <a:pos x="T8" y="T9"/>
                  </a:cxn>
                </a:cxnLst>
                <a:rect l="T15" t="T16" r="T17" b="T18"/>
                <a:pathLst>
                  <a:path w="108" h="167">
                    <a:moveTo>
                      <a:pt x="107" y="0"/>
                    </a:moveTo>
                    <a:lnTo>
                      <a:pt x="0" y="75"/>
                    </a:lnTo>
                    <a:lnTo>
                      <a:pt x="0" y="166"/>
                    </a:lnTo>
                    <a:lnTo>
                      <a:pt x="107" y="79"/>
                    </a:lnTo>
                    <a:lnTo>
                      <a:pt x="107" y="0"/>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10362" name="Freeform 309"/>
              <p:cNvSpPr/>
              <p:nvPr/>
            </p:nvSpPr>
            <p:spPr bwMode="auto">
              <a:xfrm>
                <a:off x="1463" y="1812"/>
                <a:ext cx="115" cy="175"/>
              </a:xfrm>
              <a:custGeom>
                <a:avLst/>
                <a:gdLst>
                  <a:gd name="T0" fmla="*/ 114 w 115"/>
                  <a:gd name="T1" fmla="*/ 0 h 175"/>
                  <a:gd name="T2" fmla="*/ 0 w 115"/>
                  <a:gd name="T3" fmla="*/ 80 h 175"/>
                  <a:gd name="T4" fmla="*/ 0 w 115"/>
                  <a:gd name="T5" fmla="*/ 174 h 175"/>
                  <a:gd name="T6" fmla="*/ 114 w 115"/>
                  <a:gd name="T7" fmla="*/ 84 h 175"/>
                  <a:gd name="T8" fmla="*/ 114 w 115"/>
                  <a:gd name="T9" fmla="*/ 0 h 175"/>
                  <a:gd name="T10" fmla="*/ 0 60000 65536"/>
                  <a:gd name="T11" fmla="*/ 0 60000 65536"/>
                  <a:gd name="T12" fmla="*/ 0 60000 65536"/>
                  <a:gd name="T13" fmla="*/ 0 60000 65536"/>
                  <a:gd name="T14" fmla="*/ 0 60000 65536"/>
                  <a:gd name="T15" fmla="*/ 0 w 115"/>
                  <a:gd name="T16" fmla="*/ 0 h 175"/>
                  <a:gd name="T17" fmla="*/ 115 w 115"/>
                  <a:gd name="T18" fmla="*/ 175 h 175"/>
                </a:gdLst>
                <a:ahLst/>
                <a:cxnLst>
                  <a:cxn ang="T10">
                    <a:pos x="T0" y="T1"/>
                  </a:cxn>
                  <a:cxn ang="T11">
                    <a:pos x="T2" y="T3"/>
                  </a:cxn>
                  <a:cxn ang="T12">
                    <a:pos x="T4" y="T5"/>
                  </a:cxn>
                  <a:cxn ang="T13">
                    <a:pos x="T6" y="T7"/>
                  </a:cxn>
                  <a:cxn ang="T14">
                    <a:pos x="T8" y="T9"/>
                  </a:cxn>
                </a:cxnLst>
                <a:rect l="T15" t="T16" r="T17" b="T18"/>
                <a:pathLst>
                  <a:path w="115" h="175">
                    <a:moveTo>
                      <a:pt x="114" y="0"/>
                    </a:moveTo>
                    <a:lnTo>
                      <a:pt x="0" y="80"/>
                    </a:lnTo>
                    <a:lnTo>
                      <a:pt x="0" y="174"/>
                    </a:lnTo>
                    <a:lnTo>
                      <a:pt x="114" y="84"/>
                    </a:lnTo>
                    <a:lnTo>
                      <a:pt x="114" y="0"/>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grpSp>
        <p:nvGrpSpPr>
          <p:cNvPr id="248833" name="Group 310"/>
          <p:cNvGrpSpPr/>
          <p:nvPr/>
        </p:nvGrpSpPr>
        <p:grpSpPr bwMode="auto">
          <a:xfrm>
            <a:off x="2590800" y="3906862"/>
            <a:ext cx="460375" cy="320675"/>
            <a:chOff x="1320" y="2361"/>
            <a:chExt cx="258" cy="202"/>
          </a:xfrm>
        </p:grpSpPr>
        <p:grpSp>
          <p:nvGrpSpPr>
            <p:cNvPr id="248834" name="Group 311"/>
            <p:cNvGrpSpPr/>
            <p:nvPr/>
          </p:nvGrpSpPr>
          <p:grpSpPr bwMode="auto">
            <a:xfrm>
              <a:off x="1321" y="2431"/>
              <a:ext cx="142" cy="132"/>
              <a:chOff x="1321" y="2431"/>
              <a:chExt cx="142" cy="132"/>
            </a:xfrm>
          </p:grpSpPr>
          <p:sp>
            <p:nvSpPr>
              <p:cNvPr id="10356" name="Freeform 312"/>
              <p:cNvSpPr/>
              <p:nvPr/>
            </p:nvSpPr>
            <p:spPr bwMode="auto">
              <a:xfrm>
                <a:off x="1321" y="2432"/>
                <a:ext cx="136" cy="124"/>
              </a:xfrm>
              <a:custGeom>
                <a:avLst/>
                <a:gdLst>
                  <a:gd name="T0" fmla="*/ 135 w 136"/>
                  <a:gd name="T1" fmla="*/ 33 h 124"/>
                  <a:gd name="T2" fmla="*/ 135 w 136"/>
                  <a:gd name="T3" fmla="*/ 123 h 124"/>
                  <a:gd name="T4" fmla="*/ 0 w 136"/>
                  <a:gd name="T5" fmla="*/ 83 h 124"/>
                  <a:gd name="T6" fmla="*/ 0 w 136"/>
                  <a:gd name="T7" fmla="*/ 0 h 124"/>
                  <a:gd name="T8" fmla="*/ 135 w 136"/>
                  <a:gd name="T9" fmla="*/ 33 h 124"/>
                  <a:gd name="T10" fmla="*/ 0 60000 65536"/>
                  <a:gd name="T11" fmla="*/ 0 60000 65536"/>
                  <a:gd name="T12" fmla="*/ 0 60000 65536"/>
                  <a:gd name="T13" fmla="*/ 0 60000 65536"/>
                  <a:gd name="T14" fmla="*/ 0 60000 65536"/>
                  <a:gd name="T15" fmla="*/ 0 w 136"/>
                  <a:gd name="T16" fmla="*/ 0 h 124"/>
                  <a:gd name="T17" fmla="*/ 136 w 136"/>
                  <a:gd name="T18" fmla="*/ 124 h 124"/>
                </a:gdLst>
                <a:ahLst/>
                <a:cxnLst>
                  <a:cxn ang="T10">
                    <a:pos x="T0" y="T1"/>
                  </a:cxn>
                  <a:cxn ang="T11">
                    <a:pos x="T2" y="T3"/>
                  </a:cxn>
                  <a:cxn ang="T12">
                    <a:pos x="T4" y="T5"/>
                  </a:cxn>
                  <a:cxn ang="T13">
                    <a:pos x="T6" y="T7"/>
                  </a:cxn>
                  <a:cxn ang="T14">
                    <a:pos x="T8" y="T9"/>
                  </a:cxn>
                </a:cxnLst>
                <a:rect l="T15" t="T16" r="T17" b="T18"/>
                <a:pathLst>
                  <a:path w="136" h="124">
                    <a:moveTo>
                      <a:pt x="135" y="33"/>
                    </a:moveTo>
                    <a:lnTo>
                      <a:pt x="135" y="123"/>
                    </a:lnTo>
                    <a:lnTo>
                      <a:pt x="0" y="83"/>
                    </a:lnTo>
                    <a:lnTo>
                      <a:pt x="0" y="0"/>
                    </a:lnTo>
                    <a:lnTo>
                      <a:pt x="135" y="33"/>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10357" name="Freeform 313"/>
              <p:cNvSpPr/>
              <p:nvPr/>
            </p:nvSpPr>
            <p:spPr bwMode="auto">
              <a:xfrm>
                <a:off x="1322" y="2431"/>
                <a:ext cx="141" cy="132"/>
              </a:xfrm>
              <a:custGeom>
                <a:avLst/>
                <a:gdLst>
                  <a:gd name="T0" fmla="*/ 140 w 141"/>
                  <a:gd name="T1" fmla="*/ 36 h 132"/>
                  <a:gd name="T2" fmla="*/ 140 w 141"/>
                  <a:gd name="T3" fmla="*/ 131 h 132"/>
                  <a:gd name="T4" fmla="*/ 0 w 141"/>
                  <a:gd name="T5" fmla="*/ 88 h 132"/>
                  <a:gd name="T6" fmla="*/ 0 w 141"/>
                  <a:gd name="T7" fmla="*/ 0 h 132"/>
                  <a:gd name="T8" fmla="*/ 140 w 141"/>
                  <a:gd name="T9" fmla="*/ 36 h 132"/>
                  <a:gd name="T10" fmla="*/ 0 60000 65536"/>
                  <a:gd name="T11" fmla="*/ 0 60000 65536"/>
                  <a:gd name="T12" fmla="*/ 0 60000 65536"/>
                  <a:gd name="T13" fmla="*/ 0 60000 65536"/>
                  <a:gd name="T14" fmla="*/ 0 60000 65536"/>
                  <a:gd name="T15" fmla="*/ 0 w 141"/>
                  <a:gd name="T16" fmla="*/ 0 h 132"/>
                  <a:gd name="T17" fmla="*/ 141 w 141"/>
                  <a:gd name="T18" fmla="*/ 132 h 132"/>
                </a:gdLst>
                <a:ahLst/>
                <a:cxnLst>
                  <a:cxn ang="T10">
                    <a:pos x="T0" y="T1"/>
                  </a:cxn>
                  <a:cxn ang="T11">
                    <a:pos x="T2" y="T3"/>
                  </a:cxn>
                  <a:cxn ang="T12">
                    <a:pos x="T4" y="T5"/>
                  </a:cxn>
                  <a:cxn ang="T13">
                    <a:pos x="T6" y="T7"/>
                  </a:cxn>
                  <a:cxn ang="T14">
                    <a:pos x="T8" y="T9"/>
                  </a:cxn>
                </a:cxnLst>
                <a:rect l="T15" t="T16" r="T17" b="T18"/>
                <a:pathLst>
                  <a:path w="141" h="132">
                    <a:moveTo>
                      <a:pt x="140" y="36"/>
                    </a:moveTo>
                    <a:lnTo>
                      <a:pt x="140" y="131"/>
                    </a:lnTo>
                    <a:lnTo>
                      <a:pt x="0" y="88"/>
                    </a:lnTo>
                    <a:lnTo>
                      <a:pt x="0" y="0"/>
                    </a:lnTo>
                    <a:lnTo>
                      <a:pt x="140" y="36"/>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nvGrpSpPr>
            <p:cNvPr id="248835" name="Group 314"/>
            <p:cNvGrpSpPr/>
            <p:nvPr/>
          </p:nvGrpSpPr>
          <p:grpSpPr bwMode="auto">
            <a:xfrm>
              <a:off x="1320" y="2361"/>
              <a:ext cx="256" cy="108"/>
              <a:chOff x="1320" y="2361"/>
              <a:chExt cx="256" cy="108"/>
            </a:xfrm>
          </p:grpSpPr>
          <p:sp>
            <p:nvSpPr>
              <p:cNvPr id="10354" name="Freeform 315"/>
              <p:cNvSpPr/>
              <p:nvPr/>
            </p:nvSpPr>
            <p:spPr bwMode="auto">
              <a:xfrm>
                <a:off x="1321" y="2361"/>
                <a:ext cx="249" cy="103"/>
              </a:xfrm>
              <a:custGeom>
                <a:avLst/>
                <a:gdLst>
                  <a:gd name="T0" fmla="*/ 137 w 249"/>
                  <a:gd name="T1" fmla="*/ 102 h 103"/>
                  <a:gd name="T2" fmla="*/ 0 w 249"/>
                  <a:gd name="T3" fmla="*/ 68 h 103"/>
                  <a:gd name="T4" fmla="*/ 129 w 249"/>
                  <a:gd name="T5" fmla="*/ 0 h 103"/>
                  <a:gd name="T6" fmla="*/ 248 w 249"/>
                  <a:gd name="T7" fmla="*/ 27 h 103"/>
                  <a:gd name="T8" fmla="*/ 137 w 249"/>
                  <a:gd name="T9" fmla="*/ 102 h 103"/>
                  <a:gd name="T10" fmla="*/ 0 60000 65536"/>
                  <a:gd name="T11" fmla="*/ 0 60000 65536"/>
                  <a:gd name="T12" fmla="*/ 0 60000 65536"/>
                  <a:gd name="T13" fmla="*/ 0 60000 65536"/>
                  <a:gd name="T14" fmla="*/ 0 60000 65536"/>
                  <a:gd name="T15" fmla="*/ 0 w 249"/>
                  <a:gd name="T16" fmla="*/ 0 h 103"/>
                  <a:gd name="T17" fmla="*/ 249 w 249"/>
                  <a:gd name="T18" fmla="*/ 103 h 103"/>
                </a:gdLst>
                <a:ahLst/>
                <a:cxnLst>
                  <a:cxn ang="T10">
                    <a:pos x="T0" y="T1"/>
                  </a:cxn>
                  <a:cxn ang="T11">
                    <a:pos x="T2" y="T3"/>
                  </a:cxn>
                  <a:cxn ang="T12">
                    <a:pos x="T4" y="T5"/>
                  </a:cxn>
                  <a:cxn ang="T13">
                    <a:pos x="T6" y="T7"/>
                  </a:cxn>
                  <a:cxn ang="T14">
                    <a:pos x="T8" y="T9"/>
                  </a:cxn>
                </a:cxnLst>
                <a:rect l="T15" t="T16" r="T17" b="T18"/>
                <a:pathLst>
                  <a:path w="249" h="103">
                    <a:moveTo>
                      <a:pt x="137" y="102"/>
                    </a:moveTo>
                    <a:lnTo>
                      <a:pt x="0" y="68"/>
                    </a:lnTo>
                    <a:lnTo>
                      <a:pt x="129" y="0"/>
                    </a:lnTo>
                    <a:lnTo>
                      <a:pt x="248" y="27"/>
                    </a:lnTo>
                    <a:lnTo>
                      <a:pt x="137" y="102"/>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10355" name="Freeform 316"/>
              <p:cNvSpPr/>
              <p:nvPr/>
            </p:nvSpPr>
            <p:spPr bwMode="auto">
              <a:xfrm>
                <a:off x="1320" y="2361"/>
                <a:ext cx="256" cy="108"/>
              </a:xfrm>
              <a:custGeom>
                <a:avLst/>
                <a:gdLst>
                  <a:gd name="T0" fmla="*/ 141 w 256"/>
                  <a:gd name="T1" fmla="*/ 107 h 108"/>
                  <a:gd name="T2" fmla="*/ 0 w 256"/>
                  <a:gd name="T3" fmla="*/ 71 h 108"/>
                  <a:gd name="T4" fmla="*/ 133 w 256"/>
                  <a:gd name="T5" fmla="*/ 0 h 108"/>
                  <a:gd name="T6" fmla="*/ 255 w 256"/>
                  <a:gd name="T7" fmla="*/ 28 h 108"/>
                  <a:gd name="T8" fmla="*/ 141 w 256"/>
                  <a:gd name="T9" fmla="*/ 107 h 108"/>
                  <a:gd name="T10" fmla="*/ 0 60000 65536"/>
                  <a:gd name="T11" fmla="*/ 0 60000 65536"/>
                  <a:gd name="T12" fmla="*/ 0 60000 65536"/>
                  <a:gd name="T13" fmla="*/ 0 60000 65536"/>
                  <a:gd name="T14" fmla="*/ 0 60000 65536"/>
                  <a:gd name="T15" fmla="*/ 0 w 256"/>
                  <a:gd name="T16" fmla="*/ 0 h 108"/>
                  <a:gd name="T17" fmla="*/ 256 w 256"/>
                  <a:gd name="T18" fmla="*/ 108 h 108"/>
                </a:gdLst>
                <a:ahLst/>
                <a:cxnLst>
                  <a:cxn ang="T10">
                    <a:pos x="T0" y="T1"/>
                  </a:cxn>
                  <a:cxn ang="T11">
                    <a:pos x="T2" y="T3"/>
                  </a:cxn>
                  <a:cxn ang="T12">
                    <a:pos x="T4" y="T5"/>
                  </a:cxn>
                  <a:cxn ang="T13">
                    <a:pos x="T6" y="T7"/>
                  </a:cxn>
                  <a:cxn ang="T14">
                    <a:pos x="T8" y="T9"/>
                  </a:cxn>
                </a:cxnLst>
                <a:rect l="T15" t="T16" r="T17" b="T18"/>
                <a:pathLst>
                  <a:path w="256" h="108">
                    <a:moveTo>
                      <a:pt x="141" y="107"/>
                    </a:moveTo>
                    <a:lnTo>
                      <a:pt x="0" y="71"/>
                    </a:lnTo>
                    <a:lnTo>
                      <a:pt x="133" y="0"/>
                    </a:lnTo>
                    <a:lnTo>
                      <a:pt x="255" y="28"/>
                    </a:lnTo>
                    <a:lnTo>
                      <a:pt x="141" y="107"/>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nvGrpSpPr>
            <p:cNvPr id="248836" name="Group 317"/>
            <p:cNvGrpSpPr/>
            <p:nvPr/>
          </p:nvGrpSpPr>
          <p:grpSpPr bwMode="auto">
            <a:xfrm>
              <a:off x="1463" y="2388"/>
              <a:ext cx="115" cy="175"/>
              <a:chOff x="1463" y="2388"/>
              <a:chExt cx="115" cy="175"/>
            </a:xfrm>
          </p:grpSpPr>
          <p:sp>
            <p:nvSpPr>
              <p:cNvPr id="10352" name="Freeform 318"/>
              <p:cNvSpPr/>
              <p:nvPr/>
            </p:nvSpPr>
            <p:spPr bwMode="auto">
              <a:xfrm>
                <a:off x="1464" y="2389"/>
                <a:ext cx="108" cy="167"/>
              </a:xfrm>
              <a:custGeom>
                <a:avLst/>
                <a:gdLst>
                  <a:gd name="T0" fmla="*/ 107 w 108"/>
                  <a:gd name="T1" fmla="*/ 0 h 167"/>
                  <a:gd name="T2" fmla="*/ 0 w 108"/>
                  <a:gd name="T3" fmla="*/ 75 h 167"/>
                  <a:gd name="T4" fmla="*/ 0 w 108"/>
                  <a:gd name="T5" fmla="*/ 166 h 167"/>
                  <a:gd name="T6" fmla="*/ 107 w 108"/>
                  <a:gd name="T7" fmla="*/ 79 h 167"/>
                  <a:gd name="T8" fmla="*/ 107 w 108"/>
                  <a:gd name="T9" fmla="*/ 0 h 167"/>
                  <a:gd name="T10" fmla="*/ 0 60000 65536"/>
                  <a:gd name="T11" fmla="*/ 0 60000 65536"/>
                  <a:gd name="T12" fmla="*/ 0 60000 65536"/>
                  <a:gd name="T13" fmla="*/ 0 60000 65536"/>
                  <a:gd name="T14" fmla="*/ 0 60000 65536"/>
                  <a:gd name="T15" fmla="*/ 0 w 108"/>
                  <a:gd name="T16" fmla="*/ 0 h 167"/>
                  <a:gd name="T17" fmla="*/ 108 w 108"/>
                  <a:gd name="T18" fmla="*/ 167 h 167"/>
                </a:gdLst>
                <a:ahLst/>
                <a:cxnLst>
                  <a:cxn ang="T10">
                    <a:pos x="T0" y="T1"/>
                  </a:cxn>
                  <a:cxn ang="T11">
                    <a:pos x="T2" y="T3"/>
                  </a:cxn>
                  <a:cxn ang="T12">
                    <a:pos x="T4" y="T5"/>
                  </a:cxn>
                  <a:cxn ang="T13">
                    <a:pos x="T6" y="T7"/>
                  </a:cxn>
                  <a:cxn ang="T14">
                    <a:pos x="T8" y="T9"/>
                  </a:cxn>
                </a:cxnLst>
                <a:rect l="T15" t="T16" r="T17" b="T18"/>
                <a:pathLst>
                  <a:path w="108" h="167">
                    <a:moveTo>
                      <a:pt x="107" y="0"/>
                    </a:moveTo>
                    <a:lnTo>
                      <a:pt x="0" y="75"/>
                    </a:lnTo>
                    <a:lnTo>
                      <a:pt x="0" y="166"/>
                    </a:lnTo>
                    <a:lnTo>
                      <a:pt x="107" y="79"/>
                    </a:lnTo>
                    <a:lnTo>
                      <a:pt x="107" y="0"/>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10353" name="Freeform 319"/>
              <p:cNvSpPr/>
              <p:nvPr/>
            </p:nvSpPr>
            <p:spPr bwMode="auto">
              <a:xfrm>
                <a:off x="1463" y="2388"/>
                <a:ext cx="115" cy="175"/>
              </a:xfrm>
              <a:custGeom>
                <a:avLst/>
                <a:gdLst>
                  <a:gd name="T0" fmla="*/ 114 w 115"/>
                  <a:gd name="T1" fmla="*/ 0 h 175"/>
                  <a:gd name="T2" fmla="*/ 0 w 115"/>
                  <a:gd name="T3" fmla="*/ 80 h 175"/>
                  <a:gd name="T4" fmla="*/ 0 w 115"/>
                  <a:gd name="T5" fmla="*/ 174 h 175"/>
                  <a:gd name="T6" fmla="*/ 114 w 115"/>
                  <a:gd name="T7" fmla="*/ 84 h 175"/>
                  <a:gd name="T8" fmla="*/ 114 w 115"/>
                  <a:gd name="T9" fmla="*/ 0 h 175"/>
                  <a:gd name="T10" fmla="*/ 0 60000 65536"/>
                  <a:gd name="T11" fmla="*/ 0 60000 65536"/>
                  <a:gd name="T12" fmla="*/ 0 60000 65536"/>
                  <a:gd name="T13" fmla="*/ 0 60000 65536"/>
                  <a:gd name="T14" fmla="*/ 0 60000 65536"/>
                  <a:gd name="T15" fmla="*/ 0 w 115"/>
                  <a:gd name="T16" fmla="*/ 0 h 175"/>
                  <a:gd name="T17" fmla="*/ 115 w 115"/>
                  <a:gd name="T18" fmla="*/ 175 h 175"/>
                </a:gdLst>
                <a:ahLst/>
                <a:cxnLst>
                  <a:cxn ang="T10">
                    <a:pos x="T0" y="T1"/>
                  </a:cxn>
                  <a:cxn ang="T11">
                    <a:pos x="T2" y="T3"/>
                  </a:cxn>
                  <a:cxn ang="T12">
                    <a:pos x="T4" y="T5"/>
                  </a:cxn>
                  <a:cxn ang="T13">
                    <a:pos x="T6" y="T7"/>
                  </a:cxn>
                  <a:cxn ang="T14">
                    <a:pos x="T8" y="T9"/>
                  </a:cxn>
                </a:cxnLst>
                <a:rect l="T15" t="T16" r="T17" b="T18"/>
                <a:pathLst>
                  <a:path w="115" h="175">
                    <a:moveTo>
                      <a:pt x="114" y="0"/>
                    </a:moveTo>
                    <a:lnTo>
                      <a:pt x="0" y="80"/>
                    </a:lnTo>
                    <a:lnTo>
                      <a:pt x="0" y="174"/>
                    </a:lnTo>
                    <a:lnTo>
                      <a:pt x="114" y="84"/>
                    </a:lnTo>
                    <a:lnTo>
                      <a:pt x="114" y="0"/>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grpSp>
        <p:nvGrpSpPr>
          <p:cNvPr id="248838" name="Group 320"/>
          <p:cNvGrpSpPr/>
          <p:nvPr/>
        </p:nvGrpSpPr>
        <p:grpSpPr bwMode="auto">
          <a:xfrm>
            <a:off x="2613025" y="4859362"/>
            <a:ext cx="460375" cy="320675"/>
            <a:chOff x="1332" y="2961"/>
            <a:chExt cx="258" cy="202"/>
          </a:xfrm>
        </p:grpSpPr>
        <p:grpSp>
          <p:nvGrpSpPr>
            <p:cNvPr id="248839" name="Group 321"/>
            <p:cNvGrpSpPr/>
            <p:nvPr/>
          </p:nvGrpSpPr>
          <p:grpSpPr bwMode="auto">
            <a:xfrm>
              <a:off x="1333" y="3031"/>
              <a:ext cx="142" cy="132"/>
              <a:chOff x="1333" y="3031"/>
              <a:chExt cx="142" cy="132"/>
            </a:xfrm>
          </p:grpSpPr>
          <p:sp>
            <p:nvSpPr>
              <p:cNvPr id="10347" name="Freeform 322"/>
              <p:cNvSpPr/>
              <p:nvPr/>
            </p:nvSpPr>
            <p:spPr bwMode="auto">
              <a:xfrm>
                <a:off x="1333" y="3032"/>
                <a:ext cx="136" cy="124"/>
              </a:xfrm>
              <a:custGeom>
                <a:avLst/>
                <a:gdLst>
                  <a:gd name="T0" fmla="*/ 135 w 136"/>
                  <a:gd name="T1" fmla="*/ 33 h 124"/>
                  <a:gd name="T2" fmla="*/ 135 w 136"/>
                  <a:gd name="T3" fmla="*/ 123 h 124"/>
                  <a:gd name="T4" fmla="*/ 0 w 136"/>
                  <a:gd name="T5" fmla="*/ 83 h 124"/>
                  <a:gd name="T6" fmla="*/ 0 w 136"/>
                  <a:gd name="T7" fmla="*/ 0 h 124"/>
                  <a:gd name="T8" fmla="*/ 135 w 136"/>
                  <a:gd name="T9" fmla="*/ 33 h 124"/>
                  <a:gd name="T10" fmla="*/ 0 60000 65536"/>
                  <a:gd name="T11" fmla="*/ 0 60000 65536"/>
                  <a:gd name="T12" fmla="*/ 0 60000 65536"/>
                  <a:gd name="T13" fmla="*/ 0 60000 65536"/>
                  <a:gd name="T14" fmla="*/ 0 60000 65536"/>
                  <a:gd name="T15" fmla="*/ 0 w 136"/>
                  <a:gd name="T16" fmla="*/ 0 h 124"/>
                  <a:gd name="T17" fmla="*/ 136 w 136"/>
                  <a:gd name="T18" fmla="*/ 124 h 124"/>
                </a:gdLst>
                <a:ahLst/>
                <a:cxnLst>
                  <a:cxn ang="T10">
                    <a:pos x="T0" y="T1"/>
                  </a:cxn>
                  <a:cxn ang="T11">
                    <a:pos x="T2" y="T3"/>
                  </a:cxn>
                  <a:cxn ang="T12">
                    <a:pos x="T4" y="T5"/>
                  </a:cxn>
                  <a:cxn ang="T13">
                    <a:pos x="T6" y="T7"/>
                  </a:cxn>
                  <a:cxn ang="T14">
                    <a:pos x="T8" y="T9"/>
                  </a:cxn>
                </a:cxnLst>
                <a:rect l="T15" t="T16" r="T17" b="T18"/>
                <a:pathLst>
                  <a:path w="136" h="124">
                    <a:moveTo>
                      <a:pt x="135" y="33"/>
                    </a:moveTo>
                    <a:lnTo>
                      <a:pt x="135" y="123"/>
                    </a:lnTo>
                    <a:lnTo>
                      <a:pt x="0" y="83"/>
                    </a:lnTo>
                    <a:lnTo>
                      <a:pt x="0" y="0"/>
                    </a:lnTo>
                    <a:lnTo>
                      <a:pt x="135" y="33"/>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10348" name="Freeform 323"/>
              <p:cNvSpPr/>
              <p:nvPr/>
            </p:nvSpPr>
            <p:spPr bwMode="auto">
              <a:xfrm>
                <a:off x="1334" y="3031"/>
                <a:ext cx="141" cy="132"/>
              </a:xfrm>
              <a:custGeom>
                <a:avLst/>
                <a:gdLst>
                  <a:gd name="T0" fmla="*/ 140 w 141"/>
                  <a:gd name="T1" fmla="*/ 36 h 132"/>
                  <a:gd name="T2" fmla="*/ 140 w 141"/>
                  <a:gd name="T3" fmla="*/ 131 h 132"/>
                  <a:gd name="T4" fmla="*/ 0 w 141"/>
                  <a:gd name="T5" fmla="*/ 88 h 132"/>
                  <a:gd name="T6" fmla="*/ 0 w 141"/>
                  <a:gd name="T7" fmla="*/ 0 h 132"/>
                  <a:gd name="T8" fmla="*/ 140 w 141"/>
                  <a:gd name="T9" fmla="*/ 36 h 132"/>
                  <a:gd name="T10" fmla="*/ 0 60000 65536"/>
                  <a:gd name="T11" fmla="*/ 0 60000 65536"/>
                  <a:gd name="T12" fmla="*/ 0 60000 65536"/>
                  <a:gd name="T13" fmla="*/ 0 60000 65536"/>
                  <a:gd name="T14" fmla="*/ 0 60000 65536"/>
                  <a:gd name="T15" fmla="*/ 0 w 141"/>
                  <a:gd name="T16" fmla="*/ 0 h 132"/>
                  <a:gd name="T17" fmla="*/ 141 w 141"/>
                  <a:gd name="T18" fmla="*/ 132 h 132"/>
                </a:gdLst>
                <a:ahLst/>
                <a:cxnLst>
                  <a:cxn ang="T10">
                    <a:pos x="T0" y="T1"/>
                  </a:cxn>
                  <a:cxn ang="T11">
                    <a:pos x="T2" y="T3"/>
                  </a:cxn>
                  <a:cxn ang="T12">
                    <a:pos x="T4" y="T5"/>
                  </a:cxn>
                  <a:cxn ang="T13">
                    <a:pos x="T6" y="T7"/>
                  </a:cxn>
                  <a:cxn ang="T14">
                    <a:pos x="T8" y="T9"/>
                  </a:cxn>
                </a:cxnLst>
                <a:rect l="T15" t="T16" r="T17" b="T18"/>
                <a:pathLst>
                  <a:path w="141" h="132">
                    <a:moveTo>
                      <a:pt x="140" y="36"/>
                    </a:moveTo>
                    <a:lnTo>
                      <a:pt x="140" y="131"/>
                    </a:lnTo>
                    <a:lnTo>
                      <a:pt x="0" y="88"/>
                    </a:lnTo>
                    <a:lnTo>
                      <a:pt x="0" y="0"/>
                    </a:lnTo>
                    <a:lnTo>
                      <a:pt x="140" y="36"/>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nvGrpSpPr>
            <p:cNvPr id="248840" name="Group 324"/>
            <p:cNvGrpSpPr/>
            <p:nvPr/>
          </p:nvGrpSpPr>
          <p:grpSpPr bwMode="auto">
            <a:xfrm>
              <a:off x="1332" y="2961"/>
              <a:ext cx="256" cy="108"/>
              <a:chOff x="1332" y="2961"/>
              <a:chExt cx="256" cy="108"/>
            </a:xfrm>
          </p:grpSpPr>
          <p:sp>
            <p:nvSpPr>
              <p:cNvPr id="10345" name="Freeform 325"/>
              <p:cNvSpPr/>
              <p:nvPr/>
            </p:nvSpPr>
            <p:spPr bwMode="auto">
              <a:xfrm>
                <a:off x="1333" y="2961"/>
                <a:ext cx="249" cy="103"/>
              </a:xfrm>
              <a:custGeom>
                <a:avLst/>
                <a:gdLst>
                  <a:gd name="T0" fmla="*/ 137 w 249"/>
                  <a:gd name="T1" fmla="*/ 102 h 103"/>
                  <a:gd name="T2" fmla="*/ 0 w 249"/>
                  <a:gd name="T3" fmla="*/ 68 h 103"/>
                  <a:gd name="T4" fmla="*/ 129 w 249"/>
                  <a:gd name="T5" fmla="*/ 0 h 103"/>
                  <a:gd name="T6" fmla="*/ 248 w 249"/>
                  <a:gd name="T7" fmla="*/ 27 h 103"/>
                  <a:gd name="T8" fmla="*/ 137 w 249"/>
                  <a:gd name="T9" fmla="*/ 102 h 103"/>
                  <a:gd name="T10" fmla="*/ 0 60000 65536"/>
                  <a:gd name="T11" fmla="*/ 0 60000 65536"/>
                  <a:gd name="T12" fmla="*/ 0 60000 65536"/>
                  <a:gd name="T13" fmla="*/ 0 60000 65536"/>
                  <a:gd name="T14" fmla="*/ 0 60000 65536"/>
                  <a:gd name="T15" fmla="*/ 0 w 249"/>
                  <a:gd name="T16" fmla="*/ 0 h 103"/>
                  <a:gd name="T17" fmla="*/ 249 w 249"/>
                  <a:gd name="T18" fmla="*/ 103 h 103"/>
                </a:gdLst>
                <a:ahLst/>
                <a:cxnLst>
                  <a:cxn ang="T10">
                    <a:pos x="T0" y="T1"/>
                  </a:cxn>
                  <a:cxn ang="T11">
                    <a:pos x="T2" y="T3"/>
                  </a:cxn>
                  <a:cxn ang="T12">
                    <a:pos x="T4" y="T5"/>
                  </a:cxn>
                  <a:cxn ang="T13">
                    <a:pos x="T6" y="T7"/>
                  </a:cxn>
                  <a:cxn ang="T14">
                    <a:pos x="T8" y="T9"/>
                  </a:cxn>
                </a:cxnLst>
                <a:rect l="T15" t="T16" r="T17" b="T18"/>
                <a:pathLst>
                  <a:path w="249" h="103">
                    <a:moveTo>
                      <a:pt x="137" y="102"/>
                    </a:moveTo>
                    <a:lnTo>
                      <a:pt x="0" y="68"/>
                    </a:lnTo>
                    <a:lnTo>
                      <a:pt x="129" y="0"/>
                    </a:lnTo>
                    <a:lnTo>
                      <a:pt x="248" y="27"/>
                    </a:lnTo>
                    <a:lnTo>
                      <a:pt x="137" y="102"/>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10346" name="Freeform 326"/>
              <p:cNvSpPr/>
              <p:nvPr/>
            </p:nvSpPr>
            <p:spPr bwMode="auto">
              <a:xfrm>
                <a:off x="1332" y="2961"/>
                <a:ext cx="256" cy="108"/>
              </a:xfrm>
              <a:custGeom>
                <a:avLst/>
                <a:gdLst>
                  <a:gd name="T0" fmla="*/ 141 w 256"/>
                  <a:gd name="T1" fmla="*/ 107 h 108"/>
                  <a:gd name="T2" fmla="*/ 0 w 256"/>
                  <a:gd name="T3" fmla="*/ 71 h 108"/>
                  <a:gd name="T4" fmla="*/ 133 w 256"/>
                  <a:gd name="T5" fmla="*/ 0 h 108"/>
                  <a:gd name="T6" fmla="*/ 255 w 256"/>
                  <a:gd name="T7" fmla="*/ 28 h 108"/>
                  <a:gd name="T8" fmla="*/ 141 w 256"/>
                  <a:gd name="T9" fmla="*/ 107 h 108"/>
                  <a:gd name="T10" fmla="*/ 0 60000 65536"/>
                  <a:gd name="T11" fmla="*/ 0 60000 65536"/>
                  <a:gd name="T12" fmla="*/ 0 60000 65536"/>
                  <a:gd name="T13" fmla="*/ 0 60000 65536"/>
                  <a:gd name="T14" fmla="*/ 0 60000 65536"/>
                  <a:gd name="T15" fmla="*/ 0 w 256"/>
                  <a:gd name="T16" fmla="*/ 0 h 108"/>
                  <a:gd name="T17" fmla="*/ 256 w 256"/>
                  <a:gd name="T18" fmla="*/ 108 h 108"/>
                </a:gdLst>
                <a:ahLst/>
                <a:cxnLst>
                  <a:cxn ang="T10">
                    <a:pos x="T0" y="T1"/>
                  </a:cxn>
                  <a:cxn ang="T11">
                    <a:pos x="T2" y="T3"/>
                  </a:cxn>
                  <a:cxn ang="T12">
                    <a:pos x="T4" y="T5"/>
                  </a:cxn>
                  <a:cxn ang="T13">
                    <a:pos x="T6" y="T7"/>
                  </a:cxn>
                  <a:cxn ang="T14">
                    <a:pos x="T8" y="T9"/>
                  </a:cxn>
                </a:cxnLst>
                <a:rect l="T15" t="T16" r="T17" b="T18"/>
                <a:pathLst>
                  <a:path w="256" h="108">
                    <a:moveTo>
                      <a:pt x="141" y="107"/>
                    </a:moveTo>
                    <a:lnTo>
                      <a:pt x="0" y="71"/>
                    </a:lnTo>
                    <a:lnTo>
                      <a:pt x="133" y="0"/>
                    </a:lnTo>
                    <a:lnTo>
                      <a:pt x="255" y="28"/>
                    </a:lnTo>
                    <a:lnTo>
                      <a:pt x="141" y="107"/>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nvGrpSpPr>
            <p:cNvPr id="248841" name="Group 327"/>
            <p:cNvGrpSpPr/>
            <p:nvPr/>
          </p:nvGrpSpPr>
          <p:grpSpPr bwMode="auto">
            <a:xfrm>
              <a:off x="1475" y="2988"/>
              <a:ext cx="115" cy="175"/>
              <a:chOff x="1475" y="2988"/>
              <a:chExt cx="115" cy="175"/>
            </a:xfrm>
          </p:grpSpPr>
          <p:sp>
            <p:nvSpPr>
              <p:cNvPr id="10343" name="Freeform 328"/>
              <p:cNvSpPr/>
              <p:nvPr/>
            </p:nvSpPr>
            <p:spPr bwMode="auto">
              <a:xfrm>
                <a:off x="1476" y="2989"/>
                <a:ext cx="108" cy="167"/>
              </a:xfrm>
              <a:custGeom>
                <a:avLst/>
                <a:gdLst>
                  <a:gd name="T0" fmla="*/ 107 w 108"/>
                  <a:gd name="T1" fmla="*/ 0 h 167"/>
                  <a:gd name="T2" fmla="*/ 0 w 108"/>
                  <a:gd name="T3" fmla="*/ 75 h 167"/>
                  <a:gd name="T4" fmla="*/ 0 w 108"/>
                  <a:gd name="T5" fmla="*/ 166 h 167"/>
                  <a:gd name="T6" fmla="*/ 107 w 108"/>
                  <a:gd name="T7" fmla="*/ 79 h 167"/>
                  <a:gd name="T8" fmla="*/ 107 w 108"/>
                  <a:gd name="T9" fmla="*/ 0 h 167"/>
                  <a:gd name="T10" fmla="*/ 0 60000 65536"/>
                  <a:gd name="T11" fmla="*/ 0 60000 65536"/>
                  <a:gd name="T12" fmla="*/ 0 60000 65536"/>
                  <a:gd name="T13" fmla="*/ 0 60000 65536"/>
                  <a:gd name="T14" fmla="*/ 0 60000 65536"/>
                  <a:gd name="T15" fmla="*/ 0 w 108"/>
                  <a:gd name="T16" fmla="*/ 0 h 167"/>
                  <a:gd name="T17" fmla="*/ 108 w 108"/>
                  <a:gd name="T18" fmla="*/ 167 h 167"/>
                </a:gdLst>
                <a:ahLst/>
                <a:cxnLst>
                  <a:cxn ang="T10">
                    <a:pos x="T0" y="T1"/>
                  </a:cxn>
                  <a:cxn ang="T11">
                    <a:pos x="T2" y="T3"/>
                  </a:cxn>
                  <a:cxn ang="T12">
                    <a:pos x="T4" y="T5"/>
                  </a:cxn>
                  <a:cxn ang="T13">
                    <a:pos x="T6" y="T7"/>
                  </a:cxn>
                  <a:cxn ang="T14">
                    <a:pos x="T8" y="T9"/>
                  </a:cxn>
                </a:cxnLst>
                <a:rect l="T15" t="T16" r="T17" b="T18"/>
                <a:pathLst>
                  <a:path w="108" h="167">
                    <a:moveTo>
                      <a:pt x="107" y="0"/>
                    </a:moveTo>
                    <a:lnTo>
                      <a:pt x="0" y="75"/>
                    </a:lnTo>
                    <a:lnTo>
                      <a:pt x="0" y="166"/>
                    </a:lnTo>
                    <a:lnTo>
                      <a:pt x="107" y="79"/>
                    </a:lnTo>
                    <a:lnTo>
                      <a:pt x="107" y="0"/>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10344" name="Freeform 329"/>
              <p:cNvSpPr/>
              <p:nvPr/>
            </p:nvSpPr>
            <p:spPr bwMode="auto">
              <a:xfrm>
                <a:off x="1475" y="2988"/>
                <a:ext cx="115" cy="175"/>
              </a:xfrm>
              <a:custGeom>
                <a:avLst/>
                <a:gdLst>
                  <a:gd name="T0" fmla="*/ 114 w 115"/>
                  <a:gd name="T1" fmla="*/ 0 h 175"/>
                  <a:gd name="T2" fmla="*/ 0 w 115"/>
                  <a:gd name="T3" fmla="*/ 80 h 175"/>
                  <a:gd name="T4" fmla="*/ 0 w 115"/>
                  <a:gd name="T5" fmla="*/ 174 h 175"/>
                  <a:gd name="T6" fmla="*/ 114 w 115"/>
                  <a:gd name="T7" fmla="*/ 84 h 175"/>
                  <a:gd name="T8" fmla="*/ 114 w 115"/>
                  <a:gd name="T9" fmla="*/ 0 h 175"/>
                  <a:gd name="T10" fmla="*/ 0 60000 65536"/>
                  <a:gd name="T11" fmla="*/ 0 60000 65536"/>
                  <a:gd name="T12" fmla="*/ 0 60000 65536"/>
                  <a:gd name="T13" fmla="*/ 0 60000 65536"/>
                  <a:gd name="T14" fmla="*/ 0 60000 65536"/>
                  <a:gd name="T15" fmla="*/ 0 w 115"/>
                  <a:gd name="T16" fmla="*/ 0 h 175"/>
                  <a:gd name="T17" fmla="*/ 115 w 115"/>
                  <a:gd name="T18" fmla="*/ 175 h 175"/>
                </a:gdLst>
                <a:ahLst/>
                <a:cxnLst>
                  <a:cxn ang="T10">
                    <a:pos x="T0" y="T1"/>
                  </a:cxn>
                  <a:cxn ang="T11">
                    <a:pos x="T2" y="T3"/>
                  </a:cxn>
                  <a:cxn ang="T12">
                    <a:pos x="T4" y="T5"/>
                  </a:cxn>
                  <a:cxn ang="T13">
                    <a:pos x="T6" y="T7"/>
                  </a:cxn>
                  <a:cxn ang="T14">
                    <a:pos x="T8" y="T9"/>
                  </a:cxn>
                </a:cxnLst>
                <a:rect l="T15" t="T16" r="T17" b="T18"/>
                <a:pathLst>
                  <a:path w="115" h="175">
                    <a:moveTo>
                      <a:pt x="114" y="0"/>
                    </a:moveTo>
                    <a:lnTo>
                      <a:pt x="0" y="80"/>
                    </a:lnTo>
                    <a:lnTo>
                      <a:pt x="0" y="174"/>
                    </a:lnTo>
                    <a:lnTo>
                      <a:pt x="114" y="84"/>
                    </a:lnTo>
                    <a:lnTo>
                      <a:pt x="114" y="0"/>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grpSp>
        <p:nvGrpSpPr>
          <p:cNvPr id="248842" name="Group 330"/>
          <p:cNvGrpSpPr/>
          <p:nvPr/>
        </p:nvGrpSpPr>
        <p:grpSpPr bwMode="auto">
          <a:xfrm>
            <a:off x="790575" y="3449661"/>
            <a:ext cx="6847851" cy="927239"/>
            <a:chOff x="312" y="2073"/>
            <a:chExt cx="3834" cy="586"/>
          </a:xfrm>
        </p:grpSpPr>
        <p:grpSp>
          <p:nvGrpSpPr>
            <p:cNvPr id="248845" name="Group 331"/>
            <p:cNvGrpSpPr/>
            <p:nvPr/>
          </p:nvGrpSpPr>
          <p:grpSpPr bwMode="auto">
            <a:xfrm>
              <a:off x="312" y="2073"/>
              <a:ext cx="305" cy="255"/>
              <a:chOff x="312" y="2073"/>
              <a:chExt cx="305" cy="255"/>
            </a:xfrm>
          </p:grpSpPr>
          <p:grpSp>
            <p:nvGrpSpPr>
              <p:cNvPr id="248846" name="Group 332"/>
              <p:cNvGrpSpPr/>
              <p:nvPr/>
            </p:nvGrpSpPr>
            <p:grpSpPr bwMode="auto">
              <a:xfrm>
                <a:off x="312" y="2073"/>
                <a:ext cx="305" cy="255"/>
                <a:chOff x="312" y="2073"/>
                <a:chExt cx="305" cy="255"/>
              </a:xfrm>
            </p:grpSpPr>
            <p:sp>
              <p:nvSpPr>
                <p:cNvPr id="10322" name="Freeform 333"/>
                <p:cNvSpPr/>
                <p:nvPr/>
              </p:nvSpPr>
              <p:spPr bwMode="auto">
                <a:xfrm>
                  <a:off x="416" y="2242"/>
                  <a:ext cx="147" cy="31"/>
                </a:xfrm>
                <a:custGeom>
                  <a:avLst/>
                  <a:gdLst>
                    <a:gd name="T0" fmla="*/ 0 w 147"/>
                    <a:gd name="T1" fmla="*/ 30 h 31"/>
                    <a:gd name="T2" fmla="*/ 109 w 147"/>
                    <a:gd name="T3" fmla="*/ 30 h 31"/>
                    <a:gd name="T4" fmla="*/ 146 w 147"/>
                    <a:gd name="T5" fmla="*/ 0 h 31"/>
                    <a:gd name="T6" fmla="*/ 34 w 147"/>
                    <a:gd name="T7" fmla="*/ 0 h 31"/>
                    <a:gd name="T8" fmla="*/ 0 w 147"/>
                    <a:gd name="T9" fmla="*/ 30 h 31"/>
                    <a:gd name="T10" fmla="*/ 0 60000 65536"/>
                    <a:gd name="T11" fmla="*/ 0 60000 65536"/>
                    <a:gd name="T12" fmla="*/ 0 60000 65536"/>
                    <a:gd name="T13" fmla="*/ 0 60000 65536"/>
                    <a:gd name="T14" fmla="*/ 0 60000 65536"/>
                    <a:gd name="T15" fmla="*/ 0 w 147"/>
                    <a:gd name="T16" fmla="*/ 0 h 31"/>
                    <a:gd name="T17" fmla="*/ 147 w 147"/>
                    <a:gd name="T18" fmla="*/ 31 h 31"/>
                  </a:gdLst>
                  <a:ahLst/>
                  <a:cxnLst>
                    <a:cxn ang="T10">
                      <a:pos x="T0" y="T1"/>
                    </a:cxn>
                    <a:cxn ang="T11">
                      <a:pos x="T2" y="T3"/>
                    </a:cxn>
                    <a:cxn ang="T12">
                      <a:pos x="T4" y="T5"/>
                    </a:cxn>
                    <a:cxn ang="T13">
                      <a:pos x="T6" y="T7"/>
                    </a:cxn>
                    <a:cxn ang="T14">
                      <a:pos x="T8" y="T9"/>
                    </a:cxn>
                  </a:cxnLst>
                  <a:rect l="T15" t="T16" r="T17" b="T18"/>
                  <a:pathLst>
                    <a:path w="147" h="31">
                      <a:moveTo>
                        <a:pt x="0" y="30"/>
                      </a:moveTo>
                      <a:lnTo>
                        <a:pt x="109" y="30"/>
                      </a:lnTo>
                      <a:lnTo>
                        <a:pt x="146" y="0"/>
                      </a:lnTo>
                      <a:lnTo>
                        <a:pt x="34" y="0"/>
                      </a:lnTo>
                      <a:lnTo>
                        <a:pt x="0" y="30"/>
                      </a:lnTo>
                    </a:path>
                  </a:pathLst>
                </a:custGeom>
                <a:solidFill>
                  <a:srgbClr val="DADADA"/>
                </a:solidFill>
                <a:ln w="9525" cap="rnd">
                  <a:noFill/>
                  <a:round/>
                </a:ln>
              </p:spPr>
              <p:txBody>
                <a:bodyPr wrap="none" lIns="98624" tIns="49313" rIns="98624" bIns="49313">
                  <a:spAutoFit/>
                </a:bodyPr>
                <a:lstStyle/>
                <a:p>
                  <a:endParaRPr lang="zh-CN" altLang="en-US"/>
                </a:p>
              </p:txBody>
            </p:sp>
            <p:sp>
              <p:nvSpPr>
                <p:cNvPr id="10323" name="Freeform 334"/>
                <p:cNvSpPr/>
                <p:nvPr/>
              </p:nvSpPr>
              <p:spPr bwMode="auto">
                <a:xfrm>
                  <a:off x="460" y="2248"/>
                  <a:ext cx="52" cy="17"/>
                </a:xfrm>
                <a:custGeom>
                  <a:avLst/>
                  <a:gdLst>
                    <a:gd name="T0" fmla="*/ 0 w 52"/>
                    <a:gd name="T1" fmla="*/ 16 h 17"/>
                    <a:gd name="T2" fmla="*/ 51 w 52"/>
                    <a:gd name="T3" fmla="*/ 16 h 17"/>
                    <a:gd name="T4" fmla="*/ 51 w 52"/>
                    <a:gd name="T5" fmla="*/ 0 h 17"/>
                    <a:gd name="T6" fmla="*/ 0 w 52"/>
                    <a:gd name="T7" fmla="*/ 0 h 17"/>
                    <a:gd name="T8" fmla="*/ 0 w 52"/>
                    <a:gd name="T9" fmla="*/ 16 h 17"/>
                    <a:gd name="T10" fmla="*/ 0 60000 65536"/>
                    <a:gd name="T11" fmla="*/ 0 60000 65536"/>
                    <a:gd name="T12" fmla="*/ 0 60000 65536"/>
                    <a:gd name="T13" fmla="*/ 0 60000 65536"/>
                    <a:gd name="T14" fmla="*/ 0 60000 65536"/>
                    <a:gd name="T15" fmla="*/ 0 w 52"/>
                    <a:gd name="T16" fmla="*/ 0 h 17"/>
                    <a:gd name="T17" fmla="*/ 52 w 52"/>
                    <a:gd name="T18" fmla="*/ 17 h 17"/>
                  </a:gdLst>
                  <a:ahLst/>
                  <a:cxnLst>
                    <a:cxn ang="T10">
                      <a:pos x="T0" y="T1"/>
                    </a:cxn>
                    <a:cxn ang="T11">
                      <a:pos x="T2" y="T3"/>
                    </a:cxn>
                    <a:cxn ang="T12">
                      <a:pos x="T4" y="T5"/>
                    </a:cxn>
                    <a:cxn ang="T13">
                      <a:pos x="T6" y="T7"/>
                    </a:cxn>
                    <a:cxn ang="T14">
                      <a:pos x="T8" y="T9"/>
                    </a:cxn>
                  </a:cxnLst>
                  <a:rect l="T15" t="T16" r="T17" b="T18"/>
                  <a:pathLst>
                    <a:path w="52" h="17">
                      <a:moveTo>
                        <a:pt x="0" y="16"/>
                      </a:moveTo>
                      <a:lnTo>
                        <a:pt x="51" y="16"/>
                      </a:lnTo>
                      <a:lnTo>
                        <a:pt x="51" y="0"/>
                      </a:lnTo>
                      <a:lnTo>
                        <a:pt x="0" y="0"/>
                      </a:lnTo>
                      <a:lnTo>
                        <a:pt x="0" y="16"/>
                      </a:lnTo>
                    </a:path>
                  </a:pathLst>
                </a:custGeom>
                <a:solidFill>
                  <a:srgbClr val="9E9898"/>
                </a:solidFill>
                <a:ln w="9525" cap="rnd">
                  <a:noFill/>
                  <a:round/>
                </a:ln>
              </p:spPr>
              <p:txBody>
                <a:bodyPr wrap="none" lIns="98624" tIns="49313" rIns="98624" bIns="49313">
                  <a:spAutoFit/>
                </a:bodyPr>
                <a:lstStyle/>
                <a:p>
                  <a:endParaRPr lang="zh-CN" altLang="en-US"/>
                </a:p>
              </p:txBody>
            </p:sp>
            <p:sp>
              <p:nvSpPr>
                <p:cNvPr id="10324" name="Freeform 335"/>
                <p:cNvSpPr/>
                <p:nvPr/>
              </p:nvSpPr>
              <p:spPr bwMode="auto">
                <a:xfrm>
                  <a:off x="527" y="2241"/>
                  <a:ext cx="48" cy="39"/>
                </a:xfrm>
                <a:custGeom>
                  <a:avLst/>
                  <a:gdLst>
                    <a:gd name="T0" fmla="*/ 47 w 48"/>
                    <a:gd name="T1" fmla="*/ 0 h 39"/>
                    <a:gd name="T2" fmla="*/ 37 w 48"/>
                    <a:gd name="T3" fmla="*/ 0 h 39"/>
                    <a:gd name="T4" fmla="*/ 0 w 48"/>
                    <a:gd name="T5" fmla="*/ 29 h 39"/>
                    <a:gd name="T6" fmla="*/ 0 w 48"/>
                    <a:gd name="T7" fmla="*/ 38 h 39"/>
                    <a:gd name="T8" fmla="*/ 47 w 48"/>
                    <a:gd name="T9" fmla="*/ 0 h 39"/>
                    <a:gd name="T10" fmla="*/ 0 60000 65536"/>
                    <a:gd name="T11" fmla="*/ 0 60000 65536"/>
                    <a:gd name="T12" fmla="*/ 0 60000 65536"/>
                    <a:gd name="T13" fmla="*/ 0 60000 65536"/>
                    <a:gd name="T14" fmla="*/ 0 60000 65536"/>
                    <a:gd name="T15" fmla="*/ 0 w 48"/>
                    <a:gd name="T16" fmla="*/ 0 h 39"/>
                    <a:gd name="T17" fmla="*/ 48 w 48"/>
                    <a:gd name="T18" fmla="*/ 39 h 39"/>
                  </a:gdLst>
                  <a:ahLst/>
                  <a:cxnLst>
                    <a:cxn ang="T10">
                      <a:pos x="T0" y="T1"/>
                    </a:cxn>
                    <a:cxn ang="T11">
                      <a:pos x="T2" y="T3"/>
                    </a:cxn>
                    <a:cxn ang="T12">
                      <a:pos x="T4" y="T5"/>
                    </a:cxn>
                    <a:cxn ang="T13">
                      <a:pos x="T6" y="T7"/>
                    </a:cxn>
                    <a:cxn ang="T14">
                      <a:pos x="T8" y="T9"/>
                    </a:cxn>
                  </a:cxnLst>
                  <a:rect l="T15" t="T16" r="T17" b="T18"/>
                  <a:pathLst>
                    <a:path w="48" h="39">
                      <a:moveTo>
                        <a:pt x="47" y="0"/>
                      </a:moveTo>
                      <a:lnTo>
                        <a:pt x="37" y="0"/>
                      </a:lnTo>
                      <a:lnTo>
                        <a:pt x="0" y="29"/>
                      </a:lnTo>
                      <a:lnTo>
                        <a:pt x="0" y="38"/>
                      </a:lnTo>
                      <a:lnTo>
                        <a:pt x="47" y="0"/>
                      </a:lnTo>
                    </a:path>
                  </a:pathLst>
                </a:custGeom>
                <a:solidFill>
                  <a:srgbClr val="6B645F"/>
                </a:solidFill>
                <a:ln w="9525" cap="rnd">
                  <a:noFill/>
                  <a:round/>
                </a:ln>
              </p:spPr>
              <p:txBody>
                <a:bodyPr wrap="none" lIns="98624" tIns="49313" rIns="98624" bIns="49313">
                  <a:spAutoFit/>
                </a:bodyPr>
                <a:lstStyle/>
                <a:p>
                  <a:endParaRPr lang="zh-CN" altLang="en-US"/>
                </a:p>
              </p:txBody>
            </p:sp>
            <p:sp>
              <p:nvSpPr>
                <p:cNvPr id="10325" name="Freeform 336"/>
                <p:cNvSpPr/>
                <p:nvPr/>
              </p:nvSpPr>
              <p:spPr bwMode="auto">
                <a:xfrm>
                  <a:off x="416" y="2272"/>
                  <a:ext cx="112" cy="17"/>
                </a:xfrm>
                <a:custGeom>
                  <a:avLst/>
                  <a:gdLst>
                    <a:gd name="T0" fmla="*/ 111 w 112"/>
                    <a:gd name="T1" fmla="*/ 16 h 17"/>
                    <a:gd name="T2" fmla="*/ 0 w 112"/>
                    <a:gd name="T3" fmla="*/ 16 h 17"/>
                    <a:gd name="T4" fmla="*/ 0 w 112"/>
                    <a:gd name="T5" fmla="*/ 0 h 17"/>
                    <a:gd name="T6" fmla="*/ 111 w 112"/>
                    <a:gd name="T7" fmla="*/ 0 h 17"/>
                    <a:gd name="T8" fmla="*/ 111 w 112"/>
                    <a:gd name="T9" fmla="*/ 16 h 17"/>
                    <a:gd name="T10" fmla="*/ 0 60000 65536"/>
                    <a:gd name="T11" fmla="*/ 0 60000 65536"/>
                    <a:gd name="T12" fmla="*/ 0 60000 65536"/>
                    <a:gd name="T13" fmla="*/ 0 60000 65536"/>
                    <a:gd name="T14" fmla="*/ 0 60000 65536"/>
                    <a:gd name="T15" fmla="*/ 0 w 112"/>
                    <a:gd name="T16" fmla="*/ 0 h 17"/>
                    <a:gd name="T17" fmla="*/ 112 w 112"/>
                    <a:gd name="T18" fmla="*/ 17 h 17"/>
                  </a:gdLst>
                  <a:ahLst/>
                  <a:cxnLst>
                    <a:cxn ang="T10">
                      <a:pos x="T0" y="T1"/>
                    </a:cxn>
                    <a:cxn ang="T11">
                      <a:pos x="T2" y="T3"/>
                    </a:cxn>
                    <a:cxn ang="T12">
                      <a:pos x="T4" y="T5"/>
                    </a:cxn>
                    <a:cxn ang="T13">
                      <a:pos x="T6" y="T7"/>
                    </a:cxn>
                    <a:cxn ang="T14">
                      <a:pos x="T8" y="T9"/>
                    </a:cxn>
                  </a:cxnLst>
                  <a:rect l="T15" t="T16" r="T17" b="T18"/>
                  <a:pathLst>
                    <a:path w="112" h="17">
                      <a:moveTo>
                        <a:pt x="111" y="16"/>
                      </a:moveTo>
                      <a:lnTo>
                        <a:pt x="0" y="16"/>
                      </a:lnTo>
                      <a:lnTo>
                        <a:pt x="0" y="0"/>
                      </a:lnTo>
                      <a:lnTo>
                        <a:pt x="111" y="0"/>
                      </a:lnTo>
                      <a:lnTo>
                        <a:pt x="111" y="16"/>
                      </a:lnTo>
                    </a:path>
                  </a:pathLst>
                </a:custGeom>
                <a:solidFill>
                  <a:srgbClr val="9E9898"/>
                </a:solidFill>
                <a:ln w="9525" cap="rnd">
                  <a:noFill/>
                  <a:round/>
                </a:ln>
              </p:spPr>
              <p:txBody>
                <a:bodyPr wrap="none" lIns="98624" tIns="49313" rIns="98624" bIns="49313">
                  <a:spAutoFit/>
                </a:bodyPr>
                <a:lstStyle/>
                <a:p>
                  <a:endParaRPr lang="zh-CN" altLang="en-US"/>
                </a:p>
              </p:txBody>
            </p:sp>
            <p:sp>
              <p:nvSpPr>
                <p:cNvPr id="10326" name="Freeform 337"/>
                <p:cNvSpPr/>
                <p:nvPr/>
              </p:nvSpPr>
              <p:spPr bwMode="auto">
                <a:xfrm>
                  <a:off x="459" y="2243"/>
                  <a:ext cx="76" cy="21"/>
                </a:xfrm>
                <a:custGeom>
                  <a:avLst/>
                  <a:gdLst>
                    <a:gd name="T0" fmla="*/ 0 w 76"/>
                    <a:gd name="T1" fmla="*/ 0 h 21"/>
                    <a:gd name="T2" fmla="*/ 0 w 76"/>
                    <a:gd name="T3" fmla="*/ 5 h 21"/>
                    <a:gd name="T4" fmla="*/ 52 w 76"/>
                    <a:gd name="T5" fmla="*/ 5 h 21"/>
                    <a:gd name="T6" fmla="*/ 52 w 76"/>
                    <a:gd name="T7" fmla="*/ 20 h 21"/>
                    <a:gd name="T8" fmla="*/ 75 w 76"/>
                    <a:gd name="T9" fmla="*/ 0 h 21"/>
                    <a:gd name="T10" fmla="*/ 0 w 76"/>
                    <a:gd name="T11" fmla="*/ 0 h 21"/>
                    <a:gd name="T12" fmla="*/ 0 60000 65536"/>
                    <a:gd name="T13" fmla="*/ 0 60000 65536"/>
                    <a:gd name="T14" fmla="*/ 0 60000 65536"/>
                    <a:gd name="T15" fmla="*/ 0 60000 65536"/>
                    <a:gd name="T16" fmla="*/ 0 60000 65536"/>
                    <a:gd name="T17" fmla="*/ 0 60000 65536"/>
                    <a:gd name="T18" fmla="*/ 0 w 76"/>
                    <a:gd name="T19" fmla="*/ 0 h 21"/>
                    <a:gd name="T20" fmla="*/ 76 w 76"/>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76" h="21">
                      <a:moveTo>
                        <a:pt x="0" y="0"/>
                      </a:moveTo>
                      <a:lnTo>
                        <a:pt x="0" y="5"/>
                      </a:lnTo>
                      <a:lnTo>
                        <a:pt x="52" y="5"/>
                      </a:lnTo>
                      <a:lnTo>
                        <a:pt x="52" y="20"/>
                      </a:lnTo>
                      <a:lnTo>
                        <a:pt x="75" y="0"/>
                      </a:lnTo>
                      <a:lnTo>
                        <a:pt x="0" y="0"/>
                      </a:lnTo>
                    </a:path>
                  </a:pathLst>
                </a:custGeom>
                <a:solidFill>
                  <a:srgbClr val="6B645F"/>
                </a:solidFill>
                <a:ln w="9525" cap="rnd">
                  <a:noFill/>
                  <a:round/>
                </a:ln>
              </p:spPr>
              <p:txBody>
                <a:bodyPr wrap="none" lIns="98624" tIns="49313" rIns="98624" bIns="49313">
                  <a:spAutoFit/>
                </a:bodyPr>
                <a:lstStyle/>
                <a:p>
                  <a:endParaRPr lang="zh-CN" altLang="en-US"/>
                </a:p>
              </p:txBody>
            </p:sp>
            <p:sp>
              <p:nvSpPr>
                <p:cNvPr id="10327" name="Freeform 338"/>
                <p:cNvSpPr/>
                <p:nvPr/>
              </p:nvSpPr>
              <p:spPr bwMode="auto">
                <a:xfrm>
                  <a:off x="576" y="2287"/>
                  <a:ext cx="30" cy="37"/>
                </a:xfrm>
                <a:custGeom>
                  <a:avLst/>
                  <a:gdLst>
                    <a:gd name="T0" fmla="*/ 0 w 30"/>
                    <a:gd name="T1" fmla="*/ 36 h 37"/>
                    <a:gd name="T2" fmla="*/ 0 w 30"/>
                    <a:gd name="T3" fmla="*/ 23 h 37"/>
                    <a:gd name="T4" fmla="*/ 29 w 30"/>
                    <a:gd name="T5" fmla="*/ 0 h 37"/>
                    <a:gd name="T6" fmla="*/ 29 w 30"/>
                    <a:gd name="T7" fmla="*/ 12 h 37"/>
                    <a:gd name="T8" fmla="*/ 0 w 30"/>
                    <a:gd name="T9" fmla="*/ 36 h 37"/>
                    <a:gd name="T10" fmla="*/ 0 60000 65536"/>
                    <a:gd name="T11" fmla="*/ 0 60000 65536"/>
                    <a:gd name="T12" fmla="*/ 0 60000 65536"/>
                    <a:gd name="T13" fmla="*/ 0 60000 65536"/>
                    <a:gd name="T14" fmla="*/ 0 60000 65536"/>
                    <a:gd name="T15" fmla="*/ 0 w 30"/>
                    <a:gd name="T16" fmla="*/ 0 h 37"/>
                    <a:gd name="T17" fmla="*/ 30 w 30"/>
                    <a:gd name="T18" fmla="*/ 37 h 37"/>
                  </a:gdLst>
                  <a:ahLst/>
                  <a:cxnLst>
                    <a:cxn ang="T10">
                      <a:pos x="T0" y="T1"/>
                    </a:cxn>
                    <a:cxn ang="T11">
                      <a:pos x="T2" y="T3"/>
                    </a:cxn>
                    <a:cxn ang="T12">
                      <a:pos x="T4" y="T5"/>
                    </a:cxn>
                    <a:cxn ang="T13">
                      <a:pos x="T6" y="T7"/>
                    </a:cxn>
                    <a:cxn ang="T14">
                      <a:pos x="T8" y="T9"/>
                    </a:cxn>
                  </a:cxnLst>
                  <a:rect l="T15" t="T16" r="T17" b="T18"/>
                  <a:pathLst>
                    <a:path w="30" h="37">
                      <a:moveTo>
                        <a:pt x="0" y="36"/>
                      </a:moveTo>
                      <a:lnTo>
                        <a:pt x="0" y="23"/>
                      </a:lnTo>
                      <a:lnTo>
                        <a:pt x="29" y="0"/>
                      </a:lnTo>
                      <a:lnTo>
                        <a:pt x="29" y="12"/>
                      </a:lnTo>
                      <a:lnTo>
                        <a:pt x="0" y="36"/>
                      </a:lnTo>
                    </a:path>
                  </a:pathLst>
                </a:custGeom>
                <a:solidFill>
                  <a:srgbClr val="6B645F"/>
                </a:solidFill>
                <a:ln w="9525" cap="rnd">
                  <a:noFill/>
                  <a:round/>
                </a:ln>
              </p:spPr>
              <p:txBody>
                <a:bodyPr wrap="none" lIns="98624" tIns="49313" rIns="98624" bIns="49313">
                  <a:spAutoFit/>
                </a:bodyPr>
                <a:lstStyle/>
                <a:p>
                  <a:endParaRPr lang="zh-CN" altLang="en-US"/>
                </a:p>
              </p:txBody>
            </p:sp>
            <p:sp>
              <p:nvSpPr>
                <p:cNvPr id="10328" name="Freeform 339"/>
                <p:cNvSpPr/>
                <p:nvPr/>
              </p:nvSpPr>
              <p:spPr bwMode="auto">
                <a:xfrm>
                  <a:off x="593" y="2073"/>
                  <a:ext cx="24" cy="173"/>
                </a:xfrm>
                <a:custGeom>
                  <a:avLst/>
                  <a:gdLst>
                    <a:gd name="T0" fmla="*/ 0 w 24"/>
                    <a:gd name="T1" fmla="*/ 20 h 173"/>
                    <a:gd name="T2" fmla="*/ 23 w 24"/>
                    <a:gd name="T3" fmla="*/ 0 h 173"/>
                    <a:gd name="T4" fmla="*/ 23 w 24"/>
                    <a:gd name="T5" fmla="*/ 151 h 173"/>
                    <a:gd name="T6" fmla="*/ 0 w 24"/>
                    <a:gd name="T7" fmla="*/ 172 h 173"/>
                    <a:gd name="T8" fmla="*/ 0 w 24"/>
                    <a:gd name="T9" fmla="*/ 20 h 173"/>
                    <a:gd name="T10" fmla="*/ 0 60000 65536"/>
                    <a:gd name="T11" fmla="*/ 0 60000 65536"/>
                    <a:gd name="T12" fmla="*/ 0 60000 65536"/>
                    <a:gd name="T13" fmla="*/ 0 60000 65536"/>
                    <a:gd name="T14" fmla="*/ 0 60000 65536"/>
                    <a:gd name="T15" fmla="*/ 0 w 24"/>
                    <a:gd name="T16" fmla="*/ 0 h 173"/>
                    <a:gd name="T17" fmla="*/ 24 w 24"/>
                    <a:gd name="T18" fmla="*/ 173 h 173"/>
                  </a:gdLst>
                  <a:ahLst/>
                  <a:cxnLst>
                    <a:cxn ang="T10">
                      <a:pos x="T0" y="T1"/>
                    </a:cxn>
                    <a:cxn ang="T11">
                      <a:pos x="T2" y="T3"/>
                    </a:cxn>
                    <a:cxn ang="T12">
                      <a:pos x="T4" y="T5"/>
                    </a:cxn>
                    <a:cxn ang="T13">
                      <a:pos x="T6" y="T7"/>
                    </a:cxn>
                    <a:cxn ang="T14">
                      <a:pos x="T8" y="T9"/>
                    </a:cxn>
                  </a:cxnLst>
                  <a:rect l="T15" t="T16" r="T17" b="T18"/>
                  <a:pathLst>
                    <a:path w="24" h="173">
                      <a:moveTo>
                        <a:pt x="0" y="20"/>
                      </a:moveTo>
                      <a:lnTo>
                        <a:pt x="23" y="0"/>
                      </a:lnTo>
                      <a:lnTo>
                        <a:pt x="23" y="151"/>
                      </a:lnTo>
                      <a:lnTo>
                        <a:pt x="0" y="172"/>
                      </a:lnTo>
                      <a:lnTo>
                        <a:pt x="0" y="20"/>
                      </a:lnTo>
                    </a:path>
                  </a:pathLst>
                </a:custGeom>
                <a:solidFill>
                  <a:srgbClr val="6B645F"/>
                </a:solidFill>
                <a:ln w="9525" cap="rnd">
                  <a:noFill/>
                  <a:round/>
                </a:ln>
              </p:spPr>
              <p:txBody>
                <a:bodyPr wrap="none" lIns="98624" tIns="49313" rIns="98624" bIns="49313">
                  <a:spAutoFit/>
                </a:bodyPr>
                <a:lstStyle/>
                <a:p>
                  <a:endParaRPr lang="zh-CN" altLang="en-US"/>
                </a:p>
              </p:txBody>
            </p:sp>
            <p:sp>
              <p:nvSpPr>
                <p:cNvPr id="10329" name="Freeform 340"/>
                <p:cNvSpPr/>
                <p:nvPr/>
              </p:nvSpPr>
              <p:spPr bwMode="auto">
                <a:xfrm>
                  <a:off x="374" y="2074"/>
                  <a:ext cx="242" cy="20"/>
                </a:xfrm>
                <a:custGeom>
                  <a:avLst/>
                  <a:gdLst>
                    <a:gd name="T0" fmla="*/ 0 w 242"/>
                    <a:gd name="T1" fmla="*/ 19 h 20"/>
                    <a:gd name="T2" fmla="*/ 24 w 242"/>
                    <a:gd name="T3" fmla="*/ 0 h 20"/>
                    <a:gd name="T4" fmla="*/ 241 w 242"/>
                    <a:gd name="T5" fmla="*/ 0 h 20"/>
                    <a:gd name="T6" fmla="*/ 216 w 242"/>
                    <a:gd name="T7" fmla="*/ 19 h 20"/>
                    <a:gd name="T8" fmla="*/ 0 w 242"/>
                    <a:gd name="T9" fmla="*/ 19 h 20"/>
                    <a:gd name="T10" fmla="*/ 0 60000 65536"/>
                    <a:gd name="T11" fmla="*/ 0 60000 65536"/>
                    <a:gd name="T12" fmla="*/ 0 60000 65536"/>
                    <a:gd name="T13" fmla="*/ 0 60000 65536"/>
                    <a:gd name="T14" fmla="*/ 0 60000 65536"/>
                    <a:gd name="T15" fmla="*/ 0 w 242"/>
                    <a:gd name="T16" fmla="*/ 0 h 20"/>
                    <a:gd name="T17" fmla="*/ 242 w 242"/>
                    <a:gd name="T18" fmla="*/ 20 h 20"/>
                  </a:gdLst>
                  <a:ahLst/>
                  <a:cxnLst>
                    <a:cxn ang="T10">
                      <a:pos x="T0" y="T1"/>
                    </a:cxn>
                    <a:cxn ang="T11">
                      <a:pos x="T2" y="T3"/>
                    </a:cxn>
                    <a:cxn ang="T12">
                      <a:pos x="T4" y="T5"/>
                    </a:cxn>
                    <a:cxn ang="T13">
                      <a:pos x="T6" y="T7"/>
                    </a:cxn>
                    <a:cxn ang="T14">
                      <a:pos x="T8" y="T9"/>
                    </a:cxn>
                  </a:cxnLst>
                  <a:rect l="T15" t="T16" r="T17" b="T18"/>
                  <a:pathLst>
                    <a:path w="242" h="20">
                      <a:moveTo>
                        <a:pt x="0" y="19"/>
                      </a:moveTo>
                      <a:lnTo>
                        <a:pt x="24" y="0"/>
                      </a:lnTo>
                      <a:lnTo>
                        <a:pt x="241" y="0"/>
                      </a:lnTo>
                      <a:lnTo>
                        <a:pt x="216" y="19"/>
                      </a:lnTo>
                      <a:lnTo>
                        <a:pt x="0" y="19"/>
                      </a:lnTo>
                    </a:path>
                  </a:pathLst>
                </a:custGeom>
                <a:solidFill>
                  <a:srgbClr val="DADADA"/>
                </a:solidFill>
                <a:ln w="9525" cap="rnd">
                  <a:noFill/>
                  <a:round/>
                </a:ln>
              </p:spPr>
              <p:txBody>
                <a:bodyPr wrap="none" lIns="98624" tIns="49313" rIns="98624" bIns="49313">
                  <a:spAutoFit/>
                </a:bodyPr>
                <a:lstStyle/>
                <a:p>
                  <a:endParaRPr lang="zh-CN" altLang="en-US"/>
                </a:p>
              </p:txBody>
            </p:sp>
            <p:sp>
              <p:nvSpPr>
                <p:cNvPr id="10330" name="Freeform 341"/>
                <p:cNvSpPr/>
                <p:nvPr/>
              </p:nvSpPr>
              <p:spPr bwMode="auto">
                <a:xfrm>
                  <a:off x="313" y="2311"/>
                  <a:ext cx="264" cy="17"/>
                </a:xfrm>
                <a:custGeom>
                  <a:avLst/>
                  <a:gdLst>
                    <a:gd name="T0" fmla="*/ 263 w 264"/>
                    <a:gd name="T1" fmla="*/ 16 h 17"/>
                    <a:gd name="T2" fmla="*/ 0 w 264"/>
                    <a:gd name="T3" fmla="*/ 16 h 17"/>
                    <a:gd name="T4" fmla="*/ 0 w 264"/>
                    <a:gd name="T5" fmla="*/ 0 h 17"/>
                    <a:gd name="T6" fmla="*/ 263 w 264"/>
                    <a:gd name="T7" fmla="*/ 0 h 17"/>
                    <a:gd name="T8" fmla="*/ 263 w 264"/>
                    <a:gd name="T9" fmla="*/ 16 h 17"/>
                    <a:gd name="T10" fmla="*/ 0 60000 65536"/>
                    <a:gd name="T11" fmla="*/ 0 60000 65536"/>
                    <a:gd name="T12" fmla="*/ 0 60000 65536"/>
                    <a:gd name="T13" fmla="*/ 0 60000 65536"/>
                    <a:gd name="T14" fmla="*/ 0 60000 65536"/>
                    <a:gd name="T15" fmla="*/ 0 w 264"/>
                    <a:gd name="T16" fmla="*/ 0 h 17"/>
                    <a:gd name="T17" fmla="*/ 264 w 264"/>
                    <a:gd name="T18" fmla="*/ 17 h 17"/>
                  </a:gdLst>
                  <a:ahLst/>
                  <a:cxnLst>
                    <a:cxn ang="T10">
                      <a:pos x="T0" y="T1"/>
                    </a:cxn>
                    <a:cxn ang="T11">
                      <a:pos x="T2" y="T3"/>
                    </a:cxn>
                    <a:cxn ang="T12">
                      <a:pos x="T4" y="T5"/>
                    </a:cxn>
                    <a:cxn ang="T13">
                      <a:pos x="T6" y="T7"/>
                    </a:cxn>
                    <a:cxn ang="T14">
                      <a:pos x="T8" y="T9"/>
                    </a:cxn>
                  </a:cxnLst>
                  <a:rect l="T15" t="T16" r="T17" b="T18"/>
                  <a:pathLst>
                    <a:path w="264" h="17">
                      <a:moveTo>
                        <a:pt x="263" y="16"/>
                      </a:moveTo>
                      <a:lnTo>
                        <a:pt x="0" y="16"/>
                      </a:lnTo>
                      <a:lnTo>
                        <a:pt x="0" y="0"/>
                      </a:lnTo>
                      <a:lnTo>
                        <a:pt x="263" y="0"/>
                      </a:lnTo>
                      <a:lnTo>
                        <a:pt x="263" y="16"/>
                      </a:lnTo>
                    </a:path>
                  </a:pathLst>
                </a:custGeom>
                <a:solidFill>
                  <a:srgbClr val="9E9898"/>
                </a:solidFill>
                <a:ln w="9525" cap="rnd">
                  <a:noFill/>
                  <a:round/>
                </a:ln>
              </p:spPr>
              <p:txBody>
                <a:bodyPr wrap="none" lIns="98624" tIns="49313" rIns="98624" bIns="49313">
                  <a:spAutoFit/>
                </a:bodyPr>
                <a:lstStyle/>
                <a:p>
                  <a:endParaRPr lang="zh-CN" altLang="en-US"/>
                </a:p>
              </p:txBody>
            </p:sp>
            <p:sp>
              <p:nvSpPr>
                <p:cNvPr id="10331" name="Freeform 342"/>
                <p:cNvSpPr/>
                <p:nvPr/>
              </p:nvSpPr>
              <p:spPr bwMode="auto">
                <a:xfrm>
                  <a:off x="312" y="2287"/>
                  <a:ext cx="294" cy="25"/>
                </a:xfrm>
                <a:custGeom>
                  <a:avLst/>
                  <a:gdLst>
                    <a:gd name="T0" fmla="*/ 293 w 294"/>
                    <a:gd name="T1" fmla="*/ 0 h 25"/>
                    <a:gd name="T2" fmla="*/ 264 w 294"/>
                    <a:gd name="T3" fmla="*/ 24 h 25"/>
                    <a:gd name="T4" fmla="*/ 0 w 294"/>
                    <a:gd name="T5" fmla="*/ 24 h 25"/>
                    <a:gd name="T6" fmla="*/ 27 w 294"/>
                    <a:gd name="T7" fmla="*/ 0 h 25"/>
                    <a:gd name="T8" fmla="*/ 293 w 294"/>
                    <a:gd name="T9" fmla="*/ 0 h 25"/>
                    <a:gd name="T10" fmla="*/ 0 60000 65536"/>
                    <a:gd name="T11" fmla="*/ 0 60000 65536"/>
                    <a:gd name="T12" fmla="*/ 0 60000 65536"/>
                    <a:gd name="T13" fmla="*/ 0 60000 65536"/>
                    <a:gd name="T14" fmla="*/ 0 60000 65536"/>
                    <a:gd name="T15" fmla="*/ 0 w 294"/>
                    <a:gd name="T16" fmla="*/ 0 h 25"/>
                    <a:gd name="T17" fmla="*/ 294 w 294"/>
                    <a:gd name="T18" fmla="*/ 25 h 25"/>
                  </a:gdLst>
                  <a:ahLst/>
                  <a:cxnLst>
                    <a:cxn ang="T10">
                      <a:pos x="T0" y="T1"/>
                    </a:cxn>
                    <a:cxn ang="T11">
                      <a:pos x="T2" y="T3"/>
                    </a:cxn>
                    <a:cxn ang="T12">
                      <a:pos x="T4" y="T5"/>
                    </a:cxn>
                    <a:cxn ang="T13">
                      <a:pos x="T6" y="T7"/>
                    </a:cxn>
                    <a:cxn ang="T14">
                      <a:pos x="T8" y="T9"/>
                    </a:cxn>
                  </a:cxnLst>
                  <a:rect l="T15" t="T16" r="T17" b="T18"/>
                  <a:pathLst>
                    <a:path w="294" h="25">
                      <a:moveTo>
                        <a:pt x="293" y="0"/>
                      </a:moveTo>
                      <a:lnTo>
                        <a:pt x="264" y="24"/>
                      </a:lnTo>
                      <a:lnTo>
                        <a:pt x="0" y="24"/>
                      </a:lnTo>
                      <a:lnTo>
                        <a:pt x="27" y="0"/>
                      </a:lnTo>
                      <a:lnTo>
                        <a:pt x="293" y="0"/>
                      </a:lnTo>
                    </a:path>
                  </a:pathLst>
                </a:custGeom>
                <a:solidFill>
                  <a:srgbClr val="DADADA"/>
                </a:solidFill>
                <a:ln w="9525" cap="rnd">
                  <a:noFill/>
                  <a:round/>
                </a:ln>
              </p:spPr>
              <p:txBody>
                <a:bodyPr wrap="none" lIns="98624" tIns="49313" rIns="98624" bIns="49313">
                  <a:spAutoFit/>
                </a:bodyPr>
                <a:lstStyle/>
                <a:p>
                  <a:endParaRPr lang="zh-CN" altLang="en-US"/>
                </a:p>
              </p:txBody>
            </p:sp>
            <p:grpSp>
              <p:nvGrpSpPr>
                <p:cNvPr id="248851" name="Group 343"/>
                <p:cNvGrpSpPr/>
                <p:nvPr/>
              </p:nvGrpSpPr>
              <p:grpSpPr bwMode="auto">
                <a:xfrm>
                  <a:off x="328" y="2292"/>
                  <a:ext cx="260" cy="14"/>
                  <a:chOff x="328" y="2292"/>
                  <a:chExt cx="260" cy="14"/>
                </a:xfrm>
              </p:grpSpPr>
              <p:sp>
                <p:nvSpPr>
                  <p:cNvPr id="10336" name="Line 344"/>
                  <p:cNvSpPr>
                    <a:spLocks noChangeShapeType="1"/>
                  </p:cNvSpPr>
                  <p:nvPr/>
                </p:nvSpPr>
                <p:spPr bwMode="auto">
                  <a:xfrm>
                    <a:off x="348" y="2292"/>
                    <a:ext cx="240" cy="0"/>
                  </a:xfrm>
                  <a:prstGeom prst="line">
                    <a:avLst/>
                  </a:prstGeom>
                  <a:noFill/>
                  <a:ln w="12699">
                    <a:solidFill>
                      <a:srgbClr val="6B645F"/>
                    </a:solidFill>
                    <a:round/>
                    <a:headEnd type="none" w="sm" len="sm"/>
                    <a:tailEnd type="none" w="sm" len="sm"/>
                  </a:ln>
                </p:spPr>
                <p:txBody>
                  <a:bodyPr wrap="none" lIns="98624" tIns="49313" rIns="98624" bIns="49313">
                    <a:spAutoFit/>
                  </a:bodyPr>
                  <a:lstStyle/>
                  <a:p>
                    <a:endParaRPr lang="zh-CN" altLang="en-US"/>
                  </a:p>
                </p:txBody>
              </p:sp>
              <p:sp>
                <p:nvSpPr>
                  <p:cNvPr id="10337" name="Line 345"/>
                  <p:cNvSpPr>
                    <a:spLocks noChangeShapeType="1"/>
                  </p:cNvSpPr>
                  <p:nvPr/>
                </p:nvSpPr>
                <p:spPr bwMode="auto">
                  <a:xfrm>
                    <a:off x="342" y="2296"/>
                    <a:ext cx="239" cy="0"/>
                  </a:xfrm>
                  <a:prstGeom prst="line">
                    <a:avLst/>
                  </a:prstGeom>
                  <a:noFill/>
                  <a:ln w="12699">
                    <a:solidFill>
                      <a:srgbClr val="6B645F"/>
                    </a:solidFill>
                    <a:round/>
                    <a:headEnd type="none" w="sm" len="sm"/>
                    <a:tailEnd type="none" w="sm" len="sm"/>
                  </a:ln>
                </p:spPr>
                <p:txBody>
                  <a:bodyPr wrap="none" lIns="98624" tIns="49313" rIns="98624" bIns="49313">
                    <a:spAutoFit/>
                  </a:bodyPr>
                  <a:lstStyle/>
                  <a:p>
                    <a:endParaRPr lang="zh-CN" altLang="en-US"/>
                  </a:p>
                </p:txBody>
              </p:sp>
              <p:sp>
                <p:nvSpPr>
                  <p:cNvPr id="10338" name="Line 346"/>
                  <p:cNvSpPr>
                    <a:spLocks noChangeShapeType="1"/>
                  </p:cNvSpPr>
                  <p:nvPr/>
                </p:nvSpPr>
                <p:spPr bwMode="auto">
                  <a:xfrm>
                    <a:off x="335" y="2302"/>
                    <a:ext cx="241" cy="0"/>
                  </a:xfrm>
                  <a:prstGeom prst="line">
                    <a:avLst/>
                  </a:prstGeom>
                  <a:noFill/>
                  <a:ln w="12699">
                    <a:solidFill>
                      <a:srgbClr val="6B645F"/>
                    </a:solidFill>
                    <a:round/>
                    <a:headEnd type="none" w="sm" len="sm"/>
                    <a:tailEnd type="none" w="sm" len="sm"/>
                  </a:ln>
                </p:spPr>
                <p:txBody>
                  <a:bodyPr wrap="none" lIns="98624" tIns="49313" rIns="98624" bIns="49313">
                    <a:spAutoFit/>
                  </a:bodyPr>
                  <a:lstStyle/>
                  <a:p>
                    <a:endParaRPr lang="zh-CN" altLang="en-US"/>
                  </a:p>
                </p:txBody>
              </p:sp>
              <p:sp>
                <p:nvSpPr>
                  <p:cNvPr id="10339" name="Line 347"/>
                  <p:cNvSpPr>
                    <a:spLocks noChangeShapeType="1"/>
                  </p:cNvSpPr>
                  <p:nvPr/>
                </p:nvSpPr>
                <p:spPr bwMode="auto">
                  <a:xfrm>
                    <a:off x="328" y="2306"/>
                    <a:ext cx="241" cy="0"/>
                  </a:xfrm>
                  <a:prstGeom prst="line">
                    <a:avLst/>
                  </a:prstGeom>
                  <a:noFill/>
                  <a:ln w="12699">
                    <a:solidFill>
                      <a:srgbClr val="6B645F"/>
                    </a:solidFill>
                    <a:round/>
                    <a:headEnd type="none" w="sm" len="sm"/>
                    <a:tailEnd type="none" w="sm" len="sm"/>
                  </a:ln>
                </p:spPr>
                <p:txBody>
                  <a:bodyPr wrap="none" lIns="98624" tIns="49313" rIns="98624" bIns="49313">
                    <a:spAutoFit/>
                  </a:bodyPr>
                  <a:lstStyle/>
                  <a:p>
                    <a:endParaRPr lang="zh-CN" altLang="en-US"/>
                  </a:p>
                </p:txBody>
              </p:sp>
            </p:grpSp>
            <p:sp>
              <p:nvSpPr>
                <p:cNvPr id="10333" name="Rectangle 348"/>
                <p:cNvSpPr>
                  <a:spLocks noChangeArrowheads="1"/>
                </p:cNvSpPr>
                <p:nvPr/>
              </p:nvSpPr>
              <p:spPr bwMode="auto">
                <a:xfrm>
                  <a:off x="374" y="2093"/>
                  <a:ext cx="219" cy="152"/>
                </a:xfrm>
                <a:prstGeom prst="rect">
                  <a:avLst/>
                </a:prstGeom>
                <a:solidFill>
                  <a:srgbClr val="9E9898"/>
                </a:solidFill>
                <a:ln w="9525">
                  <a:noFill/>
                  <a:miter lim="800000"/>
                </a:ln>
              </p:spPr>
              <p:txBody>
                <a:bodyPr wrap="none" lIns="98624" tIns="49313" rIns="98624" bIns="49313">
                  <a:spAutoFit/>
                </a:bodyPr>
                <a:lstStyle/>
                <a:p>
                  <a:endParaRPr lang="zh-CN" altLang="en-US"/>
                </a:p>
              </p:txBody>
            </p:sp>
            <p:sp>
              <p:nvSpPr>
                <p:cNvPr id="10334" name="Freeform 349"/>
                <p:cNvSpPr/>
                <p:nvPr/>
              </p:nvSpPr>
              <p:spPr bwMode="auto">
                <a:xfrm>
                  <a:off x="398" y="2111"/>
                  <a:ext cx="172" cy="113"/>
                </a:xfrm>
                <a:custGeom>
                  <a:avLst/>
                  <a:gdLst>
                    <a:gd name="T0" fmla="*/ 171 w 172"/>
                    <a:gd name="T1" fmla="*/ 112 h 113"/>
                    <a:gd name="T2" fmla="*/ 0 w 172"/>
                    <a:gd name="T3" fmla="*/ 112 h 113"/>
                    <a:gd name="T4" fmla="*/ 0 w 172"/>
                    <a:gd name="T5" fmla="*/ 0 h 113"/>
                    <a:gd name="T6" fmla="*/ 171 w 172"/>
                    <a:gd name="T7" fmla="*/ 0 h 113"/>
                    <a:gd name="T8" fmla="*/ 171 w 172"/>
                    <a:gd name="T9" fmla="*/ 112 h 113"/>
                    <a:gd name="T10" fmla="*/ 0 60000 65536"/>
                    <a:gd name="T11" fmla="*/ 0 60000 65536"/>
                    <a:gd name="T12" fmla="*/ 0 60000 65536"/>
                    <a:gd name="T13" fmla="*/ 0 60000 65536"/>
                    <a:gd name="T14" fmla="*/ 0 60000 65536"/>
                    <a:gd name="T15" fmla="*/ 0 w 172"/>
                    <a:gd name="T16" fmla="*/ 0 h 113"/>
                    <a:gd name="T17" fmla="*/ 172 w 172"/>
                    <a:gd name="T18" fmla="*/ 113 h 113"/>
                  </a:gdLst>
                  <a:ahLst/>
                  <a:cxnLst>
                    <a:cxn ang="T10">
                      <a:pos x="T0" y="T1"/>
                    </a:cxn>
                    <a:cxn ang="T11">
                      <a:pos x="T2" y="T3"/>
                    </a:cxn>
                    <a:cxn ang="T12">
                      <a:pos x="T4" y="T5"/>
                    </a:cxn>
                    <a:cxn ang="T13">
                      <a:pos x="T6" y="T7"/>
                    </a:cxn>
                    <a:cxn ang="T14">
                      <a:pos x="T8" y="T9"/>
                    </a:cxn>
                  </a:cxnLst>
                  <a:rect l="T15" t="T16" r="T17" b="T18"/>
                  <a:pathLst>
                    <a:path w="172" h="113">
                      <a:moveTo>
                        <a:pt x="171" y="112"/>
                      </a:moveTo>
                      <a:lnTo>
                        <a:pt x="0" y="112"/>
                      </a:lnTo>
                      <a:lnTo>
                        <a:pt x="0" y="0"/>
                      </a:lnTo>
                      <a:lnTo>
                        <a:pt x="171" y="0"/>
                      </a:lnTo>
                      <a:lnTo>
                        <a:pt x="171" y="112"/>
                      </a:lnTo>
                    </a:path>
                  </a:pathLst>
                </a:custGeom>
                <a:solidFill>
                  <a:srgbClr val="DADADA"/>
                </a:solidFill>
                <a:ln w="9525" cap="rnd">
                  <a:noFill/>
                  <a:round/>
                </a:ln>
              </p:spPr>
              <p:txBody>
                <a:bodyPr wrap="none" lIns="98624" tIns="49313" rIns="98624" bIns="49313">
                  <a:spAutoFit/>
                </a:bodyPr>
                <a:lstStyle/>
                <a:p>
                  <a:endParaRPr lang="zh-CN" altLang="en-US"/>
                </a:p>
              </p:txBody>
            </p:sp>
            <p:sp>
              <p:nvSpPr>
                <p:cNvPr id="10335" name="Freeform 350"/>
                <p:cNvSpPr/>
                <p:nvPr/>
              </p:nvSpPr>
              <p:spPr bwMode="auto">
                <a:xfrm>
                  <a:off x="398" y="2111"/>
                  <a:ext cx="172" cy="113"/>
                </a:xfrm>
                <a:custGeom>
                  <a:avLst/>
                  <a:gdLst>
                    <a:gd name="T0" fmla="*/ 171 w 172"/>
                    <a:gd name="T1" fmla="*/ 0 h 113"/>
                    <a:gd name="T2" fmla="*/ 0 w 172"/>
                    <a:gd name="T3" fmla="*/ 0 h 113"/>
                    <a:gd name="T4" fmla="*/ 0 w 172"/>
                    <a:gd name="T5" fmla="*/ 112 h 113"/>
                    <a:gd name="T6" fmla="*/ 41 w 172"/>
                    <a:gd name="T7" fmla="*/ 76 h 113"/>
                    <a:gd name="T8" fmla="*/ 124 w 172"/>
                    <a:gd name="T9" fmla="*/ 39 h 113"/>
                    <a:gd name="T10" fmla="*/ 171 w 172"/>
                    <a:gd name="T11" fmla="*/ 0 h 113"/>
                    <a:gd name="T12" fmla="*/ 0 60000 65536"/>
                    <a:gd name="T13" fmla="*/ 0 60000 65536"/>
                    <a:gd name="T14" fmla="*/ 0 60000 65536"/>
                    <a:gd name="T15" fmla="*/ 0 60000 65536"/>
                    <a:gd name="T16" fmla="*/ 0 60000 65536"/>
                    <a:gd name="T17" fmla="*/ 0 60000 65536"/>
                    <a:gd name="T18" fmla="*/ 0 w 172"/>
                    <a:gd name="T19" fmla="*/ 0 h 113"/>
                    <a:gd name="T20" fmla="*/ 172 w 172"/>
                    <a:gd name="T21" fmla="*/ 113 h 113"/>
                  </a:gdLst>
                  <a:ahLst/>
                  <a:cxnLst>
                    <a:cxn ang="T12">
                      <a:pos x="T0" y="T1"/>
                    </a:cxn>
                    <a:cxn ang="T13">
                      <a:pos x="T2" y="T3"/>
                    </a:cxn>
                    <a:cxn ang="T14">
                      <a:pos x="T4" y="T5"/>
                    </a:cxn>
                    <a:cxn ang="T15">
                      <a:pos x="T6" y="T7"/>
                    </a:cxn>
                    <a:cxn ang="T16">
                      <a:pos x="T8" y="T9"/>
                    </a:cxn>
                    <a:cxn ang="T17">
                      <a:pos x="T10" y="T11"/>
                    </a:cxn>
                  </a:cxnLst>
                  <a:rect l="T18" t="T19" r="T20" b="T21"/>
                  <a:pathLst>
                    <a:path w="172" h="113">
                      <a:moveTo>
                        <a:pt x="171" y="0"/>
                      </a:moveTo>
                      <a:lnTo>
                        <a:pt x="0" y="0"/>
                      </a:lnTo>
                      <a:lnTo>
                        <a:pt x="0" y="112"/>
                      </a:lnTo>
                      <a:lnTo>
                        <a:pt x="41" y="76"/>
                      </a:lnTo>
                      <a:lnTo>
                        <a:pt x="124" y="39"/>
                      </a:lnTo>
                      <a:lnTo>
                        <a:pt x="171" y="0"/>
                      </a:lnTo>
                    </a:path>
                  </a:pathLst>
                </a:custGeom>
                <a:solidFill>
                  <a:srgbClr val="6B645F"/>
                </a:solidFill>
                <a:ln w="9525" cap="rnd">
                  <a:noFill/>
                  <a:round/>
                </a:ln>
              </p:spPr>
              <p:txBody>
                <a:bodyPr wrap="none" lIns="98624" tIns="49313" rIns="98624" bIns="49313">
                  <a:spAutoFit/>
                </a:bodyPr>
                <a:lstStyle/>
                <a:p>
                  <a:endParaRPr lang="zh-CN" altLang="en-US"/>
                </a:p>
              </p:txBody>
            </p:sp>
          </p:grpSp>
          <p:sp>
            <p:nvSpPr>
              <p:cNvPr id="10321" name="Freeform 351"/>
              <p:cNvSpPr/>
              <p:nvPr/>
            </p:nvSpPr>
            <p:spPr bwMode="auto">
              <a:xfrm>
                <a:off x="402" y="2118"/>
                <a:ext cx="161" cy="99"/>
              </a:xfrm>
              <a:custGeom>
                <a:avLst/>
                <a:gdLst>
                  <a:gd name="T0" fmla="*/ 160 w 161"/>
                  <a:gd name="T1" fmla="*/ 98 h 99"/>
                  <a:gd name="T2" fmla="*/ 0 w 161"/>
                  <a:gd name="T3" fmla="*/ 98 h 99"/>
                  <a:gd name="T4" fmla="*/ 0 w 161"/>
                  <a:gd name="T5" fmla="*/ 0 h 99"/>
                  <a:gd name="T6" fmla="*/ 160 w 161"/>
                  <a:gd name="T7" fmla="*/ 0 h 99"/>
                  <a:gd name="T8" fmla="*/ 160 w 161"/>
                  <a:gd name="T9" fmla="*/ 98 h 99"/>
                  <a:gd name="T10" fmla="*/ 0 60000 65536"/>
                  <a:gd name="T11" fmla="*/ 0 60000 65536"/>
                  <a:gd name="T12" fmla="*/ 0 60000 65536"/>
                  <a:gd name="T13" fmla="*/ 0 60000 65536"/>
                  <a:gd name="T14" fmla="*/ 0 60000 65536"/>
                  <a:gd name="T15" fmla="*/ 0 w 161"/>
                  <a:gd name="T16" fmla="*/ 0 h 99"/>
                  <a:gd name="T17" fmla="*/ 161 w 161"/>
                  <a:gd name="T18" fmla="*/ 99 h 99"/>
                </a:gdLst>
                <a:ahLst/>
                <a:cxnLst>
                  <a:cxn ang="T10">
                    <a:pos x="T0" y="T1"/>
                  </a:cxn>
                  <a:cxn ang="T11">
                    <a:pos x="T2" y="T3"/>
                  </a:cxn>
                  <a:cxn ang="T12">
                    <a:pos x="T4" y="T5"/>
                  </a:cxn>
                  <a:cxn ang="T13">
                    <a:pos x="T6" y="T7"/>
                  </a:cxn>
                  <a:cxn ang="T14">
                    <a:pos x="T8" y="T9"/>
                  </a:cxn>
                </a:cxnLst>
                <a:rect l="T15" t="T16" r="T17" b="T18"/>
                <a:pathLst>
                  <a:path w="161" h="99">
                    <a:moveTo>
                      <a:pt x="160" y="98"/>
                    </a:moveTo>
                    <a:lnTo>
                      <a:pt x="0" y="98"/>
                    </a:lnTo>
                    <a:lnTo>
                      <a:pt x="0" y="0"/>
                    </a:lnTo>
                    <a:lnTo>
                      <a:pt x="160" y="0"/>
                    </a:lnTo>
                    <a:lnTo>
                      <a:pt x="160" y="98"/>
                    </a:lnTo>
                  </a:path>
                </a:pathLst>
              </a:custGeom>
              <a:gradFill rotWithShape="0">
                <a:gsLst>
                  <a:gs pos="0">
                    <a:srgbClr val="FC0128"/>
                  </a:gs>
                  <a:gs pos="100000">
                    <a:srgbClr val="650010"/>
                  </a:gs>
                </a:gsLst>
                <a:lin ang="2700000" scaled="1"/>
              </a:gradFill>
              <a:ln w="9525" cap="rnd">
                <a:noFill/>
                <a:round/>
              </a:ln>
            </p:spPr>
            <p:txBody>
              <a:bodyPr wrap="none" lIns="98624" tIns="49313" rIns="98624" bIns="49313">
                <a:spAutoFit/>
              </a:bodyPr>
              <a:lstStyle/>
              <a:p>
                <a:endParaRPr lang="zh-CN" altLang="en-US"/>
              </a:p>
            </p:txBody>
          </p:sp>
        </p:grpSp>
        <p:sp>
          <p:nvSpPr>
            <p:cNvPr id="249184" name="Rectangle 352"/>
            <p:cNvSpPr>
              <a:spLocks noChangeArrowheads="1"/>
            </p:cNvSpPr>
            <p:nvPr/>
          </p:nvSpPr>
          <p:spPr bwMode="auto">
            <a:xfrm>
              <a:off x="3255" y="2333"/>
              <a:ext cx="891" cy="326"/>
            </a:xfrm>
            <a:prstGeom prst="rect">
              <a:avLst/>
            </a:prstGeom>
            <a:noFill/>
            <a:ln w="9525">
              <a:noFill/>
              <a:miter lim="800000"/>
            </a:ln>
            <a:effectLst/>
          </p:spPr>
          <p:txBody>
            <a:bodyPr wrap="none" lIns="98624" tIns="49313" rIns="98624" bIns="49313">
              <a:spAutoFit/>
            </a:bodyPr>
            <a:lstStyle/>
            <a:p>
              <a:pPr algn="l" defTabSz="751205" eaLnBrk="0" hangingPunct="0">
                <a:defRPr/>
              </a:pPr>
              <a:r>
                <a:rPr kumimoji="1" lang="zh-CN" altLang="en-US" sz="2700" b="1" i="1" dirty="0">
                  <a:effectLst>
                    <a:outerShdw blurRad="38100" dist="38100" dir="2700000" algn="tl">
                      <a:srgbClr val="C0C0C0"/>
                    </a:outerShdw>
                  </a:effectLst>
                  <a:latin typeface="Helvetica" charset="0"/>
                </a:rPr>
                <a:t>内部攻击</a:t>
              </a:r>
            </a:p>
          </p:txBody>
        </p:sp>
      </p:grpSp>
      <p:sp>
        <p:nvSpPr>
          <p:cNvPr id="249185" name="Line 353"/>
          <p:cNvSpPr>
            <a:spLocks noChangeShapeType="1"/>
          </p:cNvSpPr>
          <p:nvPr/>
        </p:nvSpPr>
        <p:spPr bwMode="auto">
          <a:xfrm flipV="1">
            <a:off x="1085850" y="3122637"/>
            <a:ext cx="0" cy="349250"/>
          </a:xfrm>
          <a:prstGeom prst="line">
            <a:avLst/>
          </a:prstGeom>
          <a:noFill/>
          <a:ln w="126999">
            <a:solidFill>
              <a:schemeClr val="hlink"/>
            </a:solidFill>
            <a:round/>
            <a:headEnd type="none" w="sm" len="sm"/>
            <a:tailEnd type="none" w="sm" len="sm"/>
          </a:ln>
        </p:spPr>
        <p:txBody>
          <a:bodyPr wrap="none" anchor="ctr"/>
          <a:lstStyle/>
          <a:p>
            <a:endParaRPr lang="zh-CN" altLang="en-US"/>
          </a:p>
        </p:txBody>
      </p:sp>
      <p:sp>
        <p:nvSpPr>
          <p:cNvPr id="249186" name="Line 354"/>
          <p:cNvSpPr>
            <a:spLocks noChangeShapeType="1"/>
          </p:cNvSpPr>
          <p:nvPr/>
        </p:nvSpPr>
        <p:spPr bwMode="auto">
          <a:xfrm>
            <a:off x="1044575" y="3122637"/>
            <a:ext cx="1535113" cy="0"/>
          </a:xfrm>
          <a:prstGeom prst="line">
            <a:avLst/>
          </a:prstGeom>
          <a:noFill/>
          <a:ln w="126999">
            <a:solidFill>
              <a:schemeClr val="hlink"/>
            </a:solidFill>
            <a:round/>
            <a:headEnd type="none" w="sm" len="sm"/>
            <a:tailEnd type="none" w="sm" len="sm"/>
          </a:ln>
        </p:spPr>
        <p:txBody>
          <a:bodyPr wrap="none" anchor="ctr"/>
          <a:lstStyle/>
          <a:p>
            <a:endParaRPr lang="zh-CN" altLang="en-US"/>
          </a:p>
        </p:txBody>
      </p:sp>
      <p:sp>
        <p:nvSpPr>
          <p:cNvPr id="249187" name="Line 355"/>
          <p:cNvSpPr>
            <a:spLocks noChangeShapeType="1"/>
          </p:cNvSpPr>
          <p:nvPr/>
        </p:nvSpPr>
        <p:spPr bwMode="auto">
          <a:xfrm>
            <a:off x="3049588" y="3122637"/>
            <a:ext cx="635000" cy="0"/>
          </a:xfrm>
          <a:prstGeom prst="line">
            <a:avLst/>
          </a:prstGeom>
          <a:noFill/>
          <a:ln w="126999">
            <a:solidFill>
              <a:schemeClr val="hlink"/>
            </a:solidFill>
            <a:round/>
            <a:headEnd type="none" w="sm" len="sm"/>
            <a:tailEnd type="none" w="sm" len="sm"/>
          </a:ln>
        </p:spPr>
        <p:txBody>
          <a:bodyPr wrap="none" anchor="ctr"/>
          <a:lstStyle/>
          <a:p>
            <a:endParaRPr lang="zh-CN" altLang="en-US"/>
          </a:p>
        </p:txBody>
      </p:sp>
      <p:sp>
        <p:nvSpPr>
          <p:cNvPr id="249188" name="Line 356"/>
          <p:cNvSpPr>
            <a:spLocks noChangeShapeType="1"/>
          </p:cNvSpPr>
          <p:nvPr/>
        </p:nvSpPr>
        <p:spPr bwMode="auto">
          <a:xfrm flipV="1">
            <a:off x="3627438" y="3122637"/>
            <a:ext cx="0" cy="1949450"/>
          </a:xfrm>
          <a:prstGeom prst="line">
            <a:avLst/>
          </a:prstGeom>
          <a:noFill/>
          <a:ln w="126999">
            <a:solidFill>
              <a:schemeClr val="hlink"/>
            </a:solidFill>
            <a:round/>
            <a:headEnd type="none" w="sm" len="sm"/>
            <a:tailEnd type="none" w="sm" len="sm"/>
          </a:ln>
        </p:spPr>
        <p:txBody>
          <a:bodyPr wrap="none" anchor="ctr"/>
          <a:lstStyle/>
          <a:p>
            <a:endParaRPr lang="zh-CN" altLang="en-US"/>
          </a:p>
        </p:txBody>
      </p:sp>
      <p:sp>
        <p:nvSpPr>
          <p:cNvPr id="249189" name="Line 357"/>
          <p:cNvSpPr>
            <a:spLocks noChangeShapeType="1"/>
          </p:cNvSpPr>
          <p:nvPr/>
        </p:nvSpPr>
        <p:spPr bwMode="auto">
          <a:xfrm flipV="1">
            <a:off x="3051175" y="5059387"/>
            <a:ext cx="622300" cy="6350"/>
          </a:xfrm>
          <a:prstGeom prst="line">
            <a:avLst/>
          </a:prstGeom>
          <a:noFill/>
          <a:ln w="126999">
            <a:solidFill>
              <a:schemeClr val="hlink"/>
            </a:solidFill>
            <a:round/>
            <a:headEnd type="none" w="sm" len="sm"/>
            <a:tailEnd type="none" w="sm" len="sm"/>
          </a:ln>
        </p:spPr>
        <p:txBody>
          <a:bodyPr wrap="none" anchor="ctr"/>
          <a:lstStyle/>
          <a:p>
            <a:endParaRPr lang="zh-CN" altLang="en-US"/>
          </a:p>
        </p:txBody>
      </p:sp>
      <p:grpSp>
        <p:nvGrpSpPr>
          <p:cNvPr id="248852" name="Group 358"/>
          <p:cNvGrpSpPr/>
          <p:nvPr/>
        </p:nvGrpSpPr>
        <p:grpSpPr bwMode="auto">
          <a:xfrm>
            <a:off x="2478087" y="4316505"/>
            <a:ext cx="5413375" cy="1736725"/>
            <a:chOff x="1206" y="2667"/>
            <a:chExt cx="3032" cy="1096"/>
          </a:xfrm>
        </p:grpSpPr>
        <p:grpSp>
          <p:nvGrpSpPr>
            <p:cNvPr id="248853" name="Group 359"/>
            <p:cNvGrpSpPr/>
            <p:nvPr/>
          </p:nvGrpSpPr>
          <p:grpSpPr bwMode="auto">
            <a:xfrm>
              <a:off x="1206" y="2999"/>
              <a:ext cx="365" cy="325"/>
              <a:chOff x="1206" y="2999"/>
              <a:chExt cx="365" cy="325"/>
            </a:xfrm>
          </p:grpSpPr>
          <p:sp>
            <p:nvSpPr>
              <p:cNvPr id="10315" name="Freeform 360"/>
              <p:cNvSpPr/>
              <p:nvPr/>
            </p:nvSpPr>
            <p:spPr bwMode="auto">
              <a:xfrm>
                <a:off x="1206" y="2999"/>
                <a:ext cx="365" cy="325"/>
              </a:xfrm>
              <a:custGeom>
                <a:avLst/>
                <a:gdLst>
                  <a:gd name="T0" fmla="*/ 200 w 365"/>
                  <a:gd name="T1" fmla="*/ 322 h 325"/>
                  <a:gd name="T2" fmla="*/ 227 w 365"/>
                  <a:gd name="T3" fmla="*/ 318 h 325"/>
                  <a:gd name="T4" fmla="*/ 252 w 365"/>
                  <a:gd name="T5" fmla="*/ 311 h 325"/>
                  <a:gd name="T6" fmla="*/ 276 w 365"/>
                  <a:gd name="T7" fmla="*/ 300 h 325"/>
                  <a:gd name="T8" fmla="*/ 297 w 365"/>
                  <a:gd name="T9" fmla="*/ 287 h 325"/>
                  <a:gd name="T10" fmla="*/ 316 w 365"/>
                  <a:gd name="T11" fmla="*/ 270 h 325"/>
                  <a:gd name="T12" fmla="*/ 332 w 365"/>
                  <a:gd name="T13" fmla="*/ 252 h 325"/>
                  <a:gd name="T14" fmla="*/ 345 w 365"/>
                  <a:gd name="T15" fmla="*/ 232 h 325"/>
                  <a:gd name="T16" fmla="*/ 355 w 365"/>
                  <a:gd name="T17" fmla="*/ 209 h 325"/>
                  <a:gd name="T18" fmla="*/ 361 w 365"/>
                  <a:gd name="T19" fmla="*/ 186 h 325"/>
                  <a:gd name="T20" fmla="*/ 364 w 365"/>
                  <a:gd name="T21" fmla="*/ 161 h 325"/>
                  <a:gd name="T22" fmla="*/ 361 w 365"/>
                  <a:gd name="T23" fmla="*/ 137 h 325"/>
                  <a:gd name="T24" fmla="*/ 355 w 365"/>
                  <a:gd name="T25" fmla="*/ 113 h 325"/>
                  <a:gd name="T26" fmla="*/ 345 w 365"/>
                  <a:gd name="T27" fmla="*/ 91 h 325"/>
                  <a:gd name="T28" fmla="*/ 332 w 365"/>
                  <a:gd name="T29" fmla="*/ 71 h 325"/>
                  <a:gd name="T30" fmla="*/ 316 w 365"/>
                  <a:gd name="T31" fmla="*/ 52 h 325"/>
                  <a:gd name="T32" fmla="*/ 297 w 365"/>
                  <a:gd name="T33" fmla="*/ 36 h 325"/>
                  <a:gd name="T34" fmla="*/ 276 w 365"/>
                  <a:gd name="T35" fmla="*/ 23 h 325"/>
                  <a:gd name="T36" fmla="*/ 252 w 365"/>
                  <a:gd name="T37" fmla="*/ 12 h 325"/>
                  <a:gd name="T38" fmla="*/ 227 w 365"/>
                  <a:gd name="T39" fmla="*/ 5 h 325"/>
                  <a:gd name="T40" fmla="*/ 200 w 365"/>
                  <a:gd name="T41" fmla="*/ 0 h 325"/>
                  <a:gd name="T42" fmla="*/ 172 w 365"/>
                  <a:gd name="T43" fmla="*/ 0 h 325"/>
                  <a:gd name="T44" fmla="*/ 145 w 365"/>
                  <a:gd name="T45" fmla="*/ 3 h 325"/>
                  <a:gd name="T46" fmla="*/ 119 w 365"/>
                  <a:gd name="T47" fmla="*/ 9 h 325"/>
                  <a:gd name="T48" fmla="*/ 94 w 365"/>
                  <a:gd name="T49" fmla="*/ 19 h 325"/>
                  <a:gd name="T50" fmla="*/ 73 w 365"/>
                  <a:gd name="T51" fmla="*/ 32 h 325"/>
                  <a:gd name="T52" fmla="*/ 53 w 365"/>
                  <a:gd name="T53" fmla="*/ 47 h 325"/>
                  <a:gd name="T54" fmla="*/ 36 w 365"/>
                  <a:gd name="T55" fmla="*/ 65 h 325"/>
                  <a:gd name="T56" fmla="*/ 21 w 365"/>
                  <a:gd name="T57" fmla="*/ 84 h 325"/>
                  <a:gd name="T58" fmla="*/ 10 w 365"/>
                  <a:gd name="T59" fmla="*/ 106 h 325"/>
                  <a:gd name="T60" fmla="*/ 3 w 365"/>
                  <a:gd name="T61" fmla="*/ 129 h 325"/>
                  <a:gd name="T62" fmla="*/ 0 w 365"/>
                  <a:gd name="T63" fmla="*/ 153 h 325"/>
                  <a:gd name="T64" fmla="*/ 0 w 365"/>
                  <a:gd name="T65" fmla="*/ 178 h 325"/>
                  <a:gd name="T66" fmla="*/ 5 w 365"/>
                  <a:gd name="T67" fmla="*/ 202 h 325"/>
                  <a:gd name="T68" fmla="*/ 14 w 365"/>
                  <a:gd name="T69" fmla="*/ 225 h 325"/>
                  <a:gd name="T70" fmla="*/ 26 w 365"/>
                  <a:gd name="T71" fmla="*/ 245 h 325"/>
                  <a:gd name="T72" fmla="*/ 41 w 365"/>
                  <a:gd name="T73" fmla="*/ 264 h 325"/>
                  <a:gd name="T74" fmla="*/ 59 w 365"/>
                  <a:gd name="T75" fmla="*/ 281 h 325"/>
                  <a:gd name="T76" fmla="*/ 80 w 365"/>
                  <a:gd name="T77" fmla="*/ 296 h 325"/>
                  <a:gd name="T78" fmla="*/ 102 w 365"/>
                  <a:gd name="T79" fmla="*/ 307 h 325"/>
                  <a:gd name="T80" fmla="*/ 127 w 365"/>
                  <a:gd name="T81" fmla="*/ 316 h 325"/>
                  <a:gd name="T82" fmla="*/ 154 w 365"/>
                  <a:gd name="T83" fmla="*/ 322 h 325"/>
                  <a:gd name="T84" fmla="*/ 181 w 365"/>
                  <a:gd name="T85" fmla="*/ 324 h 32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65"/>
                  <a:gd name="T130" fmla="*/ 0 h 325"/>
                  <a:gd name="T131" fmla="*/ 365 w 365"/>
                  <a:gd name="T132" fmla="*/ 325 h 32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65" h="325">
                    <a:moveTo>
                      <a:pt x="181" y="324"/>
                    </a:moveTo>
                    <a:lnTo>
                      <a:pt x="191" y="323"/>
                    </a:lnTo>
                    <a:lnTo>
                      <a:pt x="200" y="322"/>
                    </a:lnTo>
                    <a:lnTo>
                      <a:pt x="209" y="322"/>
                    </a:lnTo>
                    <a:lnTo>
                      <a:pt x="218" y="320"/>
                    </a:lnTo>
                    <a:lnTo>
                      <a:pt x="227" y="318"/>
                    </a:lnTo>
                    <a:lnTo>
                      <a:pt x="235" y="316"/>
                    </a:lnTo>
                    <a:lnTo>
                      <a:pt x="244" y="314"/>
                    </a:lnTo>
                    <a:lnTo>
                      <a:pt x="252" y="311"/>
                    </a:lnTo>
                    <a:lnTo>
                      <a:pt x="260" y="307"/>
                    </a:lnTo>
                    <a:lnTo>
                      <a:pt x="268" y="304"/>
                    </a:lnTo>
                    <a:lnTo>
                      <a:pt x="276" y="300"/>
                    </a:lnTo>
                    <a:lnTo>
                      <a:pt x="283" y="296"/>
                    </a:lnTo>
                    <a:lnTo>
                      <a:pt x="290" y="291"/>
                    </a:lnTo>
                    <a:lnTo>
                      <a:pt x="297" y="287"/>
                    </a:lnTo>
                    <a:lnTo>
                      <a:pt x="304" y="281"/>
                    </a:lnTo>
                    <a:lnTo>
                      <a:pt x="310" y="276"/>
                    </a:lnTo>
                    <a:lnTo>
                      <a:pt x="316" y="270"/>
                    </a:lnTo>
                    <a:lnTo>
                      <a:pt x="322" y="264"/>
                    </a:lnTo>
                    <a:lnTo>
                      <a:pt x="327" y="258"/>
                    </a:lnTo>
                    <a:lnTo>
                      <a:pt x="332" y="252"/>
                    </a:lnTo>
                    <a:lnTo>
                      <a:pt x="337" y="245"/>
                    </a:lnTo>
                    <a:lnTo>
                      <a:pt x="341" y="239"/>
                    </a:lnTo>
                    <a:lnTo>
                      <a:pt x="345" y="232"/>
                    </a:lnTo>
                    <a:lnTo>
                      <a:pt x="349" y="225"/>
                    </a:lnTo>
                    <a:lnTo>
                      <a:pt x="353" y="217"/>
                    </a:lnTo>
                    <a:lnTo>
                      <a:pt x="355" y="209"/>
                    </a:lnTo>
                    <a:lnTo>
                      <a:pt x="358" y="202"/>
                    </a:lnTo>
                    <a:lnTo>
                      <a:pt x="360" y="194"/>
                    </a:lnTo>
                    <a:lnTo>
                      <a:pt x="361" y="186"/>
                    </a:lnTo>
                    <a:lnTo>
                      <a:pt x="362" y="178"/>
                    </a:lnTo>
                    <a:lnTo>
                      <a:pt x="363" y="170"/>
                    </a:lnTo>
                    <a:lnTo>
                      <a:pt x="364" y="161"/>
                    </a:lnTo>
                    <a:lnTo>
                      <a:pt x="363" y="153"/>
                    </a:lnTo>
                    <a:lnTo>
                      <a:pt x="362" y="145"/>
                    </a:lnTo>
                    <a:lnTo>
                      <a:pt x="361" y="137"/>
                    </a:lnTo>
                    <a:lnTo>
                      <a:pt x="360" y="129"/>
                    </a:lnTo>
                    <a:lnTo>
                      <a:pt x="358" y="121"/>
                    </a:lnTo>
                    <a:lnTo>
                      <a:pt x="355" y="113"/>
                    </a:lnTo>
                    <a:lnTo>
                      <a:pt x="353" y="106"/>
                    </a:lnTo>
                    <a:lnTo>
                      <a:pt x="349" y="98"/>
                    </a:lnTo>
                    <a:lnTo>
                      <a:pt x="345" y="91"/>
                    </a:lnTo>
                    <a:lnTo>
                      <a:pt x="341" y="84"/>
                    </a:lnTo>
                    <a:lnTo>
                      <a:pt x="337" y="77"/>
                    </a:lnTo>
                    <a:lnTo>
                      <a:pt x="332" y="71"/>
                    </a:lnTo>
                    <a:lnTo>
                      <a:pt x="327" y="65"/>
                    </a:lnTo>
                    <a:lnTo>
                      <a:pt x="322" y="58"/>
                    </a:lnTo>
                    <a:lnTo>
                      <a:pt x="316" y="52"/>
                    </a:lnTo>
                    <a:lnTo>
                      <a:pt x="310" y="47"/>
                    </a:lnTo>
                    <a:lnTo>
                      <a:pt x="304" y="42"/>
                    </a:lnTo>
                    <a:lnTo>
                      <a:pt x="297" y="36"/>
                    </a:lnTo>
                    <a:lnTo>
                      <a:pt x="290" y="32"/>
                    </a:lnTo>
                    <a:lnTo>
                      <a:pt x="283" y="27"/>
                    </a:lnTo>
                    <a:lnTo>
                      <a:pt x="276" y="23"/>
                    </a:lnTo>
                    <a:lnTo>
                      <a:pt x="268" y="19"/>
                    </a:lnTo>
                    <a:lnTo>
                      <a:pt x="260" y="15"/>
                    </a:lnTo>
                    <a:lnTo>
                      <a:pt x="252" y="12"/>
                    </a:lnTo>
                    <a:lnTo>
                      <a:pt x="244" y="9"/>
                    </a:lnTo>
                    <a:lnTo>
                      <a:pt x="235" y="7"/>
                    </a:lnTo>
                    <a:lnTo>
                      <a:pt x="227" y="5"/>
                    </a:lnTo>
                    <a:lnTo>
                      <a:pt x="218" y="3"/>
                    </a:lnTo>
                    <a:lnTo>
                      <a:pt x="209" y="1"/>
                    </a:lnTo>
                    <a:lnTo>
                      <a:pt x="200" y="0"/>
                    </a:lnTo>
                    <a:lnTo>
                      <a:pt x="191" y="0"/>
                    </a:lnTo>
                    <a:lnTo>
                      <a:pt x="181" y="0"/>
                    </a:lnTo>
                    <a:lnTo>
                      <a:pt x="172" y="0"/>
                    </a:lnTo>
                    <a:lnTo>
                      <a:pt x="163" y="0"/>
                    </a:lnTo>
                    <a:lnTo>
                      <a:pt x="154" y="1"/>
                    </a:lnTo>
                    <a:lnTo>
                      <a:pt x="145" y="3"/>
                    </a:lnTo>
                    <a:lnTo>
                      <a:pt x="136" y="5"/>
                    </a:lnTo>
                    <a:lnTo>
                      <a:pt x="127" y="7"/>
                    </a:lnTo>
                    <a:lnTo>
                      <a:pt x="119" y="9"/>
                    </a:lnTo>
                    <a:lnTo>
                      <a:pt x="111" y="12"/>
                    </a:lnTo>
                    <a:lnTo>
                      <a:pt x="102" y="15"/>
                    </a:lnTo>
                    <a:lnTo>
                      <a:pt x="94" y="19"/>
                    </a:lnTo>
                    <a:lnTo>
                      <a:pt x="87" y="23"/>
                    </a:lnTo>
                    <a:lnTo>
                      <a:pt x="80" y="27"/>
                    </a:lnTo>
                    <a:lnTo>
                      <a:pt x="73" y="32"/>
                    </a:lnTo>
                    <a:lnTo>
                      <a:pt x="66" y="36"/>
                    </a:lnTo>
                    <a:lnTo>
                      <a:pt x="59" y="42"/>
                    </a:lnTo>
                    <a:lnTo>
                      <a:pt x="53" y="47"/>
                    </a:lnTo>
                    <a:lnTo>
                      <a:pt x="47" y="52"/>
                    </a:lnTo>
                    <a:lnTo>
                      <a:pt x="41" y="58"/>
                    </a:lnTo>
                    <a:lnTo>
                      <a:pt x="36" y="65"/>
                    </a:lnTo>
                    <a:lnTo>
                      <a:pt x="31" y="71"/>
                    </a:lnTo>
                    <a:lnTo>
                      <a:pt x="26" y="77"/>
                    </a:lnTo>
                    <a:lnTo>
                      <a:pt x="21" y="84"/>
                    </a:lnTo>
                    <a:lnTo>
                      <a:pt x="17" y="91"/>
                    </a:lnTo>
                    <a:lnTo>
                      <a:pt x="14" y="98"/>
                    </a:lnTo>
                    <a:lnTo>
                      <a:pt x="10" y="106"/>
                    </a:lnTo>
                    <a:lnTo>
                      <a:pt x="8" y="113"/>
                    </a:lnTo>
                    <a:lnTo>
                      <a:pt x="5" y="121"/>
                    </a:lnTo>
                    <a:lnTo>
                      <a:pt x="3" y="129"/>
                    </a:lnTo>
                    <a:lnTo>
                      <a:pt x="2" y="137"/>
                    </a:lnTo>
                    <a:lnTo>
                      <a:pt x="0" y="145"/>
                    </a:lnTo>
                    <a:lnTo>
                      <a:pt x="0" y="153"/>
                    </a:lnTo>
                    <a:lnTo>
                      <a:pt x="0" y="161"/>
                    </a:lnTo>
                    <a:lnTo>
                      <a:pt x="0" y="170"/>
                    </a:lnTo>
                    <a:lnTo>
                      <a:pt x="0" y="178"/>
                    </a:lnTo>
                    <a:lnTo>
                      <a:pt x="2" y="186"/>
                    </a:lnTo>
                    <a:lnTo>
                      <a:pt x="3" y="194"/>
                    </a:lnTo>
                    <a:lnTo>
                      <a:pt x="5" y="202"/>
                    </a:lnTo>
                    <a:lnTo>
                      <a:pt x="8" y="209"/>
                    </a:lnTo>
                    <a:lnTo>
                      <a:pt x="10" y="217"/>
                    </a:lnTo>
                    <a:lnTo>
                      <a:pt x="14" y="225"/>
                    </a:lnTo>
                    <a:lnTo>
                      <a:pt x="17" y="232"/>
                    </a:lnTo>
                    <a:lnTo>
                      <a:pt x="21" y="239"/>
                    </a:lnTo>
                    <a:lnTo>
                      <a:pt x="26" y="245"/>
                    </a:lnTo>
                    <a:lnTo>
                      <a:pt x="31" y="252"/>
                    </a:lnTo>
                    <a:lnTo>
                      <a:pt x="36" y="258"/>
                    </a:lnTo>
                    <a:lnTo>
                      <a:pt x="41" y="264"/>
                    </a:lnTo>
                    <a:lnTo>
                      <a:pt x="47" y="270"/>
                    </a:lnTo>
                    <a:lnTo>
                      <a:pt x="53" y="276"/>
                    </a:lnTo>
                    <a:lnTo>
                      <a:pt x="59" y="281"/>
                    </a:lnTo>
                    <a:lnTo>
                      <a:pt x="66" y="287"/>
                    </a:lnTo>
                    <a:lnTo>
                      <a:pt x="73" y="291"/>
                    </a:lnTo>
                    <a:lnTo>
                      <a:pt x="80" y="296"/>
                    </a:lnTo>
                    <a:lnTo>
                      <a:pt x="87" y="300"/>
                    </a:lnTo>
                    <a:lnTo>
                      <a:pt x="94" y="304"/>
                    </a:lnTo>
                    <a:lnTo>
                      <a:pt x="102" y="307"/>
                    </a:lnTo>
                    <a:lnTo>
                      <a:pt x="111" y="311"/>
                    </a:lnTo>
                    <a:lnTo>
                      <a:pt x="119" y="314"/>
                    </a:lnTo>
                    <a:lnTo>
                      <a:pt x="127" y="316"/>
                    </a:lnTo>
                    <a:lnTo>
                      <a:pt x="136" y="318"/>
                    </a:lnTo>
                    <a:lnTo>
                      <a:pt x="145" y="320"/>
                    </a:lnTo>
                    <a:lnTo>
                      <a:pt x="154" y="322"/>
                    </a:lnTo>
                    <a:lnTo>
                      <a:pt x="163" y="322"/>
                    </a:lnTo>
                    <a:lnTo>
                      <a:pt x="172" y="323"/>
                    </a:lnTo>
                    <a:lnTo>
                      <a:pt x="181" y="324"/>
                    </a:lnTo>
                    <a:lnTo>
                      <a:pt x="181" y="323"/>
                    </a:lnTo>
                    <a:lnTo>
                      <a:pt x="181" y="324"/>
                    </a:lnTo>
                  </a:path>
                </a:pathLst>
              </a:custGeom>
              <a:solidFill>
                <a:srgbClr val="CC0000"/>
              </a:solidFill>
              <a:ln w="9525" cap="rnd">
                <a:noFill/>
                <a:round/>
              </a:ln>
            </p:spPr>
            <p:txBody>
              <a:bodyPr wrap="none" lIns="98624" tIns="49313" rIns="98624" bIns="49313" anchor="ctr"/>
              <a:lstStyle/>
              <a:p>
                <a:endParaRPr lang="zh-CN" altLang="en-US"/>
              </a:p>
            </p:txBody>
          </p:sp>
          <p:sp>
            <p:nvSpPr>
              <p:cNvPr id="10316" name="Freeform 361"/>
              <p:cNvSpPr/>
              <p:nvPr/>
            </p:nvSpPr>
            <p:spPr bwMode="auto">
              <a:xfrm>
                <a:off x="1237" y="3027"/>
                <a:ext cx="305" cy="271"/>
              </a:xfrm>
              <a:custGeom>
                <a:avLst/>
                <a:gdLst>
                  <a:gd name="T0" fmla="*/ 167 w 305"/>
                  <a:gd name="T1" fmla="*/ 269 h 271"/>
                  <a:gd name="T2" fmla="*/ 190 w 305"/>
                  <a:gd name="T3" fmla="*/ 265 h 271"/>
                  <a:gd name="T4" fmla="*/ 211 w 305"/>
                  <a:gd name="T5" fmla="*/ 259 h 271"/>
                  <a:gd name="T6" fmla="*/ 230 w 305"/>
                  <a:gd name="T7" fmla="*/ 250 h 271"/>
                  <a:gd name="T8" fmla="*/ 248 w 305"/>
                  <a:gd name="T9" fmla="*/ 239 h 271"/>
                  <a:gd name="T10" fmla="*/ 264 w 305"/>
                  <a:gd name="T11" fmla="*/ 225 h 271"/>
                  <a:gd name="T12" fmla="*/ 277 w 305"/>
                  <a:gd name="T13" fmla="*/ 210 h 271"/>
                  <a:gd name="T14" fmla="*/ 288 w 305"/>
                  <a:gd name="T15" fmla="*/ 193 h 271"/>
                  <a:gd name="T16" fmla="*/ 296 w 305"/>
                  <a:gd name="T17" fmla="*/ 175 h 271"/>
                  <a:gd name="T18" fmla="*/ 302 w 305"/>
                  <a:gd name="T19" fmla="*/ 155 h 271"/>
                  <a:gd name="T20" fmla="*/ 304 w 305"/>
                  <a:gd name="T21" fmla="*/ 134 h 271"/>
                  <a:gd name="T22" fmla="*/ 302 w 305"/>
                  <a:gd name="T23" fmla="*/ 113 h 271"/>
                  <a:gd name="T24" fmla="*/ 296 w 305"/>
                  <a:gd name="T25" fmla="*/ 94 h 271"/>
                  <a:gd name="T26" fmla="*/ 288 w 305"/>
                  <a:gd name="T27" fmla="*/ 76 h 271"/>
                  <a:gd name="T28" fmla="*/ 277 w 305"/>
                  <a:gd name="T29" fmla="*/ 59 h 271"/>
                  <a:gd name="T30" fmla="*/ 264 w 305"/>
                  <a:gd name="T31" fmla="*/ 44 h 271"/>
                  <a:gd name="T32" fmla="*/ 248 w 305"/>
                  <a:gd name="T33" fmla="*/ 30 h 271"/>
                  <a:gd name="T34" fmla="*/ 230 w 305"/>
                  <a:gd name="T35" fmla="*/ 19 h 271"/>
                  <a:gd name="T36" fmla="*/ 211 w 305"/>
                  <a:gd name="T37" fmla="*/ 10 h 271"/>
                  <a:gd name="T38" fmla="*/ 190 w 305"/>
                  <a:gd name="T39" fmla="*/ 4 h 271"/>
                  <a:gd name="T40" fmla="*/ 167 w 305"/>
                  <a:gd name="T41" fmla="*/ 0 h 271"/>
                  <a:gd name="T42" fmla="*/ 144 w 305"/>
                  <a:gd name="T43" fmla="*/ 0 h 271"/>
                  <a:gd name="T44" fmla="*/ 121 w 305"/>
                  <a:gd name="T45" fmla="*/ 2 h 271"/>
                  <a:gd name="T46" fmla="*/ 99 w 305"/>
                  <a:gd name="T47" fmla="*/ 8 h 271"/>
                  <a:gd name="T48" fmla="*/ 79 w 305"/>
                  <a:gd name="T49" fmla="*/ 16 h 271"/>
                  <a:gd name="T50" fmla="*/ 61 w 305"/>
                  <a:gd name="T51" fmla="*/ 26 h 271"/>
                  <a:gd name="T52" fmla="*/ 44 w 305"/>
                  <a:gd name="T53" fmla="*/ 39 h 271"/>
                  <a:gd name="T54" fmla="*/ 30 w 305"/>
                  <a:gd name="T55" fmla="*/ 53 h 271"/>
                  <a:gd name="T56" fmla="*/ 18 w 305"/>
                  <a:gd name="T57" fmla="*/ 70 h 271"/>
                  <a:gd name="T58" fmla="*/ 9 w 305"/>
                  <a:gd name="T59" fmla="*/ 88 h 271"/>
                  <a:gd name="T60" fmla="*/ 3 w 305"/>
                  <a:gd name="T61" fmla="*/ 107 h 271"/>
                  <a:gd name="T62" fmla="*/ 0 w 305"/>
                  <a:gd name="T63" fmla="*/ 127 h 271"/>
                  <a:gd name="T64" fmla="*/ 0 w 305"/>
                  <a:gd name="T65" fmla="*/ 148 h 271"/>
                  <a:gd name="T66" fmla="*/ 5 w 305"/>
                  <a:gd name="T67" fmla="*/ 168 h 271"/>
                  <a:gd name="T68" fmla="*/ 12 w 305"/>
                  <a:gd name="T69" fmla="*/ 187 h 271"/>
                  <a:gd name="T70" fmla="*/ 22 w 305"/>
                  <a:gd name="T71" fmla="*/ 204 h 271"/>
                  <a:gd name="T72" fmla="*/ 35 w 305"/>
                  <a:gd name="T73" fmla="*/ 220 h 271"/>
                  <a:gd name="T74" fmla="*/ 49 w 305"/>
                  <a:gd name="T75" fmla="*/ 234 h 271"/>
                  <a:gd name="T76" fmla="*/ 67 w 305"/>
                  <a:gd name="T77" fmla="*/ 246 h 271"/>
                  <a:gd name="T78" fmla="*/ 86 w 305"/>
                  <a:gd name="T79" fmla="*/ 256 h 271"/>
                  <a:gd name="T80" fmla="*/ 106 w 305"/>
                  <a:gd name="T81" fmla="*/ 264 h 271"/>
                  <a:gd name="T82" fmla="*/ 128 w 305"/>
                  <a:gd name="T83" fmla="*/ 268 h 271"/>
                  <a:gd name="T84" fmla="*/ 152 w 305"/>
                  <a:gd name="T85" fmla="*/ 270 h 27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05"/>
                  <a:gd name="T130" fmla="*/ 0 h 271"/>
                  <a:gd name="T131" fmla="*/ 305 w 305"/>
                  <a:gd name="T132" fmla="*/ 271 h 27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05" h="271">
                    <a:moveTo>
                      <a:pt x="152" y="270"/>
                    </a:moveTo>
                    <a:lnTo>
                      <a:pt x="159" y="269"/>
                    </a:lnTo>
                    <a:lnTo>
                      <a:pt x="167" y="269"/>
                    </a:lnTo>
                    <a:lnTo>
                      <a:pt x="175" y="268"/>
                    </a:lnTo>
                    <a:lnTo>
                      <a:pt x="182" y="267"/>
                    </a:lnTo>
                    <a:lnTo>
                      <a:pt x="190" y="265"/>
                    </a:lnTo>
                    <a:lnTo>
                      <a:pt x="197" y="264"/>
                    </a:lnTo>
                    <a:lnTo>
                      <a:pt x="204" y="261"/>
                    </a:lnTo>
                    <a:lnTo>
                      <a:pt x="211" y="259"/>
                    </a:lnTo>
                    <a:lnTo>
                      <a:pt x="217" y="256"/>
                    </a:lnTo>
                    <a:lnTo>
                      <a:pt x="224" y="253"/>
                    </a:lnTo>
                    <a:lnTo>
                      <a:pt x="230" y="250"/>
                    </a:lnTo>
                    <a:lnTo>
                      <a:pt x="236" y="246"/>
                    </a:lnTo>
                    <a:lnTo>
                      <a:pt x="242" y="243"/>
                    </a:lnTo>
                    <a:lnTo>
                      <a:pt x="248" y="239"/>
                    </a:lnTo>
                    <a:lnTo>
                      <a:pt x="254" y="234"/>
                    </a:lnTo>
                    <a:lnTo>
                      <a:pt x="259" y="230"/>
                    </a:lnTo>
                    <a:lnTo>
                      <a:pt x="264" y="225"/>
                    </a:lnTo>
                    <a:lnTo>
                      <a:pt x="269" y="220"/>
                    </a:lnTo>
                    <a:lnTo>
                      <a:pt x="273" y="215"/>
                    </a:lnTo>
                    <a:lnTo>
                      <a:pt x="277" y="210"/>
                    </a:lnTo>
                    <a:lnTo>
                      <a:pt x="282" y="204"/>
                    </a:lnTo>
                    <a:lnTo>
                      <a:pt x="285" y="199"/>
                    </a:lnTo>
                    <a:lnTo>
                      <a:pt x="288" y="193"/>
                    </a:lnTo>
                    <a:lnTo>
                      <a:pt x="291" y="187"/>
                    </a:lnTo>
                    <a:lnTo>
                      <a:pt x="294" y="181"/>
                    </a:lnTo>
                    <a:lnTo>
                      <a:pt x="296" y="175"/>
                    </a:lnTo>
                    <a:lnTo>
                      <a:pt x="299" y="168"/>
                    </a:lnTo>
                    <a:lnTo>
                      <a:pt x="300" y="161"/>
                    </a:lnTo>
                    <a:lnTo>
                      <a:pt x="302" y="155"/>
                    </a:lnTo>
                    <a:lnTo>
                      <a:pt x="303" y="148"/>
                    </a:lnTo>
                    <a:lnTo>
                      <a:pt x="303" y="141"/>
                    </a:lnTo>
                    <a:lnTo>
                      <a:pt x="304" y="134"/>
                    </a:lnTo>
                    <a:lnTo>
                      <a:pt x="303" y="127"/>
                    </a:lnTo>
                    <a:lnTo>
                      <a:pt x="303" y="120"/>
                    </a:lnTo>
                    <a:lnTo>
                      <a:pt x="302" y="113"/>
                    </a:lnTo>
                    <a:lnTo>
                      <a:pt x="300" y="107"/>
                    </a:lnTo>
                    <a:lnTo>
                      <a:pt x="299" y="101"/>
                    </a:lnTo>
                    <a:lnTo>
                      <a:pt x="296" y="94"/>
                    </a:lnTo>
                    <a:lnTo>
                      <a:pt x="294" y="88"/>
                    </a:lnTo>
                    <a:lnTo>
                      <a:pt x="291" y="82"/>
                    </a:lnTo>
                    <a:lnTo>
                      <a:pt x="288" y="76"/>
                    </a:lnTo>
                    <a:lnTo>
                      <a:pt x="285" y="70"/>
                    </a:lnTo>
                    <a:lnTo>
                      <a:pt x="282" y="64"/>
                    </a:lnTo>
                    <a:lnTo>
                      <a:pt x="277" y="59"/>
                    </a:lnTo>
                    <a:lnTo>
                      <a:pt x="273" y="53"/>
                    </a:lnTo>
                    <a:lnTo>
                      <a:pt x="269" y="48"/>
                    </a:lnTo>
                    <a:lnTo>
                      <a:pt x="264" y="44"/>
                    </a:lnTo>
                    <a:lnTo>
                      <a:pt x="259" y="39"/>
                    </a:lnTo>
                    <a:lnTo>
                      <a:pt x="254" y="34"/>
                    </a:lnTo>
                    <a:lnTo>
                      <a:pt x="248" y="30"/>
                    </a:lnTo>
                    <a:lnTo>
                      <a:pt x="242" y="26"/>
                    </a:lnTo>
                    <a:lnTo>
                      <a:pt x="236" y="23"/>
                    </a:lnTo>
                    <a:lnTo>
                      <a:pt x="230" y="19"/>
                    </a:lnTo>
                    <a:lnTo>
                      <a:pt x="224" y="16"/>
                    </a:lnTo>
                    <a:lnTo>
                      <a:pt x="217" y="13"/>
                    </a:lnTo>
                    <a:lnTo>
                      <a:pt x="211" y="10"/>
                    </a:lnTo>
                    <a:lnTo>
                      <a:pt x="204" y="8"/>
                    </a:lnTo>
                    <a:lnTo>
                      <a:pt x="197" y="5"/>
                    </a:lnTo>
                    <a:lnTo>
                      <a:pt x="190" y="4"/>
                    </a:lnTo>
                    <a:lnTo>
                      <a:pt x="182" y="2"/>
                    </a:lnTo>
                    <a:lnTo>
                      <a:pt x="175" y="1"/>
                    </a:lnTo>
                    <a:lnTo>
                      <a:pt x="167" y="0"/>
                    </a:lnTo>
                    <a:lnTo>
                      <a:pt x="159" y="0"/>
                    </a:lnTo>
                    <a:lnTo>
                      <a:pt x="152" y="0"/>
                    </a:lnTo>
                    <a:lnTo>
                      <a:pt x="144" y="0"/>
                    </a:lnTo>
                    <a:lnTo>
                      <a:pt x="136" y="0"/>
                    </a:lnTo>
                    <a:lnTo>
                      <a:pt x="128" y="1"/>
                    </a:lnTo>
                    <a:lnTo>
                      <a:pt x="121" y="2"/>
                    </a:lnTo>
                    <a:lnTo>
                      <a:pt x="113" y="4"/>
                    </a:lnTo>
                    <a:lnTo>
                      <a:pt x="106" y="5"/>
                    </a:lnTo>
                    <a:lnTo>
                      <a:pt x="99" y="8"/>
                    </a:lnTo>
                    <a:lnTo>
                      <a:pt x="92" y="10"/>
                    </a:lnTo>
                    <a:lnTo>
                      <a:pt x="86" y="13"/>
                    </a:lnTo>
                    <a:lnTo>
                      <a:pt x="79" y="16"/>
                    </a:lnTo>
                    <a:lnTo>
                      <a:pt x="73" y="19"/>
                    </a:lnTo>
                    <a:lnTo>
                      <a:pt x="67" y="23"/>
                    </a:lnTo>
                    <a:lnTo>
                      <a:pt x="61" y="26"/>
                    </a:lnTo>
                    <a:lnTo>
                      <a:pt x="55" y="30"/>
                    </a:lnTo>
                    <a:lnTo>
                      <a:pt x="49" y="34"/>
                    </a:lnTo>
                    <a:lnTo>
                      <a:pt x="44" y="39"/>
                    </a:lnTo>
                    <a:lnTo>
                      <a:pt x="39" y="44"/>
                    </a:lnTo>
                    <a:lnTo>
                      <a:pt x="35" y="48"/>
                    </a:lnTo>
                    <a:lnTo>
                      <a:pt x="30" y="53"/>
                    </a:lnTo>
                    <a:lnTo>
                      <a:pt x="26" y="59"/>
                    </a:lnTo>
                    <a:lnTo>
                      <a:pt x="22" y="64"/>
                    </a:lnTo>
                    <a:lnTo>
                      <a:pt x="18" y="70"/>
                    </a:lnTo>
                    <a:lnTo>
                      <a:pt x="15" y="76"/>
                    </a:lnTo>
                    <a:lnTo>
                      <a:pt x="12" y="82"/>
                    </a:lnTo>
                    <a:lnTo>
                      <a:pt x="9" y="88"/>
                    </a:lnTo>
                    <a:lnTo>
                      <a:pt x="7" y="94"/>
                    </a:lnTo>
                    <a:lnTo>
                      <a:pt x="5" y="101"/>
                    </a:lnTo>
                    <a:lnTo>
                      <a:pt x="3" y="107"/>
                    </a:lnTo>
                    <a:lnTo>
                      <a:pt x="2" y="113"/>
                    </a:lnTo>
                    <a:lnTo>
                      <a:pt x="0" y="120"/>
                    </a:lnTo>
                    <a:lnTo>
                      <a:pt x="0" y="127"/>
                    </a:lnTo>
                    <a:lnTo>
                      <a:pt x="0" y="134"/>
                    </a:lnTo>
                    <a:lnTo>
                      <a:pt x="0" y="141"/>
                    </a:lnTo>
                    <a:lnTo>
                      <a:pt x="0" y="148"/>
                    </a:lnTo>
                    <a:lnTo>
                      <a:pt x="2" y="155"/>
                    </a:lnTo>
                    <a:lnTo>
                      <a:pt x="3" y="161"/>
                    </a:lnTo>
                    <a:lnTo>
                      <a:pt x="5" y="168"/>
                    </a:lnTo>
                    <a:lnTo>
                      <a:pt x="7" y="175"/>
                    </a:lnTo>
                    <a:lnTo>
                      <a:pt x="9" y="181"/>
                    </a:lnTo>
                    <a:lnTo>
                      <a:pt x="12" y="187"/>
                    </a:lnTo>
                    <a:lnTo>
                      <a:pt x="15" y="193"/>
                    </a:lnTo>
                    <a:lnTo>
                      <a:pt x="18" y="199"/>
                    </a:lnTo>
                    <a:lnTo>
                      <a:pt x="22" y="204"/>
                    </a:lnTo>
                    <a:lnTo>
                      <a:pt x="26" y="210"/>
                    </a:lnTo>
                    <a:lnTo>
                      <a:pt x="30" y="215"/>
                    </a:lnTo>
                    <a:lnTo>
                      <a:pt x="35" y="220"/>
                    </a:lnTo>
                    <a:lnTo>
                      <a:pt x="39" y="225"/>
                    </a:lnTo>
                    <a:lnTo>
                      <a:pt x="44" y="230"/>
                    </a:lnTo>
                    <a:lnTo>
                      <a:pt x="49" y="234"/>
                    </a:lnTo>
                    <a:lnTo>
                      <a:pt x="55" y="239"/>
                    </a:lnTo>
                    <a:lnTo>
                      <a:pt x="61" y="243"/>
                    </a:lnTo>
                    <a:lnTo>
                      <a:pt x="67" y="246"/>
                    </a:lnTo>
                    <a:lnTo>
                      <a:pt x="73" y="250"/>
                    </a:lnTo>
                    <a:lnTo>
                      <a:pt x="79" y="253"/>
                    </a:lnTo>
                    <a:lnTo>
                      <a:pt x="86" y="256"/>
                    </a:lnTo>
                    <a:lnTo>
                      <a:pt x="92" y="259"/>
                    </a:lnTo>
                    <a:lnTo>
                      <a:pt x="99" y="261"/>
                    </a:lnTo>
                    <a:lnTo>
                      <a:pt x="106" y="264"/>
                    </a:lnTo>
                    <a:lnTo>
                      <a:pt x="113" y="265"/>
                    </a:lnTo>
                    <a:lnTo>
                      <a:pt x="121" y="267"/>
                    </a:lnTo>
                    <a:lnTo>
                      <a:pt x="128" y="268"/>
                    </a:lnTo>
                    <a:lnTo>
                      <a:pt x="136" y="269"/>
                    </a:lnTo>
                    <a:lnTo>
                      <a:pt x="144" y="269"/>
                    </a:lnTo>
                    <a:lnTo>
                      <a:pt x="152" y="270"/>
                    </a:lnTo>
                  </a:path>
                </a:pathLst>
              </a:custGeom>
              <a:solidFill>
                <a:srgbClr val="FFFFFF"/>
              </a:solidFill>
              <a:ln w="9525" cap="rnd">
                <a:noFill/>
                <a:round/>
              </a:ln>
            </p:spPr>
            <p:txBody>
              <a:bodyPr wrap="none" lIns="98624" tIns="49313" rIns="98624" bIns="49313" anchor="ctr"/>
              <a:lstStyle/>
              <a:p>
                <a:endParaRPr lang="zh-CN" altLang="en-US"/>
              </a:p>
            </p:txBody>
          </p:sp>
          <p:sp>
            <p:nvSpPr>
              <p:cNvPr id="10317" name="Freeform 362"/>
              <p:cNvSpPr/>
              <p:nvPr/>
            </p:nvSpPr>
            <p:spPr bwMode="auto">
              <a:xfrm>
                <a:off x="1305" y="3029"/>
                <a:ext cx="176" cy="265"/>
              </a:xfrm>
              <a:custGeom>
                <a:avLst/>
                <a:gdLst>
                  <a:gd name="T0" fmla="*/ 175 w 176"/>
                  <a:gd name="T1" fmla="*/ 252 h 265"/>
                  <a:gd name="T2" fmla="*/ 20 w 176"/>
                  <a:gd name="T3" fmla="*/ 0 h 265"/>
                  <a:gd name="T4" fmla="*/ 0 w 176"/>
                  <a:gd name="T5" fmla="*/ 10 h 265"/>
                  <a:gd name="T6" fmla="*/ 153 w 176"/>
                  <a:gd name="T7" fmla="*/ 264 h 265"/>
                  <a:gd name="T8" fmla="*/ 175 w 176"/>
                  <a:gd name="T9" fmla="*/ 252 h 265"/>
                  <a:gd name="T10" fmla="*/ 0 60000 65536"/>
                  <a:gd name="T11" fmla="*/ 0 60000 65536"/>
                  <a:gd name="T12" fmla="*/ 0 60000 65536"/>
                  <a:gd name="T13" fmla="*/ 0 60000 65536"/>
                  <a:gd name="T14" fmla="*/ 0 60000 65536"/>
                  <a:gd name="T15" fmla="*/ 0 w 176"/>
                  <a:gd name="T16" fmla="*/ 0 h 265"/>
                  <a:gd name="T17" fmla="*/ 176 w 176"/>
                  <a:gd name="T18" fmla="*/ 265 h 265"/>
                </a:gdLst>
                <a:ahLst/>
                <a:cxnLst>
                  <a:cxn ang="T10">
                    <a:pos x="T0" y="T1"/>
                  </a:cxn>
                  <a:cxn ang="T11">
                    <a:pos x="T2" y="T3"/>
                  </a:cxn>
                  <a:cxn ang="T12">
                    <a:pos x="T4" y="T5"/>
                  </a:cxn>
                  <a:cxn ang="T13">
                    <a:pos x="T6" y="T7"/>
                  </a:cxn>
                  <a:cxn ang="T14">
                    <a:pos x="T8" y="T9"/>
                  </a:cxn>
                </a:cxnLst>
                <a:rect l="T15" t="T16" r="T17" b="T18"/>
                <a:pathLst>
                  <a:path w="176" h="265">
                    <a:moveTo>
                      <a:pt x="175" y="252"/>
                    </a:moveTo>
                    <a:lnTo>
                      <a:pt x="20" y="0"/>
                    </a:lnTo>
                    <a:lnTo>
                      <a:pt x="0" y="10"/>
                    </a:lnTo>
                    <a:lnTo>
                      <a:pt x="153" y="264"/>
                    </a:lnTo>
                    <a:lnTo>
                      <a:pt x="175" y="252"/>
                    </a:lnTo>
                  </a:path>
                </a:pathLst>
              </a:custGeom>
              <a:solidFill>
                <a:srgbClr val="CC0000"/>
              </a:solidFill>
              <a:ln w="9525" cap="rnd">
                <a:noFill/>
                <a:round/>
              </a:ln>
            </p:spPr>
            <p:txBody>
              <a:bodyPr wrap="none" lIns="98624" tIns="49313" rIns="98624" bIns="49313" anchor="ctr"/>
              <a:lstStyle/>
              <a:p>
                <a:endParaRPr lang="zh-CN" altLang="en-US"/>
              </a:p>
            </p:txBody>
          </p:sp>
        </p:grpSp>
        <p:sp>
          <p:nvSpPr>
            <p:cNvPr id="249195" name="Rectangle 363"/>
            <p:cNvSpPr>
              <a:spLocks noChangeArrowheads="1"/>
            </p:cNvSpPr>
            <p:nvPr/>
          </p:nvSpPr>
          <p:spPr bwMode="auto">
            <a:xfrm>
              <a:off x="2866" y="2667"/>
              <a:ext cx="1372" cy="1096"/>
            </a:xfrm>
            <a:prstGeom prst="rect">
              <a:avLst/>
            </a:prstGeom>
            <a:solidFill>
              <a:srgbClr val="FFFF00"/>
            </a:solidFill>
            <a:ln w="50799">
              <a:solidFill>
                <a:srgbClr val="CC0000"/>
              </a:solidFill>
              <a:miter lim="800000"/>
            </a:ln>
            <a:effectLst/>
          </p:spPr>
          <p:txBody>
            <a:bodyPr wrap="none" lIns="98624" tIns="49313" rIns="98624" bIns="49313" anchor="ctr"/>
            <a:lstStyle/>
            <a:p>
              <a:pPr defTabSz="979805" eaLnBrk="0" hangingPunct="0">
                <a:defRPr/>
              </a:pPr>
              <a:r>
                <a:rPr kumimoji="1" lang="zh-CN" altLang="en-US" sz="2200" dirty="0">
                  <a:effectLst>
                    <a:outerShdw blurRad="38100" dist="38100" dir="2700000" algn="tl">
                      <a:srgbClr val="FFFFFF"/>
                    </a:outerShdw>
                  </a:effectLst>
                  <a:latin typeface="Helvetica" charset="0"/>
                </a:rPr>
                <a:t>警告</a:t>
              </a:r>
              <a:r>
                <a:rPr kumimoji="1" lang="en-US" altLang="zh-CN" sz="2200" dirty="0">
                  <a:effectLst>
                    <a:outerShdw blurRad="38100" dist="38100" dir="2700000" algn="tl">
                      <a:srgbClr val="FFFFFF"/>
                    </a:outerShdw>
                  </a:effectLst>
                  <a:latin typeface="Helvetica" charset="0"/>
                </a:rPr>
                <a:t>!</a:t>
              </a:r>
            </a:p>
            <a:p>
              <a:pPr defTabSz="979805" eaLnBrk="0" hangingPunct="0">
                <a:defRPr/>
              </a:pPr>
              <a:endParaRPr kumimoji="1" lang="en-US" altLang="zh-CN" sz="2000" dirty="0">
                <a:latin typeface="Helvetica" charset="0"/>
              </a:endParaRPr>
            </a:p>
            <a:p>
              <a:pPr defTabSz="979805" eaLnBrk="0" hangingPunct="0">
                <a:defRPr/>
              </a:pPr>
              <a:r>
                <a:rPr kumimoji="1" lang="zh-CN" altLang="en-US" sz="2000" dirty="0">
                  <a:latin typeface="Helvetica" charset="0"/>
                </a:rPr>
                <a:t>启动事件日志</a:t>
              </a:r>
              <a:r>
                <a:rPr kumimoji="1" lang="en-US" altLang="zh-CN" sz="2000" dirty="0">
                  <a:latin typeface="Helvetica" charset="0"/>
                </a:rPr>
                <a:t>,</a:t>
              </a:r>
            </a:p>
            <a:p>
              <a:pPr defTabSz="979805" eaLnBrk="0" hangingPunct="0">
                <a:defRPr/>
              </a:pPr>
              <a:r>
                <a:rPr kumimoji="1" lang="zh-CN" altLang="en-US" sz="2000" dirty="0">
                  <a:latin typeface="Helvetica" charset="0"/>
                </a:rPr>
                <a:t>发送消息</a:t>
              </a:r>
            </a:p>
          </p:txBody>
        </p:sp>
        <p:sp>
          <p:nvSpPr>
            <p:cNvPr id="10314" name="Line 364"/>
            <p:cNvSpPr>
              <a:spLocks noChangeShapeType="1"/>
            </p:cNvSpPr>
            <p:nvPr/>
          </p:nvSpPr>
          <p:spPr bwMode="auto">
            <a:xfrm flipH="1" flipV="1">
              <a:off x="1542" y="3215"/>
              <a:ext cx="1308" cy="372"/>
            </a:xfrm>
            <a:prstGeom prst="line">
              <a:avLst/>
            </a:prstGeom>
            <a:noFill/>
            <a:ln w="50799">
              <a:solidFill>
                <a:srgbClr val="CC0000"/>
              </a:solidFill>
              <a:round/>
              <a:headEnd type="none" w="sm" len="sm"/>
              <a:tailEnd type="none" w="sm" len="sm"/>
            </a:ln>
          </p:spPr>
          <p:txBody>
            <a:bodyPr wrap="none" lIns="98624" tIns="49313" rIns="98624" bIns="49313" anchor="ctr"/>
            <a:lstStyle/>
            <a:p>
              <a:endParaRPr lang="zh-CN" altLang="en-US"/>
            </a:p>
          </p:txBody>
        </p:sp>
      </p:grpSp>
      <p:sp>
        <p:nvSpPr>
          <p:cNvPr id="10311" name="Rectangle 365"/>
          <p:cNvSpPr>
            <a:spLocks noChangeArrowheads="1"/>
          </p:cNvSpPr>
          <p:nvPr/>
        </p:nvSpPr>
        <p:spPr bwMode="auto">
          <a:xfrm>
            <a:off x="856357" y="846410"/>
            <a:ext cx="7191573" cy="533400"/>
          </a:xfrm>
          <a:prstGeom prst="rect">
            <a:avLst/>
          </a:prstGeom>
          <a:noFill/>
          <a:ln w="9525">
            <a:noFill/>
            <a:miter lim="800000"/>
          </a:ln>
        </p:spPr>
        <p:txBody>
          <a:bodyPr lIns="76520" tIns="39109" rIns="76520" bIns="39109" anchor="ctr"/>
          <a:lstStyle/>
          <a:p>
            <a:r>
              <a:rPr kumimoji="1" lang="zh-CN" altLang="en-US" sz="2400" b="1" dirty="0">
                <a:solidFill>
                  <a:srgbClr val="0033CC"/>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利用</a:t>
            </a:r>
            <a:r>
              <a:rPr kumimoji="1" lang="en-US" altLang="zh-CN" sz="2400" b="1" dirty="0" err="1">
                <a:solidFill>
                  <a:srgbClr val="0033CC"/>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RealSecure</a:t>
            </a:r>
            <a:r>
              <a:rPr kumimoji="1" lang="zh-CN" altLang="en-US" sz="2400" b="1" dirty="0">
                <a:solidFill>
                  <a:srgbClr val="0033CC"/>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进行可适应性攻击检测和响应</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0332"/>
                                        </p:tgtEl>
                                        <p:attrNameLst>
                                          <p:attrName>style.visibility</p:attrName>
                                        </p:attrNameLst>
                                      </p:cBhvr>
                                      <p:to>
                                        <p:strVal val="visible"/>
                                      </p:to>
                                    </p:set>
                                    <p:animEffect transition="in" filter="dissolve">
                                      <p:cBhvr>
                                        <p:cTn id="7" dur="500"/>
                                        <p:tgtEl>
                                          <p:spTgt spid="10332"/>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0349"/>
                                        </p:tgtEl>
                                        <p:attrNameLst>
                                          <p:attrName>style.visibility</p:attrName>
                                        </p:attrNameLst>
                                      </p:cBhvr>
                                      <p:to>
                                        <p:strVal val="visible"/>
                                      </p:to>
                                    </p:set>
                                    <p:animEffect transition="in" filter="dissolve">
                                      <p:cBhvr>
                                        <p:cTn id="11" dur="500"/>
                                        <p:tgtEl>
                                          <p:spTgt spid="10349"/>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10359"/>
                                        </p:tgtEl>
                                        <p:attrNameLst>
                                          <p:attrName>style.visibility</p:attrName>
                                        </p:attrNameLst>
                                      </p:cBhvr>
                                      <p:to>
                                        <p:strVal val="visible"/>
                                      </p:to>
                                    </p:set>
                                    <p:animEffect transition="in" filter="dissolve">
                                      <p:cBhvr>
                                        <p:cTn id="15" dur="500"/>
                                        <p:tgtEl>
                                          <p:spTgt spid="10359"/>
                                        </p:tgtEl>
                                      </p:cBhvr>
                                    </p:animEffect>
                                  </p:childTnLst>
                                </p:cTn>
                              </p:par>
                            </p:childTnLst>
                          </p:cTn>
                        </p:par>
                        <p:par>
                          <p:cTn id="16" fill="hold">
                            <p:stCondLst>
                              <p:cond delay="1500"/>
                            </p:stCondLst>
                            <p:childTnLst>
                              <p:par>
                                <p:cTn id="17" presetID="9" presetClass="entr" presetSubtype="0" fill="hold" nodeType="afterEffect">
                                  <p:stCondLst>
                                    <p:cond delay="0"/>
                                  </p:stCondLst>
                                  <p:childTnLst>
                                    <p:set>
                                      <p:cBhvr>
                                        <p:cTn id="18" dur="1" fill="hold">
                                          <p:stCondLst>
                                            <p:cond delay="0"/>
                                          </p:stCondLst>
                                        </p:cTn>
                                        <p:tgtEl>
                                          <p:spTgt spid="248833"/>
                                        </p:tgtEl>
                                        <p:attrNameLst>
                                          <p:attrName>style.visibility</p:attrName>
                                        </p:attrNameLst>
                                      </p:cBhvr>
                                      <p:to>
                                        <p:strVal val="visible"/>
                                      </p:to>
                                    </p:set>
                                    <p:animEffect transition="in" filter="dissolve">
                                      <p:cBhvr>
                                        <p:cTn id="19" dur="500"/>
                                        <p:tgtEl>
                                          <p:spTgt spid="248833"/>
                                        </p:tgtEl>
                                      </p:cBhvr>
                                    </p:animEffect>
                                  </p:childTnLst>
                                </p:cTn>
                              </p:par>
                            </p:childTnLst>
                          </p:cTn>
                        </p:par>
                        <p:par>
                          <p:cTn id="20" fill="hold">
                            <p:stCondLst>
                              <p:cond delay="2000"/>
                            </p:stCondLst>
                            <p:childTnLst>
                              <p:par>
                                <p:cTn id="21" presetID="9" presetClass="entr" presetSubtype="0" fill="hold" nodeType="afterEffect">
                                  <p:stCondLst>
                                    <p:cond delay="0"/>
                                  </p:stCondLst>
                                  <p:childTnLst>
                                    <p:set>
                                      <p:cBhvr>
                                        <p:cTn id="22" dur="1" fill="hold">
                                          <p:stCondLst>
                                            <p:cond delay="0"/>
                                          </p:stCondLst>
                                        </p:cTn>
                                        <p:tgtEl>
                                          <p:spTgt spid="248838"/>
                                        </p:tgtEl>
                                        <p:attrNameLst>
                                          <p:attrName>style.visibility</p:attrName>
                                        </p:attrNameLst>
                                      </p:cBhvr>
                                      <p:to>
                                        <p:strVal val="visible"/>
                                      </p:to>
                                    </p:set>
                                    <p:animEffect transition="in" filter="dissolve">
                                      <p:cBhvr>
                                        <p:cTn id="23" dur="500"/>
                                        <p:tgtEl>
                                          <p:spTgt spid="248838"/>
                                        </p:tgtEl>
                                      </p:cBhvr>
                                    </p:animEffect>
                                  </p:childTnLst>
                                </p:cTn>
                              </p:par>
                            </p:childTnLst>
                          </p:cTn>
                        </p:par>
                        <p:par>
                          <p:cTn id="24" fill="hold">
                            <p:stCondLst>
                              <p:cond delay="2500"/>
                            </p:stCondLst>
                            <p:childTnLst>
                              <p:par>
                                <p:cTn id="25" presetID="9" presetClass="entr" presetSubtype="0" fill="hold" nodeType="afterEffect">
                                  <p:stCondLst>
                                    <p:cond delay="0"/>
                                  </p:stCondLst>
                                  <p:childTnLst>
                                    <p:set>
                                      <p:cBhvr>
                                        <p:cTn id="26" dur="1" fill="hold">
                                          <p:stCondLst>
                                            <p:cond delay="0"/>
                                          </p:stCondLst>
                                        </p:cTn>
                                        <p:tgtEl>
                                          <p:spTgt spid="248842"/>
                                        </p:tgtEl>
                                        <p:attrNameLst>
                                          <p:attrName>style.visibility</p:attrName>
                                        </p:attrNameLst>
                                      </p:cBhvr>
                                      <p:to>
                                        <p:strVal val="visible"/>
                                      </p:to>
                                    </p:set>
                                    <p:animEffect transition="in" filter="dissolve">
                                      <p:cBhvr>
                                        <p:cTn id="27" dur="500"/>
                                        <p:tgtEl>
                                          <p:spTgt spid="24884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49185"/>
                                        </p:tgtEl>
                                        <p:attrNameLst>
                                          <p:attrName>style.visibility</p:attrName>
                                        </p:attrNameLst>
                                      </p:cBhvr>
                                      <p:to>
                                        <p:strVal val="visible"/>
                                      </p:to>
                                    </p:set>
                                    <p:animEffect transition="in" filter="wipe(down)">
                                      <p:cBhvr>
                                        <p:cTn id="32" dur="500"/>
                                        <p:tgtEl>
                                          <p:spTgt spid="249185"/>
                                        </p:tgtEl>
                                      </p:cBhvr>
                                    </p:animEffec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249186"/>
                                        </p:tgtEl>
                                        <p:attrNameLst>
                                          <p:attrName>style.visibility</p:attrName>
                                        </p:attrNameLst>
                                      </p:cBhvr>
                                      <p:to>
                                        <p:strVal val="visible"/>
                                      </p:to>
                                    </p:set>
                                    <p:animEffect transition="in" filter="wipe(left)">
                                      <p:cBhvr>
                                        <p:cTn id="36" dur="500"/>
                                        <p:tgtEl>
                                          <p:spTgt spid="249186"/>
                                        </p:tgtEl>
                                      </p:cBhvr>
                                    </p:animEffect>
                                  </p:childTnLst>
                                </p:cTn>
                              </p:par>
                            </p:childTnLst>
                          </p:cTn>
                        </p:par>
                        <p:par>
                          <p:cTn id="37" fill="hold">
                            <p:stCondLst>
                              <p:cond delay="1000"/>
                            </p:stCondLst>
                            <p:childTnLst>
                              <p:par>
                                <p:cTn id="38" presetID="22" presetClass="entr" presetSubtype="8" fill="hold" grpId="0" nodeType="afterEffect">
                                  <p:stCondLst>
                                    <p:cond delay="0"/>
                                  </p:stCondLst>
                                  <p:childTnLst>
                                    <p:set>
                                      <p:cBhvr>
                                        <p:cTn id="39" dur="1" fill="hold">
                                          <p:stCondLst>
                                            <p:cond delay="0"/>
                                          </p:stCondLst>
                                        </p:cTn>
                                        <p:tgtEl>
                                          <p:spTgt spid="249187"/>
                                        </p:tgtEl>
                                        <p:attrNameLst>
                                          <p:attrName>style.visibility</p:attrName>
                                        </p:attrNameLst>
                                      </p:cBhvr>
                                      <p:to>
                                        <p:strVal val="visible"/>
                                      </p:to>
                                    </p:set>
                                    <p:animEffect transition="in" filter="wipe(left)">
                                      <p:cBhvr>
                                        <p:cTn id="40" dur="500"/>
                                        <p:tgtEl>
                                          <p:spTgt spid="249187"/>
                                        </p:tgtEl>
                                      </p:cBhvr>
                                    </p:animEffect>
                                  </p:childTnLst>
                                </p:cTn>
                              </p:par>
                            </p:childTnLst>
                          </p:cTn>
                        </p:par>
                        <p:par>
                          <p:cTn id="41" fill="hold">
                            <p:stCondLst>
                              <p:cond delay="1500"/>
                            </p:stCondLst>
                            <p:childTnLst>
                              <p:par>
                                <p:cTn id="42" presetID="22" presetClass="entr" presetSubtype="1" fill="hold" grpId="0" nodeType="afterEffect">
                                  <p:stCondLst>
                                    <p:cond delay="0"/>
                                  </p:stCondLst>
                                  <p:childTnLst>
                                    <p:set>
                                      <p:cBhvr>
                                        <p:cTn id="43" dur="1" fill="hold">
                                          <p:stCondLst>
                                            <p:cond delay="0"/>
                                          </p:stCondLst>
                                        </p:cTn>
                                        <p:tgtEl>
                                          <p:spTgt spid="249188"/>
                                        </p:tgtEl>
                                        <p:attrNameLst>
                                          <p:attrName>style.visibility</p:attrName>
                                        </p:attrNameLst>
                                      </p:cBhvr>
                                      <p:to>
                                        <p:strVal val="visible"/>
                                      </p:to>
                                    </p:set>
                                    <p:animEffect transition="in" filter="wipe(up)">
                                      <p:cBhvr>
                                        <p:cTn id="44" dur="500"/>
                                        <p:tgtEl>
                                          <p:spTgt spid="249188"/>
                                        </p:tgtEl>
                                      </p:cBhvr>
                                    </p:animEffect>
                                  </p:childTnLst>
                                </p:cTn>
                              </p:par>
                            </p:childTnLst>
                          </p:cTn>
                        </p:par>
                        <p:par>
                          <p:cTn id="45" fill="hold">
                            <p:stCondLst>
                              <p:cond delay="2000"/>
                            </p:stCondLst>
                            <p:childTnLst>
                              <p:par>
                                <p:cTn id="46" presetID="22" presetClass="entr" presetSubtype="2" fill="hold" grpId="0" nodeType="afterEffect">
                                  <p:stCondLst>
                                    <p:cond delay="0"/>
                                  </p:stCondLst>
                                  <p:childTnLst>
                                    <p:set>
                                      <p:cBhvr>
                                        <p:cTn id="47" dur="1" fill="hold">
                                          <p:stCondLst>
                                            <p:cond delay="0"/>
                                          </p:stCondLst>
                                        </p:cTn>
                                        <p:tgtEl>
                                          <p:spTgt spid="249189"/>
                                        </p:tgtEl>
                                        <p:attrNameLst>
                                          <p:attrName>style.visibility</p:attrName>
                                        </p:attrNameLst>
                                      </p:cBhvr>
                                      <p:to>
                                        <p:strVal val="visible"/>
                                      </p:to>
                                    </p:set>
                                    <p:animEffect transition="in" filter="wipe(right)">
                                      <p:cBhvr>
                                        <p:cTn id="48" dur="500"/>
                                        <p:tgtEl>
                                          <p:spTgt spid="249189"/>
                                        </p:tgtEl>
                                      </p:cBhvr>
                                    </p:animEffect>
                                  </p:childTnLst>
                                </p:cTn>
                              </p:par>
                            </p:childTnLst>
                          </p:cTn>
                        </p:par>
                        <p:par>
                          <p:cTn id="49" fill="hold">
                            <p:stCondLst>
                              <p:cond delay="2500"/>
                            </p:stCondLst>
                            <p:childTnLst>
                              <p:par>
                                <p:cTn id="50" presetID="22" presetClass="entr" presetSubtype="8" fill="hold" nodeType="afterEffect">
                                  <p:stCondLst>
                                    <p:cond delay="0"/>
                                  </p:stCondLst>
                                  <p:childTnLst>
                                    <p:set>
                                      <p:cBhvr>
                                        <p:cTn id="51" dur="1" fill="hold">
                                          <p:stCondLst>
                                            <p:cond delay="0"/>
                                          </p:stCondLst>
                                        </p:cTn>
                                        <p:tgtEl>
                                          <p:spTgt spid="248852"/>
                                        </p:tgtEl>
                                        <p:attrNameLst>
                                          <p:attrName>style.visibility</p:attrName>
                                        </p:attrNameLst>
                                      </p:cBhvr>
                                      <p:to>
                                        <p:strVal val="visible"/>
                                      </p:to>
                                    </p:set>
                                    <p:animEffect transition="in" filter="wipe(left)">
                                      <p:cBhvr>
                                        <p:cTn id="52" dur="500"/>
                                        <p:tgtEl>
                                          <p:spTgt spid="2488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185" grpId="0" animBg="1"/>
      <p:bldP spid="249186" grpId="0" animBg="1"/>
      <p:bldP spid="249187" grpId="0" animBg="1"/>
      <p:bldP spid="249188" grpId="0" animBg="1"/>
      <p:bldP spid="249189" grpId="0" animBg="1"/>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3" name="Line 4"/>
          <p:cNvSpPr>
            <a:spLocks noChangeShapeType="1"/>
          </p:cNvSpPr>
          <p:nvPr/>
        </p:nvSpPr>
        <p:spPr bwMode="auto">
          <a:xfrm flipV="1">
            <a:off x="1262063" y="2889920"/>
            <a:ext cx="0" cy="546100"/>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11274" name="Line 5"/>
          <p:cNvSpPr>
            <a:spLocks noChangeShapeType="1"/>
          </p:cNvSpPr>
          <p:nvPr/>
        </p:nvSpPr>
        <p:spPr bwMode="auto">
          <a:xfrm flipV="1">
            <a:off x="1262063" y="4871120"/>
            <a:ext cx="0" cy="381000"/>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11275" name="Rectangle 6"/>
          <p:cNvSpPr>
            <a:spLocks noChangeArrowheads="1"/>
          </p:cNvSpPr>
          <p:nvPr/>
        </p:nvSpPr>
        <p:spPr bwMode="auto">
          <a:xfrm>
            <a:off x="1064617" y="743620"/>
            <a:ext cx="6886575" cy="533400"/>
          </a:xfrm>
          <a:prstGeom prst="rect">
            <a:avLst/>
          </a:prstGeom>
          <a:noFill/>
          <a:ln w="9525">
            <a:noFill/>
            <a:miter lim="800000"/>
          </a:ln>
        </p:spPr>
        <p:txBody>
          <a:bodyPr lIns="76520" tIns="39109" rIns="76520" bIns="39109" anchor="ctr"/>
          <a:lstStyle/>
          <a:p>
            <a:r>
              <a:rPr kumimoji="1" lang="zh-CN" altLang="en-US" sz="2400" b="1" dirty="0">
                <a:solidFill>
                  <a:srgbClr val="0033CC"/>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利用</a:t>
            </a:r>
            <a:r>
              <a:rPr kumimoji="1" lang="en-US" altLang="zh-CN" sz="2400" b="1" dirty="0" err="1">
                <a:solidFill>
                  <a:srgbClr val="0033CC"/>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RealSecure</a:t>
            </a:r>
            <a:r>
              <a:rPr kumimoji="1" lang="zh-CN" altLang="en-US" sz="2400" b="1" dirty="0">
                <a:solidFill>
                  <a:srgbClr val="0033CC"/>
                </a:solidFill>
                <a:effectLst>
                  <a:outerShdw blurRad="38100" dist="38100" dir="2700000" algn="tl">
                    <a:srgbClr val="000000">
                      <a:alpha val="43137"/>
                    </a:srgbClr>
                  </a:outerShdw>
                </a:effectLst>
                <a:latin typeface="Times New Roman" panose="02020603050405020304" pitchFamily="18" charset="0"/>
                <a:ea typeface="黑体" panose="02010609060101010101" pitchFamily="2" charset="-122"/>
                <a:cs typeface="Times New Roman" panose="02020603050405020304" pitchFamily="18" charset="0"/>
              </a:rPr>
              <a:t>进行可适应性攻击检测和响应</a:t>
            </a:r>
          </a:p>
        </p:txBody>
      </p:sp>
      <p:sp>
        <p:nvSpPr>
          <p:cNvPr id="11276" name="Rectangle 7"/>
          <p:cNvSpPr>
            <a:spLocks noChangeArrowheads="1"/>
          </p:cNvSpPr>
          <p:nvPr/>
        </p:nvSpPr>
        <p:spPr bwMode="auto">
          <a:xfrm>
            <a:off x="4021138" y="2535907"/>
            <a:ext cx="2819400" cy="457200"/>
          </a:xfrm>
          <a:prstGeom prst="rect">
            <a:avLst/>
          </a:prstGeom>
          <a:noFill/>
          <a:ln w="9525">
            <a:noFill/>
            <a:miter lim="800000"/>
          </a:ln>
        </p:spPr>
        <p:txBody>
          <a:bodyPr>
            <a:spAutoFit/>
          </a:bodyPr>
          <a:lstStyle/>
          <a:p>
            <a:pPr algn="l"/>
            <a:endParaRPr kumimoji="1" lang="zh-CN" altLang="zh-CN" sz="2400" b="0">
              <a:latin typeface="Times New Roman" panose="02020603050405020304" pitchFamily="18" charset="0"/>
            </a:endParaRPr>
          </a:p>
        </p:txBody>
      </p:sp>
      <p:sp>
        <p:nvSpPr>
          <p:cNvPr id="249864" name="Rectangle 8"/>
          <p:cNvSpPr>
            <a:spLocks noChangeArrowheads="1"/>
          </p:cNvSpPr>
          <p:nvPr/>
        </p:nvSpPr>
        <p:spPr bwMode="auto">
          <a:xfrm>
            <a:off x="5173663" y="1772320"/>
            <a:ext cx="184150" cy="701675"/>
          </a:xfrm>
          <a:prstGeom prst="rect">
            <a:avLst/>
          </a:prstGeom>
          <a:noFill/>
          <a:ln w="9525">
            <a:noFill/>
            <a:miter lim="800000"/>
          </a:ln>
        </p:spPr>
        <p:txBody>
          <a:bodyPr wrap="none">
            <a:spAutoFit/>
          </a:bodyPr>
          <a:lstStyle/>
          <a:p>
            <a:pPr>
              <a:defRPr/>
            </a:pPr>
            <a:endParaRPr kumimoji="1" lang="zh-CN" altLang="zh-CN" sz="4000">
              <a:effectLst>
                <a:outerShdw blurRad="38100" dist="38100" dir="2700000" algn="tl">
                  <a:srgbClr val="C0C0C0"/>
                </a:outerShdw>
              </a:effectLst>
              <a:latin typeface="Times New Roman" panose="02020603050405020304" pitchFamily="18" charset="0"/>
            </a:endParaRPr>
          </a:p>
        </p:txBody>
      </p:sp>
      <p:sp>
        <p:nvSpPr>
          <p:cNvPr id="11278" name="Rectangle 9"/>
          <p:cNvSpPr>
            <a:spLocks noChangeArrowheads="1"/>
          </p:cNvSpPr>
          <p:nvPr/>
        </p:nvSpPr>
        <p:spPr bwMode="auto">
          <a:xfrm>
            <a:off x="1338263" y="1061120"/>
            <a:ext cx="2819400" cy="457200"/>
          </a:xfrm>
          <a:prstGeom prst="rect">
            <a:avLst/>
          </a:prstGeom>
          <a:noFill/>
          <a:ln w="9525">
            <a:noFill/>
            <a:miter lim="800000"/>
          </a:ln>
        </p:spPr>
        <p:txBody>
          <a:bodyPr>
            <a:spAutoFit/>
          </a:bodyPr>
          <a:lstStyle/>
          <a:p>
            <a:pPr algn="l"/>
            <a:endParaRPr kumimoji="1" lang="zh-CN" altLang="zh-CN" sz="2400" b="0">
              <a:latin typeface="Times New Roman" panose="02020603050405020304" pitchFamily="18" charset="0"/>
            </a:endParaRPr>
          </a:p>
        </p:txBody>
      </p:sp>
      <p:sp>
        <p:nvSpPr>
          <p:cNvPr id="11279" name="Rectangle 10"/>
          <p:cNvSpPr>
            <a:spLocks noChangeArrowheads="1"/>
          </p:cNvSpPr>
          <p:nvPr/>
        </p:nvSpPr>
        <p:spPr bwMode="auto">
          <a:xfrm>
            <a:off x="1338263" y="1061120"/>
            <a:ext cx="2819400" cy="457200"/>
          </a:xfrm>
          <a:prstGeom prst="rect">
            <a:avLst/>
          </a:prstGeom>
          <a:noFill/>
          <a:ln w="9525">
            <a:noFill/>
            <a:miter lim="800000"/>
          </a:ln>
        </p:spPr>
        <p:txBody>
          <a:bodyPr>
            <a:spAutoFit/>
          </a:bodyPr>
          <a:lstStyle/>
          <a:p>
            <a:pPr algn="l"/>
            <a:endParaRPr kumimoji="1" lang="zh-CN" altLang="zh-CN" sz="2400" b="0">
              <a:latin typeface="Times New Roman" panose="02020603050405020304" pitchFamily="18" charset="0"/>
            </a:endParaRPr>
          </a:p>
        </p:txBody>
      </p:sp>
      <p:pic>
        <p:nvPicPr>
          <p:cNvPr id="11280" name="Picture 11"/>
          <p:cNvPicPr>
            <a:picLocks noChangeArrowheads="1"/>
          </p:cNvPicPr>
          <p:nvPr/>
        </p:nvPicPr>
        <p:blipFill>
          <a:blip r:embed="rId3"/>
          <a:srcRect/>
          <a:stretch>
            <a:fillRect/>
          </a:stretch>
        </p:blipFill>
        <p:spPr bwMode="auto">
          <a:xfrm>
            <a:off x="1055688" y="5153695"/>
            <a:ext cx="398462" cy="330200"/>
          </a:xfrm>
          <a:prstGeom prst="rect">
            <a:avLst/>
          </a:prstGeom>
          <a:noFill/>
          <a:ln w="9525">
            <a:noFill/>
            <a:miter lim="800000"/>
            <a:headEnd/>
            <a:tailEnd/>
          </a:ln>
        </p:spPr>
      </p:pic>
      <p:sp>
        <p:nvSpPr>
          <p:cNvPr id="11281" name="Oval 12"/>
          <p:cNvSpPr>
            <a:spLocks noChangeArrowheads="1"/>
          </p:cNvSpPr>
          <p:nvPr/>
        </p:nvSpPr>
        <p:spPr bwMode="auto">
          <a:xfrm>
            <a:off x="2895600" y="1550070"/>
            <a:ext cx="2286000" cy="3749675"/>
          </a:xfrm>
          <a:prstGeom prst="ellipse">
            <a:avLst/>
          </a:prstGeom>
          <a:gradFill rotWithShape="0">
            <a:gsLst>
              <a:gs pos="0">
                <a:srgbClr val="063DE8"/>
              </a:gs>
              <a:gs pos="100000">
                <a:srgbClr val="010617"/>
              </a:gs>
            </a:gsLst>
            <a:path path="shape">
              <a:fillToRect l="50000" t="50000" r="50000" b="50000"/>
            </a:path>
          </a:gradFill>
          <a:ln w="9525">
            <a:noFill/>
            <a:round/>
          </a:ln>
        </p:spPr>
        <p:txBody>
          <a:bodyPr wrap="none" anchor="ctr"/>
          <a:lstStyle/>
          <a:p>
            <a:endParaRPr lang="zh-CN" altLang="en-US"/>
          </a:p>
        </p:txBody>
      </p:sp>
      <p:sp>
        <p:nvSpPr>
          <p:cNvPr id="11282" name="Line 13"/>
          <p:cNvSpPr>
            <a:spLocks noChangeShapeType="1"/>
          </p:cNvSpPr>
          <p:nvPr/>
        </p:nvSpPr>
        <p:spPr bwMode="auto">
          <a:xfrm>
            <a:off x="2759075" y="3886870"/>
            <a:ext cx="922338" cy="0"/>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11283" name="Line 14"/>
          <p:cNvSpPr>
            <a:spLocks noChangeShapeType="1"/>
          </p:cNvSpPr>
          <p:nvPr/>
        </p:nvSpPr>
        <p:spPr bwMode="auto">
          <a:xfrm>
            <a:off x="2193925" y="3886870"/>
            <a:ext cx="615950" cy="0"/>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11284" name="Freeform 15"/>
          <p:cNvSpPr/>
          <p:nvPr/>
        </p:nvSpPr>
        <p:spPr bwMode="auto">
          <a:xfrm>
            <a:off x="2224088" y="1921545"/>
            <a:ext cx="1474787" cy="2921000"/>
          </a:xfrm>
          <a:custGeom>
            <a:avLst/>
            <a:gdLst>
              <a:gd name="T0" fmla="*/ 0 w 827"/>
              <a:gd name="T1" fmla="*/ 0 h 1841"/>
              <a:gd name="T2" fmla="*/ 826 w 827"/>
              <a:gd name="T3" fmla="*/ 0 h 1841"/>
              <a:gd name="T4" fmla="*/ 826 w 827"/>
              <a:gd name="T5" fmla="*/ 1840 h 1841"/>
              <a:gd name="T6" fmla="*/ 87 w 827"/>
              <a:gd name="T7" fmla="*/ 1840 h 1841"/>
              <a:gd name="T8" fmla="*/ 0 60000 65536"/>
              <a:gd name="T9" fmla="*/ 0 60000 65536"/>
              <a:gd name="T10" fmla="*/ 0 60000 65536"/>
              <a:gd name="T11" fmla="*/ 0 60000 65536"/>
              <a:gd name="T12" fmla="*/ 0 w 827"/>
              <a:gd name="T13" fmla="*/ 0 h 1841"/>
              <a:gd name="T14" fmla="*/ 827 w 827"/>
              <a:gd name="T15" fmla="*/ 1841 h 1841"/>
            </a:gdLst>
            <a:ahLst/>
            <a:cxnLst>
              <a:cxn ang="T8">
                <a:pos x="T0" y="T1"/>
              </a:cxn>
              <a:cxn ang="T9">
                <a:pos x="T2" y="T3"/>
              </a:cxn>
              <a:cxn ang="T10">
                <a:pos x="T4" y="T5"/>
              </a:cxn>
              <a:cxn ang="T11">
                <a:pos x="T6" y="T7"/>
              </a:cxn>
            </a:cxnLst>
            <a:rect l="T12" t="T13" r="T14" b="T15"/>
            <a:pathLst>
              <a:path w="827" h="1841">
                <a:moveTo>
                  <a:pt x="0" y="0"/>
                </a:moveTo>
                <a:lnTo>
                  <a:pt x="826" y="0"/>
                </a:lnTo>
                <a:lnTo>
                  <a:pt x="826" y="1840"/>
                </a:lnTo>
                <a:lnTo>
                  <a:pt x="87" y="1840"/>
                </a:lnTo>
              </a:path>
            </a:pathLst>
          </a:custGeom>
          <a:noFill/>
          <a:ln w="25399" cap="rnd">
            <a:solidFill>
              <a:schemeClr val="tx1"/>
            </a:solidFill>
            <a:round/>
            <a:headEnd type="none" w="sm" len="sm"/>
            <a:tailEnd type="none" w="sm" len="sm"/>
          </a:ln>
        </p:spPr>
        <p:txBody>
          <a:bodyPr/>
          <a:lstStyle/>
          <a:p>
            <a:endParaRPr lang="zh-CN" altLang="en-US"/>
          </a:p>
        </p:txBody>
      </p:sp>
      <p:sp>
        <p:nvSpPr>
          <p:cNvPr id="11285" name="Line 16"/>
          <p:cNvSpPr>
            <a:spLocks noChangeShapeType="1"/>
          </p:cNvSpPr>
          <p:nvPr/>
        </p:nvSpPr>
        <p:spPr bwMode="auto">
          <a:xfrm>
            <a:off x="704850" y="2908970"/>
            <a:ext cx="2997200" cy="0"/>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11286" name="Line 17"/>
          <p:cNvSpPr>
            <a:spLocks noChangeShapeType="1"/>
          </p:cNvSpPr>
          <p:nvPr/>
        </p:nvSpPr>
        <p:spPr bwMode="auto">
          <a:xfrm>
            <a:off x="655638" y="4839370"/>
            <a:ext cx="1954212" cy="0"/>
          </a:xfrm>
          <a:prstGeom prst="line">
            <a:avLst/>
          </a:prstGeom>
          <a:noFill/>
          <a:ln w="25399">
            <a:solidFill>
              <a:schemeClr val="tx1"/>
            </a:solidFill>
            <a:round/>
            <a:headEnd type="none" w="sm" len="sm"/>
            <a:tailEnd type="none" w="sm" len="sm"/>
          </a:ln>
        </p:spPr>
        <p:txBody>
          <a:bodyPr wrap="none" anchor="ctr"/>
          <a:lstStyle/>
          <a:p>
            <a:endParaRPr lang="zh-CN" altLang="en-US"/>
          </a:p>
        </p:txBody>
      </p:sp>
      <p:grpSp>
        <p:nvGrpSpPr>
          <p:cNvPr id="2" name="Group 18"/>
          <p:cNvGrpSpPr/>
          <p:nvPr/>
        </p:nvGrpSpPr>
        <p:grpSpPr bwMode="auto">
          <a:xfrm>
            <a:off x="2630488" y="1788195"/>
            <a:ext cx="460375" cy="320675"/>
            <a:chOff x="1320" y="1161"/>
            <a:chExt cx="258" cy="202"/>
          </a:xfrm>
        </p:grpSpPr>
        <p:grpSp>
          <p:nvGrpSpPr>
            <p:cNvPr id="3" name="Group 19"/>
            <p:cNvGrpSpPr/>
            <p:nvPr/>
          </p:nvGrpSpPr>
          <p:grpSpPr bwMode="auto">
            <a:xfrm>
              <a:off x="1321" y="1231"/>
              <a:ext cx="142" cy="132"/>
              <a:chOff x="1321" y="1231"/>
              <a:chExt cx="142" cy="132"/>
            </a:xfrm>
          </p:grpSpPr>
          <p:sp>
            <p:nvSpPr>
              <p:cNvPr id="11738" name="Freeform 20"/>
              <p:cNvSpPr/>
              <p:nvPr/>
            </p:nvSpPr>
            <p:spPr bwMode="auto">
              <a:xfrm>
                <a:off x="1321" y="1232"/>
                <a:ext cx="136" cy="124"/>
              </a:xfrm>
              <a:custGeom>
                <a:avLst/>
                <a:gdLst>
                  <a:gd name="T0" fmla="*/ 135 w 136"/>
                  <a:gd name="T1" fmla="*/ 33 h 124"/>
                  <a:gd name="T2" fmla="*/ 135 w 136"/>
                  <a:gd name="T3" fmla="*/ 123 h 124"/>
                  <a:gd name="T4" fmla="*/ 0 w 136"/>
                  <a:gd name="T5" fmla="*/ 83 h 124"/>
                  <a:gd name="T6" fmla="*/ 0 w 136"/>
                  <a:gd name="T7" fmla="*/ 0 h 124"/>
                  <a:gd name="T8" fmla="*/ 135 w 136"/>
                  <a:gd name="T9" fmla="*/ 33 h 124"/>
                  <a:gd name="T10" fmla="*/ 0 60000 65536"/>
                  <a:gd name="T11" fmla="*/ 0 60000 65536"/>
                  <a:gd name="T12" fmla="*/ 0 60000 65536"/>
                  <a:gd name="T13" fmla="*/ 0 60000 65536"/>
                  <a:gd name="T14" fmla="*/ 0 60000 65536"/>
                  <a:gd name="T15" fmla="*/ 0 w 136"/>
                  <a:gd name="T16" fmla="*/ 0 h 124"/>
                  <a:gd name="T17" fmla="*/ 136 w 136"/>
                  <a:gd name="T18" fmla="*/ 124 h 124"/>
                </a:gdLst>
                <a:ahLst/>
                <a:cxnLst>
                  <a:cxn ang="T10">
                    <a:pos x="T0" y="T1"/>
                  </a:cxn>
                  <a:cxn ang="T11">
                    <a:pos x="T2" y="T3"/>
                  </a:cxn>
                  <a:cxn ang="T12">
                    <a:pos x="T4" y="T5"/>
                  </a:cxn>
                  <a:cxn ang="T13">
                    <a:pos x="T6" y="T7"/>
                  </a:cxn>
                  <a:cxn ang="T14">
                    <a:pos x="T8" y="T9"/>
                  </a:cxn>
                </a:cxnLst>
                <a:rect l="T15" t="T16" r="T17" b="T18"/>
                <a:pathLst>
                  <a:path w="136" h="124">
                    <a:moveTo>
                      <a:pt x="135" y="33"/>
                    </a:moveTo>
                    <a:lnTo>
                      <a:pt x="135" y="123"/>
                    </a:lnTo>
                    <a:lnTo>
                      <a:pt x="0" y="83"/>
                    </a:lnTo>
                    <a:lnTo>
                      <a:pt x="0" y="0"/>
                    </a:lnTo>
                    <a:lnTo>
                      <a:pt x="135" y="33"/>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11739" name="Freeform 21"/>
              <p:cNvSpPr/>
              <p:nvPr/>
            </p:nvSpPr>
            <p:spPr bwMode="auto">
              <a:xfrm>
                <a:off x="1322" y="1231"/>
                <a:ext cx="141" cy="132"/>
              </a:xfrm>
              <a:custGeom>
                <a:avLst/>
                <a:gdLst>
                  <a:gd name="T0" fmla="*/ 140 w 141"/>
                  <a:gd name="T1" fmla="*/ 36 h 132"/>
                  <a:gd name="T2" fmla="*/ 140 w 141"/>
                  <a:gd name="T3" fmla="*/ 131 h 132"/>
                  <a:gd name="T4" fmla="*/ 0 w 141"/>
                  <a:gd name="T5" fmla="*/ 88 h 132"/>
                  <a:gd name="T6" fmla="*/ 0 w 141"/>
                  <a:gd name="T7" fmla="*/ 0 h 132"/>
                  <a:gd name="T8" fmla="*/ 140 w 141"/>
                  <a:gd name="T9" fmla="*/ 36 h 132"/>
                  <a:gd name="T10" fmla="*/ 0 60000 65536"/>
                  <a:gd name="T11" fmla="*/ 0 60000 65536"/>
                  <a:gd name="T12" fmla="*/ 0 60000 65536"/>
                  <a:gd name="T13" fmla="*/ 0 60000 65536"/>
                  <a:gd name="T14" fmla="*/ 0 60000 65536"/>
                  <a:gd name="T15" fmla="*/ 0 w 141"/>
                  <a:gd name="T16" fmla="*/ 0 h 132"/>
                  <a:gd name="T17" fmla="*/ 141 w 141"/>
                  <a:gd name="T18" fmla="*/ 132 h 132"/>
                </a:gdLst>
                <a:ahLst/>
                <a:cxnLst>
                  <a:cxn ang="T10">
                    <a:pos x="T0" y="T1"/>
                  </a:cxn>
                  <a:cxn ang="T11">
                    <a:pos x="T2" y="T3"/>
                  </a:cxn>
                  <a:cxn ang="T12">
                    <a:pos x="T4" y="T5"/>
                  </a:cxn>
                  <a:cxn ang="T13">
                    <a:pos x="T6" y="T7"/>
                  </a:cxn>
                  <a:cxn ang="T14">
                    <a:pos x="T8" y="T9"/>
                  </a:cxn>
                </a:cxnLst>
                <a:rect l="T15" t="T16" r="T17" b="T18"/>
                <a:pathLst>
                  <a:path w="141" h="132">
                    <a:moveTo>
                      <a:pt x="140" y="36"/>
                    </a:moveTo>
                    <a:lnTo>
                      <a:pt x="140" y="131"/>
                    </a:lnTo>
                    <a:lnTo>
                      <a:pt x="0" y="88"/>
                    </a:lnTo>
                    <a:lnTo>
                      <a:pt x="0" y="0"/>
                    </a:lnTo>
                    <a:lnTo>
                      <a:pt x="140" y="36"/>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nvGrpSpPr>
            <p:cNvPr id="4" name="Group 22"/>
            <p:cNvGrpSpPr/>
            <p:nvPr/>
          </p:nvGrpSpPr>
          <p:grpSpPr bwMode="auto">
            <a:xfrm>
              <a:off x="1320" y="1161"/>
              <a:ext cx="256" cy="108"/>
              <a:chOff x="1320" y="1161"/>
              <a:chExt cx="256" cy="108"/>
            </a:xfrm>
          </p:grpSpPr>
          <p:sp>
            <p:nvSpPr>
              <p:cNvPr id="11736" name="Freeform 23"/>
              <p:cNvSpPr/>
              <p:nvPr/>
            </p:nvSpPr>
            <p:spPr bwMode="auto">
              <a:xfrm>
                <a:off x="1321" y="1161"/>
                <a:ext cx="249" cy="103"/>
              </a:xfrm>
              <a:custGeom>
                <a:avLst/>
                <a:gdLst>
                  <a:gd name="T0" fmla="*/ 137 w 249"/>
                  <a:gd name="T1" fmla="*/ 102 h 103"/>
                  <a:gd name="T2" fmla="*/ 0 w 249"/>
                  <a:gd name="T3" fmla="*/ 68 h 103"/>
                  <a:gd name="T4" fmla="*/ 129 w 249"/>
                  <a:gd name="T5" fmla="*/ 0 h 103"/>
                  <a:gd name="T6" fmla="*/ 248 w 249"/>
                  <a:gd name="T7" fmla="*/ 27 h 103"/>
                  <a:gd name="T8" fmla="*/ 137 w 249"/>
                  <a:gd name="T9" fmla="*/ 102 h 103"/>
                  <a:gd name="T10" fmla="*/ 0 60000 65536"/>
                  <a:gd name="T11" fmla="*/ 0 60000 65536"/>
                  <a:gd name="T12" fmla="*/ 0 60000 65536"/>
                  <a:gd name="T13" fmla="*/ 0 60000 65536"/>
                  <a:gd name="T14" fmla="*/ 0 60000 65536"/>
                  <a:gd name="T15" fmla="*/ 0 w 249"/>
                  <a:gd name="T16" fmla="*/ 0 h 103"/>
                  <a:gd name="T17" fmla="*/ 249 w 249"/>
                  <a:gd name="T18" fmla="*/ 103 h 103"/>
                </a:gdLst>
                <a:ahLst/>
                <a:cxnLst>
                  <a:cxn ang="T10">
                    <a:pos x="T0" y="T1"/>
                  </a:cxn>
                  <a:cxn ang="T11">
                    <a:pos x="T2" y="T3"/>
                  </a:cxn>
                  <a:cxn ang="T12">
                    <a:pos x="T4" y="T5"/>
                  </a:cxn>
                  <a:cxn ang="T13">
                    <a:pos x="T6" y="T7"/>
                  </a:cxn>
                  <a:cxn ang="T14">
                    <a:pos x="T8" y="T9"/>
                  </a:cxn>
                </a:cxnLst>
                <a:rect l="T15" t="T16" r="T17" b="T18"/>
                <a:pathLst>
                  <a:path w="249" h="103">
                    <a:moveTo>
                      <a:pt x="137" y="102"/>
                    </a:moveTo>
                    <a:lnTo>
                      <a:pt x="0" y="68"/>
                    </a:lnTo>
                    <a:lnTo>
                      <a:pt x="129" y="0"/>
                    </a:lnTo>
                    <a:lnTo>
                      <a:pt x="248" y="27"/>
                    </a:lnTo>
                    <a:lnTo>
                      <a:pt x="137" y="102"/>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11737" name="Freeform 24"/>
              <p:cNvSpPr/>
              <p:nvPr/>
            </p:nvSpPr>
            <p:spPr bwMode="auto">
              <a:xfrm>
                <a:off x="1320" y="1161"/>
                <a:ext cx="256" cy="108"/>
              </a:xfrm>
              <a:custGeom>
                <a:avLst/>
                <a:gdLst>
                  <a:gd name="T0" fmla="*/ 141 w 256"/>
                  <a:gd name="T1" fmla="*/ 107 h 108"/>
                  <a:gd name="T2" fmla="*/ 0 w 256"/>
                  <a:gd name="T3" fmla="*/ 71 h 108"/>
                  <a:gd name="T4" fmla="*/ 133 w 256"/>
                  <a:gd name="T5" fmla="*/ 0 h 108"/>
                  <a:gd name="T6" fmla="*/ 255 w 256"/>
                  <a:gd name="T7" fmla="*/ 28 h 108"/>
                  <a:gd name="T8" fmla="*/ 141 w 256"/>
                  <a:gd name="T9" fmla="*/ 107 h 108"/>
                  <a:gd name="T10" fmla="*/ 0 60000 65536"/>
                  <a:gd name="T11" fmla="*/ 0 60000 65536"/>
                  <a:gd name="T12" fmla="*/ 0 60000 65536"/>
                  <a:gd name="T13" fmla="*/ 0 60000 65536"/>
                  <a:gd name="T14" fmla="*/ 0 60000 65536"/>
                  <a:gd name="T15" fmla="*/ 0 w 256"/>
                  <a:gd name="T16" fmla="*/ 0 h 108"/>
                  <a:gd name="T17" fmla="*/ 256 w 256"/>
                  <a:gd name="T18" fmla="*/ 108 h 108"/>
                </a:gdLst>
                <a:ahLst/>
                <a:cxnLst>
                  <a:cxn ang="T10">
                    <a:pos x="T0" y="T1"/>
                  </a:cxn>
                  <a:cxn ang="T11">
                    <a:pos x="T2" y="T3"/>
                  </a:cxn>
                  <a:cxn ang="T12">
                    <a:pos x="T4" y="T5"/>
                  </a:cxn>
                  <a:cxn ang="T13">
                    <a:pos x="T6" y="T7"/>
                  </a:cxn>
                  <a:cxn ang="T14">
                    <a:pos x="T8" y="T9"/>
                  </a:cxn>
                </a:cxnLst>
                <a:rect l="T15" t="T16" r="T17" b="T18"/>
                <a:pathLst>
                  <a:path w="256" h="108">
                    <a:moveTo>
                      <a:pt x="141" y="107"/>
                    </a:moveTo>
                    <a:lnTo>
                      <a:pt x="0" y="71"/>
                    </a:lnTo>
                    <a:lnTo>
                      <a:pt x="133" y="0"/>
                    </a:lnTo>
                    <a:lnTo>
                      <a:pt x="255" y="28"/>
                    </a:lnTo>
                    <a:lnTo>
                      <a:pt x="141" y="107"/>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nvGrpSpPr>
            <p:cNvPr id="5" name="Group 25"/>
            <p:cNvGrpSpPr/>
            <p:nvPr/>
          </p:nvGrpSpPr>
          <p:grpSpPr bwMode="auto">
            <a:xfrm>
              <a:off x="1463" y="1188"/>
              <a:ext cx="115" cy="175"/>
              <a:chOff x="1463" y="1188"/>
              <a:chExt cx="115" cy="175"/>
            </a:xfrm>
          </p:grpSpPr>
          <p:sp>
            <p:nvSpPr>
              <p:cNvPr id="11734" name="Freeform 26"/>
              <p:cNvSpPr/>
              <p:nvPr/>
            </p:nvSpPr>
            <p:spPr bwMode="auto">
              <a:xfrm>
                <a:off x="1464" y="1189"/>
                <a:ext cx="108" cy="167"/>
              </a:xfrm>
              <a:custGeom>
                <a:avLst/>
                <a:gdLst>
                  <a:gd name="T0" fmla="*/ 107 w 108"/>
                  <a:gd name="T1" fmla="*/ 0 h 167"/>
                  <a:gd name="T2" fmla="*/ 0 w 108"/>
                  <a:gd name="T3" fmla="*/ 75 h 167"/>
                  <a:gd name="T4" fmla="*/ 0 w 108"/>
                  <a:gd name="T5" fmla="*/ 166 h 167"/>
                  <a:gd name="T6" fmla="*/ 107 w 108"/>
                  <a:gd name="T7" fmla="*/ 79 h 167"/>
                  <a:gd name="T8" fmla="*/ 107 w 108"/>
                  <a:gd name="T9" fmla="*/ 0 h 167"/>
                  <a:gd name="T10" fmla="*/ 0 60000 65536"/>
                  <a:gd name="T11" fmla="*/ 0 60000 65536"/>
                  <a:gd name="T12" fmla="*/ 0 60000 65536"/>
                  <a:gd name="T13" fmla="*/ 0 60000 65536"/>
                  <a:gd name="T14" fmla="*/ 0 60000 65536"/>
                  <a:gd name="T15" fmla="*/ 0 w 108"/>
                  <a:gd name="T16" fmla="*/ 0 h 167"/>
                  <a:gd name="T17" fmla="*/ 108 w 108"/>
                  <a:gd name="T18" fmla="*/ 167 h 167"/>
                </a:gdLst>
                <a:ahLst/>
                <a:cxnLst>
                  <a:cxn ang="T10">
                    <a:pos x="T0" y="T1"/>
                  </a:cxn>
                  <a:cxn ang="T11">
                    <a:pos x="T2" y="T3"/>
                  </a:cxn>
                  <a:cxn ang="T12">
                    <a:pos x="T4" y="T5"/>
                  </a:cxn>
                  <a:cxn ang="T13">
                    <a:pos x="T6" y="T7"/>
                  </a:cxn>
                  <a:cxn ang="T14">
                    <a:pos x="T8" y="T9"/>
                  </a:cxn>
                </a:cxnLst>
                <a:rect l="T15" t="T16" r="T17" b="T18"/>
                <a:pathLst>
                  <a:path w="108" h="167">
                    <a:moveTo>
                      <a:pt x="107" y="0"/>
                    </a:moveTo>
                    <a:lnTo>
                      <a:pt x="0" y="75"/>
                    </a:lnTo>
                    <a:lnTo>
                      <a:pt x="0" y="166"/>
                    </a:lnTo>
                    <a:lnTo>
                      <a:pt x="107" y="79"/>
                    </a:lnTo>
                    <a:lnTo>
                      <a:pt x="107" y="0"/>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11735" name="Freeform 27"/>
              <p:cNvSpPr/>
              <p:nvPr/>
            </p:nvSpPr>
            <p:spPr bwMode="auto">
              <a:xfrm>
                <a:off x="1463" y="1188"/>
                <a:ext cx="115" cy="175"/>
              </a:xfrm>
              <a:custGeom>
                <a:avLst/>
                <a:gdLst>
                  <a:gd name="T0" fmla="*/ 114 w 115"/>
                  <a:gd name="T1" fmla="*/ 0 h 175"/>
                  <a:gd name="T2" fmla="*/ 0 w 115"/>
                  <a:gd name="T3" fmla="*/ 80 h 175"/>
                  <a:gd name="T4" fmla="*/ 0 w 115"/>
                  <a:gd name="T5" fmla="*/ 174 h 175"/>
                  <a:gd name="T6" fmla="*/ 114 w 115"/>
                  <a:gd name="T7" fmla="*/ 84 h 175"/>
                  <a:gd name="T8" fmla="*/ 114 w 115"/>
                  <a:gd name="T9" fmla="*/ 0 h 175"/>
                  <a:gd name="T10" fmla="*/ 0 60000 65536"/>
                  <a:gd name="T11" fmla="*/ 0 60000 65536"/>
                  <a:gd name="T12" fmla="*/ 0 60000 65536"/>
                  <a:gd name="T13" fmla="*/ 0 60000 65536"/>
                  <a:gd name="T14" fmla="*/ 0 60000 65536"/>
                  <a:gd name="T15" fmla="*/ 0 w 115"/>
                  <a:gd name="T16" fmla="*/ 0 h 175"/>
                  <a:gd name="T17" fmla="*/ 115 w 115"/>
                  <a:gd name="T18" fmla="*/ 175 h 175"/>
                </a:gdLst>
                <a:ahLst/>
                <a:cxnLst>
                  <a:cxn ang="T10">
                    <a:pos x="T0" y="T1"/>
                  </a:cxn>
                  <a:cxn ang="T11">
                    <a:pos x="T2" y="T3"/>
                  </a:cxn>
                  <a:cxn ang="T12">
                    <a:pos x="T4" y="T5"/>
                  </a:cxn>
                  <a:cxn ang="T13">
                    <a:pos x="T6" y="T7"/>
                  </a:cxn>
                  <a:cxn ang="T14">
                    <a:pos x="T8" y="T9"/>
                  </a:cxn>
                </a:cxnLst>
                <a:rect l="T15" t="T16" r="T17" b="T18"/>
                <a:pathLst>
                  <a:path w="115" h="175">
                    <a:moveTo>
                      <a:pt x="114" y="0"/>
                    </a:moveTo>
                    <a:lnTo>
                      <a:pt x="0" y="80"/>
                    </a:lnTo>
                    <a:lnTo>
                      <a:pt x="0" y="174"/>
                    </a:lnTo>
                    <a:lnTo>
                      <a:pt x="114" y="84"/>
                    </a:lnTo>
                    <a:lnTo>
                      <a:pt x="114" y="0"/>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grpSp>
        <p:nvGrpSpPr>
          <p:cNvPr id="6" name="Group 28"/>
          <p:cNvGrpSpPr/>
          <p:nvPr/>
        </p:nvGrpSpPr>
        <p:grpSpPr bwMode="auto">
          <a:xfrm>
            <a:off x="2630488" y="2778795"/>
            <a:ext cx="460375" cy="320675"/>
            <a:chOff x="1320" y="1785"/>
            <a:chExt cx="258" cy="202"/>
          </a:xfrm>
        </p:grpSpPr>
        <p:grpSp>
          <p:nvGrpSpPr>
            <p:cNvPr id="7" name="Group 29"/>
            <p:cNvGrpSpPr/>
            <p:nvPr/>
          </p:nvGrpSpPr>
          <p:grpSpPr bwMode="auto">
            <a:xfrm>
              <a:off x="1321" y="1855"/>
              <a:ext cx="142" cy="132"/>
              <a:chOff x="1321" y="1855"/>
              <a:chExt cx="142" cy="132"/>
            </a:xfrm>
          </p:grpSpPr>
          <p:sp>
            <p:nvSpPr>
              <p:cNvPr id="11729" name="Freeform 30"/>
              <p:cNvSpPr/>
              <p:nvPr/>
            </p:nvSpPr>
            <p:spPr bwMode="auto">
              <a:xfrm>
                <a:off x="1321" y="1856"/>
                <a:ext cx="136" cy="124"/>
              </a:xfrm>
              <a:custGeom>
                <a:avLst/>
                <a:gdLst>
                  <a:gd name="T0" fmla="*/ 135 w 136"/>
                  <a:gd name="T1" fmla="*/ 33 h 124"/>
                  <a:gd name="T2" fmla="*/ 135 w 136"/>
                  <a:gd name="T3" fmla="*/ 123 h 124"/>
                  <a:gd name="T4" fmla="*/ 0 w 136"/>
                  <a:gd name="T5" fmla="*/ 83 h 124"/>
                  <a:gd name="T6" fmla="*/ 0 w 136"/>
                  <a:gd name="T7" fmla="*/ 0 h 124"/>
                  <a:gd name="T8" fmla="*/ 135 w 136"/>
                  <a:gd name="T9" fmla="*/ 33 h 124"/>
                  <a:gd name="T10" fmla="*/ 0 60000 65536"/>
                  <a:gd name="T11" fmla="*/ 0 60000 65536"/>
                  <a:gd name="T12" fmla="*/ 0 60000 65536"/>
                  <a:gd name="T13" fmla="*/ 0 60000 65536"/>
                  <a:gd name="T14" fmla="*/ 0 60000 65536"/>
                  <a:gd name="T15" fmla="*/ 0 w 136"/>
                  <a:gd name="T16" fmla="*/ 0 h 124"/>
                  <a:gd name="T17" fmla="*/ 136 w 136"/>
                  <a:gd name="T18" fmla="*/ 124 h 124"/>
                </a:gdLst>
                <a:ahLst/>
                <a:cxnLst>
                  <a:cxn ang="T10">
                    <a:pos x="T0" y="T1"/>
                  </a:cxn>
                  <a:cxn ang="T11">
                    <a:pos x="T2" y="T3"/>
                  </a:cxn>
                  <a:cxn ang="T12">
                    <a:pos x="T4" y="T5"/>
                  </a:cxn>
                  <a:cxn ang="T13">
                    <a:pos x="T6" y="T7"/>
                  </a:cxn>
                  <a:cxn ang="T14">
                    <a:pos x="T8" y="T9"/>
                  </a:cxn>
                </a:cxnLst>
                <a:rect l="T15" t="T16" r="T17" b="T18"/>
                <a:pathLst>
                  <a:path w="136" h="124">
                    <a:moveTo>
                      <a:pt x="135" y="33"/>
                    </a:moveTo>
                    <a:lnTo>
                      <a:pt x="135" y="123"/>
                    </a:lnTo>
                    <a:lnTo>
                      <a:pt x="0" y="83"/>
                    </a:lnTo>
                    <a:lnTo>
                      <a:pt x="0" y="0"/>
                    </a:lnTo>
                    <a:lnTo>
                      <a:pt x="135" y="33"/>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11730" name="Freeform 31"/>
              <p:cNvSpPr/>
              <p:nvPr/>
            </p:nvSpPr>
            <p:spPr bwMode="auto">
              <a:xfrm>
                <a:off x="1322" y="1855"/>
                <a:ext cx="141" cy="132"/>
              </a:xfrm>
              <a:custGeom>
                <a:avLst/>
                <a:gdLst>
                  <a:gd name="T0" fmla="*/ 140 w 141"/>
                  <a:gd name="T1" fmla="*/ 36 h 132"/>
                  <a:gd name="T2" fmla="*/ 140 w 141"/>
                  <a:gd name="T3" fmla="*/ 131 h 132"/>
                  <a:gd name="T4" fmla="*/ 0 w 141"/>
                  <a:gd name="T5" fmla="*/ 88 h 132"/>
                  <a:gd name="T6" fmla="*/ 0 w 141"/>
                  <a:gd name="T7" fmla="*/ 0 h 132"/>
                  <a:gd name="T8" fmla="*/ 140 w 141"/>
                  <a:gd name="T9" fmla="*/ 36 h 132"/>
                  <a:gd name="T10" fmla="*/ 0 60000 65536"/>
                  <a:gd name="T11" fmla="*/ 0 60000 65536"/>
                  <a:gd name="T12" fmla="*/ 0 60000 65536"/>
                  <a:gd name="T13" fmla="*/ 0 60000 65536"/>
                  <a:gd name="T14" fmla="*/ 0 60000 65536"/>
                  <a:gd name="T15" fmla="*/ 0 w 141"/>
                  <a:gd name="T16" fmla="*/ 0 h 132"/>
                  <a:gd name="T17" fmla="*/ 141 w 141"/>
                  <a:gd name="T18" fmla="*/ 132 h 132"/>
                </a:gdLst>
                <a:ahLst/>
                <a:cxnLst>
                  <a:cxn ang="T10">
                    <a:pos x="T0" y="T1"/>
                  </a:cxn>
                  <a:cxn ang="T11">
                    <a:pos x="T2" y="T3"/>
                  </a:cxn>
                  <a:cxn ang="T12">
                    <a:pos x="T4" y="T5"/>
                  </a:cxn>
                  <a:cxn ang="T13">
                    <a:pos x="T6" y="T7"/>
                  </a:cxn>
                  <a:cxn ang="T14">
                    <a:pos x="T8" y="T9"/>
                  </a:cxn>
                </a:cxnLst>
                <a:rect l="T15" t="T16" r="T17" b="T18"/>
                <a:pathLst>
                  <a:path w="141" h="132">
                    <a:moveTo>
                      <a:pt x="140" y="36"/>
                    </a:moveTo>
                    <a:lnTo>
                      <a:pt x="140" y="131"/>
                    </a:lnTo>
                    <a:lnTo>
                      <a:pt x="0" y="88"/>
                    </a:lnTo>
                    <a:lnTo>
                      <a:pt x="0" y="0"/>
                    </a:lnTo>
                    <a:lnTo>
                      <a:pt x="140" y="36"/>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nvGrpSpPr>
            <p:cNvPr id="8" name="Group 32"/>
            <p:cNvGrpSpPr/>
            <p:nvPr/>
          </p:nvGrpSpPr>
          <p:grpSpPr bwMode="auto">
            <a:xfrm>
              <a:off x="1320" y="1785"/>
              <a:ext cx="256" cy="108"/>
              <a:chOff x="1320" y="1785"/>
              <a:chExt cx="256" cy="108"/>
            </a:xfrm>
          </p:grpSpPr>
          <p:sp>
            <p:nvSpPr>
              <p:cNvPr id="11727" name="Freeform 33"/>
              <p:cNvSpPr/>
              <p:nvPr/>
            </p:nvSpPr>
            <p:spPr bwMode="auto">
              <a:xfrm>
                <a:off x="1321" y="1785"/>
                <a:ext cx="249" cy="103"/>
              </a:xfrm>
              <a:custGeom>
                <a:avLst/>
                <a:gdLst>
                  <a:gd name="T0" fmla="*/ 137 w 249"/>
                  <a:gd name="T1" fmla="*/ 102 h 103"/>
                  <a:gd name="T2" fmla="*/ 0 w 249"/>
                  <a:gd name="T3" fmla="*/ 68 h 103"/>
                  <a:gd name="T4" fmla="*/ 129 w 249"/>
                  <a:gd name="T5" fmla="*/ 0 h 103"/>
                  <a:gd name="T6" fmla="*/ 248 w 249"/>
                  <a:gd name="T7" fmla="*/ 27 h 103"/>
                  <a:gd name="T8" fmla="*/ 137 w 249"/>
                  <a:gd name="T9" fmla="*/ 102 h 103"/>
                  <a:gd name="T10" fmla="*/ 0 60000 65536"/>
                  <a:gd name="T11" fmla="*/ 0 60000 65536"/>
                  <a:gd name="T12" fmla="*/ 0 60000 65536"/>
                  <a:gd name="T13" fmla="*/ 0 60000 65536"/>
                  <a:gd name="T14" fmla="*/ 0 60000 65536"/>
                  <a:gd name="T15" fmla="*/ 0 w 249"/>
                  <a:gd name="T16" fmla="*/ 0 h 103"/>
                  <a:gd name="T17" fmla="*/ 249 w 249"/>
                  <a:gd name="T18" fmla="*/ 103 h 103"/>
                </a:gdLst>
                <a:ahLst/>
                <a:cxnLst>
                  <a:cxn ang="T10">
                    <a:pos x="T0" y="T1"/>
                  </a:cxn>
                  <a:cxn ang="T11">
                    <a:pos x="T2" y="T3"/>
                  </a:cxn>
                  <a:cxn ang="T12">
                    <a:pos x="T4" y="T5"/>
                  </a:cxn>
                  <a:cxn ang="T13">
                    <a:pos x="T6" y="T7"/>
                  </a:cxn>
                  <a:cxn ang="T14">
                    <a:pos x="T8" y="T9"/>
                  </a:cxn>
                </a:cxnLst>
                <a:rect l="T15" t="T16" r="T17" b="T18"/>
                <a:pathLst>
                  <a:path w="249" h="103">
                    <a:moveTo>
                      <a:pt x="137" y="102"/>
                    </a:moveTo>
                    <a:lnTo>
                      <a:pt x="0" y="68"/>
                    </a:lnTo>
                    <a:lnTo>
                      <a:pt x="129" y="0"/>
                    </a:lnTo>
                    <a:lnTo>
                      <a:pt x="248" y="27"/>
                    </a:lnTo>
                    <a:lnTo>
                      <a:pt x="137" y="102"/>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11728" name="Freeform 34"/>
              <p:cNvSpPr/>
              <p:nvPr/>
            </p:nvSpPr>
            <p:spPr bwMode="auto">
              <a:xfrm>
                <a:off x="1320" y="1785"/>
                <a:ext cx="256" cy="108"/>
              </a:xfrm>
              <a:custGeom>
                <a:avLst/>
                <a:gdLst>
                  <a:gd name="T0" fmla="*/ 141 w 256"/>
                  <a:gd name="T1" fmla="*/ 107 h 108"/>
                  <a:gd name="T2" fmla="*/ 0 w 256"/>
                  <a:gd name="T3" fmla="*/ 71 h 108"/>
                  <a:gd name="T4" fmla="*/ 133 w 256"/>
                  <a:gd name="T5" fmla="*/ 0 h 108"/>
                  <a:gd name="T6" fmla="*/ 255 w 256"/>
                  <a:gd name="T7" fmla="*/ 28 h 108"/>
                  <a:gd name="T8" fmla="*/ 141 w 256"/>
                  <a:gd name="T9" fmla="*/ 107 h 108"/>
                  <a:gd name="T10" fmla="*/ 0 60000 65536"/>
                  <a:gd name="T11" fmla="*/ 0 60000 65536"/>
                  <a:gd name="T12" fmla="*/ 0 60000 65536"/>
                  <a:gd name="T13" fmla="*/ 0 60000 65536"/>
                  <a:gd name="T14" fmla="*/ 0 60000 65536"/>
                  <a:gd name="T15" fmla="*/ 0 w 256"/>
                  <a:gd name="T16" fmla="*/ 0 h 108"/>
                  <a:gd name="T17" fmla="*/ 256 w 256"/>
                  <a:gd name="T18" fmla="*/ 108 h 108"/>
                </a:gdLst>
                <a:ahLst/>
                <a:cxnLst>
                  <a:cxn ang="T10">
                    <a:pos x="T0" y="T1"/>
                  </a:cxn>
                  <a:cxn ang="T11">
                    <a:pos x="T2" y="T3"/>
                  </a:cxn>
                  <a:cxn ang="T12">
                    <a:pos x="T4" y="T5"/>
                  </a:cxn>
                  <a:cxn ang="T13">
                    <a:pos x="T6" y="T7"/>
                  </a:cxn>
                  <a:cxn ang="T14">
                    <a:pos x="T8" y="T9"/>
                  </a:cxn>
                </a:cxnLst>
                <a:rect l="T15" t="T16" r="T17" b="T18"/>
                <a:pathLst>
                  <a:path w="256" h="108">
                    <a:moveTo>
                      <a:pt x="141" y="107"/>
                    </a:moveTo>
                    <a:lnTo>
                      <a:pt x="0" y="71"/>
                    </a:lnTo>
                    <a:lnTo>
                      <a:pt x="133" y="0"/>
                    </a:lnTo>
                    <a:lnTo>
                      <a:pt x="255" y="28"/>
                    </a:lnTo>
                    <a:lnTo>
                      <a:pt x="141" y="107"/>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nvGrpSpPr>
            <p:cNvPr id="9" name="Group 35"/>
            <p:cNvGrpSpPr/>
            <p:nvPr/>
          </p:nvGrpSpPr>
          <p:grpSpPr bwMode="auto">
            <a:xfrm>
              <a:off x="1463" y="1812"/>
              <a:ext cx="115" cy="175"/>
              <a:chOff x="1463" y="1812"/>
              <a:chExt cx="115" cy="175"/>
            </a:xfrm>
          </p:grpSpPr>
          <p:sp>
            <p:nvSpPr>
              <p:cNvPr id="11725" name="Freeform 36"/>
              <p:cNvSpPr/>
              <p:nvPr/>
            </p:nvSpPr>
            <p:spPr bwMode="auto">
              <a:xfrm>
                <a:off x="1464" y="1813"/>
                <a:ext cx="108" cy="167"/>
              </a:xfrm>
              <a:custGeom>
                <a:avLst/>
                <a:gdLst>
                  <a:gd name="T0" fmla="*/ 107 w 108"/>
                  <a:gd name="T1" fmla="*/ 0 h 167"/>
                  <a:gd name="T2" fmla="*/ 0 w 108"/>
                  <a:gd name="T3" fmla="*/ 75 h 167"/>
                  <a:gd name="T4" fmla="*/ 0 w 108"/>
                  <a:gd name="T5" fmla="*/ 166 h 167"/>
                  <a:gd name="T6" fmla="*/ 107 w 108"/>
                  <a:gd name="T7" fmla="*/ 79 h 167"/>
                  <a:gd name="T8" fmla="*/ 107 w 108"/>
                  <a:gd name="T9" fmla="*/ 0 h 167"/>
                  <a:gd name="T10" fmla="*/ 0 60000 65536"/>
                  <a:gd name="T11" fmla="*/ 0 60000 65536"/>
                  <a:gd name="T12" fmla="*/ 0 60000 65536"/>
                  <a:gd name="T13" fmla="*/ 0 60000 65536"/>
                  <a:gd name="T14" fmla="*/ 0 60000 65536"/>
                  <a:gd name="T15" fmla="*/ 0 w 108"/>
                  <a:gd name="T16" fmla="*/ 0 h 167"/>
                  <a:gd name="T17" fmla="*/ 108 w 108"/>
                  <a:gd name="T18" fmla="*/ 167 h 167"/>
                </a:gdLst>
                <a:ahLst/>
                <a:cxnLst>
                  <a:cxn ang="T10">
                    <a:pos x="T0" y="T1"/>
                  </a:cxn>
                  <a:cxn ang="T11">
                    <a:pos x="T2" y="T3"/>
                  </a:cxn>
                  <a:cxn ang="T12">
                    <a:pos x="T4" y="T5"/>
                  </a:cxn>
                  <a:cxn ang="T13">
                    <a:pos x="T6" y="T7"/>
                  </a:cxn>
                  <a:cxn ang="T14">
                    <a:pos x="T8" y="T9"/>
                  </a:cxn>
                </a:cxnLst>
                <a:rect l="T15" t="T16" r="T17" b="T18"/>
                <a:pathLst>
                  <a:path w="108" h="167">
                    <a:moveTo>
                      <a:pt x="107" y="0"/>
                    </a:moveTo>
                    <a:lnTo>
                      <a:pt x="0" y="75"/>
                    </a:lnTo>
                    <a:lnTo>
                      <a:pt x="0" y="166"/>
                    </a:lnTo>
                    <a:lnTo>
                      <a:pt x="107" y="79"/>
                    </a:lnTo>
                    <a:lnTo>
                      <a:pt x="107" y="0"/>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11726" name="Freeform 37"/>
              <p:cNvSpPr/>
              <p:nvPr/>
            </p:nvSpPr>
            <p:spPr bwMode="auto">
              <a:xfrm>
                <a:off x="1463" y="1812"/>
                <a:ext cx="115" cy="175"/>
              </a:xfrm>
              <a:custGeom>
                <a:avLst/>
                <a:gdLst>
                  <a:gd name="T0" fmla="*/ 114 w 115"/>
                  <a:gd name="T1" fmla="*/ 0 h 175"/>
                  <a:gd name="T2" fmla="*/ 0 w 115"/>
                  <a:gd name="T3" fmla="*/ 80 h 175"/>
                  <a:gd name="T4" fmla="*/ 0 w 115"/>
                  <a:gd name="T5" fmla="*/ 174 h 175"/>
                  <a:gd name="T6" fmla="*/ 114 w 115"/>
                  <a:gd name="T7" fmla="*/ 84 h 175"/>
                  <a:gd name="T8" fmla="*/ 114 w 115"/>
                  <a:gd name="T9" fmla="*/ 0 h 175"/>
                  <a:gd name="T10" fmla="*/ 0 60000 65536"/>
                  <a:gd name="T11" fmla="*/ 0 60000 65536"/>
                  <a:gd name="T12" fmla="*/ 0 60000 65536"/>
                  <a:gd name="T13" fmla="*/ 0 60000 65536"/>
                  <a:gd name="T14" fmla="*/ 0 60000 65536"/>
                  <a:gd name="T15" fmla="*/ 0 w 115"/>
                  <a:gd name="T16" fmla="*/ 0 h 175"/>
                  <a:gd name="T17" fmla="*/ 115 w 115"/>
                  <a:gd name="T18" fmla="*/ 175 h 175"/>
                </a:gdLst>
                <a:ahLst/>
                <a:cxnLst>
                  <a:cxn ang="T10">
                    <a:pos x="T0" y="T1"/>
                  </a:cxn>
                  <a:cxn ang="T11">
                    <a:pos x="T2" y="T3"/>
                  </a:cxn>
                  <a:cxn ang="T12">
                    <a:pos x="T4" y="T5"/>
                  </a:cxn>
                  <a:cxn ang="T13">
                    <a:pos x="T6" y="T7"/>
                  </a:cxn>
                  <a:cxn ang="T14">
                    <a:pos x="T8" y="T9"/>
                  </a:cxn>
                </a:cxnLst>
                <a:rect l="T15" t="T16" r="T17" b="T18"/>
                <a:pathLst>
                  <a:path w="115" h="175">
                    <a:moveTo>
                      <a:pt x="114" y="0"/>
                    </a:moveTo>
                    <a:lnTo>
                      <a:pt x="0" y="80"/>
                    </a:lnTo>
                    <a:lnTo>
                      <a:pt x="0" y="174"/>
                    </a:lnTo>
                    <a:lnTo>
                      <a:pt x="114" y="84"/>
                    </a:lnTo>
                    <a:lnTo>
                      <a:pt x="114" y="0"/>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grpSp>
        <p:nvGrpSpPr>
          <p:cNvPr id="10" name="Group 38"/>
          <p:cNvGrpSpPr/>
          <p:nvPr/>
        </p:nvGrpSpPr>
        <p:grpSpPr bwMode="auto">
          <a:xfrm>
            <a:off x="2630488" y="3693195"/>
            <a:ext cx="460375" cy="320675"/>
            <a:chOff x="1320" y="2361"/>
            <a:chExt cx="258" cy="202"/>
          </a:xfrm>
        </p:grpSpPr>
        <p:grpSp>
          <p:nvGrpSpPr>
            <p:cNvPr id="11" name="Group 39"/>
            <p:cNvGrpSpPr/>
            <p:nvPr/>
          </p:nvGrpSpPr>
          <p:grpSpPr bwMode="auto">
            <a:xfrm>
              <a:off x="1321" y="2431"/>
              <a:ext cx="142" cy="132"/>
              <a:chOff x="1321" y="2431"/>
              <a:chExt cx="142" cy="132"/>
            </a:xfrm>
          </p:grpSpPr>
          <p:sp>
            <p:nvSpPr>
              <p:cNvPr id="11720" name="Freeform 40"/>
              <p:cNvSpPr/>
              <p:nvPr/>
            </p:nvSpPr>
            <p:spPr bwMode="auto">
              <a:xfrm>
                <a:off x="1321" y="2432"/>
                <a:ext cx="136" cy="124"/>
              </a:xfrm>
              <a:custGeom>
                <a:avLst/>
                <a:gdLst>
                  <a:gd name="T0" fmla="*/ 135 w 136"/>
                  <a:gd name="T1" fmla="*/ 33 h 124"/>
                  <a:gd name="T2" fmla="*/ 135 w 136"/>
                  <a:gd name="T3" fmla="*/ 123 h 124"/>
                  <a:gd name="T4" fmla="*/ 0 w 136"/>
                  <a:gd name="T5" fmla="*/ 83 h 124"/>
                  <a:gd name="T6" fmla="*/ 0 w 136"/>
                  <a:gd name="T7" fmla="*/ 0 h 124"/>
                  <a:gd name="T8" fmla="*/ 135 w 136"/>
                  <a:gd name="T9" fmla="*/ 33 h 124"/>
                  <a:gd name="T10" fmla="*/ 0 60000 65536"/>
                  <a:gd name="T11" fmla="*/ 0 60000 65536"/>
                  <a:gd name="T12" fmla="*/ 0 60000 65536"/>
                  <a:gd name="T13" fmla="*/ 0 60000 65536"/>
                  <a:gd name="T14" fmla="*/ 0 60000 65536"/>
                  <a:gd name="T15" fmla="*/ 0 w 136"/>
                  <a:gd name="T16" fmla="*/ 0 h 124"/>
                  <a:gd name="T17" fmla="*/ 136 w 136"/>
                  <a:gd name="T18" fmla="*/ 124 h 124"/>
                </a:gdLst>
                <a:ahLst/>
                <a:cxnLst>
                  <a:cxn ang="T10">
                    <a:pos x="T0" y="T1"/>
                  </a:cxn>
                  <a:cxn ang="T11">
                    <a:pos x="T2" y="T3"/>
                  </a:cxn>
                  <a:cxn ang="T12">
                    <a:pos x="T4" y="T5"/>
                  </a:cxn>
                  <a:cxn ang="T13">
                    <a:pos x="T6" y="T7"/>
                  </a:cxn>
                  <a:cxn ang="T14">
                    <a:pos x="T8" y="T9"/>
                  </a:cxn>
                </a:cxnLst>
                <a:rect l="T15" t="T16" r="T17" b="T18"/>
                <a:pathLst>
                  <a:path w="136" h="124">
                    <a:moveTo>
                      <a:pt x="135" y="33"/>
                    </a:moveTo>
                    <a:lnTo>
                      <a:pt x="135" y="123"/>
                    </a:lnTo>
                    <a:lnTo>
                      <a:pt x="0" y="83"/>
                    </a:lnTo>
                    <a:lnTo>
                      <a:pt x="0" y="0"/>
                    </a:lnTo>
                    <a:lnTo>
                      <a:pt x="135" y="33"/>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11721" name="Freeform 41"/>
              <p:cNvSpPr/>
              <p:nvPr/>
            </p:nvSpPr>
            <p:spPr bwMode="auto">
              <a:xfrm>
                <a:off x="1322" y="2431"/>
                <a:ext cx="141" cy="132"/>
              </a:xfrm>
              <a:custGeom>
                <a:avLst/>
                <a:gdLst>
                  <a:gd name="T0" fmla="*/ 140 w 141"/>
                  <a:gd name="T1" fmla="*/ 36 h 132"/>
                  <a:gd name="T2" fmla="*/ 140 w 141"/>
                  <a:gd name="T3" fmla="*/ 131 h 132"/>
                  <a:gd name="T4" fmla="*/ 0 w 141"/>
                  <a:gd name="T5" fmla="*/ 88 h 132"/>
                  <a:gd name="T6" fmla="*/ 0 w 141"/>
                  <a:gd name="T7" fmla="*/ 0 h 132"/>
                  <a:gd name="T8" fmla="*/ 140 w 141"/>
                  <a:gd name="T9" fmla="*/ 36 h 132"/>
                  <a:gd name="T10" fmla="*/ 0 60000 65536"/>
                  <a:gd name="T11" fmla="*/ 0 60000 65536"/>
                  <a:gd name="T12" fmla="*/ 0 60000 65536"/>
                  <a:gd name="T13" fmla="*/ 0 60000 65536"/>
                  <a:gd name="T14" fmla="*/ 0 60000 65536"/>
                  <a:gd name="T15" fmla="*/ 0 w 141"/>
                  <a:gd name="T16" fmla="*/ 0 h 132"/>
                  <a:gd name="T17" fmla="*/ 141 w 141"/>
                  <a:gd name="T18" fmla="*/ 132 h 132"/>
                </a:gdLst>
                <a:ahLst/>
                <a:cxnLst>
                  <a:cxn ang="T10">
                    <a:pos x="T0" y="T1"/>
                  </a:cxn>
                  <a:cxn ang="T11">
                    <a:pos x="T2" y="T3"/>
                  </a:cxn>
                  <a:cxn ang="T12">
                    <a:pos x="T4" y="T5"/>
                  </a:cxn>
                  <a:cxn ang="T13">
                    <a:pos x="T6" y="T7"/>
                  </a:cxn>
                  <a:cxn ang="T14">
                    <a:pos x="T8" y="T9"/>
                  </a:cxn>
                </a:cxnLst>
                <a:rect l="T15" t="T16" r="T17" b="T18"/>
                <a:pathLst>
                  <a:path w="141" h="132">
                    <a:moveTo>
                      <a:pt x="140" y="36"/>
                    </a:moveTo>
                    <a:lnTo>
                      <a:pt x="140" y="131"/>
                    </a:lnTo>
                    <a:lnTo>
                      <a:pt x="0" y="88"/>
                    </a:lnTo>
                    <a:lnTo>
                      <a:pt x="0" y="0"/>
                    </a:lnTo>
                    <a:lnTo>
                      <a:pt x="140" y="36"/>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nvGrpSpPr>
            <p:cNvPr id="12" name="Group 42"/>
            <p:cNvGrpSpPr/>
            <p:nvPr/>
          </p:nvGrpSpPr>
          <p:grpSpPr bwMode="auto">
            <a:xfrm>
              <a:off x="1320" y="2361"/>
              <a:ext cx="256" cy="108"/>
              <a:chOff x="1320" y="2361"/>
              <a:chExt cx="256" cy="108"/>
            </a:xfrm>
          </p:grpSpPr>
          <p:sp>
            <p:nvSpPr>
              <p:cNvPr id="11718" name="Freeform 43"/>
              <p:cNvSpPr/>
              <p:nvPr/>
            </p:nvSpPr>
            <p:spPr bwMode="auto">
              <a:xfrm>
                <a:off x="1321" y="2361"/>
                <a:ext cx="249" cy="103"/>
              </a:xfrm>
              <a:custGeom>
                <a:avLst/>
                <a:gdLst>
                  <a:gd name="T0" fmla="*/ 137 w 249"/>
                  <a:gd name="T1" fmla="*/ 102 h 103"/>
                  <a:gd name="T2" fmla="*/ 0 w 249"/>
                  <a:gd name="T3" fmla="*/ 68 h 103"/>
                  <a:gd name="T4" fmla="*/ 129 w 249"/>
                  <a:gd name="T5" fmla="*/ 0 h 103"/>
                  <a:gd name="T6" fmla="*/ 248 w 249"/>
                  <a:gd name="T7" fmla="*/ 27 h 103"/>
                  <a:gd name="T8" fmla="*/ 137 w 249"/>
                  <a:gd name="T9" fmla="*/ 102 h 103"/>
                  <a:gd name="T10" fmla="*/ 0 60000 65536"/>
                  <a:gd name="T11" fmla="*/ 0 60000 65536"/>
                  <a:gd name="T12" fmla="*/ 0 60000 65536"/>
                  <a:gd name="T13" fmla="*/ 0 60000 65536"/>
                  <a:gd name="T14" fmla="*/ 0 60000 65536"/>
                  <a:gd name="T15" fmla="*/ 0 w 249"/>
                  <a:gd name="T16" fmla="*/ 0 h 103"/>
                  <a:gd name="T17" fmla="*/ 249 w 249"/>
                  <a:gd name="T18" fmla="*/ 103 h 103"/>
                </a:gdLst>
                <a:ahLst/>
                <a:cxnLst>
                  <a:cxn ang="T10">
                    <a:pos x="T0" y="T1"/>
                  </a:cxn>
                  <a:cxn ang="T11">
                    <a:pos x="T2" y="T3"/>
                  </a:cxn>
                  <a:cxn ang="T12">
                    <a:pos x="T4" y="T5"/>
                  </a:cxn>
                  <a:cxn ang="T13">
                    <a:pos x="T6" y="T7"/>
                  </a:cxn>
                  <a:cxn ang="T14">
                    <a:pos x="T8" y="T9"/>
                  </a:cxn>
                </a:cxnLst>
                <a:rect l="T15" t="T16" r="T17" b="T18"/>
                <a:pathLst>
                  <a:path w="249" h="103">
                    <a:moveTo>
                      <a:pt x="137" y="102"/>
                    </a:moveTo>
                    <a:lnTo>
                      <a:pt x="0" y="68"/>
                    </a:lnTo>
                    <a:lnTo>
                      <a:pt x="129" y="0"/>
                    </a:lnTo>
                    <a:lnTo>
                      <a:pt x="248" y="27"/>
                    </a:lnTo>
                    <a:lnTo>
                      <a:pt x="137" y="102"/>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11719" name="Freeform 44"/>
              <p:cNvSpPr/>
              <p:nvPr/>
            </p:nvSpPr>
            <p:spPr bwMode="auto">
              <a:xfrm>
                <a:off x="1320" y="2361"/>
                <a:ext cx="256" cy="108"/>
              </a:xfrm>
              <a:custGeom>
                <a:avLst/>
                <a:gdLst>
                  <a:gd name="T0" fmla="*/ 141 w 256"/>
                  <a:gd name="T1" fmla="*/ 107 h 108"/>
                  <a:gd name="T2" fmla="*/ 0 w 256"/>
                  <a:gd name="T3" fmla="*/ 71 h 108"/>
                  <a:gd name="T4" fmla="*/ 133 w 256"/>
                  <a:gd name="T5" fmla="*/ 0 h 108"/>
                  <a:gd name="T6" fmla="*/ 255 w 256"/>
                  <a:gd name="T7" fmla="*/ 28 h 108"/>
                  <a:gd name="T8" fmla="*/ 141 w 256"/>
                  <a:gd name="T9" fmla="*/ 107 h 108"/>
                  <a:gd name="T10" fmla="*/ 0 60000 65536"/>
                  <a:gd name="T11" fmla="*/ 0 60000 65536"/>
                  <a:gd name="T12" fmla="*/ 0 60000 65536"/>
                  <a:gd name="T13" fmla="*/ 0 60000 65536"/>
                  <a:gd name="T14" fmla="*/ 0 60000 65536"/>
                  <a:gd name="T15" fmla="*/ 0 w 256"/>
                  <a:gd name="T16" fmla="*/ 0 h 108"/>
                  <a:gd name="T17" fmla="*/ 256 w 256"/>
                  <a:gd name="T18" fmla="*/ 108 h 108"/>
                </a:gdLst>
                <a:ahLst/>
                <a:cxnLst>
                  <a:cxn ang="T10">
                    <a:pos x="T0" y="T1"/>
                  </a:cxn>
                  <a:cxn ang="T11">
                    <a:pos x="T2" y="T3"/>
                  </a:cxn>
                  <a:cxn ang="T12">
                    <a:pos x="T4" y="T5"/>
                  </a:cxn>
                  <a:cxn ang="T13">
                    <a:pos x="T6" y="T7"/>
                  </a:cxn>
                  <a:cxn ang="T14">
                    <a:pos x="T8" y="T9"/>
                  </a:cxn>
                </a:cxnLst>
                <a:rect l="T15" t="T16" r="T17" b="T18"/>
                <a:pathLst>
                  <a:path w="256" h="108">
                    <a:moveTo>
                      <a:pt x="141" y="107"/>
                    </a:moveTo>
                    <a:lnTo>
                      <a:pt x="0" y="71"/>
                    </a:lnTo>
                    <a:lnTo>
                      <a:pt x="133" y="0"/>
                    </a:lnTo>
                    <a:lnTo>
                      <a:pt x="255" y="28"/>
                    </a:lnTo>
                    <a:lnTo>
                      <a:pt x="141" y="107"/>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nvGrpSpPr>
            <p:cNvPr id="13" name="Group 45"/>
            <p:cNvGrpSpPr/>
            <p:nvPr/>
          </p:nvGrpSpPr>
          <p:grpSpPr bwMode="auto">
            <a:xfrm>
              <a:off x="1463" y="2388"/>
              <a:ext cx="115" cy="175"/>
              <a:chOff x="1463" y="2388"/>
              <a:chExt cx="115" cy="175"/>
            </a:xfrm>
          </p:grpSpPr>
          <p:sp>
            <p:nvSpPr>
              <p:cNvPr id="11716" name="Freeform 46"/>
              <p:cNvSpPr/>
              <p:nvPr/>
            </p:nvSpPr>
            <p:spPr bwMode="auto">
              <a:xfrm>
                <a:off x="1464" y="2389"/>
                <a:ext cx="108" cy="167"/>
              </a:xfrm>
              <a:custGeom>
                <a:avLst/>
                <a:gdLst>
                  <a:gd name="T0" fmla="*/ 107 w 108"/>
                  <a:gd name="T1" fmla="*/ 0 h 167"/>
                  <a:gd name="T2" fmla="*/ 0 w 108"/>
                  <a:gd name="T3" fmla="*/ 75 h 167"/>
                  <a:gd name="T4" fmla="*/ 0 w 108"/>
                  <a:gd name="T5" fmla="*/ 166 h 167"/>
                  <a:gd name="T6" fmla="*/ 107 w 108"/>
                  <a:gd name="T7" fmla="*/ 79 h 167"/>
                  <a:gd name="T8" fmla="*/ 107 w 108"/>
                  <a:gd name="T9" fmla="*/ 0 h 167"/>
                  <a:gd name="T10" fmla="*/ 0 60000 65536"/>
                  <a:gd name="T11" fmla="*/ 0 60000 65536"/>
                  <a:gd name="T12" fmla="*/ 0 60000 65536"/>
                  <a:gd name="T13" fmla="*/ 0 60000 65536"/>
                  <a:gd name="T14" fmla="*/ 0 60000 65536"/>
                  <a:gd name="T15" fmla="*/ 0 w 108"/>
                  <a:gd name="T16" fmla="*/ 0 h 167"/>
                  <a:gd name="T17" fmla="*/ 108 w 108"/>
                  <a:gd name="T18" fmla="*/ 167 h 167"/>
                </a:gdLst>
                <a:ahLst/>
                <a:cxnLst>
                  <a:cxn ang="T10">
                    <a:pos x="T0" y="T1"/>
                  </a:cxn>
                  <a:cxn ang="T11">
                    <a:pos x="T2" y="T3"/>
                  </a:cxn>
                  <a:cxn ang="T12">
                    <a:pos x="T4" y="T5"/>
                  </a:cxn>
                  <a:cxn ang="T13">
                    <a:pos x="T6" y="T7"/>
                  </a:cxn>
                  <a:cxn ang="T14">
                    <a:pos x="T8" y="T9"/>
                  </a:cxn>
                </a:cxnLst>
                <a:rect l="T15" t="T16" r="T17" b="T18"/>
                <a:pathLst>
                  <a:path w="108" h="167">
                    <a:moveTo>
                      <a:pt x="107" y="0"/>
                    </a:moveTo>
                    <a:lnTo>
                      <a:pt x="0" y="75"/>
                    </a:lnTo>
                    <a:lnTo>
                      <a:pt x="0" y="166"/>
                    </a:lnTo>
                    <a:lnTo>
                      <a:pt x="107" y="79"/>
                    </a:lnTo>
                    <a:lnTo>
                      <a:pt x="107" y="0"/>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11717" name="Freeform 47"/>
              <p:cNvSpPr/>
              <p:nvPr/>
            </p:nvSpPr>
            <p:spPr bwMode="auto">
              <a:xfrm>
                <a:off x="1463" y="2388"/>
                <a:ext cx="115" cy="175"/>
              </a:xfrm>
              <a:custGeom>
                <a:avLst/>
                <a:gdLst>
                  <a:gd name="T0" fmla="*/ 114 w 115"/>
                  <a:gd name="T1" fmla="*/ 0 h 175"/>
                  <a:gd name="T2" fmla="*/ 0 w 115"/>
                  <a:gd name="T3" fmla="*/ 80 h 175"/>
                  <a:gd name="T4" fmla="*/ 0 w 115"/>
                  <a:gd name="T5" fmla="*/ 174 h 175"/>
                  <a:gd name="T6" fmla="*/ 114 w 115"/>
                  <a:gd name="T7" fmla="*/ 84 h 175"/>
                  <a:gd name="T8" fmla="*/ 114 w 115"/>
                  <a:gd name="T9" fmla="*/ 0 h 175"/>
                  <a:gd name="T10" fmla="*/ 0 60000 65536"/>
                  <a:gd name="T11" fmla="*/ 0 60000 65536"/>
                  <a:gd name="T12" fmla="*/ 0 60000 65536"/>
                  <a:gd name="T13" fmla="*/ 0 60000 65536"/>
                  <a:gd name="T14" fmla="*/ 0 60000 65536"/>
                  <a:gd name="T15" fmla="*/ 0 w 115"/>
                  <a:gd name="T16" fmla="*/ 0 h 175"/>
                  <a:gd name="T17" fmla="*/ 115 w 115"/>
                  <a:gd name="T18" fmla="*/ 175 h 175"/>
                </a:gdLst>
                <a:ahLst/>
                <a:cxnLst>
                  <a:cxn ang="T10">
                    <a:pos x="T0" y="T1"/>
                  </a:cxn>
                  <a:cxn ang="T11">
                    <a:pos x="T2" y="T3"/>
                  </a:cxn>
                  <a:cxn ang="T12">
                    <a:pos x="T4" y="T5"/>
                  </a:cxn>
                  <a:cxn ang="T13">
                    <a:pos x="T6" y="T7"/>
                  </a:cxn>
                  <a:cxn ang="T14">
                    <a:pos x="T8" y="T9"/>
                  </a:cxn>
                </a:cxnLst>
                <a:rect l="T15" t="T16" r="T17" b="T18"/>
                <a:pathLst>
                  <a:path w="115" h="175">
                    <a:moveTo>
                      <a:pt x="114" y="0"/>
                    </a:moveTo>
                    <a:lnTo>
                      <a:pt x="0" y="80"/>
                    </a:lnTo>
                    <a:lnTo>
                      <a:pt x="0" y="174"/>
                    </a:lnTo>
                    <a:lnTo>
                      <a:pt x="114" y="84"/>
                    </a:lnTo>
                    <a:lnTo>
                      <a:pt x="114" y="0"/>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pic>
        <p:nvPicPr>
          <p:cNvPr id="11290" name="Picture 48"/>
          <p:cNvPicPr>
            <a:picLocks noChangeArrowheads="1"/>
          </p:cNvPicPr>
          <p:nvPr/>
        </p:nvPicPr>
        <p:blipFill>
          <a:blip r:embed="rId3"/>
          <a:srcRect/>
          <a:stretch>
            <a:fillRect/>
          </a:stretch>
        </p:blipFill>
        <p:spPr bwMode="auto">
          <a:xfrm>
            <a:off x="1095375" y="3229645"/>
            <a:ext cx="396875" cy="330200"/>
          </a:xfrm>
          <a:prstGeom prst="rect">
            <a:avLst/>
          </a:prstGeom>
          <a:noFill/>
          <a:ln w="9525">
            <a:noFill/>
            <a:miter lim="800000"/>
            <a:headEnd/>
            <a:tailEnd/>
          </a:ln>
        </p:spPr>
      </p:pic>
      <p:sp>
        <p:nvSpPr>
          <p:cNvPr id="11291" name="Rectangle 49"/>
          <p:cNvSpPr>
            <a:spLocks noChangeArrowheads="1"/>
          </p:cNvSpPr>
          <p:nvPr/>
        </p:nvSpPr>
        <p:spPr bwMode="auto">
          <a:xfrm rot="19800000">
            <a:off x="5226050" y="2724820"/>
            <a:ext cx="2108200" cy="88900"/>
          </a:xfrm>
          <a:prstGeom prst="rect">
            <a:avLst/>
          </a:prstGeom>
          <a:gradFill rotWithShape="0">
            <a:gsLst>
              <a:gs pos="0">
                <a:srgbClr val="E6F7FC"/>
              </a:gs>
              <a:gs pos="100000">
                <a:srgbClr val="05B5DE"/>
              </a:gs>
            </a:gsLst>
            <a:lin ang="0" scaled="1"/>
          </a:gradFill>
          <a:ln w="9525">
            <a:noFill/>
            <a:miter lim="800000"/>
          </a:ln>
        </p:spPr>
        <p:txBody>
          <a:bodyPr wrap="none" anchor="ctr"/>
          <a:lstStyle/>
          <a:p>
            <a:endParaRPr lang="zh-CN" altLang="en-US"/>
          </a:p>
        </p:txBody>
      </p:sp>
      <p:sp>
        <p:nvSpPr>
          <p:cNvPr id="11292" name="Line 50"/>
          <p:cNvSpPr>
            <a:spLocks noChangeShapeType="1"/>
          </p:cNvSpPr>
          <p:nvPr/>
        </p:nvSpPr>
        <p:spPr bwMode="auto">
          <a:xfrm>
            <a:off x="3702050" y="3286795"/>
            <a:ext cx="619125" cy="0"/>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11293" name="Rectangle 51"/>
          <p:cNvSpPr>
            <a:spLocks noChangeArrowheads="1"/>
          </p:cNvSpPr>
          <p:nvPr/>
        </p:nvSpPr>
        <p:spPr bwMode="auto">
          <a:xfrm>
            <a:off x="1722438" y="5614070"/>
            <a:ext cx="1928812" cy="409575"/>
          </a:xfrm>
          <a:prstGeom prst="rect">
            <a:avLst/>
          </a:prstGeom>
          <a:noFill/>
          <a:ln w="9525">
            <a:noFill/>
            <a:miter lim="800000"/>
          </a:ln>
        </p:spPr>
        <p:txBody>
          <a:bodyPr wrap="none" anchor="ctr"/>
          <a:lstStyle/>
          <a:p>
            <a:endParaRPr lang="zh-CN" altLang="en-US"/>
          </a:p>
        </p:txBody>
      </p:sp>
      <p:sp>
        <p:nvSpPr>
          <p:cNvPr id="249908" name="Rectangle 52"/>
          <p:cNvSpPr>
            <a:spLocks noChangeArrowheads="1"/>
          </p:cNvSpPr>
          <p:nvPr/>
        </p:nvSpPr>
        <p:spPr bwMode="auto">
          <a:xfrm>
            <a:off x="4736306" y="1473913"/>
            <a:ext cx="1698625" cy="964795"/>
          </a:xfrm>
          <a:prstGeom prst="rect">
            <a:avLst/>
          </a:prstGeom>
          <a:noFill/>
          <a:ln w="9525">
            <a:noFill/>
            <a:miter lim="800000"/>
          </a:ln>
          <a:effectLst/>
        </p:spPr>
        <p:txBody>
          <a:bodyPr wrap="square" lIns="102026" tIns="51012" rIns="102026" bIns="51012">
            <a:spAutoFit/>
          </a:bodyPr>
          <a:lstStyle/>
          <a:p>
            <a:pPr defTabSz="1050925" eaLnBrk="0" hangingPunct="0"/>
            <a:r>
              <a:rPr kumimoji="1" lang="en-US" altLang="zh-CN" sz="1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DMZ</a:t>
            </a:r>
          </a:p>
          <a:p>
            <a:pPr marL="285750" indent="-285750" defTabSz="1050925" eaLnBrk="0" hangingPunct="0">
              <a:buClr>
                <a:srgbClr val="FF0000"/>
              </a:buClr>
              <a:buFont typeface="Wingdings" panose="05000000000000000000" pitchFamily="2" charset="2"/>
              <a:buChar char="u"/>
            </a:pPr>
            <a:r>
              <a:rPr kumimoji="1" lang="en-US" altLang="zh-CN" sz="1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E-Mail</a:t>
            </a:r>
          </a:p>
          <a:p>
            <a:pPr marL="285750" indent="-285750" defTabSz="1050925" eaLnBrk="0" hangingPunct="0">
              <a:buClr>
                <a:srgbClr val="FF0000"/>
              </a:buClr>
              <a:buFont typeface="Wingdings" panose="05000000000000000000" pitchFamily="2" charset="2"/>
              <a:buChar char="u"/>
            </a:pPr>
            <a:r>
              <a:rPr kumimoji="1" lang="en-US" altLang="zh-CN" sz="1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File Transfer</a:t>
            </a:r>
          </a:p>
          <a:p>
            <a:pPr marL="285750" indent="-285750" defTabSz="1050925" eaLnBrk="0" hangingPunct="0">
              <a:buClr>
                <a:srgbClr val="FF0000"/>
              </a:buClr>
              <a:buFont typeface="Wingdings" panose="05000000000000000000" pitchFamily="2" charset="2"/>
              <a:buChar char="u"/>
            </a:pPr>
            <a:r>
              <a:rPr kumimoji="1" lang="en-US" altLang="zh-CN" sz="1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HTTP</a:t>
            </a:r>
          </a:p>
        </p:txBody>
      </p:sp>
      <p:sp>
        <p:nvSpPr>
          <p:cNvPr id="249909" name="Rectangle 53"/>
          <p:cNvSpPr>
            <a:spLocks noChangeArrowheads="1"/>
          </p:cNvSpPr>
          <p:nvPr/>
        </p:nvSpPr>
        <p:spPr bwMode="auto">
          <a:xfrm>
            <a:off x="3714750" y="4051970"/>
            <a:ext cx="1509713" cy="472352"/>
          </a:xfrm>
          <a:prstGeom prst="rect">
            <a:avLst/>
          </a:prstGeom>
          <a:noFill/>
          <a:ln w="9525">
            <a:noFill/>
            <a:miter lim="800000"/>
          </a:ln>
          <a:effectLst/>
        </p:spPr>
        <p:txBody>
          <a:bodyPr lIns="102026" tIns="51012" rIns="102026" bIns="51012">
            <a:spAutoFit/>
          </a:bodyPr>
          <a:lstStyle/>
          <a:p>
            <a:pPr defTabSz="1050925" eaLnBrk="0" hangingPunct="0"/>
            <a:r>
              <a:rPr kumimoji="1" lang="en-US" altLang="zh-CN" sz="2400" i="1" dirty="0">
                <a:solidFill>
                  <a:srgbClr val="FF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Intranet</a:t>
            </a:r>
          </a:p>
        </p:txBody>
      </p:sp>
      <p:sp>
        <p:nvSpPr>
          <p:cNvPr id="11296" name="Freeform 54"/>
          <p:cNvSpPr/>
          <p:nvPr/>
        </p:nvSpPr>
        <p:spPr bwMode="auto">
          <a:xfrm>
            <a:off x="4149725" y="2299370"/>
            <a:ext cx="646113" cy="568325"/>
          </a:xfrm>
          <a:custGeom>
            <a:avLst/>
            <a:gdLst>
              <a:gd name="T0" fmla="*/ 0 w 364"/>
              <a:gd name="T1" fmla="*/ 0 h 357"/>
              <a:gd name="T2" fmla="*/ 0 w 364"/>
              <a:gd name="T3" fmla="*/ 356 h 357"/>
              <a:gd name="T4" fmla="*/ 363 w 364"/>
              <a:gd name="T5" fmla="*/ 356 h 357"/>
              <a:gd name="T6" fmla="*/ 0 60000 65536"/>
              <a:gd name="T7" fmla="*/ 0 60000 65536"/>
              <a:gd name="T8" fmla="*/ 0 60000 65536"/>
              <a:gd name="T9" fmla="*/ 0 w 364"/>
              <a:gd name="T10" fmla="*/ 0 h 357"/>
              <a:gd name="T11" fmla="*/ 364 w 364"/>
              <a:gd name="T12" fmla="*/ 357 h 357"/>
            </a:gdLst>
            <a:ahLst/>
            <a:cxnLst>
              <a:cxn ang="T6">
                <a:pos x="T0" y="T1"/>
              </a:cxn>
              <a:cxn ang="T7">
                <a:pos x="T2" y="T3"/>
              </a:cxn>
              <a:cxn ang="T8">
                <a:pos x="T4" y="T5"/>
              </a:cxn>
            </a:cxnLst>
            <a:rect l="T9" t="T10" r="T11" b="T12"/>
            <a:pathLst>
              <a:path w="364" h="357">
                <a:moveTo>
                  <a:pt x="0" y="0"/>
                </a:moveTo>
                <a:lnTo>
                  <a:pt x="0" y="356"/>
                </a:lnTo>
                <a:lnTo>
                  <a:pt x="363" y="356"/>
                </a:lnTo>
              </a:path>
            </a:pathLst>
          </a:custGeom>
          <a:noFill/>
          <a:ln w="25399" cap="rnd">
            <a:solidFill>
              <a:schemeClr val="tx1"/>
            </a:solidFill>
            <a:round/>
            <a:headEnd type="none" w="sm" len="sm"/>
            <a:tailEnd type="none" w="sm" len="sm"/>
          </a:ln>
        </p:spPr>
        <p:txBody>
          <a:bodyPr/>
          <a:lstStyle/>
          <a:p>
            <a:endParaRPr lang="zh-CN" altLang="en-US"/>
          </a:p>
        </p:txBody>
      </p:sp>
      <p:graphicFrame>
        <p:nvGraphicFramePr>
          <p:cNvPr id="11266" name="Object 55"/>
          <p:cNvGraphicFramePr/>
          <p:nvPr/>
        </p:nvGraphicFramePr>
        <p:xfrm>
          <a:off x="3873500" y="1515145"/>
          <a:ext cx="622300" cy="1057275"/>
        </p:xfrm>
        <a:graphic>
          <a:graphicData uri="http://schemas.openxmlformats.org/presentationml/2006/ole">
            <mc:AlternateContent xmlns:mc="http://schemas.openxmlformats.org/markup-compatibility/2006">
              <mc:Choice xmlns:v="urn:schemas-microsoft-com:vml" Requires="v">
                <p:oleObj spid="_x0000_s6235" r:id="rId4" imgW="1962150" imgH="2638425" progId="">
                  <p:embed/>
                </p:oleObj>
              </mc:Choice>
              <mc:Fallback>
                <p:oleObj r:id="rId4" imgW="1962150" imgH="2638425" progId="">
                  <p:embed/>
                  <p:pic>
                    <p:nvPicPr>
                      <p:cNvPr id="11266" name="Object 5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3500" y="1515145"/>
                        <a:ext cx="622300" cy="105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9912" name="Rectangle 56"/>
          <p:cNvSpPr>
            <a:spLocks noChangeArrowheads="1"/>
          </p:cNvSpPr>
          <p:nvPr/>
        </p:nvSpPr>
        <p:spPr bwMode="auto">
          <a:xfrm>
            <a:off x="1684338" y="5556920"/>
            <a:ext cx="3633787" cy="456194"/>
          </a:xfrm>
          <a:prstGeom prst="rect">
            <a:avLst/>
          </a:prstGeom>
          <a:noFill/>
          <a:ln w="9525">
            <a:noFill/>
            <a:miter lim="800000"/>
          </a:ln>
          <a:effectLst/>
        </p:spPr>
        <p:txBody>
          <a:bodyPr lIns="102026" tIns="51012" rIns="102026" bIns="51012">
            <a:spAutoFit/>
          </a:bodyPr>
          <a:lstStyle/>
          <a:p>
            <a:pPr algn="l" defTabSz="1050925" eaLnBrk="0" hangingPunct="0">
              <a:lnSpc>
                <a:spcPct val="85000"/>
              </a:lnSpc>
              <a:defRPr/>
            </a:pPr>
            <a:r>
              <a:rPr kumimoji="1" lang="zh-CN" altLang="en-US" sz="2700" b="1" dirty="0">
                <a:effectLst>
                  <a:outerShdw blurRad="38100" dist="38100" dir="2700000" algn="tl">
                    <a:srgbClr val="C0C0C0"/>
                  </a:outerShdw>
                </a:effectLst>
                <a:latin typeface="ACaslon Bold" charset="0"/>
              </a:rPr>
              <a:t>企业网络</a:t>
            </a:r>
          </a:p>
        </p:txBody>
      </p:sp>
      <p:sp>
        <p:nvSpPr>
          <p:cNvPr id="249913" name="Rectangle 57"/>
          <p:cNvSpPr>
            <a:spLocks noChangeArrowheads="1"/>
          </p:cNvSpPr>
          <p:nvPr/>
        </p:nvSpPr>
        <p:spPr bwMode="auto">
          <a:xfrm>
            <a:off x="1109663" y="1635795"/>
            <a:ext cx="1609725" cy="282575"/>
          </a:xfrm>
          <a:prstGeom prst="rect">
            <a:avLst/>
          </a:prstGeom>
          <a:noFill/>
          <a:ln w="9525">
            <a:noFill/>
            <a:miter lim="800000"/>
          </a:ln>
          <a:effectLst/>
        </p:spPr>
        <p:txBody>
          <a:bodyPr lIns="102026" tIns="51012" rIns="102026" bIns="51012">
            <a:spAutoFit/>
          </a:bodyPr>
          <a:lstStyle/>
          <a:p>
            <a:pPr defTabSz="1050925" eaLnBrk="0" hangingPunct="0">
              <a:lnSpc>
                <a:spcPct val="85000"/>
              </a:lnSpc>
              <a:defRPr/>
            </a:pPr>
            <a:r>
              <a:rPr kumimoji="1" lang="zh-CN" altLang="en-US" sz="1400" b="0">
                <a:effectLst>
                  <a:outerShdw blurRad="38100" dist="38100" dir="2700000" algn="tl">
                    <a:srgbClr val="C0C0C0"/>
                  </a:outerShdw>
                </a:effectLst>
                <a:latin typeface="ACaslon Bold" charset="0"/>
              </a:rPr>
              <a:t>生产部</a:t>
            </a:r>
          </a:p>
        </p:txBody>
      </p:sp>
      <p:sp>
        <p:nvSpPr>
          <p:cNvPr id="249914" name="Rectangle 58"/>
          <p:cNvSpPr>
            <a:spLocks noChangeArrowheads="1"/>
          </p:cNvSpPr>
          <p:nvPr/>
        </p:nvSpPr>
        <p:spPr bwMode="auto">
          <a:xfrm>
            <a:off x="1055688" y="2616870"/>
            <a:ext cx="1690687" cy="282575"/>
          </a:xfrm>
          <a:prstGeom prst="rect">
            <a:avLst/>
          </a:prstGeom>
          <a:noFill/>
          <a:ln w="9525">
            <a:noFill/>
            <a:miter lim="800000"/>
          </a:ln>
          <a:effectLst/>
        </p:spPr>
        <p:txBody>
          <a:bodyPr lIns="102026" tIns="51012" rIns="102026" bIns="51012">
            <a:spAutoFit/>
          </a:bodyPr>
          <a:lstStyle/>
          <a:p>
            <a:pPr defTabSz="1050925" eaLnBrk="0" hangingPunct="0">
              <a:lnSpc>
                <a:spcPct val="85000"/>
              </a:lnSpc>
              <a:defRPr/>
            </a:pPr>
            <a:r>
              <a:rPr kumimoji="1" lang="zh-CN" altLang="en-US" sz="1400" b="0">
                <a:effectLst>
                  <a:outerShdw blurRad="38100" dist="38100" dir="2700000" algn="tl">
                    <a:srgbClr val="C0C0C0"/>
                  </a:outerShdw>
                </a:effectLst>
                <a:latin typeface="ACaslon Bold" charset="0"/>
              </a:rPr>
              <a:t>工程部</a:t>
            </a:r>
          </a:p>
        </p:txBody>
      </p:sp>
      <p:sp>
        <p:nvSpPr>
          <p:cNvPr id="249915" name="Rectangle 59"/>
          <p:cNvSpPr>
            <a:spLocks noChangeArrowheads="1"/>
          </p:cNvSpPr>
          <p:nvPr/>
        </p:nvSpPr>
        <p:spPr bwMode="auto">
          <a:xfrm>
            <a:off x="1079500" y="3616995"/>
            <a:ext cx="1511300" cy="282575"/>
          </a:xfrm>
          <a:prstGeom prst="rect">
            <a:avLst/>
          </a:prstGeom>
          <a:noFill/>
          <a:ln w="9525">
            <a:noFill/>
            <a:miter lim="800000"/>
          </a:ln>
          <a:effectLst/>
        </p:spPr>
        <p:txBody>
          <a:bodyPr lIns="102026" tIns="51012" rIns="102026" bIns="51012">
            <a:spAutoFit/>
          </a:bodyPr>
          <a:lstStyle/>
          <a:p>
            <a:pPr defTabSz="1050925" eaLnBrk="0" hangingPunct="0">
              <a:lnSpc>
                <a:spcPct val="85000"/>
              </a:lnSpc>
              <a:defRPr/>
            </a:pPr>
            <a:r>
              <a:rPr kumimoji="1" lang="zh-CN" altLang="en-US" sz="1400" b="0">
                <a:effectLst>
                  <a:outerShdw blurRad="38100" dist="38100" dir="2700000" algn="tl">
                    <a:srgbClr val="C0C0C0"/>
                  </a:outerShdw>
                </a:effectLst>
                <a:latin typeface="ACaslon Bold" charset="0"/>
              </a:rPr>
              <a:t>市场部</a:t>
            </a:r>
          </a:p>
        </p:txBody>
      </p:sp>
      <p:sp>
        <p:nvSpPr>
          <p:cNvPr id="11301" name="Rectangle 60"/>
          <p:cNvSpPr>
            <a:spLocks noChangeArrowheads="1"/>
          </p:cNvSpPr>
          <p:nvPr/>
        </p:nvSpPr>
        <p:spPr bwMode="auto">
          <a:xfrm>
            <a:off x="4814888" y="1042070"/>
            <a:ext cx="241300" cy="720725"/>
          </a:xfrm>
          <a:prstGeom prst="rect">
            <a:avLst/>
          </a:prstGeom>
          <a:noFill/>
          <a:ln w="9525">
            <a:noFill/>
            <a:miter lim="800000"/>
          </a:ln>
        </p:spPr>
        <p:txBody>
          <a:bodyPr wrap="none" anchor="ctr"/>
          <a:lstStyle/>
          <a:p>
            <a:endParaRPr lang="zh-CN" altLang="en-US"/>
          </a:p>
        </p:txBody>
      </p:sp>
      <p:grpSp>
        <p:nvGrpSpPr>
          <p:cNvPr id="14" name="Group 61"/>
          <p:cNvGrpSpPr/>
          <p:nvPr/>
        </p:nvGrpSpPr>
        <p:grpSpPr bwMode="auto">
          <a:xfrm>
            <a:off x="3927475" y="2794670"/>
            <a:ext cx="885825" cy="1174750"/>
            <a:chOff x="2047" y="1796"/>
            <a:chExt cx="496" cy="739"/>
          </a:xfrm>
        </p:grpSpPr>
        <p:sp>
          <p:nvSpPr>
            <p:cNvPr id="11510" name="Freeform 62"/>
            <p:cNvSpPr/>
            <p:nvPr/>
          </p:nvSpPr>
          <p:spPr bwMode="auto">
            <a:xfrm>
              <a:off x="2485" y="2196"/>
              <a:ext cx="35" cy="67"/>
            </a:xfrm>
            <a:custGeom>
              <a:avLst/>
              <a:gdLst>
                <a:gd name="T0" fmla="*/ 0 w 35"/>
                <a:gd name="T1" fmla="*/ 66 h 67"/>
                <a:gd name="T2" fmla="*/ 0 w 35"/>
                <a:gd name="T3" fmla="*/ 66 h 67"/>
                <a:gd name="T4" fmla="*/ 2 w 35"/>
                <a:gd name="T5" fmla="*/ 24 h 67"/>
                <a:gd name="T6" fmla="*/ 34 w 35"/>
                <a:gd name="T7" fmla="*/ 0 h 67"/>
                <a:gd name="T8" fmla="*/ 31 w 35"/>
                <a:gd name="T9" fmla="*/ 44 h 67"/>
                <a:gd name="T10" fmla="*/ 0 w 35"/>
                <a:gd name="T11" fmla="*/ 66 h 67"/>
                <a:gd name="T12" fmla="*/ 0 60000 65536"/>
                <a:gd name="T13" fmla="*/ 0 60000 65536"/>
                <a:gd name="T14" fmla="*/ 0 60000 65536"/>
                <a:gd name="T15" fmla="*/ 0 60000 65536"/>
                <a:gd name="T16" fmla="*/ 0 60000 65536"/>
                <a:gd name="T17" fmla="*/ 0 60000 65536"/>
                <a:gd name="T18" fmla="*/ 0 w 35"/>
                <a:gd name="T19" fmla="*/ 0 h 67"/>
                <a:gd name="T20" fmla="*/ 35 w 35"/>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35" h="67">
                  <a:moveTo>
                    <a:pt x="0" y="66"/>
                  </a:moveTo>
                  <a:lnTo>
                    <a:pt x="0" y="66"/>
                  </a:lnTo>
                  <a:lnTo>
                    <a:pt x="2" y="24"/>
                  </a:lnTo>
                  <a:lnTo>
                    <a:pt x="34" y="0"/>
                  </a:lnTo>
                  <a:lnTo>
                    <a:pt x="31" y="44"/>
                  </a:lnTo>
                  <a:lnTo>
                    <a:pt x="0" y="66"/>
                  </a:lnTo>
                </a:path>
              </a:pathLst>
            </a:custGeom>
            <a:solidFill>
              <a:srgbClr val="BB1A50"/>
            </a:solidFill>
            <a:ln w="9525" cap="rnd">
              <a:noFill/>
              <a:round/>
            </a:ln>
          </p:spPr>
          <p:txBody>
            <a:bodyPr/>
            <a:lstStyle/>
            <a:p>
              <a:endParaRPr lang="zh-CN" altLang="en-US"/>
            </a:p>
          </p:txBody>
        </p:sp>
        <p:sp>
          <p:nvSpPr>
            <p:cNvPr id="11511" name="Freeform 63"/>
            <p:cNvSpPr/>
            <p:nvPr/>
          </p:nvSpPr>
          <p:spPr bwMode="auto">
            <a:xfrm>
              <a:off x="2454" y="2212"/>
              <a:ext cx="32" cy="51"/>
            </a:xfrm>
            <a:custGeom>
              <a:avLst/>
              <a:gdLst>
                <a:gd name="T0" fmla="*/ 28 w 32"/>
                <a:gd name="T1" fmla="*/ 50 h 51"/>
                <a:gd name="T2" fmla="*/ 28 w 32"/>
                <a:gd name="T3" fmla="*/ 50 h 51"/>
                <a:gd name="T4" fmla="*/ 0 w 32"/>
                <a:gd name="T5" fmla="*/ 43 h 51"/>
                <a:gd name="T6" fmla="*/ 0 w 32"/>
                <a:gd name="T7" fmla="*/ 0 h 51"/>
                <a:gd name="T8" fmla="*/ 31 w 32"/>
                <a:gd name="T9" fmla="*/ 8 h 51"/>
                <a:gd name="T10" fmla="*/ 28 w 32"/>
                <a:gd name="T11" fmla="*/ 50 h 51"/>
                <a:gd name="T12" fmla="*/ 0 60000 65536"/>
                <a:gd name="T13" fmla="*/ 0 60000 65536"/>
                <a:gd name="T14" fmla="*/ 0 60000 65536"/>
                <a:gd name="T15" fmla="*/ 0 60000 65536"/>
                <a:gd name="T16" fmla="*/ 0 60000 65536"/>
                <a:gd name="T17" fmla="*/ 0 60000 65536"/>
                <a:gd name="T18" fmla="*/ 0 w 32"/>
                <a:gd name="T19" fmla="*/ 0 h 51"/>
                <a:gd name="T20" fmla="*/ 32 w 32"/>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32" h="51">
                  <a:moveTo>
                    <a:pt x="28" y="50"/>
                  </a:moveTo>
                  <a:lnTo>
                    <a:pt x="28" y="50"/>
                  </a:lnTo>
                  <a:lnTo>
                    <a:pt x="0" y="43"/>
                  </a:lnTo>
                  <a:lnTo>
                    <a:pt x="0" y="0"/>
                  </a:lnTo>
                  <a:lnTo>
                    <a:pt x="31" y="8"/>
                  </a:lnTo>
                  <a:lnTo>
                    <a:pt x="28" y="50"/>
                  </a:lnTo>
                </a:path>
              </a:pathLst>
            </a:custGeom>
            <a:solidFill>
              <a:srgbClr val="9E0005"/>
            </a:solidFill>
            <a:ln w="9525" cap="rnd">
              <a:noFill/>
              <a:round/>
            </a:ln>
          </p:spPr>
          <p:txBody>
            <a:bodyPr/>
            <a:lstStyle/>
            <a:p>
              <a:endParaRPr lang="zh-CN" altLang="en-US"/>
            </a:p>
          </p:txBody>
        </p:sp>
        <p:sp>
          <p:nvSpPr>
            <p:cNvPr id="11512" name="Freeform 64"/>
            <p:cNvSpPr/>
            <p:nvPr/>
          </p:nvSpPr>
          <p:spPr bwMode="auto">
            <a:xfrm>
              <a:off x="2453" y="2187"/>
              <a:ext cx="67" cy="31"/>
            </a:xfrm>
            <a:custGeom>
              <a:avLst/>
              <a:gdLst>
                <a:gd name="T0" fmla="*/ 33 w 67"/>
                <a:gd name="T1" fmla="*/ 30 h 31"/>
                <a:gd name="T2" fmla="*/ 33 w 67"/>
                <a:gd name="T3" fmla="*/ 30 h 31"/>
                <a:gd name="T4" fmla="*/ 0 w 67"/>
                <a:gd name="T5" fmla="*/ 19 h 31"/>
                <a:gd name="T6" fmla="*/ 35 w 67"/>
                <a:gd name="T7" fmla="*/ 0 h 31"/>
                <a:gd name="T8" fmla="*/ 66 w 67"/>
                <a:gd name="T9" fmla="*/ 10 h 31"/>
                <a:gd name="T10" fmla="*/ 33 w 67"/>
                <a:gd name="T11" fmla="*/ 30 h 31"/>
                <a:gd name="T12" fmla="*/ 0 60000 65536"/>
                <a:gd name="T13" fmla="*/ 0 60000 65536"/>
                <a:gd name="T14" fmla="*/ 0 60000 65536"/>
                <a:gd name="T15" fmla="*/ 0 60000 65536"/>
                <a:gd name="T16" fmla="*/ 0 60000 65536"/>
                <a:gd name="T17" fmla="*/ 0 60000 65536"/>
                <a:gd name="T18" fmla="*/ 0 w 67"/>
                <a:gd name="T19" fmla="*/ 0 h 31"/>
                <a:gd name="T20" fmla="*/ 67 w 67"/>
                <a:gd name="T21" fmla="*/ 31 h 31"/>
              </a:gdLst>
              <a:ahLst/>
              <a:cxnLst>
                <a:cxn ang="T12">
                  <a:pos x="T0" y="T1"/>
                </a:cxn>
                <a:cxn ang="T13">
                  <a:pos x="T2" y="T3"/>
                </a:cxn>
                <a:cxn ang="T14">
                  <a:pos x="T4" y="T5"/>
                </a:cxn>
                <a:cxn ang="T15">
                  <a:pos x="T6" y="T7"/>
                </a:cxn>
                <a:cxn ang="T16">
                  <a:pos x="T8" y="T9"/>
                </a:cxn>
                <a:cxn ang="T17">
                  <a:pos x="T10" y="T11"/>
                </a:cxn>
              </a:cxnLst>
              <a:rect l="T18" t="T19" r="T20" b="T21"/>
              <a:pathLst>
                <a:path w="67" h="31">
                  <a:moveTo>
                    <a:pt x="33" y="30"/>
                  </a:moveTo>
                  <a:lnTo>
                    <a:pt x="33" y="30"/>
                  </a:lnTo>
                  <a:lnTo>
                    <a:pt x="0" y="19"/>
                  </a:lnTo>
                  <a:lnTo>
                    <a:pt x="35" y="0"/>
                  </a:lnTo>
                  <a:lnTo>
                    <a:pt x="66" y="10"/>
                  </a:lnTo>
                  <a:lnTo>
                    <a:pt x="33" y="30"/>
                  </a:lnTo>
                </a:path>
              </a:pathLst>
            </a:custGeom>
            <a:solidFill>
              <a:srgbClr val="CF5C82"/>
            </a:solidFill>
            <a:ln w="9525" cap="rnd">
              <a:noFill/>
              <a:round/>
            </a:ln>
          </p:spPr>
          <p:txBody>
            <a:bodyPr/>
            <a:lstStyle/>
            <a:p>
              <a:endParaRPr lang="zh-CN" altLang="en-US"/>
            </a:p>
          </p:txBody>
        </p:sp>
        <p:grpSp>
          <p:nvGrpSpPr>
            <p:cNvPr id="15" name="Group 65"/>
            <p:cNvGrpSpPr/>
            <p:nvPr/>
          </p:nvGrpSpPr>
          <p:grpSpPr bwMode="auto">
            <a:xfrm>
              <a:off x="2363" y="2214"/>
              <a:ext cx="118" cy="109"/>
              <a:chOff x="2363" y="2214"/>
              <a:chExt cx="118" cy="109"/>
            </a:xfrm>
          </p:grpSpPr>
          <p:sp>
            <p:nvSpPr>
              <p:cNvPr id="11710" name="Freeform 66"/>
              <p:cNvSpPr/>
              <p:nvPr/>
            </p:nvSpPr>
            <p:spPr bwMode="auto">
              <a:xfrm>
                <a:off x="2400" y="2228"/>
                <a:ext cx="81" cy="95"/>
              </a:xfrm>
              <a:custGeom>
                <a:avLst/>
                <a:gdLst>
                  <a:gd name="T0" fmla="*/ 0 w 81"/>
                  <a:gd name="T1" fmla="*/ 94 h 95"/>
                  <a:gd name="T2" fmla="*/ 0 w 81"/>
                  <a:gd name="T3" fmla="*/ 94 h 95"/>
                  <a:gd name="T4" fmla="*/ 0 w 81"/>
                  <a:gd name="T5" fmla="*/ 48 h 95"/>
                  <a:gd name="T6" fmla="*/ 80 w 81"/>
                  <a:gd name="T7" fmla="*/ 0 h 95"/>
                  <a:gd name="T8" fmla="*/ 77 w 81"/>
                  <a:gd name="T9" fmla="*/ 42 h 95"/>
                  <a:gd name="T10" fmla="*/ 0 w 81"/>
                  <a:gd name="T11" fmla="*/ 94 h 95"/>
                  <a:gd name="T12" fmla="*/ 0 60000 65536"/>
                  <a:gd name="T13" fmla="*/ 0 60000 65536"/>
                  <a:gd name="T14" fmla="*/ 0 60000 65536"/>
                  <a:gd name="T15" fmla="*/ 0 60000 65536"/>
                  <a:gd name="T16" fmla="*/ 0 60000 65536"/>
                  <a:gd name="T17" fmla="*/ 0 60000 65536"/>
                  <a:gd name="T18" fmla="*/ 0 w 81"/>
                  <a:gd name="T19" fmla="*/ 0 h 95"/>
                  <a:gd name="T20" fmla="*/ 81 w 81"/>
                  <a:gd name="T21" fmla="*/ 95 h 95"/>
                </a:gdLst>
                <a:ahLst/>
                <a:cxnLst>
                  <a:cxn ang="T12">
                    <a:pos x="T0" y="T1"/>
                  </a:cxn>
                  <a:cxn ang="T13">
                    <a:pos x="T2" y="T3"/>
                  </a:cxn>
                  <a:cxn ang="T14">
                    <a:pos x="T4" y="T5"/>
                  </a:cxn>
                  <a:cxn ang="T15">
                    <a:pos x="T6" y="T7"/>
                  </a:cxn>
                  <a:cxn ang="T16">
                    <a:pos x="T8" y="T9"/>
                  </a:cxn>
                  <a:cxn ang="T17">
                    <a:pos x="T10" y="T11"/>
                  </a:cxn>
                </a:cxnLst>
                <a:rect l="T18" t="T19" r="T20" b="T21"/>
                <a:pathLst>
                  <a:path w="81" h="95">
                    <a:moveTo>
                      <a:pt x="0" y="94"/>
                    </a:moveTo>
                    <a:lnTo>
                      <a:pt x="0" y="94"/>
                    </a:lnTo>
                    <a:lnTo>
                      <a:pt x="0" y="48"/>
                    </a:lnTo>
                    <a:lnTo>
                      <a:pt x="80" y="0"/>
                    </a:lnTo>
                    <a:lnTo>
                      <a:pt x="77" y="42"/>
                    </a:lnTo>
                    <a:lnTo>
                      <a:pt x="0" y="94"/>
                    </a:lnTo>
                  </a:path>
                </a:pathLst>
              </a:custGeom>
              <a:solidFill>
                <a:srgbClr val="BB1A50"/>
              </a:solidFill>
              <a:ln w="9525" cap="rnd">
                <a:noFill/>
                <a:round/>
              </a:ln>
            </p:spPr>
            <p:txBody>
              <a:bodyPr/>
              <a:lstStyle/>
              <a:p>
                <a:endParaRPr lang="zh-CN" altLang="en-US"/>
              </a:p>
            </p:txBody>
          </p:sp>
          <p:sp>
            <p:nvSpPr>
              <p:cNvPr id="11711" name="Freeform 67"/>
              <p:cNvSpPr/>
              <p:nvPr/>
            </p:nvSpPr>
            <p:spPr bwMode="auto">
              <a:xfrm>
                <a:off x="2363" y="2269"/>
                <a:ext cx="35" cy="54"/>
              </a:xfrm>
              <a:custGeom>
                <a:avLst/>
                <a:gdLst>
                  <a:gd name="T0" fmla="*/ 34 w 35"/>
                  <a:gd name="T1" fmla="*/ 53 h 54"/>
                  <a:gd name="T2" fmla="*/ 34 w 35"/>
                  <a:gd name="T3" fmla="*/ 53 h 54"/>
                  <a:gd name="T4" fmla="*/ 0 w 35"/>
                  <a:gd name="T5" fmla="*/ 46 h 54"/>
                  <a:gd name="T6" fmla="*/ 2 w 35"/>
                  <a:gd name="T7" fmla="*/ 0 h 54"/>
                  <a:gd name="T8" fmla="*/ 34 w 35"/>
                  <a:gd name="T9" fmla="*/ 8 h 54"/>
                  <a:gd name="T10" fmla="*/ 34 w 35"/>
                  <a:gd name="T11" fmla="*/ 53 h 54"/>
                  <a:gd name="T12" fmla="*/ 0 60000 65536"/>
                  <a:gd name="T13" fmla="*/ 0 60000 65536"/>
                  <a:gd name="T14" fmla="*/ 0 60000 65536"/>
                  <a:gd name="T15" fmla="*/ 0 60000 65536"/>
                  <a:gd name="T16" fmla="*/ 0 60000 65536"/>
                  <a:gd name="T17" fmla="*/ 0 60000 65536"/>
                  <a:gd name="T18" fmla="*/ 0 w 35"/>
                  <a:gd name="T19" fmla="*/ 0 h 54"/>
                  <a:gd name="T20" fmla="*/ 35 w 35"/>
                  <a:gd name="T21" fmla="*/ 54 h 54"/>
                </a:gdLst>
                <a:ahLst/>
                <a:cxnLst>
                  <a:cxn ang="T12">
                    <a:pos x="T0" y="T1"/>
                  </a:cxn>
                  <a:cxn ang="T13">
                    <a:pos x="T2" y="T3"/>
                  </a:cxn>
                  <a:cxn ang="T14">
                    <a:pos x="T4" y="T5"/>
                  </a:cxn>
                  <a:cxn ang="T15">
                    <a:pos x="T6" y="T7"/>
                  </a:cxn>
                  <a:cxn ang="T16">
                    <a:pos x="T8" y="T9"/>
                  </a:cxn>
                  <a:cxn ang="T17">
                    <a:pos x="T10" y="T11"/>
                  </a:cxn>
                </a:cxnLst>
                <a:rect l="T18" t="T19" r="T20" b="T21"/>
                <a:pathLst>
                  <a:path w="35" h="54">
                    <a:moveTo>
                      <a:pt x="34" y="53"/>
                    </a:moveTo>
                    <a:lnTo>
                      <a:pt x="34" y="53"/>
                    </a:lnTo>
                    <a:lnTo>
                      <a:pt x="0" y="46"/>
                    </a:lnTo>
                    <a:lnTo>
                      <a:pt x="2" y="0"/>
                    </a:lnTo>
                    <a:lnTo>
                      <a:pt x="34" y="8"/>
                    </a:lnTo>
                    <a:lnTo>
                      <a:pt x="34" y="53"/>
                    </a:lnTo>
                  </a:path>
                </a:pathLst>
              </a:custGeom>
              <a:solidFill>
                <a:srgbClr val="9E0005"/>
              </a:solidFill>
              <a:ln w="9525" cap="rnd">
                <a:noFill/>
                <a:round/>
              </a:ln>
            </p:spPr>
            <p:txBody>
              <a:bodyPr/>
              <a:lstStyle/>
              <a:p>
                <a:endParaRPr lang="zh-CN" altLang="en-US"/>
              </a:p>
            </p:txBody>
          </p:sp>
          <p:sp>
            <p:nvSpPr>
              <p:cNvPr id="11712" name="Freeform 68"/>
              <p:cNvSpPr/>
              <p:nvPr/>
            </p:nvSpPr>
            <p:spPr bwMode="auto">
              <a:xfrm>
                <a:off x="2366" y="2214"/>
                <a:ext cx="115" cy="62"/>
              </a:xfrm>
              <a:custGeom>
                <a:avLst/>
                <a:gdLst>
                  <a:gd name="T0" fmla="*/ 33 w 115"/>
                  <a:gd name="T1" fmla="*/ 61 h 62"/>
                  <a:gd name="T2" fmla="*/ 33 w 115"/>
                  <a:gd name="T3" fmla="*/ 61 h 62"/>
                  <a:gd name="T4" fmla="*/ 0 w 115"/>
                  <a:gd name="T5" fmla="*/ 51 h 62"/>
                  <a:gd name="T6" fmla="*/ 83 w 115"/>
                  <a:gd name="T7" fmla="*/ 0 h 62"/>
                  <a:gd name="T8" fmla="*/ 114 w 115"/>
                  <a:gd name="T9" fmla="*/ 11 h 62"/>
                  <a:gd name="T10" fmla="*/ 33 w 115"/>
                  <a:gd name="T11" fmla="*/ 61 h 62"/>
                  <a:gd name="T12" fmla="*/ 0 60000 65536"/>
                  <a:gd name="T13" fmla="*/ 0 60000 65536"/>
                  <a:gd name="T14" fmla="*/ 0 60000 65536"/>
                  <a:gd name="T15" fmla="*/ 0 60000 65536"/>
                  <a:gd name="T16" fmla="*/ 0 60000 65536"/>
                  <a:gd name="T17" fmla="*/ 0 60000 65536"/>
                  <a:gd name="T18" fmla="*/ 0 w 115"/>
                  <a:gd name="T19" fmla="*/ 0 h 62"/>
                  <a:gd name="T20" fmla="*/ 115 w 115"/>
                  <a:gd name="T21" fmla="*/ 62 h 62"/>
                </a:gdLst>
                <a:ahLst/>
                <a:cxnLst>
                  <a:cxn ang="T12">
                    <a:pos x="T0" y="T1"/>
                  </a:cxn>
                  <a:cxn ang="T13">
                    <a:pos x="T2" y="T3"/>
                  </a:cxn>
                  <a:cxn ang="T14">
                    <a:pos x="T4" y="T5"/>
                  </a:cxn>
                  <a:cxn ang="T15">
                    <a:pos x="T6" y="T7"/>
                  </a:cxn>
                  <a:cxn ang="T16">
                    <a:pos x="T8" y="T9"/>
                  </a:cxn>
                  <a:cxn ang="T17">
                    <a:pos x="T10" y="T11"/>
                  </a:cxn>
                </a:cxnLst>
                <a:rect l="T18" t="T19" r="T20" b="T21"/>
                <a:pathLst>
                  <a:path w="115" h="62">
                    <a:moveTo>
                      <a:pt x="33" y="61"/>
                    </a:moveTo>
                    <a:lnTo>
                      <a:pt x="33" y="61"/>
                    </a:lnTo>
                    <a:lnTo>
                      <a:pt x="0" y="51"/>
                    </a:lnTo>
                    <a:lnTo>
                      <a:pt x="83" y="0"/>
                    </a:lnTo>
                    <a:lnTo>
                      <a:pt x="114" y="11"/>
                    </a:lnTo>
                    <a:lnTo>
                      <a:pt x="33" y="61"/>
                    </a:lnTo>
                  </a:path>
                </a:pathLst>
              </a:custGeom>
              <a:solidFill>
                <a:srgbClr val="CF5C82"/>
              </a:solidFill>
              <a:ln w="9525" cap="rnd">
                <a:noFill/>
                <a:round/>
              </a:ln>
            </p:spPr>
            <p:txBody>
              <a:bodyPr/>
              <a:lstStyle/>
              <a:p>
                <a:endParaRPr lang="zh-CN" altLang="en-US"/>
              </a:p>
            </p:txBody>
          </p:sp>
        </p:grpSp>
        <p:grpSp>
          <p:nvGrpSpPr>
            <p:cNvPr id="16" name="Group 69"/>
            <p:cNvGrpSpPr/>
            <p:nvPr/>
          </p:nvGrpSpPr>
          <p:grpSpPr bwMode="auto">
            <a:xfrm>
              <a:off x="2269" y="2275"/>
              <a:ext cx="127" cy="116"/>
              <a:chOff x="2269" y="2275"/>
              <a:chExt cx="127" cy="116"/>
            </a:xfrm>
          </p:grpSpPr>
          <p:sp>
            <p:nvSpPr>
              <p:cNvPr id="11707" name="Freeform 70"/>
              <p:cNvSpPr/>
              <p:nvPr/>
            </p:nvSpPr>
            <p:spPr bwMode="auto">
              <a:xfrm>
                <a:off x="2306" y="2285"/>
                <a:ext cx="90" cy="106"/>
              </a:xfrm>
              <a:custGeom>
                <a:avLst/>
                <a:gdLst>
                  <a:gd name="T0" fmla="*/ 0 w 90"/>
                  <a:gd name="T1" fmla="*/ 105 h 106"/>
                  <a:gd name="T2" fmla="*/ 0 w 90"/>
                  <a:gd name="T3" fmla="*/ 105 h 106"/>
                  <a:gd name="T4" fmla="*/ 2 w 90"/>
                  <a:gd name="T5" fmla="*/ 55 h 106"/>
                  <a:gd name="T6" fmla="*/ 89 w 90"/>
                  <a:gd name="T7" fmla="*/ 0 h 106"/>
                  <a:gd name="T8" fmla="*/ 86 w 90"/>
                  <a:gd name="T9" fmla="*/ 49 h 106"/>
                  <a:gd name="T10" fmla="*/ 0 w 90"/>
                  <a:gd name="T11" fmla="*/ 105 h 106"/>
                  <a:gd name="T12" fmla="*/ 0 60000 65536"/>
                  <a:gd name="T13" fmla="*/ 0 60000 65536"/>
                  <a:gd name="T14" fmla="*/ 0 60000 65536"/>
                  <a:gd name="T15" fmla="*/ 0 60000 65536"/>
                  <a:gd name="T16" fmla="*/ 0 60000 65536"/>
                  <a:gd name="T17" fmla="*/ 0 60000 65536"/>
                  <a:gd name="T18" fmla="*/ 0 w 90"/>
                  <a:gd name="T19" fmla="*/ 0 h 106"/>
                  <a:gd name="T20" fmla="*/ 90 w 90"/>
                  <a:gd name="T21" fmla="*/ 106 h 106"/>
                </a:gdLst>
                <a:ahLst/>
                <a:cxnLst>
                  <a:cxn ang="T12">
                    <a:pos x="T0" y="T1"/>
                  </a:cxn>
                  <a:cxn ang="T13">
                    <a:pos x="T2" y="T3"/>
                  </a:cxn>
                  <a:cxn ang="T14">
                    <a:pos x="T4" y="T5"/>
                  </a:cxn>
                  <a:cxn ang="T15">
                    <a:pos x="T6" y="T7"/>
                  </a:cxn>
                  <a:cxn ang="T16">
                    <a:pos x="T8" y="T9"/>
                  </a:cxn>
                  <a:cxn ang="T17">
                    <a:pos x="T10" y="T11"/>
                  </a:cxn>
                </a:cxnLst>
                <a:rect l="T18" t="T19" r="T20" b="T21"/>
                <a:pathLst>
                  <a:path w="90" h="106">
                    <a:moveTo>
                      <a:pt x="0" y="105"/>
                    </a:moveTo>
                    <a:lnTo>
                      <a:pt x="0" y="105"/>
                    </a:lnTo>
                    <a:lnTo>
                      <a:pt x="2" y="55"/>
                    </a:lnTo>
                    <a:lnTo>
                      <a:pt x="89" y="0"/>
                    </a:lnTo>
                    <a:lnTo>
                      <a:pt x="86" y="49"/>
                    </a:lnTo>
                    <a:lnTo>
                      <a:pt x="0" y="105"/>
                    </a:lnTo>
                  </a:path>
                </a:pathLst>
              </a:custGeom>
              <a:solidFill>
                <a:srgbClr val="BB1A50"/>
              </a:solidFill>
              <a:ln w="9525" cap="rnd">
                <a:noFill/>
                <a:round/>
              </a:ln>
            </p:spPr>
            <p:txBody>
              <a:bodyPr/>
              <a:lstStyle/>
              <a:p>
                <a:endParaRPr lang="zh-CN" altLang="en-US"/>
              </a:p>
            </p:txBody>
          </p:sp>
          <p:sp>
            <p:nvSpPr>
              <p:cNvPr id="11708" name="Freeform 71"/>
              <p:cNvSpPr/>
              <p:nvPr/>
            </p:nvSpPr>
            <p:spPr bwMode="auto">
              <a:xfrm>
                <a:off x="2269" y="2336"/>
                <a:ext cx="38" cy="55"/>
              </a:xfrm>
              <a:custGeom>
                <a:avLst/>
                <a:gdLst>
                  <a:gd name="T0" fmla="*/ 34 w 38"/>
                  <a:gd name="T1" fmla="*/ 54 h 55"/>
                  <a:gd name="T2" fmla="*/ 34 w 38"/>
                  <a:gd name="T3" fmla="*/ 54 h 55"/>
                  <a:gd name="T4" fmla="*/ 0 w 38"/>
                  <a:gd name="T5" fmla="*/ 45 h 55"/>
                  <a:gd name="T6" fmla="*/ 2 w 38"/>
                  <a:gd name="T7" fmla="*/ 0 h 55"/>
                  <a:gd name="T8" fmla="*/ 37 w 38"/>
                  <a:gd name="T9" fmla="*/ 6 h 55"/>
                  <a:gd name="T10" fmla="*/ 34 w 38"/>
                  <a:gd name="T11" fmla="*/ 54 h 55"/>
                  <a:gd name="T12" fmla="*/ 0 60000 65536"/>
                  <a:gd name="T13" fmla="*/ 0 60000 65536"/>
                  <a:gd name="T14" fmla="*/ 0 60000 65536"/>
                  <a:gd name="T15" fmla="*/ 0 60000 65536"/>
                  <a:gd name="T16" fmla="*/ 0 60000 65536"/>
                  <a:gd name="T17" fmla="*/ 0 60000 65536"/>
                  <a:gd name="T18" fmla="*/ 0 w 38"/>
                  <a:gd name="T19" fmla="*/ 0 h 55"/>
                  <a:gd name="T20" fmla="*/ 38 w 38"/>
                  <a:gd name="T21" fmla="*/ 55 h 55"/>
                </a:gdLst>
                <a:ahLst/>
                <a:cxnLst>
                  <a:cxn ang="T12">
                    <a:pos x="T0" y="T1"/>
                  </a:cxn>
                  <a:cxn ang="T13">
                    <a:pos x="T2" y="T3"/>
                  </a:cxn>
                  <a:cxn ang="T14">
                    <a:pos x="T4" y="T5"/>
                  </a:cxn>
                  <a:cxn ang="T15">
                    <a:pos x="T6" y="T7"/>
                  </a:cxn>
                  <a:cxn ang="T16">
                    <a:pos x="T8" y="T9"/>
                  </a:cxn>
                  <a:cxn ang="T17">
                    <a:pos x="T10" y="T11"/>
                  </a:cxn>
                </a:cxnLst>
                <a:rect l="T18" t="T19" r="T20" b="T21"/>
                <a:pathLst>
                  <a:path w="38" h="55">
                    <a:moveTo>
                      <a:pt x="34" y="54"/>
                    </a:moveTo>
                    <a:lnTo>
                      <a:pt x="34" y="54"/>
                    </a:lnTo>
                    <a:lnTo>
                      <a:pt x="0" y="45"/>
                    </a:lnTo>
                    <a:lnTo>
                      <a:pt x="2" y="0"/>
                    </a:lnTo>
                    <a:lnTo>
                      <a:pt x="37" y="6"/>
                    </a:lnTo>
                    <a:lnTo>
                      <a:pt x="34" y="54"/>
                    </a:lnTo>
                  </a:path>
                </a:pathLst>
              </a:custGeom>
              <a:solidFill>
                <a:srgbClr val="9E0005"/>
              </a:solidFill>
              <a:ln w="9525" cap="rnd">
                <a:noFill/>
                <a:round/>
              </a:ln>
            </p:spPr>
            <p:txBody>
              <a:bodyPr/>
              <a:lstStyle/>
              <a:p>
                <a:endParaRPr lang="zh-CN" altLang="en-US"/>
              </a:p>
            </p:txBody>
          </p:sp>
          <p:sp>
            <p:nvSpPr>
              <p:cNvPr id="11709" name="Freeform 72"/>
              <p:cNvSpPr/>
              <p:nvPr/>
            </p:nvSpPr>
            <p:spPr bwMode="auto">
              <a:xfrm>
                <a:off x="2269" y="2275"/>
                <a:ext cx="127" cy="65"/>
              </a:xfrm>
              <a:custGeom>
                <a:avLst/>
                <a:gdLst>
                  <a:gd name="T0" fmla="*/ 39 w 127"/>
                  <a:gd name="T1" fmla="*/ 64 h 65"/>
                  <a:gd name="T2" fmla="*/ 39 w 127"/>
                  <a:gd name="T3" fmla="*/ 64 h 65"/>
                  <a:gd name="T4" fmla="*/ 0 w 127"/>
                  <a:gd name="T5" fmla="*/ 57 h 65"/>
                  <a:gd name="T6" fmla="*/ 89 w 127"/>
                  <a:gd name="T7" fmla="*/ 0 h 65"/>
                  <a:gd name="T8" fmla="*/ 126 w 127"/>
                  <a:gd name="T9" fmla="*/ 9 h 65"/>
                  <a:gd name="T10" fmla="*/ 39 w 127"/>
                  <a:gd name="T11" fmla="*/ 64 h 65"/>
                  <a:gd name="T12" fmla="*/ 0 60000 65536"/>
                  <a:gd name="T13" fmla="*/ 0 60000 65536"/>
                  <a:gd name="T14" fmla="*/ 0 60000 65536"/>
                  <a:gd name="T15" fmla="*/ 0 60000 65536"/>
                  <a:gd name="T16" fmla="*/ 0 60000 65536"/>
                  <a:gd name="T17" fmla="*/ 0 60000 65536"/>
                  <a:gd name="T18" fmla="*/ 0 w 127"/>
                  <a:gd name="T19" fmla="*/ 0 h 65"/>
                  <a:gd name="T20" fmla="*/ 127 w 127"/>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127" h="65">
                    <a:moveTo>
                      <a:pt x="39" y="64"/>
                    </a:moveTo>
                    <a:lnTo>
                      <a:pt x="39" y="64"/>
                    </a:lnTo>
                    <a:lnTo>
                      <a:pt x="0" y="57"/>
                    </a:lnTo>
                    <a:lnTo>
                      <a:pt x="89" y="0"/>
                    </a:lnTo>
                    <a:lnTo>
                      <a:pt x="126" y="9"/>
                    </a:lnTo>
                    <a:lnTo>
                      <a:pt x="39" y="64"/>
                    </a:lnTo>
                  </a:path>
                </a:pathLst>
              </a:custGeom>
              <a:solidFill>
                <a:srgbClr val="CF5C82"/>
              </a:solidFill>
              <a:ln w="9525" cap="rnd">
                <a:noFill/>
                <a:round/>
              </a:ln>
            </p:spPr>
            <p:txBody>
              <a:bodyPr/>
              <a:lstStyle/>
              <a:p>
                <a:endParaRPr lang="zh-CN" altLang="en-US"/>
              </a:p>
            </p:txBody>
          </p:sp>
        </p:grpSp>
        <p:grpSp>
          <p:nvGrpSpPr>
            <p:cNvPr id="17" name="Group 73"/>
            <p:cNvGrpSpPr/>
            <p:nvPr/>
          </p:nvGrpSpPr>
          <p:grpSpPr bwMode="auto">
            <a:xfrm>
              <a:off x="2167" y="2342"/>
              <a:ext cx="135" cy="119"/>
              <a:chOff x="2167" y="2342"/>
              <a:chExt cx="135" cy="119"/>
            </a:xfrm>
          </p:grpSpPr>
          <p:sp>
            <p:nvSpPr>
              <p:cNvPr id="11704" name="Freeform 74"/>
              <p:cNvSpPr/>
              <p:nvPr/>
            </p:nvSpPr>
            <p:spPr bwMode="auto">
              <a:xfrm>
                <a:off x="2207" y="2352"/>
                <a:ext cx="95" cy="109"/>
              </a:xfrm>
              <a:custGeom>
                <a:avLst/>
                <a:gdLst>
                  <a:gd name="T0" fmla="*/ 0 w 95"/>
                  <a:gd name="T1" fmla="*/ 108 h 109"/>
                  <a:gd name="T2" fmla="*/ 0 w 95"/>
                  <a:gd name="T3" fmla="*/ 108 h 109"/>
                  <a:gd name="T4" fmla="*/ 2 w 95"/>
                  <a:gd name="T5" fmla="*/ 58 h 109"/>
                  <a:gd name="T6" fmla="*/ 94 w 95"/>
                  <a:gd name="T7" fmla="*/ 0 h 109"/>
                  <a:gd name="T8" fmla="*/ 91 w 95"/>
                  <a:gd name="T9" fmla="*/ 45 h 109"/>
                  <a:gd name="T10" fmla="*/ 0 w 95"/>
                  <a:gd name="T11" fmla="*/ 108 h 109"/>
                  <a:gd name="T12" fmla="*/ 0 60000 65536"/>
                  <a:gd name="T13" fmla="*/ 0 60000 65536"/>
                  <a:gd name="T14" fmla="*/ 0 60000 65536"/>
                  <a:gd name="T15" fmla="*/ 0 60000 65536"/>
                  <a:gd name="T16" fmla="*/ 0 60000 65536"/>
                  <a:gd name="T17" fmla="*/ 0 60000 65536"/>
                  <a:gd name="T18" fmla="*/ 0 w 95"/>
                  <a:gd name="T19" fmla="*/ 0 h 109"/>
                  <a:gd name="T20" fmla="*/ 95 w 95"/>
                  <a:gd name="T21" fmla="*/ 109 h 109"/>
                </a:gdLst>
                <a:ahLst/>
                <a:cxnLst>
                  <a:cxn ang="T12">
                    <a:pos x="T0" y="T1"/>
                  </a:cxn>
                  <a:cxn ang="T13">
                    <a:pos x="T2" y="T3"/>
                  </a:cxn>
                  <a:cxn ang="T14">
                    <a:pos x="T4" y="T5"/>
                  </a:cxn>
                  <a:cxn ang="T15">
                    <a:pos x="T6" y="T7"/>
                  </a:cxn>
                  <a:cxn ang="T16">
                    <a:pos x="T8" y="T9"/>
                  </a:cxn>
                  <a:cxn ang="T17">
                    <a:pos x="T10" y="T11"/>
                  </a:cxn>
                </a:cxnLst>
                <a:rect l="T18" t="T19" r="T20" b="T21"/>
                <a:pathLst>
                  <a:path w="95" h="109">
                    <a:moveTo>
                      <a:pt x="0" y="108"/>
                    </a:moveTo>
                    <a:lnTo>
                      <a:pt x="0" y="108"/>
                    </a:lnTo>
                    <a:lnTo>
                      <a:pt x="2" y="58"/>
                    </a:lnTo>
                    <a:lnTo>
                      <a:pt x="94" y="0"/>
                    </a:lnTo>
                    <a:lnTo>
                      <a:pt x="91" y="45"/>
                    </a:lnTo>
                    <a:lnTo>
                      <a:pt x="0" y="108"/>
                    </a:lnTo>
                  </a:path>
                </a:pathLst>
              </a:custGeom>
              <a:solidFill>
                <a:srgbClr val="BB1A50"/>
              </a:solidFill>
              <a:ln w="9525" cap="rnd">
                <a:noFill/>
                <a:round/>
              </a:ln>
            </p:spPr>
            <p:txBody>
              <a:bodyPr/>
              <a:lstStyle/>
              <a:p>
                <a:endParaRPr lang="zh-CN" altLang="en-US"/>
              </a:p>
            </p:txBody>
          </p:sp>
          <p:sp>
            <p:nvSpPr>
              <p:cNvPr id="11705" name="Freeform 75"/>
              <p:cNvSpPr/>
              <p:nvPr/>
            </p:nvSpPr>
            <p:spPr bwMode="auto">
              <a:xfrm>
                <a:off x="2167" y="2406"/>
                <a:ext cx="41" cy="55"/>
              </a:xfrm>
              <a:custGeom>
                <a:avLst/>
                <a:gdLst>
                  <a:gd name="T0" fmla="*/ 37 w 41"/>
                  <a:gd name="T1" fmla="*/ 54 h 55"/>
                  <a:gd name="T2" fmla="*/ 37 w 41"/>
                  <a:gd name="T3" fmla="*/ 54 h 55"/>
                  <a:gd name="T4" fmla="*/ 0 w 41"/>
                  <a:gd name="T5" fmla="*/ 47 h 55"/>
                  <a:gd name="T6" fmla="*/ 0 w 41"/>
                  <a:gd name="T7" fmla="*/ 0 h 55"/>
                  <a:gd name="T8" fmla="*/ 40 w 41"/>
                  <a:gd name="T9" fmla="*/ 6 h 55"/>
                  <a:gd name="T10" fmla="*/ 37 w 41"/>
                  <a:gd name="T11" fmla="*/ 54 h 55"/>
                  <a:gd name="T12" fmla="*/ 0 60000 65536"/>
                  <a:gd name="T13" fmla="*/ 0 60000 65536"/>
                  <a:gd name="T14" fmla="*/ 0 60000 65536"/>
                  <a:gd name="T15" fmla="*/ 0 60000 65536"/>
                  <a:gd name="T16" fmla="*/ 0 60000 65536"/>
                  <a:gd name="T17" fmla="*/ 0 60000 65536"/>
                  <a:gd name="T18" fmla="*/ 0 w 41"/>
                  <a:gd name="T19" fmla="*/ 0 h 55"/>
                  <a:gd name="T20" fmla="*/ 41 w 41"/>
                  <a:gd name="T21" fmla="*/ 55 h 55"/>
                </a:gdLst>
                <a:ahLst/>
                <a:cxnLst>
                  <a:cxn ang="T12">
                    <a:pos x="T0" y="T1"/>
                  </a:cxn>
                  <a:cxn ang="T13">
                    <a:pos x="T2" y="T3"/>
                  </a:cxn>
                  <a:cxn ang="T14">
                    <a:pos x="T4" y="T5"/>
                  </a:cxn>
                  <a:cxn ang="T15">
                    <a:pos x="T6" y="T7"/>
                  </a:cxn>
                  <a:cxn ang="T16">
                    <a:pos x="T8" y="T9"/>
                  </a:cxn>
                  <a:cxn ang="T17">
                    <a:pos x="T10" y="T11"/>
                  </a:cxn>
                </a:cxnLst>
                <a:rect l="T18" t="T19" r="T20" b="T21"/>
                <a:pathLst>
                  <a:path w="41" h="55">
                    <a:moveTo>
                      <a:pt x="37" y="54"/>
                    </a:moveTo>
                    <a:lnTo>
                      <a:pt x="37" y="54"/>
                    </a:lnTo>
                    <a:lnTo>
                      <a:pt x="0" y="47"/>
                    </a:lnTo>
                    <a:lnTo>
                      <a:pt x="0" y="0"/>
                    </a:lnTo>
                    <a:lnTo>
                      <a:pt x="40" y="6"/>
                    </a:lnTo>
                    <a:lnTo>
                      <a:pt x="37" y="54"/>
                    </a:lnTo>
                  </a:path>
                </a:pathLst>
              </a:custGeom>
              <a:solidFill>
                <a:srgbClr val="9E0005"/>
              </a:solidFill>
              <a:ln w="9525" cap="rnd">
                <a:noFill/>
                <a:round/>
              </a:ln>
            </p:spPr>
            <p:txBody>
              <a:bodyPr/>
              <a:lstStyle/>
              <a:p>
                <a:endParaRPr lang="zh-CN" altLang="en-US"/>
              </a:p>
            </p:txBody>
          </p:sp>
          <p:sp>
            <p:nvSpPr>
              <p:cNvPr id="11706" name="Freeform 76"/>
              <p:cNvSpPr/>
              <p:nvPr/>
            </p:nvSpPr>
            <p:spPr bwMode="auto">
              <a:xfrm>
                <a:off x="2167" y="2342"/>
                <a:ext cx="135" cy="68"/>
              </a:xfrm>
              <a:custGeom>
                <a:avLst/>
                <a:gdLst>
                  <a:gd name="T0" fmla="*/ 41 w 135"/>
                  <a:gd name="T1" fmla="*/ 67 h 68"/>
                  <a:gd name="T2" fmla="*/ 41 w 135"/>
                  <a:gd name="T3" fmla="*/ 67 h 68"/>
                  <a:gd name="T4" fmla="*/ 0 w 135"/>
                  <a:gd name="T5" fmla="*/ 57 h 68"/>
                  <a:gd name="T6" fmla="*/ 94 w 135"/>
                  <a:gd name="T7" fmla="*/ 0 h 68"/>
                  <a:gd name="T8" fmla="*/ 134 w 135"/>
                  <a:gd name="T9" fmla="*/ 9 h 68"/>
                  <a:gd name="T10" fmla="*/ 41 w 135"/>
                  <a:gd name="T11" fmla="*/ 67 h 68"/>
                  <a:gd name="T12" fmla="*/ 0 60000 65536"/>
                  <a:gd name="T13" fmla="*/ 0 60000 65536"/>
                  <a:gd name="T14" fmla="*/ 0 60000 65536"/>
                  <a:gd name="T15" fmla="*/ 0 60000 65536"/>
                  <a:gd name="T16" fmla="*/ 0 60000 65536"/>
                  <a:gd name="T17" fmla="*/ 0 60000 65536"/>
                  <a:gd name="T18" fmla="*/ 0 w 135"/>
                  <a:gd name="T19" fmla="*/ 0 h 68"/>
                  <a:gd name="T20" fmla="*/ 135 w 135"/>
                  <a:gd name="T21" fmla="*/ 68 h 68"/>
                </a:gdLst>
                <a:ahLst/>
                <a:cxnLst>
                  <a:cxn ang="T12">
                    <a:pos x="T0" y="T1"/>
                  </a:cxn>
                  <a:cxn ang="T13">
                    <a:pos x="T2" y="T3"/>
                  </a:cxn>
                  <a:cxn ang="T14">
                    <a:pos x="T4" y="T5"/>
                  </a:cxn>
                  <a:cxn ang="T15">
                    <a:pos x="T6" y="T7"/>
                  </a:cxn>
                  <a:cxn ang="T16">
                    <a:pos x="T8" y="T9"/>
                  </a:cxn>
                  <a:cxn ang="T17">
                    <a:pos x="T10" y="T11"/>
                  </a:cxn>
                </a:cxnLst>
                <a:rect l="T18" t="T19" r="T20" b="T21"/>
                <a:pathLst>
                  <a:path w="135" h="68">
                    <a:moveTo>
                      <a:pt x="41" y="67"/>
                    </a:moveTo>
                    <a:lnTo>
                      <a:pt x="41" y="67"/>
                    </a:lnTo>
                    <a:lnTo>
                      <a:pt x="0" y="57"/>
                    </a:lnTo>
                    <a:lnTo>
                      <a:pt x="94" y="0"/>
                    </a:lnTo>
                    <a:lnTo>
                      <a:pt x="134" y="9"/>
                    </a:lnTo>
                    <a:lnTo>
                      <a:pt x="41" y="67"/>
                    </a:lnTo>
                  </a:path>
                </a:pathLst>
              </a:custGeom>
              <a:solidFill>
                <a:srgbClr val="CF5C82"/>
              </a:solidFill>
              <a:ln w="9525" cap="rnd">
                <a:noFill/>
                <a:round/>
              </a:ln>
            </p:spPr>
            <p:txBody>
              <a:bodyPr/>
              <a:lstStyle/>
              <a:p>
                <a:endParaRPr lang="zh-CN" altLang="en-US"/>
              </a:p>
            </p:txBody>
          </p:sp>
        </p:grpSp>
        <p:sp>
          <p:nvSpPr>
            <p:cNvPr id="11516" name="Freeform 77"/>
            <p:cNvSpPr/>
            <p:nvPr/>
          </p:nvSpPr>
          <p:spPr bwMode="auto">
            <a:xfrm>
              <a:off x="2100" y="2415"/>
              <a:ext cx="102" cy="120"/>
            </a:xfrm>
            <a:custGeom>
              <a:avLst/>
              <a:gdLst>
                <a:gd name="T0" fmla="*/ 0 w 102"/>
                <a:gd name="T1" fmla="*/ 119 h 120"/>
                <a:gd name="T2" fmla="*/ 0 w 102"/>
                <a:gd name="T3" fmla="*/ 119 h 120"/>
                <a:gd name="T4" fmla="*/ 0 w 102"/>
                <a:gd name="T5" fmla="*/ 65 h 120"/>
                <a:gd name="T6" fmla="*/ 101 w 102"/>
                <a:gd name="T7" fmla="*/ 0 h 120"/>
                <a:gd name="T8" fmla="*/ 98 w 102"/>
                <a:gd name="T9" fmla="*/ 50 h 120"/>
                <a:gd name="T10" fmla="*/ 0 w 102"/>
                <a:gd name="T11" fmla="*/ 119 h 120"/>
                <a:gd name="T12" fmla="*/ 0 60000 65536"/>
                <a:gd name="T13" fmla="*/ 0 60000 65536"/>
                <a:gd name="T14" fmla="*/ 0 60000 65536"/>
                <a:gd name="T15" fmla="*/ 0 60000 65536"/>
                <a:gd name="T16" fmla="*/ 0 60000 65536"/>
                <a:gd name="T17" fmla="*/ 0 60000 65536"/>
                <a:gd name="T18" fmla="*/ 0 w 102"/>
                <a:gd name="T19" fmla="*/ 0 h 120"/>
                <a:gd name="T20" fmla="*/ 102 w 102"/>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2" h="120">
                  <a:moveTo>
                    <a:pt x="0" y="119"/>
                  </a:moveTo>
                  <a:lnTo>
                    <a:pt x="0" y="119"/>
                  </a:lnTo>
                  <a:lnTo>
                    <a:pt x="0" y="65"/>
                  </a:lnTo>
                  <a:lnTo>
                    <a:pt x="101" y="0"/>
                  </a:lnTo>
                  <a:lnTo>
                    <a:pt x="98" y="50"/>
                  </a:lnTo>
                  <a:lnTo>
                    <a:pt x="0" y="119"/>
                  </a:lnTo>
                </a:path>
              </a:pathLst>
            </a:custGeom>
            <a:solidFill>
              <a:srgbClr val="BB1A50"/>
            </a:solidFill>
            <a:ln w="9525" cap="rnd">
              <a:noFill/>
              <a:round/>
            </a:ln>
          </p:spPr>
          <p:txBody>
            <a:bodyPr/>
            <a:lstStyle/>
            <a:p>
              <a:endParaRPr lang="zh-CN" altLang="en-US"/>
            </a:p>
          </p:txBody>
        </p:sp>
        <p:sp>
          <p:nvSpPr>
            <p:cNvPr id="11517" name="Freeform 78"/>
            <p:cNvSpPr/>
            <p:nvPr/>
          </p:nvSpPr>
          <p:spPr bwMode="auto">
            <a:xfrm>
              <a:off x="2057" y="2477"/>
              <a:ext cx="43" cy="58"/>
            </a:xfrm>
            <a:custGeom>
              <a:avLst/>
              <a:gdLst>
                <a:gd name="T0" fmla="*/ 42 w 43"/>
                <a:gd name="T1" fmla="*/ 57 h 58"/>
                <a:gd name="T2" fmla="*/ 42 w 43"/>
                <a:gd name="T3" fmla="*/ 57 h 58"/>
                <a:gd name="T4" fmla="*/ 0 w 43"/>
                <a:gd name="T5" fmla="*/ 45 h 58"/>
                <a:gd name="T6" fmla="*/ 0 w 43"/>
                <a:gd name="T7" fmla="*/ 0 h 58"/>
                <a:gd name="T8" fmla="*/ 42 w 43"/>
                <a:gd name="T9" fmla="*/ 6 h 58"/>
                <a:gd name="T10" fmla="*/ 42 w 43"/>
                <a:gd name="T11" fmla="*/ 57 h 58"/>
                <a:gd name="T12" fmla="*/ 0 60000 65536"/>
                <a:gd name="T13" fmla="*/ 0 60000 65536"/>
                <a:gd name="T14" fmla="*/ 0 60000 65536"/>
                <a:gd name="T15" fmla="*/ 0 60000 65536"/>
                <a:gd name="T16" fmla="*/ 0 60000 65536"/>
                <a:gd name="T17" fmla="*/ 0 60000 65536"/>
                <a:gd name="T18" fmla="*/ 0 w 43"/>
                <a:gd name="T19" fmla="*/ 0 h 58"/>
                <a:gd name="T20" fmla="*/ 43 w 43"/>
                <a:gd name="T21" fmla="*/ 58 h 58"/>
              </a:gdLst>
              <a:ahLst/>
              <a:cxnLst>
                <a:cxn ang="T12">
                  <a:pos x="T0" y="T1"/>
                </a:cxn>
                <a:cxn ang="T13">
                  <a:pos x="T2" y="T3"/>
                </a:cxn>
                <a:cxn ang="T14">
                  <a:pos x="T4" y="T5"/>
                </a:cxn>
                <a:cxn ang="T15">
                  <a:pos x="T6" y="T7"/>
                </a:cxn>
                <a:cxn ang="T16">
                  <a:pos x="T8" y="T9"/>
                </a:cxn>
                <a:cxn ang="T17">
                  <a:pos x="T10" y="T11"/>
                </a:cxn>
              </a:cxnLst>
              <a:rect l="T18" t="T19" r="T20" b="T21"/>
              <a:pathLst>
                <a:path w="43" h="58">
                  <a:moveTo>
                    <a:pt x="42" y="57"/>
                  </a:moveTo>
                  <a:lnTo>
                    <a:pt x="42" y="57"/>
                  </a:lnTo>
                  <a:lnTo>
                    <a:pt x="0" y="45"/>
                  </a:lnTo>
                  <a:lnTo>
                    <a:pt x="0" y="0"/>
                  </a:lnTo>
                  <a:lnTo>
                    <a:pt x="42" y="6"/>
                  </a:lnTo>
                  <a:lnTo>
                    <a:pt x="42" y="57"/>
                  </a:lnTo>
                </a:path>
              </a:pathLst>
            </a:custGeom>
            <a:solidFill>
              <a:srgbClr val="9E0005"/>
            </a:solidFill>
            <a:ln w="9525" cap="rnd">
              <a:noFill/>
              <a:round/>
            </a:ln>
          </p:spPr>
          <p:txBody>
            <a:bodyPr/>
            <a:lstStyle/>
            <a:p>
              <a:endParaRPr lang="zh-CN" altLang="en-US"/>
            </a:p>
          </p:txBody>
        </p:sp>
        <p:sp>
          <p:nvSpPr>
            <p:cNvPr id="11518" name="Freeform 79"/>
            <p:cNvSpPr/>
            <p:nvPr/>
          </p:nvSpPr>
          <p:spPr bwMode="auto">
            <a:xfrm>
              <a:off x="2057" y="2409"/>
              <a:ext cx="146" cy="71"/>
            </a:xfrm>
            <a:custGeom>
              <a:avLst/>
              <a:gdLst>
                <a:gd name="T0" fmla="*/ 44 w 146"/>
                <a:gd name="T1" fmla="*/ 70 h 71"/>
                <a:gd name="T2" fmla="*/ 44 w 146"/>
                <a:gd name="T3" fmla="*/ 70 h 71"/>
                <a:gd name="T4" fmla="*/ 0 w 146"/>
                <a:gd name="T5" fmla="*/ 63 h 71"/>
                <a:gd name="T6" fmla="*/ 103 w 146"/>
                <a:gd name="T7" fmla="*/ 0 h 71"/>
                <a:gd name="T8" fmla="*/ 145 w 146"/>
                <a:gd name="T9" fmla="*/ 6 h 71"/>
                <a:gd name="T10" fmla="*/ 44 w 146"/>
                <a:gd name="T11" fmla="*/ 70 h 71"/>
                <a:gd name="T12" fmla="*/ 0 60000 65536"/>
                <a:gd name="T13" fmla="*/ 0 60000 65536"/>
                <a:gd name="T14" fmla="*/ 0 60000 65536"/>
                <a:gd name="T15" fmla="*/ 0 60000 65536"/>
                <a:gd name="T16" fmla="*/ 0 60000 65536"/>
                <a:gd name="T17" fmla="*/ 0 60000 65536"/>
                <a:gd name="T18" fmla="*/ 0 w 146"/>
                <a:gd name="T19" fmla="*/ 0 h 71"/>
                <a:gd name="T20" fmla="*/ 146 w 146"/>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146" h="71">
                  <a:moveTo>
                    <a:pt x="44" y="70"/>
                  </a:moveTo>
                  <a:lnTo>
                    <a:pt x="44" y="70"/>
                  </a:lnTo>
                  <a:lnTo>
                    <a:pt x="0" y="63"/>
                  </a:lnTo>
                  <a:lnTo>
                    <a:pt x="103" y="0"/>
                  </a:lnTo>
                  <a:lnTo>
                    <a:pt x="145" y="6"/>
                  </a:lnTo>
                  <a:lnTo>
                    <a:pt x="44" y="70"/>
                  </a:lnTo>
                </a:path>
              </a:pathLst>
            </a:custGeom>
            <a:solidFill>
              <a:srgbClr val="CF5C82"/>
            </a:solidFill>
            <a:ln w="9525" cap="rnd">
              <a:noFill/>
              <a:round/>
            </a:ln>
          </p:spPr>
          <p:txBody>
            <a:bodyPr/>
            <a:lstStyle/>
            <a:p>
              <a:endParaRPr lang="zh-CN" altLang="en-US"/>
            </a:p>
          </p:txBody>
        </p:sp>
        <p:sp>
          <p:nvSpPr>
            <p:cNvPr id="11519" name="Freeform 80"/>
            <p:cNvSpPr/>
            <p:nvPr/>
          </p:nvSpPr>
          <p:spPr bwMode="auto">
            <a:xfrm>
              <a:off x="2480" y="2221"/>
              <a:ext cx="17" cy="49"/>
            </a:xfrm>
            <a:custGeom>
              <a:avLst/>
              <a:gdLst>
                <a:gd name="T0" fmla="*/ 0 w 17"/>
                <a:gd name="T1" fmla="*/ 48 h 49"/>
                <a:gd name="T2" fmla="*/ 0 w 17"/>
                <a:gd name="T3" fmla="*/ 48 h 49"/>
                <a:gd name="T4" fmla="*/ 0 w 17"/>
                <a:gd name="T5" fmla="*/ 24 h 49"/>
                <a:gd name="T6" fmla="*/ 4 w 17"/>
                <a:gd name="T7" fmla="*/ 8 h 49"/>
                <a:gd name="T8" fmla="*/ 4 w 17"/>
                <a:gd name="T9" fmla="*/ 2 h 49"/>
                <a:gd name="T10" fmla="*/ 4 w 17"/>
                <a:gd name="T11" fmla="*/ 0 h 49"/>
                <a:gd name="T12" fmla="*/ 11 w 17"/>
                <a:gd name="T13" fmla="*/ 0 h 49"/>
                <a:gd name="T14" fmla="*/ 16 w 17"/>
                <a:gd name="T15" fmla="*/ 0 h 49"/>
                <a:gd name="T16" fmla="*/ 11 w 17"/>
                <a:gd name="T17" fmla="*/ 21 h 49"/>
                <a:gd name="T18" fmla="*/ 11 w 17"/>
                <a:gd name="T19" fmla="*/ 45 h 49"/>
                <a:gd name="T20" fmla="*/ 4 w 17"/>
                <a:gd name="T21" fmla="*/ 45 h 49"/>
                <a:gd name="T22" fmla="*/ 0 w 17"/>
                <a:gd name="T23" fmla="*/ 48 h 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
                <a:gd name="T37" fmla="*/ 0 h 49"/>
                <a:gd name="T38" fmla="*/ 17 w 17"/>
                <a:gd name="T39" fmla="*/ 49 h 4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 h="49">
                  <a:moveTo>
                    <a:pt x="0" y="48"/>
                  </a:moveTo>
                  <a:lnTo>
                    <a:pt x="0" y="48"/>
                  </a:lnTo>
                  <a:lnTo>
                    <a:pt x="0" y="24"/>
                  </a:lnTo>
                  <a:lnTo>
                    <a:pt x="4" y="8"/>
                  </a:lnTo>
                  <a:lnTo>
                    <a:pt x="4" y="2"/>
                  </a:lnTo>
                  <a:lnTo>
                    <a:pt x="4" y="0"/>
                  </a:lnTo>
                  <a:lnTo>
                    <a:pt x="11" y="0"/>
                  </a:lnTo>
                  <a:lnTo>
                    <a:pt x="16" y="0"/>
                  </a:lnTo>
                  <a:lnTo>
                    <a:pt x="11" y="21"/>
                  </a:lnTo>
                  <a:lnTo>
                    <a:pt x="11" y="45"/>
                  </a:lnTo>
                  <a:lnTo>
                    <a:pt x="4" y="45"/>
                  </a:lnTo>
                  <a:lnTo>
                    <a:pt x="0" y="48"/>
                  </a:lnTo>
                </a:path>
              </a:pathLst>
            </a:custGeom>
            <a:solidFill>
              <a:srgbClr val="BDB597"/>
            </a:solidFill>
            <a:ln w="9525" cap="rnd">
              <a:noFill/>
              <a:round/>
            </a:ln>
          </p:spPr>
          <p:txBody>
            <a:bodyPr/>
            <a:lstStyle/>
            <a:p>
              <a:endParaRPr lang="zh-CN" altLang="en-US"/>
            </a:p>
          </p:txBody>
        </p:sp>
        <p:sp>
          <p:nvSpPr>
            <p:cNvPr id="11520" name="Freeform 81"/>
            <p:cNvSpPr/>
            <p:nvPr/>
          </p:nvSpPr>
          <p:spPr bwMode="auto">
            <a:xfrm>
              <a:off x="2101" y="2192"/>
              <a:ext cx="419" cy="292"/>
            </a:xfrm>
            <a:custGeom>
              <a:avLst/>
              <a:gdLst>
                <a:gd name="T0" fmla="*/ 418 w 419"/>
                <a:gd name="T1" fmla="*/ 0 h 292"/>
                <a:gd name="T2" fmla="*/ 418 w 419"/>
                <a:gd name="T3" fmla="*/ 0 h 292"/>
                <a:gd name="T4" fmla="*/ 0 w 419"/>
                <a:gd name="T5" fmla="*/ 284 h 292"/>
                <a:gd name="T6" fmla="*/ 0 w 419"/>
                <a:gd name="T7" fmla="*/ 291 h 292"/>
                <a:gd name="T8" fmla="*/ 418 w 419"/>
                <a:gd name="T9" fmla="*/ 6 h 292"/>
                <a:gd name="T10" fmla="*/ 418 w 419"/>
                <a:gd name="T11" fmla="*/ 0 h 292"/>
                <a:gd name="T12" fmla="*/ 0 60000 65536"/>
                <a:gd name="T13" fmla="*/ 0 60000 65536"/>
                <a:gd name="T14" fmla="*/ 0 60000 65536"/>
                <a:gd name="T15" fmla="*/ 0 60000 65536"/>
                <a:gd name="T16" fmla="*/ 0 60000 65536"/>
                <a:gd name="T17" fmla="*/ 0 60000 65536"/>
                <a:gd name="T18" fmla="*/ 0 w 419"/>
                <a:gd name="T19" fmla="*/ 0 h 292"/>
                <a:gd name="T20" fmla="*/ 419 w 419"/>
                <a:gd name="T21" fmla="*/ 292 h 292"/>
              </a:gdLst>
              <a:ahLst/>
              <a:cxnLst>
                <a:cxn ang="T12">
                  <a:pos x="T0" y="T1"/>
                </a:cxn>
                <a:cxn ang="T13">
                  <a:pos x="T2" y="T3"/>
                </a:cxn>
                <a:cxn ang="T14">
                  <a:pos x="T4" y="T5"/>
                </a:cxn>
                <a:cxn ang="T15">
                  <a:pos x="T6" y="T7"/>
                </a:cxn>
                <a:cxn ang="T16">
                  <a:pos x="T8" y="T9"/>
                </a:cxn>
                <a:cxn ang="T17">
                  <a:pos x="T10" y="T11"/>
                </a:cxn>
              </a:cxnLst>
              <a:rect l="T18" t="T19" r="T20" b="T21"/>
              <a:pathLst>
                <a:path w="419" h="292">
                  <a:moveTo>
                    <a:pt x="418" y="0"/>
                  </a:moveTo>
                  <a:lnTo>
                    <a:pt x="418" y="0"/>
                  </a:lnTo>
                  <a:lnTo>
                    <a:pt x="0" y="284"/>
                  </a:lnTo>
                  <a:lnTo>
                    <a:pt x="0" y="291"/>
                  </a:lnTo>
                  <a:lnTo>
                    <a:pt x="418" y="6"/>
                  </a:lnTo>
                  <a:lnTo>
                    <a:pt x="418" y="0"/>
                  </a:lnTo>
                </a:path>
              </a:pathLst>
            </a:custGeom>
            <a:solidFill>
              <a:srgbClr val="BDB597"/>
            </a:solidFill>
            <a:ln w="9525" cap="rnd">
              <a:noFill/>
              <a:round/>
            </a:ln>
          </p:spPr>
          <p:txBody>
            <a:bodyPr/>
            <a:lstStyle/>
            <a:p>
              <a:endParaRPr lang="zh-CN" altLang="en-US"/>
            </a:p>
          </p:txBody>
        </p:sp>
        <p:sp>
          <p:nvSpPr>
            <p:cNvPr id="11521" name="Freeform 82"/>
            <p:cNvSpPr/>
            <p:nvPr/>
          </p:nvSpPr>
          <p:spPr bwMode="auto">
            <a:xfrm>
              <a:off x="2394" y="2282"/>
              <a:ext cx="17" cy="51"/>
            </a:xfrm>
            <a:custGeom>
              <a:avLst/>
              <a:gdLst>
                <a:gd name="T0" fmla="*/ 0 w 17"/>
                <a:gd name="T1" fmla="*/ 50 h 51"/>
                <a:gd name="T2" fmla="*/ 0 w 17"/>
                <a:gd name="T3" fmla="*/ 50 h 51"/>
                <a:gd name="T4" fmla="*/ 0 w 17"/>
                <a:gd name="T5" fmla="*/ 26 h 51"/>
                <a:gd name="T6" fmla="*/ 0 w 17"/>
                <a:gd name="T7" fmla="*/ 17 h 51"/>
                <a:gd name="T8" fmla="*/ 0 w 17"/>
                <a:gd name="T9" fmla="*/ 8 h 51"/>
                <a:gd name="T10" fmla="*/ 0 w 17"/>
                <a:gd name="T11" fmla="*/ 6 h 51"/>
                <a:gd name="T12" fmla="*/ 0 w 17"/>
                <a:gd name="T13" fmla="*/ 2 h 51"/>
                <a:gd name="T14" fmla="*/ 10 w 17"/>
                <a:gd name="T15" fmla="*/ 2 h 51"/>
                <a:gd name="T16" fmla="*/ 10 w 17"/>
                <a:gd name="T17" fmla="*/ 0 h 51"/>
                <a:gd name="T18" fmla="*/ 16 w 17"/>
                <a:gd name="T19" fmla="*/ 0 h 51"/>
                <a:gd name="T20" fmla="*/ 16 w 17"/>
                <a:gd name="T21" fmla="*/ 23 h 51"/>
                <a:gd name="T22" fmla="*/ 16 w 17"/>
                <a:gd name="T23" fmla="*/ 38 h 51"/>
                <a:gd name="T24" fmla="*/ 16 w 17"/>
                <a:gd name="T25" fmla="*/ 43 h 51"/>
                <a:gd name="T26" fmla="*/ 10 w 17"/>
                <a:gd name="T27" fmla="*/ 47 h 51"/>
                <a:gd name="T28" fmla="*/ 0 w 17"/>
                <a:gd name="T29" fmla="*/ 47 h 51"/>
                <a:gd name="T30" fmla="*/ 0 w 17"/>
                <a:gd name="T31" fmla="*/ 50 h 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
                <a:gd name="T49" fmla="*/ 0 h 51"/>
                <a:gd name="T50" fmla="*/ 17 w 17"/>
                <a:gd name="T51" fmla="*/ 51 h 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 h="51">
                  <a:moveTo>
                    <a:pt x="0" y="50"/>
                  </a:moveTo>
                  <a:lnTo>
                    <a:pt x="0" y="50"/>
                  </a:lnTo>
                  <a:lnTo>
                    <a:pt x="0" y="26"/>
                  </a:lnTo>
                  <a:lnTo>
                    <a:pt x="0" y="17"/>
                  </a:lnTo>
                  <a:lnTo>
                    <a:pt x="0" y="8"/>
                  </a:lnTo>
                  <a:lnTo>
                    <a:pt x="0" y="6"/>
                  </a:lnTo>
                  <a:lnTo>
                    <a:pt x="0" y="2"/>
                  </a:lnTo>
                  <a:lnTo>
                    <a:pt x="10" y="2"/>
                  </a:lnTo>
                  <a:lnTo>
                    <a:pt x="10" y="0"/>
                  </a:lnTo>
                  <a:lnTo>
                    <a:pt x="16" y="0"/>
                  </a:lnTo>
                  <a:lnTo>
                    <a:pt x="16" y="23"/>
                  </a:lnTo>
                  <a:lnTo>
                    <a:pt x="16" y="38"/>
                  </a:lnTo>
                  <a:lnTo>
                    <a:pt x="16" y="43"/>
                  </a:lnTo>
                  <a:lnTo>
                    <a:pt x="10" y="47"/>
                  </a:lnTo>
                  <a:lnTo>
                    <a:pt x="0" y="47"/>
                  </a:lnTo>
                  <a:lnTo>
                    <a:pt x="0" y="50"/>
                  </a:lnTo>
                </a:path>
              </a:pathLst>
            </a:custGeom>
            <a:solidFill>
              <a:srgbClr val="BDB597"/>
            </a:solidFill>
            <a:ln w="9525" cap="rnd">
              <a:noFill/>
              <a:round/>
            </a:ln>
          </p:spPr>
          <p:txBody>
            <a:bodyPr/>
            <a:lstStyle/>
            <a:p>
              <a:endParaRPr lang="zh-CN" altLang="en-US"/>
            </a:p>
          </p:txBody>
        </p:sp>
        <p:sp>
          <p:nvSpPr>
            <p:cNvPr id="11522" name="Freeform 83"/>
            <p:cNvSpPr/>
            <p:nvPr/>
          </p:nvSpPr>
          <p:spPr bwMode="auto">
            <a:xfrm>
              <a:off x="2301" y="2345"/>
              <a:ext cx="17" cy="53"/>
            </a:xfrm>
            <a:custGeom>
              <a:avLst/>
              <a:gdLst>
                <a:gd name="T0" fmla="*/ 0 w 17"/>
                <a:gd name="T1" fmla="*/ 52 h 53"/>
                <a:gd name="T2" fmla="*/ 0 w 17"/>
                <a:gd name="T3" fmla="*/ 52 h 53"/>
                <a:gd name="T4" fmla="*/ 0 w 17"/>
                <a:gd name="T5" fmla="*/ 27 h 53"/>
                <a:gd name="T6" fmla="*/ 0 w 17"/>
                <a:gd name="T7" fmla="*/ 17 h 53"/>
                <a:gd name="T8" fmla="*/ 0 w 17"/>
                <a:gd name="T9" fmla="*/ 8 h 53"/>
                <a:gd name="T10" fmla="*/ 4 w 17"/>
                <a:gd name="T11" fmla="*/ 2 h 53"/>
                <a:gd name="T12" fmla="*/ 4 w 17"/>
                <a:gd name="T13" fmla="*/ 0 h 53"/>
                <a:gd name="T14" fmla="*/ 11 w 17"/>
                <a:gd name="T15" fmla="*/ 0 h 53"/>
                <a:gd name="T16" fmla="*/ 16 w 17"/>
                <a:gd name="T17" fmla="*/ 0 h 53"/>
                <a:gd name="T18" fmla="*/ 16 w 17"/>
                <a:gd name="T19" fmla="*/ 24 h 53"/>
                <a:gd name="T20" fmla="*/ 11 w 17"/>
                <a:gd name="T21" fmla="*/ 39 h 53"/>
                <a:gd name="T22" fmla="*/ 11 w 17"/>
                <a:gd name="T23" fmla="*/ 45 h 53"/>
                <a:gd name="T24" fmla="*/ 11 w 17"/>
                <a:gd name="T25" fmla="*/ 49 h 53"/>
                <a:gd name="T26" fmla="*/ 4 w 17"/>
                <a:gd name="T27" fmla="*/ 49 h 53"/>
                <a:gd name="T28" fmla="*/ 0 w 17"/>
                <a:gd name="T29" fmla="*/ 52 h 5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
                <a:gd name="T46" fmla="*/ 0 h 53"/>
                <a:gd name="T47" fmla="*/ 17 w 17"/>
                <a:gd name="T48" fmla="*/ 53 h 5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 h="53">
                  <a:moveTo>
                    <a:pt x="0" y="52"/>
                  </a:moveTo>
                  <a:lnTo>
                    <a:pt x="0" y="52"/>
                  </a:lnTo>
                  <a:lnTo>
                    <a:pt x="0" y="27"/>
                  </a:lnTo>
                  <a:lnTo>
                    <a:pt x="0" y="17"/>
                  </a:lnTo>
                  <a:lnTo>
                    <a:pt x="0" y="8"/>
                  </a:lnTo>
                  <a:lnTo>
                    <a:pt x="4" y="2"/>
                  </a:lnTo>
                  <a:lnTo>
                    <a:pt x="4" y="0"/>
                  </a:lnTo>
                  <a:lnTo>
                    <a:pt x="11" y="0"/>
                  </a:lnTo>
                  <a:lnTo>
                    <a:pt x="16" y="0"/>
                  </a:lnTo>
                  <a:lnTo>
                    <a:pt x="16" y="24"/>
                  </a:lnTo>
                  <a:lnTo>
                    <a:pt x="11" y="39"/>
                  </a:lnTo>
                  <a:lnTo>
                    <a:pt x="11" y="45"/>
                  </a:lnTo>
                  <a:lnTo>
                    <a:pt x="11" y="49"/>
                  </a:lnTo>
                  <a:lnTo>
                    <a:pt x="4" y="49"/>
                  </a:lnTo>
                  <a:lnTo>
                    <a:pt x="0" y="52"/>
                  </a:lnTo>
                </a:path>
              </a:pathLst>
            </a:custGeom>
            <a:solidFill>
              <a:srgbClr val="BDB597"/>
            </a:solidFill>
            <a:ln w="9525" cap="rnd">
              <a:noFill/>
              <a:round/>
            </a:ln>
          </p:spPr>
          <p:txBody>
            <a:bodyPr/>
            <a:lstStyle/>
            <a:p>
              <a:endParaRPr lang="zh-CN" altLang="en-US"/>
            </a:p>
          </p:txBody>
        </p:sp>
        <p:sp>
          <p:nvSpPr>
            <p:cNvPr id="11523" name="Freeform 84"/>
            <p:cNvSpPr/>
            <p:nvPr/>
          </p:nvSpPr>
          <p:spPr bwMode="auto">
            <a:xfrm>
              <a:off x="2202" y="2413"/>
              <a:ext cx="17" cy="55"/>
            </a:xfrm>
            <a:custGeom>
              <a:avLst/>
              <a:gdLst>
                <a:gd name="T0" fmla="*/ 0 w 17"/>
                <a:gd name="T1" fmla="*/ 54 h 55"/>
                <a:gd name="T2" fmla="*/ 0 w 17"/>
                <a:gd name="T3" fmla="*/ 54 h 55"/>
                <a:gd name="T4" fmla="*/ 0 w 17"/>
                <a:gd name="T5" fmla="*/ 44 h 55"/>
                <a:gd name="T6" fmla="*/ 0 w 17"/>
                <a:gd name="T7" fmla="*/ 27 h 55"/>
                <a:gd name="T8" fmla="*/ 0 w 17"/>
                <a:gd name="T9" fmla="*/ 18 h 55"/>
                <a:gd name="T10" fmla="*/ 0 w 17"/>
                <a:gd name="T11" fmla="*/ 9 h 55"/>
                <a:gd name="T12" fmla="*/ 0 w 17"/>
                <a:gd name="T13" fmla="*/ 2 h 55"/>
                <a:gd name="T14" fmla="*/ 4 w 17"/>
                <a:gd name="T15" fmla="*/ 0 h 55"/>
                <a:gd name="T16" fmla="*/ 11 w 17"/>
                <a:gd name="T17" fmla="*/ 0 h 55"/>
                <a:gd name="T18" fmla="*/ 16 w 17"/>
                <a:gd name="T19" fmla="*/ 0 h 55"/>
                <a:gd name="T20" fmla="*/ 16 w 17"/>
                <a:gd name="T21" fmla="*/ 23 h 55"/>
                <a:gd name="T22" fmla="*/ 16 w 17"/>
                <a:gd name="T23" fmla="*/ 39 h 55"/>
                <a:gd name="T24" fmla="*/ 11 w 17"/>
                <a:gd name="T25" fmla="*/ 44 h 55"/>
                <a:gd name="T26" fmla="*/ 11 w 17"/>
                <a:gd name="T27" fmla="*/ 47 h 55"/>
                <a:gd name="T28" fmla="*/ 11 w 17"/>
                <a:gd name="T29" fmla="*/ 51 h 55"/>
                <a:gd name="T30" fmla="*/ 4 w 17"/>
                <a:gd name="T31" fmla="*/ 51 h 55"/>
                <a:gd name="T32" fmla="*/ 0 w 17"/>
                <a:gd name="T33" fmla="*/ 51 h 55"/>
                <a:gd name="T34" fmla="*/ 0 w 17"/>
                <a:gd name="T35" fmla="*/ 54 h 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55"/>
                <a:gd name="T56" fmla="*/ 17 w 17"/>
                <a:gd name="T57" fmla="*/ 55 h 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55">
                  <a:moveTo>
                    <a:pt x="0" y="54"/>
                  </a:moveTo>
                  <a:lnTo>
                    <a:pt x="0" y="54"/>
                  </a:lnTo>
                  <a:lnTo>
                    <a:pt x="0" y="44"/>
                  </a:lnTo>
                  <a:lnTo>
                    <a:pt x="0" y="27"/>
                  </a:lnTo>
                  <a:lnTo>
                    <a:pt x="0" y="18"/>
                  </a:lnTo>
                  <a:lnTo>
                    <a:pt x="0" y="9"/>
                  </a:lnTo>
                  <a:lnTo>
                    <a:pt x="0" y="2"/>
                  </a:lnTo>
                  <a:lnTo>
                    <a:pt x="4" y="0"/>
                  </a:lnTo>
                  <a:lnTo>
                    <a:pt x="11" y="0"/>
                  </a:lnTo>
                  <a:lnTo>
                    <a:pt x="16" y="0"/>
                  </a:lnTo>
                  <a:lnTo>
                    <a:pt x="16" y="23"/>
                  </a:lnTo>
                  <a:lnTo>
                    <a:pt x="16" y="39"/>
                  </a:lnTo>
                  <a:lnTo>
                    <a:pt x="11" y="44"/>
                  </a:lnTo>
                  <a:lnTo>
                    <a:pt x="11" y="47"/>
                  </a:lnTo>
                  <a:lnTo>
                    <a:pt x="11" y="51"/>
                  </a:lnTo>
                  <a:lnTo>
                    <a:pt x="4" y="51"/>
                  </a:lnTo>
                  <a:lnTo>
                    <a:pt x="0" y="51"/>
                  </a:lnTo>
                  <a:lnTo>
                    <a:pt x="0" y="54"/>
                  </a:lnTo>
                </a:path>
              </a:pathLst>
            </a:custGeom>
            <a:solidFill>
              <a:srgbClr val="BDB597"/>
            </a:solidFill>
            <a:ln w="9525" cap="rnd">
              <a:noFill/>
              <a:round/>
            </a:ln>
          </p:spPr>
          <p:txBody>
            <a:bodyPr/>
            <a:lstStyle/>
            <a:p>
              <a:endParaRPr lang="zh-CN" altLang="en-US"/>
            </a:p>
          </p:txBody>
        </p:sp>
        <p:grpSp>
          <p:nvGrpSpPr>
            <p:cNvPr id="18" name="Group 85"/>
            <p:cNvGrpSpPr/>
            <p:nvPr/>
          </p:nvGrpSpPr>
          <p:grpSpPr bwMode="auto">
            <a:xfrm>
              <a:off x="2412" y="2134"/>
              <a:ext cx="111" cy="107"/>
              <a:chOff x="2412" y="2134"/>
              <a:chExt cx="111" cy="107"/>
            </a:xfrm>
          </p:grpSpPr>
          <p:sp>
            <p:nvSpPr>
              <p:cNvPr id="11701" name="Freeform 86"/>
              <p:cNvSpPr/>
              <p:nvPr/>
            </p:nvSpPr>
            <p:spPr bwMode="auto">
              <a:xfrm>
                <a:off x="2446" y="2147"/>
                <a:ext cx="77" cy="94"/>
              </a:xfrm>
              <a:custGeom>
                <a:avLst/>
                <a:gdLst>
                  <a:gd name="T0" fmla="*/ 0 w 77"/>
                  <a:gd name="T1" fmla="*/ 93 h 94"/>
                  <a:gd name="T2" fmla="*/ 0 w 77"/>
                  <a:gd name="T3" fmla="*/ 93 h 94"/>
                  <a:gd name="T4" fmla="*/ 2 w 77"/>
                  <a:gd name="T5" fmla="*/ 46 h 94"/>
                  <a:gd name="T6" fmla="*/ 76 w 77"/>
                  <a:gd name="T7" fmla="*/ 0 h 94"/>
                  <a:gd name="T8" fmla="*/ 73 w 77"/>
                  <a:gd name="T9" fmla="*/ 46 h 94"/>
                  <a:gd name="T10" fmla="*/ 0 w 77"/>
                  <a:gd name="T11" fmla="*/ 93 h 94"/>
                  <a:gd name="T12" fmla="*/ 0 60000 65536"/>
                  <a:gd name="T13" fmla="*/ 0 60000 65536"/>
                  <a:gd name="T14" fmla="*/ 0 60000 65536"/>
                  <a:gd name="T15" fmla="*/ 0 60000 65536"/>
                  <a:gd name="T16" fmla="*/ 0 60000 65536"/>
                  <a:gd name="T17" fmla="*/ 0 60000 65536"/>
                  <a:gd name="T18" fmla="*/ 0 w 77"/>
                  <a:gd name="T19" fmla="*/ 0 h 94"/>
                  <a:gd name="T20" fmla="*/ 77 w 77"/>
                  <a:gd name="T21" fmla="*/ 94 h 94"/>
                </a:gdLst>
                <a:ahLst/>
                <a:cxnLst>
                  <a:cxn ang="T12">
                    <a:pos x="T0" y="T1"/>
                  </a:cxn>
                  <a:cxn ang="T13">
                    <a:pos x="T2" y="T3"/>
                  </a:cxn>
                  <a:cxn ang="T14">
                    <a:pos x="T4" y="T5"/>
                  </a:cxn>
                  <a:cxn ang="T15">
                    <a:pos x="T6" y="T7"/>
                  </a:cxn>
                  <a:cxn ang="T16">
                    <a:pos x="T8" y="T9"/>
                  </a:cxn>
                  <a:cxn ang="T17">
                    <a:pos x="T10" y="T11"/>
                  </a:cxn>
                </a:cxnLst>
                <a:rect l="T18" t="T19" r="T20" b="T21"/>
                <a:pathLst>
                  <a:path w="77" h="94">
                    <a:moveTo>
                      <a:pt x="0" y="93"/>
                    </a:moveTo>
                    <a:lnTo>
                      <a:pt x="0" y="93"/>
                    </a:lnTo>
                    <a:lnTo>
                      <a:pt x="2" y="46"/>
                    </a:lnTo>
                    <a:lnTo>
                      <a:pt x="76" y="0"/>
                    </a:lnTo>
                    <a:lnTo>
                      <a:pt x="73" y="46"/>
                    </a:lnTo>
                    <a:lnTo>
                      <a:pt x="0" y="93"/>
                    </a:lnTo>
                  </a:path>
                </a:pathLst>
              </a:custGeom>
              <a:solidFill>
                <a:srgbClr val="BB1A50"/>
              </a:solidFill>
              <a:ln w="9525" cap="rnd">
                <a:noFill/>
                <a:round/>
              </a:ln>
            </p:spPr>
            <p:txBody>
              <a:bodyPr/>
              <a:lstStyle/>
              <a:p>
                <a:endParaRPr lang="zh-CN" altLang="en-US"/>
              </a:p>
            </p:txBody>
          </p:sp>
          <p:sp>
            <p:nvSpPr>
              <p:cNvPr id="11702" name="Freeform 87"/>
              <p:cNvSpPr/>
              <p:nvPr/>
            </p:nvSpPr>
            <p:spPr bwMode="auto">
              <a:xfrm>
                <a:off x="2412" y="2187"/>
                <a:ext cx="35" cy="54"/>
              </a:xfrm>
              <a:custGeom>
                <a:avLst/>
                <a:gdLst>
                  <a:gd name="T0" fmla="*/ 31 w 35"/>
                  <a:gd name="T1" fmla="*/ 53 h 54"/>
                  <a:gd name="T2" fmla="*/ 31 w 35"/>
                  <a:gd name="T3" fmla="*/ 53 h 54"/>
                  <a:gd name="T4" fmla="*/ 0 w 35"/>
                  <a:gd name="T5" fmla="*/ 44 h 54"/>
                  <a:gd name="T6" fmla="*/ 2 w 35"/>
                  <a:gd name="T7" fmla="*/ 0 h 54"/>
                  <a:gd name="T8" fmla="*/ 34 w 35"/>
                  <a:gd name="T9" fmla="*/ 8 h 54"/>
                  <a:gd name="T10" fmla="*/ 31 w 35"/>
                  <a:gd name="T11" fmla="*/ 53 h 54"/>
                  <a:gd name="T12" fmla="*/ 0 60000 65536"/>
                  <a:gd name="T13" fmla="*/ 0 60000 65536"/>
                  <a:gd name="T14" fmla="*/ 0 60000 65536"/>
                  <a:gd name="T15" fmla="*/ 0 60000 65536"/>
                  <a:gd name="T16" fmla="*/ 0 60000 65536"/>
                  <a:gd name="T17" fmla="*/ 0 60000 65536"/>
                  <a:gd name="T18" fmla="*/ 0 w 35"/>
                  <a:gd name="T19" fmla="*/ 0 h 54"/>
                  <a:gd name="T20" fmla="*/ 35 w 35"/>
                  <a:gd name="T21" fmla="*/ 54 h 54"/>
                </a:gdLst>
                <a:ahLst/>
                <a:cxnLst>
                  <a:cxn ang="T12">
                    <a:pos x="T0" y="T1"/>
                  </a:cxn>
                  <a:cxn ang="T13">
                    <a:pos x="T2" y="T3"/>
                  </a:cxn>
                  <a:cxn ang="T14">
                    <a:pos x="T4" y="T5"/>
                  </a:cxn>
                  <a:cxn ang="T15">
                    <a:pos x="T6" y="T7"/>
                  </a:cxn>
                  <a:cxn ang="T16">
                    <a:pos x="T8" y="T9"/>
                  </a:cxn>
                  <a:cxn ang="T17">
                    <a:pos x="T10" y="T11"/>
                  </a:cxn>
                </a:cxnLst>
                <a:rect l="T18" t="T19" r="T20" b="T21"/>
                <a:pathLst>
                  <a:path w="35" h="54">
                    <a:moveTo>
                      <a:pt x="31" y="53"/>
                    </a:moveTo>
                    <a:lnTo>
                      <a:pt x="31" y="53"/>
                    </a:lnTo>
                    <a:lnTo>
                      <a:pt x="0" y="44"/>
                    </a:lnTo>
                    <a:lnTo>
                      <a:pt x="2" y="0"/>
                    </a:lnTo>
                    <a:lnTo>
                      <a:pt x="34" y="8"/>
                    </a:lnTo>
                    <a:lnTo>
                      <a:pt x="31" y="53"/>
                    </a:lnTo>
                  </a:path>
                </a:pathLst>
              </a:custGeom>
              <a:solidFill>
                <a:srgbClr val="9E0005"/>
              </a:solidFill>
              <a:ln w="9525" cap="rnd">
                <a:noFill/>
                <a:round/>
              </a:ln>
            </p:spPr>
            <p:txBody>
              <a:bodyPr/>
              <a:lstStyle/>
              <a:p>
                <a:endParaRPr lang="zh-CN" altLang="en-US"/>
              </a:p>
            </p:txBody>
          </p:sp>
          <p:sp>
            <p:nvSpPr>
              <p:cNvPr id="11703" name="Freeform 88"/>
              <p:cNvSpPr/>
              <p:nvPr/>
            </p:nvSpPr>
            <p:spPr bwMode="auto">
              <a:xfrm>
                <a:off x="2414" y="2134"/>
                <a:ext cx="109" cy="59"/>
              </a:xfrm>
              <a:custGeom>
                <a:avLst/>
                <a:gdLst>
                  <a:gd name="T0" fmla="*/ 33 w 109"/>
                  <a:gd name="T1" fmla="*/ 58 h 59"/>
                  <a:gd name="T2" fmla="*/ 33 w 109"/>
                  <a:gd name="T3" fmla="*/ 58 h 59"/>
                  <a:gd name="T4" fmla="*/ 0 w 109"/>
                  <a:gd name="T5" fmla="*/ 48 h 59"/>
                  <a:gd name="T6" fmla="*/ 80 w 109"/>
                  <a:gd name="T7" fmla="*/ 0 h 59"/>
                  <a:gd name="T8" fmla="*/ 108 w 109"/>
                  <a:gd name="T9" fmla="*/ 11 h 59"/>
                  <a:gd name="T10" fmla="*/ 33 w 109"/>
                  <a:gd name="T11" fmla="*/ 58 h 59"/>
                  <a:gd name="T12" fmla="*/ 0 60000 65536"/>
                  <a:gd name="T13" fmla="*/ 0 60000 65536"/>
                  <a:gd name="T14" fmla="*/ 0 60000 65536"/>
                  <a:gd name="T15" fmla="*/ 0 60000 65536"/>
                  <a:gd name="T16" fmla="*/ 0 60000 65536"/>
                  <a:gd name="T17" fmla="*/ 0 60000 65536"/>
                  <a:gd name="T18" fmla="*/ 0 w 109"/>
                  <a:gd name="T19" fmla="*/ 0 h 59"/>
                  <a:gd name="T20" fmla="*/ 109 w 109"/>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109" h="59">
                    <a:moveTo>
                      <a:pt x="33" y="58"/>
                    </a:moveTo>
                    <a:lnTo>
                      <a:pt x="33" y="58"/>
                    </a:lnTo>
                    <a:lnTo>
                      <a:pt x="0" y="48"/>
                    </a:lnTo>
                    <a:lnTo>
                      <a:pt x="80" y="0"/>
                    </a:lnTo>
                    <a:lnTo>
                      <a:pt x="108" y="11"/>
                    </a:lnTo>
                    <a:lnTo>
                      <a:pt x="33" y="58"/>
                    </a:lnTo>
                  </a:path>
                </a:pathLst>
              </a:custGeom>
              <a:solidFill>
                <a:srgbClr val="CF5C82"/>
              </a:solidFill>
              <a:ln w="9525" cap="rnd">
                <a:noFill/>
                <a:round/>
              </a:ln>
            </p:spPr>
            <p:txBody>
              <a:bodyPr/>
              <a:lstStyle/>
              <a:p>
                <a:endParaRPr lang="zh-CN" altLang="en-US"/>
              </a:p>
            </p:txBody>
          </p:sp>
        </p:grpSp>
        <p:grpSp>
          <p:nvGrpSpPr>
            <p:cNvPr id="19" name="Group 89"/>
            <p:cNvGrpSpPr/>
            <p:nvPr/>
          </p:nvGrpSpPr>
          <p:grpSpPr bwMode="auto">
            <a:xfrm>
              <a:off x="2318" y="2192"/>
              <a:ext cx="122" cy="113"/>
              <a:chOff x="2318" y="2192"/>
              <a:chExt cx="122" cy="113"/>
            </a:xfrm>
          </p:grpSpPr>
          <p:sp>
            <p:nvSpPr>
              <p:cNvPr id="11698" name="Freeform 90"/>
              <p:cNvSpPr/>
              <p:nvPr/>
            </p:nvSpPr>
            <p:spPr bwMode="auto">
              <a:xfrm>
                <a:off x="2354" y="2202"/>
                <a:ext cx="86" cy="103"/>
              </a:xfrm>
              <a:custGeom>
                <a:avLst/>
                <a:gdLst>
                  <a:gd name="T0" fmla="*/ 0 w 86"/>
                  <a:gd name="T1" fmla="*/ 102 h 103"/>
                  <a:gd name="T2" fmla="*/ 0 w 86"/>
                  <a:gd name="T3" fmla="*/ 102 h 103"/>
                  <a:gd name="T4" fmla="*/ 2 w 86"/>
                  <a:gd name="T5" fmla="*/ 52 h 103"/>
                  <a:gd name="T6" fmla="*/ 85 w 86"/>
                  <a:gd name="T7" fmla="*/ 0 h 103"/>
                  <a:gd name="T8" fmla="*/ 82 w 86"/>
                  <a:gd name="T9" fmla="*/ 49 h 103"/>
                  <a:gd name="T10" fmla="*/ 0 w 86"/>
                  <a:gd name="T11" fmla="*/ 102 h 103"/>
                  <a:gd name="T12" fmla="*/ 0 60000 65536"/>
                  <a:gd name="T13" fmla="*/ 0 60000 65536"/>
                  <a:gd name="T14" fmla="*/ 0 60000 65536"/>
                  <a:gd name="T15" fmla="*/ 0 60000 65536"/>
                  <a:gd name="T16" fmla="*/ 0 60000 65536"/>
                  <a:gd name="T17" fmla="*/ 0 60000 65536"/>
                  <a:gd name="T18" fmla="*/ 0 w 86"/>
                  <a:gd name="T19" fmla="*/ 0 h 103"/>
                  <a:gd name="T20" fmla="*/ 86 w 86"/>
                  <a:gd name="T21" fmla="*/ 103 h 103"/>
                </a:gdLst>
                <a:ahLst/>
                <a:cxnLst>
                  <a:cxn ang="T12">
                    <a:pos x="T0" y="T1"/>
                  </a:cxn>
                  <a:cxn ang="T13">
                    <a:pos x="T2" y="T3"/>
                  </a:cxn>
                  <a:cxn ang="T14">
                    <a:pos x="T4" y="T5"/>
                  </a:cxn>
                  <a:cxn ang="T15">
                    <a:pos x="T6" y="T7"/>
                  </a:cxn>
                  <a:cxn ang="T16">
                    <a:pos x="T8" y="T9"/>
                  </a:cxn>
                  <a:cxn ang="T17">
                    <a:pos x="T10" y="T11"/>
                  </a:cxn>
                </a:cxnLst>
                <a:rect l="T18" t="T19" r="T20" b="T21"/>
                <a:pathLst>
                  <a:path w="86" h="103">
                    <a:moveTo>
                      <a:pt x="0" y="102"/>
                    </a:moveTo>
                    <a:lnTo>
                      <a:pt x="0" y="102"/>
                    </a:lnTo>
                    <a:lnTo>
                      <a:pt x="2" y="52"/>
                    </a:lnTo>
                    <a:lnTo>
                      <a:pt x="85" y="0"/>
                    </a:lnTo>
                    <a:lnTo>
                      <a:pt x="82" y="49"/>
                    </a:lnTo>
                    <a:lnTo>
                      <a:pt x="0" y="102"/>
                    </a:lnTo>
                  </a:path>
                </a:pathLst>
              </a:custGeom>
              <a:solidFill>
                <a:srgbClr val="BB1A50"/>
              </a:solidFill>
              <a:ln w="9525" cap="rnd">
                <a:noFill/>
                <a:round/>
              </a:ln>
            </p:spPr>
            <p:txBody>
              <a:bodyPr/>
              <a:lstStyle/>
              <a:p>
                <a:endParaRPr lang="zh-CN" altLang="en-US"/>
              </a:p>
            </p:txBody>
          </p:sp>
          <p:sp>
            <p:nvSpPr>
              <p:cNvPr id="11699" name="Freeform 91"/>
              <p:cNvSpPr/>
              <p:nvPr/>
            </p:nvSpPr>
            <p:spPr bwMode="auto">
              <a:xfrm>
                <a:off x="2318" y="2247"/>
                <a:ext cx="38" cy="58"/>
              </a:xfrm>
              <a:custGeom>
                <a:avLst/>
                <a:gdLst>
                  <a:gd name="T0" fmla="*/ 34 w 38"/>
                  <a:gd name="T1" fmla="*/ 57 h 58"/>
                  <a:gd name="T2" fmla="*/ 34 w 38"/>
                  <a:gd name="T3" fmla="*/ 57 h 58"/>
                  <a:gd name="T4" fmla="*/ 0 w 38"/>
                  <a:gd name="T5" fmla="*/ 47 h 58"/>
                  <a:gd name="T6" fmla="*/ 2 w 38"/>
                  <a:gd name="T7" fmla="*/ 0 h 58"/>
                  <a:gd name="T8" fmla="*/ 37 w 38"/>
                  <a:gd name="T9" fmla="*/ 9 h 58"/>
                  <a:gd name="T10" fmla="*/ 34 w 38"/>
                  <a:gd name="T11" fmla="*/ 57 h 58"/>
                  <a:gd name="T12" fmla="*/ 0 60000 65536"/>
                  <a:gd name="T13" fmla="*/ 0 60000 65536"/>
                  <a:gd name="T14" fmla="*/ 0 60000 65536"/>
                  <a:gd name="T15" fmla="*/ 0 60000 65536"/>
                  <a:gd name="T16" fmla="*/ 0 60000 65536"/>
                  <a:gd name="T17" fmla="*/ 0 60000 65536"/>
                  <a:gd name="T18" fmla="*/ 0 w 38"/>
                  <a:gd name="T19" fmla="*/ 0 h 58"/>
                  <a:gd name="T20" fmla="*/ 38 w 38"/>
                  <a:gd name="T21" fmla="*/ 58 h 58"/>
                </a:gdLst>
                <a:ahLst/>
                <a:cxnLst>
                  <a:cxn ang="T12">
                    <a:pos x="T0" y="T1"/>
                  </a:cxn>
                  <a:cxn ang="T13">
                    <a:pos x="T2" y="T3"/>
                  </a:cxn>
                  <a:cxn ang="T14">
                    <a:pos x="T4" y="T5"/>
                  </a:cxn>
                  <a:cxn ang="T15">
                    <a:pos x="T6" y="T7"/>
                  </a:cxn>
                  <a:cxn ang="T16">
                    <a:pos x="T8" y="T9"/>
                  </a:cxn>
                  <a:cxn ang="T17">
                    <a:pos x="T10" y="T11"/>
                  </a:cxn>
                </a:cxnLst>
                <a:rect l="T18" t="T19" r="T20" b="T21"/>
                <a:pathLst>
                  <a:path w="38" h="58">
                    <a:moveTo>
                      <a:pt x="34" y="57"/>
                    </a:moveTo>
                    <a:lnTo>
                      <a:pt x="34" y="57"/>
                    </a:lnTo>
                    <a:lnTo>
                      <a:pt x="0" y="47"/>
                    </a:lnTo>
                    <a:lnTo>
                      <a:pt x="2" y="0"/>
                    </a:lnTo>
                    <a:lnTo>
                      <a:pt x="37" y="9"/>
                    </a:lnTo>
                    <a:lnTo>
                      <a:pt x="34" y="57"/>
                    </a:lnTo>
                  </a:path>
                </a:pathLst>
              </a:custGeom>
              <a:solidFill>
                <a:srgbClr val="9E0005"/>
              </a:solidFill>
              <a:ln w="9525" cap="rnd">
                <a:noFill/>
                <a:round/>
              </a:ln>
            </p:spPr>
            <p:txBody>
              <a:bodyPr/>
              <a:lstStyle/>
              <a:p>
                <a:endParaRPr lang="zh-CN" altLang="en-US"/>
              </a:p>
            </p:txBody>
          </p:sp>
          <p:sp>
            <p:nvSpPr>
              <p:cNvPr id="11700" name="Freeform 92"/>
              <p:cNvSpPr/>
              <p:nvPr/>
            </p:nvSpPr>
            <p:spPr bwMode="auto">
              <a:xfrm>
                <a:off x="2321" y="2192"/>
                <a:ext cx="119" cy="62"/>
              </a:xfrm>
              <a:custGeom>
                <a:avLst/>
                <a:gdLst>
                  <a:gd name="T0" fmla="*/ 35 w 119"/>
                  <a:gd name="T1" fmla="*/ 61 h 62"/>
                  <a:gd name="T2" fmla="*/ 35 w 119"/>
                  <a:gd name="T3" fmla="*/ 61 h 62"/>
                  <a:gd name="T4" fmla="*/ 0 w 119"/>
                  <a:gd name="T5" fmla="*/ 52 h 62"/>
                  <a:gd name="T6" fmla="*/ 84 w 119"/>
                  <a:gd name="T7" fmla="*/ 0 h 62"/>
                  <a:gd name="T8" fmla="*/ 118 w 119"/>
                  <a:gd name="T9" fmla="*/ 8 h 62"/>
                  <a:gd name="T10" fmla="*/ 35 w 119"/>
                  <a:gd name="T11" fmla="*/ 61 h 62"/>
                  <a:gd name="T12" fmla="*/ 0 60000 65536"/>
                  <a:gd name="T13" fmla="*/ 0 60000 65536"/>
                  <a:gd name="T14" fmla="*/ 0 60000 65536"/>
                  <a:gd name="T15" fmla="*/ 0 60000 65536"/>
                  <a:gd name="T16" fmla="*/ 0 60000 65536"/>
                  <a:gd name="T17" fmla="*/ 0 60000 65536"/>
                  <a:gd name="T18" fmla="*/ 0 w 119"/>
                  <a:gd name="T19" fmla="*/ 0 h 62"/>
                  <a:gd name="T20" fmla="*/ 119 w 119"/>
                  <a:gd name="T21" fmla="*/ 62 h 62"/>
                </a:gdLst>
                <a:ahLst/>
                <a:cxnLst>
                  <a:cxn ang="T12">
                    <a:pos x="T0" y="T1"/>
                  </a:cxn>
                  <a:cxn ang="T13">
                    <a:pos x="T2" y="T3"/>
                  </a:cxn>
                  <a:cxn ang="T14">
                    <a:pos x="T4" y="T5"/>
                  </a:cxn>
                  <a:cxn ang="T15">
                    <a:pos x="T6" y="T7"/>
                  </a:cxn>
                  <a:cxn ang="T16">
                    <a:pos x="T8" y="T9"/>
                  </a:cxn>
                  <a:cxn ang="T17">
                    <a:pos x="T10" y="T11"/>
                  </a:cxn>
                </a:cxnLst>
                <a:rect l="T18" t="T19" r="T20" b="T21"/>
                <a:pathLst>
                  <a:path w="119" h="62">
                    <a:moveTo>
                      <a:pt x="35" y="61"/>
                    </a:moveTo>
                    <a:lnTo>
                      <a:pt x="35" y="61"/>
                    </a:lnTo>
                    <a:lnTo>
                      <a:pt x="0" y="52"/>
                    </a:lnTo>
                    <a:lnTo>
                      <a:pt x="84" y="0"/>
                    </a:lnTo>
                    <a:lnTo>
                      <a:pt x="118" y="8"/>
                    </a:lnTo>
                    <a:lnTo>
                      <a:pt x="35" y="61"/>
                    </a:lnTo>
                  </a:path>
                </a:pathLst>
              </a:custGeom>
              <a:solidFill>
                <a:srgbClr val="CF5C82"/>
              </a:solidFill>
              <a:ln w="9525" cap="rnd">
                <a:noFill/>
                <a:round/>
              </a:ln>
            </p:spPr>
            <p:txBody>
              <a:bodyPr/>
              <a:lstStyle/>
              <a:p>
                <a:endParaRPr lang="zh-CN" altLang="en-US"/>
              </a:p>
            </p:txBody>
          </p:sp>
        </p:grpSp>
        <p:grpSp>
          <p:nvGrpSpPr>
            <p:cNvPr id="20" name="Group 93"/>
            <p:cNvGrpSpPr/>
            <p:nvPr/>
          </p:nvGrpSpPr>
          <p:grpSpPr bwMode="auto">
            <a:xfrm>
              <a:off x="2218" y="2253"/>
              <a:ext cx="133" cy="116"/>
              <a:chOff x="2218" y="2253"/>
              <a:chExt cx="133" cy="116"/>
            </a:xfrm>
          </p:grpSpPr>
          <p:sp>
            <p:nvSpPr>
              <p:cNvPr id="11695" name="Freeform 94"/>
              <p:cNvSpPr/>
              <p:nvPr/>
            </p:nvSpPr>
            <p:spPr bwMode="auto">
              <a:xfrm>
                <a:off x="2258" y="2262"/>
                <a:ext cx="93" cy="107"/>
              </a:xfrm>
              <a:custGeom>
                <a:avLst/>
                <a:gdLst>
                  <a:gd name="T0" fmla="*/ 0 w 93"/>
                  <a:gd name="T1" fmla="*/ 106 h 107"/>
                  <a:gd name="T2" fmla="*/ 0 w 93"/>
                  <a:gd name="T3" fmla="*/ 106 h 107"/>
                  <a:gd name="T4" fmla="*/ 2 w 93"/>
                  <a:gd name="T5" fmla="*/ 55 h 107"/>
                  <a:gd name="T6" fmla="*/ 92 w 93"/>
                  <a:gd name="T7" fmla="*/ 0 h 107"/>
                  <a:gd name="T8" fmla="*/ 89 w 93"/>
                  <a:gd name="T9" fmla="*/ 50 h 107"/>
                  <a:gd name="T10" fmla="*/ 0 w 93"/>
                  <a:gd name="T11" fmla="*/ 106 h 107"/>
                  <a:gd name="T12" fmla="*/ 0 60000 65536"/>
                  <a:gd name="T13" fmla="*/ 0 60000 65536"/>
                  <a:gd name="T14" fmla="*/ 0 60000 65536"/>
                  <a:gd name="T15" fmla="*/ 0 60000 65536"/>
                  <a:gd name="T16" fmla="*/ 0 60000 65536"/>
                  <a:gd name="T17" fmla="*/ 0 60000 65536"/>
                  <a:gd name="T18" fmla="*/ 0 w 93"/>
                  <a:gd name="T19" fmla="*/ 0 h 107"/>
                  <a:gd name="T20" fmla="*/ 93 w 9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93" h="107">
                    <a:moveTo>
                      <a:pt x="0" y="106"/>
                    </a:moveTo>
                    <a:lnTo>
                      <a:pt x="0" y="106"/>
                    </a:lnTo>
                    <a:lnTo>
                      <a:pt x="2" y="55"/>
                    </a:lnTo>
                    <a:lnTo>
                      <a:pt x="92" y="0"/>
                    </a:lnTo>
                    <a:lnTo>
                      <a:pt x="89" y="50"/>
                    </a:lnTo>
                    <a:lnTo>
                      <a:pt x="0" y="106"/>
                    </a:lnTo>
                  </a:path>
                </a:pathLst>
              </a:custGeom>
              <a:solidFill>
                <a:srgbClr val="BB1A50"/>
              </a:solidFill>
              <a:ln w="9525" cap="rnd">
                <a:noFill/>
                <a:round/>
              </a:ln>
            </p:spPr>
            <p:txBody>
              <a:bodyPr/>
              <a:lstStyle/>
              <a:p>
                <a:endParaRPr lang="zh-CN" altLang="en-US"/>
              </a:p>
            </p:txBody>
          </p:sp>
          <p:sp>
            <p:nvSpPr>
              <p:cNvPr id="11696" name="Freeform 95"/>
              <p:cNvSpPr/>
              <p:nvPr/>
            </p:nvSpPr>
            <p:spPr bwMode="auto">
              <a:xfrm>
                <a:off x="2218" y="2310"/>
                <a:ext cx="41" cy="59"/>
              </a:xfrm>
              <a:custGeom>
                <a:avLst/>
                <a:gdLst>
                  <a:gd name="T0" fmla="*/ 37 w 41"/>
                  <a:gd name="T1" fmla="*/ 58 h 59"/>
                  <a:gd name="T2" fmla="*/ 37 w 41"/>
                  <a:gd name="T3" fmla="*/ 58 h 59"/>
                  <a:gd name="T4" fmla="*/ 0 w 41"/>
                  <a:gd name="T5" fmla="*/ 51 h 59"/>
                  <a:gd name="T6" fmla="*/ 2 w 41"/>
                  <a:gd name="T7" fmla="*/ 0 h 59"/>
                  <a:gd name="T8" fmla="*/ 40 w 41"/>
                  <a:gd name="T9" fmla="*/ 8 h 59"/>
                  <a:gd name="T10" fmla="*/ 37 w 41"/>
                  <a:gd name="T11" fmla="*/ 58 h 59"/>
                  <a:gd name="T12" fmla="*/ 0 60000 65536"/>
                  <a:gd name="T13" fmla="*/ 0 60000 65536"/>
                  <a:gd name="T14" fmla="*/ 0 60000 65536"/>
                  <a:gd name="T15" fmla="*/ 0 60000 65536"/>
                  <a:gd name="T16" fmla="*/ 0 60000 65536"/>
                  <a:gd name="T17" fmla="*/ 0 60000 65536"/>
                  <a:gd name="T18" fmla="*/ 0 w 41"/>
                  <a:gd name="T19" fmla="*/ 0 h 59"/>
                  <a:gd name="T20" fmla="*/ 41 w 41"/>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41" h="59">
                    <a:moveTo>
                      <a:pt x="37" y="58"/>
                    </a:moveTo>
                    <a:lnTo>
                      <a:pt x="37" y="58"/>
                    </a:lnTo>
                    <a:lnTo>
                      <a:pt x="0" y="51"/>
                    </a:lnTo>
                    <a:lnTo>
                      <a:pt x="2" y="0"/>
                    </a:lnTo>
                    <a:lnTo>
                      <a:pt x="40" y="8"/>
                    </a:lnTo>
                    <a:lnTo>
                      <a:pt x="37" y="58"/>
                    </a:lnTo>
                  </a:path>
                </a:pathLst>
              </a:custGeom>
              <a:solidFill>
                <a:srgbClr val="9E0005"/>
              </a:solidFill>
              <a:ln w="9525" cap="rnd">
                <a:noFill/>
                <a:round/>
              </a:ln>
            </p:spPr>
            <p:txBody>
              <a:bodyPr/>
              <a:lstStyle/>
              <a:p>
                <a:endParaRPr lang="zh-CN" altLang="en-US"/>
              </a:p>
            </p:txBody>
          </p:sp>
          <p:sp>
            <p:nvSpPr>
              <p:cNvPr id="11697" name="Freeform 96"/>
              <p:cNvSpPr/>
              <p:nvPr/>
            </p:nvSpPr>
            <p:spPr bwMode="auto">
              <a:xfrm>
                <a:off x="2221" y="2253"/>
                <a:ext cx="130" cy="65"/>
              </a:xfrm>
              <a:custGeom>
                <a:avLst/>
                <a:gdLst>
                  <a:gd name="T0" fmla="*/ 39 w 130"/>
                  <a:gd name="T1" fmla="*/ 64 h 65"/>
                  <a:gd name="T2" fmla="*/ 39 w 130"/>
                  <a:gd name="T3" fmla="*/ 64 h 65"/>
                  <a:gd name="T4" fmla="*/ 0 w 130"/>
                  <a:gd name="T5" fmla="*/ 54 h 65"/>
                  <a:gd name="T6" fmla="*/ 92 w 130"/>
                  <a:gd name="T7" fmla="*/ 0 h 65"/>
                  <a:gd name="T8" fmla="*/ 129 w 130"/>
                  <a:gd name="T9" fmla="*/ 9 h 65"/>
                  <a:gd name="T10" fmla="*/ 39 w 130"/>
                  <a:gd name="T11" fmla="*/ 64 h 65"/>
                  <a:gd name="T12" fmla="*/ 0 60000 65536"/>
                  <a:gd name="T13" fmla="*/ 0 60000 65536"/>
                  <a:gd name="T14" fmla="*/ 0 60000 65536"/>
                  <a:gd name="T15" fmla="*/ 0 60000 65536"/>
                  <a:gd name="T16" fmla="*/ 0 60000 65536"/>
                  <a:gd name="T17" fmla="*/ 0 60000 65536"/>
                  <a:gd name="T18" fmla="*/ 0 w 130"/>
                  <a:gd name="T19" fmla="*/ 0 h 65"/>
                  <a:gd name="T20" fmla="*/ 130 w 130"/>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130" h="65">
                    <a:moveTo>
                      <a:pt x="39" y="64"/>
                    </a:moveTo>
                    <a:lnTo>
                      <a:pt x="39" y="64"/>
                    </a:lnTo>
                    <a:lnTo>
                      <a:pt x="0" y="54"/>
                    </a:lnTo>
                    <a:lnTo>
                      <a:pt x="92" y="0"/>
                    </a:lnTo>
                    <a:lnTo>
                      <a:pt x="129" y="9"/>
                    </a:lnTo>
                    <a:lnTo>
                      <a:pt x="39" y="64"/>
                    </a:lnTo>
                  </a:path>
                </a:pathLst>
              </a:custGeom>
              <a:solidFill>
                <a:srgbClr val="CF5C82"/>
              </a:solidFill>
              <a:ln w="9525" cap="rnd">
                <a:noFill/>
                <a:round/>
              </a:ln>
            </p:spPr>
            <p:txBody>
              <a:bodyPr/>
              <a:lstStyle/>
              <a:p>
                <a:endParaRPr lang="zh-CN" altLang="en-US"/>
              </a:p>
            </p:txBody>
          </p:sp>
        </p:grpSp>
        <p:grpSp>
          <p:nvGrpSpPr>
            <p:cNvPr id="21" name="Group 97"/>
            <p:cNvGrpSpPr/>
            <p:nvPr/>
          </p:nvGrpSpPr>
          <p:grpSpPr bwMode="auto">
            <a:xfrm>
              <a:off x="2109" y="2317"/>
              <a:ext cx="144" cy="122"/>
              <a:chOff x="2109" y="2317"/>
              <a:chExt cx="144" cy="122"/>
            </a:xfrm>
          </p:grpSpPr>
          <p:sp>
            <p:nvSpPr>
              <p:cNvPr id="11692" name="Freeform 98"/>
              <p:cNvSpPr/>
              <p:nvPr/>
            </p:nvSpPr>
            <p:spPr bwMode="auto">
              <a:xfrm>
                <a:off x="2154" y="2327"/>
                <a:ext cx="98" cy="112"/>
              </a:xfrm>
              <a:custGeom>
                <a:avLst/>
                <a:gdLst>
                  <a:gd name="T0" fmla="*/ 0 w 98"/>
                  <a:gd name="T1" fmla="*/ 111 h 112"/>
                  <a:gd name="T2" fmla="*/ 0 w 98"/>
                  <a:gd name="T3" fmla="*/ 111 h 112"/>
                  <a:gd name="T4" fmla="*/ 0 w 98"/>
                  <a:gd name="T5" fmla="*/ 61 h 112"/>
                  <a:gd name="T6" fmla="*/ 97 w 98"/>
                  <a:gd name="T7" fmla="*/ 0 h 112"/>
                  <a:gd name="T8" fmla="*/ 94 w 98"/>
                  <a:gd name="T9" fmla="*/ 49 h 112"/>
                  <a:gd name="T10" fmla="*/ 0 w 98"/>
                  <a:gd name="T11" fmla="*/ 111 h 112"/>
                  <a:gd name="T12" fmla="*/ 0 60000 65536"/>
                  <a:gd name="T13" fmla="*/ 0 60000 65536"/>
                  <a:gd name="T14" fmla="*/ 0 60000 65536"/>
                  <a:gd name="T15" fmla="*/ 0 60000 65536"/>
                  <a:gd name="T16" fmla="*/ 0 60000 65536"/>
                  <a:gd name="T17" fmla="*/ 0 60000 65536"/>
                  <a:gd name="T18" fmla="*/ 0 w 98"/>
                  <a:gd name="T19" fmla="*/ 0 h 112"/>
                  <a:gd name="T20" fmla="*/ 98 w 98"/>
                  <a:gd name="T21" fmla="*/ 112 h 112"/>
                </a:gdLst>
                <a:ahLst/>
                <a:cxnLst>
                  <a:cxn ang="T12">
                    <a:pos x="T0" y="T1"/>
                  </a:cxn>
                  <a:cxn ang="T13">
                    <a:pos x="T2" y="T3"/>
                  </a:cxn>
                  <a:cxn ang="T14">
                    <a:pos x="T4" y="T5"/>
                  </a:cxn>
                  <a:cxn ang="T15">
                    <a:pos x="T6" y="T7"/>
                  </a:cxn>
                  <a:cxn ang="T16">
                    <a:pos x="T8" y="T9"/>
                  </a:cxn>
                  <a:cxn ang="T17">
                    <a:pos x="T10" y="T11"/>
                  </a:cxn>
                </a:cxnLst>
                <a:rect l="T18" t="T19" r="T20" b="T21"/>
                <a:pathLst>
                  <a:path w="98" h="112">
                    <a:moveTo>
                      <a:pt x="0" y="111"/>
                    </a:moveTo>
                    <a:lnTo>
                      <a:pt x="0" y="111"/>
                    </a:lnTo>
                    <a:lnTo>
                      <a:pt x="0" y="61"/>
                    </a:lnTo>
                    <a:lnTo>
                      <a:pt x="97" y="0"/>
                    </a:lnTo>
                    <a:lnTo>
                      <a:pt x="94" y="49"/>
                    </a:lnTo>
                    <a:lnTo>
                      <a:pt x="0" y="111"/>
                    </a:lnTo>
                  </a:path>
                </a:pathLst>
              </a:custGeom>
              <a:solidFill>
                <a:srgbClr val="BB1A50"/>
              </a:solidFill>
              <a:ln w="9525" cap="rnd">
                <a:noFill/>
                <a:round/>
              </a:ln>
            </p:spPr>
            <p:txBody>
              <a:bodyPr/>
              <a:lstStyle/>
              <a:p>
                <a:endParaRPr lang="zh-CN" altLang="en-US"/>
              </a:p>
            </p:txBody>
          </p:sp>
          <p:sp>
            <p:nvSpPr>
              <p:cNvPr id="11693" name="Freeform 99"/>
              <p:cNvSpPr/>
              <p:nvPr/>
            </p:nvSpPr>
            <p:spPr bwMode="auto">
              <a:xfrm>
                <a:off x="2109" y="2380"/>
                <a:ext cx="44" cy="59"/>
              </a:xfrm>
              <a:custGeom>
                <a:avLst/>
                <a:gdLst>
                  <a:gd name="T0" fmla="*/ 43 w 44"/>
                  <a:gd name="T1" fmla="*/ 58 h 59"/>
                  <a:gd name="T2" fmla="*/ 43 w 44"/>
                  <a:gd name="T3" fmla="*/ 58 h 59"/>
                  <a:gd name="T4" fmla="*/ 0 w 44"/>
                  <a:gd name="T5" fmla="*/ 51 h 59"/>
                  <a:gd name="T6" fmla="*/ 0 w 44"/>
                  <a:gd name="T7" fmla="*/ 0 h 59"/>
                  <a:gd name="T8" fmla="*/ 43 w 44"/>
                  <a:gd name="T9" fmla="*/ 9 h 59"/>
                  <a:gd name="T10" fmla="*/ 43 w 44"/>
                  <a:gd name="T11" fmla="*/ 58 h 59"/>
                  <a:gd name="T12" fmla="*/ 0 60000 65536"/>
                  <a:gd name="T13" fmla="*/ 0 60000 65536"/>
                  <a:gd name="T14" fmla="*/ 0 60000 65536"/>
                  <a:gd name="T15" fmla="*/ 0 60000 65536"/>
                  <a:gd name="T16" fmla="*/ 0 60000 65536"/>
                  <a:gd name="T17" fmla="*/ 0 60000 65536"/>
                  <a:gd name="T18" fmla="*/ 0 w 44"/>
                  <a:gd name="T19" fmla="*/ 0 h 59"/>
                  <a:gd name="T20" fmla="*/ 44 w 44"/>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44" h="59">
                    <a:moveTo>
                      <a:pt x="43" y="58"/>
                    </a:moveTo>
                    <a:lnTo>
                      <a:pt x="43" y="58"/>
                    </a:lnTo>
                    <a:lnTo>
                      <a:pt x="0" y="51"/>
                    </a:lnTo>
                    <a:lnTo>
                      <a:pt x="0" y="0"/>
                    </a:lnTo>
                    <a:lnTo>
                      <a:pt x="43" y="9"/>
                    </a:lnTo>
                    <a:lnTo>
                      <a:pt x="43" y="58"/>
                    </a:lnTo>
                  </a:path>
                </a:pathLst>
              </a:custGeom>
              <a:solidFill>
                <a:srgbClr val="9E0005"/>
              </a:solidFill>
              <a:ln w="9525" cap="rnd">
                <a:noFill/>
                <a:round/>
              </a:ln>
            </p:spPr>
            <p:txBody>
              <a:bodyPr/>
              <a:lstStyle/>
              <a:p>
                <a:endParaRPr lang="zh-CN" altLang="en-US"/>
              </a:p>
            </p:txBody>
          </p:sp>
          <p:sp>
            <p:nvSpPr>
              <p:cNvPr id="11694" name="Freeform 100"/>
              <p:cNvSpPr/>
              <p:nvPr/>
            </p:nvSpPr>
            <p:spPr bwMode="auto">
              <a:xfrm>
                <a:off x="2110" y="2317"/>
                <a:ext cx="143" cy="71"/>
              </a:xfrm>
              <a:custGeom>
                <a:avLst/>
                <a:gdLst>
                  <a:gd name="T0" fmla="*/ 44 w 143"/>
                  <a:gd name="T1" fmla="*/ 70 h 71"/>
                  <a:gd name="T2" fmla="*/ 44 w 143"/>
                  <a:gd name="T3" fmla="*/ 70 h 71"/>
                  <a:gd name="T4" fmla="*/ 0 w 143"/>
                  <a:gd name="T5" fmla="*/ 61 h 71"/>
                  <a:gd name="T6" fmla="*/ 102 w 143"/>
                  <a:gd name="T7" fmla="*/ 0 h 71"/>
                  <a:gd name="T8" fmla="*/ 142 w 143"/>
                  <a:gd name="T9" fmla="*/ 8 h 71"/>
                  <a:gd name="T10" fmla="*/ 44 w 143"/>
                  <a:gd name="T11" fmla="*/ 70 h 71"/>
                  <a:gd name="T12" fmla="*/ 0 60000 65536"/>
                  <a:gd name="T13" fmla="*/ 0 60000 65536"/>
                  <a:gd name="T14" fmla="*/ 0 60000 65536"/>
                  <a:gd name="T15" fmla="*/ 0 60000 65536"/>
                  <a:gd name="T16" fmla="*/ 0 60000 65536"/>
                  <a:gd name="T17" fmla="*/ 0 60000 65536"/>
                  <a:gd name="T18" fmla="*/ 0 w 143"/>
                  <a:gd name="T19" fmla="*/ 0 h 71"/>
                  <a:gd name="T20" fmla="*/ 143 w 143"/>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143" h="71">
                    <a:moveTo>
                      <a:pt x="44" y="70"/>
                    </a:moveTo>
                    <a:lnTo>
                      <a:pt x="44" y="70"/>
                    </a:lnTo>
                    <a:lnTo>
                      <a:pt x="0" y="61"/>
                    </a:lnTo>
                    <a:lnTo>
                      <a:pt x="102" y="0"/>
                    </a:lnTo>
                    <a:lnTo>
                      <a:pt x="142" y="8"/>
                    </a:lnTo>
                    <a:lnTo>
                      <a:pt x="44" y="70"/>
                    </a:lnTo>
                  </a:path>
                </a:pathLst>
              </a:custGeom>
              <a:solidFill>
                <a:srgbClr val="CF5C82"/>
              </a:solidFill>
              <a:ln w="9525" cap="rnd">
                <a:noFill/>
                <a:round/>
              </a:ln>
            </p:spPr>
            <p:txBody>
              <a:bodyPr/>
              <a:lstStyle/>
              <a:p>
                <a:endParaRPr lang="zh-CN" altLang="en-US"/>
              </a:p>
            </p:txBody>
          </p:sp>
        </p:grpSp>
        <p:sp>
          <p:nvSpPr>
            <p:cNvPr id="11528" name="Freeform 101"/>
            <p:cNvSpPr/>
            <p:nvPr/>
          </p:nvSpPr>
          <p:spPr bwMode="auto">
            <a:xfrm>
              <a:off x="2101" y="2397"/>
              <a:ext cx="47" cy="81"/>
            </a:xfrm>
            <a:custGeom>
              <a:avLst/>
              <a:gdLst>
                <a:gd name="T0" fmla="*/ 0 w 47"/>
                <a:gd name="T1" fmla="*/ 80 h 81"/>
                <a:gd name="T2" fmla="*/ 0 w 47"/>
                <a:gd name="T3" fmla="*/ 80 h 81"/>
                <a:gd name="T4" fmla="*/ 0 w 47"/>
                <a:gd name="T5" fmla="*/ 30 h 81"/>
                <a:gd name="T6" fmla="*/ 46 w 47"/>
                <a:gd name="T7" fmla="*/ 0 h 81"/>
                <a:gd name="T8" fmla="*/ 46 w 47"/>
                <a:gd name="T9" fmla="*/ 49 h 81"/>
                <a:gd name="T10" fmla="*/ 0 w 47"/>
                <a:gd name="T11" fmla="*/ 80 h 81"/>
                <a:gd name="T12" fmla="*/ 0 60000 65536"/>
                <a:gd name="T13" fmla="*/ 0 60000 65536"/>
                <a:gd name="T14" fmla="*/ 0 60000 65536"/>
                <a:gd name="T15" fmla="*/ 0 60000 65536"/>
                <a:gd name="T16" fmla="*/ 0 60000 65536"/>
                <a:gd name="T17" fmla="*/ 0 60000 65536"/>
                <a:gd name="T18" fmla="*/ 0 w 47"/>
                <a:gd name="T19" fmla="*/ 0 h 81"/>
                <a:gd name="T20" fmla="*/ 47 w 47"/>
                <a:gd name="T21" fmla="*/ 81 h 81"/>
              </a:gdLst>
              <a:ahLst/>
              <a:cxnLst>
                <a:cxn ang="T12">
                  <a:pos x="T0" y="T1"/>
                </a:cxn>
                <a:cxn ang="T13">
                  <a:pos x="T2" y="T3"/>
                </a:cxn>
                <a:cxn ang="T14">
                  <a:pos x="T4" y="T5"/>
                </a:cxn>
                <a:cxn ang="T15">
                  <a:pos x="T6" y="T7"/>
                </a:cxn>
                <a:cxn ang="T16">
                  <a:pos x="T8" y="T9"/>
                </a:cxn>
                <a:cxn ang="T17">
                  <a:pos x="T10" y="T11"/>
                </a:cxn>
              </a:cxnLst>
              <a:rect l="T18" t="T19" r="T20" b="T21"/>
              <a:pathLst>
                <a:path w="47" h="81">
                  <a:moveTo>
                    <a:pt x="0" y="80"/>
                  </a:moveTo>
                  <a:lnTo>
                    <a:pt x="0" y="80"/>
                  </a:lnTo>
                  <a:lnTo>
                    <a:pt x="0" y="30"/>
                  </a:lnTo>
                  <a:lnTo>
                    <a:pt x="46" y="0"/>
                  </a:lnTo>
                  <a:lnTo>
                    <a:pt x="46" y="49"/>
                  </a:lnTo>
                  <a:lnTo>
                    <a:pt x="0" y="80"/>
                  </a:lnTo>
                </a:path>
              </a:pathLst>
            </a:custGeom>
            <a:solidFill>
              <a:srgbClr val="BB1A50"/>
            </a:solidFill>
            <a:ln w="9525" cap="rnd">
              <a:noFill/>
              <a:round/>
            </a:ln>
          </p:spPr>
          <p:txBody>
            <a:bodyPr/>
            <a:lstStyle/>
            <a:p>
              <a:endParaRPr lang="zh-CN" altLang="en-US"/>
            </a:p>
          </p:txBody>
        </p:sp>
        <p:sp>
          <p:nvSpPr>
            <p:cNvPr id="11529" name="Freeform 102"/>
            <p:cNvSpPr/>
            <p:nvPr/>
          </p:nvSpPr>
          <p:spPr bwMode="auto">
            <a:xfrm>
              <a:off x="2057" y="2387"/>
              <a:ext cx="91" cy="39"/>
            </a:xfrm>
            <a:custGeom>
              <a:avLst/>
              <a:gdLst>
                <a:gd name="T0" fmla="*/ 43 w 91"/>
                <a:gd name="T1" fmla="*/ 38 h 39"/>
                <a:gd name="T2" fmla="*/ 43 w 91"/>
                <a:gd name="T3" fmla="*/ 38 h 39"/>
                <a:gd name="T4" fmla="*/ 0 w 91"/>
                <a:gd name="T5" fmla="*/ 28 h 39"/>
                <a:gd name="T6" fmla="*/ 46 w 91"/>
                <a:gd name="T7" fmla="*/ 0 h 39"/>
                <a:gd name="T8" fmla="*/ 90 w 91"/>
                <a:gd name="T9" fmla="*/ 9 h 39"/>
                <a:gd name="T10" fmla="*/ 43 w 91"/>
                <a:gd name="T11" fmla="*/ 38 h 39"/>
                <a:gd name="T12" fmla="*/ 0 60000 65536"/>
                <a:gd name="T13" fmla="*/ 0 60000 65536"/>
                <a:gd name="T14" fmla="*/ 0 60000 65536"/>
                <a:gd name="T15" fmla="*/ 0 60000 65536"/>
                <a:gd name="T16" fmla="*/ 0 60000 65536"/>
                <a:gd name="T17" fmla="*/ 0 60000 65536"/>
                <a:gd name="T18" fmla="*/ 0 w 91"/>
                <a:gd name="T19" fmla="*/ 0 h 39"/>
                <a:gd name="T20" fmla="*/ 91 w 91"/>
                <a:gd name="T21" fmla="*/ 39 h 39"/>
              </a:gdLst>
              <a:ahLst/>
              <a:cxnLst>
                <a:cxn ang="T12">
                  <a:pos x="T0" y="T1"/>
                </a:cxn>
                <a:cxn ang="T13">
                  <a:pos x="T2" y="T3"/>
                </a:cxn>
                <a:cxn ang="T14">
                  <a:pos x="T4" y="T5"/>
                </a:cxn>
                <a:cxn ang="T15">
                  <a:pos x="T6" y="T7"/>
                </a:cxn>
                <a:cxn ang="T16">
                  <a:pos x="T8" y="T9"/>
                </a:cxn>
                <a:cxn ang="T17">
                  <a:pos x="T10" y="T11"/>
                </a:cxn>
              </a:cxnLst>
              <a:rect l="T18" t="T19" r="T20" b="T21"/>
              <a:pathLst>
                <a:path w="91" h="39">
                  <a:moveTo>
                    <a:pt x="43" y="38"/>
                  </a:moveTo>
                  <a:lnTo>
                    <a:pt x="43" y="38"/>
                  </a:lnTo>
                  <a:lnTo>
                    <a:pt x="0" y="28"/>
                  </a:lnTo>
                  <a:lnTo>
                    <a:pt x="46" y="0"/>
                  </a:lnTo>
                  <a:lnTo>
                    <a:pt x="90" y="9"/>
                  </a:lnTo>
                  <a:lnTo>
                    <a:pt x="43" y="38"/>
                  </a:lnTo>
                </a:path>
              </a:pathLst>
            </a:custGeom>
            <a:solidFill>
              <a:srgbClr val="CF5C82"/>
            </a:solidFill>
            <a:ln w="9525" cap="rnd">
              <a:noFill/>
              <a:round/>
            </a:ln>
          </p:spPr>
          <p:txBody>
            <a:bodyPr/>
            <a:lstStyle/>
            <a:p>
              <a:endParaRPr lang="zh-CN" altLang="en-US"/>
            </a:p>
          </p:txBody>
        </p:sp>
        <p:sp>
          <p:nvSpPr>
            <p:cNvPr id="11530" name="Freeform 103"/>
            <p:cNvSpPr/>
            <p:nvPr/>
          </p:nvSpPr>
          <p:spPr bwMode="auto">
            <a:xfrm>
              <a:off x="2440" y="2198"/>
              <a:ext cx="17" cy="52"/>
            </a:xfrm>
            <a:custGeom>
              <a:avLst/>
              <a:gdLst>
                <a:gd name="T0" fmla="*/ 0 w 17"/>
                <a:gd name="T1" fmla="*/ 51 h 52"/>
                <a:gd name="T2" fmla="*/ 0 w 17"/>
                <a:gd name="T3" fmla="*/ 51 h 52"/>
                <a:gd name="T4" fmla="*/ 0 w 17"/>
                <a:gd name="T5" fmla="*/ 23 h 52"/>
                <a:gd name="T6" fmla="*/ 0 w 17"/>
                <a:gd name="T7" fmla="*/ 9 h 52"/>
                <a:gd name="T8" fmla="*/ 4 w 17"/>
                <a:gd name="T9" fmla="*/ 2 h 52"/>
                <a:gd name="T10" fmla="*/ 4 w 17"/>
                <a:gd name="T11" fmla="*/ 0 h 52"/>
                <a:gd name="T12" fmla="*/ 11 w 17"/>
                <a:gd name="T13" fmla="*/ 0 h 52"/>
                <a:gd name="T14" fmla="*/ 16 w 17"/>
                <a:gd name="T15" fmla="*/ 0 h 52"/>
                <a:gd name="T16" fmla="*/ 11 w 17"/>
                <a:gd name="T17" fmla="*/ 20 h 52"/>
                <a:gd name="T18" fmla="*/ 11 w 17"/>
                <a:gd name="T19" fmla="*/ 44 h 52"/>
                <a:gd name="T20" fmla="*/ 4 w 17"/>
                <a:gd name="T21" fmla="*/ 44 h 52"/>
                <a:gd name="T22" fmla="*/ 0 w 17"/>
                <a:gd name="T23" fmla="*/ 48 h 52"/>
                <a:gd name="T24" fmla="*/ 0 w 17"/>
                <a:gd name="T25" fmla="*/ 51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
                <a:gd name="T40" fmla="*/ 0 h 52"/>
                <a:gd name="T41" fmla="*/ 17 w 17"/>
                <a:gd name="T42" fmla="*/ 52 h 5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 h="52">
                  <a:moveTo>
                    <a:pt x="0" y="51"/>
                  </a:moveTo>
                  <a:lnTo>
                    <a:pt x="0" y="51"/>
                  </a:lnTo>
                  <a:lnTo>
                    <a:pt x="0" y="23"/>
                  </a:lnTo>
                  <a:lnTo>
                    <a:pt x="0" y="9"/>
                  </a:lnTo>
                  <a:lnTo>
                    <a:pt x="4" y="2"/>
                  </a:lnTo>
                  <a:lnTo>
                    <a:pt x="4" y="0"/>
                  </a:lnTo>
                  <a:lnTo>
                    <a:pt x="11" y="0"/>
                  </a:lnTo>
                  <a:lnTo>
                    <a:pt x="16" y="0"/>
                  </a:lnTo>
                  <a:lnTo>
                    <a:pt x="11" y="20"/>
                  </a:lnTo>
                  <a:lnTo>
                    <a:pt x="11" y="44"/>
                  </a:lnTo>
                  <a:lnTo>
                    <a:pt x="4" y="44"/>
                  </a:lnTo>
                  <a:lnTo>
                    <a:pt x="0" y="48"/>
                  </a:lnTo>
                  <a:lnTo>
                    <a:pt x="0" y="51"/>
                  </a:lnTo>
                </a:path>
              </a:pathLst>
            </a:custGeom>
            <a:solidFill>
              <a:srgbClr val="BDB597"/>
            </a:solidFill>
            <a:ln w="9525" cap="rnd">
              <a:noFill/>
              <a:round/>
            </a:ln>
          </p:spPr>
          <p:txBody>
            <a:bodyPr/>
            <a:lstStyle/>
            <a:p>
              <a:endParaRPr lang="zh-CN" altLang="en-US"/>
            </a:p>
          </p:txBody>
        </p:sp>
        <p:sp>
          <p:nvSpPr>
            <p:cNvPr id="11531" name="Freeform 104"/>
            <p:cNvSpPr/>
            <p:nvPr/>
          </p:nvSpPr>
          <p:spPr bwMode="auto">
            <a:xfrm>
              <a:off x="2098" y="2142"/>
              <a:ext cx="428" cy="284"/>
            </a:xfrm>
            <a:custGeom>
              <a:avLst/>
              <a:gdLst>
                <a:gd name="T0" fmla="*/ 427 w 428"/>
                <a:gd name="T1" fmla="*/ 0 h 284"/>
                <a:gd name="T2" fmla="*/ 427 w 428"/>
                <a:gd name="T3" fmla="*/ 0 h 284"/>
                <a:gd name="T4" fmla="*/ 0 w 428"/>
                <a:gd name="T5" fmla="*/ 276 h 284"/>
                <a:gd name="T6" fmla="*/ 3 w 428"/>
                <a:gd name="T7" fmla="*/ 283 h 284"/>
                <a:gd name="T8" fmla="*/ 423 w 428"/>
                <a:gd name="T9" fmla="*/ 6 h 284"/>
                <a:gd name="T10" fmla="*/ 427 w 428"/>
                <a:gd name="T11" fmla="*/ 0 h 284"/>
                <a:gd name="T12" fmla="*/ 0 60000 65536"/>
                <a:gd name="T13" fmla="*/ 0 60000 65536"/>
                <a:gd name="T14" fmla="*/ 0 60000 65536"/>
                <a:gd name="T15" fmla="*/ 0 60000 65536"/>
                <a:gd name="T16" fmla="*/ 0 60000 65536"/>
                <a:gd name="T17" fmla="*/ 0 60000 65536"/>
                <a:gd name="T18" fmla="*/ 0 w 428"/>
                <a:gd name="T19" fmla="*/ 0 h 284"/>
                <a:gd name="T20" fmla="*/ 428 w 428"/>
                <a:gd name="T21" fmla="*/ 284 h 284"/>
              </a:gdLst>
              <a:ahLst/>
              <a:cxnLst>
                <a:cxn ang="T12">
                  <a:pos x="T0" y="T1"/>
                </a:cxn>
                <a:cxn ang="T13">
                  <a:pos x="T2" y="T3"/>
                </a:cxn>
                <a:cxn ang="T14">
                  <a:pos x="T4" y="T5"/>
                </a:cxn>
                <a:cxn ang="T15">
                  <a:pos x="T6" y="T7"/>
                </a:cxn>
                <a:cxn ang="T16">
                  <a:pos x="T8" y="T9"/>
                </a:cxn>
                <a:cxn ang="T17">
                  <a:pos x="T10" y="T11"/>
                </a:cxn>
              </a:cxnLst>
              <a:rect l="T18" t="T19" r="T20" b="T21"/>
              <a:pathLst>
                <a:path w="428" h="284">
                  <a:moveTo>
                    <a:pt x="427" y="0"/>
                  </a:moveTo>
                  <a:lnTo>
                    <a:pt x="427" y="0"/>
                  </a:lnTo>
                  <a:lnTo>
                    <a:pt x="0" y="276"/>
                  </a:lnTo>
                  <a:lnTo>
                    <a:pt x="3" y="283"/>
                  </a:lnTo>
                  <a:lnTo>
                    <a:pt x="423" y="6"/>
                  </a:lnTo>
                  <a:lnTo>
                    <a:pt x="427" y="0"/>
                  </a:lnTo>
                </a:path>
              </a:pathLst>
            </a:custGeom>
            <a:solidFill>
              <a:srgbClr val="BDB597"/>
            </a:solidFill>
            <a:ln w="9525" cap="rnd">
              <a:noFill/>
              <a:round/>
            </a:ln>
          </p:spPr>
          <p:txBody>
            <a:bodyPr/>
            <a:lstStyle/>
            <a:p>
              <a:endParaRPr lang="zh-CN" altLang="en-US"/>
            </a:p>
          </p:txBody>
        </p:sp>
        <p:sp>
          <p:nvSpPr>
            <p:cNvPr id="11532" name="Freeform 105"/>
            <p:cNvSpPr/>
            <p:nvPr/>
          </p:nvSpPr>
          <p:spPr bwMode="auto">
            <a:xfrm>
              <a:off x="2350" y="2259"/>
              <a:ext cx="17" cy="52"/>
            </a:xfrm>
            <a:custGeom>
              <a:avLst/>
              <a:gdLst>
                <a:gd name="T0" fmla="*/ 0 w 17"/>
                <a:gd name="T1" fmla="*/ 51 h 52"/>
                <a:gd name="T2" fmla="*/ 0 w 17"/>
                <a:gd name="T3" fmla="*/ 51 h 52"/>
                <a:gd name="T4" fmla="*/ 0 w 17"/>
                <a:gd name="T5" fmla="*/ 24 h 52"/>
                <a:gd name="T6" fmla="*/ 0 w 17"/>
                <a:gd name="T7" fmla="*/ 15 h 52"/>
                <a:gd name="T8" fmla="*/ 0 w 17"/>
                <a:gd name="T9" fmla="*/ 8 h 52"/>
                <a:gd name="T10" fmla="*/ 4 w 17"/>
                <a:gd name="T11" fmla="*/ 2 h 52"/>
                <a:gd name="T12" fmla="*/ 4 w 17"/>
                <a:gd name="T13" fmla="*/ 0 h 52"/>
                <a:gd name="T14" fmla="*/ 11 w 17"/>
                <a:gd name="T15" fmla="*/ 0 h 52"/>
                <a:gd name="T16" fmla="*/ 16 w 17"/>
                <a:gd name="T17" fmla="*/ 0 h 52"/>
                <a:gd name="T18" fmla="*/ 11 w 17"/>
                <a:gd name="T19" fmla="*/ 20 h 52"/>
                <a:gd name="T20" fmla="*/ 11 w 17"/>
                <a:gd name="T21" fmla="*/ 39 h 52"/>
                <a:gd name="T22" fmla="*/ 11 w 17"/>
                <a:gd name="T23" fmla="*/ 44 h 52"/>
                <a:gd name="T24" fmla="*/ 4 w 17"/>
                <a:gd name="T25" fmla="*/ 44 h 52"/>
                <a:gd name="T26" fmla="*/ 4 w 17"/>
                <a:gd name="T27" fmla="*/ 48 h 52"/>
                <a:gd name="T28" fmla="*/ 0 w 17"/>
                <a:gd name="T29" fmla="*/ 48 h 52"/>
                <a:gd name="T30" fmla="*/ 0 w 17"/>
                <a:gd name="T31" fmla="*/ 51 h 5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
                <a:gd name="T49" fmla="*/ 0 h 52"/>
                <a:gd name="T50" fmla="*/ 17 w 17"/>
                <a:gd name="T51" fmla="*/ 52 h 5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 h="52">
                  <a:moveTo>
                    <a:pt x="0" y="51"/>
                  </a:moveTo>
                  <a:lnTo>
                    <a:pt x="0" y="51"/>
                  </a:lnTo>
                  <a:lnTo>
                    <a:pt x="0" y="24"/>
                  </a:lnTo>
                  <a:lnTo>
                    <a:pt x="0" y="15"/>
                  </a:lnTo>
                  <a:lnTo>
                    <a:pt x="0" y="8"/>
                  </a:lnTo>
                  <a:lnTo>
                    <a:pt x="4" y="2"/>
                  </a:lnTo>
                  <a:lnTo>
                    <a:pt x="4" y="0"/>
                  </a:lnTo>
                  <a:lnTo>
                    <a:pt x="11" y="0"/>
                  </a:lnTo>
                  <a:lnTo>
                    <a:pt x="16" y="0"/>
                  </a:lnTo>
                  <a:lnTo>
                    <a:pt x="11" y="20"/>
                  </a:lnTo>
                  <a:lnTo>
                    <a:pt x="11" y="39"/>
                  </a:lnTo>
                  <a:lnTo>
                    <a:pt x="11" y="44"/>
                  </a:lnTo>
                  <a:lnTo>
                    <a:pt x="4" y="44"/>
                  </a:lnTo>
                  <a:lnTo>
                    <a:pt x="4" y="48"/>
                  </a:lnTo>
                  <a:lnTo>
                    <a:pt x="0" y="48"/>
                  </a:lnTo>
                  <a:lnTo>
                    <a:pt x="0" y="51"/>
                  </a:lnTo>
                </a:path>
              </a:pathLst>
            </a:custGeom>
            <a:solidFill>
              <a:srgbClr val="BDB597"/>
            </a:solidFill>
            <a:ln w="9525" cap="rnd">
              <a:noFill/>
              <a:round/>
            </a:ln>
          </p:spPr>
          <p:txBody>
            <a:bodyPr/>
            <a:lstStyle/>
            <a:p>
              <a:endParaRPr lang="zh-CN" altLang="en-US"/>
            </a:p>
          </p:txBody>
        </p:sp>
        <p:sp>
          <p:nvSpPr>
            <p:cNvPr id="11533" name="Freeform 106"/>
            <p:cNvSpPr/>
            <p:nvPr/>
          </p:nvSpPr>
          <p:spPr bwMode="auto">
            <a:xfrm>
              <a:off x="2251" y="2320"/>
              <a:ext cx="17" cy="55"/>
            </a:xfrm>
            <a:custGeom>
              <a:avLst/>
              <a:gdLst>
                <a:gd name="T0" fmla="*/ 0 w 17"/>
                <a:gd name="T1" fmla="*/ 54 h 55"/>
                <a:gd name="T2" fmla="*/ 0 w 17"/>
                <a:gd name="T3" fmla="*/ 54 h 55"/>
                <a:gd name="T4" fmla="*/ 0 w 17"/>
                <a:gd name="T5" fmla="*/ 47 h 55"/>
                <a:gd name="T6" fmla="*/ 0 w 17"/>
                <a:gd name="T7" fmla="*/ 38 h 55"/>
                <a:gd name="T8" fmla="*/ 0 w 17"/>
                <a:gd name="T9" fmla="*/ 29 h 55"/>
                <a:gd name="T10" fmla="*/ 0 w 17"/>
                <a:gd name="T11" fmla="*/ 18 h 55"/>
                <a:gd name="T12" fmla="*/ 0 w 17"/>
                <a:gd name="T13" fmla="*/ 11 h 55"/>
                <a:gd name="T14" fmla="*/ 0 w 17"/>
                <a:gd name="T15" fmla="*/ 6 h 55"/>
                <a:gd name="T16" fmla="*/ 5 w 17"/>
                <a:gd name="T17" fmla="*/ 2 h 55"/>
                <a:gd name="T18" fmla="*/ 10 w 17"/>
                <a:gd name="T19" fmla="*/ 0 h 55"/>
                <a:gd name="T20" fmla="*/ 16 w 17"/>
                <a:gd name="T21" fmla="*/ 0 h 55"/>
                <a:gd name="T22" fmla="*/ 16 w 17"/>
                <a:gd name="T23" fmla="*/ 24 h 55"/>
                <a:gd name="T24" fmla="*/ 10 w 17"/>
                <a:gd name="T25" fmla="*/ 42 h 55"/>
                <a:gd name="T26" fmla="*/ 10 w 17"/>
                <a:gd name="T27" fmla="*/ 47 h 55"/>
                <a:gd name="T28" fmla="*/ 10 w 17"/>
                <a:gd name="T29" fmla="*/ 51 h 55"/>
                <a:gd name="T30" fmla="*/ 5 w 17"/>
                <a:gd name="T31" fmla="*/ 51 h 55"/>
                <a:gd name="T32" fmla="*/ 5 w 17"/>
                <a:gd name="T33" fmla="*/ 54 h 55"/>
                <a:gd name="T34" fmla="*/ 0 w 17"/>
                <a:gd name="T35" fmla="*/ 54 h 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55"/>
                <a:gd name="T56" fmla="*/ 17 w 17"/>
                <a:gd name="T57" fmla="*/ 55 h 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55">
                  <a:moveTo>
                    <a:pt x="0" y="54"/>
                  </a:moveTo>
                  <a:lnTo>
                    <a:pt x="0" y="54"/>
                  </a:lnTo>
                  <a:lnTo>
                    <a:pt x="0" y="47"/>
                  </a:lnTo>
                  <a:lnTo>
                    <a:pt x="0" y="38"/>
                  </a:lnTo>
                  <a:lnTo>
                    <a:pt x="0" y="29"/>
                  </a:lnTo>
                  <a:lnTo>
                    <a:pt x="0" y="18"/>
                  </a:lnTo>
                  <a:lnTo>
                    <a:pt x="0" y="11"/>
                  </a:lnTo>
                  <a:lnTo>
                    <a:pt x="0" y="6"/>
                  </a:lnTo>
                  <a:lnTo>
                    <a:pt x="5" y="2"/>
                  </a:lnTo>
                  <a:lnTo>
                    <a:pt x="10" y="0"/>
                  </a:lnTo>
                  <a:lnTo>
                    <a:pt x="16" y="0"/>
                  </a:lnTo>
                  <a:lnTo>
                    <a:pt x="16" y="24"/>
                  </a:lnTo>
                  <a:lnTo>
                    <a:pt x="10" y="42"/>
                  </a:lnTo>
                  <a:lnTo>
                    <a:pt x="10" y="47"/>
                  </a:lnTo>
                  <a:lnTo>
                    <a:pt x="10" y="51"/>
                  </a:lnTo>
                  <a:lnTo>
                    <a:pt x="5" y="51"/>
                  </a:lnTo>
                  <a:lnTo>
                    <a:pt x="5" y="54"/>
                  </a:lnTo>
                  <a:lnTo>
                    <a:pt x="0" y="54"/>
                  </a:lnTo>
                </a:path>
              </a:pathLst>
            </a:custGeom>
            <a:solidFill>
              <a:srgbClr val="BDB597"/>
            </a:solidFill>
            <a:ln w="9525" cap="rnd">
              <a:noFill/>
              <a:round/>
            </a:ln>
          </p:spPr>
          <p:txBody>
            <a:bodyPr/>
            <a:lstStyle/>
            <a:p>
              <a:endParaRPr lang="zh-CN" altLang="en-US"/>
            </a:p>
          </p:txBody>
        </p:sp>
        <p:sp>
          <p:nvSpPr>
            <p:cNvPr id="11534" name="Freeform 107"/>
            <p:cNvSpPr/>
            <p:nvPr/>
          </p:nvSpPr>
          <p:spPr bwMode="auto">
            <a:xfrm>
              <a:off x="2147" y="2390"/>
              <a:ext cx="17" cy="59"/>
            </a:xfrm>
            <a:custGeom>
              <a:avLst/>
              <a:gdLst>
                <a:gd name="T0" fmla="*/ 6 w 17"/>
                <a:gd name="T1" fmla="*/ 58 h 59"/>
                <a:gd name="T2" fmla="*/ 6 w 17"/>
                <a:gd name="T3" fmla="*/ 58 h 59"/>
                <a:gd name="T4" fmla="*/ 0 w 17"/>
                <a:gd name="T5" fmla="*/ 48 h 59"/>
                <a:gd name="T6" fmla="*/ 0 w 17"/>
                <a:gd name="T7" fmla="*/ 30 h 59"/>
                <a:gd name="T8" fmla="*/ 0 w 17"/>
                <a:gd name="T9" fmla="*/ 21 h 59"/>
                <a:gd name="T10" fmla="*/ 6 w 17"/>
                <a:gd name="T11" fmla="*/ 11 h 59"/>
                <a:gd name="T12" fmla="*/ 6 w 17"/>
                <a:gd name="T13" fmla="*/ 6 h 59"/>
                <a:gd name="T14" fmla="*/ 6 w 17"/>
                <a:gd name="T15" fmla="*/ 2 h 59"/>
                <a:gd name="T16" fmla="*/ 10 w 17"/>
                <a:gd name="T17" fmla="*/ 2 h 59"/>
                <a:gd name="T18" fmla="*/ 10 w 17"/>
                <a:gd name="T19" fmla="*/ 0 h 59"/>
                <a:gd name="T20" fmla="*/ 16 w 17"/>
                <a:gd name="T21" fmla="*/ 0 h 59"/>
                <a:gd name="T22" fmla="*/ 16 w 17"/>
                <a:gd name="T23" fmla="*/ 24 h 59"/>
                <a:gd name="T24" fmla="*/ 16 w 17"/>
                <a:gd name="T25" fmla="*/ 42 h 59"/>
                <a:gd name="T26" fmla="*/ 16 w 17"/>
                <a:gd name="T27" fmla="*/ 51 h 59"/>
                <a:gd name="T28" fmla="*/ 10 w 17"/>
                <a:gd name="T29" fmla="*/ 51 h 59"/>
                <a:gd name="T30" fmla="*/ 6 w 17"/>
                <a:gd name="T31" fmla="*/ 51 h 59"/>
                <a:gd name="T32" fmla="*/ 6 w 17"/>
                <a:gd name="T33" fmla="*/ 55 h 59"/>
                <a:gd name="T34" fmla="*/ 6 w 17"/>
                <a:gd name="T35" fmla="*/ 58 h 5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59"/>
                <a:gd name="T56" fmla="*/ 17 w 17"/>
                <a:gd name="T57" fmla="*/ 59 h 5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59">
                  <a:moveTo>
                    <a:pt x="6" y="58"/>
                  </a:moveTo>
                  <a:lnTo>
                    <a:pt x="6" y="58"/>
                  </a:lnTo>
                  <a:lnTo>
                    <a:pt x="0" y="48"/>
                  </a:lnTo>
                  <a:lnTo>
                    <a:pt x="0" y="30"/>
                  </a:lnTo>
                  <a:lnTo>
                    <a:pt x="0" y="21"/>
                  </a:lnTo>
                  <a:lnTo>
                    <a:pt x="6" y="11"/>
                  </a:lnTo>
                  <a:lnTo>
                    <a:pt x="6" y="6"/>
                  </a:lnTo>
                  <a:lnTo>
                    <a:pt x="6" y="2"/>
                  </a:lnTo>
                  <a:lnTo>
                    <a:pt x="10" y="2"/>
                  </a:lnTo>
                  <a:lnTo>
                    <a:pt x="10" y="0"/>
                  </a:lnTo>
                  <a:lnTo>
                    <a:pt x="16" y="0"/>
                  </a:lnTo>
                  <a:lnTo>
                    <a:pt x="16" y="24"/>
                  </a:lnTo>
                  <a:lnTo>
                    <a:pt x="16" y="42"/>
                  </a:lnTo>
                  <a:lnTo>
                    <a:pt x="16" y="51"/>
                  </a:lnTo>
                  <a:lnTo>
                    <a:pt x="10" y="51"/>
                  </a:lnTo>
                  <a:lnTo>
                    <a:pt x="6" y="51"/>
                  </a:lnTo>
                  <a:lnTo>
                    <a:pt x="6" y="55"/>
                  </a:lnTo>
                  <a:lnTo>
                    <a:pt x="6" y="58"/>
                  </a:lnTo>
                </a:path>
              </a:pathLst>
            </a:custGeom>
            <a:solidFill>
              <a:srgbClr val="BDB597"/>
            </a:solidFill>
            <a:ln w="9525" cap="rnd">
              <a:noFill/>
              <a:round/>
            </a:ln>
          </p:spPr>
          <p:txBody>
            <a:bodyPr/>
            <a:lstStyle/>
            <a:p>
              <a:endParaRPr lang="zh-CN" altLang="en-US"/>
            </a:p>
          </p:txBody>
        </p:sp>
        <p:sp>
          <p:nvSpPr>
            <p:cNvPr id="11535" name="Freeform 108"/>
            <p:cNvSpPr/>
            <p:nvPr/>
          </p:nvSpPr>
          <p:spPr bwMode="auto">
            <a:xfrm>
              <a:off x="2057" y="2419"/>
              <a:ext cx="43" cy="59"/>
            </a:xfrm>
            <a:custGeom>
              <a:avLst/>
              <a:gdLst>
                <a:gd name="T0" fmla="*/ 42 w 43"/>
                <a:gd name="T1" fmla="*/ 58 h 59"/>
                <a:gd name="T2" fmla="*/ 42 w 43"/>
                <a:gd name="T3" fmla="*/ 58 h 59"/>
                <a:gd name="T4" fmla="*/ 0 w 43"/>
                <a:gd name="T5" fmla="*/ 51 h 59"/>
                <a:gd name="T6" fmla="*/ 0 w 43"/>
                <a:gd name="T7" fmla="*/ 0 h 59"/>
                <a:gd name="T8" fmla="*/ 42 w 43"/>
                <a:gd name="T9" fmla="*/ 8 h 59"/>
                <a:gd name="T10" fmla="*/ 42 w 43"/>
                <a:gd name="T11" fmla="*/ 58 h 59"/>
                <a:gd name="T12" fmla="*/ 0 60000 65536"/>
                <a:gd name="T13" fmla="*/ 0 60000 65536"/>
                <a:gd name="T14" fmla="*/ 0 60000 65536"/>
                <a:gd name="T15" fmla="*/ 0 60000 65536"/>
                <a:gd name="T16" fmla="*/ 0 60000 65536"/>
                <a:gd name="T17" fmla="*/ 0 60000 65536"/>
                <a:gd name="T18" fmla="*/ 0 w 43"/>
                <a:gd name="T19" fmla="*/ 0 h 59"/>
                <a:gd name="T20" fmla="*/ 43 w 43"/>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43" h="59">
                  <a:moveTo>
                    <a:pt x="42" y="58"/>
                  </a:moveTo>
                  <a:lnTo>
                    <a:pt x="42" y="58"/>
                  </a:lnTo>
                  <a:lnTo>
                    <a:pt x="0" y="51"/>
                  </a:lnTo>
                  <a:lnTo>
                    <a:pt x="0" y="0"/>
                  </a:lnTo>
                  <a:lnTo>
                    <a:pt x="42" y="8"/>
                  </a:lnTo>
                  <a:lnTo>
                    <a:pt x="42" y="58"/>
                  </a:lnTo>
                </a:path>
              </a:pathLst>
            </a:custGeom>
            <a:solidFill>
              <a:srgbClr val="9E0005"/>
            </a:solidFill>
            <a:ln w="9525" cap="rnd">
              <a:noFill/>
              <a:round/>
            </a:ln>
          </p:spPr>
          <p:txBody>
            <a:bodyPr/>
            <a:lstStyle/>
            <a:p>
              <a:endParaRPr lang="zh-CN" altLang="en-US"/>
            </a:p>
          </p:txBody>
        </p:sp>
        <p:sp>
          <p:nvSpPr>
            <p:cNvPr id="11536" name="Freeform 109"/>
            <p:cNvSpPr/>
            <p:nvPr/>
          </p:nvSpPr>
          <p:spPr bwMode="auto">
            <a:xfrm>
              <a:off x="2053" y="2474"/>
              <a:ext cx="47" cy="17"/>
            </a:xfrm>
            <a:custGeom>
              <a:avLst/>
              <a:gdLst>
                <a:gd name="T0" fmla="*/ 43 w 47"/>
                <a:gd name="T1" fmla="*/ 16 h 17"/>
                <a:gd name="T2" fmla="*/ 43 w 47"/>
                <a:gd name="T3" fmla="*/ 16 h 17"/>
                <a:gd name="T4" fmla="*/ 46 w 47"/>
                <a:gd name="T5" fmla="*/ 16 h 17"/>
                <a:gd name="T6" fmla="*/ 46 w 47"/>
                <a:gd name="T7" fmla="*/ 12 h 17"/>
                <a:gd name="T8" fmla="*/ 46 w 47"/>
                <a:gd name="T9" fmla="*/ 9 h 17"/>
                <a:gd name="T10" fmla="*/ 46 w 47"/>
                <a:gd name="T11" fmla="*/ 6 h 17"/>
                <a:gd name="T12" fmla="*/ 24 w 47"/>
                <a:gd name="T13" fmla="*/ 3 h 17"/>
                <a:gd name="T14" fmla="*/ 8 w 47"/>
                <a:gd name="T15" fmla="*/ 0 h 17"/>
                <a:gd name="T16" fmla="*/ 2 w 47"/>
                <a:gd name="T17" fmla="*/ 0 h 17"/>
                <a:gd name="T18" fmla="*/ 0 w 47"/>
                <a:gd name="T19" fmla="*/ 0 h 17"/>
                <a:gd name="T20" fmla="*/ 0 w 47"/>
                <a:gd name="T21" fmla="*/ 3 h 17"/>
                <a:gd name="T22" fmla="*/ 0 w 47"/>
                <a:gd name="T23" fmla="*/ 6 h 17"/>
                <a:gd name="T24" fmla="*/ 2 w 47"/>
                <a:gd name="T25" fmla="*/ 6 h 17"/>
                <a:gd name="T26" fmla="*/ 8 w 47"/>
                <a:gd name="T27" fmla="*/ 9 h 17"/>
                <a:gd name="T28" fmla="*/ 21 w 47"/>
                <a:gd name="T29" fmla="*/ 9 h 17"/>
                <a:gd name="T30" fmla="*/ 29 w 47"/>
                <a:gd name="T31" fmla="*/ 9 h 17"/>
                <a:gd name="T32" fmla="*/ 32 w 47"/>
                <a:gd name="T33" fmla="*/ 12 h 17"/>
                <a:gd name="T34" fmla="*/ 35 w 47"/>
                <a:gd name="T35" fmla="*/ 12 h 17"/>
                <a:gd name="T36" fmla="*/ 37 w 47"/>
                <a:gd name="T37" fmla="*/ 12 h 17"/>
                <a:gd name="T38" fmla="*/ 40 w 47"/>
                <a:gd name="T39" fmla="*/ 12 h 17"/>
                <a:gd name="T40" fmla="*/ 43 w 47"/>
                <a:gd name="T41" fmla="*/ 12 h 17"/>
                <a:gd name="T42" fmla="*/ 43 w 47"/>
                <a:gd name="T43" fmla="*/ 16 h 1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7"/>
                <a:gd name="T67" fmla="*/ 0 h 17"/>
                <a:gd name="T68" fmla="*/ 47 w 47"/>
                <a:gd name="T69" fmla="*/ 17 h 1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7" h="17">
                  <a:moveTo>
                    <a:pt x="43" y="16"/>
                  </a:moveTo>
                  <a:lnTo>
                    <a:pt x="43" y="16"/>
                  </a:lnTo>
                  <a:lnTo>
                    <a:pt x="46" y="16"/>
                  </a:lnTo>
                  <a:lnTo>
                    <a:pt x="46" y="12"/>
                  </a:lnTo>
                  <a:lnTo>
                    <a:pt x="46" y="9"/>
                  </a:lnTo>
                  <a:lnTo>
                    <a:pt x="46" y="6"/>
                  </a:lnTo>
                  <a:lnTo>
                    <a:pt x="24" y="3"/>
                  </a:lnTo>
                  <a:lnTo>
                    <a:pt x="8" y="0"/>
                  </a:lnTo>
                  <a:lnTo>
                    <a:pt x="2" y="0"/>
                  </a:lnTo>
                  <a:lnTo>
                    <a:pt x="0" y="0"/>
                  </a:lnTo>
                  <a:lnTo>
                    <a:pt x="0" y="3"/>
                  </a:lnTo>
                  <a:lnTo>
                    <a:pt x="0" y="6"/>
                  </a:lnTo>
                  <a:lnTo>
                    <a:pt x="2" y="6"/>
                  </a:lnTo>
                  <a:lnTo>
                    <a:pt x="8" y="9"/>
                  </a:lnTo>
                  <a:lnTo>
                    <a:pt x="21" y="9"/>
                  </a:lnTo>
                  <a:lnTo>
                    <a:pt x="29" y="9"/>
                  </a:lnTo>
                  <a:lnTo>
                    <a:pt x="32" y="12"/>
                  </a:lnTo>
                  <a:lnTo>
                    <a:pt x="35" y="12"/>
                  </a:lnTo>
                  <a:lnTo>
                    <a:pt x="37" y="12"/>
                  </a:lnTo>
                  <a:lnTo>
                    <a:pt x="40" y="12"/>
                  </a:lnTo>
                  <a:lnTo>
                    <a:pt x="43" y="12"/>
                  </a:lnTo>
                  <a:lnTo>
                    <a:pt x="43" y="16"/>
                  </a:lnTo>
                </a:path>
              </a:pathLst>
            </a:custGeom>
            <a:solidFill>
              <a:srgbClr val="BDB597"/>
            </a:solidFill>
            <a:ln w="9525" cap="rnd">
              <a:noFill/>
              <a:round/>
            </a:ln>
          </p:spPr>
          <p:txBody>
            <a:bodyPr/>
            <a:lstStyle/>
            <a:p>
              <a:endParaRPr lang="zh-CN" altLang="en-US"/>
            </a:p>
          </p:txBody>
        </p:sp>
        <p:sp>
          <p:nvSpPr>
            <p:cNvPr id="11537" name="Freeform 110"/>
            <p:cNvSpPr/>
            <p:nvPr/>
          </p:nvSpPr>
          <p:spPr bwMode="auto">
            <a:xfrm>
              <a:off x="2053" y="2413"/>
              <a:ext cx="47" cy="17"/>
            </a:xfrm>
            <a:custGeom>
              <a:avLst/>
              <a:gdLst>
                <a:gd name="T0" fmla="*/ 46 w 47"/>
                <a:gd name="T1" fmla="*/ 16 h 17"/>
                <a:gd name="T2" fmla="*/ 46 w 47"/>
                <a:gd name="T3" fmla="*/ 16 h 17"/>
                <a:gd name="T4" fmla="*/ 46 w 47"/>
                <a:gd name="T5" fmla="*/ 12 h 17"/>
                <a:gd name="T6" fmla="*/ 46 w 47"/>
                <a:gd name="T7" fmla="*/ 9 h 17"/>
                <a:gd name="T8" fmla="*/ 24 w 47"/>
                <a:gd name="T9" fmla="*/ 3 h 17"/>
                <a:gd name="T10" fmla="*/ 2 w 47"/>
                <a:gd name="T11" fmla="*/ 0 h 17"/>
                <a:gd name="T12" fmla="*/ 0 w 47"/>
                <a:gd name="T13" fmla="*/ 0 h 17"/>
                <a:gd name="T14" fmla="*/ 0 w 47"/>
                <a:gd name="T15" fmla="*/ 3 h 17"/>
                <a:gd name="T16" fmla="*/ 0 w 47"/>
                <a:gd name="T17" fmla="*/ 6 h 17"/>
                <a:gd name="T18" fmla="*/ 2 w 47"/>
                <a:gd name="T19" fmla="*/ 6 h 17"/>
                <a:gd name="T20" fmla="*/ 8 w 47"/>
                <a:gd name="T21" fmla="*/ 9 h 17"/>
                <a:gd name="T22" fmla="*/ 21 w 47"/>
                <a:gd name="T23" fmla="*/ 9 h 17"/>
                <a:gd name="T24" fmla="*/ 29 w 47"/>
                <a:gd name="T25" fmla="*/ 12 h 17"/>
                <a:gd name="T26" fmla="*/ 32 w 47"/>
                <a:gd name="T27" fmla="*/ 12 h 17"/>
                <a:gd name="T28" fmla="*/ 35 w 47"/>
                <a:gd name="T29" fmla="*/ 12 h 17"/>
                <a:gd name="T30" fmla="*/ 40 w 47"/>
                <a:gd name="T31" fmla="*/ 12 h 17"/>
                <a:gd name="T32" fmla="*/ 40 w 47"/>
                <a:gd name="T33" fmla="*/ 16 h 17"/>
                <a:gd name="T34" fmla="*/ 43 w 47"/>
                <a:gd name="T35" fmla="*/ 16 h 17"/>
                <a:gd name="T36" fmla="*/ 46 w 47"/>
                <a:gd name="T37" fmla="*/ 16 h 1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7"/>
                <a:gd name="T58" fmla="*/ 0 h 17"/>
                <a:gd name="T59" fmla="*/ 47 w 47"/>
                <a:gd name="T60" fmla="*/ 17 h 1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7" h="17">
                  <a:moveTo>
                    <a:pt x="46" y="16"/>
                  </a:moveTo>
                  <a:lnTo>
                    <a:pt x="46" y="16"/>
                  </a:lnTo>
                  <a:lnTo>
                    <a:pt x="46" y="12"/>
                  </a:lnTo>
                  <a:lnTo>
                    <a:pt x="46" y="9"/>
                  </a:lnTo>
                  <a:lnTo>
                    <a:pt x="24" y="3"/>
                  </a:lnTo>
                  <a:lnTo>
                    <a:pt x="2" y="0"/>
                  </a:lnTo>
                  <a:lnTo>
                    <a:pt x="0" y="0"/>
                  </a:lnTo>
                  <a:lnTo>
                    <a:pt x="0" y="3"/>
                  </a:lnTo>
                  <a:lnTo>
                    <a:pt x="0" y="6"/>
                  </a:lnTo>
                  <a:lnTo>
                    <a:pt x="2" y="6"/>
                  </a:lnTo>
                  <a:lnTo>
                    <a:pt x="8" y="9"/>
                  </a:lnTo>
                  <a:lnTo>
                    <a:pt x="21" y="9"/>
                  </a:lnTo>
                  <a:lnTo>
                    <a:pt x="29" y="12"/>
                  </a:lnTo>
                  <a:lnTo>
                    <a:pt x="32" y="12"/>
                  </a:lnTo>
                  <a:lnTo>
                    <a:pt x="35" y="12"/>
                  </a:lnTo>
                  <a:lnTo>
                    <a:pt x="40" y="12"/>
                  </a:lnTo>
                  <a:lnTo>
                    <a:pt x="40" y="16"/>
                  </a:lnTo>
                  <a:lnTo>
                    <a:pt x="43" y="16"/>
                  </a:lnTo>
                  <a:lnTo>
                    <a:pt x="46" y="16"/>
                  </a:lnTo>
                </a:path>
              </a:pathLst>
            </a:custGeom>
            <a:solidFill>
              <a:srgbClr val="BDB597"/>
            </a:solidFill>
            <a:ln w="9525" cap="rnd">
              <a:noFill/>
              <a:round/>
            </a:ln>
          </p:spPr>
          <p:txBody>
            <a:bodyPr/>
            <a:lstStyle/>
            <a:p>
              <a:endParaRPr lang="zh-CN" altLang="en-US"/>
            </a:p>
          </p:txBody>
        </p:sp>
        <p:grpSp>
          <p:nvGrpSpPr>
            <p:cNvPr id="22" name="Group 111"/>
            <p:cNvGrpSpPr/>
            <p:nvPr/>
          </p:nvGrpSpPr>
          <p:grpSpPr bwMode="auto">
            <a:xfrm>
              <a:off x="2053" y="2026"/>
              <a:ext cx="478" cy="390"/>
              <a:chOff x="2053" y="2026"/>
              <a:chExt cx="478" cy="390"/>
            </a:xfrm>
          </p:grpSpPr>
          <p:sp>
            <p:nvSpPr>
              <p:cNvPr id="11642" name="Freeform 112"/>
              <p:cNvSpPr/>
              <p:nvPr/>
            </p:nvSpPr>
            <p:spPr bwMode="auto">
              <a:xfrm>
                <a:off x="2489" y="2090"/>
                <a:ext cx="38" cy="71"/>
              </a:xfrm>
              <a:custGeom>
                <a:avLst/>
                <a:gdLst>
                  <a:gd name="T0" fmla="*/ 0 w 38"/>
                  <a:gd name="T1" fmla="*/ 70 h 71"/>
                  <a:gd name="T2" fmla="*/ 0 w 38"/>
                  <a:gd name="T3" fmla="*/ 70 h 71"/>
                  <a:gd name="T4" fmla="*/ 2 w 38"/>
                  <a:gd name="T5" fmla="*/ 21 h 71"/>
                  <a:gd name="T6" fmla="*/ 37 w 38"/>
                  <a:gd name="T7" fmla="*/ 0 h 71"/>
                  <a:gd name="T8" fmla="*/ 34 w 38"/>
                  <a:gd name="T9" fmla="*/ 45 h 71"/>
                  <a:gd name="T10" fmla="*/ 0 w 38"/>
                  <a:gd name="T11" fmla="*/ 70 h 71"/>
                  <a:gd name="T12" fmla="*/ 0 60000 65536"/>
                  <a:gd name="T13" fmla="*/ 0 60000 65536"/>
                  <a:gd name="T14" fmla="*/ 0 60000 65536"/>
                  <a:gd name="T15" fmla="*/ 0 60000 65536"/>
                  <a:gd name="T16" fmla="*/ 0 60000 65536"/>
                  <a:gd name="T17" fmla="*/ 0 60000 65536"/>
                  <a:gd name="T18" fmla="*/ 0 w 38"/>
                  <a:gd name="T19" fmla="*/ 0 h 71"/>
                  <a:gd name="T20" fmla="*/ 38 w 38"/>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38" h="71">
                    <a:moveTo>
                      <a:pt x="0" y="70"/>
                    </a:moveTo>
                    <a:lnTo>
                      <a:pt x="0" y="70"/>
                    </a:lnTo>
                    <a:lnTo>
                      <a:pt x="2" y="21"/>
                    </a:lnTo>
                    <a:lnTo>
                      <a:pt x="37" y="0"/>
                    </a:lnTo>
                    <a:lnTo>
                      <a:pt x="34" y="45"/>
                    </a:lnTo>
                    <a:lnTo>
                      <a:pt x="0" y="70"/>
                    </a:lnTo>
                  </a:path>
                </a:pathLst>
              </a:custGeom>
              <a:solidFill>
                <a:srgbClr val="BB1A50"/>
              </a:solidFill>
              <a:ln w="9525" cap="rnd">
                <a:noFill/>
                <a:round/>
              </a:ln>
            </p:spPr>
            <p:txBody>
              <a:bodyPr/>
              <a:lstStyle/>
              <a:p>
                <a:endParaRPr lang="zh-CN" altLang="en-US"/>
              </a:p>
            </p:txBody>
          </p:sp>
          <p:sp>
            <p:nvSpPr>
              <p:cNvPr id="11643" name="Freeform 113"/>
              <p:cNvSpPr/>
              <p:nvPr/>
            </p:nvSpPr>
            <p:spPr bwMode="auto">
              <a:xfrm>
                <a:off x="2457" y="2098"/>
                <a:ext cx="33" cy="63"/>
              </a:xfrm>
              <a:custGeom>
                <a:avLst/>
                <a:gdLst>
                  <a:gd name="T0" fmla="*/ 29 w 33"/>
                  <a:gd name="T1" fmla="*/ 62 h 63"/>
                  <a:gd name="T2" fmla="*/ 29 w 33"/>
                  <a:gd name="T3" fmla="*/ 62 h 63"/>
                  <a:gd name="T4" fmla="*/ 0 w 33"/>
                  <a:gd name="T5" fmla="*/ 49 h 63"/>
                  <a:gd name="T6" fmla="*/ 2 w 33"/>
                  <a:gd name="T7" fmla="*/ 0 h 63"/>
                  <a:gd name="T8" fmla="*/ 32 w 33"/>
                  <a:gd name="T9" fmla="*/ 12 h 63"/>
                  <a:gd name="T10" fmla="*/ 29 w 33"/>
                  <a:gd name="T11" fmla="*/ 62 h 63"/>
                  <a:gd name="T12" fmla="*/ 0 60000 65536"/>
                  <a:gd name="T13" fmla="*/ 0 60000 65536"/>
                  <a:gd name="T14" fmla="*/ 0 60000 65536"/>
                  <a:gd name="T15" fmla="*/ 0 60000 65536"/>
                  <a:gd name="T16" fmla="*/ 0 60000 65536"/>
                  <a:gd name="T17" fmla="*/ 0 60000 65536"/>
                  <a:gd name="T18" fmla="*/ 0 w 33"/>
                  <a:gd name="T19" fmla="*/ 0 h 63"/>
                  <a:gd name="T20" fmla="*/ 33 w 33"/>
                  <a:gd name="T21" fmla="*/ 63 h 63"/>
                </a:gdLst>
                <a:ahLst/>
                <a:cxnLst>
                  <a:cxn ang="T12">
                    <a:pos x="T0" y="T1"/>
                  </a:cxn>
                  <a:cxn ang="T13">
                    <a:pos x="T2" y="T3"/>
                  </a:cxn>
                  <a:cxn ang="T14">
                    <a:pos x="T4" y="T5"/>
                  </a:cxn>
                  <a:cxn ang="T15">
                    <a:pos x="T6" y="T7"/>
                  </a:cxn>
                  <a:cxn ang="T16">
                    <a:pos x="T8" y="T9"/>
                  </a:cxn>
                  <a:cxn ang="T17">
                    <a:pos x="T10" y="T11"/>
                  </a:cxn>
                </a:cxnLst>
                <a:rect l="T18" t="T19" r="T20" b="T21"/>
                <a:pathLst>
                  <a:path w="33" h="63">
                    <a:moveTo>
                      <a:pt x="29" y="62"/>
                    </a:moveTo>
                    <a:lnTo>
                      <a:pt x="29" y="62"/>
                    </a:lnTo>
                    <a:lnTo>
                      <a:pt x="0" y="49"/>
                    </a:lnTo>
                    <a:lnTo>
                      <a:pt x="2" y="0"/>
                    </a:lnTo>
                    <a:lnTo>
                      <a:pt x="32" y="12"/>
                    </a:lnTo>
                    <a:lnTo>
                      <a:pt x="29" y="62"/>
                    </a:lnTo>
                  </a:path>
                </a:pathLst>
              </a:custGeom>
              <a:solidFill>
                <a:srgbClr val="9E0005"/>
              </a:solidFill>
              <a:ln w="9525" cap="rnd">
                <a:noFill/>
                <a:round/>
              </a:ln>
            </p:spPr>
            <p:txBody>
              <a:bodyPr/>
              <a:lstStyle/>
              <a:p>
                <a:endParaRPr lang="zh-CN" altLang="en-US"/>
              </a:p>
            </p:txBody>
          </p:sp>
          <p:sp>
            <p:nvSpPr>
              <p:cNvPr id="11644" name="Freeform 114"/>
              <p:cNvSpPr/>
              <p:nvPr/>
            </p:nvSpPr>
            <p:spPr bwMode="auto">
              <a:xfrm>
                <a:off x="2460" y="2077"/>
                <a:ext cx="67" cy="33"/>
              </a:xfrm>
              <a:custGeom>
                <a:avLst/>
                <a:gdLst>
                  <a:gd name="T0" fmla="*/ 30 w 67"/>
                  <a:gd name="T1" fmla="*/ 32 h 33"/>
                  <a:gd name="T2" fmla="*/ 30 w 67"/>
                  <a:gd name="T3" fmla="*/ 32 h 33"/>
                  <a:gd name="T4" fmla="*/ 0 w 67"/>
                  <a:gd name="T5" fmla="*/ 20 h 33"/>
                  <a:gd name="T6" fmla="*/ 35 w 67"/>
                  <a:gd name="T7" fmla="*/ 0 h 33"/>
                  <a:gd name="T8" fmla="*/ 66 w 67"/>
                  <a:gd name="T9" fmla="*/ 14 h 33"/>
                  <a:gd name="T10" fmla="*/ 30 w 67"/>
                  <a:gd name="T11" fmla="*/ 32 h 33"/>
                  <a:gd name="T12" fmla="*/ 0 60000 65536"/>
                  <a:gd name="T13" fmla="*/ 0 60000 65536"/>
                  <a:gd name="T14" fmla="*/ 0 60000 65536"/>
                  <a:gd name="T15" fmla="*/ 0 60000 65536"/>
                  <a:gd name="T16" fmla="*/ 0 60000 65536"/>
                  <a:gd name="T17" fmla="*/ 0 60000 65536"/>
                  <a:gd name="T18" fmla="*/ 0 w 67"/>
                  <a:gd name="T19" fmla="*/ 0 h 33"/>
                  <a:gd name="T20" fmla="*/ 67 w 67"/>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67" h="33">
                    <a:moveTo>
                      <a:pt x="30" y="32"/>
                    </a:moveTo>
                    <a:lnTo>
                      <a:pt x="30" y="32"/>
                    </a:lnTo>
                    <a:lnTo>
                      <a:pt x="0" y="20"/>
                    </a:lnTo>
                    <a:lnTo>
                      <a:pt x="35" y="0"/>
                    </a:lnTo>
                    <a:lnTo>
                      <a:pt x="66" y="14"/>
                    </a:lnTo>
                    <a:lnTo>
                      <a:pt x="30" y="32"/>
                    </a:lnTo>
                  </a:path>
                </a:pathLst>
              </a:custGeom>
              <a:solidFill>
                <a:srgbClr val="CF5C82"/>
              </a:solidFill>
              <a:ln w="9525" cap="rnd">
                <a:noFill/>
                <a:round/>
              </a:ln>
            </p:spPr>
            <p:txBody>
              <a:bodyPr/>
              <a:lstStyle/>
              <a:p>
                <a:endParaRPr lang="zh-CN" altLang="en-US"/>
              </a:p>
            </p:txBody>
          </p:sp>
          <p:grpSp>
            <p:nvGrpSpPr>
              <p:cNvPr id="23" name="Group 115"/>
              <p:cNvGrpSpPr/>
              <p:nvPr/>
            </p:nvGrpSpPr>
            <p:grpSpPr bwMode="auto">
              <a:xfrm>
                <a:off x="2368" y="2105"/>
                <a:ext cx="118" cy="113"/>
                <a:chOff x="2368" y="2105"/>
                <a:chExt cx="118" cy="113"/>
              </a:xfrm>
            </p:grpSpPr>
            <p:sp>
              <p:nvSpPr>
                <p:cNvPr id="11689" name="Freeform 116"/>
                <p:cNvSpPr/>
                <p:nvPr/>
              </p:nvSpPr>
              <p:spPr bwMode="auto">
                <a:xfrm>
                  <a:off x="2404" y="2118"/>
                  <a:ext cx="82" cy="100"/>
                </a:xfrm>
                <a:custGeom>
                  <a:avLst/>
                  <a:gdLst>
                    <a:gd name="T0" fmla="*/ 0 w 82"/>
                    <a:gd name="T1" fmla="*/ 99 h 100"/>
                    <a:gd name="T2" fmla="*/ 0 w 82"/>
                    <a:gd name="T3" fmla="*/ 99 h 100"/>
                    <a:gd name="T4" fmla="*/ 2 w 82"/>
                    <a:gd name="T5" fmla="*/ 49 h 100"/>
                    <a:gd name="T6" fmla="*/ 81 w 82"/>
                    <a:gd name="T7" fmla="*/ 0 h 100"/>
                    <a:gd name="T8" fmla="*/ 78 w 82"/>
                    <a:gd name="T9" fmla="*/ 49 h 100"/>
                    <a:gd name="T10" fmla="*/ 0 w 82"/>
                    <a:gd name="T11" fmla="*/ 99 h 100"/>
                    <a:gd name="T12" fmla="*/ 0 60000 65536"/>
                    <a:gd name="T13" fmla="*/ 0 60000 65536"/>
                    <a:gd name="T14" fmla="*/ 0 60000 65536"/>
                    <a:gd name="T15" fmla="*/ 0 60000 65536"/>
                    <a:gd name="T16" fmla="*/ 0 60000 65536"/>
                    <a:gd name="T17" fmla="*/ 0 60000 65536"/>
                    <a:gd name="T18" fmla="*/ 0 w 82"/>
                    <a:gd name="T19" fmla="*/ 0 h 100"/>
                    <a:gd name="T20" fmla="*/ 82 w 82"/>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82" h="100">
                      <a:moveTo>
                        <a:pt x="0" y="99"/>
                      </a:moveTo>
                      <a:lnTo>
                        <a:pt x="0" y="99"/>
                      </a:lnTo>
                      <a:lnTo>
                        <a:pt x="2" y="49"/>
                      </a:lnTo>
                      <a:lnTo>
                        <a:pt x="81" y="0"/>
                      </a:lnTo>
                      <a:lnTo>
                        <a:pt x="78" y="49"/>
                      </a:lnTo>
                      <a:lnTo>
                        <a:pt x="0" y="99"/>
                      </a:lnTo>
                    </a:path>
                  </a:pathLst>
                </a:custGeom>
                <a:solidFill>
                  <a:srgbClr val="BB1A50"/>
                </a:solidFill>
                <a:ln w="9525" cap="rnd">
                  <a:noFill/>
                  <a:round/>
                </a:ln>
              </p:spPr>
              <p:txBody>
                <a:bodyPr/>
                <a:lstStyle/>
                <a:p>
                  <a:endParaRPr lang="zh-CN" altLang="en-US"/>
                </a:p>
              </p:txBody>
            </p:sp>
            <p:sp>
              <p:nvSpPr>
                <p:cNvPr id="11690" name="Freeform 117"/>
                <p:cNvSpPr/>
                <p:nvPr/>
              </p:nvSpPr>
              <p:spPr bwMode="auto">
                <a:xfrm>
                  <a:off x="2368" y="2157"/>
                  <a:ext cx="36" cy="61"/>
                </a:xfrm>
                <a:custGeom>
                  <a:avLst/>
                  <a:gdLst>
                    <a:gd name="T0" fmla="*/ 32 w 36"/>
                    <a:gd name="T1" fmla="*/ 60 h 61"/>
                    <a:gd name="T2" fmla="*/ 32 w 36"/>
                    <a:gd name="T3" fmla="*/ 60 h 61"/>
                    <a:gd name="T4" fmla="*/ 0 w 36"/>
                    <a:gd name="T5" fmla="*/ 48 h 61"/>
                    <a:gd name="T6" fmla="*/ 0 w 36"/>
                    <a:gd name="T7" fmla="*/ 0 h 61"/>
                    <a:gd name="T8" fmla="*/ 35 w 36"/>
                    <a:gd name="T9" fmla="*/ 11 h 61"/>
                    <a:gd name="T10" fmla="*/ 32 w 36"/>
                    <a:gd name="T11" fmla="*/ 60 h 61"/>
                    <a:gd name="T12" fmla="*/ 0 60000 65536"/>
                    <a:gd name="T13" fmla="*/ 0 60000 65536"/>
                    <a:gd name="T14" fmla="*/ 0 60000 65536"/>
                    <a:gd name="T15" fmla="*/ 0 60000 65536"/>
                    <a:gd name="T16" fmla="*/ 0 60000 65536"/>
                    <a:gd name="T17" fmla="*/ 0 60000 65536"/>
                    <a:gd name="T18" fmla="*/ 0 w 36"/>
                    <a:gd name="T19" fmla="*/ 0 h 61"/>
                    <a:gd name="T20" fmla="*/ 36 w 36"/>
                    <a:gd name="T21" fmla="*/ 61 h 61"/>
                  </a:gdLst>
                  <a:ahLst/>
                  <a:cxnLst>
                    <a:cxn ang="T12">
                      <a:pos x="T0" y="T1"/>
                    </a:cxn>
                    <a:cxn ang="T13">
                      <a:pos x="T2" y="T3"/>
                    </a:cxn>
                    <a:cxn ang="T14">
                      <a:pos x="T4" y="T5"/>
                    </a:cxn>
                    <a:cxn ang="T15">
                      <a:pos x="T6" y="T7"/>
                    </a:cxn>
                    <a:cxn ang="T16">
                      <a:pos x="T8" y="T9"/>
                    </a:cxn>
                    <a:cxn ang="T17">
                      <a:pos x="T10" y="T11"/>
                    </a:cxn>
                  </a:cxnLst>
                  <a:rect l="T18" t="T19" r="T20" b="T21"/>
                  <a:pathLst>
                    <a:path w="36" h="61">
                      <a:moveTo>
                        <a:pt x="32" y="60"/>
                      </a:moveTo>
                      <a:lnTo>
                        <a:pt x="32" y="60"/>
                      </a:lnTo>
                      <a:lnTo>
                        <a:pt x="0" y="48"/>
                      </a:lnTo>
                      <a:lnTo>
                        <a:pt x="0" y="0"/>
                      </a:lnTo>
                      <a:lnTo>
                        <a:pt x="35" y="11"/>
                      </a:lnTo>
                      <a:lnTo>
                        <a:pt x="32" y="60"/>
                      </a:lnTo>
                    </a:path>
                  </a:pathLst>
                </a:custGeom>
                <a:solidFill>
                  <a:srgbClr val="9E0005"/>
                </a:solidFill>
                <a:ln w="9525" cap="rnd">
                  <a:noFill/>
                  <a:round/>
                </a:ln>
              </p:spPr>
              <p:txBody>
                <a:bodyPr/>
                <a:lstStyle/>
                <a:p>
                  <a:endParaRPr lang="zh-CN" altLang="en-US"/>
                </a:p>
              </p:txBody>
            </p:sp>
            <p:sp>
              <p:nvSpPr>
                <p:cNvPr id="11691" name="Freeform 118"/>
                <p:cNvSpPr/>
                <p:nvPr/>
              </p:nvSpPr>
              <p:spPr bwMode="auto">
                <a:xfrm>
                  <a:off x="2369" y="2105"/>
                  <a:ext cx="117" cy="63"/>
                </a:xfrm>
                <a:custGeom>
                  <a:avLst/>
                  <a:gdLst>
                    <a:gd name="T0" fmla="*/ 36 w 117"/>
                    <a:gd name="T1" fmla="*/ 62 h 63"/>
                    <a:gd name="T2" fmla="*/ 36 w 117"/>
                    <a:gd name="T3" fmla="*/ 62 h 63"/>
                    <a:gd name="T4" fmla="*/ 0 w 117"/>
                    <a:gd name="T5" fmla="*/ 49 h 63"/>
                    <a:gd name="T6" fmla="*/ 83 w 117"/>
                    <a:gd name="T7" fmla="*/ 0 h 63"/>
                    <a:gd name="T8" fmla="*/ 116 w 117"/>
                    <a:gd name="T9" fmla="*/ 12 h 63"/>
                    <a:gd name="T10" fmla="*/ 36 w 117"/>
                    <a:gd name="T11" fmla="*/ 62 h 63"/>
                    <a:gd name="T12" fmla="*/ 0 60000 65536"/>
                    <a:gd name="T13" fmla="*/ 0 60000 65536"/>
                    <a:gd name="T14" fmla="*/ 0 60000 65536"/>
                    <a:gd name="T15" fmla="*/ 0 60000 65536"/>
                    <a:gd name="T16" fmla="*/ 0 60000 65536"/>
                    <a:gd name="T17" fmla="*/ 0 60000 65536"/>
                    <a:gd name="T18" fmla="*/ 0 w 117"/>
                    <a:gd name="T19" fmla="*/ 0 h 63"/>
                    <a:gd name="T20" fmla="*/ 117 w 117"/>
                    <a:gd name="T21" fmla="*/ 63 h 63"/>
                  </a:gdLst>
                  <a:ahLst/>
                  <a:cxnLst>
                    <a:cxn ang="T12">
                      <a:pos x="T0" y="T1"/>
                    </a:cxn>
                    <a:cxn ang="T13">
                      <a:pos x="T2" y="T3"/>
                    </a:cxn>
                    <a:cxn ang="T14">
                      <a:pos x="T4" y="T5"/>
                    </a:cxn>
                    <a:cxn ang="T15">
                      <a:pos x="T6" y="T7"/>
                    </a:cxn>
                    <a:cxn ang="T16">
                      <a:pos x="T8" y="T9"/>
                    </a:cxn>
                    <a:cxn ang="T17">
                      <a:pos x="T10" y="T11"/>
                    </a:cxn>
                  </a:cxnLst>
                  <a:rect l="T18" t="T19" r="T20" b="T21"/>
                  <a:pathLst>
                    <a:path w="117" h="63">
                      <a:moveTo>
                        <a:pt x="36" y="62"/>
                      </a:moveTo>
                      <a:lnTo>
                        <a:pt x="36" y="62"/>
                      </a:lnTo>
                      <a:lnTo>
                        <a:pt x="0" y="49"/>
                      </a:lnTo>
                      <a:lnTo>
                        <a:pt x="83" y="0"/>
                      </a:lnTo>
                      <a:lnTo>
                        <a:pt x="116" y="12"/>
                      </a:lnTo>
                      <a:lnTo>
                        <a:pt x="36" y="62"/>
                      </a:lnTo>
                    </a:path>
                  </a:pathLst>
                </a:custGeom>
                <a:solidFill>
                  <a:srgbClr val="CF5C82"/>
                </a:solidFill>
                <a:ln w="9525" cap="rnd">
                  <a:noFill/>
                  <a:round/>
                </a:ln>
              </p:spPr>
              <p:txBody>
                <a:bodyPr/>
                <a:lstStyle/>
                <a:p>
                  <a:endParaRPr lang="zh-CN" altLang="en-US"/>
                </a:p>
              </p:txBody>
            </p:sp>
          </p:grpSp>
          <p:grpSp>
            <p:nvGrpSpPr>
              <p:cNvPr id="24" name="Group 119"/>
              <p:cNvGrpSpPr/>
              <p:nvPr/>
            </p:nvGrpSpPr>
            <p:grpSpPr bwMode="auto">
              <a:xfrm>
                <a:off x="2272" y="2162"/>
                <a:ext cx="126" cy="117"/>
                <a:chOff x="2272" y="2162"/>
                <a:chExt cx="126" cy="117"/>
              </a:xfrm>
            </p:grpSpPr>
            <p:sp>
              <p:nvSpPr>
                <p:cNvPr id="11686" name="Freeform 120"/>
                <p:cNvSpPr/>
                <p:nvPr/>
              </p:nvSpPr>
              <p:spPr bwMode="auto">
                <a:xfrm>
                  <a:off x="2310" y="2176"/>
                  <a:ext cx="88" cy="103"/>
                </a:xfrm>
                <a:custGeom>
                  <a:avLst/>
                  <a:gdLst>
                    <a:gd name="T0" fmla="*/ 0 w 88"/>
                    <a:gd name="T1" fmla="*/ 102 h 103"/>
                    <a:gd name="T2" fmla="*/ 0 w 88"/>
                    <a:gd name="T3" fmla="*/ 102 h 103"/>
                    <a:gd name="T4" fmla="*/ 2 w 88"/>
                    <a:gd name="T5" fmla="*/ 52 h 103"/>
                    <a:gd name="T6" fmla="*/ 87 w 88"/>
                    <a:gd name="T7" fmla="*/ 0 h 103"/>
                    <a:gd name="T8" fmla="*/ 84 w 88"/>
                    <a:gd name="T9" fmla="*/ 49 h 103"/>
                    <a:gd name="T10" fmla="*/ 0 w 88"/>
                    <a:gd name="T11" fmla="*/ 102 h 103"/>
                    <a:gd name="T12" fmla="*/ 0 60000 65536"/>
                    <a:gd name="T13" fmla="*/ 0 60000 65536"/>
                    <a:gd name="T14" fmla="*/ 0 60000 65536"/>
                    <a:gd name="T15" fmla="*/ 0 60000 65536"/>
                    <a:gd name="T16" fmla="*/ 0 60000 65536"/>
                    <a:gd name="T17" fmla="*/ 0 60000 65536"/>
                    <a:gd name="T18" fmla="*/ 0 w 88"/>
                    <a:gd name="T19" fmla="*/ 0 h 103"/>
                    <a:gd name="T20" fmla="*/ 88 w 88"/>
                    <a:gd name="T21" fmla="*/ 103 h 103"/>
                  </a:gdLst>
                  <a:ahLst/>
                  <a:cxnLst>
                    <a:cxn ang="T12">
                      <a:pos x="T0" y="T1"/>
                    </a:cxn>
                    <a:cxn ang="T13">
                      <a:pos x="T2" y="T3"/>
                    </a:cxn>
                    <a:cxn ang="T14">
                      <a:pos x="T4" y="T5"/>
                    </a:cxn>
                    <a:cxn ang="T15">
                      <a:pos x="T6" y="T7"/>
                    </a:cxn>
                    <a:cxn ang="T16">
                      <a:pos x="T8" y="T9"/>
                    </a:cxn>
                    <a:cxn ang="T17">
                      <a:pos x="T10" y="T11"/>
                    </a:cxn>
                  </a:cxnLst>
                  <a:rect l="T18" t="T19" r="T20" b="T21"/>
                  <a:pathLst>
                    <a:path w="88" h="103">
                      <a:moveTo>
                        <a:pt x="0" y="102"/>
                      </a:moveTo>
                      <a:lnTo>
                        <a:pt x="0" y="102"/>
                      </a:lnTo>
                      <a:lnTo>
                        <a:pt x="2" y="52"/>
                      </a:lnTo>
                      <a:lnTo>
                        <a:pt x="87" y="0"/>
                      </a:lnTo>
                      <a:lnTo>
                        <a:pt x="84" y="49"/>
                      </a:lnTo>
                      <a:lnTo>
                        <a:pt x="0" y="102"/>
                      </a:lnTo>
                    </a:path>
                  </a:pathLst>
                </a:custGeom>
                <a:solidFill>
                  <a:srgbClr val="BB1A50"/>
                </a:solidFill>
                <a:ln w="9525" cap="rnd">
                  <a:noFill/>
                  <a:round/>
                </a:ln>
              </p:spPr>
              <p:txBody>
                <a:bodyPr/>
                <a:lstStyle/>
                <a:p>
                  <a:endParaRPr lang="zh-CN" altLang="en-US"/>
                </a:p>
              </p:txBody>
            </p:sp>
            <p:sp>
              <p:nvSpPr>
                <p:cNvPr id="11687" name="Freeform 121"/>
                <p:cNvSpPr/>
                <p:nvPr/>
              </p:nvSpPr>
              <p:spPr bwMode="auto">
                <a:xfrm>
                  <a:off x="2272" y="2221"/>
                  <a:ext cx="39" cy="58"/>
                </a:xfrm>
                <a:custGeom>
                  <a:avLst/>
                  <a:gdLst>
                    <a:gd name="T0" fmla="*/ 35 w 39"/>
                    <a:gd name="T1" fmla="*/ 57 h 58"/>
                    <a:gd name="T2" fmla="*/ 35 w 39"/>
                    <a:gd name="T3" fmla="*/ 57 h 58"/>
                    <a:gd name="T4" fmla="*/ 0 w 39"/>
                    <a:gd name="T5" fmla="*/ 48 h 58"/>
                    <a:gd name="T6" fmla="*/ 0 w 39"/>
                    <a:gd name="T7" fmla="*/ 0 h 58"/>
                    <a:gd name="T8" fmla="*/ 38 w 39"/>
                    <a:gd name="T9" fmla="*/ 8 h 58"/>
                    <a:gd name="T10" fmla="*/ 35 w 39"/>
                    <a:gd name="T11" fmla="*/ 57 h 58"/>
                    <a:gd name="T12" fmla="*/ 0 60000 65536"/>
                    <a:gd name="T13" fmla="*/ 0 60000 65536"/>
                    <a:gd name="T14" fmla="*/ 0 60000 65536"/>
                    <a:gd name="T15" fmla="*/ 0 60000 65536"/>
                    <a:gd name="T16" fmla="*/ 0 60000 65536"/>
                    <a:gd name="T17" fmla="*/ 0 60000 65536"/>
                    <a:gd name="T18" fmla="*/ 0 w 39"/>
                    <a:gd name="T19" fmla="*/ 0 h 58"/>
                    <a:gd name="T20" fmla="*/ 39 w 39"/>
                    <a:gd name="T21" fmla="*/ 58 h 58"/>
                  </a:gdLst>
                  <a:ahLst/>
                  <a:cxnLst>
                    <a:cxn ang="T12">
                      <a:pos x="T0" y="T1"/>
                    </a:cxn>
                    <a:cxn ang="T13">
                      <a:pos x="T2" y="T3"/>
                    </a:cxn>
                    <a:cxn ang="T14">
                      <a:pos x="T4" y="T5"/>
                    </a:cxn>
                    <a:cxn ang="T15">
                      <a:pos x="T6" y="T7"/>
                    </a:cxn>
                    <a:cxn ang="T16">
                      <a:pos x="T8" y="T9"/>
                    </a:cxn>
                    <a:cxn ang="T17">
                      <a:pos x="T10" y="T11"/>
                    </a:cxn>
                  </a:cxnLst>
                  <a:rect l="T18" t="T19" r="T20" b="T21"/>
                  <a:pathLst>
                    <a:path w="39" h="58">
                      <a:moveTo>
                        <a:pt x="35" y="57"/>
                      </a:moveTo>
                      <a:lnTo>
                        <a:pt x="35" y="57"/>
                      </a:lnTo>
                      <a:lnTo>
                        <a:pt x="0" y="48"/>
                      </a:lnTo>
                      <a:lnTo>
                        <a:pt x="0" y="0"/>
                      </a:lnTo>
                      <a:lnTo>
                        <a:pt x="38" y="8"/>
                      </a:lnTo>
                      <a:lnTo>
                        <a:pt x="35" y="57"/>
                      </a:lnTo>
                    </a:path>
                  </a:pathLst>
                </a:custGeom>
                <a:solidFill>
                  <a:srgbClr val="9E0005"/>
                </a:solidFill>
                <a:ln w="9525" cap="rnd">
                  <a:noFill/>
                  <a:round/>
                </a:ln>
              </p:spPr>
              <p:txBody>
                <a:bodyPr/>
                <a:lstStyle/>
                <a:p>
                  <a:endParaRPr lang="zh-CN" altLang="en-US"/>
                </a:p>
              </p:txBody>
            </p:sp>
            <p:sp>
              <p:nvSpPr>
                <p:cNvPr id="11688" name="Freeform 122"/>
                <p:cNvSpPr/>
                <p:nvPr/>
              </p:nvSpPr>
              <p:spPr bwMode="auto">
                <a:xfrm>
                  <a:off x="2272" y="2162"/>
                  <a:ext cx="126" cy="67"/>
                </a:xfrm>
                <a:custGeom>
                  <a:avLst/>
                  <a:gdLst>
                    <a:gd name="T0" fmla="*/ 39 w 126"/>
                    <a:gd name="T1" fmla="*/ 66 h 67"/>
                    <a:gd name="T2" fmla="*/ 39 w 126"/>
                    <a:gd name="T3" fmla="*/ 66 h 67"/>
                    <a:gd name="T4" fmla="*/ 0 w 126"/>
                    <a:gd name="T5" fmla="*/ 56 h 67"/>
                    <a:gd name="T6" fmla="*/ 91 w 126"/>
                    <a:gd name="T7" fmla="*/ 0 h 67"/>
                    <a:gd name="T8" fmla="*/ 125 w 126"/>
                    <a:gd name="T9" fmla="*/ 12 h 67"/>
                    <a:gd name="T10" fmla="*/ 39 w 126"/>
                    <a:gd name="T11" fmla="*/ 66 h 67"/>
                    <a:gd name="T12" fmla="*/ 0 60000 65536"/>
                    <a:gd name="T13" fmla="*/ 0 60000 65536"/>
                    <a:gd name="T14" fmla="*/ 0 60000 65536"/>
                    <a:gd name="T15" fmla="*/ 0 60000 65536"/>
                    <a:gd name="T16" fmla="*/ 0 60000 65536"/>
                    <a:gd name="T17" fmla="*/ 0 60000 65536"/>
                    <a:gd name="T18" fmla="*/ 0 w 126"/>
                    <a:gd name="T19" fmla="*/ 0 h 67"/>
                    <a:gd name="T20" fmla="*/ 126 w 126"/>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126" h="67">
                      <a:moveTo>
                        <a:pt x="39" y="66"/>
                      </a:moveTo>
                      <a:lnTo>
                        <a:pt x="39" y="66"/>
                      </a:lnTo>
                      <a:lnTo>
                        <a:pt x="0" y="56"/>
                      </a:lnTo>
                      <a:lnTo>
                        <a:pt x="91" y="0"/>
                      </a:lnTo>
                      <a:lnTo>
                        <a:pt x="125" y="12"/>
                      </a:lnTo>
                      <a:lnTo>
                        <a:pt x="39" y="66"/>
                      </a:lnTo>
                    </a:path>
                  </a:pathLst>
                </a:custGeom>
                <a:solidFill>
                  <a:srgbClr val="CF5C82"/>
                </a:solidFill>
                <a:ln w="9525" cap="rnd">
                  <a:noFill/>
                  <a:round/>
                </a:ln>
              </p:spPr>
              <p:txBody>
                <a:bodyPr/>
                <a:lstStyle/>
                <a:p>
                  <a:endParaRPr lang="zh-CN" altLang="en-US"/>
                </a:p>
              </p:txBody>
            </p:sp>
          </p:grpSp>
          <p:grpSp>
            <p:nvGrpSpPr>
              <p:cNvPr id="25" name="Group 123"/>
              <p:cNvGrpSpPr/>
              <p:nvPr/>
            </p:nvGrpSpPr>
            <p:grpSpPr bwMode="auto">
              <a:xfrm>
                <a:off x="2166" y="2228"/>
                <a:ext cx="139" cy="118"/>
                <a:chOff x="2166" y="2228"/>
                <a:chExt cx="139" cy="118"/>
              </a:xfrm>
            </p:grpSpPr>
            <p:sp>
              <p:nvSpPr>
                <p:cNvPr id="11683" name="Freeform 124"/>
                <p:cNvSpPr/>
                <p:nvPr/>
              </p:nvSpPr>
              <p:spPr bwMode="auto">
                <a:xfrm>
                  <a:off x="2209" y="2237"/>
                  <a:ext cx="96" cy="109"/>
                </a:xfrm>
                <a:custGeom>
                  <a:avLst/>
                  <a:gdLst>
                    <a:gd name="T0" fmla="*/ 0 w 96"/>
                    <a:gd name="T1" fmla="*/ 108 h 109"/>
                    <a:gd name="T2" fmla="*/ 0 w 96"/>
                    <a:gd name="T3" fmla="*/ 108 h 109"/>
                    <a:gd name="T4" fmla="*/ 0 w 96"/>
                    <a:gd name="T5" fmla="*/ 58 h 109"/>
                    <a:gd name="T6" fmla="*/ 95 w 96"/>
                    <a:gd name="T7" fmla="*/ 0 h 109"/>
                    <a:gd name="T8" fmla="*/ 92 w 96"/>
                    <a:gd name="T9" fmla="*/ 49 h 109"/>
                    <a:gd name="T10" fmla="*/ 0 w 96"/>
                    <a:gd name="T11" fmla="*/ 108 h 109"/>
                    <a:gd name="T12" fmla="*/ 0 60000 65536"/>
                    <a:gd name="T13" fmla="*/ 0 60000 65536"/>
                    <a:gd name="T14" fmla="*/ 0 60000 65536"/>
                    <a:gd name="T15" fmla="*/ 0 60000 65536"/>
                    <a:gd name="T16" fmla="*/ 0 60000 65536"/>
                    <a:gd name="T17" fmla="*/ 0 60000 65536"/>
                    <a:gd name="T18" fmla="*/ 0 w 96"/>
                    <a:gd name="T19" fmla="*/ 0 h 109"/>
                    <a:gd name="T20" fmla="*/ 96 w 96"/>
                    <a:gd name="T21" fmla="*/ 109 h 109"/>
                  </a:gdLst>
                  <a:ahLst/>
                  <a:cxnLst>
                    <a:cxn ang="T12">
                      <a:pos x="T0" y="T1"/>
                    </a:cxn>
                    <a:cxn ang="T13">
                      <a:pos x="T2" y="T3"/>
                    </a:cxn>
                    <a:cxn ang="T14">
                      <a:pos x="T4" y="T5"/>
                    </a:cxn>
                    <a:cxn ang="T15">
                      <a:pos x="T6" y="T7"/>
                    </a:cxn>
                    <a:cxn ang="T16">
                      <a:pos x="T8" y="T9"/>
                    </a:cxn>
                    <a:cxn ang="T17">
                      <a:pos x="T10" y="T11"/>
                    </a:cxn>
                  </a:cxnLst>
                  <a:rect l="T18" t="T19" r="T20" b="T21"/>
                  <a:pathLst>
                    <a:path w="96" h="109">
                      <a:moveTo>
                        <a:pt x="0" y="108"/>
                      </a:moveTo>
                      <a:lnTo>
                        <a:pt x="0" y="108"/>
                      </a:lnTo>
                      <a:lnTo>
                        <a:pt x="0" y="58"/>
                      </a:lnTo>
                      <a:lnTo>
                        <a:pt x="95" y="0"/>
                      </a:lnTo>
                      <a:lnTo>
                        <a:pt x="92" y="49"/>
                      </a:lnTo>
                      <a:lnTo>
                        <a:pt x="0" y="108"/>
                      </a:lnTo>
                    </a:path>
                  </a:pathLst>
                </a:custGeom>
                <a:solidFill>
                  <a:srgbClr val="BB1A50"/>
                </a:solidFill>
                <a:ln w="9525" cap="rnd">
                  <a:noFill/>
                  <a:round/>
                </a:ln>
              </p:spPr>
              <p:txBody>
                <a:bodyPr/>
                <a:lstStyle/>
                <a:p>
                  <a:endParaRPr lang="zh-CN" altLang="en-US"/>
                </a:p>
              </p:txBody>
            </p:sp>
            <p:sp>
              <p:nvSpPr>
                <p:cNvPr id="11684" name="Freeform 125"/>
                <p:cNvSpPr/>
                <p:nvPr/>
              </p:nvSpPr>
              <p:spPr bwMode="auto">
                <a:xfrm>
                  <a:off x="2167" y="2285"/>
                  <a:ext cx="41" cy="61"/>
                </a:xfrm>
                <a:custGeom>
                  <a:avLst/>
                  <a:gdLst>
                    <a:gd name="T0" fmla="*/ 40 w 41"/>
                    <a:gd name="T1" fmla="*/ 60 h 61"/>
                    <a:gd name="T2" fmla="*/ 40 w 41"/>
                    <a:gd name="T3" fmla="*/ 60 h 61"/>
                    <a:gd name="T4" fmla="*/ 0 w 41"/>
                    <a:gd name="T5" fmla="*/ 51 h 61"/>
                    <a:gd name="T6" fmla="*/ 0 w 41"/>
                    <a:gd name="T7" fmla="*/ 0 h 61"/>
                    <a:gd name="T8" fmla="*/ 40 w 41"/>
                    <a:gd name="T9" fmla="*/ 11 h 61"/>
                    <a:gd name="T10" fmla="*/ 40 w 41"/>
                    <a:gd name="T11" fmla="*/ 60 h 61"/>
                    <a:gd name="T12" fmla="*/ 0 60000 65536"/>
                    <a:gd name="T13" fmla="*/ 0 60000 65536"/>
                    <a:gd name="T14" fmla="*/ 0 60000 65536"/>
                    <a:gd name="T15" fmla="*/ 0 60000 65536"/>
                    <a:gd name="T16" fmla="*/ 0 60000 65536"/>
                    <a:gd name="T17" fmla="*/ 0 60000 65536"/>
                    <a:gd name="T18" fmla="*/ 0 w 41"/>
                    <a:gd name="T19" fmla="*/ 0 h 61"/>
                    <a:gd name="T20" fmla="*/ 41 w 41"/>
                    <a:gd name="T21" fmla="*/ 61 h 61"/>
                  </a:gdLst>
                  <a:ahLst/>
                  <a:cxnLst>
                    <a:cxn ang="T12">
                      <a:pos x="T0" y="T1"/>
                    </a:cxn>
                    <a:cxn ang="T13">
                      <a:pos x="T2" y="T3"/>
                    </a:cxn>
                    <a:cxn ang="T14">
                      <a:pos x="T4" y="T5"/>
                    </a:cxn>
                    <a:cxn ang="T15">
                      <a:pos x="T6" y="T7"/>
                    </a:cxn>
                    <a:cxn ang="T16">
                      <a:pos x="T8" y="T9"/>
                    </a:cxn>
                    <a:cxn ang="T17">
                      <a:pos x="T10" y="T11"/>
                    </a:cxn>
                  </a:cxnLst>
                  <a:rect l="T18" t="T19" r="T20" b="T21"/>
                  <a:pathLst>
                    <a:path w="41" h="61">
                      <a:moveTo>
                        <a:pt x="40" y="60"/>
                      </a:moveTo>
                      <a:lnTo>
                        <a:pt x="40" y="60"/>
                      </a:lnTo>
                      <a:lnTo>
                        <a:pt x="0" y="51"/>
                      </a:lnTo>
                      <a:lnTo>
                        <a:pt x="0" y="0"/>
                      </a:lnTo>
                      <a:lnTo>
                        <a:pt x="40" y="11"/>
                      </a:lnTo>
                      <a:lnTo>
                        <a:pt x="40" y="60"/>
                      </a:lnTo>
                    </a:path>
                  </a:pathLst>
                </a:custGeom>
                <a:solidFill>
                  <a:srgbClr val="9E0005"/>
                </a:solidFill>
                <a:ln w="9525" cap="rnd">
                  <a:noFill/>
                  <a:round/>
                </a:ln>
              </p:spPr>
              <p:txBody>
                <a:bodyPr/>
                <a:lstStyle/>
                <a:p>
                  <a:endParaRPr lang="zh-CN" altLang="en-US"/>
                </a:p>
              </p:txBody>
            </p:sp>
            <p:sp>
              <p:nvSpPr>
                <p:cNvPr id="11685" name="Freeform 126"/>
                <p:cNvSpPr/>
                <p:nvPr/>
              </p:nvSpPr>
              <p:spPr bwMode="auto">
                <a:xfrm>
                  <a:off x="2166" y="2228"/>
                  <a:ext cx="138" cy="67"/>
                </a:xfrm>
                <a:custGeom>
                  <a:avLst/>
                  <a:gdLst>
                    <a:gd name="T0" fmla="*/ 41 w 138"/>
                    <a:gd name="T1" fmla="*/ 66 h 67"/>
                    <a:gd name="T2" fmla="*/ 41 w 138"/>
                    <a:gd name="T3" fmla="*/ 66 h 67"/>
                    <a:gd name="T4" fmla="*/ 0 w 138"/>
                    <a:gd name="T5" fmla="*/ 54 h 67"/>
                    <a:gd name="T6" fmla="*/ 97 w 138"/>
                    <a:gd name="T7" fmla="*/ 0 h 67"/>
                    <a:gd name="T8" fmla="*/ 137 w 138"/>
                    <a:gd name="T9" fmla="*/ 9 h 67"/>
                    <a:gd name="T10" fmla="*/ 41 w 138"/>
                    <a:gd name="T11" fmla="*/ 66 h 67"/>
                    <a:gd name="T12" fmla="*/ 0 60000 65536"/>
                    <a:gd name="T13" fmla="*/ 0 60000 65536"/>
                    <a:gd name="T14" fmla="*/ 0 60000 65536"/>
                    <a:gd name="T15" fmla="*/ 0 60000 65536"/>
                    <a:gd name="T16" fmla="*/ 0 60000 65536"/>
                    <a:gd name="T17" fmla="*/ 0 60000 65536"/>
                    <a:gd name="T18" fmla="*/ 0 w 138"/>
                    <a:gd name="T19" fmla="*/ 0 h 67"/>
                    <a:gd name="T20" fmla="*/ 138 w 138"/>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138" h="67">
                      <a:moveTo>
                        <a:pt x="41" y="66"/>
                      </a:moveTo>
                      <a:lnTo>
                        <a:pt x="41" y="66"/>
                      </a:lnTo>
                      <a:lnTo>
                        <a:pt x="0" y="54"/>
                      </a:lnTo>
                      <a:lnTo>
                        <a:pt x="97" y="0"/>
                      </a:lnTo>
                      <a:lnTo>
                        <a:pt x="137" y="9"/>
                      </a:lnTo>
                      <a:lnTo>
                        <a:pt x="41" y="66"/>
                      </a:lnTo>
                    </a:path>
                  </a:pathLst>
                </a:custGeom>
                <a:solidFill>
                  <a:srgbClr val="CF5C82"/>
                </a:solidFill>
                <a:ln w="9525" cap="rnd">
                  <a:noFill/>
                  <a:round/>
                </a:ln>
              </p:spPr>
              <p:txBody>
                <a:bodyPr/>
                <a:lstStyle/>
                <a:p>
                  <a:endParaRPr lang="zh-CN" altLang="en-US"/>
                </a:p>
              </p:txBody>
            </p:sp>
          </p:grpSp>
          <p:grpSp>
            <p:nvGrpSpPr>
              <p:cNvPr id="26" name="Group 127"/>
              <p:cNvGrpSpPr/>
              <p:nvPr/>
            </p:nvGrpSpPr>
            <p:grpSpPr bwMode="auto">
              <a:xfrm>
                <a:off x="2053" y="2291"/>
                <a:ext cx="150" cy="125"/>
                <a:chOff x="2053" y="2291"/>
                <a:chExt cx="150" cy="125"/>
              </a:xfrm>
            </p:grpSpPr>
            <p:sp>
              <p:nvSpPr>
                <p:cNvPr id="11680" name="Freeform 128"/>
                <p:cNvSpPr/>
                <p:nvPr/>
              </p:nvSpPr>
              <p:spPr bwMode="auto">
                <a:xfrm>
                  <a:off x="2098" y="2301"/>
                  <a:ext cx="104" cy="115"/>
                </a:xfrm>
                <a:custGeom>
                  <a:avLst/>
                  <a:gdLst>
                    <a:gd name="T0" fmla="*/ 0 w 104"/>
                    <a:gd name="T1" fmla="*/ 114 h 115"/>
                    <a:gd name="T2" fmla="*/ 0 w 104"/>
                    <a:gd name="T3" fmla="*/ 114 h 115"/>
                    <a:gd name="T4" fmla="*/ 0 w 104"/>
                    <a:gd name="T5" fmla="*/ 61 h 115"/>
                    <a:gd name="T6" fmla="*/ 103 w 104"/>
                    <a:gd name="T7" fmla="*/ 0 h 115"/>
                    <a:gd name="T8" fmla="*/ 103 w 104"/>
                    <a:gd name="T9" fmla="*/ 52 h 115"/>
                    <a:gd name="T10" fmla="*/ 0 w 104"/>
                    <a:gd name="T11" fmla="*/ 114 h 115"/>
                    <a:gd name="T12" fmla="*/ 0 60000 65536"/>
                    <a:gd name="T13" fmla="*/ 0 60000 65536"/>
                    <a:gd name="T14" fmla="*/ 0 60000 65536"/>
                    <a:gd name="T15" fmla="*/ 0 60000 65536"/>
                    <a:gd name="T16" fmla="*/ 0 60000 65536"/>
                    <a:gd name="T17" fmla="*/ 0 60000 65536"/>
                    <a:gd name="T18" fmla="*/ 0 w 104"/>
                    <a:gd name="T19" fmla="*/ 0 h 115"/>
                    <a:gd name="T20" fmla="*/ 104 w 104"/>
                    <a:gd name="T21" fmla="*/ 115 h 115"/>
                  </a:gdLst>
                  <a:ahLst/>
                  <a:cxnLst>
                    <a:cxn ang="T12">
                      <a:pos x="T0" y="T1"/>
                    </a:cxn>
                    <a:cxn ang="T13">
                      <a:pos x="T2" y="T3"/>
                    </a:cxn>
                    <a:cxn ang="T14">
                      <a:pos x="T4" y="T5"/>
                    </a:cxn>
                    <a:cxn ang="T15">
                      <a:pos x="T6" y="T7"/>
                    </a:cxn>
                    <a:cxn ang="T16">
                      <a:pos x="T8" y="T9"/>
                    </a:cxn>
                    <a:cxn ang="T17">
                      <a:pos x="T10" y="T11"/>
                    </a:cxn>
                  </a:cxnLst>
                  <a:rect l="T18" t="T19" r="T20" b="T21"/>
                  <a:pathLst>
                    <a:path w="104" h="115">
                      <a:moveTo>
                        <a:pt x="0" y="114"/>
                      </a:moveTo>
                      <a:lnTo>
                        <a:pt x="0" y="114"/>
                      </a:lnTo>
                      <a:lnTo>
                        <a:pt x="0" y="61"/>
                      </a:lnTo>
                      <a:lnTo>
                        <a:pt x="103" y="0"/>
                      </a:lnTo>
                      <a:lnTo>
                        <a:pt x="103" y="52"/>
                      </a:lnTo>
                      <a:lnTo>
                        <a:pt x="0" y="114"/>
                      </a:lnTo>
                    </a:path>
                  </a:pathLst>
                </a:custGeom>
                <a:solidFill>
                  <a:srgbClr val="BB1A50"/>
                </a:solidFill>
                <a:ln w="9525" cap="rnd">
                  <a:noFill/>
                  <a:round/>
                </a:ln>
              </p:spPr>
              <p:txBody>
                <a:bodyPr/>
                <a:lstStyle/>
                <a:p>
                  <a:endParaRPr lang="zh-CN" altLang="en-US"/>
                </a:p>
              </p:txBody>
            </p:sp>
            <p:sp>
              <p:nvSpPr>
                <p:cNvPr id="11681" name="Freeform 129"/>
                <p:cNvSpPr/>
                <p:nvPr/>
              </p:nvSpPr>
              <p:spPr bwMode="auto">
                <a:xfrm>
                  <a:off x="2053" y="2355"/>
                  <a:ext cx="45" cy="61"/>
                </a:xfrm>
                <a:custGeom>
                  <a:avLst/>
                  <a:gdLst>
                    <a:gd name="T0" fmla="*/ 44 w 45"/>
                    <a:gd name="T1" fmla="*/ 60 h 61"/>
                    <a:gd name="T2" fmla="*/ 44 w 45"/>
                    <a:gd name="T3" fmla="*/ 60 h 61"/>
                    <a:gd name="T4" fmla="*/ 0 w 45"/>
                    <a:gd name="T5" fmla="*/ 53 h 61"/>
                    <a:gd name="T6" fmla="*/ 0 w 45"/>
                    <a:gd name="T7" fmla="*/ 0 h 61"/>
                    <a:gd name="T8" fmla="*/ 44 w 45"/>
                    <a:gd name="T9" fmla="*/ 8 h 61"/>
                    <a:gd name="T10" fmla="*/ 44 w 45"/>
                    <a:gd name="T11" fmla="*/ 60 h 61"/>
                    <a:gd name="T12" fmla="*/ 0 60000 65536"/>
                    <a:gd name="T13" fmla="*/ 0 60000 65536"/>
                    <a:gd name="T14" fmla="*/ 0 60000 65536"/>
                    <a:gd name="T15" fmla="*/ 0 60000 65536"/>
                    <a:gd name="T16" fmla="*/ 0 60000 65536"/>
                    <a:gd name="T17" fmla="*/ 0 60000 65536"/>
                    <a:gd name="T18" fmla="*/ 0 w 45"/>
                    <a:gd name="T19" fmla="*/ 0 h 61"/>
                    <a:gd name="T20" fmla="*/ 45 w 45"/>
                    <a:gd name="T21" fmla="*/ 61 h 61"/>
                  </a:gdLst>
                  <a:ahLst/>
                  <a:cxnLst>
                    <a:cxn ang="T12">
                      <a:pos x="T0" y="T1"/>
                    </a:cxn>
                    <a:cxn ang="T13">
                      <a:pos x="T2" y="T3"/>
                    </a:cxn>
                    <a:cxn ang="T14">
                      <a:pos x="T4" y="T5"/>
                    </a:cxn>
                    <a:cxn ang="T15">
                      <a:pos x="T6" y="T7"/>
                    </a:cxn>
                    <a:cxn ang="T16">
                      <a:pos x="T8" y="T9"/>
                    </a:cxn>
                    <a:cxn ang="T17">
                      <a:pos x="T10" y="T11"/>
                    </a:cxn>
                  </a:cxnLst>
                  <a:rect l="T18" t="T19" r="T20" b="T21"/>
                  <a:pathLst>
                    <a:path w="45" h="61">
                      <a:moveTo>
                        <a:pt x="44" y="60"/>
                      </a:moveTo>
                      <a:lnTo>
                        <a:pt x="44" y="60"/>
                      </a:lnTo>
                      <a:lnTo>
                        <a:pt x="0" y="53"/>
                      </a:lnTo>
                      <a:lnTo>
                        <a:pt x="0" y="0"/>
                      </a:lnTo>
                      <a:lnTo>
                        <a:pt x="44" y="8"/>
                      </a:lnTo>
                      <a:lnTo>
                        <a:pt x="44" y="60"/>
                      </a:lnTo>
                    </a:path>
                  </a:pathLst>
                </a:custGeom>
                <a:solidFill>
                  <a:srgbClr val="9E0005"/>
                </a:solidFill>
                <a:ln w="9525" cap="rnd">
                  <a:noFill/>
                  <a:round/>
                </a:ln>
              </p:spPr>
              <p:txBody>
                <a:bodyPr/>
                <a:lstStyle/>
                <a:p>
                  <a:endParaRPr lang="zh-CN" altLang="en-US"/>
                </a:p>
              </p:txBody>
            </p:sp>
            <p:sp>
              <p:nvSpPr>
                <p:cNvPr id="11682" name="Freeform 130"/>
                <p:cNvSpPr/>
                <p:nvPr/>
              </p:nvSpPr>
              <p:spPr bwMode="auto">
                <a:xfrm>
                  <a:off x="2053" y="2291"/>
                  <a:ext cx="150" cy="72"/>
                </a:xfrm>
                <a:custGeom>
                  <a:avLst/>
                  <a:gdLst>
                    <a:gd name="T0" fmla="*/ 45 w 150"/>
                    <a:gd name="T1" fmla="*/ 71 h 72"/>
                    <a:gd name="T2" fmla="*/ 45 w 150"/>
                    <a:gd name="T3" fmla="*/ 71 h 72"/>
                    <a:gd name="T4" fmla="*/ 0 w 150"/>
                    <a:gd name="T5" fmla="*/ 62 h 72"/>
                    <a:gd name="T6" fmla="*/ 107 w 150"/>
                    <a:gd name="T7" fmla="*/ 0 h 72"/>
                    <a:gd name="T8" fmla="*/ 149 w 150"/>
                    <a:gd name="T9" fmla="*/ 8 h 72"/>
                    <a:gd name="T10" fmla="*/ 45 w 150"/>
                    <a:gd name="T11" fmla="*/ 71 h 72"/>
                    <a:gd name="T12" fmla="*/ 0 60000 65536"/>
                    <a:gd name="T13" fmla="*/ 0 60000 65536"/>
                    <a:gd name="T14" fmla="*/ 0 60000 65536"/>
                    <a:gd name="T15" fmla="*/ 0 60000 65536"/>
                    <a:gd name="T16" fmla="*/ 0 60000 65536"/>
                    <a:gd name="T17" fmla="*/ 0 60000 65536"/>
                    <a:gd name="T18" fmla="*/ 0 w 150"/>
                    <a:gd name="T19" fmla="*/ 0 h 72"/>
                    <a:gd name="T20" fmla="*/ 150 w 150"/>
                    <a:gd name="T21" fmla="*/ 72 h 72"/>
                  </a:gdLst>
                  <a:ahLst/>
                  <a:cxnLst>
                    <a:cxn ang="T12">
                      <a:pos x="T0" y="T1"/>
                    </a:cxn>
                    <a:cxn ang="T13">
                      <a:pos x="T2" y="T3"/>
                    </a:cxn>
                    <a:cxn ang="T14">
                      <a:pos x="T4" y="T5"/>
                    </a:cxn>
                    <a:cxn ang="T15">
                      <a:pos x="T6" y="T7"/>
                    </a:cxn>
                    <a:cxn ang="T16">
                      <a:pos x="T8" y="T9"/>
                    </a:cxn>
                    <a:cxn ang="T17">
                      <a:pos x="T10" y="T11"/>
                    </a:cxn>
                  </a:cxnLst>
                  <a:rect l="T18" t="T19" r="T20" b="T21"/>
                  <a:pathLst>
                    <a:path w="150" h="72">
                      <a:moveTo>
                        <a:pt x="45" y="71"/>
                      </a:moveTo>
                      <a:lnTo>
                        <a:pt x="45" y="71"/>
                      </a:lnTo>
                      <a:lnTo>
                        <a:pt x="0" y="62"/>
                      </a:lnTo>
                      <a:lnTo>
                        <a:pt x="107" y="0"/>
                      </a:lnTo>
                      <a:lnTo>
                        <a:pt x="149" y="8"/>
                      </a:lnTo>
                      <a:lnTo>
                        <a:pt x="45" y="71"/>
                      </a:lnTo>
                    </a:path>
                  </a:pathLst>
                </a:custGeom>
                <a:solidFill>
                  <a:srgbClr val="CF5C82"/>
                </a:solidFill>
                <a:ln w="9525" cap="rnd">
                  <a:noFill/>
                  <a:round/>
                </a:ln>
              </p:spPr>
              <p:txBody>
                <a:bodyPr/>
                <a:lstStyle/>
                <a:p>
                  <a:endParaRPr lang="zh-CN" altLang="en-US"/>
                </a:p>
              </p:txBody>
            </p:sp>
          </p:grpSp>
          <p:sp>
            <p:nvSpPr>
              <p:cNvPr id="11649" name="Freeform 131"/>
              <p:cNvSpPr/>
              <p:nvPr/>
            </p:nvSpPr>
            <p:spPr bwMode="auto">
              <a:xfrm>
                <a:off x="2484" y="2115"/>
                <a:ext cx="17" cy="49"/>
              </a:xfrm>
              <a:custGeom>
                <a:avLst/>
                <a:gdLst>
                  <a:gd name="T0" fmla="*/ 0 w 17"/>
                  <a:gd name="T1" fmla="*/ 48 h 49"/>
                  <a:gd name="T2" fmla="*/ 0 w 17"/>
                  <a:gd name="T3" fmla="*/ 48 h 49"/>
                  <a:gd name="T4" fmla="*/ 0 w 17"/>
                  <a:gd name="T5" fmla="*/ 24 h 49"/>
                  <a:gd name="T6" fmla="*/ 4 w 17"/>
                  <a:gd name="T7" fmla="*/ 6 h 49"/>
                  <a:gd name="T8" fmla="*/ 4 w 17"/>
                  <a:gd name="T9" fmla="*/ 0 h 49"/>
                  <a:gd name="T10" fmla="*/ 11 w 17"/>
                  <a:gd name="T11" fmla="*/ 0 h 49"/>
                  <a:gd name="T12" fmla="*/ 16 w 17"/>
                  <a:gd name="T13" fmla="*/ 0 h 49"/>
                  <a:gd name="T14" fmla="*/ 11 w 17"/>
                  <a:gd name="T15" fmla="*/ 20 h 49"/>
                  <a:gd name="T16" fmla="*/ 11 w 17"/>
                  <a:gd name="T17" fmla="*/ 36 h 49"/>
                  <a:gd name="T18" fmla="*/ 11 w 17"/>
                  <a:gd name="T19" fmla="*/ 45 h 49"/>
                  <a:gd name="T20" fmla="*/ 4 w 17"/>
                  <a:gd name="T21" fmla="*/ 45 h 49"/>
                  <a:gd name="T22" fmla="*/ 0 w 17"/>
                  <a:gd name="T23" fmla="*/ 48 h 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
                  <a:gd name="T37" fmla="*/ 0 h 49"/>
                  <a:gd name="T38" fmla="*/ 17 w 17"/>
                  <a:gd name="T39" fmla="*/ 49 h 4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 h="49">
                    <a:moveTo>
                      <a:pt x="0" y="48"/>
                    </a:moveTo>
                    <a:lnTo>
                      <a:pt x="0" y="48"/>
                    </a:lnTo>
                    <a:lnTo>
                      <a:pt x="0" y="24"/>
                    </a:lnTo>
                    <a:lnTo>
                      <a:pt x="4" y="6"/>
                    </a:lnTo>
                    <a:lnTo>
                      <a:pt x="4" y="0"/>
                    </a:lnTo>
                    <a:lnTo>
                      <a:pt x="11" y="0"/>
                    </a:lnTo>
                    <a:lnTo>
                      <a:pt x="16" y="0"/>
                    </a:lnTo>
                    <a:lnTo>
                      <a:pt x="11" y="20"/>
                    </a:lnTo>
                    <a:lnTo>
                      <a:pt x="11" y="36"/>
                    </a:lnTo>
                    <a:lnTo>
                      <a:pt x="11" y="45"/>
                    </a:lnTo>
                    <a:lnTo>
                      <a:pt x="4" y="45"/>
                    </a:lnTo>
                    <a:lnTo>
                      <a:pt x="0" y="48"/>
                    </a:lnTo>
                  </a:path>
                </a:pathLst>
              </a:custGeom>
              <a:solidFill>
                <a:srgbClr val="BDB597"/>
              </a:solidFill>
              <a:ln w="9525" cap="rnd">
                <a:noFill/>
                <a:round/>
              </a:ln>
            </p:spPr>
            <p:txBody>
              <a:bodyPr/>
              <a:lstStyle/>
              <a:p>
                <a:endParaRPr lang="zh-CN" altLang="en-US"/>
              </a:p>
            </p:txBody>
          </p:sp>
          <p:sp>
            <p:nvSpPr>
              <p:cNvPr id="11650" name="Freeform 132"/>
              <p:cNvSpPr/>
              <p:nvPr/>
            </p:nvSpPr>
            <p:spPr bwMode="auto">
              <a:xfrm>
                <a:off x="2098" y="2086"/>
                <a:ext cx="428" cy="279"/>
              </a:xfrm>
              <a:custGeom>
                <a:avLst/>
                <a:gdLst>
                  <a:gd name="T0" fmla="*/ 427 w 428"/>
                  <a:gd name="T1" fmla="*/ 0 h 279"/>
                  <a:gd name="T2" fmla="*/ 427 w 428"/>
                  <a:gd name="T3" fmla="*/ 0 h 279"/>
                  <a:gd name="T4" fmla="*/ 0 w 428"/>
                  <a:gd name="T5" fmla="*/ 271 h 279"/>
                  <a:gd name="T6" fmla="*/ 0 w 428"/>
                  <a:gd name="T7" fmla="*/ 278 h 279"/>
                  <a:gd name="T8" fmla="*/ 427 w 428"/>
                  <a:gd name="T9" fmla="*/ 6 h 279"/>
                  <a:gd name="T10" fmla="*/ 427 w 428"/>
                  <a:gd name="T11" fmla="*/ 0 h 279"/>
                  <a:gd name="T12" fmla="*/ 0 60000 65536"/>
                  <a:gd name="T13" fmla="*/ 0 60000 65536"/>
                  <a:gd name="T14" fmla="*/ 0 60000 65536"/>
                  <a:gd name="T15" fmla="*/ 0 60000 65536"/>
                  <a:gd name="T16" fmla="*/ 0 60000 65536"/>
                  <a:gd name="T17" fmla="*/ 0 60000 65536"/>
                  <a:gd name="T18" fmla="*/ 0 w 428"/>
                  <a:gd name="T19" fmla="*/ 0 h 279"/>
                  <a:gd name="T20" fmla="*/ 428 w 428"/>
                  <a:gd name="T21" fmla="*/ 279 h 279"/>
                </a:gdLst>
                <a:ahLst/>
                <a:cxnLst>
                  <a:cxn ang="T12">
                    <a:pos x="T0" y="T1"/>
                  </a:cxn>
                  <a:cxn ang="T13">
                    <a:pos x="T2" y="T3"/>
                  </a:cxn>
                  <a:cxn ang="T14">
                    <a:pos x="T4" y="T5"/>
                  </a:cxn>
                  <a:cxn ang="T15">
                    <a:pos x="T6" y="T7"/>
                  </a:cxn>
                  <a:cxn ang="T16">
                    <a:pos x="T8" y="T9"/>
                  </a:cxn>
                  <a:cxn ang="T17">
                    <a:pos x="T10" y="T11"/>
                  </a:cxn>
                </a:cxnLst>
                <a:rect l="T18" t="T19" r="T20" b="T21"/>
                <a:pathLst>
                  <a:path w="428" h="279">
                    <a:moveTo>
                      <a:pt x="427" y="0"/>
                    </a:moveTo>
                    <a:lnTo>
                      <a:pt x="427" y="0"/>
                    </a:lnTo>
                    <a:lnTo>
                      <a:pt x="0" y="271"/>
                    </a:lnTo>
                    <a:lnTo>
                      <a:pt x="0" y="278"/>
                    </a:lnTo>
                    <a:lnTo>
                      <a:pt x="427" y="6"/>
                    </a:lnTo>
                    <a:lnTo>
                      <a:pt x="427" y="0"/>
                    </a:lnTo>
                  </a:path>
                </a:pathLst>
              </a:custGeom>
              <a:solidFill>
                <a:srgbClr val="BDB597"/>
              </a:solidFill>
              <a:ln w="9525" cap="rnd">
                <a:noFill/>
                <a:round/>
              </a:ln>
            </p:spPr>
            <p:txBody>
              <a:bodyPr/>
              <a:lstStyle/>
              <a:p>
                <a:endParaRPr lang="zh-CN" altLang="en-US"/>
              </a:p>
            </p:txBody>
          </p:sp>
          <p:sp>
            <p:nvSpPr>
              <p:cNvPr id="11651" name="Freeform 133"/>
              <p:cNvSpPr/>
              <p:nvPr/>
            </p:nvSpPr>
            <p:spPr bwMode="auto">
              <a:xfrm>
                <a:off x="2396" y="2173"/>
                <a:ext cx="17" cy="52"/>
              </a:xfrm>
              <a:custGeom>
                <a:avLst/>
                <a:gdLst>
                  <a:gd name="T0" fmla="*/ 0 w 17"/>
                  <a:gd name="T1" fmla="*/ 51 h 52"/>
                  <a:gd name="T2" fmla="*/ 0 w 17"/>
                  <a:gd name="T3" fmla="*/ 51 h 52"/>
                  <a:gd name="T4" fmla="*/ 0 w 17"/>
                  <a:gd name="T5" fmla="*/ 42 h 52"/>
                  <a:gd name="T6" fmla="*/ 0 w 17"/>
                  <a:gd name="T7" fmla="*/ 26 h 52"/>
                  <a:gd name="T8" fmla="*/ 0 w 17"/>
                  <a:gd name="T9" fmla="*/ 15 h 52"/>
                  <a:gd name="T10" fmla="*/ 4 w 17"/>
                  <a:gd name="T11" fmla="*/ 8 h 52"/>
                  <a:gd name="T12" fmla="*/ 4 w 17"/>
                  <a:gd name="T13" fmla="*/ 6 h 52"/>
                  <a:gd name="T14" fmla="*/ 4 w 17"/>
                  <a:gd name="T15" fmla="*/ 2 h 52"/>
                  <a:gd name="T16" fmla="*/ 4 w 17"/>
                  <a:gd name="T17" fmla="*/ 0 h 52"/>
                  <a:gd name="T18" fmla="*/ 11 w 17"/>
                  <a:gd name="T19" fmla="*/ 0 h 52"/>
                  <a:gd name="T20" fmla="*/ 16 w 17"/>
                  <a:gd name="T21" fmla="*/ 0 h 52"/>
                  <a:gd name="T22" fmla="*/ 16 w 17"/>
                  <a:gd name="T23" fmla="*/ 24 h 52"/>
                  <a:gd name="T24" fmla="*/ 11 w 17"/>
                  <a:gd name="T25" fmla="*/ 39 h 52"/>
                  <a:gd name="T26" fmla="*/ 11 w 17"/>
                  <a:gd name="T27" fmla="*/ 44 h 52"/>
                  <a:gd name="T28" fmla="*/ 11 w 17"/>
                  <a:gd name="T29" fmla="*/ 48 h 52"/>
                  <a:gd name="T30" fmla="*/ 4 w 17"/>
                  <a:gd name="T31" fmla="*/ 48 h 52"/>
                  <a:gd name="T32" fmla="*/ 0 w 17"/>
                  <a:gd name="T33" fmla="*/ 48 h 52"/>
                  <a:gd name="T34" fmla="*/ 0 w 17"/>
                  <a:gd name="T35" fmla="*/ 51 h 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52"/>
                  <a:gd name="T56" fmla="*/ 17 w 17"/>
                  <a:gd name="T57" fmla="*/ 52 h 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52">
                    <a:moveTo>
                      <a:pt x="0" y="51"/>
                    </a:moveTo>
                    <a:lnTo>
                      <a:pt x="0" y="51"/>
                    </a:lnTo>
                    <a:lnTo>
                      <a:pt x="0" y="42"/>
                    </a:lnTo>
                    <a:lnTo>
                      <a:pt x="0" y="26"/>
                    </a:lnTo>
                    <a:lnTo>
                      <a:pt x="0" y="15"/>
                    </a:lnTo>
                    <a:lnTo>
                      <a:pt x="4" y="8"/>
                    </a:lnTo>
                    <a:lnTo>
                      <a:pt x="4" y="6"/>
                    </a:lnTo>
                    <a:lnTo>
                      <a:pt x="4" y="2"/>
                    </a:lnTo>
                    <a:lnTo>
                      <a:pt x="4" y="0"/>
                    </a:lnTo>
                    <a:lnTo>
                      <a:pt x="11" y="0"/>
                    </a:lnTo>
                    <a:lnTo>
                      <a:pt x="16" y="0"/>
                    </a:lnTo>
                    <a:lnTo>
                      <a:pt x="16" y="24"/>
                    </a:lnTo>
                    <a:lnTo>
                      <a:pt x="11" y="39"/>
                    </a:lnTo>
                    <a:lnTo>
                      <a:pt x="11" y="44"/>
                    </a:lnTo>
                    <a:lnTo>
                      <a:pt x="11" y="48"/>
                    </a:lnTo>
                    <a:lnTo>
                      <a:pt x="4" y="48"/>
                    </a:lnTo>
                    <a:lnTo>
                      <a:pt x="0" y="48"/>
                    </a:lnTo>
                    <a:lnTo>
                      <a:pt x="0" y="51"/>
                    </a:lnTo>
                  </a:path>
                </a:pathLst>
              </a:custGeom>
              <a:solidFill>
                <a:srgbClr val="BDB597"/>
              </a:solidFill>
              <a:ln w="9525" cap="rnd">
                <a:noFill/>
                <a:round/>
              </a:ln>
            </p:spPr>
            <p:txBody>
              <a:bodyPr/>
              <a:lstStyle/>
              <a:p>
                <a:endParaRPr lang="zh-CN" altLang="en-US"/>
              </a:p>
            </p:txBody>
          </p:sp>
          <p:sp>
            <p:nvSpPr>
              <p:cNvPr id="11652" name="Freeform 134"/>
              <p:cNvSpPr/>
              <p:nvPr/>
            </p:nvSpPr>
            <p:spPr bwMode="auto">
              <a:xfrm>
                <a:off x="2304" y="2233"/>
                <a:ext cx="17" cy="56"/>
              </a:xfrm>
              <a:custGeom>
                <a:avLst/>
                <a:gdLst>
                  <a:gd name="T0" fmla="*/ 0 w 17"/>
                  <a:gd name="T1" fmla="*/ 55 h 56"/>
                  <a:gd name="T2" fmla="*/ 0 w 17"/>
                  <a:gd name="T3" fmla="*/ 55 h 56"/>
                  <a:gd name="T4" fmla="*/ 0 w 17"/>
                  <a:gd name="T5" fmla="*/ 27 h 56"/>
                  <a:gd name="T6" fmla="*/ 0 w 17"/>
                  <a:gd name="T7" fmla="*/ 18 h 56"/>
                  <a:gd name="T8" fmla="*/ 0 w 17"/>
                  <a:gd name="T9" fmla="*/ 9 h 56"/>
                  <a:gd name="T10" fmla="*/ 0 w 17"/>
                  <a:gd name="T11" fmla="*/ 2 h 56"/>
                  <a:gd name="T12" fmla="*/ 4 w 17"/>
                  <a:gd name="T13" fmla="*/ 0 h 56"/>
                  <a:gd name="T14" fmla="*/ 11 w 17"/>
                  <a:gd name="T15" fmla="*/ 0 h 56"/>
                  <a:gd name="T16" fmla="*/ 16 w 17"/>
                  <a:gd name="T17" fmla="*/ 0 h 56"/>
                  <a:gd name="T18" fmla="*/ 11 w 17"/>
                  <a:gd name="T19" fmla="*/ 24 h 56"/>
                  <a:gd name="T20" fmla="*/ 11 w 17"/>
                  <a:gd name="T21" fmla="*/ 39 h 56"/>
                  <a:gd name="T22" fmla="*/ 11 w 17"/>
                  <a:gd name="T23" fmla="*/ 48 h 56"/>
                  <a:gd name="T24" fmla="*/ 4 w 17"/>
                  <a:gd name="T25" fmla="*/ 48 h 56"/>
                  <a:gd name="T26" fmla="*/ 4 w 17"/>
                  <a:gd name="T27" fmla="*/ 52 h 56"/>
                  <a:gd name="T28" fmla="*/ 0 w 17"/>
                  <a:gd name="T29" fmla="*/ 52 h 56"/>
                  <a:gd name="T30" fmla="*/ 0 w 17"/>
                  <a:gd name="T31" fmla="*/ 55 h 5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
                  <a:gd name="T49" fmla="*/ 0 h 56"/>
                  <a:gd name="T50" fmla="*/ 17 w 17"/>
                  <a:gd name="T51" fmla="*/ 56 h 5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 h="56">
                    <a:moveTo>
                      <a:pt x="0" y="55"/>
                    </a:moveTo>
                    <a:lnTo>
                      <a:pt x="0" y="55"/>
                    </a:lnTo>
                    <a:lnTo>
                      <a:pt x="0" y="27"/>
                    </a:lnTo>
                    <a:lnTo>
                      <a:pt x="0" y="18"/>
                    </a:lnTo>
                    <a:lnTo>
                      <a:pt x="0" y="9"/>
                    </a:lnTo>
                    <a:lnTo>
                      <a:pt x="0" y="2"/>
                    </a:lnTo>
                    <a:lnTo>
                      <a:pt x="4" y="0"/>
                    </a:lnTo>
                    <a:lnTo>
                      <a:pt x="11" y="0"/>
                    </a:lnTo>
                    <a:lnTo>
                      <a:pt x="16" y="0"/>
                    </a:lnTo>
                    <a:lnTo>
                      <a:pt x="11" y="24"/>
                    </a:lnTo>
                    <a:lnTo>
                      <a:pt x="11" y="39"/>
                    </a:lnTo>
                    <a:lnTo>
                      <a:pt x="11" y="48"/>
                    </a:lnTo>
                    <a:lnTo>
                      <a:pt x="4" y="48"/>
                    </a:lnTo>
                    <a:lnTo>
                      <a:pt x="4" y="52"/>
                    </a:lnTo>
                    <a:lnTo>
                      <a:pt x="0" y="52"/>
                    </a:lnTo>
                    <a:lnTo>
                      <a:pt x="0" y="55"/>
                    </a:lnTo>
                  </a:path>
                </a:pathLst>
              </a:custGeom>
              <a:solidFill>
                <a:srgbClr val="BDB597"/>
              </a:solidFill>
              <a:ln w="9525" cap="rnd">
                <a:noFill/>
                <a:round/>
              </a:ln>
            </p:spPr>
            <p:txBody>
              <a:bodyPr/>
              <a:lstStyle/>
              <a:p>
                <a:endParaRPr lang="zh-CN" altLang="en-US"/>
              </a:p>
            </p:txBody>
          </p:sp>
          <p:sp>
            <p:nvSpPr>
              <p:cNvPr id="11653" name="Freeform 135"/>
              <p:cNvSpPr/>
              <p:nvPr/>
            </p:nvSpPr>
            <p:spPr bwMode="auto">
              <a:xfrm>
                <a:off x="2202" y="2298"/>
                <a:ext cx="17" cy="55"/>
              </a:xfrm>
              <a:custGeom>
                <a:avLst/>
                <a:gdLst>
                  <a:gd name="T0" fmla="*/ 0 w 17"/>
                  <a:gd name="T1" fmla="*/ 54 h 55"/>
                  <a:gd name="T2" fmla="*/ 0 w 17"/>
                  <a:gd name="T3" fmla="*/ 54 h 55"/>
                  <a:gd name="T4" fmla="*/ 0 w 17"/>
                  <a:gd name="T5" fmla="*/ 45 h 55"/>
                  <a:gd name="T6" fmla="*/ 0 w 17"/>
                  <a:gd name="T7" fmla="*/ 27 h 55"/>
                  <a:gd name="T8" fmla="*/ 0 w 17"/>
                  <a:gd name="T9" fmla="*/ 18 h 55"/>
                  <a:gd name="T10" fmla="*/ 0 w 17"/>
                  <a:gd name="T11" fmla="*/ 9 h 55"/>
                  <a:gd name="T12" fmla="*/ 0 w 17"/>
                  <a:gd name="T13" fmla="*/ 6 h 55"/>
                  <a:gd name="T14" fmla="*/ 4 w 17"/>
                  <a:gd name="T15" fmla="*/ 2 h 55"/>
                  <a:gd name="T16" fmla="*/ 4 w 17"/>
                  <a:gd name="T17" fmla="*/ 0 h 55"/>
                  <a:gd name="T18" fmla="*/ 11 w 17"/>
                  <a:gd name="T19" fmla="*/ 0 h 55"/>
                  <a:gd name="T20" fmla="*/ 16 w 17"/>
                  <a:gd name="T21" fmla="*/ 0 h 55"/>
                  <a:gd name="T22" fmla="*/ 16 w 17"/>
                  <a:gd name="T23" fmla="*/ 24 h 55"/>
                  <a:gd name="T24" fmla="*/ 16 w 17"/>
                  <a:gd name="T25" fmla="*/ 42 h 55"/>
                  <a:gd name="T26" fmla="*/ 16 w 17"/>
                  <a:gd name="T27" fmla="*/ 45 h 55"/>
                  <a:gd name="T28" fmla="*/ 16 w 17"/>
                  <a:gd name="T29" fmla="*/ 47 h 55"/>
                  <a:gd name="T30" fmla="*/ 16 w 17"/>
                  <a:gd name="T31" fmla="*/ 51 h 55"/>
                  <a:gd name="T32" fmla="*/ 11 w 17"/>
                  <a:gd name="T33" fmla="*/ 51 h 55"/>
                  <a:gd name="T34" fmla="*/ 4 w 17"/>
                  <a:gd name="T35" fmla="*/ 51 h 55"/>
                  <a:gd name="T36" fmla="*/ 4 w 17"/>
                  <a:gd name="T37" fmla="*/ 54 h 55"/>
                  <a:gd name="T38" fmla="*/ 0 w 17"/>
                  <a:gd name="T39" fmla="*/ 54 h 5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
                  <a:gd name="T61" fmla="*/ 0 h 55"/>
                  <a:gd name="T62" fmla="*/ 17 w 17"/>
                  <a:gd name="T63" fmla="*/ 55 h 5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 h="55">
                    <a:moveTo>
                      <a:pt x="0" y="54"/>
                    </a:moveTo>
                    <a:lnTo>
                      <a:pt x="0" y="54"/>
                    </a:lnTo>
                    <a:lnTo>
                      <a:pt x="0" y="45"/>
                    </a:lnTo>
                    <a:lnTo>
                      <a:pt x="0" y="27"/>
                    </a:lnTo>
                    <a:lnTo>
                      <a:pt x="0" y="18"/>
                    </a:lnTo>
                    <a:lnTo>
                      <a:pt x="0" y="9"/>
                    </a:lnTo>
                    <a:lnTo>
                      <a:pt x="0" y="6"/>
                    </a:lnTo>
                    <a:lnTo>
                      <a:pt x="4" y="2"/>
                    </a:lnTo>
                    <a:lnTo>
                      <a:pt x="4" y="0"/>
                    </a:lnTo>
                    <a:lnTo>
                      <a:pt x="11" y="0"/>
                    </a:lnTo>
                    <a:lnTo>
                      <a:pt x="16" y="0"/>
                    </a:lnTo>
                    <a:lnTo>
                      <a:pt x="16" y="24"/>
                    </a:lnTo>
                    <a:lnTo>
                      <a:pt x="16" y="42"/>
                    </a:lnTo>
                    <a:lnTo>
                      <a:pt x="16" y="45"/>
                    </a:lnTo>
                    <a:lnTo>
                      <a:pt x="16" y="47"/>
                    </a:lnTo>
                    <a:lnTo>
                      <a:pt x="16" y="51"/>
                    </a:lnTo>
                    <a:lnTo>
                      <a:pt x="11" y="51"/>
                    </a:lnTo>
                    <a:lnTo>
                      <a:pt x="4" y="51"/>
                    </a:lnTo>
                    <a:lnTo>
                      <a:pt x="4" y="54"/>
                    </a:lnTo>
                    <a:lnTo>
                      <a:pt x="0" y="54"/>
                    </a:lnTo>
                  </a:path>
                </a:pathLst>
              </a:custGeom>
              <a:solidFill>
                <a:srgbClr val="BDB597"/>
              </a:solidFill>
              <a:ln w="9525" cap="rnd">
                <a:noFill/>
                <a:round/>
              </a:ln>
            </p:spPr>
            <p:txBody>
              <a:bodyPr/>
              <a:lstStyle/>
              <a:p>
                <a:endParaRPr lang="zh-CN" altLang="en-US"/>
              </a:p>
            </p:txBody>
          </p:sp>
          <p:grpSp>
            <p:nvGrpSpPr>
              <p:cNvPr id="27" name="Group 136"/>
              <p:cNvGrpSpPr/>
              <p:nvPr/>
            </p:nvGrpSpPr>
            <p:grpSpPr bwMode="auto">
              <a:xfrm>
                <a:off x="2417" y="2026"/>
                <a:ext cx="113" cy="109"/>
                <a:chOff x="2417" y="2026"/>
                <a:chExt cx="113" cy="109"/>
              </a:xfrm>
            </p:grpSpPr>
            <p:sp>
              <p:nvSpPr>
                <p:cNvPr id="11677" name="Freeform 137"/>
                <p:cNvSpPr/>
                <p:nvPr/>
              </p:nvSpPr>
              <p:spPr bwMode="auto">
                <a:xfrm>
                  <a:off x="2449" y="2039"/>
                  <a:ext cx="81" cy="96"/>
                </a:xfrm>
                <a:custGeom>
                  <a:avLst/>
                  <a:gdLst>
                    <a:gd name="T0" fmla="*/ 0 w 81"/>
                    <a:gd name="T1" fmla="*/ 95 h 96"/>
                    <a:gd name="T2" fmla="*/ 0 w 81"/>
                    <a:gd name="T3" fmla="*/ 95 h 96"/>
                    <a:gd name="T4" fmla="*/ 2 w 81"/>
                    <a:gd name="T5" fmla="*/ 45 h 96"/>
                    <a:gd name="T6" fmla="*/ 80 w 81"/>
                    <a:gd name="T7" fmla="*/ 0 h 96"/>
                    <a:gd name="T8" fmla="*/ 77 w 81"/>
                    <a:gd name="T9" fmla="*/ 49 h 96"/>
                    <a:gd name="T10" fmla="*/ 0 w 81"/>
                    <a:gd name="T11" fmla="*/ 95 h 96"/>
                    <a:gd name="T12" fmla="*/ 0 60000 65536"/>
                    <a:gd name="T13" fmla="*/ 0 60000 65536"/>
                    <a:gd name="T14" fmla="*/ 0 60000 65536"/>
                    <a:gd name="T15" fmla="*/ 0 60000 65536"/>
                    <a:gd name="T16" fmla="*/ 0 60000 65536"/>
                    <a:gd name="T17" fmla="*/ 0 60000 65536"/>
                    <a:gd name="T18" fmla="*/ 0 w 81"/>
                    <a:gd name="T19" fmla="*/ 0 h 96"/>
                    <a:gd name="T20" fmla="*/ 81 w 81"/>
                    <a:gd name="T21" fmla="*/ 96 h 96"/>
                  </a:gdLst>
                  <a:ahLst/>
                  <a:cxnLst>
                    <a:cxn ang="T12">
                      <a:pos x="T0" y="T1"/>
                    </a:cxn>
                    <a:cxn ang="T13">
                      <a:pos x="T2" y="T3"/>
                    </a:cxn>
                    <a:cxn ang="T14">
                      <a:pos x="T4" y="T5"/>
                    </a:cxn>
                    <a:cxn ang="T15">
                      <a:pos x="T6" y="T7"/>
                    </a:cxn>
                    <a:cxn ang="T16">
                      <a:pos x="T8" y="T9"/>
                    </a:cxn>
                    <a:cxn ang="T17">
                      <a:pos x="T10" y="T11"/>
                    </a:cxn>
                  </a:cxnLst>
                  <a:rect l="T18" t="T19" r="T20" b="T21"/>
                  <a:pathLst>
                    <a:path w="81" h="96">
                      <a:moveTo>
                        <a:pt x="0" y="95"/>
                      </a:moveTo>
                      <a:lnTo>
                        <a:pt x="0" y="95"/>
                      </a:lnTo>
                      <a:lnTo>
                        <a:pt x="2" y="45"/>
                      </a:lnTo>
                      <a:lnTo>
                        <a:pt x="80" y="0"/>
                      </a:lnTo>
                      <a:lnTo>
                        <a:pt x="77" y="49"/>
                      </a:lnTo>
                      <a:lnTo>
                        <a:pt x="0" y="95"/>
                      </a:lnTo>
                    </a:path>
                  </a:pathLst>
                </a:custGeom>
                <a:solidFill>
                  <a:srgbClr val="BB1A50"/>
                </a:solidFill>
                <a:ln w="9525" cap="rnd">
                  <a:noFill/>
                  <a:round/>
                </a:ln>
              </p:spPr>
              <p:txBody>
                <a:bodyPr/>
                <a:lstStyle/>
                <a:p>
                  <a:endParaRPr lang="zh-CN" altLang="en-US"/>
                </a:p>
              </p:txBody>
            </p:sp>
            <p:sp>
              <p:nvSpPr>
                <p:cNvPr id="11678" name="Freeform 138"/>
                <p:cNvSpPr/>
                <p:nvPr/>
              </p:nvSpPr>
              <p:spPr bwMode="auto">
                <a:xfrm>
                  <a:off x="2417" y="2073"/>
                  <a:ext cx="33" cy="62"/>
                </a:xfrm>
                <a:custGeom>
                  <a:avLst/>
                  <a:gdLst>
                    <a:gd name="T0" fmla="*/ 29 w 33"/>
                    <a:gd name="T1" fmla="*/ 61 h 62"/>
                    <a:gd name="T2" fmla="*/ 29 w 33"/>
                    <a:gd name="T3" fmla="*/ 61 h 62"/>
                    <a:gd name="T4" fmla="*/ 0 w 33"/>
                    <a:gd name="T5" fmla="*/ 48 h 62"/>
                    <a:gd name="T6" fmla="*/ 0 w 33"/>
                    <a:gd name="T7" fmla="*/ 0 h 62"/>
                    <a:gd name="T8" fmla="*/ 32 w 33"/>
                    <a:gd name="T9" fmla="*/ 12 h 62"/>
                    <a:gd name="T10" fmla="*/ 29 w 33"/>
                    <a:gd name="T11" fmla="*/ 61 h 62"/>
                    <a:gd name="T12" fmla="*/ 0 60000 65536"/>
                    <a:gd name="T13" fmla="*/ 0 60000 65536"/>
                    <a:gd name="T14" fmla="*/ 0 60000 65536"/>
                    <a:gd name="T15" fmla="*/ 0 60000 65536"/>
                    <a:gd name="T16" fmla="*/ 0 60000 65536"/>
                    <a:gd name="T17" fmla="*/ 0 60000 65536"/>
                    <a:gd name="T18" fmla="*/ 0 w 33"/>
                    <a:gd name="T19" fmla="*/ 0 h 62"/>
                    <a:gd name="T20" fmla="*/ 33 w 33"/>
                    <a:gd name="T21" fmla="*/ 62 h 62"/>
                  </a:gdLst>
                  <a:ahLst/>
                  <a:cxnLst>
                    <a:cxn ang="T12">
                      <a:pos x="T0" y="T1"/>
                    </a:cxn>
                    <a:cxn ang="T13">
                      <a:pos x="T2" y="T3"/>
                    </a:cxn>
                    <a:cxn ang="T14">
                      <a:pos x="T4" y="T5"/>
                    </a:cxn>
                    <a:cxn ang="T15">
                      <a:pos x="T6" y="T7"/>
                    </a:cxn>
                    <a:cxn ang="T16">
                      <a:pos x="T8" y="T9"/>
                    </a:cxn>
                    <a:cxn ang="T17">
                      <a:pos x="T10" y="T11"/>
                    </a:cxn>
                  </a:cxnLst>
                  <a:rect l="T18" t="T19" r="T20" b="T21"/>
                  <a:pathLst>
                    <a:path w="33" h="62">
                      <a:moveTo>
                        <a:pt x="29" y="61"/>
                      </a:moveTo>
                      <a:lnTo>
                        <a:pt x="29" y="61"/>
                      </a:lnTo>
                      <a:lnTo>
                        <a:pt x="0" y="48"/>
                      </a:lnTo>
                      <a:lnTo>
                        <a:pt x="0" y="0"/>
                      </a:lnTo>
                      <a:lnTo>
                        <a:pt x="32" y="12"/>
                      </a:lnTo>
                      <a:lnTo>
                        <a:pt x="29" y="61"/>
                      </a:lnTo>
                    </a:path>
                  </a:pathLst>
                </a:custGeom>
                <a:solidFill>
                  <a:srgbClr val="9E0005"/>
                </a:solidFill>
                <a:ln w="9525" cap="rnd">
                  <a:noFill/>
                  <a:round/>
                </a:ln>
              </p:spPr>
              <p:txBody>
                <a:bodyPr/>
                <a:lstStyle/>
                <a:p>
                  <a:endParaRPr lang="zh-CN" altLang="en-US"/>
                </a:p>
              </p:txBody>
            </p:sp>
            <p:sp>
              <p:nvSpPr>
                <p:cNvPr id="11679" name="Freeform 139"/>
                <p:cNvSpPr/>
                <p:nvPr/>
              </p:nvSpPr>
              <p:spPr bwMode="auto">
                <a:xfrm>
                  <a:off x="2417" y="2026"/>
                  <a:ext cx="113" cy="58"/>
                </a:xfrm>
                <a:custGeom>
                  <a:avLst/>
                  <a:gdLst>
                    <a:gd name="T0" fmla="*/ 33 w 113"/>
                    <a:gd name="T1" fmla="*/ 57 h 58"/>
                    <a:gd name="T2" fmla="*/ 33 w 113"/>
                    <a:gd name="T3" fmla="*/ 57 h 58"/>
                    <a:gd name="T4" fmla="*/ 0 w 113"/>
                    <a:gd name="T5" fmla="*/ 45 h 58"/>
                    <a:gd name="T6" fmla="*/ 84 w 113"/>
                    <a:gd name="T7" fmla="*/ 0 h 58"/>
                    <a:gd name="T8" fmla="*/ 112 w 113"/>
                    <a:gd name="T9" fmla="*/ 11 h 58"/>
                    <a:gd name="T10" fmla="*/ 33 w 113"/>
                    <a:gd name="T11" fmla="*/ 57 h 58"/>
                    <a:gd name="T12" fmla="*/ 0 60000 65536"/>
                    <a:gd name="T13" fmla="*/ 0 60000 65536"/>
                    <a:gd name="T14" fmla="*/ 0 60000 65536"/>
                    <a:gd name="T15" fmla="*/ 0 60000 65536"/>
                    <a:gd name="T16" fmla="*/ 0 60000 65536"/>
                    <a:gd name="T17" fmla="*/ 0 60000 65536"/>
                    <a:gd name="T18" fmla="*/ 0 w 113"/>
                    <a:gd name="T19" fmla="*/ 0 h 58"/>
                    <a:gd name="T20" fmla="*/ 113 w 113"/>
                    <a:gd name="T21" fmla="*/ 58 h 58"/>
                  </a:gdLst>
                  <a:ahLst/>
                  <a:cxnLst>
                    <a:cxn ang="T12">
                      <a:pos x="T0" y="T1"/>
                    </a:cxn>
                    <a:cxn ang="T13">
                      <a:pos x="T2" y="T3"/>
                    </a:cxn>
                    <a:cxn ang="T14">
                      <a:pos x="T4" y="T5"/>
                    </a:cxn>
                    <a:cxn ang="T15">
                      <a:pos x="T6" y="T7"/>
                    </a:cxn>
                    <a:cxn ang="T16">
                      <a:pos x="T8" y="T9"/>
                    </a:cxn>
                    <a:cxn ang="T17">
                      <a:pos x="T10" y="T11"/>
                    </a:cxn>
                  </a:cxnLst>
                  <a:rect l="T18" t="T19" r="T20" b="T21"/>
                  <a:pathLst>
                    <a:path w="113" h="58">
                      <a:moveTo>
                        <a:pt x="33" y="57"/>
                      </a:moveTo>
                      <a:lnTo>
                        <a:pt x="33" y="57"/>
                      </a:lnTo>
                      <a:lnTo>
                        <a:pt x="0" y="45"/>
                      </a:lnTo>
                      <a:lnTo>
                        <a:pt x="84" y="0"/>
                      </a:lnTo>
                      <a:lnTo>
                        <a:pt x="112" y="11"/>
                      </a:lnTo>
                      <a:lnTo>
                        <a:pt x="33" y="57"/>
                      </a:lnTo>
                    </a:path>
                  </a:pathLst>
                </a:custGeom>
                <a:solidFill>
                  <a:srgbClr val="CF5C82"/>
                </a:solidFill>
                <a:ln w="9525" cap="rnd">
                  <a:noFill/>
                  <a:round/>
                </a:ln>
              </p:spPr>
              <p:txBody>
                <a:bodyPr/>
                <a:lstStyle/>
                <a:p>
                  <a:endParaRPr lang="zh-CN" altLang="en-US"/>
                </a:p>
              </p:txBody>
            </p:sp>
          </p:grpSp>
          <p:grpSp>
            <p:nvGrpSpPr>
              <p:cNvPr id="28" name="Group 140"/>
              <p:cNvGrpSpPr/>
              <p:nvPr/>
            </p:nvGrpSpPr>
            <p:grpSpPr bwMode="auto">
              <a:xfrm>
                <a:off x="2321" y="2081"/>
                <a:ext cx="123" cy="112"/>
                <a:chOff x="2321" y="2081"/>
                <a:chExt cx="123" cy="112"/>
              </a:xfrm>
            </p:grpSpPr>
            <p:sp>
              <p:nvSpPr>
                <p:cNvPr id="11674" name="Freeform 141"/>
                <p:cNvSpPr/>
                <p:nvPr/>
              </p:nvSpPr>
              <p:spPr bwMode="auto">
                <a:xfrm>
                  <a:off x="2358" y="2093"/>
                  <a:ext cx="86" cy="100"/>
                </a:xfrm>
                <a:custGeom>
                  <a:avLst/>
                  <a:gdLst>
                    <a:gd name="T0" fmla="*/ 0 w 86"/>
                    <a:gd name="T1" fmla="*/ 99 h 100"/>
                    <a:gd name="T2" fmla="*/ 0 w 86"/>
                    <a:gd name="T3" fmla="*/ 99 h 100"/>
                    <a:gd name="T4" fmla="*/ 2 w 86"/>
                    <a:gd name="T5" fmla="*/ 49 h 100"/>
                    <a:gd name="T6" fmla="*/ 85 w 86"/>
                    <a:gd name="T7" fmla="*/ 0 h 100"/>
                    <a:gd name="T8" fmla="*/ 82 w 86"/>
                    <a:gd name="T9" fmla="*/ 49 h 100"/>
                    <a:gd name="T10" fmla="*/ 0 w 86"/>
                    <a:gd name="T11" fmla="*/ 99 h 100"/>
                    <a:gd name="T12" fmla="*/ 0 60000 65536"/>
                    <a:gd name="T13" fmla="*/ 0 60000 65536"/>
                    <a:gd name="T14" fmla="*/ 0 60000 65536"/>
                    <a:gd name="T15" fmla="*/ 0 60000 65536"/>
                    <a:gd name="T16" fmla="*/ 0 60000 65536"/>
                    <a:gd name="T17" fmla="*/ 0 60000 65536"/>
                    <a:gd name="T18" fmla="*/ 0 w 86"/>
                    <a:gd name="T19" fmla="*/ 0 h 100"/>
                    <a:gd name="T20" fmla="*/ 86 w 86"/>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86" h="100">
                      <a:moveTo>
                        <a:pt x="0" y="99"/>
                      </a:moveTo>
                      <a:lnTo>
                        <a:pt x="0" y="99"/>
                      </a:lnTo>
                      <a:lnTo>
                        <a:pt x="2" y="49"/>
                      </a:lnTo>
                      <a:lnTo>
                        <a:pt x="85" y="0"/>
                      </a:lnTo>
                      <a:lnTo>
                        <a:pt x="82" y="49"/>
                      </a:lnTo>
                      <a:lnTo>
                        <a:pt x="0" y="99"/>
                      </a:lnTo>
                    </a:path>
                  </a:pathLst>
                </a:custGeom>
                <a:solidFill>
                  <a:srgbClr val="BB1A50"/>
                </a:solidFill>
                <a:ln w="9525" cap="rnd">
                  <a:noFill/>
                  <a:round/>
                </a:ln>
              </p:spPr>
              <p:txBody>
                <a:bodyPr/>
                <a:lstStyle/>
                <a:p>
                  <a:endParaRPr lang="zh-CN" altLang="en-US"/>
                </a:p>
              </p:txBody>
            </p:sp>
            <p:sp>
              <p:nvSpPr>
                <p:cNvPr id="11675" name="Freeform 142"/>
                <p:cNvSpPr/>
                <p:nvPr/>
              </p:nvSpPr>
              <p:spPr bwMode="auto">
                <a:xfrm>
                  <a:off x="2321" y="2132"/>
                  <a:ext cx="38" cy="61"/>
                </a:xfrm>
                <a:custGeom>
                  <a:avLst/>
                  <a:gdLst>
                    <a:gd name="T0" fmla="*/ 34 w 38"/>
                    <a:gd name="T1" fmla="*/ 60 h 61"/>
                    <a:gd name="T2" fmla="*/ 34 w 38"/>
                    <a:gd name="T3" fmla="*/ 60 h 61"/>
                    <a:gd name="T4" fmla="*/ 0 w 38"/>
                    <a:gd name="T5" fmla="*/ 48 h 61"/>
                    <a:gd name="T6" fmla="*/ 2 w 38"/>
                    <a:gd name="T7" fmla="*/ 0 h 61"/>
                    <a:gd name="T8" fmla="*/ 37 w 38"/>
                    <a:gd name="T9" fmla="*/ 11 h 61"/>
                    <a:gd name="T10" fmla="*/ 34 w 38"/>
                    <a:gd name="T11" fmla="*/ 60 h 61"/>
                    <a:gd name="T12" fmla="*/ 0 60000 65536"/>
                    <a:gd name="T13" fmla="*/ 0 60000 65536"/>
                    <a:gd name="T14" fmla="*/ 0 60000 65536"/>
                    <a:gd name="T15" fmla="*/ 0 60000 65536"/>
                    <a:gd name="T16" fmla="*/ 0 60000 65536"/>
                    <a:gd name="T17" fmla="*/ 0 60000 65536"/>
                    <a:gd name="T18" fmla="*/ 0 w 38"/>
                    <a:gd name="T19" fmla="*/ 0 h 61"/>
                    <a:gd name="T20" fmla="*/ 38 w 38"/>
                    <a:gd name="T21" fmla="*/ 61 h 61"/>
                  </a:gdLst>
                  <a:ahLst/>
                  <a:cxnLst>
                    <a:cxn ang="T12">
                      <a:pos x="T0" y="T1"/>
                    </a:cxn>
                    <a:cxn ang="T13">
                      <a:pos x="T2" y="T3"/>
                    </a:cxn>
                    <a:cxn ang="T14">
                      <a:pos x="T4" y="T5"/>
                    </a:cxn>
                    <a:cxn ang="T15">
                      <a:pos x="T6" y="T7"/>
                    </a:cxn>
                    <a:cxn ang="T16">
                      <a:pos x="T8" y="T9"/>
                    </a:cxn>
                    <a:cxn ang="T17">
                      <a:pos x="T10" y="T11"/>
                    </a:cxn>
                  </a:cxnLst>
                  <a:rect l="T18" t="T19" r="T20" b="T21"/>
                  <a:pathLst>
                    <a:path w="38" h="61">
                      <a:moveTo>
                        <a:pt x="34" y="60"/>
                      </a:moveTo>
                      <a:lnTo>
                        <a:pt x="34" y="60"/>
                      </a:lnTo>
                      <a:lnTo>
                        <a:pt x="0" y="48"/>
                      </a:lnTo>
                      <a:lnTo>
                        <a:pt x="2" y="0"/>
                      </a:lnTo>
                      <a:lnTo>
                        <a:pt x="37" y="11"/>
                      </a:lnTo>
                      <a:lnTo>
                        <a:pt x="34" y="60"/>
                      </a:lnTo>
                    </a:path>
                  </a:pathLst>
                </a:custGeom>
                <a:solidFill>
                  <a:srgbClr val="9E0005"/>
                </a:solidFill>
                <a:ln w="9525" cap="rnd">
                  <a:noFill/>
                  <a:round/>
                </a:ln>
              </p:spPr>
              <p:txBody>
                <a:bodyPr/>
                <a:lstStyle/>
                <a:p>
                  <a:endParaRPr lang="zh-CN" altLang="en-US"/>
                </a:p>
              </p:txBody>
            </p:sp>
            <p:sp>
              <p:nvSpPr>
                <p:cNvPr id="11676" name="Freeform 143"/>
                <p:cNvSpPr/>
                <p:nvPr/>
              </p:nvSpPr>
              <p:spPr bwMode="auto">
                <a:xfrm>
                  <a:off x="2323" y="2081"/>
                  <a:ext cx="121" cy="62"/>
                </a:xfrm>
                <a:custGeom>
                  <a:avLst/>
                  <a:gdLst>
                    <a:gd name="T0" fmla="*/ 36 w 121"/>
                    <a:gd name="T1" fmla="*/ 61 h 62"/>
                    <a:gd name="T2" fmla="*/ 36 w 121"/>
                    <a:gd name="T3" fmla="*/ 61 h 62"/>
                    <a:gd name="T4" fmla="*/ 0 w 121"/>
                    <a:gd name="T5" fmla="*/ 49 h 62"/>
                    <a:gd name="T6" fmla="*/ 86 w 121"/>
                    <a:gd name="T7" fmla="*/ 0 h 62"/>
                    <a:gd name="T8" fmla="*/ 120 w 121"/>
                    <a:gd name="T9" fmla="*/ 11 h 62"/>
                    <a:gd name="T10" fmla="*/ 36 w 121"/>
                    <a:gd name="T11" fmla="*/ 61 h 62"/>
                    <a:gd name="T12" fmla="*/ 0 60000 65536"/>
                    <a:gd name="T13" fmla="*/ 0 60000 65536"/>
                    <a:gd name="T14" fmla="*/ 0 60000 65536"/>
                    <a:gd name="T15" fmla="*/ 0 60000 65536"/>
                    <a:gd name="T16" fmla="*/ 0 60000 65536"/>
                    <a:gd name="T17" fmla="*/ 0 60000 65536"/>
                    <a:gd name="T18" fmla="*/ 0 w 121"/>
                    <a:gd name="T19" fmla="*/ 0 h 62"/>
                    <a:gd name="T20" fmla="*/ 121 w 121"/>
                    <a:gd name="T21" fmla="*/ 62 h 62"/>
                  </a:gdLst>
                  <a:ahLst/>
                  <a:cxnLst>
                    <a:cxn ang="T12">
                      <a:pos x="T0" y="T1"/>
                    </a:cxn>
                    <a:cxn ang="T13">
                      <a:pos x="T2" y="T3"/>
                    </a:cxn>
                    <a:cxn ang="T14">
                      <a:pos x="T4" y="T5"/>
                    </a:cxn>
                    <a:cxn ang="T15">
                      <a:pos x="T6" y="T7"/>
                    </a:cxn>
                    <a:cxn ang="T16">
                      <a:pos x="T8" y="T9"/>
                    </a:cxn>
                    <a:cxn ang="T17">
                      <a:pos x="T10" y="T11"/>
                    </a:cxn>
                  </a:cxnLst>
                  <a:rect l="T18" t="T19" r="T20" b="T21"/>
                  <a:pathLst>
                    <a:path w="121" h="62">
                      <a:moveTo>
                        <a:pt x="36" y="61"/>
                      </a:moveTo>
                      <a:lnTo>
                        <a:pt x="36" y="61"/>
                      </a:lnTo>
                      <a:lnTo>
                        <a:pt x="0" y="49"/>
                      </a:lnTo>
                      <a:lnTo>
                        <a:pt x="86" y="0"/>
                      </a:lnTo>
                      <a:lnTo>
                        <a:pt x="120" y="11"/>
                      </a:lnTo>
                      <a:lnTo>
                        <a:pt x="36" y="61"/>
                      </a:lnTo>
                    </a:path>
                  </a:pathLst>
                </a:custGeom>
                <a:solidFill>
                  <a:srgbClr val="CF5C82"/>
                </a:solidFill>
                <a:ln w="9525" cap="rnd">
                  <a:noFill/>
                  <a:round/>
                </a:ln>
              </p:spPr>
              <p:txBody>
                <a:bodyPr/>
                <a:lstStyle/>
                <a:p>
                  <a:endParaRPr lang="zh-CN" altLang="en-US"/>
                </a:p>
              </p:txBody>
            </p:sp>
          </p:grpSp>
          <p:grpSp>
            <p:nvGrpSpPr>
              <p:cNvPr id="29" name="Group 144"/>
              <p:cNvGrpSpPr/>
              <p:nvPr/>
            </p:nvGrpSpPr>
            <p:grpSpPr bwMode="auto">
              <a:xfrm>
                <a:off x="2221" y="2138"/>
                <a:ext cx="131" cy="120"/>
                <a:chOff x="2221" y="2138"/>
                <a:chExt cx="131" cy="120"/>
              </a:xfrm>
            </p:grpSpPr>
            <p:sp>
              <p:nvSpPr>
                <p:cNvPr id="11671" name="Freeform 145"/>
                <p:cNvSpPr/>
                <p:nvPr/>
              </p:nvSpPr>
              <p:spPr bwMode="auto">
                <a:xfrm>
                  <a:off x="2260" y="2151"/>
                  <a:ext cx="92" cy="107"/>
                </a:xfrm>
                <a:custGeom>
                  <a:avLst/>
                  <a:gdLst>
                    <a:gd name="T0" fmla="*/ 0 w 92"/>
                    <a:gd name="T1" fmla="*/ 106 h 107"/>
                    <a:gd name="T2" fmla="*/ 0 w 92"/>
                    <a:gd name="T3" fmla="*/ 106 h 107"/>
                    <a:gd name="T4" fmla="*/ 0 w 92"/>
                    <a:gd name="T5" fmla="*/ 53 h 107"/>
                    <a:gd name="T6" fmla="*/ 91 w 92"/>
                    <a:gd name="T7" fmla="*/ 0 h 107"/>
                    <a:gd name="T8" fmla="*/ 88 w 92"/>
                    <a:gd name="T9" fmla="*/ 50 h 107"/>
                    <a:gd name="T10" fmla="*/ 0 w 92"/>
                    <a:gd name="T11" fmla="*/ 106 h 107"/>
                    <a:gd name="T12" fmla="*/ 0 60000 65536"/>
                    <a:gd name="T13" fmla="*/ 0 60000 65536"/>
                    <a:gd name="T14" fmla="*/ 0 60000 65536"/>
                    <a:gd name="T15" fmla="*/ 0 60000 65536"/>
                    <a:gd name="T16" fmla="*/ 0 60000 65536"/>
                    <a:gd name="T17" fmla="*/ 0 60000 65536"/>
                    <a:gd name="T18" fmla="*/ 0 w 92"/>
                    <a:gd name="T19" fmla="*/ 0 h 107"/>
                    <a:gd name="T20" fmla="*/ 92 w 92"/>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92" h="107">
                      <a:moveTo>
                        <a:pt x="0" y="106"/>
                      </a:moveTo>
                      <a:lnTo>
                        <a:pt x="0" y="106"/>
                      </a:lnTo>
                      <a:lnTo>
                        <a:pt x="0" y="53"/>
                      </a:lnTo>
                      <a:lnTo>
                        <a:pt x="91" y="0"/>
                      </a:lnTo>
                      <a:lnTo>
                        <a:pt x="88" y="50"/>
                      </a:lnTo>
                      <a:lnTo>
                        <a:pt x="0" y="106"/>
                      </a:lnTo>
                    </a:path>
                  </a:pathLst>
                </a:custGeom>
                <a:solidFill>
                  <a:srgbClr val="BB1A50"/>
                </a:solidFill>
                <a:ln w="9525" cap="rnd">
                  <a:noFill/>
                  <a:round/>
                </a:ln>
              </p:spPr>
              <p:txBody>
                <a:bodyPr/>
                <a:lstStyle/>
                <a:p>
                  <a:endParaRPr lang="zh-CN" altLang="en-US"/>
                </a:p>
              </p:txBody>
            </p:sp>
            <p:sp>
              <p:nvSpPr>
                <p:cNvPr id="11672" name="Freeform 146"/>
                <p:cNvSpPr/>
                <p:nvPr/>
              </p:nvSpPr>
              <p:spPr bwMode="auto">
                <a:xfrm>
                  <a:off x="2221" y="2192"/>
                  <a:ext cx="38" cy="66"/>
                </a:xfrm>
                <a:custGeom>
                  <a:avLst/>
                  <a:gdLst>
                    <a:gd name="T0" fmla="*/ 37 w 38"/>
                    <a:gd name="T1" fmla="*/ 65 h 66"/>
                    <a:gd name="T2" fmla="*/ 37 w 38"/>
                    <a:gd name="T3" fmla="*/ 65 h 66"/>
                    <a:gd name="T4" fmla="*/ 0 w 38"/>
                    <a:gd name="T5" fmla="*/ 52 h 66"/>
                    <a:gd name="T6" fmla="*/ 0 w 38"/>
                    <a:gd name="T7" fmla="*/ 0 h 66"/>
                    <a:gd name="T8" fmla="*/ 37 w 38"/>
                    <a:gd name="T9" fmla="*/ 12 h 66"/>
                    <a:gd name="T10" fmla="*/ 37 w 38"/>
                    <a:gd name="T11" fmla="*/ 65 h 66"/>
                    <a:gd name="T12" fmla="*/ 0 60000 65536"/>
                    <a:gd name="T13" fmla="*/ 0 60000 65536"/>
                    <a:gd name="T14" fmla="*/ 0 60000 65536"/>
                    <a:gd name="T15" fmla="*/ 0 60000 65536"/>
                    <a:gd name="T16" fmla="*/ 0 60000 65536"/>
                    <a:gd name="T17" fmla="*/ 0 60000 65536"/>
                    <a:gd name="T18" fmla="*/ 0 w 38"/>
                    <a:gd name="T19" fmla="*/ 0 h 66"/>
                    <a:gd name="T20" fmla="*/ 38 w 38"/>
                    <a:gd name="T21" fmla="*/ 66 h 66"/>
                  </a:gdLst>
                  <a:ahLst/>
                  <a:cxnLst>
                    <a:cxn ang="T12">
                      <a:pos x="T0" y="T1"/>
                    </a:cxn>
                    <a:cxn ang="T13">
                      <a:pos x="T2" y="T3"/>
                    </a:cxn>
                    <a:cxn ang="T14">
                      <a:pos x="T4" y="T5"/>
                    </a:cxn>
                    <a:cxn ang="T15">
                      <a:pos x="T6" y="T7"/>
                    </a:cxn>
                    <a:cxn ang="T16">
                      <a:pos x="T8" y="T9"/>
                    </a:cxn>
                    <a:cxn ang="T17">
                      <a:pos x="T10" y="T11"/>
                    </a:cxn>
                  </a:cxnLst>
                  <a:rect l="T18" t="T19" r="T20" b="T21"/>
                  <a:pathLst>
                    <a:path w="38" h="66">
                      <a:moveTo>
                        <a:pt x="37" y="65"/>
                      </a:moveTo>
                      <a:lnTo>
                        <a:pt x="37" y="65"/>
                      </a:lnTo>
                      <a:lnTo>
                        <a:pt x="0" y="52"/>
                      </a:lnTo>
                      <a:lnTo>
                        <a:pt x="0" y="0"/>
                      </a:lnTo>
                      <a:lnTo>
                        <a:pt x="37" y="12"/>
                      </a:lnTo>
                      <a:lnTo>
                        <a:pt x="37" y="65"/>
                      </a:lnTo>
                    </a:path>
                  </a:pathLst>
                </a:custGeom>
                <a:solidFill>
                  <a:srgbClr val="9E0005"/>
                </a:solidFill>
                <a:ln w="9525" cap="rnd">
                  <a:noFill/>
                  <a:round/>
                </a:ln>
              </p:spPr>
              <p:txBody>
                <a:bodyPr/>
                <a:lstStyle/>
                <a:p>
                  <a:endParaRPr lang="zh-CN" altLang="en-US"/>
                </a:p>
              </p:txBody>
            </p:sp>
            <p:sp>
              <p:nvSpPr>
                <p:cNvPr id="11673" name="Freeform 147"/>
                <p:cNvSpPr/>
                <p:nvPr/>
              </p:nvSpPr>
              <p:spPr bwMode="auto">
                <a:xfrm>
                  <a:off x="2221" y="2138"/>
                  <a:ext cx="131" cy="65"/>
                </a:xfrm>
                <a:custGeom>
                  <a:avLst/>
                  <a:gdLst>
                    <a:gd name="T0" fmla="*/ 39 w 131"/>
                    <a:gd name="T1" fmla="*/ 64 h 65"/>
                    <a:gd name="T2" fmla="*/ 39 w 131"/>
                    <a:gd name="T3" fmla="*/ 64 h 65"/>
                    <a:gd name="T4" fmla="*/ 0 w 131"/>
                    <a:gd name="T5" fmla="*/ 51 h 65"/>
                    <a:gd name="T6" fmla="*/ 94 w 131"/>
                    <a:gd name="T7" fmla="*/ 0 h 65"/>
                    <a:gd name="T8" fmla="*/ 130 w 131"/>
                    <a:gd name="T9" fmla="*/ 12 h 65"/>
                    <a:gd name="T10" fmla="*/ 39 w 131"/>
                    <a:gd name="T11" fmla="*/ 64 h 65"/>
                    <a:gd name="T12" fmla="*/ 0 60000 65536"/>
                    <a:gd name="T13" fmla="*/ 0 60000 65536"/>
                    <a:gd name="T14" fmla="*/ 0 60000 65536"/>
                    <a:gd name="T15" fmla="*/ 0 60000 65536"/>
                    <a:gd name="T16" fmla="*/ 0 60000 65536"/>
                    <a:gd name="T17" fmla="*/ 0 60000 65536"/>
                    <a:gd name="T18" fmla="*/ 0 w 131"/>
                    <a:gd name="T19" fmla="*/ 0 h 65"/>
                    <a:gd name="T20" fmla="*/ 131 w 131"/>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131" h="65">
                      <a:moveTo>
                        <a:pt x="39" y="64"/>
                      </a:moveTo>
                      <a:lnTo>
                        <a:pt x="39" y="64"/>
                      </a:lnTo>
                      <a:lnTo>
                        <a:pt x="0" y="51"/>
                      </a:lnTo>
                      <a:lnTo>
                        <a:pt x="94" y="0"/>
                      </a:lnTo>
                      <a:lnTo>
                        <a:pt x="130" y="12"/>
                      </a:lnTo>
                      <a:lnTo>
                        <a:pt x="39" y="64"/>
                      </a:lnTo>
                    </a:path>
                  </a:pathLst>
                </a:custGeom>
                <a:solidFill>
                  <a:srgbClr val="CF5C82"/>
                </a:solidFill>
                <a:ln w="9525" cap="rnd">
                  <a:noFill/>
                  <a:round/>
                </a:ln>
              </p:spPr>
              <p:txBody>
                <a:bodyPr/>
                <a:lstStyle/>
                <a:p>
                  <a:endParaRPr lang="zh-CN" altLang="en-US"/>
                </a:p>
              </p:txBody>
            </p:sp>
          </p:grpSp>
          <p:grpSp>
            <p:nvGrpSpPr>
              <p:cNvPr id="30" name="Group 148"/>
              <p:cNvGrpSpPr/>
              <p:nvPr/>
            </p:nvGrpSpPr>
            <p:grpSpPr bwMode="auto">
              <a:xfrm>
                <a:off x="2109" y="2198"/>
                <a:ext cx="144" cy="123"/>
                <a:chOff x="2109" y="2198"/>
                <a:chExt cx="144" cy="123"/>
              </a:xfrm>
            </p:grpSpPr>
            <p:sp>
              <p:nvSpPr>
                <p:cNvPr id="11668" name="Freeform 149"/>
                <p:cNvSpPr/>
                <p:nvPr/>
              </p:nvSpPr>
              <p:spPr bwMode="auto">
                <a:xfrm>
                  <a:off x="2154" y="2212"/>
                  <a:ext cx="98" cy="109"/>
                </a:xfrm>
                <a:custGeom>
                  <a:avLst/>
                  <a:gdLst>
                    <a:gd name="T0" fmla="*/ 0 w 98"/>
                    <a:gd name="T1" fmla="*/ 108 h 109"/>
                    <a:gd name="T2" fmla="*/ 0 w 98"/>
                    <a:gd name="T3" fmla="*/ 108 h 109"/>
                    <a:gd name="T4" fmla="*/ 0 w 98"/>
                    <a:gd name="T5" fmla="*/ 55 h 109"/>
                    <a:gd name="T6" fmla="*/ 97 w 98"/>
                    <a:gd name="T7" fmla="*/ 0 h 109"/>
                    <a:gd name="T8" fmla="*/ 97 w 98"/>
                    <a:gd name="T9" fmla="*/ 49 h 109"/>
                    <a:gd name="T10" fmla="*/ 0 w 98"/>
                    <a:gd name="T11" fmla="*/ 108 h 109"/>
                    <a:gd name="T12" fmla="*/ 0 60000 65536"/>
                    <a:gd name="T13" fmla="*/ 0 60000 65536"/>
                    <a:gd name="T14" fmla="*/ 0 60000 65536"/>
                    <a:gd name="T15" fmla="*/ 0 60000 65536"/>
                    <a:gd name="T16" fmla="*/ 0 60000 65536"/>
                    <a:gd name="T17" fmla="*/ 0 60000 65536"/>
                    <a:gd name="T18" fmla="*/ 0 w 98"/>
                    <a:gd name="T19" fmla="*/ 0 h 109"/>
                    <a:gd name="T20" fmla="*/ 98 w 98"/>
                    <a:gd name="T21" fmla="*/ 109 h 109"/>
                  </a:gdLst>
                  <a:ahLst/>
                  <a:cxnLst>
                    <a:cxn ang="T12">
                      <a:pos x="T0" y="T1"/>
                    </a:cxn>
                    <a:cxn ang="T13">
                      <a:pos x="T2" y="T3"/>
                    </a:cxn>
                    <a:cxn ang="T14">
                      <a:pos x="T4" y="T5"/>
                    </a:cxn>
                    <a:cxn ang="T15">
                      <a:pos x="T6" y="T7"/>
                    </a:cxn>
                    <a:cxn ang="T16">
                      <a:pos x="T8" y="T9"/>
                    </a:cxn>
                    <a:cxn ang="T17">
                      <a:pos x="T10" y="T11"/>
                    </a:cxn>
                  </a:cxnLst>
                  <a:rect l="T18" t="T19" r="T20" b="T21"/>
                  <a:pathLst>
                    <a:path w="98" h="109">
                      <a:moveTo>
                        <a:pt x="0" y="108"/>
                      </a:moveTo>
                      <a:lnTo>
                        <a:pt x="0" y="108"/>
                      </a:lnTo>
                      <a:lnTo>
                        <a:pt x="0" y="55"/>
                      </a:lnTo>
                      <a:lnTo>
                        <a:pt x="97" y="0"/>
                      </a:lnTo>
                      <a:lnTo>
                        <a:pt x="97" y="49"/>
                      </a:lnTo>
                      <a:lnTo>
                        <a:pt x="0" y="108"/>
                      </a:lnTo>
                    </a:path>
                  </a:pathLst>
                </a:custGeom>
                <a:solidFill>
                  <a:srgbClr val="BB1A50"/>
                </a:solidFill>
                <a:ln w="9525" cap="rnd">
                  <a:noFill/>
                  <a:round/>
                </a:ln>
              </p:spPr>
              <p:txBody>
                <a:bodyPr/>
                <a:lstStyle/>
                <a:p>
                  <a:endParaRPr lang="zh-CN" altLang="en-US"/>
                </a:p>
              </p:txBody>
            </p:sp>
            <p:sp>
              <p:nvSpPr>
                <p:cNvPr id="11669" name="Freeform 150"/>
                <p:cNvSpPr/>
                <p:nvPr/>
              </p:nvSpPr>
              <p:spPr bwMode="auto">
                <a:xfrm>
                  <a:off x="2109" y="2259"/>
                  <a:ext cx="44" cy="62"/>
                </a:xfrm>
                <a:custGeom>
                  <a:avLst/>
                  <a:gdLst>
                    <a:gd name="T0" fmla="*/ 43 w 44"/>
                    <a:gd name="T1" fmla="*/ 61 h 62"/>
                    <a:gd name="T2" fmla="*/ 43 w 44"/>
                    <a:gd name="T3" fmla="*/ 61 h 62"/>
                    <a:gd name="T4" fmla="*/ 0 w 44"/>
                    <a:gd name="T5" fmla="*/ 52 h 62"/>
                    <a:gd name="T6" fmla="*/ 0 w 44"/>
                    <a:gd name="T7" fmla="*/ 0 h 62"/>
                    <a:gd name="T8" fmla="*/ 43 w 44"/>
                    <a:gd name="T9" fmla="*/ 8 h 62"/>
                    <a:gd name="T10" fmla="*/ 43 w 44"/>
                    <a:gd name="T11" fmla="*/ 61 h 62"/>
                    <a:gd name="T12" fmla="*/ 0 60000 65536"/>
                    <a:gd name="T13" fmla="*/ 0 60000 65536"/>
                    <a:gd name="T14" fmla="*/ 0 60000 65536"/>
                    <a:gd name="T15" fmla="*/ 0 60000 65536"/>
                    <a:gd name="T16" fmla="*/ 0 60000 65536"/>
                    <a:gd name="T17" fmla="*/ 0 60000 65536"/>
                    <a:gd name="T18" fmla="*/ 0 w 44"/>
                    <a:gd name="T19" fmla="*/ 0 h 62"/>
                    <a:gd name="T20" fmla="*/ 44 w 44"/>
                    <a:gd name="T21" fmla="*/ 62 h 62"/>
                  </a:gdLst>
                  <a:ahLst/>
                  <a:cxnLst>
                    <a:cxn ang="T12">
                      <a:pos x="T0" y="T1"/>
                    </a:cxn>
                    <a:cxn ang="T13">
                      <a:pos x="T2" y="T3"/>
                    </a:cxn>
                    <a:cxn ang="T14">
                      <a:pos x="T4" y="T5"/>
                    </a:cxn>
                    <a:cxn ang="T15">
                      <a:pos x="T6" y="T7"/>
                    </a:cxn>
                    <a:cxn ang="T16">
                      <a:pos x="T8" y="T9"/>
                    </a:cxn>
                    <a:cxn ang="T17">
                      <a:pos x="T10" y="T11"/>
                    </a:cxn>
                  </a:cxnLst>
                  <a:rect l="T18" t="T19" r="T20" b="T21"/>
                  <a:pathLst>
                    <a:path w="44" h="62">
                      <a:moveTo>
                        <a:pt x="43" y="61"/>
                      </a:moveTo>
                      <a:lnTo>
                        <a:pt x="43" y="61"/>
                      </a:lnTo>
                      <a:lnTo>
                        <a:pt x="0" y="52"/>
                      </a:lnTo>
                      <a:lnTo>
                        <a:pt x="0" y="0"/>
                      </a:lnTo>
                      <a:lnTo>
                        <a:pt x="43" y="8"/>
                      </a:lnTo>
                      <a:lnTo>
                        <a:pt x="43" y="61"/>
                      </a:lnTo>
                    </a:path>
                  </a:pathLst>
                </a:custGeom>
                <a:solidFill>
                  <a:srgbClr val="9E0005"/>
                </a:solidFill>
                <a:ln w="9525" cap="rnd">
                  <a:noFill/>
                  <a:round/>
                </a:ln>
              </p:spPr>
              <p:txBody>
                <a:bodyPr/>
                <a:lstStyle/>
                <a:p>
                  <a:endParaRPr lang="zh-CN" altLang="en-US"/>
                </a:p>
              </p:txBody>
            </p:sp>
            <p:sp>
              <p:nvSpPr>
                <p:cNvPr id="11670" name="Freeform 151"/>
                <p:cNvSpPr/>
                <p:nvPr/>
              </p:nvSpPr>
              <p:spPr bwMode="auto">
                <a:xfrm>
                  <a:off x="2110" y="2198"/>
                  <a:ext cx="143" cy="69"/>
                </a:xfrm>
                <a:custGeom>
                  <a:avLst/>
                  <a:gdLst>
                    <a:gd name="T0" fmla="*/ 44 w 143"/>
                    <a:gd name="T1" fmla="*/ 68 h 69"/>
                    <a:gd name="T2" fmla="*/ 44 w 143"/>
                    <a:gd name="T3" fmla="*/ 68 h 69"/>
                    <a:gd name="T4" fmla="*/ 0 w 143"/>
                    <a:gd name="T5" fmla="*/ 58 h 69"/>
                    <a:gd name="T6" fmla="*/ 102 w 143"/>
                    <a:gd name="T7" fmla="*/ 0 h 69"/>
                    <a:gd name="T8" fmla="*/ 142 w 143"/>
                    <a:gd name="T9" fmla="*/ 12 h 69"/>
                    <a:gd name="T10" fmla="*/ 44 w 143"/>
                    <a:gd name="T11" fmla="*/ 68 h 69"/>
                    <a:gd name="T12" fmla="*/ 0 60000 65536"/>
                    <a:gd name="T13" fmla="*/ 0 60000 65536"/>
                    <a:gd name="T14" fmla="*/ 0 60000 65536"/>
                    <a:gd name="T15" fmla="*/ 0 60000 65536"/>
                    <a:gd name="T16" fmla="*/ 0 60000 65536"/>
                    <a:gd name="T17" fmla="*/ 0 60000 65536"/>
                    <a:gd name="T18" fmla="*/ 0 w 143"/>
                    <a:gd name="T19" fmla="*/ 0 h 69"/>
                    <a:gd name="T20" fmla="*/ 143 w 143"/>
                    <a:gd name="T21" fmla="*/ 69 h 69"/>
                  </a:gdLst>
                  <a:ahLst/>
                  <a:cxnLst>
                    <a:cxn ang="T12">
                      <a:pos x="T0" y="T1"/>
                    </a:cxn>
                    <a:cxn ang="T13">
                      <a:pos x="T2" y="T3"/>
                    </a:cxn>
                    <a:cxn ang="T14">
                      <a:pos x="T4" y="T5"/>
                    </a:cxn>
                    <a:cxn ang="T15">
                      <a:pos x="T6" y="T7"/>
                    </a:cxn>
                    <a:cxn ang="T16">
                      <a:pos x="T8" y="T9"/>
                    </a:cxn>
                    <a:cxn ang="T17">
                      <a:pos x="T10" y="T11"/>
                    </a:cxn>
                  </a:cxnLst>
                  <a:rect l="T18" t="T19" r="T20" b="T21"/>
                  <a:pathLst>
                    <a:path w="143" h="69">
                      <a:moveTo>
                        <a:pt x="44" y="68"/>
                      </a:moveTo>
                      <a:lnTo>
                        <a:pt x="44" y="68"/>
                      </a:lnTo>
                      <a:lnTo>
                        <a:pt x="0" y="58"/>
                      </a:lnTo>
                      <a:lnTo>
                        <a:pt x="102" y="0"/>
                      </a:lnTo>
                      <a:lnTo>
                        <a:pt x="142" y="12"/>
                      </a:lnTo>
                      <a:lnTo>
                        <a:pt x="44" y="68"/>
                      </a:lnTo>
                    </a:path>
                  </a:pathLst>
                </a:custGeom>
                <a:solidFill>
                  <a:srgbClr val="CF5C82"/>
                </a:solidFill>
                <a:ln w="9525" cap="rnd">
                  <a:noFill/>
                  <a:round/>
                </a:ln>
              </p:spPr>
              <p:txBody>
                <a:bodyPr/>
                <a:lstStyle/>
                <a:p>
                  <a:endParaRPr lang="zh-CN" altLang="en-US"/>
                </a:p>
              </p:txBody>
            </p:sp>
          </p:grpSp>
          <p:sp>
            <p:nvSpPr>
              <p:cNvPr id="11658" name="Freeform 152"/>
              <p:cNvSpPr/>
              <p:nvPr/>
            </p:nvSpPr>
            <p:spPr bwMode="auto">
              <a:xfrm>
                <a:off x="2099" y="2275"/>
                <a:ext cx="49" cy="84"/>
              </a:xfrm>
              <a:custGeom>
                <a:avLst/>
                <a:gdLst>
                  <a:gd name="T0" fmla="*/ 0 w 49"/>
                  <a:gd name="T1" fmla="*/ 83 h 84"/>
                  <a:gd name="T2" fmla="*/ 0 w 49"/>
                  <a:gd name="T3" fmla="*/ 83 h 84"/>
                  <a:gd name="T4" fmla="*/ 0 w 49"/>
                  <a:gd name="T5" fmla="*/ 30 h 84"/>
                  <a:gd name="T6" fmla="*/ 48 w 49"/>
                  <a:gd name="T7" fmla="*/ 0 h 84"/>
                  <a:gd name="T8" fmla="*/ 45 w 49"/>
                  <a:gd name="T9" fmla="*/ 55 h 84"/>
                  <a:gd name="T10" fmla="*/ 0 w 49"/>
                  <a:gd name="T11" fmla="*/ 83 h 84"/>
                  <a:gd name="T12" fmla="*/ 0 60000 65536"/>
                  <a:gd name="T13" fmla="*/ 0 60000 65536"/>
                  <a:gd name="T14" fmla="*/ 0 60000 65536"/>
                  <a:gd name="T15" fmla="*/ 0 60000 65536"/>
                  <a:gd name="T16" fmla="*/ 0 60000 65536"/>
                  <a:gd name="T17" fmla="*/ 0 60000 65536"/>
                  <a:gd name="T18" fmla="*/ 0 w 49"/>
                  <a:gd name="T19" fmla="*/ 0 h 84"/>
                  <a:gd name="T20" fmla="*/ 49 w 49"/>
                  <a:gd name="T21" fmla="*/ 84 h 84"/>
                </a:gdLst>
                <a:ahLst/>
                <a:cxnLst>
                  <a:cxn ang="T12">
                    <a:pos x="T0" y="T1"/>
                  </a:cxn>
                  <a:cxn ang="T13">
                    <a:pos x="T2" y="T3"/>
                  </a:cxn>
                  <a:cxn ang="T14">
                    <a:pos x="T4" y="T5"/>
                  </a:cxn>
                  <a:cxn ang="T15">
                    <a:pos x="T6" y="T7"/>
                  </a:cxn>
                  <a:cxn ang="T16">
                    <a:pos x="T8" y="T9"/>
                  </a:cxn>
                  <a:cxn ang="T17">
                    <a:pos x="T10" y="T11"/>
                  </a:cxn>
                </a:cxnLst>
                <a:rect l="T18" t="T19" r="T20" b="T21"/>
                <a:pathLst>
                  <a:path w="49" h="84">
                    <a:moveTo>
                      <a:pt x="0" y="83"/>
                    </a:moveTo>
                    <a:lnTo>
                      <a:pt x="0" y="83"/>
                    </a:lnTo>
                    <a:lnTo>
                      <a:pt x="0" y="30"/>
                    </a:lnTo>
                    <a:lnTo>
                      <a:pt x="48" y="0"/>
                    </a:lnTo>
                    <a:lnTo>
                      <a:pt x="45" y="55"/>
                    </a:lnTo>
                    <a:lnTo>
                      <a:pt x="0" y="83"/>
                    </a:lnTo>
                  </a:path>
                </a:pathLst>
              </a:custGeom>
              <a:solidFill>
                <a:srgbClr val="BB1A50"/>
              </a:solidFill>
              <a:ln w="9525" cap="rnd">
                <a:noFill/>
                <a:round/>
              </a:ln>
            </p:spPr>
            <p:txBody>
              <a:bodyPr/>
              <a:lstStyle/>
              <a:p>
                <a:endParaRPr lang="zh-CN" altLang="en-US"/>
              </a:p>
            </p:txBody>
          </p:sp>
          <p:sp>
            <p:nvSpPr>
              <p:cNvPr id="11659" name="Freeform 153"/>
              <p:cNvSpPr/>
              <p:nvPr/>
            </p:nvSpPr>
            <p:spPr bwMode="auto">
              <a:xfrm>
                <a:off x="2053" y="2266"/>
                <a:ext cx="95" cy="39"/>
              </a:xfrm>
              <a:custGeom>
                <a:avLst/>
                <a:gdLst>
                  <a:gd name="T0" fmla="*/ 44 w 95"/>
                  <a:gd name="T1" fmla="*/ 38 h 39"/>
                  <a:gd name="T2" fmla="*/ 44 w 95"/>
                  <a:gd name="T3" fmla="*/ 38 h 39"/>
                  <a:gd name="T4" fmla="*/ 0 w 95"/>
                  <a:gd name="T5" fmla="*/ 26 h 39"/>
                  <a:gd name="T6" fmla="*/ 49 w 95"/>
                  <a:gd name="T7" fmla="*/ 0 h 39"/>
                  <a:gd name="T8" fmla="*/ 94 w 95"/>
                  <a:gd name="T9" fmla="*/ 9 h 39"/>
                  <a:gd name="T10" fmla="*/ 44 w 95"/>
                  <a:gd name="T11" fmla="*/ 38 h 39"/>
                  <a:gd name="T12" fmla="*/ 0 60000 65536"/>
                  <a:gd name="T13" fmla="*/ 0 60000 65536"/>
                  <a:gd name="T14" fmla="*/ 0 60000 65536"/>
                  <a:gd name="T15" fmla="*/ 0 60000 65536"/>
                  <a:gd name="T16" fmla="*/ 0 60000 65536"/>
                  <a:gd name="T17" fmla="*/ 0 60000 65536"/>
                  <a:gd name="T18" fmla="*/ 0 w 95"/>
                  <a:gd name="T19" fmla="*/ 0 h 39"/>
                  <a:gd name="T20" fmla="*/ 95 w 95"/>
                  <a:gd name="T21" fmla="*/ 39 h 39"/>
                </a:gdLst>
                <a:ahLst/>
                <a:cxnLst>
                  <a:cxn ang="T12">
                    <a:pos x="T0" y="T1"/>
                  </a:cxn>
                  <a:cxn ang="T13">
                    <a:pos x="T2" y="T3"/>
                  </a:cxn>
                  <a:cxn ang="T14">
                    <a:pos x="T4" y="T5"/>
                  </a:cxn>
                  <a:cxn ang="T15">
                    <a:pos x="T6" y="T7"/>
                  </a:cxn>
                  <a:cxn ang="T16">
                    <a:pos x="T8" y="T9"/>
                  </a:cxn>
                  <a:cxn ang="T17">
                    <a:pos x="T10" y="T11"/>
                  </a:cxn>
                </a:cxnLst>
                <a:rect l="T18" t="T19" r="T20" b="T21"/>
                <a:pathLst>
                  <a:path w="95" h="39">
                    <a:moveTo>
                      <a:pt x="44" y="38"/>
                    </a:moveTo>
                    <a:lnTo>
                      <a:pt x="44" y="38"/>
                    </a:lnTo>
                    <a:lnTo>
                      <a:pt x="0" y="26"/>
                    </a:lnTo>
                    <a:lnTo>
                      <a:pt x="49" y="0"/>
                    </a:lnTo>
                    <a:lnTo>
                      <a:pt x="94" y="9"/>
                    </a:lnTo>
                    <a:lnTo>
                      <a:pt x="44" y="38"/>
                    </a:lnTo>
                  </a:path>
                </a:pathLst>
              </a:custGeom>
              <a:solidFill>
                <a:srgbClr val="CF5C82"/>
              </a:solidFill>
              <a:ln w="9525" cap="rnd">
                <a:noFill/>
                <a:round/>
              </a:ln>
            </p:spPr>
            <p:txBody>
              <a:bodyPr/>
              <a:lstStyle/>
              <a:p>
                <a:endParaRPr lang="zh-CN" altLang="en-US"/>
              </a:p>
            </p:txBody>
          </p:sp>
          <p:sp>
            <p:nvSpPr>
              <p:cNvPr id="11660" name="Freeform 154"/>
              <p:cNvSpPr/>
              <p:nvPr/>
            </p:nvSpPr>
            <p:spPr bwMode="auto">
              <a:xfrm>
                <a:off x="2442" y="2090"/>
                <a:ext cx="17" cy="53"/>
              </a:xfrm>
              <a:custGeom>
                <a:avLst/>
                <a:gdLst>
                  <a:gd name="T0" fmla="*/ 0 w 17"/>
                  <a:gd name="T1" fmla="*/ 52 h 53"/>
                  <a:gd name="T2" fmla="*/ 0 w 17"/>
                  <a:gd name="T3" fmla="*/ 52 h 53"/>
                  <a:gd name="T4" fmla="*/ 4 w 17"/>
                  <a:gd name="T5" fmla="*/ 24 h 53"/>
                  <a:gd name="T6" fmla="*/ 4 w 17"/>
                  <a:gd name="T7" fmla="*/ 6 h 53"/>
                  <a:gd name="T8" fmla="*/ 4 w 17"/>
                  <a:gd name="T9" fmla="*/ 2 h 53"/>
                  <a:gd name="T10" fmla="*/ 4 w 17"/>
                  <a:gd name="T11" fmla="*/ 0 h 53"/>
                  <a:gd name="T12" fmla="*/ 11 w 17"/>
                  <a:gd name="T13" fmla="*/ 0 h 53"/>
                  <a:gd name="T14" fmla="*/ 16 w 17"/>
                  <a:gd name="T15" fmla="*/ 0 h 53"/>
                  <a:gd name="T16" fmla="*/ 16 w 17"/>
                  <a:gd name="T17" fmla="*/ 20 h 53"/>
                  <a:gd name="T18" fmla="*/ 11 w 17"/>
                  <a:gd name="T19" fmla="*/ 45 h 53"/>
                  <a:gd name="T20" fmla="*/ 11 w 17"/>
                  <a:gd name="T21" fmla="*/ 49 h 53"/>
                  <a:gd name="T22" fmla="*/ 11 w 17"/>
                  <a:gd name="T23" fmla="*/ 45 h 53"/>
                  <a:gd name="T24" fmla="*/ 4 w 17"/>
                  <a:gd name="T25" fmla="*/ 49 h 53"/>
                  <a:gd name="T26" fmla="*/ 0 w 17"/>
                  <a:gd name="T27" fmla="*/ 52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53"/>
                  <a:gd name="T44" fmla="*/ 17 w 17"/>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53">
                    <a:moveTo>
                      <a:pt x="0" y="52"/>
                    </a:moveTo>
                    <a:lnTo>
                      <a:pt x="0" y="52"/>
                    </a:lnTo>
                    <a:lnTo>
                      <a:pt x="4" y="24"/>
                    </a:lnTo>
                    <a:lnTo>
                      <a:pt x="4" y="6"/>
                    </a:lnTo>
                    <a:lnTo>
                      <a:pt x="4" y="2"/>
                    </a:lnTo>
                    <a:lnTo>
                      <a:pt x="4" y="0"/>
                    </a:lnTo>
                    <a:lnTo>
                      <a:pt x="11" y="0"/>
                    </a:lnTo>
                    <a:lnTo>
                      <a:pt x="16" y="0"/>
                    </a:lnTo>
                    <a:lnTo>
                      <a:pt x="16" y="20"/>
                    </a:lnTo>
                    <a:lnTo>
                      <a:pt x="11" y="45"/>
                    </a:lnTo>
                    <a:lnTo>
                      <a:pt x="11" y="49"/>
                    </a:lnTo>
                    <a:lnTo>
                      <a:pt x="11" y="45"/>
                    </a:lnTo>
                    <a:lnTo>
                      <a:pt x="4" y="49"/>
                    </a:lnTo>
                    <a:lnTo>
                      <a:pt x="0" y="52"/>
                    </a:lnTo>
                  </a:path>
                </a:pathLst>
              </a:custGeom>
              <a:solidFill>
                <a:srgbClr val="BDB597"/>
              </a:solidFill>
              <a:ln w="9525" cap="rnd">
                <a:noFill/>
                <a:round/>
              </a:ln>
            </p:spPr>
            <p:txBody>
              <a:bodyPr/>
              <a:lstStyle/>
              <a:p>
                <a:endParaRPr lang="zh-CN" altLang="en-US"/>
              </a:p>
            </p:txBody>
          </p:sp>
          <p:sp>
            <p:nvSpPr>
              <p:cNvPr id="11661" name="Freeform 155"/>
              <p:cNvSpPr/>
              <p:nvPr/>
            </p:nvSpPr>
            <p:spPr bwMode="auto">
              <a:xfrm>
                <a:off x="2099" y="2032"/>
                <a:ext cx="432" cy="273"/>
              </a:xfrm>
              <a:custGeom>
                <a:avLst/>
                <a:gdLst>
                  <a:gd name="T0" fmla="*/ 431 w 432"/>
                  <a:gd name="T1" fmla="*/ 0 h 273"/>
                  <a:gd name="T2" fmla="*/ 431 w 432"/>
                  <a:gd name="T3" fmla="*/ 0 h 273"/>
                  <a:gd name="T4" fmla="*/ 0 w 432"/>
                  <a:gd name="T5" fmla="*/ 265 h 273"/>
                  <a:gd name="T6" fmla="*/ 0 w 432"/>
                  <a:gd name="T7" fmla="*/ 272 h 273"/>
                  <a:gd name="T8" fmla="*/ 431 w 432"/>
                  <a:gd name="T9" fmla="*/ 6 h 273"/>
                  <a:gd name="T10" fmla="*/ 431 w 432"/>
                  <a:gd name="T11" fmla="*/ 0 h 273"/>
                  <a:gd name="T12" fmla="*/ 0 60000 65536"/>
                  <a:gd name="T13" fmla="*/ 0 60000 65536"/>
                  <a:gd name="T14" fmla="*/ 0 60000 65536"/>
                  <a:gd name="T15" fmla="*/ 0 60000 65536"/>
                  <a:gd name="T16" fmla="*/ 0 60000 65536"/>
                  <a:gd name="T17" fmla="*/ 0 60000 65536"/>
                  <a:gd name="T18" fmla="*/ 0 w 432"/>
                  <a:gd name="T19" fmla="*/ 0 h 273"/>
                  <a:gd name="T20" fmla="*/ 432 w 432"/>
                  <a:gd name="T21" fmla="*/ 273 h 273"/>
                </a:gdLst>
                <a:ahLst/>
                <a:cxnLst>
                  <a:cxn ang="T12">
                    <a:pos x="T0" y="T1"/>
                  </a:cxn>
                  <a:cxn ang="T13">
                    <a:pos x="T2" y="T3"/>
                  </a:cxn>
                  <a:cxn ang="T14">
                    <a:pos x="T4" y="T5"/>
                  </a:cxn>
                  <a:cxn ang="T15">
                    <a:pos x="T6" y="T7"/>
                  </a:cxn>
                  <a:cxn ang="T16">
                    <a:pos x="T8" y="T9"/>
                  </a:cxn>
                  <a:cxn ang="T17">
                    <a:pos x="T10" y="T11"/>
                  </a:cxn>
                </a:cxnLst>
                <a:rect l="T18" t="T19" r="T20" b="T21"/>
                <a:pathLst>
                  <a:path w="432" h="273">
                    <a:moveTo>
                      <a:pt x="431" y="0"/>
                    </a:moveTo>
                    <a:lnTo>
                      <a:pt x="431" y="0"/>
                    </a:lnTo>
                    <a:lnTo>
                      <a:pt x="0" y="265"/>
                    </a:lnTo>
                    <a:lnTo>
                      <a:pt x="0" y="272"/>
                    </a:lnTo>
                    <a:lnTo>
                      <a:pt x="431" y="6"/>
                    </a:lnTo>
                    <a:lnTo>
                      <a:pt x="431" y="0"/>
                    </a:lnTo>
                  </a:path>
                </a:pathLst>
              </a:custGeom>
              <a:solidFill>
                <a:srgbClr val="BDB597"/>
              </a:solidFill>
              <a:ln w="9525" cap="rnd">
                <a:noFill/>
                <a:round/>
              </a:ln>
            </p:spPr>
            <p:txBody>
              <a:bodyPr/>
              <a:lstStyle/>
              <a:p>
                <a:endParaRPr lang="zh-CN" altLang="en-US"/>
              </a:p>
            </p:txBody>
          </p:sp>
          <p:sp>
            <p:nvSpPr>
              <p:cNvPr id="11662" name="Freeform 156"/>
              <p:cNvSpPr/>
              <p:nvPr/>
            </p:nvSpPr>
            <p:spPr bwMode="auto">
              <a:xfrm>
                <a:off x="2350" y="2143"/>
                <a:ext cx="17" cy="56"/>
              </a:xfrm>
              <a:custGeom>
                <a:avLst/>
                <a:gdLst>
                  <a:gd name="T0" fmla="*/ 0 w 17"/>
                  <a:gd name="T1" fmla="*/ 55 h 56"/>
                  <a:gd name="T2" fmla="*/ 0 w 17"/>
                  <a:gd name="T3" fmla="*/ 55 h 56"/>
                  <a:gd name="T4" fmla="*/ 0 w 17"/>
                  <a:gd name="T5" fmla="*/ 45 h 56"/>
                  <a:gd name="T6" fmla="*/ 0 w 17"/>
                  <a:gd name="T7" fmla="*/ 27 h 56"/>
                  <a:gd name="T8" fmla="*/ 0 w 17"/>
                  <a:gd name="T9" fmla="*/ 18 h 56"/>
                  <a:gd name="T10" fmla="*/ 6 w 17"/>
                  <a:gd name="T11" fmla="*/ 9 h 56"/>
                  <a:gd name="T12" fmla="*/ 6 w 17"/>
                  <a:gd name="T13" fmla="*/ 2 h 56"/>
                  <a:gd name="T14" fmla="*/ 6 w 17"/>
                  <a:gd name="T15" fmla="*/ 0 h 56"/>
                  <a:gd name="T16" fmla="*/ 10 w 17"/>
                  <a:gd name="T17" fmla="*/ 0 h 56"/>
                  <a:gd name="T18" fmla="*/ 16 w 17"/>
                  <a:gd name="T19" fmla="*/ 0 h 56"/>
                  <a:gd name="T20" fmla="*/ 16 w 17"/>
                  <a:gd name="T21" fmla="*/ 24 h 56"/>
                  <a:gd name="T22" fmla="*/ 10 w 17"/>
                  <a:gd name="T23" fmla="*/ 42 h 56"/>
                  <a:gd name="T24" fmla="*/ 10 w 17"/>
                  <a:gd name="T25" fmla="*/ 48 h 56"/>
                  <a:gd name="T26" fmla="*/ 10 w 17"/>
                  <a:gd name="T27" fmla="*/ 52 h 56"/>
                  <a:gd name="T28" fmla="*/ 6 w 17"/>
                  <a:gd name="T29" fmla="*/ 52 h 56"/>
                  <a:gd name="T30" fmla="*/ 0 w 17"/>
                  <a:gd name="T31" fmla="*/ 52 h 56"/>
                  <a:gd name="T32" fmla="*/ 0 w 17"/>
                  <a:gd name="T33" fmla="*/ 55 h 5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
                  <a:gd name="T52" fmla="*/ 0 h 56"/>
                  <a:gd name="T53" fmla="*/ 17 w 17"/>
                  <a:gd name="T54" fmla="*/ 56 h 5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 h="56">
                    <a:moveTo>
                      <a:pt x="0" y="55"/>
                    </a:moveTo>
                    <a:lnTo>
                      <a:pt x="0" y="55"/>
                    </a:lnTo>
                    <a:lnTo>
                      <a:pt x="0" y="45"/>
                    </a:lnTo>
                    <a:lnTo>
                      <a:pt x="0" y="27"/>
                    </a:lnTo>
                    <a:lnTo>
                      <a:pt x="0" y="18"/>
                    </a:lnTo>
                    <a:lnTo>
                      <a:pt x="6" y="9"/>
                    </a:lnTo>
                    <a:lnTo>
                      <a:pt x="6" y="2"/>
                    </a:lnTo>
                    <a:lnTo>
                      <a:pt x="6" y="0"/>
                    </a:lnTo>
                    <a:lnTo>
                      <a:pt x="10" y="0"/>
                    </a:lnTo>
                    <a:lnTo>
                      <a:pt x="16" y="0"/>
                    </a:lnTo>
                    <a:lnTo>
                      <a:pt x="16" y="24"/>
                    </a:lnTo>
                    <a:lnTo>
                      <a:pt x="10" y="42"/>
                    </a:lnTo>
                    <a:lnTo>
                      <a:pt x="10" y="48"/>
                    </a:lnTo>
                    <a:lnTo>
                      <a:pt x="10" y="52"/>
                    </a:lnTo>
                    <a:lnTo>
                      <a:pt x="6" y="52"/>
                    </a:lnTo>
                    <a:lnTo>
                      <a:pt x="0" y="52"/>
                    </a:lnTo>
                    <a:lnTo>
                      <a:pt x="0" y="55"/>
                    </a:lnTo>
                  </a:path>
                </a:pathLst>
              </a:custGeom>
              <a:solidFill>
                <a:srgbClr val="BDB597"/>
              </a:solidFill>
              <a:ln w="9525" cap="rnd">
                <a:noFill/>
                <a:round/>
              </a:ln>
            </p:spPr>
            <p:txBody>
              <a:bodyPr/>
              <a:lstStyle/>
              <a:p>
                <a:endParaRPr lang="zh-CN" altLang="en-US"/>
              </a:p>
            </p:txBody>
          </p:sp>
          <p:sp>
            <p:nvSpPr>
              <p:cNvPr id="11663" name="Freeform 157"/>
              <p:cNvSpPr/>
              <p:nvPr/>
            </p:nvSpPr>
            <p:spPr bwMode="auto">
              <a:xfrm>
                <a:off x="2256" y="2205"/>
                <a:ext cx="17" cy="55"/>
              </a:xfrm>
              <a:custGeom>
                <a:avLst/>
                <a:gdLst>
                  <a:gd name="T0" fmla="*/ 0 w 17"/>
                  <a:gd name="T1" fmla="*/ 54 h 55"/>
                  <a:gd name="T2" fmla="*/ 0 w 17"/>
                  <a:gd name="T3" fmla="*/ 54 h 55"/>
                  <a:gd name="T4" fmla="*/ 0 w 17"/>
                  <a:gd name="T5" fmla="*/ 47 h 55"/>
                  <a:gd name="T6" fmla="*/ 0 w 17"/>
                  <a:gd name="T7" fmla="*/ 27 h 55"/>
                  <a:gd name="T8" fmla="*/ 0 w 17"/>
                  <a:gd name="T9" fmla="*/ 18 h 55"/>
                  <a:gd name="T10" fmla="*/ 0 w 17"/>
                  <a:gd name="T11" fmla="*/ 9 h 55"/>
                  <a:gd name="T12" fmla="*/ 0 w 17"/>
                  <a:gd name="T13" fmla="*/ 6 h 55"/>
                  <a:gd name="T14" fmla="*/ 0 w 17"/>
                  <a:gd name="T15" fmla="*/ 2 h 55"/>
                  <a:gd name="T16" fmla="*/ 0 w 17"/>
                  <a:gd name="T17" fmla="*/ 0 h 55"/>
                  <a:gd name="T18" fmla="*/ 8 w 17"/>
                  <a:gd name="T19" fmla="*/ 0 h 55"/>
                  <a:gd name="T20" fmla="*/ 16 w 17"/>
                  <a:gd name="T21" fmla="*/ 0 h 55"/>
                  <a:gd name="T22" fmla="*/ 16 w 17"/>
                  <a:gd name="T23" fmla="*/ 24 h 55"/>
                  <a:gd name="T24" fmla="*/ 16 w 17"/>
                  <a:gd name="T25" fmla="*/ 42 h 55"/>
                  <a:gd name="T26" fmla="*/ 16 w 17"/>
                  <a:gd name="T27" fmla="*/ 47 h 55"/>
                  <a:gd name="T28" fmla="*/ 16 w 17"/>
                  <a:gd name="T29" fmla="*/ 51 h 55"/>
                  <a:gd name="T30" fmla="*/ 8 w 17"/>
                  <a:gd name="T31" fmla="*/ 51 h 55"/>
                  <a:gd name="T32" fmla="*/ 8 w 17"/>
                  <a:gd name="T33" fmla="*/ 54 h 55"/>
                  <a:gd name="T34" fmla="*/ 0 w 17"/>
                  <a:gd name="T35" fmla="*/ 54 h 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55"/>
                  <a:gd name="T56" fmla="*/ 17 w 17"/>
                  <a:gd name="T57" fmla="*/ 55 h 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55">
                    <a:moveTo>
                      <a:pt x="0" y="54"/>
                    </a:moveTo>
                    <a:lnTo>
                      <a:pt x="0" y="54"/>
                    </a:lnTo>
                    <a:lnTo>
                      <a:pt x="0" y="47"/>
                    </a:lnTo>
                    <a:lnTo>
                      <a:pt x="0" y="27"/>
                    </a:lnTo>
                    <a:lnTo>
                      <a:pt x="0" y="18"/>
                    </a:lnTo>
                    <a:lnTo>
                      <a:pt x="0" y="9"/>
                    </a:lnTo>
                    <a:lnTo>
                      <a:pt x="0" y="6"/>
                    </a:lnTo>
                    <a:lnTo>
                      <a:pt x="0" y="2"/>
                    </a:lnTo>
                    <a:lnTo>
                      <a:pt x="0" y="0"/>
                    </a:lnTo>
                    <a:lnTo>
                      <a:pt x="8" y="0"/>
                    </a:lnTo>
                    <a:lnTo>
                      <a:pt x="16" y="0"/>
                    </a:lnTo>
                    <a:lnTo>
                      <a:pt x="16" y="24"/>
                    </a:lnTo>
                    <a:lnTo>
                      <a:pt x="16" y="42"/>
                    </a:lnTo>
                    <a:lnTo>
                      <a:pt x="16" y="47"/>
                    </a:lnTo>
                    <a:lnTo>
                      <a:pt x="16" y="51"/>
                    </a:lnTo>
                    <a:lnTo>
                      <a:pt x="8" y="51"/>
                    </a:lnTo>
                    <a:lnTo>
                      <a:pt x="8" y="54"/>
                    </a:lnTo>
                    <a:lnTo>
                      <a:pt x="0" y="54"/>
                    </a:lnTo>
                  </a:path>
                </a:pathLst>
              </a:custGeom>
              <a:solidFill>
                <a:srgbClr val="BDB597"/>
              </a:solidFill>
              <a:ln w="9525" cap="rnd">
                <a:noFill/>
                <a:round/>
              </a:ln>
            </p:spPr>
            <p:txBody>
              <a:bodyPr/>
              <a:lstStyle/>
              <a:p>
                <a:endParaRPr lang="zh-CN" altLang="en-US"/>
              </a:p>
            </p:txBody>
          </p:sp>
          <p:sp>
            <p:nvSpPr>
              <p:cNvPr id="11664" name="Freeform 158"/>
              <p:cNvSpPr/>
              <p:nvPr/>
            </p:nvSpPr>
            <p:spPr bwMode="auto">
              <a:xfrm>
                <a:off x="2147" y="2272"/>
                <a:ext cx="17" cy="59"/>
              </a:xfrm>
              <a:custGeom>
                <a:avLst/>
                <a:gdLst>
                  <a:gd name="T0" fmla="*/ 0 w 17"/>
                  <a:gd name="T1" fmla="*/ 58 h 59"/>
                  <a:gd name="T2" fmla="*/ 0 w 17"/>
                  <a:gd name="T3" fmla="*/ 58 h 59"/>
                  <a:gd name="T4" fmla="*/ 0 w 17"/>
                  <a:gd name="T5" fmla="*/ 48 h 59"/>
                  <a:gd name="T6" fmla="*/ 0 w 17"/>
                  <a:gd name="T7" fmla="*/ 30 h 59"/>
                  <a:gd name="T8" fmla="*/ 0 w 17"/>
                  <a:gd name="T9" fmla="*/ 18 h 59"/>
                  <a:gd name="T10" fmla="*/ 0 w 17"/>
                  <a:gd name="T11" fmla="*/ 9 h 59"/>
                  <a:gd name="T12" fmla="*/ 6 w 17"/>
                  <a:gd name="T13" fmla="*/ 2 h 59"/>
                  <a:gd name="T14" fmla="*/ 6 w 17"/>
                  <a:gd name="T15" fmla="*/ 0 h 59"/>
                  <a:gd name="T16" fmla="*/ 10 w 17"/>
                  <a:gd name="T17" fmla="*/ 0 h 59"/>
                  <a:gd name="T18" fmla="*/ 16 w 17"/>
                  <a:gd name="T19" fmla="*/ 0 h 59"/>
                  <a:gd name="T20" fmla="*/ 16 w 17"/>
                  <a:gd name="T21" fmla="*/ 24 h 59"/>
                  <a:gd name="T22" fmla="*/ 16 w 17"/>
                  <a:gd name="T23" fmla="*/ 42 h 59"/>
                  <a:gd name="T24" fmla="*/ 16 w 17"/>
                  <a:gd name="T25" fmla="*/ 51 h 59"/>
                  <a:gd name="T26" fmla="*/ 10 w 17"/>
                  <a:gd name="T27" fmla="*/ 51 h 59"/>
                  <a:gd name="T28" fmla="*/ 6 w 17"/>
                  <a:gd name="T29" fmla="*/ 51 h 59"/>
                  <a:gd name="T30" fmla="*/ 6 w 17"/>
                  <a:gd name="T31" fmla="*/ 55 h 59"/>
                  <a:gd name="T32" fmla="*/ 6 w 17"/>
                  <a:gd name="T33" fmla="*/ 58 h 59"/>
                  <a:gd name="T34" fmla="*/ 0 w 17"/>
                  <a:gd name="T35" fmla="*/ 58 h 5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59"/>
                  <a:gd name="T56" fmla="*/ 17 w 17"/>
                  <a:gd name="T57" fmla="*/ 59 h 5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59">
                    <a:moveTo>
                      <a:pt x="0" y="58"/>
                    </a:moveTo>
                    <a:lnTo>
                      <a:pt x="0" y="58"/>
                    </a:lnTo>
                    <a:lnTo>
                      <a:pt x="0" y="48"/>
                    </a:lnTo>
                    <a:lnTo>
                      <a:pt x="0" y="30"/>
                    </a:lnTo>
                    <a:lnTo>
                      <a:pt x="0" y="18"/>
                    </a:lnTo>
                    <a:lnTo>
                      <a:pt x="0" y="9"/>
                    </a:lnTo>
                    <a:lnTo>
                      <a:pt x="6" y="2"/>
                    </a:lnTo>
                    <a:lnTo>
                      <a:pt x="6" y="0"/>
                    </a:lnTo>
                    <a:lnTo>
                      <a:pt x="10" y="0"/>
                    </a:lnTo>
                    <a:lnTo>
                      <a:pt x="16" y="0"/>
                    </a:lnTo>
                    <a:lnTo>
                      <a:pt x="16" y="24"/>
                    </a:lnTo>
                    <a:lnTo>
                      <a:pt x="16" y="42"/>
                    </a:lnTo>
                    <a:lnTo>
                      <a:pt x="16" y="51"/>
                    </a:lnTo>
                    <a:lnTo>
                      <a:pt x="10" y="51"/>
                    </a:lnTo>
                    <a:lnTo>
                      <a:pt x="6" y="51"/>
                    </a:lnTo>
                    <a:lnTo>
                      <a:pt x="6" y="55"/>
                    </a:lnTo>
                    <a:lnTo>
                      <a:pt x="6" y="58"/>
                    </a:lnTo>
                    <a:lnTo>
                      <a:pt x="0" y="58"/>
                    </a:lnTo>
                  </a:path>
                </a:pathLst>
              </a:custGeom>
              <a:solidFill>
                <a:srgbClr val="BDB597"/>
              </a:solidFill>
              <a:ln w="9525" cap="rnd">
                <a:noFill/>
                <a:round/>
              </a:ln>
            </p:spPr>
            <p:txBody>
              <a:bodyPr/>
              <a:lstStyle/>
              <a:p>
                <a:endParaRPr lang="zh-CN" altLang="en-US"/>
              </a:p>
            </p:txBody>
          </p:sp>
          <p:sp>
            <p:nvSpPr>
              <p:cNvPr id="11665" name="Freeform 159"/>
              <p:cNvSpPr/>
              <p:nvPr/>
            </p:nvSpPr>
            <p:spPr bwMode="auto">
              <a:xfrm>
                <a:off x="2053" y="2294"/>
                <a:ext cx="45" cy="65"/>
              </a:xfrm>
              <a:custGeom>
                <a:avLst/>
                <a:gdLst>
                  <a:gd name="T0" fmla="*/ 44 w 45"/>
                  <a:gd name="T1" fmla="*/ 64 h 65"/>
                  <a:gd name="T2" fmla="*/ 44 w 45"/>
                  <a:gd name="T3" fmla="*/ 64 h 65"/>
                  <a:gd name="T4" fmla="*/ 0 w 45"/>
                  <a:gd name="T5" fmla="*/ 55 h 65"/>
                  <a:gd name="T6" fmla="*/ 0 w 45"/>
                  <a:gd name="T7" fmla="*/ 0 h 65"/>
                  <a:gd name="T8" fmla="*/ 44 w 45"/>
                  <a:gd name="T9" fmla="*/ 12 h 65"/>
                  <a:gd name="T10" fmla="*/ 44 w 45"/>
                  <a:gd name="T11" fmla="*/ 64 h 65"/>
                  <a:gd name="T12" fmla="*/ 0 60000 65536"/>
                  <a:gd name="T13" fmla="*/ 0 60000 65536"/>
                  <a:gd name="T14" fmla="*/ 0 60000 65536"/>
                  <a:gd name="T15" fmla="*/ 0 60000 65536"/>
                  <a:gd name="T16" fmla="*/ 0 60000 65536"/>
                  <a:gd name="T17" fmla="*/ 0 60000 65536"/>
                  <a:gd name="T18" fmla="*/ 0 w 45"/>
                  <a:gd name="T19" fmla="*/ 0 h 65"/>
                  <a:gd name="T20" fmla="*/ 45 w 45"/>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45" h="65">
                    <a:moveTo>
                      <a:pt x="44" y="64"/>
                    </a:moveTo>
                    <a:lnTo>
                      <a:pt x="44" y="64"/>
                    </a:lnTo>
                    <a:lnTo>
                      <a:pt x="0" y="55"/>
                    </a:lnTo>
                    <a:lnTo>
                      <a:pt x="0" y="0"/>
                    </a:lnTo>
                    <a:lnTo>
                      <a:pt x="44" y="12"/>
                    </a:lnTo>
                    <a:lnTo>
                      <a:pt x="44" y="64"/>
                    </a:lnTo>
                  </a:path>
                </a:pathLst>
              </a:custGeom>
              <a:solidFill>
                <a:srgbClr val="9E0005"/>
              </a:solidFill>
              <a:ln w="9525" cap="rnd">
                <a:noFill/>
                <a:round/>
              </a:ln>
            </p:spPr>
            <p:txBody>
              <a:bodyPr/>
              <a:lstStyle/>
              <a:p>
                <a:endParaRPr lang="zh-CN" altLang="en-US"/>
              </a:p>
            </p:txBody>
          </p:sp>
          <p:sp>
            <p:nvSpPr>
              <p:cNvPr id="11666" name="Freeform 160"/>
              <p:cNvSpPr/>
              <p:nvPr/>
            </p:nvSpPr>
            <p:spPr bwMode="auto">
              <a:xfrm>
                <a:off x="2053" y="2352"/>
                <a:ext cx="45" cy="17"/>
              </a:xfrm>
              <a:custGeom>
                <a:avLst/>
                <a:gdLst>
                  <a:gd name="T0" fmla="*/ 44 w 45"/>
                  <a:gd name="T1" fmla="*/ 16 h 17"/>
                  <a:gd name="T2" fmla="*/ 44 w 45"/>
                  <a:gd name="T3" fmla="*/ 16 h 17"/>
                  <a:gd name="T4" fmla="*/ 44 w 45"/>
                  <a:gd name="T5" fmla="*/ 12 h 17"/>
                  <a:gd name="T6" fmla="*/ 44 w 45"/>
                  <a:gd name="T7" fmla="*/ 9 h 17"/>
                  <a:gd name="T8" fmla="*/ 22 w 45"/>
                  <a:gd name="T9" fmla="*/ 3 h 17"/>
                  <a:gd name="T10" fmla="*/ 0 w 45"/>
                  <a:gd name="T11" fmla="*/ 0 h 17"/>
                  <a:gd name="T12" fmla="*/ 0 w 45"/>
                  <a:gd name="T13" fmla="*/ 3 h 17"/>
                  <a:gd name="T14" fmla="*/ 0 w 45"/>
                  <a:gd name="T15" fmla="*/ 6 h 17"/>
                  <a:gd name="T16" fmla="*/ 5 w 45"/>
                  <a:gd name="T17" fmla="*/ 9 h 17"/>
                  <a:gd name="T18" fmla="*/ 19 w 45"/>
                  <a:gd name="T19" fmla="*/ 9 h 17"/>
                  <a:gd name="T20" fmla="*/ 27 w 45"/>
                  <a:gd name="T21" fmla="*/ 12 h 17"/>
                  <a:gd name="T22" fmla="*/ 35 w 45"/>
                  <a:gd name="T23" fmla="*/ 12 h 17"/>
                  <a:gd name="T24" fmla="*/ 38 w 45"/>
                  <a:gd name="T25" fmla="*/ 12 h 17"/>
                  <a:gd name="T26" fmla="*/ 41 w 45"/>
                  <a:gd name="T27" fmla="*/ 16 h 17"/>
                  <a:gd name="T28" fmla="*/ 44 w 45"/>
                  <a:gd name="T29" fmla="*/ 16 h 1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5"/>
                  <a:gd name="T46" fmla="*/ 0 h 17"/>
                  <a:gd name="T47" fmla="*/ 45 w 45"/>
                  <a:gd name="T48" fmla="*/ 17 h 1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5" h="17">
                    <a:moveTo>
                      <a:pt x="44" y="16"/>
                    </a:moveTo>
                    <a:lnTo>
                      <a:pt x="44" y="16"/>
                    </a:lnTo>
                    <a:lnTo>
                      <a:pt x="44" y="12"/>
                    </a:lnTo>
                    <a:lnTo>
                      <a:pt x="44" y="9"/>
                    </a:lnTo>
                    <a:lnTo>
                      <a:pt x="22" y="3"/>
                    </a:lnTo>
                    <a:lnTo>
                      <a:pt x="0" y="0"/>
                    </a:lnTo>
                    <a:lnTo>
                      <a:pt x="0" y="3"/>
                    </a:lnTo>
                    <a:lnTo>
                      <a:pt x="0" y="6"/>
                    </a:lnTo>
                    <a:lnTo>
                      <a:pt x="5" y="9"/>
                    </a:lnTo>
                    <a:lnTo>
                      <a:pt x="19" y="9"/>
                    </a:lnTo>
                    <a:lnTo>
                      <a:pt x="27" y="12"/>
                    </a:lnTo>
                    <a:lnTo>
                      <a:pt x="35" y="12"/>
                    </a:lnTo>
                    <a:lnTo>
                      <a:pt x="38" y="12"/>
                    </a:lnTo>
                    <a:lnTo>
                      <a:pt x="41" y="16"/>
                    </a:lnTo>
                    <a:lnTo>
                      <a:pt x="44" y="16"/>
                    </a:lnTo>
                  </a:path>
                </a:pathLst>
              </a:custGeom>
              <a:solidFill>
                <a:srgbClr val="BDB597"/>
              </a:solidFill>
              <a:ln w="9525" cap="rnd">
                <a:noFill/>
                <a:round/>
              </a:ln>
            </p:spPr>
            <p:txBody>
              <a:bodyPr/>
              <a:lstStyle/>
              <a:p>
                <a:endParaRPr lang="zh-CN" altLang="en-US"/>
              </a:p>
            </p:txBody>
          </p:sp>
          <p:sp>
            <p:nvSpPr>
              <p:cNvPr id="11667" name="Freeform 161"/>
              <p:cNvSpPr/>
              <p:nvPr/>
            </p:nvSpPr>
            <p:spPr bwMode="auto">
              <a:xfrm>
                <a:off x="2053" y="2288"/>
                <a:ext cx="45" cy="17"/>
              </a:xfrm>
              <a:custGeom>
                <a:avLst/>
                <a:gdLst>
                  <a:gd name="T0" fmla="*/ 44 w 45"/>
                  <a:gd name="T1" fmla="*/ 16 h 17"/>
                  <a:gd name="T2" fmla="*/ 44 w 45"/>
                  <a:gd name="T3" fmla="*/ 16 h 17"/>
                  <a:gd name="T4" fmla="*/ 44 w 45"/>
                  <a:gd name="T5" fmla="*/ 13 h 17"/>
                  <a:gd name="T6" fmla="*/ 44 w 45"/>
                  <a:gd name="T7" fmla="*/ 10 h 17"/>
                  <a:gd name="T8" fmla="*/ 22 w 45"/>
                  <a:gd name="T9" fmla="*/ 5 h 17"/>
                  <a:gd name="T10" fmla="*/ 0 w 45"/>
                  <a:gd name="T11" fmla="*/ 0 h 17"/>
                  <a:gd name="T12" fmla="*/ 0 w 45"/>
                  <a:gd name="T13" fmla="*/ 2 h 17"/>
                  <a:gd name="T14" fmla="*/ 0 w 45"/>
                  <a:gd name="T15" fmla="*/ 5 h 17"/>
                  <a:gd name="T16" fmla="*/ 5 w 45"/>
                  <a:gd name="T17" fmla="*/ 8 h 17"/>
                  <a:gd name="T18" fmla="*/ 13 w 45"/>
                  <a:gd name="T19" fmla="*/ 8 h 17"/>
                  <a:gd name="T20" fmla="*/ 19 w 45"/>
                  <a:gd name="T21" fmla="*/ 10 h 17"/>
                  <a:gd name="T22" fmla="*/ 27 w 45"/>
                  <a:gd name="T23" fmla="*/ 10 h 17"/>
                  <a:gd name="T24" fmla="*/ 35 w 45"/>
                  <a:gd name="T25" fmla="*/ 13 h 17"/>
                  <a:gd name="T26" fmla="*/ 38 w 45"/>
                  <a:gd name="T27" fmla="*/ 13 h 17"/>
                  <a:gd name="T28" fmla="*/ 41 w 45"/>
                  <a:gd name="T29" fmla="*/ 16 h 17"/>
                  <a:gd name="T30" fmla="*/ 44 w 45"/>
                  <a:gd name="T31" fmla="*/ 16 h 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17"/>
                  <a:gd name="T50" fmla="*/ 45 w 45"/>
                  <a:gd name="T51" fmla="*/ 17 h 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17">
                    <a:moveTo>
                      <a:pt x="44" y="16"/>
                    </a:moveTo>
                    <a:lnTo>
                      <a:pt x="44" y="16"/>
                    </a:lnTo>
                    <a:lnTo>
                      <a:pt x="44" y="13"/>
                    </a:lnTo>
                    <a:lnTo>
                      <a:pt x="44" y="10"/>
                    </a:lnTo>
                    <a:lnTo>
                      <a:pt x="22" y="5"/>
                    </a:lnTo>
                    <a:lnTo>
                      <a:pt x="0" y="0"/>
                    </a:lnTo>
                    <a:lnTo>
                      <a:pt x="0" y="2"/>
                    </a:lnTo>
                    <a:lnTo>
                      <a:pt x="0" y="5"/>
                    </a:lnTo>
                    <a:lnTo>
                      <a:pt x="5" y="8"/>
                    </a:lnTo>
                    <a:lnTo>
                      <a:pt x="13" y="8"/>
                    </a:lnTo>
                    <a:lnTo>
                      <a:pt x="19" y="10"/>
                    </a:lnTo>
                    <a:lnTo>
                      <a:pt x="27" y="10"/>
                    </a:lnTo>
                    <a:lnTo>
                      <a:pt x="35" y="13"/>
                    </a:lnTo>
                    <a:lnTo>
                      <a:pt x="38" y="13"/>
                    </a:lnTo>
                    <a:lnTo>
                      <a:pt x="41" y="16"/>
                    </a:lnTo>
                    <a:lnTo>
                      <a:pt x="44" y="16"/>
                    </a:lnTo>
                  </a:path>
                </a:pathLst>
              </a:custGeom>
              <a:solidFill>
                <a:srgbClr val="BDB597"/>
              </a:solidFill>
              <a:ln w="9525" cap="rnd">
                <a:noFill/>
                <a:round/>
              </a:ln>
            </p:spPr>
            <p:txBody>
              <a:bodyPr/>
              <a:lstStyle/>
              <a:p>
                <a:endParaRPr lang="zh-CN" altLang="en-US"/>
              </a:p>
            </p:txBody>
          </p:sp>
        </p:grpSp>
        <p:grpSp>
          <p:nvGrpSpPr>
            <p:cNvPr id="31" name="Group 162"/>
            <p:cNvGrpSpPr/>
            <p:nvPr/>
          </p:nvGrpSpPr>
          <p:grpSpPr bwMode="auto">
            <a:xfrm>
              <a:off x="2050" y="1915"/>
              <a:ext cx="488" cy="380"/>
              <a:chOff x="2050" y="1915"/>
              <a:chExt cx="488" cy="380"/>
            </a:xfrm>
          </p:grpSpPr>
          <p:sp>
            <p:nvSpPr>
              <p:cNvPr id="11592" name="Freeform 163"/>
              <p:cNvSpPr/>
              <p:nvPr/>
            </p:nvSpPr>
            <p:spPr bwMode="auto">
              <a:xfrm>
                <a:off x="2494" y="1980"/>
                <a:ext cx="37" cy="72"/>
              </a:xfrm>
              <a:custGeom>
                <a:avLst/>
                <a:gdLst>
                  <a:gd name="T0" fmla="*/ 0 w 37"/>
                  <a:gd name="T1" fmla="*/ 71 h 72"/>
                  <a:gd name="T2" fmla="*/ 0 w 37"/>
                  <a:gd name="T3" fmla="*/ 71 h 72"/>
                  <a:gd name="T4" fmla="*/ 2 w 37"/>
                  <a:gd name="T5" fmla="*/ 21 h 72"/>
                  <a:gd name="T6" fmla="*/ 36 w 37"/>
                  <a:gd name="T7" fmla="*/ 0 h 72"/>
                  <a:gd name="T8" fmla="*/ 33 w 37"/>
                  <a:gd name="T9" fmla="*/ 49 h 72"/>
                  <a:gd name="T10" fmla="*/ 0 w 37"/>
                  <a:gd name="T11" fmla="*/ 71 h 72"/>
                  <a:gd name="T12" fmla="*/ 0 60000 65536"/>
                  <a:gd name="T13" fmla="*/ 0 60000 65536"/>
                  <a:gd name="T14" fmla="*/ 0 60000 65536"/>
                  <a:gd name="T15" fmla="*/ 0 60000 65536"/>
                  <a:gd name="T16" fmla="*/ 0 60000 65536"/>
                  <a:gd name="T17" fmla="*/ 0 60000 65536"/>
                  <a:gd name="T18" fmla="*/ 0 w 37"/>
                  <a:gd name="T19" fmla="*/ 0 h 72"/>
                  <a:gd name="T20" fmla="*/ 37 w 37"/>
                  <a:gd name="T21" fmla="*/ 72 h 72"/>
                </a:gdLst>
                <a:ahLst/>
                <a:cxnLst>
                  <a:cxn ang="T12">
                    <a:pos x="T0" y="T1"/>
                  </a:cxn>
                  <a:cxn ang="T13">
                    <a:pos x="T2" y="T3"/>
                  </a:cxn>
                  <a:cxn ang="T14">
                    <a:pos x="T4" y="T5"/>
                  </a:cxn>
                  <a:cxn ang="T15">
                    <a:pos x="T6" y="T7"/>
                  </a:cxn>
                  <a:cxn ang="T16">
                    <a:pos x="T8" y="T9"/>
                  </a:cxn>
                  <a:cxn ang="T17">
                    <a:pos x="T10" y="T11"/>
                  </a:cxn>
                </a:cxnLst>
                <a:rect l="T18" t="T19" r="T20" b="T21"/>
                <a:pathLst>
                  <a:path w="37" h="72">
                    <a:moveTo>
                      <a:pt x="0" y="71"/>
                    </a:moveTo>
                    <a:lnTo>
                      <a:pt x="0" y="71"/>
                    </a:lnTo>
                    <a:lnTo>
                      <a:pt x="2" y="21"/>
                    </a:lnTo>
                    <a:lnTo>
                      <a:pt x="36" y="0"/>
                    </a:lnTo>
                    <a:lnTo>
                      <a:pt x="33" y="49"/>
                    </a:lnTo>
                    <a:lnTo>
                      <a:pt x="0" y="71"/>
                    </a:lnTo>
                  </a:path>
                </a:pathLst>
              </a:custGeom>
              <a:solidFill>
                <a:srgbClr val="BB1A50"/>
              </a:solidFill>
              <a:ln w="9525" cap="rnd">
                <a:noFill/>
                <a:round/>
              </a:ln>
            </p:spPr>
            <p:txBody>
              <a:bodyPr/>
              <a:lstStyle/>
              <a:p>
                <a:endParaRPr lang="zh-CN" altLang="en-US"/>
              </a:p>
            </p:txBody>
          </p:sp>
          <p:sp>
            <p:nvSpPr>
              <p:cNvPr id="11593" name="Freeform 164"/>
              <p:cNvSpPr/>
              <p:nvPr/>
            </p:nvSpPr>
            <p:spPr bwMode="auto">
              <a:xfrm>
                <a:off x="2462" y="1988"/>
                <a:ext cx="32" cy="65"/>
              </a:xfrm>
              <a:custGeom>
                <a:avLst/>
                <a:gdLst>
                  <a:gd name="T0" fmla="*/ 28 w 32"/>
                  <a:gd name="T1" fmla="*/ 64 h 65"/>
                  <a:gd name="T2" fmla="*/ 28 w 32"/>
                  <a:gd name="T3" fmla="*/ 64 h 65"/>
                  <a:gd name="T4" fmla="*/ 0 w 32"/>
                  <a:gd name="T5" fmla="*/ 48 h 65"/>
                  <a:gd name="T6" fmla="*/ 2 w 32"/>
                  <a:gd name="T7" fmla="*/ 0 h 65"/>
                  <a:gd name="T8" fmla="*/ 31 w 32"/>
                  <a:gd name="T9" fmla="*/ 15 h 65"/>
                  <a:gd name="T10" fmla="*/ 28 w 32"/>
                  <a:gd name="T11" fmla="*/ 64 h 65"/>
                  <a:gd name="T12" fmla="*/ 0 60000 65536"/>
                  <a:gd name="T13" fmla="*/ 0 60000 65536"/>
                  <a:gd name="T14" fmla="*/ 0 60000 65536"/>
                  <a:gd name="T15" fmla="*/ 0 60000 65536"/>
                  <a:gd name="T16" fmla="*/ 0 60000 65536"/>
                  <a:gd name="T17" fmla="*/ 0 60000 65536"/>
                  <a:gd name="T18" fmla="*/ 0 w 32"/>
                  <a:gd name="T19" fmla="*/ 0 h 65"/>
                  <a:gd name="T20" fmla="*/ 32 w 32"/>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32" h="65">
                    <a:moveTo>
                      <a:pt x="28" y="64"/>
                    </a:moveTo>
                    <a:lnTo>
                      <a:pt x="28" y="64"/>
                    </a:lnTo>
                    <a:lnTo>
                      <a:pt x="0" y="48"/>
                    </a:lnTo>
                    <a:lnTo>
                      <a:pt x="2" y="0"/>
                    </a:lnTo>
                    <a:lnTo>
                      <a:pt x="31" y="15"/>
                    </a:lnTo>
                    <a:lnTo>
                      <a:pt x="28" y="64"/>
                    </a:lnTo>
                  </a:path>
                </a:pathLst>
              </a:custGeom>
              <a:solidFill>
                <a:srgbClr val="9E0005"/>
              </a:solidFill>
              <a:ln w="9525" cap="rnd">
                <a:noFill/>
                <a:round/>
              </a:ln>
            </p:spPr>
            <p:txBody>
              <a:bodyPr/>
              <a:lstStyle/>
              <a:p>
                <a:endParaRPr lang="zh-CN" altLang="en-US"/>
              </a:p>
            </p:txBody>
          </p:sp>
          <p:sp>
            <p:nvSpPr>
              <p:cNvPr id="11594" name="Freeform 165"/>
              <p:cNvSpPr/>
              <p:nvPr/>
            </p:nvSpPr>
            <p:spPr bwMode="auto">
              <a:xfrm>
                <a:off x="2466" y="1968"/>
                <a:ext cx="65" cy="33"/>
              </a:xfrm>
              <a:custGeom>
                <a:avLst/>
                <a:gdLst>
                  <a:gd name="T0" fmla="*/ 29 w 65"/>
                  <a:gd name="T1" fmla="*/ 32 h 33"/>
                  <a:gd name="T2" fmla="*/ 29 w 65"/>
                  <a:gd name="T3" fmla="*/ 32 h 33"/>
                  <a:gd name="T4" fmla="*/ 0 w 65"/>
                  <a:gd name="T5" fmla="*/ 17 h 33"/>
                  <a:gd name="T6" fmla="*/ 34 w 65"/>
                  <a:gd name="T7" fmla="*/ 0 h 33"/>
                  <a:gd name="T8" fmla="*/ 64 w 65"/>
                  <a:gd name="T9" fmla="*/ 14 h 33"/>
                  <a:gd name="T10" fmla="*/ 29 w 65"/>
                  <a:gd name="T11" fmla="*/ 32 h 33"/>
                  <a:gd name="T12" fmla="*/ 0 60000 65536"/>
                  <a:gd name="T13" fmla="*/ 0 60000 65536"/>
                  <a:gd name="T14" fmla="*/ 0 60000 65536"/>
                  <a:gd name="T15" fmla="*/ 0 60000 65536"/>
                  <a:gd name="T16" fmla="*/ 0 60000 65536"/>
                  <a:gd name="T17" fmla="*/ 0 60000 65536"/>
                  <a:gd name="T18" fmla="*/ 0 w 65"/>
                  <a:gd name="T19" fmla="*/ 0 h 33"/>
                  <a:gd name="T20" fmla="*/ 65 w 65"/>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65" h="33">
                    <a:moveTo>
                      <a:pt x="29" y="32"/>
                    </a:moveTo>
                    <a:lnTo>
                      <a:pt x="29" y="32"/>
                    </a:lnTo>
                    <a:lnTo>
                      <a:pt x="0" y="17"/>
                    </a:lnTo>
                    <a:lnTo>
                      <a:pt x="34" y="0"/>
                    </a:lnTo>
                    <a:lnTo>
                      <a:pt x="64" y="14"/>
                    </a:lnTo>
                    <a:lnTo>
                      <a:pt x="29" y="32"/>
                    </a:lnTo>
                  </a:path>
                </a:pathLst>
              </a:custGeom>
              <a:solidFill>
                <a:srgbClr val="CF5C82"/>
              </a:solidFill>
              <a:ln w="9525" cap="rnd">
                <a:noFill/>
                <a:round/>
              </a:ln>
            </p:spPr>
            <p:txBody>
              <a:bodyPr/>
              <a:lstStyle/>
              <a:p>
                <a:endParaRPr lang="zh-CN" altLang="en-US"/>
              </a:p>
            </p:txBody>
          </p:sp>
          <p:grpSp>
            <p:nvGrpSpPr>
              <p:cNvPr id="250240" name="Group 166"/>
              <p:cNvGrpSpPr/>
              <p:nvPr/>
            </p:nvGrpSpPr>
            <p:grpSpPr bwMode="auto">
              <a:xfrm>
                <a:off x="2372" y="1993"/>
                <a:ext cx="120" cy="114"/>
                <a:chOff x="2372" y="1993"/>
                <a:chExt cx="120" cy="114"/>
              </a:xfrm>
            </p:grpSpPr>
            <p:sp>
              <p:nvSpPr>
                <p:cNvPr id="11639" name="Freeform 167"/>
                <p:cNvSpPr/>
                <p:nvPr/>
              </p:nvSpPr>
              <p:spPr bwMode="auto">
                <a:xfrm>
                  <a:off x="2405" y="2010"/>
                  <a:ext cx="87" cy="97"/>
                </a:xfrm>
                <a:custGeom>
                  <a:avLst/>
                  <a:gdLst>
                    <a:gd name="T0" fmla="*/ 0 w 87"/>
                    <a:gd name="T1" fmla="*/ 96 h 97"/>
                    <a:gd name="T2" fmla="*/ 0 w 87"/>
                    <a:gd name="T3" fmla="*/ 96 h 97"/>
                    <a:gd name="T4" fmla="*/ 2 w 87"/>
                    <a:gd name="T5" fmla="*/ 46 h 97"/>
                    <a:gd name="T6" fmla="*/ 86 w 87"/>
                    <a:gd name="T7" fmla="*/ 0 h 97"/>
                    <a:gd name="T8" fmla="*/ 83 w 87"/>
                    <a:gd name="T9" fmla="*/ 49 h 97"/>
                    <a:gd name="T10" fmla="*/ 0 w 87"/>
                    <a:gd name="T11" fmla="*/ 96 h 97"/>
                    <a:gd name="T12" fmla="*/ 0 60000 65536"/>
                    <a:gd name="T13" fmla="*/ 0 60000 65536"/>
                    <a:gd name="T14" fmla="*/ 0 60000 65536"/>
                    <a:gd name="T15" fmla="*/ 0 60000 65536"/>
                    <a:gd name="T16" fmla="*/ 0 60000 65536"/>
                    <a:gd name="T17" fmla="*/ 0 60000 65536"/>
                    <a:gd name="T18" fmla="*/ 0 w 87"/>
                    <a:gd name="T19" fmla="*/ 0 h 97"/>
                    <a:gd name="T20" fmla="*/ 87 w 87"/>
                    <a:gd name="T21" fmla="*/ 97 h 97"/>
                  </a:gdLst>
                  <a:ahLst/>
                  <a:cxnLst>
                    <a:cxn ang="T12">
                      <a:pos x="T0" y="T1"/>
                    </a:cxn>
                    <a:cxn ang="T13">
                      <a:pos x="T2" y="T3"/>
                    </a:cxn>
                    <a:cxn ang="T14">
                      <a:pos x="T4" y="T5"/>
                    </a:cxn>
                    <a:cxn ang="T15">
                      <a:pos x="T6" y="T7"/>
                    </a:cxn>
                    <a:cxn ang="T16">
                      <a:pos x="T8" y="T9"/>
                    </a:cxn>
                    <a:cxn ang="T17">
                      <a:pos x="T10" y="T11"/>
                    </a:cxn>
                  </a:cxnLst>
                  <a:rect l="T18" t="T19" r="T20" b="T21"/>
                  <a:pathLst>
                    <a:path w="87" h="97">
                      <a:moveTo>
                        <a:pt x="0" y="96"/>
                      </a:moveTo>
                      <a:lnTo>
                        <a:pt x="0" y="96"/>
                      </a:lnTo>
                      <a:lnTo>
                        <a:pt x="2" y="46"/>
                      </a:lnTo>
                      <a:lnTo>
                        <a:pt x="86" y="0"/>
                      </a:lnTo>
                      <a:lnTo>
                        <a:pt x="83" y="49"/>
                      </a:lnTo>
                      <a:lnTo>
                        <a:pt x="0" y="96"/>
                      </a:lnTo>
                    </a:path>
                  </a:pathLst>
                </a:custGeom>
                <a:solidFill>
                  <a:srgbClr val="BB1A50"/>
                </a:solidFill>
                <a:ln w="9525" cap="rnd">
                  <a:noFill/>
                  <a:round/>
                </a:ln>
              </p:spPr>
              <p:txBody>
                <a:bodyPr/>
                <a:lstStyle/>
                <a:p>
                  <a:endParaRPr lang="zh-CN" altLang="en-US"/>
                </a:p>
              </p:txBody>
            </p:sp>
            <p:sp>
              <p:nvSpPr>
                <p:cNvPr id="11640" name="Freeform 168"/>
                <p:cNvSpPr/>
                <p:nvPr/>
              </p:nvSpPr>
              <p:spPr bwMode="auto">
                <a:xfrm>
                  <a:off x="2372" y="2042"/>
                  <a:ext cx="34" cy="65"/>
                </a:xfrm>
                <a:custGeom>
                  <a:avLst/>
                  <a:gdLst>
                    <a:gd name="T0" fmla="*/ 30 w 34"/>
                    <a:gd name="T1" fmla="*/ 64 h 65"/>
                    <a:gd name="T2" fmla="*/ 30 w 34"/>
                    <a:gd name="T3" fmla="*/ 64 h 65"/>
                    <a:gd name="T4" fmla="*/ 0 w 34"/>
                    <a:gd name="T5" fmla="*/ 51 h 65"/>
                    <a:gd name="T6" fmla="*/ 2 w 34"/>
                    <a:gd name="T7" fmla="*/ 0 h 65"/>
                    <a:gd name="T8" fmla="*/ 33 w 34"/>
                    <a:gd name="T9" fmla="*/ 15 h 65"/>
                    <a:gd name="T10" fmla="*/ 30 w 34"/>
                    <a:gd name="T11" fmla="*/ 64 h 65"/>
                    <a:gd name="T12" fmla="*/ 0 60000 65536"/>
                    <a:gd name="T13" fmla="*/ 0 60000 65536"/>
                    <a:gd name="T14" fmla="*/ 0 60000 65536"/>
                    <a:gd name="T15" fmla="*/ 0 60000 65536"/>
                    <a:gd name="T16" fmla="*/ 0 60000 65536"/>
                    <a:gd name="T17" fmla="*/ 0 60000 65536"/>
                    <a:gd name="T18" fmla="*/ 0 w 34"/>
                    <a:gd name="T19" fmla="*/ 0 h 65"/>
                    <a:gd name="T20" fmla="*/ 34 w 34"/>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34" h="65">
                      <a:moveTo>
                        <a:pt x="30" y="64"/>
                      </a:moveTo>
                      <a:lnTo>
                        <a:pt x="30" y="64"/>
                      </a:lnTo>
                      <a:lnTo>
                        <a:pt x="0" y="51"/>
                      </a:lnTo>
                      <a:lnTo>
                        <a:pt x="2" y="0"/>
                      </a:lnTo>
                      <a:lnTo>
                        <a:pt x="33" y="15"/>
                      </a:lnTo>
                      <a:lnTo>
                        <a:pt x="30" y="64"/>
                      </a:lnTo>
                    </a:path>
                  </a:pathLst>
                </a:custGeom>
                <a:solidFill>
                  <a:srgbClr val="9E0005"/>
                </a:solidFill>
                <a:ln w="9525" cap="rnd">
                  <a:noFill/>
                  <a:round/>
                </a:ln>
              </p:spPr>
              <p:txBody>
                <a:bodyPr/>
                <a:lstStyle/>
                <a:p>
                  <a:endParaRPr lang="zh-CN" altLang="en-US"/>
                </a:p>
              </p:txBody>
            </p:sp>
            <p:sp>
              <p:nvSpPr>
                <p:cNvPr id="11641" name="Freeform 169"/>
                <p:cNvSpPr/>
                <p:nvPr/>
              </p:nvSpPr>
              <p:spPr bwMode="auto">
                <a:xfrm>
                  <a:off x="2375" y="1993"/>
                  <a:ext cx="117" cy="63"/>
                </a:xfrm>
                <a:custGeom>
                  <a:avLst/>
                  <a:gdLst>
                    <a:gd name="T0" fmla="*/ 33 w 117"/>
                    <a:gd name="T1" fmla="*/ 62 h 63"/>
                    <a:gd name="T2" fmla="*/ 33 w 117"/>
                    <a:gd name="T3" fmla="*/ 62 h 63"/>
                    <a:gd name="T4" fmla="*/ 0 w 117"/>
                    <a:gd name="T5" fmla="*/ 46 h 63"/>
                    <a:gd name="T6" fmla="*/ 82 w 117"/>
                    <a:gd name="T7" fmla="*/ 0 h 63"/>
                    <a:gd name="T8" fmla="*/ 116 w 117"/>
                    <a:gd name="T9" fmla="*/ 15 h 63"/>
                    <a:gd name="T10" fmla="*/ 33 w 117"/>
                    <a:gd name="T11" fmla="*/ 62 h 63"/>
                    <a:gd name="T12" fmla="*/ 0 60000 65536"/>
                    <a:gd name="T13" fmla="*/ 0 60000 65536"/>
                    <a:gd name="T14" fmla="*/ 0 60000 65536"/>
                    <a:gd name="T15" fmla="*/ 0 60000 65536"/>
                    <a:gd name="T16" fmla="*/ 0 60000 65536"/>
                    <a:gd name="T17" fmla="*/ 0 60000 65536"/>
                    <a:gd name="T18" fmla="*/ 0 w 117"/>
                    <a:gd name="T19" fmla="*/ 0 h 63"/>
                    <a:gd name="T20" fmla="*/ 117 w 117"/>
                    <a:gd name="T21" fmla="*/ 63 h 63"/>
                  </a:gdLst>
                  <a:ahLst/>
                  <a:cxnLst>
                    <a:cxn ang="T12">
                      <a:pos x="T0" y="T1"/>
                    </a:cxn>
                    <a:cxn ang="T13">
                      <a:pos x="T2" y="T3"/>
                    </a:cxn>
                    <a:cxn ang="T14">
                      <a:pos x="T4" y="T5"/>
                    </a:cxn>
                    <a:cxn ang="T15">
                      <a:pos x="T6" y="T7"/>
                    </a:cxn>
                    <a:cxn ang="T16">
                      <a:pos x="T8" y="T9"/>
                    </a:cxn>
                    <a:cxn ang="T17">
                      <a:pos x="T10" y="T11"/>
                    </a:cxn>
                  </a:cxnLst>
                  <a:rect l="T18" t="T19" r="T20" b="T21"/>
                  <a:pathLst>
                    <a:path w="117" h="63">
                      <a:moveTo>
                        <a:pt x="33" y="62"/>
                      </a:moveTo>
                      <a:lnTo>
                        <a:pt x="33" y="62"/>
                      </a:lnTo>
                      <a:lnTo>
                        <a:pt x="0" y="46"/>
                      </a:lnTo>
                      <a:lnTo>
                        <a:pt x="82" y="0"/>
                      </a:lnTo>
                      <a:lnTo>
                        <a:pt x="116" y="15"/>
                      </a:lnTo>
                      <a:lnTo>
                        <a:pt x="33" y="62"/>
                      </a:lnTo>
                    </a:path>
                  </a:pathLst>
                </a:custGeom>
                <a:solidFill>
                  <a:srgbClr val="CF5C82"/>
                </a:solidFill>
                <a:ln w="9525" cap="rnd">
                  <a:noFill/>
                  <a:round/>
                </a:ln>
              </p:spPr>
              <p:txBody>
                <a:bodyPr/>
                <a:lstStyle/>
                <a:p>
                  <a:endParaRPr lang="zh-CN" altLang="en-US"/>
                </a:p>
              </p:txBody>
            </p:sp>
          </p:grpSp>
          <p:grpSp>
            <p:nvGrpSpPr>
              <p:cNvPr id="250241" name="Group 170"/>
              <p:cNvGrpSpPr/>
              <p:nvPr/>
            </p:nvGrpSpPr>
            <p:grpSpPr bwMode="auto">
              <a:xfrm>
                <a:off x="2272" y="2047"/>
                <a:ext cx="129" cy="117"/>
                <a:chOff x="2272" y="2047"/>
                <a:chExt cx="129" cy="117"/>
              </a:xfrm>
            </p:grpSpPr>
            <p:sp>
              <p:nvSpPr>
                <p:cNvPr id="11636" name="Freeform 171"/>
                <p:cNvSpPr/>
                <p:nvPr/>
              </p:nvSpPr>
              <p:spPr bwMode="auto">
                <a:xfrm>
                  <a:off x="2312" y="2064"/>
                  <a:ext cx="89" cy="100"/>
                </a:xfrm>
                <a:custGeom>
                  <a:avLst/>
                  <a:gdLst>
                    <a:gd name="T0" fmla="*/ 0 w 89"/>
                    <a:gd name="T1" fmla="*/ 99 h 100"/>
                    <a:gd name="T2" fmla="*/ 0 w 89"/>
                    <a:gd name="T3" fmla="*/ 99 h 100"/>
                    <a:gd name="T4" fmla="*/ 2 w 89"/>
                    <a:gd name="T5" fmla="*/ 49 h 100"/>
                    <a:gd name="T6" fmla="*/ 88 w 89"/>
                    <a:gd name="T7" fmla="*/ 0 h 100"/>
                    <a:gd name="T8" fmla="*/ 88 w 89"/>
                    <a:gd name="T9" fmla="*/ 49 h 100"/>
                    <a:gd name="T10" fmla="*/ 0 w 89"/>
                    <a:gd name="T11" fmla="*/ 99 h 100"/>
                    <a:gd name="T12" fmla="*/ 0 60000 65536"/>
                    <a:gd name="T13" fmla="*/ 0 60000 65536"/>
                    <a:gd name="T14" fmla="*/ 0 60000 65536"/>
                    <a:gd name="T15" fmla="*/ 0 60000 65536"/>
                    <a:gd name="T16" fmla="*/ 0 60000 65536"/>
                    <a:gd name="T17" fmla="*/ 0 60000 65536"/>
                    <a:gd name="T18" fmla="*/ 0 w 89"/>
                    <a:gd name="T19" fmla="*/ 0 h 100"/>
                    <a:gd name="T20" fmla="*/ 89 w 89"/>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89" h="100">
                      <a:moveTo>
                        <a:pt x="0" y="99"/>
                      </a:moveTo>
                      <a:lnTo>
                        <a:pt x="0" y="99"/>
                      </a:lnTo>
                      <a:lnTo>
                        <a:pt x="2" y="49"/>
                      </a:lnTo>
                      <a:lnTo>
                        <a:pt x="88" y="0"/>
                      </a:lnTo>
                      <a:lnTo>
                        <a:pt x="88" y="49"/>
                      </a:lnTo>
                      <a:lnTo>
                        <a:pt x="0" y="99"/>
                      </a:lnTo>
                    </a:path>
                  </a:pathLst>
                </a:custGeom>
                <a:solidFill>
                  <a:srgbClr val="BB1A50"/>
                </a:solidFill>
                <a:ln w="9525" cap="rnd">
                  <a:noFill/>
                  <a:round/>
                </a:ln>
              </p:spPr>
              <p:txBody>
                <a:bodyPr/>
                <a:lstStyle/>
                <a:p>
                  <a:endParaRPr lang="zh-CN" altLang="en-US"/>
                </a:p>
              </p:txBody>
            </p:sp>
            <p:sp>
              <p:nvSpPr>
                <p:cNvPr id="11637" name="Freeform 172"/>
                <p:cNvSpPr/>
                <p:nvPr/>
              </p:nvSpPr>
              <p:spPr bwMode="auto">
                <a:xfrm>
                  <a:off x="2272" y="2099"/>
                  <a:ext cx="41" cy="65"/>
                </a:xfrm>
                <a:custGeom>
                  <a:avLst/>
                  <a:gdLst>
                    <a:gd name="T0" fmla="*/ 37 w 41"/>
                    <a:gd name="T1" fmla="*/ 64 h 65"/>
                    <a:gd name="T2" fmla="*/ 37 w 41"/>
                    <a:gd name="T3" fmla="*/ 64 h 65"/>
                    <a:gd name="T4" fmla="*/ 0 w 41"/>
                    <a:gd name="T5" fmla="*/ 51 h 65"/>
                    <a:gd name="T6" fmla="*/ 2 w 41"/>
                    <a:gd name="T7" fmla="*/ 0 h 65"/>
                    <a:gd name="T8" fmla="*/ 40 w 41"/>
                    <a:gd name="T9" fmla="*/ 15 h 65"/>
                    <a:gd name="T10" fmla="*/ 37 w 41"/>
                    <a:gd name="T11" fmla="*/ 64 h 65"/>
                    <a:gd name="T12" fmla="*/ 0 60000 65536"/>
                    <a:gd name="T13" fmla="*/ 0 60000 65536"/>
                    <a:gd name="T14" fmla="*/ 0 60000 65536"/>
                    <a:gd name="T15" fmla="*/ 0 60000 65536"/>
                    <a:gd name="T16" fmla="*/ 0 60000 65536"/>
                    <a:gd name="T17" fmla="*/ 0 60000 65536"/>
                    <a:gd name="T18" fmla="*/ 0 w 41"/>
                    <a:gd name="T19" fmla="*/ 0 h 65"/>
                    <a:gd name="T20" fmla="*/ 41 w 41"/>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41" h="65">
                      <a:moveTo>
                        <a:pt x="37" y="64"/>
                      </a:moveTo>
                      <a:lnTo>
                        <a:pt x="37" y="64"/>
                      </a:lnTo>
                      <a:lnTo>
                        <a:pt x="0" y="51"/>
                      </a:lnTo>
                      <a:lnTo>
                        <a:pt x="2" y="0"/>
                      </a:lnTo>
                      <a:lnTo>
                        <a:pt x="40" y="15"/>
                      </a:lnTo>
                      <a:lnTo>
                        <a:pt x="37" y="64"/>
                      </a:lnTo>
                    </a:path>
                  </a:pathLst>
                </a:custGeom>
                <a:solidFill>
                  <a:srgbClr val="9E0005"/>
                </a:solidFill>
                <a:ln w="9525" cap="rnd">
                  <a:noFill/>
                  <a:round/>
                </a:ln>
              </p:spPr>
              <p:txBody>
                <a:bodyPr/>
                <a:lstStyle/>
                <a:p>
                  <a:endParaRPr lang="zh-CN" altLang="en-US"/>
                </a:p>
              </p:txBody>
            </p:sp>
            <p:sp>
              <p:nvSpPr>
                <p:cNvPr id="11638" name="Freeform 173"/>
                <p:cNvSpPr/>
                <p:nvPr/>
              </p:nvSpPr>
              <p:spPr bwMode="auto">
                <a:xfrm>
                  <a:off x="2275" y="2047"/>
                  <a:ext cx="126" cy="67"/>
                </a:xfrm>
                <a:custGeom>
                  <a:avLst/>
                  <a:gdLst>
                    <a:gd name="T0" fmla="*/ 39 w 126"/>
                    <a:gd name="T1" fmla="*/ 66 h 67"/>
                    <a:gd name="T2" fmla="*/ 39 w 126"/>
                    <a:gd name="T3" fmla="*/ 66 h 67"/>
                    <a:gd name="T4" fmla="*/ 0 w 126"/>
                    <a:gd name="T5" fmla="*/ 50 h 67"/>
                    <a:gd name="T6" fmla="*/ 91 w 126"/>
                    <a:gd name="T7" fmla="*/ 0 h 67"/>
                    <a:gd name="T8" fmla="*/ 125 w 126"/>
                    <a:gd name="T9" fmla="*/ 15 h 67"/>
                    <a:gd name="T10" fmla="*/ 39 w 126"/>
                    <a:gd name="T11" fmla="*/ 66 h 67"/>
                    <a:gd name="T12" fmla="*/ 0 60000 65536"/>
                    <a:gd name="T13" fmla="*/ 0 60000 65536"/>
                    <a:gd name="T14" fmla="*/ 0 60000 65536"/>
                    <a:gd name="T15" fmla="*/ 0 60000 65536"/>
                    <a:gd name="T16" fmla="*/ 0 60000 65536"/>
                    <a:gd name="T17" fmla="*/ 0 60000 65536"/>
                    <a:gd name="T18" fmla="*/ 0 w 126"/>
                    <a:gd name="T19" fmla="*/ 0 h 67"/>
                    <a:gd name="T20" fmla="*/ 126 w 126"/>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126" h="67">
                      <a:moveTo>
                        <a:pt x="39" y="66"/>
                      </a:moveTo>
                      <a:lnTo>
                        <a:pt x="39" y="66"/>
                      </a:lnTo>
                      <a:lnTo>
                        <a:pt x="0" y="50"/>
                      </a:lnTo>
                      <a:lnTo>
                        <a:pt x="91" y="0"/>
                      </a:lnTo>
                      <a:lnTo>
                        <a:pt x="125" y="15"/>
                      </a:lnTo>
                      <a:lnTo>
                        <a:pt x="39" y="66"/>
                      </a:lnTo>
                    </a:path>
                  </a:pathLst>
                </a:custGeom>
                <a:solidFill>
                  <a:srgbClr val="CF5C82"/>
                </a:solidFill>
                <a:ln w="9525" cap="rnd">
                  <a:noFill/>
                  <a:round/>
                </a:ln>
              </p:spPr>
              <p:txBody>
                <a:bodyPr/>
                <a:lstStyle/>
                <a:p>
                  <a:endParaRPr lang="zh-CN" altLang="en-US"/>
                </a:p>
              </p:txBody>
            </p:sp>
          </p:grpSp>
          <p:grpSp>
            <p:nvGrpSpPr>
              <p:cNvPr id="250242" name="Group 174"/>
              <p:cNvGrpSpPr/>
              <p:nvPr/>
            </p:nvGrpSpPr>
            <p:grpSpPr bwMode="auto">
              <a:xfrm>
                <a:off x="2167" y="2106"/>
                <a:ext cx="140" cy="123"/>
                <a:chOff x="2167" y="2106"/>
                <a:chExt cx="140" cy="123"/>
              </a:xfrm>
            </p:grpSpPr>
            <p:sp>
              <p:nvSpPr>
                <p:cNvPr id="11633" name="Freeform 175"/>
                <p:cNvSpPr/>
                <p:nvPr/>
              </p:nvSpPr>
              <p:spPr bwMode="auto">
                <a:xfrm>
                  <a:off x="2208" y="2122"/>
                  <a:ext cx="98" cy="107"/>
                </a:xfrm>
                <a:custGeom>
                  <a:avLst/>
                  <a:gdLst>
                    <a:gd name="T0" fmla="*/ 0 w 98"/>
                    <a:gd name="T1" fmla="*/ 106 h 107"/>
                    <a:gd name="T2" fmla="*/ 0 w 98"/>
                    <a:gd name="T3" fmla="*/ 106 h 107"/>
                    <a:gd name="T4" fmla="*/ 0 w 98"/>
                    <a:gd name="T5" fmla="*/ 53 h 107"/>
                    <a:gd name="T6" fmla="*/ 97 w 98"/>
                    <a:gd name="T7" fmla="*/ 0 h 107"/>
                    <a:gd name="T8" fmla="*/ 94 w 98"/>
                    <a:gd name="T9" fmla="*/ 50 h 107"/>
                    <a:gd name="T10" fmla="*/ 0 w 98"/>
                    <a:gd name="T11" fmla="*/ 106 h 107"/>
                    <a:gd name="T12" fmla="*/ 0 60000 65536"/>
                    <a:gd name="T13" fmla="*/ 0 60000 65536"/>
                    <a:gd name="T14" fmla="*/ 0 60000 65536"/>
                    <a:gd name="T15" fmla="*/ 0 60000 65536"/>
                    <a:gd name="T16" fmla="*/ 0 60000 65536"/>
                    <a:gd name="T17" fmla="*/ 0 60000 65536"/>
                    <a:gd name="T18" fmla="*/ 0 w 98"/>
                    <a:gd name="T19" fmla="*/ 0 h 107"/>
                    <a:gd name="T20" fmla="*/ 98 w 98"/>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98" h="107">
                      <a:moveTo>
                        <a:pt x="0" y="106"/>
                      </a:moveTo>
                      <a:lnTo>
                        <a:pt x="0" y="106"/>
                      </a:lnTo>
                      <a:lnTo>
                        <a:pt x="0" y="53"/>
                      </a:lnTo>
                      <a:lnTo>
                        <a:pt x="97" y="0"/>
                      </a:lnTo>
                      <a:lnTo>
                        <a:pt x="94" y="50"/>
                      </a:lnTo>
                      <a:lnTo>
                        <a:pt x="0" y="106"/>
                      </a:lnTo>
                    </a:path>
                  </a:pathLst>
                </a:custGeom>
                <a:solidFill>
                  <a:srgbClr val="BB1A50"/>
                </a:solidFill>
                <a:ln w="9525" cap="rnd">
                  <a:noFill/>
                  <a:round/>
                </a:ln>
              </p:spPr>
              <p:txBody>
                <a:bodyPr/>
                <a:lstStyle/>
                <a:p>
                  <a:endParaRPr lang="zh-CN" altLang="en-US"/>
                </a:p>
              </p:txBody>
            </p:sp>
            <p:sp>
              <p:nvSpPr>
                <p:cNvPr id="11634" name="Freeform 176"/>
                <p:cNvSpPr/>
                <p:nvPr/>
              </p:nvSpPr>
              <p:spPr bwMode="auto">
                <a:xfrm>
                  <a:off x="2167" y="2162"/>
                  <a:ext cx="41" cy="67"/>
                </a:xfrm>
                <a:custGeom>
                  <a:avLst/>
                  <a:gdLst>
                    <a:gd name="T0" fmla="*/ 40 w 41"/>
                    <a:gd name="T1" fmla="*/ 66 h 67"/>
                    <a:gd name="T2" fmla="*/ 40 w 41"/>
                    <a:gd name="T3" fmla="*/ 66 h 67"/>
                    <a:gd name="T4" fmla="*/ 0 w 41"/>
                    <a:gd name="T5" fmla="*/ 56 h 67"/>
                    <a:gd name="T6" fmla="*/ 0 w 41"/>
                    <a:gd name="T7" fmla="*/ 0 h 67"/>
                    <a:gd name="T8" fmla="*/ 40 w 41"/>
                    <a:gd name="T9" fmla="*/ 12 h 67"/>
                    <a:gd name="T10" fmla="*/ 40 w 41"/>
                    <a:gd name="T11" fmla="*/ 66 h 67"/>
                    <a:gd name="T12" fmla="*/ 0 60000 65536"/>
                    <a:gd name="T13" fmla="*/ 0 60000 65536"/>
                    <a:gd name="T14" fmla="*/ 0 60000 65536"/>
                    <a:gd name="T15" fmla="*/ 0 60000 65536"/>
                    <a:gd name="T16" fmla="*/ 0 60000 65536"/>
                    <a:gd name="T17" fmla="*/ 0 60000 65536"/>
                    <a:gd name="T18" fmla="*/ 0 w 41"/>
                    <a:gd name="T19" fmla="*/ 0 h 67"/>
                    <a:gd name="T20" fmla="*/ 41 w 41"/>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41" h="67">
                      <a:moveTo>
                        <a:pt x="40" y="66"/>
                      </a:moveTo>
                      <a:lnTo>
                        <a:pt x="40" y="66"/>
                      </a:lnTo>
                      <a:lnTo>
                        <a:pt x="0" y="56"/>
                      </a:lnTo>
                      <a:lnTo>
                        <a:pt x="0" y="0"/>
                      </a:lnTo>
                      <a:lnTo>
                        <a:pt x="40" y="12"/>
                      </a:lnTo>
                      <a:lnTo>
                        <a:pt x="40" y="66"/>
                      </a:lnTo>
                    </a:path>
                  </a:pathLst>
                </a:custGeom>
                <a:solidFill>
                  <a:srgbClr val="9E0005"/>
                </a:solidFill>
                <a:ln w="9525" cap="rnd">
                  <a:noFill/>
                  <a:round/>
                </a:ln>
              </p:spPr>
              <p:txBody>
                <a:bodyPr/>
                <a:lstStyle/>
                <a:p>
                  <a:endParaRPr lang="zh-CN" altLang="en-US"/>
                </a:p>
              </p:txBody>
            </p:sp>
            <p:sp>
              <p:nvSpPr>
                <p:cNvPr id="11635" name="Freeform 177"/>
                <p:cNvSpPr/>
                <p:nvPr/>
              </p:nvSpPr>
              <p:spPr bwMode="auto">
                <a:xfrm>
                  <a:off x="2167" y="2106"/>
                  <a:ext cx="140" cy="68"/>
                </a:xfrm>
                <a:custGeom>
                  <a:avLst/>
                  <a:gdLst>
                    <a:gd name="T0" fmla="*/ 41 w 140"/>
                    <a:gd name="T1" fmla="*/ 67 h 68"/>
                    <a:gd name="T2" fmla="*/ 41 w 140"/>
                    <a:gd name="T3" fmla="*/ 67 h 68"/>
                    <a:gd name="T4" fmla="*/ 0 w 140"/>
                    <a:gd name="T5" fmla="*/ 54 h 68"/>
                    <a:gd name="T6" fmla="*/ 99 w 140"/>
                    <a:gd name="T7" fmla="*/ 0 h 68"/>
                    <a:gd name="T8" fmla="*/ 139 w 140"/>
                    <a:gd name="T9" fmla="*/ 15 h 68"/>
                    <a:gd name="T10" fmla="*/ 41 w 140"/>
                    <a:gd name="T11" fmla="*/ 67 h 68"/>
                    <a:gd name="T12" fmla="*/ 0 60000 65536"/>
                    <a:gd name="T13" fmla="*/ 0 60000 65536"/>
                    <a:gd name="T14" fmla="*/ 0 60000 65536"/>
                    <a:gd name="T15" fmla="*/ 0 60000 65536"/>
                    <a:gd name="T16" fmla="*/ 0 60000 65536"/>
                    <a:gd name="T17" fmla="*/ 0 60000 65536"/>
                    <a:gd name="T18" fmla="*/ 0 w 140"/>
                    <a:gd name="T19" fmla="*/ 0 h 68"/>
                    <a:gd name="T20" fmla="*/ 140 w 140"/>
                    <a:gd name="T21" fmla="*/ 68 h 68"/>
                  </a:gdLst>
                  <a:ahLst/>
                  <a:cxnLst>
                    <a:cxn ang="T12">
                      <a:pos x="T0" y="T1"/>
                    </a:cxn>
                    <a:cxn ang="T13">
                      <a:pos x="T2" y="T3"/>
                    </a:cxn>
                    <a:cxn ang="T14">
                      <a:pos x="T4" y="T5"/>
                    </a:cxn>
                    <a:cxn ang="T15">
                      <a:pos x="T6" y="T7"/>
                    </a:cxn>
                    <a:cxn ang="T16">
                      <a:pos x="T8" y="T9"/>
                    </a:cxn>
                    <a:cxn ang="T17">
                      <a:pos x="T10" y="T11"/>
                    </a:cxn>
                  </a:cxnLst>
                  <a:rect l="T18" t="T19" r="T20" b="T21"/>
                  <a:pathLst>
                    <a:path w="140" h="68">
                      <a:moveTo>
                        <a:pt x="41" y="67"/>
                      </a:moveTo>
                      <a:lnTo>
                        <a:pt x="41" y="67"/>
                      </a:lnTo>
                      <a:lnTo>
                        <a:pt x="0" y="54"/>
                      </a:lnTo>
                      <a:lnTo>
                        <a:pt x="99" y="0"/>
                      </a:lnTo>
                      <a:lnTo>
                        <a:pt x="139" y="15"/>
                      </a:lnTo>
                      <a:lnTo>
                        <a:pt x="41" y="67"/>
                      </a:lnTo>
                    </a:path>
                  </a:pathLst>
                </a:custGeom>
                <a:solidFill>
                  <a:srgbClr val="CF5C82"/>
                </a:solidFill>
                <a:ln w="9525" cap="rnd">
                  <a:noFill/>
                  <a:round/>
                </a:ln>
              </p:spPr>
              <p:txBody>
                <a:bodyPr/>
                <a:lstStyle/>
                <a:p>
                  <a:endParaRPr lang="zh-CN" altLang="en-US"/>
                </a:p>
              </p:txBody>
            </p:sp>
          </p:grpSp>
          <p:grpSp>
            <p:nvGrpSpPr>
              <p:cNvPr id="250244" name="Group 178"/>
              <p:cNvGrpSpPr/>
              <p:nvPr/>
            </p:nvGrpSpPr>
            <p:grpSpPr bwMode="auto">
              <a:xfrm>
                <a:off x="2050" y="2167"/>
                <a:ext cx="152" cy="128"/>
                <a:chOff x="2050" y="2167"/>
                <a:chExt cx="152" cy="128"/>
              </a:xfrm>
            </p:grpSpPr>
            <p:sp>
              <p:nvSpPr>
                <p:cNvPr id="11630" name="Freeform 179"/>
                <p:cNvSpPr/>
                <p:nvPr/>
              </p:nvSpPr>
              <p:spPr bwMode="auto">
                <a:xfrm>
                  <a:off x="2098" y="2183"/>
                  <a:ext cx="104" cy="112"/>
                </a:xfrm>
                <a:custGeom>
                  <a:avLst/>
                  <a:gdLst>
                    <a:gd name="T0" fmla="*/ 0 w 104"/>
                    <a:gd name="T1" fmla="*/ 111 h 112"/>
                    <a:gd name="T2" fmla="*/ 0 w 104"/>
                    <a:gd name="T3" fmla="*/ 111 h 112"/>
                    <a:gd name="T4" fmla="*/ 0 w 104"/>
                    <a:gd name="T5" fmla="*/ 55 h 112"/>
                    <a:gd name="T6" fmla="*/ 103 w 104"/>
                    <a:gd name="T7" fmla="*/ 0 h 112"/>
                    <a:gd name="T8" fmla="*/ 103 w 104"/>
                    <a:gd name="T9" fmla="*/ 52 h 112"/>
                    <a:gd name="T10" fmla="*/ 0 w 104"/>
                    <a:gd name="T11" fmla="*/ 111 h 112"/>
                    <a:gd name="T12" fmla="*/ 0 60000 65536"/>
                    <a:gd name="T13" fmla="*/ 0 60000 65536"/>
                    <a:gd name="T14" fmla="*/ 0 60000 65536"/>
                    <a:gd name="T15" fmla="*/ 0 60000 65536"/>
                    <a:gd name="T16" fmla="*/ 0 60000 65536"/>
                    <a:gd name="T17" fmla="*/ 0 60000 65536"/>
                    <a:gd name="T18" fmla="*/ 0 w 104"/>
                    <a:gd name="T19" fmla="*/ 0 h 112"/>
                    <a:gd name="T20" fmla="*/ 104 w 104"/>
                    <a:gd name="T21" fmla="*/ 112 h 112"/>
                  </a:gdLst>
                  <a:ahLst/>
                  <a:cxnLst>
                    <a:cxn ang="T12">
                      <a:pos x="T0" y="T1"/>
                    </a:cxn>
                    <a:cxn ang="T13">
                      <a:pos x="T2" y="T3"/>
                    </a:cxn>
                    <a:cxn ang="T14">
                      <a:pos x="T4" y="T5"/>
                    </a:cxn>
                    <a:cxn ang="T15">
                      <a:pos x="T6" y="T7"/>
                    </a:cxn>
                    <a:cxn ang="T16">
                      <a:pos x="T8" y="T9"/>
                    </a:cxn>
                    <a:cxn ang="T17">
                      <a:pos x="T10" y="T11"/>
                    </a:cxn>
                  </a:cxnLst>
                  <a:rect l="T18" t="T19" r="T20" b="T21"/>
                  <a:pathLst>
                    <a:path w="104" h="112">
                      <a:moveTo>
                        <a:pt x="0" y="111"/>
                      </a:moveTo>
                      <a:lnTo>
                        <a:pt x="0" y="111"/>
                      </a:lnTo>
                      <a:lnTo>
                        <a:pt x="0" y="55"/>
                      </a:lnTo>
                      <a:lnTo>
                        <a:pt x="103" y="0"/>
                      </a:lnTo>
                      <a:lnTo>
                        <a:pt x="103" y="52"/>
                      </a:lnTo>
                      <a:lnTo>
                        <a:pt x="0" y="111"/>
                      </a:lnTo>
                    </a:path>
                  </a:pathLst>
                </a:custGeom>
                <a:solidFill>
                  <a:srgbClr val="BB1A50"/>
                </a:solidFill>
                <a:ln w="9525" cap="rnd">
                  <a:noFill/>
                  <a:round/>
                </a:ln>
              </p:spPr>
              <p:txBody>
                <a:bodyPr/>
                <a:lstStyle/>
                <a:p>
                  <a:endParaRPr lang="zh-CN" altLang="en-US"/>
                </a:p>
              </p:txBody>
            </p:sp>
            <p:sp>
              <p:nvSpPr>
                <p:cNvPr id="11631" name="Freeform 180"/>
                <p:cNvSpPr/>
                <p:nvPr/>
              </p:nvSpPr>
              <p:spPr bwMode="auto">
                <a:xfrm>
                  <a:off x="2051" y="2231"/>
                  <a:ext cx="47" cy="64"/>
                </a:xfrm>
                <a:custGeom>
                  <a:avLst/>
                  <a:gdLst>
                    <a:gd name="T0" fmla="*/ 46 w 47"/>
                    <a:gd name="T1" fmla="*/ 63 h 64"/>
                    <a:gd name="T2" fmla="*/ 46 w 47"/>
                    <a:gd name="T3" fmla="*/ 63 h 64"/>
                    <a:gd name="T4" fmla="*/ 0 w 47"/>
                    <a:gd name="T5" fmla="*/ 54 h 64"/>
                    <a:gd name="T6" fmla="*/ 0 w 47"/>
                    <a:gd name="T7" fmla="*/ 0 h 64"/>
                    <a:gd name="T8" fmla="*/ 46 w 47"/>
                    <a:gd name="T9" fmla="*/ 9 h 64"/>
                    <a:gd name="T10" fmla="*/ 46 w 47"/>
                    <a:gd name="T11" fmla="*/ 63 h 64"/>
                    <a:gd name="T12" fmla="*/ 0 60000 65536"/>
                    <a:gd name="T13" fmla="*/ 0 60000 65536"/>
                    <a:gd name="T14" fmla="*/ 0 60000 65536"/>
                    <a:gd name="T15" fmla="*/ 0 60000 65536"/>
                    <a:gd name="T16" fmla="*/ 0 60000 65536"/>
                    <a:gd name="T17" fmla="*/ 0 60000 65536"/>
                    <a:gd name="T18" fmla="*/ 0 w 47"/>
                    <a:gd name="T19" fmla="*/ 0 h 64"/>
                    <a:gd name="T20" fmla="*/ 47 w 47"/>
                    <a:gd name="T21" fmla="*/ 64 h 64"/>
                  </a:gdLst>
                  <a:ahLst/>
                  <a:cxnLst>
                    <a:cxn ang="T12">
                      <a:pos x="T0" y="T1"/>
                    </a:cxn>
                    <a:cxn ang="T13">
                      <a:pos x="T2" y="T3"/>
                    </a:cxn>
                    <a:cxn ang="T14">
                      <a:pos x="T4" y="T5"/>
                    </a:cxn>
                    <a:cxn ang="T15">
                      <a:pos x="T6" y="T7"/>
                    </a:cxn>
                    <a:cxn ang="T16">
                      <a:pos x="T8" y="T9"/>
                    </a:cxn>
                    <a:cxn ang="T17">
                      <a:pos x="T10" y="T11"/>
                    </a:cxn>
                  </a:cxnLst>
                  <a:rect l="T18" t="T19" r="T20" b="T21"/>
                  <a:pathLst>
                    <a:path w="47" h="64">
                      <a:moveTo>
                        <a:pt x="46" y="63"/>
                      </a:moveTo>
                      <a:lnTo>
                        <a:pt x="46" y="63"/>
                      </a:lnTo>
                      <a:lnTo>
                        <a:pt x="0" y="54"/>
                      </a:lnTo>
                      <a:lnTo>
                        <a:pt x="0" y="0"/>
                      </a:lnTo>
                      <a:lnTo>
                        <a:pt x="46" y="9"/>
                      </a:lnTo>
                      <a:lnTo>
                        <a:pt x="46" y="63"/>
                      </a:lnTo>
                    </a:path>
                  </a:pathLst>
                </a:custGeom>
                <a:solidFill>
                  <a:srgbClr val="9E0005"/>
                </a:solidFill>
                <a:ln w="9525" cap="rnd">
                  <a:noFill/>
                  <a:round/>
                </a:ln>
              </p:spPr>
              <p:txBody>
                <a:bodyPr/>
                <a:lstStyle/>
                <a:p>
                  <a:endParaRPr lang="zh-CN" altLang="en-US"/>
                </a:p>
              </p:txBody>
            </p:sp>
            <p:sp>
              <p:nvSpPr>
                <p:cNvPr id="11632" name="Freeform 181"/>
                <p:cNvSpPr/>
                <p:nvPr/>
              </p:nvSpPr>
              <p:spPr bwMode="auto">
                <a:xfrm>
                  <a:off x="2050" y="2167"/>
                  <a:ext cx="152" cy="71"/>
                </a:xfrm>
                <a:custGeom>
                  <a:avLst/>
                  <a:gdLst>
                    <a:gd name="T0" fmla="*/ 47 w 152"/>
                    <a:gd name="T1" fmla="*/ 70 h 71"/>
                    <a:gd name="T2" fmla="*/ 47 w 152"/>
                    <a:gd name="T3" fmla="*/ 70 h 71"/>
                    <a:gd name="T4" fmla="*/ 0 w 152"/>
                    <a:gd name="T5" fmla="*/ 57 h 71"/>
                    <a:gd name="T6" fmla="*/ 109 w 152"/>
                    <a:gd name="T7" fmla="*/ 0 h 71"/>
                    <a:gd name="T8" fmla="*/ 151 w 152"/>
                    <a:gd name="T9" fmla="*/ 15 h 71"/>
                    <a:gd name="T10" fmla="*/ 47 w 152"/>
                    <a:gd name="T11" fmla="*/ 70 h 71"/>
                    <a:gd name="T12" fmla="*/ 0 60000 65536"/>
                    <a:gd name="T13" fmla="*/ 0 60000 65536"/>
                    <a:gd name="T14" fmla="*/ 0 60000 65536"/>
                    <a:gd name="T15" fmla="*/ 0 60000 65536"/>
                    <a:gd name="T16" fmla="*/ 0 60000 65536"/>
                    <a:gd name="T17" fmla="*/ 0 60000 65536"/>
                    <a:gd name="T18" fmla="*/ 0 w 152"/>
                    <a:gd name="T19" fmla="*/ 0 h 71"/>
                    <a:gd name="T20" fmla="*/ 152 w 152"/>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152" h="71">
                      <a:moveTo>
                        <a:pt x="47" y="70"/>
                      </a:moveTo>
                      <a:lnTo>
                        <a:pt x="47" y="70"/>
                      </a:lnTo>
                      <a:lnTo>
                        <a:pt x="0" y="57"/>
                      </a:lnTo>
                      <a:lnTo>
                        <a:pt x="109" y="0"/>
                      </a:lnTo>
                      <a:lnTo>
                        <a:pt x="151" y="15"/>
                      </a:lnTo>
                      <a:lnTo>
                        <a:pt x="47" y="70"/>
                      </a:lnTo>
                    </a:path>
                  </a:pathLst>
                </a:custGeom>
                <a:solidFill>
                  <a:srgbClr val="CF5C82"/>
                </a:solidFill>
                <a:ln w="9525" cap="rnd">
                  <a:noFill/>
                  <a:round/>
                </a:ln>
              </p:spPr>
              <p:txBody>
                <a:bodyPr/>
                <a:lstStyle/>
                <a:p>
                  <a:endParaRPr lang="zh-CN" altLang="en-US"/>
                </a:p>
              </p:txBody>
            </p:sp>
          </p:grpSp>
          <p:sp>
            <p:nvSpPr>
              <p:cNvPr id="11599" name="Freeform 182"/>
              <p:cNvSpPr/>
              <p:nvPr/>
            </p:nvSpPr>
            <p:spPr bwMode="auto">
              <a:xfrm>
                <a:off x="2491" y="2003"/>
                <a:ext cx="17" cy="53"/>
              </a:xfrm>
              <a:custGeom>
                <a:avLst/>
                <a:gdLst>
                  <a:gd name="T0" fmla="*/ 0 w 17"/>
                  <a:gd name="T1" fmla="*/ 52 h 53"/>
                  <a:gd name="T2" fmla="*/ 0 w 17"/>
                  <a:gd name="T3" fmla="*/ 52 h 53"/>
                  <a:gd name="T4" fmla="*/ 0 w 17"/>
                  <a:gd name="T5" fmla="*/ 27 h 53"/>
                  <a:gd name="T6" fmla="*/ 0 w 17"/>
                  <a:gd name="T7" fmla="*/ 17 h 53"/>
                  <a:gd name="T8" fmla="*/ 4 w 17"/>
                  <a:gd name="T9" fmla="*/ 8 h 53"/>
                  <a:gd name="T10" fmla="*/ 4 w 17"/>
                  <a:gd name="T11" fmla="*/ 6 h 53"/>
                  <a:gd name="T12" fmla="*/ 4 w 17"/>
                  <a:gd name="T13" fmla="*/ 2 h 53"/>
                  <a:gd name="T14" fmla="*/ 4 w 17"/>
                  <a:gd name="T15" fmla="*/ 0 h 53"/>
                  <a:gd name="T16" fmla="*/ 11 w 17"/>
                  <a:gd name="T17" fmla="*/ 0 h 53"/>
                  <a:gd name="T18" fmla="*/ 16 w 17"/>
                  <a:gd name="T19" fmla="*/ 0 h 53"/>
                  <a:gd name="T20" fmla="*/ 11 w 17"/>
                  <a:gd name="T21" fmla="*/ 24 h 53"/>
                  <a:gd name="T22" fmla="*/ 11 w 17"/>
                  <a:gd name="T23" fmla="*/ 49 h 53"/>
                  <a:gd name="T24" fmla="*/ 4 w 17"/>
                  <a:gd name="T25" fmla="*/ 49 h 53"/>
                  <a:gd name="T26" fmla="*/ 0 w 17"/>
                  <a:gd name="T27" fmla="*/ 52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53"/>
                  <a:gd name="T44" fmla="*/ 17 w 17"/>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53">
                    <a:moveTo>
                      <a:pt x="0" y="52"/>
                    </a:moveTo>
                    <a:lnTo>
                      <a:pt x="0" y="52"/>
                    </a:lnTo>
                    <a:lnTo>
                      <a:pt x="0" y="27"/>
                    </a:lnTo>
                    <a:lnTo>
                      <a:pt x="0" y="17"/>
                    </a:lnTo>
                    <a:lnTo>
                      <a:pt x="4" y="8"/>
                    </a:lnTo>
                    <a:lnTo>
                      <a:pt x="4" y="6"/>
                    </a:lnTo>
                    <a:lnTo>
                      <a:pt x="4" y="2"/>
                    </a:lnTo>
                    <a:lnTo>
                      <a:pt x="4" y="0"/>
                    </a:lnTo>
                    <a:lnTo>
                      <a:pt x="11" y="0"/>
                    </a:lnTo>
                    <a:lnTo>
                      <a:pt x="16" y="0"/>
                    </a:lnTo>
                    <a:lnTo>
                      <a:pt x="11" y="24"/>
                    </a:lnTo>
                    <a:lnTo>
                      <a:pt x="11" y="49"/>
                    </a:lnTo>
                    <a:lnTo>
                      <a:pt x="4" y="49"/>
                    </a:lnTo>
                    <a:lnTo>
                      <a:pt x="0" y="52"/>
                    </a:lnTo>
                  </a:path>
                </a:pathLst>
              </a:custGeom>
              <a:solidFill>
                <a:srgbClr val="BDB597"/>
              </a:solidFill>
              <a:ln w="9525" cap="rnd">
                <a:noFill/>
                <a:round/>
              </a:ln>
            </p:spPr>
            <p:txBody>
              <a:bodyPr/>
              <a:lstStyle/>
              <a:p>
                <a:endParaRPr lang="zh-CN" altLang="en-US"/>
              </a:p>
            </p:txBody>
          </p:sp>
          <p:sp>
            <p:nvSpPr>
              <p:cNvPr id="11600" name="Freeform 183"/>
              <p:cNvSpPr/>
              <p:nvPr/>
            </p:nvSpPr>
            <p:spPr bwMode="auto">
              <a:xfrm>
                <a:off x="2099" y="1978"/>
                <a:ext cx="432" cy="263"/>
              </a:xfrm>
              <a:custGeom>
                <a:avLst/>
                <a:gdLst>
                  <a:gd name="T0" fmla="*/ 431 w 432"/>
                  <a:gd name="T1" fmla="*/ 0 h 263"/>
                  <a:gd name="T2" fmla="*/ 431 w 432"/>
                  <a:gd name="T3" fmla="*/ 0 h 263"/>
                  <a:gd name="T4" fmla="*/ 0 w 432"/>
                  <a:gd name="T5" fmla="*/ 255 h 263"/>
                  <a:gd name="T6" fmla="*/ 0 w 432"/>
                  <a:gd name="T7" fmla="*/ 262 h 263"/>
                  <a:gd name="T8" fmla="*/ 431 w 432"/>
                  <a:gd name="T9" fmla="*/ 6 h 263"/>
                  <a:gd name="T10" fmla="*/ 431 w 432"/>
                  <a:gd name="T11" fmla="*/ 0 h 263"/>
                  <a:gd name="T12" fmla="*/ 0 60000 65536"/>
                  <a:gd name="T13" fmla="*/ 0 60000 65536"/>
                  <a:gd name="T14" fmla="*/ 0 60000 65536"/>
                  <a:gd name="T15" fmla="*/ 0 60000 65536"/>
                  <a:gd name="T16" fmla="*/ 0 60000 65536"/>
                  <a:gd name="T17" fmla="*/ 0 60000 65536"/>
                  <a:gd name="T18" fmla="*/ 0 w 432"/>
                  <a:gd name="T19" fmla="*/ 0 h 263"/>
                  <a:gd name="T20" fmla="*/ 432 w 432"/>
                  <a:gd name="T21" fmla="*/ 263 h 263"/>
                </a:gdLst>
                <a:ahLst/>
                <a:cxnLst>
                  <a:cxn ang="T12">
                    <a:pos x="T0" y="T1"/>
                  </a:cxn>
                  <a:cxn ang="T13">
                    <a:pos x="T2" y="T3"/>
                  </a:cxn>
                  <a:cxn ang="T14">
                    <a:pos x="T4" y="T5"/>
                  </a:cxn>
                  <a:cxn ang="T15">
                    <a:pos x="T6" y="T7"/>
                  </a:cxn>
                  <a:cxn ang="T16">
                    <a:pos x="T8" y="T9"/>
                  </a:cxn>
                  <a:cxn ang="T17">
                    <a:pos x="T10" y="T11"/>
                  </a:cxn>
                </a:cxnLst>
                <a:rect l="T18" t="T19" r="T20" b="T21"/>
                <a:pathLst>
                  <a:path w="432" h="263">
                    <a:moveTo>
                      <a:pt x="431" y="0"/>
                    </a:moveTo>
                    <a:lnTo>
                      <a:pt x="431" y="0"/>
                    </a:lnTo>
                    <a:lnTo>
                      <a:pt x="0" y="255"/>
                    </a:lnTo>
                    <a:lnTo>
                      <a:pt x="0" y="262"/>
                    </a:lnTo>
                    <a:lnTo>
                      <a:pt x="431" y="6"/>
                    </a:lnTo>
                    <a:lnTo>
                      <a:pt x="431" y="0"/>
                    </a:lnTo>
                  </a:path>
                </a:pathLst>
              </a:custGeom>
              <a:solidFill>
                <a:srgbClr val="BDB597"/>
              </a:solidFill>
              <a:ln w="9525" cap="rnd">
                <a:noFill/>
                <a:round/>
              </a:ln>
            </p:spPr>
            <p:txBody>
              <a:bodyPr/>
              <a:lstStyle/>
              <a:p>
                <a:endParaRPr lang="zh-CN" altLang="en-US"/>
              </a:p>
            </p:txBody>
          </p:sp>
          <p:sp>
            <p:nvSpPr>
              <p:cNvPr id="11601" name="Freeform 184"/>
              <p:cNvSpPr/>
              <p:nvPr/>
            </p:nvSpPr>
            <p:spPr bwMode="auto">
              <a:xfrm>
                <a:off x="2400" y="2058"/>
                <a:ext cx="17" cy="56"/>
              </a:xfrm>
              <a:custGeom>
                <a:avLst/>
                <a:gdLst>
                  <a:gd name="T0" fmla="*/ 0 w 17"/>
                  <a:gd name="T1" fmla="*/ 55 h 56"/>
                  <a:gd name="T2" fmla="*/ 0 w 17"/>
                  <a:gd name="T3" fmla="*/ 55 h 56"/>
                  <a:gd name="T4" fmla="*/ 4 w 17"/>
                  <a:gd name="T5" fmla="*/ 45 h 56"/>
                  <a:gd name="T6" fmla="*/ 4 w 17"/>
                  <a:gd name="T7" fmla="*/ 27 h 56"/>
                  <a:gd name="T8" fmla="*/ 4 w 17"/>
                  <a:gd name="T9" fmla="*/ 18 h 56"/>
                  <a:gd name="T10" fmla="*/ 4 w 17"/>
                  <a:gd name="T11" fmla="*/ 9 h 56"/>
                  <a:gd name="T12" fmla="*/ 4 w 17"/>
                  <a:gd name="T13" fmla="*/ 6 h 56"/>
                  <a:gd name="T14" fmla="*/ 4 w 17"/>
                  <a:gd name="T15" fmla="*/ 2 h 56"/>
                  <a:gd name="T16" fmla="*/ 11 w 17"/>
                  <a:gd name="T17" fmla="*/ 0 h 56"/>
                  <a:gd name="T18" fmla="*/ 16 w 17"/>
                  <a:gd name="T19" fmla="*/ 0 h 56"/>
                  <a:gd name="T20" fmla="*/ 16 w 17"/>
                  <a:gd name="T21" fmla="*/ 24 h 56"/>
                  <a:gd name="T22" fmla="*/ 16 w 17"/>
                  <a:gd name="T23" fmla="*/ 52 h 56"/>
                  <a:gd name="T24" fmla="*/ 11 w 17"/>
                  <a:gd name="T25" fmla="*/ 52 h 56"/>
                  <a:gd name="T26" fmla="*/ 4 w 17"/>
                  <a:gd name="T27" fmla="*/ 52 h 56"/>
                  <a:gd name="T28" fmla="*/ 4 w 17"/>
                  <a:gd name="T29" fmla="*/ 55 h 56"/>
                  <a:gd name="T30" fmla="*/ 0 w 17"/>
                  <a:gd name="T31" fmla="*/ 55 h 5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
                  <a:gd name="T49" fmla="*/ 0 h 56"/>
                  <a:gd name="T50" fmla="*/ 17 w 17"/>
                  <a:gd name="T51" fmla="*/ 56 h 5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 h="56">
                    <a:moveTo>
                      <a:pt x="0" y="55"/>
                    </a:moveTo>
                    <a:lnTo>
                      <a:pt x="0" y="55"/>
                    </a:lnTo>
                    <a:lnTo>
                      <a:pt x="4" y="45"/>
                    </a:lnTo>
                    <a:lnTo>
                      <a:pt x="4" y="27"/>
                    </a:lnTo>
                    <a:lnTo>
                      <a:pt x="4" y="18"/>
                    </a:lnTo>
                    <a:lnTo>
                      <a:pt x="4" y="9"/>
                    </a:lnTo>
                    <a:lnTo>
                      <a:pt x="4" y="6"/>
                    </a:lnTo>
                    <a:lnTo>
                      <a:pt x="4" y="2"/>
                    </a:lnTo>
                    <a:lnTo>
                      <a:pt x="11" y="0"/>
                    </a:lnTo>
                    <a:lnTo>
                      <a:pt x="16" y="0"/>
                    </a:lnTo>
                    <a:lnTo>
                      <a:pt x="16" y="24"/>
                    </a:lnTo>
                    <a:lnTo>
                      <a:pt x="16" y="52"/>
                    </a:lnTo>
                    <a:lnTo>
                      <a:pt x="11" y="52"/>
                    </a:lnTo>
                    <a:lnTo>
                      <a:pt x="4" y="52"/>
                    </a:lnTo>
                    <a:lnTo>
                      <a:pt x="4" y="55"/>
                    </a:lnTo>
                    <a:lnTo>
                      <a:pt x="0" y="55"/>
                    </a:lnTo>
                  </a:path>
                </a:pathLst>
              </a:custGeom>
              <a:solidFill>
                <a:srgbClr val="BDB597"/>
              </a:solidFill>
              <a:ln w="9525" cap="rnd">
                <a:noFill/>
                <a:round/>
              </a:ln>
            </p:spPr>
            <p:txBody>
              <a:bodyPr/>
              <a:lstStyle/>
              <a:p>
                <a:endParaRPr lang="zh-CN" altLang="en-US"/>
              </a:p>
            </p:txBody>
          </p:sp>
          <p:sp>
            <p:nvSpPr>
              <p:cNvPr id="11602" name="Freeform 185"/>
              <p:cNvSpPr/>
              <p:nvPr/>
            </p:nvSpPr>
            <p:spPr bwMode="auto">
              <a:xfrm>
                <a:off x="2305" y="2115"/>
                <a:ext cx="17" cy="59"/>
              </a:xfrm>
              <a:custGeom>
                <a:avLst/>
                <a:gdLst>
                  <a:gd name="T0" fmla="*/ 0 w 17"/>
                  <a:gd name="T1" fmla="*/ 58 h 59"/>
                  <a:gd name="T2" fmla="*/ 0 w 17"/>
                  <a:gd name="T3" fmla="*/ 58 h 59"/>
                  <a:gd name="T4" fmla="*/ 0 w 17"/>
                  <a:gd name="T5" fmla="*/ 30 h 59"/>
                  <a:gd name="T6" fmla="*/ 0 w 17"/>
                  <a:gd name="T7" fmla="*/ 18 h 59"/>
                  <a:gd name="T8" fmla="*/ 0 w 17"/>
                  <a:gd name="T9" fmla="*/ 9 h 59"/>
                  <a:gd name="T10" fmla="*/ 0 w 17"/>
                  <a:gd name="T11" fmla="*/ 2 h 59"/>
                  <a:gd name="T12" fmla="*/ 4 w 17"/>
                  <a:gd name="T13" fmla="*/ 2 h 59"/>
                  <a:gd name="T14" fmla="*/ 4 w 17"/>
                  <a:gd name="T15" fmla="*/ 0 h 59"/>
                  <a:gd name="T16" fmla="*/ 11 w 17"/>
                  <a:gd name="T17" fmla="*/ 0 h 59"/>
                  <a:gd name="T18" fmla="*/ 16 w 17"/>
                  <a:gd name="T19" fmla="*/ 0 h 59"/>
                  <a:gd name="T20" fmla="*/ 11 w 17"/>
                  <a:gd name="T21" fmla="*/ 24 h 59"/>
                  <a:gd name="T22" fmla="*/ 11 w 17"/>
                  <a:gd name="T23" fmla="*/ 42 h 59"/>
                  <a:gd name="T24" fmla="*/ 11 w 17"/>
                  <a:gd name="T25" fmla="*/ 51 h 59"/>
                  <a:gd name="T26" fmla="*/ 4 w 17"/>
                  <a:gd name="T27" fmla="*/ 55 h 59"/>
                  <a:gd name="T28" fmla="*/ 0 w 17"/>
                  <a:gd name="T29" fmla="*/ 55 h 59"/>
                  <a:gd name="T30" fmla="*/ 0 w 17"/>
                  <a:gd name="T31" fmla="*/ 58 h 5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
                  <a:gd name="T49" fmla="*/ 0 h 59"/>
                  <a:gd name="T50" fmla="*/ 17 w 17"/>
                  <a:gd name="T51" fmla="*/ 59 h 5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 h="59">
                    <a:moveTo>
                      <a:pt x="0" y="58"/>
                    </a:moveTo>
                    <a:lnTo>
                      <a:pt x="0" y="58"/>
                    </a:lnTo>
                    <a:lnTo>
                      <a:pt x="0" y="30"/>
                    </a:lnTo>
                    <a:lnTo>
                      <a:pt x="0" y="18"/>
                    </a:lnTo>
                    <a:lnTo>
                      <a:pt x="0" y="9"/>
                    </a:lnTo>
                    <a:lnTo>
                      <a:pt x="0" y="2"/>
                    </a:lnTo>
                    <a:lnTo>
                      <a:pt x="4" y="2"/>
                    </a:lnTo>
                    <a:lnTo>
                      <a:pt x="4" y="0"/>
                    </a:lnTo>
                    <a:lnTo>
                      <a:pt x="11" y="0"/>
                    </a:lnTo>
                    <a:lnTo>
                      <a:pt x="16" y="0"/>
                    </a:lnTo>
                    <a:lnTo>
                      <a:pt x="11" y="24"/>
                    </a:lnTo>
                    <a:lnTo>
                      <a:pt x="11" y="42"/>
                    </a:lnTo>
                    <a:lnTo>
                      <a:pt x="11" y="51"/>
                    </a:lnTo>
                    <a:lnTo>
                      <a:pt x="4" y="55"/>
                    </a:lnTo>
                    <a:lnTo>
                      <a:pt x="0" y="55"/>
                    </a:lnTo>
                    <a:lnTo>
                      <a:pt x="0" y="58"/>
                    </a:lnTo>
                  </a:path>
                </a:pathLst>
              </a:custGeom>
              <a:solidFill>
                <a:srgbClr val="BDB597"/>
              </a:solidFill>
              <a:ln w="9525" cap="rnd">
                <a:noFill/>
                <a:round/>
              </a:ln>
            </p:spPr>
            <p:txBody>
              <a:bodyPr/>
              <a:lstStyle/>
              <a:p>
                <a:endParaRPr lang="zh-CN" altLang="en-US"/>
              </a:p>
            </p:txBody>
          </p:sp>
          <p:sp>
            <p:nvSpPr>
              <p:cNvPr id="11603" name="Freeform 186"/>
              <p:cNvSpPr/>
              <p:nvPr/>
            </p:nvSpPr>
            <p:spPr bwMode="auto">
              <a:xfrm>
                <a:off x="2202" y="2176"/>
                <a:ext cx="17" cy="58"/>
              </a:xfrm>
              <a:custGeom>
                <a:avLst/>
                <a:gdLst>
                  <a:gd name="T0" fmla="*/ 4 w 17"/>
                  <a:gd name="T1" fmla="*/ 57 h 58"/>
                  <a:gd name="T2" fmla="*/ 4 w 17"/>
                  <a:gd name="T3" fmla="*/ 57 h 58"/>
                  <a:gd name="T4" fmla="*/ 0 w 17"/>
                  <a:gd name="T5" fmla="*/ 48 h 58"/>
                  <a:gd name="T6" fmla="*/ 0 w 17"/>
                  <a:gd name="T7" fmla="*/ 30 h 58"/>
                  <a:gd name="T8" fmla="*/ 4 w 17"/>
                  <a:gd name="T9" fmla="*/ 17 h 58"/>
                  <a:gd name="T10" fmla="*/ 4 w 17"/>
                  <a:gd name="T11" fmla="*/ 8 h 58"/>
                  <a:gd name="T12" fmla="*/ 4 w 17"/>
                  <a:gd name="T13" fmla="*/ 2 h 58"/>
                  <a:gd name="T14" fmla="*/ 4 w 17"/>
                  <a:gd name="T15" fmla="*/ 0 h 58"/>
                  <a:gd name="T16" fmla="*/ 11 w 17"/>
                  <a:gd name="T17" fmla="*/ 0 h 58"/>
                  <a:gd name="T18" fmla="*/ 16 w 17"/>
                  <a:gd name="T19" fmla="*/ 0 h 58"/>
                  <a:gd name="T20" fmla="*/ 16 w 17"/>
                  <a:gd name="T21" fmla="*/ 26 h 58"/>
                  <a:gd name="T22" fmla="*/ 16 w 17"/>
                  <a:gd name="T23" fmla="*/ 41 h 58"/>
                  <a:gd name="T24" fmla="*/ 16 w 17"/>
                  <a:gd name="T25" fmla="*/ 48 h 58"/>
                  <a:gd name="T26" fmla="*/ 16 w 17"/>
                  <a:gd name="T27" fmla="*/ 50 h 58"/>
                  <a:gd name="T28" fmla="*/ 16 w 17"/>
                  <a:gd name="T29" fmla="*/ 54 h 58"/>
                  <a:gd name="T30" fmla="*/ 11 w 17"/>
                  <a:gd name="T31" fmla="*/ 54 h 58"/>
                  <a:gd name="T32" fmla="*/ 4 w 17"/>
                  <a:gd name="T33" fmla="*/ 54 h 58"/>
                  <a:gd name="T34" fmla="*/ 4 w 17"/>
                  <a:gd name="T35" fmla="*/ 57 h 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58"/>
                  <a:gd name="T56" fmla="*/ 17 w 17"/>
                  <a:gd name="T57" fmla="*/ 58 h 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58">
                    <a:moveTo>
                      <a:pt x="4" y="57"/>
                    </a:moveTo>
                    <a:lnTo>
                      <a:pt x="4" y="57"/>
                    </a:lnTo>
                    <a:lnTo>
                      <a:pt x="0" y="48"/>
                    </a:lnTo>
                    <a:lnTo>
                      <a:pt x="0" y="30"/>
                    </a:lnTo>
                    <a:lnTo>
                      <a:pt x="4" y="17"/>
                    </a:lnTo>
                    <a:lnTo>
                      <a:pt x="4" y="8"/>
                    </a:lnTo>
                    <a:lnTo>
                      <a:pt x="4" y="2"/>
                    </a:lnTo>
                    <a:lnTo>
                      <a:pt x="4" y="0"/>
                    </a:lnTo>
                    <a:lnTo>
                      <a:pt x="11" y="0"/>
                    </a:lnTo>
                    <a:lnTo>
                      <a:pt x="16" y="0"/>
                    </a:lnTo>
                    <a:lnTo>
                      <a:pt x="16" y="26"/>
                    </a:lnTo>
                    <a:lnTo>
                      <a:pt x="16" y="41"/>
                    </a:lnTo>
                    <a:lnTo>
                      <a:pt x="16" y="48"/>
                    </a:lnTo>
                    <a:lnTo>
                      <a:pt x="16" y="50"/>
                    </a:lnTo>
                    <a:lnTo>
                      <a:pt x="16" y="54"/>
                    </a:lnTo>
                    <a:lnTo>
                      <a:pt x="11" y="54"/>
                    </a:lnTo>
                    <a:lnTo>
                      <a:pt x="4" y="54"/>
                    </a:lnTo>
                    <a:lnTo>
                      <a:pt x="4" y="57"/>
                    </a:lnTo>
                  </a:path>
                </a:pathLst>
              </a:custGeom>
              <a:solidFill>
                <a:srgbClr val="BDB597"/>
              </a:solidFill>
              <a:ln w="9525" cap="rnd">
                <a:noFill/>
                <a:round/>
              </a:ln>
            </p:spPr>
            <p:txBody>
              <a:bodyPr/>
              <a:lstStyle/>
              <a:p>
                <a:endParaRPr lang="zh-CN" altLang="en-US"/>
              </a:p>
            </p:txBody>
          </p:sp>
          <p:grpSp>
            <p:nvGrpSpPr>
              <p:cNvPr id="250252" name="Group 187"/>
              <p:cNvGrpSpPr/>
              <p:nvPr/>
            </p:nvGrpSpPr>
            <p:grpSpPr bwMode="auto">
              <a:xfrm>
                <a:off x="2421" y="1915"/>
                <a:ext cx="117" cy="109"/>
                <a:chOff x="2421" y="1915"/>
                <a:chExt cx="117" cy="109"/>
              </a:xfrm>
            </p:grpSpPr>
            <p:sp>
              <p:nvSpPr>
                <p:cNvPr id="11627" name="Freeform 188"/>
                <p:cNvSpPr/>
                <p:nvPr/>
              </p:nvSpPr>
              <p:spPr bwMode="auto">
                <a:xfrm>
                  <a:off x="2453" y="1930"/>
                  <a:ext cx="84" cy="94"/>
                </a:xfrm>
                <a:custGeom>
                  <a:avLst/>
                  <a:gdLst>
                    <a:gd name="T0" fmla="*/ 0 w 84"/>
                    <a:gd name="T1" fmla="*/ 93 h 94"/>
                    <a:gd name="T2" fmla="*/ 0 w 84"/>
                    <a:gd name="T3" fmla="*/ 93 h 94"/>
                    <a:gd name="T4" fmla="*/ 2 w 84"/>
                    <a:gd name="T5" fmla="*/ 43 h 94"/>
                    <a:gd name="T6" fmla="*/ 83 w 84"/>
                    <a:gd name="T7" fmla="*/ 0 h 94"/>
                    <a:gd name="T8" fmla="*/ 77 w 84"/>
                    <a:gd name="T9" fmla="*/ 49 h 94"/>
                    <a:gd name="T10" fmla="*/ 0 w 84"/>
                    <a:gd name="T11" fmla="*/ 93 h 94"/>
                    <a:gd name="T12" fmla="*/ 0 60000 65536"/>
                    <a:gd name="T13" fmla="*/ 0 60000 65536"/>
                    <a:gd name="T14" fmla="*/ 0 60000 65536"/>
                    <a:gd name="T15" fmla="*/ 0 60000 65536"/>
                    <a:gd name="T16" fmla="*/ 0 60000 65536"/>
                    <a:gd name="T17" fmla="*/ 0 60000 65536"/>
                    <a:gd name="T18" fmla="*/ 0 w 84"/>
                    <a:gd name="T19" fmla="*/ 0 h 94"/>
                    <a:gd name="T20" fmla="*/ 84 w 84"/>
                    <a:gd name="T21" fmla="*/ 94 h 94"/>
                  </a:gdLst>
                  <a:ahLst/>
                  <a:cxnLst>
                    <a:cxn ang="T12">
                      <a:pos x="T0" y="T1"/>
                    </a:cxn>
                    <a:cxn ang="T13">
                      <a:pos x="T2" y="T3"/>
                    </a:cxn>
                    <a:cxn ang="T14">
                      <a:pos x="T4" y="T5"/>
                    </a:cxn>
                    <a:cxn ang="T15">
                      <a:pos x="T6" y="T7"/>
                    </a:cxn>
                    <a:cxn ang="T16">
                      <a:pos x="T8" y="T9"/>
                    </a:cxn>
                    <a:cxn ang="T17">
                      <a:pos x="T10" y="T11"/>
                    </a:cxn>
                  </a:cxnLst>
                  <a:rect l="T18" t="T19" r="T20" b="T21"/>
                  <a:pathLst>
                    <a:path w="84" h="94">
                      <a:moveTo>
                        <a:pt x="0" y="93"/>
                      </a:moveTo>
                      <a:lnTo>
                        <a:pt x="0" y="93"/>
                      </a:lnTo>
                      <a:lnTo>
                        <a:pt x="2" y="43"/>
                      </a:lnTo>
                      <a:lnTo>
                        <a:pt x="83" y="0"/>
                      </a:lnTo>
                      <a:lnTo>
                        <a:pt x="77" y="49"/>
                      </a:lnTo>
                      <a:lnTo>
                        <a:pt x="0" y="93"/>
                      </a:lnTo>
                    </a:path>
                  </a:pathLst>
                </a:custGeom>
                <a:solidFill>
                  <a:srgbClr val="BB1A50"/>
                </a:solidFill>
                <a:ln w="9525" cap="rnd">
                  <a:noFill/>
                  <a:round/>
                </a:ln>
              </p:spPr>
              <p:txBody>
                <a:bodyPr/>
                <a:lstStyle/>
                <a:p>
                  <a:endParaRPr lang="zh-CN" altLang="en-US"/>
                </a:p>
              </p:txBody>
            </p:sp>
            <p:sp>
              <p:nvSpPr>
                <p:cNvPr id="11628" name="Freeform 189"/>
                <p:cNvSpPr/>
                <p:nvPr/>
              </p:nvSpPr>
              <p:spPr bwMode="auto">
                <a:xfrm>
                  <a:off x="2421" y="1955"/>
                  <a:ext cx="34" cy="68"/>
                </a:xfrm>
                <a:custGeom>
                  <a:avLst/>
                  <a:gdLst>
                    <a:gd name="T0" fmla="*/ 30 w 34"/>
                    <a:gd name="T1" fmla="*/ 67 h 68"/>
                    <a:gd name="T2" fmla="*/ 30 w 34"/>
                    <a:gd name="T3" fmla="*/ 67 h 68"/>
                    <a:gd name="T4" fmla="*/ 0 w 34"/>
                    <a:gd name="T5" fmla="*/ 51 h 68"/>
                    <a:gd name="T6" fmla="*/ 2 w 34"/>
                    <a:gd name="T7" fmla="*/ 0 h 68"/>
                    <a:gd name="T8" fmla="*/ 33 w 34"/>
                    <a:gd name="T9" fmla="*/ 18 h 68"/>
                    <a:gd name="T10" fmla="*/ 30 w 34"/>
                    <a:gd name="T11" fmla="*/ 67 h 68"/>
                    <a:gd name="T12" fmla="*/ 0 60000 65536"/>
                    <a:gd name="T13" fmla="*/ 0 60000 65536"/>
                    <a:gd name="T14" fmla="*/ 0 60000 65536"/>
                    <a:gd name="T15" fmla="*/ 0 60000 65536"/>
                    <a:gd name="T16" fmla="*/ 0 60000 65536"/>
                    <a:gd name="T17" fmla="*/ 0 60000 65536"/>
                    <a:gd name="T18" fmla="*/ 0 w 34"/>
                    <a:gd name="T19" fmla="*/ 0 h 68"/>
                    <a:gd name="T20" fmla="*/ 34 w 34"/>
                    <a:gd name="T21" fmla="*/ 68 h 68"/>
                  </a:gdLst>
                  <a:ahLst/>
                  <a:cxnLst>
                    <a:cxn ang="T12">
                      <a:pos x="T0" y="T1"/>
                    </a:cxn>
                    <a:cxn ang="T13">
                      <a:pos x="T2" y="T3"/>
                    </a:cxn>
                    <a:cxn ang="T14">
                      <a:pos x="T4" y="T5"/>
                    </a:cxn>
                    <a:cxn ang="T15">
                      <a:pos x="T6" y="T7"/>
                    </a:cxn>
                    <a:cxn ang="T16">
                      <a:pos x="T8" y="T9"/>
                    </a:cxn>
                    <a:cxn ang="T17">
                      <a:pos x="T10" y="T11"/>
                    </a:cxn>
                  </a:cxnLst>
                  <a:rect l="T18" t="T19" r="T20" b="T21"/>
                  <a:pathLst>
                    <a:path w="34" h="68">
                      <a:moveTo>
                        <a:pt x="30" y="67"/>
                      </a:moveTo>
                      <a:lnTo>
                        <a:pt x="30" y="67"/>
                      </a:lnTo>
                      <a:lnTo>
                        <a:pt x="0" y="51"/>
                      </a:lnTo>
                      <a:lnTo>
                        <a:pt x="2" y="0"/>
                      </a:lnTo>
                      <a:lnTo>
                        <a:pt x="33" y="18"/>
                      </a:lnTo>
                      <a:lnTo>
                        <a:pt x="30" y="67"/>
                      </a:lnTo>
                    </a:path>
                  </a:pathLst>
                </a:custGeom>
                <a:solidFill>
                  <a:srgbClr val="9E0005"/>
                </a:solidFill>
                <a:ln w="9525" cap="rnd">
                  <a:noFill/>
                  <a:round/>
                </a:ln>
              </p:spPr>
              <p:txBody>
                <a:bodyPr/>
                <a:lstStyle/>
                <a:p>
                  <a:endParaRPr lang="zh-CN" altLang="en-US"/>
                </a:p>
              </p:txBody>
            </p:sp>
            <p:sp>
              <p:nvSpPr>
                <p:cNvPr id="11629" name="Freeform 190"/>
                <p:cNvSpPr/>
                <p:nvPr/>
              </p:nvSpPr>
              <p:spPr bwMode="auto">
                <a:xfrm>
                  <a:off x="2423" y="1915"/>
                  <a:ext cx="115" cy="57"/>
                </a:xfrm>
                <a:custGeom>
                  <a:avLst/>
                  <a:gdLst>
                    <a:gd name="T0" fmla="*/ 33 w 115"/>
                    <a:gd name="T1" fmla="*/ 56 h 57"/>
                    <a:gd name="T2" fmla="*/ 33 w 115"/>
                    <a:gd name="T3" fmla="*/ 56 h 57"/>
                    <a:gd name="T4" fmla="*/ 0 w 115"/>
                    <a:gd name="T5" fmla="*/ 38 h 57"/>
                    <a:gd name="T6" fmla="*/ 83 w 115"/>
                    <a:gd name="T7" fmla="*/ 0 h 57"/>
                    <a:gd name="T8" fmla="*/ 114 w 115"/>
                    <a:gd name="T9" fmla="*/ 15 h 57"/>
                    <a:gd name="T10" fmla="*/ 33 w 115"/>
                    <a:gd name="T11" fmla="*/ 56 h 57"/>
                    <a:gd name="T12" fmla="*/ 0 60000 65536"/>
                    <a:gd name="T13" fmla="*/ 0 60000 65536"/>
                    <a:gd name="T14" fmla="*/ 0 60000 65536"/>
                    <a:gd name="T15" fmla="*/ 0 60000 65536"/>
                    <a:gd name="T16" fmla="*/ 0 60000 65536"/>
                    <a:gd name="T17" fmla="*/ 0 60000 65536"/>
                    <a:gd name="T18" fmla="*/ 0 w 115"/>
                    <a:gd name="T19" fmla="*/ 0 h 57"/>
                    <a:gd name="T20" fmla="*/ 115 w 115"/>
                    <a:gd name="T21" fmla="*/ 57 h 57"/>
                  </a:gdLst>
                  <a:ahLst/>
                  <a:cxnLst>
                    <a:cxn ang="T12">
                      <a:pos x="T0" y="T1"/>
                    </a:cxn>
                    <a:cxn ang="T13">
                      <a:pos x="T2" y="T3"/>
                    </a:cxn>
                    <a:cxn ang="T14">
                      <a:pos x="T4" y="T5"/>
                    </a:cxn>
                    <a:cxn ang="T15">
                      <a:pos x="T6" y="T7"/>
                    </a:cxn>
                    <a:cxn ang="T16">
                      <a:pos x="T8" y="T9"/>
                    </a:cxn>
                    <a:cxn ang="T17">
                      <a:pos x="T10" y="T11"/>
                    </a:cxn>
                  </a:cxnLst>
                  <a:rect l="T18" t="T19" r="T20" b="T21"/>
                  <a:pathLst>
                    <a:path w="115" h="57">
                      <a:moveTo>
                        <a:pt x="33" y="56"/>
                      </a:moveTo>
                      <a:lnTo>
                        <a:pt x="33" y="56"/>
                      </a:lnTo>
                      <a:lnTo>
                        <a:pt x="0" y="38"/>
                      </a:lnTo>
                      <a:lnTo>
                        <a:pt x="83" y="0"/>
                      </a:lnTo>
                      <a:lnTo>
                        <a:pt x="114" y="15"/>
                      </a:lnTo>
                      <a:lnTo>
                        <a:pt x="33" y="56"/>
                      </a:lnTo>
                    </a:path>
                  </a:pathLst>
                </a:custGeom>
                <a:solidFill>
                  <a:srgbClr val="CF5C82"/>
                </a:solidFill>
                <a:ln w="9525" cap="rnd">
                  <a:noFill/>
                  <a:round/>
                </a:ln>
              </p:spPr>
              <p:txBody>
                <a:bodyPr/>
                <a:lstStyle/>
                <a:p>
                  <a:endParaRPr lang="zh-CN" altLang="en-US"/>
                </a:p>
              </p:txBody>
            </p:sp>
          </p:grpSp>
          <p:grpSp>
            <p:nvGrpSpPr>
              <p:cNvPr id="250253" name="Group 191"/>
              <p:cNvGrpSpPr/>
              <p:nvPr/>
            </p:nvGrpSpPr>
            <p:grpSpPr bwMode="auto">
              <a:xfrm>
                <a:off x="2323" y="1961"/>
                <a:ext cx="126" cy="117"/>
                <a:chOff x="2323" y="1961"/>
                <a:chExt cx="126" cy="117"/>
              </a:xfrm>
            </p:grpSpPr>
            <p:sp>
              <p:nvSpPr>
                <p:cNvPr id="11624" name="Freeform 192"/>
                <p:cNvSpPr/>
                <p:nvPr/>
              </p:nvSpPr>
              <p:spPr bwMode="auto">
                <a:xfrm>
                  <a:off x="2359" y="1981"/>
                  <a:ext cx="90" cy="97"/>
                </a:xfrm>
                <a:custGeom>
                  <a:avLst/>
                  <a:gdLst>
                    <a:gd name="T0" fmla="*/ 0 w 90"/>
                    <a:gd name="T1" fmla="*/ 96 h 97"/>
                    <a:gd name="T2" fmla="*/ 0 w 90"/>
                    <a:gd name="T3" fmla="*/ 96 h 97"/>
                    <a:gd name="T4" fmla="*/ 2 w 90"/>
                    <a:gd name="T5" fmla="*/ 43 h 97"/>
                    <a:gd name="T6" fmla="*/ 89 w 90"/>
                    <a:gd name="T7" fmla="*/ 0 h 97"/>
                    <a:gd name="T8" fmla="*/ 86 w 90"/>
                    <a:gd name="T9" fmla="*/ 49 h 97"/>
                    <a:gd name="T10" fmla="*/ 0 w 90"/>
                    <a:gd name="T11" fmla="*/ 96 h 97"/>
                    <a:gd name="T12" fmla="*/ 0 60000 65536"/>
                    <a:gd name="T13" fmla="*/ 0 60000 65536"/>
                    <a:gd name="T14" fmla="*/ 0 60000 65536"/>
                    <a:gd name="T15" fmla="*/ 0 60000 65536"/>
                    <a:gd name="T16" fmla="*/ 0 60000 65536"/>
                    <a:gd name="T17" fmla="*/ 0 60000 65536"/>
                    <a:gd name="T18" fmla="*/ 0 w 90"/>
                    <a:gd name="T19" fmla="*/ 0 h 97"/>
                    <a:gd name="T20" fmla="*/ 90 w 90"/>
                    <a:gd name="T21" fmla="*/ 97 h 97"/>
                  </a:gdLst>
                  <a:ahLst/>
                  <a:cxnLst>
                    <a:cxn ang="T12">
                      <a:pos x="T0" y="T1"/>
                    </a:cxn>
                    <a:cxn ang="T13">
                      <a:pos x="T2" y="T3"/>
                    </a:cxn>
                    <a:cxn ang="T14">
                      <a:pos x="T4" y="T5"/>
                    </a:cxn>
                    <a:cxn ang="T15">
                      <a:pos x="T6" y="T7"/>
                    </a:cxn>
                    <a:cxn ang="T16">
                      <a:pos x="T8" y="T9"/>
                    </a:cxn>
                    <a:cxn ang="T17">
                      <a:pos x="T10" y="T11"/>
                    </a:cxn>
                  </a:cxnLst>
                  <a:rect l="T18" t="T19" r="T20" b="T21"/>
                  <a:pathLst>
                    <a:path w="90" h="97">
                      <a:moveTo>
                        <a:pt x="0" y="96"/>
                      </a:moveTo>
                      <a:lnTo>
                        <a:pt x="0" y="96"/>
                      </a:lnTo>
                      <a:lnTo>
                        <a:pt x="2" y="43"/>
                      </a:lnTo>
                      <a:lnTo>
                        <a:pt x="89" y="0"/>
                      </a:lnTo>
                      <a:lnTo>
                        <a:pt x="86" y="49"/>
                      </a:lnTo>
                      <a:lnTo>
                        <a:pt x="0" y="96"/>
                      </a:lnTo>
                    </a:path>
                  </a:pathLst>
                </a:custGeom>
                <a:solidFill>
                  <a:srgbClr val="BB1A50"/>
                </a:solidFill>
                <a:ln w="9525" cap="rnd">
                  <a:noFill/>
                  <a:round/>
                </a:ln>
              </p:spPr>
              <p:txBody>
                <a:bodyPr/>
                <a:lstStyle/>
                <a:p>
                  <a:endParaRPr lang="zh-CN" altLang="en-US"/>
                </a:p>
              </p:txBody>
            </p:sp>
            <p:sp>
              <p:nvSpPr>
                <p:cNvPr id="11625" name="Freeform 193"/>
                <p:cNvSpPr/>
                <p:nvPr/>
              </p:nvSpPr>
              <p:spPr bwMode="auto">
                <a:xfrm>
                  <a:off x="2323" y="2009"/>
                  <a:ext cx="38" cy="69"/>
                </a:xfrm>
                <a:custGeom>
                  <a:avLst/>
                  <a:gdLst>
                    <a:gd name="T0" fmla="*/ 34 w 38"/>
                    <a:gd name="T1" fmla="*/ 68 h 69"/>
                    <a:gd name="T2" fmla="*/ 34 w 38"/>
                    <a:gd name="T3" fmla="*/ 68 h 69"/>
                    <a:gd name="T4" fmla="*/ 0 w 38"/>
                    <a:gd name="T5" fmla="*/ 52 h 69"/>
                    <a:gd name="T6" fmla="*/ 2 w 38"/>
                    <a:gd name="T7" fmla="*/ 0 h 69"/>
                    <a:gd name="T8" fmla="*/ 37 w 38"/>
                    <a:gd name="T9" fmla="*/ 15 h 69"/>
                    <a:gd name="T10" fmla="*/ 34 w 38"/>
                    <a:gd name="T11" fmla="*/ 68 h 69"/>
                    <a:gd name="T12" fmla="*/ 0 60000 65536"/>
                    <a:gd name="T13" fmla="*/ 0 60000 65536"/>
                    <a:gd name="T14" fmla="*/ 0 60000 65536"/>
                    <a:gd name="T15" fmla="*/ 0 60000 65536"/>
                    <a:gd name="T16" fmla="*/ 0 60000 65536"/>
                    <a:gd name="T17" fmla="*/ 0 60000 65536"/>
                    <a:gd name="T18" fmla="*/ 0 w 38"/>
                    <a:gd name="T19" fmla="*/ 0 h 69"/>
                    <a:gd name="T20" fmla="*/ 38 w 38"/>
                    <a:gd name="T21" fmla="*/ 69 h 69"/>
                  </a:gdLst>
                  <a:ahLst/>
                  <a:cxnLst>
                    <a:cxn ang="T12">
                      <a:pos x="T0" y="T1"/>
                    </a:cxn>
                    <a:cxn ang="T13">
                      <a:pos x="T2" y="T3"/>
                    </a:cxn>
                    <a:cxn ang="T14">
                      <a:pos x="T4" y="T5"/>
                    </a:cxn>
                    <a:cxn ang="T15">
                      <a:pos x="T6" y="T7"/>
                    </a:cxn>
                    <a:cxn ang="T16">
                      <a:pos x="T8" y="T9"/>
                    </a:cxn>
                    <a:cxn ang="T17">
                      <a:pos x="T10" y="T11"/>
                    </a:cxn>
                  </a:cxnLst>
                  <a:rect l="T18" t="T19" r="T20" b="T21"/>
                  <a:pathLst>
                    <a:path w="38" h="69">
                      <a:moveTo>
                        <a:pt x="34" y="68"/>
                      </a:moveTo>
                      <a:lnTo>
                        <a:pt x="34" y="68"/>
                      </a:lnTo>
                      <a:lnTo>
                        <a:pt x="0" y="52"/>
                      </a:lnTo>
                      <a:lnTo>
                        <a:pt x="2" y="0"/>
                      </a:lnTo>
                      <a:lnTo>
                        <a:pt x="37" y="15"/>
                      </a:lnTo>
                      <a:lnTo>
                        <a:pt x="34" y="68"/>
                      </a:lnTo>
                    </a:path>
                  </a:pathLst>
                </a:custGeom>
                <a:solidFill>
                  <a:srgbClr val="9E0005"/>
                </a:solidFill>
                <a:ln w="9525" cap="rnd">
                  <a:noFill/>
                  <a:round/>
                </a:ln>
              </p:spPr>
              <p:txBody>
                <a:bodyPr/>
                <a:lstStyle/>
                <a:p>
                  <a:endParaRPr lang="zh-CN" altLang="en-US"/>
                </a:p>
              </p:txBody>
            </p:sp>
            <p:sp>
              <p:nvSpPr>
                <p:cNvPr id="11626" name="Freeform 194"/>
                <p:cNvSpPr/>
                <p:nvPr/>
              </p:nvSpPr>
              <p:spPr bwMode="auto">
                <a:xfrm>
                  <a:off x="2325" y="1961"/>
                  <a:ext cx="124" cy="63"/>
                </a:xfrm>
                <a:custGeom>
                  <a:avLst/>
                  <a:gdLst>
                    <a:gd name="T0" fmla="*/ 36 w 124"/>
                    <a:gd name="T1" fmla="*/ 62 h 63"/>
                    <a:gd name="T2" fmla="*/ 36 w 124"/>
                    <a:gd name="T3" fmla="*/ 62 h 63"/>
                    <a:gd name="T4" fmla="*/ 0 w 124"/>
                    <a:gd name="T5" fmla="*/ 46 h 63"/>
                    <a:gd name="T6" fmla="*/ 89 w 124"/>
                    <a:gd name="T7" fmla="*/ 0 h 63"/>
                    <a:gd name="T8" fmla="*/ 123 w 124"/>
                    <a:gd name="T9" fmla="*/ 18 h 63"/>
                    <a:gd name="T10" fmla="*/ 36 w 124"/>
                    <a:gd name="T11" fmla="*/ 62 h 63"/>
                    <a:gd name="T12" fmla="*/ 0 60000 65536"/>
                    <a:gd name="T13" fmla="*/ 0 60000 65536"/>
                    <a:gd name="T14" fmla="*/ 0 60000 65536"/>
                    <a:gd name="T15" fmla="*/ 0 60000 65536"/>
                    <a:gd name="T16" fmla="*/ 0 60000 65536"/>
                    <a:gd name="T17" fmla="*/ 0 60000 65536"/>
                    <a:gd name="T18" fmla="*/ 0 w 124"/>
                    <a:gd name="T19" fmla="*/ 0 h 63"/>
                    <a:gd name="T20" fmla="*/ 124 w 124"/>
                    <a:gd name="T21" fmla="*/ 63 h 63"/>
                  </a:gdLst>
                  <a:ahLst/>
                  <a:cxnLst>
                    <a:cxn ang="T12">
                      <a:pos x="T0" y="T1"/>
                    </a:cxn>
                    <a:cxn ang="T13">
                      <a:pos x="T2" y="T3"/>
                    </a:cxn>
                    <a:cxn ang="T14">
                      <a:pos x="T4" y="T5"/>
                    </a:cxn>
                    <a:cxn ang="T15">
                      <a:pos x="T6" y="T7"/>
                    </a:cxn>
                    <a:cxn ang="T16">
                      <a:pos x="T8" y="T9"/>
                    </a:cxn>
                    <a:cxn ang="T17">
                      <a:pos x="T10" y="T11"/>
                    </a:cxn>
                  </a:cxnLst>
                  <a:rect l="T18" t="T19" r="T20" b="T21"/>
                  <a:pathLst>
                    <a:path w="124" h="63">
                      <a:moveTo>
                        <a:pt x="36" y="62"/>
                      </a:moveTo>
                      <a:lnTo>
                        <a:pt x="36" y="62"/>
                      </a:lnTo>
                      <a:lnTo>
                        <a:pt x="0" y="46"/>
                      </a:lnTo>
                      <a:lnTo>
                        <a:pt x="89" y="0"/>
                      </a:lnTo>
                      <a:lnTo>
                        <a:pt x="123" y="18"/>
                      </a:lnTo>
                      <a:lnTo>
                        <a:pt x="36" y="62"/>
                      </a:lnTo>
                    </a:path>
                  </a:pathLst>
                </a:custGeom>
                <a:solidFill>
                  <a:srgbClr val="CF5C82"/>
                </a:solidFill>
                <a:ln w="9525" cap="rnd">
                  <a:noFill/>
                  <a:round/>
                </a:ln>
              </p:spPr>
              <p:txBody>
                <a:bodyPr/>
                <a:lstStyle/>
                <a:p>
                  <a:endParaRPr lang="zh-CN" altLang="en-US"/>
                </a:p>
              </p:txBody>
            </p:sp>
          </p:grpSp>
          <p:grpSp>
            <p:nvGrpSpPr>
              <p:cNvPr id="250254" name="Group 195"/>
              <p:cNvGrpSpPr/>
              <p:nvPr/>
            </p:nvGrpSpPr>
            <p:grpSpPr bwMode="auto">
              <a:xfrm>
                <a:off x="2220" y="2015"/>
                <a:ext cx="136" cy="120"/>
                <a:chOff x="2220" y="2015"/>
                <a:chExt cx="136" cy="120"/>
              </a:xfrm>
            </p:grpSpPr>
            <p:sp>
              <p:nvSpPr>
                <p:cNvPr id="11621" name="Freeform 196"/>
                <p:cNvSpPr/>
                <p:nvPr/>
              </p:nvSpPr>
              <p:spPr bwMode="auto">
                <a:xfrm>
                  <a:off x="2260" y="2032"/>
                  <a:ext cx="96" cy="103"/>
                </a:xfrm>
                <a:custGeom>
                  <a:avLst/>
                  <a:gdLst>
                    <a:gd name="T0" fmla="*/ 0 w 96"/>
                    <a:gd name="T1" fmla="*/ 102 h 103"/>
                    <a:gd name="T2" fmla="*/ 0 w 96"/>
                    <a:gd name="T3" fmla="*/ 102 h 103"/>
                    <a:gd name="T4" fmla="*/ 2 w 96"/>
                    <a:gd name="T5" fmla="*/ 49 h 103"/>
                    <a:gd name="T6" fmla="*/ 95 w 96"/>
                    <a:gd name="T7" fmla="*/ 0 h 103"/>
                    <a:gd name="T8" fmla="*/ 95 w 96"/>
                    <a:gd name="T9" fmla="*/ 52 h 103"/>
                    <a:gd name="T10" fmla="*/ 0 w 96"/>
                    <a:gd name="T11" fmla="*/ 102 h 103"/>
                    <a:gd name="T12" fmla="*/ 0 60000 65536"/>
                    <a:gd name="T13" fmla="*/ 0 60000 65536"/>
                    <a:gd name="T14" fmla="*/ 0 60000 65536"/>
                    <a:gd name="T15" fmla="*/ 0 60000 65536"/>
                    <a:gd name="T16" fmla="*/ 0 60000 65536"/>
                    <a:gd name="T17" fmla="*/ 0 60000 65536"/>
                    <a:gd name="T18" fmla="*/ 0 w 96"/>
                    <a:gd name="T19" fmla="*/ 0 h 103"/>
                    <a:gd name="T20" fmla="*/ 96 w 96"/>
                    <a:gd name="T21" fmla="*/ 103 h 103"/>
                  </a:gdLst>
                  <a:ahLst/>
                  <a:cxnLst>
                    <a:cxn ang="T12">
                      <a:pos x="T0" y="T1"/>
                    </a:cxn>
                    <a:cxn ang="T13">
                      <a:pos x="T2" y="T3"/>
                    </a:cxn>
                    <a:cxn ang="T14">
                      <a:pos x="T4" y="T5"/>
                    </a:cxn>
                    <a:cxn ang="T15">
                      <a:pos x="T6" y="T7"/>
                    </a:cxn>
                    <a:cxn ang="T16">
                      <a:pos x="T8" y="T9"/>
                    </a:cxn>
                    <a:cxn ang="T17">
                      <a:pos x="T10" y="T11"/>
                    </a:cxn>
                  </a:cxnLst>
                  <a:rect l="T18" t="T19" r="T20" b="T21"/>
                  <a:pathLst>
                    <a:path w="96" h="103">
                      <a:moveTo>
                        <a:pt x="0" y="102"/>
                      </a:moveTo>
                      <a:lnTo>
                        <a:pt x="0" y="102"/>
                      </a:lnTo>
                      <a:lnTo>
                        <a:pt x="2" y="49"/>
                      </a:lnTo>
                      <a:lnTo>
                        <a:pt x="95" y="0"/>
                      </a:lnTo>
                      <a:lnTo>
                        <a:pt x="95" y="52"/>
                      </a:lnTo>
                      <a:lnTo>
                        <a:pt x="0" y="102"/>
                      </a:lnTo>
                    </a:path>
                  </a:pathLst>
                </a:custGeom>
                <a:solidFill>
                  <a:srgbClr val="BB1A50"/>
                </a:solidFill>
                <a:ln w="9525" cap="rnd">
                  <a:noFill/>
                  <a:round/>
                </a:ln>
              </p:spPr>
              <p:txBody>
                <a:bodyPr/>
                <a:lstStyle/>
                <a:p>
                  <a:endParaRPr lang="zh-CN" altLang="en-US"/>
                </a:p>
              </p:txBody>
            </p:sp>
            <p:sp>
              <p:nvSpPr>
                <p:cNvPr id="11622" name="Freeform 197"/>
                <p:cNvSpPr/>
                <p:nvPr/>
              </p:nvSpPr>
              <p:spPr bwMode="auto">
                <a:xfrm>
                  <a:off x="2220" y="2070"/>
                  <a:ext cx="40" cy="65"/>
                </a:xfrm>
                <a:custGeom>
                  <a:avLst/>
                  <a:gdLst>
                    <a:gd name="T0" fmla="*/ 36 w 40"/>
                    <a:gd name="T1" fmla="*/ 64 h 65"/>
                    <a:gd name="T2" fmla="*/ 36 w 40"/>
                    <a:gd name="T3" fmla="*/ 64 h 65"/>
                    <a:gd name="T4" fmla="*/ 0 w 40"/>
                    <a:gd name="T5" fmla="*/ 52 h 65"/>
                    <a:gd name="T6" fmla="*/ 0 w 40"/>
                    <a:gd name="T7" fmla="*/ 0 h 65"/>
                    <a:gd name="T8" fmla="*/ 39 w 40"/>
                    <a:gd name="T9" fmla="*/ 11 h 65"/>
                    <a:gd name="T10" fmla="*/ 36 w 40"/>
                    <a:gd name="T11" fmla="*/ 64 h 65"/>
                    <a:gd name="T12" fmla="*/ 0 60000 65536"/>
                    <a:gd name="T13" fmla="*/ 0 60000 65536"/>
                    <a:gd name="T14" fmla="*/ 0 60000 65536"/>
                    <a:gd name="T15" fmla="*/ 0 60000 65536"/>
                    <a:gd name="T16" fmla="*/ 0 60000 65536"/>
                    <a:gd name="T17" fmla="*/ 0 60000 65536"/>
                    <a:gd name="T18" fmla="*/ 0 w 40"/>
                    <a:gd name="T19" fmla="*/ 0 h 65"/>
                    <a:gd name="T20" fmla="*/ 40 w 40"/>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40" h="65">
                      <a:moveTo>
                        <a:pt x="36" y="64"/>
                      </a:moveTo>
                      <a:lnTo>
                        <a:pt x="36" y="64"/>
                      </a:lnTo>
                      <a:lnTo>
                        <a:pt x="0" y="52"/>
                      </a:lnTo>
                      <a:lnTo>
                        <a:pt x="0" y="0"/>
                      </a:lnTo>
                      <a:lnTo>
                        <a:pt x="39" y="11"/>
                      </a:lnTo>
                      <a:lnTo>
                        <a:pt x="36" y="64"/>
                      </a:lnTo>
                    </a:path>
                  </a:pathLst>
                </a:custGeom>
                <a:solidFill>
                  <a:srgbClr val="9E0005"/>
                </a:solidFill>
                <a:ln w="9525" cap="rnd">
                  <a:noFill/>
                  <a:round/>
                </a:ln>
              </p:spPr>
              <p:txBody>
                <a:bodyPr/>
                <a:lstStyle/>
                <a:p>
                  <a:endParaRPr lang="zh-CN" altLang="en-US"/>
                </a:p>
              </p:txBody>
            </p:sp>
            <p:sp>
              <p:nvSpPr>
                <p:cNvPr id="11623" name="Freeform 198"/>
                <p:cNvSpPr/>
                <p:nvPr/>
              </p:nvSpPr>
              <p:spPr bwMode="auto">
                <a:xfrm>
                  <a:off x="2221" y="2015"/>
                  <a:ext cx="135" cy="66"/>
                </a:xfrm>
                <a:custGeom>
                  <a:avLst/>
                  <a:gdLst>
                    <a:gd name="T0" fmla="*/ 42 w 135"/>
                    <a:gd name="T1" fmla="*/ 65 h 66"/>
                    <a:gd name="T2" fmla="*/ 42 w 135"/>
                    <a:gd name="T3" fmla="*/ 65 h 66"/>
                    <a:gd name="T4" fmla="*/ 0 w 135"/>
                    <a:gd name="T5" fmla="*/ 49 h 66"/>
                    <a:gd name="T6" fmla="*/ 98 w 135"/>
                    <a:gd name="T7" fmla="*/ 0 h 66"/>
                    <a:gd name="T8" fmla="*/ 134 w 135"/>
                    <a:gd name="T9" fmla="*/ 15 h 66"/>
                    <a:gd name="T10" fmla="*/ 42 w 135"/>
                    <a:gd name="T11" fmla="*/ 65 h 66"/>
                    <a:gd name="T12" fmla="*/ 0 60000 65536"/>
                    <a:gd name="T13" fmla="*/ 0 60000 65536"/>
                    <a:gd name="T14" fmla="*/ 0 60000 65536"/>
                    <a:gd name="T15" fmla="*/ 0 60000 65536"/>
                    <a:gd name="T16" fmla="*/ 0 60000 65536"/>
                    <a:gd name="T17" fmla="*/ 0 60000 65536"/>
                    <a:gd name="T18" fmla="*/ 0 w 135"/>
                    <a:gd name="T19" fmla="*/ 0 h 66"/>
                    <a:gd name="T20" fmla="*/ 135 w 135"/>
                    <a:gd name="T21" fmla="*/ 66 h 66"/>
                  </a:gdLst>
                  <a:ahLst/>
                  <a:cxnLst>
                    <a:cxn ang="T12">
                      <a:pos x="T0" y="T1"/>
                    </a:cxn>
                    <a:cxn ang="T13">
                      <a:pos x="T2" y="T3"/>
                    </a:cxn>
                    <a:cxn ang="T14">
                      <a:pos x="T4" y="T5"/>
                    </a:cxn>
                    <a:cxn ang="T15">
                      <a:pos x="T6" y="T7"/>
                    </a:cxn>
                    <a:cxn ang="T16">
                      <a:pos x="T8" y="T9"/>
                    </a:cxn>
                    <a:cxn ang="T17">
                      <a:pos x="T10" y="T11"/>
                    </a:cxn>
                  </a:cxnLst>
                  <a:rect l="T18" t="T19" r="T20" b="T21"/>
                  <a:pathLst>
                    <a:path w="135" h="66">
                      <a:moveTo>
                        <a:pt x="42" y="65"/>
                      </a:moveTo>
                      <a:lnTo>
                        <a:pt x="42" y="65"/>
                      </a:lnTo>
                      <a:lnTo>
                        <a:pt x="0" y="49"/>
                      </a:lnTo>
                      <a:lnTo>
                        <a:pt x="98" y="0"/>
                      </a:lnTo>
                      <a:lnTo>
                        <a:pt x="134" y="15"/>
                      </a:lnTo>
                      <a:lnTo>
                        <a:pt x="42" y="65"/>
                      </a:lnTo>
                    </a:path>
                  </a:pathLst>
                </a:custGeom>
                <a:solidFill>
                  <a:srgbClr val="CF5C82"/>
                </a:solidFill>
                <a:ln w="9525" cap="rnd">
                  <a:noFill/>
                  <a:round/>
                </a:ln>
              </p:spPr>
              <p:txBody>
                <a:bodyPr/>
                <a:lstStyle/>
                <a:p>
                  <a:endParaRPr lang="zh-CN" altLang="en-US"/>
                </a:p>
              </p:txBody>
            </p:sp>
          </p:grpSp>
          <p:grpSp>
            <p:nvGrpSpPr>
              <p:cNvPr id="250255" name="Group 199"/>
              <p:cNvGrpSpPr/>
              <p:nvPr/>
            </p:nvGrpSpPr>
            <p:grpSpPr bwMode="auto">
              <a:xfrm>
                <a:off x="2109" y="2072"/>
                <a:ext cx="148" cy="127"/>
                <a:chOff x="2109" y="2072"/>
                <a:chExt cx="148" cy="127"/>
              </a:xfrm>
            </p:grpSpPr>
            <p:sp>
              <p:nvSpPr>
                <p:cNvPr id="11618" name="Freeform 200"/>
                <p:cNvSpPr/>
                <p:nvPr/>
              </p:nvSpPr>
              <p:spPr bwMode="auto">
                <a:xfrm>
                  <a:off x="2154" y="2090"/>
                  <a:ext cx="102" cy="109"/>
                </a:xfrm>
                <a:custGeom>
                  <a:avLst/>
                  <a:gdLst>
                    <a:gd name="T0" fmla="*/ 0 w 102"/>
                    <a:gd name="T1" fmla="*/ 108 h 109"/>
                    <a:gd name="T2" fmla="*/ 0 w 102"/>
                    <a:gd name="T3" fmla="*/ 108 h 109"/>
                    <a:gd name="T4" fmla="*/ 0 w 102"/>
                    <a:gd name="T5" fmla="*/ 52 h 109"/>
                    <a:gd name="T6" fmla="*/ 101 w 102"/>
                    <a:gd name="T7" fmla="*/ 0 h 109"/>
                    <a:gd name="T8" fmla="*/ 98 w 102"/>
                    <a:gd name="T9" fmla="*/ 52 h 109"/>
                    <a:gd name="T10" fmla="*/ 0 w 102"/>
                    <a:gd name="T11" fmla="*/ 108 h 109"/>
                    <a:gd name="T12" fmla="*/ 0 60000 65536"/>
                    <a:gd name="T13" fmla="*/ 0 60000 65536"/>
                    <a:gd name="T14" fmla="*/ 0 60000 65536"/>
                    <a:gd name="T15" fmla="*/ 0 60000 65536"/>
                    <a:gd name="T16" fmla="*/ 0 60000 65536"/>
                    <a:gd name="T17" fmla="*/ 0 60000 65536"/>
                    <a:gd name="T18" fmla="*/ 0 w 102"/>
                    <a:gd name="T19" fmla="*/ 0 h 109"/>
                    <a:gd name="T20" fmla="*/ 102 w 102"/>
                    <a:gd name="T21" fmla="*/ 109 h 109"/>
                  </a:gdLst>
                  <a:ahLst/>
                  <a:cxnLst>
                    <a:cxn ang="T12">
                      <a:pos x="T0" y="T1"/>
                    </a:cxn>
                    <a:cxn ang="T13">
                      <a:pos x="T2" y="T3"/>
                    </a:cxn>
                    <a:cxn ang="T14">
                      <a:pos x="T4" y="T5"/>
                    </a:cxn>
                    <a:cxn ang="T15">
                      <a:pos x="T6" y="T7"/>
                    </a:cxn>
                    <a:cxn ang="T16">
                      <a:pos x="T8" y="T9"/>
                    </a:cxn>
                    <a:cxn ang="T17">
                      <a:pos x="T10" y="T11"/>
                    </a:cxn>
                  </a:cxnLst>
                  <a:rect l="T18" t="T19" r="T20" b="T21"/>
                  <a:pathLst>
                    <a:path w="102" h="109">
                      <a:moveTo>
                        <a:pt x="0" y="108"/>
                      </a:moveTo>
                      <a:lnTo>
                        <a:pt x="0" y="108"/>
                      </a:lnTo>
                      <a:lnTo>
                        <a:pt x="0" y="52"/>
                      </a:lnTo>
                      <a:lnTo>
                        <a:pt x="101" y="0"/>
                      </a:lnTo>
                      <a:lnTo>
                        <a:pt x="98" y="52"/>
                      </a:lnTo>
                      <a:lnTo>
                        <a:pt x="0" y="108"/>
                      </a:lnTo>
                    </a:path>
                  </a:pathLst>
                </a:custGeom>
                <a:solidFill>
                  <a:srgbClr val="BB1A50"/>
                </a:solidFill>
                <a:ln w="9525" cap="rnd">
                  <a:noFill/>
                  <a:round/>
                </a:ln>
              </p:spPr>
              <p:txBody>
                <a:bodyPr/>
                <a:lstStyle/>
                <a:p>
                  <a:endParaRPr lang="zh-CN" altLang="en-US"/>
                </a:p>
              </p:txBody>
            </p:sp>
            <p:sp>
              <p:nvSpPr>
                <p:cNvPr id="11619" name="Freeform 201"/>
                <p:cNvSpPr/>
                <p:nvPr/>
              </p:nvSpPr>
              <p:spPr bwMode="auto">
                <a:xfrm>
                  <a:off x="2109" y="2132"/>
                  <a:ext cx="44" cy="67"/>
                </a:xfrm>
                <a:custGeom>
                  <a:avLst/>
                  <a:gdLst>
                    <a:gd name="T0" fmla="*/ 43 w 44"/>
                    <a:gd name="T1" fmla="*/ 66 h 67"/>
                    <a:gd name="T2" fmla="*/ 43 w 44"/>
                    <a:gd name="T3" fmla="*/ 66 h 67"/>
                    <a:gd name="T4" fmla="*/ 0 w 44"/>
                    <a:gd name="T5" fmla="*/ 54 h 67"/>
                    <a:gd name="T6" fmla="*/ 0 w 44"/>
                    <a:gd name="T7" fmla="*/ 0 h 67"/>
                    <a:gd name="T8" fmla="*/ 43 w 44"/>
                    <a:gd name="T9" fmla="*/ 11 h 67"/>
                    <a:gd name="T10" fmla="*/ 43 w 44"/>
                    <a:gd name="T11" fmla="*/ 66 h 67"/>
                    <a:gd name="T12" fmla="*/ 0 60000 65536"/>
                    <a:gd name="T13" fmla="*/ 0 60000 65536"/>
                    <a:gd name="T14" fmla="*/ 0 60000 65536"/>
                    <a:gd name="T15" fmla="*/ 0 60000 65536"/>
                    <a:gd name="T16" fmla="*/ 0 60000 65536"/>
                    <a:gd name="T17" fmla="*/ 0 60000 65536"/>
                    <a:gd name="T18" fmla="*/ 0 w 44"/>
                    <a:gd name="T19" fmla="*/ 0 h 67"/>
                    <a:gd name="T20" fmla="*/ 44 w 44"/>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44" h="67">
                      <a:moveTo>
                        <a:pt x="43" y="66"/>
                      </a:moveTo>
                      <a:lnTo>
                        <a:pt x="43" y="66"/>
                      </a:lnTo>
                      <a:lnTo>
                        <a:pt x="0" y="54"/>
                      </a:lnTo>
                      <a:lnTo>
                        <a:pt x="0" y="0"/>
                      </a:lnTo>
                      <a:lnTo>
                        <a:pt x="43" y="11"/>
                      </a:lnTo>
                      <a:lnTo>
                        <a:pt x="43" y="66"/>
                      </a:lnTo>
                    </a:path>
                  </a:pathLst>
                </a:custGeom>
                <a:solidFill>
                  <a:srgbClr val="9E0005"/>
                </a:solidFill>
                <a:ln w="9525" cap="rnd">
                  <a:noFill/>
                  <a:round/>
                </a:ln>
              </p:spPr>
              <p:txBody>
                <a:bodyPr/>
                <a:lstStyle/>
                <a:p>
                  <a:endParaRPr lang="zh-CN" altLang="en-US"/>
                </a:p>
              </p:txBody>
            </p:sp>
            <p:sp>
              <p:nvSpPr>
                <p:cNvPr id="11620" name="Freeform 202"/>
                <p:cNvSpPr/>
                <p:nvPr/>
              </p:nvSpPr>
              <p:spPr bwMode="auto">
                <a:xfrm>
                  <a:off x="2110" y="2072"/>
                  <a:ext cx="147" cy="71"/>
                </a:xfrm>
                <a:custGeom>
                  <a:avLst/>
                  <a:gdLst>
                    <a:gd name="T0" fmla="*/ 44 w 147"/>
                    <a:gd name="T1" fmla="*/ 70 h 71"/>
                    <a:gd name="T2" fmla="*/ 44 w 147"/>
                    <a:gd name="T3" fmla="*/ 70 h 71"/>
                    <a:gd name="T4" fmla="*/ 0 w 147"/>
                    <a:gd name="T5" fmla="*/ 57 h 71"/>
                    <a:gd name="T6" fmla="*/ 104 w 147"/>
                    <a:gd name="T7" fmla="*/ 0 h 71"/>
                    <a:gd name="T8" fmla="*/ 146 w 147"/>
                    <a:gd name="T9" fmla="*/ 15 h 71"/>
                    <a:gd name="T10" fmla="*/ 44 w 147"/>
                    <a:gd name="T11" fmla="*/ 70 h 71"/>
                    <a:gd name="T12" fmla="*/ 0 60000 65536"/>
                    <a:gd name="T13" fmla="*/ 0 60000 65536"/>
                    <a:gd name="T14" fmla="*/ 0 60000 65536"/>
                    <a:gd name="T15" fmla="*/ 0 60000 65536"/>
                    <a:gd name="T16" fmla="*/ 0 60000 65536"/>
                    <a:gd name="T17" fmla="*/ 0 60000 65536"/>
                    <a:gd name="T18" fmla="*/ 0 w 147"/>
                    <a:gd name="T19" fmla="*/ 0 h 71"/>
                    <a:gd name="T20" fmla="*/ 147 w 147"/>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147" h="71">
                      <a:moveTo>
                        <a:pt x="44" y="70"/>
                      </a:moveTo>
                      <a:lnTo>
                        <a:pt x="44" y="70"/>
                      </a:lnTo>
                      <a:lnTo>
                        <a:pt x="0" y="57"/>
                      </a:lnTo>
                      <a:lnTo>
                        <a:pt x="104" y="0"/>
                      </a:lnTo>
                      <a:lnTo>
                        <a:pt x="146" y="15"/>
                      </a:lnTo>
                      <a:lnTo>
                        <a:pt x="44" y="70"/>
                      </a:lnTo>
                    </a:path>
                  </a:pathLst>
                </a:custGeom>
                <a:solidFill>
                  <a:srgbClr val="CF5C82"/>
                </a:solidFill>
                <a:ln w="9525" cap="rnd">
                  <a:noFill/>
                  <a:round/>
                </a:ln>
              </p:spPr>
              <p:txBody>
                <a:bodyPr/>
                <a:lstStyle/>
                <a:p>
                  <a:endParaRPr lang="zh-CN" altLang="en-US"/>
                </a:p>
              </p:txBody>
            </p:sp>
          </p:grpSp>
          <p:sp>
            <p:nvSpPr>
              <p:cNvPr id="11608" name="Freeform 203"/>
              <p:cNvSpPr/>
              <p:nvPr/>
            </p:nvSpPr>
            <p:spPr bwMode="auto">
              <a:xfrm>
                <a:off x="2099" y="2151"/>
                <a:ext cx="49" cy="83"/>
              </a:xfrm>
              <a:custGeom>
                <a:avLst/>
                <a:gdLst>
                  <a:gd name="T0" fmla="*/ 0 w 49"/>
                  <a:gd name="T1" fmla="*/ 82 h 83"/>
                  <a:gd name="T2" fmla="*/ 0 w 49"/>
                  <a:gd name="T3" fmla="*/ 82 h 83"/>
                  <a:gd name="T4" fmla="*/ 0 w 49"/>
                  <a:gd name="T5" fmla="*/ 27 h 83"/>
                  <a:gd name="T6" fmla="*/ 48 w 49"/>
                  <a:gd name="T7" fmla="*/ 0 h 83"/>
                  <a:gd name="T8" fmla="*/ 45 w 49"/>
                  <a:gd name="T9" fmla="*/ 54 h 83"/>
                  <a:gd name="T10" fmla="*/ 0 w 49"/>
                  <a:gd name="T11" fmla="*/ 82 h 83"/>
                  <a:gd name="T12" fmla="*/ 0 60000 65536"/>
                  <a:gd name="T13" fmla="*/ 0 60000 65536"/>
                  <a:gd name="T14" fmla="*/ 0 60000 65536"/>
                  <a:gd name="T15" fmla="*/ 0 60000 65536"/>
                  <a:gd name="T16" fmla="*/ 0 60000 65536"/>
                  <a:gd name="T17" fmla="*/ 0 60000 65536"/>
                  <a:gd name="T18" fmla="*/ 0 w 49"/>
                  <a:gd name="T19" fmla="*/ 0 h 83"/>
                  <a:gd name="T20" fmla="*/ 49 w 49"/>
                  <a:gd name="T21" fmla="*/ 83 h 83"/>
                </a:gdLst>
                <a:ahLst/>
                <a:cxnLst>
                  <a:cxn ang="T12">
                    <a:pos x="T0" y="T1"/>
                  </a:cxn>
                  <a:cxn ang="T13">
                    <a:pos x="T2" y="T3"/>
                  </a:cxn>
                  <a:cxn ang="T14">
                    <a:pos x="T4" y="T5"/>
                  </a:cxn>
                  <a:cxn ang="T15">
                    <a:pos x="T6" y="T7"/>
                  </a:cxn>
                  <a:cxn ang="T16">
                    <a:pos x="T8" y="T9"/>
                  </a:cxn>
                  <a:cxn ang="T17">
                    <a:pos x="T10" y="T11"/>
                  </a:cxn>
                </a:cxnLst>
                <a:rect l="T18" t="T19" r="T20" b="T21"/>
                <a:pathLst>
                  <a:path w="49" h="83">
                    <a:moveTo>
                      <a:pt x="0" y="82"/>
                    </a:moveTo>
                    <a:lnTo>
                      <a:pt x="0" y="82"/>
                    </a:lnTo>
                    <a:lnTo>
                      <a:pt x="0" y="27"/>
                    </a:lnTo>
                    <a:lnTo>
                      <a:pt x="48" y="0"/>
                    </a:lnTo>
                    <a:lnTo>
                      <a:pt x="45" y="54"/>
                    </a:lnTo>
                    <a:lnTo>
                      <a:pt x="0" y="82"/>
                    </a:lnTo>
                  </a:path>
                </a:pathLst>
              </a:custGeom>
              <a:solidFill>
                <a:srgbClr val="BB1A50"/>
              </a:solidFill>
              <a:ln w="9525" cap="rnd">
                <a:noFill/>
                <a:round/>
              </a:ln>
            </p:spPr>
            <p:txBody>
              <a:bodyPr/>
              <a:lstStyle/>
              <a:p>
                <a:endParaRPr lang="zh-CN" altLang="en-US"/>
              </a:p>
            </p:txBody>
          </p:sp>
          <p:sp>
            <p:nvSpPr>
              <p:cNvPr id="11609" name="Freeform 204"/>
              <p:cNvSpPr/>
              <p:nvPr/>
            </p:nvSpPr>
            <p:spPr bwMode="auto">
              <a:xfrm>
                <a:off x="2051" y="2138"/>
                <a:ext cx="97" cy="39"/>
              </a:xfrm>
              <a:custGeom>
                <a:avLst/>
                <a:gdLst>
                  <a:gd name="T0" fmla="*/ 46 w 97"/>
                  <a:gd name="T1" fmla="*/ 38 h 39"/>
                  <a:gd name="T2" fmla="*/ 46 w 97"/>
                  <a:gd name="T3" fmla="*/ 38 h 39"/>
                  <a:gd name="T4" fmla="*/ 0 w 97"/>
                  <a:gd name="T5" fmla="*/ 26 h 39"/>
                  <a:gd name="T6" fmla="*/ 49 w 97"/>
                  <a:gd name="T7" fmla="*/ 0 h 39"/>
                  <a:gd name="T8" fmla="*/ 96 w 97"/>
                  <a:gd name="T9" fmla="*/ 11 h 39"/>
                  <a:gd name="T10" fmla="*/ 46 w 97"/>
                  <a:gd name="T11" fmla="*/ 38 h 39"/>
                  <a:gd name="T12" fmla="*/ 0 60000 65536"/>
                  <a:gd name="T13" fmla="*/ 0 60000 65536"/>
                  <a:gd name="T14" fmla="*/ 0 60000 65536"/>
                  <a:gd name="T15" fmla="*/ 0 60000 65536"/>
                  <a:gd name="T16" fmla="*/ 0 60000 65536"/>
                  <a:gd name="T17" fmla="*/ 0 60000 65536"/>
                  <a:gd name="T18" fmla="*/ 0 w 97"/>
                  <a:gd name="T19" fmla="*/ 0 h 39"/>
                  <a:gd name="T20" fmla="*/ 97 w 97"/>
                  <a:gd name="T21" fmla="*/ 39 h 39"/>
                </a:gdLst>
                <a:ahLst/>
                <a:cxnLst>
                  <a:cxn ang="T12">
                    <a:pos x="T0" y="T1"/>
                  </a:cxn>
                  <a:cxn ang="T13">
                    <a:pos x="T2" y="T3"/>
                  </a:cxn>
                  <a:cxn ang="T14">
                    <a:pos x="T4" y="T5"/>
                  </a:cxn>
                  <a:cxn ang="T15">
                    <a:pos x="T6" y="T7"/>
                  </a:cxn>
                  <a:cxn ang="T16">
                    <a:pos x="T8" y="T9"/>
                  </a:cxn>
                  <a:cxn ang="T17">
                    <a:pos x="T10" y="T11"/>
                  </a:cxn>
                </a:cxnLst>
                <a:rect l="T18" t="T19" r="T20" b="T21"/>
                <a:pathLst>
                  <a:path w="97" h="39">
                    <a:moveTo>
                      <a:pt x="46" y="38"/>
                    </a:moveTo>
                    <a:lnTo>
                      <a:pt x="46" y="38"/>
                    </a:lnTo>
                    <a:lnTo>
                      <a:pt x="0" y="26"/>
                    </a:lnTo>
                    <a:lnTo>
                      <a:pt x="49" y="0"/>
                    </a:lnTo>
                    <a:lnTo>
                      <a:pt x="96" y="11"/>
                    </a:lnTo>
                    <a:lnTo>
                      <a:pt x="46" y="38"/>
                    </a:lnTo>
                  </a:path>
                </a:pathLst>
              </a:custGeom>
              <a:solidFill>
                <a:srgbClr val="CF5C82"/>
              </a:solidFill>
              <a:ln w="9525" cap="rnd">
                <a:noFill/>
                <a:round/>
              </a:ln>
            </p:spPr>
            <p:txBody>
              <a:bodyPr/>
              <a:lstStyle/>
              <a:p>
                <a:endParaRPr lang="zh-CN" altLang="en-US"/>
              </a:p>
            </p:txBody>
          </p:sp>
          <p:sp>
            <p:nvSpPr>
              <p:cNvPr id="11610" name="Freeform 205"/>
              <p:cNvSpPr/>
              <p:nvPr/>
            </p:nvSpPr>
            <p:spPr bwMode="auto">
              <a:xfrm>
                <a:off x="2449" y="1975"/>
                <a:ext cx="17" cy="55"/>
              </a:xfrm>
              <a:custGeom>
                <a:avLst/>
                <a:gdLst>
                  <a:gd name="T0" fmla="*/ 0 w 17"/>
                  <a:gd name="T1" fmla="*/ 54 h 55"/>
                  <a:gd name="T2" fmla="*/ 0 w 17"/>
                  <a:gd name="T3" fmla="*/ 54 h 55"/>
                  <a:gd name="T4" fmla="*/ 0 w 17"/>
                  <a:gd name="T5" fmla="*/ 27 h 55"/>
                  <a:gd name="T6" fmla="*/ 5 w 17"/>
                  <a:gd name="T7" fmla="*/ 9 h 55"/>
                  <a:gd name="T8" fmla="*/ 5 w 17"/>
                  <a:gd name="T9" fmla="*/ 2 h 55"/>
                  <a:gd name="T10" fmla="*/ 5 w 17"/>
                  <a:gd name="T11" fmla="*/ 0 h 55"/>
                  <a:gd name="T12" fmla="*/ 10 w 17"/>
                  <a:gd name="T13" fmla="*/ 0 h 55"/>
                  <a:gd name="T14" fmla="*/ 16 w 17"/>
                  <a:gd name="T15" fmla="*/ 0 h 55"/>
                  <a:gd name="T16" fmla="*/ 16 w 17"/>
                  <a:gd name="T17" fmla="*/ 24 h 55"/>
                  <a:gd name="T18" fmla="*/ 10 w 17"/>
                  <a:gd name="T19" fmla="*/ 47 h 55"/>
                  <a:gd name="T20" fmla="*/ 10 w 17"/>
                  <a:gd name="T21" fmla="*/ 51 h 55"/>
                  <a:gd name="T22" fmla="*/ 5 w 17"/>
                  <a:gd name="T23" fmla="*/ 47 h 55"/>
                  <a:gd name="T24" fmla="*/ 5 w 17"/>
                  <a:gd name="T25" fmla="*/ 51 h 55"/>
                  <a:gd name="T26" fmla="*/ 0 w 17"/>
                  <a:gd name="T27" fmla="*/ 51 h 55"/>
                  <a:gd name="T28" fmla="*/ 0 w 17"/>
                  <a:gd name="T29" fmla="*/ 54 h 5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
                  <a:gd name="T46" fmla="*/ 0 h 55"/>
                  <a:gd name="T47" fmla="*/ 17 w 17"/>
                  <a:gd name="T48" fmla="*/ 55 h 5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 h="55">
                    <a:moveTo>
                      <a:pt x="0" y="54"/>
                    </a:moveTo>
                    <a:lnTo>
                      <a:pt x="0" y="54"/>
                    </a:lnTo>
                    <a:lnTo>
                      <a:pt x="0" y="27"/>
                    </a:lnTo>
                    <a:lnTo>
                      <a:pt x="5" y="9"/>
                    </a:lnTo>
                    <a:lnTo>
                      <a:pt x="5" y="2"/>
                    </a:lnTo>
                    <a:lnTo>
                      <a:pt x="5" y="0"/>
                    </a:lnTo>
                    <a:lnTo>
                      <a:pt x="10" y="0"/>
                    </a:lnTo>
                    <a:lnTo>
                      <a:pt x="16" y="0"/>
                    </a:lnTo>
                    <a:lnTo>
                      <a:pt x="16" y="24"/>
                    </a:lnTo>
                    <a:lnTo>
                      <a:pt x="10" y="47"/>
                    </a:lnTo>
                    <a:lnTo>
                      <a:pt x="10" y="51"/>
                    </a:lnTo>
                    <a:lnTo>
                      <a:pt x="5" y="47"/>
                    </a:lnTo>
                    <a:lnTo>
                      <a:pt x="5" y="51"/>
                    </a:lnTo>
                    <a:lnTo>
                      <a:pt x="0" y="51"/>
                    </a:lnTo>
                    <a:lnTo>
                      <a:pt x="0" y="54"/>
                    </a:lnTo>
                  </a:path>
                </a:pathLst>
              </a:custGeom>
              <a:solidFill>
                <a:srgbClr val="BDB597"/>
              </a:solidFill>
              <a:ln w="9525" cap="rnd">
                <a:noFill/>
                <a:round/>
              </a:ln>
            </p:spPr>
            <p:txBody>
              <a:bodyPr/>
              <a:lstStyle/>
              <a:p>
                <a:endParaRPr lang="zh-CN" altLang="en-US"/>
              </a:p>
            </p:txBody>
          </p:sp>
          <p:sp>
            <p:nvSpPr>
              <p:cNvPr id="11611" name="Freeform 206"/>
              <p:cNvSpPr/>
              <p:nvPr/>
            </p:nvSpPr>
            <p:spPr bwMode="auto">
              <a:xfrm>
                <a:off x="2097" y="1923"/>
                <a:ext cx="441" cy="257"/>
              </a:xfrm>
              <a:custGeom>
                <a:avLst/>
                <a:gdLst>
                  <a:gd name="T0" fmla="*/ 440 w 441"/>
                  <a:gd name="T1" fmla="*/ 0 h 257"/>
                  <a:gd name="T2" fmla="*/ 440 w 441"/>
                  <a:gd name="T3" fmla="*/ 0 h 257"/>
                  <a:gd name="T4" fmla="*/ 0 w 441"/>
                  <a:gd name="T5" fmla="*/ 246 h 257"/>
                  <a:gd name="T6" fmla="*/ 3 w 441"/>
                  <a:gd name="T7" fmla="*/ 256 h 257"/>
                  <a:gd name="T8" fmla="*/ 440 w 441"/>
                  <a:gd name="T9" fmla="*/ 6 h 257"/>
                  <a:gd name="T10" fmla="*/ 440 w 441"/>
                  <a:gd name="T11" fmla="*/ 0 h 257"/>
                  <a:gd name="T12" fmla="*/ 0 60000 65536"/>
                  <a:gd name="T13" fmla="*/ 0 60000 65536"/>
                  <a:gd name="T14" fmla="*/ 0 60000 65536"/>
                  <a:gd name="T15" fmla="*/ 0 60000 65536"/>
                  <a:gd name="T16" fmla="*/ 0 60000 65536"/>
                  <a:gd name="T17" fmla="*/ 0 60000 65536"/>
                  <a:gd name="T18" fmla="*/ 0 w 441"/>
                  <a:gd name="T19" fmla="*/ 0 h 257"/>
                  <a:gd name="T20" fmla="*/ 441 w 441"/>
                  <a:gd name="T21" fmla="*/ 257 h 257"/>
                </a:gdLst>
                <a:ahLst/>
                <a:cxnLst>
                  <a:cxn ang="T12">
                    <a:pos x="T0" y="T1"/>
                  </a:cxn>
                  <a:cxn ang="T13">
                    <a:pos x="T2" y="T3"/>
                  </a:cxn>
                  <a:cxn ang="T14">
                    <a:pos x="T4" y="T5"/>
                  </a:cxn>
                  <a:cxn ang="T15">
                    <a:pos x="T6" y="T7"/>
                  </a:cxn>
                  <a:cxn ang="T16">
                    <a:pos x="T8" y="T9"/>
                  </a:cxn>
                  <a:cxn ang="T17">
                    <a:pos x="T10" y="T11"/>
                  </a:cxn>
                </a:cxnLst>
                <a:rect l="T18" t="T19" r="T20" b="T21"/>
                <a:pathLst>
                  <a:path w="441" h="257">
                    <a:moveTo>
                      <a:pt x="440" y="0"/>
                    </a:moveTo>
                    <a:lnTo>
                      <a:pt x="440" y="0"/>
                    </a:lnTo>
                    <a:lnTo>
                      <a:pt x="0" y="246"/>
                    </a:lnTo>
                    <a:lnTo>
                      <a:pt x="3" y="256"/>
                    </a:lnTo>
                    <a:lnTo>
                      <a:pt x="440" y="6"/>
                    </a:lnTo>
                    <a:lnTo>
                      <a:pt x="440" y="0"/>
                    </a:lnTo>
                  </a:path>
                </a:pathLst>
              </a:custGeom>
              <a:solidFill>
                <a:srgbClr val="BDB597"/>
              </a:solidFill>
              <a:ln w="9525" cap="rnd">
                <a:noFill/>
                <a:round/>
              </a:ln>
            </p:spPr>
            <p:txBody>
              <a:bodyPr/>
              <a:lstStyle/>
              <a:p>
                <a:endParaRPr lang="zh-CN" altLang="en-US"/>
              </a:p>
            </p:txBody>
          </p:sp>
          <p:sp>
            <p:nvSpPr>
              <p:cNvPr id="11612" name="Freeform 207"/>
              <p:cNvSpPr/>
              <p:nvPr/>
            </p:nvSpPr>
            <p:spPr bwMode="auto">
              <a:xfrm>
                <a:off x="2355" y="2029"/>
                <a:ext cx="17" cy="55"/>
              </a:xfrm>
              <a:custGeom>
                <a:avLst/>
                <a:gdLst>
                  <a:gd name="T0" fmla="*/ 0 w 17"/>
                  <a:gd name="T1" fmla="*/ 54 h 55"/>
                  <a:gd name="T2" fmla="*/ 0 w 17"/>
                  <a:gd name="T3" fmla="*/ 54 h 55"/>
                  <a:gd name="T4" fmla="*/ 0 w 17"/>
                  <a:gd name="T5" fmla="*/ 45 h 55"/>
                  <a:gd name="T6" fmla="*/ 0 w 17"/>
                  <a:gd name="T7" fmla="*/ 27 h 55"/>
                  <a:gd name="T8" fmla="*/ 5 w 17"/>
                  <a:gd name="T9" fmla="*/ 18 h 55"/>
                  <a:gd name="T10" fmla="*/ 5 w 17"/>
                  <a:gd name="T11" fmla="*/ 9 h 55"/>
                  <a:gd name="T12" fmla="*/ 5 w 17"/>
                  <a:gd name="T13" fmla="*/ 6 h 55"/>
                  <a:gd name="T14" fmla="*/ 5 w 17"/>
                  <a:gd name="T15" fmla="*/ 2 h 55"/>
                  <a:gd name="T16" fmla="*/ 5 w 17"/>
                  <a:gd name="T17" fmla="*/ 0 h 55"/>
                  <a:gd name="T18" fmla="*/ 10 w 17"/>
                  <a:gd name="T19" fmla="*/ 0 h 55"/>
                  <a:gd name="T20" fmla="*/ 16 w 17"/>
                  <a:gd name="T21" fmla="*/ 0 h 55"/>
                  <a:gd name="T22" fmla="*/ 16 w 17"/>
                  <a:gd name="T23" fmla="*/ 24 h 55"/>
                  <a:gd name="T24" fmla="*/ 16 w 17"/>
                  <a:gd name="T25" fmla="*/ 42 h 55"/>
                  <a:gd name="T26" fmla="*/ 16 w 17"/>
                  <a:gd name="T27" fmla="*/ 47 h 55"/>
                  <a:gd name="T28" fmla="*/ 10 w 17"/>
                  <a:gd name="T29" fmla="*/ 47 h 55"/>
                  <a:gd name="T30" fmla="*/ 10 w 17"/>
                  <a:gd name="T31" fmla="*/ 51 h 55"/>
                  <a:gd name="T32" fmla="*/ 5 w 17"/>
                  <a:gd name="T33" fmla="*/ 51 h 55"/>
                  <a:gd name="T34" fmla="*/ 0 w 17"/>
                  <a:gd name="T35" fmla="*/ 54 h 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55"/>
                  <a:gd name="T56" fmla="*/ 17 w 17"/>
                  <a:gd name="T57" fmla="*/ 55 h 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55">
                    <a:moveTo>
                      <a:pt x="0" y="54"/>
                    </a:moveTo>
                    <a:lnTo>
                      <a:pt x="0" y="54"/>
                    </a:lnTo>
                    <a:lnTo>
                      <a:pt x="0" y="45"/>
                    </a:lnTo>
                    <a:lnTo>
                      <a:pt x="0" y="27"/>
                    </a:lnTo>
                    <a:lnTo>
                      <a:pt x="5" y="18"/>
                    </a:lnTo>
                    <a:lnTo>
                      <a:pt x="5" y="9"/>
                    </a:lnTo>
                    <a:lnTo>
                      <a:pt x="5" y="6"/>
                    </a:lnTo>
                    <a:lnTo>
                      <a:pt x="5" y="2"/>
                    </a:lnTo>
                    <a:lnTo>
                      <a:pt x="5" y="0"/>
                    </a:lnTo>
                    <a:lnTo>
                      <a:pt x="10" y="0"/>
                    </a:lnTo>
                    <a:lnTo>
                      <a:pt x="16" y="0"/>
                    </a:lnTo>
                    <a:lnTo>
                      <a:pt x="16" y="24"/>
                    </a:lnTo>
                    <a:lnTo>
                      <a:pt x="16" y="42"/>
                    </a:lnTo>
                    <a:lnTo>
                      <a:pt x="16" y="47"/>
                    </a:lnTo>
                    <a:lnTo>
                      <a:pt x="10" y="47"/>
                    </a:lnTo>
                    <a:lnTo>
                      <a:pt x="10" y="51"/>
                    </a:lnTo>
                    <a:lnTo>
                      <a:pt x="5" y="51"/>
                    </a:lnTo>
                    <a:lnTo>
                      <a:pt x="0" y="54"/>
                    </a:lnTo>
                  </a:path>
                </a:pathLst>
              </a:custGeom>
              <a:solidFill>
                <a:srgbClr val="BDB597"/>
              </a:solidFill>
              <a:ln w="9525" cap="rnd">
                <a:noFill/>
                <a:round/>
              </a:ln>
            </p:spPr>
            <p:txBody>
              <a:bodyPr/>
              <a:lstStyle/>
              <a:p>
                <a:endParaRPr lang="zh-CN" altLang="en-US"/>
              </a:p>
            </p:txBody>
          </p:sp>
          <p:sp>
            <p:nvSpPr>
              <p:cNvPr id="11613" name="Freeform 208"/>
              <p:cNvSpPr/>
              <p:nvPr/>
            </p:nvSpPr>
            <p:spPr bwMode="auto">
              <a:xfrm>
                <a:off x="2256" y="2083"/>
                <a:ext cx="17" cy="60"/>
              </a:xfrm>
              <a:custGeom>
                <a:avLst/>
                <a:gdLst>
                  <a:gd name="T0" fmla="*/ 0 w 17"/>
                  <a:gd name="T1" fmla="*/ 59 h 60"/>
                  <a:gd name="T2" fmla="*/ 0 w 17"/>
                  <a:gd name="T3" fmla="*/ 59 h 60"/>
                  <a:gd name="T4" fmla="*/ 0 w 17"/>
                  <a:gd name="T5" fmla="*/ 49 h 60"/>
                  <a:gd name="T6" fmla="*/ 0 w 17"/>
                  <a:gd name="T7" fmla="*/ 30 h 60"/>
                  <a:gd name="T8" fmla="*/ 0 w 17"/>
                  <a:gd name="T9" fmla="*/ 19 h 60"/>
                  <a:gd name="T10" fmla="*/ 0 w 17"/>
                  <a:gd name="T11" fmla="*/ 9 h 60"/>
                  <a:gd name="T12" fmla="*/ 5 w 17"/>
                  <a:gd name="T13" fmla="*/ 2 h 60"/>
                  <a:gd name="T14" fmla="*/ 5 w 17"/>
                  <a:gd name="T15" fmla="*/ 0 h 60"/>
                  <a:gd name="T16" fmla="*/ 10 w 17"/>
                  <a:gd name="T17" fmla="*/ 0 h 60"/>
                  <a:gd name="T18" fmla="*/ 16 w 17"/>
                  <a:gd name="T19" fmla="*/ 0 h 60"/>
                  <a:gd name="T20" fmla="*/ 16 w 17"/>
                  <a:gd name="T21" fmla="*/ 28 h 60"/>
                  <a:gd name="T22" fmla="*/ 16 w 17"/>
                  <a:gd name="T23" fmla="*/ 46 h 60"/>
                  <a:gd name="T24" fmla="*/ 16 w 17"/>
                  <a:gd name="T25" fmla="*/ 56 h 60"/>
                  <a:gd name="T26" fmla="*/ 10 w 17"/>
                  <a:gd name="T27" fmla="*/ 56 h 60"/>
                  <a:gd name="T28" fmla="*/ 5 w 17"/>
                  <a:gd name="T29" fmla="*/ 56 h 60"/>
                  <a:gd name="T30" fmla="*/ 5 w 17"/>
                  <a:gd name="T31" fmla="*/ 59 h 60"/>
                  <a:gd name="T32" fmla="*/ 0 w 17"/>
                  <a:gd name="T33" fmla="*/ 59 h 6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
                  <a:gd name="T52" fmla="*/ 0 h 60"/>
                  <a:gd name="T53" fmla="*/ 17 w 17"/>
                  <a:gd name="T54" fmla="*/ 60 h 6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 h="60">
                    <a:moveTo>
                      <a:pt x="0" y="59"/>
                    </a:moveTo>
                    <a:lnTo>
                      <a:pt x="0" y="59"/>
                    </a:lnTo>
                    <a:lnTo>
                      <a:pt x="0" y="49"/>
                    </a:lnTo>
                    <a:lnTo>
                      <a:pt x="0" y="30"/>
                    </a:lnTo>
                    <a:lnTo>
                      <a:pt x="0" y="19"/>
                    </a:lnTo>
                    <a:lnTo>
                      <a:pt x="0" y="9"/>
                    </a:lnTo>
                    <a:lnTo>
                      <a:pt x="5" y="2"/>
                    </a:lnTo>
                    <a:lnTo>
                      <a:pt x="5" y="0"/>
                    </a:lnTo>
                    <a:lnTo>
                      <a:pt x="10" y="0"/>
                    </a:lnTo>
                    <a:lnTo>
                      <a:pt x="16" y="0"/>
                    </a:lnTo>
                    <a:lnTo>
                      <a:pt x="16" y="28"/>
                    </a:lnTo>
                    <a:lnTo>
                      <a:pt x="16" y="46"/>
                    </a:lnTo>
                    <a:lnTo>
                      <a:pt x="16" y="56"/>
                    </a:lnTo>
                    <a:lnTo>
                      <a:pt x="10" y="56"/>
                    </a:lnTo>
                    <a:lnTo>
                      <a:pt x="5" y="56"/>
                    </a:lnTo>
                    <a:lnTo>
                      <a:pt x="5" y="59"/>
                    </a:lnTo>
                    <a:lnTo>
                      <a:pt x="0" y="59"/>
                    </a:lnTo>
                  </a:path>
                </a:pathLst>
              </a:custGeom>
              <a:solidFill>
                <a:srgbClr val="BDB597"/>
              </a:solidFill>
              <a:ln w="9525" cap="rnd">
                <a:noFill/>
                <a:round/>
              </a:ln>
            </p:spPr>
            <p:txBody>
              <a:bodyPr/>
              <a:lstStyle/>
              <a:p>
                <a:endParaRPr lang="zh-CN" altLang="en-US"/>
              </a:p>
            </p:txBody>
          </p:sp>
          <p:sp>
            <p:nvSpPr>
              <p:cNvPr id="11614" name="Freeform 209"/>
              <p:cNvSpPr/>
              <p:nvPr/>
            </p:nvSpPr>
            <p:spPr bwMode="auto">
              <a:xfrm>
                <a:off x="2147" y="2146"/>
                <a:ext cx="17" cy="63"/>
              </a:xfrm>
              <a:custGeom>
                <a:avLst/>
                <a:gdLst>
                  <a:gd name="T0" fmla="*/ 0 w 17"/>
                  <a:gd name="T1" fmla="*/ 62 h 63"/>
                  <a:gd name="T2" fmla="*/ 0 w 17"/>
                  <a:gd name="T3" fmla="*/ 62 h 63"/>
                  <a:gd name="T4" fmla="*/ 0 w 17"/>
                  <a:gd name="T5" fmla="*/ 52 h 63"/>
                  <a:gd name="T6" fmla="*/ 0 w 17"/>
                  <a:gd name="T7" fmla="*/ 31 h 63"/>
                  <a:gd name="T8" fmla="*/ 0 w 17"/>
                  <a:gd name="T9" fmla="*/ 18 h 63"/>
                  <a:gd name="T10" fmla="*/ 0 w 17"/>
                  <a:gd name="T11" fmla="*/ 9 h 63"/>
                  <a:gd name="T12" fmla="*/ 0 w 17"/>
                  <a:gd name="T13" fmla="*/ 6 h 63"/>
                  <a:gd name="T14" fmla="*/ 0 w 17"/>
                  <a:gd name="T15" fmla="*/ 2 h 63"/>
                  <a:gd name="T16" fmla="*/ 6 w 17"/>
                  <a:gd name="T17" fmla="*/ 2 h 63"/>
                  <a:gd name="T18" fmla="*/ 6 w 17"/>
                  <a:gd name="T19" fmla="*/ 0 h 63"/>
                  <a:gd name="T20" fmla="*/ 10 w 17"/>
                  <a:gd name="T21" fmla="*/ 0 h 63"/>
                  <a:gd name="T22" fmla="*/ 16 w 17"/>
                  <a:gd name="T23" fmla="*/ 0 h 63"/>
                  <a:gd name="T24" fmla="*/ 16 w 17"/>
                  <a:gd name="T25" fmla="*/ 28 h 63"/>
                  <a:gd name="T26" fmla="*/ 16 w 17"/>
                  <a:gd name="T27" fmla="*/ 46 h 63"/>
                  <a:gd name="T28" fmla="*/ 16 w 17"/>
                  <a:gd name="T29" fmla="*/ 55 h 63"/>
                  <a:gd name="T30" fmla="*/ 10 w 17"/>
                  <a:gd name="T31" fmla="*/ 55 h 63"/>
                  <a:gd name="T32" fmla="*/ 6 w 17"/>
                  <a:gd name="T33" fmla="*/ 55 h 63"/>
                  <a:gd name="T34" fmla="*/ 6 w 17"/>
                  <a:gd name="T35" fmla="*/ 59 h 63"/>
                  <a:gd name="T36" fmla="*/ 0 w 17"/>
                  <a:gd name="T37" fmla="*/ 62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63"/>
                  <a:gd name="T59" fmla="*/ 17 w 17"/>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63">
                    <a:moveTo>
                      <a:pt x="0" y="62"/>
                    </a:moveTo>
                    <a:lnTo>
                      <a:pt x="0" y="62"/>
                    </a:lnTo>
                    <a:lnTo>
                      <a:pt x="0" y="52"/>
                    </a:lnTo>
                    <a:lnTo>
                      <a:pt x="0" y="31"/>
                    </a:lnTo>
                    <a:lnTo>
                      <a:pt x="0" y="18"/>
                    </a:lnTo>
                    <a:lnTo>
                      <a:pt x="0" y="9"/>
                    </a:lnTo>
                    <a:lnTo>
                      <a:pt x="0" y="6"/>
                    </a:lnTo>
                    <a:lnTo>
                      <a:pt x="0" y="2"/>
                    </a:lnTo>
                    <a:lnTo>
                      <a:pt x="6" y="2"/>
                    </a:lnTo>
                    <a:lnTo>
                      <a:pt x="6" y="0"/>
                    </a:lnTo>
                    <a:lnTo>
                      <a:pt x="10" y="0"/>
                    </a:lnTo>
                    <a:lnTo>
                      <a:pt x="16" y="0"/>
                    </a:lnTo>
                    <a:lnTo>
                      <a:pt x="16" y="28"/>
                    </a:lnTo>
                    <a:lnTo>
                      <a:pt x="16" y="46"/>
                    </a:lnTo>
                    <a:lnTo>
                      <a:pt x="16" y="55"/>
                    </a:lnTo>
                    <a:lnTo>
                      <a:pt x="10" y="55"/>
                    </a:lnTo>
                    <a:lnTo>
                      <a:pt x="6" y="55"/>
                    </a:lnTo>
                    <a:lnTo>
                      <a:pt x="6" y="59"/>
                    </a:lnTo>
                    <a:lnTo>
                      <a:pt x="0" y="62"/>
                    </a:lnTo>
                  </a:path>
                </a:pathLst>
              </a:custGeom>
              <a:solidFill>
                <a:srgbClr val="BDB597"/>
              </a:solidFill>
              <a:ln w="9525" cap="rnd">
                <a:noFill/>
                <a:round/>
              </a:ln>
            </p:spPr>
            <p:txBody>
              <a:bodyPr/>
              <a:lstStyle/>
              <a:p>
                <a:endParaRPr lang="zh-CN" altLang="en-US"/>
              </a:p>
            </p:txBody>
          </p:sp>
          <p:sp>
            <p:nvSpPr>
              <p:cNvPr id="11615" name="Freeform 210"/>
              <p:cNvSpPr/>
              <p:nvPr/>
            </p:nvSpPr>
            <p:spPr bwMode="auto">
              <a:xfrm>
                <a:off x="2051" y="2167"/>
                <a:ext cx="47" cy="67"/>
              </a:xfrm>
              <a:custGeom>
                <a:avLst/>
                <a:gdLst>
                  <a:gd name="T0" fmla="*/ 46 w 47"/>
                  <a:gd name="T1" fmla="*/ 66 h 67"/>
                  <a:gd name="T2" fmla="*/ 46 w 47"/>
                  <a:gd name="T3" fmla="*/ 66 h 67"/>
                  <a:gd name="T4" fmla="*/ 0 w 47"/>
                  <a:gd name="T5" fmla="*/ 54 h 67"/>
                  <a:gd name="T6" fmla="*/ 0 w 47"/>
                  <a:gd name="T7" fmla="*/ 0 h 67"/>
                  <a:gd name="T8" fmla="*/ 46 w 47"/>
                  <a:gd name="T9" fmla="*/ 11 h 67"/>
                  <a:gd name="T10" fmla="*/ 46 w 47"/>
                  <a:gd name="T11" fmla="*/ 66 h 67"/>
                  <a:gd name="T12" fmla="*/ 0 60000 65536"/>
                  <a:gd name="T13" fmla="*/ 0 60000 65536"/>
                  <a:gd name="T14" fmla="*/ 0 60000 65536"/>
                  <a:gd name="T15" fmla="*/ 0 60000 65536"/>
                  <a:gd name="T16" fmla="*/ 0 60000 65536"/>
                  <a:gd name="T17" fmla="*/ 0 60000 65536"/>
                  <a:gd name="T18" fmla="*/ 0 w 47"/>
                  <a:gd name="T19" fmla="*/ 0 h 67"/>
                  <a:gd name="T20" fmla="*/ 47 w 47"/>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47" h="67">
                    <a:moveTo>
                      <a:pt x="46" y="66"/>
                    </a:moveTo>
                    <a:lnTo>
                      <a:pt x="46" y="66"/>
                    </a:lnTo>
                    <a:lnTo>
                      <a:pt x="0" y="54"/>
                    </a:lnTo>
                    <a:lnTo>
                      <a:pt x="0" y="0"/>
                    </a:lnTo>
                    <a:lnTo>
                      <a:pt x="46" y="11"/>
                    </a:lnTo>
                    <a:lnTo>
                      <a:pt x="46" y="66"/>
                    </a:lnTo>
                  </a:path>
                </a:pathLst>
              </a:custGeom>
              <a:solidFill>
                <a:srgbClr val="9E0005"/>
              </a:solidFill>
              <a:ln w="9525" cap="rnd">
                <a:noFill/>
                <a:round/>
              </a:ln>
            </p:spPr>
            <p:txBody>
              <a:bodyPr/>
              <a:lstStyle/>
              <a:p>
                <a:endParaRPr lang="zh-CN" altLang="en-US"/>
              </a:p>
            </p:txBody>
          </p:sp>
          <p:sp>
            <p:nvSpPr>
              <p:cNvPr id="11616" name="Freeform 211"/>
              <p:cNvSpPr/>
              <p:nvPr/>
            </p:nvSpPr>
            <p:spPr bwMode="auto">
              <a:xfrm>
                <a:off x="2051" y="2224"/>
                <a:ext cx="47" cy="20"/>
              </a:xfrm>
              <a:custGeom>
                <a:avLst/>
                <a:gdLst>
                  <a:gd name="T0" fmla="*/ 43 w 47"/>
                  <a:gd name="T1" fmla="*/ 19 h 20"/>
                  <a:gd name="T2" fmla="*/ 43 w 47"/>
                  <a:gd name="T3" fmla="*/ 19 h 20"/>
                  <a:gd name="T4" fmla="*/ 46 w 47"/>
                  <a:gd name="T5" fmla="*/ 19 h 20"/>
                  <a:gd name="T6" fmla="*/ 46 w 47"/>
                  <a:gd name="T7" fmla="*/ 16 h 20"/>
                  <a:gd name="T8" fmla="*/ 46 w 47"/>
                  <a:gd name="T9" fmla="*/ 13 h 20"/>
                  <a:gd name="T10" fmla="*/ 46 w 47"/>
                  <a:gd name="T11" fmla="*/ 10 h 20"/>
                  <a:gd name="T12" fmla="*/ 24 w 47"/>
                  <a:gd name="T13" fmla="*/ 5 h 20"/>
                  <a:gd name="T14" fmla="*/ 0 w 47"/>
                  <a:gd name="T15" fmla="*/ 0 h 20"/>
                  <a:gd name="T16" fmla="*/ 0 w 47"/>
                  <a:gd name="T17" fmla="*/ 2 h 20"/>
                  <a:gd name="T18" fmla="*/ 0 w 47"/>
                  <a:gd name="T19" fmla="*/ 5 h 20"/>
                  <a:gd name="T20" fmla="*/ 0 w 47"/>
                  <a:gd name="T21" fmla="*/ 8 h 20"/>
                  <a:gd name="T22" fmla="*/ 5 w 47"/>
                  <a:gd name="T23" fmla="*/ 8 h 20"/>
                  <a:gd name="T24" fmla="*/ 13 w 47"/>
                  <a:gd name="T25" fmla="*/ 8 h 20"/>
                  <a:gd name="T26" fmla="*/ 21 w 47"/>
                  <a:gd name="T27" fmla="*/ 10 h 20"/>
                  <a:gd name="T28" fmla="*/ 29 w 47"/>
                  <a:gd name="T29" fmla="*/ 13 h 20"/>
                  <a:gd name="T30" fmla="*/ 35 w 47"/>
                  <a:gd name="T31" fmla="*/ 13 h 20"/>
                  <a:gd name="T32" fmla="*/ 37 w 47"/>
                  <a:gd name="T33" fmla="*/ 16 h 20"/>
                  <a:gd name="T34" fmla="*/ 40 w 47"/>
                  <a:gd name="T35" fmla="*/ 16 h 20"/>
                  <a:gd name="T36" fmla="*/ 43 w 47"/>
                  <a:gd name="T37" fmla="*/ 16 h 20"/>
                  <a:gd name="T38" fmla="*/ 43 w 47"/>
                  <a:gd name="T39" fmla="*/ 19 h 2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7"/>
                  <a:gd name="T61" fmla="*/ 0 h 20"/>
                  <a:gd name="T62" fmla="*/ 47 w 47"/>
                  <a:gd name="T63" fmla="*/ 20 h 2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7" h="20">
                    <a:moveTo>
                      <a:pt x="43" y="19"/>
                    </a:moveTo>
                    <a:lnTo>
                      <a:pt x="43" y="19"/>
                    </a:lnTo>
                    <a:lnTo>
                      <a:pt x="46" y="19"/>
                    </a:lnTo>
                    <a:lnTo>
                      <a:pt x="46" y="16"/>
                    </a:lnTo>
                    <a:lnTo>
                      <a:pt x="46" y="13"/>
                    </a:lnTo>
                    <a:lnTo>
                      <a:pt x="46" y="10"/>
                    </a:lnTo>
                    <a:lnTo>
                      <a:pt x="24" y="5"/>
                    </a:lnTo>
                    <a:lnTo>
                      <a:pt x="0" y="0"/>
                    </a:lnTo>
                    <a:lnTo>
                      <a:pt x="0" y="2"/>
                    </a:lnTo>
                    <a:lnTo>
                      <a:pt x="0" y="5"/>
                    </a:lnTo>
                    <a:lnTo>
                      <a:pt x="0" y="8"/>
                    </a:lnTo>
                    <a:lnTo>
                      <a:pt x="5" y="8"/>
                    </a:lnTo>
                    <a:lnTo>
                      <a:pt x="13" y="8"/>
                    </a:lnTo>
                    <a:lnTo>
                      <a:pt x="21" y="10"/>
                    </a:lnTo>
                    <a:lnTo>
                      <a:pt x="29" y="13"/>
                    </a:lnTo>
                    <a:lnTo>
                      <a:pt x="35" y="13"/>
                    </a:lnTo>
                    <a:lnTo>
                      <a:pt x="37" y="16"/>
                    </a:lnTo>
                    <a:lnTo>
                      <a:pt x="40" y="16"/>
                    </a:lnTo>
                    <a:lnTo>
                      <a:pt x="43" y="16"/>
                    </a:lnTo>
                    <a:lnTo>
                      <a:pt x="43" y="19"/>
                    </a:lnTo>
                  </a:path>
                </a:pathLst>
              </a:custGeom>
              <a:solidFill>
                <a:srgbClr val="BDB597"/>
              </a:solidFill>
              <a:ln w="9525" cap="rnd">
                <a:noFill/>
                <a:round/>
              </a:ln>
            </p:spPr>
            <p:txBody>
              <a:bodyPr/>
              <a:lstStyle/>
              <a:p>
                <a:endParaRPr lang="zh-CN" altLang="en-US"/>
              </a:p>
            </p:txBody>
          </p:sp>
          <p:sp>
            <p:nvSpPr>
              <p:cNvPr id="11617" name="Freeform 212"/>
              <p:cNvSpPr/>
              <p:nvPr/>
            </p:nvSpPr>
            <p:spPr bwMode="auto">
              <a:xfrm>
                <a:off x="2051" y="2157"/>
                <a:ext cx="47" cy="23"/>
              </a:xfrm>
              <a:custGeom>
                <a:avLst/>
                <a:gdLst>
                  <a:gd name="T0" fmla="*/ 46 w 47"/>
                  <a:gd name="T1" fmla="*/ 22 h 23"/>
                  <a:gd name="T2" fmla="*/ 46 w 47"/>
                  <a:gd name="T3" fmla="*/ 22 h 23"/>
                  <a:gd name="T4" fmla="*/ 46 w 47"/>
                  <a:gd name="T5" fmla="*/ 19 h 23"/>
                  <a:gd name="T6" fmla="*/ 46 w 47"/>
                  <a:gd name="T7" fmla="*/ 14 h 23"/>
                  <a:gd name="T8" fmla="*/ 21 w 47"/>
                  <a:gd name="T9" fmla="*/ 7 h 23"/>
                  <a:gd name="T10" fmla="*/ 8 w 47"/>
                  <a:gd name="T11" fmla="*/ 2 h 23"/>
                  <a:gd name="T12" fmla="*/ 2 w 47"/>
                  <a:gd name="T13" fmla="*/ 0 h 23"/>
                  <a:gd name="T14" fmla="*/ 0 w 47"/>
                  <a:gd name="T15" fmla="*/ 0 h 23"/>
                  <a:gd name="T16" fmla="*/ 0 w 47"/>
                  <a:gd name="T17" fmla="*/ 2 h 23"/>
                  <a:gd name="T18" fmla="*/ 0 w 47"/>
                  <a:gd name="T19" fmla="*/ 5 h 23"/>
                  <a:gd name="T20" fmla="*/ 0 w 47"/>
                  <a:gd name="T21" fmla="*/ 7 h 23"/>
                  <a:gd name="T22" fmla="*/ 2 w 47"/>
                  <a:gd name="T23" fmla="*/ 7 h 23"/>
                  <a:gd name="T24" fmla="*/ 5 w 47"/>
                  <a:gd name="T25" fmla="*/ 11 h 23"/>
                  <a:gd name="T26" fmla="*/ 21 w 47"/>
                  <a:gd name="T27" fmla="*/ 14 h 23"/>
                  <a:gd name="T28" fmla="*/ 24 w 47"/>
                  <a:gd name="T29" fmla="*/ 14 h 23"/>
                  <a:gd name="T30" fmla="*/ 29 w 47"/>
                  <a:gd name="T31" fmla="*/ 14 h 23"/>
                  <a:gd name="T32" fmla="*/ 32 w 47"/>
                  <a:gd name="T33" fmla="*/ 16 h 23"/>
                  <a:gd name="T34" fmla="*/ 35 w 47"/>
                  <a:gd name="T35" fmla="*/ 16 h 23"/>
                  <a:gd name="T36" fmla="*/ 40 w 47"/>
                  <a:gd name="T37" fmla="*/ 19 h 23"/>
                  <a:gd name="T38" fmla="*/ 43 w 47"/>
                  <a:gd name="T39" fmla="*/ 19 h 23"/>
                  <a:gd name="T40" fmla="*/ 46 w 47"/>
                  <a:gd name="T41" fmla="*/ 22 h 2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7"/>
                  <a:gd name="T64" fmla="*/ 0 h 23"/>
                  <a:gd name="T65" fmla="*/ 47 w 47"/>
                  <a:gd name="T66" fmla="*/ 23 h 2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7" h="23">
                    <a:moveTo>
                      <a:pt x="46" y="22"/>
                    </a:moveTo>
                    <a:lnTo>
                      <a:pt x="46" y="22"/>
                    </a:lnTo>
                    <a:lnTo>
                      <a:pt x="46" y="19"/>
                    </a:lnTo>
                    <a:lnTo>
                      <a:pt x="46" y="14"/>
                    </a:lnTo>
                    <a:lnTo>
                      <a:pt x="21" y="7"/>
                    </a:lnTo>
                    <a:lnTo>
                      <a:pt x="8" y="2"/>
                    </a:lnTo>
                    <a:lnTo>
                      <a:pt x="2" y="0"/>
                    </a:lnTo>
                    <a:lnTo>
                      <a:pt x="0" y="0"/>
                    </a:lnTo>
                    <a:lnTo>
                      <a:pt x="0" y="2"/>
                    </a:lnTo>
                    <a:lnTo>
                      <a:pt x="0" y="5"/>
                    </a:lnTo>
                    <a:lnTo>
                      <a:pt x="0" y="7"/>
                    </a:lnTo>
                    <a:lnTo>
                      <a:pt x="2" y="7"/>
                    </a:lnTo>
                    <a:lnTo>
                      <a:pt x="5" y="11"/>
                    </a:lnTo>
                    <a:lnTo>
                      <a:pt x="21" y="14"/>
                    </a:lnTo>
                    <a:lnTo>
                      <a:pt x="24" y="14"/>
                    </a:lnTo>
                    <a:lnTo>
                      <a:pt x="29" y="14"/>
                    </a:lnTo>
                    <a:lnTo>
                      <a:pt x="32" y="16"/>
                    </a:lnTo>
                    <a:lnTo>
                      <a:pt x="35" y="16"/>
                    </a:lnTo>
                    <a:lnTo>
                      <a:pt x="40" y="19"/>
                    </a:lnTo>
                    <a:lnTo>
                      <a:pt x="43" y="19"/>
                    </a:lnTo>
                    <a:lnTo>
                      <a:pt x="46" y="22"/>
                    </a:lnTo>
                  </a:path>
                </a:pathLst>
              </a:custGeom>
              <a:solidFill>
                <a:srgbClr val="BDB597"/>
              </a:solidFill>
              <a:ln w="9525" cap="rnd">
                <a:noFill/>
                <a:round/>
              </a:ln>
            </p:spPr>
            <p:txBody>
              <a:bodyPr/>
              <a:lstStyle/>
              <a:p>
                <a:endParaRPr lang="zh-CN" altLang="en-US"/>
              </a:p>
            </p:txBody>
          </p:sp>
        </p:grpSp>
        <p:sp>
          <p:nvSpPr>
            <p:cNvPr id="11540" name="Freeform 213"/>
            <p:cNvSpPr/>
            <p:nvPr/>
          </p:nvSpPr>
          <p:spPr bwMode="auto">
            <a:xfrm>
              <a:off x="2499" y="1870"/>
              <a:ext cx="40" cy="71"/>
            </a:xfrm>
            <a:custGeom>
              <a:avLst/>
              <a:gdLst>
                <a:gd name="T0" fmla="*/ 0 w 40"/>
                <a:gd name="T1" fmla="*/ 70 h 71"/>
                <a:gd name="T2" fmla="*/ 0 w 40"/>
                <a:gd name="T3" fmla="*/ 70 h 71"/>
                <a:gd name="T4" fmla="*/ 2 w 40"/>
                <a:gd name="T5" fmla="*/ 17 h 71"/>
                <a:gd name="T6" fmla="*/ 39 w 40"/>
                <a:gd name="T7" fmla="*/ 0 h 71"/>
                <a:gd name="T8" fmla="*/ 36 w 40"/>
                <a:gd name="T9" fmla="*/ 48 h 71"/>
                <a:gd name="T10" fmla="*/ 0 w 40"/>
                <a:gd name="T11" fmla="*/ 70 h 71"/>
                <a:gd name="T12" fmla="*/ 0 60000 65536"/>
                <a:gd name="T13" fmla="*/ 0 60000 65536"/>
                <a:gd name="T14" fmla="*/ 0 60000 65536"/>
                <a:gd name="T15" fmla="*/ 0 60000 65536"/>
                <a:gd name="T16" fmla="*/ 0 60000 65536"/>
                <a:gd name="T17" fmla="*/ 0 60000 65536"/>
                <a:gd name="T18" fmla="*/ 0 w 40"/>
                <a:gd name="T19" fmla="*/ 0 h 71"/>
                <a:gd name="T20" fmla="*/ 40 w 40"/>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40" h="71">
                  <a:moveTo>
                    <a:pt x="0" y="70"/>
                  </a:moveTo>
                  <a:lnTo>
                    <a:pt x="0" y="70"/>
                  </a:lnTo>
                  <a:lnTo>
                    <a:pt x="2" y="17"/>
                  </a:lnTo>
                  <a:lnTo>
                    <a:pt x="39" y="0"/>
                  </a:lnTo>
                  <a:lnTo>
                    <a:pt x="36" y="48"/>
                  </a:lnTo>
                  <a:lnTo>
                    <a:pt x="0" y="70"/>
                  </a:lnTo>
                </a:path>
              </a:pathLst>
            </a:custGeom>
            <a:solidFill>
              <a:srgbClr val="BB1A50"/>
            </a:solidFill>
            <a:ln w="9525" cap="rnd">
              <a:noFill/>
              <a:round/>
            </a:ln>
          </p:spPr>
          <p:txBody>
            <a:bodyPr/>
            <a:lstStyle/>
            <a:p>
              <a:endParaRPr lang="zh-CN" altLang="en-US"/>
            </a:p>
          </p:txBody>
        </p:sp>
        <p:sp>
          <p:nvSpPr>
            <p:cNvPr id="11541" name="Freeform 214"/>
            <p:cNvSpPr/>
            <p:nvPr/>
          </p:nvSpPr>
          <p:spPr bwMode="auto">
            <a:xfrm>
              <a:off x="2468" y="1872"/>
              <a:ext cx="33" cy="69"/>
            </a:xfrm>
            <a:custGeom>
              <a:avLst/>
              <a:gdLst>
                <a:gd name="T0" fmla="*/ 29 w 33"/>
                <a:gd name="T1" fmla="*/ 68 h 69"/>
                <a:gd name="T2" fmla="*/ 29 w 33"/>
                <a:gd name="T3" fmla="*/ 68 h 69"/>
                <a:gd name="T4" fmla="*/ 0 w 33"/>
                <a:gd name="T5" fmla="*/ 49 h 69"/>
                <a:gd name="T6" fmla="*/ 2 w 33"/>
                <a:gd name="T7" fmla="*/ 0 h 69"/>
                <a:gd name="T8" fmla="*/ 32 w 33"/>
                <a:gd name="T9" fmla="*/ 15 h 69"/>
                <a:gd name="T10" fmla="*/ 29 w 33"/>
                <a:gd name="T11" fmla="*/ 68 h 69"/>
                <a:gd name="T12" fmla="*/ 0 60000 65536"/>
                <a:gd name="T13" fmla="*/ 0 60000 65536"/>
                <a:gd name="T14" fmla="*/ 0 60000 65536"/>
                <a:gd name="T15" fmla="*/ 0 60000 65536"/>
                <a:gd name="T16" fmla="*/ 0 60000 65536"/>
                <a:gd name="T17" fmla="*/ 0 60000 65536"/>
                <a:gd name="T18" fmla="*/ 0 w 33"/>
                <a:gd name="T19" fmla="*/ 0 h 69"/>
                <a:gd name="T20" fmla="*/ 33 w 33"/>
                <a:gd name="T21" fmla="*/ 69 h 69"/>
              </a:gdLst>
              <a:ahLst/>
              <a:cxnLst>
                <a:cxn ang="T12">
                  <a:pos x="T0" y="T1"/>
                </a:cxn>
                <a:cxn ang="T13">
                  <a:pos x="T2" y="T3"/>
                </a:cxn>
                <a:cxn ang="T14">
                  <a:pos x="T4" y="T5"/>
                </a:cxn>
                <a:cxn ang="T15">
                  <a:pos x="T6" y="T7"/>
                </a:cxn>
                <a:cxn ang="T16">
                  <a:pos x="T8" y="T9"/>
                </a:cxn>
                <a:cxn ang="T17">
                  <a:pos x="T10" y="T11"/>
                </a:cxn>
              </a:cxnLst>
              <a:rect l="T18" t="T19" r="T20" b="T21"/>
              <a:pathLst>
                <a:path w="33" h="69">
                  <a:moveTo>
                    <a:pt x="29" y="68"/>
                  </a:moveTo>
                  <a:lnTo>
                    <a:pt x="29" y="68"/>
                  </a:lnTo>
                  <a:lnTo>
                    <a:pt x="0" y="49"/>
                  </a:lnTo>
                  <a:lnTo>
                    <a:pt x="2" y="0"/>
                  </a:lnTo>
                  <a:lnTo>
                    <a:pt x="32" y="15"/>
                  </a:lnTo>
                  <a:lnTo>
                    <a:pt x="29" y="68"/>
                  </a:lnTo>
                </a:path>
              </a:pathLst>
            </a:custGeom>
            <a:solidFill>
              <a:srgbClr val="9E0005"/>
            </a:solidFill>
            <a:ln w="9525" cap="rnd">
              <a:noFill/>
              <a:round/>
            </a:ln>
          </p:spPr>
          <p:txBody>
            <a:bodyPr/>
            <a:lstStyle/>
            <a:p>
              <a:endParaRPr lang="zh-CN" altLang="en-US"/>
            </a:p>
          </p:txBody>
        </p:sp>
        <p:sp>
          <p:nvSpPr>
            <p:cNvPr id="11542" name="Freeform 215"/>
            <p:cNvSpPr/>
            <p:nvPr/>
          </p:nvSpPr>
          <p:spPr bwMode="auto">
            <a:xfrm>
              <a:off x="2471" y="1853"/>
              <a:ext cx="69" cy="33"/>
            </a:xfrm>
            <a:custGeom>
              <a:avLst/>
              <a:gdLst>
                <a:gd name="T0" fmla="*/ 29 w 69"/>
                <a:gd name="T1" fmla="*/ 32 h 33"/>
                <a:gd name="T2" fmla="*/ 29 w 69"/>
                <a:gd name="T3" fmla="*/ 32 h 33"/>
                <a:gd name="T4" fmla="*/ 0 w 69"/>
                <a:gd name="T5" fmla="*/ 17 h 33"/>
                <a:gd name="T6" fmla="*/ 35 w 69"/>
                <a:gd name="T7" fmla="*/ 0 h 33"/>
                <a:gd name="T8" fmla="*/ 68 w 69"/>
                <a:gd name="T9" fmla="*/ 14 h 33"/>
                <a:gd name="T10" fmla="*/ 29 w 69"/>
                <a:gd name="T11" fmla="*/ 32 h 33"/>
                <a:gd name="T12" fmla="*/ 0 60000 65536"/>
                <a:gd name="T13" fmla="*/ 0 60000 65536"/>
                <a:gd name="T14" fmla="*/ 0 60000 65536"/>
                <a:gd name="T15" fmla="*/ 0 60000 65536"/>
                <a:gd name="T16" fmla="*/ 0 60000 65536"/>
                <a:gd name="T17" fmla="*/ 0 60000 65536"/>
                <a:gd name="T18" fmla="*/ 0 w 69"/>
                <a:gd name="T19" fmla="*/ 0 h 33"/>
                <a:gd name="T20" fmla="*/ 69 w 69"/>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69" h="33">
                  <a:moveTo>
                    <a:pt x="29" y="32"/>
                  </a:moveTo>
                  <a:lnTo>
                    <a:pt x="29" y="32"/>
                  </a:lnTo>
                  <a:lnTo>
                    <a:pt x="0" y="17"/>
                  </a:lnTo>
                  <a:lnTo>
                    <a:pt x="35" y="0"/>
                  </a:lnTo>
                  <a:lnTo>
                    <a:pt x="68" y="14"/>
                  </a:lnTo>
                  <a:lnTo>
                    <a:pt x="29" y="32"/>
                  </a:lnTo>
                </a:path>
              </a:pathLst>
            </a:custGeom>
            <a:solidFill>
              <a:srgbClr val="CF5C82"/>
            </a:solidFill>
            <a:ln w="9525" cap="rnd">
              <a:noFill/>
              <a:round/>
            </a:ln>
          </p:spPr>
          <p:txBody>
            <a:bodyPr/>
            <a:lstStyle/>
            <a:p>
              <a:endParaRPr lang="zh-CN" altLang="en-US"/>
            </a:p>
          </p:txBody>
        </p:sp>
        <p:grpSp>
          <p:nvGrpSpPr>
            <p:cNvPr id="250256" name="Group 216"/>
            <p:cNvGrpSpPr/>
            <p:nvPr/>
          </p:nvGrpSpPr>
          <p:grpSpPr bwMode="auto">
            <a:xfrm>
              <a:off x="2375" y="1880"/>
              <a:ext cx="123" cy="112"/>
              <a:chOff x="2375" y="1880"/>
              <a:chExt cx="123" cy="112"/>
            </a:xfrm>
          </p:grpSpPr>
          <p:sp>
            <p:nvSpPr>
              <p:cNvPr id="11589" name="Freeform 217"/>
              <p:cNvSpPr/>
              <p:nvPr/>
            </p:nvSpPr>
            <p:spPr bwMode="auto">
              <a:xfrm>
                <a:off x="2412" y="1895"/>
                <a:ext cx="86" cy="97"/>
              </a:xfrm>
              <a:custGeom>
                <a:avLst/>
                <a:gdLst>
                  <a:gd name="T0" fmla="*/ 0 w 86"/>
                  <a:gd name="T1" fmla="*/ 96 h 97"/>
                  <a:gd name="T2" fmla="*/ 0 w 86"/>
                  <a:gd name="T3" fmla="*/ 96 h 97"/>
                  <a:gd name="T4" fmla="*/ 2 w 86"/>
                  <a:gd name="T5" fmla="*/ 43 h 97"/>
                  <a:gd name="T6" fmla="*/ 85 w 86"/>
                  <a:gd name="T7" fmla="*/ 0 h 97"/>
                  <a:gd name="T8" fmla="*/ 82 w 86"/>
                  <a:gd name="T9" fmla="*/ 49 h 97"/>
                  <a:gd name="T10" fmla="*/ 0 w 86"/>
                  <a:gd name="T11" fmla="*/ 96 h 97"/>
                  <a:gd name="T12" fmla="*/ 0 60000 65536"/>
                  <a:gd name="T13" fmla="*/ 0 60000 65536"/>
                  <a:gd name="T14" fmla="*/ 0 60000 65536"/>
                  <a:gd name="T15" fmla="*/ 0 60000 65536"/>
                  <a:gd name="T16" fmla="*/ 0 60000 65536"/>
                  <a:gd name="T17" fmla="*/ 0 60000 65536"/>
                  <a:gd name="T18" fmla="*/ 0 w 86"/>
                  <a:gd name="T19" fmla="*/ 0 h 97"/>
                  <a:gd name="T20" fmla="*/ 86 w 86"/>
                  <a:gd name="T21" fmla="*/ 97 h 97"/>
                </a:gdLst>
                <a:ahLst/>
                <a:cxnLst>
                  <a:cxn ang="T12">
                    <a:pos x="T0" y="T1"/>
                  </a:cxn>
                  <a:cxn ang="T13">
                    <a:pos x="T2" y="T3"/>
                  </a:cxn>
                  <a:cxn ang="T14">
                    <a:pos x="T4" y="T5"/>
                  </a:cxn>
                  <a:cxn ang="T15">
                    <a:pos x="T6" y="T7"/>
                  </a:cxn>
                  <a:cxn ang="T16">
                    <a:pos x="T8" y="T9"/>
                  </a:cxn>
                  <a:cxn ang="T17">
                    <a:pos x="T10" y="T11"/>
                  </a:cxn>
                </a:cxnLst>
                <a:rect l="T18" t="T19" r="T20" b="T21"/>
                <a:pathLst>
                  <a:path w="86" h="97">
                    <a:moveTo>
                      <a:pt x="0" y="96"/>
                    </a:moveTo>
                    <a:lnTo>
                      <a:pt x="0" y="96"/>
                    </a:lnTo>
                    <a:lnTo>
                      <a:pt x="2" y="43"/>
                    </a:lnTo>
                    <a:lnTo>
                      <a:pt x="85" y="0"/>
                    </a:lnTo>
                    <a:lnTo>
                      <a:pt x="82" y="49"/>
                    </a:lnTo>
                    <a:lnTo>
                      <a:pt x="0" y="96"/>
                    </a:lnTo>
                  </a:path>
                </a:pathLst>
              </a:custGeom>
              <a:solidFill>
                <a:srgbClr val="BB1A50"/>
              </a:solidFill>
              <a:ln w="9525" cap="rnd">
                <a:noFill/>
                <a:round/>
              </a:ln>
            </p:spPr>
            <p:txBody>
              <a:bodyPr/>
              <a:lstStyle/>
              <a:p>
                <a:endParaRPr lang="zh-CN" altLang="en-US"/>
              </a:p>
            </p:txBody>
          </p:sp>
          <p:sp>
            <p:nvSpPr>
              <p:cNvPr id="11590" name="Freeform 218"/>
              <p:cNvSpPr/>
              <p:nvPr/>
            </p:nvSpPr>
            <p:spPr bwMode="auto">
              <a:xfrm>
                <a:off x="2375" y="1924"/>
                <a:ext cx="38" cy="68"/>
              </a:xfrm>
              <a:custGeom>
                <a:avLst/>
                <a:gdLst>
                  <a:gd name="T0" fmla="*/ 34 w 38"/>
                  <a:gd name="T1" fmla="*/ 67 h 68"/>
                  <a:gd name="T2" fmla="*/ 34 w 38"/>
                  <a:gd name="T3" fmla="*/ 67 h 68"/>
                  <a:gd name="T4" fmla="*/ 0 w 38"/>
                  <a:gd name="T5" fmla="*/ 51 h 68"/>
                  <a:gd name="T6" fmla="*/ 2 w 38"/>
                  <a:gd name="T7" fmla="*/ 0 h 68"/>
                  <a:gd name="T8" fmla="*/ 37 w 38"/>
                  <a:gd name="T9" fmla="*/ 15 h 68"/>
                  <a:gd name="T10" fmla="*/ 34 w 38"/>
                  <a:gd name="T11" fmla="*/ 67 h 68"/>
                  <a:gd name="T12" fmla="*/ 0 60000 65536"/>
                  <a:gd name="T13" fmla="*/ 0 60000 65536"/>
                  <a:gd name="T14" fmla="*/ 0 60000 65536"/>
                  <a:gd name="T15" fmla="*/ 0 60000 65536"/>
                  <a:gd name="T16" fmla="*/ 0 60000 65536"/>
                  <a:gd name="T17" fmla="*/ 0 60000 65536"/>
                  <a:gd name="T18" fmla="*/ 0 w 38"/>
                  <a:gd name="T19" fmla="*/ 0 h 68"/>
                  <a:gd name="T20" fmla="*/ 38 w 38"/>
                  <a:gd name="T21" fmla="*/ 68 h 68"/>
                </a:gdLst>
                <a:ahLst/>
                <a:cxnLst>
                  <a:cxn ang="T12">
                    <a:pos x="T0" y="T1"/>
                  </a:cxn>
                  <a:cxn ang="T13">
                    <a:pos x="T2" y="T3"/>
                  </a:cxn>
                  <a:cxn ang="T14">
                    <a:pos x="T4" y="T5"/>
                  </a:cxn>
                  <a:cxn ang="T15">
                    <a:pos x="T6" y="T7"/>
                  </a:cxn>
                  <a:cxn ang="T16">
                    <a:pos x="T8" y="T9"/>
                  </a:cxn>
                  <a:cxn ang="T17">
                    <a:pos x="T10" y="T11"/>
                  </a:cxn>
                </a:cxnLst>
                <a:rect l="T18" t="T19" r="T20" b="T21"/>
                <a:pathLst>
                  <a:path w="38" h="68">
                    <a:moveTo>
                      <a:pt x="34" y="67"/>
                    </a:moveTo>
                    <a:lnTo>
                      <a:pt x="34" y="67"/>
                    </a:lnTo>
                    <a:lnTo>
                      <a:pt x="0" y="51"/>
                    </a:lnTo>
                    <a:lnTo>
                      <a:pt x="2" y="0"/>
                    </a:lnTo>
                    <a:lnTo>
                      <a:pt x="37" y="15"/>
                    </a:lnTo>
                    <a:lnTo>
                      <a:pt x="34" y="67"/>
                    </a:lnTo>
                  </a:path>
                </a:pathLst>
              </a:custGeom>
              <a:solidFill>
                <a:srgbClr val="9E0005"/>
              </a:solidFill>
              <a:ln w="9525" cap="rnd">
                <a:noFill/>
                <a:round/>
              </a:ln>
            </p:spPr>
            <p:txBody>
              <a:bodyPr/>
              <a:lstStyle/>
              <a:p>
                <a:endParaRPr lang="zh-CN" altLang="en-US"/>
              </a:p>
            </p:txBody>
          </p:sp>
          <p:sp>
            <p:nvSpPr>
              <p:cNvPr id="11591" name="Freeform 219"/>
              <p:cNvSpPr/>
              <p:nvPr/>
            </p:nvSpPr>
            <p:spPr bwMode="auto">
              <a:xfrm>
                <a:off x="2377" y="1880"/>
                <a:ext cx="121" cy="57"/>
              </a:xfrm>
              <a:custGeom>
                <a:avLst/>
                <a:gdLst>
                  <a:gd name="T0" fmla="*/ 36 w 121"/>
                  <a:gd name="T1" fmla="*/ 56 h 57"/>
                  <a:gd name="T2" fmla="*/ 36 w 121"/>
                  <a:gd name="T3" fmla="*/ 56 h 57"/>
                  <a:gd name="T4" fmla="*/ 0 w 121"/>
                  <a:gd name="T5" fmla="*/ 38 h 57"/>
                  <a:gd name="T6" fmla="*/ 86 w 121"/>
                  <a:gd name="T7" fmla="*/ 0 h 57"/>
                  <a:gd name="T8" fmla="*/ 120 w 121"/>
                  <a:gd name="T9" fmla="*/ 15 h 57"/>
                  <a:gd name="T10" fmla="*/ 36 w 121"/>
                  <a:gd name="T11" fmla="*/ 56 h 57"/>
                  <a:gd name="T12" fmla="*/ 0 60000 65536"/>
                  <a:gd name="T13" fmla="*/ 0 60000 65536"/>
                  <a:gd name="T14" fmla="*/ 0 60000 65536"/>
                  <a:gd name="T15" fmla="*/ 0 60000 65536"/>
                  <a:gd name="T16" fmla="*/ 0 60000 65536"/>
                  <a:gd name="T17" fmla="*/ 0 60000 65536"/>
                  <a:gd name="T18" fmla="*/ 0 w 121"/>
                  <a:gd name="T19" fmla="*/ 0 h 57"/>
                  <a:gd name="T20" fmla="*/ 121 w 121"/>
                  <a:gd name="T21" fmla="*/ 57 h 57"/>
                </a:gdLst>
                <a:ahLst/>
                <a:cxnLst>
                  <a:cxn ang="T12">
                    <a:pos x="T0" y="T1"/>
                  </a:cxn>
                  <a:cxn ang="T13">
                    <a:pos x="T2" y="T3"/>
                  </a:cxn>
                  <a:cxn ang="T14">
                    <a:pos x="T4" y="T5"/>
                  </a:cxn>
                  <a:cxn ang="T15">
                    <a:pos x="T6" y="T7"/>
                  </a:cxn>
                  <a:cxn ang="T16">
                    <a:pos x="T8" y="T9"/>
                  </a:cxn>
                  <a:cxn ang="T17">
                    <a:pos x="T10" y="T11"/>
                  </a:cxn>
                </a:cxnLst>
                <a:rect l="T18" t="T19" r="T20" b="T21"/>
                <a:pathLst>
                  <a:path w="121" h="57">
                    <a:moveTo>
                      <a:pt x="36" y="56"/>
                    </a:moveTo>
                    <a:lnTo>
                      <a:pt x="36" y="56"/>
                    </a:lnTo>
                    <a:lnTo>
                      <a:pt x="0" y="38"/>
                    </a:lnTo>
                    <a:lnTo>
                      <a:pt x="86" y="0"/>
                    </a:lnTo>
                    <a:lnTo>
                      <a:pt x="120" y="15"/>
                    </a:lnTo>
                    <a:lnTo>
                      <a:pt x="36" y="56"/>
                    </a:lnTo>
                  </a:path>
                </a:pathLst>
              </a:custGeom>
              <a:solidFill>
                <a:srgbClr val="CF5C82"/>
              </a:solidFill>
              <a:ln w="9525" cap="rnd">
                <a:noFill/>
                <a:round/>
              </a:ln>
            </p:spPr>
            <p:txBody>
              <a:bodyPr/>
              <a:lstStyle/>
              <a:p>
                <a:endParaRPr lang="zh-CN" altLang="en-US"/>
              </a:p>
            </p:txBody>
          </p:sp>
        </p:grpSp>
        <p:grpSp>
          <p:nvGrpSpPr>
            <p:cNvPr id="250257" name="Group 220"/>
            <p:cNvGrpSpPr/>
            <p:nvPr/>
          </p:nvGrpSpPr>
          <p:grpSpPr bwMode="auto">
            <a:xfrm>
              <a:off x="2275" y="1925"/>
              <a:ext cx="131" cy="121"/>
              <a:chOff x="2275" y="1925"/>
              <a:chExt cx="131" cy="121"/>
            </a:xfrm>
          </p:grpSpPr>
          <p:sp>
            <p:nvSpPr>
              <p:cNvPr id="11586" name="Freeform 221"/>
              <p:cNvSpPr/>
              <p:nvPr/>
            </p:nvSpPr>
            <p:spPr bwMode="auto">
              <a:xfrm>
                <a:off x="2315" y="1945"/>
                <a:ext cx="91" cy="100"/>
              </a:xfrm>
              <a:custGeom>
                <a:avLst/>
                <a:gdLst>
                  <a:gd name="T0" fmla="*/ 0 w 91"/>
                  <a:gd name="T1" fmla="*/ 99 h 100"/>
                  <a:gd name="T2" fmla="*/ 0 w 91"/>
                  <a:gd name="T3" fmla="*/ 99 h 100"/>
                  <a:gd name="T4" fmla="*/ 2 w 91"/>
                  <a:gd name="T5" fmla="*/ 46 h 100"/>
                  <a:gd name="T6" fmla="*/ 90 w 91"/>
                  <a:gd name="T7" fmla="*/ 0 h 100"/>
                  <a:gd name="T8" fmla="*/ 87 w 91"/>
                  <a:gd name="T9" fmla="*/ 52 h 100"/>
                  <a:gd name="T10" fmla="*/ 0 w 91"/>
                  <a:gd name="T11" fmla="*/ 99 h 100"/>
                  <a:gd name="T12" fmla="*/ 0 60000 65536"/>
                  <a:gd name="T13" fmla="*/ 0 60000 65536"/>
                  <a:gd name="T14" fmla="*/ 0 60000 65536"/>
                  <a:gd name="T15" fmla="*/ 0 60000 65536"/>
                  <a:gd name="T16" fmla="*/ 0 60000 65536"/>
                  <a:gd name="T17" fmla="*/ 0 60000 65536"/>
                  <a:gd name="T18" fmla="*/ 0 w 91"/>
                  <a:gd name="T19" fmla="*/ 0 h 100"/>
                  <a:gd name="T20" fmla="*/ 91 w 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1" h="100">
                    <a:moveTo>
                      <a:pt x="0" y="99"/>
                    </a:moveTo>
                    <a:lnTo>
                      <a:pt x="0" y="99"/>
                    </a:lnTo>
                    <a:lnTo>
                      <a:pt x="2" y="46"/>
                    </a:lnTo>
                    <a:lnTo>
                      <a:pt x="90" y="0"/>
                    </a:lnTo>
                    <a:lnTo>
                      <a:pt x="87" y="52"/>
                    </a:lnTo>
                    <a:lnTo>
                      <a:pt x="0" y="99"/>
                    </a:lnTo>
                  </a:path>
                </a:pathLst>
              </a:custGeom>
              <a:solidFill>
                <a:srgbClr val="BB1A50"/>
              </a:solidFill>
              <a:ln w="9525" cap="rnd">
                <a:noFill/>
                <a:round/>
              </a:ln>
            </p:spPr>
            <p:txBody>
              <a:bodyPr/>
              <a:lstStyle/>
              <a:p>
                <a:endParaRPr lang="zh-CN" altLang="en-US"/>
              </a:p>
            </p:txBody>
          </p:sp>
          <p:sp>
            <p:nvSpPr>
              <p:cNvPr id="11587" name="Freeform 222"/>
              <p:cNvSpPr/>
              <p:nvPr/>
            </p:nvSpPr>
            <p:spPr bwMode="auto">
              <a:xfrm>
                <a:off x="2275" y="1978"/>
                <a:ext cx="41" cy="68"/>
              </a:xfrm>
              <a:custGeom>
                <a:avLst/>
                <a:gdLst>
                  <a:gd name="T0" fmla="*/ 37 w 41"/>
                  <a:gd name="T1" fmla="*/ 67 h 68"/>
                  <a:gd name="T2" fmla="*/ 37 w 41"/>
                  <a:gd name="T3" fmla="*/ 67 h 68"/>
                  <a:gd name="T4" fmla="*/ 0 w 41"/>
                  <a:gd name="T5" fmla="*/ 51 h 68"/>
                  <a:gd name="T6" fmla="*/ 2 w 41"/>
                  <a:gd name="T7" fmla="*/ 0 h 68"/>
                  <a:gd name="T8" fmla="*/ 40 w 41"/>
                  <a:gd name="T9" fmla="*/ 15 h 68"/>
                  <a:gd name="T10" fmla="*/ 37 w 41"/>
                  <a:gd name="T11" fmla="*/ 67 h 68"/>
                  <a:gd name="T12" fmla="*/ 0 60000 65536"/>
                  <a:gd name="T13" fmla="*/ 0 60000 65536"/>
                  <a:gd name="T14" fmla="*/ 0 60000 65536"/>
                  <a:gd name="T15" fmla="*/ 0 60000 65536"/>
                  <a:gd name="T16" fmla="*/ 0 60000 65536"/>
                  <a:gd name="T17" fmla="*/ 0 60000 65536"/>
                  <a:gd name="T18" fmla="*/ 0 w 41"/>
                  <a:gd name="T19" fmla="*/ 0 h 68"/>
                  <a:gd name="T20" fmla="*/ 41 w 41"/>
                  <a:gd name="T21" fmla="*/ 68 h 68"/>
                </a:gdLst>
                <a:ahLst/>
                <a:cxnLst>
                  <a:cxn ang="T12">
                    <a:pos x="T0" y="T1"/>
                  </a:cxn>
                  <a:cxn ang="T13">
                    <a:pos x="T2" y="T3"/>
                  </a:cxn>
                  <a:cxn ang="T14">
                    <a:pos x="T4" y="T5"/>
                  </a:cxn>
                  <a:cxn ang="T15">
                    <a:pos x="T6" y="T7"/>
                  </a:cxn>
                  <a:cxn ang="T16">
                    <a:pos x="T8" y="T9"/>
                  </a:cxn>
                  <a:cxn ang="T17">
                    <a:pos x="T10" y="T11"/>
                  </a:cxn>
                </a:cxnLst>
                <a:rect l="T18" t="T19" r="T20" b="T21"/>
                <a:pathLst>
                  <a:path w="41" h="68">
                    <a:moveTo>
                      <a:pt x="37" y="67"/>
                    </a:moveTo>
                    <a:lnTo>
                      <a:pt x="37" y="67"/>
                    </a:lnTo>
                    <a:lnTo>
                      <a:pt x="0" y="51"/>
                    </a:lnTo>
                    <a:lnTo>
                      <a:pt x="2" y="0"/>
                    </a:lnTo>
                    <a:lnTo>
                      <a:pt x="40" y="15"/>
                    </a:lnTo>
                    <a:lnTo>
                      <a:pt x="37" y="67"/>
                    </a:lnTo>
                  </a:path>
                </a:pathLst>
              </a:custGeom>
              <a:solidFill>
                <a:srgbClr val="9E0005"/>
              </a:solidFill>
              <a:ln w="9525" cap="rnd">
                <a:noFill/>
                <a:round/>
              </a:ln>
            </p:spPr>
            <p:txBody>
              <a:bodyPr/>
              <a:lstStyle/>
              <a:p>
                <a:endParaRPr lang="zh-CN" altLang="en-US"/>
              </a:p>
            </p:txBody>
          </p:sp>
          <p:sp>
            <p:nvSpPr>
              <p:cNvPr id="11588" name="Freeform 223"/>
              <p:cNvSpPr/>
              <p:nvPr/>
            </p:nvSpPr>
            <p:spPr bwMode="auto">
              <a:xfrm>
                <a:off x="2278" y="1925"/>
                <a:ext cx="128" cy="66"/>
              </a:xfrm>
              <a:custGeom>
                <a:avLst/>
                <a:gdLst>
                  <a:gd name="T0" fmla="*/ 38 w 128"/>
                  <a:gd name="T1" fmla="*/ 65 h 66"/>
                  <a:gd name="T2" fmla="*/ 38 w 128"/>
                  <a:gd name="T3" fmla="*/ 65 h 66"/>
                  <a:gd name="T4" fmla="*/ 0 w 128"/>
                  <a:gd name="T5" fmla="*/ 46 h 66"/>
                  <a:gd name="T6" fmla="*/ 91 w 128"/>
                  <a:gd name="T7" fmla="*/ 0 h 66"/>
                  <a:gd name="T8" fmla="*/ 127 w 128"/>
                  <a:gd name="T9" fmla="*/ 18 h 66"/>
                  <a:gd name="T10" fmla="*/ 38 w 128"/>
                  <a:gd name="T11" fmla="*/ 65 h 66"/>
                  <a:gd name="T12" fmla="*/ 0 60000 65536"/>
                  <a:gd name="T13" fmla="*/ 0 60000 65536"/>
                  <a:gd name="T14" fmla="*/ 0 60000 65536"/>
                  <a:gd name="T15" fmla="*/ 0 60000 65536"/>
                  <a:gd name="T16" fmla="*/ 0 60000 65536"/>
                  <a:gd name="T17" fmla="*/ 0 60000 65536"/>
                  <a:gd name="T18" fmla="*/ 0 w 128"/>
                  <a:gd name="T19" fmla="*/ 0 h 66"/>
                  <a:gd name="T20" fmla="*/ 128 w 128"/>
                  <a:gd name="T21" fmla="*/ 66 h 66"/>
                </a:gdLst>
                <a:ahLst/>
                <a:cxnLst>
                  <a:cxn ang="T12">
                    <a:pos x="T0" y="T1"/>
                  </a:cxn>
                  <a:cxn ang="T13">
                    <a:pos x="T2" y="T3"/>
                  </a:cxn>
                  <a:cxn ang="T14">
                    <a:pos x="T4" y="T5"/>
                  </a:cxn>
                  <a:cxn ang="T15">
                    <a:pos x="T6" y="T7"/>
                  </a:cxn>
                  <a:cxn ang="T16">
                    <a:pos x="T8" y="T9"/>
                  </a:cxn>
                  <a:cxn ang="T17">
                    <a:pos x="T10" y="T11"/>
                  </a:cxn>
                </a:cxnLst>
                <a:rect l="T18" t="T19" r="T20" b="T21"/>
                <a:pathLst>
                  <a:path w="128" h="66">
                    <a:moveTo>
                      <a:pt x="38" y="65"/>
                    </a:moveTo>
                    <a:lnTo>
                      <a:pt x="38" y="65"/>
                    </a:lnTo>
                    <a:lnTo>
                      <a:pt x="0" y="46"/>
                    </a:lnTo>
                    <a:lnTo>
                      <a:pt x="91" y="0"/>
                    </a:lnTo>
                    <a:lnTo>
                      <a:pt x="127" y="18"/>
                    </a:lnTo>
                    <a:lnTo>
                      <a:pt x="38" y="65"/>
                    </a:lnTo>
                  </a:path>
                </a:pathLst>
              </a:custGeom>
              <a:solidFill>
                <a:srgbClr val="CF5C82"/>
              </a:solidFill>
              <a:ln w="9525" cap="rnd">
                <a:noFill/>
                <a:round/>
              </a:ln>
            </p:spPr>
            <p:txBody>
              <a:bodyPr/>
              <a:lstStyle/>
              <a:p>
                <a:endParaRPr lang="zh-CN" altLang="en-US"/>
              </a:p>
            </p:txBody>
          </p:sp>
        </p:grpSp>
        <p:grpSp>
          <p:nvGrpSpPr>
            <p:cNvPr id="250258" name="Group 224"/>
            <p:cNvGrpSpPr/>
            <p:nvPr/>
          </p:nvGrpSpPr>
          <p:grpSpPr bwMode="auto">
            <a:xfrm>
              <a:off x="2167" y="1984"/>
              <a:ext cx="144" cy="123"/>
              <a:chOff x="2167" y="1984"/>
              <a:chExt cx="144" cy="123"/>
            </a:xfrm>
          </p:grpSpPr>
          <p:sp>
            <p:nvSpPr>
              <p:cNvPr id="11583" name="Freeform 225"/>
              <p:cNvSpPr/>
              <p:nvPr/>
            </p:nvSpPr>
            <p:spPr bwMode="auto">
              <a:xfrm>
                <a:off x="2208" y="2000"/>
                <a:ext cx="102" cy="107"/>
              </a:xfrm>
              <a:custGeom>
                <a:avLst/>
                <a:gdLst>
                  <a:gd name="T0" fmla="*/ 0 w 102"/>
                  <a:gd name="T1" fmla="*/ 106 h 107"/>
                  <a:gd name="T2" fmla="*/ 0 w 102"/>
                  <a:gd name="T3" fmla="*/ 106 h 107"/>
                  <a:gd name="T4" fmla="*/ 2 w 102"/>
                  <a:gd name="T5" fmla="*/ 49 h 107"/>
                  <a:gd name="T6" fmla="*/ 101 w 102"/>
                  <a:gd name="T7" fmla="*/ 0 h 107"/>
                  <a:gd name="T8" fmla="*/ 98 w 102"/>
                  <a:gd name="T9" fmla="*/ 53 h 107"/>
                  <a:gd name="T10" fmla="*/ 0 w 102"/>
                  <a:gd name="T11" fmla="*/ 106 h 107"/>
                  <a:gd name="T12" fmla="*/ 0 60000 65536"/>
                  <a:gd name="T13" fmla="*/ 0 60000 65536"/>
                  <a:gd name="T14" fmla="*/ 0 60000 65536"/>
                  <a:gd name="T15" fmla="*/ 0 60000 65536"/>
                  <a:gd name="T16" fmla="*/ 0 60000 65536"/>
                  <a:gd name="T17" fmla="*/ 0 60000 65536"/>
                  <a:gd name="T18" fmla="*/ 0 w 102"/>
                  <a:gd name="T19" fmla="*/ 0 h 107"/>
                  <a:gd name="T20" fmla="*/ 102 w 102"/>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02" h="107">
                    <a:moveTo>
                      <a:pt x="0" y="106"/>
                    </a:moveTo>
                    <a:lnTo>
                      <a:pt x="0" y="106"/>
                    </a:lnTo>
                    <a:lnTo>
                      <a:pt x="2" y="49"/>
                    </a:lnTo>
                    <a:lnTo>
                      <a:pt x="101" y="0"/>
                    </a:lnTo>
                    <a:lnTo>
                      <a:pt x="98" y="53"/>
                    </a:lnTo>
                    <a:lnTo>
                      <a:pt x="0" y="106"/>
                    </a:lnTo>
                  </a:path>
                </a:pathLst>
              </a:custGeom>
              <a:solidFill>
                <a:srgbClr val="BB1A50"/>
              </a:solidFill>
              <a:ln w="9525" cap="rnd">
                <a:noFill/>
                <a:round/>
              </a:ln>
            </p:spPr>
            <p:txBody>
              <a:bodyPr/>
              <a:lstStyle/>
              <a:p>
                <a:endParaRPr lang="zh-CN" altLang="en-US"/>
              </a:p>
            </p:txBody>
          </p:sp>
          <p:sp>
            <p:nvSpPr>
              <p:cNvPr id="11584" name="Freeform 226"/>
              <p:cNvSpPr/>
              <p:nvPr/>
            </p:nvSpPr>
            <p:spPr bwMode="auto">
              <a:xfrm>
                <a:off x="2167" y="2036"/>
                <a:ext cx="43" cy="71"/>
              </a:xfrm>
              <a:custGeom>
                <a:avLst/>
                <a:gdLst>
                  <a:gd name="T0" fmla="*/ 39 w 43"/>
                  <a:gd name="T1" fmla="*/ 70 h 71"/>
                  <a:gd name="T2" fmla="*/ 39 w 43"/>
                  <a:gd name="T3" fmla="*/ 70 h 71"/>
                  <a:gd name="T4" fmla="*/ 0 w 43"/>
                  <a:gd name="T5" fmla="*/ 54 h 71"/>
                  <a:gd name="T6" fmla="*/ 0 w 43"/>
                  <a:gd name="T7" fmla="*/ 0 h 71"/>
                  <a:gd name="T8" fmla="*/ 42 w 43"/>
                  <a:gd name="T9" fmla="*/ 15 h 71"/>
                  <a:gd name="T10" fmla="*/ 39 w 43"/>
                  <a:gd name="T11" fmla="*/ 70 h 71"/>
                  <a:gd name="T12" fmla="*/ 0 60000 65536"/>
                  <a:gd name="T13" fmla="*/ 0 60000 65536"/>
                  <a:gd name="T14" fmla="*/ 0 60000 65536"/>
                  <a:gd name="T15" fmla="*/ 0 60000 65536"/>
                  <a:gd name="T16" fmla="*/ 0 60000 65536"/>
                  <a:gd name="T17" fmla="*/ 0 60000 65536"/>
                  <a:gd name="T18" fmla="*/ 0 w 43"/>
                  <a:gd name="T19" fmla="*/ 0 h 71"/>
                  <a:gd name="T20" fmla="*/ 43 w 43"/>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43" h="71">
                    <a:moveTo>
                      <a:pt x="39" y="70"/>
                    </a:moveTo>
                    <a:lnTo>
                      <a:pt x="39" y="70"/>
                    </a:lnTo>
                    <a:lnTo>
                      <a:pt x="0" y="54"/>
                    </a:lnTo>
                    <a:lnTo>
                      <a:pt x="0" y="0"/>
                    </a:lnTo>
                    <a:lnTo>
                      <a:pt x="42" y="15"/>
                    </a:lnTo>
                    <a:lnTo>
                      <a:pt x="39" y="70"/>
                    </a:lnTo>
                  </a:path>
                </a:pathLst>
              </a:custGeom>
              <a:solidFill>
                <a:srgbClr val="9E0005"/>
              </a:solidFill>
              <a:ln w="9525" cap="rnd">
                <a:noFill/>
                <a:round/>
              </a:ln>
            </p:spPr>
            <p:txBody>
              <a:bodyPr/>
              <a:lstStyle/>
              <a:p>
                <a:endParaRPr lang="zh-CN" altLang="en-US"/>
              </a:p>
            </p:txBody>
          </p:sp>
          <p:sp>
            <p:nvSpPr>
              <p:cNvPr id="11585" name="Freeform 227"/>
              <p:cNvSpPr/>
              <p:nvPr/>
            </p:nvSpPr>
            <p:spPr bwMode="auto">
              <a:xfrm>
                <a:off x="2167" y="1984"/>
                <a:ext cx="144" cy="64"/>
              </a:xfrm>
              <a:custGeom>
                <a:avLst/>
                <a:gdLst>
                  <a:gd name="T0" fmla="*/ 44 w 144"/>
                  <a:gd name="T1" fmla="*/ 63 h 64"/>
                  <a:gd name="T2" fmla="*/ 44 w 144"/>
                  <a:gd name="T3" fmla="*/ 63 h 64"/>
                  <a:gd name="T4" fmla="*/ 0 w 144"/>
                  <a:gd name="T5" fmla="*/ 47 h 64"/>
                  <a:gd name="T6" fmla="*/ 101 w 144"/>
                  <a:gd name="T7" fmla="*/ 0 h 64"/>
                  <a:gd name="T8" fmla="*/ 143 w 144"/>
                  <a:gd name="T9" fmla="*/ 15 h 64"/>
                  <a:gd name="T10" fmla="*/ 44 w 144"/>
                  <a:gd name="T11" fmla="*/ 63 h 64"/>
                  <a:gd name="T12" fmla="*/ 0 60000 65536"/>
                  <a:gd name="T13" fmla="*/ 0 60000 65536"/>
                  <a:gd name="T14" fmla="*/ 0 60000 65536"/>
                  <a:gd name="T15" fmla="*/ 0 60000 65536"/>
                  <a:gd name="T16" fmla="*/ 0 60000 65536"/>
                  <a:gd name="T17" fmla="*/ 0 60000 65536"/>
                  <a:gd name="T18" fmla="*/ 0 w 144"/>
                  <a:gd name="T19" fmla="*/ 0 h 64"/>
                  <a:gd name="T20" fmla="*/ 144 w 144"/>
                  <a:gd name="T21" fmla="*/ 64 h 64"/>
                </a:gdLst>
                <a:ahLst/>
                <a:cxnLst>
                  <a:cxn ang="T12">
                    <a:pos x="T0" y="T1"/>
                  </a:cxn>
                  <a:cxn ang="T13">
                    <a:pos x="T2" y="T3"/>
                  </a:cxn>
                  <a:cxn ang="T14">
                    <a:pos x="T4" y="T5"/>
                  </a:cxn>
                  <a:cxn ang="T15">
                    <a:pos x="T6" y="T7"/>
                  </a:cxn>
                  <a:cxn ang="T16">
                    <a:pos x="T8" y="T9"/>
                  </a:cxn>
                  <a:cxn ang="T17">
                    <a:pos x="T10" y="T11"/>
                  </a:cxn>
                </a:cxnLst>
                <a:rect l="T18" t="T19" r="T20" b="T21"/>
                <a:pathLst>
                  <a:path w="144" h="64">
                    <a:moveTo>
                      <a:pt x="44" y="63"/>
                    </a:moveTo>
                    <a:lnTo>
                      <a:pt x="44" y="63"/>
                    </a:lnTo>
                    <a:lnTo>
                      <a:pt x="0" y="47"/>
                    </a:lnTo>
                    <a:lnTo>
                      <a:pt x="101" y="0"/>
                    </a:lnTo>
                    <a:lnTo>
                      <a:pt x="143" y="15"/>
                    </a:lnTo>
                    <a:lnTo>
                      <a:pt x="44" y="63"/>
                    </a:lnTo>
                  </a:path>
                </a:pathLst>
              </a:custGeom>
              <a:solidFill>
                <a:srgbClr val="CF5C82"/>
              </a:solidFill>
              <a:ln w="9525" cap="rnd">
                <a:noFill/>
                <a:round/>
              </a:ln>
            </p:spPr>
            <p:txBody>
              <a:bodyPr/>
              <a:lstStyle/>
              <a:p>
                <a:endParaRPr lang="zh-CN" altLang="en-US"/>
              </a:p>
            </p:txBody>
          </p:sp>
        </p:grpSp>
        <p:grpSp>
          <p:nvGrpSpPr>
            <p:cNvPr id="250259" name="Group 228"/>
            <p:cNvGrpSpPr/>
            <p:nvPr/>
          </p:nvGrpSpPr>
          <p:grpSpPr bwMode="auto">
            <a:xfrm>
              <a:off x="2048" y="2039"/>
              <a:ext cx="157" cy="129"/>
              <a:chOff x="2048" y="2039"/>
              <a:chExt cx="157" cy="129"/>
            </a:xfrm>
          </p:grpSpPr>
          <p:sp>
            <p:nvSpPr>
              <p:cNvPr id="11580" name="Freeform 229"/>
              <p:cNvSpPr/>
              <p:nvPr/>
            </p:nvSpPr>
            <p:spPr bwMode="auto">
              <a:xfrm>
                <a:off x="2097" y="2058"/>
                <a:ext cx="108" cy="110"/>
              </a:xfrm>
              <a:custGeom>
                <a:avLst/>
                <a:gdLst>
                  <a:gd name="T0" fmla="*/ 0 w 108"/>
                  <a:gd name="T1" fmla="*/ 109 h 110"/>
                  <a:gd name="T2" fmla="*/ 0 w 108"/>
                  <a:gd name="T3" fmla="*/ 109 h 110"/>
                  <a:gd name="T4" fmla="*/ 2 w 108"/>
                  <a:gd name="T5" fmla="*/ 53 h 110"/>
                  <a:gd name="T6" fmla="*/ 107 w 108"/>
                  <a:gd name="T7" fmla="*/ 0 h 110"/>
                  <a:gd name="T8" fmla="*/ 104 w 108"/>
                  <a:gd name="T9" fmla="*/ 53 h 110"/>
                  <a:gd name="T10" fmla="*/ 0 w 108"/>
                  <a:gd name="T11" fmla="*/ 109 h 110"/>
                  <a:gd name="T12" fmla="*/ 0 60000 65536"/>
                  <a:gd name="T13" fmla="*/ 0 60000 65536"/>
                  <a:gd name="T14" fmla="*/ 0 60000 65536"/>
                  <a:gd name="T15" fmla="*/ 0 60000 65536"/>
                  <a:gd name="T16" fmla="*/ 0 60000 65536"/>
                  <a:gd name="T17" fmla="*/ 0 60000 65536"/>
                  <a:gd name="T18" fmla="*/ 0 w 108"/>
                  <a:gd name="T19" fmla="*/ 0 h 110"/>
                  <a:gd name="T20" fmla="*/ 108 w 108"/>
                  <a:gd name="T21" fmla="*/ 110 h 110"/>
                </a:gdLst>
                <a:ahLst/>
                <a:cxnLst>
                  <a:cxn ang="T12">
                    <a:pos x="T0" y="T1"/>
                  </a:cxn>
                  <a:cxn ang="T13">
                    <a:pos x="T2" y="T3"/>
                  </a:cxn>
                  <a:cxn ang="T14">
                    <a:pos x="T4" y="T5"/>
                  </a:cxn>
                  <a:cxn ang="T15">
                    <a:pos x="T6" y="T7"/>
                  </a:cxn>
                  <a:cxn ang="T16">
                    <a:pos x="T8" y="T9"/>
                  </a:cxn>
                  <a:cxn ang="T17">
                    <a:pos x="T10" y="T11"/>
                  </a:cxn>
                </a:cxnLst>
                <a:rect l="T18" t="T19" r="T20" b="T21"/>
                <a:pathLst>
                  <a:path w="108" h="110">
                    <a:moveTo>
                      <a:pt x="0" y="109"/>
                    </a:moveTo>
                    <a:lnTo>
                      <a:pt x="0" y="109"/>
                    </a:lnTo>
                    <a:lnTo>
                      <a:pt x="2" y="53"/>
                    </a:lnTo>
                    <a:lnTo>
                      <a:pt x="107" y="0"/>
                    </a:lnTo>
                    <a:lnTo>
                      <a:pt x="104" y="53"/>
                    </a:lnTo>
                    <a:lnTo>
                      <a:pt x="0" y="109"/>
                    </a:lnTo>
                  </a:path>
                </a:pathLst>
              </a:custGeom>
              <a:solidFill>
                <a:srgbClr val="BB1A50"/>
              </a:solidFill>
              <a:ln w="9525" cap="rnd">
                <a:noFill/>
                <a:round/>
              </a:ln>
            </p:spPr>
            <p:txBody>
              <a:bodyPr/>
              <a:lstStyle/>
              <a:p>
                <a:endParaRPr lang="zh-CN" altLang="en-US"/>
              </a:p>
            </p:txBody>
          </p:sp>
          <p:sp>
            <p:nvSpPr>
              <p:cNvPr id="11581" name="Freeform 230"/>
              <p:cNvSpPr/>
              <p:nvPr/>
            </p:nvSpPr>
            <p:spPr bwMode="auto">
              <a:xfrm>
                <a:off x="2051" y="2097"/>
                <a:ext cx="47" cy="71"/>
              </a:xfrm>
              <a:custGeom>
                <a:avLst/>
                <a:gdLst>
                  <a:gd name="T0" fmla="*/ 43 w 47"/>
                  <a:gd name="T1" fmla="*/ 70 h 71"/>
                  <a:gd name="T2" fmla="*/ 43 w 47"/>
                  <a:gd name="T3" fmla="*/ 70 h 71"/>
                  <a:gd name="T4" fmla="*/ 0 w 47"/>
                  <a:gd name="T5" fmla="*/ 57 h 71"/>
                  <a:gd name="T6" fmla="*/ 0 w 47"/>
                  <a:gd name="T7" fmla="*/ 0 h 71"/>
                  <a:gd name="T8" fmla="*/ 46 w 47"/>
                  <a:gd name="T9" fmla="*/ 15 h 71"/>
                  <a:gd name="T10" fmla="*/ 43 w 47"/>
                  <a:gd name="T11" fmla="*/ 70 h 71"/>
                  <a:gd name="T12" fmla="*/ 0 60000 65536"/>
                  <a:gd name="T13" fmla="*/ 0 60000 65536"/>
                  <a:gd name="T14" fmla="*/ 0 60000 65536"/>
                  <a:gd name="T15" fmla="*/ 0 60000 65536"/>
                  <a:gd name="T16" fmla="*/ 0 60000 65536"/>
                  <a:gd name="T17" fmla="*/ 0 60000 65536"/>
                  <a:gd name="T18" fmla="*/ 0 w 47"/>
                  <a:gd name="T19" fmla="*/ 0 h 71"/>
                  <a:gd name="T20" fmla="*/ 47 w 47"/>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47" h="71">
                    <a:moveTo>
                      <a:pt x="43" y="70"/>
                    </a:moveTo>
                    <a:lnTo>
                      <a:pt x="43" y="70"/>
                    </a:lnTo>
                    <a:lnTo>
                      <a:pt x="0" y="57"/>
                    </a:lnTo>
                    <a:lnTo>
                      <a:pt x="0" y="0"/>
                    </a:lnTo>
                    <a:lnTo>
                      <a:pt x="46" y="15"/>
                    </a:lnTo>
                    <a:lnTo>
                      <a:pt x="43" y="70"/>
                    </a:lnTo>
                  </a:path>
                </a:pathLst>
              </a:custGeom>
              <a:solidFill>
                <a:srgbClr val="9E0005"/>
              </a:solidFill>
              <a:ln w="9525" cap="rnd">
                <a:noFill/>
                <a:round/>
              </a:ln>
            </p:spPr>
            <p:txBody>
              <a:bodyPr/>
              <a:lstStyle/>
              <a:p>
                <a:endParaRPr lang="zh-CN" altLang="en-US"/>
              </a:p>
            </p:txBody>
          </p:sp>
          <p:sp>
            <p:nvSpPr>
              <p:cNvPr id="11582" name="Freeform 231"/>
              <p:cNvSpPr/>
              <p:nvPr/>
            </p:nvSpPr>
            <p:spPr bwMode="auto">
              <a:xfrm>
                <a:off x="2048" y="2039"/>
                <a:ext cx="157" cy="71"/>
              </a:xfrm>
              <a:custGeom>
                <a:avLst/>
                <a:gdLst>
                  <a:gd name="T0" fmla="*/ 50 w 157"/>
                  <a:gd name="T1" fmla="*/ 70 h 71"/>
                  <a:gd name="T2" fmla="*/ 50 w 157"/>
                  <a:gd name="T3" fmla="*/ 70 h 71"/>
                  <a:gd name="T4" fmla="*/ 0 w 157"/>
                  <a:gd name="T5" fmla="*/ 54 h 71"/>
                  <a:gd name="T6" fmla="*/ 111 w 157"/>
                  <a:gd name="T7" fmla="*/ 0 h 71"/>
                  <a:gd name="T8" fmla="*/ 156 w 157"/>
                  <a:gd name="T9" fmla="*/ 17 h 71"/>
                  <a:gd name="T10" fmla="*/ 50 w 157"/>
                  <a:gd name="T11" fmla="*/ 70 h 71"/>
                  <a:gd name="T12" fmla="*/ 0 60000 65536"/>
                  <a:gd name="T13" fmla="*/ 0 60000 65536"/>
                  <a:gd name="T14" fmla="*/ 0 60000 65536"/>
                  <a:gd name="T15" fmla="*/ 0 60000 65536"/>
                  <a:gd name="T16" fmla="*/ 0 60000 65536"/>
                  <a:gd name="T17" fmla="*/ 0 60000 65536"/>
                  <a:gd name="T18" fmla="*/ 0 w 157"/>
                  <a:gd name="T19" fmla="*/ 0 h 71"/>
                  <a:gd name="T20" fmla="*/ 157 w 157"/>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157" h="71">
                    <a:moveTo>
                      <a:pt x="50" y="70"/>
                    </a:moveTo>
                    <a:lnTo>
                      <a:pt x="50" y="70"/>
                    </a:lnTo>
                    <a:lnTo>
                      <a:pt x="0" y="54"/>
                    </a:lnTo>
                    <a:lnTo>
                      <a:pt x="111" y="0"/>
                    </a:lnTo>
                    <a:lnTo>
                      <a:pt x="156" y="17"/>
                    </a:lnTo>
                    <a:lnTo>
                      <a:pt x="50" y="70"/>
                    </a:lnTo>
                  </a:path>
                </a:pathLst>
              </a:custGeom>
              <a:solidFill>
                <a:srgbClr val="CF5C82"/>
              </a:solidFill>
              <a:ln w="9525" cap="rnd">
                <a:noFill/>
                <a:round/>
              </a:ln>
            </p:spPr>
            <p:txBody>
              <a:bodyPr/>
              <a:lstStyle/>
              <a:p>
                <a:endParaRPr lang="zh-CN" altLang="en-US"/>
              </a:p>
            </p:txBody>
          </p:sp>
        </p:grpSp>
        <p:sp>
          <p:nvSpPr>
            <p:cNvPr id="11547" name="Freeform 232"/>
            <p:cNvSpPr/>
            <p:nvPr/>
          </p:nvSpPr>
          <p:spPr bwMode="auto">
            <a:xfrm>
              <a:off x="2496" y="1889"/>
              <a:ext cx="17" cy="55"/>
            </a:xfrm>
            <a:custGeom>
              <a:avLst/>
              <a:gdLst>
                <a:gd name="T0" fmla="*/ 0 w 17"/>
                <a:gd name="T1" fmla="*/ 54 h 55"/>
                <a:gd name="T2" fmla="*/ 0 w 17"/>
                <a:gd name="T3" fmla="*/ 54 h 55"/>
                <a:gd name="T4" fmla="*/ 0 w 17"/>
                <a:gd name="T5" fmla="*/ 27 h 55"/>
                <a:gd name="T6" fmla="*/ 0 w 17"/>
                <a:gd name="T7" fmla="*/ 18 h 55"/>
                <a:gd name="T8" fmla="*/ 4 w 17"/>
                <a:gd name="T9" fmla="*/ 9 h 55"/>
                <a:gd name="T10" fmla="*/ 4 w 17"/>
                <a:gd name="T11" fmla="*/ 2 h 55"/>
                <a:gd name="T12" fmla="*/ 4 w 17"/>
                <a:gd name="T13" fmla="*/ 0 h 55"/>
                <a:gd name="T14" fmla="*/ 11 w 17"/>
                <a:gd name="T15" fmla="*/ 0 h 55"/>
                <a:gd name="T16" fmla="*/ 16 w 17"/>
                <a:gd name="T17" fmla="*/ 2 h 55"/>
                <a:gd name="T18" fmla="*/ 11 w 17"/>
                <a:gd name="T19" fmla="*/ 24 h 55"/>
                <a:gd name="T20" fmla="*/ 11 w 17"/>
                <a:gd name="T21" fmla="*/ 51 h 55"/>
                <a:gd name="T22" fmla="*/ 4 w 17"/>
                <a:gd name="T23" fmla="*/ 51 h 55"/>
                <a:gd name="T24" fmla="*/ 0 w 17"/>
                <a:gd name="T25" fmla="*/ 51 h 55"/>
                <a:gd name="T26" fmla="*/ 0 w 17"/>
                <a:gd name="T27" fmla="*/ 54 h 5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55"/>
                <a:gd name="T44" fmla="*/ 17 w 17"/>
                <a:gd name="T45" fmla="*/ 55 h 5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55">
                  <a:moveTo>
                    <a:pt x="0" y="54"/>
                  </a:moveTo>
                  <a:lnTo>
                    <a:pt x="0" y="54"/>
                  </a:lnTo>
                  <a:lnTo>
                    <a:pt x="0" y="27"/>
                  </a:lnTo>
                  <a:lnTo>
                    <a:pt x="0" y="18"/>
                  </a:lnTo>
                  <a:lnTo>
                    <a:pt x="4" y="9"/>
                  </a:lnTo>
                  <a:lnTo>
                    <a:pt x="4" y="2"/>
                  </a:lnTo>
                  <a:lnTo>
                    <a:pt x="4" y="0"/>
                  </a:lnTo>
                  <a:lnTo>
                    <a:pt x="11" y="0"/>
                  </a:lnTo>
                  <a:lnTo>
                    <a:pt x="16" y="2"/>
                  </a:lnTo>
                  <a:lnTo>
                    <a:pt x="11" y="24"/>
                  </a:lnTo>
                  <a:lnTo>
                    <a:pt x="11" y="51"/>
                  </a:lnTo>
                  <a:lnTo>
                    <a:pt x="4" y="51"/>
                  </a:lnTo>
                  <a:lnTo>
                    <a:pt x="0" y="51"/>
                  </a:lnTo>
                  <a:lnTo>
                    <a:pt x="0" y="54"/>
                  </a:lnTo>
                </a:path>
              </a:pathLst>
            </a:custGeom>
            <a:solidFill>
              <a:srgbClr val="BDB597"/>
            </a:solidFill>
            <a:ln w="9525" cap="rnd">
              <a:noFill/>
              <a:round/>
            </a:ln>
          </p:spPr>
          <p:txBody>
            <a:bodyPr/>
            <a:lstStyle/>
            <a:p>
              <a:endParaRPr lang="zh-CN" altLang="en-US"/>
            </a:p>
          </p:txBody>
        </p:sp>
        <p:sp>
          <p:nvSpPr>
            <p:cNvPr id="11548" name="Freeform 233"/>
            <p:cNvSpPr/>
            <p:nvPr/>
          </p:nvSpPr>
          <p:spPr bwMode="auto">
            <a:xfrm>
              <a:off x="2097" y="1863"/>
              <a:ext cx="443" cy="251"/>
            </a:xfrm>
            <a:custGeom>
              <a:avLst/>
              <a:gdLst>
                <a:gd name="T0" fmla="*/ 442 w 443"/>
                <a:gd name="T1" fmla="*/ 0 h 251"/>
                <a:gd name="T2" fmla="*/ 442 w 443"/>
                <a:gd name="T3" fmla="*/ 0 h 251"/>
                <a:gd name="T4" fmla="*/ 0 w 443"/>
                <a:gd name="T5" fmla="*/ 243 h 251"/>
                <a:gd name="T6" fmla="*/ 0 w 443"/>
                <a:gd name="T7" fmla="*/ 250 h 251"/>
                <a:gd name="T8" fmla="*/ 442 w 443"/>
                <a:gd name="T9" fmla="*/ 9 h 251"/>
                <a:gd name="T10" fmla="*/ 442 w 443"/>
                <a:gd name="T11" fmla="*/ 0 h 251"/>
                <a:gd name="T12" fmla="*/ 0 60000 65536"/>
                <a:gd name="T13" fmla="*/ 0 60000 65536"/>
                <a:gd name="T14" fmla="*/ 0 60000 65536"/>
                <a:gd name="T15" fmla="*/ 0 60000 65536"/>
                <a:gd name="T16" fmla="*/ 0 60000 65536"/>
                <a:gd name="T17" fmla="*/ 0 60000 65536"/>
                <a:gd name="T18" fmla="*/ 0 w 443"/>
                <a:gd name="T19" fmla="*/ 0 h 251"/>
                <a:gd name="T20" fmla="*/ 443 w 443"/>
                <a:gd name="T21" fmla="*/ 251 h 251"/>
              </a:gdLst>
              <a:ahLst/>
              <a:cxnLst>
                <a:cxn ang="T12">
                  <a:pos x="T0" y="T1"/>
                </a:cxn>
                <a:cxn ang="T13">
                  <a:pos x="T2" y="T3"/>
                </a:cxn>
                <a:cxn ang="T14">
                  <a:pos x="T4" y="T5"/>
                </a:cxn>
                <a:cxn ang="T15">
                  <a:pos x="T6" y="T7"/>
                </a:cxn>
                <a:cxn ang="T16">
                  <a:pos x="T8" y="T9"/>
                </a:cxn>
                <a:cxn ang="T17">
                  <a:pos x="T10" y="T11"/>
                </a:cxn>
              </a:cxnLst>
              <a:rect l="T18" t="T19" r="T20" b="T21"/>
              <a:pathLst>
                <a:path w="443" h="251">
                  <a:moveTo>
                    <a:pt x="442" y="0"/>
                  </a:moveTo>
                  <a:lnTo>
                    <a:pt x="442" y="0"/>
                  </a:lnTo>
                  <a:lnTo>
                    <a:pt x="0" y="243"/>
                  </a:lnTo>
                  <a:lnTo>
                    <a:pt x="0" y="250"/>
                  </a:lnTo>
                  <a:lnTo>
                    <a:pt x="442" y="9"/>
                  </a:lnTo>
                  <a:lnTo>
                    <a:pt x="442" y="0"/>
                  </a:lnTo>
                </a:path>
              </a:pathLst>
            </a:custGeom>
            <a:solidFill>
              <a:srgbClr val="BDB597"/>
            </a:solidFill>
            <a:ln w="9525" cap="rnd">
              <a:noFill/>
              <a:round/>
            </a:ln>
          </p:spPr>
          <p:txBody>
            <a:bodyPr/>
            <a:lstStyle/>
            <a:p>
              <a:endParaRPr lang="zh-CN" altLang="en-US"/>
            </a:p>
          </p:txBody>
        </p:sp>
        <p:sp>
          <p:nvSpPr>
            <p:cNvPr id="11549" name="Freeform 234"/>
            <p:cNvSpPr/>
            <p:nvPr/>
          </p:nvSpPr>
          <p:spPr bwMode="auto">
            <a:xfrm>
              <a:off x="2404" y="1943"/>
              <a:ext cx="17" cy="56"/>
            </a:xfrm>
            <a:custGeom>
              <a:avLst/>
              <a:gdLst>
                <a:gd name="T0" fmla="*/ 0 w 17"/>
                <a:gd name="T1" fmla="*/ 55 h 56"/>
                <a:gd name="T2" fmla="*/ 0 w 17"/>
                <a:gd name="T3" fmla="*/ 55 h 56"/>
                <a:gd name="T4" fmla="*/ 0 w 17"/>
                <a:gd name="T5" fmla="*/ 27 h 56"/>
                <a:gd name="T6" fmla="*/ 0 w 17"/>
                <a:gd name="T7" fmla="*/ 18 h 56"/>
                <a:gd name="T8" fmla="*/ 6 w 17"/>
                <a:gd name="T9" fmla="*/ 9 h 56"/>
                <a:gd name="T10" fmla="*/ 6 w 17"/>
                <a:gd name="T11" fmla="*/ 2 h 56"/>
                <a:gd name="T12" fmla="*/ 6 w 17"/>
                <a:gd name="T13" fmla="*/ 0 h 56"/>
                <a:gd name="T14" fmla="*/ 10 w 17"/>
                <a:gd name="T15" fmla="*/ 0 h 56"/>
                <a:gd name="T16" fmla="*/ 16 w 17"/>
                <a:gd name="T17" fmla="*/ 0 h 56"/>
                <a:gd name="T18" fmla="*/ 16 w 17"/>
                <a:gd name="T19" fmla="*/ 24 h 56"/>
                <a:gd name="T20" fmla="*/ 10 w 17"/>
                <a:gd name="T21" fmla="*/ 42 h 56"/>
                <a:gd name="T22" fmla="*/ 10 w 17"/>
                <a:gd name="T23" fmla="*/ 48 h 56"/>
                <a:gd name="T24" fmla="*/ 10 w 17"/>
                <a:gd name="T25" fmla="*/ 52 h 56"/>
                <a:gd name="T26" fmla="*/ 6 w 17"/>
                <a:gd name="T27" fmla="*/ 52 h 56"/>
                <a:gd name="T28" fmla="*/ 0 w 17"/>
                <a:gd name="T29" fmla="*/ 52 h 56"/>
                <a:gd name="T30" fmla="*/ 0 w 17"/>
                <a:gd name="T31" fmla="*/ 55 h 5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
                <a:gd name="T49" fmla="*/ 0 h 56"/>
                <a:gd name="T50" fmla="*/ 17 w 17"/>
                <a:gd name="T51" fmla="*/ 56 h 5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 h="56">
                  <a:moveTo>
                    <a:pt x="0" y="55"/>
                  </a:moveTo>
                  <a:lnTo>
                    <a:pt x="0" y="55"/>
                  </a:lnTo>
                  <a:lnTo>
                    <a:pt x="0" y="27"/>
                  </a:lnTo>
                  <a:lnTo>
                    <a:pt x="0" y="18"/>
                  </a:lnTo>
                  <a:lnTo>
                    <a:pt x="6" y="9"/>
                  </a:lnTo>
                  <a:lnTo>
                    <a:pt x="6" y="2"/>
                  </a:lnTo>
                  <a:lnTo>
                    <a:pt x="6" y="0"/>
                  </a:lnTo>
                  <a:lnTo>
                    <a:pt x="10" y="0"/>
                  </a:lnTo>
                  <a:lnTo>
                    <a:pt x="16" y="0"/>
                  </a:lnTo>
                  <a:lnTo>
                    <a:pt x="16" y="24"/>
                  </a:lnTo>
                  <a:lnTo>
                    <a:pt x="10" y="42"/>
                  </a:lnTo>
                  <a:lnTo>
                    <a:pt x="10" y="48"/>
                  </a:lnTo>
                  <a:lnTo>
                    <a:pt x="10" y="52"/>
                  </a:lnTo>
                  <a:lnTo>
                    <a:pt x="6" y="52"/>
                  </a:lnTo>
                  <a:lnTo>
                    <a:pt x="0" y="52"/>
                  </a:lnTo>
                  <a:lnTo>
                    <a:pt x="0" y="55"/>
                  </a:lnTo>
                </a:path>
              </a:pathLst>
            </a:custGeom>
            <a:solidFill>
              <a:srgbClr val="BDB597"/>
            </a:solidFill>
            <a:ln w="9525" cap="rnd">
              <a:noFill/>
              <a:round/>
            </a:ln>
          </p:spPr>
          <p:txBody>
            <a:bodyPr/>
            <a:lstStyle/>
            <a:p>
              <a:endParaRPr lang="zh-CN" altLang="en-US"/>
            </a:p>
          </p:txBody>
        </p:sp>
        <p:sp>
          <p:nvSpPr>
            <p:cNvPr id="11550" name="Freeform 235"/>
            <p:cNvSpPr/>
            <p:nvPr/>
          </p:nvSpPr>
          <p:spPr bwMode="auto">
            <a:xfrm>
              <a:off x="2310" y="1998"/>
              <a:ext cx="17" cy="55"/>
            </a:xfrm>
            <a:custGeom>
              <a:avLst/>
              <a:gdLst>
                <a:gd name="T0" fmla="*/ 0 w 17"/>
                <a:gd name="T1" fmla="*/ 54 h 55"/>
                <a:gd name="T2" fmla="*/ 0 w 17"/>
                <a:gd name="T3" fmla="*/ 54 h 55"/>
                <a:gd name="T4" fmla="*/ 0 w 17"/>
                <a:gd name="T5" fmla="*/ 47 h 55"/>
                <a:gd name="T6" fmla="*/ 0 w 17"/>
                <a:gd name="T7" fmla="*/ 27 h 55"/>
                <a:gd name="T8" fmla="*/ 0 w 17"/>
                <a:gd name="T9" fmla="*/ 9 h 55"/>
                <a:gd name="T10" fmla="*/ 0 w 17"/>
                <a:gd name="T11" fmla="*/ 0 h 55"/>
                <a:gd name="T12" fmla="*/ 4 w 17"/>
                <a:gd name="T13" fmla="*/ 0 h 55"/>
                <a:gd name="T14" fmla="*/ 11 w 17"/>
                <a:gd name="T15" fmla="*/ 0 h 55"/>
                <a:gd name="T16" fmla="*/ 16 w 17"/>
                <a:gd name="T17" fmla="*/ 0 h 55"/>
                <a:gd name="T18" fmla="*/ 11 w 17"/>
                <a:gd name="T19" fmla="*/ 24 h 55"/>
                <a:gd name="T20" fmla="*/ 11 w 17"/>
                <a:gd name="T21" fmla="*/ 42 h 55"/>
                <a:gd name="T22" fmla="*/ 11 w 17"/>
                <a:gd name="T23" fmla="*/ 51 h 55"/>
                <a:gd name="T24" fmla="*/ 4 w 17"/>
                <a:gd name="T25" fmla="*/ 51 h 55"/>
                <a:gd name="T26" fmla="*/ 0 w 17"/>
                <a:gd name="T27" fmla="*/ 54 h 5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55"/>
                <a:gd name="T44" fmla="*/ 17 w 17"/>
                <a:gd name="T45" fmla="*/ 55 h 5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55">
                  <a:moveTo>
                    <a:pt x="0" y="54"/>
                  </a:moveTo>
                  <a:lnTo>
                    <a:pt x="0" y="54"/>
                  </a:lnTo>
                  <a:lnTo>
                    <a:pt x="0" y="47"/>
                  </a:lnTo>
                  <a:lnTo>
                    <a:pt x="0" y="27"/>
                  </a:lnTo>
                  <a:lnTo>
                    <a:pt x="0" y="9"/>
                  </a:lnTo>
                  <a:lnTo>
                    <a:pt x="0" y="0"/>
                  </a:lnTo>
                  <a:lnTo>
                    <a:pt x="4" y="0"/>
                  </a:lnTo>
                  <a:lnTo>
                    <a:pt x="11" y="0"/>
                  </a:lnTo>
                  <a:lnTo>
                    <a:pt x="16" y="0"/>
                  </a:lnTo>
                  <a:lnTo>
                    <a:pt x="11" y="24"/>
                  </a:lnTo>
                  <a:lnTo>
                    <a:pt x="11" y="42"/>
                  </a:lnTo>
                  <a:lnTo>
                    <a:pt x="11" y="51"/>
                  </a:lnTo>
                  <a:lnTo>
                    <a:pt x="4" y="51"/>
                  </a:lnTo>
                  <a:lnTo>
                    <a:pt x="0" y="54"/>
                  </a:lnTo>
                </a:path>
              </a:pathLst>
            </a:custGeom>
            <a:solidFill>
              <a:srgbClr val="BDB597"/>
            </a:solidFill>
            <a:ln w="9525" cap="rnd">
              <a:noFill/>
              <a:round/>
            </a:ln>
          </p:spPr>
          <p:txBody>
            <a:bodyPr/>
            <a:lstStyle/>
            <a:p>
              <a:endParaRPr lang="zh-CN" altLang="en-US"/>
            </a:p>
          </p:txBody>
        </p:sp>
        <p:sp>
          <p:nvSpPr>
            <p:cNvPr id="11551" name="Freeform 236"/>
            <p:cNvSpPr/>
            <p:nvPr/>
          </p:nvSpPr>
          <p:spPr bwMode="auto">
            <a:xfrm>
              <a:off x="2204" y="2051"/>
              <a:ext cx="17" cy="63"/>
            </a:xfrm>
            <a:custGeom>
              <a:avLst/>
              <a:gdLst>
                <a:gd name="T0" fmla="*/ 0 w 17"/>
                <a:gd name="T1" fmla="*/ 62 h 63"/>
                <a:gd name="T2" fmla="*/ 0 w 17"/>
                <a:gd name="T3" fmla="*/ 62 h 63"/>
                <a:gd name="T4" fmla="*/ 0 w 17"/>
                <a:gd name="T5" fmla="*/ 52 h 63"/>
                <a:gd name="T6" fmla="*/ 0 w 17"/>
                <a:gd name="T7" fmla="*/ 31 h 63"/>
                <a:gd name="T8" fmla="*/ 0 w 17"/>
                <a:gd name="T9" fmla="*/ 18 h 63"/>
                <a:gd name="T10" fmla="*/ 0 w 17"/>
                <a:gd name="T11" fmla="*/ 9 h 63"/>
                <a:gd name="T12" fmla="*/ 0 w 17"/>
                <a:gd name="T13" fmla="*/ 6 h 63"/>
                <a:gd name="T14" fmla="*/ 0 w 17"/>
                <a:gd name="T15" fmla="*/ 2 h 63"/>
                <a:gd name="T16" fmla="*/ 0 w 17"/>
                <a:gd name="T17" fmla="*/ 0 h 63"/>
                <a:gd name="T18" fmla="*/ 4 w 17"/>
                <a:gd name="T19" fmla="*/ 0 h 63"/>
                <a:gd name="T20" fmla="*/ 11 w 17"/>
                <a:gd name="T21" fmla="*/ 0 h 63"/>
                <a:gd name="T22" fmla="*/ 16 w 17"/>
                <a:gd name="T23" fmla="*/ 0 h 63"/>
                <a:gd name="T24" fmla="*/ 16 w 17"/>
                <a:gd name="T25" fmla="*/ 28 h 63"/>
                <a:gd name="T26" fmla="*/ 11 w 17"/>
                <a:gd name="T27" fmla="*/ 46 h 63"/>
                <a:gd name="T28" fmla="*/ 11 w 17"/>
                <a:gd name="T29" fmla="*/ 52 h 63"/>
                <a:gd name="T30" fmla="*/ 11 w 17"/>
                <a:gd name="T31" fmla="*/ 55 h 63"/>
                <a:gd name="T32" fmla="*/ 11 w 17"/>
                <a:gd name="T33" fmla="*/ 59 h 63"/>
                <a:gd name="T34" fmla="*/ 4 w 17"/>
                <a:gd name="T35" fmla="*/ 59 h 63"/>
                <a:gd name="T36" fmla="*/ 0 w 17"/>
                <a:gd name="T37" fmla="*/ 59 h 63"/>
                <a:gd name="T38" fmla="*/ 0 w 17"/>
                <a:gd name="T39" fmla="*/ 62 h 6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
                <a:gd name="T61" fmla="*/ 0 h 63"/>
                <a:gd name="T62" fmla="*/ 17 w 17"/>
                <a:gd name="T63" fmla="*/ 63 h 6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 h="63">
                  <a:moveTo>
                    <a:pt x="0" y="62"/>
                  </a:moveTo>
                  <a:lnTo>
                    <a:pt x="0" y="62"/>
                  </a:lnTo>
                  <a:lnTo>
                    <a:pt x="0" y="52"/>
                  </a:lnTo>
                  <a:lnTo>
                    <a:pt x="0" y="31"/>
                  </a:lnTo>
                  <a:lnTo>
                    <a:pt x="0" y="18"/>
                  </a:lnTo>
                  <a:lnTo>
                    <a:pt x="0" y="9"/>
                  </a:lnTo>
                  <a:lnTo>
                    <a:pt x="0" y="6"/>
                  </a:lnTo>
                  <a:lnTo>
                    <a:pt x="0" y="2"/>
                  </a:lnTo>
                  <a:lnTo>
                    <a:pt x="0" y="0"/>
                  </a:lnTo>
                  <a:lnTo>
                    <a:pt x="4" y="0"/>
                  </a:lnTo>
                  <a:lnTo>
                    <a:pt x="11" y="0"/>
                  </a:lnTo>
                  <a:lnTo>
                    <a:pt x="16" y="0"/>
                  </a:lnTo>
                  <a:lnTo>
                    <a:pt x="16" y="28"/>
                  </a:lnTo>
                  <a:lnTo>
                    <a:pt x="11" y="46"/>
                  </a:lnTo>
                  <a:lnTo>
                    <a:pt x="11" y="52"/>
                  </a:lnTo>
                  <a:lnTo>
                    <a:pt x="11" y="55"/>
                  </a:lnTo>
                  <a:lnTo>
                    <a:pt x="11" y="59"/>
                  </a:lnTo>
                  <a:lnTo>
                    <a:pt x="4" y="59"/>
                  </a:lnTo>
                  <a:lnTo>
                    <a:pt x="0" y="59"/>
                  </a:lnTo>
                  <a:lnTo>
                    <a:pt x="0" y="62"/>
                  </a:lnTo>
                </a:path>
              </a:pathLst>
            </a:custGeom>
            <a:solidFill>
              <a:srgbClr val="BDB597"/>
            </a:solidFill>
            <a:ln w="9525" cap="rnd">
              <a:noFill/>
              <a:round/>
            </a:ln>
          </p:spPr>
          <p:txBody>
            <a:bodyPr/>
            <a:lstStyle/>
            <a:p>
              <a:endParaRPr lang="zh-CN" altLang="en-US"/>
            </a:p>
          </p:txBody>
        </p:sp>
        <p:grpSp>
          <p:nvGrpSpPr>
            <p:cNvPr id="250260" name="Group 237"/>
            <p:cNvGrpSpPr/>
            <p:nvPr/>
          </p:nvGrpSpPr>
          <p:grpSpPr bwMode="auto">
            <a:xfrm>
              <a:off x="2425" y="1796"/>
              <a:ext cx="118" cy="110"/>
              <a:chOff x="2425" y="1796"/>
              <a:chExt cx="118" cy="110"/>
            </a:xfrm>
          </p:grpSpPr>
          <p:sp>
            <p:nvSpPr>
              <p:cNvPr id="11577" name="Freeform 238"/>
              <p:cNvSpPr/>
              <p:nvPr/>
            </p:nvSpPr>
            <p:spPr bwMode="auto">
              <a:xfrm>
                <a:off x="2460" y="1815"/>
                <a:ext cx="83" cy="91"/>
              </a:xfrm>
              <a:custGeom>
                <a:avLst/>
                <a:gdLst>
                  <a:gd name="T0" fmla="*/ 0 w 83"/>
                  <a:gd name="T1" fmla="*/ 90 h 91"/>
                  <a:gd name="T2" fmla="*/ 0 w 83"/>
                  <a:gd name="T3" fmla="*/ 90 h 91"/>
                  <a:gd name="T4" fmla="*/ 2 w 83"/>
                  <a:gd name="T5" fmla="*/ 40 h 91"/>
                  <a:gd name="T6" fmla="*/ 82 w 83"/>
                  <a:gd name="T7" fmla="*/ 0 h 91"/>
                  <a:gd name="T8" fmla="*/ 79 w 83"/>
                  <a:gd name="T9" fmla="*/ 49 h 91"/>
                  <a:gd name="T10" fmla="*/ 0 w 83"/>
                  <a:gd name="T11" fmla="*/ 90 h 91"/>
                  <a:gd name="T12" fmla="*/ 0 60000 65536"/>
                  <a:gd name="T13" fmla="*/ 0 60000 65536"/>
                  <a:gd name="T14" fmla="*/ 0 60000 65536"/>
                  <a:gd name="T15" fmla="*/ 0 60000 65536"/>
                  <a:gd name="T16" fmla="*/ 0 60000 65536"/>
                  <a:gd name="T17" fmla="*/ 0 60000 65536"/>
                  <a:gd name="T18" fmla="*/ 0 w 83"/>
                  <a:gd name="T19" fmla="*/ 0 h 91"/>
                  <a:gd name="T20" fmla="*/ 83 w 83"/>
                  <a:gd name="T21" fmla="*/ 91 h 91"/>
                </a:gdLst>
                <a:ahLst/>
                <a:cxnLst>
                  <a:cxn ang="T12">
                    <a:pos x="T0" y="T1"/>
                  </a:cxn>
                  <a:cxn ang="T13">
                    <a:pos x="T2" y="T3"/>
                  </a:cxn>
                  <a:cxn ang="T14">
                    <a:pos x="T4" y="T5"/>
                  </a:cxn>
                  <a:cxn ang="T15">
                    <a:pos x="T6" y="T7"/>
                  </a:cxn>
                  <a:cxn ang="T16">
                    <a:pos x="T8" y="T9"/>
                  </a:cxn>
                  <a:cxn ang="T17">
                    <a:pos x="T10" y="T11"/>
                  </a:cxn>
                </a:cxnLst>
                <a:rect l="T18" t="T19" r="T20" b="T21"/>
                <a:pathLst>
                  <a:path w="83" h="91">
                    <a:moveTo>
                      <a:pt x="0" y="90"/>
                    </a:moveTo>
                    <a:lnTo>
                      <a:pt x="0" y="90"/>
                    </a:lnTo>
                    <a:lnTo>
                      <a:pt x="2" y="40"/>
                    </a:lnTo>
                    <a:lnTo>
                      <a:pt x="82" y="0"/>
                    </a:lnTo>
                    <a:lnTo>
                      <a:pt x="79" y="49"/>
                    </a:lnTo>
                    <a:lnTo>
                      <a:pt x="0" y="90"/>
                    </a:lnTo>
                  </a:path>
                </a:pathLst>
              </a:custGeom>
              <a:solidFill>
                <a:srgbClr val="BB1A50"/>
              </a:solidFill>
              <a:ln w="9525" cap="rnd">
                <a:noFill/>
                <a:round/>
              </a:ln>
            </p:spPr>
            <p:txBody>
              <a:bodyPr/>
              <a:lstStyle/>
              <a:p>
                <a:endParaRPr lang="zh-CN" altLang="en-US"/>
              </a:p>
            </p:txBody>
          </p:sp>
          <p:sp>
            <p:nvSpPr>
              <p:cNvPr id="11578" name="Freeform 239"/>
              <p:cNvSpPr/>
              <p:nvPr/>
            </p:nvSpPr>
            <p:spPr bwMode="auto">
              <a:xfrm>
                <a:off x="2425" y="1837"/>
                <a:ext cx="36" cy="69"/>
              </a:xfrm>
              <a:custGeom>
                <a:avLst/>
                <a:gdLst>
                  <a:gd name="T0" fmla="*/ 32 w 36"/>
                  <a:gd name="T1" fmla="*/ 68 h 69"/>
                  <a:gd name="T2" fmla="*/ 32 w 36"/>
                  <a:gd name="T3" fmla="*/ 68 h 69"/>
                  <a:gd name="T4" fmla="*/ 0 w 36"/>
                  <a:gd name="T5" fmla="*/ 52 h 69"/>
                  <a:gd name="T6" fmla="*/ 2 w 36"/>
                  <a:gd name="T7" fmla="*/ 0 h 69"/>
                  <a:gd name="T8" fmla="*/ 35 w 36"/>
                  <a:gd name="T9" fmla="*/ 18 h 69"/>
                  <a:gd name="T10" fmla="*/ 32 w 36"/>
                  <a:gd name="T11" fmla="*/ 68 h 69"/>
                  <a:gd name="T12" fmla="*/ 0 60000 65536"/>
                  <a:gd name="T13" fmla="*/ 0 60000 65536"/>
                  <a:gd name="T14" fmla="*/ 0 60000 65536"/>
                  <a:gd name="T15" fmla="*/ 0 60000 65536"/>
                  <a:gd name="T16" fmla="*/ 0 60000 65536"/>
                  <a:gd name="T17" fmla="*/ 0 60000 65536"/>
                  <a:gd name="T18" fmla="*/ 0 w 36"/>
                  <a:gd name="T19" fmla="*/ 0 h 69"/>
                  <a:gd name="T20" fmla="*/ 36 w 36"/>
                  <a:gd name="T21" fmla="*/ 69 h 69"/>
                </a:gdLst>
                <a:ahLst/>
                <a:cxnLst>
                  <a:cxn ang="T12">
                    <a:pos x="T0" y="T1"/>
                  </a:cxn>
                  <a:cxn ang="T13">
                    <a:pos x="T2" y="T3"/>
                  </a:cxn>
                  <a:cxn ang="T14">
                    <a:pos x="T4" y="T5"/>
                  </a:cxn>
                  <a:cxn ang="T15">
                    <a:pos x="T6" y="T7"/>
                  </a:cxn>
                  <a:cxn ang="T16">
                    <a:pos x="T8" y="T9"/>
                  </a:cxn>
                  <a:cxn ang="T17">
                    <a:pos x="T10" y="T11"/>
                  </a:cxn>
                </a:cxnLst>
                <a:rect l="T18" t="T19" r="T20" b="T21"/>
                <a:pathLst>
                  <a:path w="36" h="69">
                    <a:moveTo>
                      <a:pt x="32" y="68"/>
                    </a:moveTo>
                    <a:lnTo>
                      <a:pt x="32" y="68"/>
                    </a:lnTo>
                    <a:lnTo>
                      <a:pt x="0" y="52"/>
                    </a:lnTo>
                    <a:lnTo>
                      <a:pt x="2" y="0"/>
                    </a:lnTo>
                    <a:lnTo>
                      <a:pt x="35" y="18"/>
                    </a:lnTo>
                    <a:lnTo>
                      <a:pt x="32" y="68"/>
                    </a:lnTo>
                  </a:path>
                </a:pathLst>
              </a:custGeom>
              <a:solidFill>
                <a:srgbClr val="9E0005"/>
              </a:solidFill>
              <a:ln w="9525" cap="rnd">
                <a:noFill/>
                <a:round/>
              </a:ln>
            </p:spPr>
            <p:txBody>
              <a:bodyPr/>
              <a:lstStyle/>
              <a:p>
                <a:endParaRPr lang="zh-CN" altLang="en-US"/>
              </a:p>
            </p:txBody>
          </p:sp>
          <p:sp>
            <p:nvSpPr>
              <p:cNvPr id="11579" name="Freeform 240"/>
              <p:cNvSpPr/>
              <p:nvPr/>
            </p:nvSpPr>
            <p:spPr bwMode="auto">
              <a:xfrm>
                <a:off x="2428" y="1796"/>
                <a:ext cx="114" cy="58"/>
              </a:xfrm>
              <a:custGeom>
                <a:avLst/>
                <a:gdLst>
                  <a:gd name="T0" fmla="*/ 33 w 114"/>
                  <a:gd name="T1" fmla="*/ 57 h 58"/>
                  <a:gd name="T2" fmla="*/ 33 w 114"/>
                  <a:gd name="T3" fmla="*/ 57 h 58"/>
                  <a:gd name="T4" fmla="*/ 0 w 114"/>
                  <a:gd name="T5" fmla="*/ 38 h 58"/>
                  <a:gd name="T6" fmla="*/ 82 w 114"/>
                  <a:gd name="T7" fmla="*/ 0 h 58"/>
                  <a:gd name="T8" fmla="*/ 113 w 114"/>
                  <a:gd name="T9" fmla="*/ 18 h 58"/>
                  <a:gd name="T10" fmla="*/ 33 w 114"/>
                  <a:gd name="T11" fmla="*/ 57 h 58"/>
                  <a:gd name="T12" fmla="*/ 0 60000 65536"/>
                  <a:gd name="T13" fmla="*/ 0 60000 65536"/>
                  <a:gd name="T14" fmla="*/ 0 60000 65536"/>
                  <a:gd name="T15" fmla="*/ 0 60000 65536"/>
                  <a:gd name="T16" fmla="*/ 0 60000 65536"/>
                  <a:gd name="T17" fmla="*/ 0 60000 65536"/>
                  <a:gd name="T18" fmla="*/ 0 w 114"/>
                  <a:gd name="T19" fmla="*/ 0 h 58"/>
                  <a:gd name="T20" fmla="*/ 114 w 114"/>
                  <a:gd name="T21" fmla="*/ 58 h 58"/>
                </a:gdLst>
                <a:ahLst/>
                <a:cxnLst>
                  <a:cxn ang="T12">
                    <a:pos x="T0" y="T1"/>
                  </a:cxn>
                  <a:cxn ang="T13">
                    <a:pos x="T2" y="T3"/>
                  </a:cxn>
                  <a:cxn ang="T14">
                    <a:pos x="T4" y="T5"/>
                  </a:cxn>
                  <a:cxn ang="T15">
                    <a:pos x="T6" y="T7"/>
                  </a:cxn>
                  <a:cxn ang="T16">
                    <a:pos x="T8" y="T9"/>
                  </a:cxn>
                  <a:cxn ang="T17">
                    <a:pos x="T10" y="T11"/>
                  </a:cxn>
                </a:cxnLst>
                <a:rect l="T18" t="T19" r="T20" b="T21"/>
                <a:pathLst>
                  <a:path w="114" h="58">
                    <a:moveTo>
                      <a:pt x="33" y="57"/>
                    </a:moveTo>
                    <a:lnTo>
                      <a:pt x="33" y="57"/>
                    </a:lnTo>
                    <a:lnTo>
                      <a:pt x="0" y="38"/>
                    </a:lnTo>
                    <a:lnTo>
                      <a:pt x="82" y="0"/>
                    </a:lnTo>
                    <a:lnTo>
                      <a:pt x="113" y="18"/>
                    </a:lnTo>
                    <a:lnTo>
                      <a:pt x="33" y="57"/>
                    </a:lnTo>
                  </a:path>
                </a:pathLst>
              </a:custGeom>
              <a:solidFill>
                <a:srgbClr val="CF5C82"/>
              </a:solidFill>
              <a:ln w="9525" cap="rnd">
                <a:noFill/>
                <a:round/>
              </a:ln>
            </p:spPr>
            <p:txBody>
              <a:bodyPr/>
              <a:lstStyle/>
              <a:p>
                <a:endParaRPr lang="zh-CN" altLang="en-US"/>
              </a:p>
            </p:txBody>
          </p:sp>
        </p:grpSp>
        <p:grpSp>
          <p:nvGrpSpPr>
            <p:cNvPr id="250261" name="Group 241"/>
            <p:cNvGrpSpPr/>
            <p:nvPr/>
          </p:nvGrpSpPr>
          <p:grpSpPr bwMode="auto">
            <a:xfrm>
              <a:off x="2326" y="1843"/>
              <a:ext cx="129" cy="117"/>
              <a:chOff x="2326" y="1843"/>
              <a:chExt cx="129" cy="117"/>
            </a:xfrm>
          </p:grpSpPr>
          <p:sp>
            <p:nvSpPr>
              <p:cNvPr id="11574" name="Freeform 242"/>
              <p:cNvSpPr/>
              <p:nvPr/>
            </p:nvSpPr>
            <p:spPr bwMode="auto">
              <a:xfrm>
                <a:off x="2366" y="1863"/>
                <a:ext cx="89" cy="97"/>
              </a:xfrm>
              <a:custGeom>
                <a:avLst/>
                <a:gdLst>
                  <a:gd name="T0" fmla="*/ 0 w 89"/>
                  <a:gd name="T1" fmla="*/ 96 h 97"/>
                  <a:gd name="T2" fmla="*/ 0 w 89"/>
                  <a:gd name="T3" fmla="*/ 96 h 97"/>
                  <a:gd name="T4" fmla="*/ 2 w 89"/>
                  <a:gd name="T5" fmla="*/ 39 h 97"/>
                  <a:gd name="T6" fmla="*/ 88 w 89"/>
                  <a:gd name="T7" fmla="*/ 0 h 97"/>
                  <a:gd name="T8" fmla="*/ 85 w 89"/>
                  <a:gd name="T9" fmla="*/ 49 h 97"/>
                  <a:gd name="T10" fmla="*/ 0 w 89"/>
                  <a:gd name="T11" fmla="*/ 96 h 97"/>
                  <a:gd name="T12" fmla="*/ 0 60000 65536"/>
                  <a:gd name="T13" fmla="*/ 0 60000 65536"/>
                  <a:gd name="T14" fmla="*/ 0 60000 65536"/>
                  <a:gd name="T15" fmla="*/ 0 60000 65536"/>
                  <a:gd name="T16" fmla="*/ 0 60000 65536"/>
                  <a:gd name="T17" fmla="*/ 0 60000 65536"/>
                  <a:gd name="T18" fmla="*/ 0 w 89"/>
                  <a:gd name="T19" fmla="*/ 0 h 97"/>
                  <a:gd name="T20" fmla="*/ 89 w 89"/>
                  <a:gd name="T21" fmla="*/ 97 h 97"/>
                </a:gdLst>
                <a:ahLst/>
                <a:cxnLst>
                  <a:cxn ang="T12">
                    <a:pos x="T0" y="T1"/>
                  </a:cxn>
                  <a:cxn ang="T13">
                    <a:pos x="T2" y="T3"/>
                  </a:cxn>
                  <a:cxn ang="T14">
                    <a:pos x="T4" y="T5"/>
                  </a:cxn>
                  <a:cxn ang="T15">
                    <a:pos x="T6" y="T7"/>
                  </a:cxn>
                  <a:cxn ang="T16">
                    <a:pos x="T8" y="T9"/>
                  </a:cxn>
                  <a:cxn ang="T17">
                    <a:pos x="T10" y="T11"/>
                  </a:cxn>
                </a:cxnLst>
                <a:rect l="T18" t="T19" r="T20" b="T21"/>
                <a:pathLst>
                  <a:path w="89" h="97">
                    <a:moveTo>
                      <a:pt x="0" y="96"/>
                    </a:moveTo>
                    <a:lnTo>
                      <a:pt x="0" y="96"/>
                    </a:lnTo>
                    <a:lnTo>
                      <a:pt x="2" y="39"/>
                    </a:lnTo>
                    <a:lnTo>
                      <a:pt x="88" y="0"/>
                    </a:lnTo>
                    <a:lnTo>
                      <a:pt x="85" y="49"/>
                    </a:lnTo>
                    <a:lnTo>
                      <a:pt x="0" y="96"/>
                    </a:lnTo>
                  </a:path>
                </a:pathLst>
              </a:custGeom>
              <a:solidFill>
                <a:srgbClr val="BB1A50"/>
              </a:solidFill>
              <a:ln w="9525" cap="rnd">
                <a:noFill/>
                <a:round/>
              </a:ln>
            </p:spPr>
            <p:txBody>
              <a:bodyPr/>
              <a:lstStyle/>
              <a:p>
                <a:endParaRPr lang="zh-CN" altLang="en-US"/>
              </a:p>
            </p:txBody>
          </p:sp>
          <p:sp>
            <p:nvSpPr>
              <p:cNvPr id="11575" name="Freeform 243"/>
              <p:cNvSpPr/>
              <p:nvPr/>
            </p:nvSpPr>
            <p:spPr bwMode="auto">
              <a:xfrm>
                <a:off x="2326" y="1889"/>
                <a:ext cx="41" cy="71"/>
              </a:xfrm>
              <a:custGeom>
                <a:avLst/>
                <a:gdLst>
                  <a:gd name="T0" fmla="*/ 37 w 41"/>
                  <a:gd name="T1" fmla="*/ 70 h 71"/>
                  <a:gd name="T2" fmla="*/ 37 w 41"/>
                  <a:gd name="T3" fmla="*/ 70 h 71"/>
                  <a:gd name="T4" fmla="*/ 0 w 41"/>
                  <a:gd name="T5" fmla="*/ 52 h 71"/>
                  <a:gd name="T6" fmla="*/ 2 w 41"/>
                  <a:gd name="T7" fmla="*/ 0 h 71"/>
                  <a:gd name="T8" fmla="*/ 40 w 41"/>
                  <a:gd name="T9" fmla="*/ 15 h 71"/>
                  <a:gd name="T10" fmla="*/ 37 w 41"/>
                  <a:gd name="T11" fmla="*/ 70 h 71"/>
                  <a:gd name="T12" fmla="*/ 0 60000 65536"/>
                  <a:gd name="T13" fmla="*/ 0 60000 65536"/>
                  <a:gd name="T14" fmla="*/ 0 60000 65536"/>
                  <a:gd name="T15" fmla="*/ 0 60000 65536"/>
                  <a:gd name="T16" fmla="*/ 0 60000 65536"/>
                  <a:gd name="T17" fmla="*/ 0 60000 65536"/>
                  <a:gd name="T18" fmla="*/ 0 w 41"/>
                  <a:gd name="T19" fmla="*/ 0 h 71"/>
                  <a:gd name="T20" fmla="*/ 41 w 41"/>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41" h="71">
                    <a:moveTo>
                      <a:pt x="37" y="70"/>
                    </a:moveTo>
                    <a:lnTo>
                      <a:pt x="37" y="70"/>
                    </a:lnTo>
                    <a:lnTo>
                      <a:pt x="0" y="52"/>
                    </a:lnTo>
                    <a:lnTo>
                      <a:pt x="2" y="0"/>
                    </a:lnTo>
                    <a:lnTo>
                      <a:pt x="40" y="15"/>
                    </a:lnTo>
                    <a:lnTo>
                      <a:pt x="37" y="70"/>
                    </a:lnTo>
                  </a:path>
                </a:pathLst>
              </a:custGeom>
              <a:solidFill>
                <a:srgbClr val="9E0005"/>
              </a:solidFill>
              <a:ln w="9525" cap="rnd">
                <a:noFill/>
                <a:round/>
              </a:ln>
            </p:spPr>
            <p:txBody>
              <a:bodyPr/>
              <a:lstStyle/>
              <a:p>
                <a:endParaRPr lang="zh-CN" altLang="en-US"/>
              </a:p>
            </p:txBody>
          </p:sp>
          <p:sp>
            <p:nvSpPr>
              <p:cNvPr id="11576" name="Freeform 244"/>
              <p:cNvSpPr/>
              <p:nvPr/>
            </p:nvSpPr>
            <p:spPr bwMode="auto">
              <a:xfrm>
                <a:off x="2330" y="1843"/>
                <a:ext cx="125" cy="58"/>
              </a:xfrm>
              <a:custGeom>
                <a:avLst/>
                <a:gdLst>
                  <a:gd name="T0" fmla="*/ 38 w 125"/>
                  <a:gd name="T1" fmla="*/ 57 h 58"/>
                  <a:gd name="T2" fmla="*/ 38 w 125"/>
                  <a:gd name="T3" fmla="*/ 57 h 58"/>
                  <a:gd name="T4" fmla="*/ 0 w 125"/>
                  <a:gd name="T5" fmla="*/ 39 h 58"/>
                  <a:gd name="T6" fmla="*/ 91 w 125"/>
                  <a:gd name="T7" fmla="*/ 0 h 58"/>
                  <a:gd name="T8" fmla="*/ 124 w 125"/>
                  <a:gd name="T9" fmla="*/ 17 h 58"/>
                  <a:gd name="T10" fmla="*/ 38 w 125"/>
                  <a:gd name="T11" fmla="*/ 57 h 58"/>
                  <a:gd name="T12" fmla="*/ 0 60000 65536"/>
                  <a:gd name="T13" fmla="*/ 0 60000 65536"/>
                  <a:gd name="T14" fmla="*/ 0 60000 65536"/>
                  <a:gd name="T15" fmla="*/ 0 60000 65536"/>
                  <a:gd name="T16" fmla="*/ 0 60000 65536"/>
                  <a:gd name="T17" fmla="*/ 0 60000 65536"/>
                  <a:gd name="T18" fmla="*/ 0 w 125"/>
                  <a:gd name="T19" fmla="*/ 0 h 58"/>
                  <a:gd name="T20" fmla="*/ 125 w 125"/>
                  <a:gd name="T21" fmla="*/ 58 h 58"/>
                </a:gdLst>
                <a:ahLst/>
                <a:cxnLst>
                  <a:cxn ang="T12">
                    <a:pos x="T0" y="T1"/>
                  </a:cxn>
                  <a:cxn ang="T13">
                    <a:pos x="T2" y="T3"/>
                  </a:cxn>
                  <a:cxn ang="T14">
                    <a:pos x="T4" y="T5"/>
                  </a:cxn>
                  <a:cxn ang="T15">
                    <a:pos x="T6" y="T7"/>
                  </a:cxn>
                  <a:cxn ang="T16">
                    <a:pos x="T8" y="T9"/>
                  </a:cxn>
                  <a:cxn ang="T17">
                    <a:pos x="T10" y="T11"/>
                  </a:cxn>
                </a:cxnLst>
                <a:rect l="T18" t="T19" r="T20" b="T21"/>
                <a:pathLst>
                  <a:path w="125" h="58">
                    <a:moveTo>
                      <a:pt x="38" y="57"/>
                    </a:moveTo>
                    <a:lnTo>
                      <a:pt x="38" y="57"/>
                    </a:lnTo>
                    <a:lnTo>
                      <a:pt x="0" y="39"/>
                    </a:lnTo>
                    <a:lnTo>
                      <a:pt x="91" y="0"/>
                    </a:lnTo>
                    <a:lnTo>
                      <a:pt x="124" y="17"/>
                    </a:lnTo>
                    <a:lnTo>
                      <a:pt x="38" y="57"/>
                    </a:lnTo>
                  </a:path>
                </a:pathLst>
              </a:custGeom>
              <a:solidFill>
                <a:srgbClr val="CF5C82"/>
              </a:solidFill>
              <a:ln w="9525" cap="rnd">
                <a:noFill/>
                <a:round/>
              </a:ln>
            </p:spPr>
            <p:txBody>
              <a:bodyPr/>
              <a:lstStyle/>
              <a:p>
                <a:endParaRPr lang="zh-CN" altLang="en-US"/>
              </a:p>
            </p:txBody>
          </p:sp>
        </p:grpSp>
        <p:grpSp>
          <p:nvGrpSpPr>
            <p:cNvPr id="250262" name="Group 245"/>
            <p:cNvGrpSpPr/>
            <p:nvPr/>
          </p:nvGrpSpPr>
          <p:grpSpPr bwMode="auto">
            <a:xfrm>
              <a:off x="2220" y="1892"/>
              <a:ext cx="141" cy="122"/>
              <a:chOff x="2220" y="1892"/>
              <a:chExt cx="141" cy="122"/>
            </a:xfrm>
          </p:grpSpPr>
          <p:sp>
            <p:nvSpPr>
              <p:cNvPr id="11571" name="Freeform 246"/>
              <p:cNvSpPr/>
              <p:nvPr/>
            </p:nvSpPr>
            <p:spPr bwMode="auto">
              <a:xfrm>
                <a:off x="2264" y="1911"/>
                <a:ext cx="97" cy="103"/>
              </a:xfrm>
              <a:custGeom>
                <a:avLst/>
                <a:gdLst>
                  <a:gd name="T0" fmla="*/ 0 w 97"/>
                  <a:gd name="T1" fmla="*/ 102 h 103"/>
                  <a:gd name="T2" fmla="*/ 0 w 97"/>
                  <a:gd name="T3" fmla="*/ 102 h 103"/>
                  <a:gd name="T4" fmla="*/ 2 w 97"/>
                  <a:gd name="T5" fmla="*/ 46 h 103"/>
                  <a:gd name="T6" fmla="*/ 96 w 97"/>
                  <a:gd name="T7" fmla="*/ 0 h 103"/>
                  <a:gd name="T8" fmla="*/ 93 w 97"/>
                  <a:gd name="T9" fmla="*/ 55 h 103"/>
                  <a:gd name="T10" fmla="*/ 0 w 97"/>
                  <a:gd name="T11" fmla="*/ 102 h 103"/>
                  <a:gd name="T12" fmla="*/ 0 60000 65536"/>
                  <a:gd name="T13" fmla="*/ 0 60000 65536"/>
                  <a:gd name="T14" fmla="*/ 0 60000 65536"/>
                  <a:gd name="T15" fmla="*/ 0 60000 65536"/>
                  <a:gd name="T16" fmla="*/ 0 60000 65536"/>
                  <a:gd name="T17" fmla="*/ 0 60000 65536"/>
                  <a:gd name="T18" fmla="*/ 0 w 97"/>
                  <a:gd name="T19" fmla="*/ 0 h 103"/>
                  <a:gd name="T20" fmla="*/ 97 w 97"/>
                  <a:gd name="T21" fmla="*/ 103 h 103"/>
                </a:gdLst>
                <a:ahLst/>
                <a:cxnLst>
                  <a:cxn ang="T12">
                    <a:pos x="T0" y="T1"/>
                  </a:cxn>
                  <a:cxn ang="T13">
                    <a:pos x="T2" y="T3"/>
                  </a:cxn>
                  <a:cxn ang="T14">
                    <a:pos x="T4" y="T5"/>
                  </a:cxn>
                  <a:cxn ang="T15">
                    <a:pos x="T6" y="T7"/>
                  </a:cxn>
                  <a:cxn ang="T16">
                    <a:pos x="T8" y="T9"/>
                  </a:cxn>
                  <a:cxn ang="T17">
                    <a:pos x="T10" y="T11"/>
                  </a:cxn>
                </a:cxnLst>
                <a:rect l="T18" t="T19" r="T20" b="T21"/>
                <a:pathLst>
                  <a:path w="97" h="103">
                    <a:moveTo>
                      <a:pt x="0" y="102"/>
                    </a:moveTo>
                    <a:lnTo>
                      <a:pt x="0" y="102"/>
                    </a:lnTo>
                    <a:lnTo>
                      <a:pt x="2" y="46"/>
                    </a:lnTo>
                    <a:lnTo>
                      <a:pt x="96" y="0"/>
                    </a:lnTo>
                    <a:lnTo>
                      <a:pt x="93" y="55"/>
                    </a:lnTo>
                    <a:lnTo>
                      <a:pt x="0" y="102"/>
                    </a:lnTo>
                  </a:path>
                </a:pathLst>
              </a:custGeom>
              <a:solidFill>
                <a:srgbClr val="BB1A50"/>
              </a:solidFill>
              <a:ln w="9525" cap="rnd">
                <a:noFill/>
                <a:round/>
              </a:ln>
            </p:spPr>
            <p:txBody>
              <a:bodyPr/>
              <a:lstStyle/>
              <a:p>
                <a:endParaRPr lang="zh-CN" altLang="en-US"/>
              </a:p>
            </p:txBody>
          </p:sp>
          <p:sp>
            <p:nvSpPr>
              <p:cNvPr id="11572" name="Freeform 247"/>
              <p:cNvSpPr/>
              <p:nvPr/>
            </p:nvSpPr>
            <p:spPr bwMode="auto">
              <a:xfrm>
                <a:off x="2220" y="1940"/>
                <a:ext cx="44" cy="74"/>
              </a:xfrm>
              <a:custGeom>
                <a:avLst/>
                <a:gdLst>
                  <a:gd name="T0" fmla="*/ 40 w 44"/>
                  <a:gd name="T1" fmla="*/ 73 h 74"/>
                  <a:gd name="T2" fmla="*/ 40 w 44"/>
                  <a:gd name="T3" fmla="*/ 73 h 74"/>
                  <a:gd name="T4" fmla="*/ 0 w 44"/>
                  <a:gd name="T5" fmla="*/ 57 h 74"/>
                  <a:gd name="T6" fmla="*/ 2 w 44"/>
                  <a:gd name="T7" fmla="*/ 0 h 74"/>
                  <a:gd name="T8" fmla="*/ 43 w 44"/>
                  <a:gd name="T9" fmla="*/ 18 h 74"/>
                  <a:gd name="T10" fmla="*/ 40 w 44"/>
                  <a:gd name="T11" fmla="*/ 73 h 74"/>
                  <a:gd name="T12" fmla="*/ 0 60000 65536"/>
                  <a:gd name="T13" fmla="*/ 0 60000 65536"/>
                  <a:gd name="T14" fmla="*/ 0 60000 65536"/>
                  <a:gd name="T15" fmla="*/ 0 60000 65536"/>
                  <a:gd name="T16" fmla="*/ 0 60000 65536"/>
                  <a:gd name="T17" fmla="*/ 0 60000 65536"/>
                  <a:gd name="T18" fmla="*/ 0 w 44"/>
                  <a:gd name="T19" fmla="*/ 0 h 74"/>
                  <a:gd name="T20" fmla="*/ 44 w 44"/>
                  <a:gd name="T21" fmla="*/ 74 h 74"/>
                </a:gdLst>
                <a:ahLst/>
                <a:cxnLst>
                  <a:cxn ang="T12">
                    <a:pos x="T0" y="T1"/>
                  </a:cxn>
                  <a:cxn ang="T13">
                    <a:pos x="T2" y="T3"/>
                  </a:cxn>
                  <a:cxn ang="T14">
                    <a:pos x="T4" y="T5"/>
                  </a:cxn>
                  <a:cxn ang="T15">
                    <a:pos x="T6" y="T7"/>
                  </a:cxn>
                  <a:cxn ang="T16">
                    <a:pos x="T8" y="T9"/>
                  </a:cxn>
                  <a:cxn ang="T17">
                    <a:pos x="T10" y="T11"/>
                  </a:cxn>
                </a:cxnLst>
                <a:rect l="T18" t="T19" r="T20" b="T21"/>
                <a:pathLst>
                  <a:path w="44" h="74">
                    <a:moveTo>
                      <a:pt x="40" y="73"/>
                    </a:moveTo>
                    <a:lnTo>
                      <a:pt x="40" y="73"/>
                    </a:lnTo>
                    <a:lnTo>
                      <a:pt x="0" y="57"/>
                    </a:lnTo>
                    <a:lnTo>
                      <a:pt x="2" y="0"/>
                    </a:lnTo>
                    <a:lnTo>
                      <a:pt x="43" y="18"/>
                    </a:lnTo>
                    <a:lnTo>
                      <a:pt x="40" y="73"/>
                    </a:lnTo>
                  </a:path>
                </a:pathLst>
              </a:custGeom>
              <a:solidFill>
                <a:srgbClr val="9E0005"/>
              </a:solidFill>
              <a:ln w="9525" cap="rnd">
                <a:noFill/>
                <a:round/>
              </a:ln>
            </p:spPr>
            <p:txBody>
              <a:bodyPr/>
              <a:lstStyle/>
              <a:p>
                <a:endParaRPr lang="zh-CN" altLang="en-US"/>
              </a:p>
            </p:txBody>
          </p:sp>
          <p:sp>
            <p:nvSpPr>
              <p:cNvPr id="11573" name="Freeform 248"/>
              <p:cNvSpPr/>
              <p:nvPr/>
            </p:nvSpPr>
            <p:spPr bwMode="auto">
              <a:xfrm>
                <a:off x="2224" y="1892"/>
                <a:ext cx="137" cy="65"/>
              </a:xfrm>
              <a:custGeom>
                <a:avLst/>
                <a:gdLst>
                  <a:gd name="T0" fmla="*/ 41 w 137"/>
                  <a:gd name="T1" fmla="*/ 64 h 65"/>
                  <a:gd name="T2" fmla="*/ 41 w 137"/>
                  <a:gd name="T3" fmla="*/ 64 h 65"/>
                  <a:gd name="T4" fmla="*/ 0 w 137"/>
                  <a:gd name="T5" fmla="*/ 45 h 65"/>
                  <a:gd name="T6" fmla="*/ 97 w 137"/>
                  <a:gd name="T7" fmla="*/ 0 h 65"/>
                  <a:gd name="T8" fmla="*/ 136 w 137"/>
                  <a:gd name="T9" fmla="*/ 18 h 65"/>
                  <a:gd name="T10" fmla="*/ 41 w 137"/>
                  <a:gd name="T11" fmla="*/ 64 h 65"/>
                  <a:gd name="T12" fmla="*/ 0 60000 65536"/>
                  <a:gd name="T13" fmla="*/ 0 60000 65536"/>
                  <a:gd name="T14" fmla="*/ 0 60000 65536"/>
                  <a:gd name="T15" fmla="*/ 0 60000 65536"/>
                  <a:gd name="T16" fmla="*/ 0 60000 65536"/>
                  <a:gd name="T17" fmla="*/ 0 60000 65536"/>
                  <a:gd name="T18" fmla="*/ 0 w 137"/>
                  <a:gd name="T19" fmla="*/ 0 h 65"/>
                  <a:gd name="T20" fmla="*/ 137 w 137"/>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137" h="65">
                    <a:moveTo>
                      <a:pt x="41" y="64"/>
                    </a:moveTo>
                    <a:lnTo>
                      <a:pt x="41" y="64"/>
                    </a:lnTo>
                    <a:lnTo>
                      <a:pt x="0" y="45"/>
                    </a:lnTo>
                    <a:lnTo>
                      <a:pt x="97" y="0"/>
                    </a:lnTo>
                    <a:lnTo>
                      <a:pt x="136" y="18"/>
                    </a:lnTo>
                    <a:lnTo>
                      <a:pt x="41" y="64"/>
                    </a:lnTo>
                  </a:path>
                </a:pathLst>
              </a:custGeom>
              <a:solidFill>
                <a:srgbClr val="CF5C82"/>
              </a:solidFill>
              <a:ln w="9525" cap="rnd">
                <a:noFill/>
                <a:round/>
              </a:ln>
            </p:spPr>
            <p:txBody>
              <a:bodyPr/>
              <a:lstStyle/>
              <a:p>
                <a:endParaRPr lang="zh-CN" altLang="en-US"/>
              </a:p>
            </p:txBody>
          </p:sp>
        </p:grpSp>
        <p:grpSp>
          <p:nvGrpSpPr>
            <p:cNvPr id="250263" name="Group 249"/>
            <p:cNvGrpSpPr/>
            <p:nvPr/>
          </p:nvGrpSpPr>
          <p:grpSpPr bwMode="auto">
            <a:xfrm>
              <a:off x="2109" y="1945"/>
              <a:ext cx="150" cy="127"/>
              <a:chOff x="2109" y="1945"/>
              <a:chExt cx="150" cy="127"/>
            </a:xfrm>
          </p:grpSpPr>
          <p:sp>
            <p:nvSpPr>
              <p:cNvPr id="11568" name="Freeform 250"/>
              <p:cNvSpPr/>
              <p:nvPr/>
            </p:nvSpPr>
            <p:spPr bwMode="auto">
              <a:xfrm>
                <a:off x="2154" y="1966"/>
                <a:ext cx="104" cy="106"/>
              </a:xfrm>
              <a:custGeom>
                <a:avLst/>
                <a:gdLst>
                  <a:gd name="T0" fmla="*/ 0 w 104"/>
                  <a:gd name="T1" fmla="*/ 105 h 106"/>
                  <a:gd name="T2" fmla="*/ 0 w 104"/>
                  <a:gd name="T3" fmla="*/ 105 h 106"/>
                  <a:gd name="T4" fmla="*/ 0 w 104"/>
                  <a:gd name="T5" fmla="*/ 49 h 106"/>
                  <a:gd name="T6" fmla="*/ 103 w 104"/>
                  <a:gd name="T7" fmla="*/ 0 h 106"/>
                  <a:gd name="T8" fmla="*/ 103 w 104"/>
                  <a:gd name="T9" fmla="*/ 55 h 106"/>
                  <a:gd name="T10" fmla="*/ 0 w 104"/>
                  <a:gd name="T11" fmla="*/ 105 h 106"/>
                  <a:gd name="T12" fmla="*/ 0 60000 65536"/>
                  <a:gd name="T13" fmla="*/ 0 60000 65536"/>
                  <a:gd name="T14" fmla="*/ 0 60000 65536"/>
                  <a:gd name="T15" fmla="*/ 0 60000 65536"/>
                  <a:gd name="T16" fmla="*/ 0 60000 65536"/>
                  <a:gd name="T17" fmla="*/ 0 60000 65536"/>
                  <a:gd name="T18" fmla="*/ 0 w 104"/>
                  <a:gd name="T19" fmla="*/ 0 h 106"/>
                  <a:gd name="T20" fmla="*/ 104 w 104"/>
                  <a:gd name="T21" fmla="*/ 106 h 106"/>
                </a:gdLst>
                <a:ahLst/>
                <a:cxnLst>
                  <a:cxn ang="T12">
                    <a:pos x="T0" y="T1"/>
                  </a:cxn>
                  <a:cxn ang="T13">
                    <a:pos x="T2" y="T3"/>
                  </a:cxn>
                  <a:cxn ang="T14">
                    <a:pos x="T4" y="T5"/>
                  </a:cxn>
                  <a:cxn ang="T15">
                    <a:pos x="T6" y="T7"/>
                  </a:cxn>
                  <a:cxn ang="T16">
                    <a:pos x="T8" y="T9"/>
                  </a:cxn>
                  <a:cxn ang="T17">
                    <a:pos x="T10" y="T11"/>
                  </a:cxn>
                </a:cxnLst>
                <a:rect l="T18" t="T19" r="T20" b="T21"/>
                <a:pathLst>
                  <a:path w="104" h="106">
                    <a:moveTo>
                      <a:pt x="0" y="105"/>
                    </a:moveTo>
                    <a:lnTo>
                      <a:pt x="0" y="105"/>
                    </a:lnTo>
                    <a:lnTo>
                      <a:pt x="0" y="49"/>
                    </a:lnTo>
                    <a:lnTo>
                      <a:pt x="103" y="0"/>
                    </a:lnTo>
                    <a:lnTo>
                      <a:pt x="103" y="55"/>
                    </a:lnTo>
                    <a:lnTo>
                      <a:pt x="0" y="105"/>
                    </a:lnTo>
                  </a:path>
                </a:pathLst>
              </a:custGeom>
              <a:solidFill>
                <a:srgbClr val="BB1A50"/>
              </a:solidFill>
              <a:ln w="9525" cap="rnd">
                <a:noFill/>
                <a:round/>
              </a:ln>
            </p:spPr>
            <p:txBody>
              <a:bodyPr/>
              <a:lstStyle/>
              <a:p>
                <a:endParaRPr lang="zh-CN" altLang="en-US"/>
              </a:p>
            </p:txBody>
          </p:sp>
          <p:sp>
            <p:nvSpPr>
              <p:cNvPr id="11569" name="Freeform 251"/>
              <p:cNvSpPr/>
              <p:nvPr/>
            </p:nvSpPr>
            <p:spPr bwMode="auto">
              <a:xfrm>
                <a:off x="2109" y="1997"/>
                <a:ext cx="44" cy="74"/>
              </a:xfrm>
              <a:custGeom>
                <a:avLst/>
                <a:gdLst>
                  <a:gd name="T0" fmla="*/ 43 w 44"/>
                  <a:gd name="T1" fmla="*/ 73 h 74"/>
                  <a:gd name="T2" fmla="*/ 43 w 44"/>
                  <a:gd name="T3" fmla="*/ 73 h 74"/>
                  <a:gd name="T4" fmla="*/ 0 w 44"/>
                  <a:gd name="T5" fmla="*/ 57 h 74"/>
                  <a:gd name="T6" fmla="*/ 0 w 44"/>
                  <a:gd name="T7" fmla="*/ 0 h 74"/>
                  <a:gd name="T8" fmla="*/ 43 w 44"/>
                  <a:gd name="T9" fmla="*/ 18 h 74"/>
                  <a:gd name="T10" fmla="*/ 43 w 44"/>
                  <a:gd name="T11" fmla="*/ 73 h 74"/>
                  <a:gd name="T12" fmla="*/ 0 60000 65536"/>
                  <a:gd name="T13" fmla="*/ 0 60000 65536"/>
                  <a:gd name="T14" fmla="*/ 0 60000 65536"/>
                  <a:gd name="T15" fmla="*/ 0 60000 65536"/>
                  <a:gd name="T16" fmla="*/ 0 60000 65536"/>
                  <a:gd name="T17" fmla="*/ 0 60000 65536"/>
                  <a:gd name="T18" fmla="*/ 0 w 44"/>
                  <a:gd name="T19" fmla="*/ 0 h 74"/>
                  <a:gd name="T20" fmla="*/ 44 w 44"/>
                  <a:gd name="T21" fmla="*/ 74 h 74"/>
                </a:gdLst>
                <a:ahLst/>
                <a:cxnLst>
                  <a:cxn ang="T12">
                    <a:pos x="T0" y="T1"/>
                  </a:cxn>
                  <a:cxn ang="T13">
                    <a:pos x="T2" y="T3"/>
                  </a:cxn>
                  <a:cxn ang="T14">
                    <a:pos x="T4" y="T5"/>
                  </a:cxn>
                  <a:cxn ang="T15">
                    <a:pos x="T6" y="T7"/>
                  </a:cxn>
                  <a:cxn ang="T16">
                    <a:pos x="T8" y="T9"/>
                  </a:cxn>
                  <a:cxn ang="T17">
                    <a:pos x="T10" y="T11"/>
                  </a:cxn>
                </a:cxnLst>
                <a:rect l="T18" t="T19" r="T20" b="T21"/>
                <a:pathLst>
                  <a:path w="44" h="74">
                    <a:moveTo>
                      <a:pt x="43" y="73"/>
                    </a:moveTo>
                    <a:lnTo>
                      <a:pt x="43" y="73"/>
                    </a:lnTo>
                    <a:lnTo>
                      <a:pt x="0" y="57"/>
                    </a:lnTo>
                    <a:lnTo>
                      <a:pt x="0" y="0"/>
                    </a:lnTo>
                    <a:lnTo>
                      <a:pt x="43" y="18"/>
                    </a:lnTo>
                    <a:lnTo>
                      <a:pt x="43" y="73"/>
                    </a:lnTo>
                  </a:path>
                </a:pathLst>
              </a:custGeom>
              <a:solidFill>
                <a:srgbClr val="9E0005"/>
              </a:solidFill>
              <a:ln w="9525" cap="rnd">
                <a:noFill/>
                <a:round/>
              </a:ln>
            </p:spPr>
            <p:txBody>
              <a:bodyPr/>
              <a:lstStyle/>
              <a:p>
                <a:endParaRPr lang="zh-CN" altLang="en-US"/>
              </a:p>
            </p:txBody>
          </p:sp>
          <p:sp>
            <p:nvSpPr>
              <p:cNvPr id="11570" name="Freeform 252"/>
              <p:cNvSpPr/>
              <p:nvPr/>
            </p:nvSpPr>
            <p:spPr bwMode="auto">
              <a:xfrm>
                <a:off x="2110" y="1945"/>
                <a:ext cx="149" cy="68"/>
              </a:xfrm>
              <a:custGeom>
                <a:avLst/>
                <a:gdLst>
                  <a:gd name="T0" fmla="*/ 45 w 149"/>
                  <a:gd name="T1" fmla="*/ 67 h 68"/>
                  <a:gd name="T2" fmla="*/ 45 w 149"/>
                  <a:gd name="T3" fmla="*/ 67 h 68"/>
                  <a:gd name="T4" fmla="*/ 0 w 149"/>
                  <a:gd name="T5" fmla="*/ 48 h 68"/>
                  <a:gd name="T6" fmla="*/ 106 w 149"/>
                  <a:gd name="T7" fmla="*/ 0 h 68"/>
                  <a:gd name="T8" fmla="*/ 148 w 149"/>
                  <a:gd name="T9" fmla="*/ 18 h 68"/>
                  <a:gd name="T10" fmla="*/ 45 w 149"/>
                  <a:gd name="T11" fmla="*/ 67 h 68"/>
                  <a:gd name="T12" fmla="*/ 0 60000 65536"/>
                  <a:gd name="T13" fmla="*/ 0 60000 65536"/>
                  <a:gd name="T14" fmla="*/ 0 60000 65536"/>
                  <a:gd name="T15" fmla="*/ 0 60000 65536"/>
                  <a:gd name="T16" fmla="*/ 0 60000 65536"/>
                  <a:gd name="T17" fmla="*/ 0 60000 65536"/>
                  <a:gd name="T18" fmla="*/ 0 w 149"/>
                  <a:gd name="T19" fmla="*/ 0 h 68"/>
                  <a:gd name="T20" fmla="*/ 149 w 149"/>
                  <a:gd name="T21" fmla="*/ 68 h 68"/>
                </a:gdLst>
                <a:ahLst/>
                <a:cxnLst>
                  <a:cxn ang="T12">
                    <a:pos x="T0" y="T1"/>
                  </a:cxn>
                  <a:cxn ang="T13">
                    <a:pos x="T2" y="T3"/>
                  </a:cxn>
                  <a:cxn ang="T14">
                    <a:pos x="T4" y="T5"/>
                  </a:cxn>
                  <a:cxn ang="T15">
                    <a:pos x="T6" y="T7"/>
                  </a:cxn>
                  <a:cxn ang="T16">
                    <a:pos x="T8" y="T9"/>
                  </a:cxn>
                  <a:cxn ang="T17">
                    <a:pos x="T10" y="T11"/>
                  </a:cxn>
                </a:cxnLst>
                <a:rect l="T18" t="T19" r="T20" b="T21"/>
                <a:pathLst>
                  <a:path w="149" h="68">
                    <a:moveTo>
                      <a:pt x="45" y="67"/>
                    </a:moveTo>
                    <a:lnTo>
                      <a:pt x="45" y="67"/>
                    </a:lnTo>
                    <a:lnTo>
                      <a:pt x="0" y="48"/>
                    </a:lnTo>
                    <a:lnTo>
                      <a:pt x="106" y="0"/>
                    </a:lnTo>
                    <a:lnTo>
                      <a:pt x="148" y="18"/>
                    </a:lnTo>
                    <a:lnTo>
                      <a:pt x="45" y="67"/>
                    </a:lnTo>
                  </a:path>
                </a:pathLst>
              </a:custGeom>
              <a:solidFill>
                <a:srgbClr val="CF5C82"/>
              </a:solidFill>
              <a:ln w="9525" cap="rnd">
                <a:noFill/>
                <a:round/>
              </a:ln>
            </p:spPr>
            <p:txBody>
              <a:bodyPr/>
              <a:lstStyle/>
              <a:p>
                <a:endParaRPr lang="zh-CN" altLang="en-US"/>
              </a:p>
            </p:txBody>
          </p:sp>
        </p:grpSp>
        <p:sp>
          <p:nvSpPr>
            <p:cNvPr id="11556" name="Freeform 253"/>
            <p:cNvSpPr/>
            <p:nvPr/>
          </p:nvSpPr>
          <p:spPr bwMode="auto">
            <a:xfrm>
              <a:off x="2097" y="2022"/>
              <a:ext cx="48" cy="85"/>
            </a:xfrm>
            <a:custGeom>
              <a:avLst/>
              <a:gdLst>
                <a:gd name="T0" fmla="*/ 0 w 48"/>
                <a:gd name="T1" fmla="*/ 84 h 85"/>
                <a:gd name="T2" fmla="*/ 0 w 48"/>
                <a:gd name="T3" fmla="*/ 84 h 85"/>
                <a:gd name="T4" fmla="*/ 0 w 48"/>
                <a:gd name="T5" fmla="*/ 24 h 85"/>
                <a:gd name="T6" fmla="*/ 47 w 48"/>
                <a:gd name="T7" fmla="*/ 0 h 85"/>
                <a:gd name="T8" fmla="*/ 47 w 48"/>
                <a:gd name="T9" fmla="*/ 55 h 85"/>
                <a:gd name="T10" fmla="*/ 0 w 48"/>
                <a:gd name="T11" fmla="*/ 84 h 85"/>
                <a:gd name="T12" fmla="*/ 0 60000 65536"/>
                <a:gd name="T13" fmla="*/ 0 60000 65536"/>
                <a:gd name="T14" fmla="*/ 0 60000 65536"/>
                <a:gd name="T15" fmla="*/ 0 60000 65536"/>
                <a:gd name="T16" fmla="*/ 0 60000 65536"/>
                <a:gd name="T17" fmla="*/ 0 60000 65536"/>
                <a:gd name="T18" fmla="*/ 0 w 48"/>
                <a:gd name="T19" fmla="*/ 0 h 85"/>
                <a:gd name="T20" fmla="*/ 48 w 48"/>
                <a:gd name="T21" fmla="*/ 85 h 85"/>
              </a:gdLst>
              <a:ahLst/>
              <a:cxnLst>
                <a:cxn ang="T12">
                  <a:pos x="T0" y="T1"/>
                </a:cxn>
                <a:cxn ang="T13">
                  <a:pos x="T2" y="T3"/>
                </a:cxn>
                <a:cxn ang="T14">
                  <a:pos x="T4" y="T5"/>
                </a:cxn>
                <a:cxn ang="T15">
                  <a:pos x="T6" y="T7"/>
                </a:cxn>
                <a:cxn ang="T16">
                  <a:pos x="T8" y="T9"/>
                </a:cxn>
                <a:cxn ang="T17">
                  <a:pos x="T10" y="T11"/>
                </a:cxn>
              </a:cxnLst>
              <a:rect l="T18" t="T19" r="T20" b="T21"/>
              <a:pathLst>
                <a:path w="48" h="85">
                  <a:moveTo>
                    <a:pt x="0" y="84"/>
                  </a:moveTo>
                  <a:lnTo>
                    <a:pt x="0" y="84"/>
                  </a:lnTo>
                  <a:lnTo>
                    <a:pt x="0" y="24"/>
                  </a:lnTo>
                  <a:lnTo>
                    <a:pt x="47" y="0"/>
                  </a:lnTo>
                  <a:lnTo>
                    <a:pt x="47" y="55"/>
                  </a:lnTo>
                  <a:lnTo>
                    <a:pt x="0" y="84"/>
                  </a:lnTo>
                </a:path>
              </a:pathLst>
            </a:custGeom>
            <a:solidFill>
              <a:srgbClr val="BB1A50"/>
            </a:solidFill>
            <a:ln w="9525" cap="rnd">
              <a:noFill/>
              <a:round/>
            </a:ln>
          </p:spPr>
          <p:txBody>
            <a:bodyPr/>
            <a:lstStyle/>
            <a:p>
              <a:endParaRPr lang="zh-CN" altLang="en-US"/>
            </a:p>
          </p:txBody>
        </p:sp>
        <p:sp>
          <p:nvSpPr>
            <p:cNvPr id="11557" name="Freeform 254"/>
            <p:cNvSpPr/>
            <p:nvPr/>
          </p:nvSpPr>
          <p:spPr bwMode="auto">
            <a:xfrm>
              <a:off x="2048" y="2003"/>
              <a:ext cx="97" cy="43"/>
            </a:xfrm>
            <a:custGeom>
              <a:avLst/>
              <a:gdLst>
                <a:gd name="T0" fmla="*/ 46 w 97"/>
                <a:gd name="T1" fmla="*/ 42 h 43"/>
                <a:gd name="T2" fmla="*/ 46 w 97"/>
                <a:gd name="T3" fmla="*/ 42 h 43"/>
                <a:gd name="T4" fmla="*/ 0 w 97"/>
                <a:gd name="T5" fmla="*/ 26 h 43"/>
                <a:gd name="T6" fmla="*/ 52 w 97"/>
                <a:gd name="T7" fmla="*/ 0 h 43"/>
                <a:gd name="T8" fmla="*/ 96 w 97"/>
                <a:gd name="T9" fmla="*/ 17 h 43"/>
                <a:gd name="T10" fmla="*/ 46 w 97"/>
                <a:gd name="T11" fmla="*/ 42 h 43"/>
                <a:gd name="T12" fmla="*/ 0 60000 65536"/>
                <a:gd name="T13" fmla="*/ 0 60000 65536"/>
                <a:gd name="T14" fmla="*/ 0 60000 65536"/>
                <a:gd name="T15" fmla="*/ 0 60000 65536"/>
                <a:gd name="T16" fmla="*/ 0 60000 65536"/>
                <a:gd name="T17" fmla="*/ 0 60000 65536"/>
                <a:gd name="T18" fmla="*/ 0 w 97"/>
                <a:gd name="T19" fmla="*/ 0 h 43"/>
                <a:gd name="T20" fmla="*/ 97 w 97"/>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97" h="43">
                  <a:moveTo>
                    <a:pt x="46" y="42"/>
                  </a:moveTo>
                  <a:lnTo>
                    <a:pt x="46" y="42"/>
                  </a:lnTo>
                  <a:lnTo>
                    <a:pt x="0" y="26"/>
                  </a:lnTo>
                  <a:lnTo>
                    <a:pt x="52" y="0"/>
                  </a:lnTo>
                  <a:lnTo>
                    <a:pt x="96" y="17"/>
                  </a:lnTo>
                  <a:lnTo>
                    <a:pt x="46" y="42"/>
                  </a:lnTo>
                </a:path>
              </a:pathLst>
            </a:custGeom>
            <a:solidFill>
              <a:srgbClr val="CF5C82"/>
            </a:solidFill>
            <a:ln w="9525" cap="rnd">
              <a:noFill/>
              <a:round/>
            </a:ln>
          </p:spPr>
          <p:txBody>
            <a:bodyPr/>
            <a:lstStyle/>
            <a:p>
              <a:endParaRPr lang="zh-CN" altLang="en-US"/>
            </a:p>
          </p:txBody>
        </p:sp>
        <p:sp>
          <p:nvSpPr>
            <p:cNvPr id="11558" name="Freeform 255"/>
            <p:cNvSpPr/>
            <p:nvPr/>
          </p:nvSpPr>
          <p:spPr bwMode="auto">
            <a:xfrm>
              <a:off x="2454" y="1856"/>
              <a:ext cx="17" cy="60"/>
            </a:xfrm>
            <a:custGeom>
              <a:avLst/>
              <a:gdLst>
                <a:gd name="T0" fmla="*/ 0 w 17"/>
                <a:gd name="T1" fmla="*/ 59 h 60"/>
                <a:gd name="T2" fmla="*/ 0 w 17"/>
                <a:gd name="T3" fmla="*/ 59 h 60"/>
                <a:gd name="T4" fmla="*/ 0 w 17"/>
                <a:gd name="T5" fmla="*/ 28 h 60"/>
                <a:gd name="T6" fmla="*/ 6 w 17"/>
                <a:gd name="T7" fmla="*/ 9 h 60"/>
                <a:gd name="T8" fmla="*/ 6 w 17"/>
                <a:gd name="T9" fmla="*/ 2 h 60"/>
                <a:gd name="T10" fmla="*/ 6 w 17"/>
                <a:gd name="T11" fmla="*/ 0 h 60"/>
                <a:gd name="T12" fmla="*/ 10 w 17"/>
                <a:gd name="T13" fmla="*/ 0 h 60"/>
                <a:gd name="T14" fmla="*/ 16 w 17"/>
                <a:gd name="T15" fmla="*/ 0 h 60"/>
                <a:gd name="T16" fmla="*/ 16 w 17"/>
                <a:gd name="T17" fmla="*/ 28 h 60"/>
                <a:gd name="T18" fmla="*/ 10 w 17"/>
                <a:gd name="T19" fmla="*/ 52 h 60"/>
                <a:gd name="T20" fmla="*/ 6 w 17"/>
                <a:gd name="T21" fmla="*/ 52 h 60"/>
                <a:gd name="T22" fmla="*/ 0 w 17"/>
                <a:gd name="T23" fmla="*/ 56 h 60"/>
                <a:gd name="T24" fmla="*/ 0 w 17"/>
                <a:gd name="T25" fmla="*/ 59 h 6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
                <a:gd name="T40" fmla="*/ 0 h 60"/>
                <a:gd name="T41" fmla="*/ 17 w 17"/>
                <a:gd name="T42" fmla="*/ 60 h 6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 h="60">
                  <a:moveTo>
                    <a:pt x="0" y="59"/>
                  </a:moveTo>
                  <a:lnTo>
                    <a:pt x="0" y="59"/>
                  </a:lnTo>
                  <a:lnTo>
                    <a:pt x="0" y="28"/>
                  </a:lnTo>
                  <a:lnTo>
                    <a:pt x="6" y="9"/>
                  </a:lnTo>
                  <a:lnTo>
                    <a:pt x="6" y="2"/>
                  </a:lnTo>
                  <a:lnTo>
                    <a:pt x="6" y="0"/>
                  </a:lnTo>
                  <a:lnTo>
                    <a:pt x="10" y="0"/>
                  </a:lnTo>
                  <a:lnTo>
                    <a:pt x="16" y="0"/>
                  </a:lnTo>
                  <a:lnTo>
                    <a:pt x="16" y="28"/>
                  </a:lnTo>
                  <a:lnTo>
                    <a:pt x="10" y="52"/>
                  </a:lnTo>
                  <a:lnTo>
                    <a:pt x="6" y="52"/>
                  </a:lnTo>
                  <a:lnTo>
                    <a:pt x="0" y="56"/>
                  </a:lnTo>
                  <a:lnTo>
                    <a:pt x="0" y="59"/>
                  </a:lnTo>
                </a:path>
              </a:pathLst>
            </a:custGeom>
            <a:solidFill>
              <a:srgbClr val="BDB597"/>
            </a:solidFill>
            <a:ln w="9525" cap="rnd">
              <a:noFill/>
              <a:round/>
            </a:ln>
          </p:spPr>
          <p:txBody>
            <a:bodyPr/>
            <a:lstStyle/>
            <a:p>
              <a:endParaRPr lang="zh-CN" altLang="en-US"/>
            </a:p>
          </p:txBody>
        </p:sp>
        <p:sp>
          <p:nvSpPr>
            <p:cNvPr id="11559" name="Freeform 256"/>
            <p:cNvSpPr/>
            <p:nvPr/>
          </p:nvSpPr>
          <p:spPr bwMode="auto">
            <a:xfrm>
              <a:off x="2358" y="1908"/>
              <a:ext cx="17" cy="59"/>
            </a:xfrm>
            <a:custGeom>
              <a:avLst/>
              <a:gdLst>
                <a:gd name="T0" fmla="*/ 0 w 17"/>
                <a:gd name="T1" fmla="*/ 58 h 59"/>
                <a:gd name="T2" fmla="*/ 0 w 17"/>
                <a:gd name="T3" fmla="*/ 58 h 59"/>
                <a:gd name="T4" fmla="*/ 4 w 17"/>
                <a:gd name="T5" fmla="*/ 49 h 59"/>
                <a:gd name="T6" fmla="*/ 4 w 17"/>
                <a:gd name="T7" fmla="*/ 27 h 59"/>
                <a:gd name="T8" fmla="*/ 4 w 17"/>
                <a:gd name="T9" fmla="*/ 18 h 59"/>
                <a:gd name="T10" fmla="*/ 4 w 17"/>
                <a:gd name="T11" fmla="*/ 8 h 59"/>
                <a:gd name="T12" fmla="*/ 4 w 17"/>
                <a:gd name="T13" fmla="*/ 6 h 59"/>
                <a:gd name="T14" fmla="*/ 4 w 17"/>
                <a:gd name="T15" fmla="*/ 2 h 59"/>
                <a:gd name="T16" fmla="*/ 4 w 17"/>
                <a:gd name="T17" fmla="*/ 0 h 59"/>
                <a:gd name="T18" fmla="*/ 8 w 17"/>
                <a:gd name="T19" fmla="*/ 0 h 59"/>
                <a:gd name="T20" fmla="*/ 12 w 17"/>
                <a:gd name="T21" fmla="*/ 0 h 59"/>
                <a:gd name="T22" fmla="*/ 16 w 17"/>
                <a:gd name="T23" fmla="*/ 0 h 59"/>
                <a:gd name="T24" fmla="*/ 12 w 17"/>
                <a:gd name="T25" fmla="*/ 24 h 59"/>
                <a:gd name="T26" fmla="*/ 12 w 17"/>
                <a:gd name="T27" fmla="*/ 42 h 59"/>
                <a:gd name="T28" fmla="*/ 12 w 17"/>
                <a:gd name="T29" fmla="*/ 49 h 59"/>
                <a:gd name="T30" fmla="*/ 12 w 17"/>
                <a:gd name="T31" fmla="*/ 51 h 59"/>
                <a:gd name="T32" fmla="*/ 8 w 17"/>
                <a:gd name="T33" fmla="*/ 51 h 59"/>
                <a:gd name="T34" fmla="*/ 4 w 17"/>
                <a:gd name="T35" fmla="*/ 51 h 59"/>
                <a:gd name="T36" fmla="*/ 4 w 17"/>
                <a:gd name="T37" fmla="*/ 55 h 59"/>
                <a:gd name="T38" fmla="*/ 0 w 17"/>
                <a:gd name="T39" fmla="*/ 58 h 5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
                <a:gd name="T61" fmla="*/ 0 h 59"/>
                <a:gd name="T62" fmla="*/ 17 w 17"/>
                <a:gd name="T63" fmla="*/ 59 h 5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 h="59">
                  <a:moveTo>
                    <a:pt x="0" y="58"/>
                  </a:moveTo>
                  <a:lnTo>
                    <a:pt x="0" y="58"/>
                  </a:lnTo>
                  <a:lnTo>
                    <a:pt x="4" y="49"/>
                  </a:lnTo>
                  <a:lnTo>
                    <a:pt x="4" y="27"/>
                  </a:lnTo>
                  <a:lnTo>
                    <a:pt x="4" y="18"/>
                  </a:lnTo>
                  <a:lnTo>
                    <a:pt x="4" y="8"/>
                  </a:lnTo>
                  <a:lnTo>
                    <a:pt x="4" y="6"/>
                  </a:lnTo>
                  <a:lnTo>
                    <a:pt x="4" y="2"/>
                  </a:lnTo>
                  <a:lnTo>
                    <a:pt x="4" y="0"/>
                  </a:lnTo>
                  <a:lnTo>
                    <a:pt x="8" y="0"/>
                  </a:lnTo>
                  <a:lnTo>
                    <a:pt x="12" y="0"/>
                  </a:lnTo>
                  <a:lnTo>
                    <a:pt x="16" y="0"/>
                  </a:lnTo>
                  <a:lnTo>
                    <a:pt x="12" y="24"/>
                  </a:lnTo>
                  <a:lnTo>
                    <a:pt x="12" y="42"/>
                  </a:lnTo>
                  <a:lnTo>
                    <a:pt x="12" y="49"/>
                  </a:lnTo>
                  <a:lnTo>
                    <a:pt x="12" y="51"/>
                  </a:lnTo>
                  <a:lnTo>
                    <a:pt x="8" y="51"/>
                  </a:lnTo>
                  <a:lnTo>
                    <a:pt x="4" y="51"/>
                  </a:lnTo>
                  <a:lnTo>
                    <a:pt x="4" y="55"/>
                  </a:lnTo>
                  <a:lnTo>
                    <a:pt x="0" y="58"/>
                  </a:lnTo>
                </a:path>
              </a:pathLst>
            </a:custGeom>
            <a:solidFill>
              <a:srgbClr val="BDB597"/>
            </a:solidFill>
            <a:ln w="9525" cap="rnd">
              <a:noFill/>
              <a:round/>
            </a:ln>
          </p:spPr>
          <p:txBody>
            <a:bodyPr/>
            <a:lstStyle/>
            <a:p>
              <a:endParaRPr lang="zh-CN" altLang="en-US"/>
            </a:p>
          </p:txBody>
        </p:sp>
        <p:sp>
          <p:nvSpPr>
            <p:cNvPr id="11560" name="Freeform 257"/>
            <p:cNvSpPr/>
            <p:nvPr/>
          </p:nvSpPr>
          <p:spPr bwMode="auto">
            <a:xfrm>
              <a:off x="2258" y="1959"/>
              <a:ext cx="17" cy="65"/>
            </a:xfrm>
            <a:custGeom>
              <a:avLst/>
              <a:gdLst>
                <a:gd name="T0" fmla="*/ 0 w 17"/>
                <a:gd name="T1" fmla="*/ 64 h 65"/>
                <a:gd name="T2" fmla="*/ 0 w 17"/>
                <a:gd name="T3" fmla="*/ 64 h 65"/>
                <a:gd name="T4" fmla="*/ 0 w 17"/>
                <a:gd name="T5" fmla="*/ 30 h 65"/>
                <a:gd name="T6" fmla="*/ 0 w 17"/>
                <a:gd name="T7" fmla="*/ 21 h 65"/>
                <a:gd name="T8" fmla="*/ 0 w 17"/>
                <a:gd name="T9" fmla="*/ 9 h 65"/>
                <a:gd name="T10" fmla="*/ 0 w 17"/>
                <a:gd name="T11" fmla="*/ 6 h 65"/>
                <a:gd name="T12" fmla="*/ 0 w 17"/>
                <a:gd name="T13" fmla="*/ 2 h 65"/>
                <a:gd name="T14" fmla="*/ 0 w 17"/>
                <a:gd name="T15" fmla="*/ 0 h 65"/>
                <a:gd name="T16" fmla="*/ 6 w 17"/>
                <a:gd name="T17" fmla="*/ 0 h 65"/>
                <a:gd name="T18" fmla="*/ 10 w 17"/>
                <a:gd name="T19" fmla="*/ 0 h 65"/>
                <a:gd name="T20" fmla="*/ 16 w 17"/>
                <a:gd name="T21" fmla="*/ 0 h 65"/>
                <a:gd name="T22" fmla="*/ 10 w 17"/>
                <a:gd name="T23" fmla="*/ 27 h 65"/>
                <a:gd name="T24" fmla="*/ 10 w 17"/>
                <a:gd name="T25" fmla="*/ 45 h 65"/>
                <a:gd name="T26" fmla="*/ 10 w 17"/>
                <a:gd name="T27" fmla="*/ 54 h 65"/>
                <a:gd name="T28" fmla="*/ 10 w 17"/>
                <a:gd name="T29" fmla="*/ 57 h 65"/>
                <a:gd name="T30" fmla="*/ 6 w 17"/>
                <a:gd name="T31" fmla="*/ 57 h 65"/>
                <a:gd name="T32" fmla="*/ 0 w 17"/>
                <a:gd name="T33" fmla="*/ 61 h 65"/>
                <a:gd name="T34" fmla="*/ 0 w 17"/>
                <a:gd name="T35" fmla="*/ 64 h 6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65"/>
                <a:gd name="T56" fmla="*/ 17 w 17"/>
                <a:gd name="T57" fmla="*/ 65 h 6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65">
                  <a:moveTo>
                    <a:pt x="0" y="64"/>
                  </a:moveTo>
                  <a:lnTo>
                    <a:pt x="0" y="64"/>
                  </a:lnTo>
                  <a:lnTo>
                    <a:pt x="0" y="30"/>
                  </a:lnTo>
                  <a:lnTo>
                    <a:pt x="0" y="21"/>
                  </a:lnTo>
                  <a:lnTo>
                    <a:pt x="0" y="9"/>
                  </a:lnTo>
                  <a:lnTo>
                    <a:pt x="0" y="6"/>
                  </a:lnTo>
                  <a:lnTo>
                    <a:pt x="0" y="2"/>
                  </a:lnTo>
                  <a:lnTo>
                    <a:pt x="0" y="0"/>
                  </a:lnTo>
                  <a:lnTo>
                    <a:pt x="6" y="0"/>
                  </a:lnTo>
                  <a:lnTo>
                    <a:pt x="10" y="0"/>
                  </a:lnTo>
                  <a:lnTo>
                    <a:pt x="16" y="0"/>
                  </a:lnTo>
                  <a:lnTo>
                    <a:pt x="10" y="27"/>
                  </a:lnTo>
                  <a:lnTo>
                    <a:pt x="10" y="45"/>
                  </a:lnTo>
                  <a:lnTo>
                    <a:pt x="10" y="54"/>
                  </a:lnTo>
                  <a:lnTo>
                    <a:pt x="10" y="57"/>
                  </a:lnTo>
                  <a:lnTo>
                    <a:pt x="6" y="57"/>
                  </a:lnTo>
                  <a:lnTo>
                    <a:pt x="0" y="61"/>
                  </a:lnTo>
                  <a:lnTo>
                    <a:pt x="0" y="64"/>
                  </a:lnTo>
                </a:path>
              </a:pathLst>
            </a:custGeom>
            <a:solidFill>
              <a:srgbClr val="BDB597"/>
            </a:solidFill>
            <a:ln w="9525" cap="rnd">
              <a:noFill/>
              <a:round/>
            </a:ln>
          </p:spPr>
          <p:txBody>
            <a:bodyPr/>
            <a:lstStyle/>
            <a:p>
              <a:endParaRPr lang="zh-CN" altLang="en-US"/>
            </a:p>
          </p:txBody>
        </p:sp>
        <p:sp>
          <p:nvSpPr>
            <p:cNvPr id="11561" name="Freeform 258"/>
            <p:cNvSpPr/>
            <p:nvPr/>
          </p:nvSpPr>
          <p:spPr bwMode="auto">
            <a:xfrm>
              <a:off x="2147" y="2019"/>
              <a:ext cx="17" cy="63"/>
            </a:xfrm>
            <a:custGeom>
              <a:avLst/>
              <a:gdLst>
                <a:gd name="T0" fmla="*/ 0 w 17"/>
                <a:gd name="T1" fmla="*/ 62 h 63"/>
                <a:gd name="T2" fmla="*/ 0 w 17"/>
                <a:gd name="T3" fmla="*/ 62 h 63"/>
                <a:gd name="T4" fmla="*/ 0 w 17"/>
                <a:gd name="T5" fmla="*/ 52 h 63"/>
                <a:gd name="T6" fmla="*/ 0 w 17"/>
                <a:gd name="T7" fmla="*/ 31 h 63"/>
                <a:gd name="T8" fmla="*/ 0 w 17"/>
                <a:gd name="T9" fmla="*/ 18 h 63"/>
                <a:gd name="T10" fmla="*/ 0 w 17"/>
                <a:gd name="T11" fmla="*/ 9 h 63"/>
                <a:gd name="T12" fmla="*/ 0 w 17"/>
                <a:gd name="T13" fmla="*/ 2 h 63"/>
                <a:gd name="T14" fmla="*/ 0 w 17"/>
                <a:gd name="T15" fmla="*/ 0 h 63"/>
                <a:gd name="T16" fmla="*/ 6 w 17"/>
                <a:gd name="T17" fmla="*/ 0 h 63"/>
                <a:gd name="T18" fmla="*/ 10 w 17"/>
                <a:gd name="T19" fmla="*/ 0 h 63"/>
                <a:gd name="T20" fmla="*/ 16 w 17"/>
                <a:gd name="T21" fmla="*/ 0 h 63"/>
                <a:gd name="T22" fmla="*/ 16 w 17"/>
                <a:gd name="T23" fmla="*/ 28 h 63"/>
                <a:gd name="T24" fmla="*/ 16 w 17"/>
                <a:gd name="T25" fmla="*/ 46 h 63"/>
                <a:gd name="T26" fmla="*/ 16 w 17"/>
                <a:gd name="T27" fmla="*/ 55 h 63"/>
                <a:gd name="T28" fmla="*/ 10 w 17"/>
                <a:gd name="T29" fmla="*/ 55 h 63"/>
                <a:gd name="T30" fmla="*/ 6 w 17"/>
                <a:gd name="T31" fmla="*/ 55 h 63"/>
                <a:gd name="T32" fmla="*/ 6 w 17"/>
                <a:gd name="T33" fmla="*/ 59 h 63"/>
                <a:gd name="T34" fmla="*/ 0 w 17"/>
                <a:gd name="T35" fmla="*/ 62 h 6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63"/>
                <a:gd name="T56" fmla="*/ 17 w 17"/>
                <a:gd name="T57" fmla="*/ 63 h 6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63">
                  <a:moveTo>
                    <a:pt x="0" y="62"/>
                  </a:moveTo>
                  <a:lnTo>
                    <a:pt x="0" y="62"/>
                  </a:lnTo>
                  <a:lnTo>
                    <a:pt x="0" y="52"/>
                  </a:lnTo>
                  <a:lnTo>
                    <a:pt x="0" y="31"/>
                  </a:lnTo>
                  <a:lnTo>
                    <a:pt x="0" y="18"/>
                  </a:lnTo>
                  <a:lnTo>
                    <a:pt x="0" y="9"/>
                  </a:lnTo>
                  <a:lnTo>
                    <a:pt x="0" y="2"/>
                  </a:lnTo>
                  <a:lnTo>
                    <a:pt x="0" y="0"/>
                  </a:lnTo>
                  <a:lnTo>
                    <a:pt x="6" y="0"/>
                  </a:lnTo>
                  <a:lnTo>
                    <a:pt x="10" y="0"/>
                  </a:lnTo>
                  <a:lnTo>
                    <a:pt x="16" y="0"/>
                  </a:lnTo>
                  <a:lnTo>
                    <a:pt x="16" y="28"/>
                  </a:lnTo>
                  <a:lnTo>
                    <a:pt x="16" y="46"/>
                  </a:lnTo>
                  <a:lnTo>
                    <a:pt x="16" y="55"/>
                  </a:lnTo>
                  <a:lnTo>
                    <a:pt x="10" y="55"/>
                  </a:lnTo>
                  <a:lnTo>
                    <a:pt x="6" y="55"/>
                  </a:lnTo>
                  <a:lnTo>
                    <a:pt x="6" y="59"/>
                  </a:lnTo>
                  <a:lnTo>
                    <a:pt x="0" y="62"/>
                  </a:lnTo>
                </a:path>
              </a:pathLst>
            </a:custGeom>
            <a:solidFill>
              <a:srgbClr val="BDB597"/>
            </a:solidFill>
            <a:ln w="9525" cap="rnd">
              <a:noFill/>
              <a:round/>
            </a:ln>
          </p:spPr>
          <p:txBody>
            <a:bodyPr/>
            <a:lstStyle/>
            <a:p>
              <a:endParaRPr lang="zh-CN" altLang="en-US"/>
            </a:p>
          </p:txBody>
        </p:sp>
        <p:sp>
          <p:nvSpPr>
            <p:cNvPr id="11562" name="Freeform 259"/>
            <p:cNvSpPr/>
            <p:nvPr/>
          </p:nvSpPr>
          <p:spPr bwMode="auto">
            <a:xfrm>
              <a:off x="2048" y="2032"/>
              <a:ext cx="47" cy="75"/>
            </a:xfrm>
            <a:custGeom>
              <a:avLst/>
              <a:gdLst>
                <a:gd name="T0" fmla="*/ 46 w 47"/>
                <a:gd name="T1" fmla="*/ 74 h 75"/>
                <a:gd name="T2" fmla="*/ 46 w 47"/>
                <a:gd name="T3" fmla="*/ 74 h 75"/>
                <a:gd name="T4" fmla="*/ 0 w 47"/>
                <a:gd name="T5" fmla="*/ 58 h 75"/>
                <a:gd name="T6" fmla="*/ 0 w 47"/>
                <a:gd name="T7" fmla="*/ 0 h 75"/>
                <a:gd name="T8" fmla="*/ 46 w 47"/>
                <a:gd name="T9" fmla="*/ 15 h 75"/>
                <a:gd name="T10" fmla="*/ 46 w 47"/>
                <a:gd name="T11" fmla="*/ 74 h 75"/>
                <a:gd name="T12" fmla="*/ 0 60000 65536"/>
                <a:gd name="T13" fmla="*/ 0 60000 65536"/>
                <a:gd name="T14" fmla="*/ 0 60000 65536"/>
                <a:gd name="T15" fmla="*/ 0 60000 65536"/>
                <a:gd name="T16" fmla="*/ 0 60000 65536"/>
                <a:gd name="T17" fmla="*/ 0 60000 65536"/>
                <a:gd name="T18" fmla="*/ 0 w 47"/>
                <a:gd name="T19" fmla="*/ 0 h 75"/>
                <a:gd name="T20" fmla="*/ 47 w 47"/>
                <a:gd name="T21" fmla="*/ 75 h 75"/>
              </a:gdLst>
              <a:ahLst/>
              <a:cxnLst>
                <a:cxn ang="T12">
                  <a:pos x="T0" y="T1"/>
                </a:cxn>
                <a:cxn ang="T13">
                  <a:pos x="T2" y="T3"/>
                </a:cxn>
                <a:cxn ang="T14">
                  <a:pos x="T4" y="T5"/>
                </a:cxn>
                <a:cxn ang="T15">
                  <a:pos x="T6" y="T7"/>
                </a:cxn>
                <a:cxn ang="T16">
                  <a:pos x="T8" y="T9"/>
                </a:cxn>
                <a:cxn ang="T17">
                  <a:pos x="T10" y="T11"/>
                </a:cxn>
              </a:cxnLst>
              <a:rect l="T18" t="T19" r="T20" b="T21"/>
              <a:pathLst>
                <a:path w="47" h="75">
                  <a:moveTo>
                    <a:pt x="46" y="74"/>
                  </a:moveTo>
                  <a:lnTo>
                    <a:pt x="46" y="74"/>
                  </a:lnTo>
                  <a:lnTo>
                    <a:pt x="0" y="58"/>
                  </a:lnTo>
                  <a:lnTo>
                    <a:pt x="0" y="0"/>
                  </a:lnTo>
                  <a:lnTo>
                    <a:pt x="46" y="15"/>
                  </a:lnTo>
                  <a:lnTo>
                    <a:pt x="46" y="74"/>
                  </a:lnTo>
                </a:path>
              </a:pathLst>
            </a:custGeom>
            <a:solidFill>
              <a:srgbClr val="9E0005"/>
            </a:solidFill>
            <a:ln w="9525" cap="rnd">
              <a:noFill/>
              <a:round/>
            </a:ln>
          </p:spPr>
          <p:txBody>
            <a:bodyPr/>
            <a:lstStyle/>
            <a:p>
              <a:endParaRPr lang="zh-CN" altLang="en-US"/>
            </a:p>
          </p:txBody>
        </p:sp>
        <p:sp>
          <p:nvSpPr>
            <p:cNvPr id="11563" name="Freeform 260"/>
            <p:cNvSpPr/>
            <p:nvPr/>
          </p:nvSpPr>
          <p:spPr bwMode="auto">
            <a:xfrm>
              <a:off x="2047" y="2090"/>
              <a:ext cx="50" cy="26"/>
            </a:xfrm>
            <a:custGeom>
              <a:avLst/>
              <a:gdLst>
                <a:gd name="T0" fmla="*/ 49 w 50"/>
                <a:gd name="T1" fmla="*/ 25 h 26"/>
                <a:gd name="T2" fmla="*/ 49 w 50"/>
                <a:gd name="T3" fmla="*/ 25 h 26"/>
                <a:gd name="T4" fmla="*/ 49 w 50"/>
                <a:gd name="T5" fmla="*/ 22 h 26"/>
                <a:gd name="T6" fmla="*/ 46 w 50"/>
                <a:gd name="T7" fmla="*/ 16 h 26"/>
                <a:gd name="T8" fmla="*/ 24 w 50"/>
                <a:gd name="T9" fmla="*/ 8 h 26"/>
                <a:gd name="T10" fmla="*/ 0 w 50"/>
                <a:gd name="T11" fmla="*/ 0 h 26"/>
                <a:gd name="T12" fmla="*/ 0 w 50"/>
                <a:gd name="T13" fmla="*/ 2 h 26"/>
                <a:gd name="T14" fmla="*/ 0 w 50"/>
                <a:gd name="T15" fmla="*/ 5 h 26"/>
                <a:gd name="T16" fmla="*/ 0 w 50"/>
                <a:gd name="T17" fmla="*/ 8 h 26"/>
                <a:gd name="T18" fmla="*/ 2 w 50"/>
                <a:gd name="T19" fmla="*/ 8 h 26"/>
                <a:gd name="T20" fmla="*/ 8 w 50"/>
                <a:gd name="T21" fmla="*/ 10 h 26"/>
                <a:gd name="T22" fmla="*/ 24 w 50"/>
                <a:gd name="T23" fmla="*/ 14 h 26"/>
                <a:gd name="T24" fmla="*/ 32 w 50"/>
                <a:gd name="T25" fmla="*/ 16 h 26"/>
                <a:gd name="T26" fmla="*/ 35 w 50"/>
                <a:gd name="T27" fmla="*/ 19 h 26"/>
                <a:gd name="T28" fmla="*/ 40 w 50"/>
                <a:gd name="T29" fmla="*/ 19 h 26"/>
                <a:gd name="T30" fmla="*/ 43 w 50"/>
                <a:gd name="T31" fmla="*/ 22 h 26"/>
                <a:gd name="T32" fmla="*/ 46 w 50"/>
                <a:gd name="T33" fmla="*/ 22 h 26"/>
                <a:gd name="T34" fmla="*/ 49 w 50"/>
                <a:gd name="T35" fmla="*/ 22 h 26"/>
                <a:gd name="T36" fmla="*/ 49 w 50"/>
                <a:gd name="T37" fmla="*/ 25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0"/>
                <a:gd name="T58" fmla="*/ 0 h 26"/>
                <a:gd name="T59" fmla="*/ 50 w 50"/>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0" h="26">
                  <a:moveTo>
                    <a:pt x="49" y="25"/>
                  </a:moveTo>
                  <a:lnTo>
                    <a:pt x="49" y="25"/>
                  </a:lnTo>
                  <a:lnTo>
                    <a:pt x="49" y="22"/>
                  </a:lnTo>
                  <a:lnTo>
                    <a:pt x="46" y="16"/>
                  </a:lnTo>
                  <a:lnTo>
                    <a:pt x="24" y="8"/>
                  </a:lnTo>
                  <a:lnTo>
                    <a:pt x="0" y="0"/>
                  </a:lnTo>
                  <a:lnTo>
                    <a:pt x="0" y="2"/>
                  </a:lnTo>
                  <a:lnTo>
                    <a:pt x="0" y="5"/>
                  </a:lnTo>
                  <a:lnTo>
                    <a:pt x="0" y="8"/>
                  </a:lnTo>
                  <a:lnTo>
                    <a:pt x="2" y="8"/>
                  </a:lnTo>
                  <a:lnTo>
                    <a:pt x="8" y="10"/>
                  </a:lnTo>
                  <a:lnTo>
                    <a:pt x="24" y="14"/>
                  </a:lnTo>
                  <a:lnTo>
                    <a:pt x="32" y="16"/>
                  </a:lnTo>
                  <a:lnTo>
                    <a:pt x="35" y="19"/>
                  </a:lnTo>
                  <a:lnTo>
                    <a:pt x="40" y="19"/>
                  </a:lnTo>
                  <a:lnTo>
                    <a:pt x="43" y="22"/>
                  </a:lnTo>
                  <a:lnTo>
                    <a:pt x="46" y="22"/>
                  </a:lnTo>
                  <a:lnTo>
                    <a:pt x="49" y="22"/>
                  </a:lnTo>
                  <a:lnTo>
                    <a:pt x="49" y="25"/>
                  </a:lnTo>
                </a:path>
              </a:pathLst>
            </a:custGeom>
            <a:solidFill>
              <a:srgbClr val="BDB597"/>
            </a:solidFill>
            <a:ln w="9525" cap="rnd">
              <a:noFill/>
              <a:round/>
            </a:ln>
          </p:spPr>
          <p:txBody>
            <a:bodyPr/>
            <a:lstStyle/>
            <a:p>
              <a:endParaRPr lang="zh-CN" altLang="en-US"/>
            </a:p>
          </p:txBody>
        </p:sp>
        <p:sp>
          <p:nvSpPr>
            <p:cNvPr id="11564" name="Freeform 261"/>
            <p:cNvSpPr/>
            <p:nvPr/>
          </p:nvSpPr>
          <p:spPr bwMode="auto">
            <a:xfrm>
              <a:off x="2101" y="2000"/>
              <a:ext cx="53" cy="24"/>
            </a:xfrm>
            <a:custGeom>
              <a:avLst/>
              <a:gdLst>
                <a:gd name="T0" fmla="*/ 46 w 53"/>
                <a:gd name="T1" fmla="*/ 23 h 24"/>
                <a:gd name="T2" fmla="*/ 46 w 53"/>
                <a:gd name="T3" fmla="*/ 23 h 24"/>
                <a:gd name="T4" fmla="*/ 49 w 53"/>
                <a:gd name="T5" fmla="*/ 23 h 24"/>
                <a:gd name="T6" fmla="*/ 49 w 53"/>
                <a:gd name="T7" fmla="*/ 20 h 24"/>
                <a:gd name="T8" fmla="*/ 49 w 53"/>
                <a:gd name="T9" fmla="*/ 17 h 24"/>
                <a:gd name="T10" fmla="*/ 52 w 53"/>
                <a:gd name="T11" fmla="*/ 14 h 24"/>
                <a:gd name="T12" fmla="*/ 30 w 53"/>
                <a:gd name="T13" fmla="*/ 5 h 24"/>
                <a:gd name="T14" fmla="*/ 16 w 53"/>
                <a:gd name="T15" fmla="*/ 0 h 24"/>
                <a:gd name="T16" fmla="*/ 11 w 53"/>
                <a:gd name="T17" fmla="*/ 0 h 24"/>
                <a:gd name="T18" fmla="*/ 8 w 53"/>
                <a:gd name="T19" fmla="*/ 0 h 24"/>
                <a:gd name="T20" fmla="*/ 5 w 53"/>
                <a:gd name="T21" fmla="*/ 0 h 24"/>
                <a:gd name="T22" fmla="*/ 2 w 53"/>
                <a:gd name="T23" fmla="*/ 0 h 24"/>
                <a:gd name="T24" fmla="*/ 2 w 53"/>
                <a:gd name="T25" fmla="*/ 2 h 24"/>
                <a:gd name="T26" fmla="*/ 0 w 53"/>
                <a:gd name="T27" fmla="*/ 2 h 24"/>
                <a:gd name="T28" fmla="*/ 2 w 53"/>
                <a:gd name="T29" fmla="*/ 5 h 24"/>
                <a:gd name="T30" fmla="*/ 8 w 53"/>
                <a:gd name="T31" fmla="*/ 5 h 24"/>
                <a:gd name="T32" fmla="*/ 21 w 53"/>
                <a:gd name="T33" fmla="*/ 11 h 24"/>
                <a:gd name="T34" fmla="*/ 30 w 53"/>
                <a:gd name="T35" fmla="*/ 14 h 24"/>
                <a:gd name="T36" fmla="*/ 38 w 53"/>
                <a:gd name="T37" fmla="*/ 17 h 24"/>
                <a:gd name="T38" fmla="*/ 40 w 53"/>
                <a:gd name="T39" fmla="*/ 20 h 24"/>
                <a:gd name="T40" fmla="*/ 44 w 53"/>
                <a:gd name="T41" fmla="*/ 20 h 24"/>
                <a:gd name="T42" fmla="*/ 46 w 53"/>
                <a:gd name="T43" fmla="*/ 23 h 2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3"/>
                <a:gd name="T67" fmla="*/ 0 h 24"/>
                <a:gd name="T68" fmla="*/ 53 w 53"/>
                <a:gd name="T69" fmla="*/ 24 h 2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3" h="24">
                  <a:moveTo>
                    <a:pt x="46" y="23"/>
                  </a:moveTo>
                  <a:lnTo>
                    <a:pt x="46" y="23"/>
                  </a:lnTo>
                  <a:lnTo>
                    <a:pt x="49" y="23"/>
                  </a:lnTo>
                  <a:lnTo>
                    <a:pt x="49" y="20"/>
                  </a:lnTo>
                  <a:lnTo>
                    <a:pt x="49" y="17"/>
                  </a:lnTo>
                  <a:lnTo>
                    <a:pt x="52" y="14"/>
                  </a:lnTo>
                  <a:lnTo>
                    <a:pt x="30" y="5"/>
                  </a:lnTo>
                  <a:lnTo>
                    <a:pt x="16" y="0"/>
                  </a:lnTo>
                  <a:lnTo>
                    <a:pt x="11" y="0"/>
                  </a:lnTo>
                  <a:lnTo>
                    <a:pt x="8" y="0"/>
                  </a:lnTo>
                  <a:lnTo>
                    <a:pt x="5" y="0"/>
                  </a:lnTo>
                  <a:lnTo>
                    <a:pt x="2" y="0"/>
                  </a:lnTo>
                  <a:lnTo>
                    <a:pt x="2" y="2"/>
                  </a:lnTo>
                  <a:lnTo>
                    <a:pt x="0" y="2"/>
                  </a:lnTo>
                  <a:lnTo>
                    <a:pt x="2" y="5"/>
                  </a:lnTo>
                  <a:lnTo>
                    <a:pt x="8" y="5"/>
                  </a:lnTo>
                  <a:lnTo>
                    <a:pt x="21" y="11"/>
                  </a:lnTo>
                  <a:lnTo>
                    <a:pt x="30" y="14"/>
                  </a:lnTo>
                  <a:lnTo>
                    <a:pt x="38" y="17"/>
                  </a:lnTo>
                  <a:lnTo>
                    <a:pt x="40" y="20"/>
                  </a:lnTo>
                  <a:lnTo>
                    <a:pt x="44" y="20"/>
                  </a:lnTo>
                  <a:lnTo>
                    <a:pt x="46" y="23"/>
                  </a:lnTo>
                </a:path>
              </a:pathLst>
            </a:custGeom>
            <a:solidFill>
              <a:srgbClr val="BDB597"/>
            </a:solidFill>
            <a:ln w="9525" cap="rnd">
              <a:noFill/>
              <a:round/>
            </a:ln>
          </p:spPr>
          <p:txBody>
            <a:bodyPr/>
            <a:lstStyle/>
            <a:p>
              <a:endParaRPr lang="zh-CN" altLang="en-US"/>
            </a:p>
          </p:txBody>
        </p:sp>
        <p:sp>
          <p:nvSpPr>
            <p:cNvPr id="11565" name="Freeform 262"/>
            <p:cNvSpPr/>
            <p:nvPr/>
          </p:nvSpPr>
          <p:spPr bwMode="auto">
            <a:xfrm>
              <a:off x="2216" y="1942"/>
              <a:ext cx="49" cy="24"/>
            </a:xfrm>
            <a:custGeom>
              <a:avLst/>
              <a:gdLst>
                <a:gd name="T0" fmla="*/ 45 w 49"/>
                <a:gd name="T1" fmla="*/ 23 h 24"/>
                <a:gd name="T2" fmla="*/ 45 w 49"/>
                <a:gd name="T3" fmla="*/ 23 h 24"/>
                <a:gd name="T4" fmla="*/ 48 w 49"/>
                <a:gd name="T5" fmla="*/ 23 h 24"/>
                <a:gd name="T6" fmla="*/ 48 w 49"/>
                <a:gd name="T7" fmla="*/ 20 h 24"/>
                <a:gd name="T8" fmla="*/ 48 w 49"/>
                <a:gd name="T9" fmla="*/ 17 h 24"/>
                <a:gd name="T10" fmla="*/ 48 w 49"/>
                <a:gd name="T11" fmla="*/ 14 h 24"/>
                <a:gd name="T12" fmla="*/ 29 w 49"/>
                <a:gd name="T13" fmla="*/ 6 h 24"/>
                <a:gd name="T14" fmla="*/ 16 w 49"/>
                <a:gd name="T15" fmla="*/ 0 h 24"/>
                <a:gd name="T16" fmla="*/ 10 w 49"/>
                <a:gd name="T17" fmla="*/ 0 h 24"/>
                <a:gd name="T18" fmla="*/ 8 w 49"/>
                <a:gd name="T19" fmla="*/ 0 h 24"/>
                <a:gd name="T20" fmla="*/ 5 w 49"/>
                <a:gd name="T21" fmla="*/ 0 h 24"/>
                <a:gd name="T22" fmla="*/ 2 w 49"/>
                <a:gd name="T23" fmla="*/ 0 h 24"/>
                <a:gd name="T24" fmla="*/ 2 w 49"/>
                <a:gd name="T25" fmla="*/ 2 h 24"/>
                <a:gd name="T26" fmla="*/ 0 w 49"/>
                <a:gd name="T27" fmla="*/ 2 h 24"/>
                <a:gd name="T28" fmla="*/ 0 w 49"/>
                <a:gd name="T29" fmla="*/ 6 h 24"/>
                <a:gd name="T30" fmla="*/ 2 w 49"/>
                <a:gd name="T31" fmla="*/ 6 h 24"/>
                <a:gd name="T32" fmla="*/ 8 w 49"/>
                <a:gd name="T33" fmla="*/ 6 h 24"/>
                <a:gd name="T34" fmla="*/ 21 w 49"/>
                <a:gd name="T35" fmla="*/ 11 h 24"/>
                <a:gd name="T36" fmla="*/ 29 w 49"/>
                <a:gd name="T37" fmla="*/ 14 h 24"/>
                <a:gd name="T38" fmla="*/ 37 w 49"/>
                <a:gd name="T39" fmla="*/ 17 h 24"/>
                <a:gd name="T40" fmla="*/ 40 w 49"/>
                <a:gd name="T41" fmla="*/ 20 h 24"/>
                <a:gd name="T42" fmla="*/ 42 w 49"/>
                <a:gd name="T43" fmla="*/ 20 h 24"/>
                <a:gd name="T44" fmla="*/ 42 w 49"/>
                <a:gd name="T45" fmla="*/ 23 h 24"/>
                <a:gd name="T46" fmla="*/ 45 w 49"/>
                <a:gd name="T47" fmla="*/ 23 h 2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9"/>
                <a:gd name="T73" fmla="*/ 0 h 24"/>
                <a:gd name="T74" fmla="*/ 49 w 49"/>
                <a:gd name="T75" fmla="*/ 24 h 2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9" h="24">
                  <a:moveTo>
                    <a:pt x="45" y="23"/>
                  </a:moveTo>
                  <a:lnTo>
                    <a:pt x="45" y="23"/>
                  </a:lnTo>
                  <a:lnTo>
                    <a:pt x="48" y="23"/>
                  </a:lnTo>
                  <a:lnTo>
                    <a:pt x="48" y="20"/>
                  </a:lnTo>
                  <a:lnTo>
                    <a:pt x="48" y="17"/>
                  </a:lnTo>
                  <a:lnTo>
                    <a:pt x="48" y="14"/>
                  </a:lnTo>
                  <a:lnTo>
                    <a:pt x="29" y="6"/>
                  </a:lnTo>
                  <a:lnTo>
                    <a:pt x="16" y="0"/>
                  </a:lnTo>
                  <a:lnTo>
                    <a:pt x="10" y="0"/>
                  </a:lnTo>
                  <a:lnTo>
                    <a:pt x="8" y="0"/>
                  </a:lnTo>
                  <a:lnTo>
                    <a:pt x="5" y="0"/>
                  </a:lnTo>
                  <a:lnTo>
                    <a:pt x="2" y="0"/>
                  </a:lnTo>
                  <a:lnTo>
                    <a:pt x="2" y="2"/>
                  </a:lnTo>
                  <a:lnTo>
                    <a:pt x="0" y="2"/>
                  </a:lnTo>
                  <a:lnTo>
                    <a:pt x="0" y="6"/>
                  </a:lnTo>
                  <a:lnTo>
                    <a:pt x="2" y="6"/>
                  </a:lnTo>
                  <a:lnTo>
                    <a:pt x="8" y="6"/>
                  </a:lnTo>
                  <a:lnTo>
                    <a:pt x="21" y="11"/>
                  </a:lnTo>
                  <a:lnTo>
                    <a:pt x="29" y="14"/>
                  </a:lnTo>
                  <a:lnTo>
                    <a:pt x="37" y="17"/>
                  </a:lnTo>
                  <a:lnTo>
                    <a:pt x="40" y="20"/>
                  </a:lnTo>
                  <a:lnTo>
                    <a:pt x="42" y="20"/>
                  </a:lnTo>
                  <a:lnTo>
                    <a:pt x="42" y="23"/>
                  </a:lnTo>
                  <a:lnTo>
                    <a:pt x="45" y="23"/>
                  </a:lnTo>
                </a:path>
              </a:pathLst>
            </a:custGeom>
            <a:solidFill>
              <a:srgbClr val="BDB597"/>
            </a:solidFill>
            <a:ln w="9525" cap="rnd">
              <a:noFill/>
              <a:round/>
            </a:ln>
          </p:spPr>
          <p:txBody>
            <a:bodyPr/>
            <a:lstStyle/>
            <a:p>
              <a:endParaRPr lang="zh-CN" altLang="en-US"/>
            </a:p>
          </p:txBody>
        </p:sp>
        <p:sp>
          <p:nvSpPr>
            <p:cNvPr id="11566" name="Freeform 263"/>
            <p:cNvSpPr/>
            <p:nvPr/>
          </p:nvSpPr>
          <p:spPr bwMode="auto">
            <a:xfrm>
              <a:off x="2320" y="1889"/>
              <a:ext cx="46" cy="20"/>
            </a:xfrm>
            <a:custGeom>
              <a:avLst/>
              <a:gdLst>
                <a:gd name="T0" fmla="*/ 34 w 46"/>
                <a:gd name="T1" fmla="*/ 19 h 20"/>
                <a:gd name="T2" fmla="*/ 34 w 46"/>
                <a:gd name="T3" fmla="*/ 19 h 20"/>
                <a:gd name="T4" fmla="*/ 36 w 46"/>
                <a:gd name="T5" fmla="*/ 19 h 20"/>
                <a:gd name="T6" fmla="*/ 39 w 46"/>
                <a:gd name="T7" fmla="*/ 19 h 20"/>
                <a:gd name="T8" fmla="*/ 45 w 46"/>
                <a:gd name="T9" fmla="*/ 16 h 20"/>
                <a:gd name="T10" fmla="*/ 28 w 46"/>
                <a:gd name="T11" fmla="*/ 8 h 20"/>
                <a:gd name="T12" fmla="*/ 16 w 46"/>
                <a:gd name="T13" fmla="*/ 2 h 20"/>
                <a:gd name="T14" fmla="*/ 10 w 46"/>
                <a:gd name="T15" fmla="*/ 0 h 20"/>
                <a:gd name="T16" fmla="*/ 8 w 46"/>
                <a:gd name="T17" fmla="*/ 0 h 20"/>
                <a:gd name="T18" fmla="*/ 5 w 46"/>
                <a:gd name="T19" fmla="*/ 2 h 20"/>
                <a:gd name="T20" fmla="*/ 2 w 46"/>
                <a:gd name="T21" fmla="*/ 2 h 20"/>
                <a:gd name="T22" fmla="*/ 2 w 46"/>
                <a:gd name="T23" fmla="*/ 5 h 20"/>
                <a:gd name="T24" fmla="*/ 0 w 46"/>
                <a:gd name="T25" fmla="*/ 5 h 20"/>
                <a:gd name="T26" fmla="*/ 2 w 46"/>
                <a:gd name="T27" fmla="*/ 5 h 20"/>
                <a:gd name="T28" fmla="*/ 5 w 46"/>
                <a:gd name="T29" fmla="*/ 8 h 20"/>
                <a:gd name="T30" fmla="*/ 16 w 46"/>
                <a:gd name="T31" fmla="*/ 10 h 20"/>
                <a:gd name="T32" fmla="*/ 20 w 46"/>
                <a:gd name="T33" fmla="*/ 13 h 20"/>
                <a:gd name="T34" fmla="*/ 26 w 46"/>
                <a:gd name="T35" fmla="*/ 16 h 20"/>
                <a:gd name="T36" fmla="*/ 28 w 46"/>
                <a:gd name="T37" fmla="*/ 16 h 20"/>
                <a:gd name="T38" fmla="*/ 32 w 46"/>
                <a:gd name="T39" fmla="*/ 16 h 20"/>
                <a:gd name="T40" fmla="*/ 32 w 46"/>
                <a:gd name="T41" fmla="*/ 19 h 20"/>
                <a:gd name="T42" fmla="*/ 34 w 46"/>
                <a:gd name="T43" fmla="*/ 19 h 2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6"/>
                <a:gd name="T67" fmla="*/ 0 h 20"/>
                <a:gd name="T68" fmla="*/ 46 w 46"/>
                <a:gd name="T69" fmla="*/ 20 h 2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6" h="20">
                  <a:moveTo>
                    <a:pt x="34" y="19"/>
                  </a:moveTo>
                  <a:lnTo>
                    <a:pt x="34" y="19"/>
                  </a:lnTo>
                  <a:lnTo>
                    <a:pt x="36" y="19"/>
                  </a:lnTo>
                  <a:lnTo>
                    <a:pt x="39" y="19"/>
                  </a:lnTo>
                  <a:lnTo>
                    <a:pt x="45" y="16"/>
                  </a:lnTo>
                  <a:lnTo>
                    <a:pt x="28" y="8"/>
                  </a:lnTo>
                  <a:lnTo>
                    <a:pt x="16" y="2"/>
                  </a:lnTo>
                  <a:lnTo>
                    <a:pt x="10" y="0"/>
                  </a:lnTo>
                  <a:lnTo>
                    <a:pt x="8" y="0"/>
                  </a:lnTo>
                  <a:lnTo>
                    <a:pt x="5" y="2"/>
                  </a:lnTo>
                  <a:lnTo>
                    <a:pt x="2" y="2"/>
                  </a:lnTo>
                  <a:lnTo>
                    <a:pt x="2" y="5"/>
                  </a:lnTo>
                  <a:lnTo>
                    <a:pt x="0" y="5"/>
                  </a:lnTo>
                  <a:lnTo>
                    <a:pt x="2" y="5"/>
                  </a:lnTo>
                  <a:lnTo>
                    <a:pt x="5" y="8"/>
                  </a:lnTo>
                  <a:lnTo>
                    <a:pt x="16" y="10"/>
                  </a:lnTo>
                  <a:lnTo>
                    <a:pt x="20" y="13"/>
                  </a:lnTo>
                  <a:lnTo>
                    <a:pt x="26" y="16"/>
                  </a:lnTo>
                  <a:lnTo>
                    <a:pt x="28" y="16"/>
                  </a:lnTo>
                  <a:lnTo>
                    <a:pt x="32" y="16"/>
                  </a:lnTo>
                  <a:lnTo>
                    <a:pt x="32" y="19"/>
                  </a:lnTo>
                  <a:lnTo>
                    <a:pt x="34" y="19"/>
                  </a:lnTo>
                </a:path>
              </a:pathLst>
            </a:custGeom>
            <a:solidFill>
              <a:srgbClr val="BDB597"/>
            </a:solidFill>
            <a:ln w="9525" cap="rnd">
              <a:noFill/>
              <a:round/>
            </a:ln>
          </p:spPr>
          <p:txBody>
            <a:bodyPr/>
            <a:lstStyle/>
            <a:p>
              <a:endParaRPr lang="zh-CN" altLang="en-US"/>
            </a:p>
          </p:txBody>
        </p:sp>
        <p:sp>
          <p:nvSpPr>
            <p:cNvPr id="11567" name="Freeform 264"/>
            <p:cNvSpPr/>
            <p:nvPr/>
          </p:nvSpPr>
          <p:spPr bwMode="auto">
            <a:xfrm>
              <a:off x="2417" y="1837"/>
              <a:ext cx="47" cy="24"/>
            </a:xfrm>
            <a:custGeom>
              <a:avLst/>
              <a:gdLst>
                <a:gd name="T0" fmla="*/ 34 w 47"/>
                <a:gd name="T1" fmla="*/ 23 h 24"/>
                <a:gd name="T2" fmla="*/ 34 w 47"/>
                <a:gd name="T3" fmla="*/ 23 h 24"/>
                <a:gd name="T4" fmla="*/ 38 w 47"/>
                <a:gd name="T5" fmla="*/ 23 h 24"/>
                <a:gd name="T6" fmla="*/ 40 w 47"/>
                <a:gd name="T7" fmla="*/ 20 h 24"/>
                <a:gd name="T8" fmla="*/ 46 w 47"/>
                <a:gd name="T9" fmla="*/ 14 h 24"/>
                <a:gd name="T10" fmla="*/ 30 w 47"/>
                <a:gd name="T11" fmla="*/ 8 h 24"/>
                <a:gd name="T12" fmla="*/ 11 w 47"/>
                <a:gd name="T13" fmla="*/ 0 h 24"/>
                <a:gd name="T14" fmla="*/ 7 w 47"/>
                <a:gd name="T15" fmla="*/ 0 h 24"/>
                <a:gd name="T16" fmla="*/ 5 w 47"/>
                <a:gd name="T17" fmla="*/ 2 h 24"/>
                <a:gd name="T18" fmla="*/ 2 w 47"/>
                <a:gd name="T19" fmla="*/ 5 h 24"/>
                <a:gd name="T20" fmla="*/ 0 w 47"/>
                <a:gd name="T21" fmla="*/ 5 h 24"/>
                <a:gd name="T22" fmla="*/ 2 w 47"/>
                <a:gd name="T23" fmla="*/ 5 h 24"/>
                <a:gd name="T24" fmla="*/ 5 w 47"/>
                <a:gd name="T25" fmla="*/ 8 h 24"/>
                <a:gd name="T26" fmla="*/ 15 w 47"/>
                <a:gd name="T27" fmla="*/ 11 h 24"/>
                <a:gd name="T28" fmla="*/ 21 w 47"/>
                <a:gd name="T29" fmla="*/ 14 h 24"/>
                <a:gd name="T30" fmla="*/ 26 w 47"/>
                <a:gd name="T31" fmla="*/ 17 h 24"/>
                <a:gd name="T32" fmla="*/ 32 w 47"/>
                <a:gd name="T33" fmla="*/ 20 h 24"/>
                <a:gd name="T34" fmla="*/ 34 w 47"/>
                <a:gd name="T35" fmla="*/ 23 h 2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7"/>
                <a:gd name="T55" fmla="*/ 0 h 24"/>
                <a:gd name="T56" fmla="*/ 47 w 47"/>
                <a:gd name="T57" fmla="*/ 24 h 2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7" h="24">
                  <a:moveTo>
                    <a:pt x="34" y="23"/>
                  </a:moveTo>
                  <a:lnTo>
                    <a:pt x="34" y="23"/>
                  </a:lnTo>
                  <a:lnTo>
                    <a:pt x="38" y="23"/>
                  </a:lnTo>
                  <a:lnTo>
                    <a:pt x="40" y="20"/>
                  </a:lnTo>
                  <a:lnTo>
                    <a:pt x="46" y="14"/>
                  </a:lnTo>
                  <a:lnTo>
                    <a:pt x="30" y="8"/>
                  </a:lnTo>
                  <a:lnTo>
                    <a:pt x="11" y="0"/>
                  </a:lnTo>
                  <a:lnTo>
                    <a:pt x="7" y="0"/>
                  </a:lnTo>
                  <a:lnTo>
                    <a:pt x="5" y="2"/>
                  </a:lnTo>
                  <a:lnTo>
                    <a:pt x="2" y="5"/>
                  </a:lnTo>
                  <a:lnTo>
                    <a:pt x="0" y="5"/>
                  </a:lnTo>
                  <a:lnTo>
                    <a:pt x="2" y="5"/>
                  </a:lnTo>
                  <a:lnTo>
                    <a:pt x="5" y="8"/>
                  </a:lnTo>
                  <a:lnTo>
                    <a:pt x="15" y="11"/>
                  </a:lnTo>
                  <a:lnTo>
                    <a:pt x="21" y="14"/>
                  </a:lnTo>
                  <a:lnTo>
                    <a:pt x="26" y="17"/>
                  </a:lnTo>
                  <a:lnTo>
                    <a:pt x="32" y="20"/>
                  </a:lnTo>
                  <a:lnTo>
                    <a:pt x="34" y="23"/>
                  </a:lnTo>
                </a:path>
              </a:pathLst>
            </a:custGeom>
            <a:solidFill>
              <a:srgbClr val="BDB597"/>
            </a:solidFill>
            <a:ln w="9525" cap="rnd">
              <a:noFill/>
              <a:round/>
            </a:ln>
          </p:spPr>
          <p:txBody>
            <a:bodyPr/>
            <a:lstStyle/>
            <a:p>
              <a:endParaRPr lang="zh-CN" altLang="en-US"/>
            </a:p>
          </p:txBody>
        </p:sp>
      </p:grpSp>
      <p:sp>
        <p:nvSpPr>
          <p:cNvPr id="11303" name="Rectangle 265"/>
          <p:cNvSpPr>
            <a:spLocks noChangeArrowheads="1"/>
          </p:cNvSpPr>
          <p:nvPr/>
        </p:nvSpPr>
        <p:spPr bwMode="auto">
          <a:xfrm>
            <a:off x="4540250" y="3239170"/>
            <a:ext cx="790575" cy="63500"/>
          </a:xfrm>
          <a:prstGeom prst="rect">
            <a:avLst/>
          </a:prstGeom>
          <a:gradFill rotWithShape="0">
            <a:gsLst>
              <a:gs pos="0">
                <a:srgbClr val="05B5DE"/>
              </a:gs>
              <a:gs pos="100000">
                <a:srgbClr val="E6F7FC"/>
              </a:gs>
            </a:gsLst>
            <a:lin ang="0" scaled="1"/>
          </a:gradFill>
          <a:ln w="9525">
            <a:noFill/>
            <a:miter lim="800000"/>
          </a:ln>
        </p:spPr>
        <p:txBody>
          <a:bodyPr wrap="none" anchor="ctr"/>
          <a:lstStyle/>
          <a:p>
            <a:endParaRPr lang="zh-CN" altLang="en-US"/>
          </a:p>
        </p:txBody>
      </p:sp>
      <p:sp>
        <p:nvSpPr>
          <p:cNvPr id="250122" name="Rectangle 266"/>
          <p:cNvSpPr>
            <a:spLocks noChangeArrowheads="1"/>
          </p:cNvSpPr>
          <p:nvPr/>
        </p:nvSpPr>
        <p:spPr bwMode="auto">
          <a:xfrm>
            <a:off x="592138" y="4566320"/>
            <a:ext cx="2501900" cy="282575"/>
          </a:xfrm>
          <a:prstGeom prst="rect">
            <a:avLst/>
          </a:prstGeom>
          <a:noFill/>
          <a:ln w="9525">
            <a:noFill/>
            <a:miter lim="800000"/>
          </a:ln>
          <a:effectLst/>
        </p:spPr>
        <p:txBody>
          <a:bodyPr lIns="102026" tIns="51012" rIns="102026" bIns="51012">
            <a:spAutoFit/>
          </a:bodyPr>
          <a:lstStyle/>
          <a:p>
            <a:pPr defTabSz="1050925" eaLnBrk="0" hangingPunct="0">
              <a:lnSpc>
                <a:spcPct val="85000"/>
              </a:lnSpc>
              <a:defRPr/>
            </a:pPr>
            <a:r>
              <a:rPr kumimoji="1" lang="zh-CN" altLang="en-US" sz="1400" b="0">
                <a:effectLst>
                  <a:outerShdw blurRad="38100" dist="38100" dir="2700000" algn="tl">
                    <a:srgbClr val="C0C0C0"/>
                  </a:outerShdw>
                </a:effectLst>
                <a:latin typeface="ACaslon Bold" charset="0"/>
              </a:rPr>
              <a:t>人事部</a:t>
            </a:r>
          </a:p>
        </p:txBody>
      </p:sp>
      <p:grpSp>
        <p:nvGrpSpPr>
          <p:cNvPr id="250264" name="Group 267"/>
          <p:cNvGrpSpPr/>
          <p:nvPr/>
        </p:nvGrpSpPr>
        <p:grpSpPr bwMode="auto">
          <a:xfrm>
            <a:off x="5010150" y="3112170"/>
            <a:ext cx="460375" cy="317500"/>
            <a:chOff x="2653" y="1995"/>
            <a:chExt cx="258" cy="202"/>
          </a:xfrm>
        </p:grpSpPr>
        <p:grpSp>
          <p:nvGrpSpPr>
            <p:cNvPr id="250265" name="Group 268"/>
            <p:cNvGrpSpPr/>
            <p:nvPr/>
          </p:nvGrpSpPr>
          <p:grpSpPr bwMode="auto">
            <a:xfrm>
              <a:off x="2654" y="2065"/>
              <a:ext cx="142" cy="132"/>
              <a:chOff x="2654" y="2065"/>
              <a:chExt cx="142" cy="132"/>
            </a:xfrm>
          </p:grpSpPr>
          <p:sp>
            <p:nvSpPr>
              <p:cNvPr id="11508" name="Freeform 269"/>
              <p:cNvSpPr/>
              <p:nvPr/>
            </p:nvSpPr>
            <p:spPr bwMode="auto">
              <a:xfrm>
                <a:off x="2654" y="2066"/>
                <a:ext cx="136" cy="124"/>
              </a:xfrm>
              <a:custGeom>
                <a:avLst/>
                <a:gdLst>
                  <a:gd name="T0" fmla="*/ 135 w 136"/>
                  <a:gd name="T1" fmla="*/ 33 h 124"/>
                  <a:gd name="T2" fmla="*/ 135 w 136"/>
                  <a:gd name="T3" fmla="*/ 123 h 124"/>
                  <a:gd name="T4" fmla="*/ 0 w 136"/>
                  <a:gd name="T5" fmla="*/ 83 h 124"/>
                  <a:gd name="T6" fmla="*/ 0 w 136"/>
                  <a:gd name="T7" fmla="*/ 0 h 124"/>
                  <a:gd name="T8" fmla="*/ 135 w 136"/>
                  <a:gd name="T9" fmla="*/ 33 h 124"/>
                  <a:gd name="T10" fmla="*/ 0 60000 65536"/>
                  <a:gd name="T11" fmla="*/ 0 60000 65536"/>
                  <a:gd name="T12" fmla="*/ 0 60000 65536"/>
                  <a:gd name="T13" fmla="*/ 0 60000 65536"/>
                  <a:gd name="T14" fmla="*/ 0 60000 65536"/>
                  <a:gd name="T15" fmla="*/ 0 w 136"/>
                  <a:gd name="T16" fmla="*/ 0 h 124"/>
                  <a:gd name="T17" fmla="*/ 136 w 136"/>
                  <a:gd name="T18" fmla="*/ 124 h 124"/>
                </a:gdLst>
                <a:ahLst/>
                <a:cxnLst>
                  <a:cxn ang="T10">
                    <a:pos x="T0" y="T1"/>
                  </a:cxn>
                  <a:cxn ang="T11">
                    <a:pos x="T2" y="T3"/>
                  </a:cxn>
                  <a:cxn ang="T12">
                    <a:pos x="T4" y="T5"/>
                  </a:cxn>
                  <a:cxn ang="T13">
                    <a:pos x="T6" y="T7"/>
                  </a:cxn>
                  <a:cxn ang="T14">
                    <a:pos x="T8" y="T9"/>
                  </a:cxn>
                </a:cxnLst>
                <a:rect l="T15" t="T16" r="T17" b="T18"/>
                <a:pathLst>
                  <a:path w="136" h="124">
                    <a:moveTo>
                      <a:pt x="135" y="33"/>
                    </a:moveTo>
                    <a:lnTo>
                      <a:pt x="135" y="123"/>
                    </a:lnTo>
                    <a:lnTo>
                      <a:pt x="0" y="83"/>
                    </a:lnTo>
                    <a:lnTo>
                      <a:pt x="0" y="0"/>
                    </a:lnTo>
                    <a:lnTo>
                      <a:pt x="135" y="33"/>
                    </a:lnTo>
                  </a:path>
                </a:pathLst>
              </a:custGeom>
              <a:gradFill rotWithShape="0">
                <a:gsLst>
                  <a:gs pos="0">
                    <a:srgbClr val="D49FFF"/>
                  </a:gs>
                  <a:gs pos="100000">
                    <a:srgbClr val="3F2F4C"/>
                  </a:gs>
                </a:gsLst>
                <a:lin ang="2700000" scaled="1"/>
              </a:gradFill>
              <a:ln w="9525" cap="rnd">
                <a:noFill/>
                <a:round/>
              </a:ln>
            </p:spPr>
            <p:txBody>
              <a:bodyPr/>
              <a:lstStyle/>
              <a:p>
                <a:endParaRPr lang="zh-CN" altLang="en-US"/>
              </a:p>
            </p:txBody>
          </p:sp>
          <p:sp>
            <p:nvSpPr>
              <p:cNvPr id="11509" name="Freeform 270"/>
              <p:cNvSpPr/>
              <p:nvPr/>
            </p:nvSpPr>
            <p:spPr bwMode="auto">
              <a:xfrm>
                <a:off x="2655" y="2065"/>
                <a:ext cx="141" cy="132"/>
              </a:xfrm>
              <a:custGeom>
                <a:avLst/>
                <a:gdLst>
                  <a:gd name="T0" fmla="*/ 140 w 141"/>
                  <a:gd name="T1" fmla="*/ 36 h 132"/>
                  <a:gd name="T2" fmla="*/ 140 w 141"/>
                  <a:gd name="T3" fmla="*/ 131 h 132"/>
                  <a:gd name="T4" fmla="*/ 0 w 141"/>
                  <a:gd name="T5" fmla="*/ 88 h 132"/>
                  <a:gd name="T6" fmla="*/ 0 w 141"/>
                  <a:gd name="T7" fmla="*/ 0 h 132"/>
                  <a:gd name="T8" fmla="*/ 140 w 141"/>
                  <a:gd name="T9" fmla="*/ 36 h 132"/>
                  <a:gd name="T10" fmla="*/ 0 60000 65536"/>
                  <a:gd name="T11" fmla="*/ 0 60000 65536"/>
                  <a:gd name="T12" fmla="*/ 0 60000 65536"/>
                  <a:gd name="T13" fmla="*/ 0 60000 65536"/>
                  <a:gd name="T14" fmla="*/ 0 60000 65536"/>
                  <a:gd name="T15" fmla="*/ 0 w 141"/>
                  <a:gd name="T16" fmla="*/ 0 h 132"/>
                  <a:gd name="T17" fmla="*/ 141 w 141"/>
                  <a:gd name="T18" fmla="*/ 132 h 132"/>
                </a:gdLst>
                <a:ahLst/>
                <a:cxnLst>
                  <a:cxn ang="T10">
                    <a:pos x="T0" y="T1"/>
                  </a:cxn>
                  <a:cxn ang="T11">
                    <a:pos x="T2" y="T3"/>
                  </a:cxn>
                  <a:cxn ang="T12">
                    <a:pos x="T4" y="T5"/>
                  </a:cxn>
                  <a:cxn ang="T13">
                    <a:pos x="T6" y="T7"/>
                  </a:cxn>
                  <a:cxn ang="T14">
                    <a:pos x="T8" y="T9"/>
                  </a:cxn>
                </a:cxnLst>
                <a:rect l="T15" t="T16" r="T17" b="T18"/>
                <a:pathLst>
                  <a:path w="141" h="132">
                    <a:moveTo>
                      <a:pt x="140" y="36"/>
                    </a:moveTo>
                    <a:lnTo>
                      <a:pt x="140" y="131"/>
                    </a:lnTo>
                    <a:lnTo>
                      <a:pt x="0" y="88"/>
                    </a:lnTo>
                    <a:lnTo>
                      <a:pt x="0" y="0"/>
                    </a:lnTo>
                    <a:lnTo>
                      <a:pt x="140" y="36"/>
                    </a:lnTo>
                  </a:path>
                </a:pathLst>
              </a:custGeom>
              <a:gradFill rotWithShape="0">
                <a:gsLst>
                  <a:gs pos="0">
                    <a:srgbClr val="D49FFF"/>
                  </a:gs>
                  <a:gs pos="100000">
                    <a:srgbClr val="3F2F4C"/>
                  </a:gs>
                </a:gsLst>
                <a:lin ang="2700000" scaled="1"/>
              </a:gradFill>
              <a:ln w="9525" cap="rnd">
                <a:noFill/>
                <a:round/>
              </a:ln>
            </p:spPr>
            <p:txBody>
              <a:bodyPr/>
              <a:lstStyle/>
              <a:p>
                <a:endParaRPr lang="zh-CN" altLang="en-US"/>
              </a:p>
            </p:txBody>
          </p:sp>
        </p:grpSp>
        <p:grpSp>
          <p:nvGrpSpPr>
            <p:cNvPr id="250266" name="Group 271"/>
            <p:cNvGrpSpPr/>
            <p:nvPr/>
          </p:nvGrpSpPr>
          <p:grpSpPr bwMode="auto">
            <a:xfrm>
              <a:off x="2653" y="1995"/>
              <a:ext cx="256" cy="108"/>
              <a:chOff x="2653" y="1995"/>
              <a:chExt cx="256" cy="108"/>
            </a:xfrm>
          </p:grpSpPr>
          <p:sp>
            <p:nvSpPr>
              <p:cNvPr id="11506" name="Freeform 272"/>
              <p:cNvSpPr/>
              <p:nvPr/>
            </p:nvSpPr>
            <p:spPr bwMode="auto">
              <a:xfrm>
                <a:off x="2654" y="1995"/>
                <a:ext cx="249" cy="103"/>
              </a:xfrm>
              <a:custGeom>
                <a:avLst/>
                <a:gdLst>
                  <a:gd name="T0" fmla="*/ 137 w 249"/>
                  <a:gd name="T1" fmla="*/ 102 h 103"/>
                  <a:gd name="T2" fmla="*/ 0 w 249"/>
                  <a:gd name="T3" fmla="*/ 68 h 103"/>
                  <a:gd name="T4" fmla="*/ 129 w 249"/>
                  <a:gd name="T5" fmla="*/ 0 h 103"/>
                  <a:gd name="T6" fmla="*/ 248 w 249"/>
                  <a:gd name="T7" fmla="*/ 27 h 103"/>
                  <a:gd name="T8" fmla="*/ 137 w 249"/>
                  <a:gd name="T9" fmla="*/ 102 h 103"/>
                  <a:gd name="T10" fmla="*/ 0 60000 65536"/>
                  <a:gd name="T11" fmla="*/ 0 60000 65536"/>
                  <a:gd name="T12" fmla="*/ 0 60000 65536"/>
                  <a:gd name="T13" fmla="*/ 0 60000 65536"/>
                  <a:gd name="T14" fmla="*/ 0 60000 65536"/>
                  <a:gd name="T15" fmla="*/ 0 w 249"/>
                  <a:gd name="T16" fmla="*/ 0 h 103"/>
                  <a:gd name="T17" fmla="*/ 249 w 249"/>
                  <a:gd name="T18" fmla="*/ 103 h 103"/>
                </a:gdLst>
                <a:ahLst/>
                <a:cxnLst>
                  <a:cxn ang="T10">
                    <a:pos x="T0" y="T1"/>
                  </a:cxn>
                  <a:cxn ang="T11">
                    <a:pos x="T2" y="T3"/>
                  </a:cxn>
                  <a:cxn ang="T12">
                    <a:pos x="T4" y="T5"/>
                  </a:cxn>
                  <a:cxn ang="T13">
                    <a:pos x="T6" y="T7"/>
                  </a:cxn>
                  <a:cxn ang="T14">
                    <a:pos x="T8" y="T9"/>
                  </a:cxn>
                </a:cxnLst>
                <a:rect l="T15" t="T16" r="T17" b="T18"/>
                <a:pathLst>
                  <a:path w="249" h="103">
                    <a:moveTo>
                      <a:pt x="137" y="102"/>
                    </a:moveTo>
                    <a:lnTo>
                      <a:pt x="0" y="68"/>
                    </a:lnTo>
                    <a:lnTo>
                      <a:pt x="129" y="0"/>
                    </a:lnTo>
                    <a:lnTo>
                      <a:pt x="248" y="27"/>
                    </a:lnTo>
                    <a:lnTo>
                      <a:pt x="137" y="102"/>
                    </a:lnTo>
                  </a:path>
                </a:pathLst>
              </a:custGeom>
              <a:solidFill>
                <a:srgbClr val="D49FFF"/>
              </a:solidFill>
              <a:ln w="9525" cap="rnd">
                <a:noFill/>
                <a:round/>
              </a:ln>
            </p:spPr>
            <p:txBody>
              <a:bodyPr/>
              <a:lstStyle/>
              <a:p>
                <a:endParaRPr lang="zh-CN" altLang="en-US"/>
              </a:p>
            </p:txBody>
          </p:sp>
          <p:sp>
            <p:nvSpPr>
              <p:cNvPr id="11507" name="Freeform 273"/>
              <p:cNvSpPr/>
              <p:nvPr/>
            </p:nvSpPr>
            <p:spPr bwMode="auto">
              <a:xfrm>
                <a:off x="2653" y="1995"/>
                <a:ext cx="256" cy="108"/>
              </a:xfrm>
              <a:custGeom>
                <a:avLst/>
                <a:gdLst>
                  <a:gd name="T0" fmla="*/ 141 w 256"/>
                  <a:gd name="T1" fmla="*/ 107 h 108"/>
                  <a:gd name="T2" fmla="*/ 0 w 256"/>
                  <a:gd name="T3" fmla="*/ 71 h 108"/>
                  <a:gd name="T4" fmla="*/ 133 w 256"/>
                  <a:gd name="T5" fmla="*/ 0 h 108"/>
                  <a:gd name="T6" fmla="*/ 255 w 256"/>
                  <a:gd name="T7" fmla="*/ 28 h 108"/>
                  <a:gd name="T8" fmla="*/ 141 w 256"/>
                  <a:gd name="T9" fmla="*/ 107 h 108"/>
                  <a:gd name="T10" fmla="*/ 0 60000 65536"/>
                  <a:gd name="T11" fmla="*/ 0 60000 65536"/>
                  <a:gd name="T12" fmla="*/ 0 60000 65536"/>
                  <a:gd name="T13" fmla="*/ 0 60000 65536"/>
                  <a:gd name="T14" fmla="*/ 0 60000 65536"/>
                  <a:gd name="T15" fmla="*/ 0 w 256"/>
                  <a:gd name="T16" fmla="*/ 0 h 108"/>
                  <a:gd name="T17" fmla="*/ 256 w 256"/>
                  <a:gd name="T18" fmla="*/ 108 h 108"/>
                </a:gdLst>
                <a:ahLst/>
                <a:cxnLst>
                  <a:cxn ang="T10">
                    <a:pos x="T0" y="T1"/>
                  </a:cxn>
                  <a:cxn ang="T11">
                    <a:pos x="T2" y="T3"/>
                  </a:cxn>
                  <a:cxn ang="T12">
                    <a:pos x="T4" y="T5"/>
                  </a:cxn>
                  <a:cxn ang="T13">
                    <a:pos x="T6" y="T7"/>
                  </a:cxn>
                  <a:cxn ang="T14">
                    <a:pos x="T8" y="T9"/>
                  </a:cxn>
                </a:cxnLst>
                <a:rect l="T15" t="T16" r="T17" b="T18"/>
                <a:pathLst>
                  <a:path w="256" h="108">
                    <a:moveTo>
                      <a:pt x="141" y="107"/>
                    </a:moveTo>
                    <a:lnTo>
                      <a:pt x="0" y="71"/>
                    </a:lnTo>
                    <a:lnTo>
                      <a:pt x="133" y="0"/>
                    </a:lnTo>
                    <a:lnTo>
                      <a:pt x="255" y="28"/>
                    </a:lnTo>
                    <a:lnTo>
                      <a:pt x="141" y="107"/>
                    </a:lnTo>
                  </a:path>
                </a:pathLst>
              </a:custGeom>
              <a:solidFill>
                <a:srgbClr val="D49FFF"/>
              </a:solidFill>
              <a:ln w="9525" cap="rnd">
                <a:noFill/>
                <a:round/>
              </a:ln>
            </p:spPr>
            <p:txBody>
              <a:bodyPr/>
              <a:lstStyle/>
              <a:p>
                <a:endParaRPr lang="zh-CN" altLang="en-US"/>
              </a:p>
            </p:txBody>
          </p:sp>
        </p:grpSp>
        <p:grpSp>
          <p:nvGrpSpPr>
            <p:cNvPr id="250267" name="Group 274"/>
            <p:cNvGrpSpPr/>
            <p:nvPr/>
          </p:nvGrpSpPr>
          <p:grpSpPr bwMode="auto">
            <a:xfrm>
              <a:off x="2796" y="2022"/>
              <a:ext cx="115" cy="175"/>
              <a:chOff x="2796" y="2022"/>
              <a:chExt cx="115" cy="175"/>
            </a:xfrm>
          </p:grpSpPr>
          <p:sp>
            <p:nvSpPr>
              <p:cNvPr id="11504" name="Freeform 275"/>
              <p:cNvSpPr/>
              <p:nvPr/>
            </p:nvSpPr>
            <p:spPr bwMode="auto">
              <a:xfrm>
                <a:off x="2797" y="2023"/>
                <a:ext cx="108" cy="167"/>
              </a:xfrm>
              <a:custGeom>
                <a:avLst/>
                <a:gdLst>
                  <a:gd name="T0" fmla="*/ 107 w 108"/>
                  <a:gd name="T1" fmla="*/ 0 h 167"/>
                  <a:gd name="T2" fmla="*/ 0 w 108"/>
                  <a:gd name="T3" fmla="*/ 75 h 167"/>
                  <a:gd name="T4" fmla="*/ 0 w 108"/>
                  <a:gd name="T5" fmla="*/ 166 h 167"/>
                  <a:gd name="T6" fmla="*/ 107 w 108"/>
                  <a:gd name="T7" fmla="*/ 79 h 167"/>
                  <a:gd name="T8" fmla="*/ 107 w 108"/>
                  <a:gd name="T9" fmla="*/ 0 h 167"/>
                  <a:gd name="T10" fmla="*/ 0 60000 65536"/>
                  <a:gd name="T11" fmla="*/ 0 60000 65536"/>
                  <a:gd name="T12" fmla="*/ 0 60000 65536"/>
                  <a:gd name="T13" fmla="*/ 0 60000 65536"/>
                  <a:gd name="T14" fmla="*/ 0 60000 65536"/>
                  <a:gd name="T15" fmla="*/ 0 w 108"/>
                  <a:gd name="T16" fmla="*/ 0 h 167"/>
                  <a:gd name="T17" fmla="*/ 108 w 108"/>
                  <a:gd name="T18" fmla="*/ 167 h 167"/>
                </a:gdLst>
                <a:ahLst/>
                <a:cxnLst>
                  <a:cxn ang="T10">
                    <a:pos x="T0" y="T1"/>
                  </a:cxn>
                  <a:cxn ang="T11">
                    <a:pos x="T2" y="T3"/>
                  </a:cxn>
                  <a:cxn ang="T12">
                    <a:pos x="T4" y="T5"/>
                  </a:cxn>
                  <a:cxn ang="T13">
                    <a:pos x="T6" y="T7"/>
                  </a:cxn>
                  <a:cxn ang="T14">
                    <a:pos x="T8" y="T9"/>
                  </a:cxn>
                </a:cxnLst>
                <a:rect l="T15" t="T16" r="T17" b="T18"/>
                <a:pathLst>
                  <a:path w="108" h="167">
                    <a:moveTo>
                      <a:pt x="107" y="0"/>
                    </a:moveTo>
                    <a:lnTo>
                      <a:pt x="0" y="75"/>
                    </a:lnTo>
                    <a:lnTo>
                      <a:pt x="0" y="166"/>
                    </a:lnTo>
                    <a:lnTo>
                      <a:pt x="107" y="79"/>
                    </a:lnTo>
                    <a:lnTo>
                      <a:pt x="107" y="0"/>
                    </a:lnTo>
                  </a:path>
                </a:pathLst>
              </a:custGeom>
              <a:gradFill rotWithShape="0">
                <a:gsLst>
                  <a:gs pos="0">
                    <a:srgbClr val="44394C"/>
                  </a:gs>
                  <a:gs pos="100000">
                    <a:srgbClr val="E3BEFF"/>
                  </a:gs>
                </a:gsLst>
                <a:lin ang="2700000" scaled="1"/>
              </a:gradFill>
              <a:ln w="9525" cap="rnd">
                <a:noFill/>
                <a:round/>
              </a:ln>
            </p:spPr>
            <p:txBody>
              <a:bodyPr/>
              <a:lstStyle/>
              <a:p>
                <a:endParaRPr lang="zh-CN" altLang="en-US"/>
              </a:p>
            </p:txBody>
          </p:sp>
          <p:sp>
            <p:nvSpPr>
              <p:cNvPr id="11505" name="Freeform 276"/>
              <p:cNvSpPr/>
              <p:nvPr/>
            </p:nvSpPr>
            <p:spPr bwMode="auto">
              <a:xfrm>
                <a:off x="2796" y="2022"/>
                <a:ext cx="115" cy="175"/>
              </a:xfrm>
              <a:custGeom>
                <a:avLst/>
                <a:gdLst>
                  <a:gd name="T0" fmla="*/ 114 w 115"/>
                  <a:gd name="T1" fmla="*/ 0 h 175"/>
                  <a:gd name="T2" fmla="*/ 0 w 115"/>
                  <a:gd name="T3" fmla="*/ 80 h 175"/>
                  <a:gd name="T4" fmla="*/ 0 w 115"/>
                  <a:gd name="T5" fmla="*/ 174 h 175"/>
                  <a:gd name="T6" fmla="*/ 114 w 115"/>
                  <a:gd name="T7" fmla="*/ 84 h 175"/>
                  <a:gd name="T8" fmla="*/ 114 w 115"/>
                  <a:gd name="T9" fmla="*/ 0 h 175"/>
                  <a:gd name="T10" fmla="*/ 0 60000 65536"/>
                  <a:gd name="T11" fmla="*/ 0 60000 65536"/>
                  <a:gd name="T12" fmla="*/ 0 60000 65536"/>
                  <a:gd name="T13" fmla="*/ 0 60000 65536"/>
                  <a:gd name="T14" fmla="*/ 0 60000 65536"/>
                  <a:gd name="T15" fmla="*/ 0 w 115"/>
                  <a:gd name="T16" fmla="*/ 0 h 175"/>
                  <a:gd name="T17" fmla="*/ 115 w 115"/>
                  <a:gd name="T18" fmla="*/ 175 h 175"/>
                </a:gdLst>
                <a:ahLst/>
                <a:cxnLst>
                  <a:cxn ang="T10">
                    <a:pos x="T0" y="T1"/>
                  </a:cxn>
                  <a:cxn ang="T11">
                    <a:pos x="T2" y="T3"/>
                  </a:cxn>
                  <a:cxn ang="T12">
                    <a:pos x="T4" y="T5"/>
                  </a:cxn>
                  <a:cxn ang="T13">
                    <a:pos x="T6" y="T7"/>
                  </a:cxn>
                  <a:cxn ang="T14">
                    <a:pos x="T8" y="T9"/>
                  </a:cxn>
                </a:cxnLst>
                <a:rect l="T15" t="T16" r="T17" b="T18"/>
                <a:pathLst>
                  <a:path w="115" h="175">
                    <a:moveTo>
                      <a:pt x="114" y="0"/>
                    </a:moveTo>
                    <a:lnTo>
                      <a:pt x="0" y="80"/>
                    </a:lnTo>
                    <a:lnTo>
                      <a:pt x="0" y="174"/>
                    </a:lnTo>
                    <a:lnTo>
                      <a:pt x="114" y="84"/>
                    </a:lnTo>
                    <a:lnTo>
                      <a:pt x="114" y="0"/>
                    </a:lnTo>
                  </a:path>
                </a:pathLst>
              </a:custGeom>
              <a:gradFill rotWithShape="0">
                <a:gsLst>
                  <a:gs pos="0">
                    <a:srgbClr val="44394C"/>
                  </a:gs>
                  <a:gs pos="100000">
                    <a:srgbClr val="E3BEFF"/>
                  </a:gs>
                </a:gsLst>
                <a:lin ang="2700000" scaled="1"/>
              </a:gradFill>
              <a:ln w="9525" cap="rnd">
                <a:noFill/>
                <a:round/>
              </a:ln>
            </p:spPr>
            <p:txBody>
              <a:bodyPr/>
              <a:lstStyle/>
              <a:p>
                <a:endParaRPr lang="zh-CN" altLang="en-US"/>
              </a:p>
            </p:txBody>
          </p:sp>
        </p:grpSp>
      </p:grpSp>
      <p:sp>
        <p:nvSpPr>
          <p:cNvPr id="250133" name="Rectangle 277"/>
          <p:cNvSpPr>
            <a:spLocks noChangeArrowheads="1"/>
          </p:cNvSpPr>
          <p:nvPr/>
        </p:nvSpPr>
        <p:spPr bwMode="auto">
          <a:xfrm>
            <a:off x="4914900" y="2858170"/>
            <a:ext cx="762000" cy="282575"/>
          </a:xfrm>
          <a:prstGeom prst="rect">
            <a:avLst/>
          </a:prstGeom>
          <a:noFill/>
          <a:ln w="9525">
            <a:noFill/>
            <a:miter lim="800000"/>
          </a:ln>
          <a:effectLst/>
        </p:spPr>
        <p:txBody>
          <a:bodyPr lIns="102026" tIns="51012" rIns="102026" bIns="51012">
            <a:spAutoFit/>
          </a:bodyPr>
          <a:lstStyle/>
          <a:p>
            <a:pPr defTabSz="1050925" eaLnBrk="0" hangingPunct="0">
              <a:lnSpc>
                <a:spcPct val="85000"/>
              </a:lnSpc>
              <a:defRPr/>
            </a:pPr>
            <a:r>
              <a:rPr kumimoji="1" lang="zh-CN" altLang="en-US" sz="1400" b="0">
                <a:effectLst>
                  <a:outerShdw blurRad="38100" dist="38100" dir="2700000" algn="tl">
                    <a:srgbClr val="C0C0C0"/>
                  </a:outerShdw>
                </a:effectLst>
                <a:latin typeface="ACaslon Bold" charset="0"/>
              </a:rPr>
              <a:t>路由</a:t>
            </a:r>
          </a:p>
        </p:txBody>
      </p:sp>
      <p:sp>
        <p:nvSpPr>
          <p:cNvPr id="11307" name="Line 278"/>
          <p:cNvSpPr>
            <a:spLocks noChangeShapeType="1"/>
          </p:cNvSpPr>
          <p:nvPr/>
        </p:nvSpPr>
        <p:spPr bwMode="auto">
          <a:xfrm flipV="1">
            <a:off x="2054225" y="1950120"/>
            <a:ext cx="0" cy="444500"/>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11308" name="Line 279"/>
          <p:cNvSpPr>
            <a:spLocks noChangeShapeType="1"/>
          </p:cNvSpPr>
          <p:nvPr/>
        </p:nvSpPr>
        <p:spPr bwMode="auto">
          <a:xfrm flipV="1">
            <a:off x="1700213" y="1931070"/>
            <a:ext cx="0" cy="549275"/>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11309" name="Line 280"/>
          <p:cNvSpPr>
            <a:spLocks noChangeShapeType="1"/>
          </p:cNvSpPr>
          <p:nvPr/>
        </p:nvSpPr>
        <p:spPr bwMode="auto">
          <a:xfrm flipV="1">
            <a:off x="1281113" y="1931070"/>
            <a:ext cx="0" cy="425450"/>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11310" name="Line 281"/>
          <p:cNvSpPr>
            <a:spLocks noChangeShapeType="1"/>
          </p:cNvSpPr>
          <p:nvPr/>
        </p:nvSpPr>
        <p:spPr bwMode="auto">
          <a:xfrm>
            <a:off x="709613" y="1915195"/>
            <a:ext cx="1524000" cy="6350"/>
          </a:xfrm>
          <a:prstGeom prst="line">
            <a:avLst/>
          </a:prstGeom>
          <a:noFill/>
          <a:ln w="25399">
            <a:solidFill>
              <a:schemeClr val="tx1"/>
            </a:solidFill>
            <a:round/>
            <a:headEnd type="none" w="sm" len="sm"/>
            <a:tailEnd type="none" w="sm" len="sm"/>
          </a:ln>
        </p:spPr>
        <p:txBody>
          <a:bodyPr wrap="none" anchor="ctr"/>
          <a:lstStyle/>
          <a:p>
            <a:endParaRPr lang="zh-CN" altLang="en-US"/>
          </a:p>
        </p:txBody>
      </p:sp>
      <p:pic>
        <p:nvPicPr>
          <p:cNvPr id="11311" name="Picture 282"/>
          <p:cNvPicPr>
            <a:picLocks noChangeArrowheads="1"/>
          </p:cNvPicPr>
          <p:nvPr/>
        </p:nvPicPr>
        <p:blipFill>
          <a:blip r:embed="rId3"/>
          <a:srcRect/>
          <a:stretch>
            <a:fillRect/>
          </a:stretch>
        </p:blipFill>
        <p:spPr bwMode="auto">
          <a:xfrm>
            <a:off x="1138238" y="2239045"/>
            <a:ext cx="400050" cy="330200"/>
          </a:xfrm>
          <a:prstGeom prst="rect">
            <a:avLst/>
          </a:prstGeom>
          <a:noFill/>
          <a:ln w="9525">
            <a:noFill/>
            <a:miter lim="800000"/>
            <a:headEnd/>
            <a:tailEnd/>
          </a:ln>
        </p:spPr>
      </p:pic>
      <p:pic>
        <p:nvPicPr>
          <p:cNvPr id="11312" name="Picture 283"/>
          <p:cNvPicPr>
            <a:picLocks noChangeArrowheads="1"/>
          </p:cNvPicPr>
          <p:nvPr/>
        </p:nvPicPr>
        <p:blipFill>
          <a:blip r:embed="rId3"/>
          <a:srcRect/>
          <a:stretch>
            <a:fillRect/>
          </a:stretch>
        </p:blipFill>
        <p:spPr bwMode="auto">
          <a:xfrm>
            <a:off x="1512888" y="2239045"/>
            <a:ext cx="400050" cy="330200"/>
          </a:xfrm>
          <a:prstGeom prst="rect">
            <a:avLst/>
          </a:prstGeom>
          <a:noFill/>
          <a:ln w="9525">
            <a:noFill/>
            <a:miter lim="800000"/>
            <a:headEnd/>
            <a:tailEnd/>
          </a:ln>
        </p:spPr>
      </p:pic>
      <p:pic>
        <p:nvPicPr>
          <p:cNvPr id="11313" name="Picture 284"/>
          <p:cNvPicPr>
            <a:picLocks noChangeArrowheads="1"/>
          </p:cNvPicPr>
          <p:nvPr/>
        </p:nvPicPr>
        <p:blipFill>
          <a:blip r:embed="rId3"/>
          <a:srcRect/>
          <a:stretch>
            <a:fillRect/>
          </a:stretch>
        </p:blipFill>
        <p:spPr bwMode="auto">
          <a:xfrm>
            <a:off x="1909763" y="2239045"/>
            <a:ext cx="400050" cy="330200"/>
          </a:xfrm>
          <a:prstGeom prst="rect">
            <a:avLst/>
          </a:prstGeom>
          <a:noFill/>
          <a:ln w="9525">
            <a:noFill/>
            <a:miter lim="800000"/>
            <a:headEnd/>
            <a:tailEnd/>
          </a:ln>
        </p:spPr>
      </p:pic>
      <p:graphicFrame>
        <p:nvGraphicFramePr>
          <p:cNvPr id="11267" name="Object 285"/>
          <p:cNvGraphicFramePr/>
          <p:nvPr/>
        </p:nvGraphicFramePr>
        <p:xfrm>
          <a:off x="677863" y="1699295"/>
          <a:ext cx="288925" cy="488950"/>
        </p:xfrm>
        <a:graphic>
          <a:graphicData uri="http://schemas.openxmlformats.org/presentationml/2006/ole">
            <mc:AlternateContent xmlns:mc="http://schemas.openxmlformats.org/markup-compatibility/2006">
              <mc:Choice xmlns:v="urn:schemas-microsoft-com:vml" Requires="v">
                <p:oleObj spid="_x0000_s6236" r:id="rId6" imgW="1962150" imgH="2638425" progId="">
                  <p:embed/>
                </p:oleObj>
              </mc:Choice>
              <mc:Fallback>
                <p:oleObj r:id="rId6" imgW="1962150" imgH="2638425" progId="">
                  <p:embed/>
                  <p:pic>
                    <p:nvPicPr>
                      <p:cNvPr id="11267" name="Object 28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863" y="1699295"/>
                        <a:ext cx="28892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314" name="Line 286"/>
          <p:cNvSpPr>
            <a:spLocks noChangeShapeType="1"/>
          </p:cNvSpPr>
          <p:nvPr/>
        </p:nvSpPr>
        <p:spPr bwMode="auto">
          <a:xfrm flipV="1">
            <a:off x="2041525" y="2931195"/>
            <a:ext cx="0" cy="441325"/>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11315" name="Line 287"/>
          <p:cNvSpPr>
            <a:spLocks noChangeShapeType="1"/>
          </p:cNvSpPr>
          <p:nvPr/>
        </p:nvSpPr>
        <p:spPr bwMode="auto">
          <a:xfrm flipV="1">
            <a:off x="1687513" y="2924845"/>
            <a:ext cx="0" cy="546100"/>
          </a:xfrm>
          <a:prstGeom prst="line">
            <a:avLst/>
          </a:prstGeom>
          <a:noFill/>
          <a:ln w="25399">
            <a:solidFill>
              <a:schemeClr val="tx1"/>
            </a:solidFill>
            <a:round/>
            <a:headEnd type="none" w="sm" len="sm"/>
            <a:tailEnd type="none" w="sm" len="sm"/>
          </a:ln>
        </p:spPr>
        <p:txBody>
          <a:bodyPr wrap="none" anchor="ctr"/>
          <a:lstStyle/>
          <a:p>
            <a:endParaRPr lang="zh-CN" altLang="en-US"/>
          </a:p>
        </p:txBody>
      </p:sp>
      <p:pic>
        <p:nvPicPr>
          <p:cNvPr id="11316" name="Picture 288"/>
          <p:cNvPicPr>
            <a:picLocks noChangeArrowheads="1"/>
          </p:cNvPicPr>
          <p:nvPr/>
        </p:nvPicPr>
        <p:blipFill>
          <a:blip r:embed="rId3"/>
          <a:srcRect/>
          <a:stretch>
            <a:fillRect/>
          </a:stretch>
        </p:blipFill>
        <p:spPr bwMode="auto">
          <a:xfrm>
            <a:off x="1497013" y="3229645"/>
            <a:ext cx="401637" cy="330200"/>
          </a:xfrm>
          <a:prstGeom prst="rect">
            <a:avLst/>
          </a:prstGeom>
          <a:noFill/>
          <a:ln w="9525">
            <a:noFill/>
            <a:miter lim="800000"/>
            <a:headEnd/>
            <a:tailEnd/>
          </a:ln>
        </p:spPr>
      </p:pic>
      <p:pic>
        <p:nvPicPr>
          <p:cNvPr id="11317" name="Picture 289"/>
          <p:cNvPicPr>
            <a:picLocks noChangeArrowheads="1"/>
          </p:cNvPicPr>
          <p:nvPr/>
        </p:nvPicPr>
        <p:blipFill>
          <a:blip r:embed="rId3"/>
          <a:srcRect/>
          <a:stretch>
            <a:fillRect/>
          </a:stretch>
        </p:blipFill>
        <p:spPr bwMode="auto">
          <a:xfrm>
            <a:off x="1893888" y="3229645"/>
            <a:ext cx="401637" cy="330200"/>
          </a:xfrm>
          <a:prstGeom prst="rect">
            <a:avLst/>
          </a:prstGeom>
          <a:noFill/>
          <a:ln w="9525">
            <a:noFill/>
            <a:miter lim="800000"/>
            <a:headEnd/>
            <a:tailEnd/>
          </a:ln>
        </p:spPr>
      </p:pic>
      <p:graphicFrame>
        <p:nvGraphicFramePr>
          <p:cNvPr id="11268" name="Object 290"/>
          <p:cNvGraphicFramePr/>
          <p:nvPr/>
        </p:nvGraphicFramePr>
        <p:xfrm>
          <a:off x="661988" y="2693070"/>
          <a:ext cx="288925" cy="488950"/>
        </p:xfrm>
        <a:graphic>
          <a:graphicData uri="http://schemas.openxmlformats.org/presentationml/2006/ole">
            <mc:AlternateContent xmlns:mc="http://schemas.openxmlformats.org/markup-compatibility/2006">
              <mc:Choice xmlns:v="urn:schemas-microsoft-com:vml" Requires="v">
                <p:oleObj spid="_x0000_s6237" r:id="rId7" imgW="1962150" imgH="2638425" progId="">
                  <p:embed/>
                </p:oleObj>
              </mc:Choice>
              <mc:Fallback>
                <p:oleObj r:id="rId7" imgW="1962150" imgH="2638425" progId="">
                  <p:embed/>
                  <p:pic>
                    <p:nvPicPr>
                      <p:cNvPr id="11268" name="Object 29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1988" y="2693070"/>
                        <a:ext cx="28892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318" name="Line 291"/>
          <p:cNvSpPr>
            <a:spLocks noChangeShapeType="1"/>
          </p:cNvSpPr>
          <p:nvPr/>
        </p:nvSpPr>
        <p:spPr bwMode="auto">
          <a:xfrm flipV="1">
            <a:off x="2041525" y="3909095"/>
            <a:ext cx="0" cy="444500"/>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11319" name="Line 292"/>
          <p:cNvSpPr>
            <a:spLocks noChangeShapeType="1"/>
          </p:cNvSpPr>
          <p:nvPr/>
        </p:nvSpPr>
        <p:spPr bwMode="auto">
          <a:xfrm flipV="1">
            <a:off x="1684338" y="3893220"/>
            <a:ext cx="0" cy="546100"/>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11320" name="Line 293"/>
          <p:cNvSpPr>
            <a:spLocks noChangeShapeType="1"/>
          </p:cNvSpPr>
          <p:nvPr/>
        </p:nvSpPr>
        <p:spPr bwMode="auto">
          <a:xfrm flipV="1">
            <a:off x="1266825" y="3893220"/>
            <a:ext cx="0" cy="428625"/>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11321" name="Line 294"/>
          <p:cNvSpPr>
            <a:spLocks noChangeShapeType="1"/>
          </p:cNvSpPr>
          <p:nvPr/>
        </p:nvSpPr>
        <p:spPr bwMode="auto">
          <a:xfrm>
            <a:off x="690563" y="3886870"/>
            <a:ext cx="1530350" cy="6350"/>
          </a:xfrm>
          <a:prstGeom prst="line">
            <a:avLst/>
          </a:prstGeom>
          <a:noFill/>
          <a:ln w="25399">
            <a:solidFill>
              <a:schemeClr val="tx1"/>
            </a:solidFill>
            <a:round/>
            <a:headEnd type="none" w="sm" len="sm"/>
            <a:tailEnd type="none" w="sm" len="sm"/>
          </a:ln>
        </p:spPr>
        <p:txBody>
          <a:bodyPr wrap="none" anchor="ctr"/>
          <a:lstStyle/>
          <a:p>
            <a:endParaRPr lang="zh-CN" altLang="en-US"/>
          </a:p>
        </p:txBody>
      </p:sp>
      <p:pic>
        <p:nvPicPr>
          <p:cNvPr id="11322" name="Picture 295"/>
          <p:cNvPicPr>
            <a:picLocks noChangeArrowheads="1"/>
          </p:cNvPicPr>
          <p:nvPr/>
        </p:nvPicPr>
        <p:blipFill>
          <a:blip r:embed="rId3"/>
          <a:srcRect/>
          <a:stretch>
            <a:fillRect/>
          </a:stretch>
        </p:blipFill>
        <p:spPr bwMode="auto">
          <a:xfrm>
            <a:off x="1119188" y="4201195"/>
            <a:ext cx="400050" cy="330200"/>
          </a:xfrm>
          <a:prstGeom prst="rect">
            <a:avLst/>
          </a:prstGeom>
          <a:noFill/>
          <a:ln w="9525">
            <a:noFill/>
            <a:miter lim="800000"/>
            <a:headEnd/>
            <a:tailEnd/>
          </a:ln>
        </p:spPr>
      </p:pic>
      <p:pic>
        <p:nvPicPr>
          <p:cNvPr id="11323" name="Picture 296"/>
          <p:cNvPicPr>
            <a:picLocks noChangeArrowheads="1"/>
          </p:cNvPicPr>
          <p:nvPr/>
        </p:nvPicPr>
        <p:blipFill>
          <a:blip r:embed="rId3"/>
          <a:srcRect/>
          <a:stretch>
            <a:fillRect/>
          </a:stretch>
        </p:blipFill>
        <p:spPr bwMode="auto">
          <a:xfrm>
            <a:off x="1497013" y="4201195"/>
            <a:ext cx="396875" cy="330200"/>
          </a:xfrm>
          <a:prstGeom prst="rect">
            <a:avLst/>
          </a:prstGeom>
          <a:noFill/>
          <a:ln w="9525">
            <a:noFill/>
            <a:miter lim="800000"/>
            <a:headEnd/>
            <a:tailEnd/>
          </a:ln>
        </p:spPr>
      </p:pic>
      <p:pic>
        <p:nvPicPr>
          <p:cNvPr id="11324" name="Picture 297"/>
          <p:cNvPicPr>
            <a:picLocks noChangeArrowheads="1"/>
          </p:cNvPicPr>
          <p:nvPr/>
        </p:nvPicPr>
        <p:blipFill>
          <a:blip r:embed="rId3"/>
          <a:srcRect/>
          <a:stretch>
            <a:fillRect/>
          </a:stretch>
        </p:blipFill>
        <p:spPr bwMode="auto">
          <a:xfrm>
            <a:off x="1890713" y="4201195"/>
            <a:ext cx="400050" cy="330200"/>
          </a:xfrm>
          <a:prstGeom prst="rect">
            <a:avLst/>
          </a:prstGeom>
          <a:noFill/>
          <a:ln w="9525">
            <a:noFill/>
            <a:miter lim="800000"/>
            <a:headEnd/>
            <a:tailEnd/>
          </a:ln>
        </p:spPr>
      </p:pic>
      <p:graphicFrame>
        <p:nvGraphicFramePr>
          <p:cNvPr id="11269" name="Object 298"/>
          <p:cNvGraphicFramePr/>
          <p:nvPr/>
        </p:nvGraphicFramePr>
        <p:xfrm>
          <a:off x="661988" y="3658270"/>
          <a:ext cx="285750" cy="495300"/>
        </p:xfrm>
        <a:graphic>
          <a:graphicData uri="http://schemas.openxmlformats.org/presentationml/2006/ole">
            <mc:AlternateContent xmlns:mc="http://schemas.openxmlformats.org/markup-compatibility/2006">
              <mc:Choice xmlns:v="urn:schemas-microsoft-com:vml" Requires="v">
                <p:oleObj spid="_x0000_s6238" r:id="rId8" imgW="1962150" imgH="2638425" progId="">
                  <p:embed/>
                </p:oleObj>
              </mc:Choice>
              <mc:Fallback>
                <p:oleObj r:id="rId8" imgW="1962150" imgH="2638425" progId="">
                  <p:embed/>
                  <p:pic>
                    <p:nvPicPr>
                      <p:cNvPr id="11269" name="Object 29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1988" y="3658270"/>
                        <a:ext cx="28575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325" name="Line 299"/>
          <p:cNvSpPr>
            <a:spLocks noChangeShapeType="1"/>
          </p:cNvSpPr>
          <p:nvPr/>
        </p:nvSpPr>
        <p:spPr bwMode="auto">
          <a:xfrm flipV="1">
            <a:off x="2009775" y="4864770"/>
            <a:ext cx="0" cy="444500"/>
          </a:xfrm>
          <a:prstGeom prst="line">
            <a:avLst/>
          </a:prstGeom>
          <a:noFill/>
          <a:ln w="25399">
            <a:solidFill>
              <a:schemeClr val="tx1"/>
            </a:solidFill>
            <a:round/>
            <a:headEnd type="none" w="sm" len="sm"/>
            <a:tailEnd type="none" w="sm" len="sm"/>
          </a:ln>
        </p:spPr>
        <p:txBody>
          <a:bodyPr wrap="none" anchor="ctr"/>
          <a:lstStyle/>
          <a:p>
            <a:endParaRPr lang="zh-CN" altLang="en-US"/>
          </a:p>
        </p:txBody>
      </p:sp>
      <p:sp>
        <p:nvSpPr>
          <p:cNvPr id="11326" name="Line 300"/>
          <p:cNvSpPr>
            <a:spLocks noChangeShapeType="1"/>
          </p:cNvSpPr>
          <p:nvPr/>
        </p:nvSpPr>
        <p:spPr bwMode="auto">
          <a:xfrm flipV="1">
            <a:off x="1652588" y="4845720"/>
            <a:ext cx="0" cy="549275"/>
          </a:xfrm>
          <a:prstGeom prst="line">
            <a:avLst/>
          </a:prstGeom>
          <a:noFill/>
          <a:ln w="25399">
            <a:solidFill>
              <a:schemeClr val="tx1"/>
            </a:solidFill>
            <a:round/>
            <a:headEnd type="none" w="sm" len="sm"/>
            <a:tailEnd type="none" w="sm" len="sm"/>
          </a:ln>
        </p:spPr>
        <p:txBody>
          <a:bodyPr wrap="none" anchor="ctr"/>
          <a:lstStyle/>
          <a:p>
            <a:endParaRPr lang="zh-CN" altLang="en-US"/>
          </a:p>
        </p:txBody>
      </p:sp>
      <p:pic>
        <p:nvPicPr>
          <p:cNvPr id="11327" name="Picture 301"/>
          <p:cNvPicPr>
            <a:picLocks noChangeArrowheads="1"/>
          </p:cNvPicPr>
          <p:nvPr/>
        </p:nvPicPr>
        <p:blipFill>
          <a:blip r:embed="rId3"/>
          <a:srcRect/>
          <a:stretch>
            <a:fillRect/>
          </a:stretch>
        </p:blipFill>
        <p:spPr bwMode="auto">
          <a:xfrm>
            <a:off x="1465263" y="5153695"/>
            <a:ext cx="396875" cy="330200"/>
          </a:xfrm>
          <a:prstGeom prst="rect">
            <a:avLst/>
          </a:prstGeom>
          <a:noFill/>
          <a:ln w="9525">
            <a:noFill/>
            <a:miter lim="800000"/>
            <a:headEnd/>
            <a:tailEnd/>
          </a:ln>
        </p:spPr>
      </p:pic>
      <p:pic>
        <p:nvPicPr>
          <p:cNvPr id="11328" name="Picture 302"/>
          <p:cNvPicPr>
            <a:picLocks noChangeArrowheads="1"/>
          </p:cNvPicPr>
          <p:nvPr/>
        </p:nvPicPr>
        <p:blipFill>
          <a:blip r:embed="rId3"/>
          <a:srcRect/>
          <a:stretch>
            <a:fillRect/>
          </a:stretch>
        </p:blipFill>
        <p:spPr bwMode="auto">
          <a:xfrm>
            <a:off x="1855788" y="5153695"/>
            <a:ext cx="400050" cy="330200"/>
          </a:xfrm>
          <a:prstGeom prst="rect">
            <a:avLst/>
          </a:prstGeom>
          <a:noFill/>
          <a:ln w="9525">
            <a:noFill/>
            <a:miter lim="800000"/>
            <a:headEnd/>
            <a:tailEnd/>
          </a:ln>
        </p:spPr>
      </p:pic>
      <p:graphicFrame>
        <p:nvGraphicFramePr>
          <p:cNvPr id="11270" name="Object 303"/>
          <p:cNvGraphicFramePr/>
          <p:nvPr/>
        </p:nvGraphicFramePr>
        <p:xfrm>
          <a:off x="627063" y="4613945"/>
          <a:ext cx="285750" cy="488950"/>
        </p:xfrm>
        <a:graphic>
          <a:graphicData uri="http://schemas.openxmlformats.org/presentationml/2006/ole">
            <mc:AlternateContent xmlns:mc="http://schemas.openxmlformats.org/markup-compatibility/2006">
              <mc:Choice xmlns:v="urn:schemas-microsoft-com:vml" Requires="v">
                <p:oleObj spid="_x0000_s6239" r:id="rId9" imgW="1962150" imgH="2638425" progId="">
                  <p:embed/>
                </p:oleObj>
              </mc:Choice>
              <mc:Fallback>
                <p:oleObj r:id="rId9" imgW="1962150" imgH="2638425" progId="">
                  <p:embed/>
                  <p:pic>
                    <p:nvPicPr>
                      <p:cNvPr id="11270" name="Object 30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7063" y="4613945"/>
                        <a:ext cx="28575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50160" name="Picture 304"/>
          <p:cNvPicPr>
            <a:picLocks noChangeArrowheads="1"/>
          </p:cNvPicPr>
          <p:nvPr/>
        </p:nvPicPr>
        <p:blipFill>
          <a:blip r:embed="rId10"/>
          <a:srcRect/>
          <a:stretch>
            <a:fillRect/>
          </a:stretch>
        </p:blipFill>
        <p:spPr bwMode="auto">
          <a:xfrm>
            <a:off x="6584950" y="1419895"/>
            <a:ext cx="1839913" cy="1089025"/>
          </a:xfrm>
          <a:prstGeom prst="rect">
            <a:avLst/>
          </a:prstGeom>
          <a:noFill/>
          <a:ln w="9525">
            <a:noFill/>
            <a:miter lim="800000"/>
            <a:headEnd/>
            <a:tailEnd/>
          </a:ln>
          <a:effectLst>
            <a:outerShdw dist="107763" dir="2700000" algn="ctr" rotWithShape="0">
              <a:schemeClr val="bg2"/>
            </a:outerShdw>
          </a:effectLst>
        </p:spPr>
      </p:pic>
      <p:sp>
        <p:nvSpPr>
          <p:cNvPr id="250161" name="Rectangle 305"/>
          <p:cNvSpPr>
            <a:spLocks noChangeArrowheads="1"/>
          </p:cNvSpPr>
          <p:nvPr/>
        </p:nvSpPr>
        <p:spPr bwMode="auto">
          <a:xfrm>
            <a:off x="6961188" y="1873920"/>
            <a:ext cx="1636712" cy="452437"/>
          </a:xfrm>
          <a:prstGeom prst="rect">
            <a:avLst/>
          </a:prstGeom>
          <a:noFill/>
          <a:ln w="9525">
            <a:noFill/>
            <a:miter lim="800000"/>
          </a:ln>
          <a:effectLst/>
        </p:spPr>
        <p:txBody>
          <a:bodyPr lIns="102026" tIns="51012" rIns="102026" bIns="51012">
            <a:spAutoFit/>
          </a:bodyPr>
          <a:lstStyle/>
          <a:p>
            <a:pPr defTabSz="1050925" eaLnBrk="0" hangingPunct="0">
              <a:defRPr/>
            </a:pPr>
            <a:r>
              <a:rPr kumimoji="1" lang="en-US" altLang="zh-CN" sz="2300">
                <a:effectLst>
                  <a:outerShdw blurRad="38100" dist="38100" dir="2700000" algn="tl">
                    <a:srgbClr val="C0C0C0"/>
                  </a:outerShdw>
                </a:effectLst>
                <a:latin typeface="ACaslon Bold" charset="0"/>
              </a:rPr>
              <a:t>Internet</a:t>
            </a:r>
          </a:p>
        </p:txBody>
      </p:sp>
      <p:grpSp>
        <p:nvGrpSpPr>
          <p:cNvPr id="250268" name="Group 306"/>
          <p:cNvGrpSpPr/>
          <p:nvPr/>
        </p:nvGrpSpPr>
        <p:grpSpPr bwMode="auto">
          <a:xfrm>
            <a:off x="5805488" y="2693070"/>
            <a:ext cx="619125" cy="320675"/>
            <a:chOff x="3097" y="1731"/>
            <a:chExt cx="348" cy="202"/>
          </a:xfrm>
        </p:grpSpPr>
        <p:grpSp>
          <p:nvGrpSpPr>
            <p:cNvPr id="250269" name="Group 307"/>
            <p:cNvGrpSpPr/>
            <p:nvPr/>
          </p:nvGrpSpPr>
          <p:grpSpPr bwMode="auto">
            <a:xfrm>
              <a:off x="3098" y="1801"/>
              <a:ext cx="192" cy="132"/>
              <a:chOff x="3098" y="1801"/>
              <a:chExt cx="192" cy="132"/>
            </a:xfrm>
          </p:grpSpPr>
          <p:sp>
            <p:nvSpPr>
              <p:cNvPr id="11499" name="Freeform 308"/>
              <p:cNvSpPr/>
              <p:nvPr/>
            </p:nvSpPr>
            <p:spPr bwMode="auto">
              <a:xfrm>
                <a:off x="3098" y="1802"/>
                <a:ext cx="184" cy="124"/>
              </a:xfrm>
              <a:custGeom>
                <a:avLst/>
                <a:gdLst>
                  <a:gd name="T0" fmla="*/ 183 w 184"/>
                  <a:gd name="T1" fmla="*/ 33 h 124"/>
                  <a:gd name="T2" fmla="*/ 183 w 184"/>
                  <a:gd name="T3" fmla="*/ 123 h 124"/>
                  <a:gd name="T4" fmla="*/ 0 w 184"/>
                  <a:gd name="T5" fmla="*/ 83 h 124"/>
                  <a:gd name="T6" fmla="*/ 0 w 184"/>
                  <a:gd name="T7" fmla="*/ 0 h 124"/>
                  <a:gd name="T8" fmla="*/ 183 w 184"/>
                  <a:gd name="T9" fmla="*/ 33 h 124"/>
                  <a:gd name="T10" fmla="*/ 0 60000 65536"/>
                  <a:gd name="T11" fmla="*/ 0 60000 65536"/>
                  <a:gd name="T12" fmla="*/ 0 60000 65536"/>
                  <a:gd name="T13" fmla="*/ 0 60000 65536"/>
                  <a:gd name="T14" fmla="*/ 0 60000 65536"/>
                  <a:gd name="T15" fmla="*/ 0 w 184"/>
                  <a:gd name="T16" fmla="*/ 0 h 124"/>
                  <a:gd name="T17" fmla="*/ 184 w 184"/>
                  <a:gd name="T18" fmla="*/ 124 h 124"/>
                </a:gdLst>
                <a:ahLst/>
                <a:cxnLst>
                  <a:cxn ang="T10">
                    <a:pos x="T0" y="T1"/>
                  </a:cxn>
                  <a:cxn ang="T11">
                    <a:pos x="T2" y="T3"/>
                  </a:cxn>
                  <a:cxn ang="T12">
                    <a:pos x="T4" y="T5"/>
                  </a:cxn>
                  <a:cxn ang="T13">
                    <a:pos x="T6" y="T7"/>
                  </a:cxn>
                  <a:cxn ang="T14">
                    <a:pos x="T8" y="T9"/>
                  </a:cxn>
                </a:cxnLst>
                <a:rect l="T15" t="T16" r="T17" b="T18"/>
                <a:pathLst>
                  <a:path w="184" h="124">
                    <a:moveTo>
                      <a:pt x="183" y="33"/>
                    </a:moveTo>
                    <a:lnTo>
                      <a:pt x="183" y="123"/>
                    </a:lnTo>
                    <a:lnTo>
                      <a:pt x="0" y="83"/>
                    </a:lnTo>
                    <a:lnTo>
                      <a:pt x="0" y="0"/>
                    </a:lnTo>
                    <a:lnTo>
                      <a:pt x="183" y="33"/>
                    </a:lnTo>
                  </a:path>
                </a:pathLst>
              </a:custGeom>
              <a:gradFill rotWithShape="0">
                <a:gsLst>
                  <a:gs pos="0">
                    <a:srgbClr val="33CC33"/>
                  </a:gs>
                  <a:gs pos="100000">
                    <a:srgbClr val="2EB72E"/>
                  </a:gs>
                </a:gsLst>
                <a:path path="rect">
                  <a:fillToRect l="50000" t="50000" r="50000" b="50000"/>
                </a:path>
              </a:gradFill>
              <a:ln w="9525" cap="rnd">
                <a:noFill/>
                <a:round/>
              </a:ln>
            </p:spPr>
            <p:txBody>
              <a:bodyPr/>
              <a:lstStyle/>
              <a:p>
                <a:endParaRPr lang="zh-CN" altLang="en-US"/>
              </a:p>
            </p:txBody>
          </p:sp>
          <p:sp>
            <p:nvSpPr>
              <p:cNvPr id="11500" name="Freeform 309"/>
              <p:cNvSpPr/>
              <p:nvPr/>
            </p:nvSpPr>
            <p:spPr bwMode="auto">
              <a:xfrm>
                <a:off x="3100" y="1801"/>
                <a:ext cx="190" cy="132"/>
              </a:xfrm>
              <a:custGeom>
                <a:avLst/>
                <a:gdLst>
                  <a:gd name="T0" fmla="*/ 189 w 190"/>
                  <a:gd name="T1" fmla="*/ 36 h 132"/>
                  <a:gd name="T2" fmla="*/ 189 w 190"/>
                  <a:gd name="T3" fmla="*/ 131 h 132"/>
                  <a:gd name="T4" fmla="*/ 0 w 190"/>
                  <a:gd name="T5" fmla="*/ 88 h 132"/>
                  <a:gd name="T6" fmla="*/ 0 w 190"/>
                  <a:gd name="T7" fmla="*/ 0 h 132"/>
                  <a:gd name="T8" fmla="*/ 189 w 190"/>
                  <a:gd name="T9" fmla="*/ 36 h 132"/>
                  <a:gd name="T10" fmla="*/ 0 60000 65536"/>
                  <a:gd name="T11" fmla="*/ 0 60000 65536"/>
                  <a:gd name="T12" fmla="*/ 0 60000 65536"/>
                  <a:gd name="T13" fmla="*/ 0 60000 65536"/>
                  <a:gd name="T14" fmla="*/ 0 60000 65536"/>
                  <a:gd name="T15" fmla="*/ 0 w 190"/>
                  <a:gd name="T16" fmla="*/ 0 h 132"/>
                  <a:gd name="T17" fmla="*/ 190 w 190"/>
                  <a:gd name="T18" fmla="*/ 132 h 132"/>
                </a:gdLst>
                <a:ahLst/>
                <a:cxnLst>
                  <a:cxn ang="T10">
                    <a:pos x="T0" y="T1"/>
                  </a:cxn>
                  <a:cxn ang="T11">
                    <a:pos x="T2" y="T3"/>
                  </a:cxn>
                  <a:cxn ang="T12">
                    <a:pos x="T4" y="T5"/>
                  </a:cxn>
                  <a:cxn ang="T13">
                    <a:pos x="T6" y="T7"/>
                  </a:cxn>
                  <a:cxn ang="T14">
                    <a:pos x="T8" y="T9"/>
                  </a:cxn>
                </a:cxnLst>
                <a:rect l="T15" t="T16" r="T17" b="T18"/>
                <a:pathLst>
                  <a:path w="190" h="132">
                    <a:moveTo>
                      <a:pt x="189" y="36"/>
                    </a:moveTo>
                    <a:lnTo>
                      <a:pt x="189" y="131"/>
                    </a:lnTo>
                    <a:lnTo>
                      <a:pt x="0" y="88"/>
                    </a:lnTo>
                    <a:lnTo>
                      <a:pt x="0" y="0"/>
                    </a:lnTo>
                    <a:lnTo>
                      <a:pt x="189" y="36"/>
                    </a:lnTo>
                  </a:path>
                </a:pathLst>
              </a:custGeom>
              <a:gradFill rotWithShape="0">
                <a:gsLst>
                  <a:gs pos="0">
                    <a:srgbClr val="33CC33"/>
                  </a:gs>
                  <a:gs pos="100000">
                    <a:srgbClr val="2EB72E"/>
                  </a:gs>
                </a:gsLst>
                <a:path path="rect">
                  <a:fillToRect l="50000" t="50000" r="50000" b="50000"/>
                </a:path>
              </a:gradFill>
              <a:ln w="9525" cap="rnd">
                <a:noFill/>
                <a:round/>
              </a:ln>
            </p:spPr>
            <p:txBody>
              <a:bodyPr/>
              <a:lstStyle/>
              <a:p>
                <a:endParaRPr lang="zh-CN" altLang="en-US"/>
              </a:p>
            </p:txBody>
          </p:sp>
        </p:grpSp>
        <p:grpSp>
          <p:nvGrpSpPr>
            <p:cNvPr id="250270" name="Group 310"/>
            <p:cNvGrpSpPr/>
            <p:nvPr/>
          </p:nvGrpSpPr>
          <p:grpSpPr bwMode="auto">
            <a:xfrm>
              <a:off x="3097" y="1731"/>
              <a:ext cx="345" cy="108"/>
              <a:chOff x="3097" y="1731"/>
              <a:chExt cx="345" cy="108"/>
            </a:xfrm>
          </p:grpSpPr>
          <p:sp>
            <p:nvSpPr>
              <p:cNvPr id="11497" name="Freeform 311"/>
              <p:cNvSpPr/>
              <p:nvPr/>
            </p:nvSpPr>
            <p:spPr bwMode="auto">
              <a:xfrm>
                <a:off x="3098" y="1731"/>
                <a:ext cx="336" cy="103"/>
              </a:xfrm>
              <a:custGeom>
                <a:avLst/>
                <a:gdLst>
                  <a:gd name="T0" fmla="*/ 185 w 336"/>
                  <a:gd name="T1" fmla="*/ 102 h 103"/>
                  <a:gd name="T2" fmla="*/ 0 w 336"/>
                  <a:gd name="T3" fmla="*/ 68 h 103"/>
                  <a:gd name="T4" fmla="*/ 174 w 336"/>
                  <a:gd name="T5" fmla="*/ 0 h 103"/>
                  <a:gd name="T6" fmla="*/ 335 w 336"/>
                  <a:gd name="T7" fmla="*/ 27 h 103"/>
                  <a:gd name="T8" fmla="*/ 185 w 336"/>
                  <a:gd name="T9" fmla="*/ 102 h 103"/>
                  <a:gd name="T10" fmla="*/ 0 60000 65536"/>
                  <a:gd name="T11" fmla="*/ 0 60000 65536"/>
                  <a:gd name="T12" fmla="*/ 0 60000 65536"/>
                  <a:gd name="T13" fmla="*/ 0 60000 65536"/>
                  <a:gd name="T14" fmla="*/ 0 60000 65536"/>
                  <a:gd name="T15" fmla="*/ 0 w 336"/>
                  <a:gd name="T16" fmla="*/ 0 h 103"/>
                  <a:gd name="T17" fmla="*/ 336 w 336"/>
                  <a:gd name="T18" fmla="*/ 103 h 103"/>
                </a:gdLst>
                <a:ahLst/>
                <a:cxnLst>
                  <a:cxn ang="T10">
                    <a:pos x="T0" y="T1"/>
                  </a:cxn>
                  <a:cxn ang="T11">
                    <a:pos x="T2" y="T3"/>
                  </a:cxn>
                  <a:cxn ang="T12">
                    <a:pos x="T4" y="T5"/>
                  </a:cxn>
                  <a:cxn ang="T13">
                    <a:pos x="T6" y="T7"/>
                  </a:cxn>
                  <a:cxn ang="T14">
                    <a:pos x="T8" y="T9"/>
                  </a:cxn>
                </a:cxnLst>
                <a:rect l="T15" t="T16" r="T17" b="T18"/>
                <a:pathLst>
                  <a:path w="336" h="103">
                    <a:moveTo>
                      <a:pt x="185" y="102"/>
                    </a:moveTo>
                    <a:lnTo>
                      <a:pt x="0" y="68"/>
                    </a:lnTo>
                    <a:lnTo>
                      <a:pt x="174" y="0"/>
                    </a:lnTo>
                    <a:lnTo>
                      <a:pt x="335" y="27"/>
                    </a:lnTo>
                    <a:lnTo>
                      <a:pt x="185" y="102"/>
                    </a:lnTo>
                  </a:path>
                </a:pathLst>
              </a:custGeom>
              <a:gradFill rotWithShape="0">
                <a:gsLst>
                  <a:gs pos="0">
                    <a:srgbClr val="33CC33"/>
                  </a:gs>
                  <a:gs pos="100000">
                    <a:srgbClr val="2EB72E"/>
                  </a:gs>
                </a:gsLst>
                <a:path path="rect">
                  <a:fillToRect l="50000" t="50000" r="50000" b="50000"/>
                </a:path>
              </a:gradFill>
              <a:ln w="9525" cap="rnd">
                <a:noFill/>
                <a:round/>
              </a:ln>
            </p:spPr>
            <p:txBody>
              <a:bodyPr/>
              <a:lstStyle/>
              <a:p>
                <a:endParaRPr lang="zh-CN" altLang="en-US"/>
              </a:p>
            </p:txBody>
          </p:sp>
          <p:sp>
            <p:nvSpPr>
              <p:cNvPr id="11498" name="Freeform 312"/>
              <p:cNvSpPr/>
              <p:nvPr/>
            </p:nvSpPr>
            <p:spPr bwMode="auto">
              <a:xfrm>
                <a:off x="3097" y="1731"/>
                <a:ext cx="345" cy="108"/>
              </a:xfrm>
              <a:custGeom>
                <a:avLst/>
                <a:gdLst>
                  <a:gd name="T0" fmla="*/ 190 w 345"/>
                  <a:gd name="T1" fmla="*/ 107 h 108"/>
                  <a:gd name="T2" fmla="*/ 0 w 345"/>
                  <a:gd name="T3" fmla="*/ 71 h 108"/>
                  <a:gd name="T4" fmla="*/ 179 w 345"/>
                  <a:gd name="T5" fmla="*/ 0 h 108"/>
                  <a:gd name="T6" fmla="*/ 344 w 345"/>
                  <a:gd name="T7" fmla="*/ 28 h 108"/>
                  <a:gd name="T8" fmla="*/ 190 w 345"/>
                  <a:gd name="T9" fmla="*/ 107 h 108"/>
                  <a:gd name="T10" fmla="*/ 0 60000 65536"/>
                  <a:gd name="T11" fmla="*/ 0 60000 65536"/>
                  <a:gd name="T12" fmla="*/ 0 60000 65536"/>
                  <a:gd name="T13" fmla="*/ 0 60000 65536"/>
                  <a:gd name="T14" fmla="*/ 0 60000 65536"/>
                  <a:gd name="T15" fmla="*/ 0 w 345"/>
                  <a:gd name="T16" fmla="*/ 0 h 108"/>
                  <a:gd name="T17" fmla="*/ 345 w 345"/>
                  <a:gd name="T18" fmla="*/ 108 h 108"/>
                </a:gdLst>
                <a:ahLst/>
                <a:cxnLst>
                  <a:cxn ang="T10">
                    <a:pos x="T0" y="T1"/>
                  </a:cxn>
                  <a:cxn ang="T11">
                    <a:pos x="T2" y="T3"/>
                  </a:cxn>
                  <a:cxn ang="T12">
                    <a:pos x="T4" y="T5"/>
                  </a:cxn>
                  <a:cxn ang="T13">
                    <a:pos x="T6" y="T7"/>
                  </a:cxn>
                  <a:cxn ang="T14">
                    <a:pos x="T8" y="T9"/>
                  </a:cxn>
                </a:cxnLst>
                <a:rect l="T15" t="T16" r="T17" b="T18"/>
                <a:pathLst>
                  <a:path w="345" h="108">
                    <a:moveTo>
                      <a:pt x="190" y="107"/>
                    </a:moveTo>
                    <a:lnTo>
                      <a:pt x="0" y="71"/>
                    </a:lnTo>
                    <a:lnTo>
                      <a:pt x="179" y="0"/>
                    </a:lnTo>
                    <a:lnTo>
                      <a:pt x="344" y="28"/>
                    </a:lnTo>
                    <a:lnTo>
                      <a:pt x="190" y="107"/>
                    </a:lnTo>
                  </a:path>
                </a:pathLst>
              </a:custGeom>
              <a:gradFill rotWithShape="0">
                <a:gsLst>
                  <a:gs pos="0">
                    <a:srgbClr val="33CC33"/>
                  </a:gs>
                  <a:gs pos="100000">
                    <a:srgbClr val="2EB72E"/>
                  </a:gs>
                </a:gsLst>
                <a:path path="rect">
                  <a:fillToRect l="50000" t="50000" r="50000" b="50000"/>
                </a:path>
              </a:gradFill>
              <a:ln w="9525" cap="rnd">
                <a:noFill/>
                <a:round/>
              </a:ln>
            </p:spPr>
            <p:txBody>
              <a:bodyPr/>
              <a:lstStyle/>
              <a:p>
                <a:endParaRPr lang="zh-CN" altLang="en-US"/>
              </a:p>
            </p:txBody>
          </p:sp>
        </p:grpSp>
        <p:grpSp>
          <p:nvGrpSpPr>
            <p:cNvPr id="250271" name="Group 313"/>
            <p:cNvGrpSpPr/>
            <p:nvPr/>
          </p:nvGrpSpPr>
          <p:grpSpPr bwMode="auto">
            <a:xfrm>
              <a:off x="3290" y="1758"/>
              <a:ext cx="155" cy="175"/>
              <a:chOff x="3290" y="1758"/>
              <a:chExt cx="155" cy="175"/>
            </a:xfrm>
          </p:grpSpPr>
          <p:sp>
            <p:nvSpPr>
              <p:cNvPr id="11495" name="Freeform 314"/>
              <p:cNvSpPr/>
              <p:nvPr/>
            </p:nvSpPr>
            <p:spPr bwMode="auto">
              <a:xfrm>
                <a:off x="3291" y="1759"/>
                <a:ext cx="146" cy="167"/>
              </a:xfrm>
              <a:custGeom>
                <a:avLst/>
                <a:gdLst>
                  <a:gd name="T0" fmla="*/ 145 w 146"/>
                  <a:gd name="T1" fmla="*/ 0 h 167"/>
                  <a:gd name="T2" fmla="*/ 0 w 146"/>
                  <a:gd name="T3" fmla="*/ 75 h 167"/>
                  <a:gd name="T4" fmla="*/ 0 w 146"/>
                  <a:gd name="T5" fmla="*/ 166 h 167"/>
                  <a:gd name="T6" fmla="*/ 145 w 146"/>
                  <a:gd name="T7" fmla="*/ 79 h 167"/>
                  <a:gd name="T8" fmla="*/ 145 w 146"/>
                  <a:gd name="T9" fmla="*/ 0 h 167"/>
                  <a:gd name="T10" fmla="*/ 0 60000 65536"/>
                  <a:gd name="T11" fmla="*/ 0 60000 65536"/>
                  <a:gd name="T12" fmla="*/ 0 60000 65536"/>
                  <a:gd name="T13" fmla="*/ 0 60000 65536"/>
                  <a:gd name="T14" fmla="*/ 0 60000 65536"/>
                  <a:gd name="T15" fmla="*/ 0 w 146"/>
                  <a:gd name="T16" fmla="*/ 0 h 167"/>
                  <a:gd name="T17" fmla="*/ 146 w 146"/>
                  <a:gd name="T18" fmla="*/ 167 h 167"/>
                </a:gdLst>
                <a:ahLst/>
                <a:cxnLst>
                  <a:cxn ang="T10">
                    <a:pos x="T0" y="T1"/>
                  </a:cxn>
                  <a:cxn ang="T11">
                    <a:pos x="T2" y="T3"/>
                  </a:cxn>
                  <a:cxn ang="T12">
                    <a:pos x="T4" y="T5"/>
                  </a:cxn>
                  <a:cxn ang="T13">
                    <a:pos x="T6" y="T7"/>
                  </a:cxn>
                  <a:cxn ang="T14">
                    <a:pos x="T8" y="T9"/>
                  </a:cxn>
                </a:cxnLst>
                <a:rect l="T15" t="T16" r="T17" b="T18"/>
                <a:pathLst>
                  <a:path w="146" h="167">
                    <a:moveTo>
                      <a:pt x="145" y="0"/>
                    </a:moveTo>
                    <a:lnTo>
                      <a:pt x="0" y="75"/>
                    </a:lnTo>
                    <a:lnTo>
                      <a:pt x="0" y="166"/>
                    </a:lnTo>
                    <a:lnTo>
                      <a:pt x="145" y="79"/>
                    </a:lnTo>
                    <a:lnTo>
                      <a:pt x="145" y="0"/>
                    </a:lnTo>
                  </a:path>
                </a:pathLst>
              </a:custGeom>
              <a:gradFill rotWithShape="0">
                <a:gsLst>
                  <a:gs pos="0">
                    <a:srgbClr val="33CC33"/>
                  </a:gs>
                  <a:gs pos="100000">
                    <a:srgbClr val="2EB72E"/>
                  </a:gs>
                </a:gsLst>
                <a:path path="rect">
                  <a:fillToRect l="50000" t="50000" r="50000" b="50000"/>
                </a:path>
              </a:gradFill>
              <a:ln w="9525" cap="rnd">
                <a:noFill/>
                <a:round/>
              </a:ln>
            </p:spPr>
            <p:txBody>
              <a:bodyPr/>
              <a:lstStyle/>
              <a:p>
                <a:endParaRPr lang="zh-CN" altLang="en-US"/>
              </a:p>
            </p:txBody>
          </p:sp>
          <p:sp>
            <p:nvSpPr>
              <p:cNvPr id="11496" name="Freeform 315"/>
              <p:cNvSpPr/>
              <p:nvPr/>
            </p:nvSpPr>
            <p:spPr bwMode="auto">
              <a:xfrm>
                <a:off x="3290" y="1758"/>
                <a:ext cx="155" cy="175"/>
              </a:xfrm>
              <a:custGeom>
                <a:avLst/>
                <a:gdLst>
                  <a:gd name="T0" fmla="*/ 154 w 155"/>
                  <a:gd name="T1" fmla="*/ 0 h 175"/>
                  <a:gd name="T2" fmla="*/ 0 w 155"/>
                  <a:gd name="T3" fmla="*/ 80 h 175"/>
                  <a:gd name="T4" fmla="*/ 0 w 155"/>
                  <a:gd name="T5" fmla="*/ 174 h 175"/>
                  <a:gd name="T6" fmla="*/ 154 w 155"/>
                  <a:gd name="T7" fmla="*/ 84 h 175"/>
                  <a:gd name="T8" fmla="*/ 154 w 155"/>
                  <a:gd name="T9" fmla="*/ 0 h 175"/>
                  <a:gd name="T10" fmla="*/ 0 60000 65536"/>
                  <a:gd name="T11" fmla="*/ 0 60000 65536"/>
                  <a:gd name="T12" fmla="*/ 0 60000 65536"/>
                  <a:gd name="T13" fmla="*/ 0 60000 65536"/>
                  <a:gd name="T14" fmla="*/ 0 60000 65536"/>
                  <a:gd name="T15" fmla="*/ 0 w 155"/>
                  <a:gd name="T16" fmla="*/ 0 h 175"/>
                  <a:gd name="T17" fmla="*/ 155 w 155"/>
                  <a:gd name="T18" fmla="*/ 175 h 175"/>
                </a:gdLst>
                <a:ahLst/>
                <a:cxnLst>
                  <a:cxn ang="T10">
                    <a:pos x="T0" y="T1"/>
                  </a:cxn>
                  <a:cxn ang="T11">
                    <a:pos x="T2" y="T3"/>
                  </a:cxn>
                  <a:cxn ang="T12">
                    <a:pos x="T4" y="T5"/>
                  </a:cxn>
                  <a:cxn ang="T13">
                    <a:pos x="T6" y="T7"/>
                  </a:cxn>
                  <a:cxn ang="T14">
                    <a:pos x="T8" y="T9"/>
                  </a:cxn>
                </a:cxnLst>
                <a:rect l="T15" t="T16" r="T17" b="T18"/>
                <a:pathLst>
                  <a:path w="155" h="175">
                    <a:moveTo>
                      <a:pt x="154" y="0"/>
                    </a:moveTo>
                    <a:lnTo>
                      <a:pt x="0" y="80"/>
                    </a:lnTo>
                    <a:lnTo>
                      <a:pt x="0" y="174"/>
                    </a:lnTo>
                    <a:lnTo>
                      <a:pt x="154" y="84"/>
                    </a:lnTo>
                    <a:lnTo>
                      <a:pt x="154" y="0"/>
                    </a:lnTo>
                  </a:path>
                </a:pathLst>
              </a:custGeom>
              <a:gradFill rotWithShape="0">
                <a:gsLst>
                  <a:gs pos="0">
                    <a:srgbClr val="33CC33"/>
                  </a:gs>
                  <a:gs pos="100000">
                    <a:srgbClr val="2EB72E"/>
                  </a:gs>
                </a:gsLst>
                <a:path path="rect">
                  <a:fillToRect l="50000" t="50000" r="50000" b="50000"/>
                </a:path>
              </a:gradFill>
              <a:ln w="9525" cap="rnd">
                <a:noFill/>
                <a:round/>
              </a:ln>
            </p:spPr>
            <p:txBody>
              <a:bodyPr/>
              <a:lstStyle/>
              <a:p>
                <a:endParaRPr lang="zh-CN" altLang="en-US"/>
              </a:p>
            </p:txBody>
          </p:sp>
        </p:grpSp>
      </p:grpSp>
      <p:sp>
        <p:nvSpPr>
          <p:cNvPr id="250172" name="Rectangle 316"/>
          <p:cNvSpPr>
            <a:spLocks noChangeArrowheads="1"/>
          </p:cNvSpPr>
          <p:nvPr/>
        </p:nvSpPr>
        <p:spPr bwMode="auto">
          <a:xfrm>
            <a:off x="5600700" y="2442245"/>
            <a:ext cx="973138" cy="282575"/>
          </a:xfrm>
          <a:prstGeom prst="rect">
            <a:avLst/>
          </a:prstGeom>
          <a:noFill/>
          <a:ln w="9525">
            <a:noFill/>
            <a:miter lim="800000"/>
          </a:ln>
          <a:effectLst/>
        </p:spPr>
        <p:txBody>
          <a:bodyPr lIns="102026" tIns="51012" rIns="102026" bIns="51012">
            <a:spAutoFit/>
          </a:bodyPr>
          <a:lstStyle/>
          <a:p>
            <a:pPr defTabSz="1050925" eaLnBrk="0" hangingPunct="0">
              <a:lnSpc>
                <a:spcPct val="85000"/>
              </a:lnSpc>
              <a:defRPr/>
            </a:pPr>
            <a:r>
              <a:rPr kumimoji="1" lang="zh-CN" altLang="en-US" sz="1400" b="0">
                <a:effectLst>
                  <a:outerShdw blurRad="38100" dist="38100" dir="2700000" algn="tl">
                    <a:srgbClr val="C0C0C0"/>
                  </a:outerShdw>
                </a:effectLst>
                <a:latin typeface="ACaslon Bold" charset="0"/>
              </a:rPr>
              <a:t>中继</a:t>
            </a:r>
          </a:p>
        </p:txBody>
      </p:sp>
      <p:grpSp>
        <p:nvGrpSpPr>
          <p:cNvPr id="250272" name="Group 317"/>
          <p:cNvGrpSpPr/>
          <p:nvPr/>
        </p:nvGrpSpPr>
        <p:grpSpPr bwMode="auto">
          <a:xfrm>
            <a:off x="6924675" y="3204245"/>
            <a:ext cx="1590675" cy="1662112"/>
            <a:chOff x="3746" y="2089"/>
            <a:chExt cx="891" cy="1046"/>
          </a:xfrm>
        </p:grpSpPr>
        <p:grpSp>
          <p:nvGrpSpPr>
            <p:cNvPr id="250273" name="Group 318"/>
            <p:cNvGrpSpPr/>
            <p:nvPr/>
          </p:nvGrpSpPr>
          <p:grpSpPr bwMode="auto">
            <a:xfrm>
              <a:off x="3759" y="2089"/>
              <a:ext cx="710" cy="623"/>
              <a:chOff x="3759" y="2089"/>
              <a:chExt cx="710" cy="623"/>
            </a:xfrm>
          </p:grpSpPr>
          <p:grpSp>
            <p:nvGrpSpPr>
              <p:cNvPr id="250274" name="Group 319"/>
              <p:cNvGrpSpPr/>
              <p:nvPr/>
            </p:nvGrpSpPr>
            <p:grpSpPr bwMode="auto">
              <a:xfrm>
                <a:off x="3759" y="2089"/>
                <a:ext cx="710" cy="623"/>
                <a:chOff x="3759" y="2089"/>
                <a:chExt cx="710" cy="623"/>
              </a:xfrm>
            </p:grpSpPr>
            <p:grpSp>
              <p:nvGrpSpPr>
                <p:cNvPr id="250275" name="Group 320"/>
                <p:cNvGrpSpPr/>
                <p:nvPr/>
              </p:nvGrpSpPr>
              <p:grpSpPr bwMode="auto">
                <a:xfrm>
                  <a:off x="3759" y="2089"/>
                  <a:ext cx="710" cy="623"/>
                  <a:chOff x="3759" y="2089"/>
                  <a:chExt cx="710" cy="623"/>
                </a:xfrm>
              </p:grpSpPr>
              <p:sp>
                <p:nvSpPr>
                  <p:cNvPr id="11474" name="Freeform 321"/>
                  <p:cNvSpPr/>
                  <p:nvPr/>
                </p:nvSpPr>
                <p:spPr bwMode="auto">
                  <a:xfrm>
                    <a:off x="4003" y="2508"/>
                    <a:ext cx="340" cy="76"/>
                  </a:xfrm>
                  <a:custGeom>
                    <a:avLst/>
                    <a:gdLst>
                      <a:gd name="T0" fmla="*/ 0 w 340"/>
                      <a:gd name="T1" fmla="*/ 75 h 76"/>
                      <a:gd name="T2" fmla="*/ 254 w 340"/>
                      <a:gd name="T3" fmla="*/ 75 h 76"/>
                      <a:gd name="T4" fmla="*/ 339 w 340"/>
                      <a:gd name="T5" fmla="*/ 0 h 76"/>
                      <a:gd name="T6" fmla="*/ 80 w 340"/>
                      <a:gd name="T7" fmla="*/ 0 h 76"/>
                      <a:gd name="T8" fmla="*/ 0 w 340"/>
                      <a:gd name="T9" fmla="*/ 75 h 76"/>
                      <a:gd name="T10" fmla="*/ 0 60000 65536"/>
                      <a:gd name="T11" fmla="*/ 0 60000 65536"/>
                      <a:gd name="T12" fmla="*/ 0 60000 65536"/>
                      <a:gd name="T13" fmla="*/ 0 60000 65536"/>
                      <a:gd name="T14" fmla="*/ 0 60000 65536"/>
                      <a:gd name="T15" fmla="*/ 0 w 340"/>
                      <a:gd name="T16" fmla="*/ 0 h 76"/>
                      <a:gd name="T17" fmla="*/ 340 w 340"/>
                      <a:gd name="T18" fmla="*/ 76 h 76"/>
                    </a:gdLst>
                    <a:ahLst/>
                    <a:cxnLst>
                      <a:cxn ang="T10">
                        <a:pos x="T0" y="T1"/>
                      </a:cxn>
                      <a:cxn ang="T11">
                        <a:pos x="T2" y="T3"/>
                      </a:cxn>
                      <a:cxn ang="T12">
                        <a:pos x="T4" y="T5"/>
                      </a:cxn>
                      <a:cxn ang="T13">
                        <a:pos x="T6" y="T7"/>
                      </a:cxn>
                      <a:cxn ang="T14">
                        <a:pos x="T8" y="T9"/>
                      </a:cxn>
                    </a:cxnLst>
                    <a:rect l="T15" t="T16" r="T17" b="T18"/>
                    <a:pathLst>
                      <a:path w="340" h="76">
                        <a:moveTo>
                          <a:pt x="0" y="75"/>
                        </a:moveTo>
                        <a:lnTo>
                          <a:pt x="254" y="75"/>
                        </a:lnTo>
                        <a:lnTo>
                          <a:pt x="339" y="0"/>
                        </a:lnTo>
                        <a:lnTo>
                          <a:pt x="80" y="0"/>
                        </a:lnTo>
                        <a:lnTo>
                          <a:pt x="0" y="75"/>
                        </a:lnTo>
                      </a:path>
                    </a:pathLst>
                  </a:custGeom>
                  <a:solidFill>
                    <a:srgbClr val="DADADA"/>
                  </a:solidFill>
                  <a:ln w="9525" cap="rnd">
                    <a:noFill/>
                    <a:round/>
                  </a:ln>
                </p:spPr>
                <p:txBody>
                  <a:bodyPr wrap="none" lIns="105640" tIns="52816" rIns="105640" bIns="52816">
                    <a:spAutoFit/>
                  </a:bodyPr>
                  <a:lstStyle/>
                  <a:p>
                    <a:endParaRPr lang="zh-CN" altLang="en-US"/>
                  </a:p>
                </p:txBody>
              </p:sp>
              <p:sp>
                <p:nvSpPr>
                  <p:cNvPr id="11475" name="Freeform 322"/>
                  <p:cNvSpPr/>
                  <p:nvPr/>
                </p:nvSpPr>
                <p:spPr bwMode="auto">
                  <a:xfrm>
                    <a:off x="4104" y="2525"/>
                    <a:ext cx="120" cy="37"/>
                  </a:xfrm>
                  <a:custGeom>
                    <a:avLst/>
                    <a:gdLst>
                      <a:gd name="T0" fmla="*/ 0 w 120"/>
                      <a:gd name="T1" fmla="*/ 36 h 37"/>
                      <a:gd name="T2" fmla="*/ 119 w 120"/>
                      <a:gd name="T3" fmla="*/ 36 h 37"/>
                      <a:gd name="T4" fmla="*/ 119 w 120"/>
                      <a:gd name="T5" fmla="*/ 0 h 37"/>
                      <a:gd name="T6" fmla="*/ 0 w 120"/>
                      <a:gd name="T7" fmla="*/ 0 h 37"/>
                      <a:gd name="T8" fmla="*/ 0 w 120"/>
                      <a:gd name="T9" fmla="*/ 36 h 37"/>
                      <a:gd name="T10" fmla="*/ 0 60000 65536"/>
                      <a:gd name="T11" fmla="*/ 0 60000 65536"/>
                      <a:gd name="T12" fmla="*/ 0 60000 65536"/>
                      <a:gd name="T13" fmla="*/ 0 60000 65536"/>
                      <a:gd name="T14" fmla="*/ 0 60000 65536"/>
                      <a:gd name="T15" fmla="*/ 0 w 120"/>
                      <a:gd name="T16" fmla="*/ 0 h 37"/>
                      <a:gd name="T17" fmla="*/ 120 w 120"/>
                      <a:gd name="T18" fmla="*/ 37 h 37"/>
                    </a:gdLst>
                    <a:ahLst/>
                    <a:cxnLst>
                      <a:cxn ang="T10">
                        <a:pos x="T0" y="T1"/>
                      </a:cxn>
                      <a:cxn ang="T11">
                        <a:pos x="T2" y="T3"/>
                      </a:cxn>
                      <a:cxn ang="T12">
                        <a:pos x="T4" y="T5"/>
                      </a:cxn>
                      <a:cxn ang="T13">
                        <a:pos x="T6" y="T7"/>
                      </a:cxn>
                      <a:cxn ang="T14">
                        <a:pos x="T8" y="T9"/>
                      </a:cxn>
                    </a:cxnLst>
                    <a:rect l="T15" t="T16" r="T17" b="T18"/>
                    <a:pathLst>
                      <a:path w="120" h="37">
                        <a:moveTo>
                          <a:pt x="0" y="36"/>
                        </a:moveTo>
                        <a:lnTo>
                          <a:pt x="119" y="36"/>
                        </a:lnTo>
                        <a:lnTo>
                          <a:pt x="119" y="0"/>
                        </a:lnTo>
                        <a:lnTo>
                          <a:pt x="0" y="0"/>
                        </a:lnTo>
                        <a:lnTo>
                          <a:pt x="0" y="36"/>
                        </a:lnTo>
                      </a:path>
                    </a:pathLst>
                  </a:custGeom>
                  <a:solidFill>
                    <a:srgbClr val="9E9898"/>
                  </a:solidFill>
                  <a:ln w="9525" cap="rnd">
                    <a:noFill/>
                    <a:round/>
                  </a:ln>
                </p:spPr>
                <p:txBody>
                  <a:bodyPr wrap="none" lIns="105640" tIns="52816" rIns="105640" bIns="52816">
                    <a:spAutoFit/>
                  </a:bodyPr>
                  <a:lstStyle/>
                  <a:p>
                    <a:endParaRPr lang="zh-CN" altLang="en-US"/>
                  </a:p>
                </p:txBody>
              </p:sp>
              <p:sp>
                <p:nvSpPr>
                  <p:cNvPr id="11476" name="Freeform 323"/>
                  <p:cNvSpPr/>
                  <p:nvPr/>
                </p:nvSpPr>
                <p:spPr bwMode="auto">
                  <a:xfrm>
                    <a:off x="4262" y="2505"/>
                    <a:ext cx="108" cy="96"/>
                  </a:xfrm>
                  <a:custGeom>
                    <a:avLst/>
                    <a:gdLst>
                      <a:gd name="T0" fmla="*/ 107 w 108"/>
                      <a:gd name="T1" fmla="*/ 1 h 96"/>
                      <a:gd name="T2" fmla="*/ 84 w 108"/>
                      <a:gd name="T3" fmla="*/ 0 h 96"/>
                      <a:gd name="T4" fmla="*/ 0 w 108"/>
                      <a:gd name="T5" fmla="*/ 73 h 96"/>
                      <a:gd name="T6" fmla="*/ 0 w 108"/>
                      <a:gd name="T7" fmla="*/ 95 h 96"/>
                      <a:gd name="T8" fmla="*/ 107 w 108"/>
                      <a:gd name="T9" fmla="*/ 1 h 96"/>
                      <a:gd name="T10" fmla="*/ 0 60000 65536"/>
                      <a:gd name="T11" fmla="*/ 0 60000 65536"/>
                      <a:gd name="T12" fmla="*/ 0 60000 65536"/>
                      <a:gd name="T13" fmla="*/ 0 60000 65536"/>
                      <a:gd name="T14" fmla="*/ 0 60000 65536"/>
                      <a:gd name="T15" fmla="*/ 0 w 108"/>
                      <a:gd name="T16" fmla="*/ 0 h 96"/>
                      <a:gd name="T17" fmla="*/ 108 w 108"/>
                      <a:gd name="T18" fmla="*/ 96 h 96"/>
                    </a:gdLst>
                    <a:ahLst/>
                    <a:cxnLst>
                      <a:cxn ang="T10">
                        <a:pos x="T0" y="T1"/>
                      </a:cxn>
                      <a:cxn ang="T11">
                        <a:pos x="T2" y="T3"/>
                      </a:cxn>
                      <a:cxn ang="T12">
                        <a:pos x="T4" y="T5"/>
                      </a:cxn>
                      <a:cxn ang="T13">
                        <a:pos x="T6" y="T7"/>
                      </a:cxn>
                      <a:cxn ang="T14">
                        <a:pos x="T8" y="T9"/>
                      </a:cxn>
                    </a:cxnLst>
                    <a:rect l="T15" t="T16" r="T17" b="T18"/>
                    <a:pathLst>
                      <a:path w="108" h="96">
                        <a:moveTo>
                          <a:pt x="107" y="1"/>
                        </a:moveTo>
                        <a:lnTo>
                          <a:pt x="84" y="0"/>
                        </a:lnTo>
                        <a:lnTo>
                          <a:pt x="0" y="73"/>
                        </a:lnTo>
                        <a:lnTo>
                          <a:pt x="0" y="95"/>
                        </a:lnTo>
                        <a:lnTo>
                          <a:pt x="107" y="1"/>
                        </a:lnTo>
                      </a:path>
                    </a:pathLst>
                  </a:custGeom>
                  <a:solidFill>
                    <a:srgbClr val="6B645F"/>
                  </a:solidFill>
                  <a:ln w="9525" cap="rnd">
                    <a:noFill/>
                    <a:round/>
                  </a:ln>
                </p:spPr>
                <p:txBody>
                  <a:bodyPr wrap="none" lIns="105640" tIns="52816" rIns="105640" bIns="52816">
                    <a:spAutoFit/>
                  </a:bodyPr>
                  <a:lstStyle/>
                  <a:p>
                    <a:endParaRPr lang="zh-CN" altLang="en-US"/>
                  </a:p>
                </p:txBody>
              </p:sp>
              <p:sp>
                <p:nvSpPr>
                  <p:cNvPr id="11477" name="Freeform 324"/>
                  <p:cNvSpPr/>
                  <p:nvPr/>
                </p:nvSpPr>
                <p:spPr bwMode="auto">
                  <a:xfrm>
                    <a:off x="4003" y="2583"/>
                    <a:ext cx="260" cy="33"/>
                  </a:xfrm>
                  <a:custGeom>
                    <a:avLst/>
                    <a:gdLst>
                      <a:gd name="T0" fmla="*/ 259 w 260"/>
                      <a:gd name="T1" fmla="*/ 32 h 33"/>
                      <a:gd name="T2" fmla="*/ 0 w 260"/>
                      <a:gd name="T3" fmla="*/ 32 h 33"/>
                      <a:gd name="T4" fmla="*/ 0 w 260"/>
                      <a:gd name="T5" fmla="*/ 0 h 33"/>
                      <a:gd name="T6" fmla="*/ 259 w 260"/>
                      <a:gd name="T7" fmla="*/ 0 h 33"/>
                      <a:gd name="T8" fmla="*/ 259 w 260"/>
                      <a:gd name="T9" fmla="*/ 32 h 33"/>
                      <a:gd name="T10" fmla="*/ 0 60000 65536"/>
                      <a:gd name="T11" fmla="*/ 0 60000 65536"/>
                      <a:gd name="T12" fmla="*/ 0 60000 65536"/>
                      <a:gd name="T13" fmla="*/ 0 60000 65536"/>
                      <a:gd name="T14" fmla="*/ 0 60000 65536"/>
                      <a:gd name="T15" fmla="*/ 0 w 260"/>
                      <a:gd name="T16" fmla="*/ 0 h 33"/>
                      <a:gd name="T17" fmla="*/ 260 w 260"/>
                      <a:gd name="T18" fmla="*/ 33 h 33"/>
                    </a:gdLst>
                    <a:ahLst/>
                    <a:cxnLst>
                      <a:cxn ang="T10">
                        <a:pos x="T0" y="T1"/>
                      </a:cxn>
                      <a:cxn ang="T11">
                        <a:pos x="T2" y="T3"/>
                      </a:cxn>
                      <a:cxn ang="T12">
                        <a:pos x="T4" y="T5"/>
                      </a:cxn>
                      <a:cxn ang="T13">
                        <a:pos x="T6" y="T7"/>
                      </a:cxn>
                      <a:cxn ang="T14">
                        <a:pos x="T8" y="T9"/>
                      </a:cxn>
                    </a:cxnLst>
                    <a:rect l="T15" t="T16" r="T17" b="T18"/>
                    <a:pathLst>
                      <a:path w="260" h="33">
                        <a:moveTo>
                          <a:pt x="259" y="32"/>
                        </a:moveTo>
                        <a:lnTo>
                          <a:pt x="0" y="32"/>
                        </a:lnTo>
                        <a:lnTo>
                          <a:pt x="0" y="0"/>
                        </a:lnTo>
                        <a:lnTo>
                          <a:pt x="259" y="0"/>
                        </a:lnTo>
                        <a:lnTo>
                          <a:pt x="259" y="32"/>
                        </a:lnTo>
                      </a:path>
                    </a:pathLst>
                  </a:custGeom>
                  <a:solidFill>
                    <a:srgbClr val="9E9898"/>
                  </a:solidFill>
                  <a:ln w="9525" cap="rnd">
                    <a:noFill/>
                    <a:round/>
                  </a:ln>
                </p:spPr>
                <p:txBody>
                  <a:bodyPr wrap="none" lIns="105640" tIns="52816" rIns="105640" bIns="52816">
                    <a:spAutoFit/>
                  </a:bodyPr>
                  <a:lstStyle/>
                  <a:p>
                    <a:endParaRPr lang="zh-CN" altLang="en-US"/>
                  </a:p>
                </p:txBody>
              </p:sp>
              <p:sp>
                <p:nvSpPr>
                  <p:cNvPr id="11478" name="Freeform 325"/>
                  <p:cNvSpPr/>
                  <p:nvPr/>
                </p:nvSpPr>
                <p:spPr bwMode="auto">
                  <a:xfrm>
                    <a:off x="4103" y="2513"/>
                    <a:ext cx="173" cy="49"/>
                  </a:xfrm>
                  <a:custGeom>
                    <a:avLst/>
                    <a:gdLst>
                      <a:gd name="T0" fmla="*/ 0 w 173"/>
                      <a:gd name="T1" fmla="*/ 0 h 49"/>
                      <a:gd name="T2" fmla="*/ 0 w 173"/>
                      <a:gd name="T3" fmla="*/ 12 h 49"/>
                      <a:gd name="T4" fmla="*/ 120 w 173"/>
                      <a:gd name="T5" fmla="*/ 12 h 49"/>
                      <a:gd name="T6" fmla="*/ 120 w 173"/>
                      <a:gd name="T7" fmla="*/ 48 h 49"/>
                      <a:gd name="T8" fmla="*/ 172 w 173"/>
                      <a:gd name="T9" fmla="*/ 0 h 49"/>
                      <a:gd name="T10" fmla="*/ 0 w 173"/>
                      <a:gd name="T11" fmla="*/ 0 h 49"/>
                      <a:gd name="T12" fmla="*/ 0 60000 65536"/>
                      <a:gd name="T13" fmla="*/ 0 60000 65536"/>
                      <a:gd name="T14" fmla="*/ 0 60000 65536"/>
                      <a:gd name="T15" fmla="*/ 0 60000 65536"/>
                      <a:gd name="T16" fmla="*/ 0 60000 65536"/>
                      <a:gd name="T17" fmla="*/ 0 60000 65536"/>
                      <a:gd name="T18" fmla="*/ 0 w 173"/>
                      <a:gd name="T19" fmla="*/ 0 h 49"/>
                      <a:gd name="T20" fmla="*/ 173 w 173"/>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173" h="49">
                        <a:moveTo>
                          <a:pt x="0" y="0"/>
                        </a:moveTo>
                        <a:lnTo>
                          <a:pt x="0" y="12"/>
                        </a:lnTo>
                        <a:lnTo>
                          <a:pt x="120" y="12"/>
                        </a:lnTo>
                        <a:lnTo>
                          <a:pt x="120" y="48"/>
                        </a:lnTo>
                        <a:lnTo>
                          <a:pt x="172" y="0"/>
                        </a:lnTo>
                        <a:lnTo>
                          <a:pt x="0" y="0"/>
                        </a:lnTo>
                      </a:path>
                    </a:pathLst>
                  </a:custGeom>
                  <a:solidFill>
                    <a:srgbClr val="6B645F"/>
                  </a:solidFill>
                  <a:ln w="9525" cap="rnd">
                    <a:noFill/>
                    <a:round/>
                  </a:ln>
                </p:spPr>
                <p:txBody>
                  <a:bodyPr wrap="none" lIns="105640" tIns="52816" rIns="105640" bIns="52816">
                    <a:spAutoFit/>
                  </a:bodyPr>
                  <a:lstStyle/>
                  <a:p>
                    <a:endParaRPr lang="zh-CN" altLang="en-US"/>
                  </a:p>
                </p:txBody>
              </p:sp>
              <p:sp>
                <p:nvSpPr>
                  <p:cNvPr id="11479" name="Freeform 326"/>
                  <p:cNvSpPr/>
                  <p:nvPr/>
                </p:nvSpPr>
                <p:spPr bwMode="auto">
                  <a:xfrm>
                    <a:off x="4375" y="2622"/>
                    <a:ext cx="70" cy="90"/>
                  </a:xfrm>
                  <a:custGeom>
                    <a:avLst/>
                    <a:gdLst>
                      <a:gd name="T0" fmla="*/ 0 w 70"/>
                      <a:gd name="T1" fmla="*/ 89 h 90"/>
                      <a:gd name="T2" fmla="*/ 0 w 70"/>
                      <a:gd name="T3" fmla="*/ 58 h 90"/>
                      <a:gd name="T4" fmla="*/ 69 w 70"/>
                      <a:gd name="T5" fmla="*/ 0 h 90"/>
                      <a:gd name="T6" fmla="*/ 69 w 70"/>
                      <a:gd name="T7" fmla="*/ 30 h 90"/>
                      <a:gd name="T8" fmla="*/ 0 w 70"/>
                      <a:gd name="T9" fmla="*/ 89 h 90"/>
                      <a:gd name="T10" fmla="*/ 0 60000 65536"/>
                      <a:gd name="T11" fmla="*/ 0 60000 65536"/>
                      <a:gd name="T12" fmla="*/ 0 60000 65536"/>
                      <a:gd name="T13" fmla="*/ 0 60000 65536"/>
                      <a:gd name="T14" fmla="*/ 0 60000 65536"/>
                      <a:gd name="T15" fmla="*/ 0 w 70"/>
                      <a:gd name="T16" fmla="*/ 0 h 90"/>
                      <a:gd name="T17" fmla="*/ 70 w 70"/>
                      <a:gd name="T18" fmla="*/ 90 h 90"/>
                    </a:gdLst>
                    <a:ahLst/>
                    <a:cxnLst>
                      <a:cxn ang="T10">
                        <a:pos x="T0" y="T1"/>
                      </a:cxn>
                      <a:cxn ang="T11">
                        <a:pos x="T2" y="T3"/>
                      </a:cxn>
                      <a:cxn ang="T12">
                        <a:pos x="T4" y="T5"/>
                      </a:cxn>
                      <a:cxn ang="T13">
                        <a:pos x="T6" y="T7"/>
                      </a:cxn>
                      <a:cxn ang="T14">
                        <a:pos x="T8" y="T9"/>
                      </a:cxn>
                    </a:cxnLst>
                    <a:rect l="T15" t="T16" r="T17" b="T18"/>
                    <a:pathLst>
                      <a:path w="70" h="90">
                        <a:moveTo>
                          <a:pt x="0" y="89"/>
                        </a:moveTo>
                        <a:lnTo>
                          <a:pt x="0" y="58"/>
                        </a:lnTo>
                        <a:lnTo>
                          <a:pt x="69" y="0"/>
                        </a:lnTo>
                        <a:lnTo>
                          <a:pt x="69" y="30"/>
                        </a:lnTo>
                        <a:lnTo>
                          <a:pt x="0" y="89"/>
                        </a:lnTo>
                      </a:path>
                    </a:pathLst>
                  </a:custGeom>
                  <a:solidFill>
                    <a:srgbClr val="6B645F"/>
                  </a:solidFill>
                  <a:ln w="9525" cap="rnd">
                    <a:noFill/>
                    <a:round/>
                  </a:ln>
                </p:spPr>
                <p:txBody>
                  <a:bodyPr wrap="none" lIns="105640" tIns="52816" rIns="105640" bIns="52816">
                    <a:spAutoFit/>
                  </a:bodyPr>
                  <a:lstStyle/>
                  <a:p>
                    <a:endParaRPr lang="zh-CN" altLang="en-US"/>
                  </a:p>
                </p:txBody>
              </p:sp>
              <p:sp>
                <p:nvSpPr>
                  <p:cNvPr id="11480" name="Freeform 327"/>
                  <p:cNvSpPr/>
                  <p:nvPr/>
                </p:nvSpPr>
                <p:spPr bwMode="auto">
                  <a:xfrm>
                    <a:off x="4412" y="2089"/>
                    <a:ext cx="57" cy="427"/>
                  </a:xfrm>
                  <a:custGeom>
                    <a:avLst/>
                    <a:gdLst>
                      <a:gd name="T0" fmla="*/ 0 w 57"/>
                      <a:gd name="T1" fmla="*/ 51 h 427"/>
                      <a:gd name="T2" fmla="*/ 56 w 57"/>
                      <a:gd name="T3" fmla="*/ 0 h 427"/>
                      <a:gd name="T4" fmla="*/ 56 w 57"/>
                      <a:gd name="T5" fmla="*/ 374 h 427"/>
                      <a:gd name="T6" fmla="*/ 0 w 57"/>
                      <a:gd name="T7" fmla="*/ 426 h 427"/>
                      <a:gd name="T8" fmla="*/ 0 w 57"/>
                      <a:gd name="T9" fmla="*/ 51 h 427"/>
                      <a:gd name="T10" fmla="*/ 0 60000 65536"/>
                      <a:gd name="T11" fmla="*/ 0 60000 65536"/>
                      <a:gd name="T12" fmla="*/ 0 60000 65536"/>
                      <a:gd name="T13" fmla="*/ 0 60000 65536"/>
                      <a:gd name="T14" fmla="*/ 0 60000 65536"/>
                      <a:gd name="T15" fmla="*/ 0 w 57"/>
                      <a:gd name="T16" fmla="*/ 0 h 427"/>
                      <a:gd name="T17" fmla="*/ 57 w 57"/>
                      <a:gd name="T18" fmla="*/ 427 h 427"/>
                    </a:gdLst>
                    <a:ahLst/>
                    <a:cxnLst>
                      <a:cxn ang="T10">
                        <a:pos x="T0" y="T1"/>
                      </a:cxn>
                      <a:cxn ang="T11">
                        <a:pos x="T2" y="T3"/>
                      </a:cxn>
                      <a:cxn ang="T12">
                        <a:pos x="T4" y="T5"/>
                      </a:cxn>
                      <a:cxn ang="T13">
                        <a:pos x="T6" y="T7"/>
                      </a:cxn>
                      <a:cxn ang="T14">
                        <a:pos x="T8" y="T9"/>
                      </a:cxn>
                    </a:cxnLst>
                    <a:rect l="T15" t="T16" r="T17" b="T18"/>
                    <a:pathLst>
                      <a:path w="57" h="427">
                        <a:moveTo>
                          <a:pt x="0" y="51"/>
                        </a:moveTo>
                        <a:lnTo>
                          <a:pt x="56" y="0"/>
                        </a:lnTo>
                        <a:lnTo>
                          <a:pt x="56" y="374"/>
                        </a:lnTo>
                        <a:lnTo>
                          <a:pt x="0" y="426"/>
                        </a:lnTo>
                        <a:lnTo>
                          <a:pt x="0" y="51"/>
                        </a:lnTo>
                      </a:path>
                    </a:pathLst>
                  </a:custGeom>
                  <a:solidFill>
                    <a:srgbClr val="6B645F"/>
                  </a:solidFill>
                  <a:ln w="9525" cap="rnd">
                    <a:noFill/>
                    <a:round/>
                  </a:ln>
                </p:spPr>
                <p:txBody>
                  <a:bodyPr wrap="none" lIns="105640" tIns="52816" rIns="105640" bIns="52816">
                    <a:spAutoFit/>
                  </a:bodyPr>
                  <a:lstStyle/>
                  <a:p>
                    <a:endParaRPr lang="zh-CN" altLang="en-US"/>
                  </a:p>
                </p:txBody>
              </p:sp>
              <p:sp>
                <p:nvSpPr>
                  <p:cNvPr id="11481" name="Freeform 328"/>
                  <p:cNvSpPr/>
                  <p:nvPr/>
                </p:nvSpPr>
                <p:spPr bwMode="auto">
                  <a:xfrm>
                    <a:off x="3904" y="2090"/>
                    <a:ext cx="563" cy="49"/>
                  </a:xfrm>
                  <a:custGeom>
                    <a:avLst/>
                    <a:gdLst>
                      <a:gd name="T0" fmla="*/ 0 w 563"/>
                      <a:gd name="T1" fmla="*/ 48 h 49"/>
                      <a:gd name="T2" fmla="*/ 55 w 563"/>
                      <a:gd name="T3" fmla="*/ 0 h 49"/>
                      <a:gd name="T4" fmla="*/ 562 w 563"/>
                      <a:gd name="T5" fmla="*/ 0 h 49"/>
                      <a:gd name="T6" fmla="*/ 506 w 563"/>
                      <a:gd name="T7" fmla="*/ 48 h 49"/>
                      <a:gd name="T8" fmla="*/ 0 w 563"/>
                      <a:gd name="T9" fmla="*/ 48 h 49"/>
                      <a:gd name="T10" fmla="*/ 0 60000 65536"/>
                      <a:gd name="T11" fmla="*/ 0 60000 65536"/>
                      <a:gd name="T12" fmla="*/ 0 60000 65536"/>
                      <a:gd name="T13" fmla="*/ 0 60000 65536"/>
                      <a:gd name="T14" fmla="*/ 0 60000 65536"/>
                      <a:gd name="T15" fmla="*/ 0 w 563"/>
                      <a:gd name="T16" fmla="*/ 0 h 49"/>
                      <a:gd name="T17" fmla="*/ 563 w 563"/>
                      <a:gd name="T18" fmla="*/ 49 h 49"/>
                    </a:gdLst>
                    <a:ahLst/>
                    <a:cxnLst>
                      <a:cxn ang="T10">
                        <a:pos x="T0" y="T1"/>
                      </a:cxn>
                      <a:cxn ang="T11">
                        <a:pos x="T2" y="T3"/>
                      </a:cxn>
                      <a:cxn ang="T12">
                        <a:pos x="T4" y="T5"/>
                      </a:cxn>
                      <a:cxn ang="T13">
                        <a:pos x="T6" y="T7"/>
                      </a:cxn>
                      <a:cxn ang="T14">
                        <a:pos x="T8" y="T9"/>
                      </a:cxn>
                    </a:cxnLst>
                    <a:rect l="T15" t="T16" r="T17" b="T18"/>
                    <a:pathLst>
                      <a:path w="563" h="49">
                        <a:moveTo>
                          <a:pt x="0" y="48"/>
                        </a:moveTo>
                        <a:lnTo>
                          <a:pt x="55" y="0"/>
                        </a:lnTo>
                        <a:lnTo>
                          <a:pt x="562" y="0"/>
                        </a:lnTo>
                        <a:lnTo>
                          <a:pt x="506" y="48"/>
                        </a:lnTo>
                        <a:lnTo>
                          <a:pt x="0" y="48"/>
                        </a:lnTo>
                      </a:path>
                    </a:pathLst>
                  </a:custGeom>
                  <a:solidFill>
                    <a:srgbClr val="DADADA"/>
                  </a:solidFill>
                  <a:ln w="9525" cap="rnd">
                    <a:noFill/>
                    <a:round/>
                  </a:ln>
                </p:spPr>
                <p:txBody>
                  <a:bodyPr wrap="none" lIns="105640" tIns="52816" rIns="105640" bIns="52816">
                    <a:spAutoFit/>
                  </a:bodyPr>
                  <a:lstStyle/>
                  <a:p>
                    <a:endParaRPr lang="zh-CN" altLang="en-US"/>
                  </a:p>
                </p:txBody>
              </p:sp>
              <p:sp>
                <p:nvSpPr>
                  <p:cNvPr id="11482" name="Freeform 329"/>
                  <p:cNvSpPr/>
                  <p:nvPr/>
                </p:nvSpPr>
                <p:spPr bwMode="auto">
                  <a:xfrm>
                    <a:off x="3760" y="2678"/>
                    <a:ext cx="616" cy="34"/>
                  </a:xfrm>
                  <a:custGeom>
                    <a:avLst/>
                    <a:gdLst>
                      <a:gd name="T0" fmla="*/ 615 w 616"/>
                      <a:gd name="T1" fmla="*/ 33 h 34"/>
                      <a:gd name="T2" fmla="*/ 0 w 616"/>
                      <a:gd name="T3" fmla="*/ 33 h 34"/>
                      <a:gd name="T4" fmla="*/ 0 w 616"/>
                      <a:gd name="T5" fmla="*/ 0 h 34"/>
                      <a:gd name="T6" fmla="*/ 615 w 616"/>
                      <a:gd name="T7" fmla="*/ 0 h 34"/>
                      <a:gd name="T8" fmla="*/ 615 w 616"/>
                      <a:gd name="T9" fmla="*/ 33 h 34"/>
                      <a:gd name="T10" fmla="*/ 0 60000 65536"/>
                      <a:gd name="T11" fmla="*/ 0 60000 65536"/>
                      <a:gd name="T12" fmla="*/ 0 60000 65536"/>
                      <a:gd name="T13" fmla="*/ 0 60000 65536"/>
                      <a:gd name="T14" fmla="*/ 0 60000 65536"/>
                      <a:gd name="T15" fmla="*/ 0 w 616"/>
                      <a:gd name="T16" fmla="*/ 0 h 34"/>
                      <a:gd name="T17" fmla="*/ 616 w 616"/>
                      <a:gd name="T18" fmla="*/ 34 h 34"/>
                    </a:gdLst>
                    <a:ahLst/>
                    <a:cxnLst>
                      <a:cxn ang="T10">
                        <a:pos x="T0" y="T1"/>
                      </a:cxn>
                      <a:cxn ang="T11">
                        <a:pos x="T2" y="T3"/>
                      </a:cxn>
                      <a:cxn ang="T12">
                        <a:pos x="T4" y="T5"/>
                      </a:cxn>
                      <a:cxn ang="T13">
                        <a:pos x="T6" y="T7"/>
                      </a:cxn>
                      <a:cxn ang="T14">
                        <a:pos x="T8" y="T9"/>
                      </a:cxn>
                    </a:cxnLst>
                    <a:rect l="T15" t="T16" r="T17" b="T18"/>
                    <a:pathLst>
                      <a:path w="616" h="34">
                        <a:moveTo>
                          <a:pt x="615" y="33"/>
                        </a:moveTo>
                        <a:lnTo>
                          <a:pt x="0" y="33"/>
                        </a:lnTo>
                        <a:lnTo>
                          <a:pt x="0" y="0"/>
                        </a:lnTo>
                        <a:lnTo>
                          <a:pt x="615" y="0"/>
                        </a:lnTo>
                        <a:lnTo>
                          <a:pt x="615" y="33"/>
                        </a:lnTo>
                      </a:path>
                    </a:pathLst>
                  </a:custGeom>
                  <a:solidFill>
                    <a:srgbClr val="9E9898"/>
                  </a:solidFill>
                  <a:ln w="9525" cap="rnd">
                    <a:noFill/>
                    <a:round/>
                  </a:ln>
                </p:spPr>
                <p:txBody>
                  <a:bodyPr wrap="none" lIns="105640" tIns="52816" rIns="105640" bIns="52816">
                    <a:spAutoFit/>
                  </a:bodyPr>
                  <a:lstStyle/>
                  <a:p>
                    <a:endParaRPr lang="zh-CN" altLang="en-US"/>
                  </a:p>
                </p:txBody>
              </p:sp>
              <p:sp>
                <p:nvSpPr>
                  <p:cNvPr id="11483" name="Freeform 330"/>
                  <p:cNvSpPr/>
                  <p:nvPr/>
                </p:nvSpPr>
                <p:spPr bwMode="auto">
                  <a:xfrm>
                    <a:off x="3759" y="2621"/>
                    <a:ext cx="686" cy="58"/>
                  </a:xfrm>
                  <a:custGeom>
                    <a:avLst/>
                    <a:gdLst>
                      <a:gd name="T0" fmla="*/ 685 w 686"/>
                      <a:gd name="T1" fmla="*/ 0 h 58"/>
                      <a:gd name="T2" fmla="*/ 617 w 686"/>
                      <a:gd name="T3" fmla="*/ 57 h 58"/>
                      <a:gd name="T4" fmla="*/ 0 w 686"/>
                      <a:gd name="T5" fmla="*/ 57 h 58"/>
                      <a:gd name="T6" fmla="*/ 64 w 686"/>
                      <a:gd name="T7" fmla="*/ 0 h 58"/>
                      <a:gd name="T8" fmla="*/ 685 w 686"/>
                      <a:gd name="T9" fmla="*/ 0 h 58"/>
                      <a:gd name="T10" fmla="*/ 0 60000 65536"/>
                      <a:gd name="T11" fmla="*/ 0 60000 65536"/>
                      <a:gd name="T12" fmla="*/ 0 60000 65536"/>
                      <a:gd name="T13" fmla="*/ 0 60000 65536"/>
                      <a:gd name="T14" fmla="*/ 0 60000 65536"/>
                      <a:gd name="T15" fmla="*/ 0 w 686"/>
                      <a:gd name="T16" fmla="*/ 0 h 58"/>
                      <a:gd name="T17" fmla="*/ 686 w 686"/>
                      <a:gd name="T18" fmla="*/ 58 h 58"/>
                    </a:gdLst>
                    <a:ahLst/>
                    <a:cxnLst>
                      <a:cxn ang="T10">
                        <a:pos x="T0" y="T1"/>
                      </a:cxn>
                      <a:cxn ang="T11">
                        <a:pos x="T2" y="T3"/>
                      </a:cxn>
                      <a:cxn ang="T12">
                        <a:pos x="T4" y="T5"/>
                      </a:cxn>
                      <a:cxn ang="T13">
                        <a:pos x="T6" y="T7"/>
                      </a:cxn>
                      <a:cxn ang="T14">
                        <a:pos x="T8" y="T9"/>
                      </a:cxn>
                    </a:cxnLst>
                    <a:rect l="T15" t="T16" r="T17" b="T18"/>
                    <a:pathLst>
                      <a:path w="686" h="58">
                        <a:moveTo>
                          <a:pt x="685" y="0"/>
                        </a:moveTo>
                        <a:lnTo>
                          <a:pt x="617" y="57"/>
                        </a:lnTo>
                        <a:lnTo>
                          <a:pt x="0" y="57"/>
                        </a:lnTo>
                        <a:lnTo>
                          <a:pt x="64" y="0"/>
                        </a:lnTo>
                        <a:lnTo>
                          <a:pt x="685" y="0"/>
                        </a:lnTo>
                      </a:path>
                    </a:pathLst>
                  </a:custGeom>
                  <a:solidFill>
                    <a:srgbClr val="DADADA"/>
                  </a:solidFill>
                  <a:ln w="9525" cap="rnd">
                    <a:noFill/>
                    <a:round/>
                  </a:ln>
                </p:spPr>
                <p:txBody>
                  <a:bodyPr wrap="none" lIns="105640" tIns="52816" rIns="105640" bIns="52816">
                    <a:spAutoFit/>
                  </a:bodyPr>
                  <a:lstStyle/>
                  <a:p>
                    <a:endParaRPr lang="zh-CN" altLang="en-US"/>
                  </a:p>
                </p:txBody>
              </p:sp>
              <p:grpSp>
                <p:nvGrpSpPr>
                  <p:cNvPr id="250276" name="Group 331"/>
                  <p:cNvGrpSpPr/>
                  <p:nvPr/>
                </p:nvGrpSpPr>
                <p:grpSpPr bwMode="auto">
                  <a:xfrm>
                    <a:off x="3797" y="2633"/>
                    <a:ext cx="604" cy="37"/>
                    <a:chOff x="3797" y="2633"/>
                    <a:chExt cx="604" cy="37"/>
                  </a:xfrm>
                </p:grpSpPr>
                <p:sp>
                  <p:nvSpPr>
                    <p:cNvPr id="11488" name="Line 332"/>
                    <p:cNvSpPr>
                      <a:spLocks noChangeShapeType="1"/>
                    </p:cNvSpPr>
                    <p:nvPr/>
                  </p:nvSpPr>
                  <p:spPr bwMode="auto">
                    <a:xfrm>
                      <a:off x="3842" y="2633"/>
                      <a:ext cx="559" cy="0"/>
                    </a:xfrm>
                    <a:prstGeom prst="line">
                      <a:avLst/>
                    </a:prstGeom>
                    <a:noFill/>
                    <a:ln w="12699">
                      <a:solidFill>
                        <a:srgbClr val="6B645F"/>
                      </a:solidFill>
                      <a:round/>
                      <a:headEnd type="none" w="sm" len="sm"/>
                      <a:tailEnd type="none" w="sm" len="sm"/>
                    </a:ln>
                  </p:spPr>
                  <p:txBody>
                    <a:bodyPr wrap="none" lIns="105640" tIns="52816" rIns="105640" bIns="52816">
                      <a:spAutoFit/>
                    </a:bodyPr>
                    <a:lstStyle/>
                    <a:p>
                      <a:endParaRPr lang="zh-CN" altLang="en-US"/>
                    </a:p>
                  </p:txBody>
                </p:sp>
                <p:sp>
                  <p:nvSpPr>
                    <p:cNvPr id="11489" name="Line 333"/>
                    <p:cNvSpPr>
                      <a:spLocks noChangeShapeType="1"/>
                    </p:cNvSpPr>
                    <p:nvPr/>
                  </p:nvSpPr>
                  <p:spPr bwMode="auto">
                    <a:xfrm>
                      <a:off x="3828" y="2645"/>
                      <a:ext cx="560" cy="0"/>
                    </a:xfrm>
                    <a:prstGeom prst="line">
                      <a:avLst/>
                    </a:prstGeom>
                    <a:noFill/>
                    <a:ln w="12699">
                      <a:solidFill>
                        <a:srgbClr val="6B645F"/>
                      </a:solidFill>
                      <a:round/>
                      <a:headEnd type="none" w="sm" len="sm"/>
                      <a:tailEnd type="none" w="sm" len="sm"/>
                    </a:ln>
                  </p:spPr>
                  <p:txBody>
                    <a:bodyPr wrap="none" lIns="105640" tIns="52816" rIns="105640" bIns="52816">
                      <a:spAutoFit/>
                    </a:bodyPr>
                    <a:lstStyle/>
                    <a:p>
                      <a:endParaRPr lang="zh-CN" altLang="en-US"/>
                    </a:p>
                  </p:txBody>
                </p:sp>
                <p:sp>
                  <p:nvSpPr>
                    <p:cNvPr id="11490" name="Line 334"/>
                    <p:cNvSpPr>
                      <a:spLocks noChangeShapeType="1"/>
                    </p:cNvSpPr>
                    <p:nvPr/>
                  </p:nvSpPr>
                  <p:spPr bwMode="auto">
                    <a:xfrm>
                      <a:off x="3815" y="2658"/>
                      <a:ext cx="560" cy="0"/>
                    </a:xfrm>
                    <a:prstGeom prst="line">
                      <a:avLst/>
                    </a:prstGeom>
                    <a:noFill/>
                    <a:ln w="12699">
                      <a:solidFill>
                        <a:srgbClr val="6B645F"/>
                      </a:solidFill>
                      <a:round/>
                      <a:headEnd type="none" w="sm" len="sm"/>
                      <a:tailEnd type="none" w="sm" len="sm"/>
                    </a:ln>
                  </p:spPr>
                  <p:txBody>
                    <a:bodyPr wrap="none" lIns="105640" tIns="52816" rIns="105640" bIns="52816">
                      <a:spAutoFit/>
                    </a:bodyPr>
                    <a:lstStyle/>
                    <a:p>
                      <a:endParaRPr lang="zh-CN" altLang="en-US"/>
                    </a:p>
                  </p:txBody>
                </p:sp>
                <p:sp>
                  <p:nvSpPr>
                    <p:cNvPr id="11491" name="Line 335"/>
                    <p:cNvSpPr>
                      <a:spLocks noChangeShapeType="1"/>
                    </p:cNvSpPr>
                    <p:nvPr/>
                  </p:nvSpPr>
                  <p:spPr bwMode="auto">
                    <a:xfrm>
                      <a:off x="3797" y="2670"/>
                      <a:ext cx="561" cy="0"/>
                    </a:xfrm>
                    <a:prstGeom prst="line">
                      <a:avLst/>
                    </a:prstGeom>
                    <a:noFill/>
                    <a:ln w="12699">
                      <a:solidFill>
                        <a:srgbClr val="6B645F"/>
                      </a:solidFill>
                      <a:round/>
                      <a:headEnd type="none" w="sm" len="sm"/>
                      <a:tailEnd type="none" w="sm" len="sm"/>
                    </a:ln>
                  </p:spPr>
                  <p:txBody>
                    <a:bodyPr wrap="none" lIns="105640" tIns="52816" rIns="105640" bIns="52816">
                      <a:spAutoFit/>
                    </a:bodyPr>
                    <a:lstStyle/>
                    <a:p>
                      <a:endParaRPr lang="zh-CN" altLang="en-US"/>
                    </a:p>
                  </p:txBody>
                </p:sp>
              </p:grpSp>
              <p:sp>
                <p:nvSpPr>
                  <p:cNvPr id="11485" name="Rectangle 336"/>
                  <p:cNvSpPr>
                    <a:spLocks noChangeArrowheads="1"/>
                  </p:cNvSpPr>
                  <p:nvPr/>
                </p:nvSpPr>
                <p:spPr bwMode="auto">
                  <a:xfrm>
                    <a:off x="3904" y="2138"/>
                    <a:ext cx="508" cy="377"/>
                  </a:xfrm>
                  <a:prstGeom prst="rect">
                    <a:avLst/>
                  </a:prstGeom>
                  <a:solidFill>
                    <a:srgbClr val="9E9898"/>
                  </a:solidFill>
                  <a:ln w="9525">
                    <a:noFill/>
                    <a:miter lim="800000"/>
                  </a:ln>
                </p:spPr>
                <p:txBody>
                  <a:bodyPr wrap="none" lIns="105640" tIns="52816" rIns="105640" bIns="52816">
                    <a:spAutoFit/>
                  </a:bodyPr>
                  <a:lstStyle/>
                  <a:p>
                    <a:endParaRPr lang="zh-CN" altLang="en-US"/>
                  </a:p>
                </p:txBody>
              </p:sp>
              <p:sp>
                <p:nvSpPr>
                  <p:cNvPr id="11486" name="Freeform 337"/>
                  <p:cNvSpPr/>
                  <p:nvPr/>
                </p:nvSpPr>
                <p:spPr bwMode="auto">
                  <a:xfrm>
                    <a:off x="3959" y="2186"/>
                    <a:ext cx="400" cy="274"/>
                  </a:xfrm>
                  <a:custGeom>
                    <a:avLst/>
                    <a:gdLst>
                      <a:gd name="T0" fmla="*/ 399 w 400"/>
                      <a:gd name="T1" fmla="*/ 273 h 274"/>
                      <a:gd name="T2" fmla="*/ 0 w 400"/>
                      <a:gd name="T3" fmla="*/ 273 h 274"/>
                      <a:gd name="T4" fmla="*/ 0 w 400"/>
                      <a:gd name="T5" fmla="*/ 0 h 274"/>
                      <a:gd name="T6" fmla="*/ 399 w 400"/>
                      <a:gd name="T7" fmla="*/ 0 h 274"/>
                      <a:gd name="T8" fmla="*/ 399 w 400"/>
                      <a:gd name="T9" fmla="*/ 273 h 274"/>
                      <a:gd name="T10" fmla="*/ 0 60000 65536"/>
                      <a:gd name="T11" fmla="*/ 0 60000 65536"/>
                      <a:gd name="T12" fmla="*/ 0 60000 65536"/>
                      <a:gd name="T13" fmla="*/ 0 60000 65536"/>
                      <a:gd name="T14" fmla="*/ 0 60000 65536"/>
                      <a:gd name="T15" fmla="*/ 0 w 400"/>
                      <a:gd name="T16" fmla="*/ 0 h 274"/>
                      <a:gd name="T17" fmla="*/ 400 w 400"/>
                      <a:gd name="T18" fmla="*/ 274 h 274"/>
                    </a:gdLst>
                    <a:ahLst/>
                    <a:cxnLst>
                      <a:cxn ang="T10">
                        <a:pos x="T0" y="T1"/>
                      </a:cxn>
                      <a:cxn ang="T11">
                        <a:pos x="T2" y="T3"/>
                      </a:cxn>
                      <a:cxn ang="T12">
                        <a:pos x="T4" y="T5"/>
                      </a:cxn>
                      <a:cxn ang="T13">
                        <a:pos x="T6" y="T7"/>
                      </a:cxn>
                      <a:cxn ang="T14">
                        <a:pos x="T8" y="T9"/>
                      </a:cxn>
                    </a:cxnLst>
                    <a:rect l="T15" t="T16" r="T17" b="T18"/>
                    <a:pathLst>
                      <a:path w="400" h="274">
                        <a:moveTo>
                          <a:pt x="399" y="273"/>
                        </a:moveTo>
                        <a:lnTo>
                          <a:pt x="0" y="273"/>
                        </a:lnTo>
                        <a:lnTo>
                          <a:pt x="0" y="0"/>
                        </a:lnTo>
                        <a:lnTo>
                          <a:pt x="399" y="0"/>
                        </a:lnTo>
                        <a:lnTo>
                          <a:pt x="399" y="273"/>
                        </a:lnTo>
                      </a:path>
                    </a:pathLst>
                  </a:custGeom>
                  <a:solidFill>
                    <a:srgbClr val="DADADA"/>
                  </a:solidFill>
                  <a:ln w="9525" cap="rnd">
                    <a:noFill/>
                    <a:round/>
                  </a:ln>
                </p:spPr>
                <p:txBody>
                  <a:bodyPr wrap="none" lIns="105640" tIns="52816" rIns="105640" bIns="52816">
                    <a:spAutoFit/>
                  </a:bodyPr>
                  <a:lstStyle/>
                  <a:p>
                    <a:endParaRPr lang="zh-CN" altLang="en-US"/>
                  </a:p>
                </p:txBody>
              </p:sp>
              <p:sp>
                <p:nvSpPr>
                  <p:cNvPr id="11487" name="Freeform 338"/>
                  <p:cNvSpPr/>
                  <p:nvPr/>
                </p:nvSpPr>
                <p:spPr bwMode="auto">
                  <a:xfrm>
                    <a:off x="3959" y="2186"/>
                    <a:ext cx="400" cy="274"/>
                  </a:xfrm>
                  <a:custGeom>
                    <a:avLst/>
                    <a:gdLst>
                      <a:gd name="T0" fmla="*/ 399 w 400"/>
                      <a:gd name="T1" fmla="*/ 0 h 274"/>
                      <a:gd name="T2" fmla="*/ 0 w 400"/>
                      <a:gd name="T3" fmla="*/ 0 h 274"/>
                      <a:gd name="T4" fmla="*/ 0 w 400"/>
                      <a:gd name="T5" fmla="*/ 273 h 274"/>
                      <a:gd name="T6" fmla="*/ 95 w 400"/>
                      <a:gd name="T7" fmla="*/ 185 h 274"/>
                      <a:gd name="T8" fmla="*/ 289 w 400"/>
                      <a:gd name="T9" fmla="*/ 95 h 274"/>
                      <a:gd name="T10" fmla="*/ 399 w 400"/>
                      <a:gd name="T11" fmla="*/ 0 h 274"/>
                      <a:gd name="T12" fmla="*/ 0 60000 65536"/>
                      <a:gd name="T13" fmla="*/ 0 60000 65536"/>
                      <a:gd name="T14" fmla="*/ 0 60000 65536"/>
                      <a:gd name="T15" fmla="*/ 0 60000 65536"/>
                      <a:gd name="T16" fmla="*/ 0 60000 65536"/>
                      <a:gd name="T17" fmla="*/ 0 60000 65536"/>
                      <a:gd name="T18" fmla="*/ 0 w 400"/>
                      <a:gd name="T19" fmla="*/ 0 h 274"/>
                      <a:gd name="T20" fmla="*/ 400 w 400"/>
                      <a:gd name="T21" fmla="*/ 274 h 274"/>
                    </a:gdLst>
                    <a:ahLst/>
                    <a:cxnLst>
                      <a:cxn ang="T12">
                        <a:pos x="T0" y="T1"/>
                      </a:cxn>
                      <a:cxn ang="T13">
                        <a:pos x="T2" y="T3"/>
                      </a:cxn>
                      <a:cxn ang="T14">
                        <a:pos x="T4" y="T5"/>
                      </a:cxn>
                      <a:cxn ang="T15">
                        <a:pos x="T6" y="T7"/>
                      </a:cxn>
                      <a:cxn ang="T16">
                        <a:pos x="T8" y="T9"/>
                      </a:cxn>
                      <a:cxn ang="T17">
                        <a:pos x="T10" y="T11"/>
                      </a:cxn>
                    </a:cxnLst>
                    <a:rect l="T18" t="T19" r="T20" b="T21"/>
                    <a:pathLst>
                      <a:path w="400" h="274">
                        <a:moveTo>
                          <a:pt x="399" y="0"/>
                        </a:moveTo>
                        <a:lnTo>
                          <a:pt x="0" y="0"/>
                        </a:lnTo>
                        <a:lnTo>
                          <a:pt x="0" y="273"/>
                        </a:lnTo>
                        <a:lnTo>
                          <a:pt x="95" y="185"/>
                        </a:lnTo>
                        <a:lnTo>
                          <a:pt x="289" y="95"/>
                        </a:lnTo>
                        <a:lnTo>
                          <a:pt x="399" y="0"/>
                        </a:lnTo>
                      </a:path>
                    </a:pathLst>
                  </a:custGeom>
                  <a:solidFill>
                    <a:srgbClr val="6B645F"/>
                  </a:solidFill>
                  <a:ln w="9525" cap="rnd">
                    <a:noFill/>
                    <a:round/>
                  </a:ln>
                </p:spPr>
                <p:txBody>
                  <a:bodyPr wrap="none" lIns="105640" tIns="52816" rIns="105640" bIns="52816">
                    <a:spAutoFit/>
                  </a:bodyPr>
                  <a:lstStyle/>
                  <a:p>
                    <a:endParaRPr lang="zh-CN" altLang="en-US"/>
                  </a:p>
                </p:txBody>
              </p:sp>
            </p:grpSp>
            <p:sp>
              <p:nvSpPr>
                <p:cNvPr id="11473" name="Freeform 339"/>
                <p:cNvSpPr/>
                <p:nvPr/>
              </p:nvSpPr>
              <p:spPr bwMode="auto">
                <a:xfrm>
                  <a:off x="3969" y="2200"/>
                  <a:ext cx="374" cy="245"/>
                </a:xfrm>
                <a:custGeom>
                  <a:avLst/>
                  <a:gdLst>
                    <a:gd name="T0" fmla="*/ 373 w 374"/>
                    <a:gd name="T1" fmla="*/ 244 h 245"/>
                    <a:gd name="T2" fmla="*/ 0 w 374"/>
                    <a:gd name="T3" fmla="*/ 244 h 245"/>
                    <a:gd name="T4" fmla="*/ 0 w 374"/>
                    <a:gd name="T5" fmla="*/ 0 h 245"/>
                    <a:gd name="T6" fmla="*/ 373 w 374"/>
                    <a:gd name="T7" fmla="*/ 0 h 245"/>
                    <a:gd name="T8" fmla="*/ 373 w 374"/>
                    <a:gd name="T9" fmla="*/ 244 h 245"/>
                    <a:gd name="T10" fmla="*/ 0 60000 65536"/>
                    <a:gd name="T11" fmla="*/ 0 60000 65536"/>
                    <a:gd name="T12" fmla="*/ 0 60000 65536"/>
                    <a:gd name="T13" fmla="*/ 0 60000 65536"/>
                    <a:gd name="T14" fmla="*/ 0 60000 65536"/>
                    <a:gd name="T15" fmla="*/ 0 w 374"/>
                    <a:gd name="T16" fmla="*/ 0 h 245"/>
                    <a:gd name="T17" fmla="*/ 374 w 374"/>
                    <a:gd name="T18" fmla="*/ 245 h 245"/>
                  </a:gdLst>
                  <a:ahLst/>
                  <a:cxnLst>
                    <a:cxn ang="T10">
                      <a:pos x="T0" y="T1"/>
                    </a:cxn>
                    <a:cxn ang="T11">
                      <a:pos x="T2" y="T3"/>
                    </a:cxn>
                    <a:cxn ang="T12">
                      <a:pos x="T4" y="T5"/>
                    </a:cxn>
                    <a:cxn ang="T13">
                      <a:pos x="T6" y="T7"/>
                    </a:cxn>
                    <a:cxn ang="T14">
                      <a:pos x="T8" y="T9"/>
                    </a:cxn>
                  </a:cxnLst>
                  <a:rect l="T15" t="T16" r="T17" b="T18"/>
                  <a:pathLst>
                    <a:path w="374" h="245">
                      <a:moveTo>
                        <a:pt x="373" y="244"/>
                      </a:moveTo>
                      <a:lnTo>
                        <a:pt x="0" y="244"/>
                      </a:lnTo>
                      <a:lnTo>
                        <a:pt x="0" y="0"/>
                      </a:lnTo>
                      <a:lnTo>
                        <a:pt x="373" y="0"/>
                      </a:lnTo>
                      <a:lnTo>
                        <a:pt x="373" y="244"/>
                      </a:lnTo>
                    </a:path>
                  </a:pathLst>
                </a:custGeom>
                <a:gradFill rotWithShape="0">
                  <a:gsLst>
                    <a:gs pos="0">
                      <a:srgbClr val="FC0128"/>
                    </a:gs>
                    <a:gs pos="100000">
                      <a:srgbClr val="650010"/>
                    </a:gs>
                  </a:gsLst>
                  <a:lin ang="2700000" scaled="1"/>
                </a:gradFill>
                <a:ln w="9525" cap="rnd">
                  <a:noFill/>
                  <a:round/>
                </a:ln>
              </p:spPr>
              <p:txBody>
                <a:bodyPr wrap="none" lIns="105640" tIns="52816" rIns="105640" bIns="52816">
                  <a:spAutoFit/>
                </a:bodyPr>
                <a:lstStyle/>
                <a:p>
                  <a:endParaRPr lang="zh-CN" altLang="en-US"/>
                </a:p>
              </p:txBody>
            </p:sp>
          </p:grpSp>
          <p:grpSp>
            <p:nvGrpSpPr>
              <p:cNvPr id="250277" name="Group 340"/>
              <p:cNvGrpSpPr/>
              <p:nvPr/>
            </p:nvGrpSpPr>
            <p:grpSpPr bwMode="auto">
              <a:xfrm>
                <a:off x="4042" y="2186"/>
                <a:ext cx="226" cy="220"/>
                <a:chOff x="4042" y="2186"/>
                <a:chExt cx="226" cy="220"/>
              </a:xfrm>
            </p:grpSpPr>
            <p:grpSp>
              <p:nvGrpSpPr>
                <p:cNvPr id="250278" name="Group 341"/>
                <p:cNvGrpSpPr/>
                <p:nvPr/>
              </p:nvGrpSpPr>
              <p:grpSpPr bwMode="auto">
                <a:xfrm>
                  <a:off x="4042" y="2378"/>
                  <a:ext cx="27" cy="28"/>
                  <a:chOff x="4042" y="2378"/>
                  <a:chExt cx="27" cy="28"/>
                </a:xfrm>
              </p:grpSpPr>
              <p:sp>
                <p:nvSpPr>
                  <p:cNvPr id="11470" name="Oval 342"/>
                  <p:cNvSpPr>
                    <a:spLocks noChangeArrowheads="1"/>
                  </p:cNvSpPr>
                  <p:nvPr/>
                </p:nvSpPr>
                <p:spPr bwMode="auto">
                  <a:xfrm rot="-7200000">
                    <a:off x="4058" y="2395"/>
                    <a:ext cx="10" cy="12"/>
                  </a:xfrm>
                  <a:prstGeom prst="ellipse">
                    <a:avLst/>
                  </a:prstGeom>
                  <a:solidFill>
                    <a:schemeClr val="tx1"/>
                  </a:solidFill>
                  <a:ln w="50799">
                    <a:solidFill>
                      <a:schemeClr val="accent1"/>
                    </a:solidFill>
                    <a:round/>
                  </a:ln>
                </p:spPr>
                <p:txBody>
                  <a:bodyPr wrap="none" lIns="105640" tIns="52816" rIns="105640" bIns="52816">
                    <a:spAutoFit/>
                  </a:bodyPr>
                  <a:lstStyle/>
                  <a:p>
                    <a:endParaRPr lang="zh-CN" altLang="en-US"/>
                  </a:p>
                </p:txBody>
              </p:sp>
              <p:sp>
                <p:nvSpPr>
                  <p:cNvPr id="11471" name="Oval 343"/>
                  <p:cNvSpPr>
                    <a:spLocks noChangeArrowheads="1"/>
                  </p:cNvSpPr>
                  <p:nvPr/>
                </p:nvSpPr>
                <p:spPr bwMode="auto">
                  <a:xfrm rot="-7200000">
                    <a:off x="4043" y="2377"/>
                    <a:ext cx="9" cy="11"/>
                  </a:xfrm>
                  <a:prstGeom prst="ellipse">
                    <a:avLst/>
                  </a:prstGeom>
                  <a:solidFill>
                    <a:schemeClr val="tx1"/>
                  </a:solidFill>
                  <a:ln w="50799">
                    <a:solidFill>
                      <a:schemeClr val="accent1"/>
                    </a:solidFill>
                    <a:round/>
                  </a:ln>
                </p:spPr>
                <p:txBody>
                  <a:bodyPr wrap="none" lIns="105640" tIns="52816" rIns="105640" bIns="52816">
                    <a:spAutoFit/>
                  </a:bodyPr>
                  <a:lstStyle/>
                  <a:p>
                    <a:endParaRPr lang="zh-CN" altLang="en-US"/>
                  </a:p>
                </p:txBody>
              </p:sp>
            </p:grpSp>
            <p:grpSp>
              <p:nvGrpSpPr>
                <p:cNvPr id="250279" name="Group 344"/>
                <p:cNvGrpSpPr/>
                <p:nvPr/>
              </p:nvGrpSpPr>
              <p:grpSpPr bwMode="auto">
                <a:xfrm>
                  <a:off x="4241" y="2297"/>
                  <a:ext cx="27" cy="31"/>
                  <a:chOff x="4241" y="2297"/>
                  <a:chExt cx="27" cy="31"/>
                </a:xfrm>
              </p:grpSpPr>
              <p:sp>
                <p:nvSpPr>
                  <p:cNvPr id="11468" name="Oval 345"/>
                  <p:cNvSpPr>
                    <a:spLocks noChangeArrowheads="1"/>
                  </p:cNvSpPr>
                  <p:nvPr/>
                </p:nvSpPr>
                <p:spPr bwMode="auto">
                  <a:xfrm rot="-7200000">
                    <a:off x="4257" y="2317"/>
                    <a:ext cx="11" cy="11"/>
                  </a:xfrm>
                  <a:prstGeom prst="ellipse">
                    <a:avLst/>
                  </a:prstGeom>
                  <a:solidFill>
                    <a:schemeClr val="tx1"/>
                  </a:solidFill>
                  <a:ln w="50799">
                    <a:solidFill>
                      <a:schemeClr val="accent1"/>
                    </a:solidFill>
                    <a:round/>
                  </a:ln>
                </p:spPr>
                <p:txBody>
                  <a:bodyPr wrap="none" lIns="105640" tIns="52816" rIns="105640" bIns="52816">
                    <a:spAutoFit/>
                  </a:bodyPr>
                  <a:lstStyle/>
                  <a:p>
                    <a:endParaRPr lang="zh-CN" altLang="en-US"/>
                  </a:p>
                </p:txBody>
              </p:sp>
              <p:sp>
                <p:nvSpPr>
                  <p:cNvPr id="11469" name="Oval 346"/>
                  <p:cNvSpPr>
                    <a:spLocks noChangeArrowheads="1"/>
                  </p:cNvSpPr>
                  <p:nvPr/>
                </p:nvSpPr>
                <p:spPr bwMode="auto">
                  <a:xfrm rot="-7200000">
                    <a:off x="4241" y="2297"/>
                    <a:ext cx="11" cy="11"/>
                  </a:xfrm>
                  <a:prstGeom prst="ellipse">
                    <a:avLst/>
                  </a:prstGeom>
                  <a:solidFill>
                    <a:schemeClr val="tx1"/>
                  </a:solidFill>
                  <a:ln w="50799">
                    <a:solidFill>
                      <a:schemeClr val="accent1"/>
                    </a:solidFill>
                    <a:round/>
                  </a:ln>
                </p:spPr>
                <p:txBody>
                  <a:bodyPr wrap="none" lIns="105640" tIns="52816" rIns="105640" bIns="52816">
                    <a:spAutoFit/>
                  </a:bodyPr>
                  <a:lstStyle/>
                  <a:p>
                    <a:endParaRPr lang="zh-CN" altLang="en-US"/>
                  </a:p>
                </p:txBody>
              </p:sp>
            </p:grpSp>
            <p:sp>
              <p:nvSpPr>
                <p:cNvPr id="11452" name="Line 347"/>
                <p:cNvSpPr>
                  <a:spLocks noChangeShapeType="1"/>
                </p:cNvSpPr>
                <p:nvPr/>
              </p:nvSpPr>
              <p:spPr bwMode="auto">
                <a:xfrm flipH="1">
                  <a:off x="4052" y="2303"/>
                  <a:ext cx="197" cy="79"/>
                </a:xfrm>
                <a:prstGeom prst="line">
                  <a:avLst/>
                </a:prstGeom>
                <a:noFill/>
                <a:ln w="50799">
                  <a:solidFill>
                    <a:schemeClr val="accent1"/>
                  </a:solidFill>
                  <a:round/>
                  <a:headEnd type="none" w="sm" len="sm"/>
                  <a:tailEnd type="none" w="sm" len="sm"/>
                </a:ln>
              </p:spPr>
              <p:txBody>
                <a:bodyPr wrap="none" lIns="105640" tIns="52816" rIns="105640" bIns="52816">
                  <a:spAutoFit/>
                </a:bodyPr>
                <a:lstStyle/>
                <a:p>
                  <a:endParaRPr lang="zh-CN" altLang="en-US"/>
                </a:p>
              </p:txBody>
            </p:sp>
            <p:sp>
              <p:nvSpPr>
                <p:cNvPr id="11453" name="Oval 348"/>
                <p:cNvSpPr>
                  <a:spLocks noChangeArrowheads="1"/>
                </p:cNvSpPr>
                <p:nvPr/>
              </p:nvSpPr>
              <p:spPr bwMode="auto">
                <a:xfrm rot="-3600000">
                  <a:off x="4043" y="2317"/>
                  <a:ext cx="9" cy="11"/>
                </a:xfrm>
                <a:prstGeom prst="ellipse">
                  <a:avLst/>
                </a:prstGeom>
                <a:solidFill>
                  <a:schemeClr val="tx1"/>
                </a:solidFill>
                <a:ln w="50799">
                  <a:solidFill>
                    <a:schemeClr val="accent1"/>
                  </a:solidFill>
                  <a:round/>
                </a:ln>
              </p:spPr>
              <p:txBody>
                <a:bodyPr wrap="none" lIns="105640" tIns="52816" rIns="105640" bIns="52816">
                  <a:spAutoFit/>
                </a:bodyPr>
                <a:lstStyle/>
                <a:p>
                  <a:endParaRPr lang="zh-CN" altLang="en-US"/>
                </a:p>
              </p:txBody>
            </p:sp>
            <p:sp>
              <p:nvSpPr>
                <p:cNvPr id="11454" name="Oval 349"/>
                <p:cNvSpPr>
                  <a:spLocks noChangeArrowheads="1"/>
                </p:cNvSpPr>
                <p:nvPr/>
              </p:nvSpPr>
              <p:spPr bwMode="auto">
                <a:xfrm rot="-3600000">
                  <a:off x="4058" y="2297"/>
                  <a:ext cx="10" cy="11"/>
                </a:xfrm>
                <a:prstGeom prst="ellipse">
                  <a:avLst/>
                </a:prstGeom>
                <a:solidFill>
                  <a:schemeClr val="tx1"/>
                </a:solidFill>
                <a:ln w="50799">
                  <a:solidFill>
                    <a:schemeClr val="accent1"/>
                  </a:solidFill>
                  <a:round/>
                </a:ln>
              </p:spPr>
              <p:txBody>
                <a:bodyPr wrap="none" lIns="105640" tIns="52816" rIns="105640" bIns="52816">
                  <a:spAutoFit/>
                </a:bodyPr>
                <a:lstStyle/>
                <a:p>
                  <a:endParaRPr lang="zh-CN" altLang="en-US"/>
                </a:p>
              </p:txBody>
            </p:sp>
            <p:sp>
              <p:nvSpPr>
                <p:cNvPr id="11455" name="Oval 350"/>
                <p:cNvSpPr>
                  <a:spLocks noChangeArrowheads="1"/>
                </p:cNvSpPr>
                <p:nvPr/>
              </p:nvSpPr>
              <p:spPr bwMode="auto">
                <a:xfrm rot="-3600000">
                  <a:off x="4241" y="2395"/>
                  <a:ext cx="11" cy="12"/>
                </a:xfrm>
                <a:prstGeom prst="ellipse">
                  <a:avLst/>
                </a:prstGeom>
                <a:solidFill>
                  <a:schemeClr val="tx1"/>
                </a:solidFill>
                <a:ln w="50799">
                  <a:solidFill>
                    <a:schemeClr val="accent1"/>
                  </a:solidFill>
                  <a:round/>
                </a:ln>
              </p:spPr>
              <p:txBody>
                <a:bodyPr wrap="none" lIns="105640" tIns="52816" rIns="105640" bIns="52816">
                  <a:spAutoFit/>
                </a:bodyPr>
                <a:lstStyle/>
                <a:p>
                  <a:endParaRPr lang="zh-CN" altLang="en-US"/>
                </a:p>
              </p:txBody>
            </p:sp>
            <p:sp>
              <p:nvSpPr>
                <p:cNvPr id="11456" name="Oval 351"/>
                <p:cNvSpPr>
                  <a:spLocks noChangeArrowheads="1"/>
                </p:cNvSpPr>
                <p:nvPr/>
              </p:nvSpPr>
              <p:spPr bwMode="auto">
                <a:xfrm rot="-3600000">
                  <a:off x="4257" y="2377"/>
                  <a:ext cx="11" cy="11"/>
                </a:xfrm>
                <a:prstGeom prst="ellipse">
                  <a:avLst/>
                </a:prstGeom>
                <a:solidFill>
                  <a:schemeClr val="tx1"/>
                </a:solidFill>
                <a:ln w="50799">
                  <a:solidFill>
                    <a:schemeClr val="accent1"/>
                  </a:solidFill>
                  <a:round/>
                </a:ln>
              </p:spPr>
              <p:txBody>
                <a:bodyPr wrap="none" lIns="105640" tIns="52816" rIns="105640" bIns="52816">
                  <a:spAutoFit/>
                </a:bodyPr>
                <a:lstStyle/>
                <a:p>
                  <a:endParaRPr lang="zh-CN" altLang="en-US"/>
                </a:p>
              </p:txBody>
            </p:sp>
            <p:sp>
              <p:nvSpPr>
                <p:cNvPr id="11457" name="Line 352"/>
                <p:cNvSpPr>
                  <a:spLocks noChangeShapeType="1"/>
                </p:cNvSpPr>
                <p:nvPr/>
              </p:nvSpPr>
              <p:spPr bwMode="auto">
                <a:xfrm flipH="1" flipV="1">
                  <a:off x="4052" y="2303"/>
                  <a:ext cx="197" cy="79"/>
                </a:xfrm>
                <a:prstGeom prst="line">
                  <a:avLst/>
                </a:prstGeom>
                <a:noFill/>
                <a:ln w="50799">
                  <a:solidFill>
                    <a:schemeClr val="accent1"/>
                  </a:solidFill>
                  <a:round/>
                  <a:headEnd type="none" w="sm" len="sm"/>
                  <a:tailEnd type="none" w="sm" len="sm"/>
                </a:ln>
              </p:spPr>
              <p:txBody>
                <a:bodyPr wrap="none" lIns="105640" tIns="52816" rIns="105640" bIns="52816">
                  <a:spAutoFit/>
                </a:bodyPr>
                <a:lstStyle/>
                <a:p>
                  <a:endParaRPr lang="zh-CN" altLang="en-US"/>
                </a:p>
              </p:txBody>
            </p:sp>
            <p:sp>
              <p:nvSpPr>
                <p:cNvPr id="11458" name="Oval 353"/>
                <p:cNvSpPr>
                  <a:spLocks noChangeArrowheads="1"/>
                </p:cNvSpPr>
                <p:nvPr/>
              </p:nvSpPr>
              <p:spPr bwMode="auto">
                <a:xfrm>
                  <a:off x="4104" y="2186"/>
                  <a:ext cx="93" cy="86"/>
                </a:xfrm>
                <a:prstGeom prst="ellipse">
                  <a:avLst/>
                </a:prstGeom>
                <a:solidFill>
                  <a:schemeClr val="tx1"/>
                </a:solidFill>
                <a:ln w="12699">
                  <a:solidFill>
                    <a:schemeClr val="accent1"/>
                  </a:solidFill>
                  <a:round/>
                </a:ln>
              </p:spPr>
              <p:txBody>
                <a:bodyPr wrap="none" lIns="105640" tIns="52816" rIns="105640" bIns="52816">
                  <a:spAutoFit/>
                </a:bodyPr>
                <a:lstStyle/>
                <a:p>
                  <a:endParaRPr lang="zh-CN" altLang="en-US"/>
                </a:p>
              </p:txBody>
            </p:sp>
            <p:sp>
              <p:nvSpPr>
                <p:cNvPr id="11459" name="Oval 354"/>
                <p:cNvSpPr>
                  <a:spLocks noChangeArrowheads="1"/>
                </p:cNvSpPr>
                <p:nvPr/>
              </p:nvSpPr>
              <p:spPr bwMode="auto">
                <a:xfrm>
                  <a:off x="4123" y="2241"/>
                  <a:ext cx="58" cy="69"/>
                </a:xfrm>
                <a:prstGeom prst="ellipse">
                  <a:avLst/>
                </a:prstGeom>
                <a:solidFill>
                  <a:schemeClr val="tx1"/>
                </a:solidFill>
                <a:ln w="12699">
                  <a:solidFill>
                    <a:schemeClr val="accent1"/>
                  </a:solidFill>
                  <a:round/>
                </a:ln>
              </p:spPr>
              <p:txBody>
                <a:bodyPr wrap="none" lIns="105640" tIns="52816" rIns="105640" bIns="52816">
                  <a:spAutoFit/>
                </a:bodyPr>
                <a:lstStyle/>
                <a:p>
                  <a:endParaRPr lang="zh-CN" altLang="en-US"/>
                </a:p>
              </p:txBody>
            </p:sp>
            <p:grpSp>
              <p:nvGrpSpPr>
                <p:cNvPr id="250280" name="Group 355"/>
                <p:cNvGrpSpPr/>
                <p:nvPr/>
              </p:nvGrpSpPr>
              <p:grpSpPr bwMode="auto">
                <a:xfrm>
                  <a:off x="4114" y="2215"/>
                  <a:ext cx="74" cy="80"/>
                  <a:chOff x="4114" y="2215"/>
                  <a:chExt cx="74" cy="80"/>
                </a:xfrm>
              </p:grpSpPr>
              <p:sp>
                <p:nvSpPr>
                  <p:cNvPr id="11461" name="Line 356"/>
                  <p:cNvSpPr>
                    <a:spLocks noChangeShapeType="1"/>
                  </p:cNvSpPr>
                  <p:nvPr/>
                </p:nvSpPr>
                <p:spPr bwMode="auto">
                  <a:xfrm flipV="1">
                    <a:off x="4127" y="2281"/>
                    <a:ext cx="47" cy="2"/>
                  </a:xfrm>
                  <a:prstGeom prst="line">
                    <a:avLst/>
                  </a:prstGeom>
                  <a:noFill/>
                  <a:ln w="12699">
                    <a:solidFill>
                      <a:schemeClr val="accent1"/>
                    </a:solidFill>
                    <a:round/>
                    <a:headEnd type="none" w="sm" len="sm"/>
                    <a:tailEnd type="none" w="sm" len="sm"/>
                  </a:ln>
                </p:spPr>
                <p:txBody>
                  <a:bodyPr wrap="none" lIns="105640" tIns="52816" rIns="105640" bIns="52816">
                    <a:spAutoFit/>
                  </a:bodyPr>
                  <a:lstStyle/>
                  <a:p>
                    <a:endParaRPr lang="zh-CN" altLang="en-US"/>
                  </a:p>
                </p:txBody>
              </p:sp>
              <p:grpSp>
                <p:nvGrpSpPr>
                  <p:cNvPr id="250281" name="Group 357"/>
                  <p:cNvGrpSpPr/>
                  <p:nvPr/>
                </p:nvGrpSpPr>
                <p:grpSpPr bwMode="auto">
                  <a:xfrm>
                    <a:off x="4114" y="2215"/>
                    <a:ext cx="74" cy="25"/>
                    <a:chOff x="4114" y="2215"/>
                    <a:chExt cx="74" cy="25"/>
                  </a:xfrm>
                </p:grpSpPr>
                <p:sp>
                  <p:nvSpPr>
                    <p:cNvPr id="11464" name="Line 358"/>
                    <p:cNvSpPr>
                      <a:spLocks noChangeShapeType="1"/>
                    </p:cNvSpPr>
                    <p:nvPr/>
                  </p:nvSpPr>
                  <p:spPr bwMode="auto">
                    <a:xfrm>
                      <a:off x="4114" y="2215"/>
                      <a:ext cx="29" cy="25"/>
                    </a:xfrm>
                    <a:prstGeom prst="line">
                      <a:avLst/>
                    </a:prstGeom>
                    <a:noFill/>
                    <a:ln w="12699">
                      <a:solidFill>
                        <a:schemeClr val="accent1"/>
                      </a:solidFill>
                      <a:round/>
                      <a:headEnd type="none" w="sm" len="sm"/>
                      <a:tailEnd type="none" w="sm" len="sm"/>
                    </a:ln>
                  </p:spPr>
                  <p:txBody>
                    <a:bodyPr wrap="none" lIns="105640" tIns="52816" rIns="105640" bIns="52816">
                      <a:spAutoFit/>
                    </a:bodyPr>
                    <a:lstStyle/>
                    <a:p>
                      <a:endParaRPr lang="zh-CN" altLang="en-US"/>
                    </a:p>
                  </p:txBody>
                </p:sp>
                <p:sp>
                  <p:nvSpPr>
                    <p:cNvPr id="11465" name="Line 359"/>
                    <p:cNvSpPr>
                      <a:spLocks noChangeShapeType="1"/>
                    </p:cNvSpPr>
                    <p:nvPr/>
                  </p:nvSpPr>
                  <p:spPr bwMode="auto">
                    <a:xfrm flipV="1">
                      <a:off x="4114" y="2215"/>
                      <a:ext cx="29" cy="25"/>
                    </a:xfrm>
                    <a:prstGeom prst="line">
                      <a:avLst/>
                    </a:prstGeom>
                    <a:noFill/>
                    <a:ln w="12699">
                      <a:solidFill>
                        <a:schemeClr val="accent1"/>
                      </a:solidFill>
                      <a:round/>
                      <a:headEnd type="none" w="sm" len="sm"/>
                      <a:tailEnd type="none" w="sm" len="sm"/>
                    </a:ln>
                  </p:spPr>
                  <p:txBody>
                    <a:bodyPr wrap="none" lIns="105640" tIns="52816" rIns="105640" bIns="52816">
                      <a:spAutoFit/>
                    </a:bodyPr>
                    <a:lstStyle/>
                    <a:p>
                      <a:endParaRPr lang="zh-CN" altLang="en-US"/>
                    </a:p>
                  </p:txBody>
                </p:sp>
                <p:sp>
                  <p:nvSpPr>
                    <p:cNvPr id="11466" name="Line 360"/>
                    <p:cNvSpPr>
                      <a:spLocks noChangeShapeType="1"/>
                    </p:cNvSpPr>
                    <p:nvPr/>
                  </p:nvSpPr>
                  <p:spPr bwMode="auto">
                    <a:xfrm>
                      <a:off x="4159" y="2215"/>
                      <a:ext cx="29" cy="25"/>
                    </a:xfrm>
                    <a:prstGeom prst="line">
                      <a:avLst/>
                    </a:prstGeom>
                    <a:noFill/>
                    <a:ln w="12699">
                      <a:solidFill>
                        <a:schemeClr val="accent1"/>
                      </a:solidFill>
                      <a:round/>
                      <a:headEnd type="none" w="sm" len="sm"/>
                      <a:tailEnd type="none" w="sm" len="sm"/>
                    </a:ln>
                  </p:spPr>
                  <p:txBody>
                    <a:bodyPr wrap="none" lIns="105640" tIns="52816" rIns="105640" bIns="52816">
                      <a:spAutoFit/>
                    </a:bodyPr>
                    <a:lstStyle/>
                    <a:p>
                      <a:endParaRPr lang="zh-CN" altLang="en-US"/>
                    </a:p>
                  </p:txBody>
                </p:sp>
                <p:sp>
                  <p:nvSpPr>
                    <p:cNvPr id="11467" name="Line 361"/>
                    <p:cNvSpPr>
                      <a:spLocks noChangeShapeType="1"/>
                    </p:cNvSpPr>
                    <p:nvPr/>
                  </p:nvSpPr>
                  <p:spPr bwMode="auto">
                    <a:xfrm flipV="1">
                      <a:off x="4159" y="2215"/>
                      <a:ext cx="29" cy="25"/>
                    </a:xfrm>
                    <a:prstGeom prst="line">
                      <a:avLst/>
                    </a:prstGeom>
                    <a:noFill/>
                    <a:ln w="12699">
                      <a:solidFill>
                        <a:schemeClr val="accent1"/>
                      </a:solidFill>
                      <a:round/>
                      <a:headEnd type="none" w="sm" len="sm"/>
                      <a:tailEnd type="none" w="sm" len="sm"/>
                    </a:ln>
                  </p:spPr>
                  <p:txBody>
                    <a:bodyPr wrap="none" lIns="105640" tIns="52816" rIns="105640" bIns="52816">
                      <a:spAutoFit/>
                    </a:bodyPr>
                    <a:lstStyle/>
                    <a:p>
                      <a:endParaRPr lang="zh-CN" altLang="en-US"/>
                    </a:p>
                  </p:txBody>
                </p:sp>
              </p:grpSp>
              <p:sp>
                <p:nvSpPr>
                  <p:cNvPr id="11463" name="Line 362"/>
                  <p:cNvSpPr>
                    <a:spLocks noChangeShapeType="1"/>
                  </p:cNvSpPr>
                  <p:nvPr/>
                </p:nvSpPr>
                <p:spPr bwMode="auto">
                  <a:xfrm>
                    <a:off x="4153" y="2273"/>
                    <a:ext cx="0" cy="22"/>
                  </a:xfrm>
                  <a:prstGeom prst="line">
                    <a:avLst/>
                  </a:prstGeom>
                  <a:noFill/>
                  <a:ln w="12699">
                    <a:solidFill>
                      <a:schemeClr val="accent1"/>
                    </a:solidFill>
                    <a:round/>
                    <a:headEnd type="none" w="sm" len="sm"/>
                    <a:tailEnd type="none" w="sm" len="sm"/>
                  </a:ln>
                </p:spPr>
                <p:txBody>
                  <a:bodyPr wrap="none" lIns="105640" tIns="52816" rIns="105640" bIns="52816">
                    <a:spAutoFit/>
                  </a:bodyPr>
                  <a:lstStyle/>
                  <a:p>
                    <a:endParaRPr lang="zh-CN" altLang="en-US"/>
                  </a:p>
                </p:txBody>
              </p:sp>
            </p:grpSp>
          </p:grpSp>
        </p:grpSp>
        <p:sp>
          <p:nvSpPr>
            <p:cNvPr id="250219" name="Rectangle 363"/>
            <p:cNvSpPr>
              <a:spLocks noChangeArrowheads="1"/>
            </p:cNvSpPr>
            <p:nvPr/>
          </p:nvSpPr>
          <p:spPr bwMode="auto">
            <a:xfrm>
              <a:off x="3746" y="2810"/>
              <a:ext cx="891" cy="325"/>
            </a:xfrm>
            <a:prstGeom prst="rect">
              <a:avLst/>
            </a:prstGeom>
            <a:noFill/>
            <a:ln w="9525">
              <a:noFill/>
              <a:miter lim="800000"/>
            </a:ln>
            <a:effectLst/>
          </p:spPr>
          <p:txBody>
            <a:bodyPr wrap="none" lIns="105640" tIns="52816" rIns="105640" bIns="52816">
              <a:spAutoFit/>
            </a:bodyPr>
            <a:lstStyle/>
            <a:p>
              <a:pPr defTabSz="979805" eaLnBrk="0" hangingPunct="0">
                <a:defRPr/>
              </a:pPr>
              <a:r>
                <a:rPr kumimoji="1" lang="zh-CN" altLang="en-US" sz="2700" i="1">
                  <a:effectLst>
                    <a:outerShdw blurRad="38100" dist="38100" dir="2700000" algn="tl">
                      <a:srgbClr val="C0C0C0"/>
                    </a:outerShdw>
                  </a:effectLst>
                  <a:latin typeface="Helvetica" charset="0"/>
                </a:rPr>
                <a:t>外部攻击</a:t>
              </a:r>
            </a:p>
          </p:txBody>
        </p:sp>
      </p:grpSp>
      <p:sp>
        <p:nvSpPr>
          <p:cNvPr id="11334" name="Rectangle 364"/>
          <p:cNvSpPr>
            <a:spLocks noChangeArrowheads="1"/>
          </p:cNvSpPr>
          <p:nvPr/>
        </p:nvSpPr>
        <p:spPr bwMode="auto">
          <a:xfrm>
            <a:off x="7129463" y="2813720"/>
            <a:ext cx="1127125" cy="379412"/>
          </a:xfrm>
          <a:prstGeom prst="rect">
            <a:avLst/>
          </a:prstGeom>
          <a:noFill/>
          <a:ln w="9525">
            <a:noFill/>
            <a:miter lim="800000"/>
          </a:ln>
        </p:spPr>
        <p:txBody>
          <a:bodyPr wrap="none" lIns="105640" tIns="52816" rIns="105640" bIns="52816">
            <a:spAutoFit/>
          </a:bodyPr>
          <a:lstStyle/>
          <a:p>
            <a:pPr defTabSz="979805" eaLnBrk="0" hangingPunct="0"/>
            <a:r>
              <a:rPr kumimoji="1" lang="zh-CN" altLang="en-US" b="0" i="1">
                <a:latin typeface="Helvetica" charset="0"/>
              </a:rPr>
              <a:t>商务伙伴</a:t>
            </a:r>
          </a:p>
        </p:txBody>
      </p:sp>
      <p:sp>
        <p:nvSpPr>
          <p:cNvPr id="250221" name="Line 365"/>
          <p:cNvSpPr>
            <a:spLocks noChangeShapeType="1"/>
          </p:cNvSpPr>
          <p:nvPr/>
        </p:nvSpPr>
        <p:spPr bwMode="auto">
          <a:xfrm flipV="1">
            <a:off x="7710488" y="2480345"/>
            <a:ext cx="0" cy="815975"/>
          </a:xfrm>
          <a:prstGeom prst="line">
            <a:avLst/>
          </a:prstGeom>
          <a:noFill/>
          <a:ln w="126999">
            <a:solidFill>
              <a:schemeClr val="hlink"/>
            </a:solidFill>
            <a:round/>
            <a:headEnd type="none" w="sm" len="sm"/>
            <a:tailEnd type="none" w="sm" len="sm"/>
          </a:ln>
        </p:spPr>
        <p:txBody>
          <a:bodyPr wrap="none" anchor="ctr"/>
          <a:lstStyle/>
          <a:p>
            <a:endParaRPr lang="zh-CN" altLang="en-US"/>
          </a:p>
        </p:txBody>
      </p:sp>
      <p:sp>
        <p:nvSpPr>
          <p:cNvPr id="250222" name="Line 366"/>
          <p:cNvSpPr>
            <a:spLocks noChangeShapeType="1"/>
          </p:cNvSpPr>
          <p:nvPr/>
        </p:nvSpPr>
        <p:spPr bwMode="auto">
          <a:xfrm flipH="1">
            <a:off x="6324600" y="2432720"/>
            <a:ext cx="576263" cy="298450"/>
          </a:xfrm>
          <a:prstGeom prst="line">
            <a:avLst/>
          </a:prstGeom>
          <a:noFill/>
          <a:ln w="126999">
            <a:solidFill>
              <a:schemeClr val="hlink"/>
            </a:solidFill>
            <a:round/>
            <a:headEnd type="none" w="sm" len="sm"/>
            <a:tailEnd type="none" w="sm" len="sm"/>
          </a:ln>
        </p:spPr>
        <p:txBody>
          <a:bodyPr wrap="none" anchor="ctr"/>
          <a:lstStyle/>
          <a:p>
            <a:endParaRPr lang="zh-CN" altLang="en-US"/>
          </a:p>
        </p:txBody>
      </p:sp>
      <p:sp>
        <p:nvSpPr>
          <p:cNvPr id="250223" name="Line 367"/>
          <p:cNvSpPr>
            <a:spLocks noChangeShapeType="1"/>
          </p:cNvSpPr>
          <p:nvPr/>
        </p:nvSpPr>
        <p:spPr bwMode="auto">
          <a:xfrm flipH="1">
            <a:off x="5438775" y="2937545"/>
            <a:ext cx="523875" cy="276225"/>
          </a:xfrm>
          <a:prstGeom prst="line">
            <a:avLst/>
          </a:prstGeom>
          <a:noFill/>
          <a:ln w="126999">
            <a:solidFill>
              <a:schemeClr val="hlink"/>
            </a:solidFill>
            <a:round/>
            <a:headEnd type="none" w="sm" len="sm"/>
            <a:tailEnd type="none" w="sm" len="sm"/>
          </a:ln>
        </p:spPr>
        <p:txBody>
          <a:bodyPr wrap="none" anchor="ctr"/>
          <a:lstStyle/>
          <a:p>
            <a:endParaRPr lang="zh-CN" altLang="en-US"/>
          </a:p>
        </p:txBody>
      </p:sp>
      <p:sp>
        <p:nvSpPr>
          <p:cNvPr id="250224" name="Line 368"/>
          <p:cNvSpPr>
            <a:spLocks noChangeShapeType="1"/>
          </p:cNvSpPr>
          <p:nvPr/>
        </p:nvSpPr>
        <p:spPr bwMode="auto">
          <a:xfrm flipH="1">
            <a:off x="4462463" y="3280445"/>
            <a:ext cx="547687" cy="0"/>
          </a:xfrm>
          <a:prstGeom prst="line">
            <a:avLst/>
          </a:prstGeom>
          <a:noFill/>
          <a:ln w="126999">
            <a:solidFill>
              <a:schemeClr val="hlink"/>
            </a:solidFill>
            <a:round/>
            <a:headEnd type="none" w="sm" len="sm"/>
            <a:tailEnd type="none" w="sm" len="sm"/>
          </a:ln>
        </p:spPr>
        <p:txBody>
          <a:bodyPr wrap="none" anchor="ctr"/>
          <a:lstStyle/>
          <a:p>
            <a:endParaRPr lang="zh-CN" altLang="en-US"/>
          </a:p>
        </p:txBody>
      </p:sp>
      <p:sp>
        <p:nvSpPr>
          <p:cNvPr id="250225" name="Line 369"/>
          <p:cNvSpPr>
            <a:spLocks noChangeShapeType="1"/>
          </p:cNvSpPr>
          <p:nvPr/>
        </p:nvSpPr>
        <p:spPr bwMode="auto">
          <a:xfrm flipH="1">
            <a:off x="3690938" y="3264570"/>
            <a:ext cx="247650" cy="6350"/>
          </a:xfrm>
          <a:prstGeom prst="line">
            <a:avLst/>
          </a:prstGeom>
          <a:noFill/>
          <a:ln w="126999">
            <a:solidFill>
              <a:schemeClr val="hlink"/>
            </a:solidFill>
            <a:round/>
            <a:headEnd type="none" w="sm" len="sm"/>
            <a:tailEnd type="none" w="sm" len="sm"/>
          </a:ln>
        </p:spPr>
        <p:txBody>
          <a:bodyPr wrap="none" anchor="ctr"/>
          <a:lstStyle/>
          <a:p>
            <a:endParaRPr lang="zh-CN" altLang="en-US"/>
          </a:p>
        </p:txBody>
      </p:sp>
      <p:sp>
        <p:nvSpPr>
          <p:cNvPr id="250226" name="Line 370"/>
          <p:cNvSpPr>
            <a:spLocks noChangeShapeType="1"/>
          </p:cNvSpPr>
          <p:nvPr/>
        </p:nvSpPr>
        <p:spPr bwMode="auto">
          <a:xfrm flipV="1">
            <a:off x="3681413" y="1886620"/>
            <a:ext cx="0" cy="1450975"/>
          </a:xfrm>
          <a:prstGeom prst="line">
            <a:avLst/>
          </a:prstGeom>
          <a:noFill/>
          <a:ln w="126999">
            <a:solidFill>
              <a:schemeClr val="hlink"/>
            </a:solidFill>
            <a:round/>
            <a:headEnd type="none" w="sm" len="sm"/>
            <a:tailEnd type="none" w="sm" len="sm"/>
          </a:ln>
        </p:spPr>
        <p:txBody>
          <a:bodyPr wrap="none" anchor="ctr"/>
          <a:lstStyle/>
          <a:p>
            <a:endParaRPr lang="zh-CN" altLang="en-US"/>
          </a:p>
        </p:txBody>
      </p:sp>
      <p:sp>
        <p:nvSpPr>
          <p:cNvPr id="250227" name="Line 371"/>
          <p:cNvSpPr>
            <a:spLocks noChangeShapeType="1"/>
          </p:cNvSpPr>
          <p:nvPr/>
        </p:nvSpPr>
        <p:spPr bwMode="auto">
          <a:xfrm flipH="1">
            <a:off x="3059113" y="1896145"/>
            <a:ext cx="674687" cy="0"/>
          </a:xfrm>
          <a:prstGeom prst="line">
            <a:avLst/>
          </a:prstGeom>
          <a:noFill/>
          <a:ln w="126999">
            <a:solidFill>
              <a:schemeClr val="hlink"/>
            </a:solidFill>
            <a:round/>
            <a:headEnd type="none" w="sm" len="sm"/>
            <a:tailEnd type="none" w="sm" len="sm"/>
          </a:ln>
        </p:spPr>
        <p:txBody>
          <a:bodyPr wrap="none" anchor="ctr"/>
          <a:lstStyle/>
          <a:p>
            <a:endParaRPr lang="zh-CN" altLang="en-US"/>
          </a:p>
        </p:txBody>
      </p:sp>
      <p:grpSp>
        <p:nvGrpSpPr>
          <p:cNvPr id="250282" name="Group 372"/>
          <p:cNvGrpSpPr/>
          <p:nvPr/>
        </p:nvGrpSpPr>
        <p:grpSpPr bwMode="auto">
          <a:xfrm>
            <a:off x="3956050" y="2651795"/>
            <a:ext cx="485775" cy="304800"/>
            <a:chOff x="2063" y="1704"/>
            <a:chExt cx="271" cy="193"/>
          </a:xfrm>
        </p:grpSpPr>
        <p:grpSp>
          <p:nvGrpSpPr>
            <p:cNvPr id="250283" name="Group 373"/>
            <p:cNvGrpSpPr/>
            <p:nvPr/>
          </p:nvGrpSpPr>
          <p:grpSpPr bwMode="auto">
            <a:xfrm>
              <a:off x="2064" y="1771"/>
              <a:ext cx="149" cy="126"/>
              <a:chOff x="2064" y="1771"/>
              <a:chExt cx="149" cy="126"/>
            </a:xfrm>
          </p:grpSpPr>
          <p:sp>
            <p:nvSpPr>
              <p:cNvPr id="11444" name="Freeform 374"/>
              <p:cNvSpPr/>
              <p:nvPr/>
            </p:nvSpPr>
            <p:spPr bwMode="auto">
              <a:xfrm>
                <a:off x="2064" y="1772"/>
                <a:ext cx="143" cy="118"/>
              </a:xfrm>
              <a:custGeom>
                <a:avLst/>
                <a:gdLst>
                  <a:gd name="T0" fmla="*/ 142 w 143"/>
                  <a:gd name="T1" fmla="*/ 31 h 118"/>
                  <a:gd name="T2" fmla="*/ 142 w 143"/>
                  <a:gd name="T3" fmla="*/ 117 h 118"/>
                  <a:gd name="T4" fmla="*/ 0 w 143"/>
                  <a:gd name="T5" fmla="*/ 79 h 118"/>
                  <a:gd name="T6" fmla="*/ 0 w 143"/>
                  <a:gd name="T7" fmla="*/ 0 h 118"/>
                  <a:gd name="T8" fmla="*/ 142 w 143"/>
                  <a:gd name="T9" fmla="*/ 31 h 118"/>
                  <a:gd name="T10" fmla="*/ 0 60000 65536"/>
                  <a:gd name="T11" fmla="*/ 0 60000 65536"/>
                  <a:gd name="T12" fmla="*/ 0 60000 65536"/>
                  <a:gd name="T13" fmla="*/ 0 60000 65536"/>
                  <a:gd name="T14" fmla="*/ 0 60000 65536"/>
                  <a:gd name="T15" fmla="*/ 0 w 143"/>
                  <a:gd name="T16" fmla="*/ 0 h 118"/>
                  <a:gd name="T17" fmla="*/ 143 w 143"/>
                  <a:gd name="T18" fmla="*/ 118 h 118"/>
                </a:gdLst>
                <a:ahLst/>
                <a:cxnLst>
                  <a:cxn ang="T10">
                    <a:pos x="T0" y="T1"/>
                  </a:cxn>
                  <a:cxn ang="T11">
                    <a:pos x="T2" y="T3"/>
                  </a:cxn>
                  <a:cxn ang="T12">
                    <a:pos x="T4" y="T5"/>
                  </a:cxn>
                  <a:cxn ang="T13">
                    <a:pos x="T6" y="T7"/>
                  </a:cxn>
                  <a:cxn ang="T14">
                    <a:pos x="T8" y="T9"/>
                  </a:cxn>
                </a:cxnLst>
                <a:rect l="T15" t="T16" r="T17" b="T18"/>
                <a:pathLst>
                  <a:path w="143" h="118">
                    <a:moveTo>
                      <a:pt x="142" y="31"/>
                    </a:moveTo>
                    <a:lnTo>
                      <a:pt x="142" y="117"/>
                    </a:lnTo>
                    <a:lnTo>
                      <a:pt x="0" y="79"/>
                    </a:lnTo>
                    <a:lnTo>
                      <a:pt x="0" y="0"/>
                    </a:lnTo>
                    <a:lnTo>
                      <a:pt x="142" y="31"/>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11445" name="Freeform 375"/>
              <p:cNvSpPr/>
              <p:nvPr/>
            </p:nvSpPr>
            <p:spPr bwMode="auto">
              <a:xfrm>
                <a:off x="2065" y="1771"/>
                <a:ext cx="148" cy="126"/>
              </a:xfrm>
              <a:custGeom>
                <a:avLst/>
                <a:gdLst>
                  <a:gd name="T0" fmla="*/ 147 w 148"/>
                  <a:gd name="T1" fmla="*/ 34 h 126"/>
                  <a:gd name="T2" fmla="*/ 147 w 148"/>
                  <a:gd name="T3" fmla="*/ 125 h 126"/>
                  <a:gd name="T4" fmla="*/ 0 w 148"/>
                  <a:gd name="T5" fmla="*/ 84 h 126"/>
                  <a:gd name="T6" fmla="*/ 0 w 148"/>
                  <a:gd name="T7" fmla="*/ 0 h 126"/>
                  <a:gd name="T8" fmla="*/ 147 w 148"/>
                  <a:gd name="T9" fmla="*/ 34 h 126"/>
                  <a:gd name="T10" fmla="*/ 0 60000 65536"/>
                  <a:gd name="T11" fmla="*/ 0 60000 65536"/>
                  <a:gd name="T12" fmla="*/ 0 60000 65536"/>
                  <a:gd name="T13" fmla="*/ 0 60000 65536"/>
                  <a:gd name="T14" fmla="*/ 0 60000 65536"/>
                  <a:gd name="T15" fmla="*/ 0 w 148"/>
                  <a:gd name="T16" fmla="*/ 0 h 126"/>
                  <a:gd name="T17" fmla="*/ 148 w 148"/>
                  <a:gd name="T18" fmla="*/ 126 h 126"/>
                </a:gdLst>
                <a:ahLst/>
                <a:cxnLst>
                  <a:cxn ang="T10">
                    <a:pos x="T0" y="T1"/>
                  </a:cxn>
                  <a:cxn ang="T11">
                    <a:pos x="T2" y="T3"/>
                  </a:cxn>
                  <a:cxn ang="T12">
                    <a:pos x="T4" y="T5"/>
                  </a:cxn>
                  <a:cxn ang="T13">
                    <a:pos x="T6" y="T7"/>
                  </a:cxn>
                  <a:cxn ang="T14">
                    <a:pos x="T8" y="T9"/>
                  </a:cxn>
                </a:cxnLst>
                <a:rect l="T15" t="T16" r="T17" b="T18"/>
                <a:pathLst>
                  <a:path w="148" h="126">
                    <a:moveTo>
                      <a:pt x="147" y="34"/>
                    </a:moveTo>
                    <a:lnTo>
                      <a:pt x="147" y="125"/>
                    </a:lnTo>
                    <a:lnTo>
                      <a:pt x="0" y="84"/>
                    </a:lnTo>
                    <a:lnTo>
                      <a:pt x="0" y="0"/>
                    </a:lnTo>
                    <a:lnTo>
                      <a:pt x="147" y="34"/>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nvGrpSpPr>
            <p:cNvPr id="250284" name="Group 376"/>
            <p:cNvGrpSpPr/>
            <p:nvPr/>
          </p:nvGrpSpPr>
          <p:grpSpPr bwMode="auto">
            <a:xfrm>
              <a:off x="2063" y="1704"/>
              <a:ext cx="269" cy="103"/>
              <a:chOff x="2063" y="1704"/>
              <a:chExt cx="269" cy="103"/>
            </a:xfrm>
          </p:grpSpPr>
          <p:sp>
            <p:nvSpPr>
              <p:cNvPr id="11442" name="Freeform 377"/>
              <p:cNvSpPr/>
              <p:nvPr/>
            </p:nvSpPr>
            <p:spPr bwMode="auto">
              <a:xfrm>
                <a:off x="2064" y="1704"/>
                <a:ext cx="262" cy="98"/>
              </a:xfrm>
              <a:custGeom>
                <a:avLst/>
                <a:gdLst>
                  <a:gd name="T0" fmla="*/ 144 w 262"/>
                  <a:gd name="T1" fmla="*/ 97 h 98"/>
                  <a:gd name="T2" fmla="*/ 0 w 262"/>
                  <a:gd name="T3" fmla="*/ 64 h 98"/>
                  <a:gd name="T4" fmla="*/ 135 w 262"/>
                  <a:gd name="T5" fmla="*/ 0 h 98"/>
                  <a:gd name="T6" fmla="*/ 261 w 262"/>
                  <a:gd name="T7" fmla="*/ 25 h 98"/>
                  <a:gd name="T8" fmla="*/ 144 w 262"/>
                  <a:gd name="T9" fmla="*/ 97 h 98"/>
                  <a:gd name="T10" fmla="*/ 0 60000 65536"/>
                  <a:gd name="T11" fmla="*/ 0 60000 65536"/>
                  <a:gd name="T12" fmla="*/ 0 60000 65536"/>
                  <a:gd name="T13" fmla="*/ 0 60000 65536"/>
                  <a:gd name="T14" fmla="*/ 0 60000 65536"/>
                  <a:gd name="T15" fmla="*/ 0 w 262"/>
                  <a:gd name="T16" fmla="*/ 0 h 98"/>
                  <a:gd name="T17" fmla="*/ 262 w 262"/>
                  <a:gd name="T18" fmla="*/ 98 h 98"/>
                </a:gdLst>
                <a:ahLst/>
                <a:cxnLst>
                  <a:cxn ang="T10">
                    <a:pos x="T0" y="T1"/>
                  </a:cxn>
                  <a:cxn ang="T11">
                    <a:pos x="T2" y="T3"/>
                  </a:cxn>
                  <a:cxn ang="T12">
                    <a:pos x="T4" y="T5"/>
                  </a:cxn>
                  <a:cxn ang="T13">
                    <a:pos x="T6" y="T7"/>
                  </a:cxn>
                  <a:cxn ang="T14">
                    <a:pos x="T8" y="T9"/>
                  </a:cxn>
                </a:cxnLst>
                <a:rect l="T15" t="T16" r="T17" b="T18"/>
                <a:pathLst>
                  <a:path w="262" h="98">
                    <a:moveTo>
                      <a:pt x="144" y="97"/>
                    </a:moveTo>
                    <a:lnTo>
                      <a:pt x="0" y="64"/>
                    </a:lnTo>
                    <a:lnTo>
                      <a:pt x="135" y="0"/>
                    </a:lnTo>
                    <a:lnTo>
                      <a:pt x="261" y="25"/>
                    </a:lnTo>
                    <a:lnTo>
                      <a:pt x="144" y="97"/>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11443" name="Freeform 378"/>
              <p:cNvSpPr/>
              <p:nvPr/>
            </p:nvSpPr>
            <p:spPr bwMode="auto">
              <a:xfrm>
                <a:off x="2063" y="1704"/>
                <a:ext cx="269" cy="103"/>
              </a:xfrm>
              <a:custGeom>
                <a:avLst/>
                <a:gdLst>
                  <a:gd name="T0" fmla="*/ 148 w 269"/>
                  <a:gd name="T1" fmla="*/ 102 h 103"/>
                  <a:gd name="T2" fmla="*/ 0 w 269"/>
                  <a:gd name="T3" fmla="*/ 67 h 103"/>
                  <a:gd name="T4" fmla="*/ 139 w 269"/>
                  <a:gd name="T5" fmla="*/ 0 h 103"/>
                  <a:gd name="T6" fmla="*/ 268 w 269"/>
                  <a:gd name="T7" fmla="*/ 27 h 103"/>
                  <a:gd name="T8" fmla="*/ 148 w 269"/>
                  <a:gd name="T9" fmla="*/ 102 h 103"/>
                  <a:gd name="T10" fmla="*/ 0 60000 65536"/>
                  <a:gd name="T11" fmla="*/ 0 60000 65536"/>
                  <a:gd name="T12" fmla="*/ 0 60000 65536"/>
                  <a:gd name="T13" fmla="*/ 0 60000 65536"/>
                  <a:gd name="T14" fmla="*/ 0 60000 65536"/>
                  <a:gd name="T15" fmla="*/ 0 w 269"/>
                  <a:gd name="T16" fmla="*/ 0 h 103"/>
                  <a:gd name="T17" fmla="*/ 269 w 269"/>
                  <a:gd name="T18" fmla="*/ 103 h 103"/>
                </a:gdLst>
                <a:ahLst/>
                <a:cxnLst>
                  <a:cxn ang="T10">
                    <a:pos x="T0" y="T1"/>
                  </a:cxn>
                  <a:cxn ang="T11">
                    <a:pos x="T2" y="T3"/>
                  </a:cxn>
                  <a:cxn ang="T12">
                    <a:pos x="T4" y="T5"/>
                  </a:cxn>
                  <a:cxn ang="T13">
                    <a:pos x="T6" y="T7"/>
                  </a:cxn>
                  <a:cxn ang="T14">
                    <a:pos x="T8" y="T9"/>
                  </a:cxn>
                </a:cxnLst>
                <a:rect l="T15" t="T16" r="T17" b="T18"/>
                <a:pathLst>
                  <a:path w="269" h="103">
                    <a:moveTo>
                      <a:pt x="148" y="102"/>
                    </a:moveTo>
                    <a:lnTo>
                      <a:pt x="0" y="67"/>
                    </a:lnTo>
                    <a:lnTo>
                      <a:pt x="139" y="0"/>
                    </a:lnTo>
                    <a:lnTo>
                      <a:pt x="268" y="27"/>
                    </a:lnTo>
                    <a:lnTo>
                      <a:pt x="148" y="102"/>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nvGrpSpPr>
            <p:cNvPr id="250285" name="Group 379"/>
            <p:cNvGrpSpPr/>
            <p:nvPr/>
          </p:nvGrpSpPr>
          <p:grpSpPr bwMode="auto">
            <a:xfrm>
              <a:off x="2213" y="1730"/>
              <a:ext cx="121" cy="167"/>
              <a:chOff x="2213" y="1730"/>
              <a:chExt cx="121" cy="167"/>
            </a:xfrm>
          </p:grpSpPr>
          <p:sp>
            <p:nvSpPr>
              <p:cNvPr id="11440" name="Freeform 380"/>
              <p:cNvSpPr/>
              <p:nvPr/>
            </p:nvSpPr>
            <p:spPr bwMode="auto">
              <a:xfrm>
                <a:off x="2214" y="1731"/>
                <a:ext cx="114" cy="159"/>
              </a:xfrm>
              <a:custGeom>
                <a:avLst/>
                <a:gdLst>
                  <a:gd name="T0" fmla="*/ 113 w 114"/>
                  <a:gd name="T1" fmla="*/ 0 h 159"/>
                  <a:gd name="T2" fmla="*/ 0 w 114"/>
                  <a:gd name="T3" fmla="*/ 71 h 159"/>
                  <a:gd name="T4" fmla="*/ 0 w 114"/>
                  <a:gd name="T5" fmla="*/ 158 h 159"/>
                  <a:gd name="T6" fmla="*/ 113 w 114"/>
                  <a:gd name="T7" fmla="*/ 76 h 159"/>
                  <a:gd name="T8" fmla="*/ 113 w 114"/>
                  <a:gd name="T9" fmla="*/ 0 h 159"/>
                  <a:gd name="T10" fmla="*/ 0 60000 65536"/>
                  <a:gd name="T11" fmla="*/ 0 60000 65536"/>
                  <a:gd name="T12" fmla="*/ 0 60000 65536"/>
                  <a:gd name="T13" fmla="*/ 0 60000 65536"/>
                  <a:gd name="T14" fmla="*/ 0 60000 65536"/>
                  <a:gd name="T15" fmla="*/ 0 w 114"/>
                  <a:gd name="T16" fmla="*/ 0 h 159"/>
                  <a:gd name="T17" fmla="*/ 114 w 114"/>
                  <a:gd name="T18" fmla="*/ 159 h 159"/>
                </a:gdLst>
                <a:ahLst/>
                <a:cxnLst>
                  <a:cxn ang="T10">
                    <a:pos x="T0" y="T1"/>
                  </a:cxn>
                  <a:cxn ang="T11">
                    <a:pos x="T2" y="T3"/>
                  </a:cxn>
                  <a:cxn ang="T12">
                    <a:pos x="T4" y="T5"/>
                  </a:cxn>
                  <a:cxn ang="T13">
                    <a:pos x="T6" y="T7"/>
                  </a:cxn>
                  <a:cxn ang="T14">
                    <a:pos x="T8" y="T9"/>
                  </a:cxn>
                </a:cxnLst>
                <a:rect l="T15" t="T16" r="T17" b="T18"/>
                <a:pathLst>
                  <a:path w="114" h="159">
                    <a:moveTo>
                      <a:pt x="113" y="0"/>
                    </a:moveTo>
                    <a:lnTo>
                      <a:pt x="0" y="71"/>
                    </a:lnTo>
                    <a:lnTo>
                      <a:pt x="0" y="158"/>
                    </a:lnTo>
                    <a:lnTo>
                      <a:pt x="113" y="76"/>
                    </a:lnTo>
                    <a:lnTo>
                      <a:pt x="113" y="0"/>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11441" name="Freeform 381"/>
              <p:cNvSpPr/>
              <p:nvPr/>
            </p:nvSpPr>
            <p:spPr bwMode="auto">
              <a:xfrm>
                <a:off x="2213" y="1730"/>
                <a:ext cx="121" cy="167"/>
              </a:xfrm>
              <a:custGeom>
                <a:avLst/>
                <a:gdLst>
                  <a:gd name="T0" fmla="*/ 120 w 121"/>
                  <a:gd name="T1" fmla="*/ 0 h 167"/>
                  <a:gd name="T2" fmla="*/ 0 w 121"/>
                  <a:gd name="T3" fmla="*/ 76 h 167"/>
                  <a:gd name="T4" fmla="*/ 0 w 121"/>
                  <a:gd name="T5" fmla="*/ 166 h 167"/>
                  <a:gd name="T6" fmla="*/ 120 w 121"/>
                  <a:gd name="T7" fmla="*/ 80 h 167"/>
                  <a:gd name="T8" fmla="*/ 120 w 121"/>
                  <a:gd name="T9" fmla="*/ 0 h 167"/>
                  <a:gd name="T10" fmla="*/ 0 60000 65536"/>
                  <a:gd name="T11" fmla="*/ 0 60000 65536"/>
                  <a:gd name="T12" fmla="*/ 0 60000 65536"/>
                  <a:gd name="T13" fmla="*/ 0 60000 65536"/>
                  <a:gd name="T14" fmla="*/ 0 60000 65536"/>
                  <a:gd name="T15" fmla="*/ 0 w 121"/>
                  <a:gd name="T16" fmla="*/ 0 h 167"/>
                  <a:gd name="T17" fmla="*/ 121 w 121"/>
                  <a:gd name="T18" fmla="*/ 167 h 167"/>
                </a:gdLst>
                <a:ahLst/>
                <a:cxnLst>
                  <a:cxn ang="T10">
                    <a:pos x="T0" y="T1"/>
                  </a:cxn>
                  <a:cxn ang="T11">
                    <a:pos x="T2" y="T3"/>
                  </a:cxn>
                  <a:cxn ang="T12">
                    <a:pos x="T4" y="T5"/>
                  </a:cxn>
                  <a:cxn ang="T13">
                    <a:pos x="T6" y="T7"/>
                  </a:cxn>
                  <a:cxn ang="T14">
                    <a:pos x="T8" y="T9"/>
                  </a:cxn>
                </a:cxnLst>
                <a:rect l="T15" t="T16" r="T17" b="T18"/>
                <a:pathLst>
                  <a:path w="121" h="167">
                    <a:moveTo>
                      <a:pt x="120" y="0"/>
                    </a:moveTo>
                    <a:lnTo>
                      <a:pt x="0" y="76"/>
                    </a:lnTo>
                    <a:lnTo>
                      <a:pt x="0" y="166"/>
                    </a:lnTo>
                    <a:lnTo>
                      <a:pt x="120" y="80"/>
                    </a:lnTo>
                    <a:lnTo>
                      <a:pt x="120" y="0"/>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grpSp>
        <p:nvGrpSpPr>
          <p:cNvPr id="250286" name="Group 382"/>
          <p:cNvGrpSpPr/>
          <p:nvPr/>
        </p:nvGrpSpPr>
        <p:grpSpPr bwMode="auto">
          <a:xfrm>
            <a:off x="1033463" y="1746920"/>
            <a:ext cx="2451100" cy="2568575"/>
            <a:chOff x="376" y="1115"/>
            <a:chExt cx="1372" cy="1616"/>
          </a:xfrm>
        </p:grpSpPr>
        <p:grpSp>
          <p:nvGrpSpPr>
            <p:cNvPr id="250287" name="Group 383"/>
            <p:cNvGrpSpPr/>
            <p:nvPr/>
          </p:nvGrpSpPr>
          <p:grpSpPr bwMode="auto">
            <a:xfrm>
              <a:off x="1176" y="1115"/>
              <a:ext cx="365" cy="325"/>
              <a:chOff x="1176" y="1115"/>
              <a:chExt cx="365" cy="325"/>
            </a:xfrm>
          </p:grpSpPr>
          <p:sp>
            <p:nvSpPr>
              <p:cNvPr id="11434" name="Freeform 384"/>
              <p:cNvSpPr/>
              <p:nvPr/>
            </p:nvSpPr>
            <p:spPr bwMode="auto">
              <a:xfrm>
                <a:off x="1176" y="1115"/>
                <a:ext cx="365" cy="325"/>
              </a:xfrm>
              <a:custGeom>
                <a:avLst/>
                <a:gdLst>
                  <a:gd name="T0" fmla="*/ 200 w 365"/>
                  <a:gd name="T1" fmla="*/ 322 h 325"/>
                  <a:gd name="T2" fmla="*/ 227 w 365"/>
                  <a:gd name="T3" fmla="*/ 318 h 325"/>
                  <a:gd name="T4" fmla="*/ 252 w 365"/>
                  <a:gd name="T5" fmla="*/ 311 h 325"/>
                  <a:gd name="T6" fmla="*/ 276 w 365"/>
                  <a:gd name="T7" fmla="*/ 300 h 325"/>
                  <a:gd name="T8" fmla="*/ 297 w 365"/>
                  <a:gd name="T9" fmla="*/ 287 h 325"/>
                  <a:gd name="T10" fmla="*/ 316 w 365"/>
                  <a:gd name="T11" fmla="*/ 270 h 325"/>
                  <a:gd name="T12" fmla="*/ 332 w 365"/>
                  <a:gd name="T13" fmla="*/ 252 h 325"/>
                  <a:gd name="T14" fmla="*/ 345 w 365"/>
                  <a:gd name="T15" fmla="*/ 232 h 325"/>
                  <a:gd name="T16" fmla="*/ 355 w 365"/>
                  <a:gd name="T17" fmla="*/ 209 h 325"/>
                  <a:gd name="T18" fmla="*/ 361 w 365"/>
                  <a:gd name="T19" fmla="*/ 186 h 325"/>
                  <a:gd name="T20" fmla="*/ 364 w 365"/>
                  <a:gd name="T21" fmla="*/ 161 h 325"/>
                  <a:gd name="T22" fmla="*/ 361 w 365"/>
                  <a:gd name="T23" fmla="*/ 137 h 325"/>
                  <a:gd name="T24" fmla="*/ 355 w 365"/>
                  <a:gd name="T25" fmla="*/ 113 h 325"/>
                  <a:gd name="T26" fmla="*/ 345 w 365"/>
                  <a:gd name="T27" fmla="*/ 91 h 325"/>
                  <a:gd name="T28" fmla="*/ 332 w 365"/>
                  <a:gd name="T29" fmla="*/ 71 h 325"/>
                  <a:gd name="T30" fmla="*/ 316 w 365"/>
                  <a:gd name="T31" fmla="*/ 52 h 325"/>
                  <a:gd name="T32" fmla="*/ 297 w 365"/>
                  <a:gd name="T33" fmla="*/ 36 h 325"/>
                  <a:gd name="T34" fmla="*/ 276 w 365"/>
                  <a:gd name="T35" fmla="*/ 23 h 325"/>
                  <a:gd name="T36" fmla="*/ 252 w 365"/>
                  <a:gd name="T37" fmla="*/ 12 h 325"/>
                  <a:gd name="T38" fmla="*/ 227 w 365"/>
                  <a:gd name="T39" fmla="*/ 5 h 325"/>
                  <a:gd name="T40" fmla="*/ 200 w 365"/>
                  <a:gd name="T41" fmla="*/ 0 h 325"/>
                  <a:gd name="T42" fmla="*/ 172 w 365"/>
                  <a:gd name="T43" fmla="*/ 0 h 325"/>
                  <a:gd name="T44" fmla="*/ 145 w 365"/>
                  <a:gd name="T45" fmla="*/ 3 h 325"/>
                  <a:gd name="T46" fmla="*/ 119 w 365"/>
                  <a:gd name="T47" fmla="*/ 9 h 325"/>
                  <a:gd name="T48" fmla="*/ 94 w 365"/>
                  <a:gd name="T49" fmla="*/ 19 h 325"/>
                  <a:gd name="T50" fmla="*/ 73 w 365"/>
                  <a:gd name="T51" fmla="*/ 32 h 325"/>
                  <a:gd name="T52" fmla="*/ 53 w 365"/>
                  <a:gd name="T53" fmla="*/ 47 h 325"/>
                  <a:gd name="T54" fmla="*/ 36 w 365"/>
                  <a:gd name="T55" fmla="*/ 65 h 325"/>
                  <a:gd name="T56" fmla="*/ 21 w 365"/>
                  <a:gd name="T57" fmla="*/ 84 h 325"/>
                  <a:gd name="T58" fmla="*/ 10 w 365"/>
                  <a:gd name="T59" fmla="*/ 106 h 325"/>
                  <a:gd name="T60" fmla="*/ 3 w 365"/>
                  <a:gd name="T61" fmla="*/ 129 h 325"/>
                  <a:gd name="T62" fmla="*/ 0 w 365"/>
                  <a:gd name="T63" fmla="*/ 153 h 325"/>
                  <a:gd name="T64" fmla="*/ 0 w 365"/>
                  <a:gd name="T65" fmla="*/ 178 h 325"/>
                  <a:gd name="T66" fmla="*/ 5 w 365"/>
                  <a:gd name="T67" fmla="*/ 202 h 325"/>
                  <a:gd name="T68" fmla="*/ 14 w 365"/>
                  <a:gd name="T69" fmla="*/ 225 h 325"/>
                  <a:gd name="T70" fmla="*/ 26 w 365"/>
                  <a:gd name="T71" fmla="*/ 245 h 325"/>
                  <a:gd name="T72" fmla="*/ 41 w 365"/>
                  <a:gd name="T73" fmla="*/ 264 h 325"/>
                  <a:gd name="T74" fmla="*/ 59 w 365"/>
                  <a:gd name="T75" fmla="*/ 281 h 325"/>
                  <a:gd name="T76" fmla="*/ 80 w 365"/>
                  <a:gd name="T77" fmla="*/ 296 h 325"/>
                  <a:gd name="T78" fmla="*/ 102 w 365"/>
                  <a:gd name="T79" fmla="*/ 307 h 325"/>
                  <a:gd name="T80" fmla="*/ 127 w 365"/>
                  <a:gd name="T81" fmla="*/ 316 h 325"/>
                  <a:gd name="T82" fmla="*/ 154 w 365"/>
                  <a:gd name="T83" fmla="*/ 322 h 325"/>
                  <a:gd name="T84" fmla="*/ 181 w 365"/>
                  <a:gd name="T85" fmla="*/ 324 h 32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65"/>
                  <a:gd name="T130" fmla="*/ 0 h 325"/>
                  <a:gd name="T131" fmla="*/ 365 w 365"/>
                  <a:gd name="T132" fmla="*/ 325 h 32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65" h="325">
                    <a:moveTo>
                      <a:pt x="181" y="324"/>
                    </a:moveTo>
                    <a:lnTo>
                      <a:pt x="191" y="323"/>
                    </a:lnTo>
                    <a:lnTo>
                      <a:pt x="200" y="322"/>
                    </a:lnTo>
                    <a:lnTo>
                      <a:pt x="209" y="322"/>
                    </a:lnTo>
                    <a:lnTo>
                      <a:pt x="218" y="320"/>
                    </a:lnTo>
                    <a:lnTo>
                      <a:pt x="227" y="318"/>
                    </a:lnTo>
                    <a:lnTo>
                      <a:pt x="235" y="316"/>
                    </a:lnTo>
                    <a:lnTo>
                      <a:pt x="244" y="314"/>
                    </a:lnTo>
                    <a:lnTo>
                      <a:pt x="252" y="311"/>
                    </a:lnTo>
                    <a:lnTo>
                      <a:pt x="260" y="307"/>
                    </a:lnTo>
                    <a:lnTo>
                      <a:pt x="268" y="304"/>
                    </a:lnTo>
                    <a:lnTo>
                      <a:pt x="276" y="300"/>
                    </a:lnTo>
                    <a:lnTo>
                      <a:pt x="283" y="296"/>
                    </a:lnTo>
                    <a:lnTo>
                      <a:pt x="290" y="291"/>
                    </a:lnTo>
                    <a:lnTo>
                      <a:pt x="297" y="287"/>
                    </a:lnTo>
                    <a:lnTo>
                      <a:pt x="304" y="281"/>
                    </a:lnTo>
                    <a:lnTo>
                      <a:pt x="310" y="276"/>
                    </a:lnTo>
                    <a:lnTo>
                      <a:pt x="316" y="270"/>
                    </a:lnTo>
                    <a:lnTo>
                      <a:pt x="322" y="264"/>
                    </a:lnTo>
                    <a:lnTo>
                      <a:pt x="327" y="258"/>
                    </a:lnTo>
                    <a:lnTo>
                      <a:pt x="332" y="252"/>
                    </a:lnTo>
                    <a:lnTo>
                      <a:pt x="337" y="245"/>
                    </a:lnTo>
                    <a:lnTo>
                      <a:pt x="341" y="239"/>
                    </a:lnTo>
                    <a:lnTo>
                      <a:pt x="345" y="232"/>
                    </a:lnTo>
                    <a:lnTo>
                      <a:pt x="349" y="225"/>
                    </a:lnTo>
                    <a:lnTo>
                      <a:pt x="353" y="217"/>
                    </a:lnTo>
                    <a:lnTo>
                      <a:pt x="355" y="209"/>
                    </a:lnTo>
                    <a:lnTo>
                      <a:pt x="358" y="202"/>
                    </a:lnTo>
                    <a:lnTo>
                      <a:pt x="360" y="194"/>
                    </a:lnTo>
                    <a:lnTo>
                      <a:pt x="361" y="186"/>
                    </a:lnTo>
                    <a:lnTo>
                      <a:pt x="362" y="178"/>
                    </a:lnTo>
                    <a:lnTo>
                      <a:pt x="363" y="170"/>
                    </a:lnTo>
                    <a:lnTo>
                      <a:pt x="364" y="161"/>
                    </a:lnTo>
                    <a:lnTo>
                      <a:pt x="363" y="153"/>
                    </a:lnTo>
                    <a:lnTo>
                      <a:pt x="362" y="145"/>
                    </a:lnTo>
                    <a:lnTo>
                      <a:pt x="361" y="137"/>
                    </a:lnTo>
                    <a:lnTo>
                      <a:pt x="360" y="129"/>
                    </a:lnTo>
                    <a:lnTo>
                      <a:pt x="358" y="121"/>
                    </a:lnTo>
                    <a:lnTo>
                      <a:pt x="355" y="113"/>
                    </a:lnTo>
                    <a:lnTo>
                      <a:pt x="353" y="106"/>
                    </a:lnTo>
                    <a:lnTo>
                      <a:pt x="349" y="98"/>
                    </a:lnTo>
                    <a:lnTo>
                      <a:pt x="345" y="91"/>
                    </a:lnTo>
                    <a:lnTo>
                      <a:pt x="341" y="84"/>
                    </a:lnTo>
                    <a:lnTo>
                      <a:pt x="337" y="77"/>
                    </a:lnTo>
                    <a:lnTo>
                      <a:pt x="332" y="71"/>
                    </a:lnTo>
                    <a:lnTo>
                      <a:pt x="327" y="65"/>
                    </a:lnTo>
                    <a:lnTo>
                      <a:pt x="322" y="58"/>
                    </a:lnTo>
                    <a:lnTo>
                      <a:pt x="316" y="52"/>
                    </a:lnTo>
                    <a:lnTo>
                      <a:pt x="310" y="47"/>
                    </a:lnTo>
                    <a:lnTo>
                      <a:pt x="304" y="42"/>
                    </a:lnTo>
                    <a:lnTo>
                      <a:pt x="297" y="36"/>
                    </a:lnTo>
                    <a:lnTo>
                      <a:pt x="290" y="32"/>
                    </a:lnTo>
                    <a:lnTo>
                      <a:pt x="283" y="27"/>
                    </a:lnTo>
                    <a:lnTo>
                      <a:pt x="276" y="23"/>
                    </a:lnTo>
                    <a:lnTo>
                      <a:pt x="268" y="19"/>
                    </a:lnTo>
                    <a:lnTo>
                      <a:pt x="260" y="15"/>
                    </a:lnTo>
                    <a:lnTo>
                      <a:pt x="252" y="12"/>
                    </a:lnTo>
                    <a:lnTo>
                      <a:pt x="244" y="9"/>
                    </a:lnTo>
                    <a:lnTo>
                      <a:pt x="235" y="7"/>
                    </a:lnTo>
                    <a:lnTo>
                      <a:pt x="227" y="5"/>
                    </a:lnTo>
                    <a:lnTo>
                      <a:pt x="218" y="3"/>
                    </a:lnTo>
                    <a:lnTo>
                      <a:pt x="209" y="1"/>
                    </a:lnTo>
                    <a:lnTo>
                      <a:pt x="200" y="0"/>
                    </a:lnTo>
                    <a:lnTo>
                      <a:pt x="191" y="0"/>
                    </a:lnTo>
                    <a:lnTo>
                      <a:pt x="181" y="0"/>
                    </a:lnTo>
                    <a:lnTo>
                      <a:pt x="172" y="0"/>
                    </a:lnTo>
                    <a:lnTo>
                      <a:pt x="163" y="0"/>
                    </a:lnTo>
                    <a:lnTo>
                      <a:pt x="154" y="1"/>
                    </a:lnTo>
                    <a:lnTo>
                      <a:pt x="145" y="3"/>
                    </a:lnTo>
                    <a:lnTo>
                      <a:pt x="136" y="5"/>
                    </a:lnTo>
                    <a:lnTo>
                      <a:pt x="127" y="7"/>
                    </a:lnTo>
                    <a:lnTo>
                      <a:pt x="119" y="9"/>
                    </a:lnTo>
                    <a:lnTo>
                      <a:pt x="111" y="12"/>
                    </a:lnTo>
                    <a:lnTo>
                      <a:pt x="102" y="15"/>
                    </a:lnTo>
                    <a:lnTo>
                      <a:pt x="94" y="19"/>
                    </a:lnTo>
                    <a:lnTo>
                      <a:pt x="87" y="23"/>
                    </a:lnTo>
                    <a:lnTo>
                      <a:pt x="80" y="27"/>
                    </a:lnTo>
                    <a:lnTo>
                      <a:pt x="73" y="32"/>
                    </a:lnTo>
                    <a:lnTo>
                      <a:pt x="66" y="36"/>
                    </a:lnTo>
                    <a:lnTo>
                      <a:pt x="59" y="42"/>
                    </a:lnTo>
                    <a:lnTo>
                      <a:pt x="53" y="47"/>
                    </a:lnTo>
                    <a:lnTo>
                      <a:pt x="47" y="52"/>
                    </a:lnTo>
                    <a:lnTo>
                      <a:pt x="41" y="58"/>
                    </a:lnTo>
                    <a:lnTo>
                      <a:pt x="36" y="65"/>
                    </a:lnTo>
                    <a:lnTo>
                      <a:pt x="31" y="71"/>
                    </a:lnTo>
                    <a:lnTo>
                      <a:pt x="26" y="77"/>
                    </a:lnTo>
                    <a:lnTo>
                      <a:pt x="21" y="84"/>
                    </a:lnTo>
                    <a:lnTo>
                      <a:pt x="17" y="91"/>
                    </a:lnTo>
                    <a:lnTo>
                      <a:pt x="14" y="98"/>
                    </a:lnTo>
                    <a:lnTo>
                      <a:pt x="10" y="106"/>
                    </a:lnTo>
                    <a:lnTo>
                      <a:pt x="8" y="113"/>
                    </a:lnTo>
                    <a:lnTo>
                      <a:pt x="5" y="121"/>
                    </a:lnTo>
                    <a:lnTo>
                      <a:pt x="3" y="129"/>
                    </a:lnTo>
                    <a:lnTo>
                      <a:pt x="2" y="137"/>
                    </a:lnTo>
                    <a:lnTo>
                      <a:pt x="0" y="145"/>
                    </a:lnTo>
                    <a:lnTo>
                      <a:pt x="0" y="153"/>
                    </a:lnTo>
                    <a:lnTo>
                      <a:pt x="0" y="161"/>
                    </a:lnTo>
                    <a:lnTo>
                      <a:pt x="0" y="170"/>
                    </a:lnTo>
                    <a:lnTo>
                      <a:pt x="0" y="178"/>
                    </a:lnTo>
                    <a:lnTo>
                      <a:pt x="2" y="186"/>
                    </a:lnTo>
                    <a:lnTo>
                      <a:pt x="3" y="194"/>
                    </a:lnTo>
                    <a:lnTo>
                      <a:pt x="5" y="202"/>
                    </a:lnTo>
                    <a:lnTo>
                      <a:pt x="8" y="209"/>
                    </a:lnTo>
                    <a:lnTo>
                      <a:pt x="10" y="217"/>
                    </a:lnTo>
                    <a:lnTo>
                      <a:pt x="14" y="225"/>
                    </a:lnTo>
                    <a:lnTo>
                      <a:pt x="17" y="232"/>
                    </a:lnTo>
                    <a:lnTo>
                      <a:pt x="21" y="239"/>
                    </a:lnTo>
                    <a:lnTo>
                      <a:pt x="26" y="245"/>
                    </a:lnTo>
                    <a:lnTo>
                      <a:pt x="31" y="252"/>
                    </a:lnTo>
                    <a:lnTo>
                      <a:pt x="36" y="258"/>
                    </a:lnTo>
                    <a:lnTo>
                      <a:pt x="41" y="264"/>
                    </a:lnTo>
                    <a:lnTo>
                      <a:pt x="47" y="270"/>
                    </a:lnTo>
                    <a:lnTo>
                      <a:pt x="53" y="276"/>
                    </a:lnTo>
                    <a:lnTo>
                      <a:pt x="59" y="281"/>
                    </a:lnTo>
                    <a:lnTo>
                      <a:pt x="66" y="287"/>
                    </a:lnTo>
                    <a:lnTo>
                      <a:pt x="73" y="291"/>
                    </a:lnTo>
                    <a:lnTo>
                      <a:pt x="80" y="296"/>
                    </a:lnTo>
                    <a:lnTo>
                      <a:pt x="87" y="300"/>
                    </a:lnTo>
                    <a:lnTo>
                      <a:pt x="94" y="304"/>
                    </a:lnTo>
                    <a:lnTo>
                      <a:pt x="102" y="307"/>
                    </a:lnTo>
                    <a:lnTo>
                      <a:pt x="111" y="311"/>
                    </a:lnTo>
                    <a:lnTo>
                      <a:pt x="119" y="314"/>
                    </a:lnTo>
                    <a:lnTo>
                      <a:pt x="127" y="316"/>
                    </a:lnTo>
                    <a:lnTo>
                      <a:pt x="136" y="318"/>
                    </a:lnTo>
                    <a:lnTo>
                      <a:pt x="145" y="320"/>
                    </a:lnTo>
                    <a:lnTo>
                      <a:pt x="154" y="322"/>
                    </a:lnTo>
                    <a:lnTo>
                      <a:pt x="163" y="322"/>
                    </a:lnTo>
                    <a:lnTo>
                      <a:pt x="172" y="323"/>
                    </a:lnTo>
                    <a:lnTo>
                      <a:pt x="181" y="324"/>
                    </a:lnTo>
                    <a:lnTo>
                      <a:pt x="181" y="323"/>
                    </a:lnTo>
                    <a:lnTo>
                      <a:pt x="181" y="324"/>
                    </a:lnTo>
                  </a:path>
                </a:pathLst>
              </a:custGeom>
              <a:solidFill>
                <a:srgbClr val="CC0000"/>
              </a:solidFill>
              <a:ln w="9525" cap="rnd">
                <a:noFill/>
                <a:round/>
              </a:ln>
            </p:spPr>
            <p:txBody>
              <a:bodyPr wrap="none" lIns="98624" tIns="49313" rIns="98624" bIns="49313" anchor="ctr"/>
              <a:lstStyle/>
              <a:p>
                <a:endParaRPr lang="zh-CN" altLang="en-US"/>
              </a:p>
            </p:txBody>
          </p:sp>
          <p:sp>
            <p:nvSpPr>
              <p:cNvPr id="11435" name="Freeform 385"/>
              <p:cNvSpPr/>
              <p:nvPr/>
            </p:nvSpPr>
            <p:spPr bwMode="auto">
              <a:xfrm>
                <a:off x="1207" y="1143"/>
                <a:ext cx="305" cy="271"/>
              </a:xfrm>
              <a:custGeom>
                <a:avLst/>
                <a:gdLst>
                  <a:gd name="T0" fmla="*/ 167 w 305"/>
                  <a:gd name="T1" fmla="*/ 269 h 271"/>
                  <a:gd name="T2" fmla="*/ 190 w 305"/>
                  <a:gd name="T3" fmla="*/ 265 h 271"/>
                  <a:gd name="T4" fmla="*/ 211 w 305"/>
                  <a:gd name="T5" fmla="*/ 259 h 271"/>
                  <a:gd name="T6" fmla="*/ 230 w 305"/>
                  <a:gd name="T7" fmla="*/ 250 h 271"/>
                  <a:gd name="T8" fmla="*/ 248 w 305"/>
                  <a:gd name="T9" fmla="*/ 239 h 271"/>
                  <a:gd name="T10" fmla="*/ 264 w 305"/>
                  <a:gd name="T11" fmla="*/ 225 h 271"/>
                  <a:gd name="T12" fmla="*/ 277 w 305"/>
                  <a:gd name="T13" fmla="*/ 210 h 271"/>
                  <a:gd name="T14" fmla="*/ 288 w 305"/>
                  <a:gd name="T15" fmla="*/ 193 h 271"/>
                  <a:gd name="T16" fmla="*/ 296 w 305"/>
                  <a:gd name="T17" fmla="*/ 175 h 271"/>
                  <a:gd name="T18" fmla="*/ 302 w 305"/>
                  <a:gd name="T19" fmla="*/ 155 h 271"/>
                  <a:gd name="T20" fmla="*/ 304 w 305"/>
                  <a:gd name="T21" fmla="*/ 134 h 271"/>
                  <a:gd name="T22" fmla="*/ 302 w 305"/>
                  <a:gd name="T23" fmla="*/ 113 h 271"/>
                  <a:gd name="T24" fmla="*/ 296 w 305"/>
                  <a:gd name="T25" fmla="*/ 94 h 271"/>
                  <a:gd name="T26" fmla="*/ 288 w 305"/>
                  <a:gd name="T27" fmla="*/ 76 h 271"/>
                  <a:gd name="T28" fmla="*/ 277 w 305"/>
                  <a:gd name="T29" fmla="*/ 59 h 271"/>
                  <a:gd name="T30" fmla="*/ 264 w 305"/>
                  <a:gd name="T31" fmla="*/ 44 h 271"/>
                  <a:gd name="T32" fmla="*/ 248 w 305"/>
                  <a:gd name="T33" fmla="*/ 30 h 271"/>
                  <a:gd name="T34" fmla="*/ 230 w 305"/>
                  <a:gd name="T35" fmla="*/ 19 h 271"/>
                  <a:gd name="T36" fmla="*/ 211 w 305"/>
                  <a:gd name="T37" fmla="*/ 10 h 271"/>
                  <a:gd name="T38" fmla="*/ 190 w 305"/>
                  <a:gd name="T39" fmla="*/ 4 h 271"/>
                  <a:gd name="T40" fmla="*/ 167 w 305"/>
                  <a:gd name="T41" fmla="*/ 0 h 271"/>
                  <a:gd name="T42" fmla="*/ 144 w 305"/>
                  <a:gd name="T43" fmla="*/ 0 h 271"/>
                  <a:gd name="T44" fmla="*/ 121 w 305"/>
                  <a:gd name="T45" fmla="*/ 2 h 271"/>
                  <a:gd name="T46" fmla="*/ 99 w 305"/>
                  <a:gd name="T47" fmla="*/ 8 h 271"/>
                  <a:gd name="T48" fmla="*/ 79 w 305"/>
                  <a:gd name="T49" fmla="*/ 16 h 271"/>
                  <a:gd name="T50" fmla="*/ 61 w 305"/>
                  <a:gd name="T51" fmla="*/ 26 h 271"/>
                  <a:gd name="T52" fmla="*/ 44 w 305"/>
                  <a:gd name="T53" fmla="*/ 39 h 271"/>
                  <a:gd name="T54" fmla="*/ 30 w 305"/>
                  <a:gd name="T55" fmla="*/ 53 h 271"/>
                  <a:gd name="T56" fmla="*/ 18 w 305"/>
                  <a:gd name="T57" fmla="*/ 70 h 271"/>
                  <a:gd name="T58" fmla="*/ 9 w 305"/>
                  <a:gd name="T59" fmla="*/ 88 h 271"/>
                  <a:gd name="T60" fmla="*/ 3 w 305"/>
                  <a:gd name="T61" fmla="*/ 107 h 271"/>
                  <a:gd name="T62" fmla="*/ 0 w 305"/>
                  <a:gd name="T63" fmla="*/ 127 h 271"/>
                  <a:gd name="T64" fmla="*/ 0 w 305"/>
                  <a:gd name="T65" fmla="*/ 148 h 271"/>
                  <a:gd name="T66" fmla="*/ 5 w 305"/>
                  <a:gd name="T67" fmla="*/ 168 h 271"/>
                  <a:gd name="T68" fmla="*/ 12 w 305"/>
                  <a:gd name="T69" fmla="*/ 187 h 271"/>
                  <a:gd name="T70" fmla="*/ 22 w 305"/>
                  <a:gd name="T71" fmla="*/ 204 h 271"/>
                  <a:gd name="T72" fmla="*/ 35 w 305"/>
                  <a:gd name="T73" fmla="*/ 220 h 271"/>
                  <a:gd name="T74" fmla="*/ 49 w 305"/>
                  <a:gd name="T75" fmla="*/ 234 h 271"/>
                  <a:gd name="T76" fmla="*/ 67 w 305"/>
                  <a:gd name="T77" fmla="*/ 246 h 271"/>
                  <a:gd name="T78" fmla="*/ 86 w 305"/>
                  <a:gd name="T79" fmla="*/ 256 h 271"/>
                  <a:gd name="T80" fmla="*/ 106 w 305"/>
                  <a:gd name="T81" fmla="*/ 264 h 271"/>
                  <a:gd name="T82" fmla="*/ 128 w 305"/>
                  <a:gd name="T83" fmla="*/ 268 h 271"/>
                  <a:gd name="T84" fmla="*/ 152 w 305"/>
                  <a:gd name="T85" fmla="*/ 270 h 27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05"/>
                  <a:gd name="T130" fmla="*/ 0 h 271"/>
                  <a:gd name="T131" fmla="*/ 305 w 305"/>
                  <a:gd name="T132" fmla="*/ 271 h 27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05" h="271">
                    <a:moveTo>
                      <a:pt x="152" y="270"/>
                    </a:moveTo>
                    <a:lnTo>
                      <a:pt x="159" y="269"/>
                    </a:lnTo>
                    <a:lnTo>
                      <a:pt x="167" y="269"/>
                    </a:lnTo>
                    <a:lnTo>
                      <a:pt x="175" y="268"/>
                    </a:lnTo>
                    <a:lnTo>
                      <a:pt x="182" y="267"/>
                    </a:lnTo>
                    <a:lnTo>
                      <a:pt x="190" y="265"/>
                    </a:lnTo>
                    <a:lnTo>
                      <a:pt x="197" y="264"/>
                    </a:lnTo>
                    <a:lnTo>
                      <a:pt x="204" y="261"/>
                    </a:lnTo>
                    <a:lnTo>
                      <a:pt x="211" y="259"/>
                    </a:lnTo>
                    <a:lnTo>
                      <a:pt x="217" y="256"/>
                    </a:lnTo>
                    <a:lnTo>
                      <a:pt x="224" y="253"/>
                    </a:lnTo>
                    <a:lnTo>
                      <a:pt x="230" y="250"/>
                    </a:lnTo>
                    <a:lnTo>
                      <a:pt x="236" y="246"/>
                    </a:lnTo>
                    <a:lnTo>
                      <a:pt x="242" y="243"/>
                    </a:lnTo>
                    <a:lnTo>
                      <a:pt x="248" y="239"/>
                    </a:lnTo>
                    <a:lnTo>
                      <a:pt x="254" y="234"/>
                    </a:lnTo>
                    <a:lnTo>
                      <a:pt x="259" y="230"/>
                    </a:lnTo>
                    <a:lnTo>
                      <a:pt x="264" y="225"/>
                    </a:lnTo>
                    <a:lnTo>
                      <a:pt x="269" y="220"/>
                    </a:lnTo>
                    <a:lnTo>
                      <a:pt x="273" y="215"/>
                    </a:lnTo>
                    <a:lnTo>
                      <a:pt x="277" y="210"/>
                    </a:lnTo>
                    <a:lnTo>
                      <a:pt x="282" y="204"/>
                    </a:lnTo>
                    <a:lnTo>
                      <a:pt x="285" y="199"/>
                    </a:lnTo>
                    <a:lnTo>
                      <a:pt x="288" y="193"/>
                    </a:lnTo>
                    <a:lnTo>
                      <a:pt x="291" y="187"/>
                    </a:lnTo>
                    <a:lnTo>
                      <a:pt x="294" y="181"/>
                    </a:lnTo>
                    <a:lnTo>
                      <a:pt x="296" y="175"/>
                    </a:lnTo>
                    <a:lnTo>
                      <a:pt x="299" y="168"/>
                    </a:lnTo>
                    <a:lnTo>
                      <a:pt x="300" y="161"/>
                    </a:lnTo>
                    <a:lnTo>
                      <a:pt x="302" y="155"/>
                    </a:lnTo>
                    <a:lnTo>
                      <a:pt x="303" y="148"/>
                    </a:lnTo>
                    <a:lnTo>
                      <a:pt x="303" y="141"/>
                    </a:lnTo>
                    <a:lnTo>
                      <a:pt x="304" y="134"/>
                    </a:lnTo>
                    <a:lnTo>
                      <a:pt x="303" y="127"/>
                    </a:lnTo>
                    <a:lnTo>
                      <a:pt x="303" y="120"/>
                    </a:lnTo>
                    <a:lnTo>
                      <a:pt x="302" y="113"/>
                    </a:lnTo>
                    <a:lnTo>
                      <a:pt x="300" y="107"/>
                    </a:lnTo>
                    <a:lnTo>
                      <a:pt x="299" y="101"/>
                    </a:lnTo>
                    <a:lnTo>
                      <a:pt x="296" y="94"/>
                    </a:lnTo>
                    <a:lnTo>
                      <a:pt x="294" y="88"/>
                    </a:lnTo>
                    <a:lnTo>
                      <a:pt x="291" y="82"/>
                    </a:lnTo>
                    <a:lnTo>
                      <a:pt x="288" y="76"/>
                    </a:lnTo>
                    <a:lnTo>
                      <a:pt x="285" y="70"/>
                    </a:lnTo>
                    <a:lnTo>
                      <a:pt x="282" y="64"/>
                    </a:lnTo>
                    <a:lnTo>
                      <a:pt x="277" y="59"/>
                    </a:lnTo>
                    <a:lnTo>
                      <a:pt x="273" y="53"/>
                    </a:lnTo>
                    <a:lnTo>
                      <a:pt x="269" y="48"/>
                    </a:lnTo>
                    <a:lnTo>
                      <a:pt x="264" y="44"/>
                    </a:lnTo>
                    <a:lnTo>
                      <a:pt x="259" y="39"/>
                    </a:lnTo>
                    <a:lnTo>
                      <a:pt x="254" y="34"/>
                    </a:lnTo>
                    <a:lnTo>
                      <a:pt x="248" y="30"/>
                    </a:lnTo>
                    <a:lnTo>
                      <a:pt x="242" y="26"/>
                    </a:lnTo>
                    <a:lnTo>
                      <a:pt x="236" y="23"/>
                    </a:lnTo>
                    <a:lnTo>
                      <a:pt x="230" y="19"/>
                    </a:lnTo>
                    <a:lnTo>
                      <a:pt x="224" y="16"/>
                    </a:lnTo>
                    <a:lnTo>
                      <a:pt x="217" y="13"/>
                    </a:lnTo>
                    <a:lnTo>
                      <a:pt x="211" y="10"/>
                    </a:lnTo>
                    <a:lnTo>
                      <a:pt x="204" y="8"/>
                    </a:lnTo>
                    <a:lnTo>
                      <a:pt x="197" y="5"/>
                    </a:lnTo>
                    <a:lnTo>
                      <a:pt x="190" y="4"/>
                    </a:lnTo>
                    <a:lnTo>
                      <a:pt x="182" y="2"/>
                    </a:lnTo>
                    <a:lnTo>
                      <a:pt x="175" y="1"/>
                    </a:lnTo>
                    <a:lnTo>
                      <a:pt x="167" y="0"/>
                    </a:lnTo>
                    <a:lnTo>
                      <a:pt x="159" y="0"/>
                    </a:lnTo>
                    <a:lnTo>
                      <a:pt x="152" y="0"/>
                    </a:lnTo>
                    <a:lnTo>
                      <a:pt x="144" y="0"/>
                    </a:lnTo>
                    <a:lnTo>
                      <a:pt x="136" y="0"/>
                    </a:lnTo>
                    <a:lnTo>
                      <a:pt x="128" y="1"/>
                    </a:lnTo>
                    <a:lnTo>
                      <a:pt x="121" y="2"/>
                    </a:lnTo>
                    <a:lnTo>
                      <a:pt x="113" y="4"/>
                    </a:lnTo>
                    <a:lnTo>
                      <a:pt x="106" y="5"/>
                    </a:lnTo>
                    <a:lnTo>
                      <a:pt x="99" y="8"/>
                    </a:lnTo>
                    <a:lnTo>
                      <a:pt x="92" y="10"/>
                    </a:lnTo>
                    <a:lnTo>
                      <a:pt x="86" y="13"/>
                    </a:lnTo>
                    <a:lnTo>
                      <a:pt x="79" y="16"/>
                    </a:lnTo>
                    <a:lnTo>
                      <a:pt x="73" y="19"/>
                    </a:lnTo>
                    <a:lnTo>
                      <a:pt x="67" y="23"/>
                    </a:lnTo>
                    <a:lnTo>
                      <a:pt x="61" y="26"/>
                    </a:lnTo>
                    <a:lnTo>
                      <a:pt x="55" y="30"/>
                    </a:lnTo>
                    <a:lnTo>
                      <a:pt x="49" y="34"/>
                    </a:lnTo>
                    <a:lnTo>
                      <a:pt x="44" y="39"/>
                    </a:lnTo>
                    <a:lnTo>
                      <a:pt x="39" y="44"/>
                    </a:lnTo>
                    <a:lnTo>
                      <a:pt x="35" y="48"/>
                    </a:lnTo>
                    <a:lnTo>
                      <a:pt x="30" y="53"/>
                    </a:lnTo>
                    <a:lnTo>
                      <a:pt x="26" y="59"/>
                    </a:lnTo>
                    <a:lnTo>
                      <a:pt x="22" y="64"/>
                    </a:lnTo>
                    <a:lnTo>
                      <a:pt x="18" y="70"/>
                    </a:lnTo>
                    <a:lnTo>
                      <a:pt x="15" y="76"/>
                    </a:lnTo>
                    <a:lnTo>
                      <a:pt x="12" y="82"/>
                    </a:lnTo>
                    <a:lnTo>
                      <a:pt x="9" y="88"/>
                    </a:lnTo>
                    <a:lnTo>
                      <a:pt x="7" y="94"/>
                    </a:lnTo>
                    <a:lnTo>
                      <a:pt x="5" y="101"/>
                    </a:lnTo>
                    <a:lnTo>
                      <a:pt x="3" y="107"/>
                    </a:lnTo>
                    <a:lnTo>
                      <a:pt x="2" y="113"/>
                    </a:lnTo>
                    <a:lnTo>
                      <a:pt x="0" y="120"/>
                    </a:lnTo>
                    <a:lnTo>
                      <a:pt x="0" y="127"/>
                    </a:lnTo>
                    <a:lnTo>
                      <a:pt x="0" y="134"/>
                    </a:lnTo>
                    <a:lnTo>
                      <a:pt x="0" y="141"/>
                    </a:lnTo>
                    <a:lnTo>
                      <a:pt x="0" y="148"/>
                    </a:lnTo>
                    <a:lnTo>
                      <a:pt x="2" y="155"/>
                    </a:lnTo>
                    <a:lnTo>
                      <a:pt x="3" y="161"/>
                    </a:lnTo>
                    <a:lnTo>
                      <a:pt x="5" y="168"/>
                    </a:lnTo>
                    <a:lnTo>
                      <a:pt x="7" y="175"/>
                    </a:lnTo>
                    <a:lnTo>
                      <a:pt x="9" y="181"/>
                    </a:lnTo>
                    <a:lnTo>
                      <a:pt x="12" y="187"/>
                    </a:lnTo>
                    <a:lnTo>
                      <a:pt x="15" y="193"/>
                    </a:lnTo>
                    <a:lnTo>
                      <a:pt x="18" y="199"/>
                    </a:lnTo>
                    <a:lnTo>
                      <a:pt x="22" y="204"/>
                    </a:lnTo>
                    <a:lnTo>
                      <a:pt x="26" y="210"/>
                    </a:lnTo>
                    <a:lnTo>
                      <a:pt x="30" y="215"/>
                    </a:lnTo>
                    <a:lnTo>
                      <a:pt x="35" y="220"/>
                    </a:lnTo>
                    <a:lnTo>
                      <a:pt x="39" y="225"/>
                    </a:lnTo>
                    <a:lnTo>
                      <a:pt x="44" y="230"/>
                    </a:lnTo>
                    <a:lnTo>
                      <a:pt x="49" y="234"/>
                    </a:lnTo>
                    <a:lnTo>
                      <a:pt x="55" y="239"/>
                    </a:lnTo>
                    <a:lnTo>
                      <a:pt x="61" y="243"/>
                    </a:lnTo>
                    <a:lnTo>
                      <a:pt x="67" y="246"/>
                    </a:lnTo>
                    <a:lnTo>
                      <a:pt x="73" y="250"/>
                    </a:lnTo>
                    <a:lnTo>
                      <a:pt x="79" y="253"/>
                    </a:lnTo>
                    <a:lnTo>
                      <a:pt x="86" y="256"/>
                    </a:lnTo>
                    <a:lnTo>
                      <a:pt x="92" y="259"/>
                    </a:lnTo>
                    <a:lnTo>
                      <a:pt x="99" y="261"/>
                    </a:lnTo>
                    <a:lnTo>
                      <a:pt x="106" y="264"/>
                    </a:lnTo>
                    <a:lnTo>
                      <a:pt x="113" y="265"/>
                    </a:lnTo>
                    <a:lnTo>
                      <a:pt x="121" y="267"/>
                    </a:lnTo>
                    <a:lnTo>
                      <a:pt x="128" y="268"/>
                    </a:lnTo>
                    <a:lnTo>
                      <a:pt x="136" y="269"/>
                    </a:lnTo>
                    <a:lnTo>
                      <a:pt x="144" y="269"/>
                    </a:lnTo>
                    <a:lnTo>
                      <a:pt x="152" y="270"/>
                    </a:lnTo>
                  </a:path>
                </a:pathLst>
              </a:custGeom>
              <a:solidFill>
                <a:srgbClr val="FFFFFF"/>
              </a:solidFill>
              <a:ln w="9525" cap="rnd">
                <a:noFill/>
                <a:round/>
              </a:ln>
            </p:spPr>
            <p:txBody>
              <a:bodyPr wrap="none" lIns="98624" tIns="49313" rIns="98624" bIns="49313" anchor="ctr"/>
              <a:lstStyle/>
              <a:p>
                <a:endParaRPr lang="zh-CN" altLang="en-US"/>
              </a:p>
            </p:txBody>
          </p:sp>
          <p:sp>
            <p:nvSpPr>
              <p:cNvPr id="11436" name="Freeform 386"/>
              <p:cNvSpPr/>
              <p:nvPr/>
            </p:nvSpPr>
            <p:spPr bwMode="auto">
              <a:xfrm>
                <a:off x="1275" y="1145"/>
                <a:ext cx="176" cy="265"/>
              </a:xfrm>
              <a:custGeom>
                <a:avLst/>
                <a:gdLst>
                  <a:gd name="T0" fmla="*/ 175 w 176"/>
                  <a:gd name="T1" fmla="*/ 252 h 265"/>
                  <a:gd name="T2" fmla="*/ 20 w 176"/>
                  <a:gd name="T3" fmla="*/ 0 h 265"/>
                  <a:gd name="T4" fmla="*/ 0 w 176"/>
                  <a:gd name="T5" fmla="*/ 10 h 265"/>
                  <a:gd name="T6" fmla="*/ 153 w 176"/>
                  <a:gd name="T7" fmla="*/ 264 h 265"/>
                  <a:gd name="T8" fmla="*/ 175 w 176"/>
                  <a:gd name="T9" fmla="*/ 252 h 265"/>
                  <a:gd name="T10" fmla="*/ 0 60000 65536"/>
                  <a:gd name="T11" fmla="*/ 0 60000 65536"/>
                  <a:gd name="T12" fmla="*/ 0 60000 65536"/>
                  <a:gd name="T13" fmla="*/ 0 60000 65536"/>
                  <a:gd name="T14" fmla="*/ 0 60000 65536"/>
                  <a:gd name="T15" fmla="*/ 0 w 176"/>
                  <a:gd name="T16" fmla="*/ 0 h 265"/>
                  <a:gd name="T17" fmla="*/ 176 w 176"/>
                  <a:gd name="T18" fmla="*/ 265 h 265"/>
                </a:gdLst>
                <a:ahLst/>
                <a:cxnLst>
                  <a:cxn ang="T10">
                    <a:pos x="T0" y="T1"/>
                  </a:cxn>
                  <a:cxn ang="T11">
                    <a:pos x="T2" y="T3"/>
                  </a:cxn>
                  <a:cxn ang="T12">
                    <a:pos x="T4" y="T5"/>
                  </a:cxn>
                  <a:cxn ang="T13">
                    <a:pos x="T6" y="T7"/>
                  </a:cxn>
                  <a:cxn ang="T14">
                    <a:pos x="T8" y="T9"/>
                  </a:cxn>
                </a:cxnLst>
                <a:rect l="T15" t="T16" r="T17" b="T18"/>
                <a:pathLst>
                  <a:path w="176" h="265">
                    <a:moveTo>
                      <a:pt x="175" y="252"/>
                    </a:moveTo>
                    <a:lnTo>
                      <a:pt x="20" y="0"/>
                    </a:lnTo>
                    <a:lnTo>
                      <a:pt x="0" y="10"/>
                    </a:lnTo>
                    <a:lnTo>
                      <a:pt x="153" y="264"/>
                    </a:lnTo>
                    <a:lnTo>
                      <a:pt x="175" y="252"/>
                    </a:lnTo>
                  </a:path>
                </a:pathLst>
              </a:custGeom>
              <a:solidFill>
                <a:srgbClr val="CC0000"/>
              </a:solidFill>
              <a:ln w="9525" cap="rnd">
                <a:noFill/>
                <a:round/>
              </a:ln>
            </p:spPr>
            <p:txBody>
              <a:bodyPr wrap="none" lIns="98624" tIns="49313" rIns="98624" bIns="49313" anchor="ctr"/>
              <a:lstStyle/>
              <a:p>
                <a:endParaRPr lang="zh-CN" altLang="en-US"/>
              </a:p>
            </p:txBody>
          </p:sp>
        </p:grpSp>
        <p:sp>
          <p:nvSpPr>
            <p:cNvPr id="250243" name="Rectangle 387"/>
            <p:cNvSpPr>
              <a:spLocks noChangeArrowheads="1"/>
            </p:cNvSpPr>
            <p:nvPr/>
          </p:nvSpPr>
          <p:spPr bwMode="auto">
            <a:xfrm>
              <a:off x="376" y="1635"/>
              <a:ext cx="1372" cy="1096"/>
            </a:xfrm>
            <a:prstGeom prst="rect">
              <a:avLst/>
            </a:prstGeom>
            <a:solidFill>
              <a:srgbClr val="FFFF00"/>
            </a:solidFill>
            <a:ln w="50799">
              <a:solidFill>
                <a:srgbClr val="CC0000"/>
              </a:solidFill>
              <a:miter lim="800000"/>
            </a:ln>
            <a:effectLst/>
          </p:spPr>
          <p:txBody>
            <a:bodyPr wrap="none" lIns="98624" tIns="49313" rIns="98624" bIns="49313" anchor="ctr"/>
            <a:lstStyle/>
            <a:p>
              <a:pPr defTabSz="979805" eaLnBrk="0" hangingPunct="0">
                <a:defRPr/>
              </a:pPr>
              <a:r>
                <a:rPr kumimoji="1" lang="zh-CN" altLang="en-US" sz="2200" b="1">
                  <a:latin typeface="+mn-ea"/>
                  <a:ea typeface="+mn-ea"/>
                </a:rPr>
                <a:t>警告</a:t>
              </a:r>
              <a:r>
                <a:rPr kumimoji="1" lang="en-US" altLang="zh-CN" sz="2200" b="1">
                  <a:latin typeface="+mn-ea"/>
                  <a:ea typeface="+mn-ea"/>
                </a:rPr>
                <a:t>!</a:t>
              </a:r>
              <a:endParaRPr kumimoji="1" lang="en-US" altLang="zh-CN" sz="2000" b="1">
                <a:latin typeface="+mn-ea"/>
                <a:ea typeface="+mn-ea"/>
              </a:endParaRPr>
            </a:p>
            <a:p>
              <a:pPr defTabSz="979805" eaLnBrk="0" hangingPunct="0">
                <a:defRPr/>
              </a:pPr>
              <a:r>
                <a:rPr kumimoji="1" lang="zh-CN" altLang="en-US" sz="2000" b="1">
                  <a:latin typeface="+mn-ea"/>
                  <a:ea typeface="+mn-ea"/>
                </a:rPr>
                <a:t>记录进攻</a:t>
              </a:r>
              <a:r>
                <a:rPr kumimoji="1" lang="en-US" altLang="zh-CN" sz="2000" b="1">
                  <a:latin typeface="+mn-ea"/>
                  <a:ea typeface="+mn-ea"/>
                </a:rPr>
                <a:t>,</a:t>
              </a:r>
            </a:p>
            <a:p>
              <a:pPr defTabSz="979805" eaLnBrk="0" hangingPunct="0">
                <a:defRPr/>
              </a:pPr>
              <a:r>
                <a:rPr kumimoji="1" lang="zh-CN" altLang="en-US" sz="2000" b="1">
                  <a:latin typeface="+mn-ea"/>
                  <a:ea typeface="+mn-ea"/>
                </a:rPr>
                <a:t>发送消息</a:t>
              </a:r>
              <a:r>
                <a:rPr kumimoji="1" lang="en-US" altLang="zh-CN" sz="2000" b="1">
                  <a:latin typeface="+mn-ea"/>
                  <a:ea typeface="+mn-ea"/>
                </a:rPr>
                <a:t>,</a:t>
              </a:r>
            </a:p>
            <a:p>
              <a:pPr defTabSz="979805" eaLnBrk="0" hangingPunct="0">
                <a:defRPr/>
              </a:pPr>
              <a:r>
                <a:rPr kumimoji="1" lang="zh-CN" altLang="en-US" sz="2000" b="1">
                  <a:latin typeface="+mn-ea"/>
                  <a:ea typeface="+mn-ea"/>
                </a:rPr>
                <a:t>终止连接</a:t>
              </a:r>
            </a:p>
          </p:txBody>
        </p:sp>
        <p:sp>
          <p:nvSpPr>
            <p:cNvPr id="11433" name="Line 388"/>
            <p:cNvSpPr>
              <a:spLocks noChangeShapeType="1"/>
            </p:cNvSpPr>
            <p:nvPr/>
          </p:nvSpPr>
          <p:spPr bwMode="auto">
            <a:xfrm flipH="1">
              <a:off x="1176" y="1427"/>
              <a:ext cx="132" cy="217"/>
            </a:xfrm>
            <a:prstGeom prst="line">
              <a:avLst/>
            </a:prstGeom>
            <a:noFill/>
            <a:ln w="50799">
              <a:solidFill>
                <a:srgbClr val="CC0000"/>
              </a:solidFill>
              <a:round/>
              <a:headEnd type="none" w="sm" len="sm"/>
              <a:tailEnd type="none" w="sm" len="sm"/>
            </a:ln>
          </p:spPr>
          <p:txBody>
            <a:bodyPr wrap="none" lIns="98624" tIns="49313" rIns="98624" bIns="49313" anchor="ctr"/>
            <a:lstStyle/>
            <a:p>
              <a:endParaRPr lang="zh-CN" altLang="en-US"/>
            </a:p>
          </p:txBody>
        </p:sp>
      </p:grpSp>
      <p:sp>
        <p:nvSpPr>
          <p:cNvPr id="250245" name="Line 389"/>
          <p:cNvSpPr>
            <a:spLocks noChangeShapeType="1"/>
          </p:cNvSpPr>
          <p:nvPr/>
        </p:nvSpPr>
        <p:spPr bwMode="auto">
          <a:xfrm flipH="1">
            <a:off x="3038475" y="1886620"/>
            <a:ext cx="706438" cy="0"/>
          </a:xfrm>
          <a:prstGeom prst="line">
            <a:avLst/>
          </a:prstGeom>
          <a:noFill/>
          <a:ln w="126999">
            <a:solidFill>
              <a:srgbClr val="66FF33"/>
            </a:solidFill>
            <a:round/>
            <a:headEnd type="none" w="sm" len="sm"/>
            <a:tailEnd type="none" w="sm" len="sm"/>
          </a:ln>
        </p:spPr>
        <p:txBody>
          <a:bodyPr wrap="none" anchor="ctr"/>
          <a:lstStyle/>
          <a:p>
            <a:endParaRPr lang="zh-CN" altLang="en-US"/>
          </a:p>
        </p:txBody>
      </p:sp>
      <p:sp>
        <p:nvSpPr>
          <p:cNvPr id="250246" name="Line 390"/>
          <p:cNvSpPr>
            <a:spLocks noChangeShapeType="1"/>
          </p:cNvSpPr>
          <p:nvPr/>
        </p:nvSpPr>
        <p:spPr bwMode="auto">
          <a:xfrm flipV="1">
            <a:off x="3702050" y="1823120"/>
            <a:ext cx="0" cy="1485900"/>
          </a:xfrm>
          <a:prstGeom prst="line">
            <a:avLst/>
          </a:prstGeom>
          <a:noFill/>
          <a:ln w="126999">
            <a:solidFill>
              <a:srgbClr val="66FF33"/>
            </a:solidFill>
            <a:round/>
            <a:headEnd type="none" w="sm" len="sm"/>
            <a:tailEnd type="none" w="sm" len="sm"/>
          </a:ln>
        </p:spPr>
        <p:txBody>
          <a:bodyPr wrap="none" anchor="ctr"/>
          <a:lstStyle/>
          <a:p>
            <a:endParaRPr lang="zh-CN" altLang="en-US"/>
          </a:p>
        </p:txBody>
      </p:sp>
      <p:sp>
        <p:nvSpPr>
          <p:cNvPr id="250247" name="Line 391"/>
          <p:cNvSpPr>
            <a:spLocks noChangeShapeType="1"/>
          </p:cNvSpPr>
          <p:nvPr/>
        </p:nvSpPr>
        <p:spPr bwMode="auto">
          <a:xfrm flipH="1">
            <a:off x="3638550" y="3248695"/>
            <a:ext cx="309563" cy="22225"/>
          </a:xfrm>
          <a:prstGeom prst="line">
            <a:avLst/>
          </a:prstGeom>
          <a:noFill/>
          <a:ln w="126999">
            <a:solidFill>
              <a:srgbClr val="66FF33"/>
            </a:solidFill>
            <a:round/>
            <a:headEnd type="none" w="sm" len="sm"/>
            <a:tailEnd type="none" w="sm" len="sm"/>
          </a:ln>
        </p:spPr>
        <p:txBody>
          <a:bodyPr wrap="none" anchor="ctr"/>
          <a:lstStyle/>
          <a:p>
            <a:endParaRPr lang="zh-CN" altLang="en-US"/>
          </a:p>
        </p:txBody>
      </p:sp>
      <p:sp>
        <p:nvSpPr>
          <p:cNvPr id="250248" name="Line 392"/>
          <p:cNvSpPr>
            <a:spLocks noChangeShapeType="1"/>
          </p:cNvSpPr>
          <p:nvPr/>
        </p:nvSpPr>
        <p:spPr bwMode="auto">
          <a:xfrm flipH="1">
            <a:off x="4495800" y="3280445"/>
            <a:ext cx="546100" cy="0"/>
          </a:xfrm>
          <a:prstGeom prst="line">
            <a:avLst/>
          </a:prstGeom>
          <a:noFill/>
          <a:ln w="126999">
            <a:solidFill>
              <a:srgbClr val="66FF33"/>
            </a:solidFill>
            <a:round/>
            <a:headEnd type="none" w="sm" len="sm"/>
            <a:tailEnd type="none" w="sm" len="sm"/>
          </a:ln>
        </p:spPr>
        <p:txBody>
          <a:bodyPr wrap="none" anchor="ctr"/>
          <a:lstStyle/>
          <a:p>
            <a:endParaRPr lang="zh-CN" altLang="en-US"/>
          </a:p>
        </p:txBody>
      </p:sp>
      <p:sp>
        <p:nvSpPr>
          <p:cNvPr id="250249" name="Line 393"/>
          <p:cNvSpPr>
            <a:spLocks noChangeShapeType="1"/>
          </p:cNvSpPr>
          <p:nvPr/>
        </p:nvSpPr>
        <p:spPr bwMode="auto">
          <a:xfrm flipH="1">
            <a:off x="5459413" y="2915320"/>
            <a:ext cx="525462" cy="279400"/>
          </a:xfrm>
          <a:prstGeom prst="line">
            <a:avLst/>
          </a:prstGeom>
          <a:noFill/>
          <a:ln w="126999">
            <a:solidFill>
              <a:srgbClr val="66FF33"/>
            </a:solidFill>
            <a:round/>
            <a:headEnd type="none" w="sm" len="sm"/>
            <a:tailEnd type="none" w="sm" len="sm"/>
          </a:ln>
        </p:spPr>
        <p:txBody>
          <a:bodyPr wrap="none" anchor="ctr"/>
          <a:lstStyle/>
          <a:p>
            <a:endParaRPr lang="zh-CN" altLang="en-US"/>
          </a:p>
        </p:txBody>
      </p:sp>
      <p:sp>
        <p:nvSpPr>
          <p:cNvPr id="250250" name="Line 394"/>
          <p:cNvSpPr>
            <a:spLocks noChangeShapeType="1"/>
          </p:cNvSpPr>
          <p:nvPr/>
        </p:nvSpPr>
        <p:spPr bwMode="auto">
          <a:xfrm flipH="1">
            <a:off x="6327775" y="2439070"/>
            <a:ext cx="568325" cy="298450"/>
          </a:xfrm>
          <a:prstGeom prst="line">
            <a:avLst/>
          </a:prstGeom>
          <a:noFill/>
          <a:ln w="126999">
            <a:solidFill>
              <a:srgbClr val="66FF33"/>
            </a:solidFill>
            <a:round/>
            <a:headEnd type="none" w="sm" len="sm"/>
            <a:tailEnd type="none" w="sm" len="sm"/>
          </a:ln>
        </p:spPr>
        <p:txBody>
          <a:bodyPr wrap="none" anchor="ctr"/>
          <a:lstStyle/>
          <a:p>
            <a:endParaRPr lang="zh-CN" altLang="en-US"/>
          </a:p>
        </p:txBody>
      </p:sp>
      <p:sp>
        <p:nvSpPr>
          <p:cNvPr id="250251" name="Line 395"/>
          <p:cNvSpPr>
            <a:spLocks noChangeShapeType="1"/>
          </p:cNvSpPr>
          <p:nvPr/>
        </p:nvSpPr>
        <p:spPr bwMode="auto">
          <a:xfrm flipV="1">
            <a:off x="7710488" y="2496220"/>
            <a:ext cx="0" cy="819150"/>
          </a:xfrm>
          <a:prstGeom prst="line">
            <a:avLst/>
          </a:prstGeom>
          <a:noFill/>
          <a:ln w="126999">
            <a:solidFill>
              <a:srgbClr val="66FF33"/>
            </a:solidFill>
            <a:round/>
            <a:headEnd type="none" w="sm" len="sm"/>
            <a:tailEnd type="none" w="sm" len="sm"/>
          </a:ln>
        </p:spPr>
        <p:txBody>
          <a:bodyPr wrap="none" anchor="ctr"/>
          <a:lstStyle/>
          <a:p>
            <a:endParaRPr lang="zh-CN" altLang="en-US"/>
          </a:p>
        </p:txBody>
      </p:sp>
      <p:grpSp>
        <p:nvGrpSpPr>
          <p:cNvPr id="250288" name="Group 396"/>
          <p:cNvGrpSpPr/>
          <p:nvPr/>
        </p:nvGrpSpPr>
        <p:grpSpPr bwMode="auto">
          <a:xfrm>
            <a:off x="6977063" y="3270920"/>
            <a:ext cx="1577975" cy="1652587"/>
            <a:chOff x="3754" y="2095"/>
            <a:chExt cx="884" cy="1043"/>
          </a:xfrm>
        </p:grpSpPr>
        <p:grpSp>
          <p:nvGrpSpPr>
            <p:cNvPr id="250289" name="Group 397"/>
            <p:cNvGrpSpPr/>
            <p:nvPr/>
          </p:nvGrpSpPr>
          <p:grpSpPr bwMode="auto">
            <a:xfrm>
              <a:off x="3765" y="2095"/>
              <a:ext cx="710" cy="623"/>
              <a:chOff x="3765" y="2095"/>
              <a:chExt cx="710" cy="623"/>
            </a:xfrm>
          </p:grpSpPr>
          <p:grpSp>
            <p:nvGrpSpPr>
              <p:cNvPr id="250290" name="Group 398"/>
              <p:cNvGrpSpPr/>
              <p:nvPr/>
            </p:nvGrpSpPr>
            <p:grpSpPr bwMode="auto">
              <a:xfrm>
                <a:off x="3765" y="2095"/>
                <a:ext cx="710" cy="623"/>
                <a:chOff x="3765" y="2095"/>
                <a:chExt cx="710" cy="623"/>
              </a:xfrm>
            </p:grpSpPr>
            <p:grpSp>
              <p:nvGrpSpPr>
                <p:cNvPr id="250291" name="Group 399"/>
                <p:cNvGrpSpPr/>
                <p:nvPr/>
              </p:nvGrpSpPr>
              <p:grpSpPr bwMode="auto">
                <a:xfrm>
                  <a:off x="3765" y="2095"/>
                  <a:ext cx="710" cy="623"/>
                  <a:chOff x="3765" y="2095"/>
                  <a:chExt cx="710" cy="623"/>
                </a:xfrm>
              </p:grpSpPr>
              <p:sp>
                <p:nvSpPr>
                  <p:cNvPr id="11413" name="Freeform 400"/>
                  <p:cNvSpPr/>
                  <p:nvPr/>
                </p:nvSpPr>
                <p:spPr bwMode="auto">
                  <a:xfrm>
                    <a:off x="4009" y="2514"/>
                    <a:ext cx="340" cy="76"/>
                  </a:xfrm>
                  <a:custGeom>
                    <a:avLst/>
                    <a:gdLst>
                      <a:gd name="T0" fmla="*/ 0 w 340"/>
                      <a:gd name="T1" fmla="*/ 75 h 76"/>
                      <a:gd name="T2" fmla="*/ 254 w 340"/>
                      <a:gd name="T3" fmla="*/ 75 h 76"/>
                      <a:gd name="T4" fmla="*/ 339 w 340"/>
                      <a:gd name="T5" fmla="*/ 0 h 76"/>
                      <a:gd name="T6" fmla="*/ 80 w 340"/>
                      <a:gd name="T7" fmla="*/ 0 h 76"/>
                      <a:gd name="T8" fmla="*/ 0 w 340"/>
                      <a:gd name="T9" fmla="*/ 75 h 76"/>
                      <a:gd name="T10" fmla="*/ 0 60000 65536"/>
                      <a:gd name="T11" fmla="*/ 0 60000 65536"/>
                      <a:gd name="T12" fmla="*/ 0 60000 65536"/>
                      <a:gd name="T13" fmla="*/ 0 60000 65536"/>
                      <a:gd name="T14" fmla="*/ 0 60000 65536"/>
                      <a:gd name="T15" fmla="*/ 0 w 340"/>
                      <a:gd name="T16" fmla="*/ 0 h 76"/>
                      <a:gd name="T17" fmla="*/ 340 w 340"/>
                      <a:gd name="T18" fmla="*/ 76 h 76"/>
                    </a:gdLst>
                    <a:ahLst/>
                    <a:cxnLst>
                      <a:cxn ang="T10">
                        <a:pos x="T0" y="T1"/>
                      </a:cxn>
                      <a:cxn ang="T11">
                        <a:pos x="T2" y="T3"/>
                      </a:cxn>
                      <a:cxn ang="T12">
                        <a:pos x="T4" y="T5"/>
                      </a:cxn>
                      <a:cxn ang="T13">
                        <a:pos x="T6" y="T7"/>
                      </a:cxn>
                      <a:cxn ang="T14">
                        <a:pos x="T8" y="T9"/>
                      </a:cxn>
                    </a:cxnLst>
                    <a:rect l="T15" t="T16" r="T17" b="T18"/>
                    <a:pathLst>
                      <a:path w="340" h="76">
                        <a:moveTo>
                          <a:pt x="0" y="75"/>
                        </a:moveTo>
                        <a:lnTo>
                          <a:pt x="254" y="75"/>
                        </a:lnTo>
                        <a:lnTo>
                          <a:pt x="339" y="0"/>
                        </a:lnTo>
                        <a:lnTo>
                          <a:pt x="80" y="0"/>
                        </a:lnTo>
                        <a:lnTo>
                          <a:pt x="0" y="75"/>
                        </a:lnTo>
                      </a:path>
                    </a:pathLst>
                  </a:custGeom>
                  <a:solidFill>
                    <a:schemeClr val="bg2"/>
                  </a:solidFill>
                  <a:ln w="9525" cap="rnd">
                    <a:noFill/>
                    <a:round/>
                  </a:ln>
                </p:spPr>
                <p:txBody>
                  <a:bodyPr wrap="none" lIns="98624" tIns="49313" rIns="98624" bIns="49313">
                    <a:spAutoFit/>
                  </a:bodyPr>
                  <a:lstStyle/>
                  <a:p>
                    <a:endParaRPr lang="zh-CN" altLang="en-US"/>
                  </a:p>
                </p:txBody>
              </p:sp>
              <p:sp>
                <p:nvSpPr>
                  <p:cNvPr id="11414" name="Freeform 401"/>
                  <p:cNvSpPr/>
                  <p:nvPr/>
                </p:nvSpPr>
                <p:spPr bwMode="auto">
                  <a:xfrm>
                    <a:off x="4110" y="2531"/>
                    <a:ext cx="120" cy="37"/>
                  </a:xfrm>
                  <a:custGeom>
                    <a:avLst/>
                    <a:gdLst>
                      <a:gd name="T0" fmla="*/ 0 w 120"/>
                      <a:gd name="T1" fmla="*/ 36 h 37"/>
                      <a:gd name="T2" fmla="*/ 119 w 120"/>
                      <a:gd name="T3" fmla="*/ 36 h 37"/>
                      <a:gd name="T4" fmla="*/ 119 w 120"/>
                      <a:gd name="T5" fmla="*/ 0 h 37"/>
                      <a:gd name="T6" fmla="*/ 0 w 120"/>
                      <a:gd name="T7" fmla="*/ 0 h 37"/>
                      <a:gd name="T8" fmla="*/ 0 w 120"/>
                      <a:gd name="T9" fmla="*/ 36 h 37"/>
                      <a:gd name="T10" fmla="*/ 0 60000 65536"/>
                      <a:gd name="T11" fmla="*/ 0 60000 65536"/>
                      <a:gd name="T12" fmla="*/ 0 60000 65536"/>
                      <a:gd name="T13" fmla="*/ 0 60000 65536"/>
                      <a:gd name="T14" fmla="*/ 0 60000 65536"/>
                      <a:gd name="T15" fmla="*/ 0 w 120"/>
                      <a:gd name="T16" fmla="*/ 0 h 37"/>
                      <a:gd name="T17" fmla="*/ 120 w 120"/>
                      <a:gd name="T18" fmla="*/ 37 h 37"/>
                    </a:gdLst>
                    <a:ahLst/>
                    <a:cxnLst>
                      <a:cxn ang="T10">
                        <a:pos x="T0" y="T1"/>
                      </a:cxn>
                      <a:cxn ang="T11">
                        <a:pos x="T2" y="T3"/>
                      </a:cxn>
                      <a:cxn ang="T12">
                        <a:pos x="T4" y="T5"/>
                      </a:cxn>
                      <a:cxn ang="T13">
                        <a:pos x="T6" y="T7"/>
                      </a:cxn>
                      <a:cxn ang="T14">
                        <a:pos x="T8" y="T9"/>
                      </a:cxn>
                    </a:cxnLst>
                    <a:rect l="T15" t="T16" r="T17" b="T18"/>
                    <a:pathLst>
                      <a:path w="120" h="37">
                        <a:moveTo>
                          <a:pt x="0" y="36"/>
                        </a:moveTo>
                        <a:lnTo>
                          <a:pt x="119" y="36"/>
                        </a:lnTo>
                        <a:lnTo>
                          <a:pt x="119" y="0"/>
                        </a:lnTo>
                        <a:lnTo>
                          <a:pt x="0" y="0"/>
                        </a:lnTo>
                        <a:lnTo>
                          <a:pt x="0" y="36"/>
                        </a:lnTo>
                      </a:path>
                    </a:pathLst>
                  </a:custGeom>
                  <a:solidFill>
                    <a:schemeClr val="bg2"/>
                  </a:solidFill>
                  <a:ln w="9525" cap="rnd">
                    <a:noFill/>
                    <a:round/>
                  </a:ln>
                </p:spPr>
                <p:txBody>
                  <a:bodyPr wrap="none" lIns="98624" tIns="49313" rIns="98624" bIns="49313">
                    <a:spAutoFit/>
                  </a:bodyPr>
                  <a:lstStyle/>
                  <a:p>
                    <a:endParaRPr lang="zh-CN" altLang="en-US"/>
                  </a:p>
                </p:txBody>
              </p:sp>
              <p:sp>
                <p:nvSpPr>
                  <p:cNvPr id="11415" name="Freeform 402"/>
                  <p:cNvSpPr/>
                  <p:nvPr/>
                </p:nvSpPr>
                <p:spPr bwMode="auto">
                  <a:xfrm>
                    <a:off x="4268" y="2511"/>
                    <a:ext cx="108" cy="96"/>
                  </a:xfrm>
                  <a:custGeom>
                    <a:avLst/>
                    <a:gdLst>
                      <a:gd name="T0" fmla="*/ 107 w 108"/>
                      <a:gd name="T1" fmla="*/ 1 h 96"/>
                      <a:gd name="T2" fmla="*/ 84 w 108"/>
                      <a:gd name="T3" fmla="*/ 0 h 96"/>
                      <a:gd name="T4" fmla="*/ 0 w 108"/>
                      <a:gd name="T5" fmla="*/ 73 h 96"/>
                      <a:gd name="T6" fmla="*/ 0 w 108"/>
                      <a:gd name="T7" fmla="*/ 95 h 96"/>
                      <a:gd name="T8" fmla="*/ 107 w 108"/>
                      <a:gd name="T9" fmla="*/ 1 h 96"/>
                      <a:gd name="T10" fmla="*/ 0 60000 65536"/>
                      <a:gd name="T11" fmla="*/ 0 60000 65536"/>
                      <a:gd name="T12" fmla="*/ 0 60000 65536"/>
                      <a:gd name="T13" fmla="*/ 0 60000 65536"/>
                      <a:gd name="T14" fmla="*/ 0 60000 65536"/>
                      <a:gd name="T15" fmla="*/ 0 w 108"/>
                      <a:gd name="T16" fmla="*/ 0 h 96"/>
                      <a:gd name="T17" fmla="*/ 108 w 108"/>
                      <a:gd name="T18" fmla="*/ 96 h 96"/>
                    </a:gdLst>
                    <a:ahLst/>
                    <a:cxnLst>
                      <a:cxn ang="T10">
                        <a:pos x="T0" y="T1"/>
                      </a:cxn>
                      <a:cxn ang="T11">
                        <a:pos x="T2" y="T3"/>
                      </a:cxn>
                      <a:cxn ang="T12">
                        <a:pos x="T4" y="T5"/>
                      </a:cxn>
                      <a:cxn ang="T13">
                        <a:pos x="T6" y="T7"/>
                      </a:cxn>
                      <a:cxn ang="T14">
                        <a:pos x="T8" y="T9"/>
                      </a:cxn>
                    </a:cxnLst>
                    <a:rect l="T15" t="T16" r="T17" b="T18"/>
                    <a:pathLst>
                      <a:path w="108" h="96">
                        <a:moveTo>
                          <a:pt x="107" y="1"/>
                        </a:moveTo>
                        <a:lnTo>
                          <a:pt x="84" y="0"/>
                        </a:lnTo>
                        <a:lnTo>
                          <a:pt x="0" y="73"/>
                        </a:lnTo>
                        <a:lnTo>
                          <a:pt x="0" y="95"/>
                        </a:lnTo>
                        <a:lnTo>
                          <a:pt x="107" y="1"/>
                        </a:lnTo>
                      </a:path>
                    </a:pathLst>
                  </a:custGeom>
                  <a:solidFill>
                    <a:schemeClr val="bg2"/>
                  </a:solidFill>
                  <a:ln w="9525" cap="rnd">
                    <a:noFill/>
                    <a:round/>
                  </a:ln>
                </p:spPr>
                <p:txBody>
                  <a:bodyPr wrap="none" lIns="98624" tIns="49313" rIns="98624" bIns="49313">
                    <a:spAutoFit/>
                  </a:bodyPr>
                  <a:lstStyle/>
                  <a:p>
                    <a:endParaRPr lang="zh-CN" altLang="en-US"/>
                  </a:p>
                </p:txBody>
              </p:sp>
              <p:sp>
                <p:nvSpPr>
                  <p:cNvPr id="11416" name="Freeform 403"/>
                  <p:cNvSpPr/>
                  <p:nvPr/>
                </p:nvSpPr>
                <p:spPr bwMode="auto">
                  <a:xfrm>
                    <a:off x="4009" y="2589"/>
                    <a:ext cx="260" cy="33"/>
                  </a:xfrm>
                  <a:custGeom>
                    <a:avLst/>
                    <a:gdLst>
                      <a:gd name="T0" fmla="*/ 259 w 260"/>
                      <a:gd name="T1" fmla="*/ 32 h 33"/>
                      <a:gd name="T2" fmla="*/ 0 w 260"/>
                      <a:gd name="T3" fmla="*/ 32 h 33"/>
                      <a:gd name="T4" fmla="*/ 0 w 260"/>
                      <a:gd name="T5" fmla="*/ 0 h 33"/>
                      <a:gd name="T6" fmla="*/ 259 w 260"/>
                      <a:gd name="T7" fmla="*/ 0 h 33"/>
                      <a:gd name="T8" fmla="*/ 259 w 260"/>
                      <a:gd name="T9" fmla="*/ 32 h 33"/>
                      <a:gd name="T10" fmla="*/ 0 60000 65536"/>
                      <a:gd name="T11" fmla="*/ 0 60000 65536"/>
                      <a:gd name="T12" fmla="*/ 0 60000 65536"/>
                      <a:gd name="T13" fmla="*/ 0 60000 65536"/>
                      <a:gd name="T14" fmla="*/ 0 60000 65536"/>
                      <a:gd name="T15" fmla="*/ 0 w 260"/>
                      <a:gd name="T16" fmla="*/ 0 h 33"/>
                      <a:gd name="T17" fmla="*/ 260 w 260"/>
                      <a:gd name="T18" fmla="*/ 33 h 33"/>
                    </a:gdLst>
                    <a:ahLst/>
                    <a:cxnLst>
                      <a:cxn ang="T10">
                        <a:pos x="T0" y="T1"/>
                      </a:cxn>
                      <a:cxn ang="T11">
                        <a:pos x="T2" y="T3"/>
                      </a:cxn>
                      <a:cxn ang="T12">
                        <a:pos x="T4" y="T5"/>
                      </a:cxn>
                      <a:cxn ang="T13">
                        <a:pos x="T6" y="T7"/>
                      </a:cxn>
                      <a:cxn ang="T14">
                        <a:pos x="T8" y="T9"/>
                      </a:cxn>
                    </a:cxnLst>
                    <a:rect l="T15" t="T16" r="T17" b="T18"/>
                    <a:pathLst>
                      <a:path w="260" h="33">
                        <a:moveTo>
                          <a:pt x="259" y="32"/>
                        </a:moveTo>
                        <a:lnTo>
                          <a:pt x="0" y="32"/>
                        </a:lnTo>
                        <a:lnTo>
                          <a:pt x="0" y="0"/>
                        </a:lnTo>
                        <a:lnTo>
                          <a:pt x="259" y="0"/>
                        </a:lnTo>
                        <a:lnTo>
                          <a:pt x="259" y="32"/>
                        </a:lnTo>
                      </a:path>
                    </a:pathLst>
                  </a:custGeom>
                  <a:solidFill>
                    <a:schemeClr val="bg2"/>
                  </a:solidFill>
                  <a:ln w="9525" cap="rnd">
                    <a:noFill/>
                    <a:round/>
                  </a:ln>
                </p:spPr>
                <p:txBody>
                  <a:bodyPr wrap="none" lIns="98624" tIns="49313" rIns="98624" bIns="49313">
                    <a:spAutoFit/>
                  </a:bodyPr>
                  <a:lstStyle/>
                  <a:p>
                    <a:endParaRPr lang="zh-CN" altLang="en-US"/>
                  </a:p>
                </p:txBody>
              </p:sp>
              <p:sp>
                <p:nvSpPr>
                  <p:cNvPr id="11417" name="Freeform 404"/>
                  <p:cNvSpPr/>
                  <p:nvPr/>
                </p:nvSpPr>
                <p:spPr bwMode="auto">
                  <a:xfrm>
                    <a:off x="4109" y="2519"/>
                    <a:ext cx="173" cy="49"/>
                  </a:xfrm>
                  <a:custGeom>
                    <a:avLst/>
                    <a:gdLst>
                      <a:gd name="T0" fmla="*/ 0 w 173"/>
                      <a:gd name="T1" fmla="*/ 0 h 49"/>
                      <a:gd name="T2" fmla="*/ 0 w 173"/>
                      <a:gd name="T3" fmla="*/ 12 h 49"/>
                      <a:gd name="T4" fmla="*/ 120 w 173"/>
                      <a:gd name="T5" fmla="*/ 12 h 49"/>
                      <a:gd name="T6" fmla="*/ 120 w 173"/>
                      <a:gd name="T7" fmla="*/ 48 h 49"/>
                      <a:gd name="T8" fmla="*/ 172 w 173"/>
                      <a:gd name="T9" fmla="*/ 0 h 49"/>
                      <a:gd name="T10" fmla="*/ 0 w 173"/>
                      <a:gd name="T11" fmla="*/ 0 h 49"/>
                      <a:gd name="T12" fmla="*/ 0 60000 65536"/>
                      <a:gd name="T13" fmla="*/ 0 60000 65536"/>
                      <a:gd name="T14" fmla="*/ 0 60000 65536"/>
                      <a:gd name="T15" fmla="*/ 0 60000 65536"/>
                      <a:gd name="T16" fmla="*/ 0 60000 65536"/>
                      <a:gd name="T17" fmla="*/ 0 60000 65536"/>
                      <a:gd name="T18" fmla="*/ 0 w 173"/>
                      <a:gd name="T19" fmla="*/ 0 h 49"/>
                      <a:gd name="T20" fmla="*/ 173 w 173"/>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173" h="49">
                        <a:moveTo>
                          <a:pt x="0" y="0"/>
                        </a:moveTo>
                        <a:lnTo>
                          <a:pt x="0" y="12"/>
                        </a:lnTo>
                        <a:lnTo>
                          <a:pt x="120" y="12"/>
                        </a:lnTo>
                        <a:lnTo>
                          <a:pt x="120" y="48"/>
                        </a:lnTo>
                        <a:lnTo>
                          <a:pt x="172" y="0"/>
                        </a:lnTo>
                        <a:lnTo>
                          <a:pt x="0" y="0"/>
                        </a:lnTo>
                      </a:path>
                    </a:pathLst>
                  </a:custGeom>
                  <a:solidFill>
                    <a:schemeClr val="bg2"/>
                  </a:solidFill>
                  <a:ln w="9525" cap="rnd">
                    <a:noFill/>
                    <a:round/>
                  </a:ln>
                </p:spPr>
                <p:txBody>
                  <a:bodyPr wrap="none" lIns="98624" tIns="49313" rIns="98624" bIns="49313">
                    <a:spAutoFit/>
                  </a:bodyPr>
                  <a:lstStyle/>
                  <a:p>
                    <a:endParaRPr lang="zh-CN" altLang="en-US"/>
                  </a:p>
                </p:txBody>
              </p:sp>
              <p:sp>
                <p:nvSpPr>
                  <p:cNvPr id="11418" name="Freeform 405"/>
                  <p:cNvSpPr/>
                  <p:nvPr/>
                </p:nvSpPr>
                <p:spPr bwMode="auto">
                  <a:xfrm>
                    <a:off x="4381" y="2628"/>
                    <a:ext cx="70" cy="90"/>
                  </a:xfrm>
                  <a:custGeom>
                    <a:avLst/>
                    <a:gdLst>
                      <a:gd name="T0" fmla="*/ 0 w 70"/>
                      <a:gd name="T1" fmla="*/ 89 h 90"/>
                      <a:gd name="T2" fmla="*/ 0 w 70"/>
                      <a:gd name="T3" fmla="*/ 58 h 90"/>
                      <a:gd name="T4" fmla="*/ 69 w 70"/>
                      <a:gd name="T5" fmla="*/ 0 h 90"/>
                      <a:gd name="T6" fmla="*/ 69 w 70"/>
                      <a:gd name="T7" fmla="*/ 30 h 90"/>
                      <a:gd name="T8" fmla="*/ 0 w 70"/>
                      <a:gd name="T9" fmla="*/ 89 h 90"/>
                      <a:gd name="T10" fmla="*/ 0 60000 65536"/>
                      <a:gd name="T11" fmla="*/ 0 60000 65536"/>
                      <a:gd name="T12" fmla="*/ 0 60000 65536"/>
                      <a:gd name="T13" fmla="*/ 0 60000 65536"/>
                      <a:gd name="T14" fmla="*/ 0 60000 65536"/>
                      <a:gd name="T15" fmla="*/ 0 w 70"/>
                      <a:gd name="T16" fmla="*/ 0 h 90"/>
                      <a:gd name="T17" fmla="*/ 70 w 70"/>
                      <a:gd name="T18" fmla="*/ 90 h 90"/>
                    </a:gdLst>
                    <a:ahLst/>
                    <a:cxnLst>
                      <a:cxn ang="T10">
                        <a:pos x="T0" y="T1"/>
                      </a:cxn>
                      <a:cxn ang="T11">
                        <a:pos x="T2" y="T3"/>
                      </a:cxn>
                      <a:cxn ang="T12">
                        <a:pos x="T4" y="T5"/>
                      </a:cxn>
                      <a:cxn ang="T13">
                        <a:pos x="T6" y="T7"/>
                      </a:cxn>
                      <a:cxn ang="T14">
                        <a:pos x="T8" y="T9"/>
                      </a:cxn>
                    </a:cxnLst>
                    <a:rect l="T15" t="T16" r="T17" b="T18"/>
                    <a:pathLst>
                      <a:path w="70" h="90">
                        <a:moveTo>
                          <a:pt x="0" y="89"/>
                        </a:moveTo>
                        <a:lnTo>
                          <a:pt x="0" y="58"/>
                        </a:lnTo>
                        <a:lnTo>
                          <a:pt x="69" y="0"/>
                        </a:lnTo>
                        <a:lnTo>
                          <a:pt x="69" y="30"/>
                        </a:lnTo>
                        <a:lnTo>
                          <a:pt x="0" y="89"/>
                        </a:lnTo>
                      </a:path>
                    </a:pathLst>
                  </a:custGeom>
                  <a:solidFill>
                    <a:schemeClr val="bg2"/>
                  </a:solidFill>
                  <a:ln w="9525" cap="rnd">
                    <a:noFill/>
                    <a:round/>
                  </a:ln>
                </p:spPr>
                <p:txBody>
                  <a:bodyPr wrap="none" lIns="98624" tIns="49313" rIns="98624" bIns="49313">
                    <a:spAutoFit/>
                  </a:bodyPr>
                  <a:lstStyle/>
                  <a:p>
                    <a:endParaRPr lang="zh-CN" altLang="en-US"/>
                  </a:p>
                </p:txBody>
              </p:sp>
              <p:sp>
                <p:nvSpPr>
                  <p:cNvPr id="11419" name="Freeform 406"/>
                  <p:cNvSpPr/>
                  <p:nvPr/>
                </p:nvSpPr>
                <p:spPr bwMode="auto">
                  <a:xfrm>
                    <a:off x="4418" y="2095"/>
                    <a:ext cx="57" cy="427"/>
                  </a:xfrm>
                  <a:custGeom>
                    <a:avLst/>
                    <a:gdLst>
                      <a:gd name="T0" fmla="*/ 0 w 57"/>
                      <a:gd name="T1" fmla="*/ 51 h 427"/>
                      <a:gd name="T2" fmla="*/ 56 w 57"/>
                      <a:gd name="T3" fmla="*/ 0 h 427"/>
                      <a:gd name="T4" fmla="*/ 56 w 57"/>
                      <a:gd name="T5" fmla="*/ 374 h 427"/>
                      <a:gd name="T6" fmla="*/ 0 w 57"/>
                      <a:gd name="T7" fmla="*/ 426 h 427"/>
                      <a:gd name="T8" fmla="*/ 0 w 57"/>
                      <a:gd name="T9" fmla="*/ 51 h 427"/>
                      <a:gd name="T10" fmla="*/ 0 60000 65536"/>
                      <a:gd name="T11" fmla="*/ 0 60000 65536"/>
                      <a:gd name="T12" fmla="*/ 0 60000 65536"/>
                      <a:gd name="T13" fmla="*/ 0 60000 65536"/>
                      <a:gd name="T14" fmla="*/ 0 60000 65536"/>
                      <a:gd name="T15" fmla="*/ 0 w 57"/>
                      <a:gd name="T16" fmla="*/ 0 h 427"/>
                      <a:gd name="T17" fmla="*/ 57 w 57"/>
                      <a:gd name="T18" fmla="*/ 427 h 427"/>
                    </a:gdLst>
                    <a:ahLst/>
                    <a:cxnLst>
                      <a:cxn ang="T10">
                        <a:pos x="T0" y="T1"/>
                      </a:cxn>
                      <a:cxn ang="T11">
                        <a:pos x="T2" y="T3"/>
                      </a:cxn>
                      <a:cxn ang="T12">
                        <a:pos x="T4" y="T5"/>
                      </a:cxn>
                      <a:cxn ang="T13">
                        <a:pos x="T6" y="T7"/>
                      </a:cxn>
                      <a:cxn ang="T14">
                        <a:pos x="T8" y="T9"/>
                      </a:cxn>
                    </a:cxnLst>
                    <a:rect l="T15" t="T16" r="T17" b="T18"/>
                    <a:pathLst>
                      <a:path w="57" h="427">
                        <a:moveTo>
                          <a:pt x="0" y="51"/>
                        </a:moveTo>
                        <a:lnTo>
                          <a:pt x="56" y="0"/>
                        </a:lnTo>
                        <a:lnTo>
                          <a:pt x="56" y="374"/>
                        </a:lnTo>
                        <a:lnTo>
                          <a:pt x="0" y="426"/>
                        </a:lnTo>
                        <a:lnTo>
                          <a:pt x="0" y="51"/>
                        </a:lnTo>
                      </a:path>
                    </a:pathLst>
                  </a:custGeom>
                  <a:solidFill>
                    <a:schemeClr val="bg2"/>
                  </a:solidFill>
                  <a:ln w="9525" cap="rnd">
                    <a:noFill/>
                    <a:round/>
                  </a:ln>
                </p:spPr>
                <p:txBody>
                  <a:bodyPr wrap="none" lIns="98624" tIns="49313" rIns="98624" bIns="49313">
                    <a:spAutoFit/>
                  </a:bodyPr>
                  <a:lstStyle/>
                  <a:p>
                    <a:endParaRPr lang="zh-CN" altLang="en-US"/>
                  </a:p>
                </p:txBody>
              </p:sp>
              <p:sp>
                <p:nvSpPr>
                  <p:cNvPr id="11420" name="Freeform 407"/>
                  <p:cNvSpPr/>
                  <p:nvPr/>
                </p:nvSpPr>
                <p:spPr bwMode="auto">
                  <a:xfrm>
                    <a:off x="3910" y="2096"/>
                    <a:ext cx="563" cy="49"/>
                  </a:xfrm>
                  <a:custGeom>
                    <a:avLst/>
                    <a:gdLst>
                      <a:gd name="T0" fmla="*/ 0 w 563"/>
                      <a:gd name="T1" fmla="*/ 48 h 49"/>
                      <a:gd name="T2" fmla="*/ 55 w 563"/>
                      <a:gd name="T3" fmla="*/ 0 h 49"/>
                      <a:gd name="T4" fmla="*/ 562 w 563"/>
                      <a:gd name="T5" fmla="*/ 0 h 49"/>
                      <a:gd name="T6" fmla="*/ 506 w 563"/>
                      <a:gd name="T7" fmla="*/ 48 h 49"/>
                      <a:gd name="T8" fmla="*/ 0 w 563"/>
                      <a:gd name="T9" fmla="*/ 48 h 49"/>
                      <a:gd name="T10" fmla="*/ 0 60000 65536"/>
                      <a:gd name="T11" fmla="*/ 0 60000 65536"/>
                      <a:gd name="T12" fmla="*/ 0 60000 65536"/>
                      <a:gd name="T13" fmla="*/ 0 60000 65536"/>
                      <a:gd name="T14" fmla="*/ 0 60000 65536"/>
                      <a:gd name="T15" fmla="*/ 0 w 563"/>
                      <a:gd name="T16" fmla="*/ 0 h 49"/>
                      <a:gd name="T17" fmla="*/ 563 w 563"/>
                      <a:gd name="T18" fmla="*/ 49 h 49"/>
                    </a:gdLst>
                    <a:ahLst/>
                    <a:cxnLst>
                      <a:cxn ang="T10">
                        <a:pos x="T0" y="T1"/>
                      </a:cxn>
                      <a:cxn ang="T11">
                        <a:pos x="T2" y="T3"/>
                      </a:cxn>
                      <a:cxn ang="T12">
                        <a:pos x="T4" y="T5"/>
                      </a:cxn>
                      <a:cxn ang="T13">
                        <a:pos x="T6" y="T7"/>
                      </a:cxn>
                      <a:cxn ang="T14">
                        <a:pos x="T8" y="T9"/>
                      </a:cxn>
                    </a:cxnLst>
                    <a:rect l="T15" t="T16" r="T17" b="T18"/>
                    <a:pathLst>
                      <a:path w="563" h="49">
                        <a:moveTo>
                          <a:pt x="0" y="48"/>
                        </a:moveTo>
                        <a:lnTo>
                          <a:pt x="55" y="0"/>
                        </a:lnTo>
                        <a:lnTo>
                          <a:pt x="562" y="0"/>
                        </a:lnTo>
                        <a:lnTo>
                          <a:pt x="506" y="48"/>
                        </a:lnTo>
                        <a:lnTo>
                          <a:pt x="0" y="48"/>
                        </a:lnTo>
                      </a:path>
                    </a:pathLst>
                  </a:custGeom>
                  <a:solidFill>
                    <a:schemeClr val="bg2"/>
                  </a:solidFill>
                  <a:ln w="9525" cap="rnd">
                    <a:noFill/>
                    <a:round/>
                  </a:ln>
                </p:spPr>
                <p:txBody>
                  <a:bodyPr wrap="none" lIns="98624" tIns="49313" rIns="98624" bIns="49313">
                    <a:spAutoFit/>
                  </a:bodyPr>
                  <a:lstStyle/>
                  <a:p>
                    <a:endParaRPr lang="zh-CN" altLang="en-US"/>
                  </a:p>
                </p:txBody>
              </p:sp>
              <p:sp>
                <p:nvSpPr>
                  <p:cNvPr id="11421" name="Freeform 408"/>
                  <p:cNvSpPr/>
                  <p:nvPr/>
                </p:nvSpPr>
                <p:spPr bwMode="auto">
                  <a:xfrm>
                    <a:off x="3766" y="2684"/>
                    <a:ext cx="616" cy="34"/>
                  </a:xfrm>
                  <a:custGeom>
                    <a:avLst/>
                    <a:gdLst>
                      <a:gd name="T0" fmla="*/ 615 w 616"/>
                      <a:gd name="T1" fmla="*/ 33 h 34"/>
                      <a:gd name="T2" fmla="*/ 0 w 616"/>
                      <a:gd name="T3" fmla="*/ 33 h 34"/>
                      <a:gd name="T4" fmla="*/ 0 w 616"/>
                      <a:gd name="T5" fmla="*/ 0 h 34"/>
                      <a:gd name="T6" fmla="*/ 615 w 616"/>
                      <a:gd name="T7" fmla="*/ 0 h 34"/>
                      <a:gd name="T8" fmla="*/ 615 w 616"/>
                      <a:gd name="T9" fmla="*/ 33 h 34"/>
                      <a:gd name="T10" fmla="*/ 0 60000 65536"/>
                      <a:gd name="T11" fmla="*/ 0 60000 65536"/>
                      <a:gd name="T12" fmla="*/ 0 60000 65536"/>
                      <a:gd name="T13" fmla="*/ 0 60000 65536"/>
                      <a:gd name="T14" fmla="*/ 0 60000 65536"/>
                      <a:gd name="T15" fmla="*/ 0 w 616"/>
                      <a:gd name="T16" fmla="*/ 0 h 34"/>
                      <a:gd name="T17" fmla="*/ 616 w 616"/>
                      <a:gd name="T18" fmla="*/ 34 h 34"/>
                    </a:gdLst>
                    <a:ahLst/>
                    <a:cxnLst>
                      <a:cxn ang="T10">
                        <a:pos x="T0" y="T1"/>
                      </a:cxn>
                      <a:cxn ang="T11">
                        <a:pos x="T2" y="T3"/>
                      </a:cxn>
                      <a:cxn ang="T12">
                        <a:pos x="T4" y="T5"/>
                      </a:cxn>
                      <a:cxn ang="T13">
                        <a:pos x="T6" y="T7"/>
                      </a:cxn>
                      <a:cxn ang="T14">
                        <a:pos x="T8" y="T9"/>
                      </a:cxn>
                    </a:cxnLst>
                    <a:rect l="T15" t="T16" r="T17" b="T18"/>
                    <a:pathLst>
                      <a:path w="616" h="34">
                        <a:moveTo>
                          <a:pt x="615" y="33"/>
                        </a:moveTo>
                        <a:lnTo>
                          <a:pt x="0" y="33"/>
                        </a:lnTo>
                        <a:lnTo>
                          <a:pt x="0" y="0"/>
                        </a:lnTo>
                        <a:lnTo>
                          <a:pt x="615" y="0"/>
                        </a:lnTo>
                        <a:lnTo>
                          <a:pt x="615" y="33"/>
                        </a:lnTo>
                      </a:path>
                    </a:pathLst>
                  </a:custGeom>
                  <a:solidFill>
                    <a:schemeClr val="bg2"/>
                  </a:solidFill>
                  <a:ln w="9525" cap="rnd">
                    <a:noFill/>
                    <a:round/>
                  </a:ln>
                </p:spPr>
                <p:txBody>
                  <a:bodyPr wrap="none" lIns="98624" tIns="49313" rIns="98624" bIns="49313">
                    <a:spAutoFit/>
                  </a:bodyPr>
                  <a:lstStyle/>
                  <a:p>
                    <a:endParaRPr lang="zh-CN" altLang="en-US"/>
                  </a:p>
                </p:txBody>
              </p:sp>
              <p:sp>
                <p:nvSpPr>
                  <p:cNvPr id="11422" name="Freeform 409"/>
                  <p:cNvSpPr/>
                  <p:nvPr/>
                </p:nvSpPr>
                <p:spPr bwMode="auto">
                  <a:xfrm>
                    <a:off x="3765" y="2627"/>
                    <a:ext cx="686" cy="58"/>
                  </a:xfrm>
                  <a:custGeom>
                    <a:avLst/>
                    <a:gdLst>
                      <a:gd name="T0" fmla="*/ 685 w 686"/>
                      <a:gd name="T1" fmla="*/ 0 h 58"/>
                      <a:gd name="T2" fmla="*/ 617 w 686"/>
                      <a:gd name="T3" fmla="*/ 57 h 58"/>
                      <a:gd name="T4" fmla="*/ 0 w 686"/>
                      <a:gd name="T5" fmla="*/ 57 h 58"/>
                      <a:gd name="T6" fmla="*/ 64 w 686"/>
                      <a:gd name="T7" fmla="*/ 0 h 58"/>
                      <a:gd name="T8" fmla="*/ 685 w 686"/>
                      <a:gd name="T9" fmla="*/ 0 h 58"/>
                      <a:gd name="T10" fmla="*/ 0 60000 65536"/>
                      <a:gd name="T11" fmla="*/ 0 60000 65536"/>
                      <a:gd name="T12" fmla="*/ 0 60000 65536"/>
                      <a:gd name="T13" fmla="*/ 0 60000 65536"/>
                      <a:gd name="T14" fmla="*/ 0 60000 65536"/>
                      <a:gd name="T15" fmla="*/ 0 w 686"/>
                      <a:gd name="T16" fmla="*/ 0 h 58"/>
                      <a:gd name="T17" fmla="*/ 686 w 686"/>
                      <a:gd name="T18" fmla="*/ 58 h 58"/>
                    </a:gdLst>
                    <a:ahLst/>
                    <a:cxnLst>
                      <a:cxn ang="T10">
                        <a:pos x="T0" y="T1"/>
                      </a:cxn>
                      <a:cxn ang="T11">
                        <a:pos x="T2" y="T3"/>
                      </a:cxn>
                      <a:cxn ang="T12">
                        <a:pos x="T4" y="T5"/>
                      </a:cxn>
                      <a:cxn ang="T13">
                        <a:pos x="T6" y="T7"/>
                      </a:cxn>
                      <a:cxn ang="T14">
                        <a:pos x="T8" y="T9"/>
                      </a:cxn>
                    </a:cxnLst>
                    <a:rect l="T15" t="T16" r="T17" b="T18"/>
                    <a:pathLst>
                      <a:path w="686" h="58">
                        <a:moveTo>
                          <a:pt x="685" y="0"/>
                        </a:moveTo>
                        <a:lnTo>
                          <a:pt x="617" y="57"/>
                        </a:lnTo>
                        <a:lnTo>
                          <a:pt x="0" y="57"/>
                        </a:lnTo>
                        <a:lnTo>
                          <a:pt x="64" y="0"/>
                        </a:lnTo>
                        <a:lnTo>
                          <a:pt x="685" y="0"/>
                        </a:lnTo>
                      </a:path>
                    </a:pathLst>
                  </a:custGeom>
                  <a:solidFill>
                    <a:schemeClr val="bg2"/>
                  </a:solidFill>
                  <a:ln w="9525" cap="rnd">
                    <a:noFill/>
                    <a:round/>
                  </a:ln>
                </p:spPr>
                <p:txBody>
                  <a:bodyPr wrap="none" lIns="98624" tIns="49313" rIns="98624" bIns="49313">
                    <a:spAutoFit/>
                  </a:bodyPr>
                  <a:lstStyle/>
                  <a:p>
                    <a:endParaRPr lang="zh-CN" altLang="en-US"/>
                  </a:p>
                </p:txBody>
              </p:sp>
              <p:grpSp>
                <p:nvGrpSpPr>
                  <p:cNvPr id="250292" name="Group 410"/>
                  <p:cNvGrpSpPr/>
                  <p:nvPr/>
                </p:nvGrpSpPr>
                <p:grpSpPr bwMode="auto">
                  <a:xfrm>
                    <a:off x="3803" y="2639"/>
                    <a:ext cx="604" cy="37"/>
                    <a:chOff x="3803" y="2639"/>
                    <a:chExt cx="604" cy="37"/>
                  </a:xfrm>
                </p:grpSpPr>
                <p:sp>
                  <p:nvSpPr>
                    <p:cNvPr id="11427" name="Line 411"/>
                    <p:cNvSpPr>
                      <a:spLocks noChangeShapeType="1"/>
                    </p:cNvSpPr>
                    <p:nvPr/>
                  </p:nvSpPr>
                  <p:spPr bwMode="auto">
                    <a:xfrm>
                      <a:off x="3848" y="2639"/>
                      <a:ext cx="559" cy="0"/>
                    </a:xfrm>
                    <a:prstGeom prst="line">
                      <a:avLst/>
                    </a:prstGeom>
                    <a:noFill/>
                    <a:ln w="12699">
                      <a:solidFill>
                        <a:srgbClr val="6B645F"/>
                      </a:solidFill>
                      <a:round/>
                      <a:headEnd type="none" w="sm" len="sm"/>
                      <a:tailEnd type="none" w="sm" len="sm"/>
                    </a:ln>
                  </p:spPr>
                  <p:txBody>
                    <a:bodyPr wrap="none" lIns="98624" tIns="49313" rIns="98624" bIns="49313">
                      <a:spAutoFit/>
                    </a:bodyPr>
                    <a:lstStyle/>
                    <a:p>
                      <a:endParaRPr lang="zh-CN" altLang="en-US"/>
                    </a:p>
                  </p:txBody>
                </p:sp>
                <p:sp>
                  <p:nvSpPr>
                    <p:cNvPr id="11428" name="Line 412"/>
                    <p:cNvSpPr>
                      <a:spLocks noChangeShapeType="1"/>
                    </p:cNvSpPr>
                    <p:nvPr/>
                  </p:nvSpPr>
                  <p:spPr bwMode="auto">
                    <a:xfrm>
                      <a:off x="3834" y="2651"/>
                      <a:ext cx="560" cy="0"/>
                    </a:xfrm>
                    <a:prstGeom prst="line">
                      <a:avLst/>
                    </a:prstGeom>
                    <a:noFill/>
                    <a:ln w="12699">
                      <a:solidFill>
                        <a:srgbClr val="6B645F"/>
                      </a:solidFill>
                      <a:round/>
                      <a:headEnd type="none" w="sm" len="sm"/>
                      <a:tailEnd type="none" w="sm" len="sm"/>
                    </a:ln>
                  </p:spPr>
                  <p:txBody>
                    <a:bodyPr wrap="none" lIns="98624" tIns="49313" rIns="98624" bIns="49313">
                      <a:spAutoFit/>
                    </a:bodyPr>
                    <a:lstStyle/>
                    <a:p>
                      <a:endParaRPr lang="zh-CN" altLang="en-US"/>
                    </a:p>
                  </p:txBody>
                </p:sp>
                <p:sp>
                  <p:nvSpPr>
                    <p:cNvPr id="11429" name="Line 413"/>
                    <p:cNvSpPr>
                      <a:spLocks noChangeShapeType="1"/>
                    </p:cNvSpPr>
                    <p:nvPr/>
                  </p:nvSpPr>
                  <p:spPr bwMode="auto">
                    <a:xfrm>
                      <a:off x="3821" y="2664"/>
                      <a:ext cx="560" cy="0"/>
                    </a:xfrm>
                    <a:prstGeom prst="line">
                      <a:avLst/>
                    </a:prstGeom>
                    <a:noFill/>
                    <a:ln w="12699">
                      <a:solidFill>
                        <a:srgbClr val="6B645F"/>
                      </a:solidFill>
                      <a:round/>
                      <a:headEnd type="none" w="sm" len="sm"/>
                      <a:tailEnd type="none" w="sm" len="sm"/>
                    </a:ln>
                  </p:spPr>
                  <p:txBody>
                    <a:bodyPr wrap="none" lIns="98624" tIns="49313" rIns="98624" bIns="49313">
                      <a:spAutoFit/>
                    </a:bodyPr>
                    <a:lstStyle/>
                    <a:p>
                      <a:endParaRPr lang="zh-CN" altLang="en-US"/>
                    </a:p>
                  </p:txBody>
                </p:sp>
                <p:sp>
                  <p:nvSpPr>
                    <p:cNvPr id="11430" name="Line 414"/>
                    <p:cNvSpPr>
                      <a:spLocks noChangeShapeType="1"/>
                    </p:cNvSpPr>
                    <p:nvPr/>
                  </p:nvSpPr>
                  <p:spPr bwMode="auto">
                    <a:xfrm>
                      <a:off x="3803" y="2676"/>
                      <a:ext cx="561" cy="0"/>
                    </a:xfrm>
                    <a:prstGeom prst="line">
                      <a:avLst/>
                    </a:prstGeom>
                    <a:noFill/>
                    <a:ln w="12699">
                      <a:solidFill>
                        <a:srgbClr val="6B645F"/>
                      </a:solidFill>
                      <a:round/>
                      <a:headEnd type="none" w="sm" len="sm"/>
                      <a:tailEnd type="none" w="sm" len="sm"/>
                    </a:ln>
                  </p:spPr>
                  <p:txBody>
                    <a:bodyPr wrap="none" lIns="98624" tIns="49313" rIns="98624" bIns="49313">
                      <a:spAutoFit/>
                    </a:bodyPr>
                    <a:lstStyle/>
                    <a:p>
                      <a:endParaRPr lang="zh-CN" altLang="en-US"/>
                    </a:p>
                  </p:txBody>
                </p:sp>
              </p:grpSp>
              <p:sp>
                <p:nvSpPr>
                  <p:cNvPr id="11424" name="Rectangle 415"/>
                  <p:cNvSpPr>
                    <a:spLocks noChangeArrowheads="1"/>
                  </p:cNvSpPr>
                  <p:nvPr/>
                </p:nvSpPr>
                <p:spPr bwMode="auto">
                  <a:xfrm>
                    <a:off x="3910" y="2144"/>
                    <a:ext cx="508" cy="377"/>
                  </a:xfrm>
                  <a:prstGeom prst="rect">
                    <a:avLst/>
                  </a:prstGeom>
                  <a:solidFill>
                    <a:schemeClr val="bg2"/>
                  </a:solidFill>
                  <a:ln w="9525">
                    <a:noFill/>
                    <a:miter lim="800000"/>
                  </a:ln>
                </p:spPr>
                <p:txBody>
                  <a:bodyPr wrap="none" lIns="98624" tIns="49313" rIns="98624" bIns="49313">
                    <a:spAutoFit/>
                  </a:bodyPr>
                  <a:lstStyle/>
                  <a:p>
                    <a:endParaRPr lang="zh-CN" altLang="en-US"/>
                  </a:p>
                </p:txBody>
              </p:sp>
              <p:sp>
                <p:nvSpPr>
                  <p:cNvPr id="11425" name="Freeform 416"/>
                  <p:cNvSpPr/>
                  <p:nvPr/>
                </p:nvSpPr>
                <p:spPr bwMode="auto">
                  <a:xfrm>
                    <a:off x="3965" y="2192"/>
                    <a:ext cx="400" cy="274"/>
                  </a:xfrm>
                  <a:custGeom>
                    <a:avLst/>
                    <a:gdLst>
                      <a:gd name="T0" fmla="*/ 399 w 400"/>
                      <a:gd name="T1" fmla="*/ 273 h 274"/>
                      <a:gd name="T2" fmla="*/ 0 w 400"/>
                      <a:gd name="T3" fmla="*/ 273 h 274"/>
                      <a:gd name="T4" fmla="*/ 0 w 400"/>
                      <a:gd name="T5" fmla="*/ 0 h 274"/>
                      <a:gd name="T6" fmla="*/ 399 w 400"/>
                      <a:gd name="T7" fmla="*/ 0 h 274"/>
                      <a:gd name="T8" fmla="*/ 399 w 400"/>
                      <a:gd name="T9" fmla="*/ 273 h 274"/>
                      <a:gd name="T10" fmla="*/ 0 60000 65536"/>
                      <a:gd name="T11" fmla="*/ 0 60000 65536"/>
                      <a:gd name="T12" fmla="*/ 0 60000 65536"/>
                      <a:gd name="T13" fmla="*/ 0 60000 65536"/>
                      <a:gd name="T14" fmla="*/ 0 60000 65536"/>
                      <a:gd name="T15" fmla="*/ 0 w 400"/>
                      <a:gd name="T16" fmla="*/ 0 h 274"/>
                      <a:gd name="T17" fmla="*/ 400 w 400"/>
                      <a:gd name="T18" fmla="*/ 274 h 274"/>
                    </a:gdLst>
                    <a:ahLst/>
                    <a:cxnLst>
                      <a:cxn ang="T10">
                        <a:pos x="T0" y="T1"/>
                      </a:cxn>
                      <a:cxn ang="T11">
                        <a:pos x="T2" y="T3"/>
                      </a:cxn>
                      <a:cxn ang="T12">
                        <a:pos x="T4" y="T5"/>
                      </a:cxn>
                      <a:cxn ang="T13">
                        <a:pos x="T6" y="T7"/>
                      </a:cxn>
                      <a:cxn ang="T14">
                        <a:pos x="T8" y="T9"/>
                      </a:cxn>
                    </a:cxnLst>
                    <a:rect l="T15" t="T16" r="T17" b="T18"/>
                    <a:pathLst>
                      <a:path w="400" h="274">
                        <a:moveTo>
                          <a:pt x="399" y="273"/>
                        </a:moveTo>
                        <a:lnTo>
                          <a:pt x="0" y="273"/>
                        </a:lnTo>
                        <a:lnTo>
                          <a:pt x="0" y="0"/>
                        </a:lnTo>
                        <a:lnTo>
                          <a:pt x="399" y="0"/>
                        </a:lnTo>
                        <a:lnTo>
                          <a:pt x="399" y="273"/>
                        </a:lnTo>
                      </a:path>
                    </a:pathLst>
                  </a:custGeom>
                  <a:solidFill>
                    <a:schemeClr val="bg2"/>
                  </a:solidFill>
                  <a:ln w="9525" cap="rnd">
                    <a:noFill/>
                    <a:round/>
                  </a:ln>
                </p:spPr>
                <p:txBody>
                  <a:bodyPr wrap="none" lIns="98624" tIns="49313" rIns="98624" bIns="49313">
                    <a:spAutoFit/>
                  </a:bodyPr>
                  <a:lstStyle/>
                  <a:p>
                    <a:endParaRPr lang="zh-CN" altLang="en-US"/>
                  </a:p>
                </p:txBody>
              </p:sp>
              <p:sp>
                <p:nvSpPr>
                  <p:cNvPr id="11426" name="Freeform 417"/>
                  <p:cNvSpPr/>
                  <p:nvPr/>
                </p:nvSpPr>
                <p:spPr bwMode="auto">
                  <a:xfrm>
                    <a:off x="3965" y="2192"/>
                    <a:ext cx="400" cy="274"/>
                  </a:xfrm>
                  <a:custGeom>
                    <a:avLst/>
                    <a:gdLst>
                      <a:gd name="T0" fmla="*/ 399 w 400"/>
                      <a:gd name="T1" fmla="*/ 0 h 274"/>
                      <a:gd name="T2" fmla="*/ 0 w 400"/>
                      <a:gd name="T3" fmla="*/ 0 h 274"/>
                      <a:gd name="T4" fmla="*/ 0 w 400"/>
                      <a:gd name="T5" fmla="*/ 273 h 274"/>
                      <a:gd name="T6" fmla="*/ 95 w 400"/>
                      <a:gd name="T7" fmla="*/ 185 h 274"/>
                      <a:gd name="T8" fmla="*/ 289 w 400"/>
                      <a:gd name="T9" fmla="*/ 95 h 274"/>
                      <a:gd name="T10" fmla="*/ 399 w 400"/>
                      <a:gd name="T11" fmla="*/ 0 h 274"/>
                      <a:gd name="T12" fmla="*/ 0 60000 65536"/>
                      <a:gd name="T13" fmla="*/ 0 60000 65536"/>
                      <a:gd name="T14" fmla="*/ 0 60000 65536"/>
                      <a:gd name="T15" fmla="*/ 0 60000 65536"/>
                      <a:gd name="T16" fmla="*/ 0 60000 65536"/>
                      <a:gd name="T17" fmla="*/ 0 60000 65536"/>
                      <a:gd name="T18" fmla="*/ 0 w 400"/>
                      <a:gd name="T19" fmla="*/ 0 h 274"/>
                      <a:gd name="T20" fmla="*/ 400 w 400"/>
                      <a:gd name="T21" fmla="*/ 274 h 274"/>
                    </a:gdLst>
                    <a:ahLst/>
                    <a:cxnLst>
                      <a:cxn ang="T12">
                        <a:pos x="T0" y="T1"/>
                      </a:cxn>
                      <a:cxn ang="T13">
                        <a:pos x="T2" y="T3"/>
                      </a:cxn>
                      <a:cxn ang="T14">
                        <a:pos x="T4" y="T5"/>
                      </a:cxn>
                      <a:cxn ang="T15">
                        <a:pos x="T6" y="T7"/>
                      </a:cxn>
                      <a:cxn ang="T16">
                        <a:pos x="T8" y="T9"/>
                      </a:cxn>
                      <a:cxn ang="T17">
                        <a:pos x="T10" y="T11"/>
                      </a:cxn>
                    </a:cxnLst>
                    <a:rect l="T18" t="T19" r="T20" b="T21"/>
                    <a:pathLst>
                      <a:path w="400" h="274">
                        <a:moveTo>
                          <a:pt x="399" y="0"/>
                        </a:moveTo>
                        <a:lnTo>
                          <a:pt x="0" y="0"/>
                        </a:lnTo>
                        <a:lnTo>
                          <a:pt x="0" y="273"/>
                        </a:lnTo>
                        <a:lnTo>
                          <a:pt x="95" y="185"/>
                        </a:lnTo>
                        <a:lnTo>
                          <a:pt x="289" y="95"/>
                        </a:lnTo>
                        <a:lnTo>
                          <a:pt x="399" y="0"/>
                        </a:lnTo>
                      </a:path>
                    </a:pathLst>
                  </a:custGeom>
                  <a:solidFill>
                    <a:schemeClr val="bg2"/>
                  </a:solidFill>
                  <a:ln w="9525" cap="rnd">
                    <a:noFill/>
                    <a:round/>
                  </a:ln>
                </p:spPr>
                <p:txBody>
                  <a:bodyPr wrap="none" lIns="98624" tIns="49313" rIns="98624" bIns="49313">
                    <a:spAutoFit/>
                  </a:bodyPr>
                  <a:lstStyle/>
                  <a:p>
                    <a:endParaRPr lang="zh-CN" altLang="en-US"/>
                  </a:p>
                </p:txBody>
              </p:sp>
            </p:grpSp>
            <p:sp>
              <p:nvSpPr>
                <p:cNvPr id="11412" name="Freeform 418"/>
                <p:cNvSpPr/>
                <p:nvPr/>
              </p:nvSpPr>
              <p:spPr bwMode="auto">
                <a:xfrm>
                  <a:off x="3975" y="2206"/>
                  <a:ext cx="374" cy="245"/>
                </a:xfrm>
                <a:custGeom>
                  <a:avLst/>
                  <a:gdLst>
                    <a:gd name="T0" fmla="*/ 373 w 374"/>
                    <a:gd name="T1" fmla="*/ 244 h 245"/>
                    <a:gd name="T2" fmla="*/ 0 w 374"/>
                    <a:gd name="T3" fmla="*/ 244 h 245"/>
                    <a:gd name="T4" fmla="*/ 0 w 374"/>
                    <a:gd name="T5" fmla="*/ 0 h 245"/>
                    <a:gd name="T6" fmla="*/ 373 w 374"/>
                    <a:gd name="T7" fmla="*/ 0 h 245"/>
                    <a:gd name="T8" fmla="*/ 373 w 374"/>
                    <a:gd name="T9" fmla="*/ 244 h 245"/>
                    <a:gd name="T10" fmla="*/ 0 60000 65536"/>
                    <a:gd name="T11" fmla="*/ 0 60000 65536"/>
                    <a:gd name="T12" fmla="*/ 0 60000 65536"/>
                    <a:gd name="T13" fmla="*/ 0 60000 65536"/>
                    <a:gd name="T14" fmla="*/ 0 60000 65536"/>
                    <a:gd name="T15" fmla="*/ 0 w 374"/>
                    <a:gd name="T16" fmla="*/ 0 h 245"/>
                    <a:gd name="T17" fmla="*/ 374 w 374"/>
                    <a:gd name="T18" fmla="*/ 245 h 245"/>
                  </a:gdLst>
                  <a:ahLst/>
                  <a:cxnLst>
                    <a:cxn ang="T10">
                      <a:pos x="T0" y="T1"/>
                    </a:cxn>
                    <a:cxn ang="T11">
                      <a:pos x="T2" y="T3"/>
                    </a:cxn>
                    <a:cxn ang="T12">
                      <a:pos x="T4" y="T5"/>
                    </a:cxn>
                    <a:cxn ang="T13">
                      <a:pos x="T6" y="T7"/>
                    </a:cxn>
                    <a:cxn ang="T14">
                      <a:pos x="T8" y="T9"/>
                    </a:cxn>
                  </a:cxnLst>
                  <a:rect l="T15" t="T16" r="T17" b="T18"/>
                  <a:pathLst>
                    <a:path w="374" h="245">
                      <a:moveTo>
                        <a:pt x="373" y="244"/>
                      </a:moveTo>
                      <a:lnTo>
                        <a:pt x="0" y="244"/>
                      </a:lnTo>
                      <a:lnTo>
                        <a:pt x="0" y="0"/>
                      </a:lnTo>
                      <a:lnTo>
                        <a:pt x="373" y="0"/>
                      </a:lnTo>
                      <a:lnTo>
                        <a:pt x="373" y="244"/>
                      </a:lnTo>
                    </a:path>
                  </a:pathLst>
                </a:custGeom>
                <a:solidFill>
                  <a:schemeClr val="bg2"/>
                </a:solidFill>
                <a:ln w="9525" cap="rnd">
                  <a:noFill/>
                  <a:round/>
                </a:ln>
              </p:spPr>
              <p:txBody>
                <a:bodyPr wrap="none" lIns="98624" tIns="49313" rIns="98624" bIns="49313">
                  <a:spAutoFit/>
                </a:bodyPr>
                <a:lstStyle/>
                <a:p>
                  <a:endParaRPr lang="zh-CN" altLang="en-US"/>
                </a:p>
              </p:txBody>
            </p:sp>
          </p:grpSp>
          <p:grpSp>
            <p:nvGrpSpPr>
              <p:cNvPr id="250293" name="Group 419"/>
              <p:cNvGrpSpPr/>
              <p:nvPr/>
            </p:nvGrpSpPr>
            <p:grpSpPr bwMode="auto">
              <a:xfrm>
                <a:off x="4048" y="2192"/>
                <a:ext cx="226" cy="220"/>
                <a:chOff x="4048" y="2192"/>
                <a:chExt cx="226" cy="220"/>
              </a:xfrm>
            </p:grpSpPr>
            <p:grpSp>
              <p:nvGrpSpPr>
                <p:cNvPr id="250294" name="Group 420"/>
                <p:cNvGrpSpPr/>
                <p:nvPr/>
              </p:nvGrpSpPr>
              <p:grpSpPr bwMode="auto">
                <a:xfrm>
                  <a:off x="4048" y="2384"/>
                  <a:ext cx="27" cy="28"/>
                  <a:chOff x="4048" y="2384"/>
                  <a:chExt cx="27" cy="28"/>
                </a:xfrm>
              </p:grpSpPr>
              <p:sp>
                <p:nvSpPr>
                  <p:cNvPr id="11409" name="Oval 421"/>
                  <p:cNvSpPr>
                    <a:spLocks noChangeArrowheads="1"/>
                  </p:cNvSpPr>
                  <p:nvPr/>
                </p:nvSpPr>
                <p:spPr bwMode="auto">
                  <a:xfrm rot="-7200000">
                    <a:off x="4064" y="2401"/>
                    <a:ext cx="10" cy="12"/>
                  </a:xfrm>
                  <a:prstGeom prst="ellipse">
                    <a:avLst/>
                  </a:prstGeom>
                  <a:solidFill>
                    <a:schemeClr val="bg2"/>
                  </a:solidFill>
                  <a:ln w="50799">
                    <a:solidFill>
                      <a:schemeClr val="accent1"/>
                    </a:solidFill>
                    <a:round/>
                  </a:ln>
                </p:spPr>
                <p:txBody>
                  <a:bodyPr wrap="none" lIns="98624" tIns="49313" rIns="98624" bIns="49313">
                    <a:spAutoFit/>
                  </a:bodyPr>
                  <a:lstStyle/>
                  <a:p>
                    <a:endParaRPr lang="zh-CN" altLang="en-US"/>
                  </a:p>
                </p:txBody>
              </p:sp>
              <p:sp>
                <p:nvSpPr>
                  <p:cNvPr id="11410" name="Oval 422"/>
                  <p:cNvSpPr>
                    <a:spLocks noChangeArrowheads="1"/>
                  </p:cNvSpPr>
                  <p:nvPr/>
                </p:nvSpPr>
                <p:spPr bwMode="auto">
                  <a:xfrm rot="-7200000">
                    <a:off x="4049" y="2383"/>
                    <a:ext cx="9" cy="11"/>
                  </a:xfrm>
                  <a:prstGeom prst="ellipse">
                    <a:avLst/>
                  </a:prstGeom>
                  <a:solidFill>
                    <a:schemeClr val="bg2"/>
                  </a:solidFill>
                  <a:ln w="50799">
                    <a:solidFill>
                      <a:schemeClr val="accent1"/>
                    </a:solidFill>
                    <a:round/>
                  </a:ln>
                </p:spPr>
                <p:txBody>
                  <a:bodyPr wrap="none" lIns="98624" tIns="49313" rIns="98624" bIns="49313">
                    <a:spAutoFit/>
                  </a:bodyPr>
                  <a:lstStyle/>
                  <a:p>
                    <a:endParaRPr lang="zh-CN" altLang="en-US"/>
                  </a:p>
                </p:txBody>
              </p:sp>
            </p:grpSp>
            <p:grpSp>
              <p:nvGrpSpPr>
                <p:cNvPr id="250295" name="Group 423"/>
                <p:cNvGrpSpPr/>
                <p:nvPr/>
              </p:nvGrpSpPr>
              <p:grpSpPr bwMode="auto">
                <a:xfrm>
                  <a:off x="4247" y="2303"/>
                  <a:ext cx="27" cy="31"/>
                  <a:chOff x="4247" y="2303"/>
                  <a:chExt cx="27" cy="31"/>
                </a:xfrm>
              </p:grpSpPr>
              <p:sp>
                <p:nvSpPr>
                  <p:cNvPr id="11407" name="Oval 424"/>
                  <p:cNvSpPr>
                    <a:spLocks noChangeArrowheads="1"/>
                  </p:cNvSpPr>
                  <p:nvPr/>
                </p:nvSpPr>
                <p:spPr bwMode="auto">
                  <a:xfrm rot="-7200000">
                    <a:off x="4263" y="2323"/>
                    <a:ext cx="11" cy="11"/>
                  </a:xfrm>
                  <a:prstGeom prst="ellipse">
                    <a:avLst/>
                  </a:prstGeom>
                  <a:solidFill>
                    <a:schemeClr val="bg2"/>
                  </a:solidFill>
                  <a:ln w="50799">
                    <a:solidFill>
                      <a:schemeClr val="accent1"/>
                    </a:solidFill>
                    <a:round/>
                  </a:ln>
                </p:spPr>
                <p:txBody>
                  <a:bodyPr wrap="none" lIns="98624" tIns="49313" rIns="98624" bIns="49313">
                    <a:spAutoFit/>
                  </a:bodyPr>
                  <a:lstStyle/>
                  <a:p>
                    <a:endParaRPr lang="zh-CN" altLang="en-US"/>
                  </a:p>
                </p:txBody>
              </p:sp>
              <p:sp>
                <p:nvSpPr>
                  <p:cNvPr id="11408" name="Oval 425"/>
                  <p:cNvSpPr>
                    <a:spLocks noChangeArrowheads="1"/>
                  </p:cNvSpPr>
                  <p:nvPr/>
                </p:nvSpPr>
                <p:spPr bwMode="auto">
                  <a:xfrm rot="-7200000">
                    <a:off x="4247" y="2303"/>
                    <a:ext cx="11" cy="11"/>
                  </a:xfrm>
                  <a:prstGeom prst="ellipse">
                    <a:avLst/>
                  </a:prstGeom>
                  <a:solidFill>
                    <a:schemeClr val="bg2"/>
                  </a:solidFill>
                  <a:ln w="50799">
                    <a:solidFill>
                      <a:schemeClr val="accent1"/>
                    </a:solidFill>
                    <a:round/>
                  </a:ln>
                </p:spPr>
                <p:txBody>
                  <a:bodyPr wrap="none" lIns="98624" tIns="49313" rIns="98624" bIns="49313">
                    <a:spAutoFit/>
                  </a:bodyPr>
                  <a:lstStyle/>
                  <a:p>
                    <a:endParaRPr lang="zh-CN" altLang="en-US"/>
                  </a:p>
                </p:txBody>
              </p:sp>
            </p:grpSp>
            <p:sp>
              <p:nvSpPr>
                <p:cNvPr id="11391" name="Line 426"/>
                <p:cNvSpPr>
                  <a:spLocks noChangeShapeType="1"/>
                </p:cNvSpPr>
                <p:nvPr/>
              </p:nvSpPr>
              <p:spPr bwMode="auto">
                <a:xfrm flipH="1">
                  <a:off x="4058" y="2309"/>
                  <a:ext cx="197" cy="79"/>
                </a:xfrm>
                <a:prstGeom prst="line">
                  <a:avLst/>
                </a:prstGeom>
                <a:noFill/>
                <a:ln w="50799">
                  <a:solidFill>
                    <a:schemeClr val="accent1"/>
                  </a:solidFill>
                  <a:round/>
                  <a:headEnd type="none" w="sm" len="sm"/>
                  <a:tailEnd type="none" w="sm" len="sm"/>
                </a:ln>
              </p:spPr>
              <p:txBody>
                <a:bodyPr wrap="none" lIns="98624" tIns="49313" rIns="98624" bIns="49313">
                  <a:spAutoFit/>
                </a:bodyPr>
                <a:lstStyle/>
                <a:p>
                  <a:endParaRPr lang="zh-CN" altLang="en-US"/>
                </a:p>
              </p:txBody>
            </p:sp>
            <p:sp>
              <p:nvSpPr>
                <p:cNvPr id="11392" name="Oval 427"/>
                <p:cNvSpPr>
                  <a:spLocks noChangeArrowheads="1"/>
                </p:cNvSpPr>
                <p:nvPr/>
              </p:nvSpPr>
              <p:spPr bwMode="auto">
                <a:xfrm rot="-3600000">
                  <a:off x="4049" y="2323"/>
                  <a:ext cx="9" cy="11"/>
                </a:xfrm>
                <a:prstGeom prst="ellipse">
                  <a:avLst/>
                </a:prstGeom>
                <a:solidFill>
                  <a:schemeClr val="bg2"/>
                </a:solidFill>
                <a:ln w="50799">
                  <a:solidFill>
                    <a:schemeClr val="accent1"/>
                  </a:solidFill>
                  <a:round/>
                </a:ln>
              </p:spPr>
              <p:txBody>
                <a:bodyPr wrap="none" lIns="98624" tIns="49313" rIns="98624" bIns="49313">
                  <a:spAutoFit/>
                </a:bodyPr>
                <a:lstStyle/>
                <a:p>
                  <a:endParaRPr lang="zh-CN" altLang="en-US"/>
                </a:p>
              </p:txBody>
            </p:sp>
            <p:sp>
              <p:nvSpPr>
                <p:cNvPr id="11393" name="Oval 428"/>
                <p:cNvSpPr>
                  <a:spLocks noChangeArrowheads="1"/>
                </p:cNvSpPr>
                <p:nvPr/>
              </p:nvSpPr>
              <p:spPr bwMode="auto">
                <a:xfrm rot="-3600000">
                  <a:off x="4064" y="2303"/>
                  <a:ext cx="10" cy="11"/>
                </a:xfrm>
                <a:prstGeom prst="ellipse">
                  <a:avLst/>
                </a:prstGeom>
                <a:solidFill>
                  <a:schemeClr val="bg2"/>
                </a:solidFill>
                <a:ln w="50799">
                  <a:solidFill>
                    <a:schemeClr val="accent1"/>
                  </a:solidFill>
                  <a:round/>
                </a:ln>
              </p:spPr>
              <p:txBody>
                <a:bodyPr wrap="none" lIns="98624" tIns="49313" rIns="98624" bIns="49313">
                  <a:spAutoFit/>
                </a:bodyPr>
                <a:lstStyle/>
                <a:p>
                  <a:endParaRPr lang="zh-CN" altLang="en-US"/>
                </a:p>
              </p:txBody>
            </p:sp>
            <p:sp>
              <p:nvSpPr>
                <p:cNvPr id="11394" name="Oval 429"/>
                <p:cNvSpPr>
                  <a:spLocks noChangeArrowheads="1"/>
                </p:cNvSpPr>
                <p:nvPr/>
              </p:nvSpPr>
              <p:spPr bwMode="auto">
                <a:xfrm rot="-3600000">
                  <a:off x="4247" y="2401"/>
                  <a:ext cx="11" cy="12"/>
                </a:xfrm>
                <a:prstGeom prst="ellipse">
                  <a:avLst/>
                </a:prstGeom>
                <a:solidFill>
                  <a:schemeClr val="bg2"/>
                </a:solidFill>
                <a:ln w="50799">
                  <a:solidFill>
                    <a:schemeClr val="accent1"/>
                  </a:solidFill>
                  <a:round/>
                </a:ln>
              </p:spPr>
              <p:txBody>
                <a:bodyPr wrap="none" lIns="98624" tIns="49313" rIns="98624" bIns="49313">
                  <a:spAutoFit/>
                </a:bodyPr>
                <a:lstStyle/>
                <a:p>
                  <a:endParaRPr lang="zh-CN" altLang="en-US"/>
                </a:p>
              </p:txBody>
            </p:sp>
            <p:sp>
              <p:nvSpPr>
                <p:cNvPr id="11395" name="Oval 430"/>
                <p:cNvSpPr>
                  <a:spLocks noChangeArrowheads="1"/>
                </p:cNvSpPr>
                <p:nvPr/>
              </p:nvSpPr>
              <p:spPr bwMode="auto">
                <a:xfrm rot="-3600000">
                  <a:off x="4263" y="2383"/>
                  <a:ext cx="11" cy="11"/>
                </a:xfrm>
                <a:prstGeom prst="ellipse">
                  <a:avLst/>
                </a:prstGeom>
                <a:solidFill>
                  <a:schemeClr val="bg2"/>
                </a:solidFill>
                <a:ln w="50799">
                  <a:solidFill>
                    <a:schemeClr val="accent1"/>
                  </a:solidFill>
                  <a:round/>
                </a:ln>
              </p:spPr>
              <p:txBody>
                <a:bodyPr wrap="none" lIns="98624" tIns="49313" rIns="98624" bIns="49313">
                  <a:spAutoFit/>
                </a:bodyPr>
                <a:lstStyle/>
                <a:p>
                  <a:endParaRPr lang="zh-CN" altLang="en-US"/>
                </a:p>
              </p:txBody>
            </p:sp>
            <p:sp>
              <p:nvSpPr>
                <p:cNvPr id="11396" name="Line 431"/>
                <p:cNvSpPr>
                  <a:spLocks noChangeShapeType="1"/>
                </p:cNvSpPr>
                <p:nvPr/>
              </p:nvSpPr>
              <p:spPr bwMode="auto">
                <a:xfrm flipH="1" flipV="1">
                  <a:off x="4058" y="2309"/>
                  <a:ext cx="197" cy="79"/>
                </a:xfrm>
                <a:prstGeom prst="line">
                  <a:avLst/>
                </a:prstGeom>
                <a:noFill/>
                <a:ln w="50799">
                  <a:solidFill>
                    <a:schemeClr val="accent1"/>
                  </a:solidFill>
                  <a:round/>
                  <a:headEnd type="none" w="sm" len="sm"/>
                  <a:tailEnd type="none" w="sm" len="sm"/>
                </a:ln>
              </p:spPr>
              <p:txBody>
                <a:bodyPr wrap="none" lIns="98624" tIns="49313" rIns="98624" bIns="49313">
                  <a:spAutoFit/>
                </a:bodyPr>
                <a:lstStyle/>
                <a:p>
                  <a:endParaRPr lang="zh-CN" altLang="en-US"/>
                </a:p>
              </p:txBody>
            </p:sp>
            <p:sp>
              <p:nvSpPr>
                <p:cNvPr id="11397" name="Oval 432"/>
                <p:cNvSpPr>
                  <a:spLocks noChangeArrowheads="1"/>
                </p:cNvSpPr>
                <p:nvPr/>
              </p:nvSpPr>
              <p:spPr bwMode="auto">
                <a:xfrm>
                  <a:off x="4110" y="2192"/>
                  <a:ext cx="93" cy="86"/>
                </a:xfrm>
                <a:prstGeom prst="ellipse">
                  <a:avLst/>
                </a:prstGeom>
                <a:solidFill>
                  <a:schemeClr val="bg2"/>
                </a:solidFill>
                <a:ln w="12699">
                  <a:solidFill>
                    <a:schemeClr val="accent1"/>
                  </a:solidFill>
                  <a:round/>
                </a:ln>
              </p:spPr>
              <p:txBody>
                <a:bodyPr wrap="none" lIns="98624" tIns="49313" rIns="98624" bIns="49313">
                  <a:spAutoFit/>
                </a:bodyPr>
                <a:lstStyle/>
                <a:p>
                  <a:endParaRPr lang="zh-CN" altLang="en-US"/>
                </a:p>
              </p:txBody>
            </p:sp>
            <p:sp>
              <p:nvSpPr>
                <p:cNvPr id="11398" name="Oval 433"/>
                <p:cNvSpPr>
                  <a:spLocks noChangeArrowheads="1"/>
                </p:cNvSpPr>
                <p:nvPr/>
              </p:nvSpPr>
              <p:spPr bwMode="auto">
                <a:xfrm>
                  <a:off x="4129" y="2247"/>
                  <a:ext cx="58" cy="69"/>
                </a:xfrm>
                <a:prstGeom prst="ellipse">
                  <a:avLst/>
                </a:prstGeom>
                <a:solidFill>
                  <a:schemeClr val="bg2"/>
                </a:solidFill>
                <a:ln w="12699">
                  <a:solidFill>
                    <a:schemeClr val="accent1"/>
                  </a:solidFill>
                  <a:round/>
                </a:ln>
              </p:spPr>
              <p:txBody>
                <a:bodyPr wrap="none" lIns="98624" tIns="49313" rIns="98624" bIns="49313">
                  <a:spAutoFit/>
                </a:bodyPr>
                <a:lstStyle/>
                <a:p>
                  <a:endParaRPr lang="zh-CN" altLang="en-US"/>
                </a:p>
              </p:txBody>
            </p:sp>
            <p:grpSp>
              <p:nvGrpSpPr>
                <p:cNvPr id="250296" name="Group 434"/>
                <p:cNvGrpSpPr/>
                <p:nvPr/>
              </p:nvGrpSpPr>
              <p:grpSpPr bwMode="auto">
                <a:xfrm>
                  <a:off x="4120" y="2221"/>
                  <a:ext cx="74" cy="80"/>
                  <a:chOff x="4120" y="2221"/>
                  <a:chExt cx="74" cy="80"/>
                </a:xfrm>
              </p:grpSpPr>
              <p:sp>
                <p:nvSpPr>
                  <p:cNvPr id="11400" name="Line 435"/>
                  <p:cNvSpPr>
                    <a:spLocks noChangeShapeType="1"/>
                  </p:cNvSpPr>
                  <p:nvPr/>
                </p:nvSpPr>
                <p:spPr bwMode="auto">
                  <a:xfrm flipV="1">
                    <a:off x="4133" y="2287"/>
                    <a:ext cx="47" cy="2"/>
                  </a:xfrm>
                  <a:prstGeom prst="line">
                    <a:avLst/>
                  </a:prstGeom>
                  <a:noFill/>
                  <a:ln w="12699">
                    <a:solidFill>
                      <a:schemeClr val="accent1"/>
                    </a:solidFill>
                    <a:round/>
                    <a:headEnd type="none" w="sm" len="sm"/>
                    <a:tailEnd type="none" w="sm" len="sm"/>
                  </a:ln>
                </p:spPr>
                <p:txBody>
                  <a:bodyPr wrap="none" lIns="98624" tIns="49313" rIns="98624" bIns="49313">
                    <a:spAutoFit/>
                  </a:bodyPr>
                  <a:lstStyle/>
                  <a:p>
                    <a:endParaRPr lang="zh-CN" altLang="en-US"/>
                  </a:p>
                </p:txBody>
              </p:sp>
              <p:grpSp>
                <p:nvGrpSpPr>
                  <p:cNvPr id="250297" name="Group 436"/>
                  <p:cNvGrpSpPr/>
                  <p:nvPr/>
                </p:nvGrpSpPr>
                <p:grpSpPr bwMode="auto">
                  <a:xfrm>
                    <a:off x="4120" y="2221"/>
                    <a:ext cx="74" cy="25"/>
                    <a:chOff x="4120" y="2221"/>
                    <a:chExt cx="74" cy="25"/>
                  </a:xfrm>
                </p:grpSpPr>
                <p:sp>
                  <p:nvSpPr>
                    <p:cNvPr id="11403" name="Line 437"/>
                    <p:cNvSpPr>
                      <a:spLocks noChangeShapeType="1"/>
                    </p:cNvSpPr>
                    <p:nvPr/>
                  </p:nvSpPr>
                  <p:spPr bwMode="auto">
                    <a:xfrm>
                      <a:off x="4120" y="2221"/>
                      <a:ext cx="29" cy="25"/>
                    </a:xfrm>
                    <a:prstGeom prst="line">
                      <a:avLst/>
                    </a:prstGeom>
                    <a:noFill/>
                    <a:ln w="12699">
                      <a:solidFill>
                        <a:schemeClr val="accent1"/>
                      </a:solidFill>
                      <a:round/>
                      <a:headEnd type="none" w="sm" len="sm"/>
                      <a:tailEnd type="none" w="sm" len="sm"/>
                    </a:ln>
                  </p:spPr>
                  <p:txBody>
                    <a:bodyPr wrap="none" lIns="98624" tIns="49313" rIns="98624" bIns="49313">
                      <a:spAutoFit/>
                    </a:bodyPr>
                    <a:lstStyle/>
                    <a:p>
                      <a:endParaRPr lang="zh-CN" altLang="en-US"/>
                    </a:p>
                  </p:txBody>
                </p:sp>
                <p:sp>
                  <p:nvSpPr>
                    <p:cNvPr id="11404" name="Line 438"/>
                    <p:cNvSpPr>
                      <a:spLocks noChangeShapeType="1"/>
                    </p:cNvSpPr>
                    <p:nvPr/>
                  </p:nvSpPr>
                  <p:spPr bwMode="auto">
                    <a:xfrm flipV="1">
                      <a:off x="4120" y="2221"/>
                      <a:ext cx="29" cy="25"/>
                    </a:xfrm>
                    <a:prstGeom prst="line">
                      <a:avLst/>
                    </a:prstGeom>
                    <a:noFill/>
                    <a:ln w="12699">
                      <a:solidFill>
                        <a:schemeClr val="accent1"/>
                      </a:solidFill>
                      <a:round/>
                      <a:headEnd type="none" w="sm" len="sm"/>
                      <a:tailEnd type="none" w="sm" len="sm"/>
                    </a:ln>
                  </p:spPr>
                  <p:txBody>
                    <a:bodyPr wrap="none" lIns="98624" tIns="49313" rIns="98624" bIns="49313">
                      <a:spAutoFit/>
                    </a:bodyPr>
                    <a:lstStyle/>
                    <a:p>
                      <a:endParaRPr lang="zh-CN" altLang="en-US"/>
                    </a:p>
                  </p:txBody>
                </p:sp>
                <p:sp>
                  <p:nvSpPr>
                    <p:cNvPr id="11405" name="Line 439"/>
                    <p:cNvSpPr>
                      <a:spLocks noChangeShapeType="1"/>
                    </p:cNvSpPr>
                    <p:nvPr/>
                  </p:nvSpPr>
                  <p:spPr bwMode="auto">
                    <a:xfrm>
                      <a:off x="4165" y="2221"/>
                      <a:ext cx="29" cy="25"/>
                    </a:xfrm>
                    <a:prstGeom prst="line">
                      <a:avLst/>
                    </a:prstGeom>
                    <a:noFill/>
                    <a:ln w="12699">
                      <a:solidFill>
                        <a:schemeClr val="accent1"/>
                      </a:solidFill>
                      <a:round/>
                      <a:headEnd type="none" w="sm" len="sm"/>
                      <a:tailEnd type="none" w="sm" len="sm"/>
                    </a:ln>
                  </p:spPr>
                  <p:txBody>
                    <a:bodyPr wrap="none" lIns="98624" tIns="49313" rIns="98624" bIns="49313">
                      <a:spAutoFit/>
                    </a:bodyPr>
                    <a:lstStyle/>
                    <a:p>
                      <a:endParaRPr lang="zh-CN" altLang="en-US"/>
                    </a:p>
                  </p:txBody>
                </p:sp>
                <p:sp>
                  <p:nvSpPr>
                    <p:cNvPr id="11406" name="Line 440"/>
                    <p:cNvSpPr>
                      <a:spLocks noChangeShapeType="1"/>
                    </p:cNvSpPr>
                    <p:nvPr/>
                  </p:nvSpPr>
                  <p:spPr bwMode="auto">
                    <a:xfrm flipV="1">
                      <a:off x="4165" y="2221"/>
                      <a:ext cx="29" cy="25"/>
                    </a:xfrm>
                    <a:prstGeom prst="line">
                      <a:avLst/>
                    </a:prstGeom>
                    <a:noFill/>
                    <a:ln w="12699">
                      <a:solidFill>
                        <a:schemeClr val="accent1"/>
                      </a:solidFill>
                      <a:round/>
                      <a:headEnd type="none" w="sm" len="sm"/>
                      <a:tailEnd type="none" w="sm" len="sm"/>
                    </a:ln>
                  </p:spPr>
                  <p:txBody>
                    <a:bodyPr wrap="none" lIns="98624" tIns="49313" rIns="98624" bIns="49313">
                      <a:spAutoFit/>
                    </a:bodyPr>
                    <a:lstStyle/>
                    <a:p>
                      <a:endParaRPr lang="zh-CN" altLang="en-US"/>
                    </a:p>
                  </p:txBody>
                </p:sp>
              </p:grpSp>
              <p:sp>
                <p:nvSpPr>
                  <p:cNvPr id="11402" name="Line 441"/>
                  <p:cNvSpPr>
                    <a:spLocks noChangeShapeType="1"/>
                  </p:cNvSpPr>
                  <p:nvPr/>
                </p:nvSpPr>
                <p:spPr bwMode="auto">
                  <a:xfrm>
                    <a:off x="4159" y="2279"/>
                    <a:ext cx="0" cy="22"/>
                  </a:xfrm>
                  <a:prstGeom prst="line">
                    <a:avLst/>
                  </a:prstGeom>
                  <a:noFill/>
                  <a:ln w="12699">
                    <a:solidFill>
                      <a:schemeClr val="accent1"/>
                    </a:solidFill>
                    <a:round/>
                    <a:headEnd type="none" w="sm" len="sm"/>
                    <a:tailEnd type="none" w="sm" len="sm"/>
                  </a:ln>
                </p:spPr>
                <p:txBody>
                  <a:bodyPr wrap="none" lIns="98624" tIns="49313" rIns="98624" bIns="49313">
                    <a:spAutoFit/>
                  </a:bodyPr>
                  <a:lstStyle/>
                  <a:p>
                    <a:endParaRPr lang="zh-CN" altLang="en-US"/>
                  </a:p>
                </p:txBody>
              </p:sp>
            </p:grpSp>
          </p:grpSp>
        </p:grpSp>
        <p:sp>
          <p:nvSpPr>
            <p:cNvPr id="250298" name="Rectangle 442"/>
            <p:cNvSpPr>
              <a:spLocks noChangeArrowheads="1"/>
            </p:cNvSpPr>
            <p:nvPr/>
          </p:nvSpPr>
          <p:spPr bwMode="auto">
            <a:xfrm>
              <a:off x="3754" y="2816"/>
              <a:ext cx="884" cy="322"/>
            </a:xfrm>
            <a:prstGeom prst="rect">
              <a:avLst/>
            </a:prstGeom>
            <a:solidFill>
              <a:srgbClr val="FFFF00"/>
            </a:solidFill>
            <a:ln w="9525">
              <a:noFill/>
              <a:miter lim="800000"/>
            </a:ln>
            <a:effectLst/>
          </p:spPr>
          <p:txBody>
            <a:bodyPr wrap="none" lIns="98624" tIns="49313" rIns="98624" bIns="49313">
              <a:spAutoFit/>
            </a:bodyPr>
            <a:lstStyle/>
            <a:p>
              <a:pPr defTabSz="979805" eaLnBrk="0" hangingPunct="0">
                <a:defRPr/>
              </a:pPr>
              <a:r>
                <a:rPr kumimoji="1" lang="zh-CN" altLang="en-US" sz="2700" b="1" i="1">
                  <a:effectLst>
                    <a:outerShdw blurRad="38100" dist="38100" dir="2700000" algn="tl">
                      <a:srgbClr val="FFFFFF"/>
                    </a:outerShdw>
                  </a:effectLst>
                  <a:latin typeface="+mn-ea"/>
                  <a:ea typeface="+mn-ea"/>
                </a:rPr>
                <a:t>外部攻击</a:t>
              </a:r>
            </a:p>
          </p:txBody>
        </p:sp>
      </p:grpSp>
      <p:grpSp>
        <p:nvGrpSpPr>
          <p:cNvPr id="250299" name="Group 443"/>
          <p:cNvGrpSpPr/>
          <p:nvPr/>
        </p:nvGrpSpPr>
        <p:grpSpPr bwMode="auto">
          <a:xfrm>
            <a:off x="5618163" y="3629695"/>
            <a:ext cx="2447925" cy="2555875"/>
            <a:chOff x="2992" y="2322"/>
            <a:chExt cx="1372" cy="1610"/>
          </a:xfrm>
        </p:grpSpPr>
        <p:grpSp>
          <p:nvGrpSpPr>
            <p:cNvPr id="250300" name="Group 444"/>
            <p:cNvGrpSpPr/>
            <p:nvPr/>
          </p:nvGrpSpPr>
          <p:grpSpPr bwMode="auto">
            <a:xfrm>
              <a:off x="3678" y="2322"/>
              <a:ext cx="365" cy="325"/>
              <a:chOff x="3678" y="2322"/>
              <a:chExt cx="365" cy="325"/>
            </a:xfrm>
          </p:grpSpPr>
          <p:sp>
            <p:nvSpPr>
              <p:cNvPr id="11382" name="Freeform 445"/>
              <p:cNvSpPr/>
              <p:nvPr/>
            </p:nvSpPr>
            <p:spPr bwMode="auto">
              <a:xfrm>
                <a:off x="3678" y="2322"/>
                <a:ext cx="365" cy="325"/>
              </a:xfrm>
              <a:custGeom>
                <a:avLst/>
                <a:gdLst>
                  <a:gd name="T0" fmla="*/ 200 w 365"/>
                  <a:gd name="T1" fmla="*/ 322 h 325"/>
                  <a:gd name="T2" fmla="*/ 227 w 365"/>
                  <a:gd name="T3" fmla="*/ 318 h 325"/>
                  <a:gd name="T4" fmla="*/ 252 w 365"/>
                  <a:gd name="T5" fmla="*/ 311 h 325"/>
                  <a:gd name="T6" fmla="*/ 276 w 365"/>
                  <a:gd name="T7" fmla="*/ 300 h 325"/>
                  <a:gd name="T8" fmla="*/ 297 w 365"/>
                  <a:gd name="T9" fmla="*/ 287 h 325"/>
                  <a:gd name="T10" fmla="*/ 316 w 365"/>
                  <a:gd name="T11" fmla="*/ 270 h 325"/>
                  <a:gd name="T12" fmla="*/ 332 w 365"/>
                  <a:gd name="T13" fmla="*/ 252 h 325"/>
                  <a:gd name="T14" fmla="*/ 345 w 365"/>
                  <a:gd name="T15" fmla="*/ 232 h 325"/>
                  <a:gd name="T16" fmla="*/ 355 w 365"/>
                  <a:gd name="T17" fmla="*/ 209 h 325"/>
                  <a:gd name="T18" fmla="*/ 361 w 365"/>
                  <a:gd name="T19" fmla="*/ 186 h 325"/>
                  <a:gd name="T20" fmla="*/ 364 w 365"/>
                  <a:gd name="T21" fmla="*/ 161 h 325"/>
                  <a:gd name="T22" fmla="*/ 361 w 365"/>
                  <a:gd name="T23" fmla="*/ 137 h 325"/>
                  <a:gd name="T24" fmla="*/ 355 w 365"/>
                  <a:gd name="T25" fmla="*/ 113 h 325"/>
                  <a:gd name="T26" fmla="*/ 345 w 365"/>
                  <a:gd name="T27" fmla="*/ 91 h 325"/>
                  <a:gd name="T28" fmla="*/ 332 w 365"/>
                  <a:gd name="T29" fmla="*/ 71 h 325"/>
                  <a:gd name="T30" fmla="*/ 316 w 365"/>
                  <a:gd name="T31" fmla="*/ 52 h 325"/>
                  <a:gd name="T32" fmla="*/ 297 w 365"/>
                  <a:gd name="T33" fmla="*/ 36 h 325"/>
                  <a:gd name="T34" fmla="*/ 276 w 365"/>
                  <a:gd name="T35" fmla="*/ 23 h 325"/>
                  <a:gd name="T36" fmla="*/ 252 w 365"/>
                  <a:gd name="T37" fmla="*/ 12 h 325"/>
                  <a:gd name="T38" fmla="*/ 227 w 365"/>
                  <a:gd name="T39" fmla="*/ 5 h 325"/>
                  <a:gd name="T40" fmla="*/ 200 w 365"/>
                  <a:gd name="T41" fmla="*/ 0 h 325"/>
                  <a:gd name="T42" fmla="*/ 172 w 365"/>
                  <a:gd name="T43" fmla="*/ 0 h 325"/>
                  <a:gd name="T44" fmla="*/ 145 w 365"/>
                  <a:gd name="T45" fmla="*/ 3 h 325"/>
                  <a:gd name="T46" fmla="*/ 119 w 365"/>
                  <a:gd name="T47" fmla="*/ 9 h 325"/>
                  <a:gd name="T48" fmla="*/ 94 w 365"/>
                  <a:gd name="T49" fmla="*/ 19 h 325"/>
                  <a:gd name="T50" fmla="*/ 73 w 365"/>
                  <a:gd name="T51" fmla="*/ 32 h 325"/>
                  <a:gd name="T52" fmla="*/ 53 w 365"/>
                  <a:gd name="T53" fmla="*/ 47 h 325"/>
                  <a:gd name="T54" fmla="*/ 36 w 365"/>
                  <a:gd name="T55" fmla="*/ 65 h 325"/>
                  <a:gd name="T56" fmla="*/ 21 w 365"/>
                  <a:gd name="T57" fmla="*/ 84 h 325"/>
                  <a:gd name="T58" fmla="*/ 10 w 365"/>
                  <a:gd name="T59" fmla="*/ 106 h 325"/>
                  <a:gd name="T60" fmla="*/ 3 w 365"/>
                  <a:gd name="T61" fmla="*/ 129 h 325"/>
                  <a:gd name="T62" fmla="*/ 0 w 365"/>
                  <a:gd name="T63" fmla="*/ 153 h 325"/>
                  <a:gd name="T64" fmla="*/ 0 w 365"/>
                  <a:gd name="T65" fmla="*/ 178 h 325"/>
                  <a:gd name="T66" fmla="*/ 5 w 365"/>
                  <a:gd name="T67" fmla="*/ 202 h 325"/>
                  <a:gd name="T68" fmla="*/ 14 w 365"/>
                  <a:gd name="T69" fmla="*/ 225 h 325"/>
                  <a:gd name="T70" fmla="*/ 26 w 365"/>
                  <a:gd name="T71" fmla="*/ 245 h 325"/>
                  <a:gd name="T72" fmla="*/ 41 w 365"/>
                  <a:gd name="T73" fmla="*/ 264 h 325"/>
                  <a:gd name="T74" fmla="*/ 59 w 365"/>
                  <a:gd name="T75" fmla="*/ 281 h 325"/>
                  <a:gd name="T76" fmla="*/ 80 w 365"/>
                  <a:gd name="T77" fmla="*/ 296 h 325"/>
                  <a:gd name="T78" fmla="*/ 102 w 365"/>
                  <a:gd name="T79" fmla="*/ 307 h 325"/>
                  <a:gd name="T80" fmla="*/ 127 w 365"/>
                  <a:gd name="T81" fmla="*/ 316 h 325"/>
                  <a:gd name="T82" fmla="*/ 154 w 365"/>
                  <a:gd name="T83" fmla="*/ 322 h 325"/>
                  <a:gd name="T84" fmla="*/ 181 w 365"/>
                  <a:gd name="T85" fmla="*/ 324 h 32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65"/>
                  <a:gd name="T130" fmla="*/ 0 h 325"/>
                  <a:gd name="T131" fmla="*/ 365 w 365"/>
                  <a:gd name="T132" fmla="*/ 325 h 32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65" h="325">
                    <a:moveTo>
                      <a:pt x="181" y="324"/>
                    </a:moveTo>
                    <a:lnTo>
                      <a:pt x="191" y="323"/>
                    </a:lnTo>
                    <a:lnTo>
                      <a:pt x="200" y="322"/>
                    </a:lnTo>
                    <a:lnTo>
                      <a:pt x="209" y="322"/>
                    </a:lnTo>
                    <a:lnTo>
                      <a:pt x="218" y="320"/>
                    </a:lnTo>
                    <a:lnTo>
                      <a:pt x="227" y="318"/>
                    </a:lnTo>
                    <a:lnTo>
                      <a:pt x="235" y="316"/>
                    </a:lnTo>
                    <a:lnTo>
                      <a:pt x="244" y="314"/>
                    </a:lnTo>
                    <a:lnTo>
                      <a:pt x="252" y="311"/>
                    </a:lnTo>
                    <a:lnTo>
                      <a:pt x="260" y="307"/>
                    </a:lnTo>
                    <a:lnTo>
                      <a:pt x="268" y="304"/>
                    </a:lnTo>
                    <a:lnTo>
                      <a:pt x="276" y="300"/>
                    </a:lnTo>
                    <a:lnTo>
                      <a:pt x="283" y="296"/>
                    </a:lnTo>
                    <a:lnTo>
                      <a:pt x="290" y="291"/>
                    </a:lnTo>
                    <a:lnTo>
                      <a:pt x="297" y="287"/>
                    </a:lnTo>
                    <a:lnTo>
                      <a:pt x="304" y="281"/>
                    </a:lnTo>
                    <a:lnTo>
                      <a:pt x="310" y="276"/>
                    </a:lnTo>
                    <a:lnTo>
                      <a:pt x="316" y="270"/>
                    </a:lnTo>
                    <a:lnTo>
                      <a:pt x="322" y="264"/>
                    </a:lnTo>
                    <a:lnTo>
                      <a:pt x="327" y="258"/>
                    </a:lnTo>
                    <a:lnTo>
                      <a:pt x="332" y="252"/>
                    </a:lnTo>
                    <a:lnTo>
                      <a:pt x="337" y="245"/>
                    </a:lnTo>
                    <a:lnTo>
                      <a:pt x="341" y="239"/>
                    </a:lnTo>
                    <a:lnTo>
                      <a:pt x="345" y="232"/>
                    </a:lnTo>
                    <a:lnTo>
                      <a:pt x="349" y="225"/>
                    </a:lnTo>
                    <a:lnTo>
                      <a:pt x="353" y="217"/>
                    </a:lnTo>
                    <a:lnTo>
                      <a:pt x="355" y="209"/>
                    </a:lnTo>
                    <a:lnTo>
                      <a:pt x="358" y="202"/>
                    </a:lnTo>
                    <a:lnTo>
                      <a:pt x="360" y="194"/>
                    </a:lnTo>
                    <a:lnTo>
                      <a:pt x="361" y="186"/>
                    </a:lnTo>
                    <a:lnTo>
                      <a:pt x="362" y="178"/>
                    </a:lnTo>
                    <a:lnTo>
                      <a:pt x="363" y="170"/>
                    </a:lnTo>
                    <a:lnTo>
                      <a:pt x="364" y="161"/>
                    </a:lnTo>
                    <a:lnTo>
                      <a:pt x="363" y="153"/>
                    </a:lnTo>
                    <a:lnTo>
                      <a:pt x="362" y="145"/>
                    </a:lnTo>
                    <a:lnTo>
                      <a:pt x="361" y="137"/>
                    </a:lnTo>
                    <a:lnTo>
                      <a:pt x="360" y="129"/>
                    </a:lnTo>
                    <a:lnTo>
                      <a:pt x="358" y="121"/>
                    </a:lnTo>
                    <a:lnTo>
                      <a:pt x="355" y="113"/>
                    </a:lnTo>
                    <a:lnTo>
                      <a:pt x="353" y="106"/>
                    </a:lnTo>
                    <a:lnTo>
                      <a:pt x="349" y="98"/>
                    </a:lnTo>
                    <a:lnTo>
                      <a:pt x="345" y="91"/>
                    </a:lnTo>
                    <a:lnTo>
                      <a:pt x="341" y="84"/>
                    </a:lnTo>
                    <a:lnTo>
                      <a:pt x="337" y="77"/>
                    </a:lnTo>
                    <a:lnTo>
                      <a:pt x="332" y="71"/>
                    </a:lnTo>
                    <a:lnTo>
                      <a:pt x="327" y="65"/>
                    </a:lnTo>
                    <a:lnTo>
                      <a:pt x="322" y="58"/>
                    </a:lnTo>
                    <a:lnTo>
                      <a:pt x="316" y="52"/>
                    </a:lnTo>
                    <a:lnTo>
                      <a:pt x="310" y="47"/>
                    </a:lnTo>
                    <a:lnTo>
                      <a:pt x="304" y="42"/>
                    </a:lnTo>
                    <a:lnTo>
                      <a:pt x="297" y="36"/>
                    </a:lnTo>
                    <a:lnTo>
                      <a:pt x="290" y="32"/>
                    </a:lnTo>
                    <a:lnTo>
                      <a:pt x="283" y="27"/>
                    </a:lnTo>
                    <a:lnTo>
                      <a:pt x="276" y="23"/>
                    </a:lnTo>
                    <a:lnTo>
                      <a:pt x="268" y="19"/>
                    </a:lnTo>
                    <a:lnTo>
                      <a:pt x="260" y="15"/>
                    </a:lnTo>
                    <a:lnTo>
                      <a:pt x="252" y="12"/>
                    </a:lnTo>
                    <a:lnTo>
                      <a:pt x="244" y="9"/>
                    </a:lnTo>
                    <a:lnTo>
                      <a:pt x="235" y="7"/>
                    </a:lnTo>
                    <a:lnTo>
                      <a:pt x="227" y="5"/>
                    </a:lnTo>
                    <a:lnTo>
                      <a:pt x="218" y="3"/>
                    </a:lnTo>
                    <a:lnTo>
                      <a:pt x="209" y="1"/>
                    </a:lnTo>
                    <a:lnTo>
                      <a:pt x="200" y="0"/>
                    </a:lnTo>
                    <a:lnTo>
                      <a:pt x="191" y="0"/>
                    </a:lnTo>
                    <a:lnTo>
                      <a:pt x="181" y="0"/>
                    </a:lnTo>
                    <a:lnTo>
                      <a:pt x="172" y="0"/>
                    </a:lnTo>
                    <a:lnTo>
                      <a:pt x="163" y="0"/>
                    </a:lnTo>
                    <a:lnTo>
                      <a:pt x="154" y="1"/>
                    </a:lnTo>
                    <a:lnTo>
                      <a:pt x="145" y="3"/>
                    </a:lnTo>
                    <a:lnTo>
                      <a:pt x="136" y="5"/>
                    </a:lnTo>
                    <a:lnTo>
                      <a:pt x="127" y="7"/>
                    </a:lnTo>
                    <a:lnTo>
                      <a:pt x="119" y="9"/>
                    </a:lnTo>
                    <a:lnTo>
                      <a:pt x="111" y="12"/>
                    </a:lnTo>
                    <a:lnTo>
                      <a:pt x="102" y="15"/>
                    </a:lnTo>
                    <a:lnTo>
                      <a:pt x="94" y="19"/>
                    </a:lnTo>
                    <a:lnTo>
                      <a:pt x="87" y="23"/>
                    </a:lnTo>
                    <a:lnTo>
                      <a:pt x="80" y="27"/>
                    </a:lnTo>
                    <a:lnTo>
                      <a:pt x="73" y="32"/>
                    </a:lnTo>
                    <a:lnTo>
                      <a:pt x="66" y="36"/>
                    </a:lnTo>
                    <a:lnTo>
                      <a:pt x="59" y="42"/>
                    </a:lnTo>
                    <a:lnTo>
                      <a:pt x="53" y="47"/>
                    </a:lnTo>
                    <a:lnTo>
                      <a:pt x="47" y="52"/>
                    </a:lnTo>
                    <a:lnTo>
                      <a:pt x="41" y="58"/>
                    </a:lnTo>
                    <a:lnTo>
                      <a:pt x="36" y="65"/>
                    </a:lnTo>
                    <a:lnTo>
                      <a:pt x="31" y="71"/>
                    </a:lnTo>
                    <a:lnTo>
                      <a:pt x="26" y="77"/>
                    </a:lnTo>
                    <a:lnTo>
                      <a:pt x="21" y="84"/>
                    </a:lnTo>
                    <a:lnTo>
                      <a:pt x="17" y="91"/>
                    </a:lnTo>
                    <a:lnTo>
                      <a:pt x="14" y="98"/>
                    </a:lnTo>
                    <a:lnTo>
                      <a:pt x="10" y="106"/>
                    </a:lnTo>
                    <a:lnTo>
                      <a:pt x="8" y="113"/>
                    </a:lnTo>
                    <a:lnTo>
                      <a:pt x="5" y="121"/>
                    </a:lnTo>
                    <a:lnTo>
                      <a:pt x="3" y="129"/>
                    </a:lnTo>
                    <a:lnTo>
                      <a:pt x="2" y="137"/>
                    </a:lnTo>
                    <a:lnTo>
                      <a:pt x="0" y="145"/>
                    </a:lnTo>
                    <a:lnTo>
                      <a:pt x="0" y="153"/>
                    </a:lnTo>
                    <a:lnTo>
                      <a:pt x="0" y="161"/>
                    </a:lnTo>
                    <a:lnTo>
                      <a:pt x="0" y="170"/>
                    </a:lnTo>
                    <a:lnTo>
                      <a:pt x="0" y="178"/>
                    </a:lnTo>
                    <a:lnTo>
                      <a:pt x="2" y="186"/>
                    </a:lnTo>
                    <a:lnTo>
                      <a:pt x="3" y="194"/>
                    </a:lnTo>
                    <a:lnTo>
                      <a:pt x="5" y="202"/>
                    </a:lnTo>
                    <a:lnTo>
                      <a:pt x="8" y="209"/>
                    </a:lnTo>
                    <a:lnTo>
                      <a:pt x="10" y="217"/>
                    </a:lnTo>
                    <a:lnTo>
                      <a:pt x="14" y="225"/>
                    </a:lnTo>
                    <a:lnTo>
                      <a:pt x="17" y="232"/>
                    </a:lnTo>
                    <a:lnTo>
                      <a:pt x="21" y="239"/>
                    </a:lnTo>
                    <a:lnTo>
                      <a:pt x="26" y="245"/>
                    </a:lnTo>
                    <a:lnTo>
                      <a:pt x="31" y="252"/>
                    </a:lnTo>
                    <a:lnTo>
                      <a:pt x="36" y="258"/>
                    </a:lnTo>
                    <a:lnTo>
                      <a:pt x="41" y="264"/>
                    </a:lnTo>
                    <a:lnTo>
                      <a:pt x="47" y="270"/>
                    </a:lnTo>
                    <a:lnTo>
                      <a:pt x="53" y="276"/>
                    </a:lnTo>
                    <a:lnTo>
                      <a:pt x="59" y="281"/>
                    </a:lnTo>
                    <a:lnTo>
                      <a:pt x="66" y="287"/>
                    </a:lnTo>
                    <a:lnTo>
                      <a:pt x="73" y="291"/>
                    </a:lnTo>
                    <a:lnTo>
                      <a:pt x="80" y="296"/>
                    </a:lnTo>
                    <a:lnTo>
                      <a:pt x="87" y="300"/>
                    </a:lnTo>
                    <a:lnTo>
                      <a:pt x="94" y="304"/>
                    </a:lnTo>
                    <a:lnTo>
                      <a:pt x="102" y="307"/>
                    </a:lnTo>
                    <a:lnTo>
                      <a:pt x="111" y="311"/>
                    </a:lnTo>
                    <a:lnTo>
                      <a:pt x="119" y="314"/>
                    </a:lnTo>
                    <a:lnTo>
                      <a:pt x="127" y="316"/>
                    </a:lnTo>
                    <a:lnTo>
                      <a:pt x="136" y="318"/>
                    </a:lnTo>
                    <a:lnTo>
                      <a:pt x="145" y="320"/>
                    </a:lnTo>
                    <a:lnTo>
                      <a:pt x="154" y="322"/>
                    </a:lnTo>
                    <a:lnTo>
                      <a:pt x="163" y="322"/>
                    </a:lnTo>
                    <a:lnTo>
                      <a:pt x="172" y="323"/>
                    </a:lnTo>
                    <a:lnTo>
                      <a:pt x="181" y="324"/>
                    </a:lnTo>
                    <a:lnTo>
                      <a:pt x="181" y="323"/>
                    </a:lnTo>
                    <a:lnTo>
                      <a:pt x="181" y="324"/>
                    </a:lnTo>
                  </a:path>
                </a:pathLst>
              </a:custGeom>
              <a:solidFill>
                <a:srgbClr val="CC0000"/>
              </a:solidFill>
              <a:ln w="9525" cap="rnd">
                <a:noFill/>
                <a:round/>
              </a:ln>
            </p:spPr>
            <p:txBody>
              <a:bodyPr wrap="none" lIns="98624" tIns="49313" rIns="98624" bIns="49313" anchor="ctr"/>
              <a:lstStyle/>
              <a:p>
                <a:endParaRPr lang="zh-CN" altLang="en-US"/>
              </a:p>
            </p:txBody>
          </p:sp>
          <p:sp>
            <p:nvSpPr>
              <p:cNvPr id="11383" name="Freeform 446"/>
              <p:cNvSpPr/>
              <p:nvPr/>
            </p:nvSpPr>
            <p:spPr bwMode="auto">
              <a:xfrm>
                <a:off x="3709" y="2350"/>
                <a:ext cx="305" cy="271"/>
              </a:xfrm>
              <a:custGeom>
                <a:avLst/>
                <a:gdLst>
                  <a:gd name="T0" fmla="*/ 167 w 305"/>
                  <a:gd name="T1" fmla="*/ 269 h 271"/>
                  <a:gd name="T2" fmla="*/ 190 w 305"/>
                  <a:gd name="T3" fmla="*/ 265 h 271"/>
                  <a:gd name="T4" fmla="*/ 211 w 305"/>
                  <a:gd name="T5" fmla="*/ 259 h 271"/>
                  <a:gd name="T6" fmla="*/ 230 w 305"/>
                  <a:gd name="T7" fmla="*/ 250 h 271"/>
                  <a:gd name="T8" fmla="*/ 248 w 305"/>
                  <a:gd name="T9" fmla="*/ 239 h 271"/>
                  <a:gd name="T10" fmla="*/ 264 w 305"/>
                  <a:gd name="T11" fmla="*/ 225 h 271"/>
                  <a:gd name="T12" fmla="*/ 277 w 305"/>
                  <a:gd name="T13" fmla="*/ 210 h 271"/>
                  <a:gd name="T14" fmla="*/ 288 w 305"/>
                  <a:gd name="T15" fmla="*/ 193 h 271"/>
                  <a:gd name="T16" fmla="*/ 296 w 305"/>
                  <a:gd name="T17" fmla="*/ 175 h 271"/>
                  <a:gd name="T18" fmla="*/ 302 w 305"/>
                  <a:gd name="T19" fmla="*/ 155 h 271"/>
                  <a:gd name="T20" fmla="*/ 304 w 305"/>
                  <a:gd name="T21" fmla="*/ 134 h 271"/>
                  <a:gd name="T22" fmla="*/ 302 w 305"/>
                  <a:gd name="T23" fmla="*/ 113 h 271"/>
                  <a:gd name="T24" fmla="*/ 296 w 305"/>
                  <a:gd name="T25" fmla="*/ 94 h 271"/>
                  <a:gd name="T26" fmla="*/ 288 w 305"/>
                  <a:gd name="T27" fmla="*/ 76 h 271"/>
                  <a:gd name="T28" fmla="*/ 277 w 305"/>
                  <a:gd name="T29" fmla="*/ 59 h 271"/>
                  <a:gd name="T30" fmla="*/ 264 w 305"/>
                  <a:gd name="T31" fmla="*/ 44 h 271"/>
                  <a:gd name="T32" fmla="*/ 248 w 305"/>
                  <a:gd name="T33" fmla="*/ 30 h 271"/>
                  <a:gd name="T34" fmla="*/ 230 w 305"/>
                  <a:gd name="T35" fmla="*/ 19 h 271"/>
                  <a:gd name="T36" fmla="*/ 211 w 305"/>
                  <a:gd name="T37" fmla="*/ 10 h 271"/>
                  <a:gd name="T38" fmla="*/ 190 w 305"/>
                  <a:gd name="T39" fmla="*/ 4 h 271"/>
                  <a:gd name="T40" fmla="*/ 167 w 305"/>
                  <a:gd name="T41" fmla="*/ 0 h 271"/>
                  <a:gd name="T42" fmla="*/ 144 w 305"/>
                  <a:gd name="T43" fmla="*/ 0 h 271"/>
                  <a:gd name="T44" fmla="*/ 121 w 305"/>
                  <a:gd name="T45" fmla="*/ 2 h 271"/>
                  <a:gd name="T46" fmla="*/ 99 w 305"/>
                  <a:gd name="T47" fmla="*/ 8 h 271"/>
                  <a:gd name="T48" fmla="*/ 79 w 305"/>
                  <a:gd name="T49" fmla="*/ 16 h 271"/>
                  <a:gd name="T50" fmla="*/ 61 w 305"/>
                  <a:gd name="T51" fmla="*/ 26 h 271"/>
                  <a:gd name="T52" fmla="*/ 44 w 305"/>
                  <a:gd name="T53" fmla="*/ 39 h 271"/>
                  <a:gd name="T54" fmla="*/ 30 w 305"/>
                  <a:gd name="T55" fmla="*/ 53 h 271"/>
                  <a:gd name="T56" fmla="*/ 18 w 305"/>
                  <a:gd name="T57" fmla="*/ 70 h 271"/>
                  <a:gd name="T58" fmla="*/ 9 w 305"/>
                  <a:gd name="T59" fmla="*/ 88 h 271"/>
                  <a:gd name="T60" fmla="*/ 3 w 305"/>
                  <a:gd name="T61" fmla="*/ 107 h 271"/>
                  <a:gd name="T62" fmla="*/ 0 w 305"/>
                  <a:gd name="T63" fmla="*/ 127 h 271"/>
                  <a:gd name="T64" fmla="*/ 0 w 305"/>
                  <a:gd name="T65" fmla="*/ 148 h 271"/>
                  <a:gd name="T66" fmla="*/ 5 w 305"/>
                  <a:gd name="T67" fmla="*/ 168 h 271"/>
                  <a:gd name="T68" fmla="*/ 12 w 305"/>
                  <a:gd name="T69" fmla="*/ 187 h 271"/>
                  <a:gd name="T70" fmla="*/ 22 w 305"/>
                  <a:gd name="T71" fmla="*/ 204 h 271"/>
                  <a:gd name="T72" fmla="*/ 35 w 305"/>
                  <a:gd name="T73" fmla="*/ 220 h 271"/>
                  <a:gd name="T74" fmla="*/ 49 w 305"/>
                  <a:gd name="T75" fmla="*/ 234 h 271"/>
                  <a:gd name="T76" fmla="*/ 67 w 305"/>
                  <a:gd name="T77" fmla="*/ 246 h 271"/>
                  <a:gd name="T78" fmla="*/ 86 w 305"/>
                  <a:gd name="T79" fmla="*/ 256 h 271"/>
                  <a:gd name="T80" fmla="*/ 106 w 305"/>
                  <a:gd name="T81" fmla="*/ 264 h 271"/>
                  <a:gd name="T82" fmla="*/ 128 w 305"/>
                  <a:gd name="T83" fmla="*/ 268 h 271"/>
                  <a:gd name="T84" fmla="*/ 152 w 305"/>
                  <a:gd name="T85" fmla="*/ 270 h 27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05"/>
                  <a:gd name="T130" fmla="*/ 0 h 271"/>
                  <a:gd name="T131" fmla="*/ 305 w 305"/>
                  <a:gd name="T132" fmla="*/ 271 h 27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05" h="271">
                    <a:moveTo>
                      <a:pt x="152" y="270"/>
                    </a:moveTo>
                    <a:lnTo>
                      <a:pt x="159" y="269"/>
                    </a:lnTo>
                    <a:lnTo>
                      <a:pt x="167" y="269"/>
                    </a:lnTo>
                    <a:lnTo>
                      <a:pt x="175" y="268"/>
                    </a:lnTo>
                    <a:lnTo>
                      <a:pt x="182" y="267"/>
                    </a:lnTo>
                    <a:lnTo>
                      <a:pt x="190" y="265"/>
                    </a:lnTo>
                    <a:lnTo>
                      <a:pt x="197" y="264"/>
                    </a:lnTo>
                    <a:lnTo>
                      <a:pt x="204" y="261"/>
                    </a:lnTo>
                    <a:lnTo>
                      <a:pt x="211" y="259"/>
                    </a:lnTo>
                    <a:lnTo>
                      <a:pt x="217" y="256"/>
                    </a:lnTo>
                    <a:lnTo>
                      <a:pt x="224" y="253"/>
                    </a:lnTo>
                    <a:lnTo>
                      <a:pt x="230" y="250"/>
                    </a:lnTo>
                    <a:lnTo>
                      <a:pt x="236" y="246"/>
                    </a:lnTo>
                    <a:lnTo>
                      <a:pt x="242" y="243"/>
                    </a:lnTo>
                    <a:lnTo>
                      <a:pt x="248" y="239"/>
                    </a:lnTo>
                    <a:lnTo>
                      <a:pt x="254" y="234"/>
                    </a:lnTo>
                    <a:lnTo>
                      <a:pt x="259" y="230"/>
                    </a:lnTo>
                    <a:lnTo>
                      <a:pt x="264" y="225"/>
                    </a:lnTo>
                    <a:lnTo>
                      <a:pt x="269" y="220"/>
                    </a:lnTo>
                    <a:lnTo>
                      <a:pt x="273" y="215"/>
                    </a:lnTo>
                    <a:lnTo>
                      <a:pt x="277" y="210"/>
                    </a:lnTo>
                    <a:lnTo>
                      <a:pt x="282" y="204"/>
                    </a:lnTo>
                    <a:lnTo>
                      <a:pt x="285" y="199"/>
                    </a:lnTo>
                    <a:lnTo>
                      <a:pt x="288" y="193"/>
                    </a:lnTo>
                    <a:lnTo>
                      <a:pt x="291" y="187"/>
                    </a:lnTo>
                    <a:lnTo>
                      <a:pt x="294" y="181"/>
                    </a:lnTo>
                    <a:lnTo>
                      <a:pt x="296" y="175"/>
                    </a:lnTo>
                    <a:lnTo>
                      <a:pt x="299" y="168"/>
                    </a:lnTo>
                    <a:lnTo>
                      <a:pt x="300" y="161"/>
                    </a:lnTo>
                    <a:lnTo>
                      <a:pt x="302" y="155"/>
                    </a:lnTo>
                    <a:lnTo>
                      <a:pt x="303" y="148"/>
                    </a:lnTo>
                    <a:lnTo>
                      <a:pt x="303" y="141"/>
                    </a:lnTo>
                    <a:lnTo>
                      <a:pt x="304" y="134"/>
                    </a:lnTo>
                    <a:lnTo>
                      <a:pt x="303" y="127"/>
                    </a:lnTo>
                    <a:lnTo>
                      <a:pt x="303" y="120"/>
                    </a:lnTo>
                    <a:lnTo>
                      <a:pt x="302" y="113"/>
                    </a:lnTo>
                    <a:lnTo>
                      <a:pt x="300" y="107"/>
                    </a:lnTo>
                    <a:lnTo>
                      <a:pt x="299" y="101"/>
                    </a:lnTo>
                    <a:lnTo>
                      <a:pt x="296" y="94"/>
                    </a:lnTo>
                    <a:lnTo>
                      <a:pt x="294" y="88"/>
                    </a:lnTo>
                    <a:lnTo>
                      <a:pt x="291" y="82"/>
                    </a:lnTo>
                    <a:lnTo>
                      <a:pt x="288" y="76"/>
                    </a:lnTo>
                    <a:lnTo>
                      <a:pt x="285" y="70"/>
                    </a:lnTo>
                    <a:lnTo>
                      <a:pt x="282" y="64"/>
                    </a:lnTo>
                    <a:lnTo>
                      <a:pt x="277" y="59"/>
                    </a:lnTo>
                    <a:lnTo>
                      <a:pt x="273" y="53"/>
                    </a:lnTo>
                    <a:lnTo>
                      <a:pt x="269" y="48"/>
                    </a:lnTo>
                    <a:lnTo>
                      <a:pt x="264" y="44"/>
                    </a:lnTo>
                    <a:lnTo>
                      <a:pt x="259" y="39"/>
                    </a:lnTo>
                    <a:lnTo>
                      <a:pt x="254" y="34"/>
                    </a:lnTo>
                    <a:lnTo>
                      <a:pt x="248" y="30"/>
                    </a:lnTo>
                    <a:lnTo>
                      <a:pt x="242" y="26"/>
                    </a:lnTo>
                    <a:lnTo>
                      <a:pt x="236" y="23"/>
                    </a:lnTo>
                    <a:lnTo>
                      <a:pt x="230" y="19"/>
                    </a:lnTo>
                    <a:lnTo>
                      <a:pt x="224" y="16"/>
                    </a:lnTo>
                    <a:lnTo>
                      <a:pt x="217" y="13"/>
                    </a:lnTo>
                    <a:lnTo>
                      <a:pt x="211" y="10"/>
                    </a:lnTo>
                    <a:lnTo>
                      <a:pt x="204" y="8"/>
                    </a:lnTo>
                    <a:lnTo>
                      <a:pt x="197" y="5"/>
                    </a:lnTo>
                    <a:lnTo>
                      <a:pt x="190" y="4"/>
                    </a:lnTo>
                    <a:lnTo>
                      <a:pt x="182" y="2"/>
                    </a:lnTo>
                    <a:lnTo>
                      <a:pt x="175" y="1"/>
                    </a:lnTo>
                    <a:lnTo>
                      <a:pt x="167" y="0"/>
                    </a:lnTo>
                    <a:lnTo>
                      <a:pt x="159" y="0"/>
                    </a:lnTo>
                    <a:lnTo>
                      <a:pt x="152" y="0"/>
                    </a:lnTo>
                    <a:lnTo>
                      <a:pt x="144" y="0"/>
                    </a:lnTo>
                    <a:lnTo>
                      <a:pt x="136" y="0"/>
                    </a:lnTo>
                    <a:lnTo>
                      <a:pt x="128" y="1"/>
                    </a:lnTo>
                    <a:lnTo>
                      <a:pt x="121" y="2"/>
                    </a:lnTo>
                    <a:lnTo>
                      <a:pt x="113" y="4"/>
                    </a:lnTo>
                    <a:lnTo>
                      <a:pt x="106" y="5"/>
                    </a:lnTo>
                    <a:lnTo>
                      <a:pt x="99" y="8"/>
                    </a:lnTo>
                    <a:lnTo>
                      <a:pt x="92" y="10"/>
                    </a:lnTo>
                    <a:lnTo>
                      <a:pt x="86" y="13"/>
                    </a:lnTo>
                    <a:lnTo>
                      <a:pt x="79" y="16"/>
                    </a:lnTo>
                    <a:lnTo>
                      <a:pt x="73" y="19"/>
                    </a:lnTo>
                    <a:lnTo>
                      <a:pt x="67" y="23"/>
                    </a:lnTo>
                    <a:lnTo>
                      <a:pt x="61" y="26"/>
                    </a:lnTo>
                    <a:lnTo>
                      <a:pt x="55" y="30"/>
                    </a:lnTo>
                    <a:lnTo>
                      <a:pt x="49" y="34"/>
                    </a:lnTo>
                    <a:lnTo>
                      <a:pt x="44" y="39"/>
                    </a:lnTo>
                    <a:lnTo>
                      <a:pt x="39" y="44"/>
                    </a:lnTo>
                    <a:lnTo>
                      <a:pt x="35" y="48"/>
                    </a:lnTo>
                    <a:lnTo>
                      <a:pt x="30" y="53"/>
                    </a:lnTo>
                    <a:lnTo>
                      <a:pt x="26" y="59"/>
                    </a:lnTo>
                    <a:lnTo>
                      <a:pt x="22" y="64"/>
                    </a:lnTo>
                    <a:lnTo>
                      <a:pt x="18" y="70"/>
                    </a:lnTo>
                    <a:lnTo>
                      <a:pt x="15" y="76"/>
                    </a:lnTo>
                    <a:lnTo>
                      <a:pt x="12" y="82"/>
                    </a:lnTo>
                    <a:lnTo>
                      <a:pt x="9" y="88"/>
                    </a:lnTo>
                    <a:lnTo>
                      <a:pt x="7" y="94"/>
                    </a:lnTo>
                    <a:lnTo>
                      <a:pt x="5" y="101"/>
                    </a:lnTo>
                    <a:lnTo>
                      <a:pt x="3" y="107"/>
                    </a:lnTo>
                    <a:lnTo>
                      <a:pt x="2" y="113"/>
                    </a:lnTo>
                    <a:lnTo>
                      <a:pt x="0" y="120"/>
                    </a:lnTo>
                    <a:lnTo>
                      <a:pt x="0" y="127"/>
                    </a:lnTo>
                    <a:lnTo>
                      <a:pt x="0" y="134"/>
                    </a:lnTo>
                    <a:lnTo>
                      <a:pt x="0" y="141"/>
                    </a:lnTo>
                    <a:lnTo>
                      <a:pt x="0" y="148"/>
                    </a:lnTo>
                    <a:lnTo>
                      <a:pt x="2" y="155"/>
                    </a:lnTo>
                    <a:lnTo>
                      <a:pt x="3" y="161"/>
                    </a:lnTo>
                    <a:lnTo>
                      <a:pt x="5" y="168"/>
                    </a:lnTo>
                    <a:lnTo>
                      <a:pt x="7" y="175"/>
                    </a:lnTo>
                    <a:lnTo>
                      <a:pt x="9" y="181"/>
                    </a:lnTo>
                    <a:lnTo>
                      <a:pt x="12" y="187"/>
                    </a:lnTo>
                    <a:lnTo>
                      <a:pt x="15" y="193"/>
                    </a:lnTo>
                    <a:lnTo>
                      <a:pt x="18" y="199"/>
                    </a:lnTo>
                    <a:lnTo>
                      <a:pt x="22" y="204"/>
                    </a:lnTo>
                    <a:lnTo>
                      <a:pt x="26" y="210"/>
                    </a:lnTo>
                    <a:lnTo>
                      <a:pt x="30" y="215"/>
                    </a:lnTo>
                    <a:lnTo>
                      <a:pt x="35" y="220"/>
                    </a:lnTo>
                    <a:lnTo>
                      <a:pt x="39" y="225"/>
                    </a:lnTo>
                    <a:lnTo>
                      <a:pt x="44" y="230"/>
                    </a:lnTo>
                    <a:lnTo>
                      <a:pt x="49" y="234"/>
                    </a:lnTo>
                    <a:lnTo>
                      <a:pt x="55" y="239"/>
                    </a:lnTo>
                    <a:lnTo>
                      <a:pt x="61" y="243"/>
                    </a:lnTo>
                    <a:lnTo>
                      <a:pt x="67" y="246"/>
                    </a:lnTo>
                    <a:lnTo>
                      <a:pt x="73" y="250"/>
                    </a:lnTo>
                    <a:lnTo>
                      <a:pt x="79" y="253"/>
                    </a:lnTo>
                    <a:lnTo>
                      <a:pt x="86" y="256"/>
                    </a:lnTo>
                    <a:lnTo>
                      <a:pt x="92" y="259"/>
                    </a:lnTo>
                    <a:lnTo>
                      <a:pt x="99" y="261"/>
                    </a:lnTo>
                    <a:lnTo>
                      <a:pt x="106" y="264"/>
                    </a:lnTo>
                    <a:lnTo>
                      <a:pt x="113" y="265"/>
                    </a:lnTo>
                    <a:lnTo>
                      <a:pt x="121" y="267"/>
                    </a:lnTo>
                    <a:lnTo>
                      <a:pt x="128" y="268"/>
                    </a:lnTo>
                    <a:lnTo>
                      <a:pt x="136" y="269"/>
                    </a:lnTo>
                    <a:lnTo>
                      <a:pt x="144" y="269"/>
                    </a:lnTo>
                    <a:lnTo>
                      <a:pt x="152" y="270"/>
                    </a:lnTo>
                  </a:path>
                </a:pathLst>
              </a:custGeom>
              <a:solidFill>
                <a:srgbClr val="FFFFFF"/>
              </a:solidFill>
              <a:ln w="9525" cap="rnd">
                <a:noFill/>
                <a:round/>
              </a:ln>
            </p:spPr>
            <p:txBody>
              <a:bodyPr wrap="none" lIns="98624" tIns="49313" rIns="98624" bIns="49313" anchor="ctr"/>
              <a:lstStyle/>
              <a:p>
                <a:endParaRPr lang="zh-CN" altLang="en-US"/>
              </a:p>
            </p:txBody>
          </p:sp>
          <p:sp>
            <p:nvSpPr>
              <p:cNvPr id="11384" name="Freeform 447"/>
              <p:cNvSpPr/>
              <p:nvPr/>
            </p:nvSpPr>
            <p:spPr bwMode="auto">
              <a:xfrm>
                <a:off x="3777" y="2352"/>
                <a:ext cx="176" cy="265"/>
              </a:xfrm>
              <a:custGeom>
                <a:avLst/>
                <a:gdLst>
                  <a:gd name="T0" fmla="*/ 175 w 176"/>
                  <a:gd name="T1" fmla="*/ 252 h 265"/>
                  <a:gd name="T2" fmla="*/ 20 w 176"/>
                  <a:gd name="T3" fmla="*/ 0 h 265"/>
                  <a:gd name="T4" fmla="*/ 0 w 176"/>
                  <a:gd name="T5" fmla="*/ 10 h 265"/>
                  <a:gd name="T6" fmla="*/ 153 w 176"/>
                  <a:gd name="T7" fmla="*/ 264 h 265"/>
                  <a:gd name="T8" fmla="*/ 175 w 176"/>
                  <a:gd name="T9" fmla="*/ 252 h 265"/>
                  <a:gd name="T10" fmla="*/ 0 60000 65536"/>
                  <a:gd name="T11" fmla="*/ 0 60000 65536"/>
                  <a:gd name="T12" fmla="*/ 0 60000 65536"/>
                  <a:gd name="T13" fmla="*/ 0 60000 65536"/>
                  <a:gd name="T14" fmla="*/ 0 60000 65536"/>
                  <a:gd name="T15" fmla="*/ 0 w 176"/>
                  <a:gd name="T16" fmla="*/ 0 h 265"/>
                  <a:gd name="T17" fmla="*/ 176 w 176"/>
                  <a:gd name="T18" fmla="*/ 265 h 265"/>
                </a:gdLst>
                <a:ahLst/>
                <a:cxnLst>
                  <a:cxn ang="T10">
                    <a:pos x="T0" y="T1"/>
                  </a:cxn>
                  <a:cxn ang="T11">
                    <a:pos x="T2" y="T3"/>
                  </a:cxn>
                  <a:cxn ang="T12">
                    <a:pos x="T4" y="T5"/>
                  </a:cxn>
                  <a:cxn ang="T13">
                    <a:pos x="T6" y="T7"/>
                  </a:cxn>
                  <a:cxn ang="T14">
                    <a:pos x="T8" y="T9"/>
                  </a:cxn>
                </a:cxnLst>
                <a:rect l="T15" t="T16" r="T17" b="T18"/>
                <a:pathLst>
                  <a:path w="176" h="265">
                    <a:moveTo>
                      <a:pt x="175" y="252"/>
                    </a:moveTo>
                    <a:lnTo>
                      <a:pt x="20" y="0"/>
                    </a:lnTo>
                    <a:lnTo>
                      <a:pt x="0" y="10"/>
                    </a:lnTo>
                    <a:lnTo>
                      <a:pt x="153" y="264"/>
                    </a:lnTo>
                    <a:lnTo>
                      <a:pt x="175" y="252"/>
                    </a:lnTo>
                  </a:path>
                </a:pathLst>
              </a:custGeom>
              <a:solidFill>
                <a:srgbClr val="CC0000"/>
              </a:solidFill>
              <a:ln w="9525" cap="rnd">
                <a:noFill/>
                <a:round/>
              </a:ln>
            </p:spPr>
            <p:txBody>
              <a:bodyPr wrap="none" lIns="98624" tIns="49313" rIns="98624" bIns="49313" anchor="ctr"/>
              <a:lstStyle/>
              <a:p>
                <a:endParaRPr lang="zh-CN" altLang="en-US"/>
              </a:p>
            </p:txBody>
          </p:sp>
        </p:grpSp>
        <p:sp>
          <p:nvSpPr>
            <p:cNvPr id="11380" name="Rectangle 448"/>
            <p:cNvSpPr>
              <a:spLocks noChangeArrowheads="1"/>
            </p:cNvSpPr>
            <p:nvPr/>
          </p:nvSpPr>
          <p:spPr bwMode="auto">
            <a:xfrm>
              <a:off x="2992" y="2836"/>
              <a:ext cx="1372" cy="1096"/>
            </a:xfrm>
            <a:prstGeom prst="rect">
              <a:avLst/>
            </a:prstGeom>
            <a:solidFill>
              <a:srgbClr val="ECEEE4"/>
            </a:solidFill>
            <a:ln w="50799">
              <a:solidFill>
                <a:srgbClr val="CC0000"/>
              </a:solidFill>
              <a:miter lim="800000"/>
            </a:ln>
          </p:spPr>
          <p:txBody>
            <a:bodyPr wrap="none" lIns="98624" tIns="49313" rIns="98624" bIns="49313" anchor="ctr"/>
            <a:lstStyle/>
            <a:p>
              <a:pPr defTabSz="979805" eaLnBrk="0" hangingPunct="0"/>
              <a:r>
                <a:rPr kumimoji="1" lang="zh-CN" altLang="en-US" sz="2000" b="1">
                  <a:effectLst>
                    <a:outerShdw blurRad="38100" dist="38100" dir="2700000" algn="tl">
                      <a:srgbClr val="000000">
                        <a:alpha val="43137"/>
                      </a:srgbClr>
                    </a:outerShdw>
                  </a:effectLst>
                  <a:latin typeface="+mn-ea"/>
                  <a:ea typeface="+mn-ea"/>
                </a:rPr>
                <a:t>中止连接</a:t>
              </a:r>
            </a:p>
          </p:txBody>
        </p:sp>
        <p:sp>
          <p:nvSpPr>
            <p:cNvPr id="11381" name="Line 449"/>
            <p:cNvSpPr>
              <a:spLocks noChangeShapeType="1"/>
            </p:cNvSpPr>
            <p:nvPr/>
          </p:nvSpPr>
          <p:spPr bwMode="auto">
            <a:xfrm flipH="1">
              <a:off x="3720" y="2628"/>
              <a:ext cx="84" cy="210"/>
            </a:xfrm>
            <a:prstGeom prst="line">
              <a:avLst/>
            </a:prstGeom>
            <a:noFill/>
            <a:ln w="50799">
              <a:solidFill>
                <a:srgbClr val="CC0000"/>
              </a:solidFill>
              <a:round/>
              <a:headEnd type="none" w="sm" len="sm"/>
              <a:tailEnd type="none" w="sm" len="sm"/>
            </a:ln>
          </p:spPr>
          <p:txBody>
            <a:bodyPr wrap="none" lIns="98624" tIns="49313" rIns="98624" bIns="49313" anchor="ctr"/>
            <a:lstStyle/>
            <a:p>
              <a:endParaRPr lang="zh-CN" altLang="en-US"/>
            </a:p>
          </p:txBody>
        </p:sp>
      </p:grpSp>
      <p:grpSp>
        <p:nvGrpSpPr>
          <p:cNvPr id="250301" name="Group 450"/>
          <p:cNvGrpSpPr/>
          <p:nvPr/>
        </p:nvGrpSpPr>
        <p:grpSpPr bwMode="auto">
          <a:xfrm>
            <a:off x="2652713" y="4645695"/>
            <a:ext cx="460375" cy="320675"/>
            <a:chOff x="1332" y="2961"/>
            <a:chExt cx="258" cy="202"/>
          </a:xfrm>
        </p:grpSpPr>
        <p:grpSp>
          <p:nvGrpSpPr>
            <p:cNvPr id="250302" name="Group 451"/>
            <p:cNvGrpSpPr/>
            <p:nvPr/>
          </p:nvGrpSpPr>
          <p:grpSpPr bwMode="auto">
            <a:xfrm>
              <a:off x="1333" y="3031"/>
              <a:ext cx="142" cy="132"/>
              <a:chOff x="1333" y="3031"/>
              <a:chExt cx="142" cy="132"/>
            </a:xfrm>
          </p:grpSpPr>
          <p:sp>
            <p:nvSpPr>
              <p:cNvPr id="11377" name="Freeform 452"/>
              <p:cNvSpPr/>
              <p:nvPr/>
            </p:nvSpPr>
            <p:spPr bwMode="auto">
              <a:xfrm>
                <a:off x="1333" y="3032"/>
                <a:ext cx="136" cy="124"/>
              </a:xfrm>
              <a:custGeom>
                <a:avLst/>
                <a:gdLst>
                  <a:gd name="T0" fmla="*/ 135 w 136"/>
                  <a:gd name="T1" fmla="*/ 33 h 124"/>
                  <a:gd name="T2" fmla="*/ 135 w 136"/>
                  <a:gd name="T3" fmla="*/ 123 h 124"/>
                  <a:gd name="T4" fmla="*/ 0 w 136"/>
                  <a:gd name="T5" fmla="*/ 83 h 124"/>
                  <a:gd name="T6" fmla="*/ 0 w 136"/>
                  <a:gd name="T7" fmla="*/ 0 h 124"/>
                  <a:gd name="T8" fmla="*/ 135 w 136"/>
                  <a:gd name="T9" fmla="*/ 33 h 124"/>
                  <a:gd name="T10" fmla="*/ 0 60000 65536"/>
                  <a:gd name="T11" fmla="*/ 0 60000 65536"/>
                  <a:gd name="T12" fmla="*/ 0 60000 65536"/>
                  <a:gd name="T13" fmla="*/ 0 60000 65536"/>
                  <a:gd name="T14" fmla="*/ 0 60000 65536"/>
                  <a:gd name="T15" fmla="*/ 0 w 136"/>
                  <a:gd name="T16" fmla="*/ 0 h 124"/>
                  <a:gd name="T17" fmla="*/ 136 w 136"/>
                  <a:gd name="T18" fmla="*/ 124 h 124"/>
                </a:gdLst>
                <a:ahLst/>
                <a:cxnLst>
                  <a:cxn ang="T10">
                    <a:pos x="T0" y="T1"/>
                  </a:cxn>
                  <a:cxn ang="T11">
                    <a:pos x="T2" y="T3"/>
                  </a:cxn>
                  <a:cxn ang="T12">
                    <a:pos x="T4" y="T5"/>
                  </a:cxn>
                  <a:cxn ang="T13">
                    <a:pos x="T6" y="T7"/>
                  </a:cxn>
                  <a:cxn ang="T14">
                    <a:pos x="T8" y="T9"/>
                  </a:cxn>
                </a:cxnLst>
                <a:rect l="T15" t="T16" r="T17" b="T18"/>
                <a:pathLst>
                  <a:path w="136" h="124">
                    <a:moveTo>
                      <a:pt x="135" y="33"/>
                    </a:moveTo>
                    <a:lnTo>
                      <a:pt x="135" y="123"/>
                    </a:lnTo>
                    <a:lnTo>
                      <a:pt x="0" y="83"/>
                    </a:lnTo>
                    <a:lnTo>
                      <a:pt x="0" y="0"/>
                    </a:lnTo>
                    <a:lnTo>
                      <a:pt x="135" y="33"/>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11378" name="Freeform 453"/>
              <p:cNvSpPr/>
              <p:nvPr/>
            </p:nvSpPr>
            <p:spPr bwMode="auto">
              <a:xfrm>
                <a:off x="1334" y="3031"/>
                <a:ext cx="141" cy="132"/>
              </a:xfrm>
              <a:custGeom>
                <a:avLst/>
                <a:gdLst>
                  <a:gd name="T0" fmla="*/ 140 w 141"/>
                  <a:gd name="T1" fmla="*/ 36 h 132"/>
                  <a:gd name="T2" fmla="*/ 140 w 141"/>
                  <a:gd name="T3" fmla="*/ 131 h 132"/>
                  <a:gd name="T4" fmla="*/ 0 w 141"/>
                  <a:gd name="T5" fmla="*/ 88 h 132"/>
                  <a:gd name="T6" fmla="*/ 0 w 141"/>
                  <a:gd name="T7" fmla="*/ 0 h 132"/>
                  <a:gd name="T8" fmla="*/ 140 w 141"/>
                  <a:gd name="T9" fmla="*/ 36 h 132"/>
                  <a:gd name="T10" fmla="*/ 0 60000 65536"/>
                  <a:gd name="T11" fmla="*/ 0 60000 65536"/>
                  <a:gd name="T12" fmla="*/ 0 60000 65536"/>
                  <a:gd name="T13" fmla="*/ 0 60000 65536"/>
                  <a:gd name="T14" fmla="*/ 0 60000 65536"/>
                  <a:gd name="T15" fmla="*/ 0 w 141"/>
                  <a:gd name="T16" fmla="*/ 0 h 132"/>
                  <a:gd name="T17" fmla="*/ 141 w 141"/>
                  <a:gd name="T18" fmla="*/ 132 h 132"/>
                </a:gdLst>
                <a:ahLst/>
                <a:cxnLst>
                  <a:cxn ang="T10">
                    <a:pos x="T0" y="T1"/>
                  </a:cxn>
                  <a:cxn ang="T11">
                    <a:pos x="T2" y="T3"/>
                  </a:cxn>
                  <a:cxn ang="T12">
                    <a:pos x="T4" y="T5"/>
                  </a:cxn>
                  <a:cxn ang="T13">
                    <a:pos x="T6" y="T7"/>
                  </a:cxn>
                  <a:cxn ang="T14">
                    <a:pos x="T8" y="T9"/>
                  </a:cxn>
                </a:cxnLst>
                <a:rect l="T15" t="T16" r="T17" b="T18"/>
                <a:pathLst>
                  <a:path w="141" h="132">
                    <a:moveTo>
                      <a:pt x="140" y="36"/>
                    </a:moveTo>
                    <a:lnTo>
                      <a:pt x="140" y="131"/>
                    </a:lnTo>
                    <a:lnTo>
                      <a:pt x="0" y="88"/>
                    </a:lnTo>
                    <a:lnTo>
                      <a:pt x="0" y="0"/>
                    </a:lnTo>
                    <a:lnTo>
                      <a:pt x="140" y="36"/>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nvGrpSpPr>
            <p:cNvPr id="250303" name="Group 454"/>
            <p:cNvGrpSpPr/>
            <p:nvPr/>
          </p:nvGrpSpPr>
          <p:grpSpPr bwMode="auto">
            <a:xfrm>
              <a:off x="1332" y="2961"/>
              <a:ext cx="256" cy="108"/>
              <a:chOff x="1332" y="2961"/>
              <a:chExt cx="256" cy="108"/>
            </a:xfrm>
          </p:grpSpPr>
          <p:sp>
            <p:nvSpPr>
              <p:cNvPr id="11375" name="Freeform 455"/>
              <p:cNvSpPr/>
              <p:nvPr/>
            </p:nvSpPr>
            <p:spPr bwMode="auto">
              <a:xfrm>
                <a:off x="1333" y="2961"/>
                <a:ext cx="249" cy="103"/>
              </a:xfrm>
              <a:custGeom>
                <a:avLst/>
                <a:gdLst>
                  <a:gd name="T0" fmla="*/ 137 w 249"/>
                  <a:gd name="T1" fmla="*/ 102 h 103"/>
                  <a:gd name="T2" fmla="*/ 0 w 249"/>
                  <a:gd name="T3" fmla="*/ 68 h 103"/>
                  <a:gd name="T4" fmla="*/ 129 w 249"/>
                  <a:gd name="T5" fmla="*/ 0 h 103"/>
                  <a:gd name="T6" fmla="*/ 248 w 249"/>
                  <a:gd name="T7" fmla="*/ 27 h 103"/>
                  <a:gd name="T8" fmla="*/ 137 w 249"/>
                  <a:gd name="T9" fmla="*/ 102 h 103"/>
                  <a:gd name="T10" fmla="*/ 0 60000 65536"/>
                  <a:gd name="T11" fmla="*/ 0 60000 65536"/>
                  <a:gd name="T12" fmla="*/ 0 60000 65536"/>
                  <a:gd name="T13" fmla="*/ 0 60000 65536"/>
                  <a:gd name="T14" fmla="*/ 0 60000 65536"/>
                  <a:gd name="T15" fmla="*/ 0 w 249"/>
                  <a:gd name="T16" fmla="*/ 0 h 103"/>
                  <a:gd name="T17" fmla="*/ 249 w 249"/>
                  <a:gd name="T18" fmla="*/ 103 h 103"/>
                </a:gdLst>
                <a:ahLst/>
                <a:cxnLst>
                  <a:cxn ang="T10">
                    <a:pos x="T0" y="T1"/>
                  </a:cxn>
                  <a:cxn ang="T11">
                    <a:pos x="T2" y="T3"/>
                  </a:cxn>
                  <a:cxn ang="T12">
                    <a:pos x="T4" y="T5"/>
                  </a:cxn>
                  <a:cxn ang="T13">
                    <a:pos x="T6" y="T7"/>
                  </a:cxn>
                  <a:cxn ang="T14">
                    <a:pos x="T8" y="T9"/>
                  </a:cxn>
                </a:cxnLst>
                <a:rect l="T15" t="T16" r="T17" b="T18"/>
                <a:pathLst>
                  <a:path w="249" h="103">
                    <a:moveTo>
                      <a:pt x="137" y="102"/>
                    </a:moveTo>
                    <a:lnTo>
                      <a:pt x="0" y="68"/>
                    </a:lnTo>
                    <a:lnTo>
                      <a:pt x="129" y="0"/>
                    </a:lnTo>
                    <a:lnTo>
                      <a:pt x="248" y="27"/>
                    </a:lnTo>
                    <a:lnTo>
                      <a:pt x="137" y="102"/>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11376" name="Freeform 456"/>
              <p:cNvSpPr/>
              <p:nvPr/>
            </p:nvSpPr>
            <p:spPr bwMode="auto">
              <a:xfrm>
                <a:off x="1332" y="2961"/>
                <a:ext cx="256" cy="108"/>
              </a:xfrm>
              <a:custGeom>
                <a:avLst/>
                <a:gdLst>
                  <a:gd name="T0" fmla="*/ 141 w 256"/>
                  <a:gd name="T1" fmla="*/ 107 h 108"/>
                  <a:gd name="T2" fmla="*/ 0 w 256"/>
                  <a:gd name="T3" fmla="*/ 71 h 108"/>
                  <a:gd name="T4" fmla="*/ 133 w 256"/>
                  <a:gd name="T5" fmla="*/ 0 h 108"/>
                  <a:gd name="T6" fmla="*/ 255 w 256"/>
                  <a:gd name="T7" fmla="*/ 28 h 108"/>
                  <a:gd name="T8" fmla="*/ 141 w 256"/>
                  <a:gd name="T9" fmla="*/ 107 h 108"/>
                  <a:gd name="T10" fmla="*/ 0 60000 65536"/>
                  <a:gd name="T11" fmla="*/ 0 60000 65536"/>
                  <a:gd name="T12" fmla="*/ 0 60000 65536"/>
                  <a:gd name="T13" fmla="*/ 0 60000 65536"/>
                  <a:gd name="T14" fmla="*/ 0 60000 65536"/>
                  <a:gd name="T15" fmla="*/ 0 w 256"/>
                  <a:gd name="T16" fmla="*/ 0 h 108"/>
                  <a:gd name="T17" fmla="*/ 256 w 256"/>
                  <a:gd name="T18" fmla="*/ 108 h 108"/>
                </a:gdLst>
                <a:ahLst/>
                <a:cxnLst>
                  <a:cxn ang="T10">
                    <a:pos x="T0" y="T1"/>
                  </a:cxn>
                  <a:cxn ang="T11">
                    <a:pos x="T2" y="T3"/>
                  </a:cxn>
                  <a:cxn ang="T12">
                    <a:pos x="T4" y="T5"/>
                  </a:cxn>
                  <a:cxn ang="T13">
                    <a:pos x="T6" y="T7"/>
                  </a:cxn>
                  <a:cxn ang="T14">
                    <a:pos x="T8" y="T9"/>
                  </a:cxn>
                </a:cxnLst>
                <a:rect l="T15" t="T16" r="T17" b="T18"/>
                <a:pathLst>
                  <a:path w="256" h="108">
                    <a:moveTo>
                      <a:pt x="141" y="107"/>
                    </a:moveTo>
                    <a:lnTo>
                      <a:pt x="0" y="71"/>
                    </a:lnTo>
                    <a:lnTo>
                      <a:pt x="133" y="0"/>
                    </a:lnTo>
                    <a:lnTo>
                      <a:pt x="255" y="28"/>
                    </a:lnTo>
                    <a:lnTo>
                      <a:pt x="141" y="107"/>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nvGrpSpPr>
            <p:cNvPr id="250304" name="Group 457"/>
            <p:cNvGrpSpPr/>
            <p:nvPr/>
          </p:nvGrpSpPr>
          <p:grpSpPr bwMode="auto">
            <a:xfrm>
              <a:off x="1475" y="2988"/>
              <a:ext cx="115" cy="175"/>
              <a:chOff x="1475" y="2988"/>
              <a:chExt cx="115" cy="175"/>
            </a:xfrm>
          </p:grpSpPr>
          <p:sp>
            <p:nvSpPr>
              <p:cNvPr id="11373" name="Freeform 458"/>
              <p:cNvSpPr/>
              <p:nvPr/>
            </p:nvSpPr>
            <p:spPr bwMode="auto">
              <a:xfrm>
                <a:off x="1476" y="2989"/>
                <a:ext cx="108" cy="167"/>
              </a:xfrm>
              <a:custGeom>
                <a:avLst/>
                <a:gdLst>
                  <a:gd name="T0" fmla="*/ 107 w 108"/>
                  <a:gd name="T1" fmla="*/ 0 h 167"/>
                  <a:gd name="T2" fmla="*/ 0 w 108"/>
                  <a:gd name="T3" fmla="*/ 75 h 167"/>
                  <a:gd name="T4" fmla="*/ 0 w 108"/>
                  <a:gd name="T5" fmla="*/ 166 h 167"/>
                  <a:gd name="T6" fmla="*/ 107 w 108"/>
                  <a:gd name="T7" fmla="*/ 79 h 167"/>
                  <a:gd name="T8" fmla="*/ 107 w 108"/>
                  <a:gd name="T9" fmla="*/ 0 h 167"/>
                  <a:gd name="T10" fmla="*/ 0 60000 65536"/>
                  <a:gd name="T11" fmla="*/ 0 60000 65536"/>
                  <a:gd name="T12" fmla="*/ 0 60000 65536"/>
                  <a:gd name="T13" fmla="*/ 0 60000 65536"/>
                  <a:gd name="T14" fmla="*/ 0 60000 65536"/>
                  <a:gd name="T15" fmla="*/ 0 w 108"/>
                  <a:gd name="T16" fmla="*/ 0 h 167"/>
                  <a:gd name="T17" fmla="*/ 108 w 108"/>
                  <a:gd name="T18" fmla="*/ 167 h 167"/>
                </a:gdLst>
                <a:ahLst/>
                <a:cxnLst>
                  <a:cxn ang="T10">
                    <a:pos x="T0" y="T1"/>
                  </a:cxn>
                  <a:cxn ang="T11">
                    <a:pos x="T2" y="T3"/>
                  </a:cxn>
                  <a:cxn ang="T12">
                    <a:pos x="T4" y="T5"/>
                  </a:cxn>
                  <a:cxn ang="T13">
                    <a:pos x="T6" y="T7"/>
                  </a:cxn>
                  <a:cxn ang="T14">
                    <a:pos x="T8" y="T9"/>
                  </a:cxn>
                </a:cxnLst>
                <a:rect l="T15" t="T16" r="T17" b="T18"/>
                <a:pathLst>
                  <a:path w="108" h="167">
                    <a:moveTo>
                      <a:pt x="107" y="0"/>
                    </a:moveTo>
                    <a:lnTo>
                      <a:pt x="0" y="75"/>
                    </a:lnTo>
                    <a:lnTo>
                      <a:pt x="0" y="166"/>
                    </a:lnTo>
                    <a:lnTo>
                      <a:pt x="107" y="79"/>
                    </a:lnTo>
                    <a:lnTo>
                      <a:pt x="107" y="0"/>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sp>
            <p:nvSpPr>
              <p:cNvPr id="11374" name="Freeform 459"/>
              <p:cNvSpPr/>
              <p:nvPr/>
            </p:nvSpPr>
            <p:spPr bwMode="auto">
              <a:xfrm>
                <a:off x="1475" y="2988"/>
                <a:ext cx="115" cy="175"/>
              </a:xfrm>
              <a:custGeom>
                <a:avLst/>
                <a:gdLst>
                  <a:gd name="T0" fmla="*/ 114 w 115"/>
                  <a:gd name="T1" fmla="*/ 0 h 175"/>
                  <a:gd name="T2" fmla="*/ 0 w 115"/>
                  <a:gd name="T3" fmla="*/ 80 h 175"/>
                  <a:gd name="T4" fmla="*/ 0 w 115"/>
                  <a:gd name="T5" fmla="*/ 174 h 175"/>
                  <a:gd name="T6" fmla="*/ 114 w 115"/>
                  <a:gd name="T7" fmla="*/ 84 h 175"/>
                  <a:gd name="T8" fmla="*/ 114 w 115"/>
                  <a:gd name="T9" fmla="*/ 0 h 175"/>
                  <a:gd name="T10" fmla="*/ 0 60000 65536"/>
                  <a:gd name="T11" fmla="*/ 0 60000 65536"/>
                  <a:gd name="T12" fmla="*/ 0 60000 65536"/>
                  <a:gd name="T13" fmla="*/ 0 60000 65536"/>
                  <a:gd name="T14" fmla="*/ 0 60000 65536"/>
                  <a:gd name="T15" fmla="*/ 0 w 115"/>
                  <a:gd name="T16" fmla="*/ 0 h 175"/>
                  <a:gd name="T17" fmla="*/ 115 w 115"/>
                  <a:gd name="T18" fmla="*/ 175 h 175"/>
                </a:gdLst>
                <a:ahLst/>
                <a:cxnLst>
                  <a:cxn ang="T10">
                    <a:pos x="T0" y="T1"/>
                  </a:cxn>
                  <a:cxn ang="T11">
                    <a:pos x="T2" y="T3"/>
                  </a:cxn>
                  <a:cxn ang="T12">
                    <a:pos x="T4" y="T5"/>
                  </a:cxn>
                  <a:cxn ang="T13">
                    <a:pos x="T6" y="T7"/>
                  </a:cxn>
                  <a:cxn ang="T14">
                    <a:pos x="T8" y="T9"/>
                  </a:cxn>
                </a:cxnLst>
                <a:rect l="T15" t="T16" r="T17" b="T18"/>
                <a:pathLst>
                  <a:path w="115" h="175">
                    <a:moveTo>
                      <a:pt x="114" y="0"/>
                    </a:moveTo>
                    <a:lnTo>
                      <a:pt x="0" y="80"/>
                    </a:lnTo>
                    <a:lnTo>
                      <a:pt x="0" y="174"/>
                    </a:lnTo>
                    <a:lnTo>
                      <a:pt x="114" y="84"/>
                    </a:lnTo>
                    <a:lnTo>
                      <a:pt x="114" y="0"/>
                    </a:lnTo>
                  </a:path>
                </a:pathLst>
              </a:custGeom>
              <a:gradFill rotWithShape="0">
                <a:gsLst>
                  <a:gs pos="0">
                    <a:srgbClr val="89B7E5"/>
                  </a:gs>
                  <a:gs pos="100000">
                    <a:srgbClr val="99CCFF"/>
                  </a:gs>
                </a:gsLst>
                <a:path path="rect">
                  <a:fillToRect l="50000" t="50000" r="50000" b="50000"/>
                </a:path>
              </a:gradFill>
              <a:ln w="9525" cap="rnd">
                <a:noFill/>
                <a:round/>
              </a:ln>
            </p:spPr>
            <p:txBody>
              <a:bodyPr/>
              <a:lstStyle/>
              <a:p>
                <a:endParaRPr lang="zh-CN" altLang="en-US"/>
              </a:p>
            </p:txBody>
          </p:sp>
        </p:grpSp>
      </p:grpSp>
      <p:sp>
        <p:nvSpPr>
          <p:cNvPr id="250316" name="Line 460"/>
          <p:cNvSpPr>
            <a:spLocks noChangeShapeType="1"/>
          </p:cNvSpPr>
          <p:nvPr/>
        </p:nvSpPr>
        <p:spPr bwMode="auto">
          <a:xfrm flipH="1">
            <a:off x="3059113" y="1886620"/>
            <a:ext cx="665162" cy="0"/>
          </a:xfrm>
          <a:prstGeom prst="line">
            <a:avLst/>
          </a:prstGeom>
          <a:noFill/>
          <a:ln w="126999">
            <a:solidFill>
              <a:srgbClr val="FF9900"/>
            </a:solidFill>
            <a:round/>
            <a:headEnd type="none" w="sm" len="sm"/>
            <a:tailEnd type="none" w="sm" len="sm"/>
          </a:ln>
        </p:spPr>
        <p:txBody>
          <a:bodyPr wrap="none" anchor="ctr"/>
          <a:lstStyle/>
          <a:p>
            <a:endParaRPr lang="zh-CN" altLang="en-US"/>
          </a:p>
        </p:txBody>
      </p:sp>
      <p:sp>
        <p:nvSpPr>
          <p:cNvPr id="250317" name="Line 461"/>
          <p:cNvSpPr>
            <a:spLocks noChangeShapeType="1"/>
          </p:cNvSpPr>
          <p:nvPr/>
        </p:nvSpPr>
        <p:spPr bwMode="auto">
          <a:xfrm flipV="1">
            <a:off x="3702050" y="1858045"/>
            <a:ext cx="0" cy="1457325"/>
          </a:xfrm>
          <a:prstGeom prst="line">
            <a:avLst/>
          </a:prstGeom>
          <a:noFill/>
          <a:ln w="126999">
            <a:solidFill>
              <a:srgbClr val="FF9900"/>
            </a:solidFill>
            <a:round/>
            <a:headEnd type="none" w="sm" len="sm"/>
            <a:tailEnd type="none" w="sm" len="sm"/>
          </a:ln>
        </p:spPr>
        <p:txBody>
          <a:bodyPr wrap="none" anchor="ctr"/>
          <a:lstStyle/>
          <a:p>
            <a:endParaRPr lang="zh-CN" altLang="en-US"/>
          </a:p>
        </p:txBody>
      </p:sp>
      <p:sp>
        <p:nvSpPr>
          <p:cNvPr id="250318" name="Line 462"/>
          <p:cNvSpPr>
            <a:spLocks noChangeShapeType="1"/>
          </p:cNvSpPr>
          <p:nvPr/>
        </p:nvSpPr>
        <p:spPr bwMode="auto">
          <a:xfrm flipH="1">
            <a:off x="3700463" y="3248695"/>
            <a:ext cx="309562" cy="22225"/>
          </a:xfrm>
          <a:prstGeom prst="line">
            <a:avLst/>
          </a:prstGeom>
          <a:noFill/>
          <a:ln w="126999">
            <a:solidFill>
              <a:srgbClr val="FF9900"/>
            </a:solidFill>
            <a:round/>
            <a:headEnd type="none" w="sm" len="sm"/>
            <a:tailEnd type="none" w="sm" len="sm"/>
          </a:ln>
        </p:spPr>
        <p:txBody>
          <a:bodyPr wrap="none" anchor="ctr"/>
          <a:lstStyle/>
          <a:p>
            <a:endParaRPr lang="zh-CN" altLang="en-US"/>
          </a:p>
        </p:txBody>
      </p:sp>
      <p:sp>
        <p:nvSpPr>
          <p:cNvPr id="250319" name="Line 463"/>
          <p:cNvSpPr>
            <a:spLocks noChangeShapeType="1"/>
          </p:cNvSpPr>
          <p:nvPr/>
        </p:nvSpPr>
        <p:spPr bwMode="auto">
          <a:xfrm flipH="1">
            <a:off x="4452938" y="3280445"/>
            <a:ext cx="588962" cy="0"/>
          </a:xfrm>
          <a:prstGeom prst="line">
            <a:avLst/>
          </a:prstGeom>
          <a:noFill/>
          <a:ln w="126999">
            <a:solidFill>
              <a:srgbClr val="FF9900"/>
            </a:solidFill>
            <a:round/>
            <a:headEnd type="none" w="sm" len="sm"/>
            <a:tailEnd type="none" w="sm" len="sm"/>
          </a:ln>
        </p:spPr>
        <p:txBody>
          <a:bodyPr wrap="none" anchor="ctr"/>
          <a:lstStyle/>
          <a:p>
            <a:endParaRPr lang="zh-CN" altLang="en-US"/>
          </a:p>
        </p:txBody>
      </p:sp>
      <p:grpSp>
        <p:nvGrpSpPr>
          <p:cNvPr id="250305" name="Group 464"/>
          <p:cNvGrpSpPr/>
          <p:nvPr/>
        </p:nvGrpSpPr>
        <p:grpSpPr bwMode="auto">
          <a:xfrm>
            <a:off x="3014663" y="3118520"/>
            <a:ext cx="2447925" cy="3070225"/>
            <a:chOff x="1516" y="2010"/>
            <a:chExt cx="1372" cy="1934"/>
          </a:xfrm>
        </p:grpSpPr>
        <p:grpSp>
          <p:nvGrpSpPr>
            <p:cNvPr id="250306" name="Group 465"/>
            <p:cNvGrpSpPr/>
            <p:nvPr/>
          </p:nvGrpSpPr>
          <p:grpSpPr bwMode="auto">
            <a:xfrm>
              <a:off x="1950" y="2010"/>
              <a:ext cx="365" cy="325"/>
              <a:chOff x="1950" y="2010"/>
              <a:chExt cx="365" cy="325"/>
            </a:xfrm>
          </p:grpSpPr>
          <p:sp>
            <p:nvSpPr>
              <p:cNvPr id="11367" name="Freeform 466"/>
              <p:cNvSpPr/>
              <p:nvPr/>
            </p:nvSpPr>
            <p:spPr bwMode="auto">
              <a:xfrm>
                <a:off x="1950" y="2010"/>
                <a:ext cx="365" cy="325"/>
              </a:xfrm>
              <a:custGeom>
                <a:avLst/>
                <a:gdLst>
                  <a:gd name="T0" fmla="*/ 200 w 365"/>
                  <a:gd name="T1" fmla="*/ 322 h 325"/>
                  <a:gd name="T2" fmla="*/ 227 w 365"/>
                  <a:gd name="T3" fmla="*/ 318 h 325"/>
                  <a:gd name="T4" fmla="*/ 252 w 365"/>
                  <a:gd name="T5" fmla="*/ 311 h 325"/>
                  <a:gd name="T6" fmla="*/ 276 w 365"/>
                  <a:gd name="T7" fmla="*/ 300 h 325"/>
                  <a:gd name="T8" fmla="*/ 297 w 365"/>
                  <a:gd name="T9" fmla="*/ 287 h 325"/>
                  <a:gd name="T10" fmla="*/ 316 w 365"/>
                  <a:gd name="T11" fmla="*/ 270 h 325"/>
                  <a:gd name="T12" fmla="*/ 332 w 365"/>
                  <a:gd name="T13" fmla="*/ 252 h 325"/>
                  <a:gd name="T14" fmla="*/ 345 w 365"/>
                  <a:gd name="T15" fmla="*/ 232 h 325"/>
                  <a:gd name="T16" fmla="*/ 355 w 365"/>
                  <a:gd name="T17" fmla="*/ 209 h 325"/>
                  <a:gd name="T18" fmla="*/ 361 w 365"/>
                  <a:gd name="T19" fmla="*/ 186 h 325"/>
                  <a:gd name="T20" fmla="*/ 364 w 365"/>
                  <a:gd name="T21" fmla="*/ 161 h 325"/>
                  <a:gd name="T22" fmla="*/ 361 w 365"/>
                  <a:gd name="T23" fmla="*/ 137 h 325"/>
                  <a:gd name="T24" fmla="*/ 355 w 365"/>
                  <a:gd name="T25" fmla="*/ 113 h 325"/>
                  <a:gd name="T26" fmla="*/ 345 w 365"/>
                  <a:gd name="T27" fmla="*/ 91 h 325"/>
                  <a:gd name="T28" fmla="*/ 332 w 365"/>
                  <a:gd name="T29" fmla="*/ 71 h 325"/>
                  <a:gd name="T30" fmla="*/ 316 w 365"/>
                  <a:gd name="T31" fmla="*/ 52 h 325"/>
                  <a:gd name="T32" fmla="*/ 297 w 365"/>
                  <a:gd name="T33" fmla="*/ 36 h 325"/>
                  <a:gd name="T34" fmla="*/ 276 w 365"/>
                  <a:gd name="T35" fmla="*/ 23 h 325"/>
                  <a:gd name="T36" fmla="*/ 252 w 365"/>
                  <a:gd name="T37" fmla="*/ 12 h 325"/>
                  <a:gd name="T38" fmla="*/ 227 w 365"/>
                  <a:gd name="T39" fmla="*/ 5 h 325"/>
                  <a:gd name="T40" fmla="*/ 200 w 365"/>
                  <a:gd name="T41" fmla="*/ 0 h 325"/>
                  <a:gd name="T42" fmla="*/ 172 w 365"/>
                  <a:gd name="T43" fmla="*/ 0 h 325"/>
                  <a:gd name="T44" fmla="*/ 145 w 365"/>
                  <a:gd name="T45" fmla="*/ 3 h 325"/>
                  <a:gd name="T46" fmla="*/ 119 w 365"/>
                  <a:gd name="T47" fmla="*/ 9 h 325"/>
                  <a:gd name="T48" fmla="*/ 94 w 365"/>
                  <a:gd name="T49" fmla="*/ 19 h 325"/>
                  <a:gd name="T50" fmla="*/ 73 w 365"/>
                  <a:gd name="T51" fmla="*/ 32 h 325"/>
                  <a:gd name="T52" fmla="*/ 53 w 365"/>
                  <a:gd name="T53" fmla="*/ 47 h 325"/>
                  <a:gd name="T54" fmla="*/ 36 w 365"/>
                  <a:gd name="T55" fmla="*/ 65 h 325"/>
                  <a:gd name="T56" fmla="*/ 21 w 365"/>
                  <a:gd name="T57" fmla="*/ 84 h 325"/>
                  <a:gd name="T58" fmla="*/ 10 w 365"/>
                  <a:gd name="T59" fmla="*/ 106 h 325"/>
                  <a:gd name="T60" fmla="*/ 3 w 365"/>
                  <a:gd name="T61" fmla="*/ 129 h 325"/>
                  <a:gd name="T62" fmla="*/ 0 w 365"/>
                  <a:gd name="T63" fmla="*/ 153 h 325"/>
                  <a:gd name="T64" fmla="*/ 0 w 365"/>
                  <a:gd name="T65" fmla="*/ 178 h 325"/>
                  <a:gd name="T66" fmla="*/ 5 w 365"/>
                  <a:gd name="T67" fmla="*/ 202 h 325"/>
                  <a:gd name="T68" fmla="*/ 14 w 365"/>
                  <a:gd name="T69" fmla="*/ 225 h 325"/>
                  <a:gd name="T70" fmla="*/ 26 w 365"/>
                  <a:gd name="T71" fmla="*/ 245 h 325"/>
                  <a:gd name="T72" fmla="*/ 41 w 365"/>
                  <a:gd name="T73" fmla="*/ 264 h 325"/>
                  <a:gd name="T74" fmla="*/ 59 w 365"/>
                  <a:gd name="T75" fmla="*/ 281 h 325"/>
                  <a:gd name="T76" fmla="*/ 80 w 365"/>
                  <a:gd name="T77" fmla="*/ 296 h 325"/>
                  <a:gd name="T78" fmla="*/ 102 w 365"/>
                  <a:gd name="T79" fmla="*/ 307 h 325"/>
                  <a:gd name="T80" fmla="*/ 127 w 365"/>
                  <a:gd name="T81" fmla="*/ 316 h 325"/>
                  <a:gd name="T82" fmla="*/ 154 w 365"/>
                  <a:gd name="T83" fmla="*/ 322 h 325"/>
                  <a:gd name="T84" fmla="*/ 181 w 365"/>
                  <a:gd name="T85" fmla="*/ 324 h 32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65"/>
                  <a:gd name="T130" fmla="*/ 0 h 325"/>
                  <a:gd name="T131" fmla="*/ 365 w 365"/>
                  <a:gd name="T132" fmla="*/ 325 h 32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65" h="325">
                    <a:moveTo>
                      <a:pt x="181" y="324"/>
                    </a:moveTo>
                    <a:lnTo>
                      <a:pt x="191" y="323"/>
                    </a:lnTo>
                    <a:lnTo>
                      <a:pt x="200" y="322"/>
                    </a:lnTo>
                    <a:lnTo>
                      <a:pt x="209" y="322"/>
                    </a:lnTo>
                    <a:lnTo>
                      <a:pt x="218" y="320"/>
                    </a:lnTo>
                    <a:lnTo>
                      <a:pt x="227" y="318"/>
                    </a:lnTo>
                    <a:lnTo>
                      <a:pt x="235" y="316"/>
                    </a:lnTo>
                    <a:lnTo>
                      <a:pt x="244" y="314"/>
                    </a:lnTo>
                    <a:lnTo>
                      <a:pt x="252" y="311"/>
                    </a:lnTo>
                    <a:lnTo>
                      <a:pt x="260" y="307"/>
                    </a:lnTo>
                    <a:lnTo>
                      <a:pt x="268" y="304"/>
                    </a:lnTo>
                    <a:lnTo>
                      <a:pt x="276" y="300"/>
                    </a:lnTo>
                    <a:lnTo>
                      <a:pt x="283" y="296"/>
                    </a:lnTo>
                    <a:lnTo>
                      <a:pt x="290" y="291"/>
                    </a:lnTo>
                    <a:lnTo>
                      <a:pt x="297" y="287"/>
                    </a:lnTo>
                    <a:lnTo>
                      <a:pt x="304" y="281"/>
                    </a:lnTo>
                    <a:lnTo>
                      <a:pt x="310" y="276"/>
                    </a:lnTo>
                    <a:lnTo>
                      <a:pt x="316" y="270"/>
                    </a:lnTo>
                    <a:lnTo>
                      <a:pt x="322" y="264"/>
                    </a:lnTo>
                    <a:lnTo>
                      <a:pt x="327" y="258"/>
                    </a:lnTo>
                    <a:lnTo>
                      <a:pt x="332" y="252"/>
                    </a:lnTo>
                    <a:lnTo>
                      <a:pt x="337" y="245"/>
                    </a:lnTo>
                    <a:lnTo>
                      <a:pt x="341" y="239"/>
                    </a:lnTo>
                    <a:lnTo>
                      <a:pt x="345" y="232"/>
                    </a:lnTo>
                    <a:lnTo>
                      <a:pt x="349" y="225"/>
                    </a:lnTo>
                    <a:lnTo>
                      <a:pt x="353" y="217"/>
                    </a:lnTo>
                    <a:lnTo>
                      <a:pt x="355" y="209"/>
                    </a:lnTo>
                    <a:lnTo>
                      <a:pt x="358" y="202"/>
                    </a:lnTo>
                    <a:lnTo>
                      <a:pt x="360" y="194"/>
                    </a:lnTo>
                    <a:lnTo>
                      <a:pt x="361" y="186"/>
                    </a:lnTo>
                    <a:lnTo>
                      <a:pt x="362" y="178"/>
                    </a:lnTo>
                    <a:lnTo>
                      <a:pt x="363" y="170"/>
                    </a:lnTo>
                    <a:lnTo>
                      <a:pt x="364" y="161"/>
                    </a:lnTo>
                    <a:lnTo>
                      <a:pt x="363" y="153"/>
                    </a:lnTo>
                    <a:lnTo>
                      <a:pt x="362" y="145"/>
                    </a:lnTo>
                    <a:lnTo>
                      <a:pt x="361" y="137"/>
                    </a:lnTo>
                    <a:lnTo>
                      <a:pt x="360" y="129"/>
                    </a:lnTo>
                    <a:lnTo>
                      <a:pt x="358" y="121"/>
                    </a:lnTo>
                    <a:lnTo>
                      <a:pt x="355" y="113"/>
                    </a:lnTo>
                    <a:lnTo>
                      <a:pt x="353" y="106"/>
                    </a:lnTo>
                    <a:lnTo>
                      <a:pt x="349" y="98"/>
                    </a:lnTo>
                    <a:lnTo>
                      <a:pt x="345" y="91"/>
                    </a:lnTo>
                    <a:lnTo>
                      <a:pt x="341" y="84"/>
                    </a:lnTo>
                    <a:lnTo>
                      <a:pt x="337" y="77"/>
                    </a:lnTo>
                    <a:lnTo>
                      <a:pt x="332" y="71"/>
                    </a:lnTo>
                    <a:lnTo>
                      <a:pt x="327" y="65"/>
                    </a:lnTo>
                    <a:lnTo>
                      <a:pt x="322" y="58"/>
                    </a:lnTo>
                    <a:lnTo>
                      <a:pt x="316" y="52"/>
                    </a:lnTo>
                    <a:lnTo>
                      <a:pt x="310" y="47"/>
                    </a:lnTo>
                    <a:lnTo>
                      <a:pt x="304" y="42"/>
                    </a:lnTo>
                    <a:lnTo>
                      <a:pt x="297" y="36"/>
                    </a:lnTo>
                    <a:lnTo>
                      <a:pt x="290" y="32"/>
                    </a:lnTo>
                    <a:lnTo>
                      <a:pt x="283" y="27"/>
                    </a:lnTo>
                    <a:lnTo>
                      <a:pt x="276" y="23"/>
                    </a:lnTo>
                    <a:lnTo>
                      <a:pt x="268" y="19"/>
                    </a:lnTo>
                    <a:lnTo>
                      <a:pt x="260" y="15"/>
                    </a:lnTo>
                    <a:lnTo>
                      <a:pt x="252" y="12"/>
                    </a:lnTo>
                    <a:lnTo>
                      <a:pt x="244" y="9"/>
                    </a:lnTo>
                    <a:lnTo>
                      <a:pt x="235" y="7"/>
                    </a:lnTo>
                    <a:lnTo>
                      <a:pt x="227" y="5"/>
                    </a:lnTo>
                    <a:lnTo>
                      <a:pt x="218" y="3"/>
                    </a:lnTo>
                    <a:lnTo>
                      <a:pt x="209" y="1"/>
                    </a:lnTo>
                    <a:lnTo>
                      <a:pt x="200" y="0"/>
                    </a:lnTo>
                    <a:lnTo>
                      <a:pt x="191" y="0"/>
                    </a:lnTo>
                    <a:lnTo>
                      <a:pt x="181" y="0"/>
                    </a:lnTo>
                    <a:lnTo>
                      <a:pt x="172" y="0"/>
                    </a:lnTo>
                    <a:lnTo>
                      <a:pt x="163" y="0"/>
                    </a:lnTo>
                    <a:lnTo>
                      <a:pt x="154" y="1"/>
                    </a:lnTo>
                    <a:lnTo>
                      <a:pt x="145" y="3"/>
                    </a:lnTo>
                    <a:lnTo>
                      <a:pt x="136" y="5"/>
                    </a:lnTo>
                    <a:lnTo>
                      <a:pt x="127" y="7"/>
                    </a:lnTo>
                    <a:lnTo>
                      <a:pt x="119" y="9"/>
                    </a:lnTo>
                    <a:lnTo>
                      <a:pt x="111" y="12"/>
                    </a:lnTo>
                    <a:lnTo>
                      <a:pt x="102" y="15"/>
                    </a:lnTo>
                    <a:lnTo>
                      <a:pt x="94" y="19"/>
                    </a:lnTo>
                    <a:lnTo>
                      <a:pt x="87" y="23"/>
                    </a:lnTo>
                    <a:lnTo>
                      <a:pt x="80" y="27"/>
                    </a:lnTo>
                    <a:lnTo>
                      <a:pt x="73" y="32"/>
                    </a:lnTo>
                    <a:lnTo>
                      <a:pt x="66" y="36"/>
                    </a:lnTo>
                    <a:lnTo>
                      <a:pt x="59" y="42"/>
                    </a:lnTo>
                    <a:lnTo>
                      <a:pt x="53" y="47"/>
                    </a:lnTo>
                    <a:lnTo>
                      <a:pt x="47" y="52"/>
                    </a:lnTo>
                    <a:lnTo>
                      <a:pt x="41" y="58"/>
                    </a:lnTo>
                    <a:lnTo>
                      <a:pt x="36" y="65"/>
                    </a:lnTo>
                    <a:lnTo>
                      <a:pt x="31" y="71"/>
                    </a:lnTo>
                    <a:lnTo>
                      <a:pt x="26" y="77"/>
                    </a:lnTo>
                    <a:lnTo>
                      <a:pt x="21" y="84"/>
                    </a:lnTo>
                    <a:lnTo>
                      <a:pt x="17" y="91"/>
                    </a:lnTo>
                    <a:lnTo>
                      <a:pt x="14" y="98"/>
                    </a:lnTo>
                    <a:lnTo>
                      <a:pt x="10" y="106"/>
                    </a:lnTo>
                    <a:lnTo>
                      <a:pt x="8" y="113"/>
                    </a:lnTo>
                    <a:lnTo>
                      <a:pt x="5" y="121"/>
                    </a:lnTo>
                    <a:lnTo>
                      <a:pt x="3" y="129"/>
                    </a:lnTo>
                    <a:lnTo>
                      <a:pt x="2" y="137"/>
                    </a:lnTo>
                    <a:lnTo>
                      <a:pt x="0" y="145"/>
                    </a:lnTo>
                    <a:lnTo>
                      <a:pt x="0" y="153"/>
                    </a:lnTo>
                    <a:lnTo>
                      <a:pt x="0" y="161"/>
                    </a:lnTo>
                    <a:lnTo>
                      <a:pt x="0" y="170"/>
                    </a:lnTo>
                    <a:lnTo>
                      <a:pt x="0" y="178"/>
                    </a:lnTo>
                    <a:lnTo>
                      <a:pt x="2" y="186"/>
                    </a:lnTo>
                    <a:lnTo>
                      <a:pt x="3" y="194"/>
                    </a:lnTo>
                    <a:lnTo>
                      <a:pt x="5" y="202"/>
                    </a:lnTo>
                    <a:lnTo>
                      <a:pt x="8" y="209"/>
                    </a:lnTo>
                    <a:lnTo>
                      <a:pt x="10" y="217"/>
                    </a:lnTo>
                    <a:lnTo>
                      <a:pt x="14" y="225"/>
                    </a:lnTo>
                    <a:lnTo>
                      <a:pt x="17" y="232"/>
                    </a:lnTo>
                    <a:lnTo>
                      <a:pt x="21" y="239"/>
                    </a:lnTo>
                    <a:lnTo>
                      <a:pt x="26" y="245"/>
                    </a:lnTo>
                    <a:lnTo>
                      <a:pt x="31" y="252"/>
                    </a:lnTo>
                    <a:lnTo>
                      <a:pt x="36" y="258"/>
                    </a:lnTo>
                    <a:lnTo>
                      <a:pt x="41" y="264"/>
                    </a:lnTo>
                    <a:lnTo>
                      <a:pt x="47" y="270"/>
                    </a:lnTo>
                    <a:lnTo>
                      <a:pt x="53" y="276"/>
                    </a:lnTo>
                    <a:lnTo>
                      <a:pt x="59" y="281"/>
                    </a:lnTo>
                    <a:lnTo>
                      <a:pt x="66" y="287"/>
                    </a:lnTo>
                    <a:lnTo>
                      <a:pt x="73" y="291"/>
                    </a:lnTo>
                    <a:lnTo>
                      <a:pt x="80" y="296"/>
                    </a:lnTo>
                    <a:lnTo>
                      <a:pt x="87" y="300"/>
                    </a:lnTo>
                    <a:lnTo>
                      <a:pt x="94" y="304"/>
                    </a:lnTo>
                    <a:lnTo>
                      <a:pt x="102" y="307"/>
                    </a:lnTo>
                    <a:lnTo>
                      <a:pt x="111" y="311"/>
                    </a:lnTo>
                    <a:lnTo>
                      <a:pt x="119" y="314"/>
                    </a:lnTo>
                    <a:lnTo>
                      <a:pt x="127" y="316"/>
                    </a:lnTo>
                    <a:lnTo>
                      <a:pt x="136" y="318"/>
                    </a:lnTo>
                    <a:lnTo>
                      <a:pt x="145" y="320"/>
                    </a:lnTo>
                    <a:lnTo>
                      <a:pt x="154" y="322"/>
                    </a:lnTo>
                    <a:lnTo>
                      <a:pt x="163" y="322"/>
                    </a:lnTo>
                    <a:lnTo>
                      <a:pt x="172" y="323"/>
                    </a:lnTo>
                    <a:lnTo>
                      <a:pt x="181" y="324"/>
                    </a:lnTo>
                    <a:lnTo>
                      <a:pt x="181" y="323"/>
                    </a:lnTo>
                    <a:lnTo>
                      <a:pt x="181" y="324"/>
                    </a:lnTo>
                  </a:path>
                </a:pathLst>
              </a:custGeom>
              <a:solidFill>
                <a:srgbClr val="CC0000"/>
              </a:solidFill>
              <a:ln w="9525" cap="rnd">
                <a:noFill/>
                <a:round/>
              </a:ln>
            </p:spPr>
            <p:txBody>
              <a:bodyPr wrap="none" lIns="98624" tIns="49313" rIns="98624" bIns="49313" anchor="ctr"/>
              <a:lstStyle/>
              <a:p>
                <a:endParaRPr lang="zh-CN" altLang="en-US"/>
              </a:p>
            </p:txBody>
          </p:sp>
          <p:sp>
            <p:nvSpPr>
              <p:cNvPr id="11368" name="Freeform 467"/>
              <p:cNvSpPr/>
              <p:nvPr/>
            </p:nvSpPr>
            <p:spPr bwMode="auto">
              <a:xfrm>
                <a:off x="1981" y="2038"/>
                <a:ext cx="305" cy="271"/>
              </a:xfrm>
              <a:custGeom>
                <a:avLst/>
                <a:gdLst>
                  <a:gd name="T0" fmla="*/ 167 w 305"/>
                  <a:gd name="T1" fmla="*/ 269 h 271"/>
                  <a:gd name="T2" fmla="*/ 190 w 305"/>
                  <a:gd name="T3" fmla="*/ 265 h 271"/>
                  <a:gd name="T4" fmla="*/ 211 w 305"/>
                  <a:gd name="T5" fmla="*/ 259 h 271"/>
                  <a:gd name="T6" fmla="*/ 230 w 305"/>
                  <a:gd name="T7" fmla="*/ 250 h 271"/>
                  <a:gd name="T8" fmla="*/ 248 w 305"/>
                  <a:gd name="T9" fmla="*/ 239 h 271"/>
                  <a:gd name="T10" fmla="*/ 264 w 305"/>
                  <a:gd name="T11" fmla="*/ 225 h 271"/>
                  <a:gd name="T12" fmla="*/ 277 w 305"/>
                  <a:gd name="T13" fmla="*/ 210 h 271"/>
                  <a:gd name="T14" fmla="*/ 288 w 305"/>
                  <a:gd name="T15" fmla="*/ 193 h 271"/>
                  <a:gd name="T16" fmla="*/ 296 w 305"/>
                  <a:gd name="T17" fmla="*/ 175 h 271"/>
                  <a:gd name="T18" fmla="*/ 302 w 305"/>
                  <a:gd name="T19" fmla="*/ 155 h 271"/>
                  <a:gd name="T20" fmla="*/ 304 w 305"/>
                  <a:gd name="T21" fmla="*/ 134 h 271"/>
                  <a:gd name="T22" fmla="*/ 302 w 305"/>
                  <a:gd name="T23" fmla="*/ 113 h 271"/>
                  <a:gd name="T24" fmla="*/ 296 w 305"/>
                  <a:gd name="T25" fmla="*/ 94 h 271"/>
                  <a:gd name="T26" fmla="*/ 288 w 305"/>
                  <a:gd name="T27" fmla="*/ 76 h 271"/>
                  <a:gd name="T28" fmla="*/ 277 w 305"/>
                  <a:gd name="T29" fmla="*/ 59 h 271"/>
                  <a:gd name="T30" fmla="*/ 264 w 305"/>
                  <a:gd name="T31" fmla="*/ 44 h 271"/>
                  <a:gd name="T32" fmla="*/ 248 w 305"/>
                  <a:gd name="T33" fmla="*/ 30 h 271"/>
                  <a:gd name="T34" fmla="*/ 230 w 305"/>
                  <a:gd name="T35" fmla="*/ 19 h 271"/>
                  <a:gd name="T36" fmla="*/ 211 w 305"/>
                  <a:gd name="T37" fmla="*/ 10 h 271"/>
                  <a:gd name="T38" fmla="*/ 190 w 305"/>
                  <a:gd name="T39" fmla="*/ 4 h 271"/>
                  <a:gd name="T40" fmla="*/ 167 w 305"/>
                  <a:gd name="T41" fmla="*/ 0 h 271"/>
                  <a:gd name="T42" fmla="*/ 144 w 305"/>
                  <a:gd name="T43" fmla="*/ 0 h 271"/>
                  <a:gd name="T44" fmla="*/ 121 w 305"/>
                  <a:gd name="T45" fmla="*/ 2 h 271"/>
                  <a:gd name="T46" fmla="*/ 99 w 305"/>
                  <a:gd name="T47" fmla="*/ 8 h 271"/>
                  <a:gd name="T48" fmla="*/ 79 w 305"/>
                  <a:gd name="T49" fmla="*/ 16 h 271"/>
                  <a:gd name="T50" fmla="*/ 61 w 305"/>
                  <a:gd name="T51" fmla="*/ 26 h 271"/>
                  <a:gd name="T52" fmla="*/ 44 w 305"/>
                  <a:gd name="T53" fmla="*/ 39 h 271"/>
                  <a:gd name="T54" fmla="*/ 30 w 305"/>
                  <a:gd name="T55" fmla="*/ 53 h 271"/>
                  <a:gd name="T56" fmla="*/ 18 w 305"/>
                  <a:gd name="T57" fmla="*/ 70 h 271"/>
                  <a:gd name="T58" fmla="*/ 9 w 305"/>
                  <a:gd name="T59" fmla="*/ 88 h 271"/>
                  <a:gd name="T60" fmla="*/ 3 w 305"/>
                  <a:gd name="T61" fmla="*/ 107 h 271"/>
                  <a:gd name="T62" fmla="*/ 0 w 305"/>
                  <a:gd name="T63" fmla="*/ 127 h 271"/>
                  <a:gd name="T64" fmla="*/ 0 w 305"/>
                  <a:gd name="T65" fmla="*/ 148 h 271"/>
                  <a:gd name="T66" fmla="*/ 5 w 305"/>
                  <a:gd name="T67" fmla="*/ 168 h 271"/>
                  <a:gd name="T68" fmla="*/ 12 w 305"/>
                  <a:gd name="T69" fmla="*/ 187 h 271"/>
                  <a:gd name="T70" fmla="*/ 22 w 305"/>
                  <a:gd name="T71" fmla="*/ 204 h 271"/>
                  <a:gd name="T72" fmla="*/ 35 w 305"/>
                  <a:gd name="T73" fmla="*/ 220 h 271"/>
                  <a:gd name="T74" fmla="*/ 49 w 305"/>
                  <a:gd name="T75" fmla="*/ 234 h 271"/>
                  <a:gd name="T76" fmla="*/ 67 w 305"/>
                  <a:gd name="T77" fmla="*/ 246 h 271"/>
                  <a:gd name="T78" fmla="*/ 86 w 305"/>
                  <a:gd name="T79" fmla="*/ 256 h 271"/>
                  <a:gd name="T80" fmla="*/ 106 w 305"/>
                  <a:gd name="T81" fmla="*/ 264 h 271"/>
                  <a:gd name="T82" fmla="*/ 128 w 305"/>
                  <a:gd name="T83" fmla="*/ 268 h 271"/>
                  <a:gd name="T84" fmla="*/ 152 w 305"/>
                  <a:gd name="T85" fmla="*/ 270 h 27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05"/>
                  <a:gd name="T130" fmla="*/ 0 h 271"/>
                  <a:gd name="T131" fmla="*/ 305 w 305"/>
                  <a:gd name="T132" fmla="*/ 271 h 27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05" h="271">
                    <a:moveTo>
                      <a:pt x="152" y="270"/>
                    </a:moveTo>
                    <a:lnTo>
                      <a:pt x="159" y="269"/>
                    </a:lnTo>
                    <a:lnTo>
                      <a:pt x="167" y="269"/>
                    </a:lnTo>
                    <a:lnTo>
                      <a:pt x="175" y="268"/>
                    </a:lnTo>
                    <a:lnTo>
                      <a:pt x="182" y="267"/>
                    </a:lnTo>
                    <a:lnTo>
                      <a:pt x="190" y="265"/>
                    </a:lnTo>
                    <a:lnTo>
                      <a:pt x="197" y="264"/>
                    </a:lnTo>
                    <a:lnTo>
                      <a:pt x="204" y="261"/>
                    </a:lnTo>
                    <a:lnTo>
                      <a:pt x="211" y="259"/>
                    </a:lnTo>
                    <a:lnTo>
                      <a:pt x="217" y="256"/>
                    </a:lnTo>
                    <a:lnTo>
                      <a:pt x="224" y="253"/>
                    </a:lnTo>
                    <a:lnTo>
                      <a:pt x="230" y="250"/>
                    </a:lnTo>
                    <a:lnTo>
                      <a:pt x="236" y="246"/>
                    </a:lnTo>
                    <a:lnTo>
                      <a:pt x="242" y="243"/>
                    </a:lnTo>
                    <a:lnTo>
                      <a:pt x="248" y="239"/>
                    </a:lnTo>
                    <a:lnTo>
                      <a:pt x="254" y="234"/>
                    </a:lnTo>
                    <a:lnTo>
                      <a:pt x="259" y="230"/>
                    </a:lnTo>
                    <a:lnTo>
                      <a:pt x="264" y="225"/>
                    </a:lnTo>
                    <a:lnTo>
                      <a:pt x="269" y="220"/>
                    </a:lnTo>
                    <a:lnTo>
                      <a:pt x="273" y="215"/>
                    </a:lnTo>
                    <a:lnTo>
                      <a:pt x="277" y="210"/>
                    </a:lnTo>
                    <a:lnTo>
                      <a:pt x="282" y="204"/>
                    </a:lnTo>
                    <a:lnTo>
                      <a:pt x="285" y="199"/>
                    </a:lnTo>
                    <a:lnTo>
                      <a:pt x="288" y="193"/>
                    </a:lnTo>
                    <a:lnTo>
                      <a:pt x="291" y="187"/>
                    </a:lnTo>
                    <a:lnTo>
                      <a:pt x="294" y="181"/>
                    </a:lnTo>
                    <a:lnTo>
                      <a:pt x="296" y="175"/>
                    </a:lnTo>
                    <a:lnTo>
                      <a:pt x="299" y="168"/>
                    </a:lnTo>
                    <a:lnTo>
                      <a:pt x="300" y="161"/>
                    </a:lnTo>
                    <a:lnTo>
                      <a:pt x="302" y="155"/>
                    </a:lnTo>
                    <a:lnTo>
                      <a:pt x="303" y="148"/>
                    </a:lnTo>
                    <a:lnTo>
                      <a:pt x="303" y="141"/>
                    </a:lnTo>
                    <a:lnTo>
                      <a:pt x="304" y="134"/>
                    </a:lnTo>
                    <a:lnTo>
                      <a:pt x="303" y="127"/>
                    </a:lnTo>
                    <a:lnTo>
                      <a:pt x="303" y="120"/>
                    </a:lnTo>
                    <a:lnTo>
                      <a:pt x="302" y="113"/>
                    </a:lnTo>
                    <a:lnTo>
                      <a:pt x="300" y="107"/>
                    </a:lnTo>
                    <a:lnTo>
                      <a:pt x="299" y="101"/>
                    </a:lnTo>
                    <a:lnTo>
                      <a:pt x="296" y="94"/>
                    </a:lnTo>
                    <a:lnTo>
                      <a:pt x="294" y="88"/>
                    </a:lnTo>
                    <a:lnTo>
                      <a:pt x="291" y="82"/>
                    </a:lnTo>
                    <a:lnTo>
                      <a:pt x="288" y="76"/>
                    </a:lnTo>
                    <a:lnTo>
                      <a:pt x="285" y="70"/>
                    </a:lnTo>
                    <a:lnTo>
                      <a:pt x="282" y="64"/>
                    </a:lnTo>
                    <a:lnTo>
                      <a:pt x="277" y="59"/>
                    </a:lnTo>
                    <a:lnTo>
                      <a:pt x="273" y="53"/>
                    </a:lnTo>
                    <a:lnTo>
                      <a:pt x="269" y="48"/>
                    </a:lnTo>
                    <a:lnTo>
                      <a:pt x="264" y="44"/>
                    </a:lnTo>
                    <a:lnTo>
                      <a:pt x="259" y="39"/>
                    </a:lnTo>
                    <a:lnTo>
                      <a:pt x="254" y="34"/>
                    </a:lnTo>
                    <a:lnTo>
                      <a:pt x="248" y="30"/>
                    </a:lnTo>
                    <a:lnTo>
                      <a:pt x="242" y="26"/>
                    </a:lnTo>
                    <a:lnTo>
                      <a:pt x="236" y="23"/>
                    </a:lnTo>
                    <a:lnTo>
                      <a:pt x="230" y="19"/>
                    </a:lnTo>
                    <a:lnTo>
                      <a:pt x="224" y="16"/>
                    </a:lnTo>
                    <a:lnTo>
                      <a:pt x="217" y="13"/>
                    </a:lnTo>
                    <a:lnTo>
                      <a:pt x="211" y="10"/>
                    </a:lnTo>
                    <a:lnTo>
                      <a:pt x="204" y="8"/>
                    </a:lnTo>
                    <a:lnTo>
                      <a:pt x="197" y="5"/>
                    </a:lnTo>
                    <a:lnTo>
                      <a:pt x="190" y="4"/>
                    </a:lnTo>
                    <a:lnTo>
                      <a:pt x="182" y="2"/>
                    </a:lnTo>
                    <a:lnTo>
                      <a:pt x="175" y="1"/>
                    </a:lnTo>
                    <a:lnTo>
                      <a:pt x="167" y="0"/>
                    </a:lnTo>
                    <a:lnTo>
                      <a:pt x="159" y="0"/>
                    </a:lnTo>
                    <a:lnTo>
                      <a:pt x="152" y="0"/>
                    </a:lnTo>
                    <a:lnTo>
                      <a:pt x="144" y="0"/>
                    </a:lnTo>
                    <a:lnTo>
                      <a:pt x="136" y="0"/>
                    </a:lnTo>
                    <a:lnTo>
                      <a:pt x="128" y="1"/>
                    </a:lnTo>
                    <a:lnTo>
                      <a:pt x="121" y="2"/>
                    </a:lnTo>
                    <a:lnTo>
                      <a:pt x="113" y="4"/>
                    </a:lnTo>
                    <a:lnTo>
                      <a:pt x="106" y="5"/>
                    </a:lnTo>
                    <a:lnTo>
                      <a:pt x="99" y="8"/>
                    </a:lnTo>
                    <a:lnTo>
                      <a:pt x="92" y="10"/>
                    </a:lnTo>
                    <a:lnTo>
                      <a:pt x="86" y="13"/>
                    </a:lnTo>
                    <a:lnTo>
                      <a:pt x="79" y="16"/>
                    </a:lnTo>
                    <a:lnTo>
                      <a:pt x="73" y="19"/>
                    </a:lnTo>
                    <a:lnTo>
                      <a:pt x="67" y="23"/>
                    </a:lnTo>
                    <a:lnTo>
                      <a:pt x="61" y="26"/>
                    </a:lnTo>
                    <a:lnTo>
                      <a:pt x="55" y="30"/>
                    </a:lnTo>
                    <a:lnTo>
                      <a:pt x="49" y="34"/>
                    </a:lnTo>
                    <a:lnTo>
                      <a:pt x="44" y="39"/>
                    </a:lnTo>
                    <a:lnTo>
                      <a:pt x="39" y="44"/>
                    </a:lnTo>
                    <a:lnTo>
                      <a:pt x="35" y="48"/>
                    </a:lnTo>
                    <a:lnTo>
                      <a:pt x="30" y="53"/>
                    </a:lnTo>
                    <a:lnTo>
                      <a:pt x="26" y="59"/>
                    </a:lnTo>
                    <a:lnTo>
                      <a:pt x="22" y="64"/>
                    </a:lnTo>
                    <a:lnTo>
                      <a:pt x="18" y="70"/>
                    </a:lnTo>
                    <a:lnTo>
                      <a:pt x="15" y="76"/>
                    </a:lnTo>
                    <a:lnTo>
                      <a:pt x="12" y="82"/>
                    </a:lnTo>
                    <a:lnTo>
                      <a:pt x="9" y="88"/>
                    </a:lnTo>
                    <a:lnTo>
                      <a:pt x="7" y="94"/>
                    </a:lnTo>
                    <a:lnTo>
                      <a:pt x="5" y="101"/>
                    </a:lnTo>
                    <a:lnTo>
                      <a:pt x="3" y="107"/>
                    </a:lnTo>
                    <a:lnTo>
                      <a:pt x="2" y="113"/>
                    </a:lnTo>
                    <a:lnTo>
                      <a:pt x="0" y="120"/>
                    </a:lnTo>
                    <a:lnTo>
                      <a:pt x="0" y="127"/>
                    </a:lnTo>
                    <a:lnTo>
                      <a:pt x="0" y="134"/>
                    </a:lnTo>
                    <a:lnTo>
                      <a:pt x="0" y="141"/>
                    </a:lnTo>
                    <a:lnTo>
                      <a:pt x="0" y="148"/>
                    </a:lnTo>
                    <a:lnTo>
                      <a:pt x="2" y="155"/>
                    </a:lnTo>
                    <a:lnTo>
                      <a:pt x="3" y="161"/>
                    </a:lnTo>
                    <a:lnTo>
                      <a:pt x="5" y="168"/>
                    </a:lnTo>
                    <a:lnTo>
                      <a:pt x="7" y="175"/>
                    </a:lnTo>
                    <a:lnTo>
                      <a:pt x="9" y="181"/>
                    </a:lnTo>
                    <a:lnTo>
                      <a:pt x="12" y="187"/>
                    </a:lnTo>
                    <a:lnTo>
                      <a:pt x="15" y="193"/>
                    </a:lnTo>
                    <a:lnTo>
                      <a:pt x="18" y="199"/>
                    </a:lnTo>
                    <a:lnTo>
                      <a:pt x="22" y="204"/>
                    </a:lnTo>
                    <a:lnTo>
                      <a:pt x="26" y="210"/>
                    </a:lnTo>
                    <a:lnTo>
                      <a:pt x="30" y="215"/>
                    </a:lnTo>
                    <a:lnTo>
                      <a:pt x="35" y="220"/>
                    </a:lnTo>
                    <a:lnTo>
                      <a:pt x="39" y="225"/>
                    </a:lnTo>
                    <a:lnTo>
                      <a:pt x="44" y="230"/>
                    </a:lnTo>
                    <a:lnTo>
                      <a:pt x="49" y="234"/>
                    </a:lnTo>
                    <a:lnTo>
                      <a:pt x="55" y="239"/>
                    </a:lnTo>
                    <a:lnTo>
                      <a:pt x="61" y="243"/>
                    </a:lnTo>
                    <a:lnTo>
                      <a:pt x="67" y="246"/>
                    </a:lnTo>
                    <a:lnTo>
                      <a:pt x="73" y="250"/>
                    </a:lnTo>
                    <a:lnTo>
                      <a:pt x="79" y="253"/>
                    </a:lnTo>
                    <a:lnTo>
                      <a:pt x="86" y="256"/>
                    </a:lnTo>
                    <a:lnTo>
                      <a:pt x="92" y="259"/>
                    </a:lnTo>
                    <a:lnTo>
                      <a:pt x="99" y="261"/>
                    </a:lnTo>
                    <a:lnTo>
                      <a:pt x="106" y="264"/>
                    </a:lnTo>
                    <a:lnTo>
                      <a:pt x="113" y="265"/>
                    </a:lnTo>
                    <a:lnTo>
                      <a:pt x="121" y="267"/>
                    </a:lnTo>
                    <a:lnTo>
                      <a:pt x="128" y="268"/>
                    </a:lnTo>
                    <a:lnTo>
                      <a:pt x="136" y="269"/>
                    </a:lnTo>
                    <a:lnTo>
                      <a:pt x="144" y="269"/>
                    </a:lnTo>
                    <a:lnTo>
                      <a:pt x="152" y="270"/>
                    </a:lnTo>
                  </a:path>
                </a:pathLst>
              </a:custGeom>
              <a:solidFill>
                <a:srgbClr val="FFFFFF"/>
              </a:solidFill>
              <a:ln w="9525" cap="rnd">
                <a:noFill/>
                <a:round/>
              </a:ln>
            </p:spPr>
            <p:txBody>
              <a:bodyPr wrap="none" lIns="98624" tIns="49313" rIns="98624" bIns="49313" anchor="ctr"/>
              <a:lstStyle/>
              <a:p>
                <a:endParaRPr lang="zh-CN" altLang="en-US"/>
              </a:p>
            </p:txBody>
          </p:sp>
          <p:sp>
            <p:nvSpPr>
              <p:cNvPr id="11369" name="Freeform 468"/>
              <p:cNvSpPr/>
              <p:nvPr/>
            </p:nvSpPr>
            <p:spPr bwMode="auto">
              <a:xfrm>
                <a:off x="2049" y="2040"/>
                <a:ext cx="176" cy="265"/>
              </a:xfrm>
              <a:custGeom>
                <a:avLst/>
                <a:gdLst>
                  <a:gd name="T0" fmla="*/ 175 w 176"/>
                  <a:gd name="T1" fmla="*/ 252 h 265"/>
                  <a:gd name="T2" fmla="*/ 20 w 176"/>
                  <a:gd name="T3" fmla="*/ 0 h 265"/>
                  <a:gd name="T4" fmla="*/ 0 w 176"/>
                  <a:gd name="T5" fmla="*/ 10 h 265"/>
                  <a:gd name="T6" fmla="*/ 153 w 176"/>
                  <a:gd name="T7" fmla="*/ 264 h 265"/>
                  <a:gd name="T8" fmla="*/ 175 w 176"/>
                  <a:gd name="T9" fmla="*/ 252 h 265"/>
                  <a:gd name="T10" fmla="*/ 0 60000 65536"/>
                  <a:gd name="T11" fmla="*/ 0 60000 65536"/>
                  <a:gd name="T12" fmla="*/ 0 60000 65536"/>
                  <a:gd name="T13" fmla="*/ 0 60000 65536"/>
                  <a:gd name="T14" fmla="*/ 0 60000 65536"/>
                  <a:gd name="T15" fmla="*/ 0 w 176"/>
                  <a:gd name="T16" fmla="*/ 0 h 265"/>
                  <a:gd name="T17" fmla="*/ 176 w 176"/>
                  <a:gd name="T18" fmla="*/ 265 h 265"/>
                </a:gdLst>
                <a:ahLst/>
                <a:cxnLst>
                  <a:cxn ang="T10">
                    <a:pos x="T0" y="T1"/>
                  </a:cxn>
                  <a:cxn ang="T11">
                    <a:pos x="T2" y="T3"/>
                  </a:cxn>
                  <a:cxn ang="T12">
                    <a:pos x="T4" y="T5"/>
                  </a:cxn>
                  <a:cxn ang="T13">
                    <a:pos x="T6" y="T7"/>
                  </a:cxn>
                  <a:cxn ang="T14">
                    <a:pos x="T8" y="T9"/>
                  </a:cxn>
                </a:cxnLst>
                <a:rect l="T15" t="T16" r="T17" b="T18"/>
                <a:pathLst>
                  <a:path w="176" h="265">
                    <a:moveTo>
                      <a:pt x="175" y="252"/>
                    </a:moveTo>
                    <a:lnTo>
                      <a:pt x="20" y="0"/>
                    </a:lnTo>
                    <a:lnTo>
                      <a:pt x="0" y="10"/>
                    </a:lnTo>
                    <a:lnTo>
                      <a:pt x="153" y="264"/>
                    </a:lnTo>
                    <a:lnTo>
                      <a:pt x="175" y="252"/>
                    </a:lnTo>
                  </a:path>
                </a:pathLst>
              </a:custGeom>
              <a:solidFill>
                <a:srgbClr val="CC0000"/>
              </a:solidFill>
              <a:ln w="9525" cap="rnd">
                <a:noFill/>
                <a:round/>
              </a:ln>
            </p:spPr>
            <p:txBody>
              <a:bodyPr wrap="none" lIns="98624" tIns="49313" rIns="98624" bIns="49313" anchor="ctr"/>
              <a:lstStyle/>
              <a:p>
                <a:endParaRPr lang="zh-CN" altLang="en-US"/>
              </a:p>
            </p:txBody>
          </p:sp>
        </p:grpSp>
        <p:sp>
          <p:nvSpPr>
            <p:cNvPr id="250325" name="Rectangle 469"/>
            <p:cNvSpPr>
              <a:spLocks noChangeArrowheads="1"/>
            </p:cNvSpPr>
            <p:nvPr/>
          </p:nvSpPr>
          <p:spPr bwMode="auto">
            <a:xfrm>
              <a:off x="1516" y="2848"/>
              <a:ext cx="1372" cy="1096"/>
            </a:xfrm>
            <a:prstGeom prst="rect">
              <a:avLst/>
            </a:prstGeom>
            <a:solidFill>
              <a:schemeClr val="tx2">
                <a:lumMod val="20000"/>
                <a:lumOff val="80000"/>
              </a:schemeClr>
            </a:solidFill>
            <a:ln w="50799">
              <a:solidFill>
                <a:srgbClr val="CC0000"/>
              </a:solidFill>
              <a:miter lim="800000"/>
            </a:ln>
            <a:effectLst/>
          </p:spPr>
          <p:txBody>
            <a:bodyPr wrap="none" lIns="98624" tIns="49313" rIns="98624" bIns="49313" anchor="ctr"/>
            <a:lstStyle/>
            <a:p>
              <a:pPr defTabSz="979805" eaLnBrk="0" hangingPunct="0">
                <a:defRPr/>
              </a:pPr>
              <a:r>
                <a:rPr kumimoji="1" lang="zh-CN" altLang="en-US" sz="2000" b="1">
                  <a:effectLst>
                    <a:outerShdw blurRad="38100" dist="38100" dir="2700000" algn="tl">
                      <a:srgbClr val="000000">
                        <a:alpha val="43137"/>
                      </a:srgbClr>
                    </a:outerShdw>
                  </a:effectLst>
                  <a:latin typeface="+mn-ea"/>
                  <a:ea typeface="+mn-ea"/>
                </a:rPr>
                <a:t>重新配置</a:t>
              </a:r>
            </a:p>
            <a:p>
              <a:pPr defTabSz="979805" eaLnBrk="0" hangingPunct="0">
                <a:defRPr/>
              </a:pPr>
              <a:r>
                <a:rPr kumimoji="1" lang="zh-CN" altLang="en-US" sz="2000" b="1">
                  <a:effectLst>
                    <a:outerShdw blurRad="38100" dist="38100" dir="2700000" algn="tl">
                      <a:srgbClr val="000000">
                        <a:alpha val="43137"/>
                      </a:srgbClr>
                    </a:outerShdw>
                  </a:effectLst>
                  <a:latin typeface="+mn-ea"/>
                  <a:ea typeface="+mn-ea"/>
                </a:rPr>
                <a:t>路由或防火墙</a:t>
              </a:r>
            </a:p>
            <a:p>
              <a:pPr defTabSz="979805" eaLnBrk="0" hangingPunct="0">
                <a:defRPr/>
              </a:pPr>
              <a:r>
                <a:rPr kumimoji="1" lang="zh-CN" altLang="en-US" sz="2000" b="1">
                  <a:effectLst>
                    <a:outerShdw blurRad="38100" dist="38100" dir="2700000" algn="tl">
                      <a:srgbClr val="000000">
                        <a:alpha val="43137"/>
                      </a:srgbClr>
                    </a:outerShdw>
                  </a:effectLst>
                  <a:latin typeface="+mn-ea"/>
                  <a:ea typeface="+mn-ea"/>
                </a:rPr>
                <a:t>以便隐藏</a:t>
              </a:r>
              <a:r>
                <a:rPr kumimoji="1" lang="en-US" altLang="zh-CN" sz="2000" b="1">
                  <a:effectLst>
                    <a:outerShdw blurRad="38100" dist="38100" dir="2700000" algn="tl">
                      <a:srgbClr val="000000">
                        <a:alpha val="43137"/>
                      </a:srgbClr>
                    </a:outerShdw>
                  </a:effectLst>
                  <a:latin typeface="+mn-ea"/>
                  <a:ea typeface="+mn-ea"/>
                </a:rPr>
                <a:t>IP</a:t>
              </a:r>
              <a:r>
                <a:rPr kumimoji="1" lang="zh-CN" altLang="en-US" sz="2000" b="1">
                  <a:effectLst>
                    <a:outerShdw blurRad="38100" dist="38100" dir="2700000" algn="tl">
                      <a:srgbClr val="000000">
                        <a:alpha val="43137"/>
                      </a:srgbClr>
                    </a:outerShdw>
                  </a:effectLst>
                  <a:latin typeface="+mn-ea"/>
                  <a:ea typeface="+mn-ea"/>
                </a:rPr>
                <a:t>地址</a:t>
              </a:r>
            </a:p>
          </p:txBody>
        </p:sp>
        <p:sp>
          <p:nvSpPr>
            <p:cNvPr id="11361" name="Line 470"/>
            <p:cNvSpPr>
              <a:spLocks noChangeShapeType="1"/>
            </p:cNvSpPr>
            <p:nvPr/>
          </p:nvSpPr>
          <p:spPr bwMode="auto">
            <a:xfrm>
              <a:off x="2100" y="2304"/>
              <a:ext cx="120" cy="540"/>
            </a:xfrm>
            <a:prstGeom prst="line">
              <a:avLst/>
            </a:prstGeom>
            <a:noFill/>
            <a:ln w="50799">
              <a:solidFill>
                <a:srgbClr val="CC0000"/>
              </a:solidFill>
              <a:round/>
              <a:headEnd type="none" w="sm" len="sm"/>
              <a:tailEnd type="none" w="sm" len="sm"/>
            </a:ln>
          </p:spPr>
          <p:txBody>
            <a:bodyPr wrap="none" lIns="98624" tIns="49313" rIns="98624" bIns="49313" anchor="ctr"/>
            <a:lstStyle/>
            <a:p>
              <a:endParaRPr lang="zh-CN" altLang="en-US"/>
            </a:p>
          </p:txBody>
        </p:sp>
        <p:grpSp>
          <p:nvGrpSpPr>
            <p:cNvPr id="250307" name="Group 471"/>
            <p:cNvGrpSpPr/>
            <p:nvPr/>
          </p:nvGrpSpPr>
          <p:grpSpPr bwMode="auto">
            <a:xfrm>
              <a:off x="2514" y="2034"/>
              <a:ext cx="365" cy="325"/>
              <a:chOff x="2514" y="2034"/>
              <a:chExt cx="365" cy="325"/>
            </a:xfrm>
          </p:grpSpPr>
          <p:sp>
            <p:nvSpPr>
              <p:cNvPr id="11364" name="Freeform 472"/>
              <p:cNvSpPr/>
              <p:nvPr/>
            </p:nvSpPr>
            <p:spPr bwMode="auto">
              <a:xfrm>
                <a:off x="2514" y="2034"/>
                <a:ext cx="365" cy="325"/>
              </a:xfrm>
              <a:custGeom>
                <a:avLst/>
                <a:gdLst>
                  <a:gd name="T0" fmla="*/ 200 w 365"/>
                  <a:gd name="T1" fmla="*/ 322 h 325"/>
                  <a:gd name="T2" fmla="*/ 227 w 365"/>
                  <a:gd name="T3" fmla="*/ 318 h 325"/>
                  <a:gd name="T4" fmla="*/ 252 w 365"/>
                  <a:gd name="T5" fmla="*/ 311 h 325"/>
                  <a:gd name="T6" fmla="*/ 276 w 365"/>
                  <a:gd name="T7" fmla="*/ 300 h 325"/>
                  <a:gd name="T8" fmla="*/ 297 w 365"/>
                  <a:gd name="T9" fmla="*/ 287 h 325"/>
                  <a:gd name="T10" fmla="*/ 316 w 365"/>
                  <a:gd name="T11" fmla="*/ 270 h 325"/>
                  <a:gd name="T12" fmla="*/ 332 w 365"/>
                  <a:gd name="T13" fmla="*/ 252 h 325"/>
                  <a:gd name="T14" fmla="*/ 345 w 365"/>
                  <a:gd name="T15" fmla="*/ 232 h 325"/>
                  <a:gd name="T16" fmla="*/ 355 w 365"/>
                  <a:gd name="T17" fmla="*/ 209 h 325"/>
                  <a:gd name="T18" fmla="*/ 361 w 365"/>
                  <a:gd name="T19" fmla="*/ 186 h 325"/>
                  <a:gd name="T20" fmla="*/ 364 w 365"/>
                  <a:gd name="T21" fmla="*/ 161 h 325"/>
                  <a:gd name="T22" fmla="*/ 361 w 365"/>
                  <a:gd name="T23" fmla="*/ 137 h 325"/>
                  <a:gd name="T24" fmla="*/ 355 w 365"/>
                  <a:gd name="T25" fmla="*/ 113 h 325"/>
                  <a:gd name="T26" fmla="*/ 345 w 365"/>
                  <a:gd name="T27" fmla="*/ 91 h 325"/>
                  <a:gd name="T28" fmla="*/ 332 w 365"/>
                  <a:gd name="T29" fmla="*/ 71 h 325"/>
                  <a:gd name="T30" fmla="*/ 316 w 365"/>
                  <a:gd name="T31" fmla="*/ 52 h 325"/>
                  <a:gd name="T32" fmla="*/ 297 w 365"/>
                  <a:gd name="T33" fmla="*/ 36 h 325"/>
                  <a:gd name="T34" fmla="*/ 276 w 365"/>
                  <a:gd name="T35" fmla="*/ 23 h 325"/>
                  <a:gd name="T36" fmla="*/ 252 w 365"/>
                  <a:gd name="T37" fmla="*/ 12 h 325"/>
                  <a:gd name="T38" fmla="*/ 227 w 365"/>
                  <a:gd name="T39" fmla="*/ 5 h 325"/>
                  <a:gd name="T40" fmla="*/ 200 w 365"/>
                  <a:gd name="T41" fmla="*/ 0 h 325"/>
                  <a:gd name="T42" fmla="*/ 172 w 365"/>
                  <a:gd name="T43" fmla="*/ 0 h 325"/>
                  <a:gd name="T44" fmla="*/ 145 w 365"/>
                  <a:gd name="T45" fmla="*/ 3 h 325"/>
                  <a:gd name="T46" fmla="*/ 119 w 365"/>
                  <a:gd name="T47" fmla="*/ 9 h 325"/>
                  <a:gd name="T48" fmla="*/ 94 w 365"/>
                  <a:gd name="T49" fmla="*/ 19 h 325"/>
                  <a:gd name="T50" fmla="*/ 73 w 365"/>
                  <a:gd name="T51" fmla="*/ 32 h 325"/>
                  <a:gd name="T52" fmla="*/ 53 w 365"/>
                  <a:gd name="T53" fmla="*/ 47 h 325"/>
                  <a:gd name="T54" fmla="*/ 36 w 365"/>
                  <a:gd name="T55" fmla="*/ 65 h 325"/>
                  <a:gd name="T56" fmla="*/ 21 w 365"/>
                  <a:gd name="T57" fmla="*/ 84 h 325"/>
                  <a:gd name="T58" fmla="*/ 10 w 365"/>
                  <a:gd name="T59" fmla="*/ 106 h 325"/>
                  <a:gd name="T60" fmla="*/ 3 w 365"/>
                  <a:gd name="T61" fmla="*/ 129 h 325"/>
                  <a:gd name="T62" fmla="*/ 0 w 365"/>
                  <a:gd name="T63" fmla="*/ 153 h 325"/>
                  <a:gd name="T64" fmla="*/ 0 w 365"/>
                  <a:gd name="T65" fmla="*/ 178 h 325"/>
                  <a:gd name="T66" fmla="*/ 5 w 365"/>
                  <a:gd name="T67" fmla="*/ 202 h 325"/>
                  <a:gd name="T68" fmla="*/ 14 w 365"/>
                  <a:gd name="T69" fmla="*/ 225 h 325"/>
                  <a:gd name="T70" fmla="*/ 26 w 365"/>
                  <a:gd name="T71" fmla="*/ 245 h 325"/>
                  <a:gd name="T72" fmla="*/ 41 w 365"/>
                  <a:gd name="T73" fmla="*/ 264 h 325"/>
                  <a:gd name="T74" fmla="*/ 59 w 365"/>
                  <a:gd name="T75" fmla="*/ 281 h 325"/>
                  <a:gd name="T76" fmla="*/ 80 w 365"/>
                  <a:gd name="T77" fmla="*/ 296 h 325"/>
                  <a:gd name="T78" fmla="*/ 102 w 365"/>
                  <a:gd name="T79" fmla="*/ 307 h 325"/>
                  <a:gd name="T80" fmla="*/ 127 w 365"/>
                  <a:gd name="T81" fmla="*/ 316 h 325"/>
                  <a:gd name="T82" fmla="*/ 154 w 365"/>
                  <a:gd name="T83" fmla="*/ 322 h 325"/>
                  <a:gd name="T84" fmla="*/ 181 w 365"/>
                  <a:gd name="T85" fmla="*/ 324 h 32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65"/>
                  <a:gd name="T130" fmla="*/ 0 h 325"/>
                  <a:gd name="T131" fmla="*/ 365 w 365"/>
                  <a:gd name="T132" fmla="*/ 325 h 32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65" h="325">
                    <a:moveTo>
                      <a:pt x="181" y="324"/>
                    </a:moveTo>
                    <a:lnTo>
                      <a:pt x="191" y="323"/>
                    </a:lnTo>
                    <a:lnTo>
                      <a:pt x="200" y="322"/>
                    </a:lnTo>
                    <a:lnTo>
                      <a:pt x="209" y="322"/>
                    </a:lnTo>
                    <a:lnTo>
                      <a:pt x="218" y="320"/>
                    </a:lnTo>
                    <a:lnTo>
                      <a:pt x="227" y="318"/>
                    </a:lnTo>
                    <a:lnTo>
                      <a:pt x="235" y="316"/>
                    </a:lnTo>
                    <a:lnTo>
                      <a:pt x="244" y="314"/>
                    </a:lnTo>
                    <a:lnTo>
                      <a:pt x="252" y="311"/>
                    </a:lnTo>
                    <a:lnTo>
                      <a:pt x="260" y="307"/>
                    </a:lnTo>
                    <a:lnTo>
                      <a:pt x="268" y="304"/>
                    </a:lnTo>
                    <a:lnTo>
                      <a:pt x="276" y="300"/>
                    </a:lnTo>
                    <a:lnTo>
                      <a:pt x="283" y="296"/>
                    </a:lnTo>
                    <a:lnTo>
                      <a:pt x="290" y="291"/>
                    </a:lnTo>
                    <a:lnTo>
                      <a:pt x="297" y="287"/>
                    </a:lnTo>
                    <a:lnTo>
                      <a:pt x="304" y="281"/>
                    </a:lnTo>
                    <a:lnTo>
                      <a:pt x="310" y="276"/>
                    </a:lnTo>
                    <a:lnTo>
                      <a:pt x="316" y="270"/>
                    </a:lnTo>
                    <a:lnTo>
                      <a:pt x="322" y="264"/>
                    </a:lnTo>
                    <a:lnTo>
                      <a:pt x="327" y="258"/>
                    </a:lnTo>
                    <a:lnTo>
                      <a:pt x="332" y="252"/>
                    </a:lnTo>
                    <a:lnTo>
                      <a:pt x="337" y="245"/>
                    </a:lnTo>
                    <a:lnTo>
                      <a:pt x="341" y="239"/>
                    </a:lnTo>
                    <a:lnTo>
                      <a:pt x="345" y="232"/>
                    </a:lnTo>
                    <a:lnTo>
                      <a:pt x="349" y="225"/>
                    </a:lnTo>
                    <a:lnTo>
                      <a:pt x="353" y="217"/>
                    </a:lnTo>
                    <a:lnTo>
                      <a:pt x="355" y="209"/>
                    </a:lnTo>
                    <a:lnTo>
                      <a:pt x="358" y="202"/>
                    </a:lnTo>
                    <a:lnTo>
                      <a:pt x="360" y="194"/>
                    </a:lnTo>
                    <a:lnTo>
                      <a:pt x="361" y="186"/>
                    </a:lnTo>
                    <a:lnTo>
                      <a:pt x="362" y="178"/>
                    </a:lnTo>
                    <a:lnTo>
                      <a:pt x="363" y="170"/>
                    </a:lnTo>
                    <a:lnTo>
                      <a:pt x="364" y="161"/>
                    </a:lnTo>
                    <a:lnTo>
                      <a:pt x="363" y="153"/>
                    </a:lnTo>
                    <a:lnTo>
                      <a:pt x="362" y="145"/>
                    </a:lnTo>
                    <a:lnTo>
                      <a:pt x="361" y="137"/>
                    </a:lnTo>
                    <a:lnTo>
                      <a:pt x="360" y="129"/>
                    </a:lnTo>
                    <a:lnTo>
                      <a:pt x="358" y="121"/>
                    </a:lnTo>
                    <a:lnTo>
                      <a:pt x="355" y="113"/>
                    </a:lnTo>
                    <a:lnTo>
                      <a:pt x="353" y="106"/>
                    </a:lnTo>
                    <a:lnTo>
                      <a:pt x="349" y="98"/>
                    </a:lnTo>
                    <a:lnTo>
                      <a:pt x="345" y="91"/>
                    </a:lnTo>
                    <a:lnTo>
                      <a:pt x="341" y="84"/>
                    </a:lnTo>
                    <a:lnTo>
                      <a:pt x="337" y="77"/>
                    </a:lnTo>
                    <a:lnTo>
                      <a:pt x="332" y="71"/>
                    </a:lnTo>
                    <a:lnTo>
                      <a:pt x="327" y="65"/>
                    </a:lnTo>
                    <a:lnTo>
                      <a:pt x="322" y="58"/>
                    </a:lnTo>
                    <a:lnTo>
                      <a:pt x="316" y="52"/>
                    </a:lnTo>
                    <a:lnTo>
                      <a:pt x="310" y="47"/>
                    </a:lnTo>
                    <a:lnTo>
                      <a:pt x="304" y="42"/>
                    </a:lnTo>
                    <a:lnTo>
                      <a:pt x="297" y="36"/>
                    </a:lnTo>
                    <a:lnTo>
                      <a:pt x="290" y="32"/>
                    </a:lnTo>
                    <a:lnTo>
                      <a:pt x="283" y="27"/>
                    </a:lnTo>
                    <a:lnTo>
                      <a:pt x="276" y="23"/>
                    </a:lnTo>
                    <a:lnTo>
                      <a:pt x="268" y="19"/>
                    </a:lnTo>
                    <a:lnTo>
                      <a:pt x="260" y="15"/>
                    </a:lnTo>
                    <a:lnTo>
                      <a:pt x="252" y="12"/>
                    </a:lnTo>
                    <a:lnTo>
                      <a:pt x="244" y="9"/>
                    </a:lnTo>
                    <a:lnTo>
                      <a:pt x="235" y="7"/>
                    </a:lnTo>
                    <a:lnTo>
                      <a:pt x="227" y="5"/>
                    </a:lnTo>
                    <a:lnTo>
                      <a:pt x="218" y="3"/>
                    </a:lnTo>
                    <a:lnTo>
                      <a:pt x="209" y="1"/>
                    </a:lnTo>
                    <a:lnTo>
                      <a:pt x="200" y="0"/>
                    </a:lnTo>
                    <a:lnTo>
                      <a:pt x="191" y="0"/>
                    </a:lnTo>
                    <a:lnTo>
                      <a:pt x="181" y="0"/>
                    </a:lnTo>
                    <a:lnTo>
                      <a:pt x="172" y="0"/>
                    </a:lnTo>
                    <a:lnTo>
                      <a:pt x="163" y="0"/>
                    </a:lnTo>
                    <a:lnTo>
                      <a:pt x="154" y="1"/>
                    </a:lnTo>
                    <a:lnTo>
                      <a:pt x="145" y="3"/>
                    </a:lnTo>
                    <a:lnTo>
                      <a:pt x="136" y="5"/>
                    </a:lnTo>
                    <a:lnTo>
                      <a:pt x="127" y="7"/>
                    </a:lnTo>
                    <a:lnTo>
                      <a:pt x="119" y="9"/>
                    </a:lnTo>
                    <a:lnTo>
                      <a:pt x="111" y="12"/>
                    </a:lnTo>
                    <a:lnTo>
                      <a:pt x="102" y="15"/>
                    </a:lnTo>
                    <a:lnTo>
                      <a:pt x="94" y="19"/>
                    </a:lnTo>
                    <a:lnTo>
                      <a:pt x="87" y="23"/>
                    </a:lnTo>
                    <a:lnTo>
                      <a:pt x="80" y="27"/>
                    </a:lnTo>
                    <a:lnTo>
                      <a:pt x="73" y="32"/>
                    </a:lnTo>
                    <a:lnTo>
                      <a:pt x="66" y="36"/>
                    </a:lnTo>
                    <a:lnTo>
                      <a:pt x="59" y="42"/>
                    </a:lnTo>
                    <a:lnTo>
                      <a:pt x="53" y="47"/>
                    </a:lnTo>
                    <a:lnTo>
                      <a:pt x="47" y="52"/>
                    </a:lnTo>
                    <a:lnTo>
                      <a:pt x="41" y="58"/>
                    </a:lnTo>
                    <a:lnTo>
                      <a:pt x="36" y="65"/>
                    </a:lnTo>
                    <a:lnTo>
                      <a:pt x="31" y="71"/>
                    </a:lnTo>
                    <a:lnTo>
                      <a:pt x="26" y="77"/>
                    </a:lnTo>
                    <a:lnTo>
                      <a:pt x="21" y="84"/>
                    </a:lnTo>
                    <a:lnTo>
                      <a:pt x="17" y="91"/>
                    </a:lnTo>
                    <a:lnTo>
                      <a:pt x="14" y="98"/>
                    </a:lnTo>
                    <a:lnTo>
                      <a:pt x="10" y="106"/>
                    </a:lnTo>
                    <a:lnTo>
                      <a:pt x="8" y="113"/>
                    </a:lnTo>
                    <a:lnTo>
                      <a:pt x="5" y="121"/>
                    </a:lnTo>
                    <a:lnTo>
                      <a:pt x="3" y="129"/>
                    </a:lnTo>
                    <a:lnTo>
                      <a:pt x="2" y="137"/>
                    </a:lnTo>
                    <a:lnTo>
                      <a:pt x="0" y="145"/>
                    </a:lnTo>
                    <a:lnTo>
                      <a:pt x="0" y="153"/>
                    </a:lnTo>
                    <a:lnTo>
                      <a:pt x="0" y="161"/>
                    </a:lnTo>
                    <a:lnTo>
                      <a:pt x="0" y="170"/>
                    </a:lnTo>
                    <a:lnTo>
                      <a:pt x="0" y="178"/>
                    </a:lnTo>
                    <a:lnTo>
                      <a:pt x="2" y="186"/>
                    </a:lnTo>
                    <a:lnTo>
                      <a:pt x="3" y="194"/>
                    </a:lnTo>
                    <a:lnTo>
                      <a:pt x="5" y="202"/>
                    </a:lnTo>
                    <a:lnTo>
                      <a:pt x="8" y="209"/>
                    </a:lnTo>
                    <a:lnTo>
                      <a:pt x="10" y="217"/>
                    </a:lnTo>
                    <a:lnTo>
                      <a:pt x="14" y="225"/>
                    </a:lnTo>
                    <a:lnTo>
                      <a:pt x="17" y="232"/>
                    </a:lnTo>
                    <a:lnTo>
                      <a:pt x="21" y="239"/>
                    </a:lnTo>
                    <a:lnTo>
                      <a:pt x="26" y="245"/>
                    </a:lnTo>
                    <a:lnTo>
                      <a:pt x="31" y="252"/>
                    </a:lnTo>
                    <a:lnTo>
                      <a:pt x="36" y="258"/>
                    </a:lnTo>
                    <a:lnTo>
                      <a:pt x="41" y="264"/>
                    </a:lnTo>
                    <a:lnTo>
                      <a:pt x="47" y="270"/>
                    </a:lnTo>
                    <a:lnTo>
                      <a:pt x="53" y="276"/>
                    </a:lnTo>
                    <a:lnTo>
                      <a:pt x="59" y="281"/>
                    </a:lnTo>
                    <a:lnTo>
                      <a:pt x="66" y="287"/>
                    </a:lnTo>
                    <a:lnTo>
                      <a:pt x="73" y="291"/>
                    </a:lnTo>
                    <a:lnTo>
                      <a:pt x="80" y="296"/>
                    </a:lnTo>
                    <a:lnTo>
                      <a:pt x="87" y="300"/>
                    </a:lnTo>
                    <a:lnTo>
                      <a:pt x="94" y="304"/>
                    </a:lnTo>
                    <a:lnTo>
                      <a:pt x="102" y="307"/>
                    </a:lnTo>
                    <a:lnTo>
                      <a:pt x="111" y="311"/>
                    </a:lnTo>
                    <a:lnTo>
                      <a:pt x="119" y="314"/>
                    </a:lnTo>
                    <a:lnTo>
                      <a:pt x="127" y="316"/>
                    </a:lnTo>
                    <a:lnTo>
                      <a:pt x="136" y="318"/>
                    </a:lnTo>
                    <a:lnTo>
                      <a:pt x="145" y="320"/>
                    </a:lnTo>
                    <a:lnTo>
                      <a:pt x="154" y="322"/>
                    </a:lnTo>
                    <a:lnTo>
                      <a:pt x="163" y="322"/>
                    </a:lnTo>
                    <a:lnTo>
                      <a:pt x="172" y="323"/>
                    </a:lnTo>
                    <a:lnTo>
                      <a:pt x="181" y="324"/>
                    </a:lnTo>
                    <a:lnTo>
                      <a:pt x="181" y="323"/>
                    </a:lnTo>
                    <a:lnTo>
                      <a:pt x="181" y="324"/>
                    </a:lnTo>
                  </a:path>
                </a:pathLst>
              </a:custGeom>
              <a:solidFill>
                <a:srgbClr val="CC0000"/>
              </a:solidFill>
              <a:ln w="9525" cap="rnd">
                <a:noFill/>
                <a:round/>
              </a:ln>
            </p:spPr>
            <p:txBody>
              <a:bodyPr wrap="none" lIns="98624" tIns="49313" rIns="98624" bIns="49313" anchor="ctr"/>
              <a:lstStyle/>
              <a:p>
                <a:endParaRPr lang="zh-CN" altLang="en-US"/>
              </a:p>
            </p:txBody>
          </p:sp>
          <p:sp>
            <p:nvSpPr>
              <p:cNvPr id="11365" name="Freeform 473"/>
              <p:cNvSpPr/>
              <p:nvPr/>
            </p:nvSpPr>
            <p:spPr bwMode="auto">
              <a:xfrm>
                <a:off x="2545" y="2062"/>
                <a:ext cx="305" cy="271"/>
              </a:xfrm>
              <a:custGeom>
                <a:avLst/>
                <a:gdLst>
                  <a:gd name="T0" fmla="*/ 167 w 305"/>
                  <a:gd name="T1" fmla="*/ 269 h 271"/>
                  <a:gd name="T2" fmla="*/ 190 w 305"/>
                  <a:gd name="T3" fmla="*/ 265 h 271"/>
                  <a:gd name="T4" fmla="*/ 211 w 305"/>
                  <a:gd name="T5" fmla="*/ 259 h 271"/>
                  <a:gd name="T6" fmla="*/ 230 w 305"/>
                  <a:gd name="T7" fmla="*/ 250 h 271"/>
                  <a:gd name="T8" fmla="*/ 248 w 305"/>
                  <a:gd name="T9" fmla="*/ 239 h 271"/>
                  <a:gd name="T10" fmla="*/ 264 w 305"/>
                  <a:gd name="T11" fmla="*/ 225 h 271"/>
                  <a:gd name="T12" fmla="*/ 277 w 305"/>
                  <a:gd name="T13" fmla="*/ 210 h 271"/>
                  <a:gd name="T14" fmla="*/ 288 w 305"/>
                  <a:gd name="T15" fmla="*/ 193 h 271"/>
                  <a:gd name="T16" fmla="*/ 296 w 305"/>
                  <a:gd name="T17" fmla="*/ 175 h 271"/>
                  <a:gd name="T18" fmla="*/ 302 w 305"/>
                  <a:gd name="T19" fmla="*/ 155 h 271"/>
                  <a:gd name="T20" fmla="*/ 304 w 305"/>
                  <a:gd name="T21" fmla="*/ 134 h 271"/>
                  <a:gd name="T22" fmla="*/ 302 w 305"/>
                  <a:gd name="T23" fmla="*/ 113 h 271"/>
                  <a:gd name="T24" fmla="*/ 296 w 305"/>
                  <a:gd name="T25" fmla="*/ 94 h 271"/>
                  <a:gd name="T26" fmla="*/ 288 w 305"/>
                  <a:gd name="T27" fmla="*/ 76 h 271"/>
                  <a:gd name="T28" fmla="*/ 277 w 305"/>
                  <a:gd name="T29" fmla="*/ 59 h 271"/>
                  <a:gd name="T30" fmla="*/ 264 w 305"/>
                  <a:gd name="T31" fmla="*/ 44 h 271"/>
                  <a:gd name="T32" fmla="*/ 248 w 305"/>
                  <a:gd name="T33" fmla="*/ 30 h 271"/>
                  <a:gd name="T34" fmla="*/ 230 w 305"/>
                  <a:gd name="T35" fmla="*/ 19 h 271"/>
                  <a:gd name="T36" fmla="*/ 211 w 305"/>
                  <a:gd name="T37" fmla="*/ 10 h 271"/>
                  <a:gd name="T38" fmla="*/ 190 w 305"/>
                  <a:gd name="T39" fmla="*/ 4 h 271"/>
                  <a:gd name="T40" fmla="*/ 167 w 305"/>
                  <a:gd name="T41" fmla="*/ 0 h 271"/>
                  <a:gd name="T42" fmla="*/ 144 w 305"/>
                  <a:gd name="T43" fmla="*/ 0 h 271"/>
                  <a:gd name="T44" fmla="*/ 121 w 305"/>
                  <a:gd name="T45" fmla="*/ 2 h 271"/>
                  <a:gd name="T46" fmla="*/ 99 w 305"/>
                  <a:gd name="T47" fmla="*/ 8 h 271"/>
                  <a:gd name="T48" fmla="*/ 79 w 305"/>
                  <a:gd name="T49" fmla="*/ 16 h 271"/>
                  <a:gd name="T50" fmla="*/ 61 w 305"/>
                  <a:gd name="T51" fmla="*/ 26 h 271"/>
                  <a:gd name="T52" fmla="*/ 44 w 305"/>
                  <a:gd name="T53" fmla="*/ 39 h 271"/>
                  <a:gd name="T54" fmla="*/ 30 w 305"/>
                  <a:gd name="T55" fmla="*/ 53 h 271"/>
                  <a:gd name="T56" fmla="*/ 18 w 305"/>
                  <a:gd name="T57" fmla="*/ 70 h 271"/>
                  <a:gd name="T58" fmla="*/ 9 w 305"/>
                  <a:gd name="T59" fmla="*/ 88 h 271"/>
                  <a:gd name="T60" fmla="*/ 3 w 305"/>
                  <a:gd name="T61" fmla="*/ 107 h 271"/>
                  <a:gd name="T62" fmla="*/ 0 w 305"/>
                  <a:gd name="T63" fmla="*/ 127 h 271"/>
                  <a:gd name="T64" fmla="*/ 0 w 305"/>
                  <a:gd name="T65" fmla="*/ 148 h 271"/>
                  <a:gd name="T66" fmla="*/ 5 w 305"/>
                  <a:gd name="T67" fmla="*/ 168 h 271"/>
                  <a:gd name="T68" fmla="*/ 12 w 305"/>
                  <a:gd name="T69" fmla="*/ 187 h 271"/>
                  <a:gd name="T70" fmla="*/ 22 w 305"/>
                  <a:gd name="T71" fmla="*/ 204 h 271"/>
                  <a:gd name="T72" fmla="*/ 35 w 305"/>
                  <a:gd name="T73" fmla="*/ 220 h 271"/>
                  <a:gd name="T74" fmla="*/ 49 w 305"/>
                  <a:gd name="T75" fmla="*/ 234 h 271"/>
                  <a:gd name="T76" fmla="*/ 67 w 305"/>
                  <a:gd name="T77" fmla="*/ 246 h 271"/>
                  <a:gd name="T78" fmla="*/ 86 w 305"/>
                  <a:gd name="T79" fmla="*/ 256 h 271"/>
                  <a:gd name="T80" fmla="*/ 106 w 305"/>
                  <a:gd name="T81" fmla="*/ 264 h 271"/>
                  <a:gd name="T82" fmla="*/ 128 w 305"/>
                  <a:gd name="T83" fmla="*/ 268 h 271"/>
                  <a:gd name="T84" fmla="*/ 152 w 305"/>
                  <a:gd name="T85" fmla="*/ 270 h 27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05"/>
                  <a:gd name="T130" fmla="*/ 0 h 271"/>
                  <a:gd name="T131" fmla="*/ 305 w 305"/>
                  <a:gd name="T132" fmla="*/ 271 h 27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05" h="271">
                    <a:moveTo>
                      <a:pt x="152" y="270"/>
                    </a:moveTo>
                    <a:lnTo>
                      <a:pt x="159" y="269"/>
                    </a:lnTo>
                    <a:lnTo>
                      <a:pt x="167" y="269"/>
                    </a:lnTo>
                    <a:lnTo>
                      <a:pt x="175" y="268"/>
                    </a:lnTo>
                    <a:lnTo>
                      <a:pt x="182" y="267"/>
                    </a:lnTo>
                    <a:lnTo>
                      <a:pt x="190" y="265"/>
                    </a:lnTo>
                    <a:lnTo>
                      <a:pt x="197" y="264"/>
                    </a:lnTo>
                    <a:lnTo>
                      <a:pt x="204" y="261"/>
                    </a:lnTo>
                    <a:lnTo>
                      <a:pt x="211" y="259"/>
                    </a:lnTo>
                    <a:lnTo>
                      <a:pt x="217" y="256"/>
                    </a:lnTo>
                    <a:lnTo>
                      <a:pt x="224" y="253"/>
                    </a:lnTo>
                    <a:lnTo>
                      <a:pt x="230" y="250"/>
                    </a:lnTo>
                    <a:lnTo>
                      <a:pt x="236" y="246"/>
                    </a:lnTo>
                    <a:lnTo>
                      <a:pt x="242" y="243"/>
                    </a:lnTo>
                    <a:lnTo>
                      <a:pt x="248" y="239"/>
                    </a:lnTo>
                    <a:lnTo>
                      <a:pt x="254" y="234"/>
                    </a:lnTo>
                    <a:lnTo>
                      <a:pt x="259" y="230"/>
                    </a:lnTo>
                    <a:lnTo>
                      <a:pt x="264" y="225"/>
                    </a:lnTo>
                    <a:lnTo>
                      <a:pt x="269" y="220"/>
                    </a:lnTo>
                    <a:lnTo>
                      <a:pt x="273" y="215"/>
                    </a:lnTo>
                    <a:lnTo>
                      <a:pt x="277" y="210"/>
                    </a:lnTo>
                    <a:lnTo>
                      <a:pt x="282" y="204"/>
                    </a:lnTo>
                    <a:lnTo>
                      <a:pt x="285" y="199"/>
                    </a:lnTo>
                    <a:lnTo>
                      <a:pt x="288" y="193"/>
                    </a:lnTo>
                    <a:lnTo>
                      <a:pt x="291" y="187"/>
                    </a:lnTo>
                    <a:lnTo>
                      <a:pt x="294" y="181"/>
                    </a:lnTo>
                    <a:lnTo>
                      <a:pt x="296" y="175"/>
                    </a:lnTo>
                    <a:lnTo>
                      <a:pt x="299" y="168"/>
                    </a:lnTo>
                    <a:lnTo>
                      <a:pt x="300" y="161"/>
                    </a:lnTo>
                    <a:lnTo>
                      <a:pt x="302" y="155"/>
                    </a:lnTo>
                    <a:lnTo>
                      <a:pt x="303" y="148"/>
                    </a:lnTo>
                    <a:lnTo>
                      <a:pt x="303" y="141"/>
                    </a:lnTo>
                    <a:lnTo>
                      <a:pt x="304" y="134"/>
                    </a:lnTo>
                    <a:lnTo>
                      <a:pt x="303" y="127"/>
                    </a:lnTo>
                    <a:lnTo>
                      <a:pt x="303" y="120"/>
                    </a:lnTo>
                    <a:lnTo>
                      <a:pt x="302" y="113"/>
                    </a:lnTo>
                    <a:lnTo>
                      <a:pt x="300" y="107"/>
                    </a:lnTo>
                    <a:lnTo>
                      <a:pt x="299" y="101"/>
                    </a:lnTo>
                    <a:lnTo>
                      <a:pt x="296" y="94"/>
                    </a:lnTo>
                    <a:lnTo>
                      <a:pt x="294" y="88"/>
                    </a:lnTo>
                    <a:lnTo>
                      <a:pt x="291" y="82"/>
                    </a:lnTo>
                    <a:lnTo>
                      <a:pt x="288" y="76"/>
                    </a:lnTo>
                    <a:lnTo>
                      <a:pt x="285" y="70"/>
                    </a:lnTo>
                    <a:lnTo>
                      <a:pt x="282" y="64"/>
                    </a:lnTo>
                    <a:lnTo>
                      <a:pt x="277" y="59"/>
                    </a:lnTo>
                    <a:lnTo>
                      <a:pt x="273" y="53"/>
                    </a:lnTo>
                    <a:lnTo>
                      <a:pt x="269" y="48"/>
                    </a:lnTo>
                    <a:lnTo>
                      <a:pt x="264" y="44"/>
                    </a:lnTo>
                    <a:lnTo>
                      <a:pt x="259" y="39"/>
                    </a:lnTo>
                    <a:lnTo>
                      <a:pt x="254" y="34"/>
                    </a:lnTo>
                    <a:lnTo>
                      <a:pt x="248" y="30"/>
                    </a:lnTo>
                    <a:lnTo>
                      <a:pt x="242" y="26"/>
                    </a:lnTo>
                    <a:lnTo>
                      <a:pt x="236" y="23"/>
                    </a:lnTo>
                    <a:lnTo>
                      <a:pt x="230" y="19"/>
                    </a:lnTo>
                    <a:lnTo>
                      <a:pt x="224" y="16"/>
                    </a:lnTo>
                    <a:lnTo>
                      <a:pt x="217" y="13"/>
                    </a:lnTo>
                    <a:lnTo>
                      <a:pt x="211" y="10"/>
                    </a:lnTo>
                    <a:lnTo>
                      <a:pt x="204" y="8"/>
                    </a:lnTo>
                    <a:lnTo>
                      <a:pt x="197" y="5"/>
                    </a:lnTo>
                    <a:lnTo>
                      <a:pt x="190" y="4"/>
                    </a:lnTo>
                    <a:lnTo>
                      <a:pt x="182" y="2"/>
                    </a:lnTo>
                    <a:lnTo>
                      <a:pt x="175" y="1"/>
                    </a:lnTo>
                    <a:lnTo>
                      <a:pt x="167" y="0"/>
                    </a:lnTo>
                    <a:lnTo>
                      <a:pt x="159" y="0"/>
                    </a:lnTo>
                    <a:lnTo>
                      <a:pt x="152" y="0"/>
                    </a:lnTo>
                    <a:lnTo>
                      <a:pt x="144" y="0"/>
                    </a:lnTo>
                    <a:lnTo>
                      <a:pt x="136" y="0"/>
                    </a:lnTo>
                    <a:lnTo>
                      <a:pt x="128" y="1"/>
                    </a:lnTo>
                    <a:lnTo>
                      <a:pt x="121" y="2"/>
                    </a:lnTo>
                    <a:lnTo>
                      <a:pt x="113" y="4"/>
                    </a:lnTo>
                    <a:lnTo>
                      <a:pt x="106" y="5"/>
                    </a:lnTo>
                    <a:lnTo>
                      <a:pt x="99" y="8"/>
                    </a:lnTo>
                    <a:lnTo>
                      <a:pt x="92" y="10"/>
                    </a:lnTo>
                    <a:lnTo>
                      <a:pt x="86" y="13"/>
                    </a:lnTo>
                    <a:lnTo>
                      <a:pt x="79" y="16"/>
                    </a:lnTo>
                    <a:lnTo>
                      <a:pt x="73" y="19"/>
                    </a:lnTo>
                    <a:lnTo>
                      <a:pt x="67" y="23"/>
                    </a:lnTo>
                    <a:lnTo>
                      <a:pt x="61" y="26"/>
                    </a:lnTo>
                    <a:lnTo>
                      <a:pt x="55" y="30"/>
                    </a:lnTo>
                    <a:lnTo>
                      <a:pt x="49" y="34"/>
                    </a:lnTo>
                    <a:lnTo>
                      <a:pt x="44" y="39"/>
                    </a:lnTo>
                    <a:lnTo>
                      <a:pt x="39" y="44"/>
                    </a:lnTo>
                    <a:lnTo>
                      <a:pt x="35" y="48"/>
                    </a:lnTo>
                    <a:lnTo>
                      <a:pt x="30" y="53"/>
                    </a:lnTo>
                    <a:lnTo>
                      <a:pt x="26" y="59"/>
                    </a:lnTo>
                    <a:lnTo>
                      <a:pt x="22" y="64"/>
                    </a:lnTo>
                    <a:lnTo>
                      <a:pt x="18" y="70"/>
                    </a:lnTo>
                    <a:lnTo>
                      <a:pt x="15" y="76"/>
                    </a:lnTo>
                    <a:lnTo>
                      <a:pt x="12" y="82"/>
                    </a:lnTo>
                    <a:lnTo>
                      <a:pt x="9" y="88"/>
                    </a:lnTo>
                    <a:lnTo>
                      <a:pt x="7" y="94"/>
                    </a:lnTo>
                    <a:lnTo>
                      <a:pt x="5" y="101"/>
                    </a:lnTo>
                    <a:lnTo>
                      <a:pt x="3" y="107"/>
                    </a:lnTo>
                    <a:lnTo>
                      <a:pt x="2" y="113"/>
                    </a:lnTo>
                    <a:lnTo>
                      <a:pt x="0" y="120"/>
                    </a:lnTo>
                    <a:lnTo>
                      <a:pt x="0" y="127"/>
                    </a:lnTo>
                    <a:lnTo>
                      <a:pt x="0" y="134"/>
                    </a:lnTo>
                    <a:lnTo>
                      <a:pt x="0" y="141"/>
                    </a:lnTo>
                    <a:lnTo>
                      <a:pt x="0" y="148"/>
                    </a:lnTo>
                    <a:lnTo>
                      <a:pt x="2" y="155"/>
                    </a:lnTo>
                    <a:lnTo>
                      <a:pt x="3" y="161"/>
                    </a:lnTo>
                    <a:lnTo>
                      <a:pt x="5" y="168"/>
                    </a:lnTo>
                    <a:lnTo>
                      <a:pt x="7" y="175"/>
                    </a:lnTo>
                    <a:lnTo>
                      <a:pt x="9" y="181"/>
                    </a:lnTo>
                    <a:lnTo>
                      <a:pt x="12" y="187"/>
                    </a:lnTo>
                    <a:lnTo>
                      <a:pt x="15" y="193"/>
                    </a:lnTo>
                    <a:lnTo>
                      <a:pt x="18" y="199"/>
                    </a:lnTo>
                    <a:lnTo>
                      <a:pt x="22" y="204"/>
                    </a:lnTo>
                    <a:lnTo>
                      <a:pt x="26" y="210"/>
                    </a:lnTo>
                    <a:lnTo>
                      <a:pt x="30" y="215"/>
                    </a:lnTo>
                    <a:lnTo>
                      <a:pt x="35" y="220"/>
                    </a:lnTo>
                    <a:lnTo>
                      <a:pt x="39" y="225"/>
                    </a:lnTo>
                    <a:lnTo>
                      <a:pt x="44" y="230"/>
                    </a:lnTo>
                    <a:lnTo>
                      <a:pt x="49" y="234"/>
                    </a:lnTo>
                    <a:lnTo>
                      <a:pt x="55" y="239"/>
                    </a:lnTo>
                    <a:lnTo>
                      <a:pt x="61" y="243"/>
                    </a:lnTo>
                    <a:lnTo>
                      <a:pt x="67" y="246"/>
                    </a:lnTo>
                    <a:lnTo>
                      <a:pt x="73" y="250"/>
                    </a:lnTo>
                    <a:lnTo>
                      <a:pt x="79" y="253"/>
                    </a:lnTo>
                    <a:lnTo>
                      <a:pt x="86" y="256"/>
                    </a:lnTo>
                    <a:lnTo>
                      <a:pt x="92" y="259"/>
                    </a:lnTo>
                    <a:lnTo>
                      <a:pt x="99" y="261"/>
                    </a:lnTo>
                    <a:lnTo>
                      <a:pt x="106" y="264"/>
                    </a:lnTo>
                    <a:lnTo>
                      <a:pt x="113" y="265"/>
                    </a:lnTo>
                    <a:lnTo>
                      <a:pt x="121" y="267"/>
                    </a:lnTo>
                    <a:lnTo>
                      <a:pt x="128" y="268"/>
                    </a:lnTo>
                    <a:lnTo>
                      <a:pt x="136" y="269"/>
                    </a:lnTo>
                    <a:lnTo>
                      <a:pt x="144" y="269"/>
                    </a:lnTo>
                    <a:lnTo>
                      <a:pt x="152" y="270"/>
                    </a:lnTo>
                  </a:path>
                </a:pathLst>
              </a:custGeom>
              <a:solidFill>
                <a:srgbClr val="FFFFFF"/>
              </a:solidFill>
              <a:ln w="9525" cap="rnd">
                <a:noFill/>
                <a:round/>
              </a:ln>
            </p:spPr>
            <p:txBody>
              <a:bodyPr wrap="none" lIns="98624" tIns="49313" rIns="98624" bIns="49313" anchor="ctr"/>
              <a:lstStyle/>
              <a:p>
                <a:endParaRPr lang="zh-CN" altLang="en-US"/>
              </a:p>
            </p:txBody>
          </p:sp>
          <p:sp>
            <p:nvSpPr>
              <p:cNvPr id="11366" name="Freeform 474"/>
              <p:cNvSpPr/>
              <p:nvPr/>
            </p:nvSpPr>
            <p:spPr bwMode="auto">
              <a:xfrm>
                <a:off x="2613" y="2064"/>
                <a:ext cx="176" cy="265"/>
              </a:xfrm>
              <a:custGeom>
                <a:avLst/>
                <a:gdLst>
                  <a:gd name="T0" fmla="*/ 175 w 176"/>
                  <a:gd name="T1" fmla="*/ 252 h 265"/>
                  <a:gd name="T2" fmla="*/ 20 w 176"/>
                  <a:gd name="T3" fmla="*/ 0 h 265"/>
                  <a:gd name="T4" fmla="*/ 0 w 176"/>
                  <a:gd name="T5" fmla="*/ 10 h 265"/>
                  <a:gd name="T6" fmla="*/ 153 w 176"/>
                  <a:gd name="T7" fmla="*/ 264 h 265"/>
                  <a:gd name="T8" fmla="*/ 175 w 176"/>
                  <a:gd name="T9" fmla="*/ 252 h 265"/>
                  <a:gd name="T10" fmla="*/ 0 60000 65536"/>
                  <a:gd name="T11" fmla="*/ 0 60000 65536"/>
                  <a:gd name="T12" fmla="*/ 0 60000 65536"/>
                  <a:gd name="T13" fmla="*/ 0 60000 65536"/>
                  <a:gd name="T14" fmla="*/ 0 60000 65536"/>
                  <a:gd name="T15" fmla="*/ 0 w 176"/>
                  <a:gd name="T16" fmla="*/ 0 h 265"/>
                  <a:gd name="T17" fmla="*/ 176 w 176"/>
                  <a:gd name="T18" fmla="*/ 265 h 265"/>
                </a:gdLst>
                <a:ahLst/>
                <a:cxnLst>
                  <a:cxn ang="T10">
                    <a:pos x="T0" y="T1"/>
                  </a:cxn>
                  <a:cxn ang="T11">
                    <a:pos x="T2" y="T3"/>
                  </a:cxn>
                  <a:cxn ang="T12">
                    <a:pos x="T4" y="T5"/>
                  </a:cxn>
                  <a:cxn ang="T13">
                    <a:pos x="T6" y="T7"/>
                  </a:cxn>
                  <a:cxn ang="T14">
                    <a:pos x="T8" y="T9"/>
                  </a:cxn>
                </a:cxnLst>
                <a:rect l="T15" t="T16" r="T17" b="T18"/>
                <a:pathLst>
                  <a:path w="176" h="265">
                    <a:moveTo>
                      <a:pt x="175" y="252"/>
                    </a:moveTo>
                    <a:lnTo>
                      <a:pt x="20" y="0"/>
                    </a:lnTo>
                    <a:lnTo>
                      <a:pt x="0" y="10"/>
                    </a:lnTo>
                    <a:lnTo>
                      <a:pt x="153" y="264"/>
                    </a:lnTo>
                    <a:lnTo>
                      <a:pt x="175" y="252"/>
                    </a:lnTo>
                  </a:path>
                </a:pathLst>
              </a:custGeom>
              <a:solidFill>
                <a:srgbClr val="CC0000"/>
              </a:solidFill>
              <a:ln w="9525" cap="rnd">
                <a:noFill/>
                <a:round/>
              </a:ln>
            </p:spPr>
            <p:txBody>
              <a:bodyPr wrap="none" lIns="98624" tIns="49313" rIns="98624" bIns="49313" anchor="ctr"/>
              <a:lstStyle/>
              <a:p>
                <a:endParaRPr lang="zh-CN" altLang="en-US"/>
              </a:p>
            </p:txBody>
          </p:sp>
        </p:grpSp>
        <p:sp>
          <p:nvSpPr>
            <p:cNvPr id="11363" name="Line 475"/>
            <p:cNvSpPr>
              <a:spLocks noChangeShapeType="1"/>
            </p:cNvSpPr>
            <p:nvPr/>
          </p:nvSpPr>
          <p:spPr bwMode="auto">
            <a:xfrm flipH="1">
              <a:off x="2328" y="2340"/>
              <a:ext cx="348" cy="516"/>
            </a:xfrm>
            <a:prstGeom prst="line">
              <a:avLst/>
            </a:prstGeom>
            <a:noFill/>
            <a:ln w="50799">
              <a:solidFill>
                <a:srgbClr val="CC0000"/>
              </a:solidFill>
              <a:round/>
              <a:headEnd type="none" w="sm" len="sm"/>
              <a:tailEnd type="none" w="sm" len="sm"/>
            </a:ln>
          </p:spPr>
          <p:txBody>
            <a:bodyPr wrap="none" lIns="98624" tIns="49313" rIns="98624" bIns="49313" anchor="ctr"/>
            <a:lstStyle/>
            <a:p>
              <a:endParaRPr lang="zh-CN" altLang="en-US" b="1" dirty="0">
                <a:effectLst>
                  <a:outerShdw blurRad="38100" dist="38100" dir="2700000" algn="tl">
                    <a:srgbClr val="000000">
                      <a:alpha val="43137"/>
                    </a:srgbClr>
                  </a:outerShdw>
                </a:effectLst>
                <a:latin typeface="+mn-ea"/>
                <a:ea typeface="+mn-ea"/>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50272"/>
                                        </p:tgtEl>
                                        <p:attrNameLst>
                                          <p:attrName>style.visibility</p:attrName>
                                        </p:attrNameLst>
                                      </p:cBhvr>
                                      <p:to>
                                        <p:strVal val="visible"/>
                                      </p:to>
                                    </p:set>
                                    <p:animEffect transition="in" filter="dissolve">
                                      <p:cBhvr>
                                        <p:cTn id="7" dur="500"/>
                                        <p:tgtEl>
                                          <p:spTgt spid="25027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50221"/>
                                        </p:tgtEl>
                                        <p:attrNameLst>
                                          <p:attrName>style.visibility</p:attrName>
                                        </p:attrNameLst>
                                      </p:cBhvr>
                                      <p:to>
                                        <p:strVal val="visible"/>
                                      </p:to>
                                    </p:set>
                                    <p:animEffect transition="in" filter="wipe(down)">
                                      <p:cBhvr>
                                        <p:cTn id="12" dur="500"/>
                                        <p:tgtEl>
                                          <p:spTgt spid="250221"/>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250222"/>
                                        </p:tgtEl>
                                        <p:attrNameLst>
                                          <p:attrName>style.visibility</p:attrName>
                                        </p:attrNameLst>
                                      </p:cBhvr>
                                      <p:to>
                                        <p:strVal val="visible"/>
                                      </p:to>
                                    </p:set>
                                    <p:animEffect transition="in" filter="wipe(up)">
                                      <p:cBhvr>
                                        <p:cTn id="16" dur="500"/>
                                        <p:tgtEl>
                                          <p:spTgt spid="250222"/>
                                        </p:tgtEl>
                                      </p:cBhvr>
                                    </p:animEffect>
                                  </p:childTnLst>
                                </p:cTn>
                              </p:par>
                            </p:childTnLst>
                          </p:cTn>
                        </p:par>
                        <p:par>
                          <p:cTn id="17" fill="hold">
                            <p:stCondLst>
                              <p:cond delay="1000"/>
                            </p:stCondLst>
                            <p:childTnLst>
                              <p:par>
                                <p:cTn id="18" presetID="22" presetClass="entr" presetSubtype="1" fill="hold" grpId="0" nodeType="afterEffect">
                                  <p:stCondLst>
                                    <p:cond delay="0"/>
                                  </p:stCondLst>
                                  <p:childTnLst>
                                    <p:set>
                                      <p:cBhvr>
                                        <p:cTn id="19" dur="1" fill="hold">
                                          <p:stCondLst>
                                            <p:cond delay="0"/>
                                          </p:stCondLst>
                                        </p:cTn>
                                        <p:tgtEl>
                                          <p:spTgt spid="250223"/>
                                        </p:tgtEl>
                                        <p:attrNameLst>
                                          <p:attrName>style.visibility</p:attrName>
                                        </p:attrNameLst>
                                      </p:cBhvr>
                                      <p:to>
                                        <p:strVal val="visible"/>
                                      </p:to>
                                    </p:set>
                                    <p:animEffect transition="in" filter="wipe(up)">
                                      <p:cBhvr>
                                        <p:cTn id="20" dur="500"/>
                                        <p:tgtEl>
                                          <p:spTgt spid="250223"/>
                                        </p:tgtEl>
                                      </p:cBhvr>
                                    </p:animEffect>
                                  </p:childTnLst>
                                </p:cTn>
                              </p:par>
                            </p:childTnLst>
                          </p:cTn>
                        </p:par>
                        <p:par>
                          <p:cTn id="21" fill="hold">
                            <p:stCondLst>
                              <p:cond delay="1500"/>
                            </p:stCondLst>
                            <p:childTnLst>
                              <p:par>
                                <p:cTn id="22" presetID="22" presetClass="entr" presetSubtype="2" fill="hold" grpId="0" nodeType="afterEffect">
                                  <p:stCondLst>
                                    <p:cond delay="0"/>
                                  </p:stCondLst>
                                  <p:childTnLst>
                                    <p:set>
                                      <p:cBhvr>
                                        <p:cTn id="23" dur="1" fill="hold">
                                          <p:stCondLst>
                                            <p:cond delay="0"/>
                                          </p:stCondLst>
                                        </p:cTn>
                                        <p:tgtEl>
                                          <p:spTgt spid="250224"/>
                                        </p:tgtEl>
                                        <p:attrNameLst>
                                          <p:attrName>style.visibility</p:attrName>
                                        </p:attrNameLst>
                                      </p:cBhvr>
                                      <p:to>
                                        <p:strVal val="visible"/>
                                      </p:to>
                                    </p:set>
                                    <p:animEffect transition="in" filter="wipe(right)">
                                      <p:cBhvr>
                                        <p:cTn id="24" dur="500"/>
                                        <p:tgtEl>
                                          <p:spTgt spid="250224"/>
                                        </p:tgtEl>
                                      </p:cBhvr>
                                    </p:animEffect>
                                  </p:childTnLst>
                                </p:cTn>
                              </p:par>
                            </p:childTnLst>
                          </p:cTn>
                        </p:par>
                        <p:par>
                          <p:cTn id="25" fill="hold">
                            <p:stCondLst>
                              <p:cond delay="2000"/>
                            </p:stCondLst>
                            <p:childTnLst>
                              <p:par>
                                <p:cTn id="26" presetID="22" presetClass="entr" presetSubtype="2" fill="hold" grpId="0" nodeType="afterEffect">
                                  <p:stCondLst>
                                    <p:cond delay="0"/>
                                  </p:stCondLst>
                                  <p:childTnLst>
                                    <p:set>
                                      <p:cBhvr>
                                        <p:cTn id="27" dur="1" fill="hold">
                                          <p:stCondLst>
                                            <p:cond delay="0"/>
                                          </p:stCondLst>
                                        </p:cTn>
                                        <p:tgtEl>
                                          <p:spTgt spid="250225"/>
                                        </p:tgtEl>
                                        <p:attrNameLst>
                                          <p:attrName>style.visibility</p:attrName>
                                        </p:attrNameLst>
                                      </p:cBhvr>
                                      <p:to>
                                        <p:strVal val="visible"/>
                                      </p:to>
                                    </p:set>
                                    <p:animEffect transition="in" filter="wipe(right)">
                                      <p:cBhvr>
                                        <p:cTn id="28" dur="500"/>
                                        <p:tgtEl>
                                          <p:spTgt spid="250225"/>
                                        </p:tgtEl>
                                      </p:cBhvr>
                                    </p:animEffect>
                                  </p:childTnLst>
                                </p:cTn>
                              </p:par>
                            </p:childTnLst>
                          </p:cTn>
                        </p:par>
                        <p:par>
                          <p:cTn id="29" fill="hold">
                            <p:stCondLst>
                              <p:cond delay="2500"/>
                            </p:stCondLst>
                            <p:childTnLst>
                              <p:par>
                                <p:cTn id="30" presetID="22" presetClass="entr" presetSubtype="4" fill="hold" grpId="0" nodeType="afterEffect">
                                  <p:stCondLst>
                                    <p:cond delay="0"/>
                                  </p:stCondLst>
                                  <p:childTnLst>
                                    <p:set>
                                      <p:cBhvr>
                                        <p:cTn id="31" dur="1" fill="hold">
                                          <p:stCondLst>
                                            <p:cond delay="0"/>
                                          </p:stCondLst>
                                        </p:cTn>
                                        <p:tgtEl>
                                          <p:spTgt spid="250226"/>
                                        </p:tgtEl>
                                        <p:attrNameLst>
                                          <p:attrName>style.visibility</p:attrName>
                                        </p:attrNameLst>
                                      </p:cBhvr>
                                      <p:to>
                                        <p:strVal val="visible"/>
                                      </p:to>
                                    </p:set>
                                    <p:animEffect transition="in" filter="wipe(down)">
                                      <p:cBhvr>
                                        <p:cTn id="32" dur="500"/>
                                        <p:tgtEl>
                                          <p:spTgt spid="250226"/>
                                        </p:tgtEl>
                                      </p:cBhvr>
                                    </p:animEffect>
                                  </p:childTnLst>
                                </p:cTn>
                              </p:par>
                            </p:childTnLst>
                          </p:cTn>
                        </p:par>
                        <p:par>
                          <p:cTn id="33" fill="hold">
                            <p:stCondLst>
                              <p:cond delay="3000"/>
                            </p:stCondLst>
                            <p:childTnLst>
                              <p:par>
                                <p:cTn id="34" presetID="22" presetClass="entr" presetSubtype="2" fill="hold" grpId="0" nodeType="afterEffect">
                                  <p:stCondLst>
                                    <p:cond delay="0"/>
                                  </p:stCondLst>
                                  <p:childTnLst>
                                    <p:set>
                                      <p:cBhvr>
                                        <p:cTn id="35" dur="1" fill="hold">
                                          <p:stCondLst>
                                            <p:cond delay="0"/>
                                          </p:stCondLst>
                                        </p:cTn>
                                        <p:tgtEl>
                                          <p:spTgt spid="250227"/>
                                        </p:tgtEl>
                                        <p:attrNameLst>
                                          <p:attrName>style.visibility</p:attrName>
                                        </p:attrNameLst>
                                      </p:cBhvr>
                                      <p:to>
                                        <p:strVal val="visible"/>
                                      </p:to>
                                    </p:set>
                                    <p:animEffect transition="in" filter="wipe(right)">
                                      <p:cBhvr>
                                        <p:cTn id="36" dur="500"/>
                                        <p:tgtEl>
                                          <p:spTgt spid="250227"/>
                                        </p:tgtEl>
                                      </p:cBhvr>
                                    </p:animEffect>
                                  </p:childTnLst>
                                </p:cTn>
                              </p:par>
                            </p:childTnLst>
                          </p:cTn>
                        </p:par>
                        <p:par>
                          <p:cTn id="37" fill="hold">
                            <p:stCondLst>
                              <p:cond delay="3500"/>
                            </p:stCondLst>
                            <p:childTnLst>
                              <p:par>
                                <p:cTn id="38" presetID="22" presetClass="entr" presetSubtype="1" fill="hold" nodeType="afterEffect">
                                  <p:stCondLst>
                                    <p:cond delay="0"/>
                                  </p:stCondLst>
                                  <p:childTnLst>
                                    <p:set>
                                      <p:cBhvr>
                                        <p:cTn id="39" dur="1" fill="hold">
                                          <p:stCondLst>
                                            <p:cond delay="0"/>
                                          </p:stCondLst>
                                        </p:cTn>
                                        <p:tgtEl>
                                          <p:spTgt spid="250286"/>
                                        </p:tgtEl>
                                        <p:attrNameLst>
                                          <p:attrName>style.visibility</p:attrName>
                                        </p:attrNameLst>
                                      </p:cBhvr>
                                      <p:to>
                                        <p:strVal val="visible"/>
                                      </p:to>
                                    </p:set>
                                    <p:animEffect transition="in" filter="wipe(up)">
                                      <p:cBhvr>
                                        <p:cTn id="40" dur="500"/>
                                        <p:tgtEl>
                                          <p:spTgt spid="250286"/>
                                        </p:tgtEl>
                                      </p:cBhvr>
                                    </p:animEffect>
                                  </p:childTnLst>
                                </p:cTn>
                              </p:par>
                            </p:childTnLst>
                          </p:cTn>
                        </p:par>
                        <p:par>
                          <p:cTn id="41" fill="hold">
                            <p:stCondLst>
                              <p:cond delay="4000"/>
                            </p:stCondLst>
                            <p:childTnLst>
                              <p:par>
                                <p:cTn id="42" presetID="22" presetClass="entr" presetSubtype="8" fill="hold" grpId="0" nodeType="afterEffect">
                                  <p:stCondLst>
                                    <p:cond delay="0"/>
                                  </p:stCondLst>
                                  <p:childTnLst>
                                    <p:set>
                                      <p:cBhvr>
                                        <p:cTn id="43" dur="1" fill="hold">
                                          <p:stCondLst>
                                            <p:cond delay="0"/>
                                          </p:stCondLst>
                                        </p:cTn>
                                        <p:tgtEl>
                                          <p:spTgt spid="250245"/>
                                        </p:tgtEl>
                                        <p:attrNameLst>
                                          <p:attrName>style.visibility</p:attrName>
                                        </p:attrNameLst>
                                      </p:cBhvr>
                                      <p:to>
                                        <p:strVal val="visible"/>
                                      </p:to>
                                    </p:set>
                                    <p:animEffect transition="in" filter="wipe(left)">
                                      <p:cBhvr>
                                        <p:cTn id="44" dur="500"/>
                                        <p:tgtEl>
                                          <p:spTgt spid="250245"/>
                                        </p:tgtEl>
                                      </p:cBhvr>
                                    </p:animEffect>
                                  </p:childTnLst>
                                </p:cTn>
                              </p:par>
                            </p:childTnLst>
                          </p:cTn>
                        </p:par>
                        <p:par>
                          <p:cTn id="45" fill="hold">
                            <p:stCondLst>
                              <p:cond delay="4500"/>
                            </p:stCondLst>
                            <p:childTnLst>
                              <p:par>
                                <p:cTn id="46" presetID="22" presetClass="entr" presetSubtype="1" fill="hold" grpId="0" nodeType="afterEffect">
                                  <p:stCondLst>
                                    <p:cond delay="0"/>
                                  </p:stCondLst>
                                  <p:childTnLst>
                                    <p:set>
                                      <p:cBhvr>
                                        <p:cTn id="47" dur="1" fill="hold">
                                          <p:stCondLst>
                                            <p:cond delay="0"/>
                                          </p:stCondLst>
                                        </p:cTn>
                                        <p:tgtEl>
                                          <p:spTgt spid="250246"/>
                                        </p:tgtEl>
                                        <p:attrNameLst>
                                          <p:attrName>style.visibility</p:attrName>
                                        </p:attrNameLst>
                                      </p:cBhvr>
                                      <p:to>
                                        <p:strVal val="visible"/>
                                      </p:to>
                                    </p:set>
                                    <p:animEffect transition="in" filter="wipe(up)">
                                      <p:cBhvr>
                                        <p:cTn id="48" dur="500"/>
                                        <p:tgtEl>
                                          <p:spTgt spid="250246"/>
                                        </p:tgtEl>
                                      </p:cBhvr>
                                    </p:animEffect>
                                  </p:childTnLst>
                                </p:cTn>
                              </p:par>
                            </p:childTnLst>
                          </p:cTn>
                        </p:par>
                        <p:par>
                          <p:cTn id="49" fill="hold">
                            <p:stCondLst>
                              <p:cond delay="5000"/>
                            </p:stCondLst>
                            <p:childTnLst>
                              <p:par>
                                <p:cTn id="50" presetID="22" presetClass="entr" presetSubtype="8" fill="hold" grpId="0" nodeType="afterEffect">
                                  <p:stCondLst>
                                    <p:cond delay="0"/>
                                  </p:stCondLst>
                                  <p:childTnLst>
                                    <p:set>
                                      <p:cBhvr>
                                        <p:cTn id="51" dur="1" fill="hold">
                                          <p:stCondLst>
                                            <p:cond delay="0"/>
                                          </p:stCondLst>
                                        </p:cTn>
                                        <p:tgtEl>
                                          <p:spTgt spid="250247"/>
                                        </p:tgtEl>
                                        <p:attrNameLst>
                                          <p:attrName>style.visibility</p:attrName>
                                        </p:attrNameLst>
                                      </p:cBhvr>
                                      <p:to>
                                        <p:strVal val="visible"/>
                                      </p:to>
                                    </p:set>
                                    <p:animEffect transition="in" filter="wipe(left)">
                                      <p:cBhvr>
                                        <p:cTn id="52" dur="500"/>
                                        <p:tgtEl>
                                          <p:spTgt spid="250247"/>
                                        </p:tgtEl>
                                      </p:cBhvr>
                                    </p:animEffect>
                                  </p:childTnLst>
                                </p:cTn>
                              </p:par>
                            </p:childTnLst>
                          </p:cTn>
                        </p:par>
                        <p:par>
                          <p:cTn id="53" fill="hold">
                            <p:stCondLst>
                              <p:cond delay="5500"/>
                            </p:stCondLst>
                            <p:childTnLst>
                              <p:par>
                                <p:cTn id="54" presetID="22" presetClass="entr" presetSubtype="8" fill="hold" grpId="0" nodeType="afterEffect">
                                  <p:stCondLst>
                                    <p:cond delay="0"/>
                                  </p:stCondLst>
                                  <p:childTnLst>
                                    <p:set>
                                      <p:cBhvr>
                                        <p:cTn id="55" dur="1" fill="hold">
                                          <p:stCondLst>
                                            <p:cond delay="0"/>
                                          </p:stCondLst>
                                        </p:cTn>
                                        <p:tgtEl>
                                          <p:spTgt spid="250248"/>
                                        </p:tgtEl>
                                        <p:attrNameLst>
                                          <p:attrName>style.visibility</p:attrName>
                                        </p:attrNameLst>
                                      </p:cBhvr>
                                      <p:to>
                                        <p:strVal val="visible"/>
                                      </p:to>
                                    </p:set>
                                    <p:animEffect transition="in" filter="wipe(left)">
                                      <p:cBhvr>
                                        <p:cTn id="56" dur="500"/>
                                        <p:tgtEl>
                                          <p:spTgt spid="250248"/>
                                        </p:tgtEl>
                                      </p:cBhvr>
                                    </p:animEffect>
                                  </p:childTnLst>
                                </p:cTn>
                              </p:par>
                            </p:childTnLst>
                          </p:cTn>
                        </p:par>
                        <p:par>
                          <p:cTn id="57" fill="hold">
                            <p:stCondLst>
                              <p:cond delay="6000"/>
                            </p:stCondLst>
                            <p:childTnLst>
                              <p:par>
                                <p:cTn id="58" presetID="22" presetClass="entr" presetSubtype="4" fill="hold" grpId="0" nodeType="afterEffect">
                                  <p:stCondLst>
                                    <p:cond delay="0"/>
                                  </p:stCondLst>
                                  <p:childTnLst>
                                    <p:set>
                                      <p:cBhvr>
                                        <p:cTn id="59" dur="1" fill="hold">
                                          <p:stCondLst>
                                            <p:cond delay="0"/>
                                          </p:stCondLst>
                                        </p:cTn>
                                        <p:tgtEl>
                                          <p:spTgt spid="250249"/>
                                        </p:tgtEl>
                                        <p:attrNameLst>
                                          <p:attrName>style.visibility</p:attrName>
                                        </p:attrNameLst>
                                      </p:cBhvr>
                                      <p:to>
                                        <p:strVal val="visible"/>
                                      </p:to>
                                    </p:set>
                                    <p:animEffect transition="in" filter="wipe(down)">
                                      <p:cBhvr>
                                        <p:cTn id="60" dur="500"/>
                                        <p:tgtEl>
                                          <p:spTgt spid="250249"/>
                                        </p:tgtEl>
                                      </p:cBhvr>
                                    </p:animEffect>
                                  </p:childTnLst>
                                </p:cTn>
                              </p:par>
                            </p:childTnLst>
                          </p:cTn>
                        </p:par>
                        <p:par>
                          <p:cTn id="61" fill="hold">
                            <p:stCondLst>
                              <p:cond delay="6500"/>
                            </p:stCondLst>
                            <p:childTnLst>
                              <p:par>
                                <p:cTn id="62" presetID="22" presetClass="entr" presetSubtype="4" fill="hold" grpId="0" nodeType="afterEffect">
                                  <p:stCondLst>
                                    <p:cond delay="0"/>
                                  </p:stCondLst>
                                  <p:childTnLst>
                                    <p:set>
                                      <p:cBhvr>
                                        <p:cTn id="63" dur="1" fill="hold">
                                          <p:stCondLst>
                                            <p:cond delay="0"/>
                                          </p:stCondLst>
                                        </p:cTn>
                                        <p:tgtEl>
                                          <p:spTgt spid="250250"/>
                                        </p:tgtEl>
                                        <p:attrNameLst>
                                          <p:attrName>style.visibility</p:attrName>
                                        </p:attrNameLst>
                                      </p:cBhvr>
                                      <p:to>
                                        <p:strVal val="visible"/>
                                      </p:to>
                                    </p:set>
                                    <p:animEffect transition="in" filter="wipe(down)">
                                      <p:cBhvr>
                                        <p:cTn id="64" dur="500"/>
                                        <p:tgtEl>
                                          <p:spTgt spid="250250"/>
                                        </p:tgtEl>
                                      </p:cBhvr>
                                    </p:animEffect>
                                  </p:childTnLst>
                                </p:cTn>
                              </p:par>
                            </p:childTnLst>
                          </p:cTn>
                        </p:par>
                        <p:par>
                          <p:cTn id="65" fill="hold">
                            <p:stCondLst>
                              <p:cond delay="7000"/>
                            </p:stCondLst>
                            <p:childTnLst>
                              <p:par>
                                <p:cTn id="66" presetID="22" presetClass="entr" presetSubtype="1" fill="hold" grpId="0" nodeType="afterEffect">
                                  <p:stCondLst>
                                    <p:cond delay="0"/>
                                  </p:stCondLst>
                                  <p:childTnLst>
                                    <p:set>
                                      <p:cBhvr>
                                        <p:cTn id="67" dur="1" fill="hold">
                                          <p:stCondLst>
                                            <p:cond delay="0"/>
                                          </p:stCondLst>
                                        </p:cTn>
                                        <p:tgtEl>
                                          <p:spTgt spid="250251"/>
                                        </p:tgtEl>
                                        <p:attrNameLst>
                                          <p:attrName>style.visibility</p:attrName>
                                        </p:attrNameLst>
                                      </p:cBhvr>
                                      <p:to>
                                        <p:strVal val="visible"/>
                                      </p:to>
                                    </p:set>
                                    <p:animEffect transition="in" filter="wipe(up)">
                                      <p:cBhvr>
                                        <p:cTn id="68" dur="500"/>
                                        <p:tgtEl>
                                          <p:spTgt spid="250251"/>
                                        </p:tgtEl>
                                      </p:cBhvr>
                                    </p:animEffect>
                                  </p:childTnLst>
                                </p:cTn>
                              </p:par>
                            </p:childTnLst>
                          </p:cTn>
                        </p:par>
                        <p:par>
                          <p:cTn id="69" fill="hold">
                            <p:stCondLst>
                              <p:cond delay="7500"/>
                            </p:stCondLst>
                            <p:childTnLst>
                              <p:par>
                                <p:cTn id="70" presetID="9" presetClass="entr" presetSubtype="0" fill="hold" nodeType="afterEffect">
                                  <p:stCondLst>
                                    <p:cond delay="0"/>
                                  </p:stCondLst>
                                  <p:childTnLst>
                                    <p:set>
                                      <p:cBhvr>
                                        <p:cTn id="71" dur="1" fill="hold">
                                          <p:stCondLst>
                                            <p:cond delay="0"/>
                                          </p:stCondLst>
                                        </p:cTn>
                                        <p:tgtEl>
                                          <p:spTgt spid="250288"/>
                                        </p:tgtEl>
                                        <p:attrNameLst>
                                          <p:attrName>style.visibility</p:attrName>
                                        </p:attrNameLst>
                                      </p:cBhvr>
                                      <p:to>
                                        <p:strVal val="visible"/>
                                      </p:to>
                                    </p:set>
                                    <p:animEffect transition="in" filter="dissolve">
                                      <p:cBhvr>
                                        <p:cTn id="72" dur="500"/>
                                        <p:tgtEl>
                                          <p:spTgt spid="250288"/>
                                        </p:tgtEl>
                                      </p:cBhvr>
                                    </p:animEffect>
                                  </p:childTnLst>
                                </p:cTn>
                              </p:par>
                            </p:childTnLst>
                          </p:cTn>
                        </p:par>
                        <p:par>
                          <p:cTn id="73" fill="hold">
                            <p:stCondLst>
                              <p:cond delay="8000"/>
                            </p:stCondLst>
                            <p:childTnLst>
                              <p:par>
                                <p:cTn id="74" presetID="22" presetClass="entr" presetSubtype="1" fill="hold" nodeType="afterEffect">
                                  <p:stCondLst>
                                    <p:cond delay="0"/>
                                  </p:stCondLst>
                                  <p:childTnLst>
                                    <p:set>
                                      <p:cBhvr>
                                        <p:cTn id="75" dur="1" fill="hold">
                                          <p:stCondLst>
                                            <p:cond delay="0"/>
                                          </p:stCondLst>
                                        </p:cTn>
                                        <p:tgtEl>
                                          <p:spTgt spid="250299"/>
                                        </p:tgtEl>
                                        <p:attrNameLst>
                                          <p:attrName>style.visibility</p:attrName>
                                        </p:attrNameLst>
                                      </p:cBhvr>
                                      <p:to>
                                        <p:strVal val="visible"/>
                                      </p:to>
                                    </p:set>
                                    <p:animEffect transition="in" filter="wipe(up)">
                                      <p:cBhvr>
                                        <p:cTn id="76" dur="500"/>
                                        <p:tgtEl>
                                          <p:spTgt spid="250299"/>
                                        </p:tgtEl>
                                      </p:cBhvr>
                                    </p:animEffect>
                                  </p:childTnLst>
                                </p:cTn>
                              </p:par>
                            </p:childTnLst>
                          </p:cTn>
                        </p:par>
                        <p:par>
                          <p:cTn id="77" fill="hold">
                            <p:stCondLst>
                              <p:cond delay="8500"/>
                            </p:stCondLst>
                            <p:childTnLst>
                              <p:par>
                                <p:cTn id="78" presetID="22" presetClass="entr" presetSubtype="8" fill="hold" grpId="0" nodeType="afterEffect">
                                  <p:stCondLst>
                                    <p:cond delay="0"/>
                                  </p:stCondLst>
                                  <p:childTnLst>
                                    <p:set>
                                      <p:cBhvr>
                                        <p:cTn id="79" dur="1" fill="hold">
                                          <p:stCondLst>
                                            <p:cond delay="0"/>
                                          </p:stCondLst>
                                        </p:cTn>
                                        <p:tgtEl>
                                          <p:spTgt spid="250316"/>
                                        </p:tgtEl>
                                        <p:attrNameLst>
                                          <p:attrName>style.visibility</p:attrName>
                                        </p:attrNameLst>
                                      </p:cBhvr>
                                      <p:to>
                                        <p:strVal val="visible"/>
                                      </p:to>
                                    </p:set>
                                    <p:animEffect transition="in" filter="wipe(left)">
                                      <p:cBhvr>
                                        <p:cTn id="80" dur="500"/>
                                        <p:tgtEl>
                                          <p:spTgt spid="250316"/>
                                        </p:tgtEl>
                                      </p:cBhvr>
                                    </p:animEffect>
                                  </p:childTnLst>
                                </p:cTn>
                              </p:par>
                            </p:childTnLst>
                          </p:cTn>
                        </p:par>
                        <p:par>
                          <p:cTn id="81" fill="hold">
                            <p:stCondLst>
                              <p:cond delay="9000"/>
                            </p:stCondLst>
                            <p:childTnLst>
                              <p:par>
                                <p:cTn id="82" presetID="22" presetClass="entr" presetSubtype="1" fill="hold" grpId="0" nodeType="afterEffect">
                                  <p:stCondLst>
                                    <p:cond delay="0"/>
                                  </p:stCondLst>
                                  <p:childTnLst>
                                    <p:set>
                                      <p:cBhvr>
                                        <p:cTn id="83" dur="1" fill="hold">
                                          <p:stCondLst>
                                            <p:cond delay="0"/>
                                          </p:stCondLst>
                                        </p:cTn>
                                        <p:tgtEl>
                                          <p:spTgt spid="250317"/>
                                        </p:tgtEl>
                                        <p:attrNameLst>
                                          <p:attrName>style.visibility</p:attrName>
                                        </p:attrNameLst>
                                      </p:cBhvr>
                                      <p:to>
                                        <p:strVal val="visible"/>
                                      </p:to>
                                    </p:set>
                                    <p:animEffect transition="in" filter="wipe(up)">
                                      <p:cBhvr>
                                        <p:cTn id="84" dur="500"/>
                                        <p:tgtEl>
                                          <p:spTgt spid="250317"/>
                                        </p:tgtEl>
                                      </p:cBhvr>
                                    </p:animEffect>
                                  </p:childTnLst>
                                </p:cTn>
                              </p:par>
                            </p:childTnLst>
                          </p:cTn>
                        </p:par>
                        <p:par>
                          <p:cTn id="85" fill="hold">
                            <p:stCondLst>
                              <p:cond delay="9500"/>
                            </p:stCondLst>
                            <p:childTnLst>
                              <p:par>
                                <p:cTn id="86" presetID="22" presetClass="entr" presetSubtype="8" fill="hold" grpId="0" nodeType="afterEffect">
                                  <p:stCondLst>
                                    <p:cond delay="0"/>
                                  </p:stCondLst>
                                  <p:childTnLst>
                                    <p:set>
                                      <p:cBhvr>
                                        <p:cTn id="87" dur="1" fill="hold">
                                          <p:stCondLst>
                                            <p:cond delay="0"/>
                                          </p:stCondLst>
                                        </p:cTn>
                                        <p:tgtEl>
                                          <p:spTgt spid="250318"/>
                                        </p:tgtEl>
                                        <p:attrNameLst>
                                          <p:attrName>style.visibility</p:attrName>
                                        </p:attrNameLst>
                                      </p:cBhvr>
                                      <p:to>
                                        <p:strVal val="visible"/>
                                      </p:to>
                                    </p:set>
                                    <p:animEffect transition="in" filter="wipe(left)">
                                      <p:cBhvr>
                                        <p:cTn id="88" dur="500"/>
                                        <p:tgtEl>
                                          <p:spTgt spid="250318"/>
                                        </p:tgtEl>
                                      </p:cBhvr>
                                    </p:animEffect>
                                  </p:childTnLst>
                                </p:cTn>
                              </p:par>
                            </p:childTnLst>
                          </p:cTn>
                        </p:par>
                        <p:par>
                          <p:cTn id="89" fill="hold">
                            <p:stCondLst>
                              <p:cond delay="10000"/>
                            </p:stCondLst>
                            <p:childTnLst>
                              <p:par>
                                <p:cTn id="90" presetID="22" presetClass="entr" presetSubtype="8" fill="hold" grpId="0" nodeType="afterEffect">
                                  <p:stCondLst>
                                    <p:cond delay="0"/>
                                  </p:stCondLst>
                                  <p:childTnLst>
                                    <p:set>
                                      <p:cBhvr>
                                        <p:cTn id="91" dur="1" fill="hold">
                                          <p:stCondLst>
                                            <p:cond delay="0"/>
                                          </p:stCondLst>
                                        </p:cTn>
                                        <p:tgtEl>
                                          <p:spTgt spid="250319"/>
                                        </p:tgtEl>
                                        <p:attrNameLst>
                                          <p:attrName>style.visibility</p:attrName>
                                        </p:attrNameLst>
                                      </p:cBhvr>
                                      <p:to>
                                        <p:strVal val="visible"/>
                                      </p:to>
                                    </p:set>
                                    <p:animEffect transition="in" filter="wipe(left)">
                                      <p:cBhvr>
                                        <p:cTn id="92" dur="500"/>
                                        <p:tgtEl>
                                          <p:spTgt spid="250319"/>
                                        </p:tgtEl>
                                      </p:cBhvr>
                                    </p:animEffect>
                                  </p:childTnLst>
                                </p:cTn>
                              </p:par>
                            </p:childTnLst>
                          </p:cTn>
                        </p:par>
                        <p:par>
                          <p:cTn id="93" fill="hold">
                            <p:stCondLst>
                              <p:cond delay="10500"/>
                            </p:stCondLst>
                            <p:childTnLst>
                              <p:par>
                                <p:cTn id="94" presetID="22" presetClass="entr" presetSubtype="1" fill="hold" nodeType="afterEffect">
                                  <p:stCondLst>
                                    <p:cond delay="0"/>
                                  </p:stCondLst>
                                  <p:childTnLst>
                                    <p:set>
                                      <p:cBhvr>
                                        <p:cTn id="95" dur="1" fill="hold">
                                          <p:stCondLst>
                                            <p:cond delay="0"/>
                                          </p:stCondLst>
                                        </p:cTn>
                                        <p:tgtEl>
                                          <p:spTgt spid="250305"/>
                                        </p:tgtEl>
                                        <p:attrNameLst>
                                          <p:attrName>style.visibility</p:attrName>
                                        </p:attrNameLst>
                                      </p:cBhvr>
                                      <p:to>
                                        <p:strVal val="visible"/>
                                      </p:to>
                                    </p:set>
                                    <p:animEffect transition="in" filter="wipe(up)">
                                      <p:cBhvr>
                                        <p:cTn id="96" dur="500"/>
                                        <p:tgtEl>
                                          <p:spTgt spid="2503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221" grpId="0" animBg="1"/>
      <p:bldP spid="250222" grpId="0" animBg="1"/>
      <p:bldP spid="250223" grpId="0" animBg="1"/>
      <p:bldP spid="250224" grpId="0" animBg="1"/>
      <p:bldP spid="250225" grpId="0" animBg="1"/>
      <p:bldP spid="250226" grpId="0" animBg="1"/>
      <p:bldP spid="250227" grpId="0" animBg="1"/>
      <p:bldP spid="250245" grpId="0" animBg="1"/>
      <p:bldP spid="250246" grpId="0" animBg="1"/>
      <p:bldP spid="250247" grpId="0" animBg="1"/>
      <p:bldP spid="250248" grpId="0" animBg="1"/>
      <p:bldP spid="250249" grpId="0" animBg="1"/>
      <p:bldP spid="250250" grpId="0" animBg="1"/>
      <p:bldP spid="250251" grpId="0" animBg="1"/>
      <p:bldP spid="250316" grpId="0" animBg="1"/>
      <p:bldP spid="250317" grpId="0" animBg="1"/>
      <p:bldP spid="250318" grpId="0" animBg="1"/>
      <p:bldP spid="250319" grpId="0" animBg="1"/>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idx="4294967295"/>
          </p:nvPr>
        </p:nvSpPr>
        <p:spPr>
          <a:xfrm>
            <a:off x="539552" y="872716"/>
            <a:ext cx="4812226" cy="591051"/>
          </a:xfrm>
          <a:noFill/>
          <a:ln w="9525">
            <a:noFill/>
            <a:miter lim="800000"/>
          </a:ln>
        </p:spPr>
        <p:txBody>
          <a:bodyPr vert="horz" wrap="square" lIns="91440" tIns="45720" rIns="91440" bIns="45720" numCol="1" anchor="ctr" anchorCtr="0" compatLnSpc="1"/>
          <a:lstStyle/>
          <a:p>
            <a:r>
              <a:rPr lang="zh-CN" altLang="en-AU"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部署中需注意的问题</a:t>
            </a:r>
            <a:endPar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63491" name="日期占位符 20"/>
          <p:cNvSpPr txBox="1">
            <a:spLocks noGrp="1"/>
          </p:cNvSpPr>
          <p:nvPr/>
        </p:nvSpPr>
        <p:spPr bwMode="gray">
          <a:xfrm>
            <a:off x="381000" y="6505575"/>
            <a:ext cx="1905000" cy="261938"/>
          </a:xfrm>
          <a:prstGeom prst="rect">
            <a:avLst/>
          </a:prstGeom>
          <a:noFill/>
          <a:ln w="9525">
            <a:noFill/>
            <a:miter lim="800000"/>
          </a:ln>
        </p:spPr>
        <p:txBody>
          <a:bodyPr/>
          <a:lstStyle/>
          <a:p>
            <a:endParaRPr lang="en-US" altLang="zh-CN" sz="1000"/>
          </a:p>
        </p:txBody>
      </p:sp>
      <p:sp>
        <p:nvSpPr>
          <p:cNvPr id="63493" name="Rectangle 6"/>
          <p:cNvSpPr>
            <a:spLocks noChangeArrowheads="1"/>
          </p:cNvSpPr>
          <p:nvPr/>
        </p:nvSpPr>
        <p:spPr bwMode="auto">
          <a:xfrm>
            <a:off x="662490" y="1664804"/>
            <a:ext cx="7895220" cy="3384376"/>
          </a:xfrm>
          <a:prstGeom prst="rect">
            <a:avLst/>
          </a:prstGeom>
          <a:noFill/>
          <a:ln w="9525">
            <a:noFill/>
            <a:miter lim="800000"/>
          </a:ln>
        </p:spPr>
        <p:txBody>
          <a:bodyPr/>
          <a:lstStyle/>
          <a:p>
            <a:pPr marL="342900" indent="-342900" eaLnBrk="0" hangingPunct="0">
              <a:spcBef>
                <a:spcPct val="20000"/>
              </a:spcBef>
              <a:buClr>
                <a:srgbClr val="3399FF"/>
              </a:buClr>
              <a:buFont typeface="Wingdings" panose="05000000000000000000" pitchFamily="2" charset="2"/>
              <a:buChar char="v"/>
            </a:pP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首先在企业中有效地进行</a:t>
            </a:r>
            <a:r>
              <a:rPr lang="en-US" altLang="zh-CN"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IDS</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的部署，需要大量的</a:t>
            </a: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管理机制</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为后盾；</a:t>
            </a:r>
          </a:p>
          <a:p>
            <a:pPr marL="342900" indent="-342900" eaLnBrk="0" hangingPunct="0">
              <a:spcBef>
                <a:spcPct val="20000"/>
              </a:spcBef>
              <a:buClr>
                <a:srgbClr val="3399FF"/>
              </a:buClr>
              <a:buFont typeface="Wingdings" panose="05000000000000000000" pitchFamily="2" charset="2"/>
              <a:buChar char="v"/>
            </a:pPr>
            <a:r>
              <a:rPr lang="en-US" altLang="zh-CN"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IDS</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必须被广泛部署在的</a:t>
            </a: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关键位置</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（不仅仅是互联网连接），才能获得最大的利益；</a:t>
            </a:r>
          </a:p>
          <a:p>
            <a:pPr marL="342900" indent="-342900" eaLnBrk="0" hangingPunct="0">
              <a:spcBef>
                <a:spcPct val="20000"/>
              </a:spcBef>
              <a:buClr>
                <a:srgbClr val="3399FF"/>
              </a:buClr>
              <a:buFont typeface="Wingdings" panose="05000000000000000000" pitchFamily="2" charset="2"/>
              <a:buChar char="v"/>
            </a:pP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特征库</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是否</a:t>
            </a:r>
            <a:r>
              <a:rPr lang="zh-CN" altLang="en-US" sz="2400" b="1"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完整、准确</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对于</a:t>
            </a:r>
            <a:r>
              <a:rPr lang="en-US" altLang="zh-CN"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IDS</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的检测能力具有决定性的影响；</a:t>
            </a:r>
          </a:p>
          <a:p>
            <a:pPr marL="342900" indent="-342900" eaLnBrk="0" hangingPunct="0">
              <a:spcBef>
                <a:spcPct val="20000"/>
              </a:spcBef>
              <a:buClr>
                <a:srgbClr val="3399FF"/>
              </a:buClr>
              <a:buFont typeface="Wingdings" panose="05000000000000000000" pitchFamily="2" charset="2"/>
              <a:buChar char="v"/>
            </a:pP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感应器</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的优化是非常重要的，以确保能够准确快速的产生相关告警。</a:t>
            </a:r>
            <a:endParaRPr lang="en-AU" altLang="zh-CN"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3493"/>
                                        </p:tgtEl>
                                        <p:attrNameLst>
                                          <p:attrName>style.visibility</p:attrName>
                                        </p:attrNameLst>
                                      </p:cBhvr>
                                      <p:to>
                                        <p:strVal val="visible"/>
                                      </p:to>
                                    </p:set>
                                    <p:animEffect transition="in" filter="wipe(up)">
                                      <p:cBhvr>
                                        <p:cTn id="7" dur="500"/>
                                        <p:tgtEl>
                                          <p:spTgt spid="634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3" grpId="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idx="4294967295"/>
          </p:nvPr>
        </p:nvSpPr>
        <p:spPr>
          <a:xfrm>
            <a:off x="412305" y="872716"/>
            <a:ext cx="6023275" cy="603473"/>
          </a:xfrm>
          <a:noFill/>
          <a:ln w="9525">
            <a:noFill/>
            <a:miter lim="800000"/>
          </a:ln>
        </p:spPr>
        <p:txBody>
          <a:bodyPr vert="horz" wrap="square" lIns="91440" tIns="45720" rIns="91440" bIns="45720" numCol="1" anchor="ctr" anchorCtr="0" compatLnSpc="1"/>
          <a:lstStyle/>
          <a:p>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 在应用中的常见问题</a:t>
            </a:r>
            <a:endPar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64515" name="日期占位符 20"/>
          <p:cNvSpPr txBox="1">
            <a:spLocks noGrp="1"/>
          </p:cNvSpPr>
          <p:nvPr/>
        </p:nvSpPr>
        <p:spPr bwMode="gray">
          <a:xfrm>
            <a:off x="395288" y="6596063"/>
            <a:ext cx="1905000" cy="261937"/>
          </a:xfrm>
          <a:prstGeom prst="rect">
            <a:avLst/>
          </a:prstGeom>
          <a:noFill/>
          <a:ln w="9525">
            <a:noFill/>
            <a:miter lim="800000"/>
          </a:ln>
        </p:spPr>
        <p:txBody>
          <a:bodyPr/>
          <a:lstStyle/>
          <a:p>
            <a:endParaRPr lang="en-US" altLang="zh-CN" sz="1000"/>
          </a:p>
        </p:txBody>
      </p:sp>
      <p:sp>
        <p:nvSpPr>
          <p:cNvPr id="64517" name="Rectangle 6"/>
          <p:cNvSpPr>
            <a:spLocks noChangeArrowheads="1"/>
          </p:cNvSpPr>
          <p:nvPr/>
        </p:nvSpPr>
        <p:spPr bwMode="auto">
          <a:xfrm>
            <a:off x="523833" y="1700809"/>
            <a:ext cx="8404651" cy="3204356"/>
          </a:xfrm>
          <a:prstGeom prst="rect">
            <a:avLst/>
          </a:prstGeom>
          <a:noFill/>
          <a:ln w="9525">
            <a:noFill/>
            <a:miter lim="800000"/>
          </a:ln>
        </p:spPr>
        <p:txBody>
          <a:bodyPr/>
          <a:lstStyle/>
          <a:p>
            <a:pPr marL="342900" indent="-342900" eaLnBrk="0" hangingPunct="0">
              <a:lnSpc>
                <a:spcPct val="90000"/>
              </a:lnSpc>
              <a:spcBef>
                <a:spcPct val="20000"/>
              </a:spcBef>
              <a:buClr>
                <a:srgbClr val="3399FF"/>
              </a:buClr>
              <a:buFont typeface="Wingdings" panose="05000000000000000000" pitchFamily="2" charset="2"/>
              <a:buChar char="v"/>
            </a:pPr>
            <a:r>
              <a:rPr lang="zh-CN" altLang="en-AU" sz="2400" b="1" dirty="0">
                <a:effectLst>
                  <a:outerShdw blurRad="38100" dist="38100" dir="2700000" algn="tl">
                    <a:srgbClr val="000000">
                      <a:alpha val="43137"/>
                    </a:srgbClr>
                  </a:outerShdw>
                </a:effectLst>
                <a:latin typeface="+mn-ea"/>
                <a:ea typeface="+mn-ea"/>
                <a:cs typeface="Times New Roman" panose="02020603050405020304" pitchFamily="18" charset="0"/>
              </a:rPr>
              <a:t>需要</a:t>
            </a:r>
            <a:r>
              <a:rPr lang="zh-CN" altLang="en-AU" sz="2400" b="1" dirty="0">
                <a:solidFill>
                  <a:srgbClr val="FF0000"/>
                </a:solidFill>
                <a:effectLst>
                  <a:outerShdw blurRad="38100" dist="38100" dir="2700000" algn="tl">
                    <a:srgbClr val="000000">
                      <a:alpha val="43137"/>
                    </a:srgbClr>
                  </a:outerShdw>
                </a:effectLst>
                <a:latin typeface="+mn-ea"/>
                <a:ea typeface="+mn-ea"/>
                <a:cs typeface="Times New Roman" panose="02020603050405020304" pitchFamily="18" charset="0"/>
              </a:rPr>
              <a:t>大量的资源</a:t>
            </a:r>
            <a:r>
              <a:rPr lang="zh-CN" altLang="en-AU" sz="2400" b="1" dirty="0">
                <a:effectLst>
                  <a:outerShdw blurRad="38100" dist="38100" dir="2700000" algn="tl">
                    <a:srgbClr val="000000">
                      <a:alpha val="43137"/>
                    </a:srgbClr>
                  </a:outerShdw>
                </a:effectLst>
                <a:latin typeface="+mn-ea"/>
                <a:ea typeface="+mn-ea"/>
                <a:cs typeface="Times New Roman" panose="02020603050405020304" pitchFamily="18" charset="0"/>
              </a:rPr>
              <a:t>来配置、操作和管理；</a:t>
            </a:r>
          </a:p>
          <a:p>
            <a:pPr marL="342900" indent="-342900" eaLnBrk="0" hangingPunct="0">
              <a:lnSpc>
                <a:spcPct val="90000"/>
              </a:lnSpc>
              <a:spcBef>
                <a:spcPct val="20000"/>
              </a:spcBef>
              <a:buClr>
                <a:srgbClr val="3399FF"/>
              </a:buClr>
              <a:buFont typeface="Wingdings" panose="05000000000000000000" pitchFamily="2" charset="2"/>
              <a:buChar char="v"/>
            </a:pPr>
            <a:r>
              <a:rPr lang="zh-CN" altLang="en-AU" sz="2400" b="1" dirty="0">
                <a:effectLst>
                  <a:outerShdw blurRad="38100" dist="38100" dir="2700000" algn="tl">
                    <a:srgbClr val="000000">
                      <a:alpha val="43137"/>
                    </a:srgbClr>
                  </a:outerShdw>
                </a:effectLst>
                <a:latin typeface="+mn-ea"/>
                <a:ea typeface="+mn-ea"/>
                <a:cs typeface="Times New Roman" panose="02020603050405020304" pitchFamily="18" charset="0"/>
              </a:rPr>
              <a:t>分布式的感应器会</a:t>
            </a:r>
            <a:r>
              <a:rPr lang="zh-CN" altLang="en-AU" sz="2400" b="1" dirty="0">
                <a:solidFill>
                  <a:srgbClr val="FF0000"/>
                </a:solidFill>
                <a:effectLst>
                  <a:outerShdw blurRad="38100" dist="38100" dir="2700000" algn="tl">
                    <a:srgbClr val="000000">
                      <a:alpha val="43137"/>
                    </a:srgbClr>
                  </a:outerShdw>
                </a:effectLst>
                <a:latin typeface="+mn-ea"/>
                <a:ea typeface="+mn-ea"/>
                <a:cs typeface="Times New Roman" panose="02020603050405020304" pitchFamily="18" charset="0"/>
              </a:rPr>
              <a:t>产生大量</a:t>
            </a:r>
            <a:r>
              <a:rPr lang="zh-CN" altLang="en-AU" sz="2400" b="1" dirty="0">
                <a:effectLst>
                  <a:outerShdw blurRad="38100" dist="38100" dir="2700000" algn="tl">
                    <a:srgbClr val="000000">
                      <a:alpha val="43137"/>
                    </a:srgbClr>
                  </a:outerShdw>
                </a:effectLst>
                <a:latin typeface="+mn-ea"/>
                <a:ea typeface="+mn-ea"/>
                <a:cs typeface="Times New Roman" panose="02020603050405020304" pitchFamily="18" charset="0"/>
              </a:rPr>
              <a:t>的信息：</a:t>
            </a:r>
          </a:p>
          <a:p>
            <a:pPr marL="742950" lvl="1" indent="-285750" eaLnBrk="0" hangingPunct="0">
              <a:lnSpc>
                <a:spcPct val="90000"/>
              </a:lnSpc>
              <a:spcBef>
                <a:spcPct val="20000"/>
              </a:spcBef>
              <a:buClr>
                <a:srgbClr val="FF9900"/>
              </a:buClr>
              <a:buFont typeface="Wingdings" panose="05000000000000000000" pitchFamily="2" charset="2"/>
              <a:buChar char="§"/>
            </a:pPr>
            <a:r>
              <a:rPr lang="zh-CN" altLang="en-AU" sz="2400" b="1" dirty="0">
                <a:effectLst>
                  <a:outerShdw blurRad="38100" dist="38100" dir="2700000" algn="tl">
                    <a:srgbClr val="000000">
                      <a:alpha val="43137"/>
                    </a:srgbClr>
                  </a:outerShdw>
                </a:effectLst>
                <a:latin typeface="+mn-ea"/>
                <a:ea typeface="+mn-ea"/>
                <a:cs typeface="Times New Roman" panose="02020603050405020304" pitchFamily="18" charset="0"/>
              </a:rPr>
              <a:t>当告警信息的汇集加剧；</a:t>
            </a:r>
          </a:p>
          <a:p>
            <a:pPr marL="742950" lvl="1" indent="-285750" eaLnBrk="0" hangingPunct="0">
              <a:lnSpc>
                <a:spcPct val="90000"/>
              </a:lnSpc>
              <a:spcBef>
                <a:spcPct val="20000"/>
              </a:spcBef>
              <a:buClr>
                <a:srgbClr val="FF9900"/>
              </a:buClr>
              <a:buFont typeface="Wingdings" panose="05000000000000000000" pitchFamily="2" charset="2"/>
              <a:buChar char="§"/>
            </a:pPr>
            <a:r>
              <a:rPr lang="zh-CN" altLang="en-AU" sz="2400" b="1" dirty="0">
                <a:effectLst>
                  <a:outerShdw blurRad="38100" dist="38100" dir="2700000" algn="tl">
                    <a:srgbClr val="000000">
                      <a:alpha val="43137"/>
                    </a:srgbClr>
                  </a:outerShdw>
                </a:effectLst>
                <a:latin typeface="+mn-ea"/>
                <a:ea typeface="+mn-ea"/>
                <a:cs typeface="Times New Roman" panose="02020603050405020304" pitchFamily="18" charset="0"/>
              </a:rPr>
              <a:t>在特定情况下，许多告警可能无法与入侵行为相关联；</a:t>
            </a:r>
          </a:p>
          <a:p>
            <a:pPr marL="742950" lvl="1" indent="-285750" eaLnBrk="0" hangingPunct="0">
              <a:lnSpc>
                <a:spcPct val="90000"/>
              </a:lnSpc>
              <a:spcBef>
                <a:spcPct val="20000"/>
              </a:spcBef>
              <a:buClr>
                <a:srgbClr val="FF9900"/>
              </a:buClr>
              <a:buFont typeface="Wingdings" panose="05000000000000000000" pitchFamily="2" charset="2"/>
              <a:buChar char="§"/>
            </a:pPr>
            <a:r>
              <a:rPr lang="zh-CN" altLang="en-AU" sz="2400" b="1" dirty="0">
                <a:effectLst>
                  <a:outerShdw blurRad="38100" dist="38100" dir="2700000" algn="tl">
                    <a:srgbClr val="000000">
                      <a:alpha val="43137"/>
                    </a:srgbClr>
                  </a:outerShdw>
                </a:effectLst>
                <a:latin typeface="+mn-ea"/>
                <a:ea typeface="+mn-ea"/>
                <a:cs typeface="Times New Roman" panose="02020603050405020304" pitchFamily="18" charset="0"/>
              </a:rPr>
              <a:t>需要大量的人力介入，尤其是在响应方面。</a:t>
            </a:r>
          </a:p>
          <a:p>
            <a:pPr marL="342900" indent="-342900" eaLnBrk="0" hangingPunct="0">
              <a:lnSpc>
                <a:spcPct val="90000"/>
              </a:lnSpc>
              <a:spcBef>
                <a:spcPct val="20000"/>
              </a:spcBef>
              <a:buClr>
                <a:srgbClr val="3399FF"/>
              </a:buClr>
              <a:buFont typeface="Wingdings" panose="05000000000000000000" pitchFamily="2" charset="2"/>
              <a:buChar char="v"/>
            </a:pPr>
            <a:r>
              <a:rPr lang="zh-CN" altLang="en-AU" sz="2400" b="1" dirty="0">
                <a:effectLst>
                  <a:outerShdw blurRad="38100" dist="38100" dir="2700000" algn="tl">
                    <a:srgbClr val="000000">
                      <a:alpha val="43137"/>
                    </a:srgbClr>
                  </a:outerShdw>
                </a:effectLst>
                <a:latin typeface="+mn-ea"/>
                <a:ea typeface="+mn-ea"/>
                <a:cs typeface="Times New Roman" panose="02020603050405020304" pitchFamily="18" charset="0"/>
              </a:rPr>
              <a:t>管理控制台的</a:t>
            </a:r>
            <a:r>
              <a:rPr lang="zh-CN" altLang="en-AU" sz="2400" b="1" dirty="0">
                <a:solidFill>
                  <a:srgbClr val="FF0000"/>
                </a:solidFill>
                <a:effectLst>
                  <a:outerShdw blurRad="38100" dist="38100" dir="2700000" algn="tl">
                    <a:srgbClr val="000000">
                      <a:alpha val="43137"/>
                    </a:srgbClr>
                  </a:outerShdw>
                </a:effectLst>
                <a:latin typeface="+mn-ea"/>
                <a:ea typeface="+mn-ea"/>
                <a:cs typeface="Times New Roman" panose="02020603050405020304" pitchFamily="18" charset="0"/>
              </a:rPr>
              <a:t>安全性</a:t>
            </a:r>
            <a:r>
              <a:rPr lang="zh-CN" altLang="en-AU" sz="2400" b="1" dirty="0">
                <a:effectLst>
                  <a:outerShdw blurRad="38100" dist="38100" dir="2700000" algn="tl">
                    <a:srgbClr val="000000">
                      <a:alpha val="43137"/>
                    </a:srgbClr>
                  </a:outerShdw>
                </a:effectLst>
                <a:latin typeface="+mn-ea"/>
                <a:ea typeface="+mn-ea"/>
                <a:cs typeface="Times New Roman" panose="02020603050405020304" pitchFamily="18" charset="0"/>
              </a:rPr>
              <a:t>问题；</a:t>
            </a:r>
          </a:p>
          <a:p>
            <a:pPr marL="342900" indent="-342900" eaLnBrk="0" hangingPunct="0">
              <a:lnSpc>
                <a:spcPct val="90000"/>
              </a:lnSpc>
              <a:spcBef>
                <a:spcPct val="20000"/>
              </a:spcBef>
              <a:buClr>
                <a:srgbClr val="3399FF"/>
              </a:buClr>
              <a:buFont typeface="Wingdings" panose="05000000000000000000" pitchFamily="2" charset="2"/>
              <a:buChar char="v"/>
            </a:pPr>
            <a:r>
              <a:rPr lang="zh-CN" altLang="en-AU" sz="2400" b="1" dirty="0">
                <a:effectLst>
                  <a:outerShdw blurRad="38100" dist="38100" dir="2700000" algn="tl">
                    <a:srgbClr val="000000">
                      <a:alpha val="43137"/>
                    </a:srgbClr>
                  </a:outerShdw>
                </a:effectLst>
                <a:latin typeface="+mn-ea"/>
                <a:ea typeface="+mn-ea"/>
                <a:cs typeface="Times New Roman" panose="02020603050405020304" pitchFamily="18" charset="0"/>
              </a:rPr>
              <a:t>感应器与控制台通信的</a:t>
            </a:r>
            <a:r>
              <a:rPr lang="zh-CN" altLang="en-AU" sz="2400" b="1" dirty="0">
                <a:solidFill>
                  <a:srgbClr val="FF0000"/>
                </a:solidFill>
                <a:effectLst>
                  <a:outerShdw blurRad="38100" dist="38100" dir="2700000" algn="tl">
                    <a:srgbClr val="000000">
                      <a:alpha val="43137"/>
                    </a:srgbClr>
                  </a:outerShdw>
                </a:effectLst>
                <a:latin typeface="+mn-ea"/>
                <a:ea typeface="+mn-ea"/>
                <a:cs typeface="Times New Roman" panose="02020603050405020304" pitchFamily="18" charset="0"/>
              </a:rPr>
              <a:t>安全性</a:t>
            </a:r>
            <a:r>
              <a:rPr lang="zh-CN" altLang="en-AU" sz="2400" b="1" dirty="0">
                <a:effectLst>
                  <a:outerShdw blurRad="38100" dist="38100" dir="2700000" algn="tl">
                    <a:srgbClr val="000000">
                      <a:alpha val="43137"/>
                    </a:srgbClr>
                  </a:outerShdw>
                </a:effectLst>
                <a:latin typeface="+mn-ea"/>
                <a:ea typeface="+mn-ea"/>
                <a:cs typeface="Times New Roman" panose="02020603050405020304" pitchFamily="18" charset="0"/>
              </a:rPr>
              <a:t>问题。</a:t>
            </a:r>
          </a:p>
          <a:p>
            <a:pPr marL="342900" indent="-342900" eaLnBrk="0" hangingPunct="0">
              <a:lnSpc>
                <a:spcPct val="90000"/>
              </a:lnSpc>
              <a:spcBef>
                <a:spcPct val="20000"/>
              </a:spcBef>
              <a:buClr>
                <a:srgbClr val="3399FF"/>
              </a:buClr>
              <a:buFont typeface="Wingdings" panose="05000000000000000000" pitchFamily="2" charset="2"/>
              <a:buNone/>
            </a:pPr>
            <a:endParaRPr lang="en-AU" altLang="zh-CN" sz="2800" b="1" dirty="0">
              <a:effectLst>
                <a:outerShdw blurRad="38100" dist="38100" dir="2700000" algn="tl">
                  <a:srgbClr val="000000">
                    <a:alpha val="43137"/>
                  </a:srgbClr>
                </a:outerShdw>
              </a:effectLst>
              <a:latin typeface="+mn-ea"/>
              <a:ea typeface="+mn-ea"/>
              <a:cs typeface="Times New Roman" panose="02020603050405020304" pitchFamily="18"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4517"/>
                                        </p:tgtEl>
                                        <p:attrNameLst>
                                          <p:attrName>style.visibility</p:attrName>
                                        </p:attrNameLst>
                                      </p:cBhvr>
                                      <p:to>
                                        <p:strVal val="visible"/>
                                      </p:to>
                                    </p:set>
                                    <p:animEffect transition="in" filter="wipe(up)">
                                      <p:cBhvr>
                                        <p:cTn id="7" dur="500"/>
                                        <p:tgtEl>
                                          <p:spTgt spid="64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7" grpId="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idx="4294967295"/>
          </p:nvPr>
        </p:nvSpPr>
        <p:spPr>
          <a:xfrm>
            <a:off x="389810" y="813813"/>
            <a:ext cx="4982150" cy="576064"/>
          </a:xfrm>
          <a:noFill/>
          <a:ln w="9525">
            <a:noFill/>
            <a:miter lim="800000"/>
          </a:ln>
        </p:spPr>
        <p:txBody>
          <a:bodyPr vert="horz" wrap="square" lIns="91440" tIns="45720" rIns="91440" bIns="45720" numCol="1" anchor="ctr" anchorCtr="0" compatLnSpc="1"/>
          <a:lstStyle/>
          <a:p>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 选择</a:t>
            </a:r>
            <a:r>
              <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IDS</a:t>
            </a:r>
            <a:r>
              <a:rPr lang="zh-CN" altLang="en-US"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需考虑的要素</a:t>
            </a:r>
            <a:endParaRPr lang="en-US" altLang="zh-CN" kern="1200" dirty="0">
              <a:solidFill>
                <a:srgbClr val="0033C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65539" name="日期占位符 20"/>
          <p:cNvSpPr txBox="1">
            <a:spLocks noGrp="1"/>
          </p:cNvSpPr>
          <p:nvPr/>
        </p:nvSpPr>
        <p:spPr bwMode="gray">
          <a:xfrm>
            <a:off x="395288" y="6596063"/>
            <a:ext cx="1905000" cy="261937"/>
          </a:xfrm>
          <a:prstGeom prst="rect">
            <a:avLst/>
          </a:prstGeom>
          <a:noFill/>
          <a:ln w="9525">
            <a:noFill/>
            <a:miter lim="800000"/>
          </a:ln>
        </p:spPr>
        <p:txBody>
          <a:bodyPr/>
          <a:lstStyle/>
          <a:p>
            <a:endParaRPr lang="en-US" altLang="zh-CN" sz="1000"/>
          </a:p>
        </p:txBody>
      </p:sp>
      <p:sp>
        <p:nvSpPr>
          <p:cNvPr id="65541" name="Rectangle 5"/>
          <p:cNvSpPr>
            <a:spLocks noChangeArrowheads="1"/>
          </p:cNvSpPr>
          <p:nvPr/>
        </p:nvSpPr>
        <p:spPr bwMode="auto">
          <a:xfrm>
            <a:off x="503238" y="1592263"/>
            <a:ext cx="8245475" cy="1908745"/>
          </a:xfrm>
          <a:prstGeom prst="rect">
            <a:avLst/>
          </a:prstGeom>
          <a:noFill/>
          <a:ln w="9525">
            <a:noFill/>
            <a:miter lim="800000"/>
          </a:ln>
        </p:spPr>
        <p:txBody>
          <a:bodyPr/>
          <a:lstStyle/>
          <a:p>
            <a:pPr marL="342900" indent="-342900" eaLnBrk="0" hangingPunct="0">
              <a:lnSpc>
                <a:spcPct val="90000"/>
              </a:lnSpc>
              <a:spcBef>
                <a:spcPct val="20000"/>
              </a:spcBef>
              <a:buClr>
                <a:srgbClr val="3399FF"/>
              </a:buClr>
              <a:buFont typeface="Wingdings" panose="05000000000000000000" pitchFamily="2" charset="2"/>
              <a:buChar char="v"/>
            </a:pPr>
            <a:endParaRPr lang="zh-CN" altLang="en-AU" sz="3000" b="1">
              <a:latin typeface="宋体" panose="02010600030101010101" pitchFamily="2" charset="-122"/>
            </a:endParaRPr>
          </a:p>
          <a:p>
            <a:pPr marL="342900" indent="-342900" eaLnBrk="0" hangingPunct="0">
              <a:lnSpc>
                <a:spcPct val="90000"/>
              </a:lnSpc>
              <a:spcBef>
                <a:spcPct val="20000"/>
              </a:spcBef>
              <a:buClr>
                <a:srgbClr val="3399FF"/>
              </a:buClr>
              <a:buFont typeface="Wingdings" panose="05000000000000000000" pitchFamily="2" charset="2"/>
              <a:buNone/>
            </a:pPr>
            <a:endParaRPr lang="en-AU" altLang="zh-CN" sz="2800" b="1">
              <a:latin typeface="宋体" panose="02010600030101010101" pitchFamily="2" charset="-122"/>
            </a:endParaRPr>
          </a:p>
        </p:txBody>
      </p:sp>
      <p:sp>
        <p:nvSpPr>
          <p:cNvPr id="65542" name="Rectangle 6"/>
          <p:cNvSpPr>
            <a:spLocks noChangeArrowheads="1"/>
          </p:cNvSpPr>
          <p:nvPr/>
        </p:nvSpPr>
        <p:spPr bwMode="auto">
          <a:xfrm>
            <a:off x="755576" y="1594023"/>
            <a:ext cx="8202550" cy="1906985"/>
          </a:xfrm>
          <a:prstGeom prst="rect">
            <a:avLst/>
          </a:prstGeom>
          <a:noFill/>
          <a:ln w="9525">
            <a:noFill/>
            <a:miter lim="800000"/>
          </a:ln>
        </p:spPr>
        <p:txBody>
          <a:bodyPr/>
          <a:lstStyle/>
          <a:p>
            <a:pPr marL="342900" indent="-342900" eaLnBrk="0" hangingPunct="0">
              <a:spcBef>
                <a:spcPct val="20000"/>
              </a:spcBef>
              <a:buClr>
                <a:srgbClr val="3399FF"/>
              </a:buClr>
              <a:buFont typeface="Wingdings" panose="05000000000000000000" pitchFamily="2" charset="2"/>
              <a:buChar char="v"/>
            </a:pP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Porras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等给出了评价入侵检测系统性能的三个因素：</a:t>
            </a:r>
          </a:p>
          <a:p>
            <a:pPr marL="742950" lvl="1" indent="-285750" eaLnBrk="0" hangingPunct="0">
              <a:spcBef>
                <a:spcPct val="20000"/>
              </a:spcBef>
              <a:buClr>
                <a:srgbClr val="FF9900"/>
              </a:buClr>
              <a:buFont typeface="Wingdings" panose="05000000000000000000" pitchFamily="2" charset="2"/>
              <a:buChar char="§"/>
            </a:pPr>
            <a:r>
              <a:rPr lang="zh-CN" altLang="en-US" sz="2400" b="1"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准确性</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Accuracy</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误报率</a:t>
            </a:r>
          </a:p>
          <a:p>
            <a:pPr marL="742950" lvl="1" indent="-285750" eaLnBrk="0" hangingPunct="0">
              <a:spcBef>
                <a:spcPct val="20000"/>
              </a:spcBef>
              <a:buClr>
                <a:srgbClr val="FF9900"/>
              </a:buClr>
              <a:buFont typeface="Wingdings" panose="05000000000000000000" pitchFamily="2" charset="2"/>
              <a:buChar char="§"/>
            </a:pPr>
            <a:r>
              <a:rPr lang="zh-CN" altLang="en-US" sz="2400" b="1"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处理性能</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Performance</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742950" lvl="1" indent="-285750" eaLnBrk="0" hangingPunct="0">
              <a:spcBef>
                <a:spcPct val="20000"/>
              </a:spcBef>
              <a:buClr>
                <a:srgbClr val="FF9900"/>
              </a:buClr>
              <a:buFont typeface="Wingdings" panose="05000000000000000000" pitchFamily="2" charset="2"/>
              <a:buChar char="§"/>
            </a:pPr>
            <a:r>
              <a:rPr lang="zh-CN" altLang="en-US" sz="2400" b="1"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完备性</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Completeness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漏报率</a:t>
            </a:r>
          </a:p>
        </p:txBody>
      </p:sp>
      <p:sp>
        <p:nvSpPr>
          <p:cNvPr id="2" name="矩形 1"/>
          <p:cNvSpPr/>
          <p:nvPr/>
        </p:nvSpPr>
        <p:spPr>
          <a:xfrm>
            <a:off x="650046" y="3700474"/>
            <a:ext cx="7951857" cy="1348061"/>
          </a:xfrm>
          <a:prstGeom prst="rect">
            <a:avLst/>
          </a:prstGeom>
        </p:spPr>
        <p:txBody>
          <a:bodyPr wrap="square">
            <a:spAutoFit/>
          </a:bodyPr>
          <a:lstStyle/>
          <a:p>
            <a:pPr marL="342900" indent="-342900" eaLnBrk="0" hangingPunct="0">
              <a:spcBef>
                <a:spcPct val="20000"/>
              </a:spcBef>
              <a:buClr>
                <a:srgbClr val="3399FF"/>
              </a:buClr>
              <a:buFont typeface="Wingdings" panose="05000000000000000000" pitchFamily="2" charset="2"/>
              <a:buChar char="v"/>
            </a:pP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Debar</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等增加了两个性能评价测度</a:t>
            </a:r>
          </a:p>
          <a:p>
            <a:pPr marL="742950" lvl="1" indent="-285750" eaLnBrk="0" hangingPunct="0">
              <a:spcBef>
                <a:spcPct val="20000"/>
              </a:spcBef>
              <a:buClr>
                <a:srgbClr val="FF9900"/>
              </a:buClr>
              <a:buFont typeface="Wingdings" panose="05000000000000000000" pitchFamily="2" charset="2"/>
              <a:buChar char="§"/>
            </a:pPr>
            <a:r>
              <a:rPr lang="zh-CN" altLang="en-US" sz="2400" b="1"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容错性</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Fault Tolerance</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IDS</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自身防御攻击的能力</a:t>
            </a:r>
          </a:p>
          <a:p>
            <a:pPr marL="742950" lvl="1" indent="-285750" eaLnBrk="0" hangingPunct="0">
              <a:spcBef>
                <a:spcPct val="20000"/>
              </a:spcBef>
              <a:buClr>
                <a:srgbClr val="FF9900"/>
              </a:buClr>
              <a:buFont typeface="Wingdings" panose="05000000000000000000" pitchFamily="2" charset="2"/>
              <a:buChar char="§"/>
            </a:pPr>
            <a:r>
              <a:rPr lang="zh-CN" altLang="en-US" sz="2400" b="1"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及时性</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Timeliness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数据源分析的速度</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5542"/>
                                        </p:tgtEl>
                                        <p:attrNameLst>
                                          <p:attrName>style.visibility</p:attrName>
                                        </p:attrNameLst>
                                      </p:cBhvr>
                                      <p:to>
                                        <p:strVal val="visible"/>
                                      </p:to>
                                    </p:set>
                                    <p:anim calcmode="lin" valueType="num">
                                      <p:cBhvr>
                                        <p:cTn id="7" dur="500" fill="hold"/>
                                        <p:tgtEl>
                                          <p:spTgt spid="65542"/>
                                        </p:tgtEl>
                                        <p:attrNameLst>
                                          <p:attrName>ppt_w</p:attrName>
                                        </p:attrNameLst>
                                      </p:cBhvr>
                                      <p:tavLst>
                                        <p:tav tm="0">
                                          <p:val>
                                            <p:fltVal val="0"/>
                                          </p:val>
                                        </p:tav>
                                        <p:tav tm="100000">
                                          <p:val>
                                            <p:strVal val="#ppt_w"/>
                                          </p:val>
                                        </p:tav>
                                      </p:tavLst>
                                    </p:anim>
                                    <p:anim calcmode="lin" valueType="num">
                                      <p:cBhvr>
                                        <p:cTn id="8" dur="500" fill="hold"/>
                                        <p:tgtEl>
                                          <p:spTgt spid="65542"/>
                                        </p:tgtEl>
                                        <p:attrNameLst>
                                          <p:attrName>ppt_h</p:attrName>
                                        </p:attrNameLst>
                                      </p:cBhvr>
                                      <p:tavLst>
                                        <p:tav tm="0">
                                          <p:val>
                                            <p:fltVal val="0"/>
                                          </p:val>
                                        </p:tav>
                                        <p:tav tm="100000">
                                          <p:val>
                                            <p:strVal val="#ppt_h"/>
                                          </p:val>
                                        </p:tav>
                                      </p:tavLst>
                                    </p:anim>
                                    <p:animEffect transition="in" filter="fade">
                                      <p:cBhvr>
                                        <p:cTn id="9" dur="500"/>
                                        <p:tgtEl>
                                          <p:spTgt spid="6554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2" grpId="0"/>
      <p:bldP spid="2" grpId="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19EAB606-B835-6640-BCCD-D5A6E2042B2C}"/>
              </a:ext>
            </a:extLst>
          </p:cNvPr>
          <p:cNvSpPr txBox="1">
            <a:spLocks/>
          </p:cNvSpPr>
          <p:nvPr/>
        </p:nvSpPr>
        <p:spPr>
          <a:xfrm>
            <a:off x="1008720" y="3429000"/>
            <a:ext cx="7126560" cy="1071170"/>
          </a:xfrm>
          <a:prstGeom prst="rect">
            <a:avLst/>
          </a:prstGeom>
        </p:spPr>
        <p:txBody>
          <a:bodyPr vert="horz" lIns="91440" tIns="45720" rIns="91440" bIns="45720" rtlCol="0" anchor="b">
            <a:normAutofit/>
          </a:bodyPr>
          <a:lstStyle>
            <a:lvl1pPr algn="ctr" defTabSz="914400" rtl="0" eaLnBrk="1" latinLnBrk="0" hangingPunct="1">
              <a:spcBef>
                <a:spcPct val="0"/>
              </a:spcBef>
              <a:buNone/>
              <a:defRPr sz="4400" kern="1200">
                <a:solidFill>
                  <a:schemeClr val="accent1">
                    <a:lumMod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pPr>
            <a:r>
              <a:rPr kumimoji="1" lang="en-US" altLang="zh-CN" sz="6000" b="1" dirty="0">
                <a:solidFill>
                  <a:srgbClr val="FFE4E5">
                    <a:lumMod val="25000"/>
                  </a:srgbClr>
                </a:solidFill>
                <a:latin typeface="Microsoft YaHei" panose="020B0503020204020204" pitchFamily="34" charset="-122"/>
                <a:ea typeface="Microsoft YaHei" panose="020B0503020204020204" pitchFamily="34" charset="-122"/>
                <a:cs typeface="Arial"/>
              </a:rPr>
              <a:t>Thanks</a:t>
            </a:r>
            <a:r>
              <a:rPr kumimoji="1" lang="zh-CN" altLang="en-US" sz="6000" b="1" dirty="0">
                <a:solidFill>
                  <a:srgbClr val="FFE4E5">
                    <a:lumMod val="25000"/>
                  </a:srgbClr>
                </a:solidFill>
                <a:latin typeface="Microsoft YaHei" panose="020B0503020204020204" pitchFamily="34" charset="-122"/>
                <a:ea typeface="Microsoft YaHei" panose="020B0503020204020204" pitchFamily="34" charset="-122"/>
                <a:cs typeface="Arial"/>
              </a:rPr>
              <a:t>！</a:t>
            </a:r>
            <a:endParaRPr lang="zh-CN" altLang="en-US" sz="6000" b="1" dirty="0">
              <a:solidFill>
                <a:srgbClr val="C00000"/>
              </a:solidFill>
              <a:latin typeface="Microsoft YaHei" panose="020B0503020204020204" pitchFamily="34" charset="-122"/>
              <a:ea typeface="Microsoft YaHei" panose="020B0503020204020204" pitchFamily="34" charset="-122"/>
              <a:cs typeface="Arial"/>
            </a:endParaRPr>
          </a:p>
        </p:txBody>
      </p:sp>
      <p:sp>
        <p:nvSpPr>
          <p:cNvPr id="4" name="Rectangle 2">
            <a:extLst>
              <a:ext uri="{FF2B5EF4-FFF2-40B4-BE49-F238E27FC236}">
                <a16:creationId xmlns:a16="http://schemas.microsoft.com/office/drawing/2014/main" id="{0F7210F2-F18E-D14C-8D16-C09F239938EE}"/>
              </a:ext>
            </a:extLst>
          </p:cNvPr>
          <p:cNvSpPr txBox="1">
            <a:spLocks noRot="1" noChangeArrowheads="1"/>
          </p:cNvSpPr>
          <p:nvPr/>
        </p:nvSpPr>
        <p:spPr>
          <a:xfrm>
            <a:off x="1260748" y="990600"/>
            <a:ext cx="6622504" cy="8382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b="1" kern="1200">
                <a:solidFill>
                  <a:srgbClr val="C00000"/>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fontAlgn="auto">
              <a:spcAft>
                <a:spcPts val="0"/>
              </a:spcAft>
            </a:pPr>
            <a:r>
              <a:rPr kumimoji="1" lang="en-US" altLang="zh-CN" dirty="0">
                <a:solidFill>
                  <a:srgbClr val="FFE4E5">
                    <a:lumMod val="25000"/>
                  </a:srgbClr>
                </a:solidFill>
                <a:latin typeface="Microsoft YaHei" panose="020B0503020204020204" pitchFamily="34" charset="-122"/>
                <a:ea typeface="Microsoft YaHei" panose="020B0503020204020204" pitchFamily="34" charset="-122"/>
                <a:cs typeface="Arial"/>
              </a:rPr>
              <a:t>Questions</a:t>
            </a:r>
            <a:r>
              <a:rPr kumimoji="1" lang="zh-CN" altLang="en-US" dirty="0">
                <a:solidFill>
                  <a:srgbClr val="FFE4E5">
                    <a:lumMod val="25000"/>
                  </a:srgbClr>
                </a:solidFill>
                <a:latin typeface="Microsoft YaHei" panose="020B0503020204020204" pitchFamily="34" charset="-122"/>
                <a:ea typeface="Microsoft YaHei" panose="020B0503020204020204" pitchFamily="34" charset="-122"/>
                <a:cs typeface="Arial"/>
              </a:rPr>
              <a:t> </a:t>
            </a:r>
            <a:r>
              <a:rPr kumimoji="1" lang="en-US" altLang="zh-CN" dirty="0">
                <a:solidFill>
                  <a:srgbClr val="FFE4E5">
                    <a:lumMod val="25000"/>
                  </a:srgbClr>
                </a:solidFill>
                <a:latin typeface="Microsoft YaHei" panose="020B0503020204020204" pitchFamily="34" charset="-122"/>
                <a:ea typeface="Microsoft YaHei" panose="020B0503020204020204" pitchFamily="34" charset="-122"/>
                <a:cs typeface="Arial"/>
              </a:rPr>
              <a:t>&amp;</a:t>
            </a:r>
            <a:r>
              <a:rPr kumimoji="1" lang="zh-CN" altLang="en-US" dirty="0">
                <a:solidFill>
                  <a:srgbClr val="FFE4E5">
                    <a:lumMod val="25000"/>
                  </a:srgbClr>
                </a:solidFill>
                <a:latin typeface="Microsoft YaHei" panose="020B0503020204020204" pitchFamily="34" charset="-122"/>
                <a:ea typeface="Microsoft YaHei" panose="020B0503020204020204" pitchFamily="34" charset="-122"/>
                <a:cs typeface="Arial"/>
              </a:rPr>
              <a:t> </a:t>
            </a:r>
            <a:r>
              <a:rPr kumimoji="1" lang="en-US" altLang="zh-CN" dirty="0">
                <a:solidFill>
                  <a:srgbClr val="FFE4E5">
                    <a:lumMod val="25000"/>
                  </a:srgbClr>
                </a:solidFill>
                <a:latin typeface="Microsoft YaHei" panose="020B0503020204020204" pitchFamily="34" charset="-122"/>
                <a:ea typeface="Microsoft YaHei" panose="020B0503020204020204" pitchFamily="34" charset="-122"/>
                <a:cs typeface="Arial"/>
              </a:rPr>
              <a:t>Answers</a:t>
            </a:r>
          </a:p>
        </p:txBody>
      </p:sp>
    </p:spTree>
  </p:cSld>
  <p:clrMapOvr>
    <a:masterClrMapping/>
  </p:clrMapOvr>
  <p:transition>
    <p:fade/>
  </p:transition>
</p:sld>
</file>

<file path=ppt/theme/theme1.xml><?xml version="1.0" encoding="utf-8"?>
<a:theme xmlns:a="http://schemas.openxmlformats.org/drawingml/2006/main" name="sx272TGp_report_light">
  <a:themeElements>
    <a:clrScheme name="sx272TGp_report_light 3">
      <a:dk1>
        <a:srgbClr val="000000"/>
      </a:dk1>
      <a:lt1>
        <a:srgbClr val="FFFFFF"/>
      </a:lt1>
      <a:dk2>
        <a:srgbClr val="003366"/>
      </a:dk2>
      <a:lt2>
        <a:srgbClr val="C0C0C0"/>
      </a:lt2>
      <a:accent1>
        <a:srgbClr val="A5A5A5"/>
      </a:accent1>
      <a:accent2>
        <a:srgbClr val="449CD8"/>
      </a:accent2>
      <a:accent3>
        <a:srgbClr val="FFFFFF"/>
      </a:accent3>
      <a:accent4>
        <a:srgbClr val="000000"/>
      </a:accent4>
      <a:accent5>
        <a:srgbClr val="CFCFCF"/>
      </a:accent5>
      <a:accent6>
        <a:srgbClr val="3D8DC4"/>
      </a:accent6>
      <a:hlink>
        <a:srgbClr val="19B3B3"/>
      </a:hlink>
      <a:folHlink>
        <a:srgbClr val="855ADA"/>
      </a:folHlink>
    </a:clrScheme>
    <a:fontScheme name="sx272TGp_report_light">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x272TGp_report_light 1">
        <a:dk1>
          <a:srgbClr val="000000"/>
        </a:dk1>
        <a:lt1>
          <a:srgbClr val="FFFFFF"/>
        </a:lt1>
        <a:dk2>
          <a:srgbClr val="003366"/>
        </a:dk2>
        <a:lt2>
          <a:srgbClr val="C0C0C0"/>
        </a:lt2>
        <a:accent1>
          <a:srgbClr val="4EA7EA"/>
        </a:accent1>
        <a:accent2>
          <a:srgbClr val="93C052"/>
        </a:accent2>
        <a:accent3>
          <a:srgbClr val="FFFFFF"/>
        </a:accent3>
        <a:accent4>
          <a:srgbClr val="000000"/>
        </a:accent4>
        <a:accent5>
          <a:srgbClr val="B2D0F3"/>
        </a:accent5>
        <a:accent6>
          <a:srgbClr val="85AE49"/>
        </a:accent6>
        <a:hlink>
          <a:srgbClr val="9999FF"/>
        </a:hlink>
        <a:folHlink>
          <a:srgbClr val="855ADA"/>
        </a:folHlink>
      </a:clrScheme>
      <a:clrMap bg1="lt1" tx1="dk1" bg2="lt2" tx2="dk2" accent1="accent1" accent2="accent2" accent3="accent3" accent4="accent4" accent5="accent5" accent6="accent6" hlink="hlink" folHlink="folHlink"/>
    </a:extraClrScheme>
    <a:extraClrScheme>
      <a:clrScheme name="sx272TGp_report_light 2">
        <a:dk1>
          <a:srgbClr val="000000"/>
        </a:dk1>
        <a:lt1>
          <a:srgbClr val="FFFFFF"/>
        </a:lt1>
        <a:dk2>
          <a:srgbClr val="003366"/>
        </a:dk2>
        <a:lt2>
          <a:srgbClr val="C0C0C0"/>
        </a:lt2>
        <a:accent1>
          <a:srgbClr val="DF6521"/>
        </a:accent1>
        <a:accent2>
          <a:srgbClr val="D7D03B"/>
        </a:accent2>
        <a:accent3>
          <a:srgbClr val="FFFFFF"/>
        </a:accent3>
        <a:accent4>
          <a:srgbClr val="000000"/>
        </a:accent4>
        <a:accent5>
          <a:srgbClr val="ECB8AB"/>
        </a:accent5>
        <a:accent6>
          <a:srgbClr val="C3BC35"/>
        </a:accent6>
        <a:hlink>
          <a:srgbClr val="188FB4"/>
        </a:hlink>
        <a:folHlink>
          <a:srgbClr val="A98FD9"/>
        </a:folHlink>
      </a:clrScheme>
      <a:clrMap bg1="lt1" tx1="dk1" bg2="lt2" tx2="dk2" accent1="accent1" accent2="accent2" accent3="accent3" accent4="accent4" accent5="accent5" accent6="accent6" hlink="hlink" folHlink="folHlink"/>
    </a:extraClrScheme>
    <a:extraClrScheme>
      <a:clrScheme name="sx272TGp_report_light 3">
        <a:dk1>
          <a:srgbClr val="000000"/>
        </a:dk1>
        <a:lt1>
          <a:srgbClr val="FFFFFF"/>
        </a:lt1>
        <a:dk2>
          <a:srgbClr val="003366"/>
        </a:dk2>
        <a:lt2>
          <a:srgbClr val="C0C0C0"/>
        </a:lt2>
        <a:accent1>
          <a:srgbClr val="A5A5A5"/>
        </a:accent1>
        <a:accent2>
          <a:srgbClr val="449CD8"/>
        </a:accent2>
        <a:accent3>
          <a:srgbClr val="FFFFFF"/>
        </a:accent3>
        <a:accent4>
          <a:srgbClr val="000000"/>
        </a:accent4>
        <a:accent5>
          <a:srgbClr val="CFCFCF"/>
        </a:accent5>
        <a:accent6>
          <a:srgbClr val="3D8DC4"/>
        </a:accent6>
        <a:hlink>
          <a:srgbClr val="19B3B3"/>
        </a:hlink>
        <a:folHlink>
          <a:srgbClr val="855AD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6581</TotalTime>
  <Words>10998</Words>
  <Application>Microsoft Office PowerPoint</Application>
  <PresentationFormat>全屏显示(4:3)</PresentationFormat>
  <Paragraphs>1309</Paragraphs>
  <Slides>152</Slides>
  <Notes>87</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2</vt:i4>
      </vt:variant>
      <vt:variant>
        <vt:lpstr>幻灯片标题</vt:lpstr>
      </vt:variant>
      <vt:variant>
        <vt:i4>152</vt:i4>
      </vt:variant>
    </vt:vector>
  </HeadingPairs>
  <TitlesOfParts>
    <vt:vector size="168" baseType="lpstr">
      <vt:lpstr>ACaslon Bold</vt:lpstr>
      <vt:lpstr>-apple-system</vt:lpstr>
      <vt:lpstr>黑体</vt:lpstr>
      <vt:lpstr>楷体_GB2312</vt:lpstr>
      <vt:lpstr>宋体</vt:lpstr>
      <vt:lpstr>微软雅黑</vt:lpstr>
      <vt:lpstr>Arial</vt:lpstr>
      <vt:lpstr>Arial Black</vt:lpstr>
      <vt:lpstr>Helvetica</vt:lpstr>
      <vt:lpstr>Tahoma</vt:lpstr>
      <vt:lpstr>Times New Roman</vt:lpstr>
      <vt:lpstr>Verdana</vt:lpstr>
      <vt:lpstr>Wingdings</vt:lpstr>
      <vt:lpstr>sx272TGp_report_light</vt:lpstr>
      <vt:lpstr>剪辑</vt:lpstr>
      <vt:lpstr>Visio</vt:lpstr>
      <vt:lpstr>PowerPoint 演示文稿</vt:lpstr>
      <vt:lpstr>PowerPoint 演示文稿</vt:lpstr>
      <vt:lpstr>知识域：入侵检测技术</vt:lpstr>
      <vt:lpstr>PowerPoint 演示文稿</vt:lpstr>
      <vt:lpstr>IDS存在与发展的必然性</vt:lpstr>
      <vt:lpstr>IDS的作用</vt:lpstr>
      <vt:lpstr>为什么需要IDS</vt:lpstr>
      <vt:lpstr>为什么需要IDS：网络安全工具的局限性</vt:lpstr>
      <vt:lpstr>为什么需要IDS</vt:lpstr>
      <vt:lpstr>为什么需要IDS</vt:lpstr>
      <vt:lpstr>为什么需要IDS</vt:lpstr>
      <vt:lpstr>PowerPoint 演示文稿</vt:lpstr>
      <vt:lpstr>入侵检测技术</vt:lpstr>
      <vt:lpstr>8.1 什么是入侵？</vt:lpstr>
      <vt:lpstr>8.2 入侵的分类</vt:lpstr>
      <vt:lpstr>PowerPoint 演示文稿</vt:lpstr>
      <vt:lpstr>8.3 针对入侵构建防御系统</vt:lpstr>
      <vt:lpstr>针对入侵构建防御系统</vt:lpstr>
      <vt:lpstr>针对入侵构建防御系统</vt:lpstr>
      <vt:lpstr> 针对入侵构建防御系统</vt:lpstr>
      <vt:lpstr>8.4 入侵检测系统的作用</vt:lpstr>
      <vt:lpstr>入侵检测系统的功能</vt:lpstr>
      <vt:lpstr>PowerPoint 演示文稿</vt:lpstr>
      <vt:lpstr>PowerPoint 演示文稿</vt:lpstr>
      <vt:lpstr>通用入侵检测模型（Denning模型） </vt:lpstr>
      <vt:lpstr>PowerPoint 演示文稿</vt:lpstr>
      <vt:lpstr>Denning模型：审计记录</vt:lpstr>
      <vt:lpstr>Denning模型：活动剖面</vt:lpstr>
      <vt:lpstr>Denning模型：活动剖面</vt:lpstr>
      <vt:lpstr>Denning模型：异常记录和活动规则</vt:lpstr>
      <vt:lpstr>Denning模型图示</vt:lpstr>
      <vt:lpstr>PowerPoint 演示文稿</vt:lpstr>
      <vt:lpstr>层次化入侵检测模型IDM</vt:lpstr>
      <vt:lpstr>IDM模型：数据层和事件层</vt:lpstr>
      <vt:lpstr>IDM模型：主体层和上下文层</vt:lpstr>
      <vt:lpstr>IDM模型：威胁层和安全状态层</vt:lpstr>
      <vt:lpstr>PowerPoint 演示文稿</vt:lpstr>
      <vt:lpstr>PowerPoint 演示文稿</vt:lpstr>
      <vt:lpstr>管理式入侵检测模型（SNMP-IDSM） </vt:lpstr>
      <vt:lpstr>SNMP-IDSM概念</vt:lpstr>
      <vt:lpstr>SNMP-IDSM工作原理</vt:lpstr>
      <vt:lpstr>SNMP-IDSM工作原理</vt:lpstr>
      <vt:lpstr>PowerPoint 演示文稿</vt:lpstr>
      <vt:lpstr>入侵检测系统：CIDF架构</vt:lpstr>
      <vt:lpstr>PowerPoint 演示文稿</vt:lpstr>
      <vt:lpstr>PowerPoint 演示文稿</vt:lpstr>
      <vt:lpstr>PowerPoint 演示文稿</vt:lpstr>
      <vt:lpstr>PowerPoint 演示文稿</vt:lpstr>
      <vt:lpstr>8.6 入侵检测系统的分类</vt:lpstr>
      <vt:lpstr>PowerPoint 演示文稿</vt:lpstr>
      <vt:lpstr>8.7 异常检测(Anomaly Detection)</vt:lpstr>
      <vt:lpstr>异常检测</vt:lpstr>
      <vt:lpstr>异常检测常用技术</vt:lpstr>
      <vt:lpstr>异常检测常用技术</vt:lpstr>
      <vt:lpstr>异常检测常用技术</vt:lpstr>
      <vt:lpstr>异常检测常用技术</vt:lpstr>
      <vt:lpstr>异常检测常用技术</vt:lpstr>
      <vt:lpstr>异常检测常用技术</vt:lpstr>
      <vt:lpstr>PowerPoint 演示文稿</vt:lpstr>
      <vt:lpstr>异常检测常用技术</vt:lpstr>
      <vt:lpstr>异常检测常用技术</vt:lpstr>
      <vt:lpstr>8.8 特征检测(misuse detection)</vt:lpstr>
      <vt:lpstr>PowerPoint 演示文稿</vt:lpstr>
      <vt:lpstr> 特征检测</vt:lpstr>
      <vt:lpstr>PowerPoint 演示文稿</vt:lpstr>
      <vt:lpstr>PowerPoint 演示文稿</vt:lpstr>
      <vt:lpstr>PowerPoint 演示文稿</vt:lpstr>
      <vt:lpstr>其他的检测技术</vt:lpstr>
      <vt:lpstr>8.9  主机入侵检测系统</vt:lpstr>
      <vt:lpstr>PowerPoint 演示文稿</vt:lpstr>
      <vt:lpstr>PowerPoint 演示文稿</vt:lpstr>
      <vt:lpstr>PowerPoint 演示文稿</vt:lpstr>
      <vt:lpstr> 主机入侵检测系统</vt:lpstr>
      <vt:lpstr>PowerPoint 演示文稿</vt:lpstr>
      <vt:lpstr>8.10  网络入侵检测系统</vt:lpstr>
      <vt:lpstr>检测引擎设计技术</vt:lpstr>
      <vt:lpstr>PowerPoint 演示文稿</vt:lpstr>
      <vt:lpstr> 网络入侵检测系统</vt:lpstr>
      <vt:lpstr> 网络入侵检测系统</vt:lpstr>
      <vt:lpstr>8.11  网络节点入侵检测系统</vt:lpstr>
      <vt:lpstr>8.12  入侵的响应方式</vt:lpstr>
      <vt:lpstr>8.13  IDS的两个指标</vt:lpstr>
      <vt:lpstr>8.14 基于网络的IDS系统实现</vt:lpstr>
      <vt:lpstr>一个轻量的网络IDS: SNORT</vt:lpstr>
      <vt:lpstr>PowerPoint 演示文稿</vt:lpstr>
      <vt:lpstr>Snort简介</vt:lpstr>
      <vt:lpstr>Snort简介</vt:lpstr>
      <vt:lpstr>PowerPoint 演示文稿</vt:lpstr>
      <vt:lpstr>PowerPoint 演示文稿</vt:lpstr>
      <vt:lpstr>Snort的安装</vt:lpstr>
      <vt:lpstr>Snort的安装</vt:lpstr>
      <vt:lpstr>Snort的安装</vt:lpstr>
      <vt:lpstr>Snort的安装</vt:lpstr>
      <vt:lpstr>Snort的安装</vt:lpstr>
      <vt:lpstr>Snort的安装</vt:lpstr>
      <vt:lpstr>Snort配置</vt:lpstr>
      <vt:lpstr>Snort配置</vt:lpstr>
      <vt:lpstr>Snort配置</vt:lpstr>
      <vt:lpstr>Snort配置</vt:lpstr>
      <vt:lpstr>Snort配置</vt:lpstr>
      <vt:lpstr>Snort配置-编辑snort.conf</vt:lpstr>
      <vt:lpstr>Snort测试</vt:lpstr>
      <vt:lpstr>Snort命令行 </vt:lpstr>
      <vt:lpstr>Snort检测规则</vt:lpstr>
      <vt:lpstr>PowerPoint 演示文稿</vt:lpstr>
      <vt:lpstr>PowerPoint 演示文稿</vt:lpstr>
      <vt:lpstr>PowerPoint 演示文稿</vt:lpstr>
      <vt:lpstr>PowerPoint 演示文稿</vt:lpstr>
      <vt:lpstr>Snort检测规则-规则更新</vt:lpstr>
      <vt:lpstr>Snort检测-ICMP</vt:lpstr>
      <vt:lpstr>Snort检测-ICMP</vt:lpstr>
      <vt:lpstr>Snort检测-ICMP</vt:lpstr>
      <vt:lpstr>Snort检测-TCP</vt:lpstr>
      <vt:lpstr>Snort检测-TCP</vt:lpstr>
      <vt:lpstr>Snort检测-NMAP扫描</vt:lpstr>
      <vt:lpstr>Snort检测-NMAP扫描</vt:lpstr>
      <vt:lpstr>Snort检测-日志记录</vt:lpstr>
      <vt:lpstr>Snort检测-日志记录</vt:lpstr>
      <vt:lpstr>Snort的安装</vt:lpstr>
      <vt:lpstr>Snort的安装</vt:lpstr>
      <vt:lpstr>Snort的安装</vt:lpstr>
      <vt:lpstr>Snort的配置</vt:lpstr>
      <vt:lpstr>Snort的配置</vt:lpstr>
      <vt:lpstr>Snort测试</vt:lpstr>
      <vt:lpstr>错误解决</vt:lpstr>
      <vt:lpstr>8.15  异常检测的网络IDS</vt:lpstr>
      <vt:lpstr>人工神经网络(ANN)用于异常检测</vt:lpstr>
      <vt:lpstr>8.15.1  MLP网络用于入侵检测</vt:lpstr>
      <vt:lpstr>MLP网络结构</vt:lpstr>
      <vt:lpstr>MLP网络</vt:lpstr>
      <vt:lpstr>MLP网络的结果分析</vt:lpstr>
      <vt:lpstr>8.15.2  CMAC网络用于自动对抗拒绝服务</vt:lpstr>
      <vt:lpstr>CMAC模型</vt:lpstr>
      <vt:lpstr>CMAC用于检测DOS攻击</vt:lpstr>
      <vt:lpstr>CMAC对于拒绝服务的模拟结果分析</vt:lpstr>
      <vt:lpstr>8.16  基于主机的IDS系统实现</vt:lpstr>
      <vt:lpstr>基于主机的IDS 实例:STAT</vt:lpstr>
      <vt:lpstr>STAT的优缺点</vt:lpstr>
      <vt:lpstr>STAT——USTAT</vt:lpstr>
      <vt:lpstr>基于STAT的IDS</vt:lpstr>
      <vt:lpstr>8.17  入侵检测系统的典型部署及问题</vt:lpstr>
      <vt:lpstr>PowerPoint 演示文稿</vt:lpstr>
      <vt:lpstr>PowerPoint 演示文稿</vt:lpstr>
      <vt:lpstr>PowerPoint 演示文稿</vt:lpstr>
      <vt:lpstr>商业IDS例子：ISS RealSecure结构</vt:lpstr>
      <vt:lpstr>PowerPoint 演示文稿</vt:lpstr>
      <vt:lpstr>PowerPoint 演示文稿</vt:lpstr>
      <vt:lpstr>PowerPoint 演示文稿</vt:lpstr>
      <vt:lpstr>部署中需注意的问题</vt:lpstr>
      <vt:lpstr> 在应用中的常见问题</vt:lpstr>
      <vt:lpstr> 选择IDS需考虑的要素</vt:lpstr>
      <vt:lpstr>PowerPoint 演示文稿</vt:lpstr>
    </vt:vector>
  </TitlesOfParts>
  <Company>中国信息安全测评中心:cisp运营中心</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ThemeGallery PowerTemplate</dc:title>
  <dc:creator>沈传宁</dc:creator>
  <cp:lastModifiedBy>丹阳 郑</cp:lastModifiedBy>
  <cp:revision>851</cp:revision>
  <dcterms:created xsi:type="dcterms:W3CDTF">2009-02-11T06:13:00Z</dcterms:created>
  <dcterms:modified xsi:type="dcterms:W3CDTF">2026-02-26T03:13:57Z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2052-11.1.0.10132</vt:lpwstr>
  </property>
</Properties>
</file>