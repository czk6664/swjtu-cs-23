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8" r:id="rId1"/>
  </p:sldMasterIdLst>
  <p:notesMasterIdLst>
    <p:notesMasterId r:id="rId134"/>
  </p:notesMasterIdLst>
  <p:handoutMasterIdLst>
    <p:handoutMasterId r:id="rId135"/>
  </p:handoutMasterIdLst>
  <p:sldIdLst>
    <p:sldId id="807" r:id="rId2"/>
    <p:sldId id="873" r:id="rId3"/>
    <p:sldId id="809" r:id="rId4"/>
    <p:sldId id="943" r:id="rId5"/>
    <p:sldId id="811" r:id="rId6"/>
    <p:sldId id="810" r:id="rId7"/>
    <p:sldId id="819" r:id="rId8"/>
    <p:sldId id="923" r:id="rId9"/>
    <p:sldId id="820" r:id="rId10"/>
    <p:sldId id="821" r:id="rId11"/>
    <p:sldId id="822" r:id="rId12"/>
    <p:sldId id="917" r:id="rId13"/>
    <p:sldId id="919" r:id="rId14"/>
    <p:sldId id="944" r:id="rId15"/>
    <p:sldId id="823" r:id="rId16"/>
    <p:sldId id="889" r:id="rId17"/>
    <p:sldId id="945" r:id="rId18"/>
    <p:sldId id="925" r:id="rId19"/>
    <p:sldId id="926" r:id="rId20"/>
    <p:sldId id="927" r:id="rId21"/>
    <p:sldId id="928" r:id="rId22"/>
    <p:sldId id="929" r:id="rId23"/>
    <p:sldId id="930" r:id="rId24"/>
    <p:sldId id="931" r:id="rId25"/>
    <p:sldId id="932" r:id="rId26"/>
    <p:sldId id="933" r:id="rId27"/>
    <p:sldId id="934" r:id="rId28"/>
    <p:sldId id="935" r:id="rId29"/>
    <p:sldId id="936" r:id="rId30"/>
    <p:sldId id="937" r:id="rId31"/>
    <p:sldId id="938" r:id="rId32"/>
    <p:sldId id="939" r:id="rId33"/>
    <p:sldId id="940" r:id="rId34"/>
    <p:sldId id="941" r:id="rId35"/>
    <p:sldId id="942" r:id="rId36"/>
    <p:sldId id="825" r:id="rId37"/>
    <p:sldId id="826" r:id="rId38"/>
    <p:sldId id="827" r:id="rId39"/>
    <p:sldId id="892" r:id="rId40"/>
    <p:sldId id="893" r:id="rId41"/>
    <p:sldId id="894" r:id="rId42"/>
    <p:sldId id="895" r:id="rId43"/>
    <p:sldId id="896" r:id="rId44"/>
    <p:sldId id="891" r:id="rId45"/>
    <p:sldId id="828" r:id="rId46"/>
    <p:sldId id="829" r:id="rId47"/>
    <p:sldId id="897" r:id="rId48"/>
    <p:sldId id="830" r:id="rId49"/>
    <p:sldId id="898" r:id="rId50"/>
    <p:sldId id="899" r:id="rId51"/>
    <p:sldId id="834" r:id="rId52"/>
    <p:sldId id="835" r:id="rId53"/>
    <p:sldId id="836" r:id="rId54"/>
    <p:sldId id="837" r:id="rId55"/>
    <p:sldId id="946" r:id="rId56"/>
    <p:sldId id="839" r:id="rId57"/>
    <p:sldId id="949" r:id="rId58"/>
    <p:sldId id="956" r:id="rId59"/>
    <p:sldId id="957" r:id="rId60"/>
    <p:sldId id="950" r:id="rId61"/>
    <p:sldId id="900" r:id="rId62"/>
    <p:sldId id="904" r:id="rId63"/>
    <p:sldId id="905" r:id="rId64"/>
    <p:sldId id="906" r:id="rId65"/>
    <p:sldId id="841" r:id="rId66"/>
    <p:sldId id="842" r:id="rId67"/>
    <p:sldId id="875" r:id="rId68"/>
    <p:sldId id="876" r:id="rId69"/>
    <p:sldId id="843" r:id="rId70"/>
    <p:sldId id="878" r:id="rId71"/>
    <p:sldId id="879" r:id="rId72"/>
    <p:sldId id="880" r:id="rId73"/>
    <p:sldId id="971" r:id="rId74"/>
    <p:sldId id="912" r:id="rId75"/>
    <p:sldId id="966" r:id="rId76"/>
    <p:sldId id="967" r:id="rId77"/>
    <p:sldId id="913" r:id="rId78"/>
    <p:sldId id="962" r:id="rId79"/>
    <p:sldId id="959" r:id="rId80"/>
    <p:sldId id="969" r:id="rId81"/>
    <p:sldId id="963" r:id="rId82"/>
    <p:sldId id="968" r:id="rId83"/>
    <p:sldId id="914" r:id="rId84"/>
    <p:sldId id="916" r:id="rId85"/>
    <p:sldId id="964" r:id="rId86"/>
    <p:sldId id="961" r:id="rId87"/>
    <p:sldId id="970" r:id="rId88"/>
    <p:sldId id="951" r:id="rId89"/>
    <p:sldId id="845" r:id="rId90"/>
    <p:sldId id="846" r:id="rId91"/>
    <p:sldId id="847" r:id="rId92"/>
    <p:sldId id="848" r:id="rId93"/>
    <p:sldId id="849" r:id="rId94"/>
    <p:sldId id="850" r:id="rId95"/>
    <p:sldId id="922" r:id="rId96"/>
    <p:sldId id="851" r:id="rId97"/>
    <p:sldId id="972" r:id="rId98"/>
    <p:sldId id="852" r:id="rId99"/>
    <p:sldId id="853" r:id="rId100"/>
    <p:sldId id="854" r:id="rId101"/>
    <p:sldId id="855" r:id="rId102"/>
    <p:sldId id="856" r:id="rId103"/>
    <p:sldId id="857" r:id="rId104"/>
    <p:sldId id="858" r:id="rId105"/>
    <p:sldId id="859" r:id="rId106"/>
    <p:sldId id="860" r:id="rId107"/>
    <p:sldId id="958" r:id="rId108"/>
    <p:sldId id="861" r:id="rId109"/>
    <p:sldId id="862" r:id="rId110"/>
    <p:sldId id="863" r:id="rId111"/>
    <p:sldId id="864" r:id="rId112"/>
    <p:sldId id="865" r:id="rId113"/>
    <p:sldId id="866" r:id="rId114"/>
    <p:sldId id="867" r:id="rId115"/>
    <p:sldId id="868" r:id="rId116"/>
    <p:sldId id="869" r:id="rId117"/>
    <p:sldId id="870" r:id="rId118"/>
    <p:sldId id="871" r:id="rId119"/>
    <p:sldId id="881" r:id="rId120"/>
    <p:sldId id="920" r:id="rId121"/>
    <p:sldId id="882" r:id="rId122"/>
    <p:sldId id="952" r:id="rId123"/>
    <p:sldId id="960" r:id="rId124"/>
    <p:sldId id="883" r:id="rId125"/>
    <p:sldId id="884" r:id="rId126"/>
    <p:sldId id="885" r:id="rId127"/>
    <p:sldId id="886" r:id="rId128"/>
    <p:sldId id="965" r:id="rId129"/>
    <p:sldId id="947" r:id="rId130"/>
    <p:sldId id="887" r:id="rId131"/>
    <p:sldId id="888" r:id="rId132"/>
    <p:sldId id="953" r:id="rId133"/>
  </p:sldIdLst>
  <p:sldSz cx="9144000" cy="6858000" type="screen4x3"/>
  <p:notesSz cx="6797675" cy="9926638"/>
  <p:defaultTextStyle>
    <a:defPPr>
      <a:defRPr lang="en-US"/>
    </a:defPPr>
    <a:lvl1pPr algn="l" rtl="0" eaLnBrk="0" fontAlgn="base" hangingPunct="0">
      <a:spcBef>
        <a:spcPct val="0"/>
      </a:spcBef>
      <a:spcAft>
        <a:spcPct val="0"/>
      </a:spcAft>
      <a:defRPr kumimoji="1" sz="4800" b="1" kern="1200">
        <a:solidFill>
          <a:srgbClr val="FF0000"/>
        </a:solidFill>
        <a:latin typeface="隶书" pitchFamily="49" charset="-122"/>
        <a:ea typeface="隶书" pitchFamily="49" charset="-122"/>
        <a:cs typeface="+mn-cs"/>
      </a:defRPr>
    </a:lvl1pPr>
    <a:lvl2pPr marL="457200" algn="l" rtl="0" eaLnBrk="0" fontAlgn="base" hangingPunct="0">
      <a:spcBef>
        <a:spcPct val="0"/>
      </a:spcBef>
      <a:spcAft>
        <a:spcPct val="0"/>
      </a:spcAft>
      <a:defRPr kumimoji="1" sz="4800" b="1" kern="1200">
        <a:solidFill>
          <a:srgbClr val="FF0000"/>
        </a:solidFill>
        <a:latin typeface="隶书" pitchFamily="49" charset="-122"/>
        <a:ea typeface="隶书" pitchFamily="49" charset="-122"/>
        <a:cs typeface="+mn-cs"/>
      </a:defRPr>
    </a:lvl2pPr>
    <a:lvl3pPr marL="914400" algn="l" rtl="0" eaLnBrk="0" fontAlgn="base" hangingPunct="0">
      <a:spcBef>
        <a:spcPct val="0"/>
      </a:spcBef>
      <a:spcAft>
        <a:spcPct val="0"/>
      </a:spcAft>
      <a:defRPr kumimoji="1" sz="4800" b="1" kern="1200">
        <a:solidFill>
          <a:srgbClr val="FF0000"/>
        </a:solidFill>
        <a:latin typeface="隶书" pitchFamily="49" charset="-122"/>
        <a:ea typeface="隶书" pitchFamily="49" charset="-122"/>
        <a:cs typeface="+mn-cs"/>
      </a:defRPr>
    </a:lvl3pPr>
    <a:lvl4pPr marL="1371600" algn="l" rtl="0" eaLnBrk="0" fontAlgn="base" hangingPunct="0">
      <a:spcBef>
        <a:spcPct val="0"/>
      </a:spcBef>
      <a:spcAft>
        <a:spcPct val="0"/>
      </a:spcAft>
      <a:defRPr kumimoji="1" sz="4800" b="1" kern="1200">
        <a:solidFill>
          <a:srgbClr val="FF0000"/>
        </a:solidFill>
        <a:latin typeface="隶书" pitchFamily="49" charset="-122"/>
        <a:ea typeface="隶书" pitchFamily="49" charset="-122"/>
        <a:cs typeface="+mn-cs"/>
      </a:defRPr>
    </a:lvl4pPr>
    <a:lvl5pPr marL="1828800" algn="l" rtl="0" eaLnBrk="0" fontAlgn="base" hangingPunct="0">
      <a:spcBef>
        <a:spcPct val="0"/>
      </a:spcBef>
      <a:spcAft>
        <a:spcPct val="0"/>
      </a:spcAft>
      <a:defRPr kumimoji="1" sz="4800" b="1" kern="1200">
        <a:solidFill>
          <a:srgbClr val="FF0000"/>
        </a:solidFill>
        <a:latin typeface="隶书" pitchFamily="49" charset="-122"/>
        <a:ea typeface="隶书" pitchFamily="49" charset="-122"/>
        <a:cs typeface="+mn-cs"/>
      </a:defRPr>
    </a:lvl5pPr>
    <a:lvl6pPr marL="2286000" algn="l" defTabSz="914400" rtl="0" eaLnBrk="1" latinLnBrk="0" hangingPunct="1">
      <a:defRPr kumimoji="1" sz="4800" b="1" kern="1200">
        <a:solidFill>
          <a:srgbClr val="FF0000"/>
        </a:solidFill>
        <a:latin typeface="隶书" pitchFamily="49" charset="-122"/>
        <a:ea typeface="隶书" pitchFamily="49" charset="-122"/>
        <a:cs typeface="+mn-cs"/>
      </a:defRPr>
    </a:lvl6pPr>
    <a:lvl7pPr marL="2743200" algn="l" defTabSz="914400" rtl="0" eaLnBrk="1" latinLnBrk="0" hangingPunct="1">
      <a:defRPr kumimoji="1" sz="4800" b="1" kern="1200">
        <a:solidFill>
          <a:srgbClr val="FF0000"/>
        </a:solidFill>
        <a:latin typeface="隶书" pitchFamily="49" charset="-122"/>
        <a:ea typeface="隶书" pitchFamily="49" charset="-122"/>
        <a:cs typeface="+mn-cs"/>
      </a:defRPr>
    </a:lvl7pPr>
    <a:lvl8pPr marL="3200400" algn="l" defTabSz="914400" rtl="0" eaLnBrk="1" latinLnBrk="0" hangingPunct="1">
      <a:defRPr kumimoji="1" sz="4800" b="1" kern="1200">
        <a:solidFill>
          <a:srgbClr val="FF0000"/>
        </a:solidFill>
        <a:latin typeface="隶书" pitchFamily="49" charset="-122"/>
        <a:ea typeface="隶书" pitchFamily="49" charset="-122"/>
        <a:cs typeface="+mn-cs"/>
      </a:defRPr>
    </a:lvl8pPr>
    <a:lvl9pPr marL="3657600" algn="l" defTabSz="914400" rtl="0" eaLnBrk="1" latinLnBrk="0" hangingPunct="1">
      <a:defRPr kumimoji="1" sz="4800" b="1" kern="1200">
        <a:solidFill>
          <a:srgbClr val="FF0000"/>
        </a:solidFill>
        <a:latin typeface="隶书" pitchFamily="49" charset="-122"/>
        <a:ea typeface="隶书"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51" autoAdjust="0"/>
    <p:restoredTop sz="86710" autoAdjust="0"/>
  </p:normalViewPr>
  <p:slideViewPr>
    <p:cSldViewPr>
      <p:cViewPr varScale="1">
        <p:scale>
          <a:sx n="95" d="100"/>
          <a:sy n="95" d="100"/>
        </p:scale>
        <p:origin x="1368" y="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5" d="100"/>
        <a:sy n="25"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0034" name="Rectangle 2">
            <a:extLst>
              <a:ext uri="{FF2B5EF4-FFF2-40B4-BE49-F238E27FC236}">
                <a16:creationId xmlns:a16="http://schemas.microsoft.com/office/drawing/2014/main" id="{8A5B5CD9-806C-9C4C-BF37-8378BCFE66D1}"/>
              </a:ext>
            </a:extLst>
          </p:cNvPr>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lnSpc>
                <a:spcPct val="100000"/>
              </a:lnSpc>
              <a:defRPr kumimoji="0" sz="1200" b="0">
                <a:solidFill>
                  <a:schemeClr val="tx1"/>
                </a:solidFill>
                <a:effectLst/>
                <a:latin typeface="Times New Roman" pitchFamily="18" charset="0"/>
                <a:ea typeface="宋体" pitchFamily="2" charset="-122"/>
              </a:defRPr>
            </a:lvl1pPr>
          </a:lstStyle>
          <a:p>
            <a:pPr>
              <a:defRPr/>
            </a:pPr>
            <a:endParaRPr lang="en-US" altLang="zh-CN"/>
          </a:p>
        </p:txBody>
      </p:sp>
      <p:sp>
        <p:nvSpPr>
          <p:cNvPr id="940035" name="Rectangle 3">
            <a:extLst>
              <a:ext uri="{FF2B5EF4-FFF2-40B4-BE49-F238E27FC236}">
                <a16:creationId xmlns:a16="http://schemas.microsoft.com/office/drawing/2014/main" id="{A0073105-3895-CB41-95CF-D709B05C0460}"/>
              </a:ext>
            </a:extLst>
          </p:cNvPr>
          <p:cNvSpPr>
            <a:spLocks noGrp="1" noChangeArrowheads="1"/>
          </p:cNvSpPr>
          <p:nvPr>
            <p:ph type="dt" sz="quarter"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lnSpc>
                <a:spcPct val="100000"/>
              </a:lnSpc>
              <a:defRPr kumimoji="0" sz="1200" b="0">
                <a:solidFill>
                  <a:schemeClr val="tx1"/>
                </a:solidFill>
                <a:effectLst/>
                <a:latin typeface="Times New Roman" pitchFamily="18" charset="0"/>
                <a:ea typeface="宋体" pitchFamily="2" charset="-122"/>
              </a:defRPr>
            </a:lvl1pPr>
          </a:lstStyle>
          <a:p>
            <a:pPr>
              <a:defRPr/>
            </a:pPr>
            <a:endParaRPr lang="en-US" altLang="zh-CN"/>
          </a:p>
        </p:txBody>
      </p:sp>
      <p:sp>
        <p:nvSpPr>
          <p:cNvPr id="940036" name="Rectangle 4">
            <a:extLst>
              <a:ext uri="{FF2B5EF4-FFF2-40B4-BE49-F238E27FC236}">
                <a16:creationId xmlns:a16="http://schemas.microsoft.com/office/drawing/2014/main" id="{81A56BDF-128D-DA44-8015-D6279AEA495E}"/>
              </a:ext>
            </a:extLst>
          </p:cNvPr>
          <p:cNvSpPr>
            <a:spLocks noGrp="1" noChangeArrowheads="1"/>
          </p:cNvSpPr>
          <p:nvPr>
            <p:ph type="ftr" sz="quarter" idx="2"/>
          </p:nvPr>
        </p:nvSpPr>
        <p:spPr bwMode="auto">
          <a:xfrm>
            <a:off x="0"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lnSpc>
                <a:spcPct val="100000"/>
              </a:lnSpc>
              <a:defRPr kumimoji="0" sz="1200" b="0">
                <a:solidFill>
                  <a:schemeClr val="tx1"/>
                </a:solidFill>
                <a:effectLst/>
                <a:latin typeface="Times New Roman" pitchFamily="18" charset="0"/>
                <a:ea typeface="宋体" pitchFamily="2" charset="-122"/>
              </a:defRPr>
            </a:lvl1pPr>
          </a:lstStyle>
          <a:p>
            <a:pPr>
              <a:defRPr/>
            </a:pPr>
            <a:endParaRPr lang="en-US" altLang="zh-CN"/>
          </a:p>
        </p:txBody>
      </p:sp>
      <p:sp>
        <p:nvSpPr>
          <p:cNvPr id="940037" name="Rectangle 5">
            <a:extLst>
              <a:ext uri="{FF2B5EF4-FFF2-40B4-BE49-F238E27FC236}">
                <a16:creationId xmlns:a16="http://schemas.microsoft.com/office/drawing/2014/main" id="{15A40C27-4DCB-1344-B206-EF4E7A67A7BA}"/>
              </a:ext>
            </a:extLst>
          </p:cNvPr>
          <p:cNvSpPr>
            <a:spLocks noGrp="1" noChangeArrowheads="1"/>
          </p:cNvSpPr>
          <p:nvPr>
            <p:ph type="sldNum" sz="quarter" idx="3"/>
          </p:nvPr>
        </p:nvSpPr>
        <p:spPr bwMode="auto">
          <a:xfrm>
            <a:off x="3849688"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200" b="0">
                <a:solidFill>
                  <a:schemeClr val="tx1"/>
                </a:solidFill>
                <a:latin typeface="Times New Roman" panose="02020603050405020304" pitchFamily="18" charset="0"/>
                <a:ea typeface="宋体" panose="02010600030101010101" pitchFamily="2" charset="-122"/>
              </a:defRPr>
            </a:lvl1pPr>
          </a:lstStyle>
          <a:p>
            <a:pPr>
              <a:defRPr/>
            </a:pPr>
            <a:fld id="{4399AE3F-3160-114F-AB29-7A14B3DD0B3E}" type="slidenum">
              <a:rPr lang="zh-CN" altLang="en-US"/>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1026">
            <a:extLst>
              <a:ext uri="{FF2B5EF4-FFF2-40B4-BE49-F238E27FC236}">
                <a16:creationId xmlns:a16="http://schemas.microsoft.com/office/drawing/2014/main" id="{ECD26FEC-ABA0-F048-A295-37B55C5E159E}"/>
              </a:ext>
            </a:extLst>
          </p:cNvPr>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lnSpc>
                <a:spcPct val="100000"/>
              </a:lnSpc>
              <a:defRPr kumimoji="0" sz="1200" b="0">
                <a:solidFill>
                  <a:schemeClr val="tx1"/>
                </a:solidFill>
                <a:effectLst/>
                <a:latin typeface="Times New Roman" pitchFamily="18" charset="0"/>
                <a:ea typeface="宋体" pitchFamily="2" charset="-122"/>
              </a:defRPr>
            </a:lvl1pPr>
          </a:lstStyle>
          <a:p>
            <a:pPr>
              <a:defRPr/>
            </a:pPr>
            <a:endParaRPr lang="en-US" altLang="zh-CN"/>
          </a:p>
        </p:txBody>
      </p:sp>
      <p:sp>
        <p:nvSpPr>
          <p:cNvPr id="70659" name="Rectangle 1027">
            <a:extLst>
              <a:ext uri="{FF2B5EF4-FFF2-40B4-BE49-F238E27FC236}">
                <a16:creationId xmlns:a16="http://schemas.microsoft.com/office/drawing/2014/main" id="{1B678F37-6DC3-A04B-B404-F9BE76BF1C27}"/>
              </a:ext>
            </a:extLst>
          </p:cNvPr>
          <p:cNvSpPr>
            <a:spLocks noGrp="1" noChangeArrowheads="1"/>
          </p:cNvSpPr>
          <p:nvPr>
            <p:ph type="dt"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lnSpc>
                <a:spcPct val="100000"/>
              </a:lnSpc>
              <a:defRPr kumimoji="0" sz="1200" b="0">
                <a:solidFill>
                  <a:schemeClr val="tx1"/>
                </a:solidFill>
                <a:effectLst/>
                <a:latin typeface="Times New Roman" pitchFamily="18" charset="0"/>
                <a:ea typeface="宋体" pitchFamily="2" charset="-122"/>
              </a:defRPr>
            </a:lvl1pPr>
          </a:lstStyle>
          <a:p>
            <a:pPr>
              <a:defRPr/>
            </a:pPr>
            <a:endParaRPr lang="en-US" altLang="zh-CN"/>
          </a:p>
        </p:txBody>
      </p:sp>
      <p:sp>
        <p:nvSpPr>
          <p:cNvPr id="3076" name="Rectangle 1028">
            <a:extLst>
              <a:ext uri="{FF2B5EF4-FFF2-40B4-BE49-F238E27FC236}">
                <a16:creationId xmlns:a16="http://schemas.microsoft.com/office/drawing/2014/main" id="{6FE7581A-D508-D443-B560-A30D1B7451AE}"/>
              </a:ext>
            </a:extLst>
          </p:cNvPr>
          <p:cNvSpPr>
            <a:spLocks noGrp="1" noRot="1" noChangeAspect="1" noChangeArrowheads="1" noTextEdit="1"/>
          </p:cNvSpPr>
          <p:nvPr>
            <p:ph type="sldImg" idx="2"/>
          </p:nvPr>
        </p:nvSpPr>
        <p:spPr bwMode="auto">
          <a:xfrm>
            <a:off x="915988" y="744538"/>
            <a:ext cx="4965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61" name="Rectangle 1029">
            <a:extLst>
              <a:ext uri="{FF2B5EF4-FFF2-40B4-BE49-F238E27FC236}">
                <a16:creationId xmlns:a16="http://schemas.microsoft.com/office/drawing/2014/main" id="{C80A22B7-C83B-D846-AB9F-FB27C2CE69D3}"/>
              </a:ext>
            </a:extLst>
          </p:cNvPr>
          <p:cNvSpPr>
            <a:spLocks noGrp="1" noChangeArrowheads="1"/>
          </p:cNvSpPr>
          <p:nvPr>
            <p:ph type="body" sz="quarter" idx="3"/>
          </p:nvPr>
        </p:nvSpPr>
        <p:spPr bwMode="auto">
          <a:xfrm>
            <a:off x="679450" y="4714875"/>
            <a:ext cx="5438775"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70662" name="Rectangle 1030">
            <a:extLst>
              <a:ext uri="{FF2B5EF4-FFF2-40B4-BE49-F238E27FC236}">
                <a16:creationId xmlns:a16="http://schemas.microsoft.com/office/drawing/2014/main" id="{7566A61F-6B8C-3D4A-AEDA-21534AAD0301}"/>
              </a:ext>
            </a:extLst>
          </p:cNvPr>
          <p:cNvSpPr>
            <a:spLocks noGrp="1" noChangeArrowheads="1"/>
          </p:cNvSpPr>
          <p:nvPr>
            <p:ph type="ftr" sz="quarter" idx="4"/>
          </p:nvPr>
        </p:nvSpPr>
        <p:spPr bwMode="auto">
          <a:xfrm>
            <a:off x="0"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lnSpc>
                <a:spcPct val="100000"/>
              </a:lnSpc>
              <a:defRPr kumimoji="0" sz="1200" b="0">
                <a:solidFill>
                  <a:schemeClr val="tx1"/>
                </a:solidFill>
                <a:effectLst/>
                <a:latin typeface="Times New Roman" pitchFamily="18" charset="0"/>
                <a:ea typeface="宋体" pitchFamily="2" charset="-122"/>
              </a:defRPr>
            </a:lvl1pPr>
          </a:lstStyle>
          <a:p>
            <a:pPr>
              <a:defRPr/>
            </a:pPr>
            <a:endParaRPr lang="en-US" altLang="zh-CN"/>
          </a:p>
        </p:txBody>
      </p:sp>
      <p:sp>
        <p:nvSpPr>
          <p:cNvPr id="70663" name="Rectangle 1031">
            <a:extLst>
              <a:ext uri="{FF2B5EF4-FFF2-40B4-BE49-F238E27FC236}">
                <a16:creationId xmlns:a16="http://schemas.microsoft.com/office/drawing/2014/main" id="{88D01E4A-C04C-1041-95E6-F67AD07B1CED}"/>
              </a:ext>
            </a:extLst>
          </p:cNvPr>
          <p:cNvSpPr>
            <a:spLocks noGrp="1" noChangeArrowheads="1"/>
          </p:cNvSpPr>
          <p:nvPr>
            <p:ph type="sldNum" sz="quarter" idx="5"/>
          </p:nvPr>
        </p:nvSpPr>
        <p:spPr bwMode="auto">
          <a:xfrm>
            <a:off x="3849688"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200" b="0">
                <a:solidFill>
                  <a:schemeClr val="tx1"/>
                </a:solidFill>
                <a:latin typeface="Times New Roman" panose="02020603050405020304" pitchFamily="18" charset="0"/>
                <a:ea typeface="宋体" panose="02010600030101010101" pitchFamily="2" charset="-122"/>
              </a:defRPr>
            </a:lvl1pPr>
          </a:lstStyle>
          <a:p>
            <a:pPr>
              <a:defRPr/>
            </a:pPr>
            <a:fld id="{9C9F45ED-F8DE-B84B-8960-3C73D1E92E4D}"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r>
              <a:rPr kumimoji="1" lang="zh-CN" altLang="en-US" dirty="0"/>
              <a:t>可辨别标识符指不同于数字指纹的一些其他标识信息。</a:t>
            </a:r>
          </a:p>
        </p:txBody>
      </p:sp>
      <p:sp>
        <p:nvSpPr>
          <p:cNvPr id="4" name="灯片编号占位符 3"/>
          <p:cNvSpPr>
            <a:spLocks noGrp="1"/>
          </p:cNvSpPr>
          <p:nvPr>
            <p:ph type="sldNum" sz="quarter" idx="5"/>
          </p:nvPr>
        </p:nvSpPr>
        <p:spPr/>
        <p:txBody>
          <a:bodyPr/>
          <a:lstStyle/>
          <a:p>
            <a:pPr>
              <a:defRPr/>
            </a:pPr>
            <a:fld id="{9C9F45ED-F8DE-B84B-8960-3C73D1E92E4D}" type="slidenum">
              <a:rPr lang="zh-CN" altLang="en-US" smtClean="0"/>
              <a:pPr>
                <a:defRPr/>
              </a:pPr>
              <a:t>19</a:t>
            </a:fld>
            <a:endParaRPr lang="en-US" altLang="zh-CN"/>
          </a:p>
        </p:txBody>
      </p:sp>
    </p:spTree>
    <p:extLst>
      <p:ext uri="{BB962C8B-B14F-4D97-AF65-F5344CB8AC3E}">
        <p14:creationId xmlns:p14="http://schemas.microsoft.com/office/powerpoint/2010/main" val="42085447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r>
              <a:rPr kumimoji="1" lang="zh-CN" altLang="en-US" dirty="0"/>
              <a:t>危及验证者指攻击者获得了</a:t>
            </a:r>
            <a:r>
              <a:rPr kumimoji="1" lang="en-US" altLang="zh-CN" dirty="0"/>
              <a:t>q</a:t>
            </a:r>
            <a:r>
              <a:rPr kumimoji="1" lang="zh-CN" altLang="en-US" dirty="0"/>
              <a:t>的情况，上面的场景中每个声称者有一个从验证者处接收到的</a:t>
            </a:r>
            <a:r>
              <a:rPr kumimoji="1" lang="en-US" altLang="zh-CN" dirty="0"/>
              <a:t>salt</a:t>
            </a:r>
            <a:r>
              <a:rPr kumimoji="1" lang="zh-CN" altLang="en-US" dirty="0"/>
              <a:t>值，如果没有</a:t>
            </a:r>
            <a:r>
              <a:rPr kumimoji="1" lang="en-US" altLang="zh-CN" dirty="0"/>
              <a:t>salt</a:t>
            </a:r>
            <a:r>
              <a:rPr kumimoji="1" lang="zh-CN" altLang="en-US" dirty="0"/>
              <a:t>攻击者获得</a:t>
            </a:r>
            <a:r>
              <a:rPr kumimoji="1" lang="en-US" altLang="zh-CN" dirty="0"/>
              <a:t>q</a:t>
            </a:r>
            <a:r>
              <a:rPr kumimoji="1" lang="zh-CN" altLang="en-US" dirty="0"/>
              <a:t>之后靠彩虹表反推</a:t>
            </a:r>
            <a:r>
              <a:rPr kumimoji="1" lang="en-US" altLang="zh-CN" dirty="0"/>
              <a:t>q</a:t>
            </a:r>
            <a:r>
              <a:rPr kumimoji="1" lang="zh-CN" altLang="en-US" dirty="0"/>
              <a:t>散列变换</a:t>
            </a:r>
            <a:r>
              <a:rPr kumimoji="1" lang="zh-CN" altLang="en-US"/>
              <a:t>之前的原始值，也能假冒</a:t>
            </a:r>
          </a:p>
        </p:txBody>
      </p:sp>
      <p:sp>
        <p:nvSpPr>
          <p:cNvPr id="4" name="灯片编号占位符 3"/>
          <p:cNvSpPr>
            <a:spLocks noGrp="1"/>
          </p:cNvSpPr>
          <p:nvPr>
            <p:ph type="sldNum" sz="quarter" idx="5"/>
          </p:nvPr>
        </p:nvSpPr>
        <p:spPr/>
        <p:txBody>
          <a:bodyPr/>
          <a:lstStyle/>
          <a:p>
            <a:pPr>
              <a:defRPr/>
            </a:pPr>
            <a:fld id="{9C9F45ED-F8DE-B84B-8960-3C73D1E92E4D}" type="slidenum">
              <a:rPr lang="zh-CN" altLang="en-US" smtClean="0"/>
              <a:pPr>
                <a:defRPr/>
              </a:pPr>
              <a:t>51</a:t>
            </a:fld>
            <a:endParaRPr lang="en-US" altLang="zh-CN"/>
          </a:p>
        </p:txBody>
      </p:sp>
    </p:spTree>
    <p:extLst>
      <p:ext uri="{BB962C8B-B14F-4D97-AF65-F5344CB8AC3E}">
        <p14:creationId xmlns:p14="http://schemas.microsoft.com/office/powerpoint/2010/main" val="2430708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C9F45ED-F8DE-B84B-8960-3C73D1E92E4D}" type="slidenum">
              <a:rPr lang="zh-CN" altLang="en-US" smtClean="0"/>
              <a:pPr>
                <a:defRPr/>
              </a:pPr>
              <a:t>85</a:t>
            </a:fld>
            <a:endParaRPr lang="en-US" altLang="zh-CN"/>
          </a:p>
        </p:txBody>
      </p:sp>
    </p:spTree>
    <p:extLst>
      <p:ext uri="{BB962C8B-B14F-4D97-AF65-F5344CB8AC3E}">
        <p14:creationId xmlns:p14="http://schemas.microsoft.com/office/powerpoint/2010/main" val="4234618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17575" y="744538"/>
            <a:ext cx="4962525" cy="37226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C9F45ED-F8DE-B84B-8960-3C73D1E92E4D}" type="slidenum">
              <a:rPr lang="zh-CN" altLang="en-US" smtClean="0"/>
              <a:pPr>
                <a:defRPr/>
              </a:pPr>
              <a:t>87</a:t>
            </a:fld>
            <a:endParaRPr lang="en-US" altLang="zh-CN"/>
          </a:p>
        </p:txBody>
      </p:sp>
    </p:spTree>
    <p:extLst>
      <p:ext uri="{BB962C8B-B14F-4D97-AF65-F5344CB8AC3E}">
        <p14:creationId xmlns:p14="http://schemas.microsoft.com/office/powerpoint/2010/main" val="124438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幻灯片图像占位符 1">
            <a:extLst>
              <a:ext uri="{FF2B5EF4-FFF2-40B4-BE49-F238E27FC236}">
                <a16:creationId xmlns:a16="http://schemas.microsoft.com/office/drawing/2014/main" id="{4D107D49-82A1-9743-A6FB-308F8EBA479F}"/>
              </a:ext>
            </a:extLst>
          </p:cNvPr>
          <p:cNvSpPr>
            <a:spLocks noGrp="1" noRot="1" noChangeAspect="1" noChangeArrowheads="1" noTextEdit="1"/>
          </p:cNvSpPr>
          <p:nvPr>
            <p:ph type="sldImg"/>
          </p:nvPr>
        </p:nvSpPr>
        <p:spPr>
          <a:xfrm>
            <a:off x="917575" y="744538"/>
            <a:ext cx="4962525" cy="3722687"/>
          </a:xfrm>
          <a:ln/>
        </p:spPr>
      </p:sp>
      <p:sp>
        <p:nvSpPr>
          <p:cNvPr id="125954" name="备注占位符 2">
            <a:extLst>
              <a:ext uri="{FF2B5EF4-FFF2-40B4-BE49-F238E27FC236}">
                <a16:creationId xmlns:a16="http://schemas.microsoft.com/office/drawing/2014/main" id="{5C053138-2B2E-A346-A1B2-E1767180A74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125955" name="灯片编号占位符 3">
            <a:extLst>
              <a:ext uri="{FF2B5EF4-FFF2-40B4-BE49-F238E27FC236}">
                <a16:creationId xmlns:a16="http://schemas.microsoft.com/office/drawing/2014/main" id="{4837DACE-EE4D-3949-9241-432BBFC188E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095E182-CA54-324A-B5AB-1D2D72DCBA6E}" type="slidenum">
              <a:rPr lang="en-US" altLang="zh-CN" smtClean="0">
                <a:cs typeface="Arial" panose="020B0604020202020204" pitchFamily="34" charset="0"/>
              </a:rPr>
              <a:pPr>
                <a:spcBef>
                  <a:spcPct val="0"/>
                </a:spcBef>
              </a:pPr>
              <a:t>125</a:t>
            </a:fld>
            <a:endParaRPr lang="en-US" altLang="zh-CN">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幻灯片图像占位符 1">
            <a:extLst>
              <a:ext uri="{FF2B5EF4-FFF2-40B4-BE49-F238E27FC236}">
                <a16:creationId xmlns:a16="http://schemas.microsoft.com/office/drawing/2014/main" id="{C8E4B5DD-B9D3-1D41-9BE0-E95CA5DAE32C}"/>
              </a:ext>
            </a:extLst>
          </p:cNvPr>
          <p:cNvSpPr>
            <a:spLocks noGrp="1" noRot="1" noChangeAspect="1" noChangeArrowheads="1" noTextEdit="1"/>
          </p:cNvSpPr>
          <p:nvPr>
            <p:ph type="sldImg"/>
          </p:nvPr>
        </p:nvSpPr>
        <p:spPr>
          <a:xfrm>
            <a:off x="917575" y="744538"/>
            <a:ext cx="4962525" cy="3722687"/>
          </a:xfrm>
          <a:ln/>
        </p:spPr>
      </p:sp>
      <p:sp>
        <p:nvSpPr>
          <p:cNvPr id="128002" name="备注占位符 2">
            <a:extLst>
              <a:ext uri="{FF2B5EF4-FFF2-40B4-BE49-F238E27FC236}">
                <a16:creationId xmlns:a16="http://schemas.microsoft.com/office/drawing/2014/main" id="{FE2B78B6-4254-3B4C-805C-C38C0E60685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128003" name="灯片编号占位符 3">
            <a:extLst>
              <a:ext uri="{FF2B5EF4-FFF2-40B4-BE49-F238E27FC236}">
                <a16:creationId xmlns:a16="http://schemas.microsoft.com/office/drawing/2014/main" id="{A71F0808-87A1-0A44-8752-60D97A3D235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4A6B1C0-01EE-114C-AD6B-93DB8AA32007}" type="slidenum">
              <a:rPr lang="en-US" altLang="zh-CN" smtClean="0">
                <a:cs typeface="Arial" panose="020B0604020202020204" pitchFamily="34" charset="0"/>
              </a:rPr>
              <a:pPr>
                <a:spcBef>
                  <a:spcPct val="0"/>
                </a:spcBef>
              </a:pPr>
              <a:t>126</a:t>
            </a:fld>
            <a:endParaRPr lang="en-US" altLang="zh-CN">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幻灯片图像占位符 1">
            <a:extLst>
              <a:ext uri="{FF2B5EF4-FFF2-40B4-BE49-F238E27FC236}">
                <a16:creationId xmlns:a16="http://schemas.microsoft.com/office/drawing/2014/main" id="{14EC3610-1FD2-0B4E-B221-68ACC7B5F6D9}"/>
              </a:ext>
            </a:extLst>
          </p:cNvPr>
          <p:cNvSpPr>
            <a:spLocks noGrp="1" noRot="1" noChangeAspect="1" noChangeArrowheads="1" noTextEdit="1"/>
          </p:cNvSpPr>
          <p:nvPr>
            <p:ph type="sldImg"/>
          </p:nvPr>
        </p:nvSpPr>
        <p:spPr>
          <a:xfrm>
            <a:off x="917575" y="744538"/>
            <a:ext cx="4962525" cy="3722687"/>
          </a:xfrm>
          <a:ln/>
        </p:spPr>
      </p:sp>
      <p:sp>
        <p:nvSpPr>
          <p:cNvPr id="130050" name="备注占位符 2">
            <a:extLst>
              <a:ext uri="{FF2B5EF4-FFF2-40B4-BE49-F238E27FC236}">
                <a16:creationId xmlns:a16="http://schemas.microsoft.com/office/drawing/2014/main" id="{EF7A5113-6145-4C44-A915-B9F4FD675FF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130051" name="灯片编号占位符 3">
            <a:extLst>
              <a:ext uri="{FF2B5EF4-FFF2-40B4-BE49-F238E27FC236}">
                <a16:creationId xmlns:a16="http://schemas.microsoft.com/office/drawing/2014/main" id="{C9053F4A-56B4-664B-AE52-425B41EE622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5E98EE2-0AA9-A84F-918F-B871411947E6}" type="slidenum">
              <a:rPr lang="en-US" altLang="zh-CN" smtClean="0">
                <a:cs typeface="Arial" panose="020B0604020202020204" pitchFamily="34" charset="0"/>
              </a:rPr>
              <a:pPr>
                <a:spcBef>
                  <a:spcPct val="0"/>
                </a:spcBef>
              </a:pPr>
              <a:t>127</a:t>
            </a:fld>
            <a:endParaRPr lang="en-US" altLang="zh-CN">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aphicFrame>
        <p:nvGraphicFramePr>
          <p:cNvPr id="4" name="Base" hidden="1">
            <a:extLst>
              <a:ext uri="{FF2B5EF4-FFF2-40B4-BE49-F238E27FC236}">
                <a16:creationId xmlns:a16="http://schemas.microsoft.com/office/drawing/2014/main" id="{EDE12ABA-BD42-A847-9D74-991B81499A08}"/>
              </a:ext>
            </a:extLst>
          </p:cNvPr>
          <p:cNvGraphicFramePr>
            <a:graphicFrameLocks/>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r:id="rId2" imgW="0" imgH="0" progId="PowerPoint.Show.8">
                  <p:embed/>
                </p:oleObj>
              </mc:Choice>
              <mc:Fallback>
                <p:oleObj r:id="rId2" imgW="0" imgH="0" progId="PowerPoint.Show.8">
                  <p:embed/>
                  <p:pic>
                    <p:nvPicPr>
                      <p:cNvPr id="136194" name="Base" hidden="1">
                        <a:extLst>
                          <a:ext uri="{FF2B5EF4-FFF2-40B4-BE49-F238E27FC236}">
                            <a16:creationId xmlns:a16="http://schemas.microsoft.com/office/drawing/2014/main" id="{FCD36B77-ABBF-294F-A0AF-39F0CD2DB2C6}"/>
                          </a:ext>
                        </a:extLst>
                      </p:cNvPr>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1397000"/>
                        <a:ext cx="6096000" cy="40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9554" name="Rectangle 2"/>
          <p:cNvSpPr>
            <a:spLocks noGrp="1" noChangeArrowheads="1"/>
          </p:cNvSpPr>
          <p:nvPr>
            <p:ph type="ctrTitle"/>
          </p:nvPr>
        </p:nvSpPr>
        <p:spPr bwMode="auto">
          <a:xfrm>
            <a:off x="685800" y="2130425"/>
            <a:ext cx="7772400" cy="1409700"/>
          </a:xfrm>
          <a:prstGeom prst="rect">
            <a:avLst/>
          </a:prstGeom>
          <a:noFill/>
          <a:ln algn="ctr">
            <a:miter lim="800000"/>
            <a:headEnd/>
            <a:tailEnd/>
          </a:ln>
        </p:spPr>
        <p:txBody>
          <a:bodyPr vert="horz" wrap="square" lIns="91440" tIns="45720" rIns="91440" bIns="45720" numCol="1" anchor="t" anchorCtr="0" compatLnSpc="1">
            <a:prstTxWarp prst="textNoShape">
              <a:avLst/>
            </a:prstTxWarp>
            <a:spAutoFit/>
          </a:bodyPr>
          <a:lstStyle>
            <a:lvl1pPr algn="ctr">
              <a:defRPr/>
            </a:lvl1pPr>
          </a:lstStyle>
          <a:p>
            <a:r>
              <a:rPr lang="en-US" altLang="zh-CN"/>
              <a:t>Click to edit Master title style</a:t>
            </a:r>
          </a:p>
        </p:txBody>
      </p:sp>
      <p:sp>
        <p:nvSpPr>
          <p:cNvPr id="279555" name="Rectangle 3"/>
          <p:cNvSpPr>
            <a:spLocks noGrp="1" noChangeArrowheads="1"/>
          </p:cNvSpPr>
          <p:nvPr>
            <p:ph type="subTitle" idx="1"/>
          </p:nvPr>
        </p:nvSpPr>
        <p:spPr bwMode="auto">
          <a:xfrm>
            <a:off x="1371600" y="3886200"/>
            <a:ext cx="6400800" cy="968375"/>
          </a:xfrm>
          <a:prstGeom prst="rect">
            <a:avLst/>
          </a:prstGeom>
          <a:noFill/>
          <a:ln algn="ctr">
            <a:miter lim="800000"/>
            <a:headEnd/>
            <a:tailEnd/>
          </a:ln>
        </p:spPr>
        <p:txBody>
          <a:bodyPr vert="horz" wrap="square" lIns="91440" tIns="45720" rIns="91440" bIns="45720" numCol="1" anchor="t" anchorCtr="0" compatLnSpc="1">
            <a:prstTxWarp prst="textNoShape">
              <a:avLst/>
            </a:prstTxWarp>
            <a:spAutoFit/>
          </a:bodyPr>
          <a:lstStyle>
            <a:lvl1pPr marL="0" indent="0" algn="ctr">
              <a:buFont typeface="Wingdings" pitchFamily="2" charset="2"/>
              <a:buNone/>
              <a:defRPr/>
            </a:lvl1pPr>
          </a:lstStyle>
          <a:p>
            <a:r>
              <a:rPr lang="en-US" altLang="zh-CN"/>
              <a:t>Click to edit Master subtitle style</a:t>
            </a:r>
          </a:p>
        </p:txBody>
      </p:sp>
    </p:spTree>
    <p:extLst>
      <p:ext uri="{BB962C8B-B14F-4D97-AF65-F5344CB8AC3E}">
        <p14:creationId xmlns:p14="http://schemas.microsoft.com/office/powerpoint/2010/main" val="2856273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92684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59367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62261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52027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70803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474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849577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831424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44156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46348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8620553F-858E-B897-AC9A-2C483F5384C4}"/>
              </a:ext>
            </a:extLst>
          </p:cNvPr>
          <p:cNvPicPr>
            <a:picLocks noChangeAspect="1"/>
          </p:cNvPicPr>
          <p:nvPr userDrawn="1"/>
        </p:nvPicPr>
        <p:blipFill>
          <a:blip r:embed="rId13"/>
          <a:stretch>
            <a:fillRect/>
          </a:stretch>
        </p:blipFill>
        <p:spPr>
          <a:xfrm>
            <a:off x="0" y="-7351"/>
            <a:ext cx="9144000" cy="5372658"/>
          </a:xfrm>
          <a:prstGeom prst="rect">
            <a:avLst/>
          </a:prstGeom>
        </p:spPr>
      </p:pic>
    </p:spTree>
  </p:cSld>
  <p:clrMap bg1="dk2" tx1="lt1" bg2="dk1" tx2="lt2" accent1="accent1" accent2="accent2" accent3="accent3" accent4="accent4" accent5="accent5" accent6="accent6" hlink="hlink" folHlink="folHlink"/>
  <p:sldLayoutIdLst>
    <p:sldLayoutId id="2147484135" r:id="rId1"/>
    <p:sldLayoutId id="2147484125" r:id="rId2"/>
    <p:sldLayoutId id="2147484126" r:id="rId3"/>
    <p:sldLayoutId id="2147484127" r:id="rId4"/>
    <p:sldLayoutId id="2147484128" r:id="rId5"/>
    <p:sldLayoutId id="2147484129" r:id="rId6"/>
    <p:sldLayoutId id="2147484130" r:id="rId7"/>
    <p:sldLayoutId id="2147484131" r:id="rId8"/>
    <p:sldLayoutId id="2147484132" r:id="rId9"/>
    <p:sldLayoutId id="2147484133" r:id="rId10"/>
    <p:sldLayoutId id="2147484134" r:id="rId11"/>
  </p:sldLayoutIdLst>
  <p:txStyles>
    <p:titleStyle>
      <a:lvl1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mj-lt"/>
          <a:ea typeface="+mj-ea"/>
          <a:cs typeface="+mj-cs"/>
        </a:defRPr>
      </a:lvl1pPr>
      <a:lvl2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Arial" charset="0"/>
          <a:cs typeface="Arial" charset="0"/>
        </a:defRPr>
      </a:lvl2pPr>
      <a:lvl3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Arial" charset="0"/>
          <a:cs typeface="Arial" charset="0"/>
        </a:defRPr>
      </a:lvl3pPr>
      <a:lvl4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Arial" charset="0"/>
          <a:cs typeface="Arial" charset="0"/>
        </a:defRPr>
      </a:lvl4pPr>
      <a:lvl5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Arial" charset="0"/>
          <a:cs typeface="Arial" charset="0"/>
        </a:defRPr>
      </a:lvl5pPr>
      <a:lvl6pPr marL="457200" algn="l" rtl="0" fontAlgn="base">
        <a:lnSpc>
          <a:spcPct val="90000"/>
        </a:lnSpc>
        <a:spcBef>
          <a:spcPct val="0"/>
        </a:spcBef>
        <a:spcAft>
          <a:spcPct val="0"/>
        </a:spcAft>
        <a:defRPr sz="4800" b="1">
          <a:solidFill>
            <a:schemeClr val="tx2"/>
          </a:solidFill>
          <a:effectLst>
            <a:outerShdw blurRad="38100" dist="38100" dir="2700000" algn="tl">
              <a:srgbClr val="C0C0C0"/>
            </a:outerShdw>
          </a:effectLst>
          <a:latin typeface="Arial" charset="0"/>
          <a:cs typeface="Arial" charset="0"/>
        </a:defRPr>
      </a:lvl6pPr>
      <a:lvl7pPr marL="914400" algn="l" rtl="0" fontAlgn="base">
        <a:lnSpc>
          <a:spcPct val="90000"/>
        </a:lnSpc>
        <a:spcBef>
          <a:spcPct val="0"/>
        </a:spcBef>
        <a:spcAft>
          <a:spcPct val="0"/>
        </a:spcAft>
        <a:defRPr sz="4800" b="1">
          <a:solidFill>
            <a:schemeClr val="tx2"/>
          </a:solidFill>
          <a:effectLst>
            <a:outerShdw blurRad="38100" dist="38100" dir="2700000" algn="tl">
              <a:srgbClr val="C0C0C0"/>
            </a:outerShdw>
          </a:effectLst>
          <a:latin typeface="Arial" charset="0"/>
          <a:cs typeface="Arial" charset="0"/>
        </a:defRPr>
      </a:lvl7pPr>
      <a:lvl8pPr marL="1371600" algn="l" rtl="0" fontAlgn="base">
        <a:lnSpc>
          <a:spcPct val="90000"/>
        </a:lnSpc>
        <a:spcBef>
          <a:spcPct val="0"/>
        </a:spcBef>
        <a:spcAft>
          <a:spcPct val="0"/>
        </a:spcAft>
        <a:defRPr sz="4800" b="1">
          <a:solidFill>
            <a:schemeClr val="tx2"/>
          </a:solidFill>
          <a:effectLst>
            <a:outerShdw blurRad="38100" dist="38100" dir="2700000" algn="tl">
              <a:srgbClr val="C0C0C0"/>
            </a:outerShdw>
          </a:effectLst>
          <a:latin typeface="Arial" charset="0"/>
          <a:cs typeface="Arial" charset="0"/>
        </a:defRPr>
      </a:lvl8pPr>
      <a:lvl9pPr marL="1828800" algn="l" rtl="0" fontAlgn="base">
        <a:lnSpc>
          <a:spcPct val="90000"/>
        </a:lnSpc>
        <a:spcBef>
          <a:spcPct val="0"/>
        </a:spcBef>
        <a:spcAft>
          <a:spcPct val="0"/>
        </a:spcAft>
        <a:defRPr sz="4800" b="1">
          <a:solidFill>
            <a:schemeClr val="tx2"/>
          </a:solidFill>
          <a:effectLst>
            <a:outerShdw blurRad="38100" dist="38100" dir="2700000" algn="tl">
              <a:srgbClr val="C0C0C0"/>
            </a:outerShdw>
          </a:effectLst>
          <a:latin typeface="Arial" charset="0"/>
          <a:cs typeface="Arial" charset="0"/>
        </a:defRPr>
      </a:lvl9pPr>
    </p:titleStyle>
    <p:bodyStyle>
      <a:lvl1pPr marL="571500" indent="-571500" algn="l" rtl="0" eaLnBrk="0" fontAlgn="base" hangingPunct="0">
        <a:lnSpc>
          <a:spcPct val="90000"/>
        </a:lnSpc>
        <a:spcBef>
          <a:spcPct val="30000"/>
        </a:spcBef>
        <a:spcAft>
          <a:spcPct val="0"/>
        </a:spcAft>
        <a:buClr>
          <a:schemeClr val="tx2"/>
        </a:buClr>
        <a:buSzPct val="75000"/>
        <a:buFont typeface="Wingdings" pitchFamily="2" charset="2"/>
        <a:buChar char="l"/>
        <a:defRPr sz="3200" b="1">
          <a:solidFill>
            <a:schemeClr val="tx1"/>
          </a:solidFill>
          <a:effectLst>
            <a:outerShdw blurRad="38100" dist="38100" dir="2700000" algn="tl">
              <a:srgbClr val="C0C0C0"/>
            </a:outerShdw>
          </a:effectLst>
          <a:latin typeface="+mn-lt"/>
          <a:ea typeface="+mn-ea"/>
          <a:cs typeface="+mn-cs"/>
        </a:defRPr>
      </a:lvl1pPr>
      <a:lvl2pPr marL="1028700" indent="-455613" algn="l" rtl="0" eaLnBrk="0" fontAlgn="base" hangingPunct="0">
        <a:lnSpc>
          <a:spcPct val="90000"/>
        </a:lnSpc>
        <a:spcBef>
          <a:spcPct val="30000"/>
        </a:spcBef>
        <a:spcAft>
          <a:spcPct val="0"/>
        </a:spcAft>
        <a:buClr>
          <a:schemeClr val="tx2"/>
        </a:buClr>
        <a:buSzPct val="75000"/>
        <a:buFont typeface="Wingdings" pitchFamily="2" charset="2"/>
        <a:buChar char="Ø"/>
        <a:defRPr sz="2800" b="1">
          <a:solidFill>
            <a:schemeClr val="tx1"/>
          </a:solidFill>
          <a:effectLst>
            <a:outerShdw blurRad="38100" dist="38100" dir="2700000" algn="tl">
              <a:srgbClr val="C0C0C0"/>
            </a:outerShdw>
          </a:effectLst>
          <a:latin typeface="+mn-lt"/>
          <a:cs typeface="+mn-cs"/>
        </a:defRPr>
      </a:lvl2pPr>
      <a:lvl3pPr marL="1428750" indent="-398463" algn="l" rtl="0" eaLnBrk="0" fontAlgn="base" hangingPunct="0">
        <a:lnSpc>
          <a:spcPct val="90000"/>
        </a:lnSpc>
        <a:spcBef>
          <a:spcPct val="30000"/>
        </a:spcBef>
        <a:spcAft>
          <a:spcPct val="0"/>
        </a:spcAft>
        <a:buClr>
          <a:schemeClr val="tx2"/>
        </a:buClr>
        <a:buSzPct val="75000"/>
        <a:buFont typeface="Wingdings" pitchFamily="2" charset="2"/>
        <a:buChar char="§"/>
        <a:defRPr sz="2400" b="1">
          <a:solidFill>
            <a:schemeClr val="tx1"/>
          </a:solidFill>
          <a:effectLst>
            <a:outerShdw blurRad="38100" dist="38100" dir="2700000" algn="tl">
              <a:srgbClr val="C0C0C0"/>
            </a:outerShdw>
          </a:effectLst>
          <a:latin typeface="+mn-lt"/>
          <a:cs typeface="+mn-cs"/>
        </a:defRPr>
      </a:lvl3pPr>
      <a:lvl4pPr marL="1828800" indent="-398463" algn="l" rtl="0" eaLnBrk="0" fontAlgn="base" hangingPunct="0">
        <a:lnSpc>
          <a:spcPct val="90000"/>
        </a:lnSpc>
        <a:spcBef>
          <a:spcPct val="30000"/>
        </a:spcBef>
        <a:spcAft>
          <a:spcPct val="0"/>
        </a:spcAft>
        <a:buClr>
          <a:schemeClr val="tx2"/>
        </a:buClr>
        <a:buSzPct val="75000"/>
        <a:buFont typeface="Wingdings" pitchFamily="2" charset="2"/>
        <a:buChar char="§"/>
        <a:defRPr sz="2000" b="1">
          <a:solidFill>
            <a:schemeClr val="tx1"/>
          </a:solidFill>
          <a:effectLst>
            <a:outerShdw blurRad="38100" dist="38100" dir="2700000" algn="tl">
              <a:srgbClr val="C0C0C0"/>
            </a:outerShdw>
          </a:effectLst>
          <a:latin typeface="+mn-lt"/>
          <a:cs typeface="+mn-cs"/>
        </a:defRPr>
      </a:lvl4pPr>
      <a:lvl5pPr marL="2227263" indent="-396875" algn="l" rtl="0" eaLnBrk="0" fontAlgn="base" hangingPunct="0">
        <a:lnSpc>
          <a:spcPct val="90000"/>
        </a:lnSpc>
        <a:spcBef>
          <a:spcPct val="30000"/>
        </a:spcBef>
        <a:spcAft>
          <a:spcPct val="0"/>
        </a:spcAft>
        <a:buClr>
          <a:schemeClr val="tx2"/>
        </a:buClr>
        <a:buSzPct val="75000"/>
        <a:buFont typeface="Wingdings" pitchFamily="2" charset="2"/>
        <a:buChar char="§"/>
        <a:defRPr sz="2000" b="1">
          <a:solidFill>
            <a:schemeClr val="tx1"/>
          </a:solidFill>
          <a:effectLst>
            <a:outerShdw blurRad="38100" dist="38100" dir="2700000" algn="tl">
              <a:srgbClr val="C0C0C0"/>
            </a:outerShdw>
          </a:effectLst>
          <a:latin typeface="+mn-lt"/>
          <a:cs typeface="+mn-cs"/>
        </a:defRPr>
      </a:lvl5pPr>
      <a:lvl6pPr marL="2684463" indent="-396875" algn="l" rtl="0" fontAlgn="base">
        <a:lnSpc>
          <a:spcPct val="90000"/>
        </a:lnSpc>
        <a:spcBef>
          <a:spcPct val="30000"/>
        </a:spcBef>
        <a:spcAft>
          <a:spcPct val="0"/>
        </a:spcAft>
        <a:buClr>
          <a:schemeClr val="tx2"/>
        </a:buClr>
        <a:buSzPct val="75000"/>
        <a:buFont typeface="Wingdings" pitchFamily="2" charset="2"/>
        <a:buChar char="§"/>
        <a:defRPr sz="2000" b="1">
          <a:solidFill>
            <a:schemeClr val="tx1"/>
          </a:solidFill>
          <a:effectLst>
            <a:outerShdw blurRad="38100" dist="38100" dir="2700000" algn="tl">
              <a:srgbClr val="C0C0C0"/>
            </a:outerShdw>
          </a:effectLst>
          <a:latin typeface="+mn-lt"/>
          <a:cs typeface="+mn-cs"/>
        </a:defRPr>
      </a:lvl6pPr>
      <a:lvl7pPr marL="3141663" indent="-396875" algn="l" rtl="0" fontAlgn="base">
        <a:lnSpc>
          <a:spcPct val="90000"/>
        </a:lnSpc>
        <a:spcBef>
          <a:spcPct val="30000"/>
        </a:spcBef>
        <a:spcAft>
          <a:spcPct val="0"/>
        </a:spcAft>
        <a:buClr>
          <a:schemeClr val="tx2"/>
        </a:buClr>
        <a:buSzPct val="75000"/>
        <a:buFont typeface="Wingdings" pitchFamily="2" charset="2"/>
        <a:buChar char="§"/>
        <a:defRPr sz="2000" b="1">
          <a:solidFill>
            <a:schemeClr val="tx1"/>
          </a:solidFill>
          <a:effectLst>
            <a:outerShdw blurRad="38100" dist="38100" dir="2700000" algn="tl">
              <a:srgbClr val="C0C0C0"/>
            </a:outerShdw>
          </a:effectLst>
          <a:latin typeface="+mn-lt"/>
          <a:cs typeface="+mn-cs"/>
        </a:defRPr>
      </a:lvl7pPr>
      <a:lvl8pPr marL="3598863" indent="-396875" algn="l" rtl="0" fontAlgn="base">
        <a:lnSpc>
          <a:spcPct val="90000"/>
        </a:lnSpc>
        <a:spcBef>
          <a:spcPct val="30000"/>
        </a:spcBef>
        <a:spcAft>
          <a:spcPct val="0"/>
        </a:spcAft>
        <a:buClr>
          <a:schemeClr val="tx2"/>
        </a:buClr>
        <a:buSzPct val="75000"/>
        <a:buFont typeface="Wingdings" pitchFamily="2" charset="2"/>
        <a:buChar char="§"/>
        <a:defRPr sz="2000" b="1">
          <a:solidFill>
            <a:schemeClr val="tx1"/>
          </a:solidFill>
          <a:effectLst>
            <a:outerShdw blurRad="38100" dist="38100" dir="2700000" algn="tl">
              <a:srgbClr val="C0C0C0"/>
            </a:outerShdw>
          </a:effectLst>
          <a:latin typeface="+mn-lt"/>
          <a:cs typeface="+mn-cs"/>
        </a:defRPr>
      </a:lvl8pPr>
      <a:lvl9pPr marL="4056063" indent="-396875" algn="l" rtl="0" fontAlgn="base">
        <a:lnSpc>
          <a:spcPct val="90000"/>
        </a:lnSpc>
        <a:spcBef>
          <a:spcPct val="30000"/>
        </a:spcBef>
        <a:spcAft>
          <a:spcPct val="0"/>
        </a:spcAft>
        <a:buClr>
          <a:schemeClr val="tx2"/>
        </a:buClr>
        <a:buSzPct val="75000"/>
        <a:buFont typeface="Wingdings" pitchFamily="2" charset="2"/>
        <a:buChar char="§"/>
        <a:defRPr sz="2000" b="1">
          <a:solidFill>
            <a:schemeClr val="tx1"/>
          </a:solidFill>
          <a:effectLst>
            <a:outerShdw blurRad="38100" dist="38100" dir="2700000" algn="tl">
              <a:srgbClr val="C0C0C0"/>
            </a:outerShdw>
          </a:effectLst>
          <a:latin typeface="+mn-lt"/>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emf"/></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9.png"/><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 Id="rId5" Type="http://schemas.openxmlformats.org/officeDocument/2006/relationships/image" Target="../media/image37.jpeg"/><Relationship Id="rId4" Type="http://schemas.openxmlformats.org/officeDocument/2006/relationships/image" Target="../media/image36.png"/></Relationships>
</file>

<file path=ppt/slides/_rels/slide6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44.emf"/><Relationship Id="rId18" Type="http://schemas.openxmlformats.org/officeDocument/2006/relationships/image" Target="../media/image46.emf"/><Relationship Id="rId3" Type="http://schemas.openxmlformats.org/officeDocument/2006/relationships/image" Target="../media/image39.emf"/><Relationship Id="rId7" Type="http://schemas.openxmlformats.org/officeDocument/2006/relationships/image" Target="../media/image41.emf"/><Relationship Id="rId12" Type="http://schemas.openxmlformats.org/officeDocument/2006/relationships/oleObject" Target="../embeddings/oleObject8.bin"/><Relationship Id="rId17" Type="http://schemas.openxmlformats.org/officeDocument/2006/relationships/oleObject" Target="../embeddings/oleObject11.bin"/><Relationship Id="rId2" Type="http://schemas.openxmlformats.org/officeDocument/2006/relationships/oleObject" Target="../embeddings/oleObject3.bin"/><Relationship Id="rId16"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5.bin"/><Relationship Id="rId11" Type="http://schemas.openxmlformats.org/officeDocument/2006/relationships/image" Target="../media/image43.emf"/><Relationship Id="rId5" Type="http://schemas.openxmlformats.org/officeDocument/2006/relationships/image" Target="../media/image40.emf"/><Relationship Id="rId15" Type="http://schemas.openxmlformats.org/officeDocument/2006/relationships/image" Target="../media/image45.e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42.emf"/><Relationship Id="rId14" Type="http://schemas.openxmlformats.org/officeDocument/2006/relationships/oleObject" Target="../embeddings/oleObject9.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8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8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8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image" Target="../media/image60.emf"/><Relationship Id="rId4" Type="http://schemas.openxmlformats.org/officeDocument/2006/relationships/oleObject" Target="../embeddings/oleObject14.bin"/></Relationships>
</file>

<file path=ppt/slides/_rels/slide11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jpeg"/><Relationship Id="rId5" Type="http://schemas.openxmlformats.org/officeDocument/2006/relationships/image" Target="../media/image64.jpeg"/><Relationship Id="rId4" Type="http://schemas.openxmlformats.org/officeDocument/2006/relationships/image" Target="../media/image63.jpeg"/></Relationships>
</file>

<file path=ppt/slides/_rels/slide12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9.jpeg"/></Relationships>
</file>

<file path=ppt/slides/_rels/slide1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9.jpe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93FDAC80-DEFF-4E42-8328-DDAA7684FA30}"/>
              </a:ext>
            </a:extLst>
          </p:cNvPr>
          <p:cNvSpPr>
            <a:spLocks noChangeArrowheads="1"/>
          </p:cNvSpPr>
          <p:nvPr/>
        </p:nvSpPr>
        <p:spPr bwMode="auto">
          <a:xfrm>
            <a:off x="973138" y="2611438"/>
            <a:ext cx="7485062" cy="979487"/>
          </a:xfrm>
          <a:prstGeom prst="rect">
            <a:avLst/>
          </a:prstGeom>
          <a:noFill/>
          <a:ln w="9525">
            <a:no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120000"/>
              </a:lnSpc>
              <a:spcBef>
                <a:spcPct val="20000"/>
              </a:spcBef>
              <a:buClr>
                <a:schemeClr val="folHlink"/>
              </a:buClr>
              <a:buSzPct val="60000"/>
              <a:buFont typeface="Wingdings" pitchFamily="2" charset="2"/>
              <a:buNone/>
              <a:defRPr/>
            </a:pPr>
            <a:r>
              <a:rPr lang="zh-CN" altLang="en-US">
                <a:solidFill>
                  <a:srgbClr val="000000"/>
                </a:solidFill>
                <a:effectLst>
                  <a:outerShdw blurRad="38100" dist="38100" dir="2700000" algn="tl">
                    <a:srgbClr val="C0C0C0"/>
                  </a:outerShdw>
                </a:effectLst>
                <a:latin typeface="Tahoma" panose="020B0604030504040204" pitchFamily="34" charset="0"/>
                <a:ea typeface="黑体" panose="02010609060101010101" pitchFamily="49" charset="-122"/>
              </a:rPr>
              <a:t>网络空间安全技术</a:t>
            </a:r>
            <a:endParaRPr lang="en-US" altLang="zh-CN">
              <a:solidFill>
                <a:srgbClr val="000000"/>
              </a:solidFill>
              <a:effectLst>
                <a:outerShdw blurRad="38100" dist="38100" dir="2700000" algn="tl">
                  <a:srgbClr val="C0C0C0"/>
                </a:outerShdw>
              </a:effectLst>
              <a:latin typeface="Tahoma" panose="020B0604030504040204" pitchFamily="34" charset="0"/>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5170" name="Rectangle 2">
            <a:extLst>
              <a:ext uri="{FF2B5EF4-FFF2-40B4-BE49-F238E27FC236}">
                <a16:creationId xmlns:a16="http://schemas.microsoft.com/office/drawing/2014/main" id="{008191EB-E697-D844-9400-CC884CB7C163}"/>
              </a:ext>
            </a:extLst>
          </p:cNvPr>
          <p:cNvSpPr>
            <a:spLocks noGrp="1" noChangeArrowheads="1"/>
          </p:cNvSpPr>
          <p:nvPr>
            <p:ph type="title"/>
          </p:nvPr>
        </p:nvSpPr>
        <p:spPr bwMode="auto">
          <a:xfrm>
            <a:off x="2438400" y="2743200"/>
            <a:ext cx="4419600" cy="1066800"/>
          </a:xfrm>
          <a:ln>
            <a:miter lim="800000"/>
            <a:headEnd/>
            <a:tailEnd/>
          </a:ln>
        </p:spPr>
        <p:txBody>
          <a:bodyPr vert="horz" wrap="square" lIns="91440" tIns="45720" rIns="91440" bIns="45720" numCol="1" anchor="t" anchorCtr="0" compatLnSpc="1">
            <a:prstTxWarp prst="textNoShape">
              <a:avLst/>
            </a:prstTxWarp>
          </a:bodyPr>
          <a:lstStyle/>
          <a:p>
            <a:pPr algn="ctr" eaLnBrk="1" hangingPunct="1">
              <a:lnSpc>
                <a:spcPct val="120000"/>
              </a:lnSpc>
              <a:spcBef>
                <a:spcPct val="20000"/>
              </a:spcBef>
              <a:buClr>
                <a:schemeClr val="folHlink"/>
              </a:buClr>
              <a:buSzPct val="60000"/>
              <a:defRPr/>
            </a:pPr>
            <a:r>
              <a:rPr kumimoji="1" lang="zh-CN" altLang="en-US" sz="4400">
                <a:solidFill>
                  <a:srgbClr val="000000"/>
                </a:solidFill>
                <a:latin typeface="Tahoma" panose="020B0604030504040204" pitchFamily="34" charset="0"/>
                <a:ea typeface="黑体" panose="02010609060101010101" pitchFamily="49" charset="-122"/>
              </a:rPr>
              <a:t>鉴别机制与技术</a:t>
            </a:r>
          </a:p>
        </p:txBody>
      </p:sp>
      <p:sp>
        <p:nvSpPr>
          <p:cNvPr id="2" name="矩形 1">
            <a:extLst>
              <a:ext uri="{FF2B5EF4-FFF2-40B4-BE49-F238E27FC236}">
                <a16:creationId xmlns:a16="http://schemas.microsoft.com/office/drawing/2014/main" id="{04F8B9F8-2115-E74F-8EE9-70CADC8BFBFE}"/>
              </a:ext>
            </a:extLst>
          </p:cNvPr>
          <p:cNvSpPr/>
          <p:nvPr/>
        </p:nvSpPr>
        <p:spPr>
          <a:xfrm>
            <a:off x="1447800" y="1500188"/>
            <a:ext cx="2044700" cy="831850"/>
          </a:xfrm>
          <a:prstGeom prst="rect">
            <a:avLst/>
          </a:prstGeom>
        </p:spPr>
        <p:txBody>
          <a:bodyPr wrap="none">
            <a:spAutoFit/>
          </a:bodyPr>
          <a:lstStyle/>
          <a:p>
            <a:pPr>
              <a:defRPr/>
            </a:pPr>
            <a:r>
              <a:rPr lang="zh-CN" altLang="en-US" dirty="0">
                <a:solidFill>
                  <a:srgbClr val="000000"/>
                </a:solidFill>
                <a:effectLst>
                  <a:outerShdw blurRad="38100" dist="38100" dir="2700000" algn="tl">
                    <a:srgbClr val="000000">
                      <a:alpha val="43137"/>
                    </a:srgbClr>
                  </a:outerShdw>
                </a:effectLst>
                <a:latin typeface="Tahoma" pitchFamily="34" charset="0"/>
                <a:ea typeface="黑体" pitchFamily="2" charset="-122"/>
              </a:rPr>
              <a:t>第</a:t>
            </a:r>
            <a:r>
              <a:rPr lang="en-US" altLang="zh-CN" dirty="0">
                <a:solidFill>
                  <a:srgbClr val="000000"/>
                </a:solidFill>
                <a:effectLst>
                  <a:outerShdw blurRad="38100" dist="38100" dir="2700000" algn="tl">
                    <a:srgbClr val="000000">
                      <a:alpha val="43137"/>
                    </a:srgbClr>
                  </a:outerShdw>
                </a:effectLst>
                <a:latin typeface="Tahoma" pitchFamily="34" charset="0"/>
                <a:ea typeface="黑体" pitchFamily="2" charset="-122"/>
              </a:rPr>
              <a:t>5</a:t>
            </a:r>
            <a:r>
              <a:rPr lang="zh-CN" altLang="en-US" dirty="0">
                <a:solidFill>
                  <a:srgbClr val="000000"/>
                </a:solidFill>
                <a:effectLst>
                  <a:outerShdw blurRad="38100" dist="38100" dir="2700000" algn="tl">
                    <a:srgbClr val="000000">
                      <a:alpha val="43137"/>
                    </a:srgbClr>
                  </a:outerShdw>
                </a:effectLst>
                <a:latin typeface="Tahoma" pitchFamily="34" charset="0"/>
                <a:ea typeface="黑体" pitchFamily="2" charset="-122"/>
              </a:rPr>
              <a:t>章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9634" name="Rectangle 2">
            <a:extLst>
              <a:ext uri="{FF2B5EF4-FFF2-40B4-BE49-F238E27FC236}">
                <a16:creationId xmlns:a16="http://schemas.microsoft.com/office/drawing/2014/main" id="{3F457EB7-631D-E140-8D3D-950B3ABE2868}"/>
              </a:ext>
            </a:extLst>
          </p:cNvPr>
          <p:cNvSpPr>
            <a:spLocks noGrp="1" noChangeArrowheads="1"/>
          </p:cNvSpPr>
          <p:nvPr>
            <p:ph type="title"/>
          </p:nvPr>
        </p:nvSpPr>
        <p:spPr bwMode="auto">
          <a:xfrm>
            <a:off x="533400" y="868363"/>
            <a:ext cx="8229600" cy="731837"/>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dirty="0">
                <a:solidFill>
                  <a:srgbClr val="FF0000"/>
                </a:solidFill>
                <a:latin typeface="黑体" panose="02010609060101010101" pitchFamily="49" charset="-122"/>
                <a:ea typeface="黑体" panose="02010609060101010101" pitchFamily="49" charset="-122"/>
              </a:rPr>
              <a:t>主要内容</a:t>
            </a:r>
          </a:p>
        </p:txBody>
      </p:sp>
      <p:sp>
        <p:nvSpPr>
          <p:cNvPr id="1349635" name="Rectangle 3">
            <a:extLst>
              <a:ext uri="{FF2B5EF4-FFF2-40B4-BE49-F238E27FC236}">
                <a16:creationId xmlns:a16="http://schemas.microsoft.com/office/drawing/2014/main" id="{B9C1374E-9007-CC47-8597-8607F03AFA25}"/>
              </a:ext>
            </a:extLst>
          </p:cNvPr>
          <p:cNvSpPr>
            <a:spLocks noGrp="1" noChangeArrowheads="1"/>
          </p:cNvSpPr>
          <p:nvPr>
            <p:ph type="body" idx="1"/>
          </p:nvPr>
        </p:nvSpPr>
        <p:spPr bwMode="auto">
          <a:xfrm>
            <a:off x="1219200" y="2057400"/>
            <a:ext cx="6172200" cy="13716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chemeClr val="bg2"/>
              </a:buClr>
              <a:buFont typeface="Wingdings" pitchFamily="2" charset="2"/>
              <a:buChar char="p"/>
              <a:defRPr/>
            </a:pPr>
            <a:r>
              <a:rPr lang="zh-CN" altLang="en-US">
                <a:solidFill>
                  <a:schemeClr val="bg2"/>
                </a:solidFill>
                <a:latin typeface="黑体" panose="02010609060101010101" pitchFamily="49" charset="-122"/>
                <a:ea typeface="黑体" panose="02010609060101010101" pitchFamily="49" charset="-122"/>
              </a:rPr>
              <a:t>掌握鉴别的基本概念</a:t>
            </a:r>
          </a:p>
          <a:p>
            <a:pPr eaLnBrk="1" hangingPunct="1">
              <a:buClr>
                <a:schemeClr val="bg2"/>
              </a:buClr>
              <a:buFont typeface="Wingdings" pitchFamily="2" charset="2"/>
              <a:buChar char="p"/>
              <a:defRPr/>
            </a:pPr>
            <a:r>
              <a:rPr lang="zh-CN" altLang="en-US">
                <a:solidFill>
                  <a:schemeClr val="bg2"/>
                </a:solidFill>
                <a:latin typeface="黑体" panose="02010609060101010101" pitchFamily="49" charset="-122"/>
                <a:ea typeface="黑体" panose="02010609060101010101" pitchFamily="49" charset="-122"/>
              </a:rPr>
              <a:t>掌握鉴别机制与各类鉴别技术</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5" descr="idog">
            <a:extLst>
              <a:ext uri="{FF2B5EF4-FFF2-40B4-BE49-F238E27FC236}">
                <a16:creationId xmlns:a16="http://schemas.microsoft.com/office/drawing/2014/main" id="{C62F3E0C-B440-3D42-AC94-BC005A628D74}"/>
              </a:ext>
            </a:extLst>
          </p:cNvPr>
          <p:cNvPicPr>
            <a:picLocks noChangeAspect="1" noChangeArrowheads="1"/>
          </p:cNvPicPr>
          <p:nvPr/>
        </p:nvPicPr>
        <p:blipFill>
          <a:blip r:embed="rId2"/>
          <a:srcRect/>
          <a:stretch>
            <a:fillRect/>
          </a:stretch>
        </p:blipFill>
        <p:spPr bwMode="auto">
          <a:xfrm>
            <a:off x="685800" y="762000"/>
            <a:ext cx="7848600" cy="5410200"/>
          </a:xfrm>
          <a:prstGeom prst="rect">
            <a:avLst/>
          </a:prstGeom>
          <a:ln/>
        </p:spPr>
        <p:style>
          <a:lnRef idx="0">
            <a:schemeClr val="dk1"/>
          </a:lnRef>
          <a:fillRef idx="3">
            <a:schemeClr val="dk1"/>
          </a:fillRef>
          <a:effectRef idx="3">
            <a:schemeClr val="dk1"/>
          </a:effectRef>
          <a:fontRef idx="minor">
            <a:schemeClr val="lt1"/>
          </a:fontRef>
        </p:style>
      </p:pic>
      <p:sp>
        <p:nvSpPr>
          <p:cNvPr id="8" name="文本框 7">
            <a:extLst>
              <a:ext uri="{FF2B5EF4-FFF2-40B4-BE49-F238E27FC236}">
                <a16:creationId xmlns:a16="http://schemas.microsoft.com/office/drawing/2014/main" id="{9913E684-5F0A-104C-A5EA-54D620F105B6}"/>
              </a:ext>
            </a:extLst>
          </p:cNvPr>
          <p:cNvSpPr txBox="1">
            <a:spLocks noChangeArrowheads="1"/>
          </p:cNvSpPr>
          <p:nvPr/>
        </p:nvSpPr>
        <p:spPr bwMode="auto">
          <a:xfrm>
            <a:off x="1295400" y="5772150"/>
            <a:ext cx="6172200" cy="40005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Vertical)">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8194"/>
                                        </p:tgtEl>
                                        <p:attrNameLst>
                                          <p:attrName>style.visibility</p:attrName>
                                        </p:attrNameLst>
                                      </p:cBhvr>
                                      <p:to>
                                        <p:strVal val="visible"/>
                                      </p:to>
                                    </p:set>
                                    <p:anim calcmode="lin" valueType="num">
                                      <p:cBhvr additive="base">
                                        <p:cTn id="12" dur="500" fill="hold"/>
                                        <p:tgtEl>
                                          <p:spTgt spid="8194"/>
                                        </p:tgtEl>
                                        <p:attrNameLst>
                                          <p:attrName>ppt_x</p:attrName>
                                        </p:attrNameLst>
                                      </p:cBhvr>
                                      <p:tavLst>
                                        <p:tav tm="0">
                                          <p:val>
                                            <p:strVal val="#ppt_x"/>
                                          </p:val>
                                        </p:tav>
                                        <p:tav tm="100000">
                                          <p:val>
                                            <p:strVal val="#ppt_x"/>
                                          </p:val>
                                        </p:tav>
                                      </p:tavLst>
                                    </p:anim>
                                    <p:anim calcmode="lin" valueType="num">
                                      <p:cBhvr additive="base">
                                        <p:cTn id="13" dur="500" fill="hold"/>
                                        <p:tgtEl>
                                          <p:spTgt spid="81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82" name="Rectangle 2">
            <a:extLst>
              <a:ext uri="{FF2B5EF4-FFF2-40B4-BE49-F238E27FC236}">
                <a16:creationId xmlns:a16="http://schemas.microsoft.com/office/drawing/2014/main" id="{FD6A2646-B0A0-414B-97E0-ADFE91265016}"/>
              </a:ext>
            </a:extLst>
          </p:cNvPr>
          <p:cNvSpPr>
            <a:spLocks noGrp="1" noChangeArrowheads="1"/>
          </p:cNvSpPr>
          <p:nvPr>
            <p:ph type="title"/>
          </p:nvPr>
        </p:nvSpPr>
        <p:spPr bwMode="auto">
          <a:xfrm>
            <a:off x="457200" y="792163"/>
            <a:ext cx="8229600" cy="731837"/>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sz="3600">
                <a:solidFill>
                  <a:srgbClr val="000000"/>
                </a:solidFill>
                <a:latin typeface="黑体" panose="02010609060101010101" pitchFamily="49" charset="-122"/>
                <a:ea typeface="黑体" panose="02010609060101010101" pitchFamily="49" charset="-122"/>
              </a:rPr>
              <a:t>5.1 </a:t>
            </a:r>
            <a:r>
              <a:rPr lang="zh-CN" altLang="en-US" sz="3600">
                <a:solidFill>
                  <a:srgbClr val="000000"/>
                </a:solidFill>
                <a:latin typeface="黑体" panose="02010609060101010101" pitchFamily="49" charset="-122"/>
                <a:ea typeface="黑体" panose="02010609060101010101" pitchFamily="49" charset="-122"/>
              </a:rPr>
              <a:t>鉴别的需求和目的</a:t>
            </a:r>
          </a:p>
        </p:txBody>
      </p:sp>
      <p:sp>
        <p:nvSpPr>
          <p:cNvPr id="2" name="矩形 1">
            <a:extLst>
              <a:ext uri="{FF2B5EF4-FFF2-40B4-BE49-F238E27FC236}">
                <a16:creationId xmlns:a16="http://schemas.microsoft.com/office/drawing/2014/main" id="{5D1FC8DB-0E41-524D-9432-7E802D62248B}"/>
              </a:ext>
            </a:extLst>
          </p:cNvPr>
          <p:cNvSpPr/>
          <p:nvPr/>
        </p:nvSpPr>
        <p:spPr>
          <a:xfrm>
            <a:off x="762000" y="1585913"/>
            <a:ext cx="2244725" cy="584200"/>
          </a:xfrm>
          <a:prstGeom prst="rect">
            <a:avLst/>
          </a:prstGeom>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defRPr/>
            </a:pPr>
            <a:r>
              <a:rPr lang="zh-CN" altLang="en-US" sz="32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问题的提出</a:t>
            </a:r>
          </a:p>
        </p:txBody>
      </p:sp>
      <p:sp>
        <p:nvSpPr>
          <p:cNvPr id="3" name="矩形 2">
            <a:extLst>
              <a:ext uri="{FF2B5EF4-FFF2-40B4-BE49-F238E27FC236}">
                <a16:creationId xmlns:a16="http://schemas.microsoft.com/office/drawing/2014/main" id="{CC44AFE4-3880-4F4D-90F3-79776E91D5ED}"/>
              </a:ext>
            </a:extLst>
          </p:cNvPr>
          <p:cNvSpPr>
            <a:spLocks noChangeArrowheads="1"/>
          </p:cNvSpPr>
          <p:nvPr/>
        </p:nvSpPr>
        <p:spPr bwMode="auto">
          <a:xfrm>
            <a:off x="990600" y="2151063"/>
            <a:ext cx="2089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kumimoji="1" sz="4800" b="1">
                <a:solidFill>
                  <a:srgbClr val="FF0000"/>
                </a:solidFill>
                <a:latin typeface="隶书" pitchFamily="49" charset="-122"/>
                <a:ea typeface="隶书" pitchFamily="49" charset="-122"/>
              </a:defRPr>
            </a:lvl1pPr>
            <a:lvl2pPr>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r>
              <a:rPr lang="zh-CN" altLang="en-US" sz="2800">
                <a:solidFill>
                  <a:schemeClr val="bg2"/>
                </a:solidFill>
                <a:latin typeface="黑体" panose="02010609060101010101" pitchFamily="49" charset="-122"/>
                <a:ea typeface="黑体" panose="02010609060101010101" pitchFamily="49" charset="-122"/>
              </a:rPr>
              <a:t>身份欺诈</a:t>
            </a:r>
          </a:p>
        </p:txBody>
      </p:sp>
      <p:sp>
        <p:nvSpPr>
          <p:cNvPr id="4" name="矩形 3">
            <a:extLst>
              <a:ext uri="{FF2B5EF4-FFF2-40B4-BE49-F238E27FC236}">
                <a16:creationId xmlns:a16="http://schemas.microsoft.com/office/drawing/2014/main" id="{93448BBD-5D83-904C-BA8B-7604ADFAB653}"/>
              </a:ext>
            </a:extLst>
          </p:cNvPr>
          <p:cNvSpPr/>
          <p:nvPr/>
        </p:nvSpPr>
        <p:spPr>
          <a:xfrm>
            <a:off x="762000" y="2706688"/>
            <a:ext cx="1831975" cy="585787"/>
          </a:xfrm>
          <a:prstGeom prst="rect">
            <a:avLst/>
          </a:prstGeom>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defRPr/>
            </a:pPr>
            <a:r>
              <a:rPr lang="zh-CN" altLang="en-US" sz="32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鉴别需求</a:t>
            </a:r>
            <a:endParaRPr lang="zh-CN" altLang="en-US"/>
          </a:p>
        </p:txBody>
      </p:sp>
      <p:sp>
        <p:nvSpPr>
          <p:cNvPr id="5" name="矩形 4">
            <a:extLst>
              <a:ext uri="{FF2B5EF4-FFF2-40B4-BE49-F238E27FC236}">
                <a16:creationId xmlns:a16="http://schemas.microsoft.com/office/drawing/2014/main" id="{9BF59798-1A90-554B-ACE3-9867B327476D}"/>
              </a:ext>
            </a:extLst>
          </p:cNvPr>
          <p:cNvSpPr/>
          <p:nvPr/>
        </p:nvSpPr>
        <p:spPr>
          <a:xfrm>
            <a:off x="1447800" y="3270250"/>
            <a:ext cx="7315200" cy="954088"/>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defRPr/>
            </a:pPr>
            <a:r>
              <a:rPr lang="zh-CN" altLang="en-US" sz="2800" dirty="0">
                <a:solidFill>
                  <a:schemeClr val="bg2"/>
                </a:solidFill>
                <a:latin typeface="黑体" panose="02010609060101010101" pitchFamily="49" charset="-122"/>
                <a:ea typeface="黑体" panose="02010609060101010101" pitchFamily="49" charset="-122"/>
              </a:rPr>
              <a:t>某一成员（</a:t>
            </a:r>
            <a:r>
              <a:rPr lang="zh-CN" altLang="en-US" sz="2800" dirty="0">
                <a:effectLst>
                  <a:outerShdw blurRad="38100" dist="38100" dir="2700000" algn="tl">
                    <a:srgbClr val="C0C0C0"/>
                  </a:outerShdw>
                </a:effectLst>
                <a:latin typeface="黑体" panose="02010609060101010101" pitchFamily="49" charset="-122"/>
                <a:ea typeface="黑体" panose="02010609060101010101" pitchFamily="49" charset="-122"/>
              </a:rPr>
              <a:t>声称者</a:t>
            </a:r>
            <a:r>
              <a:rPr lang="zh-CN" altLang="en-US" sz="2800" dirty="0">
                <a:solidFill>
                  <a:schemeClr val="bg2"/>
                </a:solidFill>
                <a:latin typeface="黑体" panose="02010609060101010101" pitchFamily="49" charset="-122"/>
                <a:ea typeface="黑体" panose="02010609060101010101" pitchFamily="49" charset="-122"/>
              </a:rPr>
              <a:t>）提交一个主体的身份并声称它是那个主体。</a:t>
            </a:r>
            <a:endParaRPr lang="zh-CN" altLang="en-US" dirty="0">
              <a:solidFill>
                <a:schemeClr val="bg2"/>
              </a:solidFill>
              <a:ea typeface="宋体" panose="02010600030101010101" pitchFamily="2" charset="-122"/>
            </a:endParaRPr>
          </a:p>
        </p:txBody>
      </p:sp>
      <p:sp>
        <p:nvSpPr>
          <p:cNvPr id="6" name="矩形 5">
            <a:extLst>
              <a:ext uri="{FF2B5EF4-FFF2-40B4-BE49-F238E27FC236}">
                <a16:creationId xmlns:a16="http://schemas.microsoft.com/office/drawing/2014/main" id="{DC3E7EF2-C933-5A42-A2A4-90A1A7A13451}"/>
              </a:ext>
            </a:extLst>
          </p:cNvPr>
          <p:cNvSpPr/>
          <p:nvPr/>
        </p:nvSpPr>
        <p:spPr>
          <a:xfrm>
            <a:off x="762000" y="4252913"/>
            <a:ext cx="1831975" cy="584200"/>
          </a:xfrm>
          <a:prstGeom prst="rect">
            <a:avLst/>
          </a:prstGeom>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defRPr/>
            </a:pPr>
            <a:r>
              <a:rPr lang="zh-CN" altLang="en-US" sz="32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鉴别目的</a:t>
            </a:r>
            <a:endParaRPr lang="zh-CN" altLang="en-US"/>
          </a:p>
        </p:txBody>
      </p:sp>
      <p:sp>
        <p:nvSpPr>
          <p:cNvPr id="7" name="矩形 6">
            <a:extLst>
              <a:ext uri="{FF2B5EF4-FFF2-40B4-BE49-F238E27FC236}">
                <a16:creationId xmlns:a16="http://schemas.microsoft.com/office/drawing/2014/main" id="{9C7781EC-579E-EC4E-BBAD-6AA543F6A20D}"/>
              </a:ext>
            </a:extLst>
          </p:cNvPr>
          <p:cNvSpPr/>
          <p:nvPr/>
        </p:nvSpPr>
        <p:spPr>
          <a:xfrm>
            <a:off x="1447800" y="4837113"/>
            <a:ext cx="7543800" cy="954087"/>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defRPr/>
            </a:pPr>
            <a:r>
              <a:rPr lang="zh-CN" altLang="en-US" sz="2800">
                <a:solidFill>
                  <a:schemeClr val="bg2"/>
                </a:solidFill>
                <a:latin typeface="黑体" panose="02010609060101010101" pitchFamily="49" charset="-122"/>
                <a:ea typeface="黑体" panose="02010609060101010101" pitchFamily="49" charset="-122"/>
              </a:rPr>
              <a:t>使别的成员（</a:t>
            </a: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验证者</a:t>
            </a:r>
            <a:r>
              <a:rPr lang="zh-CN" altLang="en-US" sz="2800">
                <a:solidFill>
                  <a:schemeClr val="bg2"/>
                </a:solidFill>
                <a:latin typeface="黑体" panose="02010609060101010101" pitchFamily="49" charset="-122"/>
                <a:ea typeface="黑体" panose="02010609060101010101" pitchFamily="49" charset="-122"/>
              </a:rPr>
              <a:t>）获得对声称者所声称的事实的信任。</a:t>
            </a:r>
          </a:p>
        </p:txBody>
      </p:sp>
      <p:pic>
        <p:nvPicPr>
          <p:cNvPr id="9224" name="图片 7">
            <a:extLst>
              <a:ext uri="{FF2B5EF4-FFF2-40B4-BE49-F238E27FC236}">
                <a16:creationId xmlns:a16="http://schemas.microsoft.com/office/drawing/2014/main" id="{37B21122-E606-4B46-BBEA-A3FB66CC16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16600" y="982663"/>
            <a:ext cx="297180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nodeType="afterGroup">
                            <p:stCondLst>
                              <p:cond delay="500"/>
                            </p:stCondLst>
                            <p:childTnLst>
                              <p:par>
                                <p:cTn id="17" presetID="2" presetClass="entr" presetSubtype="8"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1000" fill="hold"/>
                                        <p:tgtEl>
                                          <p:spTgt spid="4"/>
                                        </p:tgtEl>
                                        <p:attrNameLst>
                                          <p:attrName>ppt_x</p:attrName>
                                        </p:attrNameLst>
                                      </p:cBhvr>
                                      <p:tavLst>
                                        <p:tav tm="0">
                                          <p:val>
                                            <p:strVal val="0-#ppt_w/2"/>
                                          </p:val>
                                        </p:tav>
                                        <p:tav tm="100000">
                                          <p:val>
                                            <p:strVal val="#ppt_x"/>
                                          </p:val>
                                        </p:tav>
                                      </p:tavLst>
                                    </p:anim>
                                    <p:anim calcmode="lin" valueType="num">
                                      <p:cBhvr additive="base">
                                        <p:cTn id="20"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par>
                          <p:cTn id="28" fill="hold" nodeType="afterGroup">
                            <p:stCondLst>
                              <p:cond delay="500"/>
                            </p:stCondLst>
                            <p:childTnLst>
                              <p:par>
                                <p:cTn id="29" presetID="2" presetClass="entr" presetSubtype="8"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1000" fill="hold"/>
                                        <p:tgtEl>
                                          <p:spTgt spid="6"/>
                                        </p:tgtEl>
                                        <p:attrNameLst>
                                          <p:attrName>ppt_x</p:attrName>
                                        </p:attrNameLst>
                                      </p:cBhvr>
                                      <p:tavLst>
                                        <p:tav tm="0">
                                          <p:val>
                                            <p:strVal val="0-#ppt_w/2"/>
                                          </p:val>
                                        </p:tav>
                                        <p:tav tm="100000">
                                          <p:val>
                                            <p:strVal val="#ppt_x"/>
                                          </p:val>
                                        </p:tav>
                                      </p:tavLst>
                                    </p:anim>
                                    <p:anim calcmode="lin" valueType="num">
                                      <p:cBhvr additive="base">
                                        <p:cTn id="32"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0658" name="Rectangle 2">
            <a:extLst>
              <a:ext uri="{FF2B5EF4-FFF2-40B4-BE49-F238E27FC236}">
                <a16:creationId xmlns:a16="http://schemas.microsoft.com/office/drawing/2014/main" id="{757D4EF3-56DB-EC4D-9F6E-8D304A1B3AA0}"/>
              </a:ext>
            </a:extLst>
          </p:cNvPr>
          <p:cNvSpPr>
            <a:spLocks noGrp="1" noChangeArrowheads="1"/>
          </p:cNvSpPr>
          <p:nvPr>
            <p:ph type="title"/>
          </p:nvPr>
        </p:nvSpPr>
        <p:spPr bwMode="auto">
          <a:xfrm>
            <a:off x="457200" y="715963"/>
            <a:ext cx="8229600" cy="808037"/>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鉴别</a:t>
            </a:r>
            <a:r>
              <a:rPr lang="zh-CN" altLang="en-US" sz="36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a:t>
            </a:r>
            <a:r>
              <a:rPr lang="en-US" altLang="zh-CN" sz="3600" dirty="0">
                <a:solidFill>
                  <a:srgbClr val="0000FF"/>
                </a:solidFill>
                <a:latin typeface="Times New Roman" panose="02020603050405020304" pitchFamily="18" charset="0"/>
                <a:ea typeface="隶书" pitchFamily="49" charset="-122"/>
                <a:cs typeface="Times New Roman" panose="02020603050405020304" pitchFamily="18" charset="0"/>
              </a:rPr>
              <a:t>Authentication</a:t>
            </a:r>
            <a:r>
              <a:rPr lang="zh-CN" altLang="en-US" sz="3600" dirty="0">
                <a:solidFill>
                  <a:srgbClr val="0000FF"/>
                </a:solidFill>
                <a:latin typeface="Times New Roman" panose="02020603050405020304" pitchFamily="18" charset="0"/>
                <a:ea typeface="隶书" pitchFamily="49" charset="-122"/>
                <a:cs typeface="Times New Roman" panose="02020603050405020304" pitchFamily="18" charset="0"/>
              </a:rPr>
              <a:t>）</a:t>
            </a:r>
            <a:endParaRPr lang="en-US" altLang="zh-CN" sz="3600" dirty="0">
              <a:solidFill>
                <a:srgbClr val="0000FF"/>
              </a:solidFill>
              <a:latin typeface="Times New Roman" panose="02020603050405020304" pitchFamily="18" charset="0"/>
              <a:ea typeface="隶书"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8D9A234A-A40B-E140-9714-25FA18F47C76}"/>
              </a:ext>
            </a:extLst>
          </p:cNvPr>
          <p:cNvSpPr/>
          <p:nvPr/>
        </p:nvSpPr>
        <p:spPr>
          <a:xfrm>
            <a:off x="619125" y="4013200"/>
            <a:ext cx="7772400" cy="1344613"/>
          </a:xfrm>
          <a:prstGeom prst="rect">
            <a:avLst/>
          </a:prstGeom>
        </p:spPr>
        <p:txBody>
          <a:bodyPr>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ts val="3400"/>
              </a:lnSpc>
              <a:buFont typeface="Wingdings" pitchFamily="2" charset="2"/>
              <a:buChar char="u"/>
              <a:defRPr/>
            </a:pPr>
            <a:r>
              <a:rPr lang="zh-CN" altLang="en-US" sz="24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鉴别是最重要的安全服务之一。鉴别服务提供了关于某个实体身份的保证。（所有其它的安全服务都依赖于该服务）</a:t>
            </a:r>
          </a:p>
        </p:txBody>
      </p:sp>
      <p:sp>
        <p:nvSpPr>
          <p:cNvPr id="3" name="矩形 2">
            <a:extLst>
              <a:ext uri="{FF2B5EF4-FFF2-40B4-BE49-F238E27FC236}">
                <a16:creationId xmlns:a16="http://schemas.microsoft.com/office/drawing/2014/main" id="{D89BA375-9121-DF40-B677-8758FE1FEB55}"/>
              </a:ext>
            </a:extLst>
          </p:cNvPr>
          <p:cNvSpPr>
            <a:spLocks noChangeArrowheads="1"/>
          </p:cNvSpPr>
          <p:nvPr/>
        </p:nvSpPr>
        <p:spPr bwMode="auto">
          <a:xfrm>
            <a:off x="609600" y="1371600"/>
            <a:ext cx="84582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800">
                <a:solidFill>
                  <a:schemeClr val="bg2"/>
                </a:solidFill>
                <a:latin typeface="Times New Roman" panose="02020603050405020304" pitchFamily="18" charset="0"/>
                <a:ea typeface="宋体" panose="02010600030101010101" pitchFamily="2" charset="-122"/>
                <a:cs typeface="Times New Roman" panose="02020603050405020304" pitchFamily="18" charset="0"/>
              </a:rPr>
              <a:t>The property that ensures that the identity of a subject or resource is the one claimed. Authenticity applies to entities such as users, processes, systems and information.</a:t>
            </a:r>
          </a:p>
        </p:txBody>
      </p:sp>
      <p:sp>
        <p:nvSpPr>
          <p:cNvPr id="7" name="矩形 6">
            <a:extLst>
              <a:ext uri="{FF2B5EF4-FFF2-40B4-BE49-F238E27FC236}">
                <a16:creationId xmlns:a16="http://schemas.microsoft.com/office/drawing/2014/main" id="{5CCD606E-5FDA-9346-854A-BDFCD448F204}"/>
              </a:ext>
            </a:extLst>
          </p:cNvPr>
          <p:cNvSpPr/>
          <p:nvPr/>
        </p:nvSpPr>
        <p:spPr>
          <a:xfrm>
            <a:off x="660400" y="3314700"/>
            <a:ext cx="5672138" cy="471488"/>
          </a:xfrm>
          <a:prstGeom prst="rect">
            <a:avLst/>
          </a:prstGeom>
        </p:spPr>
        <p:txBody>
          <a:bodyPr>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ts val="3400"/>
              </a:lnSpc>
              <a:buFont typeface="Wingdings" pitchFamily="2" charset="2"/>
              <a:buChar char="u"/>
              <a:defRPr/>
            </a:pPr>
            <a:r>
              <a:rPr lang="zh-CN" altLang="en-US" sz="24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鉴别就是确认实体是它所声明的。</a:t>
            </a:r>
          </a:p>
        </p:txBody>
      </p:sp>
      <p:sp>
        <p:nvSpPr>
          <p:cNvPr id="8" name="矩形 7">
            <a:extLst>
              <a:ext uri="{FF2B5EF4-FFF2-40B4-BE49-F238E27FC236}">
                <a16:creationId xmlns:a16="http://schemas.microsoft.com/office/drawing/2014/main" id="{8E7A514D-F5DC-A84D-AA31-C87EDF9B4D50}"/>
              </a:ext>
            </a:extLst>
          </p:cNvPr>
          <p:cNvSpPr/>
          <p:nvPr/>
        </p:nvSpPr>
        <p:spPr>
          <a:xfrm>
            <a:off x="669925" y="5486400"/>
            <a:ext cx="4572000" cy="471488"/>
          </a:xfrm>
          <a:prstGeom prst="rect">
            <a:avLst/>
          </a:prstGeom>
        </p:spPr>
        <p:txBody>
          <a:bodyPr>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ts val="3400"/>
              </a:lnSpc>
              <a:buFont typeface="Wingdings" pitchFamily="2" charset="2"/>
              <a:buChar char="u"/>
              <a:defRPr/>
            </a:pPr>
            <a:r>
              <a:rPr lang="zh-CN" altLang="en-US" sz="24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鉴别可以对抗假冒攻击的危险</a:t>
            </a:r>
          </a:p>
        </p:txBody>
      </p:sp>
      <p:cxnSp>
        <p:nvCxnSpPr>
          <p:cNvPr id="10" name="直接连接符 9">
            <a:extLst>
              <a:ext uri="{FF2B5EF4-FFF2-40B4-BE49-F238E27FC236}">
                <a16:creationId xmlns:a16="http://schemas.microsoft.com/office/drawing/2014/main" id="{7E2C4248-25A4-C242-8EDB-E86096634E4C}"/>
              </a:ext>
            </a:extLst>
          </p:cNvPr>
          <p:cNvCxnSpPr>
            <a:cxnSpLocks noChangeShapeType="1"/>
          </p:cNvCxnSpPr>
          <p:nvPr/>
        </p:nvCxnSpPr>
        <p:spPr bwMode="auto">
          <a:xfrm>
            <a:off x="3657600" y="2279650"/>
            <a:ext cx="2667000" cy="0"/>
          </a:xfrm>
          <a:prstGeom prst="line">
            <a:avLst/>
          </a:prstGeom>
          <a:noFill/>
          <a:ln w="57150" algn="ctr">
            <a:solidFill>
              <a:srgbClr val="FF0000"/>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nodeType="afterGroup">
                            <p:stCondLst>
                              <p:cond delay="500"/>
                            </p:stCondLst>
                            <p:childTnLst>
                              <p:par>
                                <p:cTn id="11" presetID="53" presetClass="entr" presetSubtype="16"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ppt_w</p:attrName>
                                        </p:attrNameLst>
                                      </p:cBhvr>
                                      <p:tavLst>
                                        <p:tav tm="0">
                                          <p:val>
                                            <p:fltVal val="0"/>
                                          </p:val>
                                        </p:tav>
                                        <p:tav tm="100000">
                                          <p:val>
                                            <p:strVal val="#ppt_w"/>
                                          </p:val>
                                        </p:tav>
                                      </p:tavLst>
                                    </p:anim>
                                    <p:anim calcmode="lin" valueType="num">
                                      <p:cBhvr>
                                        <p:cTn id="14" dur="500" fill="hold"/>
                                        <p:tgtEl>
                                          <p:spTgt spid="10"/>
                                        </p:tgtEl>
                                        <p:attrNameLst>
                                          <p:attrName>ppt_h</p:attrName>
                                        </p:attrNameLst>
                                      </p:cBhvr>
                                      <p:tavLst>
                                        <p:tav tm="0">
                                          <p:val>
                                            <p:fltVal val="0"/>
                                          </p:val>
                                        </p:tav>
                                        <p:tav tm="100000">
                                          <p:val>
                                            <p:strVal val="#ppt_h"/>
                                          </p:val>
                                        </p:tav>
                                      </p:tavLst>
                                    </p:anim>
                                    <p:animEffect transition="in" filter="fade">
                                      <p:cBhvr>
                                        <p:cTn id="15" dur="500"/>
                                        <p:tgtEl>
                                          <p:spTgt spid="1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0-#ppt_w/2"/>
                                          </p:val>
                                        </p:tav>
                                        <p:tav tm="100000">
                                          <p:val>
                                            <p:strVal val="#ppt_x"/>
                                          </p:val>
                                        </p:tav>
                                      </p:tavLst>
                                    </p:anim>
                                    <p:anim calcmode="lin" valueType="num">
                                      <p:cBhvr additive="base">
                                        <p:cTn id="21" dur="500" fill="hold"/>
                                        <p:tgtEl>
                                          <p:spTgt spid="7"/>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up)">
                                      <p:cBhvr>
                                        <p:cTn id="25" dur="500"/>
                                        <p:tgtEl>
                                          <p:spTgt spid="2"/>
                                        </p:tgtEl>
                                      </p:cBhvr>
                                    </p:animEffect>
                                  </p:childTnLst>
                                </p:cTn>
                              </p:par>
                            </p:childTnLst>
                          </p:cTn>
                        </p:par>
                        <p:par>
                          <p:cTn id="26" fill="hold" nodeType="afterGroup">
                            <p:stCondLst>
                              <p:cond delay="1000"/>
                            </p:stCondLst>
                            <p:childTnLst>
                              <p:par>
                                <p:cTn id="27" presetID="22" presetClass="entr" presetSubtype="1"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up)">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6084496-41D2-5D48-B9E7-7BBB6769EC75}"/>
              </a:ext>
            </a:extLst>
          </p:cNvPr>
          <p:cNvSpPr/>
          <p:nvPr/>
        </p:nvSpPr>
        <p:spPr>
          <a:xfrm>
            <a:off x="455613" y="1590675"/>
            <a:ext cx="8383587" cy="1816100"/>
          </a:xfrm>
          <a:prstGeom prst="rect">
            <a:avLst/>
          </a:prstGeom>
        </p:spPr>
        <p:txBody>
          <a:bodyPr>
            <a:spAutoFit/>
          </a:bodyPr>
          <a:lstStyle>
            <a:lvl1pPr marL="571500" indent="-5715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30000"/>
              </a:spcBef>
              <a:buClr>
                <a:srgbClr val="000066"/>
              </a:buClr>
              <a:buSzPct val="75000"/>
              <a:buFont typeface="Wingdings" pitchFamily="2" charset="2"/>
              <a:buChar char="u"/>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访问控制。</a:t>
            </a:r>
            <a:r>
              <a:rPr lang="zh-CN" altLang="en-US" sz="280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作为访问控制服务的一种必要支持，访问控制服务的执行依赖于确知的身份（访问控制服务直接对达到机密性、完整性、可用性及合法使用目标提供支持）；</a:t>
            </a:r>
            <a:endParaRPr lang="en-US" altLang="zh-CN" sz="280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3" name="矩形 2">
            <a:extLst>
              <a:ext uri="{FF2B5EF4-FFF2-40B4-BE49-F238E27FC236}">
                <a16:creationId xmlns:a16="http://schemas.microsoft.com/office/drawing/2014/main" id="{51E95FE0-D757-E342-8DF4-021A9110CA66}"/>
              </a:ext>
            </a:extLst>
          </p:cNvPr>
          <p:cNvSpPr/>
          <p:nvPr/>
        </p:nvSpPr>
        <p:spPr>
          <a:xfrm>
            <a:off x="455613" y="3465513"/>
            <a:ext cx="8383587" cy="954087"/>
          </a:xfrm>
          <a:prstGeom prst="rect">
            <a:avLst/>
          </a:prstGeom>
        </p:spPr>
        <p:txBody>
          <a:bodyPr>
            <a:spAutoFit/>
          </a:bodyPr>
          <a:lstStyle>
            <a:lvl1pPr marL="571500" indent="-5715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30000"/>
              </a:spcBef>
              <a:buClr>
                <a:srgbClr val="000066"/>
              </a:buClr>
              <a:buSzPct val="75000"/>
              <a:buFont typeface="Wingdings" pitchFamily="2" charset="2"/>
              <a:buChar char="u"/>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数据完整性。</a:t>
            </a:r>
            <a:r>
              <a:rPr lang="zh-CN" altLang="en-US" sz="280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作为提供数据起源鉴别的一种可能方法（当它与数据完整性机制结合起来使用时）；</a:t>
            </a:r>
            <a:endParaRPr lang="en-US" altLang="zh-CN" sz="280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4" name="矩形 3">
            <a:extLst>
              <a:ext uri="{FF2B5EF4-FFF2-40B4-BE49-F238E27FC236}">
                <a16:creationId xmlns:a16="http://schemas.microsoft.com/office/drawing/2014/main" id="{C5CF6776-24DB-1D4E-9055-E9BEB74F207C}"/>
              </a:ext>
            </a:extLst>
          </p:cNvPr>
          <p:cNvSpPr/>
          <p:nvPr/>
        </p:nvSpPr>
        <p:spPr>
          <a:xfrm>
            <a:off x="455613" y="695325"/>
            <a:ext cx="3890962" cy="646113"/>
          </a:xfrm>
          <a:prstGeom prst="rect">
            <a:avLst/>
          </a:prstGeom>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defRPr/>
            </a:pPr>
            <a:r>
              <a:rPr lang="zh-CN" altLang="en-US" sz="36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与其它机制的关系</a:t>
            </a:r>
          </a:p>
        </p:txBody>
      </p:sp>
      <p:sp>
        <p:nvSpPr>
          <p:cNvPr id="5" name="矩形 4">
            <a:extLst>
              <a:ext uri="{FF2B5EF4-FFF2-40B4-BE49-F238E27FC236}">
                <a16:creationId xmlns:a16="http://schemas.microsoft.com/office/drawing/2014/main" id="{077D3ED7-C20D-2F41-B4A3-3A29B7FB5E1E}"/>
              </a:ext>
            </a:extLst>
          </p:cNvPr>
          <p:cNvSpPr/>
          <p:nvPr/>
        </p:nvSpPr>
        <p:spPr>
          <a:xfrm>
            <a:off x="533400" y="4611688"/>
            <a:ext cx="8077200" cy="1384300"/>
          </a:xfrm>
          <a:prstGeom prst="rect">
            <a:avLst/>
          </a:prstGeom>
        </p:spPr>
        <p:txBody>
          <a:bodyPr>
            <a:spAutoFit/>
          </a:bodyPr>
          <a:lstStyle>
            <a:lvl1pPr marL="571500" indent="-5715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30000"/>
              </a:spcBef>
              <a:buClr>
                <a:srgbClr val="000066"/>
              </a:buClr>
              <a:buSzPct val="75000"/>
              <a:buFont typeface="Wingdings" pitchFamily="2" charset="2"/>
              <a:buChar char="u"/>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审计机制。</a:t>
            </a:r>
            <a:r>
              <a:rPr lang="zh-CN" altLang="en-US" sz="280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作为对责任原则的一种直接支持，例如，在审计追踪过程中做记录时，提供与某一活动相联系的确知身份。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0DE784E-C701-F149-B556-8915D3C88AA0}"/>
              </a:ext>
            </a:extLst>
          </p:cNvPr>
          <p:cNvSpPr>
            <a:spLocks noGrp="1" noChangeArrowheads="1"/>
          </p:cNvSpPr>
          <p:nvPr>
            <p:ph type="title"/>
          </p:nvPr>
        </p:nvSpPr>
        <p:spPr bwMode="auto">
          <a:xfrm>
            <a:off x="323850" y="981075"/>
            <a:ext cx="5830888" cy="658813"/>
          </a:xfrm>
          <a:ln>
            <a:miter lim="800000"/>
            <a:headEnd/>
            <a:tailEnd/>
          </a:ln>
        </p:spPr>
        <p:txBody>
          <a:bodyPr vert="horz" wrap="square" lIns="91440" tIns="45720" rIns="91440" bIns="45720" numCol="1" anchor="ctr" anchorCtr="0" compatLnSpc="1">
            <a:prstTxWarp prst="textNoShape">
              <a:avLst/>
            </a:prstTxWarp>
          </a:bodyPr>
          <a:lstStyle/>
          <a:p>
            <a:pPr eaLnBrk="1" hangingPunct="1">
              <a:defRPr/>
            </a:pPr>
            <a:r>
              <a:rPr lang="zh-CN" altLang="en-US" sz="3200">
                <a:solidFill>
                  <a:srgbClr val="0000FF"/>
                </a:solidFill>
                <a:latin typeface="黑体" panose="02010609060101010101" pitchFamily="49" charset="-122"/>
                <a:ea typeface="黑体" panose="02010609060101010101" pitchFamily="49" charset="-122"/>
              </a:rPr>
              <a:t>身份鉴别的协议基础</a:t>
            </a:r>
          </a:p>
        </p:txBody>
      </p:sp>
      <p:sp>
        <p:nvSpPr>
          <p:cNvPr id="5" name="Rectangle 3">
            <a:extLst>
              <a:ext uri="{FF2B5EF4-FFF2-40B4-BE49-F238E27FC236}">
                <a16:creationId xmlns:a16="http://schemas.microsoft.com/office/drawing/2014/main" id="{2E1E3FAC-BAFE-DA48-AD77-6824B8CF6490}"/>
              </a:ext>
            </a:extLst>
          </p:cNvPr>
          <p:cNvSpPr txBox="1">
            <a:spLocks noChangeArrowheads="1"/>
          </p:cNvSpPr>
          <p:nvPr/>
        </p:nvSpPr>
        <p:spPr bwMode="auto">
          <a:xfrm>
            <a:off x="468313" y="3933825"/>
            <a:ext cx="8135937" cy="800100"/>
          </a:xfrm>
          <a:prstGeom prst="rect">
            <a:avLst/>
          </a:prstGeom>
          <a:noFill/>
          <a:ln>
            <a:miter lim="800000"/>
            <a:headEnd/>
            <a:tailEnd/>
          </a:ln>
        </p:spPr>
        <p:txBody>
          <a:bodyPr/>
          <a:lstStyle>
            <a:lvl1pPr marL="571500" indent="-5715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80000"/>
              </a:lnSpc>
              <a:spcBef>
                <a:spcPct val="30000"/>
              </a:spcBef>
              <a:buClr>
                <a:schemeClr val="tx2"/>
              </a:buClr>
              <a:buSzPct val="75000"/>
              <a:buFont typeface="Wingdings" pitchFamily="2" charset="2"/>
              <a:buChar char="l"/>
              <a:defRPr/>
            </a:pPr>
            <a:r>
              <a:rPr kumimoji="0" lang="zh-CN" altLang="en-US" sz="2400">
                <a:solidFill>
                  <a:schemeClr val="bg2"/>
                </a:solidFill>
                <a:effectLst>
                  <a:outerShdw blurRad="38100" dist="38100" dir="2700000" algn="tl">
                    <a:srgbClr val="C0C0C0"/>
                  </a:outerShdw>
                </a:effectLst>
                <a:latin typeface="Arial" panose="020B0604020202020204" pitchFamily="34" charset="0"/>
                <a:ea typeface="黑体" panose="02010609060101010101" pitchFamily="49" charset="-122"/>
              </a:rPr>
              <a:t>双向鉴别协议（</a:t>
            </a:r>
            <a:r>
              <a:rPr kumimoji="0" lang="en-US" altLang="zh-CN" sz="2400">
                <a:solidFill>
                  <a:schemeClr val="bg2"/>
                </a:solidFill>
                <a:effectLst>
                  <a:outerShdw blurRad="38100" dist="38100" dir="2700000" algn="tl">
                    <a:srgbClr val="C0C0C0"/>
                  </a:outerShdw>
                </a:effectLst>
                <a:latin typeface="Arial" panose="020B0604020202020204" pitchFamily="34" charset="0"/>
                <a:ea typeface="黑体" panose="02010609060101010101" pitchFamily="49" charset="-122"/>
              </a:rPr>
              <a:t>mutual authentication protocol</a:t>
            </a:r>
            <a:r>
              <a:rPr kumimoji="0" lang="zh-CN" altLang="en-US" sz="2400">
                <a:solidFill>
                  <a:schemeClr val="bg2"/>
                </a:solidFill>
                <a:effectLst>
                  <a:outerShdw blurRad="38100" dist="38100" dir="2700000" algn="tl">
                    <a:srgbClr val="C0C0C0"/>
                  </a:outerShdw>
                </a:effectLst>
                <a:latin typeface="Arial" panose="020B0604020202020204" pitchFamily="34" charset="0"/>
                <a:ea typeface="黑体" panose="02010609060101010101" pitchFamily="49" charset="-122"/>
              </a:rPr>
              <a:t>）</a:t>
            </a:r>
          </a:p>
          <a:p>
            <a:pPr eaLnBrk="1" hangingPunct="1">
              <a:lnSpc>
                <a:spcPct val="80000"/>
              </a:lnSpc>
              <a:spcBef>
                <a:spcPct val="30000"/>
              </a:spcBef>
              <a:buClr>
                <a:schemeClr val="tx2"/>
              </a:buClr>
              <a:buSzPct val="75000"/>
              <a:buFont typeface="Wingdings" pitchFamily="2" charset="2"/>
              <a:buChar char="l"/>
              <a:defRPr/>
            </a:pPr>
            <a:r>
              <a:rPr kumimoji="0" lang="zh-CN" altLang="en-US" sz="2400">
                <a:solidFill>
                  <a:schemeClr val="bg2"/>
                </a:solidFill>
                <a:effectLst>
                  <a:outerShdw blurRad="38100" dist="38100" dir="2700000" algn="tl">
                    <a:srgbClr val="C0C0C0"/>
                  </a:outerShdw>
                </a:effectLst>
                <a:latin typeface="Arial" panose="020B0604020202020204" pitchFamily="34" charset="0"/>
                <a:ea typeface="黑体" panose="02010609060101010101" pitchFamily="49" charset="-122"/>
              </a:rPr>
              <a:t>单向鉴别协议（</a:t>
            </a:r>
            <a:r>
              <a:rPr kumimoji="0" lang="en-US" altLang="zh-CN" sz="2400">
                <a:solidFill>
                  <a:schemeClr val="bg2"/>
                </a:solidFill>
                <a:effectLst>
                  <a:outerShdw blurRad="38100" dist="38100" dir="2700000" algn="tl">
                    <a:srgbClr val="C0C0C0"/>
                  </a:outerShdw>
                </a:effectLst>
                <a:latin typeface="Arial" panose="020B0604020202020204" pitchFamily="34" charset="0"/>
                <a:ea typeface="黑体" panose="02010609060101010101" pitchFamily="49" charset="-122"/>
              </a:rPr>
              <a:t>one way authentication protocol</a:t>
            </a:r>
            <a:r>
              <a:rPr kumimoji="0" lang="zh-CN" altLang="en-US" sz="2400">
                <a:solidFill>
                  <a:schemeClr val="bg2"/>
                </a:solidFill>
                <a:effectLst>
                  <a:outerShdw blurRad="38100" dist="38100" dir="2700000" algn="tl">
                    <a:srgbClr val="C0C0C0"/>
                  </a:outerShdw>
                </a:effectLst>
                <a:latin typeface="Arial" panose="020B0604020202020204" pitchFamily="34" charset="0"/>
                <a:ea typeface="黑体" panose="02010609060101010101" pitchFamily="49" charset="-122"/>
              </a:rPr>
              <a:t>）</a:t>
            </a:r>
            <a:endParaRPr kumimoji="0" lang="zh-CN" altLang="en-US" sz="1800">
              <a:solidFill>
                <a:schemeClr val="bg2"/>
              </a:solidFill>
              <a:effectLst>
                <a:outerShdw blurRad="38100" dist="38100" dir="2700000" algn="tl">
                  <a:srgbClr val="C0C0C0"/>
                </a:outerShdw>
              </a:effectLst>
              <a:latin typeface="Arial" panose="020B0604020202020204" pitchFamily="34" charset="0"/>
              <a:ea typeface="黑体" panose="02010609060101010101" pitchFamily="49" charset="-122"/>
            </a:endParaRPr>
          </a:p>
        </p:txBody>
      </p:sp>
      <p:sp>
        <p:nvSpPr>
          <p:cNvPr id="6" name="Text Box 5">
            <a:extLst>
              <a:ext uri="{FF2B5EF4-FFF2-40B4-BE49-F238E27FC236}">
                <a16:creationId xmlns:a16="http://schemas.microsoft.com/office/drawing/2014/main" id="{6CD5C5A8-E997-2440-86DA-DCA6EDBC1C7B}"/>
              </a:ext>
            </a:extLst>
          </p:cNvPr>
          <p:cNvSpPr txBox="1">
            <a:spLocks noChangeArrowheads="1"/>
          </p:cNvSpPr>
          <p:nvPr/>
        </p:nvSpPr>
        <p:spPr bwMode="auto">
          <a:xfrm>
            <a:off x="468313" y="1773238"/>
            <a:ext cx="8077200" cy="171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4800" b="1">
                <a:solidFill>
                  <a:srgbClr val="FF0000"/>
                </a:solidFill>
                <a:latin typeface="隶书" pitchFamily="49" charset="-122"/>
                <a:ea typeface="隶书" pitchFamily="49" charset="-122"/>
              </a:defRPr>
            </a:lvl1pPr>
            <a:lvl2pPr>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115000"/>
              </a:lnSpc>
              <a:spcBef>
                <a:spcPct val="20000"/>
              </a:spcBef>
              <a:buSzPct val="95000"/>
            </a:pPr>
            <a:r>
              <a:rPr lang="zh-CN" altLang="en-US" sz="3200">
                <a:solidFill>
                  <a:schemeClr val="bg2"/>
                </a:solidFill>
                <a:ea typeface="黑体" panose="02010609060101010101" pitchFamily="49" charset="-122"/>
              </a:rPr>
              <a:t>身份鉴别协议：通信参与者为完成相互的身份鉴别或识别而采用的</a:t>
            </a:r>
            <a:r>
              <a:rPr lang="zh-CN" altLang="en-US" sz="3200">
                <a:ea typeface="黑体" panose="02010609060101010101" pitchFamily="49" charset="-122"/>
              </a:rPr>
              <a:t>规程、约定、约束和交换信息的总和</a:t>
            </a:r>
            <a:r>
              <a:rPr lang="zh-CN" altLang="en-US" sz="3200">
                <a:solidFill>
                  <a:schemeClr val="bg2"/>
                </a:solidFill>
                <a:ea typeface="黑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6">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6">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bldLvl="2"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0898" name="Rectangle 2">
            <a:extLst>
              <a:ext uri="{FF2B5EF4-FFF2-40B4-BE49-F238E27FC236}">
                <a16:creationId xmlns:a16="http://schemas.microsoft.com/office/drawing/2014/main" id="{02EE5939-541A-E340-B3ED-B232E5A84FE3}"/>
              </a:ext>
            </a:extLst>
          </p:cNvPr>
          <p:cNvSpPr>
            <a:spLocks noGrp="1" noChangeArrowheads="1"/>
          </p:cNvSpPr>
          <p:nvPr>
            <p:ph type="title"/>
          </p:nvPr>
        </p:nvSpPr>
        <p:spPr bwMode="auto">
          <a:xfrm>
            <a:off x="457200" y="762000"/>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sz="3600">
                <a:solidFill>
                  <a:srgbClr val="000000"/>
                </a:solidFill>
                <a:latin typeface="黑体" panose="02010609060101010101" pitchFamily="49" charset="-122"/>
                <a:ea typeface="黑体" panose="02010609060101010101" pitchFamily="49" charset="-122"/>
              </a:rPr>
              <a:t>5.2 </a:t>
            </a:r>
            <a:r>
              <a:rPr lang="zh-CN" altLang="en-US" sz="3600">
                <a:solidFill>
                  <a:srgbClr val="000000"/>
                </a:solidFill>
                <a:latin typeface="黑体" panose="02010609060101010101" pitchFamily="49" charset="-122"/>
                <a:ea typeface="黑体" panose="02010609060101010101" pitchFamily="49" charset="-122"/>
              </a:rPr>
              <a:t>实体鉴别系统的组成</a:t>
            </a:r>
          </a:p>
        </p:txBody>
      </p:sp>
      <p:sp>
        <p:nvSpPr>
          <p:cNvPr id="1360899" name="Rectangle 3">
            <a:extLst>
              <a:ext uri="{FF2B5EF4-FFF2-40B4-BE49-F238E27FC236}">
                <a16:creationId xmlns:a16="http://schemas.microsoft.com/office/drawing/2014/main" id="{FD16CABA-A957-6D46-A877-46EE11E7BEC5}"/>
              </a:ext>
            </a:extLst>
          </p:cNvPr>
          <p:cNvSpPr>
            <a:spLocks noGrp="1" noChangeArrowheads="1"/>
          </p:cNvSpPr>
          <p:nvPr>
            <p:ph type="body" idx="1"/>
          </p:nvPr>
        </p:nvSpPr>
        <p:spPr bwMode="auto">
          <a:xfrm>
            <a:off x="457200" y="1676400"/>
            <a:ext cx="8229600" cy="36576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u"/>
              <a:defRPr/>
            </a:pP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一方是出示证件的人，称作示证者</a:t>
            </a:r>
            <a:r>
              <a:rPr lang="en-US" altLang="zh-CN" sz="28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P(Prover)</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，又称声称者</a:t>
            </a:r>
            <a:r>
              <a:rPr lang="en-US" altLang="zh-CN" sz="28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(Claimant)</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p>
            <a:pPr eaLnBrk="1" hangingPunct="1">
              <a:buClr>
                <a:srgbClr val="FF0000"/>
              </a:buClr>
              <a:buFont typeface="Wingdings" pitchFamily="2" charset="2"/>
              <a:buChar char="u"/>
              <a:defRPr/>
            </a:pP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另一方为验证者</a:t>
            </a:r>
            <a:r>
              <a:rPr lang="en-US" altLang="zh-CN" sz="28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V</a:t>
            </a:r>
            <a:r>
              <a:rPr lang="zh-CN" altLang="en-US" sz="28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Verifier),</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检验声称者提出的证件的正确性和合法性，决定是否满足要求。</a:t>
            </a:r>
          </a:p>
          <a:p>
            <a:pPr eaLnBrk="1" hangingPunct="1">
              <a:buClr>
                <a:srgbClr val="FF0000"/>
              </a:buClr>
              <a:buFont typeface="Wingdings" pitchFamily="2" charset="2"/>
              <a:buChar char="u"/>
              <a:defRPr/>
            </a:pP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第三方是可信赖者</a:t>
            </a:r>
            <a:r>
              <a:rPr lang="en-US" altLang="zh-CN" sz="28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TP </a:t>
            </a:r>
            <a:r>
              <a:rPr lang="zh-CN" altLang="en-US" sz="28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Trusted third party) </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，参与调解纠纷。</a:t>
            </a:r>
          </a:p>
          <a:p>
            <a:pPr eaLnBrk="1" hangingPunct="1">
              <a:buClr>
                <a:srgbClr val="FF0000"/>
              </a:buClr>
              <a:buFont typeface="Wingdings" pitchFamily="2" charset="2"/>
              <a:buChar char="u"/>
              <a:defRPr/>
            </a:pP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第四方是</a:t>
            </a:r>
            <a:r>
              <a:rPr lang="zh-CN" altLang="en-US" sz="28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攻击者</a:t>
            </a:r>
            <a:r>
              <a:rPr lang="zh-CN" altLang="en-US"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，可以窃听或伪装声称者骗取验证者的信任。</a:t>
            </a:r>
            <a:endPar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60899">
                                            <p:bg/>
                                          </p:spTgt>
                                        </p:tgtEl>
                                        <p:attrNameLst>
                                          <p:attrName>style.visibility</p:attrName>
                                        </p:attrNameLst>
                                      </p:cBhvr>
                                      <p:to>
                                        <p:strVal val="visible"/>
                                      </p:to>
                                    </p:set>
                                    <p:anim calcmode="lin" valueType="num">
                                      <p:cBhvr additive="base">
                                        <p:cTn id="7" dur="500" fill="hold"/>
                                        <p:tgtEl>
                                          <p:spTgt spid="1360899">
                                            <p:bg/>
                                          </p:spTgt>
                                        </p:tgtEl>
                                        <p:attrNameLst>
                                          <p:attrName>ppt_x</p:attrName>
                                        </p:attrNameLst>
                                      </p:cBhvr>
                                      <p:tavLst>
                                        <p:tav tm="0">
                                          <p:val>
                                            <p:strVal val="#ppt_x"/>
                                          </p:val>
                                        </p:tav>
                                        <p:tav tm="100000">
                                          <p:val>
                                            <p:strVal val="#ppt_x"/>
                                          </p:val>
                                        </p:tav>
                                      </p:tavLst>
                                    </p:anim>
                                    <p:anim calcmode="lin" valueType="num">
                                      <p:cBhvr additive="base">
                                        <p:cTn id="8" dur="500" fill="hold"/>
                                        <p:tgtEl>
                                          <p:spTgt spid="1360899">
                                            <p:bg/>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60899">
                                            <p:txEl>
                                              <p:pRg st="0" end="0"/>
                                            </p:txEl>
                                          </p:spTgt>
                                        </p:tgtEl>
                                        <p:attrNameLst>
                                          <p:attrName>style.visibility</p:attrName>
                                        </p:attrNameLst>
                                      </p:cBhvr>
                                      <p:to>
                                        <p:strVal val="visible"/>
                                      </p:to>
                                    </p:set>
                                    <p:anim calcmode="lin" valueType="num">
                                      <p:cBhvr additive="base">
                                        <p:cTn id="12" dur="500" fill="hold"/>
                                        <p:tgtEl>
                                          <p:spTgt spid="1360899">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60899">
                                            <p:txEl>
                                              <p:pRg st="0" end="0"/>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360899">
                                            <p:txEl>
                                              <p:pRg st="1" end="1"/>
                                            </p:txEl>
                                          </p:spTgt>
                                        </p:tgtEl>
                                        <p:attrNameLst>
                                          <p:attrName>style.visibility</p:attrName>
                                        </p:attrNameLst>
                                      </p:cBhvr>
                                      <p:to>
                                        <p:strVal val="visible"/>
                                      </p:to>
                                    </p:set>
                                    <p:anim calcmode="lin" valueType="num">
                                      <p:cBhvr additive="base">
                                        <p:cTn id="17" dur="500" fill="hold"/>
                                        <p:tgtEl>
                                          <p:spTgt spid="1360899">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60899">
                                            <p:txEl>
                                              <p:pRg st="1" end="1"/>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360899">
                                            <p:txEl>
                                              <p:pRg st="2" end="2"/>
                                            </p:txEl>
                                          </p:spTgt>
                                        </p:tgtEl>
                                        <p:attrNameLst>
                                          <p:attrName>style.visibility</p:attrName>
                                        </p:attrNameLst>
                                      </p:cBhvr>
                                      <p:to>
                                        <p:strVal val="visible"/>
                                      </p:to>
                                    </p:set>
                                    <p:anim calcmode="lin" valueType="num">
                                      <p:cBhvr additive="base">
                                        <p:cTn id="22" dur="500" fill="hold"/>
                                        <p:tgtEl>
                                          <p:spTgt spid="1360899">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360899">
                                            <p:txEl>
                                              <p:pRg st="2" end="2"/>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1360899">
                                            <p:txEl>
                                              <p:pRg st="3" end="3"/>
                                            </p:txEl>
                                          </p:spTgt>
                                        </p:tgtEl>
                                        <p:attrNameLst>
                                          <p:attrName>style.visibility</p:attrName>
                                        </p:attrNameLst>
                                      </p:cBhvr>
                                      <p:to>
                                        <p:strVal val="visible"/>
                                      </p:to>
                                    </p:set>
                                    <p:anim calcmode="lin" valueType="num">
                                      <p:cBhvr additive="base">
                                        <p:cTn id="27" dur="500" fill="hold"/>
                                        <p:tgtEl>
                                          <p:spTgt spid="1360899">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6089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0899"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22" name="Rectangle 2">
            <a:extLst>
              <a:ext uri="{FF2B5EF4-FFF2-40B4-BE49-F238E27FC236}">
                <a16:creationId xmlns:a16="http://schemas.microsoft.com/office/drawing/2014/main" id="{FE9A7C36-FDD2-BE4E-8CDD-5A773183B2F0}"/>
              </a:ext>
            </a:extLst>
          </p:cNvPr>
          <p:cNvSpPr>
            <a:spLocks noGrp="1" noChangeArrowheads="1"/>
          </p:cNvSpPr>
          <p:nvPr>
            <p:ph type="title"/>
          </p:nvPr>
        </p:nvSpPr>
        <p:spPr bwMode="auto">
          <a:xfrm>
            <a:off x="457200" y="762000"/>
            <a:ext cx="8229600" cy="6556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3200">
                <a:solidFill>
                  <a:srgbClr val="0000FF"/>
                </a:solidFill>
                <a:latin typeface="黑体" panose="02010609060101010101" pitchFamily="49" charset="-122"/>
                <a:ea typeface="黑体" panose="02010609060101010101" pitchFamily="49" charset="-122"/>
              </a:rPr>
              <a:t>鉴别模型</a:t>
            </a:r>
          </a:p>
        </p:txBody>
      </p:sp>
      <p:grpSp>
        <p:nvGrpSpPr>
          <p:cNvPr id="2" name="组合 68">
            <a:extLst>
              <a:ext uri="{FF2B5EF4-FFF2-40B4-BE49-F238E27FC236}">
                <a16:creationId xmlns:a16="http://schemas.microsoft.com/office/drawing/2014/main" id="{1958F2FC-8D6A-3447-B59B-8B381F5640EE}"/>
              </a:ext>
            </a:extLst>
          </p:cNvPr>
          <p:cNvGrpSpPr>
            <a:grpSpLocks/>
          </p:cNvGrpSpPr>
          <p:nvPr/>
        </p:nvGrpSpPr>
        <p:grpSpPr bwMode="auto">
          <a:xfrm>
            <a:off x="762000" y="1533525"/>
            <a:ext cx="7239000" cy="2876550"/>
            <a:chOff x="762000" y="1533525"/>
            <a:chExt cx="7239000" cy="2876550"/>
          </a:xfrm>
        </p:grpSpPr>
        <p:sp>
          <p:nvSpPr>
            <p:cNvPr id="14345" name="Text Box 4">
              <a:extLst>
                <a:ext uri="{FF2B5EF4-FFF2-40B4-BE49-F238E27FC236}">
                  <a16:creationId xmlns:a16="http://schemas.microsoft.com/office/drawing/2014/main" id="{17F028DE-5510-CB40-9F85-C661655532D0}"/>
                </a:ext>
              </a:extLst>
            </p:cNvPr>
            <p:cNvSpPr txBox="1">
              <a:spLocks noChangeArrowheads="1"/>
            </p:cNvSpPr>
            <p:nvPr/>
          </p:nvSpPr>
          <p:spPr bwMode="auto">
            <a:xfrm>
              <a:off x="1143000" y="3810000"/>
              <a:ext cx="1752600" cy="523875"/>
            </a:xfrm>
            <a:prstGeom prst="rect">
              <a:avLst/>
            </a:prstGeom>
            <a:solidFill>
              <a:schemeClr val="hlink"/>
            </a:solidFill>
            <a:ln w="9525">
              <a:solidFill>
                <a:schemeClr val="tx1"/>
              </a:solid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P(Prover)</a:t>
              </a:r>
            </a:p>
          </p:txBody>
        </p:sp>
        <p:sp>
          <p:nvSpPr>
            <p:cNvPr id="14346" name="Text Box 5">
              <a:extLst>
                <a:ext uri="{FF2B5EF4-FFF2-40B4-BE49-F238E27FC236}">
                  <a16:creationId xmlns:a16="http://schemas.microsoft.com/office/drawing/2014/main" id="{3F27F103-3C37-DC44-8EB0-2548C2EBD446}"/>
                </a:ext>
              </a:extLst>
            </p:cNvPr>
            <p:cNvSpPr txBox="1">
              <a:spLocks noChangeArrowheads="1"/>
            </p:cNvSpPr>
            <p:nvPr/>
          </p:nvSpPr>
          <p:spPr bwMode="auto">
            <a:xfrm>
              <a:off x="3962400" y="2143125"/>
              <a:ext cx="990600" cy="528638"/>
            </a:xfrm>
            <a:prstGeom prst="rect">
              <a:avLst/>
            </a:prstGeom>
            <a:solidFill>
              <a:schemeClr val="hlink"/>
            </a:solidFill>
            <a:ln w="9525">
              <a:solidFill>
                <a:schemeClr val="tx1"/>
              </a:solid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TP</a:t>
              </a:r>
            </a:p>
          </p:txBody>
        </p:sp>
        <p:sp>
          <p:nvSpPr>
            <p:cNvPr id="14347" name="Text Box 6">
              <a:extLst>
                <a:ext uri="{FF2B5EF4-FFF2-40B4-BE49-F238E27FC236}">
                  <a16:creationId xmlns:a16="http://schemas.microsoft.com/office/drawing/2014/main" id="{B80701AC-414E-EB49-B76B-1804864E0935}"/>
                </a:ext>
              </a:extLst>
            </p:cNvPr>
            <p:cNvSpPr txBox="1">
              <a:spLocks noChangeArrowheads="1"/>
            </p:cNvSpPr>
            <p:nvPr/>
          </p:nvSpPr>
          <p:spPr bwMode="auto">
            <a:xfrm>
              <a:off x="6096000" y="3886200"/>
              <a:ext cx="1905000" cy="523875"/>
            </a:xfrm>
            <a:prstGeom prst="rect">
              <a:avLst/>
            </a:prstGeom>
            <a:solidFill>
              <a:schemeClr val="hlink"/>
            </a:solidFill>
            <a:ln w="9525">
              <a:solidFill>
                <a:schemeClr val="tx1"/>
              </a:solid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V(Verifer)</a:t>
              </a:r>
            </a:p>
          </p:txBody>
        </p:sp>
        <p:sp>
          <p:nvSpPr>
            <p:cNvPr id="1361927" name="Line 7">
              <a:extLst>
                <a:ext uri="{FF2B5EF4-FFF2-40B4-BE49-F238E27FC236}">
                  <a16:creationId xmlns:a16="http://schemas.microsoft.com/office/drawing/2014/main" id="{07EE043F-2E11-6A4C-8FF8-074E71C56B7A}"/>
                </a:ext>
              </a:extLst>
            </p:cNvPr>
            <p:cNvSpPr>
              <a:spLocks noChangeShapeType="1"/>
            </p:cNvSpPr>
            <p:nvPr/>
          </p:nvSpPr>
          <p:spPr bwMode="auto">
            <a:xfrm flipV="1">
              <a:off x="2209800" y="2371725"/>
              <a:ext cx="1752600" cy="1524000"/>
            </a:xfrm>
            <a:prstGeom prst="line">
              <a:avLst/>
            </a:prstGeom>
            <a:noFill/>
            <a:ln w="28575">
              <a:solidFill>
                <a:srgbClr val="000066"/>
              </a:solidFill>
              <a:round/>
              <a:headEnd type="triangle" w="med" len="me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61929" name="Line 9">
              <a:extLst>
                <a:ext uri="{FF2B5EF4-FFF2-40B4-BE49-F238E27FC236}">
                  <a16:creationId xmlns:a16="http://schemas.microsoft.com/office/drawing/2014/main" id="{7BCECBF6-E53B-A240-9300-0EF307234A60}"/>
                </a:ext>
              </a:extLst>
            </p:cNvPr>
            <p:cNvSpPr>
              <a:spLocks noChangeShapeType="1"/>
            </p:cNvSpPr>
            <p:nvPr/>
          </p:nvSpPr>
          <p:spPr bwMode="auto">
            <a:xfrm>
              <a:off x="4953000" y="2371725"/>
              <a:ext cx="1676400" cy="1524000"/>
            </a:xfrm>
            <a:prstGeom prst="line">
              <a:avLst/>
            </a:prstGeom>
            <a:noFill/>
            <a:ln w="28575">
              <a:solidFill>
                <a:srgbClr val="000066"/>
              </a:solidFill>
              <a:round/>
              <a:headEnd type="triangle" w="med" len="me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pic>
          <p:nvPicPr>
            <p:cNvPr id="14350" name="Picture 218" descr="EndUserFemalephone">
              <a:extLst>
                <a:ext uri="{FF2B5EF4-FFF2-40B4-BE49-F238E27FC236}">
                  <a16:creationId xmlns:a16="http://schemas.microsoft.com/office/drawing/2014/main" id="{9F8C42A8-46EB-F247-A732-44D87A6C1B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895600"/>
              <a:ext cx="914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351" name="Group 212">
              <a:extLst>
                <a:ext uri="{FF2B5EF4-FFF2-40B4-BE49-F238E27FC236}">
                  <a16:creationId xmlns:a16="http://schemas.microsoft.com/office/drawing/2014/main" id="{899B3327-7550-4743-91D3-EF0B1EE01913}"/>
                </a:ext>
              </a:extLst>
            </p:cNvPr>
            <p:cNvGrpSpPr>
              <a:grpSpLocks/>
            </p:cNvGrpSpPr>
            <p:nvPr/>
          </p:nvGrpSpPr>
          <p:grpSpPr bwMode="auto">
            <a:xfrm>
              <a:off x="6629400" y="3048000"/>
              <a:ext cx="684213" cy="1042988"/>
              <a:chOff x="2544" y="2208"/>
              <a:chExt cx="431" cy="657"/>
            </a:xfrm>
          </p:grpSpPr>
          <p:grpSp>
            <p:nvGrpSpPr>
              <p:cNvPr id="14354" name="Group 182">
                <a:extLst>
                  <a:ext uri="{FF2B5EF4-FFF2-40B4-BE49-F238E27FC236}">
                    <a16:creationId xmlns:a16="http://schemas.microsoft.com/office/drawing/2014/main" id="{C22BE889-830F-824A-8639-A3A518B36A36}"/>
                  </a:ext>
                </a:extLst>
              </p:cNvPr>
              <p:cNvGrpSpPr>
                <a:grpSpLocks/>
              </p:cNvGrpSpPr>
              <p:nvPr/>
            </p:nvGrpSpPr>
            <p:grpSpPr bwMode="auto">
              <a:xfrm>
                <a:off x="2544" y="2266"/>
                <a:ext cx="248" cy="225"/>
                <a:chOff x="1115" y="2348"/>
                <a:chExt cx="220" cy="199"/>
              </a:xfrm>
            </p:grpSpPr>
            <p:sp>
              <p:nvSpPr>
                <p:cNvPr id="14368" name="Arc 183">
                  <a:extLst>
                    <a:ext uri="{FF2B5EF4-FFF2-40B4-BE49-F238E27FC236}">
                      <a16:creationId xmlns:a16="http://schemas.microsoft.com/office/drawing/2014/main" id="{B90D0F5A-F15B-7D44-A759-90BC92334D07}"/>
                    </a:ext>
                  </a:extLst>
                </p:cNvPr>
                <p:cNvSpPr>
                  <a:spLocks/>
                </p:cNvSpPr>
                <p:nvPr/>
              </p:nvSpPr>
              <p:spPr bwMode="auto">
                <a:xfrm>
                  <a:off x="1266" y="2484"/>
                  <a:ext cx="44" cy="32"/>
                </a:xfrm>
                <a:custGeom>
                  <a:avLst/>
                  <a:gdLst>
                    <a:gd name="T0" fmla="*/ 0 w 38364"/>
                    <a:gd name="T1" fmla="*/ 0 h 34984"/>
                    <a:gd name="T2" fmla="*/ 0 w 38364"/>
                    <a:gd name="T3" fmla="*/ 0 h 34984"/>
                    <a:gd name="T4" fmla="*/ 0 w 38364"/>
                    <a:gd name="T5" fmla="*/ 0 h 34984"/>
                    <a:gd name="T6" fmla="*/ 0 60000 65536"/>
                    <a:gd name="T7" fmla="*/ 0 60000 65536"/>
                    <a:gd name="T8" fmla="*/ 0 60000 65536"/>
                    <a:gd name="T9" fmla="*/ 0 w 38364"/>
                    <a:gd name="T10" fmla="*/ 0 h 34984"/>
                    <a:gd name="T11" fmla="*/ 38364 w 38364"/>
                    <a:gd name="T12" fmla="*/ 34984 h 34984"/>
                  </a:gdLst>
                  <a:ahLst/>
                  <a:cxnLst>
                    <a:cxn ang="T6">
                      <a:pos x="T0" y="T1"/>
                    </a:cxn>
                    <a:cxn ang="T7">
                      <a:pos x="T2" y="T3"/>
                    </a:cxn>
                    <a:cxn ang="T8">
                      <a:pos x="T4" y="T5"/>
                    </a:cxn>
                  </a:cxnLst>
                  <a:rect l="T9" t="T10" r="T11" b="T12"/>
                  <a:pathLst>
                    <a:path w="38364" h="34984" fill="none" extrusionOk="0">
                      <a:moveTo>
                        <a:pt x="0" y="7979"/>
                      </a:moveTo>
                      <a:cubicBezTo>
                        <a:pt x="4101" y="2931"/>
                        <a:pt x="10259" y="-1"/>
                        <a:pt x="16764" y="0"/>
                      </a:cubicBezTo>
                      <a:cubicBezTo>
                        <a:pt x="28693" y="0"/>
                        <a:pt x="38364" y="9670"/>
                        <a:pt x="38364" y="21600"/>
                      </a:cubicBezTo>
                      <a:cubicBezTo>
                        <a:pt x="38364" y="26456"/>
                        <a:pt x="36727" y="31172"/>
                        <a:pt x="33717" y="34984"/>
                      </a:cubicBezTo>
                    </a:path>
                    <a:path w="38364" h="34984" stroke="0" extrusionOk="0">
                      <a:moveTo>
                        <a:pt x="0" y="7979"/>
                      </a:moveTo>
                      <a:cubicBezTo>
                        <a:pt x="4101" y="2931"/>
                        <a:pt x="10259" y="-1"/>
                        <a:pt x="16764" y="0"/>
                      </a:cubicBezTo>
                      <a:cubicBezTo>
                        <a:pt x="28693" y="0"/>
                        <a:pt x="38364" y="9670"/>
                        <a:pt x="38364" y="21600"/>
                      </a:cubicBezTo>
                      <a:cubicBezTo>
                        <a:pt x="38364" y="26456"/>
                        <a:pt x="36727" y="31172"/>
                        <a:pt x="33717" y="34984"/>
                      </a:cubicBezTo>
                      <a:lnTo>
                        <a:pt x="16764" y="21600"/>
                      </a:lnTo>
                      <a:lnTo>
                        <a:pt x="0" y="7979"/>
                      </a:lnTo>
                      <a:close/>
                    </a:path>
                  </a:pathLst>
                </a:custGeom>
                <a:noFill/>
                <a:ln w="12699" cap="rnd">
                  <a:solidFill>
                    <a:srgbClr val="494936"/>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69" name="Arc 184">
                  <a:extLst>
                    <a:ext uri="{FF2B5EF4-FFF2-40B4-BE49-F238E27FC236}">
                      <a16:creationId xmlns:a16="http://schemas.microsoft.com/office/drawing/2014/main" id="{EC327BE2-576C-EF4B-86C3-9057C1BFC08E}"/>
                    </a:ext>
                  </a:extLst>
                </p:cNvPr>
                <p:cNvSpPr>
                  <a:spLocks/>
                </p:cNvSpPr>
                <p:nvPr/>
              </p:nvSpPr>
              <p:spPr bwMode="auto">
                <a:xfrm>
                  <a:off x="1267" y="2483"/>
                  <a:ext cx="44" cy="29"/>
                </a:xfrm>
                <a:custGeom>
                  <a:avLst/>
                  <a:gdLst>
                    <a:gd name="T0" fmla="*/ 0 w 37828"/>
                    <a:gd name="T1" fmla="*/ 0 h 34119"/>
                    <a:gd name="T2" fmla="*/ 0 w 37828"/>
                    <a:gd name="T3" fmla="*/ 0 h 34119"/>
                    <a:gd name="T4" fmla="*/ 0 w 37828"/>
                    <a:gd name="T5" fmla="*/ 0 h 34119"/>
                    <a:gd name="T6" fmla="*/ 0 60000 65536"/>
                    <a:gd name="T7" fmla="*/ 0 60000 65536"/>
                    <a:gd name="T8" fmla="*/ 0 60000 65536"/>
                    <a:gd name="T9" fmla="*/ 0 w 37828"/>
                    <a:gd name="T10" fmla="*/ 0 h 34119"/>
                    <a:gd name="T11" fmla="*/ 37828 w 37828"/>
                    <a:gd name="T12" fmla="*/ 34119 h 34119"/>
                  </a:gdLst>
                  <a:ahLst/>
                  <a:cxnLst>
                    <a:cxn ang="T6">
                      <a:pos x="T0" y="T1"/>
                    </a:cxn>
                    <a:cxn ang="T7">
                      <a:pos x="T2" y="T3"/>
                    </a:cxn>
                    <a:cxn ang="T8">
                      <a:pos x="T4" y="T5"/>
                    </a:cxn>
                  </a:cxnLst>
                  <a:rect l="T9" t="T10" r="T11" b="T12"/>
                  <a:pathLst>
                    <a:path w="37828" h="34119" fill="none" extrusionOk="0">
                      <a:moveTo>
                        <a:pt x="-1" y="7344"/>
                      </a:moveTo>
                      <a:cubicBezTo>
                        <a:pt x="4100" y="2676"/>
                        <a:pt x="10013" y="-1"/>
                        <a:pt x="16228" y="0"/>
                      </a:cubicBezTo>
                      <a:cubicBezTo>
                        <a:pt x="28157" y="0"/>
                        <a:pt x="37828" y="9670"/>
                        <a:pt x="37828" y="21600"/>
                      </a:cubicBezTo>
                      <a:cubicBezTo>
                        <a:pt x="37828" y="26086"/>
                        <a:pt x="36430" y="30462"/>
                        <a:pt x="33830" y="34119"/>
                      </a:cubicBezTo>
                    </a:path>
                    <a:path w="37828" h="34119" stroke="0" extrusionOk="0">
                      <a:moveTo>
                        <a:pt x="-1" y="7344"/>
                      </a:moveTo>
                      <a:cubicBezTo>
                        <a:pt x="4100" y="2676"/>
                        <a:pt x="10013" y="-1"/>
                        <a:pt x="16228" y="0"/>
                      </a:cubicBezTo>
                      <a:cubicBezTo>
                        <a:pt x="28157" y="0"/>
                        <a:pt x="37828" y="9670"/>
                        <a:pt x="37828" y="21600"/>
                      </a:cubicBezTo>
                      <a:cubicBezTo>
                        <a:pt x="37828" y="26086"/>
                        <a:pt x="36430" y="30462"/>
                        <a:pt x="33830" y="34119"/>
                      </a:cubicBezTo>
                      <a:lnTo>
                        <a:pt x="16228" y="21600"/>
                      </a:lnTo>
                      <a:lnTo>
                        <a:pt x="-1" y="7344"/>
                      </a:lnTo>
                      <a:close/>
                    </a:path>
                  </a:pathLst>
                </a:custGeom>
                <a:noFill/>
                <a:ln w="12699" cap="rnd">
                  <a:solidFill>
                    <a:srgbClr val="DBDBCE"/>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4370" name="Group 185">
                  <a:extLst>
                    <a:ext uri="{FF2B5EF4-FFF2-40B4-BE49-F238E27FC236}">
                      <a16:creationId xmlns:a16="http://schemas.microsoft.com/office/drawing/2014/main" id="{4991EA53-77AF-6C48-BA4A-FEA70D2378EA}"/>
                    </a:ext>
                  </a:extLst>
                </p:cNvPr>
                <p:cNvGrpSpPr>
                  <a:grpSpLocks/>
                </p:cNvGrpSpPr>
                <p:nvPr/>
              </p:nvGrpSpPr>
              <p:grpSpPr bwMode="auto">
                <a:xfrm>
                  <a:off x="1302" y="2510"/>
                  <a:ext cx="33" cy="35"/>
                  <a:chOff x="1302" y="2510"/>
                  <a:chExt cx="33" cy="35"/>
                </a:xfrm>
              </p:grpSpPr>
              <p:sp>
                <p:nvSpPr>
                  <p:cNvPr id="14391" name="Freeform 186">
                    <a:extLst>
                      <a:ext uri="{FF2B5EF4-FFF2-40B4-BE49-F238E27FC236}">
                        <a16:creationId xmlns:a16="http://schemas.microsoft.com/office/drawing/2014/main" id="{EF26ED4C-8CCA-CD40-9FD5-825B27E78C3D}"/>
                      </a:ext>
                    </a:extLst>
                  </p:cNvPr>
                  <p:cNvSpPr>
                    <a:spLocks/>
                  </p:cNvSpPr>
                  <p:nvPr/>
                </p:nvSpPr>
                <p:spPr bwMode="auto">
                  <a:xfrm>
                    <a:off x="1302" y="2510"/>
                    <a:ext cx="33" cy="19"/>
                  </a:xfrm>
                  <a:custGeom>
                    <a:avLst/>
                    <a:gdLst>
                      <a:gd name="T0" fmla="*/ 32 w 33"/>
                      <a:gd name="T1" fmla="*/ 18 h 19"/>
                      <a:gd name="T2" fmla="*/ 20 w 33"/>
                      <a:gd name="T3" fmla="*/ 0 h 19"/>
                      <a:gd name="T4" fmla="*/ 0 w 33"/>
                      <a:gd name="T5" fmla="*/ 0 h 19"/>
                      <a:gd name="T6" fmla="*/ 13 w 33"/>
                      <a:gd name="T7" fmla="*/ 18 h 19"/>
                      <a:gd name="T8" fmla="*/ 32 w 33"/>
                      <a:gd name="T9" fmla="*/ 18 h 19"/>
                      <a:gd name="T10" fmla="*/ 0 60000 65536"/>
                      <a:gd name="T11" fmla="*/ 0 60000 65536"/>
                      <a:gd name="T12" fmla="*/ 0 60000 65536"/>
                      <a:gd name="T13" fmla="*/ 0 60000 65536"/>
                      <a:gd name="T14" fmla="*/ 0 60000 65536"/>
                      <a:gd name="T15" fmla="*/ 0 w 33"/>
                      <a:gd name="T16" fmla="*/ 0 h 19"/>
                      <a:gd name="T17" fmla="*/ 33 w 33"/>
                      <a:gd name="T18" fmla="*/ 19 h 19"/>
                    </a:gdLst>
                    <a:ahLst/>
                    <a:cxnLst>
                      <a:cxn ang="T10">
                        <a:pos x="T0" y="T1"/>
                      </a:cxn>
                      <a:cxn ang="T11">
                        <a:pos x="T2" y="T3"/>
                      </a:cxn>
                      <a:cxn ang="T12">
                        <a:pos x="T4" y="T5"/>
                      </a:cxn>
                      <a:cxn ang="T13">
                        <a:pos x="T6" y="T7"/>
                      </a:cxn>
                      <a:cxn ang="T14">
                        <a:pos x="T8" y="T9"/>
                      </a:cxn>
                    </a:cxnLst>
                    <a:rect l="T15" t="T16" r="T17" b="T18"/>
                    <a:pathLst>
                      <a:path w="33" h="19">
                        <a:moveTo>
                          <a:pt x="32" y="18"/>
                        </a:moveTo>
                        <a:lnTo>
                          <a:pt x="20" y="0"/>
                        </a:lnTo>
                        <a:lnTo>
                          <a:pt x="0" y="0"/>
                        </a:lnTo>
                        <a:lnTo>
                          <a:pt x="13" y="18"/>
                        </a:lnTo>
                        <a:lnTo>
                          <a:pt x="32" y="18"/>
                        </a:lnTo>
                      </a:path>
                    </a:pathLst>
                  </a:custGeom>
                  <a:solidFill>
                    <a:srgbClr val="C9C9B6"/>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14392" name="Freeform 187">
                    <a:extLst>
                      <a:ext uri="{FF2B5EF4-FFF2-40B4-BE49-F238E27FC236}">
                        <a16:creationId xmlns:a16="http://schemas.microsoft.com/office/drawing/2014/main" id="{606E36B5-DF58-8B47-BA59-0078D6E29F7F}"/>
                      </a:ext>
                    </a:extLst>
                  </p:cNvPr>
                  <p:cNvSpPr>
                    <a:spLocks/>
                  </p:cNvSpPr>
                  <p:nvPr/>
                </p:nvSpPr>
                <p:spPr bwMode="auto">
                  <a:xfrm>
                    <a:off x="1302" y="2510"/>
                    <a:ext cx="33" cy="19"/>
                  </a:xfrm>
                  <a:custGeom>
                    <a:avLst/>
                    <a:gdLst>
                      <a:gd name="T0" fmla="*/ 32 w 33"/>
                      <a:gd name="T1" fmla="*/ 18 h 19"/>
                      <a:gd name="T2" fmla="*/ 20 w 33"/>
                      <a:gd name="T3" fmla="*/ 0 h 19"/>
                      <a:gd name="T4" fmla="*/ 0 w 33"/>
                      <a:gd name="T5" fmla="*/ 0 h 19"/>
                      <a:gd name="T6" fmla="*/ 13 w 33"/>
                      <a:gd name="T7" fmla="*/ 18 h 19"/>
                      <a:gd name="T8" fmla="*/ 32 w 33"/>
                      <a:gd name="T9" fmla="*/ 18 h 19"/>
                      <a:gd name="T10" fmla="*/ 0 60000 65536"/>
                      <a:gd name="T11" fmla="*/ 0 60000 65536"/>
                      <a:gd name="T12" fmla="*/ 0 60000 65536"/>
                      <a:gd name="T13" fmla="*/ 0 60000 65536"/>
                      <a:gd name="T14" fmla="*/ 0 60000 65536"/>
                      <a:gd name="T15" fmla="*/ 0 w 33"/>
                      <a:gd name="T16" fmla="*/ 0 h 19"/>
                      <a:gd name="T17" fmla="*/ 33 w 33"/>
                      <a:gd name="T18" fmla="*/ 19 h 19"/>
                    </a:gdLst>
                    <a:ahLst/>
                    <a:cxnLst>
                      <a:cxn ang="T10">
                        <a:pos x="T0" y="T1"/>
                      </a:cxn>
                      <a:cxn ang="T11">
                        <a:pos x="T2" y="T3"/>
                      </a:cxn>
                      <a:cxn ang="T12">
                        <a:pos x="T4" y="T5"/>
                      </a:cxn>
                      <a:cxn ang="T13">
                        <a:pos x="T6" y="T7"/>
                      </a:cxn>
                      <a:cxn ang="T14">
                        <a:pos x="T8" y="T9"/>
                      </a:cxn>
                    </a:cxnLst>
                    <a:rect l="T15" t="T16" r="T17" b="T18"/>
                    <a:pathLst>
                      <a:path w="33" h="19">
                        <a:moveTo>
                          <a:pt x="32" y="18"/>
                        </a:moveTo>
                        <a:lnTo>
                          <a:pt x="20" y="0"/>
                        </a:lnTo>
                        <a:lnTo>
                          <a:pt x="0" y="0"/>
                        </a:lnTo>
                        <a:lnTo>
                          <a:pt x="13" y="18"/>
                        </a:lnTo>
                        <a:lnTo>
                          <a:pt x="32" y="18"/>
                        </a:lnTo>
                      </a:path>
                    </a:pathLst>
                  </a:custGeom>
                  <a:solidFill>
                    <a:srgbClr val="C9C9B6"/>
                  </a:solidFill>
                  <a:ln w="12699" cap="rnd">
                    <a:solidFill>
                      <a:srgbClr val="494936"/>
                    </a:solidFill>
                    <a:round/>
                    <a:headEnd/>
                    <a:tailEnd/>
                  </a:ln>
                </p:spPr>
                <p:txBody>
                  <a:bodyPr/>
                  <a:lstStyle/>
                  <a:p>
                    <a:endParaRPr lang="zh-CN" altLang="en-US"/>
                  </a:p>
                </p:txBody>
              </p:sp>
              <p:sp>
                <p:nvSpPr>
                  <p:cNvPr id="14393" name="Freeform 188">
                    <a:extLst>
                      <a:ext uri="{FF2B5EF4-FFF2-40B4-BE49-F238E27FC236}">
                        <a16:creationId xmlns:a16="http://schemas.microsoft.com/office/drawing/2014/main" id="{86CB6C86-C3CD-6346-9C7E-6293E76F994D}"/>
                      </a:ext>
                    </a:extLst>
                  </p:cNvPr>
                  <p:cNvSpPr>
                    <a:spLocks/>
                  </p:cNvSpPr>
                  <p:nvPr/>
                </p:nvSpPr>
                <p:spPr bwMode="auto">
                  <a:xfrm>
                    <a:off x="1302" y="2510"/>
                    <a:ext cx="17" cy="24"/>
                  </a:xfrm>
                  <a:custGeom>
                    <a:avLst/>
                    <a:gdLst>
                      <a:gd name="T0" fmla="*/ 16 w 17"/>
                      <a:gd name="T1" fmla="*/ 23 h 24"/>
                      <a:gd name="T2" fmla="*/ 0 w 17"/>
                      <a:gd name="T3" fmla="*/ 13 h 24"/>
                      <a:gd name="T4" fmla="*/ 0 w 17"/>
                      <a:gd name="T5" fmla="*/ 0 h 24"/>
                      <a:gd name="T6" fmla="*/ 16 w 17"/>
                      <a:gd name="T7" fmla="*/ 18 h 24"/>
                      <a:gd name="T8" fmla="*/ 16 w 17"/>
                      <a:gd name="T9" fmla="*/ 23 h 24"/>
                      <a:gd name="T10" fmla="*/ 0 60000 65536"/>
                      <a:gd name="T11" fmla="*/ 0 60000 65536"/>
                      <a:gd name="T12" fmla="*/ 0 60000 65536"/>
                      <a:gd name="T13" fmla="*/ 0 60000 65536"/>
                      <a:gd name="T14" fmla="*/ 0 60000 65536"/>
                      <a:gd name="T15" fmla="*/ 0 w 17"/>
                      <a:gd name="T16" fmla="*/ 0 h 24"/>
                      <a:gd name="T17" fmla="*/ 17 w 17"/>
                      <a:gd name="T18" fmla="*/ 24 h 24"/>
                    </a:gdLst>
                    <a:ahLst/>
                    <a:cxnLst>
                      <a:cxn ang="T10">
                        <a:pos x="T0" y="T1"/>
                      </a:cxn>
                      <a:cxn ang="T11">
                        <a:pos x="T2" y="T3"/>
                      </a:cxn>
                      <a:cxn ang="T12">
                        <a:pos x="T4" y="T5"/>
                      </a:cxn>
                      <a:cxn ang="T13">
                        <a:pos x="T6" y="T7"/>
                      </a:cxn>
                      <a:cxn ang="T14">
                        <a:pos x="T8" y="T9"/>
                      </a:cxn>
                    </a:cxnLst>
                    <a:rect l="T15" t="T16" r="T17" b="T18"/>
                    <a:pathLst>
                      <a:path w="17" h="24">
                        <a:moveTo>
                          <a:pt x="16" y="23"/>
                        </a:moveTo>
                        <a:lnTo>
                          <a:pt x="0" y="13"/>
                        </a:lnTo>
                        <a:lnTo>
                          <a:pt x="0" y="0"/>
                        </a:lnTo>
                        <a:lnTo>
                          <a:pt x="16" y="18"/>
                        </a:lnTo>
                        <a:lnTo>
                          <a:pt x="16" y="23"/>
                        </a:lnTo>
                      </a:path>
                    </a:pathLst>
                  </a:custGeom>
                  <a:solidFill>
                    <a:srgbClr val="7A7A5A"/>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14394" name="Freeform 189">
                    <a:extLst>
                      <a:ext uri="{FF2B5EF4-FFF2-40B4-BE49-F238E27FC236}">
                        <a16:creationId xmlns:a16="http://schemas.microsoft.com/office/drawing/2014/main" id="{765B6955-3CED-F443-A37E-6C7B1B3A2AAD}"/>
                      </a:ext>
                    </a:extLst>
                  </p:cNvPr>
                  <p:cNvSpPr>
                    <a:spLocks/>
                  </p:cNvSpPr>
                  <p:nvPr/>
                </p:nvSpPr>
                <p:spPr bwMode="auto">
                  <a:xfrm>
                    <a:off x="1302" y="2510"/>
                    <a:ext cx="17" cy="24"/>
                  </a:xfrm>
                  <a:custGeom>
                    <a:avLst/>
                    <a:gdLst>
                      <a:gd name="T0" fmla="*/ 16 w 17"/>
                      <a:gd name="T1" fmla="*/ 23 h 24"/>
                      <a:gd name="T2" fmla="*/ 0 w 17"/>
                      <a:gd name="T3" fmla="*/ 13 h 24"/>
                      <a:gd name="T4" fmla="*/ 0 w 17"/>
                      <a:gd name="T5" fmla="*/ 0 h 24"/>
                      <a:gd name="T6" fmla="*/ 16 w 17"/>
                      <a:gd name="T7" fmla="*/ 18 h 24"/>
                      <a:gd name="T8" fmla="*/ 16 w 17"/>
                      <a:gd name="T9" fmla="*/ 23 h 24"/>
                      <a:gd name="T10" fmla="*/ 0 60000 65536"/>
                      <a:gd name="T11" fmla="*/ 0 60000 65536"/>
                      <a:gd name="T12" fmla="*/ 0 60000 65536"/>
                      <a:gd name="T13" fmla="*/ 0 60000 65536"/>
                      <a:gd name="T14" fmla="*/ 0 60000 65536"/>
                      <a:gd name="T15" fmla="*/ 0 w 17"/>
                      <a:gd name="T16" fmla="*/ 0 h 24"/>
                      <a:gd name="T17" fmla="*/ 17 w 17"/>
                      <a:gd name="T18" fmla="*/ 24 h 24"/>
                    </a:gdLst>
                    <a:ahLst/>
                    <a:cxnLst>
                      <a:cxn ang="T10">
                        <a:pos x="T0" y="T1"/>
                      </a:cxn>
                      <a:cxn ang="T11">
                        <a:pos x="T2" y="T3"/>
                      </a:cxn>
                      <a:cxn ang="T12">
                        <a:pos x="T4" y="T5"/>
                      </a:cxn>
                      <a:cxn ang="T13">
                        <a:pos x="T6" y="T7"/>
                      </a:cxn>
                      <a:cxn ang="T14">
                        <a:pos x="T8" y="T9"/>
                      </a:cxn>
                    </a:cxnLst>
                    <a:rect l="T15" t="T16" r="T17" b="T18"/>
                    <a:pathLst>
                      <a:path w="17" h="24">
                        <a:moveTo>
                          <a:pt x="16" y="23"/>
                        </a:moveTo>
                        <a:lnTo>
                          <a:pt x="0" y="13"/>
                        </a:lnTo>
                        <a:lnTo>
                          <a:pt x="0" y="0"/>
                        </a:lnTo>
                        <a:lnTo>
                          <a:pt x="16" y="18"/>
                        </a:lnTo>
                        <a:lnTo>
                          <a:pt x="16" y="23"/>
                        </a:lnTo>
                      </a:path>
                    </a:pathLst>
                  </a:custGeom>
                  <a:solidFill>
                    <a:srgbClr val="7A7A5A"/>
                  </a:solidFill>
                  <a:ln w="12699" cap="rnd">
                    <a:solidFill>
                      <a:srgbClr val="494936"/>
                    </a:solidFill>
                    <a:round/>
                    <a:headEnd/>
                    <a:tailEnd/>
                  </a:ln>
                </p:spPr>
                <p:txBody>
                  <a:bodyPr/>
                  <a:lstStyle/>
                  <a:p>
                    <a:endParaRPr lang="zh-CN" altLang="en-US"/>
                  </a:p>
                </p:txBody>
              </p:sp>
              <p:sp>
                <p:nvSpPr>
                  <p:cNvPr id="14395" name="Freeform 190">
                    <a:extLst>
                      <a:ext uri="{FF2B5EF4-FFF2-40B4-BE49-F238E27FC236}">
                        <a16:creationId xmlns:a16="http://schemas.microsoft.com/office/drawing/2014/main" id="{6C1AE022-EEFA-C74D-A2AC-DF9517DEF1FD}"/>
                      </a:ext>
                    </a:extLst>
                  </p:cNvPr>
                  <p:cNvSpPr>
                    <a:spLocks/>
                  </p:cNvSpPr>
                  <p:nvPr/>
                </p:nvSpPr>
                <p:spPr bwMode="auto">
                  <a:xfrm>
                    <a:off x="1315" y="2528"/>
                    <a:ext cx="20" cy="17"/>
                  </a:xfrm>
                  <a:custGeom>
                    <a:avLst/>
                    <a:gdLst>
                      <a:gd name="T0" fmla="*/ 19 w 20"/>
                      <a:gd name="T1" fmla="*/ 0 h 17"/>
                      <a:gd name="T2" fmla="*/ 0 w 20"/>
                      <a:gd name="T3" fmla="*/ 0 h 17"/>
                      <a:gd name="T4" fmla="*/ 0 w 20"/>
                      <a:gd name="T5" fmla="*/ 16 h 17"/>
                      <a:gd name="T6" fmla="*/ 19 w 20"/>
                      <a:gd name="T7" fmla="*/ 16 h 17"/>
                      <a:gd name="T8" fmla="*/ 19 w 20"/>
                      <a:gd name="T9" fmla="*/ 0 h 17"/>
                      <a:gd name="T10" fmla="*/ 0 60000 65536"/>
                      <a:gd name="T11" fmla="*/ 0 60000 65536"/>
                      <a:gd name="T12" fmla="*/ 0 60000 65536"/>
                      <a:gd name="T13" fmla="*/ 0 60000 65536"/>
                      <a:gd name="T14" fmla="*/ 0 60000 65536"/>
                      <a:gd name="T15" fmla="*/ 0 w 20"/>
                      <a:gd name="T16" fmla="*/ 0 h 17"/>
                      <a:gd name="T17" fmla="*/ 20 w 20"/>
                      <a:gd name="T18" fmla="*/ 17 h 17"/>
                    </a:gdLst>
                    <a:ahLst/>
                    <a:cxnLst>
                      <a:cxn ang="T10">
                        <a:pos x="T0" y="T1"/>
                      </a:cxn>
                      <a:cxn ang="T11">
                        <a:pos x="T2" y="T3"/>
                      </a:cxn>
                      <a:cxn ang="T12">
                        <a:pos x="T4" y="T5"/>
                      </a:cxn>
                      <a:cxn ang="T13">
                        <a:pos x="T6" y="T7"/>
                      </a:cxn>
                      <a:cxn ang="T14">
                        <a:pos x="T8" y="T9"/>
                      </a:cxn>
                    </a:cxnLst>
                    <a:rect l="T15" t="T16" r="T17" b="T18"/>
                    <a:pathLst>
                      <a:path w="20" h="17">
                        <a:moveTo>
                          <a:pt x="19" y="0"/>
                        </a:moveTo>
                        <a:lnTo>
                          <a:pt x="0" y="0"/>
                        </a:lnTo>
                        <a:lnTo>
                          <a:pt x="0" y="16"/>
                        </a:lnTo>
                        <a:lnTo>
                          <a:pt x="19" y="16"/>
                        </a:lnTo>
                        <a:lnTo>
                          <a:pt x="19" y="0"/>
                        </a:lnTo>
                      </a:path>
                    </a:pathLst>
                  </a:custGeom>
                  <a:solidFill>
                    <a:srgbClr val="B7B79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14396" name="Freeform 191">
                    <a:extLst>
                      <a:ext uri="{FF2B5EF4-FFF2-40B4-BE49-F238E27FC236}">
                        <a16:creationId xmlns:a16="http://schemas.microsoft.com/office/drawing/2014/main" id="{6707FD2E-20F5-434C-B713-691069C04725}"/>
                      </a:ext>
                    </a:extLst>
                  </p:cNvPr>
                  <p:cNvSpPr>
                    <a:spLocks/>
                  </p:cNvSpPr>
                  <p:nvPr/>
                </p:nvSpPr>
                <p:spPr bwMode="auto">
                  <a:xfrm>
                    <a:off x="1315" y="2528"/>
                    <a:ext cx="20" cy="17"/>
                  </a:xfrm>
                  <a:custGeom>
                    <a:avLst/>
                    <a:gdLst>
                      <a:gd name="T0" fmla="*/ 19 w 20"/>
                      <a:gd name="T1" fmla="*/ 0 h 17"/>
                      <a:gd name="T2" fmla="*/ 0 w 20"/>
                      <a:gd name="T3" fmla="*/ 0 h 17"/>
                      <a:gd name="T4" fmla="*/ 0 w 20"/>
                      <a:gd name="T5" fmla="*/ 16 h 17"/>
                      <a:gd name="T6" fmla="*/ 19 w 20"/>
                      <a:gd name="T7" fmla="*/ 16 h 17"/>
                      <a:gd name="T8" fmla="*/ 19 w 20"/>
                      <a:gd name="T9" fmla="*/ 0 h 17"/>
                      <a:gd name="T10" fmla="*/ 0 60000 65536"/>
                      <a:gd name="T11" fmla="*/ 0 60000 65536"/>
                      <a:gd name="T12" fmla="*/ 0 60000 65536"/>
                      <a:gd name="T13" fmla="*/ 0 60000 65536"/>
                      <a:gd name="T14" fmla="*/ 0 60000 65536"/>
                      <a:gd name="T15" fmla="*/ 0 w 20"/>
                      <a:gd name="T16" fmla="*/ 0 h 17"/>
                      <a:gd name="T17" fmla="*/ 20 w 20"/>
                      <a:gd name="T18" fmla="*/ 17 h 17"/>
                    </a:gdLst>
                    <a:ahLst/>
                    <a:cxnLst>
                      <a:cxn ang="T10">
                        <a:pos x="T0" y="T1"/>
                      </a:cxn>
                      <a:cxn ang="T11">
                        <a:pos x="T2" y="T3"/>
                      </a:cxn>
                      <a:cxn ang="T12">
                        <a:pos x="T4" y="T5"/>
                      </a:cxn>
                      <a:cxn ang="T13">
                        <a:pos x="T6" y="T7"/>
                      </a:cxn>
                      <a:cxn ang="T14">
                        <a:pos x="T8" y="T9"/>
                      </a:cxn>
                    </a:cxnLst>
                    <a:rect l="T15" t="T16" r="T17" b="T18"/>
                    <a:pathLst>
                      <a:path w="20" h="17">
                        <a:moveTo>
                          <a:pt x="19" y="0"/>
                        </a:moveTo>
                        <a:lnTo>
                          <a:pt x="0" y="0"/>
                        </a:lnTo>
                        <a:lnTo>
                          <a:pt x="0" y="16"/>
                        </a:lnTo>
                        <a:lnTo>
                          <a:pt x="19" y="16"/>
                        </a:lnTo>
                        <a:lnTo>
                          <a:pt x="19" y="0"/>
                        </a:lnTo>
                      </a:path>
                    </a:pathLst>
                  </a:custGeom>
                  <a:solidFill>
                    <a:srgbClr val="B7B79D"/>
                  </a:solidFill>
                  <a:ln w="12699" cap="rnd">
                    <a:solidFill>
                      <a:srgbClr val="494936"/>
                    </a:solidFill>
                    <a:round/>
                    <a:headEnd/>
                    <a:tailEnd/>
                  </a:ln>
                </p:spPr>
                <p:txBody>
                  <a:bodyPr/>
                  <a:lstStyle/>
                  <a:p>
                    <a:endParaRPr lang="zh-CN" altLang="en-US"/>
                  </a:p>
                </p:txBody>
              </p:sp>
            </p:grpSp>
            <p:sp>
              <p:nvSpPr>
                <p:cNvPr id="14371" name="Freeform 192">
                  <a:extLst>
                    <a:ext uri="{FF2B5EF4-FFF2-40B4-BE49-F238E27FC236}">
                      <a16:creationId xmlns:a16="http://schemas.microsoft.com/office/drawing/2014/main" id="{6DEBBBB2-90BD-104E-A170-51B76B46C753}"/>
                    </a:ext>
                  </a:extLst>
                </p:cNvPr>
                <p:cNvSpPr>
                  <a:spLocks/>
                </p:cNvSpPr>
                <p:nvPr/>
              </p:nvSpPr>
              <p:spPr bwMode="auto">
                <a:xfrm>
                  <a:off x="1125" y="2503"/>
                  <a:ext cx="26" cy="33"/>
                </a:xfrm>
                <a:custGeom>
                  <a:avLst/>
                  <a:gdLst>
                    <a:gd name="T0" fmla="*/ 25 w 26"/>
                    <a:gd name="T1" fmla="*/ 32 h 33"/>
                    <a:gd name="T2" fmla="*/ 0 w 26"/>
                    <a:gd name="T3" fmla="*/ 10 h 33"/>
                    <a:gd name="T4" fmla="*/ 0 w 26"/>
                    <a:gd name="T5" fmla="*/ 0 h 33"/>
                    <a:gd name="T6" fmla="*/ 25 w 26"/>
                    <a:gd name="T7" fmla="*/ 27 h 33"/>
                    <a:gd name="T8" fmla="*/ 25 w 26"/>
                    <a:gd name="T9" fmla="*/ 32 h 33"/>
                    <a:gd name="T10" fmla="*/ 0 60000 65536"/>
                    <a:gd name="T11" fmla="*/ 0 60000 65536"/>
                    <a:gd name="T12" fmla="*/ 0 60000 65536"/>
                    <a:gd name="T13" fmla="*/ 0 60000 65536"/>
                    <a:gd name="T14" fmla="*/ 0 60000 65536"/>
                    <a:gd name="T15" fmla="*/ 0 w 26"/>
                    <a:gd name="T16" fmla="*/ 0 h 33"/>
                    <a:gd name="T17" fmla="*/ 26 w 26"/>
                    <a:gd name="T18" fmla="*/ 33 h 33"/>
                  </a:gdLst>
                  <a:ahLst/>
                  <a:cxnLst>
                    <a:cxn ang="T10">
                      <a:pos x="T0" y="T1"/>
                    </a:cxn>
                    <a:cxn ang="T11">
                      <a:pos x="T2" y="T3"/>
                    </a:cxn>
                    <a:cxn ang="T12">
                      <a:pos x="T4" y="T5"/>
                    </a:cxn>
                    <a:cxn ang="T13">
                      <a:pos x="T6" y="T7"/>
                    </a:cxn>
                    <a:cxn ang="T14">
                      <a:pos x="T8" y="T9"/>
                    </a:cxn>
                  </a:cxnLst>
                  <a:rect l="T15" t="T16" r="T17" b="T18"/>
                  <a:pathLst>
                    <a:path w="26" h="33">
                      <a:moveTo>
                        <a:pt x="25" y="32"/>
                      </a:moveTo>
                      <a:lnTo>
                        <a:pt x="0" y="10"/>
                      </a:lnTo>
                      <a:lnTo>
                        <a:pt x="0" y="0"/>
                      </a:lnTo>
                      <a:lnTo>
                        <a:pt x="25" y="27"/>
                      </a:lnTo>
                      <a:lnTo>
                        <a:pt x="25" y="32"/>
                      </a:lnTo>
                    </a:path>
                  </a:pathLst>
                </a:custGeom>
                <a:solidFill>
                  <a:srgbClr val="DBDBCE"/>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14372" name="Freeform 193">
                  <a:extLst>
                    <a:ext uri="{FF2B5EF4-FFF2-40B4-BE49-F238E27FC236}">
                      <a16:creationId xmlns:a16="http://schemas.microsoft.com/office/drawing/2014/main" id="{0275E4A7-F596-5345-A053-14555DC40BED}"/>
                    </a:ext>
                  </a:extLst>
                </p:cNvPr>
                <p:cNvSpPr>
                  <a:spLocks/>
                </p:cNvSpPr>
                <p:nvPr/>
              </p:nvSpPr>
              <p:spPr bwMode="auto">
                <a:xfrm>
                  <a:off x="1125" y="2503"/>
                  <a:ext cx="26" cy="33"/>
                </a:xfrm>
                <a:custGeom>
                  <a:avLst/>
                  <a:gdLst>
                    <a:gd name="T0" fmla="*/ 25 w 26"/>
                    <a:gd name="T1" fmla="*/ 32 h 33"/>
                    <a:gd name="T2" fmla="*/ 0 w 26"/>
                    <a:gd name="T3" fmla="*/ 10 h 33"/>
                    <a:gd name="T4" fmla="*/ 0 w 26"/>
                    <a:gd name="T5" fmla="*/ 0 h 33"/>
                    <a:gd name="T6" fmla="*/ 25 w 26"/>
                    <a:gd name="T7" fmla="*/ 27 h 33"/>
                    <a:gd name="T8" fmla="*/ 25 w 26"/>
                    <a:gd name="T9" fmla="*/ 32 h 33"/>
                    <a:gd name="T10" fmla="*/ 0 60000 65536"/>
                    <a:gd name="T11" fmla="*/ 0 60000 65536"/>
                    <a:gd name="T12" fmla="*/ 0 60000 65536"/>
                    <a:gd name="T13" fmla="*/ 0 60000 65536"/>
                    <a:gd name="T14" fmla="*/ 0 60000 65536"/>
                    <a:gd name="T15" fmla="*/ 0 w 26"/>
                    <a:gd name="T16" fmla="*/ 0 h 33"/>
                    <a:gd name="T17" fmla="*/ 26 w 26"/>
                    <a:gd name="T18" fmla="*/ 33 h 33"/>
                  </a:gdLst>
                  <a:ahLst/>
                  <a:cxnLst>
                    <a:cxn ang="T10">
                      <a:pos x="T0" y="T1"/>
                    </a:cxn>
                    <a:cxn ang="T11">
                      <a:pos x="T2" y="T3"/>
                    </a:cxn>
                    <a:cxn ang="T12">
                      <a:pos x="T4" y="T5"/>
                    </a:cxn>
                    <a:cxn ang="T13">
                      <a:pos x="T6" y="T7"/>
                    </a:cxn>
                    <a:cxn ang="T14">
                      <a:pos x="T8" y="T9"/>
                    </a:cxn>
                  </a:cxnLst>
                  <a:rect l="T15" t="T16" r="T17" b="T18"/>
                  <a:pathLst>
                    <a:path w="26" h="33">
                      <a:moveTo>
                        <a:pt x="25" y="32"/>
                      </a:moveTo>
                      <a:lnTo>
                        <a:pt x="0" y="10"/>
                      </a:lnTo>
                      <a:lnTo>
                        <a:pt x="0" y="0"/>
                      </a:lnTo>
                      <a:lnTo>
                        <a:pt x="25" y="27"/>
                      </a:lnTo>
                      <a:lnTo>
                        <a:pt x="25" y="32"/>
                      </a:lnTo>
                    </a:path>
                  </a:pathLst>
                </a:custGeom>
                <a:solidFill>
                  <a:srgbClr val="DBDBCE"/>
                </a:solidFill>
                <a:ln w="12699" cap="rnd">
                  <a:solidFill>
                    <a:srgbClr val="494936"/>
                  </a:solidFill>
                  <a:round/>
                  <a:headEnd/>
                  <a:tailEnd/>
                </a:ln>
              </p:spPr>
              <p:txBody>
                <a:bodyPr/>
                <a:lstStyle/>
                <a:p>
                  <a:endParaRPr lang="zh-CN" altLang="en-US"/>
                </a:p>
              </p:txBody>
            </p:sp>
            <p:sp>
              <p:nvSpPr>
                <p:cNvPr id="14373" name="Freeform 194">
                  <a:extLst>
                    <a:ext uri="{FF2B5EF4-FFF2-40B4-BE49-F238E27FC236}">
                      <a16:creationId xmlns:a16="http://schemas.microsoft.com/office/drawing/2014/main" id="{D0A09BF7-12E4-2941-AF9A-CF5B6CDA43E7}"/>
                    </a:ext>
                  </a:extLst>
                </p:cNvPr>
                <p:cNvSpPr>
                  <a:spLocks/>
                </p:cNvSpPr>
                <p:nvPr/>
              </p:nvSpPr>
              <p:spPr bwMode="auto">
                <a:xfrm>
                  <a:off x="1115" y="2463"/>
                  <a:ext cx="161" cy="21"/>
                </a:xfrm>
                <a:custGeom>
                  <a:avLst/>
                  <a:gdLst>
                    <a:gd name="T0" fmla="*/ 160 w 161"/>
                    <a:gd name="T1" fmla="*/ 20 h 21"/>
                    <a:gd name="T2" fmla="*/ 142 w 161"/>
                    <a:gd name="T3" fmla="*/ 0 h 21"/>
                    <a:gd name="T4" fmla="*/ 0 w 161"/>
                    <a:gd name="T5" fmla="*/ 0 h 21"/>
                    <a:gd name="T6" fmla="*/ 18 w 161"/>
                    <a:gd name="T7" fmla="*/ 20 h 21"/>
                    <a:gd name="T8" fmla="*/ 160 w 161"/>
                    <a:gd name="T9" fmla="*/ 20 h 21"/>
                    <a:gd name="T10" fmla="*/ 0 60000 65536"/>
                    <a:gd name="T11" fmla="*/ 0 60000 65536"/>
                    <a:gd name="T12" fmla="*/ 0 60000 65536"/>
                    <a:gd name="T13" fmla="*/ 0 60000 65536"/>
                    <a:gd name="T14" fmla="*/ 0 60000 65536"/>
                    <a:gd name="T15" fmla="*/ 0 w 161"/>
                    <a:gd name="T16" fmla="*/ 0 h 21"/>
                    <a:gd name="T17" fmla="*/ 161 w 161"/>
                    <a:gd name="T18" fmla="*/ 21 h 21"/>
                  </a:gdLst>
                  <a:ahLst/>
                  <a:cxnLst>
                    <a:cxn ang="T10">
                      <a:pos x="T0" y="T1"/>
                    </a:cxn>
                    <a:cxn ang="T11">
                      <a:pos x="T2" y="T3"/>
                    </a:cxn>
                    <a:cxn ang="T12">
                      <a:pos x="T4" y="T5"/>
                    </a:cxn>
                    <a:cxn ang="T13">
                      <a:pos x="T6" y="T7"/>
                    </a:cxn>
                    <a:cxn ang="T14">
                      <a:pos x="T8" y="T9"/>
                    </a:cxn>
                  </a:cxnLst>
                  <a:rect l="T15" t="T16" r="T17" b="T18"/>
                  <a:pathLst>
                    <a:path w="161" h="21">
                      <a:moveTo>
                        <a:pt x="160" y="20"/>
                      </a:moveTo>
                      <a:lnTo>
                        <a:pt x="142" y="0"/>
                      </a:lnTo>
                      <a:lnTo>
                        <a:pt x="0" y="0"/>
                      </a:lnTo>
                      <a:lnTo>
                        <a:pt x="18" y="20"/>
                      </a:lnTo>
                      <a:lnTo>
                        <a:pt x="160" y="20"/>
                      </a:lnTo>
                    </a:path>
                  </a:pathLst>
                </a:custGeom>
                <a:solidFill>
                  <a:srgbClr val="C9C9B6"/>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14374" name="Freeform 195">
                  <a:extLst>
                    <a:ext uri="{FF2B5EF4-FFF2-40B4-BE49-F238E27FC236}">
                      <a16:creationId xmlns:a16="http://schemas.microsoft.com/office/drawing/2014/main" id="{645080F9-9769-1B4F-8DDA-77E237A8C85D}"/>
                    </a:ext>
                  </a:extLst>
                </p:cNvPr>
                <p:cNvSpPr>
                  <a:spLocks/>
                </p:cNvSpPr>
                <p:nvPr/>
              </p:nvSpPr>
              <p:spPr bwMode="auto">
                <a:xfrm>
                  <a:off x="1115" y="2463"/>
                  <a:ext cx="161" cy="21"/>
                </a:xfrm>
                <a:custGeom>
                  <a:avLst/>
                  <a:gdLst>
                    <a:gd name="T0" fmla="*/ 160 w 161"/>
                    <a:gd name="T1" fmla="*/ 20 h 21"/>
                    <a:gd name="T2" fmla="*/ 142 w 161"/>
                    <a:gd name="T3" fmla="*/ 0 h 21"/>
                    <a:gd name="T4" fmla="*/ 0 w 161"/>
                    <a:gd name="T5" fmla="*/ 0 h 21"/>
                    <a:gd name="T6" fmla="*/ 18 w 161"/>
                    <a:gd name="T7" fmla="*/ 20 h 21"/>
                    <a:gd name="T8" fmla="*/ 160 w 161"/>
                    <a:gd name="T9" fmla="*/ 20 h 21"/>
                    <a:gd name="T10" fmla="*/ 0 60000 65536"/>
                    <a:gd name="T11" fmla="*/ 0 60000 65536"/>
                    <a:gd name="T12" fmla="*/ 0 60000 65536"/>
                    <a:gd name="T13" fmla="*/ 0 60000 65536"/>
                    <a:gd name="T14" fmla="*/ 0 60000 65536"/>
                    <a:gd name="T15" fmla="*/ 0 w 161"/>
                    <a:gd name="T16" fmla="*/ 0 h 21"/>
                    <a:gd name="T17" fmla="*/ 161 w 161"/>
                    <a:gd name="T18" fmla="*/ 21 h 21"/>
                  </a:gdLst>
                  <a:ahLst/>
                  <a:cxnLst>
                    <a:cxn ang="T10">
                      <a:pos x="T0" y="T1"/>
                    </a:cxn>
                    <a:cxn ang="T11">
                      <a:pos x="T2" y="T3"/>
                    </a:cxn>
                    <a:cxn ang="T12">
                      <a:pos x="T4" y="T5"/>
                    </a:cxn>
                    <a:cxn ang="T13">
                      <a:pos x="T6" y="T7"/>
                    </a:cxn>
                    <a:cxn ang="T14">
                      <a:pos x="T8" y="T9"/>
                    </a:cxn>
                  </a:cxnLst>
                  <a:rect l="T15" t="T16" r="T17" b="T18"/>
                  <a:pathLst>
                    <a:path w="161" h="21">
                      <a:moveTo>
                        <a:pt x="160" y="20"/>
                      </a:moveTo>
                      <a:lnTo>
                        <a:pt x="142" y="0"/>
                      </a:lnTo>
                      <a:lnTo>
                        <a:pt x="0" y="0"/>
                      </a:lnTo>
                      <a:lnTo>
                        <a:pt x="18" y="20"/>
                      </a:lnTo>
                      <a:lnTo>
                        <a:pt x="160" y="20"/>
                      </a:lnTo>
                    </a:path>
                  </a:pathLst>
                </a:custGeom>
                <a:solidFill>
                  <a:srgbClr val="C9C9B6"/>
                </a:solidFill>
                <a:ln w="12699" cap="rnd">
                  <a:solidFill>
                    <a:srgbClr val="494936"/>
                  </a:solidFill>
                  <a:round/>
                  <a:headEnd/>
                  <a:tailEnd/>
                </a:ln>
              </p:spPr>
              <p:txBody>
                <a:bodyPr/>
                <a:lstStyle/>
                <a:p>
                  <a:endParaRPr lang="zh-CN" altLang="en-US"/>
                </a:p>
              </p:txBody>
            </p:sp>
            <p:sp>
              <p:nvSpPr>
                <p:cNvPr id="14375" name="Freeform 196">
                  <a:extLst>
                    <a:ext uri="{FF2B5EF4-FFF2-40B4-BE49-F238E27FC236}">
                      <a16:creationId xmlns:a16="http://schemas.microsoft.com/office/drawing/2014/main" id="{00170CE3-DA16-9741-9DCE-A92D2AB3223F}"/>
                    </a:ext>
                  </a:extLst>
                </p:cNvPr>
                <p:cNvSpPr>
                  <a:spLocks/>
                </p:cNvSpPr>
                <p:nvPr/>
              </p:nvSpPr>
              <p:spPr bwMode="auto">
                <a:xfrm>
                  <a:off x="1133" y="2483"/>
                  <a:ext cx="143" cy="26"/>
                </a:xfrm>
                <a:custGeom>
                  <a:avLst/>
                  <a:gdLst>
                    <a:gd name="T0" fmla="*/ 142 w 143"/>
                    <a:gd name="T1" fmla="*/ 0 h 26"/>
                    <a:gd name="T2" fmla="*/ 0 w 143"/>
                    <a:gd name="T3" fmla="*/ 0 h 26"/>
                    <a:gd name="T4" fmla="*/ 0 w 143"/>
                    <a:gd name="T5" fmla="*/ 25 h 26"/>
                    <a:gd name="T6" fmla="*/ 142 w 143"/>
                    <a:gd name="T7" fmla="*/ 25 h 26"/>
                    <a:gd name="T8" fmla="*/ 142 w 143"/>
                    <a:gd name="T9" fmla="*/ 0 h 26"/>
                    <a:gd name="T10" fmla="*/ 0 60000 65536"/>
                    <a:gd name="T11" fmla="*/ 0 60000 65536"/>
                    <a:gd name="T12" fmla="*/ 0 60000 65536"/>
                    <a:gd name="T13" fmla="*/ 0 60000 65536"/>
                    <a:gd name="T14" fmla="*/ 0 60000 65536"/>
                    <a:gd name="T15" fmla="*/ 0 w 143"/>
                    <a:gd name="T16" fmla="*/ 0 h 26"/>
                    <a:gd name="T17" fmla="*/ 143 w 143"/>
                    <a:gd name="T18" fmla="*/ 26 h 26"/>
                  </a:gdLst>
                  <a:ahLst/>
                  <a:cxnLst>
                    <a:cxn ang="T10">
                      <a:pos x="T0" y="T1"/>
                    </a:cxn>
                    <a:cxn ang="T11">
                      <a:pos x="T2" y="T3"/>
                    </a:cxn>
                    <a:cxn ang="T12">
                      <a:pos x="T4" y="T5"/>
                    </a:cxn>
                    <a:cxn ang="T13">
                      <a:pos x="T6" y="T7"/>
                    </a:cxn>
                    <a:cxn ang="T14">
                      <a:pos x="T8" y="T9"/>
                    </a:cxn>
                  </a:cxnLst>
                  <a:rect l="T15" t="T16" r="T17" b="T18"/>
                  <a:pathLst>
                    <a:path w="143" h="26">
                      <a:moveTo>
                        <a:pt x="142" y="0"/>
                      </a:moveTo>
                      <a:lnTo>
                        <a:pt x="0" y="0"/>
                      </a:lnTo>
                      <a:lnTo>
                        <a:pt x="0" y="25"/>
                      </a:lnTo>
                      <a:lnTo>
                        <a:pt x="142" y="25"/>
                      </a:lnTo>
                      <a:lnTo>
                        <a:pt x="142" y="0"/>
                      </a:lnTo>
                    </a:path>
                  </a:pathLst>
                </a:custGeom>
                <a:solidFill>
                  <a:srgbClr val="B7B79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14376" name="Freeform 197">
                  <a:extLst>
                    <a:ext uri="{FF2B5EF4-FFF2-40B4-BE49-F238E27FC236}">
                      <a16:creationId xmlns:a16="http://schemas.microsoft.com/office/drawing/2014/main" id="{8EA80643-54FB-3148-A80B-36D2F846D0AF}"/>
                    </a:ext>
                  </a:extLst>
                </p:cNvPr>
                <p:cNvSpPr>
                  <a:spLocks/>
                </p:cNvSpPr>
                <p:nvPr/>
              </p:nvSpPr>
              <p:spPr bwMode="auto">
                <a:xfrm>
                  <a:off x="1133" y="2483"/>
                  <a:ext cx="143" cy="26"/>
                </a:xfrm>
                <a:custGeom>
                  <a:avLst/>
                  <a:gdLst>
                    <a:gd name="T0" fmla="*/ 142 w 143"/>
                    <a:gd name="T1" fmla="*/ 0 h 26"/>
                    <a:gd name="T2" fmla="*/ 0 w 143"/>
                    <a:gd name="T3" fmla="*/ 0 h 26"/>
                    <a:gd name="T4" fmla="*/ 0 w 143"/>
                    <a:gd name="T5" fmla="*/ 25 h 26"/>
                    <a:gd name="T6" fmla="*/ 142 w 143"/>
                    <a:gd name="T7" fmla="*/ 25 h 26"/>
                    <a:gd name="T8" fmla="*/ 142 w 143"/>
                    <a:gd name="T9" fmla="*/ 0 h 26"/>
                    <a:gd name="T10" fmla="*/ 0 60000 65536"/>
                    <a:gd name="T11" fmla="*/ 0 60000 65536"/>
                    <a:gd name="T12" fmla="*/ 0 60000 65536"/>
                    <a:gd name="T13" fmla="*/ 0 60000 65536"/>
                    <a:gd name="T14" fmla="*/ 0 60000 65536"/>
                    <a:gd name="T15" fmla="*/ 0 w 143"/>
                    <a:gd name="T16" fmla="*/ 0 h 26"/>
                    <a:gd name="T17" fmla="*/ 143 w 143"/>
                    <a:gd name="T18" fmla="*/ 26 h 26"/>
                  </a:gdLst>
                  <a:ahLst/>
                  <a:cxnLst>
                    <a:cxn ang="T10">
                      <a:pos x="T0" y="T1"/>
                    </a:cxn>
                    <a:cxn ang="T11">
                      <a:pos x="T2" y="T3"/>
                    </a:cxn>
                    <a:cxn ang="T12">
                      <a:pos x="T4" y="T5"/>
                    </a:cxn>
                    <a:cxn ang="T13">
                      <a:pos x="T6" y="T7"/>
                    </a:cxn>
                    <a:cxn ang="T14">
                      <a:pos x="T8" y="T9"/>
                    </a:cxn>
                  </a:cxnLst>
                  <a:rect l="T15" t="T16" r="T17" b="T18"/>
                  <a:pathLst>
                    <a:path w="143" h="26">
                      <a:moveTo>
                        <a:pt x="142" y="0"/>
                      </a:moveTo>
                      <a:lnTo>
                        <a:pt x="0" y="0"/>
                      </a:lnTo>
                      <a:lnTo>
                        <a:pt x="0" y="25"/>
                      </a:lnTo>
                      <a:lnTo>
                        <a:pt x="142" y="25"/>
                      </a:lnTo>
                      <a:lnTo>
                        <a:pt x="142" y="0"/>
                      </a:lnTo>
                    </a:path>
                  </a:pathLst>
                </a:custGeom>
                <a:solidFill>
                  <a:srgbClr val="B7B79D"/>
                </a:solidFill>
                <a:ln w="12699" cap="rnd">
                  <a:solidFill>
                    <a:srgbClr val="494936"/>
                  </a:solidFill>
                  <a:round/>
                  <a:headEnd/>
                  <a:tailEnd/>
                </a:ln>
              </p:spPr>
              <p:txBody>
                <a:bodyPr/>
                <a:lstStyle/>
                <a:p>
                  <a:endParaRPr lang="zh-CN" altLang="en-US"/>
                </a:p>
              </p:txBody>
            </p:sp>
            <p:sp>
              <p:nvSpPr>
                <p:cNvPr id="14377" name="Freeform 198">
                  <a:extLst>
                    <a:ext uri="{FF2B5EF4-FFF2-40B4-BE49-F238E27FC236}">
                      <a16:creationId xmlns:a16="http://schemas.microsoft.com/office/drawing/2014/main" id="{322D2424-546A-2B4D-AE85-C8CC4E01D241}"/>
                    </a:ext>
                  </a:extLst>
                </p:cNvPr>
                <p:cNvSpPr>
                  <a:spLocks/>
                </p:cNvSpPr>
                <p:nvPr/>
              </p:nvSpPr>
              <p:spPr bwMode="auto">
                <a:xfrm>
                  <a:off x="1115" y="2463"/>
                  <a:ext cx="19" cy="46"/>
                </a:xfrm>
                <a:custGeom>
                  <a:avLst/>
                  <a:gdLst>
                    <a:gd name="T0" fmla="*/ 18 w 19"/>
                    <a:gd name="T1" fmla="*/ 45 h 46"/>
                    <a:gd name="T2" fmla="*/ 0 w 19"/>
                    <a:gd name="T3" fmla="*/ 27 h 46"/>
                    <a:gd name="T4" fmla="*/ 0 w 19"/>
                    <a:gd name="T5" fmla="*/ 0 h 46"/>
                    <a:gd name="T6" fmla="*/ 18 w 19"/>
                    <a:gd name="T7" fmla="*/ 20 h 46"/>
                    <a:gd name="T8" fmla="*/ 18 w 19"/>
                    <a:gd name="T9" fmla="*/ 45 h 46"/>
                    <a:gd name="T10" fmla="*/ 0 60000 65536"/>
                    <a:gd name="T11" fmla="*/ 0 60000 65536"/>
                    <a:gd name="T12" fmla="*/ 0 60000 65536"/>
                    <a:gd name="T13" fmla="*/ 0 60000 65536"/>
                    <a:gd name="T14" fmla="*/ 0 60000 65536"/>
                    <a:gd name="T15" fmla="*/ 0 w 19"/>
                    <a:gd name="T16" fmla="*/ 0 h 46"/>
                    <a:gd name="T17" fmla="*/ 19 w 19"/>
                    <a:gd name="T18" fmla="*/ 46 h 46"/>
                  </a:gdLst>
                  <a:ahLst/>
                  <a:cxnLst>
                    <a:cxn ang="T10">
                      <a:pos x="T0" y="T1"/>
                    </a:cxn>
                    <a:cxn ang="T11">
                      <a:pos x="T2" y="T3"/>
                    </a:cxn>
                    <a:cxn ang="T12">
                      <a:pos x="T4" y="T5"/>
                    </a:cxn>
                    <a:cxn ang="T13">
                      <a:pos x="T6" y="T7"/>
                    </a:cxn>
                    <a:cxn ang="T14">
                      <a:pos x="T8" y="T9"/>
                    </a:cxn>
                  </a:cxnLst>
                  <a:rect l="T15" t="T16" r="T17" b="T18"/>
                  <a:pathLst>
                    <a:path w="19" h="46">
                      <a:moveTo>
                        <a:pt x="18" y="45"/>
                      </a:moveTo>
                      <a:lnTo>
                        <a:pt x="0" y="27"/>
                      </a:lnTo>
                      <a:lnTo>
                        <a:pt x="0" y="0"/>
                      </a:lnTo>
                      <a:lnTo>
                        <a:pt x="18" y="20"/>
                      </a:lnTo>
                      <a:lnTo>
                        <a:pt x="18" y="45"/>
                      </a:lnTo>
                    </a:path>
                  </a:pathLst>
                </a:custGeom>
                <a:solidFill>
                  <a:srgbClr val="DBDBCE"/>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14378" name="Freeform 199">
                  <a:extLst>
                    <a:ext uri="{FF2B5EF4-FFF2-40B4-BE49-F238E27FC236}">
                      <a16:creationId xmlns:a16="http://schemas.microsoft.com/office/drawing/2014/main" id="{55C5F2AE-BAD6-D045-97C0-3410FE72CC93}"/>
                    </a:ext>
                  </a:extLst>
                </p:cNvPr>
                <p:cNvSpPr>
                  <a:spLocks/>
                </p:cNvSpPr>
                <p:nvPr/>
              </p:nvSpPr>
              <p:spPr bwMode="auto">
                <a:xfrm>
                  <a:off x="1115" y="2463"/>
                  <a:ext cx="19" cy="46"/>
                </a:xfrm>
                <a:custGeom>
                  <a:avLst/>
                  <a:gdLst>
                    <a:gd name="T0" fmla="*/ 18 w 19"/>
                    <a:gd name="T1" fmla="*/ 45 h 46"/>
                    <a:gd name="T2" fmla="*/ 0 w 19"/>
                    <a:gd name="T3" fmla="*/ 27 h 46"/>
                    <a:gd name="T4" fmla="*/ 0 w 19"/>
                    <a:gd name="T5" fmla="*/ 0 h 46"/>
                    <a:gd name="T6" fmla="*/ 18 w 19"/>
                    <a:gd name="T7" fmla="*/ 20 h 46"/>
                    <a:gd name="T8" fmla="*/ 18 w 19"/>
                    <a:gd name="T9" fmla="*/ 45 h 46"/>
                    <a:gd name="T10" fmla="*/ 0 60000 65536"/>
                    <a:gd name="T11" fmla="*/ 0 60000 65536"/>
                    <a:gd name="T12" fmla="*/ 0 60000 65536"/>
                    <a:gd name="T13" fmla="*/ 0 60000 65536"/>
                    <a:gd name="T14" fmla="*/ 0 60000 65536"/>
                    <a:gd name="T15" fmla="*/ 0 w 19"/>
                    <a:gd name="T16" fmla="*/ 0 h 46"/>
                    <a:gd name="T17" fmla="*/ 19 w 19"/>
                    <a:gd name="T18" fmla="*/ 46 h 46"/>
                  </a:gdLst>
                  <a:ahLst/>
                  <a:cxnLst>
                    <a:cxn ang="T10">
                      <a:pos x="T0" y="T1"/>
                    </a:cxn>
                    <a:cxn ang="T11">
                      <a:pos x="T2" y="T3"/>
                    </a:cxn>
                    <a:cxn ang="T12">
                      <a:pos x="T4" y="T5"/>
                    </a:cxn>
                    <a:cxn ang="T13">
                      <a:pos x="T6" y="T7"/>
                    </a:cxn>
                    <a:cxn ang="T14">
                      <a:pos x="T8" y="T9"/>
                    </a:cxn>
                  </a:cxnLst>
                  <a:rect l="T15" t="T16" r="T17" b="T18"/>
                  <a:pathLst>
                    <a:path w="19" h="46">
                      <a:moveTo>
                        <a:pt x="18" y="45"/>
                      </a:moveTo>
                      <a:lnTo>
                        <a:pt x="0" y="27"/>
                      </a:lnTo>
                      <a:lnTo>
                        <a:pt x="0" y="0"/>
                      </a:lnTo>
                      <a:lnTo>
                        <a:pt x="18" y="20"/>
                      </a:lnTo>
                      <a:lnTo>
                        <a:pt x="18" y="45"/>
                      </a:lnTo>
                    </a:path>
                  </a:pathLst>
                </a:custGeom>
                <a:solidFill>
                  <a:srgbClr val="DBDBCE"/>
                </a:solidFill>
                <a:ln w="12699" cap="rnd">
                  <a:solidFill>
                    <a:srgbClr val="494936"/>
                  </a:solidFill>
                  <a:round/>
                  <a:headEnd/>
                  <a:tailEnd/>
                </a:ln>
              </p:spPr>
              <p:txBody>
                <a:bodyPr/>
                <a:lstStyle/>
                <a:p>
                  <a:endParaRPr lang="zh-CN" altLang="en-US"/>
                </a:p>
              </p:txBody>
            </p:sp>
            <p:sp>
              <p:nvSpPr>
                <p:cNvPr id="14379" name="Freeform 200">
                  <a:extLst>
                    <a:ext uri="{FF2B5EF4-FFF2-40B4-BE49-F238E27FC236}">
                      <a16:creationId xmlns:a16="http://schemas.microsoft.com/office/drawing/2014/main" id="{D589B98A-09B9-4846-A810-A9F6F4767BD5}"/>
                    </a:ext>
                  </a:extLst>
                </p:cNvPr>
                <p:cNvSpPr>
                  <a:spLocks/>
                </p:cNvSpPr>
                <p:nvPr/>
              </p:nvSpPr>
              <p:spPr bwMode="auto">
                <a:xfrm>
                  <a:off x="1118" y="2463"/>
                  <a:ext cx="155" cy="17"/>
                </a:xfrm>
                <a:custGeom>
                  <a:avLst/>
                  <a:gdLst>
                    <a:gd name="T0" fmla="*/ 154 w 155"/>
                    <a:gd name="T1" fmla="*/ 16 h 17"/>
                    <a:gd name="T2" fmla="*/ 139 w 155"/>
                    <a:gd name="T3" fmla="*/ 0 h 17"/>
                    <a:gd name="T4" fmla="*/ 0 w 155"/>
                    <a:gd name="T5" fmla="*/ 0 h 17"/>
                    <a:gd name="T6" fmla="*/ 15 w 155"/>
                    <a:gd name="T7" fmla="*/ 16 h 17"/>
                    <a:gd name="T8" fmla="*/ 154 w 155"/>
                    <a:gd name="T9" fmla="*/ 16 h 17"/>
                    <a:gd name="T10" fmla="*/ 0 60000 65536"/>
                    <a:gd name="T11" fmla="*/ 0 60000 65536"/>
                    <a:gd name="T12" fmla="*/ 0 60000 65536"/>
                    <a:gd name="T13" fmla="*/ 0 60000 65536"/>
                    <a:gd name="T14" fmla="*/ 0 60000 65536"/>
                    <a:gd name="T15" fmla="*/ 0 w 155"/>
                    <a:gd name="T16" fmla="*/ 0 h 17"/>
                    <a:gd name="T17" fmla="*/ 155 w 155"/>
                    <a:gd name="T18" fmla="*/ 17 h 17"/>
                  </a:gdLst>
                  <a:ahLst/>
                  <a:cxnLst>
                    <a:cxn ang="T10">
                      <a:pos x="T0" y="T1"/>
                    </a:cxn>
                    <a:cxn ang="T11">
                      <a:pos x="T2" y="T3"/>
                    </a:cxn>
                    <a:cxn ang="T12">
                      <a:pos x="T4" y="T5"/>
                    </a:cxn>
                    <a:cxn ang="T13">
                      <a:pos x="T6" y="T7"/>
                    </a:cxn>
                    <a:cxn ang="T14">
                      <a:pos x="T8" y="T9"/>
                    </a:cxn>
                  </a:cxnLst>
                  <a:rect l="T15" t="T16" r="T17" b="T18"/>
                  <a:pathLst>
                    <a:path w="155" h="17">
                      <a:moveTo>
                        <a:pt x="154" y="16"/>
                      </a:moveTo>
                      <a:lnTo>
                        <a:pt x="139" y="0"/>
                      </a:lnTo>
                      <a:lnTo>
                        <a:pt x="0" y="0"/>
                      </a:lnTo>
                      <a:lnTo>
                        <a:pt x="15" y="16"/>
                      </a:lnTo>
                      <a:lnTo>
                        <a:pt x="154" y="1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14380" name="Freeform 201">
                  <a:extLst>
                    <a:ext uri="{FF2B5EF4-FFF2-40B4-BE49-F238E27FC236}">
                      <a16:creationId xmlns:a16="http://schemas.microsoft.com/office/drawing/2014/main" id="{BAE5247D-D008-8D49-AC75-1609C8F70AF0}"/>
                    </a:ext>
                  </a:extLst>
                </p:cNvPr>
                <p:cNvSpPr>
                  <a:spLocks/>
                </p:cNvSpPr>
                <p:nvPr/>
              </p:nvSpPr>
              <p:spPr bwMode="auto">
                <a:xfrm>
                  <a:off x="1118" y="2463"/>
                  <a:ext cx="155" cy="17"/>
                </a:xfrm>
                <a:custGeom>
                  <a:avLst/>
                  <a:gdLst>
                    <a:gd name="T0" fmla="*/ 154 w 155"/>
                    <a:gd name="T1" fmla="*/ 16 h 17"/>
                    <a:gd name="T2" fmla="*/ 139 w 155"/>
                    <a:gd name="T3" fmla="*/ 0 h 17"/>
                    <a:gd name="T4" fmla="*/ 0 w 155"/>
                    <a:gd name="T5" fmla="*/ 0 h 17"/>
                    <a:gd name="T6" fmla="*/ 15 w 155"/>
                    <a:gd name="T7" fmla="*/ 16 h 17"/>
                    <a:gd name="T8" fmla="*/ 154 w 155"/>
                    <a:gd name="T9" fmla="*/ 16 h 17"/>
                    <a:gd name="T10" fmla="*/ 0 60000 65536"/>
                    <a:gd name="T11" fmla="*/ 0 60000 65536"/>
                    <a:gd name="T12" fmla="*/ 0 60000 65536"/>
                    <a:gd name="T13" fmla="*/ 0 60000 65536"/>
                    <a:gd name="T14" fmla="*/ 0 60000 65536"/>
                    <a:gd name="T15" fmla="*/ 0 w 155"/>
                    <a:gd name="T16" fmla="*/ 0 h 17"/>
                    <a:gd name="T17" fmla="*/ 155 w 155"/>
                    <a:gd name="T18" fmla="*/ 17 h 17"/>
                  </a:gdLst>
                  <a:ahLst/>
                  <a:cxnLst>
                    <a:cxn ang="T10">
                      <a:pos x="T0" y="T1"/>
                    </a:cxn>
                    <a:cxn ang="T11">
                      <a:pos x="T2" y="T3"/>
                    </a:cxn>
                    <a:cxn ang="T12">
                      <a:pos x="T4" y="T5"/>
                    </a:cxn>
                    <a:cxn ang="T13">
                      <a:pos x="T6" y="T7"/>
                    </a:cxn>
                    <a:cxn ang="T14">
                      <a:pos x="T8" y="T9"/>
                    </a:cxn>
                  </a:cxnLst>
                  <a:rect l="T15" t="T16" r="T17" b="T18"/>
                  <a:pathLst>
                    <a:path w="155" h="17">
                      <a:moveTo>
                        <a:pt x="154" y="16"/>
                      </a:moveTo>
                      <a:lnTo>
                        <a:pt x="139" y="0"/>
                      </a:lnTo>
                      <a:lnTo>
                        <a:pt x="0" y="0"/>
                      </a:lnTo>
                      <a:lnTo>
                        <a:pt x="15" y="16"/>
                      </a:lnTo>
                      <a:lnTo>
                        <a:pt x="154" y="16"/>
                      </a:lnTo>
                    </a:path>
                  </a:pathLst>
                </a:custGeom>
                <a:solidFill>
                  <a:srgbClr val="000000"/>
                </a:solidFill>
                <a:ln w="12699" cap="rnd">
                  <a:solidFill>
                    <a:srgbClr val="000000"/>
                  </a:solidFill>
                  <a:round/>
                  <a:headEnd/>
                  <a:tailEnd/>
                </a:ln>
              </p:spPr>
              <p:txBody>
                <a:bodyPr/>
                <a:lstStyle/>
                <a:p>
                  <a:endParaRPr lang="zh-CN" altLang="en-US"/>
                </a:p>
              </p:txBody>
            </p:sp>
            <p:sp>
              <p:nvSpPr>
                <p:cNvPr id="14381" name="Freeform 202">
                  <a:extLst>
                    <a:ext uri="{FF2B5EF4-FFF2-40B4-BE49-F238E27FC236}">
                      <a16:creationId xmlns:a16="http://schemas.microsoft.com/office/drawing/2014/main" id="{22094ACC-9738-224D-AD70-FD8573A49508}"/>
                    </a:ext>
                  </a:extLst>
                </p:cNvPr>
                <p:cNvSpPr>
                  <a:spLocks/>
                </p:cNvSpPr>
                <p:nvPr/>
              </p:nvSpPr>
              <p:spPr bwMode="auto">
                <a:xfrm>
                  <a:off x="1118" y="2348"/>
                  <a:ext cx="158" cy="17"/>
                </a:xfrm>
                <a:custGeom>
                  <a:avLst/>
                  <a:gdLst>
                    <a:gd name="T0" fmla="*/ 157 w 158"/>
                    <a:gd name="T1" fmla="*/ 16 h 17"/>
                    <a:gd name="T2" fmla="*/ 142 w 158"/>
                    <a:gd name="T3" fmla="*/ 0 h 17"/>
                    <a:gd name="T4" fmla="*/ 0 w 158"/>
                    <a:gd name="T5" fmla="*/ 0 h 17"/>
                    <a:gd name="T6" fmla="*/ 15 w 158"/>
                    <a:gd name="T7" fmla="*/ 16 h 17"/>
                    <a:gd name="T8" fmla="*/ 157 w 158"/>
                    <a:gd name="T9" fmla="*/ 16 h 17"/>
                    <a:gd name="T10" fmla="*/ 0 60000 65536"/>
                    <a:gd name="T11" fmla="*/ 0 60000 65536"/>
                    <a:gd name="T12" fmla="*/ 0 60000 65536"/>
                    <a:gd name="T13" fmla="*/ 0 60000 65536"/>
                    <a:gd name="T14" fmla="*/ 0 60000 65536"/>
                    <a:gd name="T15" fmla="*/ 0 w 158"/>
                    <a:gd name="T16" fmla="*/ 0 h 17"/>
                    <a:gd name="T17" fmla="*/ 158 w 158"/>
                    <a:gd name="T18" fmla="*/ 17 h 17"/>
                  </a:gdLst>
                  <a:ahLst/>
                  <a:cxnLst>
                    <a:cxn ang="T10">
                      <a:pos x="T0" y="T1"/>
                    </a:cxn>
                    <a:cxn ang="T11">
                      <a:pos x="T2" y="T3"/>
                    </a:cxn>
                    <a:cxn ang="T12">
                      <a:pos x="T4" y="T5"/>
                    </a:cxn>
                    <a:cxn ang="T13">
                      <a:pos x="T6" y="T7"/>
                    </a:cxn>
                    <a:cxn ang="T14">
                      <a:pos x="T8" y="T9"/>
                    </a:cxn>
                  </a:cxnLst>
                  <a:rect l="T15" t="T16" r="T17" b="T18"/>
                  <a:pathLst>
                    <a:path w="158" h="17">
                      <a:moveTo>
                        <a:pt x="157" y="16"/>
                      </a:moveTo>
                      <a:lnTo>
                        <a:pt x="142" y="0"/>
                      </a:lnTo>
                      <a:lnTo>
                        <a:pt x="0" y="0"/>
                      </a:lnTo>
                      <a:lnTo>
                        <a:pt x="15" y="16"/>
                      </a:lnTo>
                      <a:lnTo>
                        <a:pt x="157" y="16"/>
                      </a:lnTo>
                    </a:path>
                  </a:pathLst>
                </a:custGeom>
                <a:solidFill>
                  <a:srgbClr val="C9C9B6"/>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14382" name="Freeform 203">
                  <a:extLst>
                    <a:ext uri="{FF2B5EF4-FFF2-40B4-BE49-F238E27FC236}">
                      <a16:creationId xmlns:a16="http://schemas.microsoft.com/office/drawing/2014/main" id="{DA7D9F4E-937A-F946-BD8F-B5D52A09971A}"/>
                    </a:ext>
                  </a:extLst>
                </p:cNvPr>
                <p:cNvSpPr>
                  <a:spLocks/>
                </p:cNvSpPr>
                <p:nvPr/>
              </p:nvSpPr>
              <p:spPr bwMode="auto">
                <a:xfrm>
                  <a:off x="1118" y="2348"/>
                  <a:ext cx="158" cy="17"/>
                </a:xfrm>
                <a:custGeom>
                  <a:avLst/>
                  <a:gdLst>
                    <a:gd name="T0" fmla="*/ 157 w 158"/>
                    <a:gd name="T1" fmla="*/ 16 h 17"/>
                    <a:gd name="T2" fmla="*/ 142 w 158"/>
                    <a:gd name="T3" fmla="*/ 0 h 17"/>
                    <a:gd name="T4" fmla="*/ 0 w 158"/>
                    <a:gd name="T5" fmla="*/ 0 h 17"/>
                    <a:gd name="T6" fmla="*/ 15 w 158"/>
                    <a:gd name="T7" fmla="*/ 16 h 17"/>
                    <a:gd name="T8" fmla="*/ 157 w 158"/>
                    <a:gd name="T9" fmla="*/ 16 h 17"/>
                    <a:gd name="T10" fmla="*/ 0 60000 65536"/>
                    <a:gd name="T11" fmla="*/ 0 60000 65536"/>
                    <a:gd name="T12" fmla="*/ 0 60000 65536"/>
                    <a:gd name="T13" fmla="*/ 0 60000 65536"/>
                    <a:gd name="T14" fmla="*/ 0 60000 65536"/>
                    <a:gd name="T15" fmla="*/ 0 w 158"/>
                    <a:gd name="T16" fmla="*/ 0 h 17"/>
                    <a:gd name="T17" fmla="*/ 158 w 158"/>
                    <a:gd name="T18" fmla="*/ 17 h 17"/>
                  </a:gdLst>
                  <a:ahLst/>
                  <a:cxnLst>
                    <a:cxn ang="T10">
                      <a:pos x="T0" y="T1"/>
                    </a:cxn>
                    <a:cxn ang="T11">
                      <a:pos x="T2" y="T3"/>
                    </a:cxn>
                    <a:cxn ang="T12">
                      <a:pos x="T4" y="T5"/>
                    </a:cxn>
                    <a:cxn ang="T13">
                      <a:pos x="T6" y="T7"/>
                    </a:cxn>
                    <a:cxn ang="T14">
                      <a:pos x="T8" y="T9"/>
                    </a:cxn>
                  </a:cxnLst>
                  <a:rect l="T15" t="T16" r="T17" b="T18"/>
                  <a:pathLst>
                    <a:path w="158" h="17">
                      <a:moveTo>
                        <a:pt x="157" y="16"/>
                      </a:moveTo>
                      <a:lnTo>
                        <a:pt x="142" y="0"/>
                      </a:lnTo>
                      <a:lnTo>
                        <a:pt x="0" y="0"/>
                      </a:lnTo>
                      <a:lnTo>
                        <a:pt x="15" y="16"/>
                      </a:lnTo>
                      <a:lnTo>
                        <a:pt x="157" y="16"/>
                      </a:lnTo>
                    </a:path>
                  </a:pathLst>
                </a:custGeom>
                <a:solidFill>
                  <a:srgbClr val="C9C9B6"/>
                </a:solidFill>
                <a:ln w="12699" cap="rnd">
                  <a:solidFill>
                    <a:srgbClr val="494936"/>
                  </a:solidFill>
                  <a:round/>
                  <a:headEnd/>
                  <a:tailEnd/>
                </a:ln>
              </p:spPr>
              <p:txBody>
                <a:bodyPr/>
                <a:lstStyle/>
                <a:p>
                  <a:endParaRPr lang="zh-CN" altLang="en-US"/>
                </a:p>
              </p:txBody>
            </p:sp>
            <p:sp>
              <p:nvSpPr>
                <p:cNvPr id="14383" name="Rectangle 204">
                  <a:extLst>
                    <a:ext uri="{FF2B5EF4-FFF2-40B4-BE49-F238E27FC236}">
                      <a16:creationId xmlns:a16="http://schemas.microsoft.com/office/drawing/2014/main" id="{E28E2EF4-A0A5-D843-B776-E88BA78AFF66}"/>
                    </a:ext>
                  </a:extLst>
                </p:cNvPr>
                <p:cNvSpPr>
                  <a:spLocks noChangeArrowheads="1"/>
                </p:cNvSpPr>
                <p:nvPr/>
              </p:nvSpPr>
              <p:spPr bwMode="auto">
                <a:xfrm>
                  <a:off x="1137" y="2367"/>
                  <a:ext cx="136" cy="104"/>
                </a:xfrm>
                <a:prstGeom prst="rect">
                  <a:avLst/>
                </a:prstGeom>
                <a:solidFill>
                  <a:srgbClr val="B7B79D"/>
                </a:solidFill>
                <a:ln w="12699">
                  <a:solidFill>
                    <a:srgbClr val="494936"/>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14384" name="Rectangle 205">
                  <a:extLst>
                    <a:ext uri="{FF2B5EF4-FFF2-40B4-BE49-F238E27FC236}">
                      <a16:creationId xmlns:a16="http://schemas.microsoft.com/office/drawing/2014/main" id="{9ACE3C6A-7CB0-514F-A05A-2C80085F2A78}"/>
                    </a:ext>
                  </a:extLst>
                </p:cNvPr>
                <p:cNvSpPr>
                  <a:spLocks noChangeArrowheads="1"/>
                </p:cNvSpPr>
                <p:nvPr/>
              </p:nvSpPr>
              <p:spPr bwMode="auto">
                <a:xfrm>
                  <a:off x="1149" y="2382"/>
                  <a:ext cx="112" cy="79"/>
                </a:xfrm>
                <a:prstGeom prst="rect">
                  <a:avLst/>
                </a:prstGeom>
                <a:solidFill>
                  <a:srgbClr val="FFFFFF"/>
                </a:solidFill>
                <a:ln w="12699">
                  <a:solidFill>
                    <a:srgbClr val="494936"/>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14385" name="Freeform 206">
                  <a:extLst>
                    <a:ext uri="{FF2B5EF4-FFF2-40B4-BE49-F238E27FC236}">
                      <a16:creationId xmlns:a16="http://schemas.microsoft.com/office/drawing/2014/main" id="{64469211-CF56-474D-9DDB-B9876FB00945}"/>
                    </a:ext>
                  </a:extLst>
                </p:cNvPr>
                <p:cNvSpPr>
                  <a:spLocks/>
                </p:cNvSpPr>
                <p:nvPr/>
              </p:nvSpPr>
              <p:spPr bwMode="auto">
                <a:xfrm>
                  <a:off x="1118" y="2348"/>
                  <a:ext cx="17" cy="128"/>
                </a:xfrm>
                <a:custGeom>
                  <a:avLst/>
                  <a:gdLst>
                    <a:gd name="T0" fmla="*/ 16 w 17"/>
                    <a:gd name="T1" fmla="*/ 127 h 128"/>
                    <a:gd name="T2" fmla="*/ 0 w 17"/>
                    <a:gd name="T3" fmla="*/ 112 h 128"/>
                    <a:gd name="T4" fmla="*/ 0 w 17"/>
                    <a:gd name="T5" fmla="*/ 0 h 128"/>
                    <a:gd name="T6" fmla="*/ 16 w 17"/>
                    <a:gd name="T7" fmla="*/ 15 h 128"/>
                    <a:gd name="T8" fmla="*/ 16 w 17"/>
                    <a:gd name="T9" fmla="*/ 127 h 128"/>
                    <a:gd name="T10" fmla="*/ 0 60000 65536"/>
                    <a:gd name="T11" fmla="*/ 0 60000 65536"/>
                    <a:gd name="T12" fmla="*/ 0 60000 65536"/>
                    <a:gd name="T13" fmla="*/ 0 60000 65536"/>
                    <a:gd name="T14" fmla="*/ 0 60000 65536"/>
                    <a:gd name="T15" fmla="*/ 0 w 17"/>
                    <a:gd name="T16" fmla="*/ 0 h 128"/>
                    <a:gd name="T17" fmla="*/ 17 w 17"/>
                    <a:gd name="T18" fmla="*/ 128 h 128"/>
                  </a:gdLst>
                  <a:ahLst/>
                  <a:cxnLst>
                    <a:cxn ang="T10">
                      <a:pos x="T0" y="T1"/>
                    </a:cxn>
                    <a:cxn ang="T11">
                      <a:pos x="T2" y="T3"/>
                    </a:cxn>
                    <a:cxn ang="T12">
                      <a:pos x="T4" y="T5"/>
                    </a:cxn>
                    <a:cxn ang="T13">
                      <a:pos x="T6" y="T7"/>
                    </a:cxn>
                    <a:cxn ang="T14">
                      <a:pos x="T8" y="T9"/>
                    </a:cxn>
                  </a:cxnLst>
                  <a:rect l="T15" t="T16" r="T17" b="T18"/>
                  <a:pathLst>
                    <a:path w="17" h="128">
                      <a:moveTo>
                        <a:pt x="16" y="127"/>
                      </a:moveTo>
                      <a:lnTo>
                        <a:pt x="0" y="112"/>
                      </a:lnTo>
                      <a:lnTo>
                        <a:pt x="0" y="0"/>
                      </a:lnTo>
                      <a:lnTo>
                        <a:pt x="16" y="15"/>
                      </a:lnTo>
                      <a:lnTo>
                        <a:pt x="16" y="127"/>
                      </a:lnTo>
                    </a:path>
                  </a:pathLst>
                </a:custGeom>
                <a:solidFill>
                  <a:srgbClr val="DBDBCE"/>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14386" name="Freeform 207">
                  <a:extLst>
                    <a:ext uri="{FF2B5EF4-FFF2-40B4-BE49-F238E27FC236}">
                      <a16:creationId xmlns:a16="http://schemas.microsoft.com/office/drawing/2014/main" id="{CD27C974-54AA-A54B-97B4-969D3CD9A287}"/>
                    </a:ext>
                  </a:extLst>
                </p:cNvPr>
                <p:cNvSpPr>
                  <a:spLocks/>
                </p:cNvSpPr>
                <p:nvPr/>
              </p:nvSpPr>
              <p:spPr bwMode="auto">
                <a:xfrm>
                  <a:off x="1118" y="2348"/>
                  <a:ext cx="17" cy="128"/>
                </a:xfrm>
                <a:custGeom>
                  <a:avLst/>
                  <a:gdLst>
                    <a:gd name="T0" fmla="*/ 16 w 17"/>
                    <a:gd name="T1" fmla="*/ 127 h 128"/>
                    <a:gd name="T2" fmla="*/ 0 w 17"/>
                    <a:gd name="T3" fmla="*/ 112 h 128"/>
                    <a:gd name="T4" fmla="*/ 0 w 17"/>
                    <a:gd name="T5" fmla="*/ 0 h 128"/>
                    <a:gd name="T6" fmla="*/ 16 w 17"/>
                    <a:gd name="T7" fmla="*/ 15 h 128"/>
                    <a:gd name="T8" fmla="*/ 16 w 17"/>
                    <a:gd name="T9" fmla="*/ 127 h 128"/>
                    <a:gd name="T10" fmla="*/ 0 60000 65536"/>
                    <a:gd name="T11" fmla="*/ 0 60000 65536"/>
                    <a:gd name="T12" fmla="*/ 0 60000 65536"/>
                    <a:gd name="T13" fmla="*/ 0 60000 65536"/>
                    <a:gd name="T14" fmla="*/ 0 60000 65536"/>
                    <a:gd name="T15" fmla="*/ 0 w 17"/>
                    <a:gd name="T16" fmla="*/ 0 h 128"/>
                    <a:gd name="T17" fmla="*/ 17 w 17"/>
                    <a:gd name="T18" fmla="*/ 128 h 128"/>
                  </a:gdLst>
                  <a:ahLst/>
                  <a:cxnLst>
                    <a:cxn ang="T10">
                      <a:pos x="T0" y="T1"/>
                    </a:cxn>
                    <a:cxn ang="T11">
                      <a:pos x="T2" y="T3"/>
                    </a:cxn>
                    <a:cxn ang="T12">
                      <a:pos x="T4" y="T5"/>
                    </a:cxn>
                    <a:cxn ang="T13">
                      <a:pos x="T6" y="T7"/>
                    </a:cxn>
                    <a:cxn ang="T14">
                      <a:pos x="T8" y="T9"/>
                    </a:cxn>
                  </a:cxnLst>
                  <a:rect l="T15" t="T16" r="T17" b="T18"/>
                  <a:pathLst>
                    <a:path w="17" h="128">
                      <a:moveTo>
                        <a:pt x="16" y="127"/>
                      </a:moveTo>
                      <a:lnTo>
                        <a:pt x="0" y="112"/>
                      </a:lnTo>
                      <a:lnTo>
                        <a:pt x="0" y="0"/>
                      </a:lnTo>
                      <a:lnTo>
                        <a:pt x="16" y="15"/>
                      </a:lnTo>
                      <a:lnTo>
                        <a:pt x="16" y="127"/>
                      </a:lnTo>
                    </a:path>
                  </a:pathLst>
                </a:custGeom>
                <a:solidFill>
                  <a:srgbClr val="DBDBCE"/>
                </a:solidFill>
                <a:ln w="12699" cap="rnd">
                  <a:solidFill>
                    <a:srgbClr val="494936"/>
                  </a:solidFill>
                  <a:round/>
                  <a:headEnd/>
                  <a:tailEnd/>
                </a:ln>
              </p:spPr>
              <p:txBody>
                <a:bodyPr/>
                <a:lstStyle/>
                <a:p>
                  <a:endParaRPr lang="zh-CN" altLang="en-US"/>
                </a:p>
              </p:txBody>
            </p:sp>
            <p:sp>
              <p:nvSpPr>
                <p:cNvPr id="14387" name="Freeform 208">
                  <a:extLst>
                    <a:ext uri="{FF2B5EF4-FFF2-40B4-BE49-F238E27FC236}">
                      <a16:creationId xmlns:a16="http://schemas.microsoft.com/office/drawing/2014/main" id="{B67CBB88-B28A-BE48-B81A-91B45DEC4483}"/>
                    </a:ext>
                  </a:extLst>
                </p:cNvPr>
                <p:cNvSpPr>
                  <a:spLocks/>
                </p:cNvSpPr>
                <p:nvPr/>
              </p:nvSpPr>
              <p:spPr bwMode="auto">
                <a:xfrm>
                  <a:off x="1125" y="2503"/>
                  <a:ext cx="181" cy="28"/>
                </a:xfrm>
                <a:custGeom>
                  <a:avLst/>
                  <a:gdLst>
                    <a:gd name="T0" fmla="*/ 180 w 181"/>
                    <a:gd name="T1" fmla="*/ 27 h 28"/>
                    <a:gd name="T2" fmla="*/ 157 w 181"/>
                    <a:gd name="T3" fmla="*/ 0 h 28"/>
                    <a:gd name="T4" fmla="*/ 0 w 181"/>
                    <a:gd name="T5" fmla="*/ 0 h 28"/>
                    <a:gd name="T6" fmla="*/ 23 w 181"/>
                    <a:gd name="T7" fmla="*/ 27 h 28"/>
                    <a:gd name="T8" fmla="*/ 180 w 181"/>
                    <a:gd name="T9" fmla="*/ 27 h 28"/>
                    <a:gd name="T10" fmla="*/ 0 60000 65536"/>
                    <a:gd name="T11" fmla="*/ 0 60000 65536"/>
                    <a:gd name="T12" fmla="*/ 0 60000 65536"/>
                    <a:gd name="T13" fmla="*/ 0 60000 65536"/>
                    <a:gd name="T14" fmla="*/ 0 60000 65536"/>
                    <a:gd name="T15" fmla="*/ 0 w 181"/>
                    <a:gd name="T16" fmla="*/ 0 h 28"/>
                    <a:gd name="T17" fmla="*/ 181 w 181"/>
                    <a:gd name="T18" fmla="*/ 28 h 28"/>
                  </a:gdLst>
                  <a:ahLst/>
                  <a:cxnLst>
                    <a:cxn ang="T10">
                      <a:pos x="T0" y="T1"/>
                    </a:cxn>
                    <a:cxn ang="T11">
                      <a:pos x="T2" y="T3"/>
                    </a:cxn>
                    <a:cxn ang="T12">
                      <a:pos x="T4" y="T5"/>
                    </a:cxn>
                    <a:cxn ang="T13">
                      <a:pos x="T6" y="T7"/>
                    </a:cxn>
                    <a:cxn ang="T14">
                      <a:pos x="T8" y="T9"/>
                    </a:cxn>
                  </a:cxnLst>
                  <a:rect l="T15" t="T16" r="T17" b="T18"/>
                  <a:pathLst>
                    <a:path w="181" h="28">
                      <a:moveTo>
                        <a:pt x="180" y="27"/>
                      </a:moveTo>
                      <a:lnTo>
                        <a:pt x="157" y="0"/>
                      </a:lnTo>
                      <a:lnTo>
                        <a:pt x="0" y="0"/>
                      </a:lnTo>
                      <a:lnTo>
                        <a:pt x="23" y="27"/>
                      </a:lnTo>
                      <a:lnTo>
                        <a:pt x="180" y="27"/>
                      </a:lnTo>
                    </a:path>
                  </a:pathLst>
                </a:custGeom>
                <a:solidFill>
                  <a:srgbClr val="C9C9B6"/>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14388" name="Freeform 209">
                  <a:extLst>
                    <a:ext uri="{FF2B5EF4-FFF2-40B4-BE49-F238E27FC236}">
                      <a16:creationId xmlns:a16="http://schemas.microsoft.com/office/drawing/2014/main" id="{9133B812-9982-9C45-9BFD-5F67D74943A3}"/>
                    </a:ext>
                  </a:extLst>
                </p:cNvPr>
                <p:cNvSpPr>
                  <a:spLocks/>
                </p:cNvSpPr>
                <p:nvPr/>
              </p:nvSpPr>
              <p:spPr bwMode="auto">
                <a:xfrm>
                  <a:off x="1125" y="2503"/>
                  <a:ext cx="181" cy="28"/>
                </a:xfrm>
                <a:custGeom>
                  <a:avLst/>
                  <a:gdLst>
                    <a:gd name="T0" fmla="*/ 180 w 181"/>
                    <a:gd name="T1" fmla="*/ 27 h 28"/>
                    <a:gd name="T2" fmla="*/ 157 w 181"/>
                    <a:gd name="T3" fmla="*/ 0 h 28"/>
                    <a:gd name="T4" fmla="*/ 0 w 181"/>
                    <a:gd name="T5" fmla="*/ 0 h 28"/>
                    <a:gd name="T6" fmla="*/ 23 w 181"/>
                    <a:gd name="T7" fmla="*/ 27 h 28"/>
                    <a:gd name="T8" fmla="*/ 180 w 181"/>
                    <a:gd name="T9" fmla="*/ 27 h 28"/>
                    <a:gd name="T10" fmla="*/ 0 60000 65536"/>
                    <a:gd name="T11" fmla="*/ 0 60000 65536"/>
                    <a:gd name="T12" fmla="*/ 0 60000 65536"/>
                    <a:gd name="T13" fmla="*/ 0 60000 65536"/>
                    <a:gd name="T14" fmla="*/ 0 60000 65536"/>
                    <a:gd name="T15" fmla="*/ 0 w 181"/>
                    <a:gd name="T16" fmla="*/ 0 h 28"/>
                    <a:gd name="T17" fmla="*/ 181 w 181"/>
                    <a:gd name="T18" fmla="*/ 28 h 28"/>
                  </a:gdLst>
                  <a:ahLst/>
                  <a:cxnLst>
                    <a:cxn ang="T10">
                      <a:pos x="T0" y="T1"/>
                    </a:cxn>
                    <a:cxn ang="T11">
                      <a:pos x="T2" y="T3"/>
                    </a:cxn>
                    <a:cxn ang="T12">
                      <a:pos x="T4" y="T5"/>
                    </a:cxn>
                    <a:cxn ang="T13">
                      <a:pos x="T6" y="T7"/>
                    </a:cxn>
                    <a:cxn ang="T14">
                      <a:pos x="T8" y="T9"/>
                    </a:cxn>
                  </a:cxnLst>
                  <a:rect l="T15" t="T16" r="T17" b="T18"/>
                  <a:pathLst>
                    <a:path w="181" h="28">
                      <a:moveTo>
                        <a:pt x="180" y="27"/>
                      </a:moveTo>
                      <a:lnTo>
                        <a:pt x="157" y="0"/>
                      </a:lnTo>
                      <a:lnTo>
                        <a:pt x="0" y="0"/>
                      </a:lnTo>
                      <a:lnTo>
                        <a:pt x="23" y="27"/>
                      </a:lnTo>
                      <a:lnTo>
                        <a:pt x="180" y="27"/>
                      </a:lnTo>
                    </a:path>
                  </a:pathLst>
                </a:custGeom>
                <a:solidFill>
                  <a:srgbClr val="C9C9B6"/>
                </a:solidFill>
                <a:ln w="12699" cap="rnd">
                  <a:solidFill>
                    <a:srgbClr val="494936"/>
                  </a:solidFill>
                  <a:round/>
                  <a:headEnd/>
                  <a:tailEnd/>
                </a:ln>
              </p:spPr>
              <p:txBody>
                <a:bodyPr/>
                <a:lstStyle/>
                <a:p>
                  <a:endParaRPr lang="zh-CN" altLang="en-US"/>
                </a:p>
              </p:txBody>
            </p:sp>
            <p:sp>
              <p:nvSpPr>
                <p:cNvPr id="14389" name="Freeform 210">
                  <a:extLst>
                    <a:ext uri="{FF2B5EF4-FFF2-40B4-BE49-F238E27FC236}">
                      <a16:creationId xmlns:a16="http://schemas.microsoft.com/office/drawing/2014/main" id="{12989649-9BAF-8645-B6B2-F9F1ECEC7D39}"/>
                    </a:ext>
                  </a:extLst>
                </p:cNvPr>
                <p:cNvSpPr>
                  <a:spLocks/>
                </p:cNvSpPr>
                <p:nvPr/>
              </p:nvSpPr>
              <p:spPr bwMode="auto">
                <a:xfrm>
                  <a:off x="1148" y="2530"/>
                  <a:ext cx="158" cy="17"/>
                </a:xfrm>
                <a:custGeom>
                  <a:avLst/>
                  <a:gdLst>
                    <a:gd name="T0" fmla="*/ 157 w 158"/>
                    <a:gd name="T1" fmla="*/ 0 h 17"/>
                    <a:gd name="T2" fmla="*/ 0 w 158"/>
                    <a:gd name="T3" fmla="*/ 0 h 17"/>
                    <a:gd name="T4" fmla="*/ 0 w 158"/>
                    <a:gd name="T5" fmla="*/ 16 h 17"/>
                    <a:gd name="T6" fmla="*/ 157 w 158"/>
                    <a:gd name="T7" fmla="*/ 16 h 17"/>
                    <a:gd name="T8" fmla="*/ 157 w 158"/>
                    <a:gd name="T9" fmla="*/ 0 h 17"/>
                    <a:gd name="T10" fmla="*/ 0 60000 65536"/>
                    <a:gd name="T11" fmla="*/ 0 60000 65536"/>
                    <a:gd name="T12" fmla="*/ 0 60000 65536"/>
                    <a:gd name="T13" fmla="*/ 0 60000 65536"/>
                    <a:gd name="T14" fmla="*/ 0 60000 65536"/>
                    <a:gd name="T15" fmla="*/ 0 w 158"/>
                    <a:gd name="T16" fmla="*/ 0 h 17"/>
                    <a:gd name="T17" fmla="*/ 158 w 158"/>
                    <a:gd name="T18" fmla="*/ 17 h 17"/>
                  </a:gdLst>
                  <a:ahLst/>
                  <a:cxnLst>
                    <a:cxn ang="T10">
                      <a:pos x="T0" y="T1"/>
                    </a:cxn>
                    <a:cxn ang="T11">
                      <a:pos x="T2" y="T3"/>
                    </a:cxn>
                    <a:cxn ang="T12">
                      <a:pos x="T4" y="T5"/>
                    </a:cxn>
                    <a:cxn ang="T13">
                      <a:pos x="T6" y="T7"/>
                    </a:cxn>
                    <a:cxn ang="T14">
                      <a:pos x="T8" y="T9"/>
                    </a:cxn>
                  </a:cxnLst>
                  <a:rect l="T15" t="T16" r="T17" b="T18"/>
                  <a:pathLst>
                    <a:path w="158" h="17">
                      <a:moveTo>
                        <a:pt x="157" y="0"/>
                      </a:moveTo>
                      <a:lnTo>
                        <a:pt x="0" y="0"/>
                      </a:lnTo>
                      <a:lnTo>
                        <a:pt x="0" y="16"/>
                      </a:lnTo>
                      <a:lnTo>
                        <a:pt x="157" y="16"/>
                      </a:lnTo>
                      <a:lnTo>
                        <a:pt x="157" y="0"/>
                      </a:lnTo>
                    </a:path>
                  </a:pathLst>
                </a:custGeom>
                <a:solidFill>
                  <a:srgbClr val="B7B79D"/>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zh-CN" altLang="en-US"/>
                </a:p>
              </p:txBody>
            </p:sp>
            <p:sp>
              <p:nvSpPr>
                <p:cNvPr id="14390" name="Freeform 211">
                  <a:extLst>
                    <a:ext uri="{FF2B5EF4-FFF2-40B4-BE49-F238E27FC236}">
                      <a16:creationId xmlns:a16="http://schemas.microsoft.com/office/drawing/2014/main" id="{0DD4B2EC-7105-0B4F-8903-C97134CE16B9}"/>
                    </a:ext>
                  </a:extLst>
                </p:cNvPr>
                <p:cNvSpPr>
                  <a:spLocks/>
                </p:cNvSpPr>
                <p:nvPr/>
              </p:nvSpPr>
              <p:spPr bwMode="auto">
                <a:xfrm>
                  <a:off x="1148" y="2530"/>
                  <a:ext cx="158" cy="17"/>
                </a:xfrm>
                <a:custGeom>
                  <a:avLst/>
                  <a:gdLst>
                    <a:gd name="T0" fmla="*/ 157 w 158"/>
                    <a:gd name="T1" fmla="*/ 0 h 17"/>
                    <a:gd name="T2" fmla="*/ 0 w 158"/>
                    <a:gd name="T3" fmla="*/ 0 h 17"/>
                    <a:gd name="T4" fmla="*/ 0 w 158"/>
                    <a:gd name="T5" fmla="*/ 16 h 17"/>
                    <a:gd name="T6" fmla="*/ 157 w 158"/>
                    <a:gd name="T7" fmla="*/ 16 h 17"/>
                    <a:gd name="T8" fmla="*/ 157 w 158"/>
                    <a:gd name="T9" fmla="*/ 0 h 17"/>
                    <a:gd name="T10" fmla="*/ 0 60000 65536"/>
                    <a:gd name="T11" fmla="*/ 0 60000 65536"/>
                    <a:gd name="T12" fmla="*/ 0 60000 65536"/>
                    <a:gd name="T13" fmla="*/ 0 60000 65536"/>
                    <a:gd name="T14" fmla="*/ 0 60000 65536"/>
                    <a:gd name="T15" fmla="*/ 0 w 158"/>
                    <a:gd name="T16" fmla="*/ 0 h 17"/>
                    <a:gd name="T17" fmla="*/ 158 w 158"/>
                    <a:gd name="T18" fmla="*/ 17 h 17"/>
                  </a:gdLst>
                  <a:ahLst/>
                  <a:cxnLst>
                    <a:cxn ang="T10">
                      <a:pos x="T0" y="T1"/>
                    </a:cxn>
                    <a:cxn ang="T11">
                      <a:pos x="T2" y="T3"/>
                    </a:cxn>
                    <a:cxn ang="T12">
                      <a:pos x="T4" y="T5"/>
                    </a:cxn>
                    <a:cxn ang="T13">
                      <a:pos x="T6" y="T7"/>
                    </a:cxn>
                    <a:cxn ang="T14">
                      <a:pos x="T8" y="T9"/>
                    </a:cxn>
                  </a:cxnLst>
                  <a:rect l="T15" t="T16" r="T17" b="T18"/>
                  <a:pathLst>
                    <a:path w="158" h="17">
                      <a:moveTo>
                        <a:pt x="157" y="0"/>
                      </a:moveTo>
                      <a:lnTo>
                        <a:pt x="0" y="0"/>
                      </a:lnTo>
                      <a:lnTo>
                        <a:pt x="0" y="16"/>
                      </a:lnTo>
                      <a:lnTo>
                        <a:pt x="157" y="16"/>
                      </a:lnTo>
                      <a:lnTo>
                        <a:pt x="157" y="0"/>
                      </a:lnTo>
                    </a:path>
                  </a:pathLst>
                </a:custGeom>
                <a:solidFill>
                  <a:srgbClr val="B7B79D"/>
                </a:solidFill>
                <a:ln w="12699" cap="rnd">
                  <a:solidFill>
                    <a:srgbClr val="494936"/>
                  </a:solidFill>
                  <a:round/>
                  <a:headEnd/>
                  <a:tailEnd/>
                </a:ln>
              </p:spPr>
              <p:txBody>
                <a:bodyPr/>
                <a:lstStyle/>
                <a:p>
                  <a:endParaRPr lang="zh-CN" altLang="en-US"/>
                </a:p>
              </p:txBody>
            </p:sp>
          </p:grpSp>
          <p:grpSp>
            <p:nvGrpSpPr>
              <p:cNvPr id="14355" name="Group 169">
                <a:extLst>
                  <a:ext uri="{FF2B5EF4-FFF2-40B4-BE49-F238E27FC236}">
                    <a16:creationId xmlns:a16="http://schemas.microsoft.com/office/drawing/2014/main" id="{7FF78E8B-F6A4-FD4B-BEAA-D461B9F4C272}"/>
                  </a:ext>
                </a:extLst>
              </p:cNvPr>
              <p:cNvGrpSpPr>
                <a:grpSpLocks/>
              </p:cNvGrpSpPr>
              <p:nvPr/>
            </p:nvGrpSpPr>
            <p:grpSpPr bwMode="auto">
              <a:xfrm>
                <a:off x="2602" y="2210"/>
                <a:ext cx="386" cy="658"/>
                <a:chOff x="1083" y="2300"/>
                <a:chExt cx="340" cy="584"/>
              </a:xfrm>
            </p:grpSpPr>
            <p:sp>
              <p:nvSpPr>
                <p:cNvPr id="14356" name="Freeform 170">
                  <a:extLst>
                    <a:ext uri="{FF2B5EF4-FFF2-40B4-BE49-F238E27FC236}">
                      <a16:creationId xmlns:a16="http://schemas.microsoft.com/office/drawing/2014/main" id="{F889C7DC-F6D6-774B-A999-180B4D431447}"/>
                    </a:ext>
                  </a:extLst>
                </p:cNvPr>
                <p:cNvSpPr>
                  <a:spLocks/>
                </p:cNvSpPr>
                <p:nvPr/>
              </p:nvSpPr>
              <p:spPr bwMode="auto">
                <a:xfrm>
                  <a:off x="1178" y="2485"/>
                  <a:ext cx="68" cy="31"/>
                </a:xfrm>
                <a:custGeom>
                  <a:avLst/>
                  <a:gdLst>
                    <a:gd name="T0" fmla="*/ 67 w 68"/>
                    <a:gd name="T1" fmla="*/ 13 h 31"/>
                    <a:gd name="T2" fmla="*/ 47 w 68"/>
                    <a:gd name="T3" fmla="*/ 13 h 31"/>
                    <a:gd name="T4" fmla="*/ 32 w 68"/>
                    <a:gd name="T5" fmla="*/ 0 h 31"/>
                    <a:gd name="T6" fmla="*/ 12 w 68"/>
                    <a:gd name="T7" fmla="*/ 8 h 31"/>
                    <a:gd name="T8" fmla="*/ 7 w 68"/>
                    <a:gd name="T9" fmla="*/ 10 h 31"/>
                    <a:gd name="T10" fmla="*/ 0 w 68"/>
                    <a:gd name="T11" fmla="*/ 15 h 31"/>
                    <a:gd name="T12" fmla="*/ 2 w 68"/>
                    <a:gd name="T13" fmla="*/ 25 h 31"/>
                    <a:gd name="T14" fmla="*/ 7 w 68"/>
                    <a:gd name="T15" fmla="*/ 25 h 31"/>
                    <a:gd name="T16" fmla="*/ 10 w 68"/>
                    <a:gd name="T17" fmla="*/ 18 h 31"/>
                    <a:gd name="T18" fmla="*/ 12 w 68"/>
                    <a:gd name="T19" fmla="*/ 15 h 31"/>
                    <a:gd name="T20" fmla="*/ 22 w 68"/>
                    <a:gd name="T21" fmla="*/ 18 h 31"/>
                    <a:gd name="T22" fmla="*/ 15 w 68"/>
                    <a:gd name="T23" fmla="*/ 20 h 31"/>
                    <a:gd name="T24" fmla="*/ 12 w 68"/>
                    <a:gd name="T25" fmla="*/ 20 h 31"/>
                    <a:gd name="T26" fmla="*/ 12 w 68"/>
                    <a:gd name="T27" fmla="*/ 25 h 31"/>
                    <a:gd name="T28" fmla="*/ 35 w 68"/>
                    <a:gd name="T29" fmla="*/ 30 h 31"/>
                    <a:gd name="T30" fmla="*/ 50 w 68"/>
                    <a:gd name="T31" fmla="*/ 25 h 31"/>
                    <a:gd name="T32" fmla="*/ 64 w 68"/>
                    <a:gd name="T33" fmla="*/ 25 h 31"/>
                    <a:gd name="T34" fmla="*/ 67 w 68"/>
                    <a:gd name="T35" fmla="*/ 13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8"/>
                    <a:gd name="T55" fmla="*/ 0 h 31"/>
                    <a:gd name="T56" fmla="*/ 68 w 68"/>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8" h="31">
                      <a:moveTo>
                        <a:pt x="67" y="13"/>
                      </a:moveTo>
                      <a:lnTo>
                        <a:pt x="47" y="13"/>
                      </a:lnTo>
                      <a:lnTo>
                        <a:pt x="32" y="0"/>
                      </a:lnTo>
                      <a:lnTo>
                        <a:pt x="12" y="8"/>
                      </a:lnTo>
                      <a:lnTo>
                        <a:pt x="7" y="10"/>
                      </a:lnTo>
                      <a:lnTo>
                        <a:pt x="0" y="15"/>
                      </a:lnTo>
                      <a:lnTo>
                        <a:pt x="2" y="25"/>
                      </a:lnTo>
                      <a:lnTo>
                        <a:pt x="7" y="25"/>
                      </a:lnTo>
                      <a:lnTo>
                        <a:pt x="10" y="18"/>
                      </a:lnTo>
                      <a:lnTo>
                        <a:pt x="12" y="15"/>
                      </a:lnTo>
                      <a:lnTo>
                        <a:pt x="22" y="18"/>
                      </a:lnTo>
                      <a:lnTo>
                        <a:pt x="15" y="20"/>
                      </a:lnTo>
                      <a:lnTo>
                        <a:pt x="12" y="20"/>
                      </a:lnTo>
                      <a:lnTo>
                        <a:pt x="12" y="25"/>
                      </a:lnTo>
                      <a:lnTo>
                        <a:pt x="35" y="30"/>
                      </a:lnTo>
                      <a:lnTo>
                        <a:pt x="50" y="25"/>
                      </a:lnTo>
                      <a:lnTo>
                        <a:pt x="64" y="25"/>
                      </a:lnTo>
                      <a:lnTo>
                        <a:pt x="67" y="13"/>
                      </a:lnTo>
                    </a:path>
                  </a:pathLst>
                </a:custGeom>
                <a:solidFill>
                  <a:srgbClr val="FBDFAF"/>
                </a:solidFill>
                <a:ln w="12699" cap="rnd">
                  <a:solidFill>
                    <a:srgbClr val="000000"/>
                  </a:solidFill>
                  <a:round/>
                  <a:headEnd/>
                  <a:tailEnd/>
                </a:ln>
              </p:spPr>
              <p:txBody>
                <a:bodyPr/>
                <a:lstStyle/>
                <a:p>
                  <a:endParaRPr lang="zh-CN" altLang="en-US"/>
                </a:p>
              </p:txBody>
            </p:sp>
            <p:sp>
              <p:nvSpPr>
                <p:cNvPr id="14357" name="Freeform 171">
                  <a:extLst>
                    <a:ext uri="{FF2B5EF4-FFF2-40B4-BE49-F238E27FC236}">
                      <a16:creationId xmlns:a16="http://schemas.microsoft.com/office/drawing/2014/main" id="{5DB9955E-7031-B249-BC86-E9741BF331A1}"/>
                    </a:ext>
                  </a:extLst>
                </p:cNvPr>
                <p:cNvSpPr>
                  <a:spLocks/>
                </p:cNvSpPr>
                <p:nvPr/>
              </p:nvSpPr>
              <p:spPr bwMode="auto">
                <a:xfrm>
                  <a:off x="1158" y="2678"/>
                  <a:ext cx="63" cy="78"/>
                </a:xfrm>
                <a:custGeom>
                  <a:avLst/>
                  <a:gdLst>
                    <a:gd name="T0" fmla="*/ 27 w 63"/>
                    <a:gd name="T1" fmla="*/ 0 h 78"/>
                    <a:gd name="T2" fmla="*/ 25 w 63"/>
                    <a:gd name="T3" fmla="*/ 35 h 78"/>
                    <a:gd name="T4" fmla="*/ 20 w 63"/>
                    <a:gd name="T5" fmla="*/ 37 h 78"/>
                    <a:gd name="T6" fmla="*/ 2 w 63"/>
                    <a:gd name="T7" fmla="*/ 50 h 78"/>
                    <a:gd name="T8" fmla="*/ 0 w 63"/>
                    <a:gd name="T9" fmla="*/ 70 h 78"/>
                    <a:gd name="T10" fmla="*/ 17 w 63"/>
                    <a:gd name="T11" fmla="*/ 70 h 78"/>
                    <a:gd name="T12" fmla="*/ 30 w 63"/>
                    <a:gd name="T13" fmla="*/ 70 h 78"/>
                    <a:gd name="T14" fmla="*/ 30 w 63"/>
                    <a:gd name="T15" fmla="*/ 75 h 78"/>
                    <a:gd name="T16" fmla="*/ 50 w 63"/>
                    <a:gd name="T17" fmla="*/ 77 h 78"/>
                    <a:gd name="T18" fmla="*/ 57 w 63"/>
                    <a:gd name="T19" fmla="*/ 77 h 78"/>
                    <a:gd name="T20" fmla="*/ 62 w 63"/>
                    <a:gd name="T21" fmla="*/ 77 h 78"/>
                    <a:gd name="T22" fmla="*/ 62 w 63"/>
                    <a:gd name="T23" fmla="*/ 60 h 78"/>
                    <a:gd name="T24" fmla="*/ 60 w 63"/>
                    <a:gd name="T25" fmla="*/ 55 h 78"/>
                    <a:gd name="T26" fmla="*/ 55 w 63"/>
                    <a:gd name="T27" fmla="*/ 42 h 78"/>
                    <a:gd name="T28" fmla="*/ 57 w 63"/>
                    <a:gd name="T29" fmla="*/ 7 h 78"/>
                    <a:gd name="T30" fmla="*/ 27 w 63"/>
                    <a:gd name="T31" fmla="*/ 0 h 7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3"/>
                    <a:gd name="T49" fmla="*/ 0 h 78"/>
                    <a:gd name="T50" fmla="*/ 63 w 63"/>
                    <a:gd name="T51" fmla="*/ 78 h 7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3" h="78">
                      <a:moveTo>
                        <a:pt x="27" y="0"/>
                      </a:moveTo>
                      <a:lnTo>
                        <a:pt x="25" y="35"/>
                      </a:lnTo>
                      <a:lnTo>
                        <a:pt x="20" y="37"/>
                      </a:lnTo>
                      <a:lnTo>
                        <a:pt x="2" y="50"/>
                      </a:lnTo>
                      <a:lnTo>
                        <a:pt x="0" y="70"/>
                      </a:lnTo>
                      <a:lnTo>
                        <a:pt x="17" y="70"/>
                      </a:lnTo>
                      <a:lnTo>
                        <a:pt x="30" y="70"/>
                      </a:lnTo>
                      <a:lnTo>
                        <a:pt x="30" y="75"/>
                      </a:lnTo>
                      <a:lnTo>
                        <a:pt x="50" y="77"/>
                      </a:lnTo>
                      <a:lnTo>
                        <a:pt x="57" y="77"/>
                      </a:lnTo>
                      <a:lnTo>
                        <a:pt x="62" y="77"/>
                      </a:lnTo>
                      <a:lnTo>
                        <a:pt x="62" y="60"/>
                      </a:lnTo>
                      <a:lnTo>
                        <a:pt x="60" y="55"/>
                      </a:lnTo>
                      <a:lnTo>
                        <a:pt x="55" y="42"/>
                      </a:lnTo>
                      <a:lnTo>
                        <a:pt x="57" y="7"/>
                      </a:lnTo>
                      <a:lnTo>
                        <a:pt x="27" y="0"/>
                      </a:lnTo>
                    </a:path>
                  </a:pathLst>
                </a:custGeom>
                <a:solidFill>
                  <a:schemeClr val="bg2"/>
                </a:solidFill>
                <a:ln w="12699" cap="rnd">
                  <a:solidFill>
                    <a:srgbClr val="000000"/>
                  </a:solidFill>
                  <a:round/>
                  <a:headEnd/>
                  <a:tailEnd/>
                </a:ln>
              </p:spPr>
              <p:txBody>
                <a:bodyPr/>
                <a:lstStyle/>
                <a:p>
                  <a:endParaRPr lang="zh-CN" altLang="en-US"/>
                </a:p>
              </p:txBody>
            </p:sp>
            <p:sp>
              <p:nvSpPr>
                <p:cNvPr id="14358" name="Freeform 172">
                  <a:extLst>
                    <a:ext uri="{FF2B5EF4-FFF2-40B4-BE49-F238E27FC236}">
                      <a16:creationId xmlns:a16="http://schemas.microsoft.com/office/drawing/2014/main" id="{E8DF00E9-6585-BD4B-9EA3-95500C243201}"/>
                    </a:ext>
                  </a:extLst>
                </p:cNvPr>
                <p:cNvSpPr>
                  <a:spLocks/>
                </p:cNvSpPr>
                <p:nvPr/>
              </p:nvSpPr>
              <p:spPr bwMode="auto">
                <a:xfrm>
                  <a:off x="1083" y="2725"/>
                  <a:ext cx="96" cy="79"/>
                </a:xfrm>
                <a:custGeom>
                  <a:avLst/>
                  <a:gdLst>
                    <a:gd name="T0" fmla="*/ 47 w 96"/>
                    <a:gd name="T1" fmla="*/ 0 h 79"/>
                    <a:gd name="T2" fmla="*/ 52 w 96"/>
                    <a:gd name="T3" fmla="*/ 25 h 79"/>
                    <a:gd name="T4" fmla="*/ 45 w 96"/>
                    <a:gd name="T5" fmla="*/ 25 h 79"/>
                    <a:gd name="T6" fmla="*/ 30 w 96"/>
                    <a:gd name="T7" fmla="*/ 35 h 79"/>
                    <a:gd name="T8" fmla="*/ 10 w 96"/>
                    <a:gd name="T9" fmla="*/ 35 h 79"/>
                    <a:gd name="T10" fmla="*/ 3 w 96"/>
                    <a:gd name="T11" fmla="*/ 38 h 79"/>
                    <a:gd name="T12" fmla="*/ 0 w 96"/>
                    <a:gd name="T13" fmla="*/ 45 h 79"/>
                    <a:gd name="T14" fmla="*/ 3 w 96"/>
                    <a:gd name="T15" fmla="*/ 53 h 79"/>
                    <a:gd name="T16" fmla="*/ 23 w 96"/>
                    <a:gd name="T17" fmla="*/ 65 h 79"/>
                    <a:gd name="T18" fmla="*/ 30 w 96"/>
                    <a:gd name="T19" fmla="*/ 68 h 79"/>
                    <a:gd name="T20" fmla="*/ 43 w 96"/>
                    <a:gd name="T21" fmla="*/ 68 h 79"/>
                    <a:gd name="T22" fmla="*/ 62 w 96"/>
                    <a:gd name="T23" fmla="*/ 70 h 79"/>
                    <a:gd name="T24" fmla="*/ 62 w 96"/>
                    <a:gd name="T25" fmla="*/ 78 h 79"/>
                    <a:gd name="T26" fmla="*/ 70 w 96"/>
                    <a:gd name="T27" fmla="*/ 78 h 79"/>
                    <a:gd name="T28" fmla="*/ 80 w 96"/>
                    <a:gd name="T29" fmla="*/ 78 h 79"/>
                    <a:gd name="T30" fmla="*/ 87 w 96"/>
                    <a:gd name="T31" fmla="*/ 75 h 79"/>
                    <a:gd name="T32" fmla="*/ 95 w 96"/>
                    <a:gd name="T33" fmla="*/ 70 h 79"/>
                    <a:gd name="T34" fmla="*/ 95 w 96"/>
                    <a:gd name="T35" fmla="*/ 58 h 79"/>
                    <a:gd name="T36" fmla="*/ 90 w 96"/>
                    <a:gd name="T37" fmla="*/ 45 h 79"/>
                    <a:gd name="T38" fmla="*/ 87 w 96"/>
                    <a:gd name="T39" fmla="*/ 38 h 79"/>
                    <a:gd name="T40" fmla="*/ 82 w 96"/>
                    <a:gd name="T41" fmla="*/ 30 h 79"/>
                    <a:gd name="T42" fmla="*/ 77 w 96"/>
                    <a:gd name="T43" fmla="*/ 5 h 79"/>
                    <a:gd name="T44" fmla="*/ 47 w 96"/>
                    <a:gd name="T45" fmla="*/ 0 h 7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6"/>
                    <a:gd name="T70" fmla="*/ 0 h 79"/>
                    <a:gd name="T71" fmla="*/ 96 w 96"/>
                    <a:gd name="T72" fmla="*/ 79 h 7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6" h="79">
                      <a:moveTo>
                        <a:pt x="47" y="0"/>
                      </a:moveTo>
                      <a:lnTo>
                        <a:pt x="52" y="25"/>
                      </a:lnTo>
                      <a:lnTo>
                        <a:pt x="45" y="25"/>
                      </a:lnTo>
                      <a:lnTo>
                        <a:pt x="30" y="35"/>
                      </a:lnTo>
                      <a:lnTo>
                        <a:pt x="10" y="35"/>
                      </a:lnTo>
                      <a:lnTo>
                        <a:pt x="3" y="38"/>
                      </a:lnTo>
                      <a:lnTo>
                        <a:pt x="0" y="45"/>
                      </a:lnTo>
                      <a:lnTo>
                        <a:pt x="3" y="53"/>
                      </a:lnTo>
                      <a:lnTo>
                        <a:pt x="23" y="65"/>
                      </a:lnTo>
                      <a:lnTo>
                        <a:pt x="30" y="68"/>
                      </a:lnTo>
                      <a:lnTo>
                        <a:pt x="43" y="68"/>
                      </a:lnTo>
                      <a:lnTo>
                        <a:pt x="62" y="70"/>
                      </a:lnTo>
                      <a:lnTo>
                        <a:pt x="62" y="78"/>
                      </a:lnTo>
                      <a:lnTo>
                        <a:pt x="70" y="78"/>
                      </a:lnTo>
                      <a:lnTo>
                        <a:pt x="80" y="78"/>
                      </a:lnTo>
                      <a:lnTo>
                        <a:pt x="87" y="75"/>
                      </a:lnTo>
                      <a:lnTo>
                        <a:pt x="95" y="70"/>
                      </a:lnTo>
                      <a:lnTo>
                        <a:pt x="95" y="58"/>
                      </a:lnTo>
                      <a:lnTo>
                        <a:pt x="90" y="45"/>
                      </a:lnTo>
                      <a:lnTo>
                        <a:pt x="87" y="38"/>
                      </a:lnTo>
                      <a:lnTo>
                        <a:pt x="82" y="30"/>
                      </a:lnTo>
                      <a:lnTo>
                        <a:pt x="77" y="5"/>
                      </a:lnTo>
                      <a:lnTo>
                        <a:pt x="47" y="0"/>
                      </a:lnTo>
                    </a:path>
                  </a:pathLst>
                </a:custGeom>
                <a:solidFill>
                  <a:schemeClr val="bg2"/>
                </a:solidFill>
                <a:ln w="12699" cap="rnd">
                  <a:solidFill>
                    <a:srgbClr val="000000"/>
                  </a:solidFill>
                  <a:round/>
                  <a:headEnd/>
                  <a:tailEnd/>
                </a:ln>
              </p:spPr>
              <p:txBody>
                <a:bodyPr/>
                <a:lstStyle/>
                <a:p>
                  <a:endParaRPr lang="zh-CN" altLang="en-US"/>
                </a:p>
              </p:txBody>
            </p:sp>
            <p:sp>
              <p:nvSpPr>
                <p:cNvPr id="14359" name="Freeform 173">
                  <a:extLst>
                    <a:ext uri="{FF2B5EF4-FFF2-40B4-BE49-F238E27FC236}">
                      <a16:creationId xmlns:a16="http://schemas.microsoft.com/office/drawing/2014/main" id="{16BF95C9-177C-AE4B-BEB7-1D5117A2FED6}"/>
                    </a:ext>
                  </a:extLst>
                </p:cNvPr>
                <p:cNvSpPr>
                  <a:spLocks/>
                </p:cNvSpPr>
                <p:nvPr/>
              </p:nvSpPr>
              <p:spPr bwMode="auto">
                <a:xfrm>
                  <a:off x="1208" y="2717"/>
                  <a:ext cx="187" cy="167"/>
                </a:xfrm>
                <a:custGeom>
                  <a:avLst/>
                  <a:gdLst>
                    <a:gd name="T0" fmla="*/ 74 w 187"/>
                    <a:gd name="T1" fmla="*/ 0 h 167"/>
                    <a:gd name="T2" fmla="*/ 72 w 187"/>
                    <a:gd name="T3" fmla="*/ 56 h 167"/>
                    <a:gd name="T4" fmla="*/ 7 w 187"/>
                    <a:gd name="T5" fmla="*/ 31 h 167"/>
                    <a:gd name="T6" fmla="*/ 2 w 187"/>
                    <a:gd name="T7" fmla="*/ 33 h 167"/>
                    <a:gd name="T8" fmla="*/ 0 w 187"/>
                    <a:gd name="T9" fmla="*/ 51 h 167"/>
                    <a:gd name="T10" fmla="*/ 5 w 187"/>
                    <a:gd name="T11" fmla="*/ 51 h 167"/>
                    <a:gd name="T12" fmla="*/ 5 w 187"/>
                    <a:gd name="T13" fmla="*/ 58 h 167"/>
                    <a:gd name="T14" fmla="*/ 7 w 187"/>
                    <a:gd name="T15" fmla="*/ 63 h 167"/>
                    <a:gd name="T16" fmla="*/ 10 w 187"/>
                    <a:gd name="T17" fmla="*/ 63 h 167"/>
                    <a:gd name="T18" fmla="*/ 15 w 187"/>
                    <a:gd name="T19" fmla="*/ 61 h 167"/>
                    <a:gd name="T20" fmla="*/ 17 w 187"/>
                    <a:gd name="T21" fmla="*/ 56 h 167"/>
                    <a:gd name="T22" fmla="*/ 17 w 187"/>
                    <a:gd name="T23" fmla="*/ 51 h 167"/>
                    <a:gd name="T24" fmla="*/ 67 w 187"/>
                    <a:gd name="T25" fmla="*/ 71 h 167"/>
                    <a:gd name="T26" fmla="*/ 22 w 187"/>
                    <a:gd name="T27" fmla="*/ 121 h 167"/>
                    <a:gd name="T28" fmla="*/ 20 w 187"/>
                    <a:gd name="T29" fmla="*/ 141 h 167"/>
                    <a:gd name="T30" fmla="*/ 22 w 187"/>
                    <a:gd name="T31" fmla="*/ 148 h 167"/>
                    <a:gd name="T32" fmla="*/ 22 w 187"/>
                    <a:gd name="T33" fmla="*/ 153 h 167"/>
                    <a:gd name="T34" fmla="*/ 24 w 187"/>
                    <a:gd name="T35" fmla="*/ 161 h 167"/>
                    <a:gd name="T36" fmla="*/ 27 w 187"/>
                    <a:gd name="T37" fmla="*/ 163 h 167"/>
                    <a:gd name="T38" fmla="*/ 29 w 187"/>
                    <a:gd name="T39" fmla="*/ 163 h 167"/>
                    <a:gd name="T40" fmla="*/ 34 w 187"/>
                    <a:gd name="T41" fmla="*/ 166 h 167"/>
                    <a:gd name="T42" fmla="*/ 37 w 187"/>
                    <a:gd name="T43" fmla="*/ 163 h 167"/>
                    <a:gd name="T44" fmla="*/ 39 w 187"/>
                    <a:gd name="T45" fmla="*/ 156 h 167"/>
                    <a:gd name="T46" fmla="*/ 42 w 187"/>
                    <a:gd name="T47" fmla="*/ 153 h 167"/>
                    <a:gd name="T48" fmla="*/ 37 w 187"/>
                    <a:gd name="T49" fmla="*/ 148 h 167"/>
                    <a:gd name="T50" fmla="*/ 34 w 187"/>
                    <a:gd name="T51" fmla="*/ 146 h 167"/>
                    <a:gd name="T52" fmla="*/ 34 w 187"/>
                    <a:gd name="T53" fmla="*/ 141 h 167"/>
                    <a:gd name="T54" fmla="*/ 32 w 187"/>
                    <a:gd name="T55" fmla="*/ 141 h 167"/>
                    <a:gd name="T56" fmla="*/ 29 w 187"/>
                    <a:gd name="T57" fmla="*/ 136 h 167"/>
                    <a:gd name="T58" fmla="*/ 82 w 187"/>
                    <a:gd name="T59" fmla="*/ 76 h 167"/>
                    <a:gd name="T60" fmla="*/ 169 w 187"/>
                    <a:gd name="T61" fmla="*/ 126 h 167"/>
                    <a:gd name="T62" fmla="*/ 169 w 187"/>
                    <a:gd name="T63" fmla="*/ 133 h 167"/>
                    <a:gd name="T64" fmla="*/ 171 w 187"/>
                    <a:gd name="T65" fmla="*/ 136 h 167"/>
                    <a:gd name="T66" fmla="*/ 171 w 187"/>
                    <a:gd name="T67" fmla="*/ 148 h 167"/>
                    <a:gd name="T68" fmla="*/ 174 w 187"/>
                    <a:gd name="T69" fmla="*/ 151 h 167"/>
                    <a:gd name="T70" fmla="*/ 176 w 187"/>
                    <a:gd name="T71" fmla="*/ 153 h 167"/>
                    <a:gd name="T72" fmla="*/ 181 w 187"/>
                    <a:gd name="T73" fmla="*/ 153 h 167"/>
                    <a:gd name="T74" fmla="*/ 186 w 187"/>
                    <a:gd name="T75" fmla="*/ 148 h 167"/>
                    <a:gd name="T76" fmla="*/ 181 w 187"/>
                    <a:gd name="T77" fmla="*/ 136 h 167"/>
                    <a:gd name="T78" fmla="*/ 181 w 187"/>
                    <a:gd name="T79" fmla="*/ 131 h 167"/>
                    <a:gd name="T80" fmla="*/ 176 w 187"/>
                    <a:gd name="T81" fmla="*/ 123 h 167"/>
                    <a:gd name="T82" fmla="*/ 179 w 187"/>
                    <a:gd name="T83" fmla="*/ 108 h 167"/>
                    <a:gd name="T84" fmla="*/ 97 w 187"/>
                    <a:gd name="T85" fmla="*/ 66 h 167"/>
                    <a:gd name="T86" fmla="*/ 124 w 187"/>
                    <a:gd name="T87" fmla="*/ 41 h 167"/>
                    <a:gd name="T88" fmla="*/ 129 w 187"/>
                    <a:gd name="T89" fmla="*/ 46 h 167"/>
                    <a:gd name="T90" fmla="*/ 131 w 187"/>
                    <a:gd name="T91" fmla="*/ 51 h 167"/>
                    <a:gd name="T92" fmla="*/ 136 w 187"/>
                    <a:gd name="T93" fmla="*/ 56 h 167"/>
                    <a:gd name="T94" fmla="*/ 146 w 187"/>
                    <a:gd name="T95" fmla="*/ 48 h 167"/>
                    <a:gd name="T96" fmla="*/ 146 w 187"/>
                    <a:gd name="T97" fmla="*/ 46 h 167"/>
                    <a:gd name="T98" fmla="*/ 144 w 187"/>
                    <a:gd name="T99" fmla="*/ 41 h 167"/>
                    <a:gd name="T100" fmla="*/ 136 w 187"/>
                    <a:gd name="T101" fmla="*/ 38 h 167"/>
                    <a:gd name="T102" fmla="*/ 134 w 187"/>
                    <a:gd name="T103" fmla="*/ 31 h 167"/>
                    <a:gd name="T104" fmla="*/ 121 w 187"/>
                    <a:gd name="T105" fmla="*/ 21 h 167"/>
                    <a:gd name="T106" fmla="*/ 92 w 187"/>
                    <a:gd name="T107" fmla="*/ 48 h 167"/>
                    <a:gd name="T108" fmla="*/ 93 w 187"/>
                    <a:gd name="T109" fmla="*/ 5 h 167"/>
                    <a:gd name="T110" fmla="*/ 74 w 187"/>
                    <a:gd name="T111" fmla="*/ 0 h 16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87"/>
                    <a:gd name="T169" fmla="*/ 0 h 167"/>
                    <a:gd name="T170" fmla="*/ 187 w 187"/>
                    <a:gd name="T171" fmla="*/ 167 h 16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87" h="167">
                      <a:moveTo>
                        <a:pt x="74" y="0"/>
                      </a:moveTo>
                      <a:lnTo>
                        <a:pt x="72" y="56"/>
                      </a:lnTo>
                      <a:lnTo>
                        <a:pt x="7" y="31"/>
                      </a:lnTo>
                      <a:lnTo>
                        <a:pt x="2" y="33"/>
                      </a:lnTo>
                      <a:lnTo>
                        <a:pt x="0" y="51"/>
                      </a:lnTo>
                      <a:lnTo>
                        <a:pt x="5" y="51"/>
                      </a:lnTo>
                      <a:lnTo>
                        <a:pt x="5" y="58"/>
                      </a:lnTo>
                      <a:lnTo>
                        <a:pt x="7" y="63"/>
                      </a:lnTo>
                      <a:lnTo>
                        <a:pt x="10" y="63"/>
                      </a:lnTo>
                      <a:lnTo>
                        <a:pt x="15" y="61"/>
                      </a:lnTo>
                      <a:lnTo>
                        <a:pt x="17" y="56"/>
                      </a:lnTo>
                      <a:lnTo>
                        <a:pt x="17" y="51"/>
                      </a:lnTo>
                      <a:lnTo>
                        <a:pt x="67" y="71"/>
                      </a:lnTo>
                      <a:lnTo>
                        <a:pt x="22" y="121"/>
                      </a:lnTo>
                      <a:lnTo>
                        <a:pt x="20" y="141"/>
                      </a:lnTo>
                      <a:lnTo>
                        <a:pt x="22" y="148"/>
                      </a:lnTo>
                      <a:lnTo>
                        <a:pt x="22" y="153"/>
                      </a:lnTo>
                      <a:lnTo>
                        <a:pt x="24" y="161"/>
                      </a:lnTo>
                      <a:lnTo>
                        <a:pt x="27" y="163"/>
                      </a:lnTo>
                      <a:lnTo>
                        <a:pt x="29" y="163"/>
                      </a:lnTo>
                      <a:lnTo>
                        <a:pt x="34" y="166"/>
                      </a:lnTo>
                      <a:lnTo>
                        <a:pt x="37" y="163"/>
                      </a:lnTo>
                      <a:lnTo>
                        <a:pt x="39" y="156"/>
                      </a:lnTo>
                      <a:lnTo>
                        <a:pt x="42" y="153"/>
                      </a:lnTo>
                      <a:lnTo>
                        <a:pt x="37" y="148"/>
                      </a:lnTo>
                      <a:lnTo>
                        <a:pt x="34" y="146"/>
                      </a:lnTo>
                      <a:lnTo>
                        <a:pt x="34" y="141"/>
                      </a:lnTo>
                      <a:lnTo>
                        <a:pt x="32" y="141"/>
                      </a:lnTo>
                      <a:lnTo>
                        <a:pt x="29" y="136"/>
                      </a:lnTo>
                      <a:lnTo>
                        <a:pt x="82" y="76"/>
                      </a:lnTo>
                      <a:lnTo>
                        <a:pt x="169" y="126"/>
                      </a:lnTo>
                      <a:lnTo>
                        <a:pt x="169" y="133"/>
                      </a:lnTo>
                      <a:lnTo>
                        <a:pt x="171" y="136"/>
                      </a:lnTo>
                      <a:lnTo>
                        <a:pt x="171" y="148"/>
                      </a:lnTo>
                      <a:lnTo>
                        <a:pt x="174" y="151"/>
                      </a:lnTo>
                      <a:lnTo>
                        <a:pt x="176" y="153"/>
                      </a:lnTo>
                      <a:lnTo>
                        <a:pt x="181" y="153"/>
                      </a:lnTo>
                      <a:lnTo>
                        <a:pt x="186" y="148"/>
                      </a:lnTo>
                      <a:lnTo>
                        <a:pt x="181" y="136"/>
                      </a:lnTo>
                      <a:lnTo>
                        <a:pt x="181" y="131"/>
                      </a:lnTo>
                      <a:lnTo>
                        <a:pt x="176" y="123"/>
                      </a:lnTo>
                      <a:lnTo>
                        <a:pt x="179" y="108"/>
                      </a:lnTo>
                      <a:lnTo>
                        <a:pt x="97" y="66"/>
                      </a:lnTo>
                      <a:lnTo>
                        <a:pt x="124" y="41"/>
                      </a:lnTo>
                      <a:lnTo>
                        <a:pt x="129" y="46"/>
                      </a:lnTo>
                      <a:lnTo>
                        <a:pt x="131" y="51"/>
                      </a:lnTo>
                      <a:lnTo>
                        <a:pt x="136" y="56"/>
                      </a:lnTo>
                      <a:lnTo>
                        <a:pt x="146" y="48"/>
                      </a:lnTo>
                      <a:lnTo>
                        <a:pt x="146" y="46"/>
                      </a:lnTo>
                      <a:lnTo>
                        <a:pt x="144" y="41"/>
                      </a:lnTo>
                      <a:lnTo>
                        <a:pt x="136" y="38"/>
                      </a:lnTo>
                      <a:lnTo>
                        <a:pt x="134" y="31"/>
                      </a:lnTo>
                      <a:lnTo>
                        <a:pt x="121" y="21"/>
                      </a:lnTo>
                      <a:lnTo>
                        <a:pt x="92" y="48"/>
                      </a:lnTo>
                      <a:lnTo>
                        <a:pt x="93" y="5"/>
                      </a:lnTo>
                      <a:lnTo>
                        <a:pt x="74" y="0"/>
                      </a:lnTo>
                    </a:path>
                  </a:pathLst>
                </a:custGeom>
                <a:solidFill>
                  <a:srgbClr val="DDDDDD"/>
                </a:solidFill>
                <a:ln w="12699" cap="rnd">
                  <a:solidFill>
                    <a:srgbClr val="000000"/>
                  </a:solidFill>
                  <a:round/>
                  <a:headEnd/>
                  <a:tailEnd/>
                </a:ln>
              </p:spPr>
              <p:txBody>
                <a:bodyPr/>
                <a:lstStyle/>
                <a:p>
                  <a:endParaRPr lang="zh-CN" altLang="en-US"/>
                </a:p>
              </p:txBody>
            </p:sp>
            <p:sp>
              <p:nvSpPr>
                <p:cNvPr id="14360" name="Freeform 174">
                  <a:extLst>
                    <a:ext uri="{FF2B5EF4-FFF2-40B4-BE49-F238E27FC236}">
                      <a16:creationId xmlns:a16="http://schemas.microsoft.com/office/drawing/2014/main" id="{46861FB1-84B2-2243-9012-91A0CF642ECA}"/>
                    </a:ext>
                  </a:extLst>
                </p:cNvPr>
                <p:cNvSpPr>
                  <a:spLocks/>
                </p:cNvSpPr>
                <p:nvPr/>
              </p:nvSpPr>
              <p:spPr bwMode="auto">
                <a:xfrm>
                  <a:off x="1173" y="2663"/>
                  <a:ext cx="224" cy="77"/>
                </a:xfrm>
                <a:custGeom>
                  <a:avLst/>
                  <a:gdLst>
                    <a:gd name="T0" fmla="*/ 72 w 224"/>
                    <a:gd name="T1" fmla="*/ 30 h 77"/>
                    <a:gd name="T2" fmla="*/ 2 w 224"/>
                    <a:gd name="T3" fmla="*/ 0 h 77"/>
                    <a:gd name="T4" fmla="*/ 0 w 224"/>
                    <a:gd name="T5" fmla="*/ 6 h 77"/>
                    <a:gd name="T6" fmla="*/ 0 w 224"/>
                    <a:gd name="T7" fmla="*/ 14 h 77"/>
                    <a:gd name="T8" fmla="*/ 2 w 224"/>
                    <a:gd name="T9" fmla="*/ 20 h 77"/>
                    <a:gd name="T10" fmla="*/ 83 w 224"/>
                    <a:gd name="T11" fmla="*/ 59 h 77"/>
                    <a:gd name="T12" fmla="*/ 142 w 224"/>
                    <a:gd name="T13" fmla="*/ 76 h 77"/>
                    <a:gd name="T14" fmla="*/ 169 w 224"/>
                    <a:gd name="T15" fmla="*/ 74 h 77"/>
                    <a:gd name="T16" fmla="*/ 196 w 224"/>
                    <a:gd name="T17" fmla="*/ 59 h 77"/>
                    <a:gd name="T18" fmla="*/ 223 w 224"/>
                    <a:gd name="T19" fmla="*/ 41 h 77"/>
                    <a:gd name="T20" fmla="*/ 223 w 224"/>
                    <a:gd name="T21" fmla="*/ 26 h 77"/>
                    <a:gd name="T22" fmla="*/ 72 w 224"/>
                    <a:gd name="T23" fmla="*/ 30 h 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4"/>
                    <a:gd name="T37" fmla="*/ 0 h 77"/>
                    <a:gd name="T38" fmla="*/ 224 w 224"/>
                    <a:gd name="T39" fmla="*/ 77 h 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4" h="77">
                      <a:moveTo>
                        <a:pt x="72" y="30"/>
                      </a:moveTo>
                      <a:lnTo>
                        <a:pt x="2" y="0"/>
                      </a:lnTo>
                      <a:lnTo>
                        <a:pt x="0" y="6"/>
                      </a:lnTo>
                      <a:lnTo>
                        <a:pt x="0" y="14"/>
                      </a:lnTo>
                      <a:lnTo>
                        <a:pt x="2" y="20"/>
                      </a:lnTo>
                      <a:lnTo>
                        <a:pt x="83" y="59"/>
                      </a:lnTo>
                      <a:lnTo>
                        <a:pt x="142" y="76"/>
                      </a:lnTo>
                      <a:lnTo>
                        <a:pt x="169" y="74"/>
                      </a:lnTo>
                      <a:lnTo>
                        <a:pt x="196" y="59"/>
                      </a:lnTo>
                      <a:lnTo>
                        <a:pt x="223" y="41"/>
                      </a:lnTo>
                      <a:lnTo>
                        <a:pt x="223" y="26"/>
                      </a:lnTo>
                      <a:lnTo>
                        <a:pt x="72" y="30"/>
                      </a:lnTo>
                    </a:path>
                  </a:pathLst>
                </a:custGeom>
                <a:solidFill>
                  <a:srgbClr val="2E7FE8"/>
                </a:solidFill>
                <a:ln w="12699" cap="rnd">
                  <a:solidFill>
                    <a:srgbClr val="000000"/>
                  </a:solidFill>
                  <a:round/>
                  <a:headEnd/>
                  <a:tailEnd/>
                </a:ln>
              </p:spPr>
              <p:txBody>
                <a:bodyPr/>
                <a:lstStyle/>
                <a:p>
                  <a:endParaRPr lang="zh-CN" altLang="en-US"/>
                </a:p>
              </p:txBody>
            </p:sp>
            <p:sp>
              <p:nvSpPr>
                <p:cNvPr id="14361" name="Freeform 175">
                  <a:extLst>
                    <a:ext uri="{FF2B5EF4-FFF2-40B4-BE49-F238E27FC236}">
                      <a16:creationId xmlns:a16="http://schemas.microsoft.com/office/drawing/2014/main" id="{0B3F3648-4F5A-454E-81B6-294DD070C14B}"/>
                    </a:ext>
                  </a:extLst>
                </p:cNvPr>
                <p:cNvSpPr>
                  <a:spLocks/>
                </p:cNvSpPr>
                <p:nvPr/>
              </p:nvSpPr>
              <p:spPr bwMode="auto">
                <a:xfrm>
                  <a:off x="1111" y="2584"/>
                  <a:ext cx="243" cy="155"/>
                </a:xfrm>
                <a:custGeom>
                  <a:avLst/>
                  <a:gdLst>
                    <a:gd name="T0" fmla="*/ 202 w 243"/>
                    <a:gd name="T1" fmla="*/ 30 h 155"/>
                    <a:gd name="T2" fmla="*/ 88 w 243"/>
                    <a:gd name="T3" fmla="*/ 0 h 155"/>
                    <a:gd name="T4" fmla="*/ 61 w 243"/>
                    <a:gd name="T5" fmla="*/ 9 h 155"/>
                    <a:gd name="T6" fmla="*/ 65 w 243"/>
                    <a:gd name="T7" fmla="*/ 22 h 155"/>
                    <a:gd name="T8" fmla="*/ 41 w 243"/>
                    <a:gd name="T9" fmla="*/ 24 h 155"/>
                    <a:gd name="T10" fmla="*/ 12 w 243"/>
                    <a:gd name="T11" fmla="*/ 29 h 155"/>
                    <a:gd name="T12" fmla="*/ 0 w 243"/>
                    <a:gd name="T13" fmla="*/ 51 h 155"/>
                    <a:gd name="T14" fmla="*/ 2 w 243"/>
                    <a:gd name="T15" fmla="*/ 119 h 155"/>
                    <a:gd name="T16" fmla="*/ 5 w 243"/>
                    <a:gd name="T17" fmla="*/ 144 h 155"/>
                    <a:gd name="T18" fmla="*/ 29 w 243"/>
                    <a:gd name="T19" fmla="*/ 154 h 155"/>
                    <a:gd name="T20" fmla="*/ 57 w 243"/>
                    <a:gd name="T21" fmla="*/ 151 h 155"/>
                    <a:gd name="T22" fmla="*/ 53 w 243"/>
                    <a:gd name="T23" fmla="*/ 75 h 155"/>
                    <a:gd name="T24" fmla="*/ 77 w 243"/>
                    <a:gd name="T25" fmla="*/ 90 h 155"/>
                    <a:gd name="T26" fmla="*/ 155 w 243"/>
                    <a:gd name="T27" fmla="*/ 117 h 155"/>
                    <a:gd name="T28" fmla="*/ 197 w 243"/>
                    <a:gd name="T29" fmla="*/ 123 h 155"/>
                    <a:gd name="T30" fmla="*/ 242 w 243"/>
                    <a:gd name="T31" fmla="*/ 93 h 155"/>
                    <a:gd name="T32" fmla="*/ 202 w 243"/>
                    <a:gd name="T33" fmla="*/ 30 h 1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3"/>
                    <a:gd name="T52" fmla="*/ 0 h 155"/>
                    <a:gd name="T53" fmla="*/ 243 w 243"/>
                    <a:gd name="T54" fmla="*/ 155 h 15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3" h="155">
                      <a:moveTo>
                        <a:pt x="202" y="30"/>
                      </a:moveTo>
                      <a:lnTo>
                        <a:pt x="88" y="0"/>
                      </a:lnTo>
                      <a:lnTo>
                        <a:pt x="61" y="9"/>
                      </a:lnTo>
                      <a:lnTo>
                        <a:pt x="65" y="22"/>
                      </a:lnTo>
                      <a:lnTo>
                        <a:pt x="41" y="24"/>
                      </a:lnTo>
                      <a:lnTo>
                        <a:pt x="12" y="29"/>
                      </a:lnTo>
                      <a:lnTo>
                        <a:pt x="0" y="51"/>
                      </a:lnTo>
                      <a:lnTo>
                        <a:pt x="2" y="119"/>
                      </a:lnTo>
                      <a:lnTo>
                        <a:pt x="5" y="144"/>
                      </a:lnTo>
                      <a:lnTo>
                        <a:pt x="29" y="154"/>
                      </a:lnTo>
                      <a:lnTo>
                        <a:pt x="57" y="151"/>
                      </a:lnTo>
                      <a:lnTo>
                        <a:pt x="53" y="75"/>
                      </a:lnTo>
                      <a:lnTo>
                        <a:pt x="77" y="90"/>
                      </a:lnTo>
                      <a:lnTo>
                        <a:pt x="155" y="117"/>
                      </a:lnTo>
                      <a:lnTo>
                        <a:pt x="197" y="123"/>
                      </a:lnTo>
                      <a:lnTo>
                        <a:pt x="242" y="93"/>
                      </a:lnTo>
                      <a:lnTo>
                        <a:pt x="202" y="30"/>
                      </a:lnTo>
                    </a:path>
                  </a:pathLst>
                </a:custGeom>
                <a:solidFill>
                  <a:srgbClr val="006C88"/>
                </a:solidFill>
                <a:ln w="12699" cap="rnd">
                  <a:solidFill>
                    <a:srgbClr val="000000"/>
                  </a:solidFill>
                  <a:round/>
                  <a:headEnd/>
                  <a:tailEnd/>
                </a:ln>
              </p:spPr>
              <p:txBody>
                <a:bodyPr/>
                <a:lstStyle/>
                <a:p>
                  <a:endParaRPr lang="zh-CN" altLang="en-US"/>
                </a:p>
              </p:txBody>
            </p:sp>
            <p:sp>
              <p:nvSpPr>
                <p:cNvPr id="14362" name="Freeform 176">
                  <a:extLst>
                    <a:ext uri="{FF2B5EF4-FFF2-40B4-BE49-F238E27FC236}">
                      <a16:creationId xmlns:a16="http://schemas.microsoft.com/office/drawing/2014/main" id="{957EBB40-6924-6F4B-9497-1DC01C61B4CF}"/>
                    </a:ext>
                  </a:extLst>
                </p:cNvPr>
                <p:cNvSpPr>
                  <a:spLocks/>
                </p:cNvSpPr>
                <p:nvPr/>
              </p:nvSpPr>
              <p:spPr bwMode="auto">
                <a:xfrm>
                  <a:off x="1113" y="2515"/>
                  <a:ext cx="56" cy="44"/>
                </a:xfrm>
                <a:custGeom>
                  <a:avLst/>
                  <a:gdLst>
                    <a:gd name="T0" fmla="*/ 55 w 56"/>
                    <a:gd name="T1" fmla="*/ 28 h 44"/>
                    <a:gd name="T2" fmla="*/ 37 w 56"/>
                    <a:gd name="T3" fmla="*/ 18 h 44"/>
                    <a:gd name="T4" fmla="*/ 37 w 56"/>
                    <a:gd name="T5" fmla="*/ 5 h 44"/>
                    <a:gd name="T6" fmla="*/ 25 w 56"/>
                    <a:gd name="T7" fmla="*/ 0 h 44"/>
                    <a:gd name="T8" fmla="*/ 22 w 56"/>
                    <a:gd name="T9" fmla="*/ 0 h 44"/>
                    <a:gd name="T10" fmla="*/ 22 w 56"/>
                    <a:gd name="T11" fmla="*/ 5 h 44"/>
                    <a:gd name="T12" fmla="*/ 13 w 56"/>
                    <a:gd name="T13" fmla="*/ 3 h 44"/>
                    <a:gd name="T14" fmla="*/ 3 w 56"/>
                    <a:gd name="T15" fmla="*/ 0 h 44"/>
                    <a:gd name="T16" fmla="*/ 0 w 56"/>
                    <a:gd name="T17" fmla="*/ 5 h 44"/>
                    <a:gd name="T18" fmla="*/ 3 w 56"/>
                    <a:gd name="T19" fmla="*/ 8 h 44"/>
                    <a:gd name="T20" fmla="*/ 3 w 56"/>
                    <a:gd name="T21" fmla="*/ 30 h 44"/>
                    <a:gd name="T22" fmla="*/ 20 w 56"/>
                    <a:gd name="T23" fmla="*/ 40 h 44"/>
                    <a:gd name="T24" fmla="*/ 25 w 56"/>
                    <a:gd name="T25" fmla="*/ 40 h 44"/>
                    <a:gd name="T26" fmla="*/ 35 w 56"/>
                    <a:gd name="T27" fmla="*/ 43 h 44"/>
                    <a:gd name="T28" fmla="*/ 55 w 56"/>
                    <a:gd name="T29" fmla="*/ 28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
                    <a:gd name="T46" fmla="*/ 0 h 44"/>
                    <a:gd name="T47" fmla="*/ 56 w 56"/>
                    <a:gd name="T48" fmla="*/ 44 h 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 h="44">
                      <a:moveTo>
                        <a:pt x="55" y="28"/>
                      </a:moveTo>
                      <a:lnTo>
                        <a:pt x="37" y="18"/>
                      </a:lnTo>
                      <a:lnTo>
                        <a:pt x="37" y="5"/>
                      </a:lnTo>
                      <a:lnTo>
                        <a:pt x="25" y="0"/>
                      </a:lnTo>
                      <a:lnTo>
                        <a:pt x="22" y="0"/>
                      </a:lnTo>
                      <a:lnTo>
                        <a:pt x="22" y="5"/>
                      </a:lnTo>
                      <a:lnTo>
                        <a:pt x="13" y="3"/>
                      </a:lnTo>
                      <a:lnTo>
                        <a:pt x="3" y="0"/>
                      </a:lnTo>
                      <a:lnTo>
                        <a:pt x="0" y="5"/>
                      </a:lnTo>
                      <a:lnTo>
                        <a:pt x="3" y="8"/>
                      </a:lnTo>
                      <a:lnTo>
                        <a:pt x="3" y="30"/>
                      </a:lnTo>
                      <a:lnTo>
                        <a:pt x="20" y="40"/>
                      </a:lnTo>
                      <a:lnTo>
                        <a:pt x="25" y="40"/>
                      </a:lnTo>
                      <a:lnTo>
                        <a:pt x="35" y="43"/>
                      </a:lnTo>
                      <a:lnTo>
                        <a:pt x="55" y="28"/>
                      </a:lnTo>
                    </a:path>
                  </a:pathLst>
                </a:custGeom>
                <a:solidFill>
                  <a:srgbClr val="FBDFAF"/>
                </a:solidFill>
                <a:ln w="12699" cap="rnd">
                  <a:solidFill>
                    <a:srgbClr val="000000"/>
                  </a:solidFill>
                  <a:round/>
                  <a:headEnd/>
                  <a:tailEnd/>
                </a:ln>
              </p:spPr>
              <p:txBody>
                <a:bodyPr/>
                <a:lstStyle/>
                <a:p>
                  <a:endParaRPr lang="zh-CN" altLang="en-US"/>
                </a:p>
              </p:txBody>
            </p:sp>
            <p:sp>
              <p:nvSpPr>
                <p:cNvPr id="14363" name="Freeform 177">
                  <a:extLst>
                    <a:ext uri="{FF2B5EF4-FFF2-40B4-BE49-F238E27FC236}">
                      <a16:creationId xmlns:a16="http://schemas.microsoft.com/office/drawing/2014/main" id="{E47F8901-4135-FB4F-8B92-E8204C3813C3}"/>
                    </a:ext>
                  </a:extLst>
                </p:cNvPr>
                <p:cNvSpPr>
                  <a:spLocks/>
                </p:cNvSpPr>
                <p:nvPr/>
              </p:nvSpPr>
              <p:spPr bwMode="auto">
                <a:xfrm>
                  <a:off x="1268" y="2317"/>
                  <a:ext cx="88" cy="119"/>
                </a:xfrm>
                <a:custGeom>
                  <a:avLst/>
                  <a:gdLst>
                    <a:gd name="T0" fmla="*/ 8 w 88"/>
                    <a:gd name="T1" fmla="*/ 10 h 119"/>
                    <a:gd name="T2" fmla="*/ 8 w 88"/>
                    <a:gd name="T3" fmla="*/ 33 h 119"/>
                    <a:gd name="T4" fmla="*/ 8 w 88"/>
                    <a:gd name="T5" fmla="*/ 38 h 119"/>
                    <a:gd name="T6" fmla="*/ 0 w 88"/>
                    <a:gd name="T7" fmla="*/ 55 h 119"/>
                    <a:gd name="T8" fmla="*/ 3 w 88"/>
                    <a:gd name="T9" fmla="*/ 60 h 119"/>
                    <a:gd name="T10" fmla="*/ 8 w 88"/>
                    <a:gd name="T11" fmla="*/ 60 h 119"/>
                    <a:gd name="T12" fmla="*/ 8 w 88"/>
                    <a:gd name="T13" fmla="*/ 70 h 119"/>
                    <a:gd name="T14" fmla="*/ 13 w 88"/>
                    <a:gd name="T15" fmla="*/ 70 h 119"/>
                    <a:gd name="T16" fmla="*/ 10 w 88"/>
                    <a:gd name="T17" fmla="*/ 73 h 119"/>
                    <a:gd name="T18" fmla="*/ 13 w 88"/>
                    <a:gd name="T19" fmla="*/ 83 h 119"/>
                    <a:gd name="T20" fmla="*/ 15 w 88"/>
                    <a:gd name="T21" fmla="*/ 90 h 119"/>
                    <a:gd name="T22" fmla="*/ 20 w 88"/>
                    <a:gd name="T23" fmla="*/ 93 h 119"/>
                    <a:gd name="T24" fmla="*/ 28 w 88"/>
                    <a:gd name="T25" fmla="*/ 93 h 119"/>
                    <a:gd name="T26" fmla="*/ 38 w 88"/>
                    <a:gd name="T27" fmla="*/ 100 h 119"/>
                    <a:gd name="T28" fmla="*/ 48 w 88"/>
                    <a:gd name="T29" fmla="*/ 118 h 119"/>
                    <a:gd name="T30" fmla="*/ 87 w 88"/>
                    <a:gd name="T31" fmla="*/ 83 h 119"/>
                    <a:gd name="T32" fmla="*/ 68 w 88"/>
                    <a:gd name="T33" fmla="*/ 0 h 119"/>
                    <a:gd name="T34" fmla="*/ 8 w 88"/>
                    <a:gd name="T35" fmla="*/ 10 h 11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19"/>
                    <a:gd name="T56" fmla="*/ 88 w 88"/>
                    <a:gd name="T57" fmla="*/ 119 h 11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19">
                      <a:moveTo>
                        <a:pt x="8" y="10"/>
                      </a:moveTo>
                      <a:lnTo>
                        <a:pt x="8" y="33"/>
                      </a:lnTo>
                      <a:lnTo>
                        <a:pt x="8" y="38"/>
                      </a:lnTo>
                      <a:lnTo>
                        <a:pt x="0" y="55"/>
                      </a:lnTo>
                      <a:lnTo>
                        <a:pt x="3" y="60"/>
                      </a:lnTo>
                      <a:lnTo>
                        <a:pt x="8" y="60"/>
                      </a:lnTo>
                      <a:lnTo>
                        <a:pt x="8" y="70"/>
                      </a:lnTo>
                      <a:lnTo>
                        <a:pt x="13" y="70"/>
                      </a:lnTo>
                      <a:lnTo>
                        <a:pt x="10" y="73"/>
                      </a:lnTo>
                      <a:lnTo>
                        <a:pt x="13" y="83"/>
                      </a:lnTo>
                      <a:lnTo>
                        <a:pt x="15" y="90"/>
                      </a:lnTo>
                      <a:lnTo>
                        <a:pt x="20" y="93"/>
                      </a:lnTo>
                      <a:lnTo>
                        <a:pt x="28" y="93"/>
                      </a:lnTo>
                      <a:lnTo>
                        <a:pt x="38" y="100"/>
                      </a:lnTo>
                      <a:lnTo>
                        <a:pt x="48" y="118"/>
                      </a:lnTo>
                      <a:lnTo>
                        <a:pt x="87" y="83"/>
                      </a:lnTo>
                      <a:lnTo>
                        <a:pt x="68" y="0"/>
                      </a:lnTo>
                      <a:lnTo>
                        <a:pt x="8" y="10"/>
                      </a:lnTo>
                    </a:path>
                  </a:pathLst>
                </a:custGeom>
                <a:solidFill>
                  <a:srgbClr val="FBDFAF"/>
                </a:solidFill>
                <a:ln w="12699" cap="rnd">
                  <a:solidFill>
                    <a:srgbClr val="000000"/>
                  </a:solidFill>
                  <a:round/>
                  <a:headEnd/>
                  <a:tailEnd/>
                </a:ln>
              </p:spPr>
              <p:txBody>
                <a:bodyPr/>
                <a:lstStyle/>
                <a:p>
                  <a:endParaRPr lang="zh-CN" altLang="en-US"/>
                </a:p>
              </p:txBody>
            </p:sp>
            <p:sp>
              <p:nvSpPr>
                <p:cNvPr id="14364" name="Freeform 178">
                  <a:extLst>
                    <a:ext uri="{FF2B5EF4-FFF2-40B4-BE49-F238E27FC236}">
                      <a16:creationId xmlns:a16="http://schemas.microsoft.com/office/drawing/2014/main" id="{DAD30278-D60A-BD43-9B49-B666A95BF583}"/>
                    </a:ext>
                  </a:extLst>
                </p:cNvPr>
                <p:cNvSpPr>
                  <a:spLocks/>
                </p:cNvSpPr>
                <p:nvPr/>
              </p:nvSpPr>
              <p:spPr bwMode="auto">
                <a:xfrm>
                  <a:off x="1268" y="2300"/>
                  <a:ext cx="106" cy="102"/>
                </a:xfrm>
                <a:custGeom>
                  <a:avLst/>
                  <a:gdLst>
                    <a:gd name="T0" fmla="*/ 45 w 106"/>
                    <a:gd name="T1" fmla="*/ 69 h 102"/>
                    <a:gd name="T2" fmla="*/ 53 w 106"/>
                    <a:gd name="T3" fmla="*/ 78 h 102"/>
                    <a:gd name="T4" fmla="*/ 60 w 106"/>
                    <a:gd name="T5" fmla="*/ 98 h 102"/>
                    <a:gd name="T6" fmla="*/ 82 w 106"/>
                    <a:gd name="T7" fmla="*/ 101 h 102"/>
                    <a:gd name="T8" fmla="*/ 92 w 106"/>
                    <a:gd name="T9" fmla="*/ 98 h 102"/>
                    <a:gd name="T10" fmla="*/ 105 w 106"/>
                    <a:gd name="T11" fmla="*/ 52 h 102"/>
                    <a:gd name="T12" fmla="*/ 105 w 106"/>
                    <a:gd name="T13" fmla="*/ 36 h 102"/>
                    <a:gd name="T14" fmla="*/ 92 w 106"/>
                    <a:gd name="T15" fmla="*/ 12 h 102"/>
                    <a:gd name="T16" fmla="*/ 75 w 106"/>
                    <a:gd name="T17" fmla="*/ 0 h 102"/>
                    <a:gd name="T18" fmla="*/ 48 w 106"/>
                    <a:gd name="T19" fmla="*/ 0 h 102"/>
                    <a:gd name="T20" fmla="*/ 20 w 106"/>
                    <a:gd name="T21" fmla="*/ 7 h 102"/>
                    <a:gd name="T22" fmla="*/ 18 w 106"/>
                    <a:gd name="T23" fmla="*/ 15 h 102"/>
                    <a:gd name="T24" fmla="*/ 0 w 106"/>
                    <a:gd name="T25" fmla="*/ 26 h 102"/>
                    <a:gd name="T26" fmla="*/ 0 w 106"/>
                    <a:gd name="T27" fmla="*/ 33 h 102"/>
                    <a:gd name="T28" fmla="*/ 10 w 106"/>
                    <a:gd name="T29" fmla="*/ 41 h 102"/>
                    <a:gd name="T30" fmla="*/ 20 w 106"/>
                    <a:gd name="T31" fmla="*/ 43 h 102"/>
                    <a:gd name="T32" fmla="*/ 28 w 106"/>
                    <a:gd name="T33" fmla="*/ 52 h 102"/>
                    <a:gd name="T34" fmla="*/ 30 w 106"/>
                    <a:gd name="T35" fmla="*/ 69 h 102"/>
                    <a:gd name="T36" fmla="*/ 38 w 106"/>
                    <a:gd name="T37" fmla="*/ 74 h 102"/>
                    <a:gd name="T38" fmla="*/ 45 w 106"/>
                    <a:gd name="T39" fmla="*/ 69 h 10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02"/>
                    <a:gd name="T62" fmla="*/ 106 w 106"/>
                    <a:gd name="T63" fmla="*/ 102 h 10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02">
                      <a:moveTo>
                        <a:pt x="45" y="69"/>
                      </a:moveTo>
                      <a:lnTo>
                        <a:pt x="53" y="78"/>
                      </a:lnTo>
                      <a:lnTo>
                        <a:pt x="60" y="98"/>
                      </a:lnTo>
                      <a:lnTo>
                        <a:pt x="82" y="101"/>
                      </a:lnTo>
                      <a:lnTo>
                        <a:pt x="92" y="98"/>
                      </a:lnTo>
                      <a:lnTo>
                        <a:pt x="105" y="52"/>
                      </a:lnTo>
                      <a:lnTo>
                        <a:pt x="105" y="36"/>
                      </a:lnTo>
                      <a:lnTo>
                        <a:pt x="92" y="12"/>
                      </a:lnTo>
                      <a:lnTo>
                        <a:pt x="75" y="0"/>
                      </a:lnTo>
                      <a:lnTo>
                        <a:pt x="48" y="0"/>
                      </a:lnTo>
                      <a:lnTo>
                        <a:pt x="20" y="7"/>
                      </a:lnTo>
                      <a:lnTo>
                        <a:pt x="18" y="15"/>
                      </a:lnTo>
                      <a:lnTo>
                        <a:pt x="0" y="26"/>
                      </a:lnTo>
                      <a:lnTo>
                        <a:pt x="0" y="33"/>
                      </a:lnTo>
                      <a:lnTo>
                        <a:pt x="10" y="41"/>
                      </a:lnTo>
                      <a:lnTo>
                        <a:pt x="20" y="43"/>
                      </a:lnTo>
                      <a:lnTo>
                        <a:pt x="28" y="52"/>
                      </a:lnTo>
                      <a:lnTo>
                        <a:pt x="30" y="69"/>
                      </a:lnTo>
                      <a:lnTo>
                        <a:pt x="38" y="74"/>
                      </a:lnTo>
                      <a:lnTo>
                        <a:pt x="45" y="69"/>
                      </a:lnTo>
                    </a:path>
                  </a:pathLst>
                </a:custGeom>
                <a:solidFill>
                  <a:srgbClr val="656346"/>
                </a:solidFill>
                <a:ln w="12699" cap="rnd">
                  <a:solidFill>
                    <a:srgbClr val="000000"/>
                  </a:solidFill>
                  <a:round/>
                  <a:headEnd/>
                  <a:tailEnd/>
                </a:ln>
              </p:spPr>
              <p:txBody>
                <a:bodyPr/>
                <a:lstStyle/>
                <a:p>
                  <a:endParaRPr lang="zh-CN" altLang="en-US"/>
                </a:p>
              </p:txBody>
            </p:sp>
            <p:sp>
              <p:nvSpPr>
                <p:cNvPr id="14365" name="Freeform 179">
                  <a:extLst>
                    <a:ext uri="{FF2B5EF4-FFF2-40B4-BE49-F238E27FC236}">
                      <a16:creationId xmlns:a16="http://schemas.microsoft.com/office/drawing/2014/main" id="{55877EEA-C018-E84C-83B6-7A887815EE4B}"/>
                    </a:ext>
                  </a:extLst>
                </p:cNvPr>
                <p:cNvSpPr>
                  <a:spLocks/>
                </p:cNvSpPr>
                <p:nvPr/>
              </p:nvSpPr>
              <p:spPr bwMode="auto">
                <a:xfrm>
                  <a:off x="1143" y="2400"/>
                  <a:ext cx="260" cy="284"/>
                </a:xfrm>
                <a:custGeom>
                  <a:avLst/>
                  <a:gdLst>
                    <a:gd name="T0" fmla="*/ 204 w 260"/>
                    <a:gd name="T1" fmla="*/ 0 h 284"/>
                    <a:gd name="T2" fmla="*/ 189 w 260"/>
                    <a:gd name="T3" fmla="*/ 5 h 284"/>
                    <a:gd name="T4" fmla="*/ 179 w 260"/>
                    <a:gd name="T5" fmla="*/ 13 h 284"/>
                    <a:gd name="T6" fmla="*/ 153 w 260"/>
                    <a:gd name="T7" fmla="*/ 35 h 284"/>
                    <a:gd name="T8" fmla="*/ 139 w 260"/>
                    <a:gd name="T9" fmla="*/ 58 h 284"/>
                    <a:gd name="T10" fmla="*/ 134 w 260"/>
                    <a:gd name="T11" fmla="*/ 70 h 284"/>
                    <a:gd name="T12" fmla="*/ 129 w 260"/>
                    <a:gd name="T13" fmla="*/ 88 h 284"/>
                    <a:gd name="T14" fmla="*/ 107 w 260"/>
                    <a:gd name="T15" fmla="*/ 139 h 284"/>
                    <a:gd name="T16" fmla="*/ 50 w 260"/>
                    <a:gd name="T17" fmla="*/ 143 h 284"/>
                    <a:gd name="T18" fmla="*/ 16 w 260"/>
                    <a:gd name="T19" fmla="*/ 137 h 284"/>
                    <a:gd name="T20" fmla="*/ 7 w 260"/>
                    <a:gd name="T21" fmla="*/ 155 h 284"/>
                    <a:gd name="T22" fmla="*/ 0 w 260"/>
                    <a:gd name="T23" fmla="*/ 165 h 284"/>
                    <a:gd name="T24" fmla="*/ 41 w 260"/>
                    <a:gd name="T25" fmla="*/ 176 h 284"/>
                    <a:gd name="T26" fmla="*/ 85 w 260"/>
                    <a:gd name="T27" fmla="*/ 182 h 284"/>
                    <a:gd name="T28" fmla="*/ 121 w 260"/>
                    <a:gd name="T29" fmla="*/ 184 h 284"/>
                    <a:gd name="T30" fmla="*/ 152 w 260"/>
                    <a:gd name="T31" fmla="*/ 128 h 284"/>
                    <a:gd name="T32" fmla="*/ 128 w 260"/>
                    <a:gd name="T33" fmla="*/ 173 h 284"/>
                    <a:gd name="T34" fmla="*/ 125 w 260"/>
                    <a:gd name="T35" fmla="*/ 226 h 284"/>
                    <a:gd name="T36" fmla="*/ 135 w 260"/>
                    <a:gd name="T37" fmla="*/ 253 h 284"/>
                    <a:gd name="T38" fmla="*/ 149 w 260"/>
                    <a:gd name="T39" fmla="*/ 265 h 284"/>
                    <a:gd name="T40" fmla="*/ 161 w 260"/>
                    <a:gd name="T41" fmla="*/ 271 h 284"/>
                    <a:gd name="T42" fmla="*/ 176 w 260"/>
                    <a:gd name="T43" fmla="*/ 272 h 284"/>
                    <a:gd name="T44" fmla="*/ 206 w 260"/>
                    <a:gd name="T45" fmla="*/ 283 h 284"/>
                    <a:gd name="T46" fmla="*/ 225 w 260"/>
                    <a:gd name="T47" fmla="*/ 272 h 284"/>
                    <a:gd name="T48" fmla="*/ 234 w 260"/>
                    <a:gd name="T49" fmla="*/ 278 h 284"/>
                    <a:gd name="T50" fmla="*/ 249 w 260"/>
                    <a:gd name="T51" fmla="*/ 233 h 284"/>
                    <a:gd name="T52" fmla="*/ 256 w 260"/>
                    <a:gd name="T53" fmla="*/ 178 h 284"/>
                    <a:gd name="T54" fmla="*/ 259 w 260"/>
                    <a:gd name="T55" fmla="*/ 125 h 284"/>
                    <a:gd name="T56" fmla="*/ 259 w 260"/>
                    <a:gd name="T57" fmla="*/ 118 h 284"/>
                    <a:gd name="T58" fmla="*/ 256 w 260"/>
                    <a:gd name="T59" fmla="*/ 63 h 284"/>
                    <a:gd name="T60" fmla="*/ 246 w 260"/>
                    <a:gd name="T61" fmla="*/ 30 h 284"/>
                    <a:gd name="T62" fmla="*/ 229 w 260"/>
                    <a:gd name="T63" fmla="*/ 13 h 284"/>
                    <a:gd name="T64" fmla="*/ 214 w 260"/>
                    <a:gd name="T65" fmla="*/ 10 h 284"/>
                    <a:gd name="T66" fmla="*/ 204 w 260"/>
                    <a:gd name="T67" fmla="*/ 0 h 28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84"/>
                    <a:gd name="T104" fmla="*/ 260 w 260"/>
                    <a:gd name="T105" fmla="*/ 284 h 28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84">
                      <a:moveTo>
                        <a:pt x="204" y="0"/>
                      </a:moveTo>
                      <a:lnTo>
                        <a:pt x="189" y="5"/>
                      </a:lnTo>
                      <a:lnTo>
                        <a:pt x="179" y="13"/>
                      </a:lnTo>
                      <a:lnTo>
                        <a:pt x="153" y="35"/>
                      </a:lnTo>
                      <a:lnTo>
                        <a:pt x="139" y="58"/>
                      </a:lnTo>
                      <a:lnTo>
                        <a:pt x="134" y="70"/>
                      </a:lnTo>
                      <a:lnTo>
                        <a:pt x="129" y="88"/>
                      </a:lnTo>
                      <a:lnTo>
                        <a:pt x="107" y="139"/>
                      </a:lnTo>
                      <a:lnTo>
                        <a:pt x="50" y="143"/>
                      </a:lnTo>
                      <a:lnTo>
                        <a:pt x="16" y="137"/>
                      </a:lnTo>
                      <a:lnTo>
                        <a:pt x="7" y="155"/>
                      </a:lnTo>
                      <a:lnTo>
                        <a:pt x="0" y="165"/>
                      </a:lnTo>
                      <a:lnTo>
                        <a:pt x="41" y="176"/>
                      </a:lnTo>
                      <a:lnTo>
                        <a:pt x="85" y="182"/>
                      </a:lnTo>
                      <a:lnTo>
                        <a:pt x="121" y="184"/>
                      </a:lnTo>
                      <a:lnTo>
                        <a:pt x="152" y="128"/>
                      </a:lnTo>
                      <a:lnTo>
                        <a:pt x="128" y="173"/>
                      </a:lnTo>
                      <a:lnTo>
                        <a:pt x="125" y="226"/>
                      </a:lnTo>
                      <a:lnTo>
                        <a:pt x="135" y="253"/>
                      </a:lnTo>
                      <a:lnTo>
                        <a:pt x="149" y="265"/>
                      </a:lnTo>
                      <a:lnTo>
                        <a:pt x="161" y="271"/>
                      </a:lnTo>
                      <a:lnTo>
                        <a:pt x="176" y="272"/>
                      </a:lnTo>
                      <a:lnTo>
                        <a:pt x="206" y="283"/>
                      </a:lnTo>
                      <a:lnTo>
                        <a:pt x="225" y="272"/>
                      </a:lnTo>
                      <a:lnTo>
                        <a:pt x="234" y="278"/>
                      </a:lnTo>
                      <a:lnTo>
                        <a:pt x="249" y="233"/>
                      </a:lnTo>
                      <a:lnTo>
                        <a:pt x="256" y="178"/>
                      </a:lnTo>
                      <a:lnTo>
                        <a:pt x="259" y="125"/>
                      </a:lnTo>
                      <a:lnTo>
                        <a:pt x="259" y="118"/>
                      </a:lnTo>
                      <a:lnTo>
                        <a:pt x="256" y="63"/>
                      </a:lnTo>
                      <a:lnTo>
                        <a:pt x="246" y="30"/>
                      </a:lnTo>
                      <a:lnTo>
                        <a:pt x="229" y="13"/>
                      </a:lnTo>
                      <a:lnTo>
                        <a:pt x="214" y="10"/>
                      </a:lnTo>
                      <a:lnTo>
                        <a:pt x="204" y="0"/>
                      </a:lnTo>
                    </a:path>
                  </a:pathLst>
                </a:custGeom>
                <a:solidFill>
                  <a:srgbClr val="006C88"/>
                </a:solidFill>
                <a:ln w="12699" cap="rnd">
                  <a:solidFill>
                    <a:srgbClr val="000000"/>
                  </a:solidFill>
                  <a:round/>
                  <a:headEnd/>
                  <a:tailEnd/>
                </a:ln>
              </p:spPr>
              <p:txBody>
                <a:bodyPr/>
                <a:lstStyle/>
                <a:p>
                  <a:endParaRPr lang="zh-CN" altLang="en-US"/>
                </a:p>
              </p:txBody>
            </p:sp>
            <p:sp>
              <p:nvSpPr>
                <p:cNvPr id="14366" name="Freeform 180">
                  <a:extLst>
                    <a:ext uri="{FF2B5EF4-FFF2-40B4-BE49-F238E27FC236}">
                      <a16:creationId xmlns:a16="http://schemas.microsoft.com/office/drawing/2014/main" id="{47DF55DA-5F7D-404E-BC8C-FC14ACF31BEF}"/>
                    </a:ext>
                  </a:extLst>
                </p:cNvPr>
                <p:cNvSpPr>
                  <a:spLocks/>
                </p:cNvSpPr>
                <p:nvPr/>
              </p:nvSpPr>
              <p:spPr bwMode="auto">
                <a:xfrm>
                  <a:off x="1269" y="2531"/>
                  <a:ext cx="154" cy="195"/>
                </a:xfrm>
                <a:custGeom>
                  <a:avLst/>
                  <a:gdLst>
                    <a:gd name="T0" fmla="*/ 47 w 154"/>
                    <a:gd name="T1" fmla="*/ 89 h 195"/>
                    <a:gd name="T2" fmla="*/ 60 w 154"/>
                    <a:gd name="T3" fmla="*/ 54 h 195"/>
                    <a:gd name="T4" fmla="*/ 86 w 154"/>
                    <a:gd name="T5" fmla="*/ 21 h 195"/>
                    <a:gd name="T6" fmla="*/ 114 w 154"/>
                    <a:gd name="T7" fmla="*/ 2 h 195"/>
                    <a:gd name="T8" fmla="*/ 137 w 154"/>
                    <a:gd name="T9" fmla="*/ 0 h 195"/>
                    <a:gd name="T10" fmla="*/ 147 w 154"/>
                    <a:gd name="T11" fmla="*/ 2 h 195"/>
                    <a:gd name="T12" fmla="*/ 153 w 154"/>
                    <a:gd name="T13" fmla="*/ 24 h 195"/>
                    <a:gd name="T14" fmla="*/ 150 w 154"/>
                    <a:gd name="T15" fmla="*/ 77 h 195"/>
                    <a:gd name="T16" fmla="*/ 131 w 154"/>
                    <a:gd name="T17" fmla="*/ 153 h 195"/>
                    <a:gd name="T18" fmla="*/ 72 w 154"/>
                    <a:gd name="T19" fmla="*/ 191 h 195"/>
                    <a:gd name="T20" fmla="*/ 42 w 154"/>
                    <a:gd name="T21" fmla="*/ 194 h 195"/>
                    <a:gd name="T22" fmla="*/ 0 w 154"/>
                    <a:gd name="T23" fmla="*/ 179 h 195"/>
                    <a:gd name="T24" fmla="*/ 33 w 154"/>
                    <a:gd name="T25" fmla="*/ 122 h 195"/>
                    <a:gd name="T26" fmla="*/ 47 w 154"/>
                    <a:gd name="T27" fmla="*/ 89 h 19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4"/>
                    <a:gd name="T43" fmla="*/ 0 h 195"/>
                    <a:gd name="T44" fmla="*/ 154 w 154"/>
                    <a:gd name="T45" fmla="*/ 195 h 19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4" h="195">
                      <a:moveTo>
                        <a:pt x="47" y="89"/>
                      </a:moveTo>
                      <a:lnTo>
                        <a:pt x="60" y="54"/>
                      </a:lnTo>
                      <a:lnTo>
                        <a:pt x="86" y="21"/>
                      </a:lnTo>
                      <a:lnTo>
                        <a:pt x="114" y="2"/>
                      </a:lnTo>
                      <a:lnTo>
                        <a:pt x="137" y="0"/>
                      </a:lnTo>
                      <a:lnTo>
                        <a:pt x="147" y="2"/>
                      </a:lnTo>
                      <a:lnTo>
                        <a:pt x="153" y="24"/>
                      </a:lnTo>
                      <a:lnTo>
                        <a:pt x="150" y="77"/>
                      </a:lnTo>
                      <a:lnTo>
                        <a:pt x="131" y="153"/>
                      </a:lnTo>
                      <a:lnTo>
                        <a:pt x="72" y="191"/>
                      </a:lnTo>
                      <a:lnTo>
                        <a:pt x="42" y="194"/>
                      </a:lnTo>
                      <a:lnTo>
                        <a:pt x="0" y="179"/>
                      </a:lnTo>
                      <a:lnTo>
                        <a:pt x="33" y="122"/>
                      </a:lnTo>
                      <a:lnTo>
                        <a:pt x="47" y="89"/>
                      </a:lnTo>
                    </a:path>
                  </a:pathLst>
                </a:custGeom>
                <a:solidFill>
                  <a:srgbClr val="2E7FE8"/>
                </a:solidFill>
                <a:ln w="12699" cap="rnd">
                  <a:solidFill>
                    <a:srgbClr val="000000"/>
                  </a:solidFill>
                  <a:round/>
                  <a:headEnd/>
                  <a:tailEnd/>
                </a:ln>
              </p:spPr>
              <p:txBody>
                <a:bodyPr/>
                <a:lstStyle/>
                <a:p>
                  <a:endParaRPr lang="zh-CN" altLang="en-US"/>
                </a:p>
              </p:txBody>
            </p:sp>
            <p:sp>
              <p:nvSpPr>
                <p:cNvPr id="14367" name="Line 181">
                  <a:extLst>
                    <a:ext uri="{FF2B5EF4-FFF2-40B4-BE49-F238E27FC236}">
                      <a16:creationId xmlns:a16="http://schemas.microsoft.com/office/drawing/2014/main" id="{B7A4ADE8-603C-3D42-8E1B-A58C80F1EC0B}"/>
                    </a:ext>
                  </a:extLst>
                </p:cNvPr>
                <p:cNvSpPr>
                  <a:spLocks noChangeShapeType="1"/>
                </p:cNvSpPr>
                <p:nvPr/>
              </p:nvSpPr>
              <p:spPr bwMode="auto">
                <a:xfrm>
                  <a:off x="1177" y="2609"/>
                  <a:ext cx="82" cy="14"/>
                </a:xfrm>
                <a:prstGeom prst="line">
                  <a:avLst/>
                </a:prstGeom>
                <a:noFill/>
                <a:ln w="12699">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graphicFrame>
          <p:nvGraphicFramePr>
            <p:cNvPr id="14352" name="Object 10">
              <a:hlinkClick r:id="" action="ppaction://ole?verb=0"/>
              <a:extLst>
                <a:ext uri="{FF2B5EF4-FFF2-40B4-BE49-F238E27FC236}">
                  <a16:creationId xmlns:a16="http://schemas.microsoft.com/office/drawing/2014/main" id="{2CEA6823-CACA-954E-961E-F523CD668BF9}"/>
                </a:ext>
              </a:extLst>
            </p:cNvPr>
            <p:cNvGraphicFramePr>
              <a:graphicFrameLocks/>
            </p:cNvGraphicFramePr>
            <p:nvPr/>
          </p:nvGraphicFramePr>
          <p:xfrm>
            <a:off x="4038600" y="1533525"/>
            <a:ext cx="776288" cy="731838"/>
          </p:xfrm>
          <a:graphic>
            <a:graphicData uri="http://schemas.openxmlformats.org/presentationml/2006/ole">
              <mc:AlternateContent xmlns:mc="http://schemas.openxmlformats.org/markup-compatibility/2006">
                <mc:Choice xmlns:v="urn:schemas-microsoft-com:vml" Requires="v">
                  <p:oleObj name="剪辑" r:id="rId3" imgW="18389600" imgH="21590000" progId="MS_ClipArt_Gallery.2">
                    <p:embed/>
                  </p:oleObj>
                </mc:Choice>
                <mc:Fallback>
                  <p:oleObj name="剪辑" r:id="rId3" imgW="18389600" imgH="21590000" progId="MS_ClipArt_Gallery.2">
                    <p:embed/>
                    <p:pic>
                      <p:nvPicPr>
                        <p:cNvPr id="0"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1533525"/>
                          <a:ext cx="776288"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61928" name="Line 8">
              <a:extLst>
                <a:ext uri="{FF2B5EF4-FFF2-40B4-BE49-F238E27FC236}">
                  <a16:creationId xmlns:a16="http://schemas.microsoft.com/office/drawing/2014/main" id="{47B4D444-3455-AA4C-B173-2BA64AF0134C}"/>
                </a:ext>
              </a:extLst>
            </p:cNvPr>
            <p:cNvSpPr>
              <a:spLocks noChangeShapeType="1"/>
            </p:cNvSpPr>
            <p:nvPr/>
          </p:nvSpPr>
          <p:spPr bwMode="auto">
            <a:xfrm>
              <a:off x="2819400" y="4191000"/>
              <a:ext cx="3429000" cy="0"/>
            </a:xfrm>
            <a:prstGeom prst="line">
              <a:avLst/>
            </a:prstGeom>
            <a:noFill/>
            <a:ln w="28575">
              <a:solidFill>
                <a:srgbClr val="000066"/>
              </a:solidFill>
              <a:round/>
              <a:headEnd type="triangle" w="med" len="me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grpSp>
      <p:grpSp>
        <p:nvGrpSpPr>
          <p:cNvPr id="7" name="组合 69">
            <a:extLst>
              <a:ext uri="{FF2B5EF4-FFF2-40B4-BE49-F238E27FC236}">
                <a16:creationId xmlns:a16="http://schemas.microsoft.com/office/drawing/2014/main" id="{6E9DEAA0-234A-3A4D-A63B-67296E3AC140}"/>
              </a:ext>
            </a:extLst>
          </p:cNvPr>
          <p:cNvGrpSpPr>
            <a:grpSpLocks/>
          </p:cNvGrpSpPr>
          <p:nvPr/>
        </p:nvGrpSpPr>
        <p:grpSpPr bwMode="auto">
          <a:xfrm>
            <a:off x="2019300" y="2662238"/>
            <a:ext cx="4457700" cy="3271837"/>
            <a:chOff x="2019300" y="2662238"/>
            <a:chExt cx="4457700" cy="3271837"/>
          </a:xfrm>
        </p:grpSpPr>
        <p:sp>
          <p:nvSpPr>
            <p:cNvPr id="14340" name="Text Box 5">
              <a:extLst>
                <a:ext uri="{FF2B5EF4-FFF2-40B4-BE49-F238E27FC236}">
                  <a16:creationId xmlns:a16="http://schemas.microsoft.com/office/drawing/2014/main" id="{9D78EA7E-A0CB-874D-8708-75B0ECB8ACBC}"/>
                </a:ext>
              </a:extLst>
            </p:cNvPr>
            <p:cNvSpPr txBox="1">
              <a:spLocks noChangeArrowheads="1"/>
            </p:cNvSpPr>
            <p:nvPr/>
          </p:nvSpPr>
          <p:spPr bwMode="auto">
            <a:xfrm>
              <a:off x="3733800" y="5410200"/>
              <a:ext cx="1981200" cy="523875"/>
            </a:xfrm>
            <a:prstGeom prst="rect">
              <a:avLst/>
            </a:prstGeom>
            <a:solidFill>
              <a:schemeClr val="hlink"/>
            </a:solidFill>
            <a:ln w="9525">
              <a:solidFill>
                <a:schemeClr val="tx1"/>
              </a:solid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Attacker</a:t>
              </a:r>
            </a:p>
          </p:txBody>
        </p:sp>
        <p:pic>
          <p:nvPicPr>
            <p:cNvPr id="14341" name="图片 14">
              <a:extLst>
                <a:ext uri="{FF2B5EF4-FFF2-40B4-BE49-F238E27FC236}">
                  <a16:creationId xmlns:a16="http://schemas.microsoft.com/office/drawing/2014/main" id="{D272887C-3A6C-FF42-AD32-0E18583F29C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4648200"/>
              <a:ext cx="812800"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342" name="直接箭头连接符 57">
              <a:extLst>
                <a:ext uri="{FF2B5EF4-FFF2-40B4-BE49-F238E27FC236}">
                  <a16:creationId xmlns:a16="http://schemas.microsoft.com/office/drawing/2014/main" id="{2DD0AE70-0412-6047-8CC8-6ABDC1C3D95B}"/>
                </a:ext>
              </a:extLst>
            </p:cNvPr>
            <p:cNvCxnSpPr>
              <a:cxnSpLocks noChangeShapeType="1"/>
            </p:cNvCxnSpPr>
            <p:nvPr/>
          </p:nvCxnSpPr>
          <p:spPr bwMode="auto">
            <a:xfrm rot="16200000" flipV="1">
              <a:off x="3496469" y="3623469"/>
              <a:ext cx="1985962" cy="63500"/>
            </a:xfrm>
            <a:prstGeom prst="straightConnector1">
              <a:avLst/>
            </a:prstGeom>
            <a:noFill/>
            <a:ln w="2857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14343" name="直接箭头连接符 58">
              <a:extLst>
                <a:ext uri="{FF2B5EF4-FFF2-40B4-BE49-F238E27FC236}">
                  <a16:creationId xmlns:a16="http://schemas.microsoft.com/office/drawing/2014/main" id="{8C73BCA0-F85B-F347-83D4-925AAD2D2E25}"/>
                </a:ext>
              </a:extLst>
            </p:cNvPr>
            <p:cNvCxnSpPr>
              <a:cxnSpLocks noChangeShapeType="1"/>
            </p:cNvCxnSpPr>
            <p:nvPr/>
          </p:nvCxnSpPr>
          <p:spPr bwMode="auto">
            <a:xfrm rot="10800000">
              <a:off x="2019300" y="4171950"/>
              <a:ext cx="2095500" cy="883444"/>
            </a:xfrm>
            <a:prstGeom prst="straightConnector1">
              <a:avLst/>
            </a:prstGeom>
            <a:noFill/>
            <a:ln w="2857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14344" name="直接箭头连接符 59">
              <a:extLst>
                <a:ext uri="{FF2B5EF4-FFF2-40B4-BE49-F238E27FC236}">
                  <a16:creationId xmlns:a16="http://schemas.microsoft.com/office/drawing/2014/main" id="{0D4D4AC3-8541-D941-BAAA-55BC0E8D016B}"/>
                </a:ext>
              </a:extLst>
            </p:cNvPr>
            <p:cNvCxnSpPr>
              <a:cxnSpLocks noChangeShapeType="1"/>
            </p:cNvCxnSpPr>
            <p:nvPr/>
          </p:nvCxnSpPr>
          <p:spPr bwMode="auto">
            <a:xfrm flipV="1">
              <a:off x="4927600" y="4257675"/>
              <a:ext cx="1549400" cy="797719"/>
            </a:xfrm>
            <a:prstGeom prst="straightConnector1">
              <a:avLst/>
            </a:prstGeom>
            <a:noFill/>
            <a:ln w="28575" algn="ctr">
              <a:solidFill>
                <a:srgbClr val="0000FF"/>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946" name="Rectangle 2">
            <a:extLst>
              <a:ext uri="{FF2B5EF4-FFF2-40B4-BE49-F238E27FC236}">
                <a16:creationId xmlns:a16="http://schemas.microsoft.com/office/drawing/2014/main" id="{B3CCE8CD-D919-F44F-9036-0EC19F823E44}"/>
              </a:ext>
            </a:extLst>
          </p:cNvPr>
          <p:cNvSpPr>
            <a:spLocks noGrp="1" noChangeArrowheads="1"/>
          </p:cNvSpPr>
          <p:nvPr>
            <p:ph type="title"/>
          </p:nvPr>
        </p:nvSpPr>
        <p:spPr bwMode="auto">
          <a:xfrm>
            <a:off x="457200" y="685800"/>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3200" dirty="0">
                <a:solidFill>
                  <a:srgbClr val="0000FF"/>
                </a:solidFill>
                <a:latin typeface="黑体" panose="02010609060101010101" pitchFamily="49" charset="-122"/>
                <a:ea typeface="黑体" panose="02010609060101010101" pitchFamily="49" charset="-122"/>
              </a:rPr>
              <a:t>对身份鉴别系统的要求</a:t>
            </a:r>
          </a:p>
        </p:txBody>
      </p:sp>
      <p:sp>
        <p:nvSpPr>
          <p:cNvPr id="1362947" name="Rectangle 3">
            <a:extLst>
              <a:ext uri="{FF2B5EF4-FFF2-40B4-BE49-F238E27FC236}">
                <a16:creationId xmlns:a16="http://schemas.microsoft.com/office/drawing/2014/main" id="{72891CBF-B427-374B-BFD4-8346BA89AC78}"/>
              </a:ext>
            </a:extLst>
          </p:cNvPr>
          <p:cNvSpPr>
            <a:spLocks noGrp="1" noChangeArrowheads="1"/>
          </p:cNvSpPr>
          <p:nvPr>
            <p:ph type="body" idx="1"/>
          </p:nvPr>
        </p:nvSpPr>
        <p:spPr bwMode="auto">
          <a:xfrm>
            <a:off x="449263" y="1425575"/>
            <a:ext cx="8229600" cy="2994025"/>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None/>
              <a:defRPr/>
            </a:pPr>
            <a:r>
              <a:rPr lang="zh-CN" altLang="en-US" sz="2400" dirty="0">
                <a:solidFill>
                  <a:schemeClr val="bg2"/>
                </a:solidFill>
                <a:ea typeface="宋体" panose="02010600030101010101" pitchFamily="2" charset="-122"/>
              </a:rPr>
              <a:t> （</a:t>
            </a:r>
            <a:r>
              <a:rPr lang="en-US" altLang="zh-CN" sz="2400" dirty="0">
                <a:solidFill>
                  <a:schemeClr val="bg2"/>
                </a:solidFill>
                <a:ea typeface="宋体" panose="02010600030101010101" pitchFamily="2" charset="-122"/>
              </a:rPr>
              <a:t>1</a:t>
            </a:r>
            <a:r>
              <a:rPr lang="zh-CN" altLang="en-US" sz="2400" dirty="0">
                <a:solidFill>
                  <a:schemeClr val="bg2"/>
                </a:solidFill>
                <a:ea typeface="宋体" panose="02010600030101010101" pitchFamily="2" charset="-122"/>
              </a:rPr>
              <a:t>）验证者正确识别合法申请者的概率极大化。</a:t>
            </a:r>
          </a:p>
          <a:p>
            <a:pPr eaLnBrk="1" hangingPunct="1">
              <a:buFont typeface="Wingdings" pitchFamily="2" charset="2"/>
              <a:buNone/>
              <a:defRPr/>
            </a:pPr>
            <a:r>
              <a:rPr lang="zh-CN" altLang="en-US" sz="2400" dirty="0">
                <a:solidFill>
                  <a:schemeClr val="bg2"/>
                </a:solidFill>
                <a:ea typeface="宋体" panose="02010600030101010101" pitchFamily="2" charset="-122"/>
              </a:rPr>
              <a:t> （</a:t>
            </a:r>
            <a:r>
              <a:rPr lang="en-US" altLang="zh-CN" sz="2400" dirty="0">
                <a:solidFill>
                  <a:schemeClr val="bg2"/>
                </a:solidFill>
                <a:ea typeface="宋体" panose="02010600030101010101" pitchFamily="2" charset="-122"/>
              </a:rPr>
              <a:t>2</a:t>
            </a:r>
            <a:r>
              <a:rPr lang="zh-CN" altLang="en-US" sz="2400" dirty="0">
                <a:solidFill>
                  <a:schemeClr val="bg2"/>
                </a:solidFill>
                <a:ea typeface="宋体" panose="02010600030101010101" pitchFamily="2" charset="-122"/>
              </a:rPr>
              <a:t>）不具有可传递性（</a:t>
            </a:r>
            <a:r>
              <a:rPr lang="en-US" altLang="zh-CN" sz="2400" dirty="0">
                <a:solidFill>
                  <a:schemeClr val="bg2"/>
                </a:solidFill>
                <a:ea typeface="宋体" panose="02010600030101010101" pitchFamily="2" charset="-122"/>
              </a:rPr>
              <a:t>Transferability)</a:t>
            </a:r>
          </a:p>
          <a:p>
            <a:pPr eaLnBrk="1" hangingPunct="1">
              <a:buFont typeface="Wingdings" pitchFamily="2" charset="2"/>
              <a:buNone/>
              <a:defRPr/>
            </a:pPr>
            <a:r>
              <a:rPr lang="en-US" altLang="zh-CN" sz="2400" dirty="0">
                <a:solidFill>
                  <a:schemeClr val="bg2"/>
                </a:solidFill>
                <a:ea typeface="宋体" panose="02010600030101010101" pitchFamily="2" charset="-122"/>
              </a:rPr>
              <a:t> </a:t>
            </a:r>
            <a:r>
              <a:rPr lang="zh-CN" altLang="en-US" sz="2400" dirty="0">
                <a:solidFill>
                  <a:schemeClr val="bg2"/>
                </a:solidFill>
                <a:ea typeface="宋体" panose="02010600030101010101" pitchFamily="2" charset="-122"/>
              </a:rPr>
              <a:t>（</a:t>
            </a:r>
            <a:r>
              <a:rPr lang="en-US" altLang="zh-CN" sz="2400" dirty="0">
                <a:solidFill>
                  <a:schemeClr val="bg2"/>
                </a:solidFill>
                <a:ea typeface="宋体" panose="02010600030101010101" pitchFamily="2" charset="-122"/>
              </a:rPr>
              <a:t>3</a:t>
            </a:r>
            <a:r>
              <a:rPr lang="zh-CN" altLang="en-US" sz="2400" dirty="0">
                <a:solidFill>
                  <a:schemeClr val="bg2"/>
                </a:solidFill>
                <a:ea typeface="宋体" panose="02010600030101010101" pitchFamily="2" charset="-122"/>
              </a:rPr>
              <a:t>）攻击者伪装成申请者欺骗验证者成功的概率要小到可以忽略的程度</a:t>
            </a:r>
          </a:p>
          <a:p>
            <a:pPr eaLnBrk="1" hangingPunct="1">
              <a:buFont typeface="Wingdings" pitchFamily="2" charset="2"/>
              <a:buNone/>
              <a:defRPr/>
            </a:pPr>
            <a:r>
              <a:rPr lang="zh-CN" altLang="en-US" sz="2400" dirty="0">
                <a:solidFill>
                  <a:schemeClr val="bg2"/>
                </a:solidFill>
                <a:ea typeface="宋体" panose="02010600030101010101" pitchFamily="2" charset="-122"/>
              </a:rPr>
              <a:t> （</a:t>
            </a:r>
            <a:r>
              <a:rPr lang="en-US" altLang="zh-CN" sz="2400" dirty="0">
                <a:solidFill>
                  <a:schemeClr val="bg2"/>
                </a:solidFill>
                <a:ea typeface="宋体" panose="02010600030101010101" pitchFamily="2" charset="-122"/>
              </a:rPr>
              <a:t>4</a:t>
            </a:r>
            <a:r>
              <a:rPr lang="zh-CN" altLang="en-US" sz="2400" dirty="0">
                <a:solidFill>
                  <a:schemeClr val="bg2"/>
                </a:solidFill>
                <a:ea typeface="宋体" panose="02010600030101010101" pitchFamily="2" charset="-122"/>
              </a:rPr>
              <a:t>）计算有效性</a:t>
            </a:r>
          </a:p>
          <a:p>
            <a:pPr eaLnBrk="1" hangingPunct="1">
              <a:buFont typeface="Wingdings" pitchFamily="2" charset="2"/>
              <a:buNone/>
              <a:defRPr/>
            </a:pPr>
            <a:r>
              <a:rPr lang="zh-CN" altLang="en-US" sz="2400" dirty="0">
                <a:solidFill>
                  <a:schemeClr val="bg2"/>
                </a:solidFill>
                <a:ea typeface="宋体" panose="02010600030101010101" pitchFamily="2" charset="-122"/>
              </a:rPr>
              <a:t> （</a:t>
            </a:r>
            <a:r>
              <a:rPr lang="en-US" altLang="zh-CN" sz="2400" dirty="0">
                <a:solidFill>
                  <a:schemeClr val="bg2"/>
                </a:solidFill>
                <a:ea typeface="宋体" panose="02010600030101010101" pitchFamily="2" charset="-122"/>
              </a:rPr>
              <a:t>5</a:t>
            </a:r>
            <a:r>
              <a:rPr lang="zh-CN" altLang="en-US" sz="2400" dirty="0">
                <a:solidFill>
                  <a:schemeClr val="bg2"/>
                </a:solidFill>
                <a:ea typeface="宋体" panose="02010600030101010101" pitchFamily="2" charset="-122"/>
              </a:rPr>
              <a:t>）通信有效性</a:t>
            </a:r>
          </a:p>
          <a:p>
            <a:pPr eaLnBrk="1" hangingPunct="1">
              <a:buFont typeface="Wingdings" pitchFamily="2" charset="2"/>
              <a:buNone/>
              <a:defRPr/>
            </a:pPr>
            <a:r>
              <a:rPr lang="zh-CN" altLang="en-US" sz="2400" dirty="0">
                <a:solidFill>
                  <a:schemeClr val="bg2"/>
                </a:solidFill>
                <a:ea typeface="宋体" panose="02010600030101010101" pitchFamily="2" charset="-122"/>
              </a:rPr>
              <a:t> （</a:t>
            </a:r>
            <a:r>
              <a:rPr lang="en-US" altLang="zh-CN" sz="2400" dirty="0">
                <a:solidFill>
                  <a:schemeClr val="bg2"/>
                </a:solidFill>
                <a:ea typeface="宋体" panose="02010600030101010101" pitchFamily="2" charset="-122"/>
              </a:rPr>
              <a:t>6</a:t>
            </a:r>
            <a:r>
              <a:rPr lang="zh-CN" altLang="en-US" sz="2400" dirty="0">
                <a:solidFill>
                  <a:schemeClr val="bg2"/>
                </a:solidFill>
                <a:ea typeface="宋体" panose="02010600030101010101" pitchFamily="2" charset="-122"/>
              </a:rPr>
              <a:t>）秘密参数能安全存储</a:t>
            </a:r>
          </a:p>
        </p:txBody>
      </p:sp>
      <p:sp>
        <p:nvSpPr>
          <p:cNvPr id="2" name="矩形 1">
            <a:extLst>
              <a:ext uri="{FF2B5EF4-FFF2-40B4-BE49-F238E27FC236}">
                <a16:creationId xmlns:a16="http://schemas.microsoft.com/office/drawing/2014/main" id="{B0AE91C1-DABA-9E43-8C25-74EE6D501E06}"/>
              </a:ext>
            </a:extLst>
          </p:cNvPr>
          <p:cNvSpPr/>
          <p:nvPr/>
        </p:nvSpPr>
        <p:spPr>
          <a:xfrm>
            <a:off x="449263" y="4427538"/>
            <a:ext cx="4572000" cy="1570037"/>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buFont typeface="Wingdings" pitchFamily="2" charset="2"/>
              <a:buNone/>
              <a:defRPr/>
            </a:pPr>
            <a:r>
              <a:rPr lang="zh-CN" altLang="en-US" sz="2400" baseline="30000">
                <a:solidFill>
                  <a:schemeClr val="bg2"/>
                </a:solidFill>
                <a:effectLst>
                  <a:outerShdw blurRad="38100" dist="38100" dir="2700000" algn="tl">
                    <a:srgbClr val="C0C0C0"/>
                  </a:outerShdw>
                </a:effectLst>
                <a:ea typeface="宋体" panose="02010600030101010101" pitchFamily="2" charset="-122"/>
              </a:rPr>
              <a:t>*</a:t>
            </a:r>
            <a:r>
              <a:rPr lang="zh-CN" altLang="en-US" sz="2400">
                <a:solidFill>
                  <a:srgbClr val="0000FF"/>
                </a:solidFill>
                <a:effectLst>
                  <a:outerShdw blurRad="38100" dist="38100" dir="2700000" algn="tl">
                    <a:srgbClr val="C0C0C0"/>
                  </a:outerShdw>
                </a:effectLst>
                <a:ea typeface="宋体" panose="02010600030101010101" pitchFamily="2" charset="-122"/>
              </a:rPr>
              <a:t>（</a:t>
            </a:r>
            <a:r>
              <a:rPr lang="en-US" altLang="zh-CN" sz="2400">
                <a:solidFill>
                  <a:srgbClr val="0000FF"/>
                </a:solidFill>
                <a:effectLst>
                  <a:outerShdw blurRad="38100" dist="38100" dir="2700000" algn="tl">
                    <a:srgbClr val="C0C0C0"/>
                  </a:outerShdw>
                </a:effectLst>
                <a:ea typeface="宋体" panose="02010600030101010101" pitchFamily="2" charset="-122"/>
              </a:rPr>
              <a:t>7</a:t>
            </a:r>
            <a:r>
              <a:rPr lang="zh-CN" altLang="en-US" sz="2400">
                <a:solidFill>
                  <a:srgbClr val="0000FF"/>
                </a:solidFill>
                <a:effectLst>
                  <a:outerShdw blurRad="38100" dist="38100" dir="2700000" algn="tl">
                    <a:srgbClr val="C0C0C0"/>
                  </a:outerShdw>
                </a:effectLst>
                <a:ea typeface="宋体" panose="02010600030101010101" pitchFamily="2" charset="-122"/>
              </a:rPr>
              <a:t>）交互识别</a:t>
            </a:r>
          </a:p>
          <a:p>
            <a:pPr eaLnBrk="1" hangingPunct="1">
              <a:buFont typeface="Wingdings" pitchFamily="2" charset="2"/>
              <a:buNone/>
              <a:defRPr/>
            </a:pPr>
            <a:r>
              <a:rPr lang="zh-CN" altLang="en-US" sz="2400" baseline="30000">
                <a:solidFill>
                  <a:srgbClr val="0000FF"/>
                </a:solidFill>
                <a:effectLst>
                  <a:outerShdw blurRad="38100" dist="38100" dir="2700000" algn="tl">
                    <a:srgbClr val="C0C0C0"/>
                  </a:outerShdw>
                </a:effectLst>
                <a:ea typeface="宋体" panose="02010600030101010101" pitchFamily="2" charset="-122"/>
              </a:rPr>
              <a:t>*</a:t>
            </a:r>
            <a:r>
              <a:rPr lang="zh-CN" altLang="en-US" sz="2400">
                <a:solidFill>
                  <a:srgbClr val="0000FF"/>
                </a:solidFill>
                <a:effectLst>
                  <a:outerShdw blurRad="38100" dist="38100" dir="2700000" algn="tl">
                    <a:srgbClr val="C0C0C0"/>
                  </a:outerShdw>
                </a:effectLst>
                <a:ea typeface="宋体" panose="02010600030101010101" pitchFamily="2" charset="-122"/>
              </a:rPr>
              <a:t>（</a:t>
            </a:r>
            <a:r>
              <a:rPr lang="en-US" altLang="zh-CN" sz="2400">
                <a:solidFill>
                  <a:srgbClr val="0000FF"/>
                </a:solidFill>
                <a:effectLst>
                  <a:outerShdw blurRad="38100" dist="38100" dir="2700000" algn="tl">
                    <a:srgbClr val="C0C0C0"/>
                  </a:outerShdw>
                </a:effectLst>
                <a:ea typeface="宋体" panose="02010600030101010101" pitchFamily="2" charset="-122"/>
              </a:rPr>
              <a:t>8</a:t>
            </a:r>
            <a:r>
              <a:rPr lang="zh-CN" altLang="en-US" sz="2400">
                <a:solidFill>
                  <a:srgbClr val="0000FF"/>
                </a:solidFill>
                <a:effectLst>
                  <a:outerShdw blurRad="38100" dist="38100" dir="2700000" algn="tl">
                    <a:srgbClr val="C0C0C0"/>
                  </a:outerShdw>
                </a:effectLst>
                <a:ea typeface="宋体" panose="02010600030101010101" pitchFamily="2" charset="-122"/>
              </a:rPr>
              <a:t>）第三方的实时参与</a:t>
            </a:r>
          </a:p>
          <a:p>
            <a:pPr eaLnBrk="1" hangingPunct="1">
              <a:buFont typeface="Wingdings" pitchFamily="2" charset="2"/>
              <a:buNone/>
              <a:defRPr/>
            </a:pPr>
            <a:r>
              <a:rPr lang="zh-CN" altLang="en-US" sz="2400" baseline="30000">
                <a:solidFill>
                  <a:srgbClr val="0000FF"/>
                </a:solidFill>
                <a:effectLst>
                  <a:outerShdw blurRad="38100" dist="38100" dir="2700000" algn="tl">
                    <a:srgbClr val="C0C0C0"/>
                  </a:outerShdw>
                </a:effectLst>
                <a:ea typeface="宋体" panose="02010600030101010101" pitchFamily="2" charset="-122"/>
              </a:rPr>
              <a:t>*</a:t>
            </a:r>
            <a:r>
              <a:rPr lang="zh-CN" altLang="en-US" sz="2400">
                <a:solidFill>
                  <a:srgbClr val="0000FF"/>
                </a:solidFill>
                <a:effectLst>
                  <a:outerShdw blurRad="38100" dist="38100" dir="2700000" algn="tl">
                    <a:srgbClr val="C0C0C0"/>
                  </a:outerShdw>
                </a:effectLst>
                <a:ea typeface="宋体" panose="02010600030101010101" pitchFamily="2" charset="-122"/>
              </a:rPr>
              <a:t>（</a:t>
            </a:r>
            <a:r>
              <a:rPr lang="en-US" altLang="zh-CN" sz="2400">
                <a:solidFill>
                  <a:srgbClr val="0000FF"/>
                </a:solidFill>
                <a:effectLst>
                  <a:outerShdw blurRad="38100" dist="38100" dir="2700000" algn="tl">
                    <a:srgbClr val="C0C0C0"/>
                  </a:outerShdw>
                </a:effectLst>
                <a:ea typeface="宋体" panose="02010600030101010101" pitchFamily="2" charset="-122"/>
              </a:rPr>
              <a:t>9</a:t>
            </a:r>
            <a:r>
              <a:rPr lang="zh-CN" altLang="en-US" sz="2400">
                <a:solidFill>
                  <a:srgbClr val="0000FF"/>
                </a:solidFill>
                <a:effectLst>
                  <a:outerShdw blurRad="38100" dist="38100" dir="2700000" algn="tl">
                    <a:srgbClr val="C0C0C0"/>
                  </a:outerShdw>
                </a:effectLst>
                <a:ea typeface="宋体" panose="02010600030101010101" pitchFamily="2" charset="-122"/>
              </a:rPr>
              <a:t>）第三方的可信赖性</a:t>
            </a:r>
          </a:p>
          <a:p>
            <a:pPr eaLnBrk="1" hangingPunct="1">
              <a:buFont typeface="Wingdings" pitchFamily="2" charset="2"/>
              <a:buNone/>
              <a:defRPr/>
            </a:pPr>
            <a:r>
              <a:rPr lang="zh-CN" altLang="en-US" sz="2400" baseline="30000">
                <a:solidFill>
                  <a:srgbClr val="0000FF"/>
                </a:solidFill>
                <a:effectLst>
                  <a:outerShdw blurRad="38100" dist="38100" dir="2700000" algn="tl">
                    <a:srgbClr val="C0C0C0"/>
                  </a:outerShdw>
                </a:effectLst>
                <a:ea typeface="宋体" panose="02010600030101010101" pitchFamily="2" charset="-122"/>
              </a:rPr>
              <a:t>*</a:t>
            </a:r>
            <a:r>
              <a:rPr lang="zh-CN" altLang="en-US" sz="2400">
                <a:solidFill>
                  <a:srgbClr val="0000FF"/>
                </a:solidFill>
                <a:effectLst>
                  <a:outerShdw blurRad="38100" dist="38100" dir="2700000" algn="tl">
                    <a:srgbClr val="C0C0C0"/>
                  </a:outerShdw>
                </a:effectLst>
                <a:ea typeface="宋体" panose="02010600030101010101" pitchFamily="2" charset="-122"/>
              </a:rPr>
              <a:t>（</a:t>
            </a:r>
            <a:r>
              <a:rPr lang="en-US" altLang="zh-CN" sz="2400">
                <a:solidFill>
                  <a:srgbClr val="0000FF"/>
                </a:solidFill>
                <a:effectLst>
                  <a:outerShdw blurRad="38100" dist="38100" dir="2700000" algn="tl">
                    <a:srgbClr val="C0C0C0"/>
                  </a:outerShdw>
                </a:effectLst>
                <a:ea typeface="宋体" panose="02010600030101010101" pitchFamily="2" charset="-122"/>
              </a:rPr>
              <a:t>10</a:t>
            </a:r>
            <a:r>
              <a:rPr lang="zh-CN" altLang="en-US" sz="2400">
                <a:solidFill>
                  <a:srgbClr val="0000FF"/>
                </a:solidFill>
                <a:effectLst>
                  <a:outerShdw blurRad="38100" dist="38100" dir="2700000" algn="tl">
                    <a:srgbClr val="C0C0C0"/>
                  </a:outerShdw>
                </a:effectLst>
                <a:ea typeface="宋体" panose="02010600030101010101" pitchFamily="2" charset="-122"/>
              </a:rPr>
              <a:t>）可证明的安全性</a:t>
            </a:r>
          </a:p>
        </p:txBody>
      </p:sp>
      <p:pic>
        <p:nvPicPr>
          <p:cNvPr id="4" name="图片 3">
            <a:extLst>
              <a:ext uri="{FF2B5EF4-FFF2-40B4-BE49-F238E27FC236}">
                <a16:creationId xmlns:a16="http://schemas.microsoft.com/office/drawing/2014/main" id="{54B769CB-7445-D747-96F6-7C4842C61D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49763" y="3087688"/>
            <a:ext cx="422910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circle(in)">
                                      <p:cBhvr>
                                        <p:cTn id="1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727943C-8570-EC45-B679-92F6EBB66433}"/>
              </a:ext>
            </a:extLst>
          </p:cNvPr>
          <p:cNvSpPr>
            <a:spLocks noGrp="1" noChangeArrowheads="1"/>
          </p:cNvSpPr>
          <p:nvPr>
            <p:ph type="title"/>
          </p:nvPr>
        </p:nvSpPr>
        <p:spPr>
          <a:xfrm>
            <a:off x="304800" y="914400"/>
            <a:ext cx="7921625" cy="762000"/>
          </a:xfrm>
        </p:spPr>
        <p:txBody>
          <a:bodyPr vert="horz" wrap="square" lIns="91440" tIns="45720" rIns="91440" bIns="45720" numCol="1" anchor="t" anchorCtr="0" compatLnSpc="1">
            <a:prstTxWarp prst="textNoShape">
              <a:avLst/>
            </a:prstTxWarp>
          </a:bodyPr>
          <a:lstStyle/>
          <a:p>
            <a:pPr eaLnBrk="1" hangingPunct="1">
              <a:defRPr/>
            </a:pPr>
            <a:r>
              <a:rPr lang="zh-CN" altLang="en-US" sz="3200">
                <a:solidFill>
                  <a:srgbClr val="0000FF"/>
                </a:solidFill>
                <a:latin typeface="黑体" panose="02010609060101010101" pitchFamily="49" charset="-122"/>
                <a:ea typeface="黑体" panose="02010609060101010101" pitchFamily="49" charset="-122"/>
              </a:rPr>
              <a:t>网络环境下对身份鉴别的需求</a:t>
            </a:r>
          </a:p>
        </p:txBody>
      </p:sp>
      <p:sp>
        <p:nvSpPr>
          <p:cNvPr id="5" name="Rectangle 3">
            <a:extLst>
              <a:ext uri="{FF2B5EF4-FFF2-40B4-BE49-F238E27FC236}">
                <a16:creationId xmlns:a16="http://schemas.microsoft.com/office/drawing/2014/main" id="{6599CD80-5851-004C-B174-E99B5B1A6509}"/>
              </a:ext>
            </a:extLst>
          </p:cNvPr>
          <p:cNvSpPr txBox="1">
            <a:spLocks noChangeArrowheads="1"/>
          </p:cNvSpPr>
          <p:nvPr/>
        </p:nvSpPr>
        <p:spPr>
          <a:xfrm>
            <a:off x="212725" y="1801813"/>
            <a:ext cx="8763000" cy="2438400"/>
          </a:xfrm>
          <a:prstGeom prst="rect">
            <a:avLst/>
          </a:prstGeom>
        </p:spPr>
        <p:txBody>
          <a:bodyPr/>
          <a:lstStyle>
            <a:lvl1pPr marL="571500" indent="-571500">
              <a:defRPr kumimoji="1" sz="4800" b="1">
                <a:solidFill>
                  <a:srgbClr val="FF0000"/>
                </a:solidFill>
                <a:latin typeface="隶书" pitchFamily="49" charset="-122"/>
                <a:ea typeface="隶书" pitchFamily="49" charset="-122"/>
              </a:defRPr>
            </a:lvl1pPr>
            <a:lvl2pPr marL="1028700" indent="-455613">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l"/>
              <a:defRPr/>
            </a:pPr>
            <a:r>
              <a:rPr kumimoji="0" lang="zh-CN" altLang="en-US" sz="2800"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唯一的身份标识（</a:t>
            </a:r>
            <a:r>
              <a:rPr kumimoji="0" lang="en-US" altLang="zh-CN" sz="2800"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ID</a:t>
            </a:r>
            <a:r>
              <a:rPr kumimoji="0" lang="zh-CN" altLang="en-US" sz="2800"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kumimoji="0" lang="en-US" altLang="zh-CN" sz="2400" dirty="0">
                <a:solidFill>
                  <a:srgbClr val="000000"/>
                </a:solidFill>
                <a:effectLst>
                  <a:outerShdw blurRad="38100" dist="38100" dir="2700000" algn="tl">
                    <a:srgbClr val="C0C0C0"/>
                  </a:outerShdw>
                </a:effectLst>
                <a:latin typeface="Arial" panose="020B0604020202020204" pitchFamily="34" charset="0"/>
              </a:rPr>
              <a:t>: </a:t>
            </a:r>
          </a:p>
          <a:p>
            <a:pPr lvl="1" eaLnBrk="1" hangingPunct="1">
              <a:lnSpc>
                <a:spcPct val="90000"/>
              </a:lnSpc>
              <a:spcBef>
                <a:spcPct val="30000"/>
              </a:spcBef>
              <a:buClr>
                <a:srgbClr val="FF0000"/>
              </a:buClr>
              <a:buSzPct val="75000"/>
              <a:buFont typeface="Wingdings" pitchFamily="2" charset="2"/>
              <a:buChar char="Ø"/>
              <a:defRPr/>
            </a:pPr>
            <a:r>
              <a:rPr kumimoji="0" lang="en-US" altLang="zh-CN" sz="2400" dirty="0" err="1">
                <a:solidFill>
                  <a:srgbClr val="000000"/>
                </a:solidFill>
                <a:effectLst>
                  <a:outerShdw blurRad="38100" dist="38100" dir="2700000" algn="tl">
                    <a:srgbClr val="C0C0C0"/>
                  </a:outerShdw>
                </a:effectLst>
                <a:latin typeface="Arial" panose="020B0604020202020204" pitchFamily="34" charset="0"/>
              </a:rPr>
              <a:t>uid</a:t>
            </a:r>
            <a:r>
              <a:rPr kumimoji="0" lang="zh-CN" altLang="en-US" sz="2400" dirty="0">
                <a:solidFill>
                  <a:srgbClr val="000000"/>
                </a:solidFill>
                <a:effectLst>
                  <a:outerShdw blurRad="38100" dist="38100" dir="2700000" algn="tl">
                    <a:srgbClr val="C0C0C0"/>
                  </a:outerShdw>
                </a:effectLst>
                <a:latin typeface="Arial" panose="020B0604020202020204" pitchFamily="34" charset="0"/>
              </a:rPr>
              <a:t>，</a:t>
            </a:r>
            <a:r>
              <a:rPr kumimoji="0" lang="en-US" altLang="zh-CN" sz="2400" dirty="0" err="1">
                <a:solidFill>
                  <a:srgbClr val="000000"/>
                </a:solidFill>
                <a:effectLst>
                  <a:outerShdw blurRad="38100" dist="38100" dir="2700000" algn="tl">
                    <a:srgbClr val="C0C0C0"/>
                  </a:outerShdw>
                </a:effectLst>
                <a:latin typeface="Arial" panose="020B0604020202020204" pitchFamily="34" charset="0"/>
              </a:rPr>
              <a:t>uid@domain</a:t>
            </a:r>
            <a:endParaRPr kumimoji="0" lang="en-US" altLang="zh-CN" sz="2400" dirty="0">
              <a:solidFill>
                <a:srgbClr val="000000"/>
              </a:solidFill>
              <a:effectLst>
                <a:outerShdw blurRad="38100" dist="38100" dir="2700000" algn="tl">
                  <a:srgbClr val="C0C0C0"/>
                </a:outerShdw>
              </a:effectLst>
              <a:latin typeface="Arial" panose="020B0604020202020204" pitchFamily="34" charset="0"/>
            </a:endParaRPr>
          </a:p>
          <a:p>
            <a:pPr lvl="1" eaLnBrk="1" hangingPunct="1">
              <a:lnSpc>
                <a:spcPct val="90000"/>
              </a:lnSpc>
              <a:spcBef>
                <a:spcPct val="30000"/>
              </a:spcBef>
              <a:buClr>
                <a:srgbClr val="FF0000"/>
              </a:buClr>
              <a:buSzPct val="75000"/>
              <a:buFont typeface="Wingdings" pitchFamily="2" charset="2"/>
              <a:buChar char="Ø"/>
              <a:defRPr/>
            </a:pPr>
            <a:r>
              <a:rPr kumimoji="0" lang="en-US" altLang="zh-CN" sz="2400" dirty="0">
                <a:solidFill>
                  <a:srgbClr val="000000"/>
                </a:solidFill>
                <a:effectLst>
                  <a:outerShdw blurRad="38100" dist="38100" dir="2700000" algn="tl">
                    <a:srgbClr val="C0C0C0"/>
                  </a:outerShdw>
                </a:effectLst>
                <a:latin typeface="Arial" panose="020B0604020202020204" pitchFamily="34" charset="0"/>
              </a:rPr>
              <a:t>DN:  C=CN/S=Sichuan /O=SWJTU/U=CS/ CN</a:t>
            </a:r>
          </a:p>
          <a:p>
            <a:pPr lvl="1" eaLnBrk="1" hangingPunct="1">
              <a:lnSpc>
                <a:spcPct val="90000"/>
              </a:lnSpc>
              <a:spcBef>
                <a:spcPct val="30000"/>
              </a:spcBef>
              <a:buClr>
                <a:srgbClr val="FF0000"/>
              </a:buClr>
              <a:buSzPct val="75000"/>
              <a:buFont typeface="Wingdings" pitchFamily="2" charset="2"/>
              <a:buChar char="Ø"/>
              <a:defRPr/>
            </a:pPr>
            <a:r>
              <a:rPr kumimoji="0" lang="en-US" altLang="zh-CN" sz="2400" dirty="0">
                <a:solidFill>
                  <a:srgbClr val="000000"/>
                </a:solidFill>
                <a:effectLst>
                  <a:outerShdw blurRad="38100" dist="38100" dir="2700000" algn="tl">
                    <a:srgbClr val="C0C0C0"/>
                  </a:outerShdw>
                </a:effectLst>
                <a:latin typeface="Arial" panose="020B0604020202020204" pitchFamily="34" charset="0"/>
              </a:rPr>
              <a:t>=Daniel Zheng/Email=dzheng5@swjtu.edu.cn</a:t>
            </a:r>
          </a:p>
          <a:p>
            <a:pPr eaLnBrk="1" hangingPunct="1">
              <a:lnSpc>
                <a:spcPct val="90000"/>
              </a:lnSpc>
              <a:spcBef>
                <a:spcPct val="30000"/>
              </a:spcBef>
              <a:buClr>
                <a:srgbClr val="FF0000"/>
              </a:buClr>
              <a:buSzPct val="75000"/>
              <a:buFont typeface="Wingdings" pitchFamily="2" charset="2"/>
              <a:buChar char="l"/>
              <a:defRPr/>
            </a:pPr>
            <a:r>
              <a:rPr kumimoji="0" lang="zh-CN" altLang="en-US" sz="2800"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抗被动的威胁（窃听），口令不在网上明码传输</a:t>
            </a:r>
          </a:p>
        </p:txBody>
      </p:sp>
      <p:pic>
        <p:nvPicPr>
          <p:cNvPr id="16387" name="Picture 4">
            <a:extLst>
              <a:ext uri="{FF2B5EF4-FFF2-40B4-BE49-F238E27FC236}">
                <a16:creationId xmlns:a16="http://schemas.microsoft.com/office/drawing/2014/main" id="{118AFCA5-EBA3-3646-95F0-219FA5904D9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4714875"/>
            <a:ext cx="7524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5" descr="madhack">
            <a:extLst>
              <a:ext uri="{FF2B5EF4-FFF2-40B4-BE49-F238E27FC236}">
                <a16:creationId xmlns:a16="http://schemas.microsoft.com/office/drawing/2014/main" id="{4BCC8012-3079-C64D-82C7-2D298FBF1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3225" y="5507038"/>
            <a:ext cx="762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6">
            <a:extLst>
              <a:ext uri="{FF2B5EF4-FFF2-40B4-BE49-F238E27FC236}">
                <a16:creationId xmlns:a16="http://schemas.microsoft.com/office/drawing/2014/main" id="{4327990D-B3C8-1145-B4B3-3DC7BC1417A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4714875"/>
            <a:ext cx="7524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Line 7">
            <a:extLst>
              <a:ext uri="{FF2B5EF4-FFF2-40B4-BE49-F238E27FC236}">
                <a16:creationId xmlns:a16="http://schemas.microsoft.com/office/drawing/2014/main" id="{008289DA-7C0C-5843-92E8-6F516D15B23B}"/>
              </a:ext>
            </a:extLst>
          </p:cNvPr>
          <p:cNvSpPr>
            <a:spLocks noChangeShapeType="1"/>
          </p:cNvSpPr>
          <p:nvPr/>
        </p:nvSpPr>
        <p:spPr bwMode="auto">
          <a:xfrm flipV="1">
            <a:off x="3419475" y="5003800"/>
            <a:ext cx="2016125" cy="0"/>
          </a:xfrm>
          <a:prstGeom prst="line">
            <a:avLst/>
          </a:prstGeom>
          <a:noFill/>
          <a:ln w="3810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8">
            <a:extLst>
              <a:ext uri="{FF2B5EF4-FFF2-40B4-BE49-F238E27FC236}">
                <a16:creationId xmlns:a16="http://schemas.microsoft.com/office/drawing/2014/main" id="{7256F39F-F14C-AE42-9229-FB286C0787B0}"/>
              </a:ext>
            </a:extLst>
          </p:cNvPr>
          <p:cNvSpPr>
            <a:spLocks noChangeShapeType="1"/>
          </p:cNvSpPr>
          <p:nvPr/>
        </p:nvSpPr>
        <p:spPr bwMode="auto">
          <a:xfrm>
            <a:off x="4572000" y="5003800"/>
            <a:ext cx="0" cy="503238"/>
          </a:xfrm>
          <a:prstGeom prst="line">
            <a:avLst/>
          </a:prstGeom>
          <a:noFill/>
          <a:ln w="57150">
            <a:solidFill>
              <a:schemeClr val="bg2"/>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2" name="Text Box 9">
            <a:extLst>
              <a:ext uri="{FF2B5EF4-FFF2-40B4-BE49-F238E27FC236}">
                <a16:creationId xmlns:a16="http://schemas.microsoft.com/office/drawing/2014/main" id="{D89A25A2-5253-2349-BFEB-08171366CD9B}"/>
              </a:ext>
            </a:extLst>
          </p:cNvPr>
          <p:cNvSpPr txBox="1">
            <a:spLocks noChangeArrowheads="1"/>
          </p:cNvSpPr>
          <p:nvPr/>
        </p:nvSpPr>
        <p:spPr bwMode="auto">
          <a:xfrm>
            <a:off x="2843213" y="5291138"/>
            <a:ext cx="53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000">
                <a:solidFill>
                  <a:srgbClr val="0000FF"/>
                </a:solidFill>
              </a:rPr>
              <a:t>源</a:t>
            </a:r>
          </a:p>
        </p:txBody>
      </p:sp>
      <p:sp>
        <p:nvSpPr>
          <p:cNvPr id="16393" name="Text Box 10">
            <a:extLst>
              <a:ext uri="{FF2B5EF4-FFF2-40B4-BE49-F238E27FC236}">
                <a16:creationId xmlns:a16="http://schemas.microsoft.com/office/drawing/2014/main" id="{C9DC8C1C-E3FA-8749-95D6-1A9EF644DAEA}"/>
              </a:ext>
            </a:extLst>
          </p:cNvPr>
          <p:cNvSpPr txBox="1">
            <a:spLocks noChangeArrowheads="1"/>
          </p:cNvSpPr>
          <p:nvPr/>
        </p:nvSpPr>
        <p:spPr bwMode="auto">
          <a:xfrm>
            <a:off x="5551488" y="5291138"/>
            <a:ext cx="820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000">
                <a:solidFill>
                  <a:srgbClr val="0000FF"/>
                </a:solidFill>
              </a:rPr>
              <a:t>目的</a:t>
            </a:r>
          </a:p>
        </p:txBody>
      </p:sp>
      <p:sp>
        <p:nvSpPr>
          <p:cNvPr id="16394" name="Text Box 11">
            <a:extLst>
              <a:ext uri="{FF2B5EF4-FFF2-40B4-BE49-F238E27FC236}">
                <a16:creationId xmlns:a16="http://schemas.microsoft.com/office/drawing/2014/main" id="{0E6B414B-A474-8F4D-933F-C6A8F4BDB789}"/>
              </a:ext>
            </a:extLst>
          </p:cNvPr>
          <p:cNvSpPr txBox="1">
            <a:spLocks noChangeArrowheads="1"/>
          </p:cNvSpPr>
          <p:nvPr/>
        </p:nvSpPr>
        <p:spPr bwMode="auto">
          <a:xfrm>
            <a:off x="3886200" y="4572000"/>
            <a:ext cx="1219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en-US" altLang="zh-CN" sz="2000"/>
              <a:t>sniffer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5">
                                            <p:txEl>
                                              <p:pRg st="0" end="0"/>
                                            </p:txEl>
                                          </p:spTgt>
                                        </p:tgtEl>
                                        <p:attrNameLst>
                                          <p:attrName>style.visibility</p:attrName>
                                        </p:attrNameLst>
                                      </p:cBhvr>
                                      <p:to>
                                        <p:strVal val="visible"/>
                                      </p:to>
                                    </p:set>
                                    <p:anim calcmode="discrete" valueType="clr">
                                      <p:cBhvr override="childStyle">
                                        <p:cTn id="7" dur="80"/>
                                        <p:tgtEl>
                                          <p:spTgt spid="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5">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5">
                                            <p:txEl>
                                              <p:pRg st="1" end="1"/>
                                            </p:txEl>
                                          </p:spTgt>
                                        </p:tgtEl>
                                        <p:attrNameLst>
                                          <p:attrName>style.visibility</p:attrName>
                                        </p:attrNameLst>
                                      </p:cBhvr>
                                      <p:to>
                                        <p:strVal val="visible"/>
                                      </p:to>
                                    </p:set>
                                    <p:anim calcmode="discrete" valueType="clr">
                                      <p:cBhvr override="childStyle">
                                        <p:cTn id="14" dur="80"/>
                                        <p:tgtEl>
                                          <p:spTgt spid="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5">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5">
                                            <p:txEl>
                                              <p:pRg st="1" end="1"/>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5">
                                            <p:txEl>
                                              <p:pRg st="2" end="2"/>
                                            </p:txEl>
                                          </p:spTgt>
                                        </p:tgtEl>
                                        <p:attrNameLst>
                                          <p:attrName>style.visibility</p:attrName>
                                        </p:attrNameLst>
                                      </p:cBhvr>
                                      <p:to>
                                        <p:strVal val="visible"/>
                                      </p:to>
                                    </p:set>
                                    <p:anim calcmode="discrete" valueType="clr">
                                      <p:cBhvr override="childStyle">
                                        <p:cTn id="21" dur="80"/>
                                        <p:tgtEl>
                                          <p:spTgt spid="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5">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5">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5">
                                            <p:txEl>
                                              <p:pRg st="3" end="3"/>
                                            </p:txEl>
                                          </p:spTgt>
                                        </p:tgtEl>
                                        <p:attrNameLst>
                                          <p:attrName>style.visibility</p:attrName>
                                        </p:attrNameLst>
                                      </p:cBhvr>
                                      <p:to>
                                        <p:strVal val="visible"/>
                                      </p:to>
                                    </p:set>
                                    <p:anim calcmode="discrete" valueType="clr">
                                      <p:cBhvr override="childStyle">
                                        <p:cTn id="28" dur="80"/>
                                        <p:tgtEl>
                                          <p:spTgt spid="5">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5">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5">
                                            <p:txEl>
                                              <p:pRg st="3" end="3"/>
                                            </p:txEl>
                                          </p:spTgt>
                                        </p:tgtEl>
                                        <p:attrNameLst>
                                          <p:attrName>fill.type</p:attrName>
                                        </p:attrNameLst>
                                      </p:cBhvr>
                                      <p:to>
                                        <p:strVal val="solid"/>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5">
                                            <p:txEl>
                                              <p:pRg st="4" end="4"/>
                                            </p:txEl>
                                          </p:spTgt>
                                        </p:tgtEl>
                                        <p:attrNameLst>
                                          <p:attrName>style.visibility</p:attrName>
                                        </p:attrNameLst>
                                      </p:cBhvr>
                                      <p:to>
                                        <p:strVal val="visible"/>
                                      </p:to>
                                    </p:set>
                                    <p:anim calcmode="discrete" valueType="clr">
                                      <p:cBhvr override="childStyle">
                                        <p:cTn id="35" dur="80"/>
                                        <p:tgtEl>
                                          <p:spTgt spid="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5">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5">
                                            <p:txEl>
                                              <p:pRg st="4" end="4"/>
                                            </p:txEl>
                                          </p:spTgt>
                                        </p:tgtEl>
                                        <p:attrNameLst>
                                          <p:attrName>fill.type</p:attrName>
                                        </p:attrNameLst>
                                      </p:cBhvr>
                                      <p:to>
                                        <p:strVal val="solid"/>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1"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500" fill="hold"/>
                                        <p:tgtEl>
                                          <p:spTgt spid="10"/>
                                        </p:tgtEl>
                                        <p:attrNameLst>
                                          <p:attrName>ppt_x</p:attrName>
                                        </p:attrNameLst>
                                      </p:cBhvr>
                                      <p:tavLst>
                                        <p:tav tm="0">
                                          <p:val>
                                            <p:strVal val="#ppt_x"/>
                                          </p:val>
                                        </p:tav>
                                        <p:tav tm="100000">
                                          <p:val>
                                            <p:strVal val="#ppt_x"/>
                                          </p:val>
                                        </p:tav>
                                      </p:tavLst>
                                    </p:anim>
                                    <p:anim calcmode="lin" valueType="num">
                                      <p:cBhvr>
                                        <p:cTn id="43" dur="500" fill="hold"/>
                                        <p:tgtEl>
                                          <p:spTgt spid="10"/>
                                        </p:tgtEl>
                                        <p:attrNameLst>
                                          <p:attrName>ppt_y</p:attrName>
                                        </p:attrNameLst>
                                      </p:cBhvr>
                                      <p:tavLst>
                                        <p:tav tm="0">
                                          <p:val>
                                            <p:strVal val="#ppt_y-#ppt_h/2"/>
                                          </p:val>
                                        </p:tav>
                                        <p:tav tm="100000">
                                          <p:val>
                                            <p:strVal val="#ppt_y"/>
                                          </p:val>
                                        </p:tav>
                                      </p:tavLst>
                                    </p:anim>
                                    <p:anim calcmode="lin" valueType="num">
                                      <p:cBhvr>
                                        <p:cTn id="44" dur="500" fill="hold"/>
                                        <p:tgtEl>
                                          <p:spTgt spid="10"/>
                                        </p:tgtEl>
                                        <p:attrNameLst>
                                          <p:attrName>ppt_w</p:attrName>
                                        </p:attrNameLst>
                                      </p:cBhvr>
                                      <p:tavLst>
                                        <p:tav tm="0">
                                          <p:val>
                                            <p:strVal val="#ppt_w"/>
                                          </p:val>
                                        </p:tav>
                                        <p:tav tm="100000">
                                          <p:val>
                                            <p:strVal val="#ppt_w"/>
                                          </p:val>
                                        </p:tav>
                                      </p:tavLst>
                                    </p:anim>
                                    <p:anim calcmode="lin" valueType="num">
                                      <p:cBhvr>
                                        <p:cTn id="45"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id="{E44A3144-DDC5-4B4B-9E95-5DD86F13AC38}"/>
              </a:ext>
            </a:extLst>
          </p:cNvPr>
          <p:cNvSpPr>
            <a:spLocks noGrp="1" noChangeArrowheads="1"/>
          </p:cNvSpPr>
          <p:nvPr>
            <p:ph type="body" idx="1"/>
          </p:nvPr>
        </p:nvSpPr>
        <p:spPr>
          <a:xfrm>
            <a:off x="457200" y="914400"/>
            <a:ext cx="8001000" cy="1476375"/>
          </a:xfrm>
        </p:spPr>
        <p:txBody>
          <a:bodyPr vert="horz" wrap="square" lIns="91440" tIns="45720" rIns="91440" bIns="45720" numCol="1" anchor="t" anchorCtr="0" compatLnSpc="1">
            <a:prstTxWarp prst="textNoShape">
              <a:avLst/>
            </a:prstTxWarp>
          </a:bodyPr>
          <a:lstStyle/>
          <a:p>
            <a:pPr eaLnBrk="1" hangingPunct="1">
              <a:buClr>
                <a:srgbClr val="FF0000"/>
              </a:buClr>
              <a:defRPr/>
            </a:pPr>
            <a:r>
              <a:rPr lang="zh-CN" altLang="en-US">
                <a:solidFill>
                  <a:schemeClr val="bg2"/>
                </a:solidFill>
                <a:latin typeface="华文中宋" panose="02010600040101010101" pitchFamily="2" charset="-122"/>
                <a:ea typeface="华文中宋" panose="02010600040101010101" pitchFamily="2" charset="-122"/>
              </a:rPr>
              <a:t>抵抗主动的威胁，比如阻断、伪造、重放</a:t>
            </a:r>
            <a:r>
              <a:rPr lang="en-US" altLang="zh-CN">
                <a:solidFill>
                  <a:schemeClr val="bg2"/>
                </a:solidFill>
                <a:latin typeface="华文中宋" panose="02010600040101010101" pitchFamily="2" charset="-122"/>
                <a:ea typeface="华文中宋" panose="02010600040101010101" pitchFamily="2" charset="-122"/>
              </a:rPr>
              <a:t>,</a:t>
            </a:r>
            <a:r>
              <a:rPr lang="zh-CN" altLang="en-US">
                <a:solidFill>
                  <a:schemeClr val="bg2"/>
                </a:solidFill>
                <a:latin typeface="华文中宋" panose="02010600040101010101" pitchFamily="2" charset="-122"/>
                <a:ea typeface="华文中宋" panose="02010600040101010101" pitchFamily="2" charset="-122"/>
              </a:rPr>
              <a:t>网络上传输的鉴别信息不可重用</a:t>
            </a:r>
          </a:p>
        </p:txBody>
      </p:sp>
      <p:sp>
        <p:nvSpPr>
          <p:cNvPr id="14340" name="Rectangle 4">
            <a:extLst>
              <a:ext uri="{FF2B5EF4-FFF2-40B4-BE49-F238E27FC236}">
                <a16:creationId xmlns:a16="http://schemas.microsoft.com/office/drawing/2014/main" id="{A0189CDF-7282-ED4F-ABEE-C0E1669158CB}"/>
              </a:ext>
            </a:extLst>
          </p:cNvPr>
          <p:cNvSpPr>
            <a:spLocks noChangeArrowheads="1"/>
          </p:cNvSpPr>
          <p:nvPr/>
        </p:nvSpPr>
        <p:spPr bwMode="auto">
          <a:xfrm>
            <a:off x="2843213" y="3716338"/>
            <a:ext cx="863600" cy="506412"/>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zh-CN" altLang="en-US" sz="2000" b="0">
                <a:solidFill>
                  <a:srgbClr val="0000FF"/>
                </a:solidFill>
                <a:latin typeface="黑体" panose="02010609060101010101" pitchFamily="49" charset="-122"/>
                <a:ea typeface="黑体" panose="02010609060101010101" pitchFamily="49" charset="-122"/>
              </a:rPr>
              <a:t>加密</a:t>
            </a:r>
          </a:p>
        </p:txBody>
      </p:sp>
      <p:sp>
        <p:nvSpPr>
          <p:cNvPr id="14341" name="Rectangle 5">
            <a:extLst>
              <a:ext uri="{FF2B5EF4-FFF2-40B4-BE49-F238E27FC236}">
                <a16:creationId xmlns:a16="http://schemas.microsoft.com/office/drawing/2014/main" id="{F2717A11-E5E6-2F4A-B2FA-D16C55E8C2E3}"/>
              </a:ext>
            </a:extLst>
          </p:cNvPr>
          <p:cNvSpPr>
            <a:spLocks noChangeArrowheads="1"/>
          </p:cNvSpPr>
          <p:nvPr/>
        </p:nvSpPr>
        <p:spPr bwMode="auto">
          <a:xfrm>
            <a:off x="7235825" y="3644900"/>
            <a:ext cx="863600" cy="576263"/>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zh-CN" altLang="en-US" sz="2000" b="0">
                <a:solidFill>
                  <a:srgbClr val="0000FF"/>
                </a:solidFill>
                <a:latin typeface="黑体" panose="02010609060101010101" pitchFamily="49" charset="-122"/>
                <a:ea typeface="黑体" panose="02010609060101010101" pitchFamily="49" charset="-122"/>
              </a:rPr>
              <a:t>解密</a:t>
            </a:r>
          </a:p>
        </p:txBody>
      </p:sp>
      <p:pic>
        <p:nvPicPr>
          <p:cNvPr id="17412" name="Picture 7">
            <a:extLst>
              <a:ext uri="{FF2B5EF4-FFF2-40B4-BE49-F238E27FC236}">
                <a16:creationId xmlns:a16="http://schemas.microsoft.com/office/drawing/2014/main" id="{16067BA8-B838-6849-91EC-6FEB4094008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838" y="3068638"/>
            <a:ext cx="3384550"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16">
            <a:extLst>
              <a:ext uri="{FF2B5EF4-FFF2-40B4-BE49-F238E27FC236}">
                <a16:creationId xmlns:a16="http://schemas.microsoft.com/office/drawing/2014/main" id="{607E7459-1CE3-7544-9254-C222C708C8F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25" y="3678238"/>
            <a:ext cx="700088"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17">
            <a:extLst>
              <a:ext uri="{FF2B5EF4-FFF2-40B4-BE49-F238E27FC236}">
                <a16:creationId xmlns:a16="http://schemas.microsoft.com/office/drawing/2014/main" id="{41B8E59D-6FEE-8A4E-B9A9-57747ECD678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2288" y="3429000"/>
            <a:ext cx="5334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4354" name="AutoShape 18">
            <a:extLst>
              <a:ext uri="{FF2B5EF4-FFF2-40B4-BE49-F238E27FC236}">
                <a16:creationId xmlns:a16="http://schemas.microsoft.com/office/drawing/2014/main" id="{55E6FC89-CFC0-B940-B48C-407072A2CCD8}"/>
              </a:ext>
            </a:extLst>
          </p:cNvPr>
          <p:cNvSpPr>
            <a:spLocks noChangeArrowheads="1"/>
          </p:cNvSpPr>
          <p:nvPr/>
        </p:nvSpPr>
        <p:spPr bwMode="auto">
          <a:xfrm>
            <a:off x="3706813" y="3860800"/>
            <a:ext cx="3457575" cy="144463"/>
          </a:xfrm>
          <a:prstGeom prst="rightArrow">
            <a:avLst>
              <a:gd name="adj1" fmla="val 50000"/>
              <a:gd name="adj2" fmla="val 598350"/>
            </a:avLst>
          </a:prstGeom>
          <a:solidFill>
            <a:srgbClr val="CC3300"/>
          </a:solidFill>
          <a:ln w="12700">
            <a:solidFill>
              <a:schemeClr val="tx1"/>
            </a:solidFill>
            <a:miter lim="800000"/>
            <a:headEnd type="none" w="sm" len="sm"/>
            <a:tailEnd type="none" w="sm" len="sm"/>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sz="2000">
              <a:solidFill>
                <a:srgbClr val="0000FF"/>
              </a:solidFill>
              <a:latin typeface="黑体" panose="02010609060101010101" pitchFamily="49" charset="-122"/>
              <a:ea typeface="黑体" panose="02010609060101010101" pitchFamily="49" charset="-122"/>
            </a:endParaRPr>
          </a:p>
        </p:txBody>
      </p:sp>
      <p:sp>
        <p:nvSpPr>
          <p:cNvPr id="17416" name="Text Box 19">
            <a:extLst>
              <a:ext uri="{FF2B5EF4-FFF2-40B4-BE49-F238E27FC236}">
                <a16:creationId xmlns:a16="http://schemas.microsoft.com/office/drawing/2014/main" id="{27CBAFA6-B60D-6243-9AA6-40969AF32323}"/>
              </a:ext>
            </a:extLst>
          </p:cNvPr>
          <p:cNvSpPr txBox="1">
            <a:spLocks noChangeArrowheads="1"/>
          </p:cNvSpPr>
          <p:nvPr/>
        </p:nvSpPr>
        <p:spPr bwMode="auto">
          <a:xfrm>
            <a:off x="900113" y="3644900"/>
            <a:ext cx="1223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en-US" altLang="zh-CN" sz="2000">
                <a:solidFill>
                  <a:srgbClr val="0000FF"/>
                </a:solidFill>
                <a:latin typeface="黑体" panose="02010609060101010101" pitchFamily="49" charset="-122"/>
                <a:ea typeface="黑体" panose="02010609060101010101" pitchFamily="49" charset="-122"/>
              </a:rPr>
              <a:t>passwd</a:t>
            </a:r>
          </a:p>
        </p:txBody>
      </p:sp>
      <p:sp>
        <p:nvSpPr>
          <p:cNvPr id="14356" name="Rectangle 20">
            <a:extLst>
              <a:ext uri="{FF2B5EF4-FFF2-40B4-BE49-F238E27FC236}">
                <a16:creationId xmlns:a16="http://schemas.microsoft.com/office/drawing/2014/main" id="{4BD46B99-146C-0542-8530-5252737A2D32}"/>
              </a:ext>
            </a:extLst>
          </p:cNvPr>
          <p:cNvSpPr>
            <a:spLocks noChangeArrowheads="1"/>
          </p:cNvSpPr>
          <p:nvPr/>
        </p:nvSpPr>
        <p:spPr bwMode="auto">
          <a:xfrm>
            <a:off x="4284663" y="3716338"/>
            <a:ext cx="2016125" cy="360362"/>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sz="2000" b="0">
                <a:solidFill>
                  <a:srgbClr val="0000FF"/>
                </a:solidFill>
                <a:latin typeface="黑体" panose="02010609060101010101" pitchFamily="49" charset="-122"/>
                <a:ea typeface="黑体" panose="02010609060101010101" pitchFamily="49" charset="-122"/>
              </a:rPr>
              <a:t>$%@&amp;)*=-~`^,{</a:t>
            </a:r>
          </a:p>
        </p:txBody>
      </p:sp>
      <p:pic>
        <p:nvPicPr>
          <p:cNvPr id="17418" name="Picture 21" descr="madhack">
            <a:extLst>
              <a:ext uri="{FF2B5EF4-FFF2-40B4-BE49-F238E27FC236}">
                <a16:creationId xmlns:a16="http://schemas.microsoft.com/office/drawing/2014/main" id="{B4D1E79D-A76C-3942-B63C-87D91D657E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800" y="5156200"/>
            <a:ext cx="762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8" name="Line 22">
            <a:extLst>
              <a:ext uri="{FF2B5EF4-FFF2-40B4-BE49-F238E27FC236}">
                <a16:creationId xmlns:a16="http://schemas.microsoft.com/office/drawing/2014/main" id="{B615B399-9510-4D4B-AF94-1D4052445702}"/>
              </a:ext>
            </a:extLst>
          </p:cNvPr>
          <p:cNvSpPr>
            <a:spLocks noChangeShapeType="1"/>
          </p:cNvSpPr>
          <p:nvPr/>
        </p:nvSpPr>
        <p:spPr bwMode="auto">
          <a:xfrm flipH="1">
            <a:off x="5362575" y="4076700"/>
            <a:ext cx="1588" cy="1079500"/>
          </a:xfrm>
          <a:prstGeom prst="line">
            <a:avLst/>
          </a:prstGeom>
          <a:noFill/>
          <a:ln w="57150">
            <a:solidFill>
              <a:schemeClr val="bg2"/>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7420" name="Picture 218" descr="EndUserFemalephone">
            <a:extLst>
              <a:ext uri="{FF2B5EF4-FFF2-40B4-BE49-F238E27FC236}">
                <a16:creationId xmlns:a16="http://schemas.microsoft.com/office/drawing/2014/main" id="{9A6840C6-63B9-F24D-993A-5B6637EA73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3276600"/>
            <a:ext cx="914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5" presetClass="entr" presetSubtype="0" fill="hold" grpId="0" nodeType="clickEffect">
                                  <p:stCondLst>
                                    <p:cond delay="0"/>
                                  </p:stCondLst>
                                  <p:childTnLst>
                                    <p:set>
                                      <p:cBhvr>
                                        <p:cTn id="10" dur="1" fill="hold">
                                          <p:stCondLst>
                                            <p:cond delay="0"/>
                                          </p:stCondLst>
                                        </p:cTn>
                                        <p:tgtEl>
                                          <p:spTgt spid="14354"/>
                                        </p:tgtEl>
                                        <p:attrNameLst>
                                          <p:attrName>style.visibility</p:attrName>
                                        </p:attrNameLst>
                                      </p:cBhvr>
                                      <p:to>
                                        <p:strVal val="visible"/>
                                      </p:to>
                                    </p:set>
                                    <p:anim calcmode="lin" valueType="num">
                                      <p:cBhvr>
                                        <p:cTn id="11" dur="1000" fill="hold"/>
                                        <p:tgtEl>
                                          <p:spTgt spid="14354"/>
                                        </p:tgtEl>
                                        <p:attrNameLst>
                                          <p:attrName>ppt_w</p:attrName>
                                        </p:attrNameLst>
                                      </p:cBhvr>
                                      <p:tavLst>
                                        <p:tav tm="0">
                                          <p:val>
                                            <p:strVal val="#ppt_w*0.70"/>
                                          </p:val>
                                        </p:tav>
                                        <p:tav tm="100000">
                                          <p:val>
                                            <p:strVal val="#ppt_w"/>
                                          </p:val>
                                        </p:tav>
                                      </p:tavLst>
                                    </p:anim>
                                    <p:anim calcmode="lin" valueType="num">
                                      <p:cBhvr>
                                        <p:cTn id="12" dur="1000" fill="hold"/>
                                        <p:tgtEl>
                                          <p:spTgt spid="14354"/>
                                        </p:tgtEl>
                                        <p:attrNameLst>
                                          <p:attrName>ppt_h</p:attrName>
                                        </p:attrNameLst>
                                      </p:cBhvr>
                                      <p:tavLst>
                                        <p:tav tm="0">
                                          <p:val>
                                            <p:strVal val="#ppt_h"/>
                                          </p:val>
                                        </p:tav>
                                        <p:tav tm="100000">
                                          <p:val>
                                            <p:strVal val="#ppt_h"/>
                                          </p:val>
                                        </p:tav>
                                      </p:tavLst>
                                    </p:anim>
                                    <p:animEffect transition="in" filter="fade">
                                      <p:cBhvr>
                                        <p:cTn id="13" dur="1000"/>
                                        <p:tgtEl>
                                          <p:spTgt spid="1435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7" presetClass="entr" presetSubtype="0" fill="hold" grpId="0" nodeType="clickEffect">
                                  <p:stCondLst>
                                    <p:cond delay="0"/>
                                  </p:stCondLst>
                                  <p:iterate type="lt">
                                    <p:tmPct val="50000"/>
                                  </p:iterate>
                                  <p:childTnLst>
                                    <p:set>
                                      <p:cBhvr>
                                        <p:cTn id="17" dur="1" fill="hold">
                                          <p:stCondLst>
                                            <p:cond delay="0"/>
                                          </p:stCondLst>
                                        </p:cTn>
                                        <p:tgtEl>
                                          <p:spTgt spid="14356"/>
                                        </p:tgtEl>
                                        <p:attrNameLst>
                                          <p:attrName>style.visibility</p:attrName>
                                        </p:attrNameLst>
                                      </p:cBhvr>
                                      <p:to>
                                        <p:strVal val="visible"/>
                                      </p:to>
                                    </p:set>
                                    <p:anim calcmode="discrete" valueType="clr">
                                      <p:cBhvr override="childStyle">
                                        <p:cTn id="18" dur="80"/>
                                        <p:tgtEl>
                                          <p:spTgt spid="14356"/>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14356"/>
                                        </p:tgtEl>
                                        <p:attrNameLst>
                                          <p:attrName>fillcolor</p:attrName>
                                        </p:attrNameLst>
                                      </p:cBhvr>
                                      <p:tavLst>
                                        <p:tav tm="0">
                                          <p:val>
                                            <p:clrVal>
                                              <a:schemeClr val="accent2"/>
                                            </p:clrVal>
                                          </p:val>
                                        </p:tav>
                                        <p:tav tm="50000">
                                          <p:val>
                                            <p:clrVal>
                                              <a:schemeClr val="hlink"/>
                                            </p:clrVal>
                                          </p:val>
                                        </p:tav>
                                      </p:tavLst>
                                    </p:anim>
                                    <p:set>
                                      <p:cBhvr>
                                        <p:cTn id="20" dur="80"/>
                                        <p:tgtEl>
                                          <p:spTgt spid="14356"/>
                                        </p:tgtEl>
                                        <p:attrNameLst>
                                          <p:attrName>fill.type</p:attrName>
                                        </p:attrNameLst>
                                      </p:cBhvr>
                                      <p:to>
                                        <p:strVal val="solid"/>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34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1" fill="hold" nodeType="clickEffect">
                                  <p:stCondLst>
                                    <p:cond delay="0"/>
                                  </p:stCondLst>
                                  <p:childTnLst>
                                    <p:set>
                                      <p:cBhvr>
                                        <p:cTn id="28" dur="1" fill="hold">
                                          <p:stCondLst>
                                            <p:cond delay="0"/>
                                          </p:stCondLst>
                                        </p:cTn>
                                        <p:tgtEl>
                                          <p:spTgt spid="14358"/>
                                        </p:tgtEl>
                                        <p:attrNameLst>
                                          <p:attrName>style.visibility</p:attrName>
                                        </p:attrNameLst>
                                      </p:cBhvr>
                                      <p:to>
                                        <p:strVal val="visible"/>
                                      </p:to>
                                    </p:set>
                                    <p:anim calcmode="lin" valueType="num">
                                      <p:cBhvr>
                                        <p:cTn id="29" dur="500" fill="hold"/>
                                        <p:tgtEl>
                                          <p:spTgt spid="14358"/>
                                        </p:tgtEl>
                                        <p:attrNameLst>
                                          <p:attrName>ppt_x</p:attrName>
                                        </p:attrNameLst>
                                      </p:cBhvr>
                                      <p:tavLst>
                                        <p:tav tm="0">
                                          <p:val>
                                            <p:strVal val="#ppt_x"/>
                                          </p:val>
                                        </p:tav>
                                        <p:tav tm="100000">
                                          <p:val>
                                            <p:strVal val="#ppt_x"/>
                                          </p:val>
                                        </p:tav>
                                      </p:tavLst>
                                    </p:anim>
                                    <p:anim calcmode="lin" valueType="num">
                                      <p:cBhvr>
                                        <p:cTn id="30" dur="500" fill="hold"/>
                                        <p:tgtEl>
                                          <p:spTgt spid="14358"/>
                                        </p:tgtEl>
                                        <p:attrNameLst>
                                          <p:attrName>ppt_y</p:attrName>
                                        </p:attrNameLst>
                                      </p:cBhvr>
                                      <p:tavLst>
                                        <p:tav tm="0">
                                          <p:val>
                                            <p:strVal val="#ppt_y-#ppt_h/2"/>
                                          </p:val>
                                        </p:tav>
                                        <p:tav tm="100000">
                                          <p:val>
                                            <p:strVal val="#ppt_y"/>
                                          </p:val>
                                        </p:tav>
                                      </p:tavLst>
                                    </p:anim>
                                    <p:anim calcmode="lin" valueType="num">
                                      <p:cBhvr>
                                        <p:cTn id="31" dur="500" fill="hold"/>
                                        <p:tgtEl>
                                          <p:spTgt spid="14358"/>
                                        </p:tgtEl>
                                        <p:attrNameLst>
                                          <p:attrName>ppt_w</p:attrName>
                                        </p:attrNameLst>
                                      </p:cBhvr>
                                      <p:tavLst>
                                        <p:tav tm="0">
                                          <p:val>
                                            <p:strVal val="#ppt_w"/>
                                          </p:val>
                                        </p:tav>
                                        <p:tav tm="100000">
                                          <p:val>
                                            <p:strVal val="#ppt_w"/>
                                          </p:val>
                                        </p:tav>
                                      </p:tavLst>
                                    </p:anim>
                                    <p:anim calcmode="lin" valueType="num">
                                      <p:cBhvr>
                                        <p:cTn id="32" dur="500" fill="hold"/>
                                        <p:tgtEl>
                                          <p:spTgt spid="1435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animBg="1"/>
      <p:bldP spid="14341" grpId="0" animBg="1"/>
      <p:bldP spid="14354" grpId="0" animBg="1"/>
      <p:bldP spid="1435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a:extLst>
              <a:ext uri="{FF2B5EF4-FFF2-40B4-BE49-F238E27FC236}">
                <a16:creationId xmlns:a16="http://schemas.microsoft.com/office/drawing/2014/main" id="{DBAC01F7-6A5B-D842-B284-2A280F98D832}"/>
              </a:ext>
            </a:extLst>
          </p:cNvPr>
          <p:cNvSpPr/>
          <p:nvPr/>
        </p:nvSpPr>
        <p:spPr bwMode="auto">
          <a:xfrm>
            <a:off x="1524000" y="3055938"/>
            <a:ext cx="5908675" cy="3065462"/>
          </a:xfrm>
          <a:prstGeom prst="ellipse">
            <a:avLst/>
          </a:prstGeom>
          <a:solidFill>
            <a:schemeClr val="tx1">
              <a:lumMod val="85000"/>
            </a:schemeClr>
          </a:solidFill>
          <a:ln w="38100" cap="flat" cmpd="sng" algn="ctr">
            <a:solidFill>
              <a:srgbClr val="000000"/>
            </a:solidFill>
            <a:prstDash val="solid"/>
            <a:round/>
            <a:headEnd type="none" w="med" len="med"/>
            <a:tailEnd type="non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4" name="Rectangle 2">
            <a:extLst>
              <a:ext uri="{FF2B5EF4-FFF2-40B4-BE49-F238E27FC236}">
                <a16:creationId xmlns:a16="http://schemas.microsoft.com/office/drawing/2014/main" id="{0F15E43A-976E-0544-A051-5947E7941115}"/>
              </a:ext>
            </a:extLst>
          </p:cNvPr>
          <p:cNvSpPr>
            <a:spLocks noGrp="1" noChangeArrowheads="1"/>
          </p:cNvSpPr>
          <p:nvPr>
            <p:ph type="title"/>
          </p:nvPr>
        </p:nvSpPr>
        <p:spPr>
          <a:xfrm>
            <a:off x="642938" y="944563"/>
            <a:ext cx="5410200" cy="762000"/>
          </a:xfrm>
        </p:spPr>
        <p:txBody>
          <a:bodyPr vert="horz" wrap="square" lIns="91440" tIns="45720" rIns="91440" bIns="45720" numCol="1" anchor="t" anchorCtr="0" compatLnSpc="1">
            <a:prstTxWarp prst="textNoShape">
              <a:avLst/>
            </a:prstTxWarp>
          </a:bodyPr>
          <a:lstStyle/>
          <a:p>
            <a:pPr eaLnBrk="1" hangingPunct="1">
              <a:defRPr/>
            </a:pPr>
            <a:r>
              <a:rPr lang="zh-CN" altLang="en-US" sz="3200">
                <a:solidFill>
                  <a:srgbClr val="0000FF"/>
                </a:solidFill>
                <a:latin typeface="黑体" panose="02010609060101010101" pitchFamily="49" charset="-122"/>
                <a:ea typeface="黑体" panose="02010609060101010101" pitchFamily="49" charset="-122"/>
              </a:rPr>
              <a:t>知识扩展：两个基本概念</a:t>
            </a:r>
          </a:p>
        </p:txBody>
      </p:sp>
      <p:sp>
        <p:nvSpPr>
          <p:cNvPr id="5" name="Rectangle 2">
            <a:extLst>
              <a:ext uri="{FF2B5EF4-FFF2-40B4-BE49-F238E27FC236}">
                <a16:creationId xmlns:a16="http://schemas.microsoft.com/office/drawing/2014/main" id="{F7CDAFF3-5756-7A45-9785-AA0C4557F687}"/>
              </a:ext>
            </a:extLst>
          </p:cNvPr>
          <p:cNvSpPr txBox="1">
            <a:spLocks noChangeArrowheads="1"/>
          </p:cNvSpPr>
          <p:nvPr/>
        </p:nvSpPr>
        <p:spPr>
          <a:xfrm>
            <a:off x="1055688" y="2022475"/>
            <a:ext cx="2420937" cy="762000"/>
          </a:xfrm>
          <a:prstGeom prst="rect">
            <a:avLst/>
          </a:prstGeom>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kumimoji="0"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被动攻击：</a:t>
            </a:r>
          </a:p>
        </p:txBody>
      </p:sp>
      <p:sp>
        <p:nvSpPr>
          <p:cNvPr id="6" name="Rectangle 2">
            <a:extLst>
              <a:ext uri="{FF2B5EF4-FFF2-40B4-BE49-F238E27FC236}">
                <a16:creationId xmlns:a16="http://schemas.microsoft.com/office/drawing/2014/main" id="{3253C926-9DE9-3B44-ACA1-917018C95092}"/>
              </a:ext>
            </a:extLst>
          </p:cNvPr>
          <p:cNvSpPr txBox="1">
            <a:spLocks noChangeArrowheads="1"/>
          </p:cNvSpPr>
          <p:nvPr/>
        </p:nvSpPr>
        <p:spPr>
          <a:xfrm>
            <a:off x="5410200" y="2022475"/>
            <a:ext cx="2320925" cy="762000"/>
          </a:xfrm>
          <a:prstGeom prst="rect">
            <a:avLst/>
          </a:prstGeom>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kumimoji="0"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主动攻击：</a:t>
            </a:r>
          </a:p>
        </p:txBody>
      </p:sp>
      <p:sp>
        <p:nvSpPr>
          <p:cNvPr id="18438" name="文本框 7">
            <a:extLst>
              <a:ext uri="{FF2B5EF4-FFF2-40B4-BE49-F238E27FC236}">
                <a16:creationId xmlns:a16="http://schemas.microsoft.com/office/drawing/2014/main" id="{F9E4FB1D-ED0D-1A44-8253-D113C86E60CF}"/>
              </a:ext>
            </a:extLst>
          </p:cNvPr>
          <p:cNvSpPr txBox="1">
            <a:spLocks noChangeArrowheads="1"/>
          </p:cNvSpPr>
          <p:nvPr/>
        </p:nvSpPr>
        <p:spPr bwMode="auto">
          <a:xfrm>
            <a:off x="2367652" y="3689747"/>
            <a:ext cx="1366148" cy="400050"/>
          </a:xfrm>
          <a:prstGeom prst="rect">
            <a:avLst/>
          </a:prstGeom>
          <a:solidFill>
            <a:schemeClr val="accent3">
              <a:lumMod val="7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defRPr/>
            </a:pPr>
            <a:r>
              <a:rPr lang="zh-CN" altLang="en-US" sz="2000">
                <a:latin typeface="黑体" panose="02010609060101010101" pitchFamily="49" charset="-122"/>
                <a:ea typeface="黑体" panose="02010609060101010101" pitchFamily="49" charset="-122"/>
              </a:rPr>
              <a:t>木马攻击</a:t>
            </a:r>
          </a:p>
        </p:txBody>
      </p:sp>
      <p:sp>
        <p:nvSpPr>
          <p:cNvPr id="18439" name="文本框 8">
            <a:extLst>
              <a:ext uri="{FF2B5EF4-FFF2-40B4-BE49-F238E27FC236}">
                <a16:creationId xmlns:a16="http://schemas.microsoft.com/office/drawing/2014/main" id="{8603FB9C-3F81-474A-A6A6-BE00242B4354}"/>
              </a:ext>
            </a:extLst>
          </p:cNvPr>
          <p:cNvSpPr txBox="1">
            <a:spLocks noChangeArrowheads="1"/>
          </p:cNvSpPr>
          <p:nvPr/>
        </p:nvSpPr>
        <p:spPr bwMode="auto">
          <a:xfrm>
            <a:off x="1793081" y="4354014"/>
            <a:ext cx="1828800" cy="400050"/>
          </a:xfrm>
          <a:prstGeom prst="rect">
            <a:avLst/>
          </a:prstGeom>
          <a:solidFill>
            <a:srgbClr val="00B0F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defRPr/>
            </a:pPr>
            <a:r>
              <a:rPr lang="zh-CN" altLang="en-US" sz="2000">
                <a:latin typeface="黑体" panose="02010609060101010101" pitchFamily="49" charset="-122"/>
                <a:ea typeface="黑体" panose="02010609060101010101" pitchFamily="49" charset="-122"/>
              </a:rPr>
              <a:t>网络数据嗅探</a:t>
            </a:r>
          </a:p>
        </p:txBody>
      </p:sp>
      <p:sp>
        <p:nvSpPr>
          <p:cNvPr id="18440" name="文本框 9">
            <a:extLst>
              <a:ext uri="{FF2B5EF4-FFF2-40B4-BE49-F238E27FC236}">
                <a16:creationId xmlns:a16="http://schemas.microsoft.com/office/drawing/2014/main" id="{D8B611BE-B579-AA47-A3E4-1BD8CB927796}"/>
              </a:ext>
            </a:extLst>
          </p:cNvPr>
          <p:cNvSpPr txBox="1">
            <a:spLocks noChangeArrowheads="1"/>
          </p:cNvSpPr>
          <p:nvPr/>
        </p:nvSpPr>
        <p:spPr bwMode="auto">
          <a:xfrm>
            <a:off x="3964782" y="3500101"/>
            <a:ext cx="1830387" cy="400050"/>
          </a:xfrm>
          <a:prstGeom prst="rect">
            <a:avLst/>
          </a:prstGeom>
          <a:solidFill>
            <a:srgbClr val="00B0F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defRPr/>
            </a:pPr>
            <a:r>
              <a:rPr lang="zh-CN" altLang="en-US" sz="2000">
                <a:latin typeface="黑体" panose="02010609060101010101" pitchFamily="49" charset="-122"/>
                <a:ea typeface="黑体" panose="02010609060101010101" pitchFamily="49" charset="-122"/>
              </a:rPr>
              <a:t>通信协议分析</a:t>
            </a:r>
          </a:p>
        </p:txBody>
      </p:sp>
      <p:sp>
        <p:nvSpPr>
          <p:cNvPr id="18441" name="文本框 10">
            <a:extLst>
              <a:ext uri="{FF2B5EF4-FFF2-40B4-BE49-F238E27FC236}">
                <a16:creationId xmlns:a16="http://schemas.microsoft.com/office/drawing/2014/main" id="{96C8858B-F63A-EE4F-AA73-D8250E5A2B41}"/>
              </a:ext>
            </a:extLst>
          </p:cNvPr>
          <p:cNvSpPr txBox="1">
            <a:spLocks noChangeArrowheads="1"/>
          </p:cNvSpPr>
          <p:nvPr/>
        </p:nvSpPr>
        <p:spPr bwMode="auto">
          <a:xfrm>
            <a:off x="3860446" y="4237179"/>
            <a:ext cx="1300162" cy="400050"/>
          </a:xfrm>
          <a:prstGeom prst="rect">
            <a:avLst/>
          </a:prstGeom>
          <a:solidFill>
            <a:srgbClr val="00B0F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defRPr/>
            </a:pPr>
            <a:r>
              <a:rPr lang="zh-CN" altLang="en-US" sz="2000">
                <a:latin typeface="黑体" panose="02010609060101010101" pitchFamily="49" charset="-122"/>
                <a:ea typeface="黑体" panose="02010609060101010101" pitchFamily="49" charset="-122"/>
              </a:rPr>
              <a:t>漏洞挖掘</a:t>
            </a:r>
          </a:p>
        </p:txBody>
      </p:sp>
      <p:sp>
        <p:nvSpPr>
          <p:cNvPr id="18442" name="文本框 11">
            <a:extLst>
              <a:ext uri="{FF2B5EF4-FFF2-40B4-BE49-F238E27FC236}">
                <a16:creationId xmlns:a16="http://schemas.microsoft.com/office/drawing/2014/main" id="{D042321B-2866-3849-B82D-1968299C60F7}"/>
              </a:ext>
            </a:extLst>
          </p:cNvPr>
          <p:cNvSpPr txBox="1">
            <a:spLocks noChangeArrowheads="1"/>
          </p:cNvSpPr>
          <p:nvPr/>
        </p:nvSpPr>
        <p:spPr bwMode="auto">
          <a:xfrm>
            <a:off x="2971800" y="5123656"/>
            <a:ext cx="1300163" cy="400050"/>
          </a:xfrm>
          <a:prstGeom prst="rect">
            <a:avLst/>
          </a:prstGeom>
          <a:solidFill>
            <a:schemeClr val="accent3">
              <a:lumMod val="7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spAutoFit/>
          </a:bodyPr>
          <a:lstStyle>
            <a:defPPr>
              <a:defRPr lang="en-US"/>
            </a:defPPr>
            <a:lvl1pPr>
              <a:defRPr sz="2000">
                <a:latin typeface="黑体" panose="02010609060101010101" pitchFamily="49" charset="-122"/>
                <a:ea typeface="黑体" panose="02010609060101010101" pitchFamily="49"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defRPr/>
            </a:pPr>
            <a:r>
              <a:rPr lang="zh-CN" altLang="en-US" dirty="0"/>
              <a:t>漏洞利用</a:t>
            </a:r>
          </a:p>
        </p:txBody>
      </p:sp>
      <p:sp>
        <p:nvSpPr>
          <p:cNvPr id="18443" name="文本框 12">
            <a:extLst>
              <a:ext uri="{FF2B5EF4-FFF2-40B4-BE49-F238E27FC236}">
                <a16:creationId xmlns:a16="http://schemas.microsoft.com/office/drawing/2014/main" id="{A45A8D53-2A18-CC4E-91D1-AB8D158C8517}"/>
              </a:ext>
            </a:extLst>
          </p:cNvPr>
          <p:cNvSpPr txBox="1">
            <a:spLocks noChangeArrowheads="1"/>
          </p:cNvSpPr>
          <p:nvPr/>
        </p:nvSpPr>
        <p:spPr bwMode="auto">
          <a:xfrm>
            <a:off x="4702648" y="5053705"/>
            <a:ext cx="1831975" cy="400050"/>
          </a:xfrm>
          <a:prstGeom prst="rect">
            <a:avLst/>
          </a:prstGeom>
          <a:solidFill>
            <a:schemeClr val="accent3">
              <a:lumMod val="7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defRPr/>
            </a:pPr>
            <a:r>
              <a:rPr lang="zh-CN" altLang="en-US" sz="2000">
                <a:latin typeface="黑体" panose="02010609060101010101" pitchFamily="49" charset="-122"/>
                <a:ea typeface="黑体" panose="02010609060101010101" pitchFamily="49" charset="-122"/>
              </a:rPr>
              <a:t>软件升级替换</a:t>
            </a:r>
          </a:p>
        </p:txBody>
      </p:sp>
      <p:sp>
        <p:nvSpPr>
          <p:cNvPr id="12" name="文本框 10">
            <a:extLst>
              <a:ext uri="{FF2B5EF4-FFF2-40B4-BE49-F238E27FC236}">
                <a16:creationId xmlns:a16="http://schemas.microsoft.com/office/drawing/2014/main" id="{36C2F819-5290-034B-9F1B-718281A14B77}"/>
              </a:ext>
            </a:extLst>
          </p:cNvPr>
          <p:cNvSpPr txBox="1">
            <a:spLocks noChangeArrowheads="1"/>
          </p:cNvSpPr>
          <p:nvPr/>
        </p:nvSpPr>
        <p:spPr bwMode="auto">
          <a:xfrm>
            <a:off x="5410200" y="4153929"/>
            <a:ext cx="1262448" cy="400110"/>
          </a:xfrm>
          <a:prstGeom prst="rect">
            <a:avLst/>
          </a:prstGeom>
          <a:solidFill>
            <a:srgbClr val="00B0F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defRPr/>
            </a:pPr>
            <a:r>
              <a:rPr lang="zh-CN" altLang="en-US" sz="2000">
                <a:latin typeface="黑体" panose="02010609060101010101" pitchFamily="49" charset="-122"/>
                <a:ea typeface="黑体" panose="02010609060101010101" pitchFamily="49" charset="-122"/>
              </a:rPr>
              <a:t>漏洞扫描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circle(in)">
                                      <p:cBhvr>
                                        <p:cTn id="21" dur="2000"/>
                                        <p:tgtEl>
                                          <p:spTgt spid="7"/>
                                        </p:tgtEl>
                                      </p:cBhvr>
                                    </p:animEffect>
                                  </p:childTnLst>
                                </p:cTn>
                              </p:par>
                            </p:childTnLst>
                          </p:cTn>
                        </p:par>
                        <p:par>
                          <p:cTn id="22" fill="hold" nodeType="afterGroup">
                            <p:stCondLst>
                              <p:cond delay="2000"/>
                            </p:stCondLst>
                            <p:childTnLst>
                              <p:par>
                                <p:cTn id="23" presetID="53" presetClass="entr" presetSubtype="16" fill="hold" nodeType="afterEffect">
                                  <p:stCondLst>
                                    <p:cond delay="0"/>
                                  </p:stCondLst>
                                  <p:childTnLst>
                                    <p:set>
                                      <p:cBhvr>
                                        <p:cTn id="24" dur="1" fill="hold">
                                          <p:stCondLst>
                                            <p:cond delay="0"/>
                                          </p:stCondLst>
                                        </p:cTn>
                                        <p:tgtEl>
                                          <p:spTgt spid="18438"/>
                                        </p:tgtEl>
                                        <p:attrNameLst>
                                          <p:attrName>style.visibility</p:attrName>
                                        </p:attrNameLst>
                                      </p:cBhvr>
                                      <p:to>
                                        <p:strVal val="visible"/>
                                      </p:to>
                                    </p:set>
                                    <p:anim calcmode="lin" valueType="num">
                                      <p:cBhvr>
                                        <p:cTn id="25" dur="500" fill="hold"/>
                                        <p:tgtEl>
                                          <p:spTgt spid="18438"/>
                                        </p:tgtEl>
                                        <p:attrNameLst>
                                          <p:attrName>ppt_w</p:attrName>
                                        </p:attrNameLst>
                                      </p:cBhvr>
                                      <p:tavLst>
                                        <p:tav tm="0">
                                          <p:val>
                                            <p:fltVal val="0"/>
                                          </p:val>
                                        </p:tav>
                                        <p:tav tm="100000">
                                          <p:val>
                                            <p:strVal val="#ppt_w"/>
                                          </p:val>
                                        </p:tav>
                                      </p:tavLst>
                                    </p:anim>
                                    <p:anim calcmode="lin" valueType="num">
                                      <p:cBhvr>
                                        <p:cTn id="26" dur="500" fill="hold"/>
                                        <p:tgtEl>
                                          <p:spTgt spid="18438"/>
                                        </p:tgtEl>
                                        <p:attrNameLst>
                                          <p:attrName>ppt_h</p:attrName>
                                        </p:attrNameLst>
                                      </p:cBhvr>
                                      <p:tavLst>
                                        <p:tav tm="0">
                                          <p:val>
                                            <p:fltVal val="0"/>
                                          </p:val>
                                        </p:tav>
                                        <p:tav tm="100000">
                                          <p:val>
                                            <p:strVal val="#ppt_h"/>
                                          </p:val>
                                        </p:tav>
                                      </p:tavLst>
                                    </p:anim>
                                    <p:animEffect transition="in" filter="fade">
                                      <p:cBhvr>
                                        <p:cTn id="27" dur="500"/>
                                        <p:tgtEl>
                                          <p:spTgt spid="18438"/>
                                        </p:tgtEl>
                                      </p:cBhvr>
                                    </p:animEffect>
                                  </p:childTnLst>
                                </p:cTn>
                              </p:par>
                            </p:childTnLst>
                          </p:cTn>
                        </p:par>
                        <p:par>
                          <p:cTn id="28" fill="hold" nodeType="afterGroup">
                            <p:stCondLst>
                              <p:cond delay="2500"/>
                            </p:stCondLst>
                            <p:childTnLst>
                              <p:par>
                                <p:cTn id="29" presetID="53" presetClass="entr" presetSubtype="16" fill="hold" nodeType="afterEffect">
                                  <p:stCondLst>
                                    <p:cond delay="0"/>
                                  </p:stCondLst>
                                  <p:childTnLst>
                                    <p:set>
                                      <p:cBhvr>
                                        <p:cTn id="30" dur="1" fill="hold">
                                          <p:stCondLst>
                                            <p:cond delay="0"/>
                                          </p:stCondLst>
                                        </p:cTn>
                                        <p:tgtEl>
                                          <p:spTgt spid="18440"/>
                                        </p:tgtEl>
                                        <p:attrNameLst>
                                          <p:attrName>style.visibility</p:attrName>
                                        </p:attrNameLst>
                                      </p:cBhvr>
                                      <p:to>
                                        <p:strVal val="visible"/>
                                      </p:to>
                                    </p:set>
                                    <p:anim calcmode="lin" valueType="num">
                                      <p:cBhvr>
                                        <p:cTn id="31" dur="500" fill="hold"/>
                                        <p:tgtEl>
                                          <p:spTgt spid="18440"/>
                                        </p:tgtEl>
                                        <p:attrNameLst>
                                          <p:attrName>ppt_w</p:attrName>
                                        </p:attrNameLst>
                                      </p:cBhvr>
                                      <p:tavLst>
                                        <p:tav tm="0">
                                          <p:val>
                                            <p:fltVal val="0"/>
                                          </p:val>
                                        </p:tav>
                                        <p:tav tm="100000">
                                          <p:val>
                                            <p:strVal val="#ppt_w"/>
                                          </p:val>
                                        </p:tav>
                                      </p:tavLst>
                                    </p:anim>
                                    <p:anim calcmode="lin" valueType="num">
                                      <p:cBhvr>
                                        <p:cTn id="32" dur="500" fill="hold"/>
                                        <p:tgtEl>
                                          <p:spTgt spid="18440"/>
                                        </p:tgtEl>
                                        <p:attrNameLst>
                                          <p:attrName>ppt_h</p:attrName>
                                        </p:attrNameLst>
                                      </p:cBhvr>
                                      <p:tavLst>
                                        <p:tav tm="0">
                                          <p:val>
                                            <p:fltVal val="0"/>
                                          </p:val>
                                        </p:tav>
                                        <p:tav tm="100000">
                                          <p:val>
                                            <p:strVal val="#ppt_h"/>
                                          </p:val>
                                        </p:tav>
                                      </p:tavLst>
                                    </p:anim>
                                    <p:animEffect transition="in" filter="fade">
                                      <p:cBhvr>
                                        <p:cTn id="33" dur="500"/>
                                        <p:tgtEl>
                                          <p:spTgt spid="18440"/>
                                        </p:tgtEl>
                                      </p:cBhvr>
                                    </p:animEffect>
                                  </p:childTnLst>
                                </p:cTn>
                              </p:par>
                            </p:childTnLst>
                          </p:cTn>
                        </p:par>
                        <p:par>
                          <p:cTn id="34" fill="hold" nodeType="afterGroup">
                            <p:stCondLst>
                              <p:cond delay="3000"/>
                            </p:stCondLst>
                            <p:childTnLst>
                              <p:par>
                                <p:cTn id="35" presetID="53" presetClass="entr" presetSubtype="16" fill="hold" nodeType="afterEffect">
                                  <p:stCondLst>
                                    <p:cond delay="0"/>
                                  </p:stCondLst>
                                  <p:childTnLst>
                                    <p:set>
                                      <p:cBhvr>
                                        <p:cTn id="36" dur="1" fill="hold">
                                          <p:stCondLst>
                                            <p:cond delay="0"/>
                                          </p:stCondLst>
                                        </p:cTn>
                                        <p:tgtEl>
                                          <p:spTgt spid="18439"/>
                                        </p:tgtEl>
                                        <p:attrNameLst>
                                          <p:attrName>style.visibility</p:attrName>
                                        </p:attrNameLst>
                                      </p:cBhvr>
                                      <p:to>
                                        <p:strVal val="visible"/>
                                      </p:to>
                                    </p:set>
                                    <p:anim calcmode="lin" valueType="num">
                                      <p:cBhvr>
                                        <p:cTn id="37" dur="500" fill="hold"/>
                                        <p:tgtEl>
                                          <p:spTgt spid="18439"/>
                                        </p:tgtEl>
                                        <p:attrNameLst>
                                          <p:attrName>ppt_w</p:attrName>
                                        </p:attrNameLst>
                                      </p:cBhvr>
                                      <p:tavLst>
                                        <p:tav tm="0">
                                          <p:val>
                                            <p:fltVal val="0"/>
                                          </p:val>
                                        </p:tav>
                                        <p:tav tm="100000">
                                          <p:val>
                                            <p:strVal val="#ppt_w"/>
                                          </p:val>
                                        </p:tav>
                                      </p:tavLst>
                                    </p:anim>
                                    <p:anim calcmode="lin" valueType="num">
                                      <p:cBhvr>
                                        <p:cTn id="38" dur="500" fill="hold"/>
                                        <p:tgtEl>
                                          <p:spTgt spid="18439"/>
                                        </p:tgtEl>
                                        <p:attrNameLst>
                                          <p:attrName>ppt_h</p:attrName>
                                        </p:attrNameLst>
                                      </p:cBhvr>
                                      <p:tavLst>
                                        <p:tav tm="0">
                                          <p:val>
                                            <p:fltVal val="0"/>
                                          </p:val>
                                        </p:tav>
                                        <p:tav tm="100000">
                                          <p:val>
                                            <p:strVal val="#ppt_h"/>
                                          </p:val>
                                        </p:tav>
                                      </p:tavLst>
                                    </p:anim>
                                    <p:animEffect transition="in" filter="fade">
                                      <p:cBhvr>
                                        <p:cTn id="39" dur="500"/>
                                        <p:tgtEl>
                                          <p:spTgt spid="18439"/>
                                        </p:tgtEl>
                                      </p:cBhvr>
                                    </p:animEffect>
                                  </p:childTnLst>
                                </p:cTn>
                              </p:par>
                            </p:childTnLst>
                          </p:cTn>
                        </p:par>
                        <p:par>
                          <p:cTn id="40" fill="hold" nodeType="afterGroup">
                            <p:stCondLst>
                              <p:cond delay="3500"/>
                            </p:stCondLst>
                            <p:childTnLst>
                              <p:par>
                                <p:cTn id="41" presetID="53" presetClass="entr" presetSubtype="16" fill="hold" nodeType="afterEffect">
                                  <p:stCondLst>
                                    <p:cond delay="0"/>
                                  </p:stCondLst>
                                  <p:childTnLst>
                                    <p:set>
                                      <p:cBhvr>
                                        <p:cTn id="42" dur="1" fill="hold">
                                          <p:stCondLst>
                                            <p:cond delay="0"/>
                                          </p:stCondLst>
                                        </p:cTn>
                                        <p:tgtEl>
                                          <p:spTgt spid="18442"/>
                                        </p:tgtEl>
                                        <p:attrNameLst>
                                          <p:attrName>style.visibility</p:attrName>
                                        </p:attrNameLst>
                                      </p:cBhvr>
                                      <p:to>
                                        <p:strVal val="visible"/>
                                      </p:to>
                                    </p:set>
                                    <p:anim calcmode="lin" valueType="num">
                                      <p:cBhvr>
                                        <p:cTn id="43" dur="500" fill="hold"/>
                                        <p:tgtEl>
                                          <p:spTgt spid="18442"/>
                                        </p:tgtEl>
                                        <p:attrNameLst>
                                          <p:attrName>ppt_w</p:attrName>
                                        </p:attrNameLst>
                                      </p:cBhvr>
                                      <p:tavLst>
                                        <p:tav tm="0">
                                          <p:val>
                                            <p:fltVal val="0"/>
                                          </p:val>
                                        </p:tav>
                                        <p:tav tm="100000">
                                          <p:val>
                                            <p:strVal val="#ppt_w"/>
                                          </p:val>
                                        </p:tav>
                                      </p:tavLst>
                                    </p:anim>
                                    <p:anim calcmode="lin" valueType="num">
                                      <p:cBhvr>
                                        <p:cTn id="44" dur="500" fill="hold"/>
                                        <p:tgtEl>
                                          <p:spTgt spid="18442"/>
                                        </p:tgtEl>
                                        <p:attrNameLst>
                                          <p:attrName>ppt_h</p:attrName>
                                        </p:attrNameLst>
                                      </p:cBhvr>
                                      <p:tavLst>
                                        <p:tav tm="0">
                                          <p:val>
                                            <p:fltVal val="0"/>
                                          </p:val>
                                        </p:tav>
                                        <p:tav tm="100000">
                                          <p:val>
                                            <p:strVal val="#ppt_h"/>
                                          </p:val>
                                        </p:tav>
                                      </p:tavLst>
                                    </p:anim>
                                    <p:animEffect transition="in" filter="fade">
                                      <p:cBhvr>
                                        <p:cTn id="45" dur="500"/>
                                        <p:tgtEl>
                                          <p:spTgt spid="18442"/>
                                        </p:tgtEl>
                                      </p:cBhvr>
                                    </p:animEffect>
                                  </p:childTnLst>
                                </p:cTn>
                              </p:par>
                            </p:childTnLst>
                          </p:cTn>
                        </p:par>
                        <p:par>
                          <p:cTn id="46" fill="hold" nodeType="afterGroup">
                            <p:stCondLst>
                              <p:cond delay="4000"/>
                            </p:stCondLst>
                            <p:childTnLst>
                              <p:par>
                                <p:cTn id="47" presetID="53" presetClass="entr" presetSubtype="16" fill="hold" nodeType="afterEffect">
                                  <p:stCondLst>
                                    <p:cond delay="0"/>
                                  </p:stCondLst>
                                  <p:childTnLst>
                                    <p:set>
                                      <p:cBhvr>
                                        <p:cTn id="48" dur="1" fill="hold">
                                          <p:stCondLst>
                                            <p:cond delay="0"/>
                                          </p:stCondLst>
                                        </p:cTn>
                                        <p:tgtEl>
                                          <p:spTgt spid="18441"/>
                                        </p:tgtEl>
                                        <p:attrNameLst>
                                          <p:attrName>style.visibility</p:attrName>
                                        </p:attrNameLst>
                                      </p:cBhvr>
                                      <p:to>
                                        <p:strVal val="visible"/>
                                      </p:to>
                                    </p:set>
                                    <p:anim calcmode="lin" valueType="num">
                                      <p:cBhvr>
                                        <p:cTn id="49" dur="500" fill="hold"/>
                                        <p:tgtEl>
                                          <p:spTgt spid="18441"/>
                                        </p:tgtEl>
                                        <p:attrNameLst>
                                          <p:attrName>ppt_w</p:attrName>
                                        </p:attrNameLst>
                                      </p:cBhvr>
                                      <p:tavLst>
                                        <p:tav tm="0">
                                          <p:val>
                                            <p:fltVal val="0"/>
                                          </p:val>
                                        </p:tav>
                                        <p:tav tm="100000">
                                          <p:val>
                                            <p:strVal val="#ppt_w"/>
                                          </p:val>
                                        </p:tav>
                                      </p:tavLst>
                                    </p:anim>
                                    <p:anim calcmode="lin" valueType="num">
                                      <p:cBhvr>
                                        <p:cTn id="50" dur="500" fill="hold"/>
                                        <p:tgtEl>
                                          <p:spTgt spid="18441"/>
                                        </p:tgtEl>
                                        <p:attrNameLst>
                                          <p:attrName>ppt_h</p:attrName>
                                        </p:attrNameLst>
                                      </p:cBhvr>
                                      <p:tavLst>
                                        <p:tav tm="0">
                                          <p:val>
                                            <p:fltVal val="0"/>
                                          </p:val>
                                        </p:tav>
                                        <p:tav tm="100000">
                                          <p:val>
                                            <p:strVal val="#ppt_h"/>
                                          </p:val>
                                        </p:tav>
                                      </p:tavLst>
                                    </p:anim>
                                    <p:animEffect transition="in" filter="fade">
                                      <p:cBhvr>
                                        <p:cTn id="51" dur="500"/>
                                        <p:tgtEl>
                                          <p:spTgt spid="18441"/>
                                        </p:tgtEl>
                                      </p:cBhvr>
                                    </p:animEffect>
                                  </p:childTnLst>
                                </p:cTn>
                              </p:par>
                            </p:childTnLst>
                          </p:cTn>
                        </p:par>
                        <p:par>
                          <p:cTn id="52" fill="hold" nodeType="afterGroup">
                            <p:stCondLst>
                              <p:cond delay="4500"/>
                            </p:stCondLst>
                            <p:childTnLst>
                              <p:par>
                                <p:cTn id="53" presetID="53" presetClass="entr" presetSubtype="16" fill="hold" nodeType="afterEffect">
                                  <p:stCondLst>
                                    <p:cond delay="0"/>
                                  </p:stCondLst>
                                  <p:childTnLst>
                                    <p:set>
                                      <p:cBhvr>
                                        <p:cTn id="54" dur="1" fill="hold">
                                          <p:stCondLst>
                                            <p:cond delay="0"/>
                                          </p:stCondLst>
                                        </p:cTn>
                                        <p:tgtEl>
                                          <p:spTgt spid="18443"/>
                                        </p:tgtEl>
                                        <p:attrNameLst>
                                          <p:attrName>style.visibility</p:attrName>
                                        </p:attrNameLst>
                                      </p:cBhvr>
                                      <p:to>
                                        <p:strVal val="visible"/>
                                      </p:to>
                                    </p:set>
                                    <p:anim calcmode="lin" valueType="num">
                                      <p:cBhvr>
                                        <p:cTn id="55" dur="500" fill="hold"/>
                                        <p:tgtEl>
                                          <p:spTgt spid="18443"/>
                                        </p:tgtEl>
                                        <p:attrNameLst>
                                          <p:attrName>ppt_w</p:attrName>
                                        </p:attrNameLst>
                                      </p:cBhvr>
                                      <p:tavLst>
                                        <p:tav tm="0">
                                          <p:val>
                                            <p:fltVal val="0"/>
                                          </p:val>
                                        </p:tav>
                                        <p:tav tm="100000">
                                          <p:val>
                                            <p:strVal val="#ppt_w"/>
                                          </p:val>
                                        </p:tav>
                                      </p:tavLst>
                                    </p:anim>
                                    <p:anim calcmode="lin" valueType="num">
                                      <p:cBhvr>
                                        <p:cTn id="56" dur="500" fill="hold"/>
                                        <p:tgtEl>
                                          <p:spTgt spid="18443"/>
                                        </p:tgtEl>
                                        <p:attrNameLst>
                                          <p:attrName>ppt_h</p:attrName>
                                        </p:attrNameLst>
                                      </p:cBhvr>
                                      <p:tavLst>
                                        <p:tav tm="0">
                                          <p:val>
                                            <p:fltVal val="0"/>
                                          </p:val>
                                        </p:tav>
                                        <p:tav tm="100000">
                                          <p:val>
                                            <p:strVal val="#ppt_h"/>
                                          </p:val>
                                        </p:tav>
                                      </p:tavLst>
                                    </p:anim>
                                    <p:animEffect transition="in" filter="fade">
                                      <p:cBhvr>
                                        <p:cTn id="57" dur="500"/>
                                        <p:tgtEl>
                                          <p:spTgt spid="18443"/>
                                        </p:tgtEl>
                                      </p:cBhvr>
                                    </p:animEffect>
                                  </p:childTnLst>
                                </p:cTn>
                              </p:par>
                            </p:childTnLst>
                          </p:cTn>
                        </p:par>
                        <p:par>
                          <p:cTn id="58" fill="hold" nodeType="afterGroup">
                            <p:stCondLst>
                              <p:cond delay="5000"/>
                            </p:stCondLst>
                            <p:childTnLst>
                              <p:par>
                                <p:cTn id="59" presetID="53" presetClass="entr" presetSubtype="16" fill="hold" nodeType="afterEffect">
                                  <p:stCondLst>
                                    <p:cond delay="0"/>
                                  </p:stCondLst>
                                  <p:childTnLst>
                                    <p:set>
                                      <p:cBhvr>
                                        <p:cTn id="60" dur="1" fill="hold">
                                          <p:stCondLst>
                                            <p:cond delay="0"/>
                                          </p:stCondLst>
                                        </p:cTn>
                                        <p:tgtEl>
                                          <p:spTgt spid="12"/>
                                        </p:tgtEl>
                                        <p:attrNameLst>
                                          <p:attrName>style.visibility</p:attrName>
                                        </p:attrNameLst>
                                      </p:cBhvr>
                                      <p:to>
                                        <p:strVal val="visible"/>
                                      </p:to>
                                    </p:set>
                                    <p:anim calcmode="lin" valueType="num">
                                      <p:cBhvr>
                                        <p:cTn id="61" dur="500" fill="hold"/>
                                        <p:tgtEl>
                                          <p:spTgt spid="12"/>
                                        </p:tgtEl>
                                        <p:attrNameLst>
                                          <p:attrName>ppt_w</p:attrName>
                                        </p:attrNameLst>
                                      </p:cBhvr>
                                      <p:tavLst>
                                        <p:tav tm="0">
                                          <p:val>
                                            <p:fltVal val="0"/>
                                          </p:val>
                                        </p:tav>
                                        <p:tav tm="100000">
                                          <p:val>
                                            <p:strVal val="#ppt_w"/>
                                          </p:val>
                                        </p:tav>
                                      </p:tavLst>
                                    </p:anim>
                                    <p:anim calcmode="lin" valueType="num">
                                      <p:cBhvr>
                                        <p:cTn id="62" dur="500" fill="hold"/>
                                        <p:tgtEl>
                                          <p:spTgt spid="12"/>
                                        </p:tgtEl>
                                        <p:attrNameLst>
                                          <p:attrName>ppt_h</p:attrName>
                                        </p:attrNameLst>
                                      </p:cBhvr>
                                      <p:tavLst>
                                        <p:tav tm="0">
                                          <p:val>
                                            <p:fltVal val="0"/>
                                          </p:val>
                                        </p:tav>
                                        <p:tav tm="100000">
                                          <p:val>
                                            <p:strVal val="#ppt_h"/>
                                          </p:val>
                                        </p:tav>
                                      </p:tavLst>
                                    </p:anim>
                                    <p:animEffect transition="in" filter="fade">
                                      <p:cBhvr>
                                        <p:cTn id="6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3970" name="Rectangle 2">
            <a:extLst>
              <a:ext uri="{FF2B5EF4-FFF2-40B4-BE49-F238E27FC236}">
                <a16:creationId xmlns:a16="http://schemas.microsoft.com/office/drawing/2014/main" id="{A3E92F92-AD7E-AE4E-B4E7-2C704ED99634}"/>
              </a:ext>
            </a:extLst>
          </p:cNvPr>
          <p:cNvSpPr>
            <a:spLocks noGrp="1" noChangeArrowheads="1"/>
          </p:cNvSpPr>
          <p:nvPr>
            <p:ph type="title"/>
          </p:nvPr>
        </p:nvSpPr>
        <p:spPr bwMode="auto">
          <a:xfrm>
            <a:off x="457200" y="762000"/>
            <a:ext cx="8229600" cy="6096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3200">
                <a:solidFill>
                  <a:srgbClr val="FF0000"/>
                </a:solidFill>
                <a:latin typeface="黑体" panose="02010609060101010101" pitchFamily="49" charset="-122"/>
                <a:ea typeface="黑体" panose="02010609060101010101" pitchFamily="49" charset="-122"/>
              </a:rPr>
              <a:t>实现身份鉴别的途径</a:t>
            </a:r>
          </a:p>
        </p:txBody>
      </p:sp>
      <p:sp>
        <p:nvSpPr>
          <p:cNvPr id="4" name="内容占位符 2">
            <a:extLst>
              <a:ext uri="{FF2B5EF4-FFF2-40B4-BE49-F238E27FC236}">
                <a16:creationId xmlns:a16="http://schemas.microsoft.com/office/drawing/2014/main" id="{5CEA6D44-DE1E-3444-B7B4-FD690597B63F}"/>
              </a:ext>
            </a:extLst>
          </p:cNvPr>
          <p:cNvSpPr txBox="1">
            <a:spLocks/>
          </p:cNvSpPr>
          <p:nvPr/>
        </p:nvSpPr>
        <p:spPr>
          <a:xfrm>
            <a:off x="665163" y="2743200"/>
            <a:ext cx="8458200" cy="3124200"/>
          </a:xfrm>
          <a:prstGeom prst="rect">
            <a:avLst/>
          </a:prstGeom>
        </p:spPr>
        <p:txBody>
          <a:bodyPr/>
          <a:lstStyle>
            <a:lvl1pPr marL="571500" indent="-571500">
              <a:defRPr kumimoji="1" sz="4800" b="1">
                <a:solidFill>
                  <a:srgbClr val="FF0000"/>
                </a:solidFill>
                <a:latin typeface="隶书" pitchFamily="49" charset="-122"/>
                <a:ea typeface="隶书" pitchFamily="49" charset="-122"/>
              </a:defRPr>
            </a:lvl1pPr>
            <a:lvl2pPr marL="1028700" indent="-455613">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u"/>
              <a:defRPr/>
            </a:pPr>
            <a:r>
              <a:rPr kumimoji="0"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基于你所知道的（</a:t>
            </a:r>
            <a:r>
              <a:rPr kumimoji="0" lang="en-US" altLang="zh-CN" sz="2400">
                <a:solidFill>
                  <a:srgbClr val="C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What you know </a:t>
            </a:r>
            <a:r>
              <a:rPr kumimoji="0"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a:t>
            </a:r>
          </a:p>
          <a:p>
            <a:pPr lvl="1" eaLnBrk="1" hangingPunct="1">
              <a:lnSpc>
                <a:spcPct val="90000"/>
              </a:lnSpc>
              <a:spcBef>
                <a:spcPct val="30000"/>
              </a:spcBef>
              <a:buClr>
                <a:srgbClr val="A3651C"/>
              </a:buClr>
              <a:buSzPct val="75000"/>
              <a:buFont typeface="Wingdings" pitchFamily="2" charset="2"/>
              <a:buChar char="n"/>
              <a:defRPr/>
            </a:pPr>
            <a:r>
              <a:rPr kumimoji="0"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知识、口令、密码</a:t>
            </a:r>
          </a:p>
          <a:p>
            <a:pPr eaLnBrk="1" hangingPunct="1">
              <a:lnSpc>
                <a:spcPct val="90000"/>
              </a:lnSpc>
              <a:spcBef>
                <a:spcPct val="30000"/>
              </a:spcBef>
              <a:buClr>
                <a:srgbClr val="FF0000"/>
              </a:buClr>
              <a:buSzPct val="75000"/>
              <a:buFont typeface="Wingdings" pitchFamily="2" charset="2"/>
              <a:buChar char="u"/>
              <a:defRPr/>
            </a:pPr>
            <a:r>
              <a:rPr kumimoji="0"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基于你所拥有的（</a:t>
            </a:r>
            <a:r>
              <a:rPr kumimoji="0" lang="en-US" altLang="zh-CN" sz="2400">
                <a:solidFill>
                  <a:srgbClr val="C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What you have </a:t>
            </a:r>
            <a:r>
              <a:rPr kumimoji="0"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a:t>
            </a:r>
          </a:p>
          <a:p>
            <a:pPr lvl="1" eaLnBrk="1" hangingPunct="1">
              <a:lnSpc>
                <a:spcPct val="90000"/>
              </a:lnSpc>
              <a:spcBef>
                <a:spcPct val="30000"/>
              </a:spcBef>
              <a:buClr>
                <a:srgbClr val="A3651C"/>
              </a:buClr>
              <a:buSzPct val="75000"/>
              <a:buFont typeface="Wingdings" pitchFamily="2" charset="2"/>
              <a:buChar char="n"/>
              <a:defRPr/>
            </a:pPr>
            <a:r>
              <a:rPr kumimoji="0"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身份证、信用卡、钥匙、智能卡、令牌等</a:t>
            </a:r>
          </a:p>
          <a:p>
            <a:pPr eaLnBrk="1" hangingPunct="1">
              <a:lnSpc>
                <a:spcPct val="90000"/>
              </a:lnSpc>
              <a:spcBef>
                <a:spcPct val="30000"/>
              </a:spcBef>
              <a:buClr>
                <a:srgbClr val="FF0000"/>
              </a:buClr>
              <a:buSzPct val="75000"/>
              <a:buFont typeface="Wingdings" pitchFamily="2" charset="2"/>
              <a:buChar char="u"/>
              <a:defRPr/>
            </a:pPr>
            <a:r>
              <a:rPr kumimoji="0"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基于你的个人特征（</a:t>
            </a:r>
            <a:r>
              <a:rPr kumimoji="0" lang="en-US" altLang="zh-CN" sz="2400">
                <a:solidFill>
                  <a:srgbClr val="C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What you are</a:t>
            </a:r>
            <a:r>
              <a:rPr kumimoji="0"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a:t>
            </a:r>
          </a:p>
          <a:p>
            <a:pPr lvl="1" eaLnBrk="1" hangingPunct="1">
              <a:lnSpc>
                <a:spcPct val="90000"/>
              </a:lnSpc>
              <a:spcBef>
                <a:spcPct val="30000"/>
              </a:spcBef>
              <a:buClr>
                <a:srgbClr val="A3651C"/>
              </a:buClr>
              <a:buSzPct val="75000"/>
              <a:buFont typeface="Wingdings" pitchFamily="2" charset="2"/>
              <a:buChar char="n"/>
              <a:defRPr/>
            </a:pPr>
            <a:r>
              <a:rPr kumimoji="0"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指纹，笔迹，声音，手型，脸型，视网膜，虹膜</a:t>
            </a:r>
          </a:p>
          <a:p>
            <a:pPr eaLnBrk="1" hangingPunct="1">
              <a:lnSpc>
                <a:spcPct val="90000"/>
              </a:lnSpc>
              <a:spcBef>
                <a:spcPct val="30000"/>
              </a:spcBef>
              <a:buClr>
                <a:srgbClr val="FF0000"/>
              </a:buClr>
              <a:buSzPct val="75000"/>
              <a:buFont typeface="Wingdings" pitchFamily="2" charset="2"/>
              <a:buChar char="u"/>
              <a:defRPr/>
            </a:pPr>
            <a:r>
              <a:rPr kumimoji="0"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双因素、多因素认证</a:t>
            </a:r>
          </a:p>
          <a:p>
            <a:pPr eaLnBrk="1" hangingPunct="1">
              <a:lnSpc>
                <a:spcPct val="90000"/>
              </a:lnSpc>
              <a:spcBef>
                <a:spcPct val="30000"/>
              </a:spcBef>
              <a:buClr>
                <a:schemeClr val="tx2"/>
              </a:buClr>
              <a:buSzPct val="75000"/>
              <a:buFont typeface="Wingdings" pitchFamily="2" charset="2"/>
              <a:buChar char="l"/>
              <a:defRPr/>
            </a:pPr>
            <a:endParaRPr kumimoji="0"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2" name="矩形 1">
            <a:extLst>
              <a:ext uri="{FF2B5EF4-FFF2-40B4-BE49-F238E27FC236}">
                <a16:creationId xmlns:a16="http://schemas.microsoft.com/office/drawing/2014/main" id="{F330B77F-B2E0-D54B-BF4C-59E165F2F686}"/>
              </a:ext>
            </a:extLst>
          </p:cNvPr>
          <p:cNvSpPr/>
          <p:nvPr/>
        </p:nvSpPr>
        <p:spPr>
          <a:xfrm>
            <a:off x="533400" y="1371600"/>
            <a:ext cx="1987550" cy="523875"/>
          </a:xfrm>
          <a:prstGeom prst="rect">
            <a:avLst/>
          </a:prstGeom>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buFont typeface="Wingdings" pitchFamily="2" charset="2"/>
              <a:buNone/>
              <a:defRPr/>
            </a:pPr>
            <a:r>
              <a:rPr lang="zh-CN" altLang="en-US" sz="28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设计依据：</a:t>
            </a:r>
          </a:p>
        </p:txBody>
      </p:sp>
      <p:sp>
        <p:nvSpPr>
          <p:cNvPr id="3" name="矩形 2">
            <a:extLst>
              <a:ext uri="{FF2B5EF4-FFF2-40B4-BE49-F238E27FC236}">
                <a16:creationId xmlns:a16="http://schemas.microsoft.com/office/drawing/2014/main" id="{3DB2C034-ECFF-9545-898E-C658499AFC02}"/>
              </a:ext>
            </a:extLst>
          </p:cNvPr>
          <p:cNvSpPr/>
          <p:nvPr/>
        </p:nvSpPr>
        <p:spPr>
          <a:xfrm>
            <a:off x="1181100" y="1981200"/>
            <a:ext cx="6781800" cy="461963"/>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buFont typeface="Wingdings" pitchFamily="2" charset="2"/>
              <a:buNone/>
              <a:defRPr/>
            </a:pPr>
            <a:r>
              <a:rPr lang="zh-CN" altLang="en-US" sz="24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安全水平、系统通过率、用户可接受性、成本等。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1D5FF3B11FA42F01_src">
            <a:extLst>
              <a:ext uri="{FF2B5EF4-FFF2-40B4-BE49-F238E27FC236}">
                <a16:creationId xmlns:a16="http://schemas.microsoft.com/office/drawing/2014/main" id="{F5A28F8B-9888-F448-83D2-946AB2A5EF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928688"/>
            <a:ext cx="8569325" cy="528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图片 2">
            <a:extLst>
              <a:ext uri="{FF2B5EF4-FFF2-40B4-BE49-F238E27FC236}">
                <a16:creationId xmlns:a16="http://schemas.microsoft.com/office/drawing/2014/main" id="{155E4098-3F71-3945-AFA8-3CC3CA4F454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362200"/>
            <a:ext cx="2527300"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3">
            <a:extLst>
              <a:ext uri="{FF2B5EF4-FFF2-40B4-BE49-F238E27FC236}">
                <a16:creationId xmlns:a16="http://schemas.microsoft.com/office/drawing/2014/main" id="{FA6A88EE-E87F-0A46-857F-0A2C8DE95D38}"/>
              </a:ext>
            </a:extLst>
          </p:cNvPr>
          <p:cNvSpPr>
            <a:spLocks noChangeArrowheads="1"/>
          </p:cNvSpPr>
          <p:nvPr/>
        </p:nvSpPr>
        <p:spPr bwMode="auto">
          <a:xfrm>
            <a:off x="457200" y="836613"/>
            <a:ext cx="8077200" cy="534987"/>
          </a:xfrm>
          <a:prstGeom prst="rect">
            <a:avLst/>
          </a:prstGeom>
          <a:noFill/>
          <a:ln>
            <a:noFill/>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en-US" altLang="zh-CN" sz="32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5.3 </a:t>
            </a:r>
            <a:r>
              <a:rPr lang="zh-CN" altLang="en-US" sz="32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鉴别技术分类：按保护等级分类</a:t>
            </a:r>
          </a:p>
        </p:txBody>
      </p:sp>
      <p:sp>
        <p:nvSpPr>
          <p:cNvPr id="21507" name="矩形 5">
            <a:extLst>
              <a:ext uri="{FF2B5EF4-FFF2-40B4-BE49-F238E27FC236}">
                <a16:creationId xmlns:a16="http://schemas.microsoft.com/office/drawing/2014/main" id="{8800D352-2A5A-4746-9F30-944EEF21EEA9}"/>
              </a:ext>
            </a:extLst>
          </p:cNvPr>
          <p:cNvSpPr>
            <a:spLocks noChangeArrowheads="1"/>
          </p:cNvSpPr>
          <p:nvPr/>
        </p:nvSpPr>
        <p:spPr bwMode="auto">
          <a:xfrm>
            <a:off x="1752600" y="1752600"/>
            <a:ext cx="73914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50000"/>
              </a:lnSpc>
              <a:buFont typeface="Wingdings" pitchFamily="2" charset="2"/>
              <a:buChar char="n"/>
            </a:pPr>
            <a:r>
              <a:rPr lang="en-US" altLang="zh-CN" sz="2400">
                <a:latin typeface="黑体" panose="02010609060101010101" pitchFamily="49" charset="-122"/>
                <a:ea typeface="黑体" panose="02010609060101010101" pitchFamily="49" charset="-122"/>
              </a:rPr>
              <a:t>0</a:t>
            </a:r>
            <a:r>
              <a:rPr lang="zh-CN" altLang="en-US" sz="2400">
                <a:latin typeface="黑体" panose="02010609060101010101" pitchFamily="49" charset="-122"/>
                <a:ea typeface="黑体" panose="02010609060101010101" pitchFamily="49" charset="-122"/>
              </a:rPr>
              <a:t>级鉴别</a:t>
            </a:r>
            <a:r>
              <a:rPr lang="zh-CN" altLang="en-US" sz="2400">
                <a:solidFill>
                  <a:schemeClr val="bg2"/>
                </a:solidFill>
                <a:latin typeface="黑体" panose="02010609060101010101" pitchFamily="49" charset="-122"/>
                <a:ea typeface="黑体" panose="02010609060101010101" pitchFamily="49" charset="-122"/>
              </a:rPr>
              <a:t>（无保护）</a:t>
            </a:r>
            <a:endParaRPr lang="en-US" altLang="zh-CN" sz="2400">
              <a:solidFill>
                <a:schemeClr val="bg2"/>
              </a:solidFill>
              <a:latin typeface="黑体" panose="02010609060101010101" pitchFamily="49" charset="-122"/>
              <a:ea typeface="黑体" panose="02010609060101010101" pitchFamily="49" charset="-122"/>
            </a:endParaRPr>
          </a:p>
          <a:p>
            <a:pPr eaLnBrk="1" hangingPunct="1">
              <a:lnSpc>
                <a:spcPct val="150000"/>
              </a:lnSpc>
              <a:buFont typeface="Wingdings" pitchFamily="2" charset="2"/>
              <a:buChar char="n"/>
            </a:pPr>
            <a:r>
              <a:rPr lang="en-US" altLang="zh-CN" sz="2400">
                <a:latin typeface="黑体" panose="02010609060101010101" pitchFamily="49" charset="-122"/>
                <a:ea typeface="黑体" panose="02010609060101010101" pitchFamily="49" charset="-122"/>
              </a:rPr>
              <a:t>1</a:t>
            </a:r>
            <a:r>
              <a:rPr lang="zh-CN" altLang="en-US" sz="2400">
                <a:latin typeface="黑体" panose="02010609060101010101" pitchFamily="49" charset="-122"/>
                <a:ea typeface="黑体" panose="02010609060101010101" pitchFamily="49" charset="-122"/>
              </a:rPr>
              <a:t>级鉴别</a:t>
            </a:r>
            <a:r>
              <a:rPr lang="zh-CN" altLang="en-US" sz="2400">
                <a:solidFill>
                  <a:schemeClr val="bg2"/>
                </a:solidFill>
                <a:latin typeface="黑体" panose="02010609060101010101" pitchFamily="49" charset="-122"/>
                <a:ea typeface="黑体" panose="02010609060101010101" pitchFamily="49" charset="-122"/>
              </a:rPr>
              <a:t>（抗泄露保护）</a:t>
            </a:r>
            <a:endParaRPr lang="en-US" altLang="zh-CN" sz="2400">
              <a:solidFill>
                <a:schemeClr val="bg2"/>
              </a:solidFill>
              <a:latin typeface="黑体" panose="02010609060101010101" pitchFamily="49" charset="-122"/>
              <a:ea typeface="黑体" panose="02010609060101010101" pitchFamily="49" charset="-122"/>
            </a:endParaRPr>
          </a:p>
          <a:p>
            <a:pPr eaLnBrk="1" hangingPunct="1">
              <a:lnSpc>
                <a:spcPct val="150000"/>
              </a:lnSpc>
              <a:buFont typeface="Wingdings" pitchFamily="2" charset="2"/>
              <a:buChar char="n"/>
            </a:pPr>
            <a:r>
              <a:rPr lang="en-US" altLang="zh-CN" sz="2400">
                <a:latin typeface="黑体" panose="02010609060101010101" pitchFamily="49" charset="-122"/>
                <a:ea typeface="黑体" panose="02010609060101010101" pitchFamily="49" charset="-122"/>
              </a:rPr>
              <a:t>2</a:t>
            </a:r>
            <a:r>
              <a:rPr lang="zh-CN" altLang="en-US" sz="2400">
                <a:latin typeface="黑体" panose="02010609060101010101" pitchFamily="49" charset="-122"/>
                <a:ea typeface="黑体" panose="02010609060101010101" pitchFamily="49" charset="-122"/>
              </a:rPr>
              <a:t>级鉴别</a:t>
            </a:r>
            <a:r>
              <a:rPr lang="zh-CN" altLang="en-US" sz="2400">
                <a:solidFill>
                  <a:schemeClr val="bg2"/>
                </a:solidFill>
                <a:latin typeface="黑体" panose="02010609060101010101" pitchFamily="49" charset="-122"/>
                <a:ea typeface="黑体" panose="02010609060101010101" pitchFamily="49" charset="-122"/>
              </a:rPr>
              <a:t>（抗泄露和对不同验证者重放的保护）</a:t>
            </a:r>
            <a:endParaRPr lang="en-US" altLang="zh-CN" sz="2400">
              <a:solidFill>
                <a:schemeClr val="bg2"/>
              </a:solidFill>
              <a:latin typeface="黑体" panose="02010609060101010101" pitchFamily="49" charset="-122"/>
              <a:ea typeface="黑体" panose="02010609060101010101" pitchFamily="49" charset="-122"/>
            </a:endParaRPr>
          </a:p>
          <a:p>
            <a:pPr eaLnBrk="1" hangingPunct="1">
              <a:lnSpc>
                <a:spcPct val="150000"/>
              </a:lnSpc>
              <a:buFont typeface="Wingdings" pitchFamily="2" charset="2"/>
              <a:buChar char="n"/>
            </a:pPr>
            <a:r>
              <a:rPr lang="en-US" altLang="zh-CN" sz="2400">
                <a:latin typeface="黑体" panose="02010609060101010101" pitchFamily="49" charset="-122"/>
                <a:ea typeface="黑体" panose="02010609060101010101" pitchFamily="49" charset="-122"/>
              </a:rPr>
              <a:t>3</a:t>
            </a:r>
            <a:r>
              <a:rPr lang="zh-CN" altLang="en-US" sz="2400">
                <a:latin typeface="黑体" panose="02010609060101010101" pitchFamily="49" charset="-122"/>
                <a:ea typeface="黑体" panose="02010609060101010101" pitchFamily="49" charset="-122"/>
              </a:rPr>
              <a:t>级鉴别</a:t>
            </a:r>
            <a:r>
              <a:rPr lang="zh-CN" altLang="en-US" sz="2400">
                <a:solidFill>
                  <a:schemeClr val="bg2"/>
                </a:solidFill>
                <a:latin typeface="黑体" panose="02010609060101010101" pitchFamily="49" charset="-122"/>
                <a:ea typeface="黑体" panose="02010609060101010101" pitchFamily="49" charset="-122"/>
              </a:rPr>
              <a:t>（抗泄露和对同一验证者重放的保护）</a:t>
            </a:r>
            <a:endParaRPr lang="en-US" altLang="zh-CN" sz="2400">
              <a:solidFill>
                <a:schemeClr val="bg2"/>
              </a:solidFill>
              <a:latin typeface="黑体" panose="02010609060101010101" pitchFamily="49" charset="-122"/>
              <a:ea typeface="黑体" panose="02010609060101010101" pitchFamily="49" charset="-122"/>
            </a:endParaRPr>
          </a:p>
          <a:p>
            <a:pPr eaLnBrk="1" hangingPunct="1">
              <a:lnSpc>
                <a:spcPct val="150000"/>
              </a:lnSpc>
              <a:buFont typeface="Wingdings" pitchFamily="2" charset="2"/>
              <a:buChar char="n"/>
            </a:pPr>
            <a:r>
              <a:rPr lang="en-US" altLang="zh-CN" sz="2400">
                <a:latin typeface="黑体" panose="02010609060101010101" pitchFamily="49" charset="-122"/>
                <a:ea typeface="黑体" panose="02010609060101010101" pitchFamily="49" charset="-122"/>
              </a:rPr>
              <a:t>4</a:t>
            </a:r>
            <a:r>
              <a:rPr lang="zh-CN" altLang="en-US" sz="2400">
                <a:latin typeface="黑体" panose="02010609060101010101" pitchFamily="49" charset="-122"/>
                <a:ea typeface="黑体" panose="02010609060101010101" pitchFamily="49" charset="-122"/>
              </a:rPr>
              <a:t>级鉴别</a:t>
            </a:r>
            <a:r>
              <a:rPr lang="zh-CN" altLang="en-US" sz="2400">
                <a:solidFill>
                  <a:schemeClr val="bg2"/>
                </a:solidFill>
                <a:latin typeface="黑体" panose="02010609060101010101" pitchFamily="49" charset="-122"/>
                <a:ea typeface="黑体" panose="02010609060101010101" pitchFamily="49" charset="-122"/>
              </a:rPr>
              <a:t>（抗泄露和对相同</a:t>
            </a:r>
            <a:r>
              <a:rPr lang="en-US" altLang="zh-CN" sz="2400">
                <a:solidFill>
                  <a:schemeClr val="bg2"/>
                </a:solidFill>
                <a:latin typeface="黑体" panose="02010609060101010101" pitchFamily="49" charset="-122"/>
                <a:ea typeface="黑体" panose="02010609060101010101" pitchFamily="49" charset="-122"/>
              </a:rPr>
              <a:t>/</a:t>
            </a:r>
            <a:r>
              <a:rPr lang="zh-CN" altLang="en-US" sz="2400">
                <a:solidFill>
                  <a:schemeClr val="bg2"/>
                </a:solidFill>
                <a:latin typeface="黑体" panose="02010609060101010101" pitchFamily="49" charset="-122"/>
                <a:ea typeface="黑体" panose="02010609060101010101" pitchFamily="49" charset="-122"/>
              </a:rPr>
              <a:t>不同验证者重放的保护）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3">
            <a:extLst>
              <a:ext uri="{FF2B5EF4-FFF2-40B4-BE49-F238E27FC236}">
                <a16:creationId xmlns:a16="http://schemas.microsoft.com/office/drawing/2014/main" id="{CC44B70C-3220-4543-9E15-5216F859DE4D}"/>
              </a:ext>
            </a:extLst>
          </p:cNvPr>
          <p:cNvSpPr>
            <a:spLocks noChangeArrowheads="1"/>
          </p:cNvSpPr>
          <p:nvPr/>
        </p:nvSpPr>
        <p:spPr bwMode="auto">
          <a:xfrm>
            <a:off x="609600" y="685800"/>
            <a:ext cx="4572000" cy="534988"/>
          </a:xfrm>
          <a:prstGeom prst="rect">
            <a:avLst/>
          </a:prstGeom>
          <a:noFill/>
          <a:ln>
            <a:noFill/>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0</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级鉴别（无保护）</a:t>
            </a:r>
          </a:p>
        </p:txBody>
      </p:sp>
      <p:sp>
        <p:nvSpPr>
          <p:cNvPr id="22531" name="矩形 1">
            <a:extLst>
              <a:ext uri="{FF2B5EF4-FFF2-40B4-BE49-F238E27FC236}">
                <a16:creationId xmlns:a16="http://schemas.microsoft.com/office/drawing/2014/main" id="{9B47B9D9-20FC-4648-9ECB-83597B8C7B3C}"/>
              </a:ext>
            </a:extLst>
          </p:cNvPr>
          <p:cNvSpPr>
            <a:spLocks noChangeArrowheads="1"/>
          </p:cNvSpPr>
          <p:nvPr/>
        </p:nvSpPr>
        <p:spPr bwMode="auto">
          <a:xfrm>
            <a:off x="533400" y="2765425"/>
            <a:ext cx="7848600" cy="222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4800" b="1">
                <a:solidFill>
                  <a:srgbClr val="FF0000"/>
                </a:solidFill>
                <a:latin typeface="隶书" pitchFamily="49" charset="-122"/>
                <a:ea typeface="隶书" pitchFamily="49" charset="-122"/>
              </a:defRPr>
            </a:lvl1pPr>
            <a:lvl2pPr marL="914400" indent="-45720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150000"/>
              </a:lnSpc>
              <a:buFont typeface="Wingdings" pitchFamily="2" charset="2"/>
              <a:buChar char="u"/>
            </a:pPr>
            <a:r>
              <a:rPr lang="zh-CN" altLang="en-US" sz="2400" u="sng" dirty="0">
                <a:solidFill>
                  <a:schemeClr val="bg2"/>
                </a:solidFill>
                <a:latin typeface="黑体" panose="02010609060101010101" pitchFamily="49" charset="-122"/>
                <a:ea typeface="黑体" panose="02010609060101010101" pitchFamily="49" charset="-122"/>
              </a:rPr>
              <a:t>申请</a:t>
            </a:r>
            <a:r>
              <a:rPr lang="en-US" altLang="zh-CN" sz="2400" u="sng" dirty="0">
                <a:solidFill>
                  <a:schemeClr val="bg2"/>
                </a:solidFill>
                <a:latin typeface="黑体" panose="02010609060101010101" pitchFamily="49" charset="-122"/>
                <a:ea typeface="黑体" panose="02010609060101010101" pitchFamily="49" charset="-122"/>
              </a:rPr>
              <a:t>AI</a:t>
            </a:r>
            <a:r>
              <a:rPr lang="zh-CN" altLang="en-US" sz="2400" u="sng" dirty="0">
                <a:solidFill>
                  <a:schemeClr val="bg2"/>
                </a:solidFill>
                <a:latin typeface="黑体" panose="02010609060101010101" pitchFamily="49" charset="-122"/>
                <a:ea typeface="黑体" panose="02010609060101010101" pitchFamily="49" charset="-122"/>
              </a:rPr>
              <a:t>连同可辨别标识符一起，作为申请者到验证者的交换</a:t>
            </a:r>
            <a:r>
              <a:rPr lang="en-US" altLang="zh-CN" sz="2400" u="sng" dirty="0">
                <a:solidFill>
                  <a:schemeClr val="bg2"/>
                </a:solidFill>
                <a:latin typeface="黑体" panose="02010609060101010101" pitchFamily="49" charset="-122"/>
                <a:ea typeface="黑体" panose="02010609060101010101" pitchFamily="49" charset="-122"/>
              </a:rPr>
              <a:t>AI</a:t>
            </a:r>
            <a:r>
              <a:rPr lang="zh-CN" altLang="en-US" sz="2400" u="sng" dirty="0">
                <a:solidFill>
                  <a:schemeClr val="bg2"/>
                </a:solidFill>
                <a:latin typeface="黑体" panose="02010609060101010101" pitchFamily="49" charset="-122"/>
                <a:ea typeface="黑体" panose="02010609060101010101" pitchFamily="49" charset="-122"/>
              </a:rPr>
              <a:t>简单地被发送</a:t>
            </a:r>
            <a:r>
              <a:rPr lang="zh-CN" altLang="en-US" sz="2400" dirty="0">
                <a:solidFill>
                  <a:schemeClr val="bg2"/>
                </a:solidFill>
                <a:latin typeface="黑体" panose="02010609060101010101" pitchFamily="49" charset="-122"/>
                <a:ea typeface="黑体" panose="02010609060101010101" pitchFamily="49" charset="-122"/>
              </a:rPr>
              <a:t>。</a:t>
            </a:r>
          </a:p>
          <a:p>
            <a:pPr lvl="1" eaLnBrk="1" hangingPunct="1">
              <a:lnSpc>
                <a:spcPct val="150000"/>
              </a:lnSpc>
              <a:buFont typeface="Wingdings" pitchFamily="2" charset="2"/>
              <a:buChar char="u"/>
            </a:pPr>
            <a:r>
              <a:rPr lang="zh-CN" altLang="en-US" sz="2400" u="sng" dirty="0">
                <a:solidFill>
                  <a:schemeClr val="bg2"/>
                </a:solidFill>
                <a:latin typeface="黑体" panose="02010609060101010101" pitchFamily="49" charset="-122"/>
                <a:ea typeface="黑体" panose="02010609060101010101" pitchFamily="49" charset="-122"/>
              </a:rPr>
              <a:t>如，发送一个口令</a:t>
            </a:r>
          </a:p>
          <a:p>
            <a:pPr lvl="1" eaLnBrk="1" hangingPunct="1">
              <a:lnSpc>
                <a:spcPct val="150000"/>
              </a:lnSpc>
              <a:buFont typeface="Wingdings" pitchFamily="2" charset="2"/>
              <a:buChar char="u"/>
            </a:pPr>
            <a:r>
              <a:rPr lang="zh-CN" altLang="en-US" sz="2400" u="sng" dirty="0">
                <a:solidFill>
                  <a:schemeClr val="bg2"/>
                </a:solidFill>
                <a:latin typeface="黑体" panose="02010609060101010101" pitchFamily="49" charset="-122"/>
                <a:ea typeface="黑体" panose="02010609060101010101" pitchFamily="49" charset="-122"/>
              </a:rPr>
              <a:t>可用于数据源和实体鉴别</a:t>
            </a:r>
            <a:endParaRPr lang="en-US" altLang="zh-CN" sz="2400" u="sng" dirty="0">
              <a:solidFill>
                <a:schemeClr val="bg2"/>
              </a:solidFill>
              <a:latin typeface="黑体" panose="02010609060101010101" pitchFamily="49" charset="-122"/>
              <a:ea typeface="黑体" panose="02010609060101010101" pitchFamily="49" charset="-122"/>
            </a:endParaRPr>
          </a:p>
        </p:txBody>
      </p:sp>
      <p:grpSp>
        <p:nvGrpSpPr>
          <p:cNvPr id="9" name="Group 9">
            <a:extLst>
              <a:ext uri="{FF2B5EF4-FFF2-40B4-BE49-F238E27FC236}">
                <a16:creationId xmlns:a16="http://schemas.microsoft.com/office/drawing/2014/main" id="{451A29D3-F8DA-FB4D-A319-320180C57657}"/>
              </a:ext>
            </a:extLst>
          </p:cNvPr>
          <p:cNvGrpSpPr>
            <a:grpSpLocks/>
          </p:cNvGrpSpPr>
          <p:nvPr/>
        </p:nvGrpSpPr>
        <p:grpSpPr bwMode="auto">
          <a:xfrm>
            <a:off x="228600" y="1485900"/>
            <a:ext cx="8763000" cy="996950"/>
            <a:chOff x="262" y="3120"/>
            <a:chExt cx="5762" cy="643"/>
          </a:xfrm>
        </p:grpSpPr>
        <p:sp>
          <p:nvSpPr>
            <p:cNvPr id="22533" name="Line 5">
              <a:extLst>
                <a:ext uri="{FF2B5EF4-FFF2-40B4-BE49-F238E27FC236}">
                  <a16:creationId xmlns:a16="http://schemas.microsoft.com/office/drawing/2014/main" id="{BE02550E-75DC-884B-AC7B-1A9FD941BE19}"/>
                </a:ext>
              </a:extLst>
            </p:cNvPr>
            <p:cNvSpPr>
              <a:spLocks noChangeShapeType="1"/>
            </p:cNvSpPr>
            <p:nvPr/>
          </p:nvSpPr>
          <p:spPr bwMode="auto">
            <a:xfrm>
              <a:off x="1079" y="3687"/>
              <a:ext cx="4075" cy="0"/>
            </a:xfrm>
            <a:prstGeom prst="line">
              <a:avLst/>
            </a:prstGeom>
            <a:noFill/>
            <a:ln w="57150">
              <a:solidFill>
                <a:srgbClr val="FF0000"/>
              </a:solidFill>
              <a:round/>
              <a:headEnd/>
              <a:tailEnd type="triangle" w="med" len="med"/>
            </a:ln>
            <a:effectLst/>
          </p:spPr>
          <p:txBody>
            <a:bodyPr>
              <a:spAutoFit/>
            </a:bodyPr>
            <a:lstStyle/>
            <a:p>
              <a:pPr>
                <a:defRPr/>
              </a:pPr>
              <a:endParaRPr lang="zh-CN" altLang="en-US">
                <a:solidFill>
                  <a:srgbClr val="0000FF"/>
                </a:solidFill>
                <a:effectLst>
                  <a:outerShdw blurRad="38100" dist="38100" dir="2700000" algn="tl">
                    <a:srgbClr val="000000">
                      <a:alpha val="43137"/>
                    </a:srgbClr>
                  </a:outerShdw>
                </a:effectLst>
              </a:endParaRPr>
            </a:p>
          </p:txBody>
        </p:sp>
        <p:sp>
          <p:nvSpPr>
            <p:cNvPr id="22534" name="Text Box 6">
              <a:extLst>
                <a:ext uri="{FF2B5EF4-FFF2-40B4-BE49-F238E27FC236}">
                  <a16:creationId xmlns:a16="http://schemas.microsoft.com/office/drawing/2014/main" id="{A50E4B6B-A7C1-1641-A1A0-1729BF518927}"/>
                </a:ext>
              </a:extLst>
            </p:cNvPr>
            <p:cNvSpPr txBox="1">
              <a:spLocks noChangeArrowheads="1"/>
            </p:cNvSpPr>
            <p:nvPr/>
          </p:nvSpPr>
          <p:spPr bwMode="auto">
            <a:xfrm>
              <a:off x="262" y="3505"/>
              <a:ext cx="908" cy="258"/>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0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0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2535" name="Text Box 7">
              <a:extLst>
                <a:ext uri="{FF2B5EF4-FFF2-40B4-BE49-F238E27FC236}">
                  <a16:creationId xmlns:a16="http://schemas.microsoft.com/office/drawing/2014/main" id="{721E185F-1A85-D64D-93D3-AA95534AD317}"/>
                </a:ext>
              </a:extLst>
            </p:cNvPr>
            <p:cNvSpPr txBox="1">
              <a:spLocks noChangeArrowheads="1"/>
            </p:cNvSpPr>
            <p:nvPr/>
          </p:nvSpPr>
          <p:spPr bwMode="auto">
            <a:xfrm>
              <a:off x="5116" y="3505"/>
              <a:ext cx="908" cy="258"/>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0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0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2536" name="Text Box 8">
              <a:extLst>
                <a:ext uri="{FF2B5EF4-FFF2-40B4-BE49-F238E27FC236}">
                  <a16:creationId xmlns:a16="http://schemas.microsoft.com/office/drawing/2014/main" id="{AC7D9CB1-9BD3-644E-A63C-BEFAD4D539F1}"/>
                </a:ext>
              </a:extLst>
            </p:cNvPr>
            <p:cNvSpPr txBox="1">
              <a:spLocks noChangeArrowheads="1"/>
            </p:cNvSpPr>
            <p:nvPr/>
          </p:nvSpPr>
          <p:spPr bwMode="auto">
            <a:xfrm>
              <a:off x="1260" y="3120"/>
              <a:ext cx="3720" cy="55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0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鉴别请求，可辨别标识符，</a:t>
              </a:r>
            </a:p>
            <a:p>
              <a:pPr algn="ctr" eaLnBrk="1" hangingPunct="1">
                <a:spcBef>
                  <a:spcPct val="50000"/>
                </a:spcBef>
                <a:defRPr/>
              </a:pPr>
              <a:r>
                <a:rPr lang="zh-CN" altLang="en-US" sz="20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a:t>
              </a:r>
              <a:r>
                <a:rPr lang="en-US" altLang="zh-CN" sz="20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AI</a:t>
              </a:r>
              <a:r>
                <a:rPr lang="zh-CN" altLang="en-US" sz="20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（鉴别信息）， </a:t>
              </a:r>
              <a:r>
                <a:rPr lang="en-US" altLang="zh-CN" sz="20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0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数字指纹</a:t>
              </a:r>
              <a:r>
                <a:rPr lang="en-US" altLang="zh-CN" sz="20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endParaRPr lang="zh-CN" altLang="en-US" sz="20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sp>
        <p:nvSpPr>
          <p:cNvPr id="2" name="矩形 1">
            <a:extLst>
              <a:ext uri="{FF2B5EF4-FFF2-40B4-BE49-F238E27FC236}">
                <a16:creationId xmlns:a16="http://schemas.microsoft.com/office/drawing/2014/main" id="{6B49542A-C4A2-904E-9F0F-15CAF4F74DEB}"/>
              </a:ext>
            </a:extLst>
          </p:cNvPr>
          <p:cNvSpPr>
            <a:spLocks noChangeArrowheads="1"/>
          </p:cNvSpPr>
          <p:nvPr/>
        </p:nvSpPr>
        <p:spPr bwMode="auto">
          <a:xfrm>
            <a:off x="696913" y="5281613"/>
            <a:ext cx="80835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4800" b="1">
                <a:solidFill>
                  <a:srgbClr val="FF0000"/>
                </a:solidFill>
                <a:latin typeface="隶书" pitchFamily="49" charset="-122"/>
                <a:ea typeface="隶书" pitchFamily="49" charset="-122"/>
              </a:defRPr>
            </a:lvl1pPr>
            <a:lvl2pPr>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150000"/>
              </a:lnSpc>
              <a:buFont typeface="Wingdings" pitchFamily="2" charset="2"/>
              <a:buChar char="u"/>
            </a:pPr>
            <a:r>
              <a:rPr lang="zh-CN" altLang="en-US" sz="2400">
                <a:latin typeface="黑体" panose="02010609060101010101" pitchFamily="49" charset="-122"/>
                <a:ea typeface="黑体" panose="02010609060101010101" pitchFamily="49" charset="-122"/>
              </a:rPr>
              <a:t>缺点：易于暴露鉴别信息和受到重放攻击</a:t>
            </a:r>
            <a:endParaRPr lang="en-US" altLang="zh-CN" sz="240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2531"/>
                                        </p:tgtEl>
                                        <p:attrNameLst>
                                          <p:attrName>style.visibility</p:attrName>
                                        </p:attrNameLst>
                                      </p:cBhvr>
                                      <p:to>
                                        <p:strVal val="visible"/>
                                      </p:to>
                                    </p:set>
                                    <p:anim calcmode="lin" valueType="num">
                                      <p:cBhvr additive="base">
                                        <p:cTn id="12" dur="1000" fill="hold"/>
                                        <p:tgtEl>
                                          <p:spTgt spid="22531"/>
                                        </p:tgtEl>
                                        <p:attrNameLst>
                                          <p:attrName>ppt_x</p:attrName>
                                        </p:attrNameLst>
                                      </p:cBhvr>
                                      <p:tavLst>
                                        <p:tav tm="0">
                                          <p:val>
                                            <p:strVal val="#ppt_x"/>
                                          </p:val>
                                        </p:tav>
                                        <p:tav tm="100000">
                                          <p:val>
                                            <p:strVal val="#ppt_x"/>
                                          </p:val>
                                        </p:tav>
                                      </p:tavLst>
                                    </p:anim>
                                    <p:anim calcmode="lin" valueType="num">
                                      <p:cBhvr additive="base">
                                        <p:cTn id="13" dur="1000" fill="hold"/>
                                        <p:tgtEl>
                                          <p:spTgt spid="22531"/>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5" name="Rectangle 3">
            <a:extLst>
              <a:ext uri="{FF2B5EF4-FFF2-40B4-BE49-F238E27FC236}">
                <a16:creationId xmlns:a16="http://schemas.microsoft.com/office/drawing/2014/main" id="{446569A3-31A9-7B41-84A8-E0F3C6F100B9}"/>
              </a:ext>
            </a:extLst>
          </p:cNvPr>
          <p:cNvSpPr>
            <a:spLocks noGrp="1" noChangeArrowheads="1"/>
          </p:cNvSpPr>
          <p:nvPr>
            <p:ph type="body" idx="1"/>
          </p:nvPr>
        </p:nvSpPr>
        <p:spPr bwMode="auto">
          <a:xfrm>
            <a:off x="457200" y="2827338"/>
            <a:ext cx="8229600" cy="2514600"/>
          </a:xfrm>
        </p:spPr>
        <p:txBody>
          <a:bodyPr vert="horz" wrap="square" lIns="84406" tIns="42203" rIns="84406" bIns="42203" numCol="1" anchor="t" anchorCtr="0" compatLnSpc="1">
            <a:prstTxWarp prst="textNoShape">
              <a:avLst/>
            </a:prstTxWarp>
          </a:bodyPr>
          <a:lstStyle/>
          <a:p>
            <a:pPr lvl="1" eaLnBrk="1" hangingPunct="1">
              <a:buClr>
                <a:srgbClr val="FF0000"/>
              </a:buClr>
              <a:buFont typeface="Wingdings" pitchFamily="2" charset="2"/>
              <a:buChar char="p"/>
              <a:defRPr/>
            </a:pPr>
            <a:r>
              <a:rPr lang="zh-CN" altLang="en-US" sz="2200" dirty="0">
                <a:solidFill>
                  <a:schemeClr val="bg2"/>
                </a:solidFill>
                <a:ea typeface="宋体" panose="02010600030101010101" pitchFamily="2" charset="-122"/>
              </a:rPr>
              <a:t>提供防止申请</a:t>
            </a:r>
            <a:r>
              <a:rPr lang="en-US" altLang="zh-CN" sz="2200" dirty="0">
                <a:solidFill>
                  <a:schemeClr val="bg2"/>
                </a:solidFill>
                <a:ea typeface="宋体" panose="02010600030101010101" pitchFamily="2" charset="-122"/>
              </a:rPr>
              <a:t>AI</a:t>
            </a:r>
            <a:r>
              <a:rPr lang="zh-CN" altLang="en-US" sz="2200" dirty="0">
                <a:solidFill>
                  <a:schemeClr val="bg2"/>
                </a:solidFill>
                <a:ea typeface="宋体" panose="02010600030101010101" pitchFamily="2" charset="-122"/>
              </a:rPr>
              <a:t>泄露的保护</a:t>
            </a:r>
          </a:p>
          <a:p>
            <a:pPr lvl="1" eaLnBrk="1" hangingPunct="1">
              <a:buClr>
                <a:srgbClr val="FF0000"/>
              </a:buClr>
              <a:buFont typeface="Wingdings" pitchFamily="2" charset="2"/>
              <a:buChar char="p"/>
              <a:defRPr/>
            </a:pPr>
            <a:r>
              <a:rPr lang="zh-CN" altLang="en-US" sz="2200" dirty="0">
                <a:solidFill>
                  <a:schemeClr val="bg2"/>
                </a:solidFill>
                <a:ea typeface="宋体" panose="02010600030101010101" pitchFamily="2" charset="-122"/>
              </a:rPr>
              <a:t>可用于数据源和实体鉴别</a:t>
            </a:r>
          </a:p>
          <a:p>
            <a:pPr lvl="1" eaLnBrk="1" hangingPunct="1">
              <a:buClr>
                <a:srgbClr val="FF0000"/>
              </a:buClr>
              <a:buFont typeface="Wingdings" pitchFamily="2" charset="2"/>
              <a:buChar char="p"/>
              <a:defRPr/>
            </a:pPr>
            <a:r>
              <a:rPr lang="zh-CN" altLang="en-US" sz="2200" u="sng" dirty="0">
                <a:solidFill>
                  <a:schemeClr val="bg2"/>
                </a:solidFill>
                <a:ea typeface="宋体" panose="02010600030101010101" pitchFamily="2" charset="-122"/>
              </a:rPr>
              <a:t>使用变换函数，将申请</a:t>
            </a:r>
            <a:r>
              <a:rPr lang="en-US" altLang="zh-CN" sz="2200" u="sng" dirty="0">
                <a:solidFill>
                  <a:schemeClr val="bg2"/>
                </a:solidFill>
                <a:ea typeface="宋体" panose="02010600030101010101" pitchFamily="2" charset="-122"/>
              </a:rPr>
              <a:t>AI</a:t>
            </a:r>
            <a:r>
              <a:rPr lang="zh-CN" altLang="en-US" sz="2200" u="sng" dirty="0">
                <a:solidFill>
                  <a:schemeClr val="bg2"/>
                </a:solidFill>
                <a:ea typeface="宋体" panose="02010600030101010101" pitchFamily="2" charset="-122"/>
              </a:rPr>
              <a:t>和可辨别标识符一起利用函数进行变换，且与可辨别标识符一起传输，</a:t>
            </a:r>
            <a:r>
              <a:rPr lang="zh-CN" altLang="en-US" sz="2200" i="1" u="sng" dirty="0">
                <a:solidFill>
                  <a:schemeClr val="bg2"/>
                </a:solidFill>
                <a:ea typeface="宋体" panose="02010600030101010101" pitchFamily="2" charset="-122"/>
              </a:rPr>
              <a:t>实际的申请</a:t>
            </a:r>
            <a:r>
              <a:rPr lang="en-US" altLang="zh-CN" sz="2200" i="1" u="sng" dirty="0">
                <a:solidFill>
                  <a:schemeClr val="bg2"/>
                </a:solidFill>
                <a:ea typeface="宋体" panose="02010600030101010101" pitchFamily="2" charset="-122"/>
              </a:rPr>
              <a:t>AI</a:t>
            </a:r>
            <a:r>
              <a:rPr lang="zh-CN" altLang="en-US" sz="2200" i="1" u="sng" dirty="0">
                <a:solidFill>
                  <a:schemeClr val="bg2"/>
                </a:solidFill>
                <a:ea typeface="宋体" panose="02010600030101010101" pitchFamily="2" charset="-122"/>
              </a:rPr>
              <a:t>并不在通信信道中传输</a:t>
            </a:r>
            <a:r>
              <a:rPr lang="zh-CN" altLang="en-US" sz="2200" u="sng" dirty="0">
                <a:solidFill>
                  <a:schemeClr val="bg2"/>
                </a:solidFill>
                <a:ea typeface="宋体" panose="02010600030101010101" pitchFamily="2" charset="-122"/>
              </a:rPr>
              <a:t>。</a:t>
            </a:r>
          </a:p>
          <a:p>
            <a:pPr lvl="1" eaLnBrk="1" hangingPunct="1">
              <a:buClr>
                <a:srgbClr val="FF0000"/>
              </a:buClr>
              <a:buFont typeface="Wingdings" pitchFamily="2" charset="2"/>
              <a:buChar char="p"/>
              <a:defRPr/>
            </a:pPr>
            <a:r>
              <a:rPr lang="zh-CN" altLang="en-US" sz="2200" dirty="0">
                <a:solidFill>
                  <a:schemeClr val="bg2"/>
                </a:solidFill>
                <a:ea typeface="宋体" panose="02010600030101010101" pitchFamily="2" charset="-122"/>
              </a:rPr>
              <a:t>如，传送经单向函数变换后的通行字；传送利用秘密密钥加密的数字指纹等。</a:t>
            </a:r>
          </a:p>
        </p:txBody>
      </p:sp>
      <p:grpSp>
        <p:nvGrpSpPr>
          <p:cNvPr id="238600" name="Group 8">
            <a:extLst>
              <a:ext uri="{FF2B5EF4-FFF2-40B4-BE49-F238E27FC236}">
                <a16:creationId xmlns:a16="http://schemas.microsoft.com/office/drawing/2014/main" id="{ECE6ED01-CD14-F443-954A-C0B95A3D7DE5}"/>
              </a:ext>
            </a:extLst>
          </p:cNvPr>
          <p:cNvGrpSpPr>
            <a:grpSpLocks/>
          </p:cNvGrpSpPr>
          <p:nvPr/>
        </p:nvGrpSpPr>
        <p:grpSpPr bwMode="auto">
          <a:xfrm>
            <a:off x="244475" y="1379538"/>
            <a:ext cx="8442325" cy="1095375"/>
            <a:chOff x="262" y="3115"/>
            <a:chExt cx="5762" cy="747"/>
          </a:xfrm>
        </p:grpSpPr>
        <p:sp>
          <p:nvSpPr>
            <p:cNvPr id="59397" name="Line 4">
              <a:extLst>
                <a:ext uri="{FF2B5EF4-FFF2-40B4-BE49-F238E27FC236}">
                  <a16:creationId xmlns:a16="http://schemas.microsoft.com/office/drawing/2014/main" id="{86D711BE-7A09-DF4A-ADDF-2A1E5156B5BE}"/>
                </a:ext>
              </a:extLst>
            </p:cNvPr>
            <p:cNvSpPr>
              <a:spLocks noChangeShapeType="1"/>
            </p:cNvSpPr>
            <p:nvPr/>
          </p:nvSpPr>
          <p:spPr bwMode="auto">
            <a:xfrm>
              <a:off x="1079" y="3748"/>
              <a:ext cx="4083" cy="0"/>
            </a:xfrm>
            <a:prstGeom prst="line">
              <a:avLst/>
            </a:prstGeom>
            <a:noFill/>
            <a:ln w="57150">
              <a:solidFill>
                <a:srgbClr val="FF0000"/>
              </a:solidFill>
              <a:round/>
              <a:headEn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59398" name="Text Box 5">
              <a:extLst>
                <a:ext uri="{FF2B5EF4-FFF2-40B4-BE49-F238E27FC236}">
                  <a16:creationId xmlns:a16="http://schemas.microsoft.com/office/drawing/2014/main" id="{DA38AA58-11FF-2D48-8BC0-BB7360BA8EC0}"/>
                </a:ext>
              </a:extLst>
            </p:cNvPr>
            <p:cNvSpPr txBox="1">
              <a:spLocks noChangeArrowheads="1"/>
            </p:cNvSpPr>
            <p:nvPr/>
          </p:nvSpPr>
          <p:spPr bwMode="auto">
            <a:xfrm>
              <a:off x="262" y="3566"/>
              <a:ext cx="908"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59399" name="Text Box 6">
              <a:extLst>
                <a:ext uri="{FF2B5EF4-FFF2-40B4-BE49-F238E27FC236}">
                  <a16:creationId xmlns:a16="http://schemas.microsoft.com/office/drawing/2014/main" id="{08FE93D6-BEDB-2F40-BE9C-99A9FAD8497A}"/>
                </a:ext>
              </a:extLst>
            </p:cNvPr>
            <p:cNvSpPr txBox="1">
              <a:spLocks noChangeArrowheads="1"/>
            </p:cNvSpPr>
            <p:nvPr/>
          </p:nvSpPr>
          <p:spPr bwMode="auto">
            <a:xfrm>
              <a:off x="5116" y="3566"/>
              <a:ext cx="908"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59400" name="Text Box 7">
              <a:extLst>
                <a:ext uri="{FF2B5EF4-FFF2-40B4-BE49-F238E27FC236}">
                  <a16:creationId xmlns:a16="http://schemas.microsoft.com/office/drawing/2014/main" id="{1426A216-B10B-9A41-906F-6EA95391111C}"/>
                </a:ext>
              </a:extLst>
            </p:cNvPr>
            <p:cNvSpPr txBox="1">
              <a:spLocks noChangeArrowheads="1"/>
            </p:cNvSpPr>
            <p:nvPr/>
          </p:nvSpPr>
          <p:spPr bwMode="auto">
            <a:xfrm>
              <a:off x="1306" y="3115"/>
              <a:ext cx="3720" cy="645"/>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鉴别请求，可辨别标识符，</a:t>
              </a:r>
            </a:p>
            <a:p>
              <a:pPr algn="ctr" eaLnBrk="1" hangingPunct="1">
                <a:spcBef>
                  <a:spcPct val="50000"/>
                </a:spcBef>
                <a:defRPr/>
              </a:pPr>
              <a:r>
                <a:rPr lang="en-US" altLang="zh-CN" sz="2200" dirty="0">
                  <a:solidFill>
                    <a:srgbClr val="C00000"/>
                  </a:solidFill>
                  <a:effectLst>
                    <a:outerShdw blurRad="38100" dist="38100" dir="2700000" algn="tl">
                      <a:srgbClr val="C0C0C0"/>
                    </a:outerShdw>
                  </a:effectLst>
                  <a:latin typeface="Times New Roman" panose="02020603050405020304" pitchFamily="18" charset="0"/>
                  <a:ea typeface="宋体" panose="02010600030101010101" pitchFamily="2" charset="-122"/>
                </a:rPr>
                <a:t>F</a:t>
              </a: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a:t>
              </a:r>
              <a:r>
                <a:rPr lang="en-US" altLang="zh-CN"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AI</a:t>
              </a: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200" dirty="0">
                  <a:solidFill>
                    <a:srgbClr val="C00000"/>
                  </a:solidFill>
                  <a:effectLst>
                    <a:outerShdw blurRad="38100" dist="38100" dir="2700000" algn="tl">
                      <a:srgbClr val="C0C0C0"/>
                    </a:outerShdw>
                  </a:effectLst>
                  <a:latin typeface="Times New Roman" panose="02020603050405020304" pitchFamily="18" charset="0"/>
                  <a:ea typeface="宋体" panose="02010600030101010101" pitchFamily="2" charset="-122"/>
                </a:rPr>
                <a:t>可辨别标识符</a:t>
              </a: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en-US" altLang="zh-CN"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数字指纹</a:t>
              </a:r>
              <a:r>
                <a:rPr lang="en-US" altLang="zh-CN"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p>
          </p:txBody>
        </p:sp>
      </p:grpSp>
      <p:sp>
        <p:nvSpPr>
          <p:cNvPr id="23556" name="矩形 2">
            <a:extLst>
              <a:ext uri="{FF2B5EF4-FFF2-40B4-BE49-F238E27FC236}">
                <a16:creationId xmlns:a16="http://schemas.microsoft.com/office/drawing/2014/main" id="{82A8CF06-B8A4-9342-886A-7B7AF8787448}"/>
              </a:ext>
            </a:extLst>
          </p:cNvPr>
          <p:cNvSpPr>
            <a:spLocks noChangeArrowheads="1"/>
          </p:cNvSpPr>
          <p:nvPr/>
        </p:nvSpPr>
        <p:spPr bwMode="auto">
          <a:xfrm>
            <a:off x="533400" y="669925"/>
            <a:ext cx="4572000" cy="534988"/>
          </a:xfrm>
          <a:prstGeom prst="rect">
            <a:avLst/>
          </a:prstGeom>
          <a:noFill/>
          <a:ln>
            <a:noFill/>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级鉴别（抗泄露保护）</a:t>
            </a:r>
          </a:p>
        </p:txBody>
      </p:sp>
      <p:sp>
        <p:nvSpPr>
          <p:cNvPr id="2" name="矩形 1">
            <a:extLst>
              <a:ext uri="{FF2B5EF4-FFF2-40B4-BE49-F238E27FC236}">
                <a16:creationId xmlns:a16="http://schemas.microsoft.com/office/drawing/2014/main" id="{C6E9590E-4C14-FB4D-AC48-A4D4FBB84692}"/>
              </a:ext>
            </a:extLst>
          </p:cNvPr>
          <p:cNvSpPr>
            <a:spLocks noChangeArrowheads="1"/>
          </p:cNvSpPr>
          <p:nvPr/>
        </p:nvSpPr>
        <p:spPr bwMode="auto">
          <a:xfrm>
            <a:off x="949325" y="5486400"/>
            <a:ext cx="374015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kumimoji="1" sz="4800" b="1">
                <a:solidFill>
                  <a:srgbClr val="FF0000"/>
                </a:solidFill>
                <a:latin typeface="隶书" pitchFamily="49" charset="-122"/>
                <a:ea typeface="隶书" pitchFamily="49" charset="-122"/>
              </a:defRPr>
            </a:lvl1pPr>
            <a:lvl2pPr indent="-34290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150000"/>
              </a:lnSpc>
              <a:buFont typeface="Wingdings" pitchFamily="2" charset="2"/>
              <a:buChar char="u"/>
            </a:pPr>
            <a:r>
              <a:rPr lang="zh-CN" altLang="en-US" sz="2400">
                <a:latin typeface="黑体" panose="02010609060101010101" pitchFamily="49" charset="-122"/>
                <a:ea typeface="黑体" panose="02010609060101010101" pitchFamily="49" charset="-122"/>
              </a:rPr>
              <a:t>缺点：易于受重放攻击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38600"/>
                                        </p:tgtEl>
                                        <p:attrNameLst>
                                          <p:attrName>style.visibility</p:attrName>
                                        </p:attrNameLst>
                                      </p:cBhvr>
                                      <p:to>
                                        <p:strVal val="visible"/>
                                      </p:to>
                                    </p:set>
                                    <p:anim calcmode="lin" valueType="num">
                                      <p:cBhvr additive="base">
                                        <p:cTn id="7" dur="500" fill="hold"/>
                                        <p:tgtEl>
                                          <p:spTgt spid="238600"/>
                                        </p:tgtEl>
                                        <p:attrNameLst>
                                          <p:attrName>ppt_x</p:attrName>
                                        </p:attrNameLst>
                                      </p:cBhvr>
                                      <p:tavLst>
                                        <p:tav tm="0">
                                          <p:val>
                                            <p:strVal val="0-#ppt_w/2"/>
                                          </p:val>
                                        </p:tav>
                                        <p:tav tm="100000">
                                          <p:val>
                                            <p:strVal val="#ppt_x"/>
                                          </p:val>
                                        </p:tav>
                                      </p:tavLst>
                                    </p:anim>
                                    <p:anim calcmode="lin" valueType="num">
                                      <p:cBhvr additive="base">
                                        <p:cTn id="8" dur="500" fill="hold"/>
                                        <p:tgtEl>
                                          <p:spTgt spid="23860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999"/>
                                          </p:stCondLst>
                                        </p:cTn>
                                        <p:tgtEl>
                                          <p:spTgt spid="238595">
                                            <p:txEl>
                                              <p:pRg st="0" end="0"/>
                                            </p:txEl>
                                          </p:spTgt>
                                        </p:tgtEl>
                                        <p:attrNameLst>
                                          <p:attrName>style.visibility</p:attrName>
                                        </p:attrNameLst>
                                      </p:cBhvr>
                                      <p:to>
                                        <p:strVal val="visible"/>
                                      </p:to>
                                    </p:set>
                                  </p:childTnLst>
                                </p:cTn>
                              </p:par>
                            </p:childTnLst>
                          </p:cTn>
                        </p:par>
                        <p:par>
                          <p:cTn id="12" fill="hold" nodeType="afterGroup">
                            <p:stCondLst>
                              <p:cond delay="1500"/>
                            </p:stCondLst>
                            <p:childTnLst>
                              <p:par>
                                <p:cTn id="13" presetID="1" presetClass="entr" presetSubtype="0" fill="hold" grpId="0" nodeType="afterEffect">
                                  <p:stCondLst>
                                    <p:cond delay="0"/>
                                  </p:stCondLst>
                                  <p:childTnLst>
                                    <p:set>
                                      <p:cBhvr>
                                        <p:cTn id="14" dur="1" fill="hold">
                                          <p:stCondLst>
                                            <p:cond delay="999"/>
                                          </p:stCondLst>
                                        </p:cTn>
                                        <p:tgtEl>
                                          <p:spTgt spid="238595">
                                            <p:txEl>
                                              <p:pRg st="1" end="1"/>
                                            </p:txEl>
                                          </p:spTgt>
                                        </p:tgtEl>
                                        <p:attrNameLst>
                                          <p:attrName>style.visibility</p:attrName>
                                        </p:attrNameLst>
                                      </p:cBhvr>
                                      <p:to>
                                        <p:strVal val="visible"/>
                                      </p:to>
                                    </p:set>
                                  </p:childTnLst>
                                </p:cTn>
                              </p:par>
                            </p:childTnLst>
                          </p:cTn>
                        </p:par>
                        <p:par>
                          <p:cTn id="15" fill="hold" nodeType="afterGroup">
                            <p:stCondLst>
                              <p:cond delay="2500"/>
                            </p:stCondLst>
                            <p:childTnLst>
                              <p:par>
                                <p:cTn id="16" presetID="1" presetClass="entr" presetSubtype="0" fill="hold" grpId="0" nodeType="afterEffect">
                                  <p:stCondLst>
                                    <p:cond delay="0"/>
                                  </p:stCondLst>
                                  <p:childTnLst>
                                    <p:set>
                                      <p:cBhvr>
                                        <p:cTn id="17" dur="1" fill="hold">
                                          <p:stCondLst>
                                            <p:cond delay="999"/>
                                          </p:stCondLst>
                                        </p:cTn>
                                        <p:tgtEl>
                                          <p:spTgt spid="238595">
                                            <p:txEl>
                                              <p:pRg st="2" end="2"/>
                                            </p:txEl>
                                          </p:spTgt>
                                        </p:tgtEl>
                                        <p:attrNameLst>
                                          <p:attrName>style.visibility</p:attrName>
                                        </p:attrNameLst>
                                      </p:cBhvr>
                                      <p:to>
                                        <p:strVal val="visible"/>
                                      </p:to>
                                    </p:set>
                                  </p:childTnLst>
                                </p:cTn>
                              </p:par>
                            </p:childTnLst>
                          </p:cTn>
                        </p:par>
                        <p:par>
                          <p:cTn id="18" fill="hold" nodeType="afterGroup">
                            <p:stCondLst>
                              <p:cond delay="3500"/>
                            </p:stCondLst>
                            <p:childTnLst>
                              <p:par>
                                <p:cTn id="19" presetID="1" presetClass="entr" presetSubtype="0" fill="hold" grpId="0" nodeType="afterEffect">
                                  <p:stCondLst>
                                    <p:cond delay="0"/>
                                  </p:stCondLst>
                                  <p:childTnLst>
                                    <p:set>
                                      <p:cBhvr>
                                        <p:cTn id="20" dur="1" fill="hold">
                                          <p:stCondLst>
                                            <p:cond delay="999"/>
                                          </p:stCondLst>
                                        </p:cTn>
                                        <p:tgtEl>
                                          <p:spTgt spid="238595">
                                            <p:txEl>
                                              <p:pRg st="3" end="3"/>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fltVal val="0"/>
                                          </p:val>
                                        </p:tav>
                                        <p:tav tm="100000">
                                          <p:val>
                                            <p:strVal val="#ppt_h"/>
                                          </p:val>
                                        </p:tav>
                                      </p:tavLst>
                                    </p:anim>
                                    <p:animEffect transition="in" filter="fad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build="p"/>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9" name="Rectangle 3">
            <a:extLst>
              <a:ext uri="{FF2B5EF4-FFF2-40B4-BE49-F238E27FC236}">
                <a16:creationId xmlns:a16="http://schemas.microsoft.com/office/drawing/2014/main" id="{9F8B428C-AEED-B442-9976-934C19ED4AB9}"/>
              </a:ext>
            </a:extLst>
          </p:cNvPr>
          <p:cNvSpPr>
            <a:spLocks noGrp="1" noChangeArrowheads="1"/>
          </p:cNvSpPr>
          <p:nvPr>
            <p:ph type="body" idx="1"/>
          </p:nvPr>
        </p:nvSpPr>
        <p:spPr bwMode="auto">
          <a:xfrm>
            <a:off x="563563" y="3389313"/>
            <a:ext cx="8229600" cy="1422400"/>
          </a:xfrm>
        </p:spPr>
        <p:txBody>
          <a:bodyPr vert="horz" wrap="square" lIns="84406" tIns="42203" rIns="84406" bIns="42203" numCol="1" anchor="t" anchorCtr="0" compatLnSpc="1">
            <a:prstTxWarp prst="textNoShape">
              <a:avLst/>
            </a:prstTxWarp>
          </a:bodyPr>
          <a:lstStyle/>
          <a:p>
            <a:pPr lvl="1" eaLnBrk="1" hangingPunct="1">
              <a:buClrTx/>
              <a:buFont typeface="Wingdings" pitchFamily="2" charset="2"/>
              <a:buChar char="p"/>
              <a:defRPr/>
            </a:pPr>
            <a:r>
              <a:rPr lang="zh-CN" altLang="en-US" sz="2400">
                <a:solidFill>
                  <a:schemeClr val="bg2"/>
                </a:solidFill>
                <a:ea typeface="宋体" panose="02010600030101010101" pitchFamily="2" charset="-122"/>
              </a:rPr>
              <a:t>提供申请</a:t>
            </a:r>
            <a:r>
              <a:rPr lang="en-US" altLang="zh-CN" sz="2400">
                <a:solidFill>
                  <a:schemeClr val="bg2"/>
                </a:solidFill>
                <a:ea typeface="宋体" panose="02010600030101010101" pitchFamily="2" charset="-122"/>
              </a:rPr>
              <a:t>AI</a:t>
            </a:r>
            <a:r>
              <a:rPr lang="zh-CN" altLang="en-US" sz="2400">
                <a:solidFill>
                  <a:schemeClr val="bg2"/>
                </a:solidFill>
                <a:ea typeface="宋体" panose="02010600030101010101" pitchFamily="2" charset="-122"/>
              </a:rPr>
              <a:t>抗泄露和对于不同验证者的重放保护。</a:t>
            </a:r>
          </a:p>
          <a:p>
            <a:pPr lvl="1" eaLnBrk="1" hangingPunct="1">
              <a:buClrTx/>
              <a:buFont typeface="Wingdings" pitchFamily="2" charset="2"/>
              <a:buChar char="p"/>
              <a:defRPr/>
            </a:pPr>
            <a:r>
              <a:rPr lang="zh-CN" altLang="en-US" sz="2400">
                <a:solidFill>
                  <a:schemeClr val="bg2"/>
                </a:solidFill>
                <a:ea typeface="宋体" panose="02010600030101010101" pitchFamily="2" charset="-122"/>
              </a:rPr>
              <a:t>在数据项中含有一个惟一特征（预期的验证者），作为变换函数的输入，其他与</a:t>
            </a:r>
            <a:r>
              <a:rPr lang="en-US" altLang="zh-CN" sz="2400">
                <a:solidFill>
                  <a:schemeClr val="bg2"/>
                </a:solidFill>
                <a:ea typeface="宋体" panose="02010600030101010101" pitchFamily="2" charset="-122"/>
              </a:rPr>
              <a:t>1</a:t>
            </a:r>
            <a:r>
              <a:rPr lang="zh-CN" altLang="en-US" sz="2400">
                <a:solidFill>
                  <a:schemeClr val="bg2"/>
                </a:solidFill>
                <a:ea typeface="宋体" panose="02010600030101010101" pitchFamily="2" charset="-122"/>
              </a:rPr>
              <a:t>级保护机制一样。</a:t>
            </a:r>
          </a:p>
          <a:p>
            <a:pPr lvl="1" eaLnBrk="1" hangingPunct="1">
              <a:buFont typeface="Wingdings" pitchFamily="2" charset="2"/>
              <a:buNone/>
              <a:defRPr/>
            </a:pPr>
            <a:r>
              <a:rPr lang="zh-CN" altLang="en-US">
                <a:solidFill>
                  <a:schemeClr val="bg1"/>
                </a:solidFill>
                <a:ea typeface="宋体" panose="02010600030101010101" pitchFamily="2" charset="-122"/>
              </a:rPr>
              <a:t>	</a:t>
            </a:r>
          </a:p>
        </p:txBody>
      </p:sp>
      <p:grpSp>
        <p:nvGrpSpPr>
          <p:cNvPr id="219145" name="Group 9">
            <a:extLst>
              <a:ext uri="{FF2B5EF4-FFF2-40B4-BE49-F238E27FC236}">
                <a16:creationId xmlns:a16="http://schemas.microsoft.com/office/drawing/2014/main" id="{B21988FB-E996-944E-B0C1-27334F76EA19}"/>
              </a:ext>
            </a:extLst>
          </p:cNvPr>
          <p:cNvGrpSpPr>
            <a:grpSpLocks/>
          </p:cNvGrpSpPr>
          <p:nvPr/>
        </p:nvGrpSpPr>
        <p:grpSpPr bwMode="auto">
          <a:xfrm>
            <a:off x="350838" y="1676400"/>
            <a:ext cx="8442325" cy="1095375"/>
            <a:chOff x="262" y="3022"/>
            <a:chExt cx="5762" cy="747"/>
          </a:xfrm>
        </p:grpSpPr>
        <p:sp>
          <p:nvSpPr>
            <p:cNvPr id="60421" name="Line 5">
              <a:extLst>
                <a:ext uri="{FF2B5EF4-FFF2-40B4-BE49-F238E27FC236}">
                  <a16:creationId xmlns:a16="http://schemas.microsoft.com/office/drawing/2014/main" id="{37FB0C42-76B2-0045-B93D-05B7B6CCFC2E}"/>
                </a:ext>
              </a:extLst>
            </p:cNvPr>
            <p:cNvSpPr>
              <a:spLocks noChangeShapeType="1"/>
            </p:cNvSpPr>
            <p:nvPr/>
          </p:nvSpPr>
          <p:spPr bwMode="auto">
            <a:xfrm>
              <a:off x="1079" y="3655"/>
              <a:ext cx="4083" cy="0"/>
            </a:xfrm>
            <a:prstGeom prst="line">
              <a:avLst/>
            </a:prstGeom>
            <a:noFill/>
            <a:ln w="57150">
              <a:solidFill>
                <a:srgbClr val="FF0000"/>
              </a:solidFill>
              <a:round/>
              <a:headEn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0422" name="Text Box 6">
              <a:extLst>
                <a:ext uri="{FF2B5EF4-FFF2-40B4-BE49-F238E27FC236}">
                  <a16:creationId xmlns:a16="http://schemas.microsoft.com/office/drawing/2014/main" id="{00F2D48F-137F-B54A-8D38-CF98A42DF8F8}"/>
                </a:ext>
              </a:extLst>
            </p:cNvPr>
            <p:cNvSpPr txBox="1">
              <a:spLocks noChangeArrowheads="1"/>
            </p:cNvSpPr>
            <p:nvPr/>
          </p:nvSpPr>
          <p:spPr bwMode="auto">
            <a:xfrm>
              <a:off x="262" y="3473"/>
              <a:ext cx="908"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60423" name="Text Box 7">
              <a:extLst>
                <a:ext uri="{FF2B5EF4-FFF2-40B4-BE49-F238E27FC236}">
                  <a16:creationId xmlns:a16="http://schemas.microsoft.com/office/drawing/2014/main" id="{8D628BAA-EEA1-8646-AB47-3F3BC92780ED}"/>
                </a:ext>
              </a:extLst>
            </p:cNvPr>
            <p:cNvSpPr txBox="1">
              <a:spLocks noChangeArrowheads="1"/>
            </p:cNvSpPr>
            <p:nvPr/>
          </p:nvSpPr>
          <p:spPr bwMode="auto">
            <a:xfrm>
              <a:off x="5116" y="3473"/>
              <a:ext cx="908"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60424" name="Text Box 8">
              <a:extLst>
                <a:ext uri="{FF2B5EF4-FFF2-40B4-BE49-F238E27FC236}">
                  <a16:creationId xmlns:a16="http://schemas.microsoft.com/office/drawing/2014/main" id="{3440D7B1-11ED-AF46-A07D-41E0FF4C5E65}"/>
                </a:ext>
              </a:extLst>
            </p:cNvPr>
            <p:cNvSpPr txBox="1">
              <a:spLocks noChangeArrowheads="1"/>
            </p:cNvSpPr>
            <p:nvPr/>
          </p:nvSpPr>
          <p:spPr bwMode="auto">
            <a:xfrm>
              <a:off x="988" y="3022"/>
              <a:ext cx="4355" cy="58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鉴别请求，可辨别标识符，</a:t>
              </a:r>
            </a:p>
            <a:p>
              <a:pPr algn="ctr" eaLnBrk="1" hangingPunct="1">
                <a:spcBef>
                  <a:spcPct val="50000"/>
                </a:spcBef>
                <a:defRPr/>
              </a:pP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F</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AI</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，可辨别标识符，</a:t>
              </a:r>
              <a:r>
                <a:rPr lang="zh-CN" altLang="en-US" sz="1800" dirty="0">
                  <a:effectLst>
                    <a:outerShdw blurRad="38100" dist="38100" dir="2700000" algn="tl">
                      <a:srgbClr val="C0C0C0"/>
                    </a:outerShdw>
                  </a:effectLst>
                  <a:latin typeface="Times New Roman" panose="02020603050405020304" pitchFamily="18" charset="0"/>
                  <a:ea typeface="宋体" panose="02010600030101010101" pitchFamily="2" charset="-122"/>
                </a:rPr>
                <a:t>验证者</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数字指纹</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p>
          </p:txBody>
        </p:sp>
      </p:grpSp>
      <p:sp>
        <p:nvSpPr>
          <p:cNvPr id="24580" name="矩形 2">
            <a:extLst>
              <a:ext uri="{FF2B5EF4-FFF2-40B4-BE49-F238E27FC236}">
                <a16:creationId xmlns:a16="http://schemas.microsoft.com/office/drawing/2014/main" id="{91FC07C2-BDB8-3644-A0F3-ED10E77732A6}"/>
              </a:ext>
            </a:extLst>
          </p:cNvPr>
          <p:cNvSpPr>
            <a:spLocks noChangeArrowheads="1"/>
          </p:cNvSpPr>
          <p:nvPr/>
        </p:nvSpPr>
        <p:spPr bwMode="auto">
          <a:xfrm>
            <a:off x="228600" y="760413"/>
            <a:ext cx="8839200" cy="534987"/>
          </a:xfrm>
          <a:prstGeom prst="rect">
            <a:avLst/>
          </a:prstGeom>
          <a:noFill/>
          <a:ln>
            <a:noFill/>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级鉴别（抗泄露和对不同验证者重放的保护）</a:t>
            </a:r>
          </a:p>
        </p:txBody>
      </p:sp>
      <p:sp>
        <p:nvSpPr>
          <p:cNvPr id="2" name="矩形 1">
            <a:extLst>
              <a:ext uri="{FF2B5EF4-FFF2-40B4-BE49-F238E27FC236}">
                <a16:creationId xmlns:a16="http://schemas.microsoft.com/office/drawing/2014/main" id="{CB6730CF-3C91-E440-805A-2BD868857B92}"/>
              </a:ext>
            </a:extLst>
          </p:cNvPr>
          <p:cNvSpPr>
            <a:spLocks noChangeArrowheads="1"/>
          </p:cNvSpPr>
          <p:nvPr/>
        </p:nvSpPr>
        <p:spPr bwMode="auto">
          <a:xfrm>
            <a:off x="1016000" y="5037138"/>
            <a:ext cx="634047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4800" b="1">
                <a:solidFill>
                  <a:srgbClr val="FF0000"/>
                </a:solidFill>
                <a:latin typeface="隶书" pitchFamily="49" charset="-122"/>
                <a:ea typeface="隶书" pitchFamily="49" charset="-122"/>
              </a:defRPr>
            </a:lvl1pPr>
            <a:lvl2pPr indent="-34290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150000"/>
              </a:lnSpc>
              <a:buFont typeface="Wingdings" pitchFamily="2" charset="2"/>
              <a:buChar char="u"/>
            </a:pPr>
            <a:r>
              <a:rPr lang="zh-CN" altLang="en-US" sz="2400">
                <a:latin typeface="黑体" panose="02010609060101010101" pitchFamily="49" charset="-122"/>
                <a:ea typeface="黑体" panose="02010609060101010101" pitchFamily="49" charset="-122"/>
              </a:rPr>
              <a:t>缺点：不能对抗对同一验证者的重放。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19145"/>
                                        </p:tgtEl>
                                        <p:attrNameLst>
                                          <p:attrName>style.visibility</p:attrName>
                                        </p:attrNameLst>
                                      </p:cBhvr>
                                      <p:to>
                                        <p:strVal val="visible"/>
                                      </p:to>
                                    </p:set>
                                    <p:anim calcmode="lin" valueType="num">
                                      <p:cBhvr additive="base">
                                        <p:cTn id="7" dur="500" fill="hold"/>
                                        <p:tgtEl>
                                          <p:spTgt spid="219145"/>
                                        </p:tgtEl>
                                        <p:attrNameLst>
                                          <p:attrName>ppt_x</p:attrName>
                                        </p:attrNameLst>
                                      </p:cBhvr>
                                      <p:tavLst>
                                        <p:tav tm="0">
                                          <p:val>
                                            <p:strVal val="0-#ppt_w/2"/>
                                          </p:val>
                                        </p:tav>
                                        <p:tav tm="100000">
                                          <p:val>
                                            <p:strVal val="#ppt_x"/>
                                          </p:val>
                                        </p:tav>
                                      </p:tavLst>
                                    </p:anim>
                                    <p:anim calcmode="lin" valueType="num">
                                      <p:cBhvr additive="base">
                                        <p:cTn id="8" dur="500" fill="hold"/>
                                        <p:tgtEl>
                                          <p:spTgt spid="21914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219139">
                                            <p:txEl>
                                              <p:pRg st="0" end="0"/>
                                            </p:txEl>
                                          </p:spTgt>
                                        </p:tgtEl>
                                        <p:attrNameLst>
                                          <p:attrName>style.visibility</p:attrName>
                                        </p:attrNameLst>
                                      </p:cBhvr>
                                      <p:to>
                                        <p:strVal val="visible"/>
                                      </p:to>
                                    </p:set>
                                    <p:anim calcmode="lin" valueType="num">
                                      <p:cBhvr>
                                        <p:cTn id="12" dur="1000" fill="hold"/>
                                        <p:tgtEl>
                                          <p:spTgt spid="219139">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219139">
                                            <p:txEl>
                                              <p:pRg st="0" end="0"/>
                                            </p:txEl>
                                          </p:spTgt>
                                        </p:tgtEl>
                                        <p:attrNameLst>
                                          <p:attrName>ppt_h</p:attrName>
                                        </p:attrNameLst>
                                      </p:cBhvr>
                                      <p:tavLst>
                                        <p:tav tm="0">
                                          <p:val>
                                            <p:fltVal val="0"/>
                                          </p:val>
                                        </p:tav>
                                        <p:tav tm="100000">
                                          <p:val>
                                            <p:strVal val="#ppt_h"/>
                                          </p:val>
                                        </p:tav>
                                      </p:tavLst>
                                    </p:anim>
                                    <p:animEffect transition="in" filter="fade">
                                      <p:cBhvr>
                                        <p:cTn id="14" dur="1000"/>
                                        <p:tgtEl>
                                          <p:spTgt spid="219139">
                                            <p:txEl>
                                              <p:pRg st="0" end="0"/>
                                            </p:txEl>
                                          </p:spTgt>
                                        </p:tgtEl>
                                      </p:cBhvr>
                                    </p:animEffect>
                                  </p:childTnLst>
                                </p:cTn>
                              </p:par>
                            </p:childTnLst>
                          </p:cTn>
                        </p:par>
                        <p:par>
                          <p:cTn id="15" fill="hold" nodeType="afterGroup">
                            <p:stCondLst>
                              <p:cond delay="1500"/>
                            </p:stCondLst>
                            <p:childTnLst>
                              <p:par>
                                <p:cTn id="16" presetID="53" presetClass="entr" presetSubtype="16" fill="hold" grpId="0" nodeType="afterEffect">
                                  <p:stCondLst>
                                    <p:cond delay="0"/>
                                  </p:stCondLst>
                                  <p:childTnLst>
                                    <p:set>
                                      <p:cBhvr>
                                        <p:cTn id="17" dur="1" fill="hold">
                                          <p:stCondLst>
                                            <p:cond delay="0"/>
                                          </p:stCondLst>
                                        </p:cTn>
                                        <p:tgtEl>
                                          <p:spTgt spid="219139">
                                            <p:txEl>
                                              <p:pRg st="1" end="1"/>
                                            </p:txEl>
                                          </p:spTgt>
                                        </p:tgtEl>
                                        <p:attrNameLst>
                                          <p:attrName>style.visibility</p:attrName>
                                        </p:attrNameLst>
                                      </p:cBhvr>
                                      <p:to>
                                        <p:strVal val="visible"/>
                                      </p:to>
                                    </p:set>
                                    <p:anim calcmode="lin" valueType="num">
                                      <p:cBhvr>
                                        <p:cTn id="18" dur="1000" fill="hold"/>
                                        <p:tgtEl>
                                          <p:spTgt spid="219139">
                                            <p:txEl>
                                              <p:pRg st="1" end="1"/>
                                            </p:txEl>
                                          </p:spTgt>
                                        </p:tgtEl>
                                        <p:attrNameLst>
                                          <p:attrName>ppt_w</p:attrName>
                                        </p:attrNameLst>
                                      </p:cBhvr>
                                      <p:tavLst>
                                        <p:tav tm="0">
                                          <p:val>
                                            <p:fltVal val="0"/>
                                          </p:val>
                                        </p:tav>
                                        <p:tav tm="100000">
                                          <p:val>
                                            <p:strVal val="#ppt_w"/>
                                          </p:val>
                                        </p:tav>
                                      </p:tavLst>
                                    </p:anim>
                                    <p:anim calcmode="lin" valueType="num">
                                      <p:cBhvr>
                                        <p:cTn id="19" dur="1000" fill="hold"/>
                                        <p:tgtEl>
                                          <p:spTgt spid="219139">
                                            <p:txEl>
                                              <p:pRg st="1" end="1"/>
                                            </p:txEl>
                                          </p:spTgt>
                                        </p:tgtEl>
                                        <p:attrNameLst>
                                          <p:attrName>ppt_h</p:attrName>
                                        </p:attrNameLst>
                                      </p:cBhvr>
                                      <p:tavLst>
                                        <p:tav tm="0">
                                          <p:val>
                                            <p:fltVal val="0"/>
                                          </p:val>
                                        </p:tav>
                                        <p:tav tm="100000">
                                          <p:val>
                                            <p:strVal val="#ppt_h"/>
                                          </p:val>
                                        </p:tav>
                                      </p:tavLst>
                                    </p:anim>
                                    <p:animEffect transition="in" filter="fade">
                                      <p:cBhvr>
                                        <p:cTn id="20" dur="1000"/>
                                        <p:tgtEl>
                                          <p:spTgt spid="219139">
                                            <p:txEl>
                                              <p:pRg st="1" end="1"/>
                                            </p:txEl>
                                          </p:spTgt>
                                        </p:tgtEl>
                                      </p:cBhvr>
                                    </p:animEffect>
                                  </p:childTnLst>
                                </p:cTn>
                              </p:par>
                            </p:childTnLst>
                          </p:cTn>
                        </p:par>
                        <p:par>
                          <p:cTn id="21" fill="hold" nodeType="afterGroup">
                            <p:stCondLst>
                              <p:cond delay="2500"/>
                            </p:stCondLst>
                            <p:childTnLst>
                              <p:par>
                                <p:cTn id="22" presetID="53" presetClass="entr" presetSubtype="16" fill="hold" grpId="0" nodeType="afterEffect">
                                  <p:stCondLst>
                                    <p:cond delay="0"/>
                                  </p:stCondLst>
                                  <p:childTnLst>
                                    <p:set>
                                      <p:cBhvr>
                                        <p:cTn id="23" dur="1" fill="hold">
                                          <p:stCondLst>
                                            <p:cond delay="0"/>
                                          </p:stCondLst>
                                        </p:cTn>
                                        <p:tgtEl>
                                          <p:spTgt spid="219139">
                                            <p:txEl>
                                              <p:pRg st="2" end="2"/>
                                            </p:txEl>
                                          </p:spTgt>
                                        </p:tgtEl>
                                        <p:attrNameLst>
                                          <p:attrName>style.visibility</p:attrName>
                                        </p:attrNameLst>
                                      </p:cBhvr>
                                      <p:to>
                                        <p:strVal val="visible"/>
                                      </p:to>
                                    </p:set>
                                    <p:anim calcmode="lin" valueType="num">
                                      <p:cBhvr>
                                        <p:cTn id="24" dur="1000" fill="hold"/>
                                        <p:tgtEl>
                                          <p:spTgt spid="219139">
                                            <p:txEl>
                                              <p:pRg st="2" end="2"/>
                                            </p:txEl>
                                          </p:spTgt>
                                        </p:tgtEl>
                                        <p:attrNameLst>
                                          <p:attrName>ppt_w</p:attrName>
                                        </p:attrNameLst>
                                      </p:cBhvr>
                                      <p:tavLst>
                                        <p:tav tm="0">
                                          <p:val>
                                            <p:fltVal val="0"/>
                                          </p:val>
                                        </p:tav>
                                        <p:tav tm="100000">
                                          <p:val>
                                            <p:strVal val="#ppt_w"/>
                                          </p:val>
                                        </p:tav>
                                      </p:tavLst>
                                    </p:anim>
                                    <p:anim calcmode="lin" valueType="num">
                                      <p:cBhvr>
                                        <p:cTn id="25" dur="1000" fill="hold"/>
                                        <p:tgtEl>
                                          <p:spTgt spid="219139">
                                            <p:txEl>
                                              <p:pRg st="2" end="2"/>
                                            </p:txEl>
                                          </p:spTgt>
                                        </p:tgtEl>
                                        <p:attrNameLst>
                                          <p:attrName>ppt_h</p:attrName>
                                        </p:attrNameLst>
                                      </p:cBhvr>
                                      <p:tavLst>
                                        <p:tav tm="0">
                                          <p:val>
                                            <p:fltVal val="0"/>
                                          </p:val>
                                        </p:tav>
                                        <p:tav tm="100000">
                                          <p:val>
                                            <p:strVal val="#ppt_h"/>
                                          </p:val>
                                        </p:tav>
                                      </p:tavLst>
                                    </p:anim>
                                    <p:animEffect transition="in" filter="fade">
                                      <p:cBhvr>
                                        <p:cTn id="26" dur="1000"/>
                                        <p:tgtEl>
                                          <p:spTgt spid="219139">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p:cTn id="31" dur="500" fill="hold"/>
                                        <p:tgtEl>
                                          <p:spTgt spid="2"/>
                                        </p:tgtEl>
                                        <p:attrNameLst>
                                          <p:attrName>ppt_w</p:attrName>
                                        </p:attrNameLst>
                                      </p:cBhvr>
                                      <p:tavLst>
                                        <p:tav tm="0">
                                          <p:val>
                                            <p:fltVal val="0"/>
                                          </p:val>
                                        </p:tav>
                                        <p:tav tm="100000">
                                          <p:val>
                                            <p:strVal val="#ppt_w"/>
                                          </p:val>
                                        </p:tav>
                                      </p:tavLst>
                                    </p:anim>
                                    <p:anim calcmode="lin" valueType="num">
                                      <p:cBhvr>
                                        <p:cTn id="32" dur="500" fill="hold"/>
                                        <p:tgtEl>
                                          <p:spTgt spid="2"/>
                                        </p:tgtEl>
                                        <p:attrNameLst>
                                          <p:attrName>ppt_h</p:attrName>
                                        </p:attrNameLst>
                                      </p:cBhvr>
                                      <p:tavLst>
                                        <p:tav tm="0">
                                          <p:val>
                                            <p:fltVal val="0"/>
                                          </p:val>
                                        </p:tav>
                                        <p:tav tm="100000">
                                          <p:val>
                                            <p:strVal val="#ppt_h"/>
                                          </p:val>
                                        </p:tav>
                                      </p:tavLst>
                                    </p:anim>
                                    <p:animEffect transition="in" filter="fade">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9" grpId="0" build="p"/>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9" name="Rectangle 3">
            <a:extLst>
              <a:ext uri="{FF2B5EF4-FFF2-40B4-BE49-F238E27FC236}">
                <a16:creationId xmlns:a16="http://schemas.microsoft.com/office/drawing/2014/main" id="{763D6A60-C8ED-7149-BB7A-26F15FFA043D}"/>
              </a:ext>
            </a:extLst>
          </p:cNvPr>
          <p:cNvSpPr>
            <a:spLocks noGrp="1" noChangeArrowheads="1"/>
          </p:cNvSpPr>
          <p:nvPr>
            <p:ph type="body" idx="1"/>
          </p:nvPr>
        </p:nvSpPr>
        <p:spPr bwMode="auto">
          <a:xfrm>
            <a:off x="384175" y="1695450"/>
            <a:ext cx="8229600" cy="622300"/>
          </a:xfrm>
        </p:spPr>
        <p:txBody>
          <a:bodyPr vert="horz" wrap="square" lIns="84406" tIns="42203" rIns="84406" bIns="42203" numCol="1" anchor="t" anchorCtr="0" compatLnSpc="1">
            <a:prstTxWarp prst="textNoShape">
              <a:avLst/>
            </a:prstTxWarp>
          </a:bodyPr>
          <a:lstStyle/>
          <a:p>
            <a:pPr lvl="1" eaLnBrk="1" hangingPunct="1">
              <a:buClr>
                <a:schemeClr val="bg2"/>
              </a:buClr>
              <a:buFont typeface="Wingdings" pitchFamily="2" charset="2"/>
              <a:buChar char="u"/>
              <a:defRPr/>
            </a:pPr>
            <a:r>
              <a:rPr lang="zh-CN" altLang="en-US" sz="2400">
                <a:solidFill>
                  <a:schemeClr val="bg2"/>
                </a:solidFill>
                <a:ea typeface="宋体" panose="02010600030101010101" pitchFamily="2" charset="-122"/>
              </a:rPr>
              <a:t>提供申请</a:t>
            </a:r>
            <a:r>
              <a:rPr lang="en-US" altLang="zh-CN" sz="2400">
                <a:solidFill>
                  <a:schemeClr val="bg2"/>
                </a:solidFill>
                <a:ea typeface="宋体" panose="02010600030101010101" pitchFamily="2" charset="-122"/>
              </a:rPr>
              <a:t>AI</a:t>
            </a:r>
            <a:r>
              <a:rPr lang="zh-CN" altLang="en-US" sz="2400">
                <a:solidFill>
                  <a:schemeClr val="bg2"/>
                </a:solidFill>
                <a:ea typeface="宋体" panose="02010600030101010101" pitchFamily="2" charset="-122"/>
              </a:rPr>
              <a:t>的抗泄露和对于同一验证者的重放保护。</a:t>
            </a:r>
          </a:p>
        </p:txBody>
      </p:sp>
      <p:grpSp>
        <p:nvGrpSpPr>
          <p:cNvPr id="239626" name="Group 10">
            <a:extLst>
              <a:ext uri="{FF2B5EF4-FFF2-40B4-BE49-F238E27FC236}">
                <a16:creationId xmlns:a16="http://schemas.microsoft.com/office/drawing/2014/main" id="{C5926B2F-0BA3-D44C-8A83-45B829D4CEB9}"/>
              </a:ext>
            </a:extLst>
          </p:cNvPr>
          <p:cNvGrpSpPr>
            <a:grpSpLocks/>
          </p:cNvGrpSpPr>
          <p:nvPr/>
        </p:nvGrpSpPr>
        <p:grpSpPr bwMode="auto">
          <a:xfrm>
            <a:off x="384175" y="2662238"/>
            <a:ext cx="8443913" cy="1093787"/>
            <a:chOff x="262" y="1706"/>
            <a:chExt cx="5762" cy="747"/>
          </a:xfrm>
        </p:grpSpPr>
        <p:sp>
          <p:nvSpPr>
            <p:cNvPr id="61446" name="Line 5">
              <a:extLst>
                <a:ext uri="{FF2B5EF4-FFF2-40B4-BE49-F238E27FC236}">
                  <a16:creationId xmlns:a16="http://schemas.microsoft.com/office/drawing/2014/main" id="{439BC1C6-2B4C-CE4D-B504-A3272977D329}"/>
                </a:ext>
              </a:extLst>
            </p:cNvPr>
            <p:cNvSpPr>
              <a:spLocks noChangeShapeType="1"/>
            </p:cNvSpPr>
            <p:nvPr/>
          </p:nvSpPr>
          <p:spPr bwMode="auto">
            <a:xfrm>
              <a:off x="1079" y="2339"/>
              <a:ext cx="4083" cy="0"/>
            </a:xfrm>
            <a:prstGeom prst="line">
              <a:avLst/>
            </a:prstGeom>
            <a:noFill/>
            <a:ln w="57150">
              <a:solidFill>
                <a:srgbClr val="FF0000"/>
              </a:solidFill>
              <a:round/>
              <a:headEn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1447" name="Text Box 6">
              <a:extLst>
                <a:ext uri="{FF2B5EF4-FFF2-40B4-BE49-F238E27FC236}">
                  <a16:creationId xmlns:a16="http://schemas.microsoft.com/office/drawing/2014/main" id="{FD938347-2227-E646-9683-1F7EB548FA6E}"/>
                </a:ext>
              </a:extLst>
            </p:cNvPr>
            <p:cNvSpPr txBox="1">
              <a:spLocks noChangeArrowheads="1"/>
            </p:cNvSpPr>
            <p:nvPr/>
          </p:nvSpPr>
          <p:spPr bwMode="auto">
            <a:xfrm>
              <a:off x="262" y="2157"/>
              <a:ext cx="908"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61448" name="Text Box 7">
              <a:extLst>
                <a:ext uri="{FF2B5EF4-FFF2-40B4-BE49-F238E27FC236}">
                  <a16:creationId xmlns:a16="http://schemas.microsoft.com/office/drawing/2014/main" id="{5C5D888A-24A1-EC4E-8FE4-7417C5B2A90C}"/>
                </a:ext>
              </a:extLst>
            </p:cNvPr>
            <p:cNvSpPr txBox="1">
              <a:spLocks noChangeArrowheads="1"/>
            </p:cNvSpPr>
            <p:nvPr/>
          </p:nvSpPr>
          <p:spPr bwMode="auto">
            <a:xfrm>
              <a:off x="5116" y="2157"/>
              <a:ext cx="908"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61449" name="Text Box 8">
              <a:extLst>
                <a:ext uri="{FF2B5EF4-FFF2-40B4-BE49-F238E27FC236}">
                  <a16:creationId xmlns:a16="http://schemas.microsoft.com/office/drawing/2014/main" id="{26953C39-F99D-A240-8D69-366E9AD72FB4}"/>
                </a:ext>
              </a:extLst>
            </p:cNvPr>
            <p:cNvSpPr txBox="1">
              <a:spLocks noChangeArrowheads="1"/>
            </p:cNvSpPr>
            <p:nvPr/>
          </p:nvSpPr>
          <p:spPr bwMode="auto">
            <a:xfrm>
              <a:off x="988" y="1706"/>
              <a:ext cx="4355" cy="587"/>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鉴别请求，可辨别标识符，</a:t>
              </a:r>
              <a:r>
                <a:rPr lang="en-US" altLang="zh-CN"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惟一编号</a:t>
              </a:r>
              <a:r>
                <a:rPr lang="en-US" altLang="zh-CN"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p>
            <a:p>
              <a:pPr algn="ctr" eaLnBrk="1" hangingPunct="1">
                <a:spcBef>
                  <a:spcPct val="50000"/>
                </a:spcBef>
                <a:defRPr/>
              </a:pP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F</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AI</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effectLst>
                    <a:outerShdw blurRad="38100" dist="38100" dir="2700000" algn="tl">
                      <a:srgbClr val="C0C0C0"/>
                    </a:outerShdw>
                  </a:effectLst>
                  <a:latin typeface="Times New Roman" panose="02020603050405020304" pitchFamily="18" charset="0"/>
                  <a:ea typeface="宋体" panose="02010600030101010101" pitchFamily="2" charset="-122"/>
                </a:rPr>
                <a:t>惟一数</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可辨别标识符</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数字指纹</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p>
          </p:txBody>
        </p:sp>
      </p:grpSp>
      <p:sp>
        <p:nvSpPr>
          <p:cNvPr id="239625" name="AutoShape 9">
            <a:extLst>
              <a:ext uri="{FF2B5EF4-FFF2-40B4-BE49-F238E27FC236}">
                <a16:creationId xmlns:a16="http://schemas.microsoft.com/office/drawing/2014/main" id="{9C50342B-3275-9540-8C52-21AE02D5792D}"/>
              </a:ext>
            </a:extLst>
          </p:cNvPr>
          <p:cNvSpPr>
            <a:spLocks noChangeArrowheads="1"/>
          </p:cNvSpPr>
          <p:nvPr/>
        </p:nvSpPr>
        <p:spPr bwMode="auto">
          <a:xfrm>
            <a:off x="560388" y="4175125"/>
            <a:ext cx="8559800" cy="2011363"/>
          </a:xfrm>
          <a:prstGeom prst="wedgeRoundRectCallout">
            <a:avLst>
              <a:gd name="adj1" fmla="val -15109"/>
              <a:gd name="adj2" fmla="val -83956"/>
              <a:gd name="adj3" fmla="val 16667"/>
            </a:avLst>
          </a:prstGeom>
          <a:solidFill>
            <a:schemeClr val="accent5">
              <a:lumMod val="75000"/>
            </a:schemeClr>
          </a:solidFill>
          <a:ln w="9525" algn="ctr">
            <a:solidFill>
              <a:schemeClr val="tx1"/>
            </a:solidFill>
            <a:miter lim="800000"/>
            <a:headEnd/>
            <a:tailEnd/>
          </a:ln>
          <a:effec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defRPr/>
            </a:pPr>
            <a:r>
              <a:rPr lang="zh-CN" altLang="en-US" sz="2200" dirty="0">
                <a:solidFill>
                  <a:schemeClr val="bg2"/>
                </a:solidFill>
                <a:latin typeface="黑体" panose="02010609060101010101" pitchFamily="49" charset="-122"/>
                <a:ea typeface="黑体" panose="02010609060101010101" pitchFamily="49" charset="-122"/>
              </a:rPr>
              <a:t>惟一数来源：</a:t>
            </a:r>
          </a:p>
          <a:p>
            <a:pPr eaLnBrk="1" hangingPunct="1">
              <a:defRPr/>
            </a:pPr>
            <a:r>
              <a:rPr lang="zh-CN" altLang="en-US" sz="2000" dirty="0">
                <a:solidFill>
                  <a:schemeClr val="bg2"/>
                </a:solidFill>
                <a:latin typeface="黑体" panose="02010609060101010101" pitchFamily="49" charset="-122"/>
                <a:ea typeface="黑体" panose="02010609060101010101" pitchFamily="49" charset="-122"/>
              </a:rPr>
              <a:t>随机数或伪随机数。在申请</a:t>
            </a:r>
            <a:r>
              <a:rPr lang="en-US" altLang="zh-CN" sz="2000" dirty="0">
                <a:solidFill>
                  <a:schemeClr val="bg2"/>
                </a:solidFill>
                <a:latin typeface="黑体" panose="02010609060101010101" pitchFamily="49" charset="-122"/>
                <a:ea typeface="黑体" panose="02010609060101010101" pitchFamily="49" charset="-122"/>
              </a:rPr>
              <a:t>AI</a:t>
            </a:r>
            <a:r>
              <a:rPr lang="zh-CN" altLang="en-US" sz="2000" dirty="0">
                <a:solidFill>
                  <a:schemeClr val="bg2"/>
                </a:solidFill>
                <a:latin typeface="黑体" panose="02010609060101010101" pitchFamily="49" charset="-122"/>
                <a:ea typeface="黑体" panose="02010609060101010101" pitchFamily="49" charset="-122"/>
              </a:rPr>
              <a:t>的生命期内，不可有意重复。</a:t>
            </a:r>
          </a:p>
          <a:p>
            <a:pPr eaLnBrk="1" hangingPunct="1">
              <a:defRPr/>
            </a:pPr>
            <a:r>
              <a:rPr lang="zh-CN" altLang="en-US" sz="2000" dirty="0">
                <a:solidFill>
                  <a:schemeClr val="bg2"/>
                </a:solidFill>
                <a:latin typeface="黑体" panose="02010609060101010101" pitchFamily="49" charset="-122"/>
                <a:ea typeface="黑体" panose="02010609060101010101" pitchFamily="49" charset="-122"/>
              </a:rPr>
              <a:t>时间戳。从可信来源得到，在申请</a:t>
            </a:r>
            <a:r>
              <a:rPr lang="en-US" altLang="zh-CN" sz="2000" dirty="0">
                <a:solidFill>
                  <a:schemeClr val="bg2"/>
                </a:solidFill>
                <a:latin typeface="黑体" panose="02010609060101010101" pitchFamily="49" charset="-122"/>
                <a:ea typeface="黑体" panose="02010609060101010101" pitchFamily="49" charset="-122"/>
              </a:rPr>
              <a:t>AI</a:t>
            </a:r>
            <a:r>
              <a:rPr lang="zh-CN" altLang="en-US" sz="2000" dirty="0">
                <a:solidFill>
                  <a:schemeClr val="bg2"/>
                </a:solidFill>
                <a:latin typeface="黑体" panose="02010609060101010101" pitchFamily="49" charset="-122"/>
                <a:ea typeface="黑体" panose="02010609060101010101" pitchFamily="49" charset="-122"/>
              </a:rPr>
              <a:t>的生命期内，惟一性。</a:t>
            </a:r>
          </a:p>
          <a:p>
            <a:pPr eaLnBrk="1" hangingPunct="1">
              <a:defRPr/>
            </a:pPr>
            <a:r>
              <a:rPr lang="zh-CN" altLang="en-US" sz="2000" dirty="0">
                <a:solidFill>
                  <a:schemeClr val="bg2"/>
                </a:solidFill>
                <a:latin typeface="黑体" panose="02010609060101010101" pitchFamily="49" charset="-122"/>
                <a:ea typeface="黑体" panose="02010609060101010101" pitchFamily="49" charset="-122"/>
              </a:rPr>
              <a:t>计数器。惟一数是计数器的值。</a:t>
            </a:r>
          </a:p>
          <a:p>
            <a:pPr eaLnBrk="1" hangingPunct="1">
              <a:defRPr/>
            </a:pPr>
            <a:r>
              <a:rPr lang="zh-CN" altLang="en-US" sz="2000" dirty="0">
                <a:solidFill>
                  <a:schemeClr val="bg2"/>
                </a:solidFill>
                <a:latin typeface="黑体" panose="02010609060101010101" pitchFamily="49" charset="-122"/>
                <a:ea typeface="黑体" panose="02010609060101010101" pitchFamily="49" charset="-122"/>
              </a:rPr>
              <a:t>密码链。</a:t>
            </a:r>
            <a:r>
              <a:rPr lang="zh-CN" altLang="en-US" sz="1800" dirty="0">
                <a:solidFill>
                  <a:schemeClr val="bg2"/>
                </a:solidFill>
                <a:latin typeface="黑体" panose="02010609060101010101" pitchFamily="49" charset="-122"/>
                <a:ea typeface="黑体" panose="02010609060101010101" pitchFamily="49" charset="-122"/>
              </a:rPr>
              <a:t>由（密码）分组链在申请者与验证者之间先前交换的数据内容导出。</a:t>
            </a:r>
          </a:p>
        </p:txBody>
      </p:sp>
      <p:sp>
        <p:nvSpPr>
          <p:cNvPr id="25605" name="矩形 2">
            <a:extLst>
              <a:ext uri="{FF2B5EF4-FFF2-40B4-BE49-F238E27FC236}">
                <a16:creationId xmlns:a16="http://schemas.microsoft.com/office/drawing/2014/main" id="{FC8FD285-6BCA-BA48-AD6F-5940A33698BC}"/>
              </a:ext>
            </a:extLst>
          </p:cNvPr>
          <p:cNvSpPr>
            <a:spLocks noChangeArrowheads="1"/>
          </p:cNvSpPr>
          <p:nvPr/>
        </p:nvSpPr>
        <p:spPr bwMode="auto">
          <a:xfrm>
            <a:off x="384175" y="868363"/>
            <a:ext cx="8715375" cy="534987"/>
          </a:xfrm>
          <a:prstGeom prst="rect">
            <a:avLst/>
          </a:prstGeom>
          <a:noFill/>
          <a:ln>
            <a:noFill/>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3</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级鉴别（抗泄露和对同一验证者重放的保护）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39619">
                                            <p:txEl>
                                              <p:pRg st="0" end="0"/>
                                            </p:txEl>
                                          </p:spTgt>
                                        </p:tgtEl>
                                        <p:attrNameLst>
                                          <p:attrName>style.visibility</p:attrName>
                                        </p:attrNameLst>
                                      </p:cBhvr>
                                      <p:to>
                                        <p:strVal val="visible"/>
                                      </p:to>
                                    </p:set>
                                    <p:anim calcmode="lin" valueType="num">
                                      <p:cBhvr>
                                        <p:cTn id="7" dur="500" fill="hold"/>
                                        <p:tgtEl>
                                          <p:spTgt spid="23961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3961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39619">
                                            <p:txEl>
                                              <p:pRg st="0" end="0"/>
                                            </p:txEl>
                                          </p:spTgt>
                                        </p:tgtEl>
                                      </p:cBhvr>
                                    </p:animEffect>
                                  </p:childTnLst>
                                </p:cTn>
                              </p:par>
                            </p:childTnLst>
                          </p:cTn>
                        </p:par>
                        <p:par>
                          <p:cTn id="10" fill="hold" nodeType="afterGroup">
                            <p:stCondLst>
                              <p:cond delay="500"/>
                            </p:stCondLst>
                            <p:childTnLst>
                              <p:par>
                                <p:cTn id="11" presetID="2" presetClass="entr" presetSubtype="8" fill="hold" nodeType="afterEffect">
                                  <p:stCondLst>
                                    <p:cond delay="0"/>
                                  </p:stCondLst>
                                  <p:childTnLst>
                                    <p:set>
                                      <p:cBhvr>
                                        <p:cTn id="12" dur="1" fill="hold">
                                          <p:stCondLst>
                                            <p:cond delay="0"/>
                                          </p:stCondLst>
                                        </p:cTn>
                                        <p:tgtEl>
                                          <p:spTgt spid="239626"/>
                                        </p:tgtEl>
                                        <p:attrNameLst>
                                          <p:attrName>style.visibility</p:attrName>
                                        </p:attrNameLst>
                                      </p:cBhvr>
                                      <p:to>
                                        <p:strVal val="visible"/>
                                      </p:to>
                                    </p:set>
                                    <p:anim calcmode="lin" valueType="num">
                                      <p:cBhvr additive="base">
                                        <p:cTn id="13" dur="500" fill="hold"/>
                                        <p:tgtEl>
                                          <p:spTgt spid="239626"/>
                                        </p:tgtEl>
                                        <p:attrNameLst>
                                          <p:attrName>ppt_x</p:attrName>
                                        </p:attrNameLst>
                                      </p:cBhvr>
                                      <p:tavLst>
                                        <p:tav tm="0">
                                          <p:val>
                                            <p:strVal val="0-#ppt_w/2"/>
                                          </p:val>
                                        </p:tav>
                                        <p:tav tm="100000">
                                          <p:val>
                                            <p:strVal val="#ppt_x"/>
                                          </p:val>
                                        </p:tav>
                                      </p:tavLst>
                                    </p:anim>
                                    <p:anim calcmode="lin" valueType="num">
                                      <p:cBhvr additive="base">
                                        <p:cTn id="14" dur="500" fill="hold"/>
                                        <p:tgtEl>
                                          <p:spTgt spid="239626"/>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239625"/>
                                        </p:tgtEl>
                                        <p:attrNameLst>
                                          <p:attrName>style.visibility</p:attrName>
                                        </p:attrNameLst>
                                      </p:cBhvr>
                                      <p:to>
                                        <p:strVal val="visible"/>
                                      </p:to>
                                    </p:set>
                                    <p:anim calcmode="lin" valueType="num">
                                      <p:cBhvr additive="base">
                                        <p:cTn id="18" dur="1500" fill="hold"/>
                                        <p:tgtEl>
                                          <p:spTgt spid="239625"/>
                                        </p:tgtEl>
                                        <p:attrNameLst>
                                          <p:attrName>ppt_x</p:attrName>
                                        </p:attrNameLst>
                                      </p:cBhvr>
                                      <p:tavLst>
                                        <p:tav tm="0">
                                          <p:val>
                                            <p:strVal val="#ppt_x"/>
                                          </p:val>
                                        </p:tav>
                                        <p:tav tm="100000">
                                          <p:val>
                                            <p:strVal val="#ppt_x"/>
                                          </p:val>
                                        </p:tav>
                                      </p:tavLst>
                                    </p:anim>
                                    <p:anim calcmode="lin" valueType="num">
                                      <p:cBhvr additive="base">
                                        <p:cTn id="19" dur="1500" fill="hold"/>
                                        <p:tgtEl>
                                          <p:spTgt spid="2396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build="p"/>
      <p:bldP spid="23962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a:extLst>
              <a:ext uri="{FF2B5EF4-FFF2-40B4-BE49-F238E27FC236}">
                <a16:creationId xmlns:a16="http://schemas.microsoft.com/office/drawing/2014/main" id="{95F68A64-F3C3-CA43-A2BA-FF57F24D9EAF}"/>
              </a:ext>
            </a:extLst>
          </p:cNvPr>
          <p:cNvSpPr>
            <a:spLocks noGrp="1" noChangeArrowheads="1"/>
          </p:cNvSpPr>
          <p:nvPr>
            <p:ph type="body" idx="1"/>
          </p:nvPr>
        </p:nvSpPr>
        <p:spPr bwMode="auto">
          <a:xfrm>
            <a:off x="990600" y="2286000"/>
            <a:ext cx="6400800" cy="2068513"/>
          </a:xfrm>
        </p:spPr>
        <p:txBody>
          <a:bodyPr vert="horz" wrap="square" lIns="84406" tIns="42203" rIns="84406" bIns="42203" numCol="1" anchor="t" anchorCtr="0" compatLnSpc="1">
            <a:prstTxWarp prst="textNoShape">
              <a:avLst/>
            </a:prstTxWarp>
          </a:bodyPr>
          <a:lstStyle/>
          <a:p>
            <a:pPr lvl="1" eaLnBrk="1" hangingPunct="1">
              <a:buClrTx/>
              <a:buFont typeface="Wingdings" pitchFamily="2" charset="2"/>
              <a:buChar char="n"/>
              <a:defRPr/>
            </a:pPr>
            <a:r>
              <a:rPr lang="en-US" altLang="zh-CN" sz="24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4A</a:t>
            </a:r>
            <a:r>
              <a:rPr lang="zh-CN" altLang="en-US" sz="24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）惟一数机制</a:t>
            </a:r>
          </a:p>
          <a:p>
            <a:pPr lvl="1" eaLnBrk="1" hangingPunct="1">
              <a:buClrTx/>
              <a:buFont typeface="Wingdings" pitchFamily="2" charset="2"/>
              <a:buChar char="n"/>
              <a:defRPr/>
            </a:pPr>
            <a:r>
              <a:rPr lang="en-US" altLang="zh-CN" sz="24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4B</a:t>
            </a:r>
            <a:r>
              <a:rPr lang="zh-CN" altLang="en-US" sz="24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）质询机制</a:t>
            </a:r>
          </a:p>
          <a:p>
            <a:pPr lvl="1" eaLnBrk="1" hangingPunct="1">
              <a:buClrTx/>
              <a:buFont typeface="Wingdings" pitchFamily="2" charset="2"/>
              <a:buChar char="n"/>
              <a:defRPr/>
            </a:pPr>
            <a:r>
              <a:rPr lang="en-US" altLang="zh-CN" sz="24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4C</a:t>
            </a:r>
            <a:r>
              <a:rPr lang="zh-CN" altLang="en-US" sz="24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）专用加密质询机制</a:t>
            </a:r>
          </a:p>
          <a:p>
            <a:pPr lvl="1" eaLnBrk="1" hangingPunct="1">
              <a:buClrTx/>
              <a:buFont typeface="Wingdings" pitchFamily="2" charset="2"/>
              <a:buChar char="n"/>
              <a:defRPr/>
            </a:pPr>
            <a:r>
              <a:rPr lang="en-US" altLang="zh-CN" sz="24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4D</a:t>
            </a:r>
            <a:r>
              <a:rPr lang="zh-CN" altLang="en-US" sz="24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）计算响应机制</a:t>
            </a:r>
          </a:p>
        </p:txBody>
      </p:sp>
      <p:sp>
        <p:nvSpPr>
          <p:cNvPr id="26627" name="矩形 2">
            <a:extLst>
              <a:ext uri="{FF2B5EF4-FFF2-40B4-BE49-F238E27FC236}">
                <a16:creationId xmlns:a16="http://schemas.microsoft.com/office/drawing/2014/main" id="{A81AEF04-5A51-604F-9E91-77AD3175A566}"/>
              </a:ext>
            </a:extLst>
          </p:cNvPr>
          <p:cNvSpPr>
            <a:spLocks noChangeArrowheads="1"/>
          </p:cNvSpPr>
          <p:nvPr/>
        </p:nvSpPr>
        <p:spPr bwMode="auto">
          <a:xfrm>
            <a:off x="304800" y="838200"/>
            <a:ext cx="8534400" cy="479425"/>
          </a:xfrm>
          <a:prstGeom prst="rect">
            <a:avLst/>
          </a:prstGeom>
          <a:noFill/>
          <a:ln>
            <a:noFill/>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en-US" altLang="zh-CN" sz="2800">
                <a:effectLst>
                  <a:outerShdw blurRad="38100" dist="38100" dir="2700000" algn="tl">
                    <a:srgbClr val="C0C0C0"/>
                  </a:outerShdw>
                </a:effectLst>
                <a:latin typeface="黑体" panose="02010609060101010101" pitchFamily="49" charset="-122"/>
                <a:ea typeface="黑体" panose="02010609060101010101" pitchFamily="49" charset="-122"/>
              </a:rPr>
              <a:t>4</a:t>
            </a: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级鉴别（抗泄露和对相同</a:t>
            </a:r>
            <a:r>
              <a:rPr lang="en-US" altLang="zh-CN" sz="2800">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不同验证者重放的保护）</a:t>
            </a:r>
          </a:p>
        </p:txBody>
      </p:sp>
      <p:sp>
        <p:nvSpPr>
          <p:cNvPr id="4" name="Rectangle 3">
            <a:extLst>
              <a:ext uri="{FF2B5EF4-FFF2-40B4-BE49-F238E27FC236}">
                <a16:creationId xmlns:a16="http://schemas.microsoft.com/office/drawing/2014/main" id="{719B7B52-BB0D-CD42-ACB0-2531B841D050}"/>
              </a:ext>
            </a:extLst>
          </p:cNvPr>
          <p:cNvSpPr txBox="1">
            <a:spLocks noChangeArrowheads="1"/>
          </p:cNvSpPr>
          <p:nvPr/>
        </p:nvSpPr>
        <p:spPr bwMode="auto">
          <a:xfrm>
            <a:off x="339725" y="1600200"/>
            <a:ext cx="8229600" cy="622300"/>
          </a:xfrm>
          <a:prstGeom prst="rect">
            <a:avLst/>
          </a:prstGeom>
        </p:spPr>
        <p:txBody>
          <a:bodyPr lIns="84406" tIns="42203" rIns="84406" bIns="42203"/>
          <a:lstStyle>
            <a:lvl1pPr marL="571500" indent="-571500">
              <a:defRPr kumimoji="1" sz="4800" b="1">
                <a:solidFill>
                  <a:srgbClr val="FF0000"/>
                </a:solidFill>
                <a:latin typeface="隶书" pitchFamily="49" charset="-122"/>
                <a:ea typeface="隶书" pitchFamily="49" charset="-122"/>
              </a:defRPr>
            </a:lvl1pPr>
            <a:lvl2pPr marL="571500">
              <a:defRPr kumimoji="1" sz="4800" b="1">
                <a:solidFill>
                  <a:srgbClr val="FF0000"/>
                </a:solidFill>
                <a:latin typeface="隶书" pitchFamily="49" charset="-122"/>
                <a:ea typeface="隶书" pitchFamily="49" charset="-122"/>
              </a:defRPr>
            </a:lvl2pPr>
            <a:lvl3pPr marL="1428750" indent="-398463">
              <a:defRPr kumimoji="1" sz="4800" b="1">
                <a:solidFill>
                  <a:srgbClr val="FF0000"/>
                </a:solidFill>
                <a:latin typeface="隶书" pitchFamily="49" charset="-122"/>
                <a:ea typeface="隶书" pitchFamily="49" charset="-122"/>
              </a:defRPr>
            </a:lvl3pPr>
            <a:lvl4pPr marL="1828800" indent="-398463">
              <a:defRPr kumimoji="1" sz="4800" b="1">
                <a:solidFill>
                  <a:srgbClr val="FF0000"/>
                </a:solidFill>
                <a:latin typeface="隶书" pitchFamily="49" charset="-122"/>
                <a:ea typeface="隶书" pitchFamily="49" charset="-122"/>
              </a:defRPr>
            </a:lvl4pPr>
            <a:lvl5pPr marL="2227263" indent="-396875">
              <a:defRPr kumimoji="1" sz="4800" b="1">
                <a:solidFill>
                  <a:srgbClr val="FF0000"/>
                </a:solidFill>
                <a:latin typeface="隶书" pitchFamily="49" charset="-122"/>
                <a:ea typeface="隶书" pitchFamily="49" charset="-122"/>
              </a:defRPr>
            </a:lvl5pPr>
            <a:lvl6pPr marL="2684463" indent="-396875"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3141663" indent="-396875"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598863" indent="-396875"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4056063" indent="-396875"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90000"/>
              </a:lnSpc>
              <a:spcBef>
                <a:spcPct val="30000"/>
              </a:spcBef>
              <a:buClr>
                <a:schemeClr val="bg2"/>
              </a:buClr>
              <a:buSzPct val="75000"/>
              <a:buFont typeface="Wingdings" pitchFamily="2" charset="2"/>
              <a:buNone/>
              <a:defRPr/>
            </a:pPr>
            <a:r>
              <a:rPr kumimoji="0" lang="en-US" altLang="zh-CN"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4</a:t>
            </a:r>
            <a:r>
              <a:rPr kumimoji="0"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级鉴别有以下四种实现方案</a:t>
            </a:r>
          </a:p>
        </p:txBody>
      </p:sp>
      <p:pic>
        <p:nvPicPr>
          <p:cNvPr id="2" name="图片 1">
            <a:extLst>
              <a:ext uri="{FF2B5EF4-FFF2-40B4-BE49-F238E27FC236}">
                <a16:creationId xmlns:a16="http://schemas.microsoft.com/office/drawing/2014/main" id="{D735CEEE-3211-B141-A32B-9D40860C52D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3657600"/>
            <a:ext cx="365760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2467">
                                            <p:txEl>
                                              <p:pRg st="0" end="0"/>
                                            </p:txEl>
                                          </p:spTgt>
                                        </p:tgtEl>
                                        <p:attrNameLst>
                                          <p:attrName>style.visibility</p:attrName>
                                        </p:attrNameLst>
                                      </p:cBhvr>
                                      <p:to>
                                        <p:strVal val="visible"/>
                                      </p:to>
                                    </p:set>
                                    <p:animEffect transition="in" filter="wipe(up)">
                                      <p:cBhvr>
                                        <p:cTn id="11" dur="1000"/>
                                        <p:tgtEl>
                                          <p:spTgt spid="62467">
                                            <p:txEl>
                                              <p:pRg st="0" end="0"/>
                                            </p:txEl>
                                          </p:spTgt>
                                        </p:tgtEl>
                                      </p:cBhvr>
                                    </p:animEffect>
                                  </p:childTnLst>
                                </p:cTn>
                              </p:par>
                            </p:childTnLst>
                          </p:cTn>
                        </p:par>
                        <p:par>
                          <p:cTn id="12" fill="hold" nodeType="afterGroup">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62467">
                                            <p:txEl>
                                              <p:pRg st="1" end="1"/>
                                            </p:txEl>
                                          </p:spTgt>
                                        </p:tgtEl>
                                        <p:attrNameLst>
                                          <p:attrName>style.visibility</p:attrName>
                                        </p:attrNameLst>
                                      </p:cBhvr>
                                      <p:to>
                                        <p:strVal val="visible"/>
                                      </p:to>
                                    </p:set>
                                    <p:animEffect transition="in" filter="wipe(up)">
                                      <p:cBhvr>
                                        <p:cTn id="15" dur="1000"/>
                                        <p:tgtEl>
                                          <p:spTgt spid="62467">
                                            <p:txEl>
                                              <p:pRg st="1" end="1"/>
                                            </p:txEl>
                                          </p:spTgt>
                                        </p:tgtEl>
                                      </p:cBhvr>
                                    </p:animEffect>
                                  </p:childTnLst>
                                </p:cTn>
                              </p:par>
                            </p:childTnLst>
                          </p:cTn>
                        </p:par>
                        <p:par>
                          <p:cTn id="16" fill="hold" nodeType="afterGroup">
                            <p:stCondLst>
                              <p:cond delay="2500"/>
                            </p:stCondLst>
                            <p:childTnLst>
                              <p:par>
                                <p:cTn id="17" presetID="22" presetClass="entr" presetSubtype="1" fill="hold" grpId="0" nodeType="afterEffect">
                                  <p:stCondLst>
                                    <p:cond delay="0"/>
                                  </p:stCondLst>
                                  <p:childTnLst>
                                    <p:set>
                                      <p:cBhvr>
                                        <p:cTn id="18" dur="1" fill="hold">
                                          <p:stCondLst>
                                            <p:cond delay="0"/>
                                          </p:stCondLst>
                                        </p:cTn>
                                        <p:tgtEl>
                                          <p:spTgt spid="62467">
                                            <p:txEl>
                                              <p:pRg st="2" end="2"/>
                                            </p:txEl>
                                          </p:spTgt>
                                        </p:tgtEl>
                                        <p:attrNameLst>
                                          <p:attrName>style.visibility</p:attrName>
                                        </p:attrNameLst>
                                      </p:cBhvr>
                                      <p:to>
                                        <p:strVal val="visible"/>
                                      </p:to>
                                    </p:set>
                                    <p:animEffect transition="in" filter="wipe(up)">
                                      <p:cBhvr>
                                        <p:cTn id="19" dur="1000"/>
                                        <p:tgtEl>
                                          <p:spTgt spid="62467">
                                            <p:txEl>
                                              <p:pRg st="2" end="2"/>
                                            </p:txEl>
                                          </p:spTgt>
                                        </p:tgtEl>
                                      </p:cBhvr>
                                    </p:animEffect>
                                  </p:childTnLst>
                                </p:cTn>
                              </p:par>
                            </p:childTnLst>
                          </p:cTn>
                        </p:par>
                        <p:par>
                          <p:cTn id="20" fill="hold" nodeType="afterGroup">
                            <p:stCondLst>
                              <p:cond delay="3500"/>
                            </p:stCondLst>
                            <p:childTnLst>
                              <p:par>
                                <p:cTn id="21" presetID="22" presetClass="entr" presetSubtype="1" fill="hold" grpId="0" nodeType="afterEffect">
                                  <p:stCondLst>
                                    <p:cond delay="0"/>
                                  </p:stCondLst>
                                  <p:childTnLst>
                                    <p:set>
                                      <p:cBhvr>
                                        <p:cTn id="22" dur="1" fill="hold">
                                          <p:stCondLst>
                                            <p:cond delay="0"/>
                                          </p:stCondLst>
                                        </p:cTn>
                                        <p:tgtEl>
                                          <p:spTgt spid="62467">
                                            <p:txEl>
                                              <p:pRg st="3" end="3"/>
                                            </p:txEl>
                                          </p:spTgt>
                                        </p:tgtEl>
                                        <p:attrNameLst>
                                          <p:attrName>style.visibility</p:attrName>
                                        </p:attrNameLst>
                                      </p:cBhvr>
                                      <p:to>
                                        <p:strVal val="visible"/>
                                      </p:to>
                                    </p:set>
                                    <p:animEffect transition="in" filter="wipe(up)">
                                      <p:cBhvr>
                                        <p:cTn id="23" dur="1000"/>
                                        <p:tgtEl>
                                          <p:spTgt spid="62467">
                                            <p:txEl>
                                              <p:pRg st="3" end="3"/>
                                            </p:txEl>
                                          </p:spTgt>
                                        </p:tgtEl>
                                      </p:cBhvr>
                                    </p:animEffect>
                                  </p:childTnLst>
                                </p:cTn>
                              </p:par>
                            </p:childTnLst>
                          </p:cTn>
                        </p:par>
                        <p:par>
                          <p:cTn id="24" fill="hold" nodeType="afterGroup">
                            <p:stCondLst>
                              <p:cond delay="4500"/>
                            </p:stCondLst>
                            <p:childTnLst>
                              <p:par>
                                <p:cTn id="25" presetID="53" presetClass="entr" presetSubtype="16"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1000" fill="hold"/>
                                        <p:tgtEl>
                                          <p:spTgt spid="2"/>
                                        </p:tgtEl>
                                        <p:attrNameLst>
                                          <p:attrName>ppt_w</p:attrName>
                                        </p:attrNameLst>
                                      </p:cBhvr>
                                      <p:tavLst>
                                        <p:tav tm="0">
                                          <p:val>
                                            <p:fltVal val="0"/>
                                          </p:val>
                                        </p:tav>
                                        <p:tav tm="100000">
                                          <p:val>
                                            <p:strVal val="#ppt_w"/>
                                          </p:val>
                                        </p:tav>
                                      </p:tavLst>
                                    </p:anim>
                                    <p:anim calcmode="lin" valueType="num">
                                      <p:cBhvr>
                                        <p:cTn id="28" dur="1000" fill="hold"/>
                                        <p:tgtEl>
                                          <p:spTgt spid="2"/>
                                        </p:tgtEl>
                                        <p:attrNameLst>
                                          <p:attrName>ppt_h</p:attrName>
                                        </p:attrNameLst>
                                      </p:cBhvr>
                                      <p:tavLst>
                                        <p:tav tm="0">
                                          <p:val>
                                            <p:fltVal val="0"/>
                                          </p:val>
                                        </p:tav>
                                        <p:tav tm="100000">
                                          <p:val>
                                            <p:strVal val="#ppt_h"/>
                                          </p:val>
                                        </p:tav>
                                      </p:tavLst>
                                    </p:anim>
                                    <p:animEffect transition="in" filter="fade">
                                      <p:cBhvr>
                                        <p:cTn id="2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5FF74C1-F61B-954E-B5DA-55316EAE9CC6}"/>
              </a:ext>
            </a:extLst>
          </p:cNvPr>
          <p:cNvSpPr>
            <a:spLocks noGrp="1" noChangeArrowheads="1"/>
          </p:cNvSpPr>
          <p:nvPr>
            <p:ph type="title"/>
          </p:nvPr>
        </p:nvSpPr>
        <p:spPr bwMode="auto">
          <a:xfrm>
            <a:off x="465138" y="822325"/>
            <a:ext cx="8229600" cy="625475"/>
          </a:xfrm>
        </p:spPr>
        <p:txBody>
          <a:bodyPr vert="horz" wrap="square" lIns="84406" tIns="42203" rIns="84406" bIns="42203" numCol="1" anchor="t" anchorCtr="0" compatLnSpc="1">
            <a:prstTxWarp prst="textNoShape">
              <a:avLst/>
            </a:prstTxWarp>
          </a:bodyPr>
          <a:lstStyle/>
          <a:p>
            <a:pPr eaLnBrk="1" hangingPunct="1">
              <a:defRPr/>
            </a:pPr>
            <a:r>
              <a:rPr lang="en-US" altLang="zh-CN" sz="32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4A)</a:t>
            </a:r>
            <a:r>
              <a:rPr lang="zh-CN" altLang="en-US" sz="3200" dirty="0">
                <a:solidFill>
                  <a:srgbClr val="FF0000"/>
                </a:solidFill>
                <a:latin typeface="黑体" panose="02010609060101010101" pitchFamily="49" charset="-122"/>
                <a:ea typeface="黑体" panose="02010609060101010101" pitchFamily="49" charset="-122"/>
              </a:rPr>
              <a:t>惟一数机制</a:t>
            </a:r>
          </a:p>
        </p:txBody>
      </p:sp>
      <p:sp>
        <p:nvSpPr>
          <p:cNvPr id="63491" name="Rectangle 3">
            <a:extLst>
              <a:ext uri="{FF2B5EF4-FFF2-40B4-BE49-F238E27FC236}">
                <a16:creationId xmlns:a16="http://schemas.microsoft.com/office/drawing/2014/main" id="{739E09F2-81B1-414A-B931-7AA7A47EF4D2}"/>
              </a:ext>
            </a:extLst>
          </p:cNvPr>
          <p:cNvSpPr>
            <a:spLocks noGrp="1" noChangeArrowheads="1"/>
          </p:cNvSpPr>
          <p:nvPr>
            <p:ph type="body" idx="1"/>
          </p:nvPr>
        </p:nvSpPr>
        <p:spPr bwMode="auto">
          <a:xfrm>
            <a:off x="465138" y="3657600"/>
            <a:ext cx="8229600" cy="1382713"/>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u"/>
              <a:defRPr/>
            </a:pPr>
            <a:r>
              <a:rPr lang="zh-CN" altLang="en-US" sz="2400">
                <a:solidFill>
                  <a:schemeClr val="bg2"/>
                </a:solidFill>
                <a:latin typeface="黑体" panose="02010609060101010101" pitchFamily="49" charset="-122"/>
                <a:ea typeface="黑体" panose="02010609060101010101" pitchFamily="49" charset="-122"/>
              </a:rPr>
              <a:t>在数据项中包含一个对预期验证者是惟一的特征，惟一特征作为变换函数的输入。</a:t>
            </a:r>
            <a:endParaRPr lang="en-US" altLang="zh-CN" sz="2400">
              <a:solidFill>
                <a:schemeClr val="bg2"/>
              </a:solidFill>
              <a:latin typeface="黑体" panose="02010609060101010101" pitchFamily="49" charset="-122"/>
              <a:ea typeface="黑体" panose="02010609060101010101" pitchFamily="49" charset="-122"/>
            </a:endParaRPr>
          </a:p>
          <a:p>
            <a:pPr eaLnBrk="1" hangingPunct="1">
              <a:buClr>
                <a:srgbClr val="FF0000"/>
              </a:buClr>
              <a:buFont typeface="Wingdings" pitchFamily="2" charset="2"/>
              <a:buChar char="u"/>
              <a:defRPr/>
            </a:pPr>
            <a:r>
              <a:rPr lang="zh-CN" altLang="en-US" sz="2400">
                <a:solidFill>
                  <a:schemeClr val="bg2"/>
                </a:solidFill>
                <a:latin typeface="黑体" panose="02010609060101010101" pitchFamily="49" charset="-122"/>
                <a:ea typeface="黑体" panose="02010609060101010101" pitchFamily="49" charset="-122"/>
              </a:rPr>
              <a:t>其他与</a:t>
            </a:r>
            <a:r>
              <a:rPr lang="en-US" altLang="zh-CN" sz="2400">
                <a:solidFill>
                  <a:schemeClr val="bg2"/>
                </a:solidFill>
                <a:latin typeface="黑体" panose="02010609060101010101" pitchFamily="49" charset="-122"/>
                <a:ea typeface="黑体" panose="02010609060101010101" pitchFamily="49" charset="-122"/>
              </a:rPr>
              <a:t>3</a:t>
            </a:r>
            <a:r>
              <a:rPr lang="zh-CN" altLang="en-US" sz="2400">
                <a:solidFill>
                  <a:schemeClr val="bg2"/>
                </a:solidFill>
                <a:latin typeface="黑体" panose="02010609060101010101" pitchFamily="49" charset="-122"/>
                <a:ea typeface="黑体" panose="02010609060101010101" pitchFamily="49" charset="-122"/>
              </a:rPr>
              <a:t>级相同。</a:t>
            </a:r>
          </a:p>
        </p:txBody>
      </p:sp>
      <p:grpSp>
        <p:nvGrpSpPr>
          <p:cNvPr id="2" name="组合 1">
            <a:extLst>
              <a:ext uri="{FF2B5EF4-FFF2-40B4-BE49-F238E27FC236}">
                <a16:creationId xmlns:a16="http://schemas.microsoft.com/office/drawing/2014/main" id="{34E68C77-BBFB-FD47-AC58-E6BDAF2A747D}"/>
              </a:ext>
            </a:extLst>
          </p:cNvPr>
          <p:cNvGrpSpPr>
            <a:grpSpLocks/>
          </p:cNvGrpSpPr>
          <p:nvPr/>
        </p:nvGrpSpPr>
        <p:grpSpPr bwMode="auto">
          <a:xfrm>
            <a:off x="269875" y="1752600"/>
            <a:ext cx="8610600" cy="1093788"/>
            <a:chOff x="304800" y="3495675"/>
            <a:chExt cx="8610600" cy="1093788"/>
          </a:xfrm>
        </p:grpSpPr>
        <p:sp>
          <p:nvSpPr>
            <p:cNvPr id="63492" name="Line 5">
              <a:extLst>
                <a:ext uri="{FF2B5EF4-FFF2-40B4-BE49-F238E27FC236}">
                  <a16:creationId xmlns:a16="http://schemas.microsoft.com/office/drawing/2014/main" id="{F246DF1C-5404-9241-964B-76D758BC251E}"/>
                </a:ext>
              </a:extLst>
            </p:cNvPr>
            <p:cNvSpPr>
              <a:spLocks noChangeShapeType="1"/>
            </p:cNvSpPr>
            <p:nvPr/>
          </p:nvSpPr>
          <p:spPr bwMode="auto">
            <a:xfrm flipV="1">
              <a:off x="1447800" y="4419600"/>
              <a:ext cx="6324600" cy="0"/>
            </a:xfrm>
            <a:prstGeom prst="line">
              <a:avLst/>
            </a:prstGeom>
            <a:noFill/>
            <a:ln w="57150">
              <a:solidFill>
                <a:srgbClr val="FF0000"/>
              </a:solidFill>
              <a:round/>
              <a:headEn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3493" name="Text Box 6">
              <a:extLst>
                <a:ext uri="{FF2B5EF4-FFF2-40B4-BE49-F238E27FC236}">
                  <a16:creationId xmlns:a16="http://schemas.microsoft.com/office/drawing/2014/main" id="{A0CE72CF-F1A8-2D49-83F3-D51EAA2A70E5}"/>
                </a:ext>
              </a:extLst>
            </p:cNvPr>
            <p:cNvSpPr txBox="1">
              <a:spLocks noChangeArrowheads="1"/>
            </p:cNvSpPr>
            <p:nvPr/>
          </p:nvSpPr>
          <p:spPr bwMode="auto">
            <a:xfrm>
              <a:off x="304800" y="4156075"/>
              <a:ext cx="1330325" cy="433388"/>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63494" name="Text Box 7">
              <a:extLst>
                <a:ext uri="{FF2B5EF4-FFF2-40B4-BE49-F238E27FC236}">
                  <a16:creationId xmlns:a16="http://schemas.microsoft.com/office/drawing/2014/main" id="{2D2C3807-3B68-B145-9B42-59067155925F}"/>
                </a:ext>
              </a:extLst>
            </p:cNvPr>
            <p:cNvSpPr txBox="1">
              <a:spLocks noChangeArrowheads="1"/>
            </p:cNvSpPr>
            <p:nvPr/>
          </p:nvSpPr>
          <p:spPr bwMode="auto">
            <a:xfrm>
              <a:off x="7585075" y="4156075"/>
              <a:ext cx="1330325" cy="433388"/>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27655" name="Text Box 8">
              <a:extLst>
                <a:ext uri="{FF2B5EF4-FFF2-40B4-BE49-F238E27FC236}">
                  <a16:creationId xmlns:a16="http://schemas.microsoft.com/office/drawing/2014/main" id="{ECD223FE-2DBF-AA4A-99C5-E3BC35EDF50F}"/>
                </a:ext>
              </a:extLst>
            </p:cNvPr>
            <p:cNvSpPr txBox="1">
              <a:spLocks noChangeArrowheads="1"/>
            </p:cNvSpPr>
            <p:nvPr/>
          </p:nvSpPr>
          <p:spPr bwMode="auto">
            <a:xfrm>
              <a:off x="1314450" y="3495675"/>
              <a:ext cx="6581775" cy="784225"/>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鉴别请求，可辨别标识符，</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惟一编号</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p>
            <a:p>
              <a:pPr algn="ctr" eaLnBrk="1" hangingPunct="1">
                <a:spcBef>
                  <a:spcPct val="50000"/>
                </a:spcBef>
                <a:defRPr/>
              </a:pP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F</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AI</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effectLst>
                    <a:outerShdw blurRad="38100" dist="38100" dir="2700000" algn="tl">
                      <a:srgbClr val="C0C0C0"/>
                    </a:outerShdw>
                  </a:effectLst>
                  <a:latin typeface="Times New Roman" panose="02020603050405020304" pitchFamily="18" charset="0"/>
                  <a:ea typeface="宋体" panose="02010600030101010101" pitchFamily="2" charset="-122"/>
                </a:rPr>
                <a:t>惟一数</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effectLst>
                    <a:outerShdw blurRad="38100" dist="38100" dir="2700000" algn="tl">
                      <a:srgbClr val="C0C0C0"/>
                    </a:outerShdw>
                  </a:effectLst>
                  <a:latin typeface="Times New Roman" panose="02020603050405020304" pitchFamily="18" charset="0"/>
                  <a:ea typeface="宋体" panose="02010600030101010101" pitchFamily="2" charset="-122"/>
                </a:rPr>
                <a:t>验证者</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可辨别标识符</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数字指纹</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63491">
                                            <p:txEl>
                                              <p:pRg st="0" end="0"/>
                                            </p:txEl>
                                          </p:spTgt>
                                        </p:tgtEl>
                                        <p:attrNameLst>
                                          <p:attrName>style.visibility</p:attrName>
                                        </p:attrNameLst>
                                      </p:cBhvr>
                                      <p:to>
                                        <p:strVal val="visible"/>
                                      </p:to>
                                    </p:set>
                                    <p:anim calcmode="lin" valueType="num">
                                      <p:cBhvr>
                                        <p:cTn id="12" dur="1000" fill="hold"/>
                                        <p:tgtEl>
                                          <p:spTgt spid="63491">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63491">
                                            <p:txEl>
                                              <p:pRg st="0" end="0"/>
                                            </p:txEl>
                                          </p:spTgt>
                                        </p:tgtEl>
                                        <p:attrNameLst>
                                          <p:attrName>ppt_h</p:attrName>
                                        </p:attrNameLst>
                                      </p:cBhvr>
                                      <p:tavLst>
                                        <p:tav tm="0">
                                          <p:val>
                                            <p:fltVal val="0"/>
                                          </p:val>
                                        </p:tav>
                                        <p:tav tm="100000">
                                          <p:val>
                                            <p:strVal val="#ppt_h"/>
                                          </p:val>
                                        </p:tav>
                                      </p:tavLst>
                                    </p:anim>
                                    <p:animEffect transition="in" filter="fade">
                                      <p:cBhvr>
                                        <p:cTn id="14" dur="1000"/>
                                        <p:tgtEl>
                                          <p:spTgt spid="63491">
                                            <p:txEl>
                                              <p:pRg st="0" end="0"/>
                                            </p:txEl>
                                          </p:spTgt>
                                        </p:tgtEl>
                                      </p:cBhvr>
                                    </p:animEffect>
                                  </p:childTnLst>
                                </p:cTn>
                              </p:par>
                            </p:childTnLst>
                          </p:cTn>
                        </p:par>
                        <p:par>
                          <p:cTn id="15" fill="hold" nodeType="afterGroup">
                            <p:stCondLst>
                              <p:cond delay="1500"/>
                            </p:stCondLst>
                            <p:childTnLst>
                              <p:par>
                                <p:cTn id="16" presetID="53" presetClass="entr" presetSubtype="16" fill="hold" grpId="0" nodeType="afterEffect">
                                  <p:stCondLst>
                                    <p:cond delay="0"/>
                                  </p:stCondLst>
                                  <p:childTnLst>
                                    <p:set>
                                      <p:cBhvr>
                                        <p:cTn id="17" dur="1" fill="hold">
                                          <p:stCondLst>
                                            <p:cond delay="0"/>
                                          </p:stCondLst>
                                        </p:cTn>
                                        <p:tgtEl>
                                          <p:spTgt spid="63491">
                                            <p:txEl>
                                              <p:pRg st="1" end="1"/>
                                            </p:txEl>
                                          </p:spTgt>
                                        </p:tgtEl>
                                        <p:attrNameLst>
                                          <p:attrName>style.visibility</p:attrName>
                                        </p:attrNameLst>
                                      </p:cBhvr>
                                      <p:to>
                                        <p:strVal val="visible"/>
                                      </p:to>
                                    </p:set>
                                    <p:anim calcmode="lin" valueType="num">
                                      <p:cBhvr>
                                        <p:cTn id="18" dur="1000" fill="hold"/>
                                        <p:tgtEl>
                                          <p:spTgt spid="63491">
                                            <p:txEl>
                                              <p:pRg st="1" end="1"/>
                                            </p:txEl>
                                          </p:spTgt>
                                        </p:tgtEl>
                                        <p:attrNameLst>
                                          <p:attrName>ppt_w</p:attrName>
                                        </p:attrNameLst>
                                      </p:cBhvr>
                                      <p:tavLst>
                                        <p:tav tm="0">
                                          <p:val>
                                            <p:fltVal val="0"/>
                                          </p:val>
                                        </p:tav>
                                        <p:tav tm="100000">
                                          <p:val>
                                            <p:strVal val="#ppt_w"/>
                                          </p:val>
                                        </p:tav>
                                      </p:tavLst>
                                    </p:anim>
                                    <p:anim calcmode="lin" valueType="num">
                                      <p:cBhvr>
                                        <p:cTn id="19" dur="1000" fill="hold"/>
                                        <p:tgtEl>
                                          <p:spTgt spid="63491">
                                            <p:txEl>
                                              <p:pRg st="1" end="1"/>
                                            </p:txEl>
                                          </p:spTgt>
                                        </p:tgtEl>
                                        <p:attrNameLst>
                                          <p:attrName>ppt_h</p:attrName>
                                        </p:attrNameLst>
                                      </p:cBhvr>
                                      <p:tavLst>
                                        <p:tav tm="0">
                                          <p:val>
                                            <p:fltVal val="0"/>
                                          </p:val>
                                        </p:tav>
                                        <p:tav tm="100000">
                                          <p:val>
                                            <p:strVal val="#ppt_h"/>
                                          </p:val>
                                        </p:tav>
                                      </p:tavLst>
                                    </p:anim>
                                    <p:animEffect transition="in" filter="fade">
                                      <p:cBhvr>
                                        <p:cTn id="20" dur="1000"/>
                                        <p:tgtEl>
                                          <p:spTgt spid="634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C263C83A-8DEC-D941-847A-52A7BFAD40E8}"/>
              </a:ext>
            </a:extLst>
          </p:cNvPr>
          <p:cNvSpPr>
            <a:spLocks noGrp="1" noChangeArrowheads="1"/>
          </p:cNvSpPr>
          <p:nvPr>
            <p:ph type="title"/>
          </p:nvPr>
        </p:nvSpPr>
        <p:spPr bwMode="auto">
          <a:xfrm>
            <a:off x="381000" y="677863"/>
            <a:ext cx="8229600" cy="550862"/>
          </a:xfrm>
        </p:spPr>
        <p:txBody>
          <a:bodyPr vert="horz" wrap="square" lIns="84406" tIns="42203" rIns="84406" bIns="42203" numCol="1" anchor="t" anchorCtr="0" compatLnSpc="1">
            <a:prstTxWarp prst="textNoShape">
              <a:avLst/>
            </a:prstTxWarp>
          </a:bodyPr>
          <a:lstStyle/>
          <a:p>
            <a:pPr eaLnBrk="1" hangingPunct="1">
              <a:defRPr/>
            </a:pPr>
            <a:r>
              <a:rPr lang="en-US" altLang="zh-CN" sz="32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4B)</a:t>
            </a:r>
            <a:r>
              <a:rPr lang="zh-CN" altLang="en-US" sz="3200">
                <a:solidFill>
                  <a:srgbClr val="FF0000"/>
                </a:solidFill>
                <a:latin typeface="黑体" panose="02010609060101010101" pitchFamily="49" charset="-122"/>
                <a:ea typeface="黑体" panose="02010609060101010101" pitchFamily="49" charset="-122"/>
                <a:cs typeface="Times New Roman" panose="02020603050405020304" pitchFamily="18" charset="0"/>
              </a:rPr>
              <a:t>质询机制</a:t>
            </a:r>
          </a:p>
        </p:txBody>
      </p:sp>
      <p:sp>
        <p:nvSpPr>
          <p:cNvPr id="64515" name="Rectangle 3">
            <a:extLst>
              <a:ext uri="{FF2B5EF4-FFF2-40B4-BE49-F238E27FC236}">
                <a16:creationId xmlns:a16="http://schemas.microsoft.com/office/drawing/2014/main" id="{1A45E2A1-91ED-AE4F-B736-9E9102F41190}"/>
              </a:ext>
            </a:extLst>
          </p:cNvPr>
          <p:cNvSpPr>
            <a:spLocks noGrp="1" noChangeArrowheads="1"/>
          </p:cNvSpPr>
          <p:nvPr>
            <p:ph type="body" idx="1"/>
          </p:nvPr>
        </p:nvSpPr>
        <p:spPr bwMode="auto">
          <a:xfrm>
            <a:off x="457200" y="4014788"/>
            <a:ext cx="8229600" cy="2127250"/>
          </a:xfrm>
        </p:spPr>
        <p:txBody>
          <a:bodyPr vert="horz" wrap="square" lIns="84406" tIns="42203" rIns="84406" bIns="42203" numCol="1" anchor="t" anchorCtr="0" compatLnSpc="1">
            <a:prstTxWarp prst="textNoShape">
              <a:avLst/>
            </a:prstTxWarp>
          </a:bodyPr>
          <a:lstStyle/>
          <a:p>
            <a:pPr eaLnBrk="1" hangingPunct="1">
              <a:buClr>
                <a:srgbClr val="FF0000"/>
              </a:buClr>
              <a:defRPr/>
            </a:pPr>
            <a:r>
              <a:rPr lang="zh-CN" altLang="en-US" sz="2400" dirty="0">
                <a:solidFill>
                  <a:schemeClr val="bg2"/>
                </a:solidFill>
                <a:latin typeface="黑体" panose="02010609060101010101" pitchFamily="49" charset="-122"/>
                <a:ea typeface="黑体" panose="02010609060101010101" pitchFamily="49" charset="-122"/>
              </a:rPr>
              <a:t>对抗重放攻击。</a:t>
            </a:r>
          </a:p>
          <a:p>
            <a:pPr eaLnBrk="1" hangingPunct="1">
              <a:buClr>
                <a:srgbClr val="FF0000"/>
              </a:buClr>
              <a:defRPr/>
            </a:pPr>
            <a:r>
              <a:rPr lang="zh-CN" altLang="en-US" sz="2400" dirty="0">
                <a:solidFill>
                  <a:schemeClr val="bg2"/>
                </a:solidFill>
                <a:latin typeface="黑体" panose="02010609060101010101" pitchFamily="49" charset="-122"/>
                <a:ea typeface="黑体" panose="02010609060101010101" pitchFamily="49" charset="-122"/>
              </a:rPr>
              <a:t>验证者以带有惟一值的数据项形式对申请者发出质询，申请者利用某个函数对质询信息和申请</a:t>
            </a:r>
            <a:r>
              <a:rPr lang="en-US" altLang="zh-CN" sz="2400" dirty="0">
                <a:solidFill>
                  <a:schemeClr val="bg2"/>
                </a:solidFill>
                <a:latin typeface="黑体" panose="02010609060101010101" pitchFamily="49" charset="-122"/>
                <a:ea typeface="黑体" panose="02010609060101010101" pitchFamily="49" charset="-122"/>
              </a:rPr>
              <a:t>AI</a:t>
            </a:r>
            <a:r>
              <a:rPr lang="zh-CN" altLang="en-US" sz="2400" dirty="0">
                <a:solidFill>
                  <a:schemeClr val="bg2"/>
                </a:solidFill>
                <a:latin typeface="黑体" panose="02010609060101010101" pitchFamily="49" charset="-122"/>
                <a:ea typeface="黑体" panose="02010609060101010101" pitchFamily="49" charset="-122"/>
              </a:rPr>
              <a:t>进行变换，且向验证者返回变换结果。</a:t>
            </a:r>
          </a:p>
          <a:p>
            <a:pPr eaLnBrk="1" hangingPunct="1">
              <a:buClr>
                <a:srgbClr val="FF0000"/>
              </a:buClr>
              <a:defRPr/>
            </a:pPr>
            <a:r>
              <a:rPr lang="zh-CN" altLang="en-US" sz="2400" dirty="0">
                <a:solidFill>
                  <a:schemeClr val="bg2"/>
                </a:solidFill>
                <a:latin typeface="黑体" panose="02010609060101010101" pitchFamily="49" charset="-122"/>
                <a:ea typeface="黑体" panose="02010609060101010101" pitchFamily="49" charset="-122"/>
              </a:rPr>
              <a:t>可应用于数据源和实体鉴别</a:t>
            </a:r>
          </a:p>
        </p:txBody>
      </p:sp>
      <p:grpSp>
        <p:nvGrpSpPr>
          <p:cNvPr id="2" name="组合 1">
            <a:extLst>
              <a:ext uri="{FF2B5EF4-FFF2-40B4-BE49-F238E27FC236}">
                <a16:creationId xmlns:a16="http://schemas.microsoft.com/office/drawing/2014/main" id="{B4F8D991-08A6-4447-A8B8-7FFA9B2ACF42}"/>
              </a:ext>
            </a:extLst>
          </p:cNvPr>
          <p:cNvGrpSpPr>
            <a:grpSpLocks/>
          </p:cNvGrpSpPr>
          <p:nvPr/>
        </p:nvGrpSpPr>
        <p:grpSpPr bwMode="auto">
          <a:xfrm>
            <a:off x="207963" y="1447800"/>
            <a:ext cx="8575675" cy="2127250"/>
            <a:chOff x="252413" y="3605213"/>
            <a:chExt cx="8575675" cy="2127250"/>
          </a:xfrm>
        </p:grpSpPr>
        <p:grpSp>
          <p:nvGrpSpPr>
            <p:cNvPr id="28676" name="Group 18">
              <a:extLst>
                <a:ext uri="{FF2B5EF4-FFF2-40B4-BE49-F238E27FC236}">
                  <a16:creationId xmlns:a16="http://schemas.microsoft.com/office/drawing/2014/main" id="{EA349D23-0C88-DE49-B7C8-62A86C40C6D6}"/>
                </a:ext>
              </a:extLst>
            </p:cNvPr>
            <p:cNvGrpSpPr>
              <a:grpSpLocks/>
            </p:cNvGrpSpPr>
            <p:nvPr/>
          </p:nvGrpSpPr>
          <p:grpSpPr bwMode="auto">
            <a:xfrm>
              <a:off x="252413" y="4425950"/>
              <a:ext cx="8575675" cy="477838"/>
              <a:chOff x="172" y="2840"/>
              <a:chExt cx="5852" cy="326"/>
            </a:xfrm>
          </p:grpSpPr>
          <p:sp>
            <p:nvSpPr>
              <p:cNvPr id="64526" name="Text Box 5">
                <a:extLst>
                  <a:ext uri="{FF2B5EF4-FFF2-40B4-BE49-F238E27FC236}">
                    <a16:creationId xmlns:a16="http://schemas.microsoft.com/office/drawing/2014/main" id="{85E27B32-C4E8-0444-9C08-66E280F72C35}"/>
                  </a:ext>
                </a:extLst>
              </p:cNvPr>
              <p:cNvSpPr txBox="1">
                <a:spLocks noChangeArrowheads="1"/>
              </p:cNvSpPr>
              <p:nvPr/>
            </p:nvSpPr>
            <p:spPr bwMode="auto">
              <a:xfrm>
                <a:off x="172" y="2840"/>
                <a:ext cx="908"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64527" name="Text Box 6">
                <a:extLst>
                  <a:ext uri="{FF2B5EF4-FFF2-40B4-BE49-F238E27FC236}">
                    <a16:creationId xmlns:a16="http://schemas.microsoft.com/office/drawing/2014/main" id="{C50295F0-14CD-F343-B3B6-D8B443BE1ED6}"/>
                  </a:ext>
                </a:extLst>
              </p:cNvPr>
              <p:cNvSpPr txBox="1">
                <a:spLocks noChangeArrowheads="1"/>
              </p:cNvSpPr>
              <p:nvPr/>
            </p:nvSpPr>
            <p:spPr bwMode="auto">
              <a:xfrm>
                <a:off x="5116" y="2870"/>
                <a:ext cx="908"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grpSp>
          <p:nvGrpSpPr>
            <p:cNvPr id="28677" name="Group 17">
              <a:extLst>
                <a:ext uri="{FF2B5EF4-FFF2-40B4-BE49-F238E27FC236}">
                  <a16:creationId xmlns:a16="http://schemas.microsoft.com/office/drawing/2014/main" id="{59113BF4-6F0A-ED4F-A6BC-CB5C723D1186}"/>
                </a:ext>
              </a:extLst>
            </p:cNvPr>
            <p:cNvGrpSpPr>
              <a:grpSpLocks/>
            </p:cNvGrpSpPr>
            <p:nvPr/>
          </p:nvGrpSpPr>
          <p:grpSpPr bwMode="auto">
            <a:xfrm>
              <a:off x="1381125" y="4845050"/>
              <a:ext cx="6580188" cy="887413"/>
              <a:chOff x="897" y="3126"/>
              <a:chExt cx="4491" cy="606"/>
            </a:xfrm>
          </p:grpSpPr>
          <p:sp>
            <p:nvSpPr>
              <p:cNvPr id="64524" name="Line 4">
                <a:extLst>
                  <a:ext uri="{FF2B5EF4-FFF2-40B4-BE49-F238E27FC236}">
                    <a16:creationId xmlns:a16="http://schemas.microsoft.com/office/drawing/2014/main" id="{5245C2E8-D6C9-AA42-81FA-085CEB1F877F}"/>
                  </a:ext>
                </a:extLst>
              </p:cNvPr>
              <p:cNvSpPr>
                <a:spLocks noChangeShapeType="1"/>
              </p:cNvSpPr>
              <p:nvPr/>
            </p:nvSpPr>
            <p:spPr bwMode="auto">
              <a:xfrm>
                <a:off x="1079" y="3732"/>
                <a:ext cx="4083" cy="0"/>
              </a:xfrm>
              <a:prstGeom prst="line">
                <a:avLst/>
              </a:prstGeom>
              <a:noFill/>
              <a:ln w="57150">
                <a:solidFill>
                  <a:srgbClr val="FF0000"/>
                </a:solidFill>
                <a:round/>
                <a:headEn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4525" name="Text Box 7">
                <a:extLst>
                  <a:ext uri="{FF2B5EF4-FFF2-40B4-BE49-F238E27FC236}">
                    <a16:creationId xmlns:a16="http://schemas.microsoft.com/office/drawing/2014/main" id="{17FDDD7D-FC99-4D42-81BF-7F11FF15BAFC}"/>
                  </a:ext>
                </a:extLst>
              </p:cNvPr>
              <p:cNvSpPr txBox="1">
                <a:spLocks noChangeArrowheads="1"/>
              </p:cNvSpPr>
              <p:nvPr/>
            </p:nvSpPr>
            <p:spPr bwMode="auto">
              <a:xfrm>
                <a:off x="897" y="3126"/>
                <a:ext cx="4491" cy="58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en-US" altLang="zh-CN" sz="2200" dirty="0">
                    <a:solidFill>
                      <a:schemeClr val="tx1">
                        <a:lumMod val="50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200" dirty="0">
                    <a:solidFill>
                      <a:schemeClr val="tx1">
                        <a:lumMod val="50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可辨别标识符</a:t>
                </a:r>
                <a:r>
                  <a:rPr lang="en-US" altLang="zh-CN" sz="2200" dirty="0">
                    <a:solidFill>
                      <a:schemeClr val="tx1">
                        <a:lumMod val="50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200" dirty="0">
                    <a:solidFill>
                      <a:schemeClr val="tx1">
                        <a:lumMod val="50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endParaRPr lang="en-US" altLang="zh-CN" sz="2200" dirty="0">
                  <a:solidFill>
                    <a:schemeClr val="tx1">
                      <a:lumMod val="50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p>
                <a:pPr algn="ctr" eaLnBrk="1" hangingPunct="1">
                  <a:spcBef>
                    <a:spcPct val="50000"/>
                  </a:spcBef>
                  <a:defRPr/>
                </a:pP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F</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AI</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，质询，</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可辨别标识符</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数字指纹</a:t>
                </a: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p>
            </p:txBody>
          </p:sp>
        </p:grpSp>
        <p:grpSp>
          <p:nvGrpSpPr>
            <p:cNvPr id="28678" name="Group 15">
              <a:extLst>
                <a:ext uri="{FF2B5EF4-FFF2-40B4-BE49-F238E27FC236}">
                  <a16:creationId xmlns:a16="http://schemas.microsoft.com/office/drawing/2014/main" id="{51387FF4-B96D-EB4B-A59A-2F0D0F8F0B31}"/>
                </a:ext>
              </a:extLst>
            </p:cNvPr>
            <p:cNvGrpSpPr>
              <a:grpSpLocks/>
            </p:cNvGrpSpPr>
            <p:nvPr/>
          </p:nvGrpSpPr>
          <p:grpSpPr bwMode="auto">
            <a:xfrm>
              <a:off x="1247775" y="3605213"/>
              <a:ext cx="6581775" cy="433387"/>
              <a:chOff x="852" y="2280"/>
              <a:chExt cx="4491" cy="296"/>
            </a:xfrm>
          </p:grpSpPr>
          <p:sp>
            <p:nvSpPr>
              <p:cNvPr id="64522" name="Line 11">
                <a:extLst>
                  <a:ext uri="{FF2B5EF4-FFF2-40B4-BE49-F238E27FC236}">
                    <a16:creationId xmlns:a16="http://schemas.microsoft.com/office/drawing/2014/main" id="{4897A79A-95FA-A143-859B-64A26C2E9372}"/>
                  </a:ext>
                </a:extLst>
              </p:cNvPr>
              <p:cNvSpPr>
                <a:spLocks noChangeShapeType="1"/>
              </p:cNvSpPr>
              <p:nvPr/>
            </p:nvSpPr>
            <p:spPr bwMode="auto">
              <a:xfrm>
                <a:off x="1124" y="2568"/>
                <a:ext cx="4083" cy="0"/>
              </a:xfrm>
              <a:prstGeom prst="line">
                <a:avLst/>
              </a:prstGeom>
              <a:noFill/>
              <a:ln w="57150">
                <a:solidFill>
                  <a:srgbClr val="FF0000"/>
                </a:solidFill>
                <a:round/>
                <a:headEn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4523" name="Text Box 12">
                <a:extLst>
                  <a:ext uri="{FF2B5EF4-FFF2-40B4-BE49-F238E27FC236}">
                    <a16:creationId xmlns:a16="http://schemas.microsoft.com/office/drawing/2014/main" id="{97C923D2-349B-3C40-916F-B5DB2425AAF6}"/>
                  </a:ext>
                </a:extLst>
              </p:cNvPr>
              <p:cNvSpPr txBox="1">
                <a:spLocks noChangeArrowheads="1"/>
              </p:cNvSpPr>
              <p:nvPr/>
            </p:nvSpPr>
            <p:spPr bwMode="auto">
              <a:xfrm>
                <a:off x="852" y="2280"/>
                <a:ext cx="4491"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鉴别请求，</a:t>
                </a:r>
                <a:r>
                  <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可辨别标识符</a:t>
                </a:r>
                <a:r>
                  <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endParaRPr lang="en-US" altLang="zh-CN" sz="18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grpSp>
          <p:nvGrpSpPr>
            <p:cNvPr id="28679" name="Group 16">
              <a:extLst>
                <a:ext uri="{FF2B5EF4-FFF2-40B4-BE49-F238E27FC236}">
                  <a16:creationId xmlns:a16="http://schemas.microsoft.com/office/drawing/2014/main" id="{BAA95015-C87F-834B-AA9E-6C2B643BDBE4}"/>
                </a:ext>
              </a:extLst>
            </p:cNvPr>
            <p:cNvGrpSpPr>
              <a:grpSpLocks/>
            </p:cNvGrpSpPr>
            <p:nvPr/>
          </p:nvGrpSpPr>
          <p:grpSpPr bwMode="auto">
            <a:xfrm>
              <a:off x="1182688" y="4270375"/>
              <a:ext cx="6580187" cy="433388"/>
              <a:chOff x="807" y="2734"/>
              <a:chExt cx="4491" cy="296"/>
            </a:xfrm>
          </p:grpSpPr>
          <p:sp>
            <p:nvSpPr>
              <p:cNvPr id="64520" name="Line 13">
                <a:extLst>
                  <a:ext uri="{FF2B5EF4-FFF2-40B4-BE49-F238E27FC236}">
                    <a16:creationId xmlns:a16="http://schemas.microsoft.com/office/drawing/2014/main" id="{895993CC-EDE3-0549-B45E-6DD2DDC0F2E8}"/>
                  </a:ext>
                </a:extLst>
              </p:cNvPr>
              <p:cNvSpPr>
                <a:spLocks noChangeShapeType="1"/>
              </p:cNvSpPr>
              <p:nvPr/>
            </p:nvSpPr>
            <p:spPr bwMode="auto">
              <a:xfrm rot="10800000">
                <a:off x="1124" y="3022"/>
                <a:ext cx="4083" cy="0"/>
              </a:xfrm>
              <a:prstGeom prst="line">
                <a:avLst/>
              </a:prstGeom>
              <a:noFill/>
              <a:ln w="57150">
                <a:solidFill>
                  <a:srgbClr val="FF0000"/>
                </a:solidFill>
                <a:round/>
                <a:headEn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4521" name="Text Box 14">
                <a:extLst>
                  <a:ext uri="{FF2B5EF4-FFF2-40B4-BE49-F238E27FC236}">
                    <a16:creationId xmlns:a16="http://schemas.microsoft.com/office/drawing/2014/main" id="{25741F30-3D2C-0649-A72C-4FE28D156B5B}"/>
                  </a:ext>
                </a:extLst>
              </p:cNvPr>
              <p:cNvSpPr txBox="1">
                <a:spLocks noChangeArrowheads="1"/>
              </p:cNvSpPr>
              <p:nvPr/>
            </p:nvSpPr>
            <p:spPr bwMode="auto">
              <a:xfrm>
                <a:off x="807" y="2734"/>
                <a:ext cx="4491" cy="296"/>
              </a:xfrm>
              <a:prstGeom prst="rect">
                <a:avLst/>
              </a:prstGeom>
              <a:noFill/>
              <a:ln>
                <a:noFill/>
              </a:ln>
              <a:effectLst/>
            </p:spPr>
            <p:txBody>
              <a:bodyP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r>
                  <a:rPr lang="zh-CN" altLang="en-US" sz="2215" u="none" dirty="0">
                    <a:solidFill>
                      <a:srgbClr val="0000FF"/>
                    </a:solidFill>
                    <a:effectLst>
                      <a:outerShdw blurRad="38100" dist="38100" dir="2700000" algn="tl">
                        <a:srgbClr val="000000">
                          <a:alpha val="43137"/>
                        </a:srgbClr>
                      </a:outerShdw>
                    </a:effectLst>
                  </a:rPr>
                  <a:t>质询（含惟一数）</a:t>
                </a:r>
                <a:endParaRPr lang="zh-CN" altLang="en-US" sz="1846" u="none" dirty="0">
                  <a:solidFill>
                    <a:srgbClr val="0000FF"/>
                  </a:solidFill>
                  <a:effectLst>
                    <a:outerShdw blurRad="38100" dist="38100" dir="2700000" algn="tl">
                      <a:srgbClr val="000000">
                        <a:alpha val="43137"/>
                      </a:srgbClr>
                    </a:outerShdw>
                  </a:effectLst>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64515">
                                            <p:txEl>
                                              <p:pRg st="0" end="0"/>
                                            </p:txEl>
                                          </p:spTgt>
                                        </p:tgtEl>
                                        <p:attrNameLst>
                                          <p:attrName>style.visibility</p:attrName>
                                        </p:attrNameLst>
                                      </p:cBhvr>
                                      <p:to>
                                        <p:strVal val="visible"/>
                                      </p:to>
                                    </p:set>
                                    <p:anim calcmode="lin" valueType="num">
                                      <p:cBhvr>
                                        <p:cTn id="12" dur="1000" fill="hold"/>
                                        <p:tgtEl>
                                          <p:spTgt spid="64515">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64515">
                                            <p:txEl>
                                              <p:pRg st="0" end="0"/>
                                            </p:txEl>
                                          </p:spTgt>
                                        </p:tgtEl>
                                        <p:attrNameLst>
                                          <p:attrName>ppt_h</p:attrName>
                                        </p:attrNameLst>
                                      </p:cBhvr>
                                      <p:tavLst>
                                        <p:tav tm="0">
                                          <p:val>
                                            <p:fltVal val="0"/>
                                          </p:val>
                                        </p:tav>
                                        <p:tav tm="100000">
                                          <p:val>
                                            <p:strVal val="#ppt_h"/>
                                          </p:val>
                                        </p:tav>
                                      </p:tavLst>
                                    </p:anim>
                                    <p:animEffect transition="in" filter="fade">
                                      <p:cBhvr>
                                        <p:cTn id="14" dur="1000"/>
                                        <p:tgtEl>
                                          <p:spTgt spid="64515">
                                            <p:txEl>
                                              <p:pRg st="0" end="0"/>
                                            </p:txEl>
                                          </p:spTgt>
                                        </p:tgtEl>
                                      </p:cBhvr>
                                    </p:animEffect>
                                  </p:childTnLst>
                                </p:cTn>
                              </p:par>
                            </p:childTnLst>
                          </p:cTn>
                        </p:par>
                        <p:par>
                          <p:cTn id="15" fill="hold" nodeType="afterGroup">
                            <p:stCondLst>
                              <p:cond delay="1500"/>
                            </p:stCondLst>
                            <p:childTnLst>
                              <p:par>
                                <p:cTn id="16" presetID="53" presetClass="entr" presetSubtype="16" fill="hold" grpId="0" nodeType="afterEffect">
                                  <p:stCondLst>
                                    <p:cond delay="0"/>
                                  </p:stCondLst>
                                  <p:childTnLst>
                                    <p:set>
                                      <p:cBhvr>
                                        <p:cTn id="17" dur="1" fill="hold">
                                          <p:stCondLst>
                                            <p:cond delay="0"/>
                                          </p:stCondLst>
                                        </p:cTn>
                                        <p:tgtEl>
                                          <p:spTgt spid="64515">
                                            <p:txEl>
                                              <p:pRg st="1" end="1"/>
                                            </p:txEl>
                                          </p:spTgt>
                                        </p:tgtEl>
                                        <p:attrNameLst>
                                          <p:attrName>style.visibility</p:attrName>
                                        </p:attrNameLst>
                                      </p:cBhvr>
                                      <p:to>
                                        <p:strVal val="visible"/>
                                      </p:to>
                                    </p:set>
                                    <p:anim calcmode="lin" valueType="num">
                                      <p:cBhvr>
                                        <p:cTn id="18" dur="1000" fill="hold"/>
                                        <p:tgtEl>
                                          <p:spTgt spid="64515">
                                            <p:txEl>
                                              <p:pRg st="1" end="1"/>
                                            </p:txEl>
                                          </p:spTgt>
                                        </p:tgtEl>
                                        <p:attrNameLst>
                                          <p:attrName>ppt_w</p:attrName>
                                        </p:attrNameLst>
                                      </p:cBhvr>
                                      <p:tavLst>
                                        <p:tav tm="0">
                                          <p:val>
                                            <p:fltVal val="0"/>
                                          </p:val>
                                        </p:tav>
                                        <p:tav tm="100000">
                                          <p:val>
                                            <p:strVal val="#ppt_w"/>
                                          </p:val>
                                        </p:tav>
                                      </p:tavLst>
                                    </p:anim>
                                    <p:anim calcmode="lin" valueType="num">
                                      <p:cBhvr>
                                        <p:cTn id="19" dur="1000" fill="hold"/>
                                        <p:tgtEl>
                                          <p:spTgt spid="64515">
                                            <p:txEl>
                                              <p:pRg st="1" end="1"/>
                                            </p:txEl>
                                          </p:spTgt>
                                        </p:tgtEl>
                                        <p:attrNameLst>
                                          <p:attrName>ppt_h</p:attrName>
                                        </p:attrNameLst>
                                      </p:cBhvr>
                                      <p:tavLst>
                                        <p:tav tm="0">
                                          <p:val>
                                            <p:fltVal val="0"/>
                                          </p:val>
                                        </p:tav>
                                        <p:tav tm="100000">
                                          <p:val>
                                            <p:strVal val="#ppt_h"/>
                                          </p:val>
                                        </p:tav>
                                      </p:tavLst>
                                    </p:anim>
                                    <p:animEffect transition="in" filter="fade">
                                      <p:cBhvr>
                                        <p:cTn id="20" dur="1000"/>
                                        <p:tgtEl>
                                          <p:spTgt spid="64515">
                                            <p:txEl>
                                              <p:pRg st="1" end="1"/>
                                            </p:txEl>
                                          </p:spTgt>
                                        </p:tgtEl>
                                      </p:cBhvr>
                                    </p:animEffect>
                                  </p:childTnLst>
                                </p:cTn>
                              </p:par>
                            </p:childTnLst>
                          </p:cTn>
                        </p:par>
                        <p:par>
                          <p:cTn id="21" fill="hold" nodeType="afterGroup">
                            <p:stCondLst>
                              <p:cond delay="2500"/>
                            </p:stCondLst>
                            <p:childTnLst>
                              <p:par>
                                <p:cTn id="22" presetID="53" presetClass="entr" presetSubtype="16" fill="hold" grpId="0" nodeType="afterEffect">
                                  <p:stCondLst>
                                    <p:cond delay="0"/>
                                  </p:stCondLst>
                                  <p:childTnLst>
                                    <p:set>
                                      <p:cBhvr>
                                        <p:cTn id="23" dur="1" fill="hold">
                                          <p:stCondLst>
                                            <p:cond delay="0"/>
                                          </p:stCondLst>
                                        </p:cTn>
                                        <p:tgtEl>
                                          <p:spTgt spid="64515">
                                            <p:txEl>
                                              <p:pRg st="2" end="2"/>
                                            </p:txEl>
                                          </p:spTgt>
                                        </p:tgtEl>
                                        <p:attrNameLst>
                                          <p:attrName>style.visibility</p:attrName>
                                        </p:attrNameLst>
                                      </p:cBhvr>
                                      <p:to>
                                        <p:strVal val="visible"/>
                                      </p:to>
                                    </p:set>
                                    <p:anim calcmode="lin" valueType="num">
                                      <p:cBhvr>
                                        <p:cTn id="24" dur="1000" fill="hold"/>
                                        <p:tgtEl>
                                          <p:spTgt spid="64515">
                                            <p:txEl>
                                              <p:pRg st="2" end="2"/>
                                            </p:txEl>
                                          </p:spTgt>
                                        </p:tgtEl>
                                        <p:attrNameLst>
                                          <p:attrName>ppt_w</p:attrName>
                                        </p:attrNameLst>
                                      </p:cBhvr>
                                      <p:tavLst>
                                        <p:tav tm="0">
                                          <p:val>
                                            <p:fltVal val="0"/>
                                          </p:val>
                                        </p:tav>
                                        <p:tav tm="100000">
                                          <p:val>
                                            <p:strVal val="#ppt_w"/>
                                          </p:val>
                                        </p:tav>
                                      </p:tavLst>
                                    </p:anim>
                                    <p:anim calcmode="lin" valueType="num">
                                      <p:cBhvr>
                                        <p:cTn id="25" dur="1000" fill="hold"/>
                                        <p:tgtEl>
                                          <p:spTgt spid="64515">
                                            <p:txEl>
                                              <p:pRg st="2" end="2"/>
                                            </p:txEl>
                                          </p:spTgt>
                                        </p:tgtEl>
                                        <p:attrNameLst>
                                          <p:attrName>ppt_h</p:attrName>
                                        </p:attrNameLst>
                                      </p:cBhvr>
                                      <p:tavLst>
                                        <p:tav tm="0">
                                          <p:val>
                                            <p:fltVal val="0"/>
                                          </p:val>
                                        </p:tav>
                                        <p:tav tm="100000">
                                          <p:val>
                                            <p:strVal val="#ppt_h"/>
                                          </p:val>
                                        </p:tav>
                                      </p:tavLst>
                                    </p:anim>
                                    <p:animEffect transition="in" filter="fade">
                                      <p:cBhvr>
                                        <p:cTn id="26" dur="1000"/>
                                        <p:tgtEl>
                                          <p:spTgt spid="645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4E79EB0E-C069-3E43-A7B9-62757A48F9D2}"/>
              </a:ext>
            </a:extLst>
          </p:cNvPr>
          <p:cNvSpPr>
            <a:spLocks noGrp="1" noChangeArrowheads="1"/>
          </p:cNvSpPr>
          <p:nvPr>
            <p:ph type="title"/>
          </p:nvPr>
        </p:nvSpPr>
        <p:spPr bwMode="auto">
          <a:xfrm>
            <a:off x="381000" y="768350"/>
            <a:ext cx="8229600" cy="625475"/>
          </a:xfrm>
        </p:spPr>
        <p:txBody>
          <a:bodyPr vert="horz" wrap="square" lIns="84406" tIns="42203" rIns="84406" bIns="42203" numCol="1" anchor="t" anchorCtr="0" compatLnSpc="1">
            <a:prstTxWarp prst="textNoShape">
              <a:avLst/>
            </a:prstTxWarp>
          </a:bodyPr>
          <a:lstStyle/>
          <a:p>
            <a:pPr eaLnBrk="1" hangingPunct="1">
              <a:defRPr/>
            </a:pPr>
            <a:r>
              <a:rPr lang="en-US" altLang="zh-CN" sz="32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4C)</a:t>
            </a:r>
            <a:r>
              <a:rPr lang="zh-CN" altLang="en-US" sz="32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专用加密质询机制</a:t>
            </a:r>
          </a:p>
        </p:txBody>
      </p:sp>
      <p:sp>
        <p:nvSpPr>
          <p:cNvPr id="65539" name="Rectangle 3">
            <a:extLst>
              <a:ext uri="{FF2B5EF4-FFF2-40B4-BE49-F238E27FC236}">
                <a16:creationId xmlns:a16="http://schemas.microsoft.com/office/drawing/2014/main" id="{D4DDBC6D-980A-5E49-A2EA-DCF2DF6E9BFE}"/>
              </a:ext>
            </a:extLst>
          </p:cNvPr>
          <p:cNvSpPr>
            <a:spLocks noGrp="1" noChangeArrowheads="1"/>
          </p:cNvSpPr>
          <p:nvPr>
            <p:ph type="body" idx="1"/>
          </p:nvPr>
        </p:nvSpPr>
        <p:spPr bwMode="auto">
          <a:xfrm>
            <a:off x="457200" y="1741488"/>
            <a:ext cx="8458200" cy="773112"/>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u"/>
              <a:defRPr/>
            </a:pPr>
            <a:r>
              <a:rPr lang="zh-CN" altLang="en-US" sz="2400" dirty="0">
                <a:solidFill>
                  <a:schemeClr val="bg2"/>
                </a:solidFill>
                <a:latin typeface="黑体" panose="02010609060101010101" pitchFamily="49" charset="-122"/>
                <a:ea typeface="黑体" panose="02010609060101010101" pitchFamily="49" charset="-122"/>
              </a:rPr>
              <a:t>适用于实体鉴别，但</a:t>
            </a:r>
            <a:r>
              <a:rPr lang="zh-CN" altLang="en-US" sz="2400" dirty="0">
                <a:solidFill>
                  <a:schemeClr val="tx1">
                    <a:lumMod val="65000"/>
                  </a:schemeClr>
                </a:solidFill>
                <a:latin typeface="黑体" panose="02010609060101010101" pitchFamily="49" charset="-122"/>
                <a:ea typeface="黑体" panose="02010609060101010101" pitchFamily="49" charset="-122"/>
              </a:rPr>
              <a:t>（返回的质询）</a:t>
            </a:r>
            <a:r>
              <a:rPr lang="zh-CN" altLang="en-US" sz="2400" dirty="0">
                <a:solidFill>
                  <a:schemeClr val="bg2"/>
                </a:solidFill>
                <a:latin typeface="黑体" panose="02010609060101010101" pitchFamily="49" charset="-122"/>
                <a:ea typeface="黑体" panose="02010609060101010101" pitchFamily="49" charset="-122"/>
              </a:rPr>
              <a:t>不适用于数据源鉴别</a:t>
            </a:r>
          </a:p>
        </p:txBody>
      </p:sp>
      <p:grpSp>
        <p:nvGrpSpPr>
          <p:cNvPr id="2" name="组合 1">
            <a:extLst>
              <a:ext uri="{FF2B5EF4-FFF2-40B4-BE49-F238E27FC236}">
                <a16:creationId xmlns:a16="http://schemas.microsoft.com/office/drawing/2014/main" id="{785FEF6E-F298-654A-99E4-3174E942E591}"/>
              </a:ext>
            </a:extLst>
          </p:cNvPr>
          <p:cNvGrpSpPr>
            <a:grpSpLocks/>
          </p:cNvGrpSpPr>
          <p:nvPr/>
        </p:nvGrpSpPr>
        <p:grpSpPr bwMode="auto">
          <a:xfrm>
            <a:off x="252413" y="3028950"/>
            <a:ext cx="8575675" cy="1797050"/>
            <a:chOff x="252413" y="3028950"/>
            <a:chExt cx="8575675" cy="1797050"/>
          </a:xfrm>
        </p:grpSpPr>
        <p:grpSp>
          <p:nvGrpSpPr>
            <p:cNvPr id="29700" name="Group 4">
              <a:extLst>
                <a:ext uri="{FF2B5EF4-FFF2-40B4-BE49-F238E27FC236}">
                  <a16:creationId xmlns:a16="http://schemas.microsoft.com/office/drawing/2014/main" id="{2046DCC6-4EFF-C54A-9001-A656ED8FE2AC}"/>
                </a:ext>
              </a:extLst>
            </p:cNvPr>
            <p:cNvGrpSpPr>
              <a:grpSpLocks/>
            </p:cNvGrpSpPr>
            <p:nvPr/>
          </p:nvGrpSpPr>
          <p:grpSpPr bwMode="auto">
            <a:xfrm>
              <a:off x="252413" y="3849688"/>
              <a:ext cx="8575675" cy="477837"/>
              <a:chOff x="172" y="2840"/>
              <a:chExt cx="5852" cy="326"/>
            </a:xfrm>
          </p:grpSpPr>
          <p:sp>
            <p:nvSpPr>
              <p:cNvPr id="65550" name="Text Box 5">
                <a:extLst>
                  <a:ext uri="{FF2B5EF4-FFF2-40B4-BE49-F238E27FC236}">
                    <a16:creationId xmlns:a16="http://schemas.microsoft.com/office/drawing/2014/main" id="{5CE72DB0-91BD-6841-88B3-064DB93A9311}"/>
                  </a:ext>
                </a:extLst>
              </p:cNvPr>
              <p:cNvSpPr txBox="1">
                <a:spLocks noChangeArrowheads="1"/>
              </p:cNvSpPr>
              <p:nvPr/>
            </p:nvSpPr>
            <p:spPr bwMode="auto">
              <a:xfrm>
                <a:off x="172" y="2840"/>
                <a:ext cx="908"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65551" name="Text Box 6">
                <a:extLst>
                  <a:ext uri="{FF2B5EF4-FFF2-40B4-BE49-F238E27FC236}">
                    <a16:creationId xmlns:a16="http://schemas.microsoft.com/office/drawing/2014/main" id="{2F818A27-FCDB-624E-BEF9-B237A4EA9CBF}"/>
                  </a:ext>
                </a:extLst>
              </p:cNvPr>
              <p:cNvSpPr txBox="1">
                <a:spLocks noChangeArrowheads="1"/>
              </p:cNvSpPr>
              <p:nvPr/>
            </p:nvSpPr>
            <p:spPr bwMode="auto">
              <a:xfrm>
                <a:off x="5116" y="2870"/>
                <a:ext cx="908"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grpSp>
          <p:nvGrpSpPr>
            <p:cNvPr id="29701" name="Group 16">
              <a:extLst>
                <a:ext uri="{FF2B5EF4-FFF2-40B4-BE49-F238E27FC236}">
                  <a16:creationId xmlns:a16="http://schemas.microsoft.com/office/drawing/2014/main" id="{5380C859-1DCA-D14C-BBDE-54895926415A}"/>
                </a:ext>
              </a:extLst>
            </p:cNvPr>
            <p:cNvGrpSpPr>
              <a:grpSpLocks/>
            </p:cNvGrpSpPr>
            <p:nvPr/>
          </p:nvGrpSpPr>
          <p:grpSpPr bwMode="auto">
            <a:xfrm>
              <a:off x="1381125" y="4402138"/>
              <a:ext cx="6581775" cy="423862"/>
              <a:chOff x="943" y="2824"/>
              <a:chExt cx="4491" cy="289"/>
            </a:xfrm>
          </p:grpSpPr>
          <p:sp>
            <p:nvSpPr>
              <p:cNvPr id="65548" name="Line 8">
                <a:extLst>
                  <a:ext uri="{FF2B5EF4-FFF2-40B4-BE49-F238E27FC236}">
                    <a16:creationId xmlns:a16="http://schemas.microsoft.com/office/drawing/2014/main" id="{30A08A00-6A1C-9C40-A7DB-0C13C0E21555}"/>
                  </a:ext>
                </a:extLst>
              </p:cNvPr>
              <p:cNvSpPr>
                <a:spLocks noChangeShapeType="1"/>
              </p:cNvSpPr>
              <p:nvPr/>
            </p:nvSpPr>
            <p:spPr bwMode="auto">
              <a:xfrm>
                <a:off x="1125" y="3113"/>
                <a:ext cx="4083" cy="0"/>
              </a:xfrm>
              <a:prstGeom prst="line">
                <a:avLst/>
              </a:prstGeom>
              <a:noFill/>
              <a:ln w="57150">
                <a:solidFill>
                  <a:srgbClr val="FF0000"/>
                </a:solidFill>
                <a:round/>
                <a:headEn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5549" name="Text Box 9">
                <a:extLst>
                  <a:ext uri="{FF2B5EF4-FFF2-40B4-BE49-F238E27FC236}">
                    <a16:creationId xmlns:a16="http://schemas.microsoft.com/office/drawing/2014/main" id="{A3D1DBD4-75F2-6B40-A409-4C2DBDB4FC61}"/>
                  </a:ext>
                </a:extLst>
              </p:cNvPr>
              <p:cNvSpPr txBox="1">
                <a:spLocks noChangeArrowheads="1"/>
              </p:cNvSpPr>
              <p:nvPr/>
            </p:nvSpPr>
            <p:spPr bwMode="auto">
              <a:xfrm>
                <a:off x="943" y="2824"/>
                <a:ext cx="4491" cy="257"/>
              </a:xfrm>
              <a:prstGeom prst="rect">
                <a:avLst/>
              </a:prstGeom>
              <a:noFill/>
              <a:ln>
                <a:noFill/>
              </a:ln>
              <a:effectLst/>
            </p:spPr>
            <p:txBody>
              <a:bodyP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r>
                  <a:rPr lang="zh-CN" altLang="en-US" sz="1846" u="none" dirty="0">
                    <a:solidFill>
                      <a:srgbClr val="0000FF"/>
                    </a:solidFill>
                    <a:effectLst>
                      <a:outerShdw blurRad="38100" dist="38100" dir="2700000" algn="tl">
                        <a:srgbClr val="000000">
                          <a:alpha val="43137"/>
                        </a:srgbClr>
                      </a:outerShdw>
                    </a:effectLst>
                  </a:rPr>
                  <a:t>质询</a:t>
                </a:r>
              </a:p>
            </p:txBody>
          </p:sp>
        </p:grpSp>
        <p:grpSp>
          <p:nvGrpSpPr>
            <p:cNvPr id="29702" name="Group 10">
              <a:extLst>
                <a:ext uri="{FF2B5EF4-FFF2-40B4-BE49-F238E27FC236}">
                  <a16:creationId xmlns:a16="http://schemas.microsoft.com/office/drawing/2014/main" id="{0CEDF693-E33E-A24A-8C9C-D337E5F6BC63}"/>
                </a:ext>
              </a:extLst>
            </p:cNvPr>
            <p:cNvGrpSpPr>
              <a:grpSpLocks/>
            </p:cNvGrpSpPr>
            <p:nvPr/>
          </p:nvGrpSpPr>
          <p:grpSpPr bwMode="auto">
            <a:xfrm>
              <a:off x="1247775" y="3028950"/>
              <a:ext cx="6581775" cy="433388"/>
              <a:chOff x="852" y="2280"/>
              <a:chExt cx="4491" cy="296"/>
            </a:xfrm>
          </p:grpSpPr>
          <p:sp>
            <p:nvSpPr>
              <p:cNvPr id="65546" name="Line 11">
                <a:extLst>
                  <a:ext uri="{FF2B5EF4-FFF2-40B4-BE49-F238E27FC236}">
                    <a16:creationId xmlns:a16="http://schemas.microsoft.com/office/drawing/2014/main" id="{365762C0-ED28-674D-8146-AB62D8D01B64}"/>
                  </a:ext>
                </a:extLst>
              </p:cNvPr>
              <p:cNvSpPr>
                <a:spLocks noChangeShapeType="1"/>
              </p:cNvSpPr>
              <p:nvPr/>
            </p:nvSpPr>
            <p:spPr bwMode="auto">
              <a:xfrm>
                <a:off x="1124" y="2568"/>
                <a:ext cx="4083" cy="0"/>
              </a:xfrm>
              <a:prstGeom prst="line">
                <a:avLst/>
              </a:prstGeom>
              <a:noFill/>
              <a:ln w="57150">
                <a:solidFill>
                  <a:srgbClr val="FF0000"/>
                </a:solidFill>
                <a:round/>
                <a:headEn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5547" name="Text Box 12">
                <a:extLst>
                  <a:ext uri="{FF2B5EF4-FFF2-40B4-BE49-F238E27FC236}">
                    <a16:creationId xmlns:a16="http://schemas.microsoft.com/office/drawing/2014/main" id="{E4A84AC6-95E4-DE44-90DD-AEA70E25F731}"/>
                  </a:ext>
                </a:extLst>
              </p:cNvPr>
              <p:cNvSpPr txBox="1">
                <a:spLocks noChangeArrowheads="1"/>
              </p:cNvSpPr>
              <p:nvPr/>
            </p:nvSpPr>
            <p:spPr bwMode="auto">
              <a:xfrm>
                <a:off x="852" y="2280"/>
                <a:ext cx="4491"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鉴别请求，可辨别标识符</a:t>
                </a:r>
                <a:endParaRPr lang="en-US" altLang="zh-CN" sz="18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grpSp>
          <p:nvGrpSpPr>
            <p:cNvPr id="29703" name="Group 13">
              <a:extLst>
                <a:ext uri="{FF2B5EF4-FFF2-40B4-BE49-F238E27FC236}">
                  <a16:creationId xmlns:a16="http://schemas.microsoft.com/office/drawing/2014/main" id="{87A5828F-C61C-9642-982B-C941F3883EFB}"/>
                </a:ext>
              </a:extLst>
            </p:cNvPr>
            <p:cNvGrpSpPr>
              <a:grpSpLocks/>
            </p:cNvGrpSpPr>
            <p:nvPr/>
          </p:nvGrpSpPr>
          <p:grpSpPr bwMode="auto">
            <a:xfrm>
              <a:off x="1182688" y="3694113"/>
              <a:ext cx="6580187" cy="433387"/>
              <a:chOff x="807" y="2734"/>
              <a:chExt cx="4491" cy="296"/>
            </a:xfrm>
          </p:grpSpPr>
          <p:sp>
            <p:nvSpPr>
              <p:cNvPr id="65544" name="Line 14">
                <a:extLst>
                  <a:ext uri="{FF2B5EF4-FFF2-40B4-BE49-F238E27FC236}">
                    <a16:creationId xmlns:a16="http://schemas.microsoft.com/office/drawing/2014/main" id="{1A335CEB-C7C4-134E-9C3D-B3D9BAFE0F91}"/>
                  </a:ext>
                </a:extLst>
              </p:cNvPr>
              <p:cNvSpPr>
                <a:spLocks noChangeShapeType="1"/>
              </p:cNvSpPr>
              <p:nvPr/>
            </p:nvSpPr>
            <p:spPr bwMode="auto">
              <a:xfrm rot="10800000">
                <a:off x="1124" y="3022"/>
                <a:ext cx="4083" cy="0"/>
              </a:xfrm>
              <a:prstGeom prst="line">
                <a:avLst/>
              </a:prstGeom>
              <a:noFill/>
              <a:ln w="57150">
                <a:solidFill>
                  <a:srgbClr val="FF0000"/>
                </a:solidFill>
                <a:round/>
                <a:headEn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5545" name="Text Box 15">
                <a:extLst>
                  <a:ext uri="{FF2B5EF4-FFF2-40B4-BE49-F238E27FC236}">
                    <a16:creationId xmlns:a16="http://schemas.microsoft.com/office/drawing/2014/main" id="{5A2E02BB-854F-FA44-9E91-1AA5E9602163}"/>
                  </a:ext>
                </a:extLst>
              </p:cNvPr>
              <p:cNvSpPr txBox="1">
                <a:spLocks noChangeArrowheads="1"/>
              </p:cNvSpPr>
              <p:nvPr/>
            </p:nvSpPr>
            <p:spPr bwMode="auto">
              <a:xfrm>
                <a:off x="807" y="2734"/>
                <a:ext cx="4491"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en-US" altLang="zh-CN"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F</a:t>
                </a:r>
                <a:r>
                  <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质询，验证</a:t>
                </a:r>
                <a:r>
                  <a:rPr lang="en-US" altLang="zh-CN"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AI</a:t>
                </a: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lang="en-US" altLang="zh-CN"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可辨别标识符</a:t>
                </a:r>
                <a:r>
                  <a:rPr lang="en-US" altLang="zh-CN"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 calcmode="lin" valueType="num">
                                      <p:cBhvr>
                                        <p:cTn id="7" dur="500" fill="hold"/>
                                        <p:tgtEl>
                                          <p:spTgt spid="6553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553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5539">
                                            <p:txEl>
                                              <p:pRg st="0" end="0"/>
                                            </p:txEl>
                                          </p:spTgt>
                                        </p:tgtEl>
                                      </p:cBhvr>
                                    </p:animEffect>
                                  </p:childTnLst>
                                </p:cTn>
                              </p:par>
                            </p:childTnLst>
                          </p:cTn>
                        </p:par>
                        <p:par>
                          <p:cTn id="10" fill="hold" nodeType="afterGroup">
                            <p:stCondLst>
                              <p:cond delay="500"/>
                            </p:stCondLst>
                            <p:childTnLst>
                              <p:par>
                                <p:cTn id="11" presetID="2" presetClass="entr" presetSubtype="8"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1500" fill="hold"/>
                                        <p:tgtEl>
                                          <p:spTgt spid="2"/>
                                        </p:tgtEl>
                                        <p:attrNameLst>
                                          <p:attrName>ppt_x</p:attrName>
                                        </p:attrNameLst>
                                      </p:cBhvr>
                                      <p:tavLst>
                                        <p:tav tm="0">
                                          <p:val>
                                            <p:strVal val="0-#ppt_w/2"/>
                                          </p:val>
                                        </p:tav>
                                        <p:tav tm="100000">
                                          <p:val>
                                            <p:strVal val="#ppt_x"/>
                                          </p:val>
                                        </p:tav>
                                      </p:tavLst>
                                    </p:anim>
                                    <p:anim calcmode="lin" valueType="num">
                                      <p:cBhvr additive="base">
                                        <p:cTn id="14" dur="1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4A8E60B9-8D6C-964A-8EEB-B9F8245A978E}"/>
              </a:ext>
            </a:extLst>
          </p:cNvPr>
          <p:cNvSpPr>
            <a:spLocks noGrp="1" noChangeArrowheads="1"/>
          </p:cNvSpPr>
          <p:nvPr>
            <p:ph type="title"/>
          </p:nvPr>
        </p:nvSpPr>
        <p:spPr bwMode="auto">
          <a:xfrm>
            <a:off x="358775" y="752475"/>
            <a:ext cx="8229600" cy="563563"/>
          </a:xfrm>
        </p:spPr>
        <p:txBody>
          <a:bodyPr vert="horz" wrap="square" lIns="84406" tIns="42203" rIns="84406" bIns="42203" numCol="1" anchor="t" anchorCtr="0" compatLnSpc="1">
            <a:prstTxWarp prst="textNoShape">
              <a:avLst/>
            </a:prstTxWarp>
          </a:bodyPr>
          <a:lstStyle/>
          <a:p>
            <a:pPr eaLnBrk="1" hangingPunct="1">
              <a:defRPr/>
            </a:pPr>
            <a:r>
              <a:rPr lang="en-US" altLang="zh-CN" sz="32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4D)</a:t>
            </a:r>
            <a:r>
              <a:rPr lang="zh-CN" altLang="en-US" sz="3200">
                <a:solidFill>
                  <a:srgbClr val="FF0000"/>
                </a:solidFill>
                <a:latin typeface="黑体" panose="02010609060101010101" pitchFamily="49" charset="-122"/>
                <a:ea typeface="黑体" panose="02010609060101010101" pitchFamily="49" charset="-122"/>
                <a:cs typeface="Times New Roman" panose="02020603050405020304" pitchFamily="18" charset="0"/>
              </a:rPr>
              <a:t>计算响应机制</a:t>
            </a:r>
          </a:p>
        </p:txBody>
      </p:sp>
      <p:sp>
        <p:nvSpPr>
          <p:cNvPr id="66563" name="Rectangle 3">
            <a:extLst>
              <a:ext uri="{FF2B5EF4-FFF2-40B4-BE49-F238E27FC236}">
                <a16:creationId xmlns:a16="http://schemas.microsoft.com/office/drawing/2014/main" id="{B9B1A18C-BA02-C446-AF75-6AA13A1DD17C}"/>
              </a:ext>
            </a:extLst>
          </p:cNvPr>
          <p:cNvSpPr>
            <a:spLocks noGrp="1" noChangeArrowheads="1"/>
          </p:cNvSpPr>
          <p:nvPr>
            <p:ph type="body" idx="1"/>
          </p:nvPr>
        </p:nvSpPr>
        <p:spPr bwMode="auto">
          <a:xfrm>
            <a:off x="609600" y="4008438"/>
            <a:ext cx="8229600" cy="1928812"/>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u"/>
              <a:defRPr/>
            </a:pPr>
            <a:r>
              <a:rPr lang="zh-CN" altLang="en-US" sz="2400">
                <a:solidFill>
                  <a:schemeClr val="bg2"/>
                </a:solidFill>
                <a:latin typeface="黑体" panose="02010609060101010101" pitchFamily="49" charset="-122"/>
                <a:ea typeface="黑体" panose="02010609060101010101" pitchFamily="49" charset="-122"/>
              </a:rPr>
              <a:t>发送带有经挑选的供选择值和身份信息的鉴别请求</a:t>
            </a:r>
          </a:p>
          <a:p>
            <a:pPr eaLnBrk="1" hangingPunct="1">
              <a:buClr>
                <a:srgbClr val="FF0000"/>
              </a:buClr>
              <a:buFont typeface="Wingdings" pitchFamily="2" charset="2"/>
              <a:buChar char="u"/>
              <a:defRPr/>
            </a:pPr>
            <a:r>
              <a:rPr lang="zh-CN" altLang="en-US" sz="2400">
                <a:solidFill>
                  <a:schemeClr val="bg2"/>
                </a:solidFill>
                <a:latin typeface="黑体" panose="02010609060101010101" pitchFamily="49" charset="-122"/>
                <a:ea typeface="黑体" panose="02010609060101010101" pitchFamily="49" charset="-122"/>
              </a:rPr>
              <a:t>发出质询，指出验证者所选中的值</a:t>
            </a:r>
          </a:p>
          <a:p>
            <a:pPr eaLnBrk="1" hangingPunct="1">
              <a:buClr>
                <a:srgbClr val="FF0000"/>
              </a:buClr>
              <a:buFont typeface="Wingdings" pitchFamily="2" charset="2"/>
              <a:buChar char="u"/>
              <a:defRPr/>
            </a:pPr>
            <a:r>
              <a:rPr lang="zh-CN" altLang="en-US" sz="2400">
                <a:solidFill>
                  <a:schemeClr val="bg2"/>
                </a:solidFill>
                <a:latin typeface="黑体" panose="02010609060101010101" pitchFamily="49" charset="-122"/>
                <a:ea typeface="黑体" panose="02010609060101010101" pitchFamily="49" charset="-122"/>
              </a:rPr>
              <a:t>发出一个响应，包含利用适当函数变换的惟一数、质询或计算响应被选中的值以及申请</a:t>
            </a:r>
            <a:r>
              <a:rPr lang="en-US" altLang="zh-CN" sz="2400">
                <a:solidFill>
                  <a:schemeClr val="bg2"/>
                </a:solidFill>
                <a:latin typeface="黑体" panose="02010609060101010101" pitchFamily="49" charset="-122"/>
                <a:ea typeface="黑体" panose="02010609060101010101" pitchFamily="49" charset="-122"/>
              </a:rPr>
              <a:t>AI</a:t>
            </a:r>
            <a:r>
              <a:rPr lang="zh-CN" altLang="en-US" sz="2400">
                <a:solidFill>
                  <a:schemeClr val="bg2"/>
                </a:solidFill>
                <a:latin typeface="黑体" panose="02010609060101010101" pitchFamily="49" charset="-122"/>
                <a:ea typeface="黑体" panose="02010609060101010101" pitchFamily="49" charset="-122"/>
              </a:rPr>
              <a:t>。</a:t>
            </a:r>
          </a:p>
        </p:txBody>
      </p:sp>
      <p:grpSp>
        <p:nvGrpSpPr>
          <p:cNvPr id="2" name="组合 1">
            <a:extLst>
              <a:ext uri="{FF2B5EF4-FFF2-40B4-BE49-F238E27FC236}">
                <a16:creationId xmlns:a16="http://schemas.microsoft.com/office/drawing/2014/main" id="{FA88043A-800B-4E48-B2EF-CE91288A2AB5}"/>
              </a:ext>
            </a:extLst>
          </p:cNvPr>
          <p:cNvGrpSpPr>
            <a:grpSpLocks/>
          </p:cNvGrpSpPr>
          <p:nvPr/>
        </p:nvGrpSpPr>
        <p:grpSpPr bwMode="auto">
          <a:xfrm>
            <a:off x="185738" y="1676400"/>
            <a:ext cx="8575675" cy="1795463"/>
            <a:chOff x="252413" y="3760788"/>
            <a:chExt cx="8575675" cy="1795462"/>
          </a:xfrm>
        </p:grpSpPr>
        <p:grpSp>
          <p:nvGrpSpPr>
            <p:cNvPr id="30724" name="Group 4">
              <a:extLst>
                <a:ext uri="{FF2B5EF4-FFF2-40B4-BE49-F238E27FC236}">
                  <a16:creationId xmlns:a16="http://schemas.microsoft.com/office/drawing/2014/main" id="{DFD1354B-866E-E240-8681-E9DEF4163A98}"/>
                </a:ext>
              </a:extLst>
            </p:cNvPr>
            <p:cNvGrpSpPr>
              <a:grpSpLocks/>
            </p:cNvGrpSpPr>
            <p:nvPr/>
          </p:nvGrpSpPr>
          <p:grpSpPr bwMode="auto">
            <a:xfrm>
              <a:off x="252413" y="4581525"/>
              <a:ext cx="8575675" cy="476250"/>
              <a:chOff x="172" y="2840"/>
              <a:chExt cx="5852" cy="326"/>
            </a:xfrm>
          </p:grpSpPr>
          <p:sp>
            <p:nvSpPr>
              <p:cNvPr id="66574" name="Text Box 5">
                <a:extLst>
                  <a:ext uri="{FF2B5EF4-FFF2-40B4-BE49-F238E27FC236}">
                    <a16:creationId xmlns:a16="http://schemas.microsoft.com/office/drawing/2014/main" id="{906F510A-D152-2844-9896-0B22A3544DBB}"/>
                  </a:ext>
                </a:extLst>
              </p:cNvPr>
              <p:cNvSpPr txBox="1">
                <a:spLocks noChangeArrowheads="1"/>
              </p:cNvSpPr>
              <p:nvPr/>
            </p:nvSpPr>
            <p:spPr bwMode="auto">
              <a:xfrm>
                <a:off x="172" y="2840"/>
                <a:ext cx="908"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66575" name="Text Box 6">
                <a:extLst>
                  <a:ext uri="{FF2B5EF4-FFF2-40B4-BE49-F238E27FC236}">
                    <a16:creationId xmlns:a16="http://schemas.microsoft.com/office/drawing/2014/main" id="{CBB066B8-3F76-2145-8983-44E265BB5891}"/>
                  </a:ext>
                </a:extLst>
              </p:cNvPr>
              <p:cNvSpPr txBox="1">
                <a:spLocks noChangeArrowheads="1"/>
              </p:cNvSpPr>
              <p:nvPr/>
            </p:nvSpPr>
            <p:spPr bwMode="auto">
              <a:xfrm>
                <a:off x="5116" y="2870"/>
                <a:ext cx="908"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grpSp>
          <p:nvGrpSpPr>
            <p:cNvPr id="30725" name="Group 7">
              <a:extLst>
                <a:ext uri="{FF2B5EF4-FFF2-40B4-BE49-F238E27FC236}">
                  <a16:creationId xmlns:a16="http://schemas.microsoft.com/office/drawing/2014/main" id="{B004EC82-9D9E-D940-A7E5-373DBC4313FC}"/>
                </a:ext>
              </a:extLst>
            </p:cNvPr>
            <p:cNvGrpSpPr>
              <a:grpSpLocks/>
            </p:cNvGrpSpPr>
            <p:nvPr/>
          </p:nvGrpSpPr>
          <p:grpSpPr bwMode="auto">
            <a:xfrm>
              <a:off x="1381125" y="5133975"/>
              <a:ext cx="6581775" cy="422275"/>
              <a:chOff x="943" y="2824"/>
              <a:chExt cx="4491" cy="289"/>
            </a:xfrm>
          </p:grpSpPr>
          <p:sp>
            <p:nvSpPr>
              <p:cNvPr id="66572" name="Line 8">
                <a:extLst>
                  <a:ext uri="{FF2B5EF4-FFF2-40B4-BE49-F238E27FC236}">
                    <a16:creationId xmlns:a16="http://schemas.microsoft.com/office/drawing/2014/main" id="{6DE36741-87A8-3048-93C9-532D1E648434}"/>
                  </a:ext>
                </a:extLst>
              </p:cNvPr>
              <p:cNvSpPr>
                <a:spLocks noChangeShapeType="1"/>
              </p:cNvSpPr>
              <p:nvPr/>
            </p:nvSpPr>
            <p:spPr bwMode="auto">
              <a:xfrm>
                <a:off x="1125" y="3113"/>
                <a:ext cx="4083" cy="0"/>
              </a:xfrm>
              <a:prstGeom prst="line">
                <a:avLst/>
              </a:prstGeom>
              <a:noFill/>
              <a:ln w="57150">
                <a:solidFill>
                  <a:srgbClr val="FF0000"/>
                </a:solidFill>
                <a:round/>
                <a:headEn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6573" name="Text Box 9">
                <a:extLst>
                  <a:ext uri="{FF2B5EF4-FFF2-40B4-BE49-F238E27FC236}">
                    <a16:creationId xmlns:a16="http://schemas.microsoft.com/office/drawing/2014/main" id="{C45C5BEE-056E-5249-8D4F-7B5CE5F82FC3}"/>
                  </a:ext>
                </a:extLst>
              </p:cNvPr>
              <p:cNvSpPr txBox="1">
                <a:spLocks noChangeArrowheads="1"/>
              </p:cNvSpPr>
              <p:nvPr/>
            </p:nvSpPr>
            <p:spPr bwMode="auto">
              <a:xfrm>
                <a:off x="943" y="2824"/>
                <a:ext cx="4491" cy="257"/>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en-US" altLang="zh-CN" sz="18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F</a:t>
                </a:r>
                <a:r>
                  <a:rPr lang="zh-CN" altLang="en-US" sz="18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（质询或选中的值，请求</a:t>
                </a:r>
                <a:r>
                  <a:rPr lang="en-US" altLang="zh-CN" sz="18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AI</a:t>
                </a:r>
                <a:r>
                  <a:rPr lang="zh-CN" altLang="en-US" sz="18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en-US" altLang="zh-CN" sz="18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数字指纹</a:t>
                </a:r>
                <a:r>
                  <a:rPr lang="en-US" altLang="zh-CN" sz="18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18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p>
            </p:txBody>
          </p:sp>
        </p:grpSp>
        <p:grpSp>
          <p:nvGrpSpPr>
            <p:cNvPr id="30726" name="Group 10">
              <a:extLst>
                <a:ext uri="{FF2B5EF4-FFF2-40B4-BE49-F238E27FC236}">
                  <a16:creationId xmlns:a16="http://schemas.microsoft.com/office/drawing/2014/main" id="{6A06ECE6-283D-CA4C-9786-D1FD7DC344C1}"/>
                </a:ext>
              </a:extLst>
            </p:cNvPr>
            <p:cNvGrpSpPr>
              <a:grpSpLocks/>
            </p:cNvGrpSpPr>
            <p:nvPr/>
          </p:nvGrpSpPr>
          <p:grpSpPr bwMode="auto">
            <a:xfrm>
              <a:off x="1247775" y="3760788"/>
              <a:ext cx="6581775" cy="433387"/>
              <a:chOff x="852" y="2280"/>
              <a:chExt cx="4491" cy="296"/>
            </a:xfrm>
          </p:grpSpPr>
          <p:sp>
            <p:nvSpPr>
              <p:cNvPr id="66570" name="Line 11">
                <a:extLst>
                  <a:ext uri="{FF2B5EF4-FFF2-40B4-BE49-F238E27FC236}">
                    <a16:creationId xmlns:a16="http://schemas.microsoft.com/office/drawing/2014/main" id="{701ACDE8-A9C4-DF4F-8376-BF89F08E2F40}"/>
                  </a:ext>
                </a:extLst>
              </p:cNvPr>
              <p:cNvSpPr>
                <a:spLocks noChangeShapeType="1"/>
              </p:cNvSpPr>
              <p:nvPr/>
            </p:nvSpPr>
            <p:spPr bwMode="auto">
              <a:xfrm>
                <a:off x="1124" y="2568"/>
                <a:ext cx="4083" cy="0"/>
              </a:xfrm>
              <a:prstGeom prst="line">
                <a:avLst/>
              </a:prstGeom>
              <a:noFill/>
              <a:ln w="57150">
                <a:solidFill>
                  <a:srgbClr val="FF0000"/>
                </a:solidFill>
                <a:round/>
                <a:headEn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6571" name="Text Box 12">
                <a:extLst>
                  <a:ext uri="{FF2B5EF4-FFF2-40B4-BE49-F238E27FC236}">
                    <a16:creationId xmlns:a16="http://schemas.microsoft.com/office/drawing/2014/main" id="{A66C7860-C7F6-3147-B6AE-4F182DB219BA}"/>
                  </a:ext>
                </a:extLst>
              </p:cNvPr>
              <p:cNvSpPr txBox="1">
                <a:spLocks noChangeArrowheads="1"/>
              </p:cNvSpPr>
              <p:nvPr/>
            </p:nvSpPr>
            <p:spPr bwMode="auto">
              <a:xfrm>
                <a:off x="852" y="2280"/>
                <a:ext cx="4491"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鉴别请求，可辨别标识符，惟一数，供选择的值</a:t>
                </a:r>
                <a:endParaRPr lang="zh-CN" altLang="en-US" sz="180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grpSp>
          <p:nvGrpSpPr>
            <p:cNvPr id="30727" name="Group 13">
              <a:extLst>
                <a:ext uri="{FF2B5EF4-FFF2-40B4-BE49-F238E27FC236}">
                  <a16:creationId xmlns:a16="http://schemas.microsoft.com/office/drawing/2014/main" id="{AE29A019-39CC-464D-A6EE-944936DF39FD}"/>
                </a:ext>
              </a:extLst>
            </p:cNvPr>
            <p:cNvGrpSpPr>
              <a:grpSpLocks/>
            </p:cNvGrpSpPr>
            <p:nvPr/>
          </p:nvGrpSpPr>
          <p:grpSpPr bwMode="auto">
            <a:xfrm>
              <a:off x="1182688" y="4425950"/>
              <a:ext cx="6580187" cy="433388"/>
              <a:chOff x="807" y="2734"/>
              <a:chExt cx="4491" cy="296"/>
            </a:xfrm>
          </p:grpSpPr>
          <p:sp>
            <p:nvSpPr>
              <p:cNvPr id="66568" name="Line 14">
                <a:extLst>
                  <a:ext uri="{FF2B5EF4-FFF2-40B4-BE49-F238E27FC236}">
                    <a16:creationId xmlns:a16="http://schemas.microsoft.com/office/drawing/2014/main" id="{DCED4704-0A26-4742-8BD2-D0CF7AF3E9FB}"/>
                  </a:ext>
                </a:extLst>
              </p:cNvPr>
              <p:cNvSpPr>
                <a:spLocks noChangeShapeType="1"/>
              </p:cNvSpPr>
              <p:nvPr/>
            </p:nvSpPr>
            <p:spPr bwMode="auto">
              <a:xfrm rot="10800000">
                <a:off x="1124" y="3022"/>
                <a:ext cx="4083" cy="0"/>
              </a:xfrm>
              <a:prstGeom prst="line">
                <a:avLst/>
              </a:prstGeom>
              <a:noFill/>
              <a:ln w="57150">
                <a:solidFill>
                  <a:srgbClr val="FF0000"/>
                </a:solidFill>
                <a:round/>
                <a:headEn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6569" name="Text Box 15">
                <a:extLst>
                  <a:ext uri="{FF2B5EF4-FFF2-40B4-BE49-F238E27FC236}">
                    <a16:creationId xmlns:a16="http://schemas.microsoft.com/office/drawing/2014/main" id="{481D18A4-D33D-2342-86AD-A0C71A34D48A}"/>
                  </a:ext>
                </a:extLst>
              </p:cNvPr>
              <p:cNvSpPr txBox="1">
                <a:spLocks noChangeArrowheads="1"/>
              </p:cNvSpPr>
              <p:nvPr/>
            </p:nvSpPr>
            <p:spPr bwMode="auto">
              <a:xfrm>
                <a:off x="807" y="2734"/>
                <a:ext cx="4491" cy="29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质询，被选中的值</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66563">
                                            <p:txEl>
                                              <p:pRg st="0" end="0"/>
                                            </p:txEl>
                                          </p:spTgt>
                                        </p:tgtEl>
                                        <p:attrNameLst>
                                          <p:attrName>style.visibility</p:attrName>
                                        </p:attrNameLst>
                                      </p:cBhvr>
                                      <p:to>
                                        <p:strVal val="visible"/>
                                      </p:to>
                                    </p:set>
                                    <p:anim calcmode="lin" valueType="num">
                                      <p:cBhvr>
                                        <p:cTn id="12" dur="1000" fill="hold"/>
                                        <p:tgtEl>
                                          <p:spTgt spid="66563">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66563">
                                            <p:txEl>
                                              <p:pRg st="0" end="0"/>
                                            </p:txEl>
                                          </p:spTgt>
                                        </p:tgtEl>
                                        <p:attrNameLst>
                                          <p:attrName>ppt_h</p:attrName>
                                        </p:attrNameLst>
                                      </p:cBhvr>
                                      <p:tavLst>
                                        <p:tav tm="0">
                                          <p:val>
                                            <p:fltVal val="0"/>
                                          </p:val>
                                        </p:tav>
                                        <p:tav tm="100000">
                                          <p:val>
                                            <p:strVal val="#ppt_h"/>
                                          </p:val>
                                        </p:tav>
                                      </p:tavLst>
                                    </p:anim>
                                    <p:animEffect transition="in" filter="fade">
                                      <p:cBhvr>
                                        <p:cTn id="14" dur="1000"/>
                                        <p:tgtEl>
                                          <p:spTgt spid="66563">
                                            <p:txEl>
                                              <p:pRg st="0" end="0"/>
                                            </p:txEl>
                                          </p:spTgt>
                                        </p:tgtEl>
                                      </p:cBhvr>
                                    </p:animEffect>
                                  </p:childTnLst>
                                </p:cTn>
                              </p:par>
                            </p:childTnLst>
                          </p:cTn>
                        </p:par>
                        <p:par>
                          <p:cTn id="15" fill="hold" nodeType="afterGroup">
                            <p:stCondLst>
                              <p:cond delay="1500"/>
                            </p:stCondLst>
                            <p:childTnLst>
                              <p:par>
                                <p:cTn id="16" presetID="53" presetClass="entr" presetSubtype="16" fill="hold" grpId="0" nodeType="afterEffect">
                                  <p:stCondLst>
                                    <p:cond delay="0"/>
                                  </p:stCondLst>
                                  <p:childTnLst>
                                    <p:set>
                                      <p:cBhvr>
                                        <p:cTn id="17" dur="1" fill="hold">
                                          <p:stCondLst>
                                            <p:cond delay="0"/>
                                          </p:stCondLst>
                                        </p:cTn>
                                        <p:tgtEl>
                                          <p:spTgt spid="66563">
                                            <p:txEl>
                                              <p:pRg st="1" end="1"/>
                                            </p:txEl>
                                          </p:spTgt>
                                        </p:tgtEl>
                                        <p:attrNameLst>
                                          <p:attrName>style.visibility</p:attrName>
                                        </p:attrNameLst>
                                      </p:cBhvr>
                                      <p:to>
                                        <p:strVal val="visible"/>
                                      </p:to>
                                    </p:set>
                                    <p:anim calcmode="lin" valueType="num">
                                      <p:cBhvr>
                                        <p:cTn id="18" dur="1000" fill="hold"/>
                                        <p:tgtEl>
                                          <p:spTgt spid="66563">
                                            <p:txEl>
                                              <p:pRg st="1" end="1"/>
                                            </p:txEl>
                                          </p:spTgt>
                                        </p:tgtEl>
                                        <p:attrNameLst>
                                          <p:attrName>ppt_w</p:attrName>
                                        </p:attrNameLst>
                                      </p:cBhvr>
                                      <p:tavLst>
                                        <p:tav tm="0">
                                          <p:val>
                                            <p:fltVal val="0"/>
                                          </p:val>
                                        </p:tav>
                                        <p:tav tm="100000">
                                          <p:val>
                                            <p:strVal val="#ppt_w"/>
                                          </p:val>
                                        </p:tav>
                                      </p:tavLst>
                                    </p:anim>
                                    <p:anim calcmode="lin" valueType="num">
                                      <p:cBhvr>
                                        <p:cTn id="19" dur="1000" fill="hold"/>
                                        <p:tgtEl>
                                          <p:spTgt spid="66563">
                                            <p:txEl>
                                              <p:pRg st="1" end="1"/>
                                            </p:txEl>
                                          </p:spTgt>
                                        </p:tgtEl>
                                        <p:attrNameLst>
                                          <p:attrName>ppt_h</p:attrName>
                                        </p:attrNameLst>
                                      </p:cBhvr>
                                      <p:tavLst>
                                        <p:tav tm="0">
                                          <p:val>
                                            <p:fltVal val="0"/>
                                          </p:val>
                                        </p:tav>
                                        <p:tav tm="100000">
                                          <p:val>
                                            <p:strVal val="#ppt_h"/>
                                          </p:val>
                                        </p:tav>
                                      </p:tavLst>
                                    </p:anim>
                                    <p:animEffect transition="in" filter="fade">
                                      <p:cBhvr>
                                        <p:cTn id="20" dur="1000"/>
                                        <p:tgtEl>
                                          <p:spTgt spid="66563">
                                            <p:txEl>
                                              <p:pRg st="1" end="1"/>
                                            </p:txEl>
                                          </p:spTgt>
                                        </p:tgtEl>
                                      </p:cBhvr>
                                    </p:animEffect>
                                  </p:childTnLst>
                                </p:cTn>
                              </p:par>
                            </p:childTnLst>
                          </p:cTn>
                        </p:par>
                        <p:par>
                          <p:cTn id="21" fill="hold" nodeType="afterGroup">
                            <p:stCondLst>
                              <p:cond delay="2500"/>
                            </p:stCondLst>
                            <p:childTnLst>
                              <p:par>
                                <p:cTn id="22" presetID="53" presetClass="entr" presetSubtype="16" fill="hold" grpId="0" nodeType="afterEffect">
                                  <p:stCondLst>
                                    <p:cond delay="0"/>
                                  </p:stCondLst>
                                  <p:childTnLst>
                                    <p:set>
                                      <p:cBhvr>
                                        <p:cTn id="23" dur="1" fill="hold">
                                          <p:stCondLst>
                                            <p:cond delay="0"/>
                                          </p:stCondLst>
                                        </p:cTn>
                                        <p:tgtEl>
                                          <p:spTgt spid="66563">
                                            <p:txEl>
                                              <p:pRg st="2" end="2"/>
                                            </p:txEl>
                                          </p:spTgt>
                                        </p:tgtEl>
                                        <p:attrNameLst>
                                          <p:attrName>style.visibility</p:attrName>
                                        </p:attrNameLst>
                                      </p:cBhvr>
                                      <p:to>
                                        <p:strVal val="visible"/>
                                      </p:to>
                                    </p:set>
                                    <p:anim calcmode="lin" valueType="num">
                                      <p:cBhvr>
                                        <p:cTn id="24" dur="1000" fill="hold"/>
                                        <p:tgtEl>
                                          <p:spTgt spid="66563">
                                            <p:txEl>
                                              <p:pRg st="2" end="2"/>
                                            </p:txEl>
                                          </p:spTgt>
                                        </p:tgtEl>
                                        <p:attrNameLst>
                                          <p:attrName>ppt_w</p:attrName>
                                        </p:attrNameLst>
                                      </p:cBhvr>
                                      <p:tavLst>
                                        <p:tav tm="0">
                                          <p:val>
                                            <p:fltVal val="0"/>
                                          </p:val>
                                        </p:tav>
                                        <p:tav tm="100000">
                                          <p:val>
                                            <p:strVal val="#ppt_w"/>
                                          </p:val>
                                        </p:tav>
                                      </p:tavLst>
                                    </p:anim>
                                    <p:anim calcmode="lin" valueType="num">
                                      <p:cBhvr>
                                        <p:cTn id="25" dur="1000" fill="hold"/>
                                        <p:tgtEl>
                                          <p:spTgt spid="66563">
                                            <p:txEl>
                                              <p:pRg st="2" end="2"/>
                                            </p:txEl>
                                          </p:spTgt>
                                        </p:tgtEl>
                                        <p:attrNameLst>
                                          <p:attrName>ppt_h</p:attrName>
                                        </p:attrNameLst>
                                      </p:cBhvr>
                                      <p:tavLst>
                                        <p:tav tm="0">
                                          <p:val>
                                            <p:fltVal val="0"/>
                                          </p:val>
                                        </p:tav>
                                        <p:tav tm="100000">
                                          <p:val>
                                            <p:strVal val="#ppt_h"/>
                                          </p:val>
                                        </p:tav>
                                      </p:tavLst>
                                    </p:anim>
                                    <p:animEffect transition="in" filter="fade">
                                      <p:cBhvr>
                                        <p:cTn id="26" dur="1000"/>
                                        <p:tgtEl>
                                          <p:spTgt spid="665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59E91C7-D06B-C643-BFC1-B75C64C7335D}"/>
              </a:ext>
            </a:extLst>
          </p:cNvPr>
          <p:cNvSpPr>
            <a:spLocks noGrp="1" noChangeArrowheads="1"/>
          </p:cNvSpPr>
          <p:nvPr>
            <p:ph type="title"/>
          </p:nvPr>
        </p:nvSpPr>
        <p:spPr bwMode="auto">
          <a:xfrm>
            <a:off x="533400" y="838200"/>
            <a:ext cx="8229600" cy="549275"/>
          </a:xfrm>
        </p:spPr>
        <p:txBody>
          <a:bodyPr vert="horz" wrap="square" lIns="84406" tIns="42203" rIns="84406" bIns="42203" numCol="1" anchor="t" anchorCtr="0" compatLnSpc="1">
            <a:prstTxWarp prst="textNoShape">
              <a:avLst/>
            </a:prstTxWarp>
          </a:bodyPr>
          <a:lstStyle/>
          <a:p>
            <a:pPr eaLnBrk="1" hangingPunct="1">
              <a:defRPr/>
            </a:pPr>
            <a:r>
              <a:rPr kumimoji="1" lang="en-US" altLang="zh-CN" sz="3200">
                <a:solidFill>
                  <a:schemeClr val="bg2"/>
                </a:solidFill>
                <a:latin typeface="黑体" panose="02010609060101010101" pitchFamily="49" charset="-122"/>
                <a:ea typeface="黑体" panose="02010609060101010101" pitchFamily="49" charset="-122"/>
              </a:rPr>
              <a:t>5.4 </a:t>
            </a:r>
            <a:r>
              <a:rPr kumimoji="1" lang="zh-CN" altLang="en-US" sz="3200">
                <a:solidFill>
                  <a:schemeClr val="bg2"/>
                </a:solidFill>
                <a:latin typeface="黑体" panose="02010609060101010101" pitchFamily="49" charset="-122"/>
                <a:ea typeface="黑体" panose="02010609060101010101" pitchFamily="49" charset="-122"/>
              </a:rPr>
              <a:t>鉴别技术分类：按机制的配置分类</a:t>
            </a:r>
          </a:p>
        </p:txBody>
      </p:sp>
      <p:sp>
        <p:nvSpPr>
          <p:cNvPr id="2" name="矩形 1">
            <a:extLst>
              <a:ext uri="{FF2B5EF4-FFF2-40B4-BE49-F238E27FC236}">
                <a16:creationId xmlns:a16="http://schemas.microsoft.com/office/drawing/2014/main" id="{C117C9B9-3E02-D643-B6E4-51EFC8E90118}"/>
              </a:ext>
            </a:extLst>
          </p:cNvPr>
          <p:cNvSpPr/>
          <p:nvPr/>
        </p:nvSpPr>
        <p:spPr>
          <a:xfrm>
            <a:off x="762000" y="1728788"/>
            <a:ext cx="6705600" cy="1570037"/>
          </a:xfrm>
          <a:prstGeom prst="rect">
            <a:avLst/>
          </a:prstGeom>
        </p:spPr>
        <p:txBody>
          <a:bodyPr>
            <a:spAutoFit/>
          </a:bodyPr>
          <a:lstStyle>
            <a:lvl1pPr marL="571500" indent="-571500">
              <a:defRPr kumimoji="1" sz="4800" b="1">
                <a:solidFill>
                  <a:srgbClr val="FF0000"/>
                </a:solidFill>
                <a:latin typeface="隶书" pitchFamily="49" charset="-122"/>
                <a:ea typeface="隶书" pitchFamily="49" charset="-122"/>
              </a:defRPr>
            </a:lvl1pPr>
            <a:lvl2pPr marL="1028700" indent="-455613">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n"/>
              <a:defRPr/>
            </a:pPr>
            <a:r>
              <a:rPr lang="zh-CN" altLang="en-US" sz="3200">
                <a:solidFill>
                  <a:srgbClr val="0000FF"/>
                </a:solidFill>
                <a:effectLst>
                  <a:outerShdw blurRad="38100" dist="38100" dir="2700000" algn="tl">
                    <a:srgbClr val="C0C0C0"/>
                  </a:outerShdw>
                </a:effectLst>
                <a:latin typeface="Arial" panose="020B0604020202020204" pitchFamily="34" charset="0"/>
                <a:ea typeface="宋体" panose="02010600030101010101" pitchFamily="2" charset="-122"/>
              </a:rPr>
              <a:t>涉及可信第三方的模型</a:t>
            </a:r>
          </a:p>
          <a:p>
            <a:pPr lvl="1" eaLnBrk="1" hangingPunct="1">
              <a:lnSpc>
                <a:spcPct val="90000"/>
              </a:lnSpc>
              <a:spcBef>
                <a:spcPct val="30000"/>
              </a:spcBef>
              <a:buClr>
                <a:srgbClr val="FF0000"/>
              </a:buClr>
              <a:buSzPct val="75000"/>
              <a:buFont typeface="Wingdings" pitchFamily="2" charset="2"/>
              <a:buChar char="u"/>
              <a:defRPr/>
            </a:pPr>
            <a:r>
              <a:rPr lang="zh-CN" altLang="en-US" sz="28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阶段模型</a:t>
            </a:r>
          </a:p>
          <a:p>
            <a:pPr lvl="1" eaLnBrk="1" hangingPunct="1">
              <a:lnSpc>
                <a:spcPct val="90000"/>
              </a:lnSpc>
              <a:spcBef>
                <a:spcPct val="30000"/>
              </a:spcBef>
              <a:buClr>
                <a:srgbClr val="FF0000"/>
              </a:buClr>
              <a:buSzPct val="75000"/>
              <a:buFont typeface="Wingdings" pitchFamily="2" charset="2"/>
              <a:buChar char="u"/>
              <a:defRPr/>
            </a:pPr>
            <a:r>
              <a:rPr lang="zh-CN" altLang="en-US" sz="28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使用初始化信息知识的模型</a:t>
            </a:r>
          </a:p>
        </p:txBody>
      </p:sp>
      <p:sp>
        <p:nvSpPr>
          <p:cNvPr id="3" name="矩形 2">
            <a:extLst>
              <a:ext uri="{FF2B5EF4-FFF2-40B4-BE49-F238E27FC236}">
                <a16:creationId xmlns:a16="http://schemas.microsoft.com/office/drawing/2014/main" id="{60EDE69F-033F-7D4A-97F8-EC3BE8F20BBE}"/>
              </a:ext>
            </a:extLst>
          </p:cNvPr>
          <p:cNvSpPr/>
          <p:nvPr/>
        </p:nvSpPr>
        <p:spPr>
          <a:xfrm>
            <a:off x="762000" y="3505200"/>
            <a:ext cx="7772400" cy="1570038"/>
          </a:xfrm>
          <a:prstGeom prst="rect">
            <a:avLst/>
          </a:prstGeom>
        </p:spPr>
        <p:txBody>
          <a:bodyPr>
            <a:spAutoFit/>
          </a:bodyPr>
          <a:lstStyle>
            <a:lvl1pPr marL="571500" indent="-571500">
              <a:defRPr kumimoji="1" sz="4800" b="1">
                <a:solidFill>
                  <a:srgbClr val="FF0000"/>
                </a:solidFill>
                <a:latin typeface="隶书" pitchFamily="49" charset="-122"/>
                <a:ea typeface="隶书" pitchFamily="49" charset="-122"/>
              </a:defRPr>
            </a:lvl1pPr>
            <a:lvl2pPr marL="1028700" indent="-455613">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n"/>
              <a:defRPr/>
            </a:pPr>
            <a:r>
              <a:rPr lang="zh-CN" altLang="en-US" sz="3200">
                <a:solidFill>
                  <a:srgbClr val="0000FF"/>
                </a:solidFill>
                <a:effectLst>
                  <a:outerShdw blurRad="38100" dist="38100" dir="2700000" algn="tl">
                    <a:srgbClr val="C0C0C0"/>
                  </a:outerShdw>
                </a:effectLst>
                <a:latin typeface="Arial" panose="020B0604020202020204" pitchFamily="34" charset="0"/>
                <a:ea typeface="宋体" panose="02010600030101010101" pitchFamily="2" charset="-122"/>
              </a:rPr>
              <a:t>介入鉴别的可信第三方之间的关系</a:t>
            </a:r>
          </a:p>
          <a:p>
            <a:pPr lvl="1" eaLnBrk="1" hangingPunct="1">
              <a:lnSpc>
                <a:spcPct val="90000"/>
              </a:lnSpc>
              <a:spcBef>
                <a:spcPct val="30000"/>
              </a:spcBef>
              <a:buClr>
                <a:srgbClr val="FF0000"/>
              </a:buClr>
              <a:buSzPct val="75000"/>
              <a:buFont typeface="Wingdings" pitchFamily="2" charset="2"/>
              <a:buChar char="u"/>
              <a:defRPr/>
            </a:pPr>
            <a:r>
              <a:rPr lang="zh-CN" altLang="en-US" sz="28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联机可信第三方</a:t>
            </a:r>
          </a:p>
          <a:p>
            <a:pPr lvl="1" eaLnBrk="1" hangingPunct="1">
              <a:lnSpc>
                <a:spcPct val="90000"/>
              </a:lnSpc>
              <a:spcBef>
                <a:spcPct val="30000"/>
              </a:spcBef>
              <a:buClr>
                <a:srgbClr val="FF0000"/>
              </a:buClr>
              <a:buSzPct val="75000"/>
              <a:buFont typeface="Wingdings" pitchFamily="2" charset="2"/>
              <a:buChar char="u"/>
              <a:defRPr/>
            </a:pPr>
            <a:r>
              <a:rPr lang="zh-CN" altLang="en-US" sz="28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脱机可信第三方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4D1C338F-12FD-5646-B557-AB56BCC75295}"/>
              </a:ext>
            </a:extLst>
          </p:cNvPr>
          <p:cNvSpPr>
            <a:spLocks noGrp="1" noChangeArrowheads="1"/>
          </p:cNvSpPr>
          <p:nvPr>
            <p:ph type="title"/>
          </p:nvPr>
        </p:nvSpPr>
        <p:spPr bwMode="auto">
          <a:xfrm>
            <a:off x="442913" y="747713"/>
            <a:ext cx="8229600" cy="650875"/>
          </a:xfrm>
        </p:spPr>
        <p:txBody>
          <a:bodyPr vert="horz" wrap="square" lIns="84406" tIns="42203" rIns="84406" bIns="42203" numCol="1" anchor="t" anchorCtr="0" compatLnSpc="1">
            <a:prstTxWarp prst="textNoShape">
              <a:avLst/>
            </a:prstTxWarp>
          </a:bodyPr>
          <a:lstStyle/>
          <a:p>
            <a:pPr eaLnBrk="1" hangingPunct="1">
              <a:defRPr/>
            </a:pPr>
            <a:r>
              <a:rPr lang="zh-CN" altLang="en-US" sz="3200">
                <a:solidFill>
                  <a:srgbClr val="FF0000"/>
                </a:solidFill>
                <a:latin typeface="黑体" panose="02010609060101010101" pitchFamily="49" charset="-122"/>
                <a:ea typeface="黑体" panose="02010609060101010101" pitchFamily="49" charset="-122"/>
              </a:rPr>
              <a:t>鉴别方案</a:t>
            </a:r>
            <a:r>
              <a:rPr lang="en-US" altLang="zh-CN" sz="32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a:t>
            </a:r>
          </a:p>
        </p:txBody>
      </p:sp>
      <p:sp>
        <p:nvSpPr>
          <p:cNvPr id="68611" name="Rectangle 3">
            <a:extLst>
              <a:ext uri="{FF2B5EF4-FFF2-40B4-BE49-F238E27FC236}">
                <a16:creationId xmlns:a16="http://schemas.microsoft.com/office/drawing/2014/main" id="{C623AA7B-52F8-7349-A73F-FCA79337B774}"/>
              </a:ext>
            </a:extLst>
          </p:cNvPr>
          <p:cNvSpPr>
            <a:spLocks noGrp="1" noChangeArrowheads="1"/>
          </p:cNvSpPr>
          <p:nvPr>
            <p:ph type="body" idx="1"/>
          </p:nvPr>
        </p:nvSpPr>
        <p:spPr bwMode="auto">
          <a:xfrm>
            <a:off x="762000" y="4452938"/>
            <a:ext cx="8229600" cy="1490662"/>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n"/>
              <a:defRPr/>
            </a:pPr>
            <a:r>
              <a:rPr lang="zh-CN" altLang="en-US" sz="2200" dirty="0">
                <a:solidFill>
                  <a:schemeClr val="bg2"/>
                </a:solidFill>
                <a:latin typeface="黑体" panose="02010609060101010101" pitchFamily="49" charset="-122"/>
                <a:ea typeface="黑体" panose="02010609060101010101" pitchFamily="49" charset="-122"/>
              </a:rPr>
              <a:t>实体</a:t>
            </a:r>
            <a:r>
              <a:rPr lang="en-US" altLang="zh-CN" sz="2200" dirty="0">
                <a:solidFill>
                  <a:schemeClr val="bg2"/>
                </a:solidFill>
                <a:latin typeface="黑体" panose="02010609060101010101" pitchFamily="49" charset="-122"/>
                <a:ea typeface="黑体" panose="02010609060101010101" pitchFamily="49" charset="-122"/>
              </a:rPr>
              <a:t>A</a:t>
            </a:r>
            <a:r>
              <a:rPr lang="zh-CN" altLang="en-US" sz="2200" dirty="0">
                <a:solidFill>
                  <a:schemeClr val="bg2"/>
                </a:solidFill>
                <a:latin typeface="黑体" panose="02010609060101010101" pitchFamily="49" charset="-122"/>
                <a:ea typeface="黑体" panose="02010609060101010101" pitchFamily="49" charset="-122"/>
              </a:rPr>
              <a:t>与可信第三方进行鉴别交换后，从第三方得到申请</a:t>
            </a:r>
            <a:r>
              <a:rPr lang="en-US" altLang="zh-CN" sz="2200" dirty="0">
                <a:solidFill>
                  <a:schemeClr val="bg2"/>
                </a:solidFill>
                <a:latin typeface="黑体" panose="02010609060101010101" pitchFamily="49" charset="-122"/>
                <a:ea typeface="黑体" panose="02010609060101010101" pitchFamily="49" charset="-122"/>
              </a:rPr>
              <a:t>AI</a:t>
            </a:r>
            <a:r>
              <a:rPr lang="zh-CN" altLang="en-US" sz="2200" dirty="0">
                <a:solidFill>
                  <a:schemeClr val="bg2"/>
                </a:solidFill>
                <a:latin typeface="黑体" panose="02010609060101010101" pitchFamily="49" charset="-122"/>
                <a:ea typeface="黑体" panose="02010609060101010101" pitchFamily="49" charset="-122"/>
              </a:rPr>
              <a:t>；</a:t>
            </a:r>
          </a:p>
          <a:p>
            <a:pPr eaLnBrk="1" hangingPunct="1">
              <a:buClr>
                <a:srgbClr val="FF0000"/>
              </a:buClr>
              <a:buFont typeface="Wingdings" pitchFamily="2" charset="2"/>
              <a:buChar char="n"/>
              <a:defRPr/>
            </a:pPr>
            <a:r>
              <a:rPr lang="zh-CN" altLang="en-US" sz="2200" dirty="0">
                <a:solidFill>
                  <a:schemeClr val="bg2"/>
                </a:solidFill>
                <a:latin typeface="黑体" panose="02010609060101010101" pitchFamily="49" charset="-122"/>
                <a:ea typeface="黑体" panose="02010609060101010101" pitchFamily="49" charset="-122"/>
              </a:rPr>
              <a:t>实体</a:t>
            </a:r>
            <a:r>
              <a:rPr lang="en-US" altLang="zh-CN" sz="2200" dirty="0">
                <a:solidFill>
                  <a:schemeClr val="bg2"/>
                </a:solidFill>
                <a:latin typeface="黑体" panose="02010609060101010101" pitchFamily="49" charset="-122"/>
                <a:ea typeface="黑体" panose="02010609060101010101" pitchFamily="49" charset="-122"/>
              </a:rPr>
              <a:t>B</a:t>
            </a:r>
            <a:r>
              <a:rPr lang="zh-CN" altLang="en-US" sz="2200" dirty="0">
                <a:solidFill>
                  <a:schemeClr val="bg2"/>
                </a:solidFill>
                <a:latin typeface="黑体" panose="02010609060101010101" pitchFamily="49" charset="-122"/>
                <a:ea typeface="黑体" panose="02010609060101010101" pitchFamily="49" charset="-122"/>
              </a:rPr>
              <a:t>从可信第三方得到验证</a:t>
            </a:r>
            <a:r>
              <a:rPr lang="en-US" altLang="zh-CN" sz="2200" dirty="0">
                <a:solidFill>
                  <a:schemeClr val="bg2"/>
                </a:solidFill>
                <a:latin typeface="黑体" panose="02010609060101010101" pitchFamily="49" charset="-122"/>
                <a:ea typeface="黑体" panose="02010609060101010101" pitchFamily="49" charset="-122"/>
              </a:rPr>
              <a:t>AI</a:t>
            </a:r>
            <a:r>
              <a:rPr lang="zh-CN" altLang="en-US" sz="2200" dirty="0">
                <a:solidFill>
                  <a:schemeClr val="bg2"/>
                </a:solidFill>
                <a:latin typeface="黑体" panose="02010609060101010101" pitchFamily="49" charset="-122"/>
                <a:ea typeface="黑体" panose="02010609060101010101" pitchFamily="49" charset="-122"/>
              </a:rPr>
              <a:t>；</a:t>
            </a:r>
          </a:p>
          <a:p>
            <a:pPr eaLnBrk="1" hangingPunct="1">
              <a:buClr>
                <a:srgbClr val="FF0000"/>
              </a:buClr>
              <a:buFont typeface="Wingdings" pitchFamily="2" charset="2"/>
              <a:buChar char="n"/>
              <a:defRPr/>
            </a:pPr>
            <a:r>
              <a:rPr lang="zh-CN" altLang="en-US" sz="2200" dirty="0">
                <a:solidFill>
                  <a:schemeClr val="bg2"/>
                </a:solidFill>
                <a:latin typeface="黑体" panose="02010609060101010101" pitchFamily="49" charset="-122"/>
                <a:ea typeface="黑体" panose="02010609060101010101" pitchFamily="49" charset="-122"/>
              </a:rPr>
              <a:t>实体</a:t>
            </a:r>
            <a:r>
              <a:rPr lang="en-US" altLang="zh-CN" sz="2200" dirty="0">
                <a:solidFill>
                  <a:schemeClr val="bg2"/>
                </a:solidFill>
                <a:latin typeface="黑体" panose="02010609060101010101" pitchFamily="49" charset="-122"/>
                <a:ea typeface="黑体" panose="02010609060101010101" pitchFamily="49" charset="-122"/>
              </a:rPr>
              <a:t>B</a:t>
            </a:r>
            <a:r>
              <a:rPr lang="zh-CN" altLang="en-US" sz="2200" dirty="0">
                <a:solidFill>
                  <a:schemeClr val="bg2"/>
                </a:solidFill>
                <a:latin typeface="黑体" panose="02010609060101010101" pitchFamily="49" charset="-122"/>
                <a:ea typeface="黑体" panose="02010609060101010101" pitchFamily="49" charset="-122"/>
              </a:rPr>
              <a:t>对实体</a:t>
            </a:r>
            <a:r>
              <a:rPr lang="en-US" altLang="zh-CN" sz="2200" dirty="0">
                <a:solidFill>
                  <a:schemeClr val="bg2"/>
                </a:solidFill>
                <a:latin typeface="黑体" panose="02010609060101010101" pitchFamily="49" charset="-122"/>
                <a:ea typeface="黑体" panose="02010609060101010101" pitchFamily="49" charset="-122"/>
              </a:rPr>
              <a:t>A</a:t>
            </a:r>
            <a:r>
              <a:rPr lang="zh-CN" altLang="en-US" sz="2200" dirty="0">
                <a:solidFill>
                  <a:schemeClr val="bg2"/>
                </a:solidFill>
                <a:latin typeface="黑体" panose="02010609060101010101" pitchFamily="49" charset="-122"/>
                <a:ea typeface="黑体" panose="02010609060101010101" pitchFamily="49" charset="-122"/>
              </a:rPr>
              <a:t>执行本地验证。（实际应用不多，要求高实时）</a:t>
            </a:r>
          </a:p>
        </p:txBody>
      </p:sp>
      <p:sp>
        <p:nvSpPr>
          <p:cNvPr id="68612" name="Rectangle 4">
            <a:extLst>
              <a:ext uri="{FF2B5EF4-FFF2-40B4-BE49-F238E27FC236}">
                <a16:creationId xmlns:a16="http://schemas.microsoft.com/office/drawing/2014/main" id="{70FE7A3F-66B1-D24E-A57D-86D2AB0DB17E}"/>
              </a:ext>
            </a:extLst>
          </p:cNvPr>
          <p:cNvSpPr>
            <a:spLocks noChangeArrowheads="1"/>
          </p:cNvSpPr>
          <p:nvPr/>
        </p:nvSpPr>
        <p:spPr bwMode="auto">
          <a:xfrm>
            <a:off x="5403850" y="939800"/>
            <a:ext cx="184150" cy="433388"/>
          </a:xfrm>
          <a:prstGeom prst="rect">
            <a:avLst/>
          </a:prstGeom>
          <a:noFill/>
          <a:ln>
            <a:noFill/>
          </a:ln>
          <a:effectLst/>
        </p:spPr>
        <p:txBody>
          <a:bodyPr wrap="none" anchor="ct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endParaRPr lang="zh-CN" altLang="en-US" sz="2215"/>
          </a:p>
        </p:txBody>
      </p:sp>
      <p:grpSp>
        <p:nvGrpSpPr>
          <p:cNvPr id="2" name="组合 1">
            <a:extLst>
              <a:ext uri="{FF2B5EF4-FFF2-40B4-BE49-F238E27FC236}">
                <a16:creationId xmlns:a16="http://schemas.microsoft.com/office/drawing/2014/main" id="{9EF9C710-EC76-4142-9822-C4ACC4B3003C}"/>
              </a:ext>
            </a:extLst>
          </p:cNvPr>
          <p:cNvGrpSpPr>
            <a:grpSpLocks/>
          </p:cNvGrpSpPr>
          <p:nvPr/>
        </p:nvGrpSpPr>
        <p:grpSpPr bwMode="auto">
          <a:xfrm>
            <a:off x="2895600" y="1350963"/>
            <a:ext cx="4654550" cy="2714625"/>
            <a:chOff x="1898650" y="3206147"/>
            <a:chExt cx="4654550" cy="2715228"/>
          </a:xfrm>
        </p:grpSpPr>
        <p:sp>
          <p:nvSpPr>
            <p:cNvPr id="68613" name="Rectangle 5">
              <a:extLst>
                <a:ext uri="{FF2B5EF4-FFF2-40B4-BE49-F238E27FC236}">
                  <a16:creationId xmlns:a16="http://schemas.microsoft.com/office/drawing/2014/main" id="{3C58BDF6-5C94-0144-AF3C-1B24A77C6C51}"/>
                </a:ext>
              </a:extLst>
            </p:cNvPr>
            <p:cNvSpPr>
              <a:spLocks noChangeArrowheads="1"/>
            </p:cNvSpPr>
            <p:nvPr/>
          </p:nvSpPr>
          <p:spPr bwMode="auto">
            <a:xfrm>
              <a:off x="2165350" y="4889271"/>
              <a:ext cx="1063625" cy="466829"/>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A </a:t>
              </a:r>
              <a:r>
                <a:rPr lang="zh-CN" altLang="en-US" sz="2215" u="none" dirty="0">
                  <a:solidFill>
                    <a:srgbClr val="FF0000"/>
                  </a:solidFill>
                  <a:effectLst>
                    <a:outerShdw blurRad="38100" dist="38100" dir="2700000" algn="tl">
                      <a:srgbClr val="000000">
                        <a:alpha val="43137"/>
                      </a:srgbClr>
                    </a:outerShdw>
                  </a:effectLst>
                </a:rPr>
                <a:t>方</a:t>
              </a:r>
            </a:p>
          </p:txBody>
        </p:sp>
        <p:sp>
          <p:nvSpPr>
            <p:cNvPr id="68614" name="AutoShape 6">
              <a:extLst>
                <a:ext uri="{FF2B5EF4-FFF2-40B4-BE49-F238E27FC236}">
                  <a16:creationId xmlns:a16="http://schemas.microsoft.com/office/drawing/2014/main" id="{721BE6E4-07FC-5E46-B743-E93089448CDD}"/>
                </a:ext>
              </a:extLst>
            </p:cNvPr>
            <p:cNvSpPr>
              <a:spLocks noChangeArrowheads="1"/>
            </p:cNvSpPr>
            <p:nvPr/>
          </p:nvSpPr>
          <p:spPr bwMode="auto">
            <a:xfrm>
              <a:off x="3368675" y="3206147"/>
              <a:ext cx="1728788" cy="531930"/>
            </a:xfrm>
            <a:prstGeom prst="flowChartAlternateProcess">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zh-CN" altLang="en-US" sz="2215" u="none" dirty="0">
                  <a:solidFill>
                    <a:srgbClr val="FF0000"/>
                  </a:solidFill>
                  <a:effectLst>
                    <a:outerShdw blurRad="38100" dist="38100" dir="2700000" algn="tl">
                      <a:srgbClr val="000000">
                        <a:alpha val="43137"/>
                      </a:srgbClr>
                    </a:outerShdw>
                  </a:effectLst>
                </a:rPr>
                <a:t>可信第三方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68615" name="Rectangle 8">
              <a:extLst>
                <a:ext uri="{FF2B5EF4-FFF2-40B4-BE49-F238E27FC236}">
                  <a16:creationId xmlns:a16="http://schemas.microsoft.com/office/drawing/2014/main" id="{B3CDE45B-3260-DE41-8CF7-EF14FC6ADA29}"/>
                </a:ext>
              </a:extLst>
            </p:cNvPr>
            <p:cNvSpPr>
              <a:spLocks noChangeArrowheads="1"/>
            </p:cNvSpPr>
            <p:nvPr/>
          </p:nvSpPr>
          <p:spPr bwMode="auto">
            <a:xfrm>
              <a:off x="5222875" y="4889271"/>
              <a:ext cx="1063625" cy="466829"/>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B </a:t>
              </a:r>
              <a:r>
                <a:rPr lang="zh-CN" altLang="en-US" sz="2215" u="none" dirty="0">
                  <a:solidFill>
                    <a:srgbClr val="FF0000"/>
                  </a:solidFill>
                  <a:effectLst>
                    <a:outerShdw blurRad="38100" dist="38100" dir="2700000" algn="tl">
                      <a:srgbClr val="000000">
                        <a:alpha val="43137"/>
                      </a:srgbClr>
                    </a:outerShdw>
                  </a:effectLst>
                </a:rPr>
                <a:t>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68616" name="Line 9">
              <a:extLst>
                <a:ext uri="{FF2B5EF4-FFF2-40B4-BE49-F238E27FC236}">
                  <a16:creationId xmlns:a16="http://schemas.microsoft.com/office/drawing/2014/main" id="{A4ADBFC6-9147-8D44-8BB4-BBD64F5ADA4A}"/>
                </a:ext>
              </a:extLst>
            </p:cNvPr>
            <p:cNvSpPr>
              <a:spLocks noChangeShapeType="1"/>
            </p:cNvSpPr>
            <p:nvPr/>
          </p:nvSpPr>
          <p:spPr bwMode="auto">
            <a:xfrm flipH="1">
              <a:off x="2630488" y="3760307"/>
              <a:ext cx="1131887" cy="1128964"/>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8617" name="Line 10">
              <a:extLst>
                <a:ext uri="{FF2B5EF4-FFF2-40B4-BE49-F238E27FC236}">
                  <a16:creationId xmlns:a16="http://schemas.microsoft.com/office/drawing/2014/main" id="{06A2D046-4791-3644-B1AC-08D6EB9B00C8}"/>
                </a:ext>
              </a:extLst>
            </p:cNvPr>
            <p:cNvSpPr>
              <a:spLocks noChangeShapeType="1"/>
            </p:cNvSpPr>
            <p:nvPr/>
          </p:nvSpPr>
          <p:spPr bwMode="auto">
            <a:xfrm rot="5400000" flipH="1">
              <a:off x="4691731" y="3761226"/>
              <a:ext cx="1130551" cy="1128713"/>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8618" name="Line 11">
              <a:extLst>
                <a:ext uri="{FF2B5EF4-FFF2-40B4-BE49-F238E27FC236}">
                  <a16:creationId xmlns:a16="http://schemas.microsoft.com/office/drawing/2014/main" id="{90717C79-95E1-B34C-9822-DA5E48A563E1}"/>
                </a:ext>
              </a:extLst>
            </p:cNvPr>
            <p:cNvSpPr>
              <a:spLocks noChangeShapeType="1"/>
            </p:cNvSpPr>
            <p:nvPr/>
          </p:nvSpPr>
          <p:spPr bwMode="auto">
            <a:xfrm>
              <a:off x="3295650" y="5154442"/>
              <a:ext cx="1927225" cy="0"/>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68619" name="Text Box 12">
              <a:extLst>
                <a:ext uri="{FF2B5EF4-FFF2-40B4-BE49-F238E27FC236}">
                  <a16:creationId xmlns:a16="http://schemas.microsoft.com/office/drawing/2014/main" id="{B8D9E226-894A-B641-B50C-120FB20BC5B8}"/>
                </a:ext>
              </a:extLst>
            </p:cNvPr>
            <p:cNvSpPr txBox="1">
              <a:spLocks noChangeArrowheads="1"/>
            </p:cNvSpPr>
            <p:nvPr/>
          </p:nvSpPr>
          <p:spPr bwMode="auto">
            <a:xfrm>
              <a:off x="2232025" y="4025479"/>
              <a:ext cx="1195388" cy="433483"/>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获取</a:t>
              </a:r>
            </a:p>
          </p:txBody>
        </p:sp>
        <p:sp>
          <p:nvSpPr>
            <p:cNvPr id="68620" name="Text Box 13">
              <a:extLst>
                <a:ext uri="{FF2B5EF4-FFF2-40B4-BE49-F238E27FC236}">
                  <a16:creationId xmlns:a16="http://schemas.microsoft.com/office/drawing/2014/main" id="{25064D98-C5A0-B348-A34B-1D3D9830B8B2}"/>
                </a:ext>
              </a:extLst>
            </p:cNvPr>
            <p:cNvSpPr txBox="1">
              <a:spLocks noChangeArrowheads="1"/>
            </p:cNvSpPr>
            <p:nvPr/>
          </p:nvSpPr>
          <p:spPr bwMode="auto">
            <a:xfrm>
              <a:off x="5091113" y="4025479"/>
              <a:ext cx="1195387" cy="433483"/>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分发</a:t>
              </a:r>
            </a:p>
          </p:txBody>
        </p:sp>
        <p:sp>
          <p:nvSpPr>
            <p:cNvPr id="68621" name="Text Box 14">
              <a:extLst>
                <a:ext uri="{FF2B5EF4-FFF2-40B4-BE49-F238E27FC236}">
                  <a16:creationId xmlns:a16="http://schemas.microsoft.com/office/drawing/2014/main" id="{99B69FAD-B22B-194B-B9CF-CCE2B8D1BB86}"/>
                </a:ext>
              </a:extLst>
            </p:cNvPr>
            <p:cNvSpPr txBox="1">
              <a:spLocks noChangeArrowheads="1"/>
            </p:cNvSpPr>
            <p:nvPr/>
          </p:nvSpPr>
          <p:spPr bwMode="auto">
            <a:xfrm>
              <a:off x="3560763" y="5132212"/>
              <a:ext cx="1195387" cy="431896"/>
            </a:xfrm>
            <a:prstGeom prst="rect">
              <a:avLst/>
            </a:prstGeom>
            <a:noFill/>
            <a:ln>
              <a:noFill/>
            </a:ln>
            <a:effectLst/>
          </p:spPr>
          <p:txBody>
            <a:bodyP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r>
                <a:rPr lang="zh-CN" altLang="en-US" sz="2215" u="none">
                  <a:solidFill>
                    <a:srgbClr val="0000FF"/>
                  </a:solidFill>
                  <a:effectLst>
                    <a:outerShdw blurRad="38100" dist="38100" dir="2700000" algn="tl">
                      <a:srgbClr val="000000">
                        <a:alpha val="43137"/>
                      </a:srgbClr>
                    </a:outerShdw>
                  </a:effectLst>
                </a:rPr>
                <a:t>传输</a:t>
              </a:r>
            </a:p>
          </p:txBody>
        </p:sp>
        <p:sp>
          <p:nvSpPr>
            <p:cNvPr id="68622" name="Text Box 16">
              <a:extLst>
                <a:ext uri="{FF2B5EF4-FFF2-40B4-BE49-F238E27FC236}">
                  <a16:creationId xmlns:a16="http://schemas.microsoft.com/office/drawing/2014/main" id="{329605EE-9B91-724F-86F5-E1A2292FA393}"/>
                </a:ext>
              </a:extLst>
            </p:cNvPr>
            <p:cNvSpPr txBox="1">
              <a:spLocks noChangeArrowheads="1"/>
            </p:cNvSpPr>
            <p:nvPr/>
          </p:nvSpPr>
          <p:spPr bwMode="auto">
            <a:xfrm>
              <a:off x="1898650" y="5487891"/>
              <a:ext cx="1597025" cy="433484"/>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68623" name="Text Box 17">
              <a:extLst>
                <a:ext uri="{FF2B5EF4-FFF2-40B4-BE49-F238E27FC236}">
                  <a16:creationId xmlns:a16="http://schemas.microsoft.com/office/drawing/2014/main" id="{012C5284-C1B9-5842-BFD7-87232349CC3B}"/>
                </a:ext>
              </a:extLst>
            </p:cNvPr>
            <p:cNvSpPr txBox="1">
              <a:spLocks noChangeArrowheads="1"/>
            </p:cNvSpPr>
            <p:nvPr/>
          </p:nvSpPr>
          <p:spPr bwMode="auto">
            <a:xfrm>
              <a:off x="4957763" y="5487891"/>
              <a:ext cx="1595437" cy="433484"/>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68611">
                                            <p:txEl>
                                              <p:pRg st="0" end="0"/>
                                            </p:txEl>
                                          </p:spTgt>
                                        </p:tgtEl>
                                        <p:attrNameLst>
                                          <p:attrName>style.visibility</p:attrName>
                                        </p:attrNameLst>
                                      </p:cBhvr>
                                      <p:to>
                                        <p:strVal val="visible"/>
                                      </p:to>
                                    </p:set>
                                    <p:anim calcmode="lin" valueType="num">
                                      <p:cBhvr>
                                        <p:cTn id="12" dur="1000" fill="hold"/>
                                        <p:tgtEl>
                                          <p:spTgt spid="68611">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68611">
                                            <p:txEl>
                                              <p:pRg st="0" end="0"/>
                                            </p:txEl>
                                          </p:spTgt>
                                        </p:tgtEl>
                                        <p:attrNameLst>
                                          <p:attrName>ppt_h</p:attrName>
                                        </p:attrNameLst>
                                      </p:cBhvr>
                                      <p:tavLst>
                                        <p:tav tm="0">
                                          <p:val>
                                            <p:fltVal val="0"/>
                                          </p:val>
                                        </p:tav>
                                        <p:tav tm="100000">
                                          <p:val>
                                            <p:strVal val="#ppt_h"/>
                                          </p:val>
                                        </p:tav>
                                      </p:tavLst>
                                    </p:anim>
                                    <p:animEffect transition="in" filter="fade">
                                      <p:cBhvr>
                                        <p:cTn id="14" dur="1000"/>
                                        <p:tgtEl>
                                          <p:spTgt spid="68611">
                                            <p:txEl>
                                              <p:pRg st="0" end="0"/>
                                            </p:txEl>
                                          </p:spTgt>
                                        </p:tgtEl>
                                      </p:cBhvr>
                                    </p:animEffect>
                                  </p:childTnLst>
                                </p:cTn>
                              </p:par>
                            </p:childTnLst>
                          </p:cTn>
                        </p:par>
                        <p:par>
                          <p:cTn id="15" fill="hold" nodeType="afterGroup">
                            <p:stCondLst>
                              <p:cond delay="1500"/>
                            </p:stCondLst>
                            <p:childTnLst>
                              <p:par>
                                <p:cTn id="16" presetID="53" presetClass="entr" presetSubtype="16" fill="hold" grpId="0" nodeType="afterEffect">
                                  <p:stCondLst>
                                    <p:cond delay="0"/>
                                  </p:stCondLst>
                                  <p:childTnLst>
                                    <p:set>
                                      <p:cBhvr>
                                        <p:cTn id="17" dur="1" fill="hold">
                                          <p:stCondLst>
                                            <p:cond delay="0"/>
                                          </p:stCondLst>
                                        </p:cTn>
                                        <p:tgtEl>
                                          <p:spTgt spid="68611">
                                            <p:txEl>
                                              <p:pRg st="1" end="1"/>
                                            </p:txEl>
                                          </p:spTgt>
                                        </p:tgtEl>
                                        <p:attrNameLst>
                                          <p:attrName>style.visibility</p:attrName>
                                        </p:attrNameLst>
                                      </p:cBhvr>
                                      <p:to>
                                        <p:strVal val="visible"/>
                                      </p:to>
                                    </p:set>
                                    <p:anim calcmode="lin" valueType="num">
                                      <p:cBhvr>
                                        <p:cTn id="18" dur="1000" fill="hold"/>
                                        <p:tgtEl>
                                          <p:spTgt spid="68611">
                                            <p:txEl>
                                              <p:pRg st="1" end="1"/>
                                            </p:txEl>
                                          </p:spTgt>
                                        </p:tgtEl>
                                        <p:attrNameLst>
                                          <p:attrName>ppt_w</p:attrName>
                                        </p:attrNameLst>
                                      </p:cBhvr>
                                      <p:tavLst>
                                        <p:tav tm="0">
                                          <p:val>
                                            <p:fltVal val="0"/>
                                          </p:val>
                                        </p:tav>
                                        <p:tav tm="100000">
                                          <p:val>
                                            <p:strVal val="#ppt_w"/>
                                          </p:val>
                                        </p:tav>
                                      </p:tavLst>
                                    </p:anim>
                                    <p:anim calcmode="lin" valueType="num">
                                      <p:cBhvr>
                                        <p:cTn id="19" dur="1000" fill="hold"/>
                                        <p:tgtEl>
                                          <p:spTgt spid="68611">
                                            <p:txEl>
                                              <p:pRg st="1" end="1"/>
                                            </p:txEl>
                                          </p:spTgt>
                                        </p:tgtEl>
                                        <p:attrNameLst>
                                          <p:attrName>ppt_h</p:attrName>
                                        </p:attrNameLst>
                                      </p:cBhvr>
                                      <p:tavLst>
                                        <p:tav tm="0">
                                          <p:val>
                                            <p:fltVal val="0"/>
                                          </p:val>
                                        </p:tav>
                                        <p:tav tm="100000">
                                          <p:val>
                                            <p:strVal val="#ppt_h"/>
                                          </p:val>
                                        </p:tav>
                                      </p:tavLst>
                                    </p:anim>
                                    <p:animEffect transition="in" filter="fade">
                                      <p:cBhvr>
                                        <p:cTn id="20" dur="1000"/>
                                        <p:tgtEl>
                                          <p:spTgt spid="68611">
                                            <p:txEl>
                                              <p:pRg st="1" end="1"/>
                                            </p:txEl>
                                          </p:spTgt>
                                        </p:tgtEl>
                                      </p:cBhvr>
                                    </p:animEffect>
                                  </p:childTnLst>
                                </p:cTn>
                              </p:par>
                            </p:childTnLst>
                          </p:cTn>
                        </p:par>
                        <p:par>
                          <p:cTn id="21" fill="hold" nodeType="afterGroup">
                            <p:stCondLst>
                              <p:cond delay="2500"/>
                            </p:stCondLst>
                            <p:childTnLst>
                              <p:par>
                                <p:cTn id="22" presetID="53" presetClass="entr" presetSubtype="16" fill="hold" grpId="0" nodeType="afterEffect">
                                  <p:stCondLst>
                                    <p:cond delay="0"/>
                                  </p:stCondLst>
                                  <p:childTnLst>
                                    <p:set>
                                      <p:cBhvr>
                                        <p:cTn id="23" dur="1" fill="hold">
                                          <p:stCondLst>
                                            <p:cond delay="0"/>
                                          </p:stCondLst>
                                        </p:cTn>
                                        <p:tgtEl>
                                          <p:spTgt spid="68611">
                                            <p:txEl>
                                              <p:pRg st="2" end="2"/>
                                            </p:txEl>
                                          </p:spTgt>
                                        </p:tgtEl>
                                        <p:attrNameLst>
                                          <p:attrName>style.visibility</p:attrName>
                                        </p:attrNameLst>
                                      </p:cBhvr>
                                      <p:to>
                                        <p:strVal val="visible"/>
                                      </p:to>
                                    </p:set>
                                    <p:anim calcmode="lin" valueType="num">
                                      <p:cBhvr>
                                        <p:cTn id="24" dur="1000" fill="hold"/>
                                        <p:tgtEl>
                                          <p:spTgt spid="68611">
                                            <p:txEl>
                                              <p:pRg st="2" end="2"/>
                                            </p:txEl>
                                          </p:spTgt>
                                        </p:tgtEl>
                                        <p:attrNameLst>
                                          <p:attrName>ppt_w</p:attrName>
                                        </p:attrNameLst>
                                      </p:cBhvr>
                                      <p:tavLst>
                                        <p:tav tm="0">
                                          <p:val>
                                            <p:fltVal val="0"/>
                                          </p:val>
                                        </p:tav>
                                        <p:tav tm="100000">
                                          <p:val>
                                            <p:strVal val="#ppt_w"/>
                                          </p:val>
                                        </p:tav>
                                      </p:tavLst>
                                    </p:anim>
                                    <p:anim calcmode="lin" valueType="num">
                                      <p:cBhvr>
                                        <p:cTn id="25" dur="1000" fill="hold"/>
                                        <p:tgtEl>
                                          <p:spTgt spid="68611">
                                            <p:txEl>
                                              <p:pRg st="2" end="2"/>
                                            </p:txEl>
                                          </p:spTgt>
                                        </p:tgtEl>
                                        <p:attrNameLst>
                                          <p:attrName>ppt_h</p:attrName>
                                        </p:attrNameLst>
                                      </p:cBhvr>
                                      <p:tavLst>
                                        <p:tav tm="0">
                                          <p:val>
                                            <p:fltVal val="0"/>
                                          </p:val>
                                        </p:tav>
                                        <p:tav tm="100000">
                                          <p:val>
                                            <p:strVal val="#ppt_h"/>
                                          </p:val>
                                        </p:tav>
                                      </p:tavLst>
                                    </p:anim>
                                    <p:animEffect transition="in" filter="fade">
                                      <p:cBhvr>
                                        <p:cTn id="26" dur="1000"/>
                                        <p:tgtEl>
                                          <p:spTgt spid="686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C31D7728-9A09-9541-8CC1-63F9853EC6AD}"/>
              </a:ext>
            </a:extLst>
          </p:cNvPr>
          <p:cNvSpPr>
            <a:spLocks noGrp="1" noChangeArrowheads="1"/>
          </p:cNvSpPr>
          <p:nvPr>
            <p:ph type="title"/>
          </p:nvPr>
        </p:nvSpPr>
        <p:spPr bwMode="auto">
          <a:xfrm>
            <a:off x="457200" y="666750"/>
            <a:ext cx="8229600" cy="715963"/>
          </a:xfrm>
        </p:spPr>
        <p:txBody>
          <a:bodyPr vert="horz" wrap="square" lIns="84406" tIns="42203" rIns="84406" bIns="42203" numCol="1" anchor="t" anchorCtr="0" compatLnSpc="1">
            <a:prstTxWarp prst="textNoShape">
              <a:avLst/>
            </a:prstTxWarp>
          </a:bodyPr>
          <a:lstStyle/>
          <a:p>
            <a:pPr eaLnBrk="1" hangingPunct="1">
              <a:defRPr/>
            </a:pPr>
            <a:r>
              <a:rPr lang="zh-CN" altLang="en-US" sz="3200">
                <a:solidFill>
                  <a:srgbClr val="FF0000"/>
                </a:solidFill>
                <a:latin typeface="黑体" panose="02010609060101010101" pitchFamily="49" charset="-122"/>
                <a:ea typeface="黑体" panose="02010609060101010101" pitchFamily="49" charset="-122"/>
              </a:rPr>
              <a:t>鉴别方案</a:t>
            </a:r>
            <a:r>
              <a:rPr lang="en-US" altLang="zh-CN" sz="32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B</a:t>
            </a:r>
          </a:p>
        </p:txBody>
      </p:sp>
      <p:sp>
        <p:nvSpPr>
          <p:cNvPr id="69635" name="Rectangle 3">
            <a:extLst>
              <a:ext uri="{FF2B5EF4-FFF2-40B4-BE49-F238E27FC236}">
                <a16:creationId xmlns:a16="http://schemas.microsoft.com/office/drawing/2014/main" id="{5659629A-2AE9-7B4E-8556-CB030CA01EDD}"/>
              </a:ext>
            </a:extLst>
          </p:cNvPr>
          <p:cNvSpPr>
            <a:spLocks noGrp="1" noChangeArrowheads="1"/>
          </p:cNvSpPr>
          <p:nvPr>
            <p:ph type="body" idx="1"/>
          </p:nvPr>
        </p:nvSpPr>
        <p:spPr bwMode="auto">
          <a:xfrm>
            <a:off x="838200" y="4735513"/>
            <a:ext cx="8040688" cy="890587"/>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p"/>
              <a:defRPr/>
            </a:pPr>
            <a:r>
              <a:rPr lang="zh-CN" altLang="en-US" sz="2200">
                <a:solidFill>
                  <a:schemeClr val="bg2"/>
                </a:solidFill>
                <a:latin typeface="黑体" panose="02010609060101010101" pitchFamily="49" charset="-122"/>
                <a:ea typeface="黑体" panose="02010609060101010101" pitchFamily="49" charset="-122"/>
              </a:rPr>
              <a:t>实体</a:t>
            </a:r>
            <a:r>
              <a:rPr lang="en-US" altLang="zh-CN" sz="2200">
                <a:solidFill>
                  <a:schemeClr val="bg2"/>
                </a:solidFill>
                <a:latin typeface="黑体" panose="02010609060101010101" pitchFamily="49" charset="-122"/>
                <a:ea typeface="黑体" panose="02010609060101010101" pitchFamily="49" charset="-122"/>
              </a:rPr>
              <a:t>A</a:t>
            </a:r>
            <a:r>
              <a:rPr lang="zh-CN" altLang="en-US" sz="2200">
                <a:solidFill>
                  <a:schemeClr val="bg2"/>
                </a:solidFill>
                <a:latin typeface="黑体" panose="02010609060101010101" pitchFamily="49" charset="-122"/>
                <a:ea typeface="黑体" panose="02010609060101010101" pitchFamily="49" charset="-122"/>
              </a:rPr>
              <a:t>与可信第三方进行鉴别交换后，从第三方得到申请</a:t>
            </a:r>
            <a:r>
              <a:rPr lang="en-US" altLang="zh-CN" sz="2200">
                <a:solidFill>
                  <a:schemeClr val="bg2"/>
                </a:solidFill>
                <a:latin typeface="黑体" panose="02010609060101010101" pitchFamily="49" charset="-122"/>
                <a:ea typeface="黑体" panose="02010609060101010101" pitchFamily="49" charset="-122"/>
              </a:rPr>
              <a:t>AI</a:t>
            </a:r>
            <a:r>
              <a:rPr lang="zh-CN" altLang="en-US" sz="2200">
                <a:solidFill>
                  <a:schemeClr val="bg2"/>
                </a:solidFill>
                <a:latin typeface="黑体" panose="02010609060101010101" pitchFamily="49" charset="-122"/>
                <a:ea typeface="黑体" panose="02010609060101010101" pitchFamily="49" charset="-122"/>
              </a:rPr>
              <a:t>；</a:t>
            </a:r>
          </a:p>
          <a:p>
            <a:pPr eaLnBrk="1" hangingPunct="1">
              <a:buClr>
                <a:srgbClr val="FF0000"/>
              </a:buClr>
              <a:buFont typeface="Wingdings" pitchFamily="2" charset="2"/>
              <a:buChar char="p"/>
              <a:defRPr/>
            </a:pPr>
            <a:r>
              <a:rPr lang="zh-CN" altLang="en-US" sz="2200">
                <a:solidFill>
                  <a:schemeClr val="bg2"/>
                </a:solidFill>
                <a:latin typeface="黑体" panose="02010609060101010101" pitchFamily="49" charset="-122"/>
                <a:ea typeface="黑体" panose="02010609060101010101" pitchFamily="49" charset="-122"/>
              </a:rPr>
              <a:t>实体</a:t>
            </a:r>
            <a:r>
              <a:rPr lang="en-US" altLang="zh-CN" sz="2200">
                <a:solidFill>
                  <a:schemeClr val="bg2"/>
                </a:solidFill>
                <a:latin typeface="黑体" panose="02010609060101010101" pitchFamily="49" charset="-122"/>
                <a:ea typeface="黑体" panose="02010609060101010101" pitchFamily="49" charset="-122"/>
              </a:rPr>
              <a:t>B</a:t>
            </a:r>
            <a:r>
              <a:rPr lang="zh-CN" altLang="en-US" sz="2200">
                <a:solidFill>
                  <a:schemeClr val="bg2"/>
                </a:solidFill>
                <a:latin typeface="黑体" panose="02010609060101010101" pitchFamily="49" charset="-122"/>
                <a:ea typeface="黑体" panose="02010609060101010101" pitchFamily="49" charset="-122"/>
              </a:rPr>
              <a:t>从实体</a:t>
            </a:r>
            <a:r>
              <a:rPr lang="en-US" altLang="zh-CN" sz="2200">
                <a:solidFill>
                  <a:schemeClr val="bg2"/>
                </a:solidFill>
                <a:latin typeface="黑体" panose="02010609060101010101" pitchFamily="49" charset="-122"/>
                <a:ea typeface="黑体" panose="02010609060101010101" pitchFamily="49" charset="-122"/>
              </a:rPr>
              <a:t>A</a:t>
            </a:r>
            <a:r>
              <a:rPr lang="zh-CN" altLang="en-US" sz="2200">
                <a:solidFill>
                  <a:schemeClr val="bg2"/>
                </a:solidFill>
                <a:latin typeface="黑体" panose="02010609060101010101" pitchFamily="49" charset="-122"/>
                <a:ea typeface="黑体" panose="02010609060101010101" pitchFamily="49" charset="-122"/>
              </a:rPr>
              <a:t>收到的交换</a:t>
            </a:r>
            <a:r>
              <a:rPr lang="en-US" altLang="zh-CN" sz="2200">
                <a:solidFill>
                  <a:schemeClr val="bg2"/>
                </a:solidFill>
                <a:latin typeface="黑体" panose="02010609060101010101" pitchFamily="49" charset="-122"/>
                <a:ea typeface="黑体" panose="02010609060101010101" pitchFamily="49" charset="-122"/>
              </a:rPr>
              <a:t>AI</a:t>
            </a:r>
            <a:r>
              <a:rPr lang="zh-CN" altLang="en-US" sz="2200">
                <a:solidFill>
                  <a:schemeClr val="bg2"/>
                </a:solidFill>
                <a:latin typeface="黑体" panose="02010609060101010101" pitchFamily="49" charset="-122"/>
                <a:ea typeface="黑体" panose="02010609060101010101" pitchFamily="49" charset="-122"/>
              </a:rPr>
              <a:t>提交给可信第三方，以便验证。</a:t>
            </a:r>
          </a:p>
        </p:txBody>
      </p:sp>
      <p:grpSp>
        <p:nvGrpSpPr>
          <p:cNvPr id="3" name="组合 2">
            <a:extLst>
              <a:ext uri="{FF2B5EF4-FFF2-40B4-BE49-F238E27FC236}">
                <a16:creationId xmlns:a16="http://schemas.microsoft.com/office/drawing/2014/main" id="{B38E3CD3-8C09-3741-B6EE-66B374555AB6}"/>
              </a:ext>
            </a:extLst>
          </p:cNvPr>
          <p:cNvGrpSpPr>
            <a:grpSpLocks/>
          </p:cNvGrpSpPr>
          <p:nvPr/>
        </p:nvGrpSpPr>
        <p:grpSpPr bwMode="auto">
          <a:xfrm>
            <a:off x="2590800" y="1676400"/>
            <a:ext cx="4627563" cy="2568575"/>
            <a:chOff x="2575998" y="1397000"/>
            <a:chExt cx="4627498" cy="2569367"/>
          </a:xfrm>
        </p:grpSpPr>
        <p:grpSp>
          <p:nvGrpSpPr>
            <p:cNvPr id="33796" name="组合 1">
              <a:extLst>
                <a:ext uri="{FF2B5EF4-FFF2-40B4-BE49-F238E27FC236}">
                  <a16:creationId xmlns:a16="http://schemas.microsoft.com/office/drawing/2014/main" id="{01295EF2-FBAF-CD43-A51F-77070E9DDD17}"/>
                </a:ext>
              </a:extLst>
            </p:cNvPr>
            <p:cNvGrpSpPr>
              <a:grpSpLocks/>
            </p:cNvGrpSpPr>
            <p:nvPr/>
          </p:nvGrpSpPr>
          <p:grpSpPr bwMode="auto">
            <a:xfrm>
              <a:off x="2739789" y="1397000"/>
              <a:ext cx="4119562" cy="2336800"/>
              <a:chOff x="2179638" y="3362325"/>
              <a:chExt cx="4119562" cy="2336800"/>
            </a:xfrm>
          </p:grpSpPr>
          <p:sp>
            <p:nvSpPr>
              <p:cNvPr id="69636" name="Rectangle 5">
                <a:extLst>
                  <a:ext uri="{FF2B5EF4-FFF2-40B4-BE49-F238E27FC236}">
                    <a16:creationId xmlns:a16="http://schemas.microsoft.com/office/drawing/2014/main" id="{926C4D21-09BA-E348-A641-5B21237EC50A}"/>
                  </a:ext>
                </a:extLst>
              </p:cNvPr>
              <p:cNvSpPr>
                <a:spLocks noChangeArrowheads="1"/>
              </p:cNvSpPr>
              <p:nvPr/>
            </p:nvSpPr>
            <p:spPr bwMode="auto">
              <a:xfrm>
                <a:off x="2179358" y="5024950"/>
                <a:ext cx="1063610" cy="466869"/>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A </a:t>
                </a:r>
                <a:r>
                  <a:rPr lang="zh-CN" altLang="en-US" sz="2215" u="none" dirty="0">
                    <a:solidFill>
                      <a:srgbClr val="FF0000"/>
                    </a:solidFill>
                    <a:effectLst>
                      <a:outerShdw blurRad="38100" dist="38100" dir="2700000" algn="tl">
                        <a:srgbClr val="000000">
                          <a:alpha val="43137"/>
                        </a:srgbClr>
                      </a:outerShdw>
                    </a:effectLst>
                  </a:rPr>
                  <a:t>方</a:t>
                </a:r>
              </a:p>
            </p:txBody>
          </p:sp>
          <p:sp>
            <p:nvSpPr>
              <p:cNvPr id="69637" name="AutoShape 6">
                <a:extLst>
                  <a:ext uri="{FF2B5EF4-FFF2-40B4-BE49-F238E27FC236}">
                    <a16:creationId xmlns:a16="http://schemas.microsoft.com/office/drawing/2014/main" id="{B016465A-C95D-0D4B-981A-1E30A9B61014}"/>
                  </a:ext>
                </a:extLst>
              </p:cNvPr>
              <p:cNvSpPr>
                <a:spLocks noChangeArrowheads="1"/>
              </p:cNvSpPr>
              <p:nvPr/>
            </p:nvSpPr>
            <p:spPr bwMode="auto">
              <a:xfrm>
                <a:off x="3441402" y="3362325"/>
                <a:ext cx="1730351" cy="533564"/>
              </a:xfrm>
              <a:prstGeom prst="flowChartAlternateProcess">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zh-CN" altLang="en-US" sz="2215" u="none" dirty="0">
                    <a:solidFill>
                      <a:srgbClr val="FF0000"/>
                    </a:solidFill>
                    <a:effectLst>
                      <a:outerShdw blurRad="38100" dist="38100" dir="2700000" algn="tl">
                        <a:srgbClr val="000000">
                          <a:alpha val="43137"/>
                        </a:srgbClr>
                      </a:outerShdw>
                    </a:effectLst>
                  </a:rPr>
                  <a:t>可信第三方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69638" name="Rectangle 7">
                <a:extLst>
                  <a:ext uri="{FF2B5EF4-FFF2-40B4-BE49-F238E27FC236}">
                    <a16:creationId xmlns:a16="http://schemas.microsoft.com/office/drawing/2014/main" id="{EE4F6036-B5AB-E34E-9789-02FEA22AA775}"/>
                  </a:ext>
                </a:extLst>
              </p:cNvPr>
              <p:cNvSpPr>
                <a:spLocks noChangeArrowheads="1"/>
              </p:cNvSpPr>
              <p:nvPr/>
            </p:nvSpPr>
            <p:spPr bwMode="auto">
              <a:xfrm>
                <a:off x="5235252" y="5024950"/>
                <a:ext cx="1063610" cy="466869"/>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B </a:t>
                </a:r>
                <a:r>
                  <a:rPr lang="zh-CN" altLang="en-US" sz="2215" u="none" dirty="0">
                    <a:solidFill>
                      <a:srgbClr val="FF0000"/>
                    </a:solidFill>
                    <a:effectLst>
                      <a:outerShdw blurRad="38100" dist="38100" dir="2700000" algn="tl">
                        <a:srgbClr val="000000">
                          <a:alpha val="43137"/>
                        </a:srgbClr>
                      </a:outerShdw>
                    </a:effectLst>
                  </a:rPr>
                  <a:t>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69639" name="Line 8">
                <a:extLst>
                  <a:ext uri="{FF2B5EF4-FFF2-40B4-BE49-F238E27FC236}">
                    <a16:creationId xmlns:a16="http://schemas.microsoft.com/office/drawing/2014/main" id="{79EB8278-3356-CE47-B65D-EBEBA3A1C421}"/>
                  </a:ext>
                </a:extLst>
              </p:cNvPr>
              <p:cNvSpPr>
                <a:spLocks noChangeShapeType="1"/>
              </p:cNvSpPr>
              <p:nvPr/>
            </p:nvSpPr>
            <p:spPr bwMode="auto">
              <a:xfrm flipH="1">
                <a:off x="2642901" y="3895889"/>
                <a:ext cx="1131871" cy="1129061"/>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effectLst>
                    <a:outerShdw blurRad="38100" dist="38100" dir="2700000" algn="tl">
                      <a:srgbClr val="000000">
                        <a:alpha val="43137"/>
                      </a:srgbClr>
                    </a:outerShdw>
                  </a:effectLst>
                </a:endParaRPr>
              </a:p>
            </p:txBody>
          </p:sp>
          <p:sp>
            <p:nvSpPr>
              <p:cNvPr id="69640" name="Line 9">
                <a:extLst>
                  <a:ext uri="{FF2B5EF4-FFF2-40B4-BE49-F238E27FC236}">
                    <a16:creationId xmlns:a16="http://schemas.microsoft.com/office/drawing/2014/main" id="{E68B8962-9F67-F04D-AF1D-FDA52598BE33}"/>
                  </a:ext>
                </a:extLst>
              </p:cNvPr>
              <p:cNvSpPr>
                <a:spLocks noChangeShapeType="1"/>
              </p:cNvSpPr>
              <p:nvPr/>
            </p:nvSpPr>
            <p:spPr bwMode="auto">
              <a:xfrm rot="5400000" flipH="1">
                <a:off x="4704852" y="3896072"/>
                <a:ext cx="1130648" cy="1130284"/>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effectLst>
                    <a:outerShdw blurRad="38100" dist="38100" dir="2700000" algn="tl">
                      <a:srgbClr val="000000">
                        <a:alpha val="43137"/>
                      </a:srgbClr>
                    </a:outerShdw>
                  </a:effectLst>
                </a:endParaRPr>
              </a:p>
            </p:txBody>
          </p:sp>
          <p:sp>
            <p:nvSpPr>
              <p:cNvPr id="69641" name="Line 10">
                <a:extLst>
                  <a:ext uri="{FF2B5EF4-FFF2-40B4-BE49-F238E27FC236}">
                    <a16:creationId xmlns:a16="http://schemas.microsoft.com/office/drawing/2014/main" id="{FA457B13-35DC-EF4C-8912-937507B7CE57}"/>
                  </a:ext>
                </a:extLst>
              </p:cNvPr>
              <p:cNvSpPr>
                <a:spLocks noChangeShapeType="1"/>
              </p:cNvSpPr>
              <p:nvPr/>
            </p:nvSpPr>
            <p:spPr bwMode="auto">
              <a:xfrm>
                <a:off x="3308054" y="5290144"/>
                <a:ext cx="1927198" cy="0"/>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effectLst>
                    <a:outerShdw blurRad="38100" dist="38100" dir="2700000" algn="tl">
                      <a:srgbClr val="000000">
                        <a:alpha val="43137"/>
                      </a:srgbClr>
                    </a:outerShdw>
                  </a:effectLst>
                </a:endParaRPr>
              </a:p>
            </p:txBody>
          </p:sp>
          <p:sp>
            <p:nvSpPr>
              <p:cNvPr id="69642" name="Text Box 11">
                <a:extLst>
                  <a:ext uri="{FF2B5EF4-FFF2-40B4-BE49-F238E27FC236}">
                    <a16:creationId xmlns:a16="http://schemas.microsoft.com/office/drawing/2014/main" id="{6C2B4AF1-1963-A845-A989-0A38CBC730BA}"/>
                  </a:ext>
                </a:extLst>
              </p:cNvPr>
              <p:cNvSpPr txBox="1">
                <a:spLocks noChangeArrowheads="1"/>
              </p:cNvSpPr>
              <p:nvPr/>
            </p:nvSpPr>
            <p:spPr bwMode="auto">
              <a:xfrm>
                <a:off x="2244444" y="4161084"/>
                <a:ext cx="1195371" cy="431933"/>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获取</a:t>
                </a:r>
              </a:p>
            </p:txBody>
          </p:sp>
          <p:sp>
            <p:nvSpPr>
              <p:cNvPr id="69643" name="Text Box 12">
                <a:extLst>
                  <a:ext uri="{FF2B5EF4-FFF2-40B4-BE49-F238E27FC236}">
                    <a16:creationId xmlns:a16="http://schemas.microsoft.com/office/drawing/2014/main" id="{417D5974-F5AF-0E46-BD08-A0FB88BB6BA1}"/>
                  </a:ext>
                </a:extLst>
              </p:cNvPr>
              <p:cNvSpPr txBox="1">
                <a:spLocks noChangeArrowheads="1"/>
              </p:cNvSpPr>
              <p:nvPr/>
            </p:nvSpPr>
            <p:spPr bwMode="auto">
              <a:xfrm>
                <a:off x="5103492" y="4161084"/>
                <a:ext cx="1195370" cy="431933"/>
              </a:xfrm>
              <a:prstGeom prst="rect">
                <a:avLst/>
              </a:prstGeom>
              <a:noFill/>
              <a:ln>
                <a:noFill/>
              </a:ln>
              <a:effectLst/>
            </p:spPr>
            <p:txBody>
              <a:bodyP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r>
                  <a:rPr lang="zh-CN" altLang="en-US" sz="2215" u="none" dirty="0">
                    <a:solidFill>
                      <a:srgbClr val="0000FF"/>
                    </a:solidFill>
                    <a:effectLst>
                      <a:outerShdw blurRad="38100" dist="38100" dir="2700000" algn="tl">
                        <a:srgbClr val="000000">
                          <a:alpha val="43137"/>
                        </a:srgbClr>
                      </a:outerShdw>
                    </a:effectLst>
                  </a:rPr>
                  <a:t>验证</a:t>
                </a:r>
              </a:p>
            </p:txBody>
          </p:sp>
          <p:sp>
            <p:nvSpPr>
              <p:cNvPr id="69644" name="Text Box 13">
                <a:extLst>
                  <a:ext uri="{FF2B5EF4-FFF2-40B4-BE49-F238E27FC236}">
                    <a16:creationId xmlns:a16="http://schemas.microsoft.com/office/drawing/2014/main" id="{45D79966-2F4B-204D-8BF0-F6D0186A7C67}"/>
                  </a:ext>
                </a:extLst>
              </p:cNvPr>
              <p:cNvSpPr txBox="1">
                <a:spLocks noChangeArrowheads="1"/>
              </p:cNvSpPr>
              <p:nvPr/>
            </p:nvSpPr>
            <p:spPr bwMode="auto">
              <a:xfrm>
                <a:off x="3573163" y="5267912"/>
                <a:ext cx="1196958" cy="431933"/>
              </a:xfrm>
              <a:prstGeom prst="rect">
                <a:avLst/>
              </a:prstGeom>
              <a:noFill/>
              <a:ln>
                <a:noFill/>
              </a:ln>
              <a:effectLst/>
            </p:spPr>
            <p:txBody>
              <a:bodyP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r>
                  <a:rPr lang="zh-CN" altLang="en-US" sz="2215" u="none" dirty="0">
                    <a:solidFill>
                      <a:srgbClr val="0000FF"/>
                    </a:solidFill>
                    <a:effectLst>
                      <a:outerShdw blurRad="38100" dist="38100" dir="2700000" algn="tl">
                        <a:srgbClr val="000000">
                          <a:alpha val="43137"/>
                        </a:srgbClr>
                      </a:outerShdw>
                    </a:effectLst>
                  </a:rPr>
                  <a:t>传输</a:t>
                </a:r>
              </a:p>
            </p:txBody>
          </p:sp>
        </p:grpSp>
        <p:sp>
          <p:nvSpPr>
            <p:cNvPr id="14" name="Text Box 16">
              <a:extLst>
                <a:ext uri="{FF2B5EF4-FFF2-40B4-BE49-F238E27FC236}">
                  <a16:creationId xmlns:a16="http://schemas.microsoft.com/office/drawing/2014/main" id="{F9AD2D01-FE09-B44F-ABD4-D0F79FFB4908}"/>
                </a:ext>
              </a:extLst>
            </p:cNvPr>
            <p:cNvSpPr txBox="1">
              <a:spLocks noChangeArrowheads="1"/>
            </p:cNvSpPr>
            <p:nvPr/>
          </p:nvSpPr>
          <p:spPr bwMode="auto">
            <a:xfrm>
              <a:off x="2575998" y="3526494"/>
              <a:ext cx="1597003" cy="433521"/>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5" name="Text Box 17">
              <a:extLst>
                <a:ext uri="{FF2B5EF4-FFF2-40B4-BE49-F238E27FC236}">
                  <a16:creationId xmlns:a16="http://schemas.microsoft.com/office/drawing/2014/main" id="{E9EF1515-48DB-8747-930D-F9B6448DA877}"/>
                </a:ext>
              </a:extLst>
            </p:cNvPr>
            <p:cNvSpPr txBox="1">
              <a:spLocks noChangeArrowheads="1"/>
            </p:cNvSpPr>
            <p:nvPr/>
          </p:nvSpPr>
          <p:spPr bwMode="auto">
            <a:xfrm>
              <a:off x="5608080" y="3532846"/>
              <a:ext cx="1595416" cy="433521"/>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69635">
                                            <p:txEl>
                                              <p:pRg st="0" end="0"/>
                                            </p:txEl>
                                          </p:spTgt>
                                        </p:tgtEl>
                                        <p:attrNameLst>
                                          <p:attrName>style.visibility</p:attrName>
                                        </p:attrNameLst>
                                      </p:cBhvr>
                                      <p:to>
                                        <p:strVal val="visible"/>
                                      </p:to>
                                    </p:set>
                                    <p:anim calcmode="lin" valueType="num">
                                      <p:cBhvr>
                                        <p:cTn id="12" dur="500" fill="hold"/>
                                        <p:tgtEl>
                                          <p:spTgt spid="6963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6963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69635">
                                            <p:txEl>
                                              <p:pRg st="0" end="0"/>
                                            </p:txEl>
                                          </p:spTgt>
                                        </p:tgtEl>
                                      </p:cBhvr>
                                    </p:animEffect>
                                  </p:childTnLst>
                                </p:cTn>
                              </p:par>
                            </p:childTnLst>
                          </p:cTn>
                        </p:par>
                        <p:par>
                          <p:cTn id="15" fill="hold" nodeType="afterGroup">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69635">
                                            <p:txEl>
                                              <p:pRg st="1" end="1"/>
                                            </p:txEl>
                                          </p:spTgt>
                                        </p:tgtEl>
                                        <p:attrNameLst>
                                          <p:attrName>style.visibility</p:attrName>
                                        </p:attrNameLst>
                                      </p:cBhvr>
                                      <p:to>
                                        <p:strVal val="visible"/>
                                      </p:to>
                                    </p:set>
                                    <p:anim calcmode="lin" valueType="num">
                                      <p:cBhvr>
                                        <p:cTn id="18" dur="500" fill="hold"/>
                                        <p:tgtEl>
                                          <p:spTgt spid="69635">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69635">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696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CB336A38-3039-8644-B457-FE8C51CDEDFA}"/>
              </a:ext>
            </a:extLst>
          </p:cNvPr>
          <p:cNvSpPr>
            <a:spLocks noGrp="1" noChangeArrowheads="1"/>
          </p:cNvSpPr>
          <p:nvPr>
            <p:ph type="title"/>
          </p:nvPr>
        </p:nvSpPr>
        <p:spPr bwMode="auto">
          <a:xfrm>
            <a:off x="430213" y="730250"/>
            <a:ext cx="8229600" cy="676275"/>
          </a:xfrm>
        </p:spPr>
        <p:txBody>
          <a:bodyPr vert="horz" wrap="square" lIns="84406" tIns="42203" rIns="84406" bIns="42203" numCol="1" anchor="t" anchorCtr="0" compatLnSpc="1">
            <a:prstTxWarp prst="textNoShape">
              <a:avLst/>
            </a:prstTxWarp>
          </a:bodyPr>
          <a:lstStyle/>
          <a:p>
            <a:pPr eaLnBrk="1" hangingPunct="1">
              <a:defRPr/>
            </a:pPr>
            <a:r>
              <a:rPr lang="zh-CN" altLang="en-US" sz="3200">
                <a:solidFill>
                  <a:srgbClr val="FF0000"/>
                </a:solidFill>
                <a:latin typeface="黑体" panose="02010609060101010101" pitchFamily="49" charset="-122"/>
                <a:ea typeface="黑体" panose="02010609060101010101" pitchFamily="49" charset="-122"/>
              </a:rPr>
              <a:t>鉴别方案</a:t>
            </a:r>
            <a:r>
              <a:rPr lang="en-US" altLang="zh-CN" sz="32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C</a:t>
            </a:r>
          </a:p>
        </p:txBody>
      </p:sp>
      <p:sp>
        <p:nvSpPr>
          <p:cNvPr id="70659" name="Rectangle 3">
            <a:extLst>
              <a:ext uri="{FF2B5EF4-FFF2-40B4-BE49-F238E27FC236}">
                <a16:creationId xmlns:a16="http://schemas.microsoft.com/office/drawing/2014/main" id="{0EDE233C-14EC-4B46-93A2-60EF44E3D7ED}"/>
              </a:ext>
            </a:extLst>
          </p:cNvPr>
          <p:cNvSpPr>
            <a:spLocks noGrp="1" noChangeArrowheads="1"/>
          </p:cNvSpPr>
          <p:nvPr>
            <p:ph type="body" idx="1"/>
          </p:nvPr>
        </p:nvSpPr>
        <p:spPr bwMode="auto">
          <a:xfrm>
            <a:off x="2971800" y="4633913"/>
            <a:ext cx="5924550" cy="1128712"/>
          </a:xfrm>
        </p:spPr>
        <p:txBody>
          <a:bodyPr vert="horz" wrap="square" lIns="84406" tIns="42203" rIns="84406" bIns="42203" numCol="1" anchor="t" anchorCtr="0" compatLnSpc="1">
            <a:prstTxWarp prst="textNoShape">
              <a:avLst/>
            </a:prstTxWarp>
          </a:bodyPr>
          <a:lstStyle/>
          <a:p>
            <a:pPr eaLnBrk="1" hangingPunct="1">
              <a:buClr>
                <a:srgbClr val="0000FF"/>
              </a:buClr>
              <a:buFont typeface="Wingdings" pitchFamily="2" charset="2"/>
              <a:buChar char="u"/>
              <a:defRPr/>
            </a:pPr>
            <a:r>
              <a:rPr lang="zh-CN" altLang="en-US" sz="2400">
                <a:solidFill>
                  <a:srgbClr val="000000"/>
                </a:solidFill>
                <a:latin typeface="黑体" panose="02010609060101010101" pitchFamily="49" charset="-122"/>
                <a:ea typeface="黑体" panose="02010609060101010101" pitchFamily="49" charset="-122"/>
              </a:rPr>
              <a:t>实体</a:t>
            </a:r>
            <a:r>
              <a:rPr lang="en-US" altLang="zh-CN" sz="2400">
                <a:solidFill>
                  <a:srgbClr val="000000"/>
                </a:solidFill>
                <a:latin typeface="黑体" panose="02010609060101010101" pitchFamily="49" charset="-122"/>
                <a:ea typeface="黑体" panose="02010609060101010101" pitchFamily="49" charset="-122"/>
              </a:rPr>
              <a:t>A</a:t>
            </a:r>
            <a:r>
              <a:rPr lang="zh-CN" altLang="en-US" sz="2400">
                <a:solidFill>
                  <a:srgbClr val="000000"/>
                </a:solidFill>
                <a:latin typeface="黑体" panose="02010609060101010101" pitchFamily="49" charset="-122"/>
                <a:ea typeface="黑体" panose="02010609060101010101" pitchFamily="49" charset="-122"/>
              </a:rPr>
              <a:t>与可信第三方进行鉴别交换后，从第三方得到申请</a:t>
            </a:r>
            <a:r>
              <a:rPr lang="en-US" altLang="zh-CN" sz="2400">
                <a:solidFill>
                  <a:srgbClr val="000000"/>
                </a:solidFill>
                <a:latin typeface="黑体" panose="02010609060101010101" pitchFamily="49" charset="-122"/>
                <a:ea typeface="黑体" panose="02010609060101010101" pitchFamily="49" charset="-122"/>
              </a:rPr>
              <a:t>AI</a:t>
            </a:r>
            <a:r>
              <a:rPr lang="zh-CN" altLang="en-US" sz="2400">
                <a:solidFill>
                  <a:srgbClr val="000000"/>
                </a:solidFill>
                <a:latin typeface="黑体" panose="02010609060101010101" pitchFamily="49" charset="-122"/>
                <a:ea typeface="黑体" panose="02010609060101010101" pitchFamily="49" charset="-122"/>
              </a:rPr>
              <a:t>，以及对实体</a:t>
            </a:r>
            <a:r>
              <a:rPr lang="en-US" altLang="zh-CN" sz="2400">
                <a:solidFill>
                  <a:srgbClr val="000000"/>
                </a:solidFill>
                <a:latin typeface="黑体" panose="02010609060101010101" pitchFamily="49" charset="-122"/>
                <a:ea typeface="黑体" panose="02010609060101010101" pitchFamily="49" charset="-122"/>
              </a:rPr>
              <a:t>B</a:t>
            </a:r>
            <a:r>
              <a:rPr lang="zh-CN" altLang="en-US" sz="2400">
                <a:solidFill>
                  <a:srgbClr val="000000"/>
                </a:solidFill>
                <a:latin typeface="黑体" panose="02010609060101010101" pitchFamily="49" charset="-122"/>
                <a:ea typeface="黑体" panose="02010609060101010101" pitchFamily="49" charset="-122"/>
              </a:rPr>
              <a:t>执行本地验证必需的验证</a:t>
            </a:r>
            <a:r>
              <a:rPr lang="en-US" altLang="zh-CN" sz="2400">
                <a:solidFill>
                  <a:srgbClr val="000000"/>
                </a:solidFill>
                <a:latin typeface="黑体" panose="02010609060101010101" pitchFamily="49" charset="-122"/>
                <a:ea typeface="黑体" panose="02010609060101010101" pitchFamily="49" charset="-122"/>
              </a:rPr>
              <a:t>AI</a:t>
            </a:r>
            <a:r>
              <a:rPr lang="zh-CN" altLang="en-US" sz="2400">
                <a:solidFill>
                  <a:srgbClr val="000000"/>
                </a:solidFill>
                <a:latin typeface="黑体" panose="02010609060101010101" pitchFamily="49" charset="-122"/>
                <a:ea typeface="黑体" panose="02010609060101010101" pitchFamily="49" charset="-122"/>
              </a:rPr>
              <a:t>。</a:t>
            </a:r>
          </a:p>
        </p:txBody>
      </p:sp>
      <p:pic>
        <p:nvPicPr>
          <p:cNvPr id="34819" name="图片 3">
            <a:extLst>
              <a:ext uri="{FF2B5EF4-FFF2-40B4-BE49-F238E27FC236}">
                <a16:creationId xmlns:a16="http://schemas.microsoft.com/office/drawing/2014/main" id="{2847778A-A02A-C64E-824D-7397CDE7DD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34075" y="760413"/>
            <a:ext cx="3044825"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18B4F6B4-363F-8B46-A706-9CC8F724650B}"/>
              </a:ext>
            </a:extLst>
          </p:cNvPr>
          <p:cNvGrpSpPr>
            <a:grpSpLocks/>
          </p:cNvGrpSpPr>
          <p:nvPr/>
        </p:nvGrpSpPr>
        <p:grpSpPr bwMode="auto">
          <a:xfrm>
            <a:off x="449263" y="1828800"/>
            <a:ext cx="4627562" cy="2522538"/>
            <a:chOff x="449338" y="1828800"/>
            <a:chExt cx="4627498" cy="2522235"/>
          </a:xfrm>
        </p:grpSpPr>
        <p:sp>
          <p:nvSpPr>
            <p:cNvPr id="70660" name="Rectangle 4">
              <a:extLst>
                <a:ext uri="{FF2B5EF4-FFF2-40B4-BE49-F238E27FC236}">
                  <a16:creationId xmlns:a16="http://schemas.microsoft.com/office/drawing/2014/main" id="{030C739A-781A-B448-832D-FE3F7B3C84E4}"/>
                </a:ext>
              </a:extLst>
            </p:cNvPr>
            <p:cNvSpPr>
              <a:spLocks noChangeArrowheads="1"/>
            </p:cNvSpPr>
            <p:nvPr/>
          </p:nvSpPr>
          <p:spPr bwMode="auto">
            <a:xfrm>
              <a:off x="4413270" y="2381184"/>
              <a:ext cx="184147" cy="433336"/>
            </a:xfrm>
            <a:prstGeom prst="rect">
              <a:avLst/>
            </a:prstGeom>
            <a:noFill/>
            <a:ln>
              <a:noFill/>
            </a:ln>
            <a:effectLst/>
          </p:spPr>
          <p:txBody>
            <a:bodyPr wrap="none" anchor="ct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endParaRPr lang="zh-CN" altLang="en-US" sz="2215"/>
            </a:p>
          </p:txBody>
        </p:sp>
        <p:grpSp>
          <p:nvGrpSpPr>
            <p:cNvPr id="34822" name="组合 1">
              <a:extLst>
                <a:ext uri="{FF2B5EF4-FFF2-40B4-BE49-F238E27FC236}">
                  <a16:creationId xmlns:a16="http://schemas.microsoft.com/office/drawing/2014/main" id="{78D21BF9-9B2F-9140-A39E-388AE0088F93}"/>
                </a:ext>
              </a:extLst>
            </p:cNvPr>
            <p:cNvGrpSpPr>
              <a:grpSpLocks/>
            </p:cNvGrpSpPr>
            <p:nvPr/>
          </p:nvGrpSpPr>
          <p:grpSpPr bwMode="auto">
            <a:xfrm>
              <a:off x="685800" y="1828800"/>
              <a:ext cx="4119562" cy="2336800"/>
              <a:chOff x="2179638" y="3362325"/>
              <a:chExt cx="4119562" cy="2336800"/>
            </a:xfrm>
          </p:grpSpPr>
          <p:sp>
            <p:nvSpPr>
              <p:cNvPr id="70661" name="Rectangle 5">
                <a:extLst>
                  <a:ext uri="{FF2B5EF4-FFF2-40B4-BE49-F238E27FC236}">
                    <a16:creationId xmlns:a16="http://schemas.microsoft.com/office/drawing/2014/main" id="{48A9D14B-D7A2-6D4D-A4EA-1DCDA249923D}"/>
                  </a:ext>
                </a:extLst>
              </p:cNvPr>
              <p:cNvSpPr>
                <a:spLocks noChangeArrowheads="1"/>
              </p:cNvSpPr>
              <p:nvPr/>
            </p:nvSpPr>
            <p:spPr bwMode="auto">
              <a:xfrm>
                <a:off x="2179710" y="5024238"/>
                <a:ext cx="1063610" cy="466669"/>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A </a:t>
                </a:r>
                <a:r>
                  <a:rPr lang="zh-CN" altLang="en-US" sz="2215" u="none" dirty="0">
                    <a:solidFill>
                      <a:srgbClr val="FF0000"/>
                    </a:solidFill>
                    <a:effectLst>
                      <a:outerShdw blurRad="38100" dist="38100" dir="2700000" algn="tl">
                        <a:srgbClr val="000000">
                          <a:alpha val="43137"/>
                        </a:srgbClr>
                      </a:outerShdw>
                    </a:effectLst>
                  </a:rPr>
                  <a:t>方</a:t>
                </a:r>
              </a:p>
            </p:txBody>
          </p:sp>
          <p:sp>
            <p:nvSpPr>
              <p:cNvPr id="70662" name="AutoShape 6">
                <a:extLst>
                  <a:ext uri="{FF2B5EF4-FFF2-40B4-BE49-F238E27FC236}">
                    <a16:creationId xmlns:a16="http://schemas.microsoft.com/office/drawing/2014/main" id="{B057D11F-360D-DF44-82E8-B49E6A89D043}"/>
                  </a:ext>
                </a:extLst>
              </p:cNvPr>
              <p:cNvSpPr>
                <a:spLocks noChangeArrowheads="1"/>
              </p:cNvSpPr>
              <p:nvPr/>
            </p:nvSpPr>
            <p:spPr bwMode="auto">
              <a:xfrm>
                <a:off x="3441756" y="3362325"/>
                <a:ext cx="1730351" cy="533336"/>
              </a:xfrm>
              <a:prstGeom prst="flowChartAlternateProcess">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zh-CN" altLang="en-US" sz="2215" u="none" dirty="0">
                    <a:solidFill>
                      <a:srgbClr val="FF0000"/>
                    </a:solidFill>
                    <a:effectLst>
                      <a:outerShdw blurRad="38100" dist="38100" dir="2700000" algn="tl">
                        <a:srgbClr val="000000">
                          <a:alpha val="43137"/>
                        </a:srgbClr>
                      </a:outerShdw>
                    </a:effectLst>
                  </a:rPr>
                  <a:t>可信第三方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70663" name="Rectangle 7">
                <a:extLst>
                  <a:ext uri="{FF2B5EF4-FFF2-40B4-BE49-F238E27FC236}">
                    <a16:creationId xmlns:a16="http://schemas.microsoft.com/office/drawing/2014/main" id="{28F900B0-E612-6A4C-BAE5-10C9A19CCB2C}"/>
                  </a:ext>
                </a:extLst>
              </p:cNvPr>
              <p:cNvSpPr>
                <a:spLocks noChangeArrowheads="1"/>
              </p:cNvSpPr>
              <p:nvPr/>
            </p:nvSpPr>
            <p:spPr bwMode="auto">
              <a:xfrm>
                <a:off x="5235606" y="5024238"/>
                <a:ext cx="1063610" cy="466669"/>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B </a:t>
                </a:r>
                <a:r>
                  <a:rPr lang="zh-CN" altLang="en-US" sz="2215" u="none" dirty="0">
                    <a:solidFill>
                      <a:srgbClr val="FF0000"/>
                    </a:solidFill>
                    <a:effectLst>
                      <a:outerShdw blurRad="38100" dist="38100" dir="2700000" algn="tl">
                        <a:srgbClr val="000000">
                          <a:alpha val="43137"/>
                        </a:srgbClr>
                      </a:outerShdw>
                    </a:effectLst>
                  </a:rPr>
                  <a:t>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70664" name="Line 8">
                <a:extLst>
                  <a:ext uri="{FF2B5EF4-FFF2-40B4-BE49-F238E27FC236}">
                    <a16:creationId xmlns:a16="http://schemas.microsoft.com/office/drawing/2014/main" id="{4D2A59E5-6CA4-4444-BD54-E90D971580D6}"/>
                  </a:ext>
                </a:extLst>
              </p:cNvPr>
              <p:cNvSpPr>
                <a:spLocks noChangeShapeType="1"/>
              </p:cNvSpPr>
              <p:nvPr/>
            </p:nvSpPr>
            <p:spPr bwMode="auto">
              <a:xfrm flipH="1">
                <a:off x="2643254" y="3895661"/>
                <a:ext cx="1131872" cy="1128577"/>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70665" name="Line 10">
                <a:extLst>
                  <a:ext uri="{FF2B5EF4-FFF2-40B4-BE49-F238E27FC236}">
                    <a16:creationId xmlns:a16="http://schemas.microsoft.com/office/drawing/2014/main" id="{B3C9A3AA-AF24-1140-A990-D51D92E91DE8}"/>
                  </a:ext>
                </a:extLst>
              </p:cNvPr>
              <p:cNvSpPr>
                <a:spLocks noChangeShapeType="1"/>
              </p:cNvSpPr>
              <p:nvPr/>
            </p:nvSpPr>
            <p:spPr bwMode="auto">
              <a:xfrm>
                <a:off x="3308407" y="5289318"/>
                <a:ext cx="1927198" cy="0"/>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solidFill>
                    <a:srgbClr val="0000FF"/>
                  </a:solidFill>
                  <a:effectLst>
                    <a:outerShdw blurRad="38100" dist="38100" dir="2700000" algn="tl">
                      <a:srgbClr val="000000">
                        <a:alpha val="43137"/>
                      </a:srgbClr>
                    </a:outerShdw>
                  </a:effectLst>
                </a:endParaRPr>
              </a:p>
            </p:txBody>
          </p:sp>
          <p:sp>
            <p:nvSpPr>
              <p:cNvPr id="70666" name="Text Box 11">
                <a:extLst>
                  <a:ext uri="{FF2B5EF4-FFF2-40B4-BE49-F238E27FC236}">
                    <a16:creationId xmlns:a16="http://schemas.microsoft.com/office/drawing/2014/main" id="{169AC781-5557-B640-84E1-502E2F82A16F}"/>
                  </a:ext>
                </a:extLst>
              </p:cNvPr>
              <p:cNvSpPr txBox="1">
                <a:spLocks noChangeArrowheads="1"/>
              </p:cNvSpPr>
              <p:nvPr/>
            </p:nvSpPr>
            <p:spPr bwMode="auto">
              <a:xfrm>
                <a:off x="2244797" y="4160742"/>
                <a:ext cx="1195370" cy="431748"/>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获取</a:t>
                </a:r>
              </a:p>
            </p:txBody>
          </p:sp>
          <p:sp>
            <p:nvSpPr>
              <p:cNvPr id="70667" name="Text Box 13">
                <a:extLst>
                  <a:ext uri="{FF2B5EF4-FFF2-40B4-BE49-F238E27FC236}">
                    <a16:creationId xmlns:a16="http://schemas.microsoft.com/office/drawing/2014/main" id="{120D6800-314C-4C45-9FF0-1B9B21A56336}"/>
                  </a:ext>
                </a:extLst>
              </p:cNvPr>
              <p:cNvSpPr txBox="1">
                <a:spLocks noChangeArrowheads="1"/>
              </p:cNvSpPr>
              <p:nvPr/>
            </p:nvSpPr>
            <p:spPr bwMode="auto">
              <a:xfrm>
                <a:off x="3573516" y="5267096"/>
                <a:ext cx="1196958" cy="431748"/>
              </a:xfrm>
              <a:prstGeom prst="rect">
                <a:avLst/>
              </a:prstGeom>
              <a:noFill/>
              <a:ln>
                <a:noFill/>
              </a:ln>
              <a:effectLst/>
            </p:spPr>
            <p:txBody>
              <a:bodyP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r>
                  <a:rPr lang="zh-CN" altLang="en-US" sz="2215" u="none">
                    <a:solidFill>
                      <a:srgbClr val="0000FF"/>
                    </a:solidFill>
                    <a:effectLst>
                      <a:outerShdw blurRad="38100" dist="38100" dir="2700000" algn="tl">
                        <a:srgbClr val="000000">
                          <a:alpha val="43137"/>
                        </a:srgbClr>
                      </a:outerShdw>
                    </a:effectLst>
                  </a:rPr>
                  <a:t>传输</a:t>
                </a:r>
              </a:p>
            </p:txBody>
          </p:sp>
        </p:grpSp>
        <p:sp>
          <p:nvSpPr>
            <p:cNvPr id="15" name="Text Box 16">
              <a:extLst>
                <a:ext uri="{FF2B5EF4-FFF2-40B4-BE49-F238E27FC236}">
                  <a16:creationId xmlns:a16="http://schemas.microsoft.com/office/drawing/2014/main" id="{0AF0FFF0-1E0B-B243-AE72-3B047400F9B5}"/>
                </a:ext>
              </a:extLst>
            </p:cNvPr>
            <p:cNvSpPr txBox="1">
              <a:spLocks noChangeArrowheads="1"/>
            </p:cNvSpPr>
            <p:nvPr/>
          </p:nvSpPr>
          <p:spPr bwMode="auto">
            <a:xfrm>
              <a:off x="449338" y="3909763"/>
              <a:ext cx="1597003" cy="434923"/>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6" name="Text Box 17">
              <a:extLst>
                <a:ext uri="{FF2B5EF4-FFF2-40B4-BE49-F238E27FC236}">
                  <a16:creationId xmlns:a16="http://schemas.microsoft.com/office/drawing/2014/main" id="{5733C4DF-9E0F-2B4E-A83F-02B82979C2E0}"/>
                </a:ext>
              </a:extLst>
            </p:cNvPr>
            <p:cNvSpPr txBox="1">
              <a:spLocks noChangeArrowheads="1"/>
            </p:cNvSpPr>
            <p:nvPr/>
          </p:nvSpPr>
          <p:spPr bwMode="auto">
            <a:xfrm>
              <a:off x="3481421" y="3917699"/>
              <a:ext cx="1595415" cy="43333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70659">
                                            <p:txEl>
                                              <p:pRg st="0" end="0"/>
                                            </p:txEl>
                                          </p:spTgt>
                                        </p:tgtEl>
                                        <p:attrNameLst>
                                          <p:attrName>style.visibility</p:attrName>
                                        </p:attrNameLst>
                                      </p:cBhvr>
                                      <p:to>
                                        <p:strVal val="visible"/>
                                      </p:to>
                                    </p:set>
                                    <p:anim calcmode="lin" valueType="num">
                                      <p:cBhvr>
                                        <p:cTn id="12" dur="500" fill="hold"/>
                                        <p:tgtEl>
                                          <p:spTgt spid="70659">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70659">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706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51C32617-3C45-B745-ADBB-DBDD59EC1E3C}"/>
              </a:ext>
            </a:extLst>
          </p:cNvPr>
          <p:cNvSpPr>
            <a:spLocks noGrp="1" noChangeArrowheads="1"/>
          </p:cNvSpPr>
          <p:nvPr>
            <p:ph type="title"/>
          </p:nvPr>
        </p:nvSpPr>
        <p:spPr bwMode="auto">
          <a:xfrm>
            <a:off x="457200" y="698500"/>
            <a:ext cx="8229600" cy="652463"/>
          </a:xfrm>
        </p:spPr>
        <p:txBody>
          <a:bodyPr vert="horz" wrap="square" lIns="84406" tIns="42203" rIns="84406" bIns="42203" numCol="1" anchor="t" anchorCtr="0" compatLnSpc="1">
            <a:prstTxWarp prst="textNoShape">
              <a:avLst/>
            </a:prstTxWarp>
          </a:bodyPr>
          <a:lstStyle/>
          <a:p>
            <a:pPr eaLnBrk="1" hangingPunct="1">
              <a:defRPr/>
            </a:pPr>
            <a:r>
              <a:rPr lang="zh-CN" altLang="en-US" sz="3200">
                <a:solidFill>
                  <a:srgbClr val="FF0000"/>
                </a:solidFill>
                <a:latin typeface="黑体" panose="02010609060101010101" pitchFamily="49" charset="-122"/>
                <a:ea typeface="黑体" panose="02010609060101010101" pitchFamily="49" charset="-122"/>
              </a:rPr>
              <a:t>鉴别方案</a:t>
            </a:r>
            <a:r>
              <a:rPr lang="en-US" altLang="zh-CN" sz="32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D</a:t>
            </a:r>
          </a:p>
        </p:txBody>
      </p:sp>
      <p:sp>
        <p:nvSpPr>
          <p:cNvPr id="71683" name="Rectangle 3">
            <a:extLst>
              <a:ext uri="{FF2B5EF4-FFF2-40B4-BE49-F238E27FC236}">
                <a16:creationId xmlns:a16="http://schemas.microsoft.com/office/drawing/2014/main" id="{3D2DF9DC-BD97-2348-85DD-BA5E7F8935D8}"/>
              </a:ext>
            </a:extLst>
          </p:cNvPr>
          <p:cNvSpPr>
            <a:spLocks noGrp="1" noChangeArrowheads="1"/>
          </p:cNvSpPr>
          <p:nvPr>
            <p:ph type="body" idx="1"/>
          </p:nvPr>
        </p:nvSpPr>
        <p:spPr bwMode="auto">
          <a:xfrm>
            <a:off x="398463" y="1868488"/>
            <a:ext cx="3886200" cy="2755900"/>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n"/>
              <a:defRPr/>
            </a:pPr>
            <a:r>
              <a:rPr lang="zh-CN" altLang="en-US" sz="2400">
                <a:solidFill>
                  <a:schemeClr val="bg2"/>
                </a:solidFill>
                <a:latin typeface="黑体" panose="02010609060101010101" pitchFamily="49" charset="-122"/>
                <a:ea typeface="黑体" panose="02010609060101010101" pitchFamily="49" charset="-122"/>
              </a:rPr>
              <a:t>实体</a:t>
            </a:r>
            <a:r>
              <a:rPr lang="en-US" altLang="zh-CN" sz="2400">
                <a:solidFill>
                  <a:schemeClr val="bg2"/>
                </a:solidFill>
                <a:latin typeface="黑体" panose="02010609060101010101" pitchFamily="49" charset="-122"/>
                <a:ea typeface="黑体" panose="02010609060101010101" pitchFamily="49" charset="-122"/>
              </a:rPr>
              <a:t>A</a:t>
            </a:r>
            <a:r>
              <a:rPr lang="zh-CN" altLang="en-US" sz="2400">
                <a:solidFill>
                  <a:schemeClr val="bg2"/>
                </a:solidFill>
                <a:latin typeface="黑体" panose="02010609060101010101" pitchFamily="49" charset="-122"/>
                <a:ea typeface="黑体" panose="02010609060101010101" pitchFamily="49" charset="-122"/>
              </a:rPr>
              <a:t>得到对实体</a:t>
            </a:r>
            <a:r>
              <a:rPr lang="en-US" altLang="zh-CN" sz="2400">
                <a:solidFill>
                  <a:schemeClr val="bg2"/>
                </a:solidFill>
                <a:latin typeface="黑体" panose="02010609060101010101" pitchFamily="49" charset="-122"/>
                <a:ea typeface="黑体" panose="02010609060101010101" pitchFamily="49" charset="-122"/>
              </a:rPr>
              <a:t>B</a:t>
            </a:r>
            <a:r>
              <a:rPr lang="zh-CN" altLang="en-US" sz="2400">
                <a:solidFill>
                  <a:schemeClr val="bg2"/>
                </a:solidFill>
                <a:latin typeface="黑体" panose="02010609060101010101" pitchFamily="49" charset="-122"/>
                <a:ea typeface="黑体" panose="02010609060101010101" pitchFamily="49" charset="-122"/>
              </a:rPr>
              <a:t>执行本地验证必需的验证</a:t>
            </a:r>
            <a:r>
              <a:rPr lang="en-US" altLang="zh-CN" sz="2400">
                <a:solidFill>
                  <a:schemeClr val="bg2"/>
                </a:solidFill>
                <a:latin typeface="黑体" panose="02010609060101010101" pitchFamily="49" charset="-122"/>
                <a:ea typeface="黑体" panose="02010609060101010101" pitchFamily="49" charset="-122"/>
              </a:rPr>
              <a:t>AI</a:t>
            </a:r>
            <a:r>
              <a:rPr lang="zh-CN" altLang="en-US" sz="2400">
                <a:solidFill>
                  <a:schemeClr val="bg2"/>
                </a:solidFill>
                <a:latin typeface="黑体" panose="02010609060101010101" pitchFamily="49" charset="-122"/>
                <a:ea typeface="黑体" panose="02010609060101010101" pitchFamily="49" charset="-122"/>
              </a:rPr>
              <a:t>，且在本地生成交换</a:t>
            </a:r>
            <a:r>
              <a:rPr lang="en-US" altLang="zh-CN" sz="2400">
                <a:solidFill>
                  <a:schemeClr val="bg2"/>
                </a:solidFill>
                <a:latin typeface="黑体" panose="02010609060101010101" pitchFamily="49" charset="-122"/>
                <a:ea typeface="黑体" panose="02010609060101010101" pitchFamily="49" charset="-122"/>
              </a:rPr>
              <a:t>AI</a:t>
            </a:r>
            <a:r>
              <a:rPr lang="zh-CN" altLang="en-US" sz="2400">
                <a:solidFill>
                  <a:schemeClr val="bg2"/>
                </a:solidFill>
                <a:latin typeface="黑体" panose="02010609060101010101" pitchFamily="49" charset="-122"/>
                <a:ea typeface="黑体" panose="02010609060101010101" pitchFamily="49" charset="-122"/>
              </a:rPr>
              <a:t>；</a:t>
            </a:r>
          </a:p>
          <a:p>
            <a:pPr eaLnBrk="1" hangingPunct="1">
              <a:buClr>
                <a:srgbClr val="FF0000"/>
              </a:buClr>
              <a:buFont typeface="Wingdings" pitchFamily="2" charset="2"/>
              <a:buChar char="n"/>
              <a:defRPr/>
            </a:pPr>
            <a:r>
              <a:rPr lang="zh-CN" altLang="en-US" sz="2400">
                <a:solidFill>
                  <a:schemeClr val="bg2"/>
                </a:solidFill>
                <a:latin typeface="黑体" panose="02010609060101010101" pitchFamily="49" charset="-122"/>
                <a:ea typeface="黑体" panose="02010609060101010101" pitchFamily="49" charset="-122"/>
              </a:rPr>
              <a:t>交换</a:t>
            </a:r>
            <a:r>
              <a:rPr lang="en-US" altLang="zh-CN" sz="2400">
                <a:solidFill>
                  <a:schemeClr val="bg2"/>
                </a:solidFill>
                <a:latin typeface="黑体" panose="02010609060101010101" pitchFamily="49" charset="-122"/>
                <a:ea typeface="黑体" panose="02010609060101010101" pitchFamily="49" charset="-122"/>
              </a:rPr>
              <a:t>AI</a:t>
            </a:r>
            <a:r>
              <a:rPr lang="zh-CN" altLang="en-US" sz="2400">
                <a:solidFill>
                  <a:schemeClr val="bg2"/>
                </a:solidFill>
                <a:latin typeface="黑体" panose="02010609060101010101" pitchFamily="49" charset="-122"/>
                <a:ea typeface="黑体" panose="02010609060101010101" pitchFamily="49" charset="-122"/>
              </a:rPr>
              <a:t>与验证</a:t>
            </a:r>
            <a:r>
              <a:rPr lang="en-US" altLang="zh-CN" sz="2400">
                <a:solidFill>
                  <a:schemeClr val="bg2"/>
                </a:solidFill>
                <a:latin typeface="黑体" panose="02010609060101010101" pitchFamily="49" charset="-122"/>
                <a:ea typeface="黑体" panose="02010609060101010101" pitchFamily="49" charset="-122"/>
              </a:rPr>
              <a:t>AI</a:t>
            </a:r>
            <a:r>
              <a:rPr lang="zh-CN" altLang="en-US" sz="2400">
                <a:solidFill>
                  <a:schemeClr val="bg2"/>
                </a:solidFill>
                <a:latin typeface="黑体" panose="02010609060101010101" pitchFamily="49" charset="-122"/>
                <a:ea typeface="黑体" panose="02010609060101010101" pitchFamily="49" charset="-122"/>
              </a:rPr>
              <a:t>一并提交给实体</a:t>
            </a:r>
            <a:r>
              <a:rPr lang="en-US" altLang="zh-CN" sz="2400">
                <a:solidFill>
                  <a:schemeClr val="bg2"/>
                </a:solidFill>
                <a:latin typeface="黑体" panose="02010609060101010101" pitchFamily="49" charset="-122"/>
                <a:ea typeface="黑体" panose="02010609060101010101" pitchFamily="49" charset="-122"/>
              </a:rPr>
              <a:t>B</a:t>
            </a:r>
            <a:r>
              <a:rPr lang="zh-CN" altLang="en-US" sz="2400">
                <a:solidFill>
                  <a:schemeClr val="bg2"/>
                </a:solidFill>
                <a:latin typeface="黑体" panose="02010609060101010101" pitchFamily="49" charset="-122"/>
                <a:ea typeface="黑体" panose="02010609060101010101" pitchFamily="49" charset="-122"/>
              </a:rPr>
              <a:t>。</a:t>
            </a:r>
          </a:p>
        </p:txBody>
      </p:sp>
      <p:grpSp>
        <p:nvGrpSpPr>
          <p:cNvPr id="3" name="组合 2">
            <a:extLst>
              <a:ext uri="{FF2B5EF4-FFF2-40B4-BE49-F238E27FC236}">
                <a16:creationId xmlns:a16="http://schemas.microsoft.com/office/drawing/2014/main" id="{901CCF47-AC88-0D41-A6A0-9473824C0EA5}"/>
              </a:ext>
            </a:extLst>
          </p:cNvPr>
          <p:cNvGrpSpPr>
            <a:grpSpLocks/>
          </p:cNvGrpSpPr>
          <p:nvPr/>
        </p:nvGrpSpPr>
        <p:grpSpPr bwMode="auto">
          <a:xfrm>
            <a:off x="4191000" y="3276600"/>
            <a:ext cx="4627563" cy="2560638"/>
            <a:chOff x="4191000" y="3276600"/>
            <a:chExt cx="4627498" cy="2560635"/>
          </a:xfrm>
        </p:grpSpPr>
        <p:grpSp>
          <p:nvGrpSpPr>
            <p:cNvPr id="35844" name="组合 1">
              <a:extLst>
                <a:ext uri="{FF2B5EF4-FFF2-40B4-BE49-F238E27FC236}">
                  <a16:creationId xmlns:a16="http://schemas.microsoft.com/office/drawing/2014/main" id="{857A427F-C336-E645-B17C-ACDDBD8F851E}"/>
                </a:ext>
              </a:extLst>
            </p:cNvPr>
            <p:cNvGrpSpPr>
              <a:grpSpLocks/>
            </p:cNvGrpSpPr>
            <p:nvPr/>
          </p:nvGrpSpPr>
          <p:grpSpPr bwMode="auto">
            <a:xfrm>
              <a:off x="4419600" y="3276600"/>
              <a:ext cx="4119562" cy="2336800"/>
              <a:chOff x="2179638" y="3362325"/>
              <a:chExt cx="4119562" cy="2336800"/>
            </a:xfrm>
          </p:grpSpPr>
          <p:sp>
            <p:nvSpPr>
              <p:cNvPr id="71684" name="Rectangle 5">
                <a:extLst>
                  <a:ext uri="{FF2B5EF4-FFF2-40B4-BE49-F238E27FC236}">
                    <a16:creationId xmlns:a16="http://schemas.microsoft.com/office/drawing/2014/main" id="{0B8463CD-0473-4744-98E4-BDFD053A2839}"/>
                  </a:ext>
                </a:extLst>
              </p:cNvPr>
              <p:cNvSpPr>
                <a:spLocks noChangeArrowheads="1"/>
              </p:cNvSpPr>
              <p:nvPr/>
            </p:nvSpPr>
            <p:spPr bwMode="auto">
              <a:xfrm>
                <a:off x="2179635" y="5024436"/>
                <a:ext cx="1063610" cy="466724"/>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A </a:t>
                </a:r>
                <a:r>
                  <a:rPr lang="zh-CN" altLang="en-US" sz="2215" u="none" dirty="0">
                    <a:solidFill>
                      <a:srgbClr val="FF0000"/>
                    </a:solidFill>
                    <a:effectLst>
                      <a:outerShdw blurRad="38100" dist="38100" dir="2700000" algn="tl">
                        <a:srgbClr val="000000">
                          <a:alpha val="43137"/>
                        </a:srgbClr>
                      </a:outerShdw>
                    </a:effectLst>
                  </a:rPr>
                  <a:t>方</a:t>
                </a:r>
              </a:p>
            </p:txBody>
          </p:sp>
          <p:sp>
            <p:nvSpPr>
              <p:cNvPr id="71685" name="AutoShape 6">
                <a:extLst>
                  <a:ext uri="{FF2B5EF4-FFF2-40B4-BE49-F238E27FC236}">
                    <a16:creationId xmlns:a16="http://schemas.microsoft.com/office/drawing/2014/main" id="{C9C55422-1D58-6B42-85E8-D5D8F2B57BF4}"/>
                  </a:ext>
                </a:extLst>
              </p:cNvPr>
              <p:cNvSpPr>
                <a:spLocks noChangeArrowheads="1"/>
              </p:cNvSpPr>
              <p:nvPr/>
            </p:nvSpPr>
            <p:spPr bwMode="auto">
              <a:xfrm>
                <a:off x="3441680" y="3362325"/>
                <a:ext cx="1730351" cy="533399"/>
              </a:xfrm>
              <a:prstGeom prst="flowChartAlternateProcess">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zh-CN" altLang="en-US" sz="2215" u="none" dirty="0">
                    <a:solidFill>
                      <a:srgbClr val="FF0000"/>
                    </a:solidFill>
                    <a:effectLst>
                      <a:outerShdw blurRad="38100" dist="38100" dir="2700000" algn="tl">
                        <a:srgbClr val="000000">
                          <a:alpha val="43137"/>
                        </a:srgbClr>
                      </a:outerShdw>
                    </a:effectLst>
                  </a:rPr>
                  <a:t>可信第三方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71686" name="Rectangle 7">
                <a:extLst>
                  <a:ext uri="{FF2B5EF4-FFF2-40B4-BE49-F238E27FC236}">
                    <a16:creationId xmlns:a16="http://schemas.microsoft.com/office/drawing/2014/main" id="{1C74B2E5-0B6B-E546-83E2-B769F5DC3BA6}"/>
                  </a:ext>
                </a:extLst>
              </p:cNvPr>
              <p:cNvSpPr>
                <a:spLocks noChangeArrowheads="1"/>
              </p:cNvSpPr>
              <p:nvPr/>
            </p:nvSpPr>
            <p:spPr bwMode="auto">
              <a:xfrm>
                <a:off x="5235530" y="5024436"/>
                <a:ext cx="1063610" cy="466724"/>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B </a:t>
                </a:r>
                <a:r>
                  <a:rPr lang="zh-CN" altLang="en-US" sz="2215" u="none" dirty="0">
                    <a:solidFill>
                      <a:srgbClr val="FF0000"/>
                    </a:solidFill>
                    <a:effectLst>
                      <a:outerShdw blurRad="38100" dist="38100" dir="2700000" algn="tl">
                        <a:srgbClr val="000000">
                          <a:alpha val="43137"/>
                        </a:srgbClr>
                      </a:outerShdw>
                    </a:effectLst>
                  </a:rPr>
                  <a:t>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71687" name="Line 8">
                <a:extLst>
                  <a:ext uri="{FF2B5EF4-FFF2-40B4-BE49-F238E27FC236}">
                    <a16:creationId xmlns:a16="http://schemas.microsoft.com/office/drawing/2014/main" id="{EA04F246-10B3-4F4E-8709-725EE468821C}"/>
                  </a:ext>
                </a:extLst>
              </p:cNvPr>
              <p:cNvSpPr>
                <a:spLocks noChangeShapeType="1"/>
              </p:cNvSpPr>
              <p:nvPr/>
            </p:nvSpPr>
            <p:spPr bwMode="auto">
              <a:xfrm flipH="1">
                <a:off x="2643178" y="3895724"/>
                <a:ext cx="1131872" cy="1128712"/>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effectLst>
                    <a:outerShdw blurRad="38100" dist="38100" dir="2700000" algn="tl">
                      <a:srgbClr val="000000">
                        <a:alpha val="43137"/>
                      </a:srgbClr>
                    </a:outerShdw>
                  </a:effectLst>
                </a:endParaRPr>
              </a:p>
            </p:txBody>
          </p:sp>
          <p:sp>
            <p:nvSpPr>
              <p:cNvPr id="71688" name="Line 10">
                <a:extLst>
                  <a:ext uri="{FF2B5EF4-FFF2-40B4-BE49-F238E27FC236}">
                    <a16:creationId xmlns:a16="http://schemas.microsoft.com/office/drawing/2014/main" id="{7E7F8023-0F82-F54A-BCB6-17F2D4CE19A3}"/>
                  </a:ext>
                </a:extLst>
              </p:cNvPr>
              <p:cNvSpPr>
                <a:spLocks noChangeShapeType="1"/>
              </p:cNvSpPr>
              <p:nvPr/>
            </p:nvSpPr>
            <p:spPr bwMode="auto">
              <a:xfrm>
                <a:off x="3308332" y="5289548"/>
                <a:ext cx="1927198" cy="0"/>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effectLst>
                    <a:outerShdw blurRad="38100" dist="38100" dir="2700000" algn="tl">
                      <a:srgbClr val="000000">
                        <a:alpha val="43137"/>
                      </a:srgbClr>
                    </a:outerShdw>
                  </a:effectLst>
                </a:endParaRPr>
              </a:p>
            </p:txBody>
          </p:sp>
          <p:sp>
            <p:nvSpPr>
              <p:cNvPr id="71689" name="Text Box 11">
                <a:extLst>
                  <a:ext uri="{FF2B5EF4-FFF2-40B4-BE49-F238E27FC236}">
                    <a16:creationId xmlns:a16="http://schemas.microsoft.com/office/drawing/2014/main" id="{A9B1D329-5435-5B4D-A83A-982324E5EDC8}"/>
                  </a:ext>
                </a:extLst>
              </p:cNvPr>
              <p:cNvSpPr txBox="1">
                <a:spLocks noChangeArrowheads="1"/>
              </p:cNvSpPr>
              <p:nvPr/>
            </p:nvSpPr>
            <p:spPr bwMode="auto">
              <a:xfrm>
                <a:off x="2244722" y="4160837"/>
                <a:ext cx="1195370" cy="431799"/>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分发</a:t>
                </a:r>
              </a:p>
            </p:txBody>
          </p:sp>
          <p:sp>
            <p:nvSpPr>
              <p:cNvPr id="71690" name="Text Box 13">
                <a:extLst>
                  <a:ext uri="{FF2B5EF4-FFF2-40B4-BE49-F238E27FC236}">
                    <a16:creationId xmlns:a16="http://schemas.microsoft.com/office/drawing/2014/main" id="{D88BCE58-23BA-8148-BC04-DD435F87FAD9}"/>
                  </a:ext>
                </a:extLst>
              </p:cNvPr>
              <p:cNvSpPr txBox="1">
                <a:spLocks noChangeArrowheads="1"/>
              </p:cNvSpPr>
              <p:nvPr/>
            </p:nvSpPr>
            <p:spPr bwMode="auto">
              <a:xfrm>
                <a:off x="3573440" y="5267323"/>
                <a:ext cx="1196958" cy="431799"/>
              </a:xfrm>
              <a:prstGeom prst="rect">
                <a:avLst/>
              </a:prstGeom>
              <a:noFill/>
              <a:ln>
                <a:noFill/>
              </a:ln>
              <a:effectLst/>
            </p:spPr>
            <p:txBody>
              <a:bodyP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r>
                  <a:rPr lang="zh-CN" altLang="en-US" sz="2215" u="none" dirty="0">
                    <a:solidFill>
                      <a:srgbClr val="0000FF"/>
                    </a:solidFill>
                    <a:effectLst>
                      <a:outerShdw blurRad="38100" dist="38100" dir="2700000" algn="tl">
                        <a:srgbClr val="000000">
                          <a:alpha val="43137"/>
                        </a:srgbClr>
                      </a:outerShdw>
                    </a:effectLst>
                  </a:rPr>
                  <a:t>传输</a:t>
                </a:r>
              </a:p>
            </p:txBody>
          </p:sp>
        </p:grpSp>
        <p:sp>
          <p:nvSpPr>
            <p:cNvPr id="12" name="Text Box 16">
              <a:extLst>
                <a:ext uri="{FF2B5EF4-FFF2-40B4-BE49-F238E27FC236}">
                  <a16:creationId xmlns:a16="http://schemas.microsoft.com/office/drawing/2014/main" id="{17107012-AD04-D640-B7F2-B0D5E1C4E2BC}"/>
                </a:ext>
              </a:extLst>
            </p:cNvPr>
            <p:cNvSpPr txBox="1">
              <a:spLocks noChangeArrowheads="1"/>
            </p:cNvSpPr>
            <p:nvPr/>
          </p:nvSpPr>
          <p:spPr bwMode="auto">
            <a:xfrm>
              <a:off x="4191000" y="5397498"/>
              <a:ext cx="1597003" cy="433387"/>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3" name="Text Box 17">
              <a:extLst>
                <a:ext uri="{FF2B5EF4-FFF2-40B4-BE49-F238E27FC236}">
                  <a16:creationId xmlns:a16="http://schemas.microsoft.com/office/drawing/2014/main" id="{E389C7DF-8EF6-F74D-91DF-40642A8A8577}"/>
                </a:ext>
              </a:extLst>
            </p:cNvPr>
            <p:cNvSpPr txBox="1">
              <a:spLocks noChangeArrowheads="1"/>
            </p:cNvSpPr>
            <p:nvPr/>
          </p:nvSpPr>
          <p:spPr bwMode="auto">
            <a:xfrm>
              <a:off x="7223082" y="5403848"/>
              <a:ext cx="1595416" cy="433387"/>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71683">
                                            <p:txEl>
                                              <p:pRg st="0" end="0"/>
                                            </p:txEl>
                                          </p:spTgt>
                                        </p:tgtEl>
                                        <p:attrNameLst>
                                          <p:attrName>style.visibility</p:attrName>
                                        </p:attrNameLst>
                                      </p:cBhvr>
                                      <p:to>
                                        <p:strVal val="visible"/>
                                      </p:to>
                                    </p:set>
                                    <p:anim calcmode="lin" valueType="num">
                                      <p:cBhvr>
                                        <p:cTn id="12" dur="500" fill="hold"/>
                                        <p:tgtEl>
                                          <p:spTgt spid="7168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71683">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71683">
                                            <p:txEl>
                                              <p:pRg st="0" end="0"/>
                                            </p:txEl>
                                          </p:spTgt>
                                        </p:tgtEl>
                                      </p:cBhvr>
                                    </p:animEffect>
                                  </p:childTnLst>
                                </p:cTn>
                              </p:par>
                            </p:childTnLst>
                          </p:cTn>
                        </p:par>
                        <p:par>
                          <p:cTn id="15" fill="hold" nodeType="afterGroup">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71683">
                                            <p:txEl>
                                              <p:pRg st="1" end="1"/>
                                            </p:txEl>
                                          </p:spTgt>
                                        </p:tgtEl>
                                        <p:attrNameLst>
                                          <p:attrName>style.visibility</p:attrName>
                                        </p:attrNameLst>
                                      </p:cBhvr>
                                      <p:to>
                                        <p:strVal val="visible"/>
                                      </p:to>
                                    </p:set>
                                    <p:anim calcmode="lin" valueType="num">
                                      <p:cBhvr>
                                        <p:cTn id="18" dur="500" fill="hold"/>
                                        <p:tgtEl>
                                          <p:spTgt spid="7168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7168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716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EC39E9B8-3333-4249-9A78-CC8640834B93}"/>
              </a:ext>
            </a:extLst>
          </p:cNvPr>
          <p:cNvSpPr>
            <a:spLocks noGrp="1" noChangeArrowheads="1"/>
          </p:cNvSpPr>
          <p:nvPr>
            <p:ph type="title"/>
          </p:nvPr>
        </p:nvSpPr>
        <p:spPr bwMode="auto">
          <a:xfrm>
            <a:off x="457200" y="663575"/>
            <a:ext cx="8229600" cy="676275"/>
          </a:xfrm>
        </p:spPr>
        <p:txBody>
          <a:bodyPr vert="horz" wrap="square" lIns="84406" tIns="42203" rIns="84406" bIns="42203" numCol="1" anchor="t" anchorCtr="0" compatLnSpc="1">
            <a:prstTxWarp prst="textNoShape">
              <a:avLst/>
            </a:prstTxWarp>
          </a:bodyPr>
          <a:lstStyle/>
          <a:p>
            <a:pPr eaLnBrk="1" hangingPunct="1">
              <a:defRPr/>
            </a:pPr>
            <a:r>
              <a:rPr lang="zh-CN" altLang="en-US" sz="3200">
                <a:solidFill>
                  <a:srgbClr val="FF0000"/>
                </a:solidFill>
                <a:latin typeface="黑体" panose="02010609060101010101" pitchFamily="49" charset="-122"/>
                <a:ea typeface="黑体" panose="02010609060101010101" pitchFamily="49" charset="-122"/>
              </a:rPr>
              <a:t>鉴别方案</a:t>
            </a:r>
            <a:r>
              <a:rPr lang="en-US" altLang="zh-CN" sz="32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E</a:t>
            </a:r>
          </a:p>
        </p:txBody>
      </p:sp>
      <p:sp>
        <p:nvSpPr>
          <p:cNvPr id="72707" name="Rectangle 3">
            <a:extLst>
              <a:ext uri="{FF2B5EF4-FFF2-40B4-BE49-F238E27FC236}">
                <a16:creationId xmlns:a16="http://schemas.microsoft.com/office/drawing/2014/main" id="{A9120686-2DD7-1B45-AF0B-6AB91A6A7985}"/>
              </a:ext>
            </a:extLst>
          </p:cNvPr>
          <p:cNvSpPr>
            <a:spLocks noGrp="1" noChangeArrowheads="1"/>
          </p:cNvSpPr>
          <p:nvPr>
            <p:ph type="body" idx="1"/>
          </p:nvPr>
        </p:nvSpPr>
        <p:spPr bwMode="auto">
          <a:xfrm>
            <a:off x="457200" y="4681538"/>
            <a:ext cx="8229600" cy="1422400"/>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u"/>
              <a:defRPr/>
            </a:pPr>
            <a:r>
              <a:rPr lang="zh-CN" altLang="en-US" sz="2400">
                <a:solidFill>
                  <a:schemeClr val="bg2"/>
                </a:solidFill>
                <a:latin typeface="黑体" panose="02010609060101010101" pitchFamily="49" charset="-122"/>
                <a:ea typeface="黑体" panose="02010609060101010101" pitchFamily="49" charset="-122"/>
              </a:rPr>
              <a:t>实体</a:t>
            </a:r>
            <a:r>
              <a:rPr lang="en-US" altLang="zh-CN" sz="2400">
                <a:solidFill>
                  <a:schemeClr val="bg2"/>
                </a:solidFill>
                <a:latin typeface="黑体" panose="02010609060101010101" pitchFamily="49" charset="-122"/>
                <a:ea typeface="黑体" panose="02010609060101010101" pitchFamily="49" charset="-122"/>
              </a:rPr>
              <a:t>A</a:t>
            </a:r>
            <a:r>
              <a:rPr lang="zh-CN" altLang="en-US" sz="2400">
                <a:solidFill>
                  <a:schemeClr val="bg2"/>
                </a:solidFill>
                <a:latin typeface="黑体" panose="02010609060101010101" pitchFamily="49" charset="-122"/>
                <a:ea typeface="黑体" panose="02010609060101010101" pitchFamily="49" charset="-122"/>
              </a:rPr>
              <a:t>在本地生成交换</a:t>
            </a:r>
            <a:r>
              <a:rPr lang="en-US" altLang="zh-CN" sz="2400">
                <a:solidFill>
                  <a:schemeClr val="bg2"/>
                </a:solidFill>
                <a:latin typeface="黑体" panose="02010609060101010101" pitchFamily="49" charset="-122"/>
                <a:ea typeface="黑体" panose="02010609060101010101" pitchFamily="49" charset="-122"/>
              </a:rPr>
              <a:t>AI</a:t>
            </a:r>
            <a:r>
              <a:rPr lang="zh-CN" altLang="en-US" sz="2400">
                <a:solidFill>
                  <a:schemeClr val="bg2"/>
                </a:solidFill>
                <a:latin typeface="黑体" panose="02010609060101010101" pitchFamily="49" charset="-122"/>
                <a:ea typeface="黑体" panose="02010609060101010101" pitchFamily="49" charset="-122"/>
              </a:rPr>
              <a:t>，并且提交给实体</a:t>
            </a:r>
            <a:r>
              <a:rPr lang="en-US" altLang="zh-CN" sz="2400">
                <a:solidFill>
                  <a:schemeClr val="bg2"/>
                </a:solidFill>
                <a:latin typeface="黑体" panose="02010609060101010101" pitchFamily="49" charset="-122"/>
                <a:ea typeface="黑体" panose="02010609060101010101" pitchFamily="49" charset="-122"/>
              </a:rPr>
              <a:t>B</a:t>
            </a:r>
            <a:r>
              <a:rPr lang="zh-CN" altLang="en-US" sz="2400">
                <a:solidFill>
                  <a:schemeClr val="bg2"/>
                </a:solidFill>
                <a:latin typeface="黑体" panose="02010609060101010101" pitchFamily="49" charset="-122"/>
                <a:ea typeface="黑体" panose="02010609060101010101" pitchFamily="49" charset="-122"/>
              </a:rPr>
              <a:t>；</a:t>
            </a:r>
          </a:p>
          <a:p>
            <a:pPr eaLnBrk="1" hangingPunct="1">
              <a:buClr>
                <a:srgbClr val="FF0000"/>
              </a:buClr>
              <a:buFont typeface="Wingdings" pitchFamily="2" charset="2"/>
              <a:buChar char="u"/>
              <a:defRPr/>
            </a:pPr>
            <a:r>
              <a:rPr lang="zh-CN" altLang="en-US" sz="2400">
                <a:solidFill>
                  <a:schemeClr val="bg2"/>
                </a:solidFill>
                <a:latin typeface="黑体" panose="02010609060101010101" pitchFamily="49" charset="-122"/>
                <a:ea typeface="黑体" panose="02010609060101010101" pitchFamily="49" charset="-122"/>
              </a:rPr>
              <a:t>实体</a:t>
            </a:r>
            <a:r>
              <a:rPr lang="en-US" altLang="zh-CN" sz="2400">
                <a:solidFill>
                  <a:schemeClr val="bg2"/>
                </a:solidFill>
                <a:latin typeface="黑体" panose="02010609060101010101" pitchFamily="49" charset="-122"/>
                <a:ea typeface="黑体" panose="02010609060101010101" pitchFamily="49" charset="-122"/>
              </a:rPr>
              <a:t>B</a:t>
            </a:r>
            <a:r>
              <a:rPr lang="zh-CN" altLang="en-US" sz="2400">
                <a:solidFill>
                  <a:schemeClr val="bg2"/>
                </a:solidFill>
                <a:latin typeface="黑体" panose="02010609060101010101" pitchFamily="49" charset="-122"/>
                <a:ea typeface="黑体" panose="02010609060101010101" pitchFamily="49" charset="-122"/>
              </a:rPr>
              <a:t>从可信第三方得到必要的验证</a:t>
            </a:r>
            <a:r>
              <a:rPr lang="en-US" altLang="zh-CN" sz="2400">
                <a:solidFill>
                  <a:schemeClr val="bg2"/>
                </a:solidFill>
                <a:latin typeface="黑体" panose="02010609060101010101" pitchFamily="49" charset="-122"/>
                <a:ea typeface="黑体" panose="02010609060101010101" pitchFamily="49" charset="-122"/>
              </a:rPr>
              <a:t>AI</a:t>
            </a:r>
            <a:r>
              <a:rPr lang="zh-CN" altLang="en-US" sz="2400">
                <a:solidFill>
                  <a:schemeClr val="bg2"/>
                </a:solidFill>
                <a:latin typeface="黑体" panose="02010609060101010101" pitchFamily="49" charset="-122"/>
                <a:ea typeface="黑体" panose="02010609060101010101" pitchFamily="49" charset="-122"/>
              </a:rPr>
              <a:t>，实现本地验证。</a:t>
            </a:r>
          </a:p>
        </p:txBody>
      </p:sp>
      <p:sp>
        <p:nvSpPr>
          <p:cNvPr id="72708" name="Rectangle 4">
            <a:extLst>
              <a:ext uri="{FF2B5EF4-FFF2-40B4-BE49-F238E27FC236}">
                <a16:creationId xmlns:a16="http://schemas.microsoft.com/office/drawing/2014/main" id="{6FAA7952-18AB-1E4A-8674-EAEA8C1878BA}"/>
              </a:ext>
            </a:extLst>
          </p:cNvPr>
          <p:cNvSpPr>
            <a:spLocks noChangeArrowheads="1"/>
          </p:cNvSpPr>
          <p:nvPr/>
        </p:nvSpPr>
        <p:spPr bwMode="auto">
          <a:xfrm>
            <a:off x="4413250" y="2381250"/>
            <a:ext cx="184150" cy="433388"/>
          </a:xfrm>
          <a:prstGeom prst="rect">
            <a:avLst/>
          </a:prstGeom>
          <a:noFill/>
          <a:ln>
            <a:noFill/>
          </a:ln>
          <a:effectLst/>
        </p:spPr>
        <p:txBody>
          <a:bodyPr wrap="none" anchor="ct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endParaRPr lang="zh-CN" altLang="en-US" sz="2215"/>
          </a:p>
        </p:txBody>
      </p:sp>
      <p:grpSp>
        <p:nvGrpSpPr>
          <p:cNvPr id="2" name="组合 1">
            <a:extLst>
              <a:ext uri="{FF2B5EF4-FFF2-40B4-BE49-F238E27FC236}">
                <a16:creationId xmlns:a16="http://schemas.microsoft.com/office/drawing/2014/main" id="{63765C35-0765-AB41-9FB5-B6A5E0380404}"/>
              </a:ext>
            </a:extLst>
          </p:cNvPr>
          <p:cNvGrpSpPr>
            <a:grpSpLocks/>
          </p:cNvGrpSpPr>
          <p:nvPr/>
        </p:nvGrpSpPr>
        <p:grpSpPr bwMode="auto">
          <a:xfrm>
            <a:off x="304800" y="1600200"/>
            <a:ext cx="4627563" cy="2590800"/>
            <a:chOff x="1976438" y="3362325"/>
            <a:chExt cx="4627498" cy="2591592"/>
          </a:xfrm>
        </p:grpSpPr>
        <p:sp>
          <p:nvSpPr>
            <p:cNvPr id="72709" name="Rectangle 5">
              <a:extLst>
                <a:ext uri="{FF2B5EF4-FFF2-40B4-BE49-F238E27FC236}">
                  <a16:creationId xmlns:a16="http://schemas.microsoft.com/office/drawing/2014/main" id="{2EFFC604-CADE-E048-A7B2-E0F0B01C874F}"/>
                </a:ext>
              </a:extLst>
            </p:cNvPr>
            <p:cNvSpPr>
              <a:spLocks noChangeArrowheads="1"/>
            </p:cNvSpPr>
            <p:nvPr/>
          </p:nvSpPr>
          <p:spPr bwMode="auto">
            <a:xfrm>
              <a:off x="2179635" y="5024946"/>
              <a:ext cx="1063610" cy="466868"/>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A </a:t>
              </a:r>
              <a:r>
                <a:rPr lang="zh-CN" altLang="en-US" sz="2215" u="none" dirty="0">
                  <a:solidFill>
                    <a:srgbClr val="FF0000"/>
                  </a:solidFill>
                  <a:effectLst>
                    <a:outerShdw blurRad="38100" dist="38100" dir="2700000" algn="tl">
                      <a:srgbClr val="000000">
                        <a:alpha val="43137"/>
                      </a:srgbClr>
                    </a:outerShdw>
                  </a:effectLst>
                </a:rPr>
                <a:t>方</a:t>
              </a:r>
            </a:p>
          </p:txBody>
        </p:sp>
        <p:sp>
          <p:nvSpPr>
            <p:cNvPr id="72710" name="AutoShape 6">
              <a:extLst>
                <a:ext uri="{FF2B5EF4-FFF2-40B4-BE49-F238E27FC236}">
                  <a16:creationId xmlns:a16="http://schemas.microsoft.com/office/drawing/2014/main" id="{AE3B1183-F32D-724A-8DA7-5DA302CAB272}"/>
                </a:ext>
              </a:extLst>
            </p:cNvPr>
            <p:cNvSpPr>
              <a:spLocks noChangeArrowheads="1"/>
            </p:cNvSpPr>
            <p:nvPr/>
          </p:nvSpPr>
          <p:spPr bwMode="auto">
            <a:xfrm>
              <a:off x="3441680" y="3362325"/>
              <a:ext cx="1730351" cy="533563"/>
            </a:xfrm>
            <a:prstGeom prst="flowChartAlternateProcess">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zh-CN" altLang="en-US" sz="2215" u="none" dirty="0">
                  <a:solidFill>
                    <a:srgbClr val="FF0000"/>
                  </a:solidFill>
                  <a:effectLst>
                    <a:outerShdw blurRad="38100" dist="38100" dir="2700000" algn="tl">
                      <a:srgbClr val="000000">
                        <a:alpha val="43137"/>
                      </a:srgbClr>
                    </a:outerShdw>
                  </a:effectLst>
                </a:rPr>
                <a:t>可信第三方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72711" name="Rectangle 7">
              <a:extLst>
                <a:ext uri="{FF2B5EF4-FFF2-40B4-BE49-F238E27FC236}">
                  <a16:creationId xmlns:a16="http://schemas.microsoft.com/office/drawing/2014/main" id="{EC5C7F2A-8E8E-9949-BED5-BD4ADC7BC886}"/>
                </a:ext>
              </a:extLst>
            </p:cNvPr>
            <p:cNvSpPr>
              <a:spLocks noChangeArrowheads="1"/>
            </p:cNvSpPr>
            <p:nvPr/>
          </p:nvSpPr>
          <p:spPr bwMode="auto">
            <a:xfrm>
              <a:off x="5235530" y="5024946"/>
              <a:ext cx="1063610" cy="466868"/>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B </a:t>
              </a:r>
              <a:r>
                <a:rPr lang="zh-CN" altLang="en-US" sz="2215" u="none" dirty="0">
                  <a:solidFill>
                    <a:srgbClr val="FF0000"/>
                  </a:solidFill>
                  <a:effectLst>
                    <a:outerShdw blurRad="38100" dist="38100" dir="2700000" algn="tl">
                      <a:srgbClr val="000000">
                        <a:alpha val="43137"/>
                      </a:srgbClr>
                    </a:outerShdw>
                  </a:effectLst>
                </a:rPr>
                <a:t>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72712" name="Line 9">
              <a:extLst>
                <a:ext uri="{FF2B5EF4-FFF2-40B4-BE49-F238E27FC236}">
                  <a16:creationId xmlns:a16="http://schemas.microsoft.com/office/drawing/2014/main" id="{99EBAF66-FA10-9245-9929-E3869B799015}"/>
                </a:ext>
              </a:extLst>
            </p:cNvPr>
            <p:cNvSpPr>
              <a:spLocks noChangeShapeType="1"/>
            </p:cNvSpPr>
            <p:nvPr/>
          </p:nvSpPr>
          <p:spPr bwMode="auto">
            <a:xfrm rot="5400000" flipH="1">
              <a:off x="4705132" y="3896069"/>
              <a:ext cx="1130646" cy="1130284"/>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effectLst>
                  <a:outerShdw blurRad="38100" dist="38100" dir="2700000" algn="tl">
                    <a:srgbClr val="000000">
                      <a:alpha val="43137"/>
                    </a:srgbClr>
                  </a:outerShdw>
                </a:effectLst>
              </a:endParaRPr>
            </a:p>
          </p:txBody>
        </p:sp>
        <p:sp>
          <p:nvSpPr>
            <p:cNvPr id="72713" name="Line 10">
              <a:extLst>
                <a:ext uri="{FF2B5EF4-FFF2-40B4-BE49-F238E27FC236}">
                  <a16:creationId xmlns:a16="http://schemas.microsoft.com/office/drawing/2014/main" id="{B0376C5A-3161-2442-B42C-D89416B98FDC}"/>
                </a:ext>
              </a:extLst>
            </p:cNvPr>
            <p:cNvSpPr>
              <a:spLocks noChangeShapeType="1"/>
            </p:cNvSpPr>
            <p:nvPr/>
          </p:nvSpPr>
          <p:spPr bwMode="auto">
            <a:xfrm>
              <a:off x="3308332" y="5290139"/>
              <a:ext cx="1927198" cy="0"/>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effectLst>
                  <a:outerShdw blurRad="38100" dist="38100" dir="2700000" algn="tl">
                    <a:srgbClr val="000000">
                      <a:alpha val="43137"/>
                    </a:srgbClr>
                  </a:outerShdw>
                </a:effectLst>
              </a:endParaRPr>
            </a:p>
          </p:txBody>
        </p:sp>
        <p:sp>
          <p:nvSpPr>
            <p:cNvPr id="72714" name="Text Box 12">
              <a:extLst>
                <a:ext uri="{FF2B5EF4-FFF2-40B4-BE49-F238E27FC236}">
                  <a16:creationId xmlns:a16="http://schemas.microsoft.com/office/drawing/2014/main" id="{FAFFA5B2-5CFE-904F-AD88-0E6E27C9219F}"/>
                </a:ext>
              </a:extLst>
            </p:cNvPr>
            <p:cNvSpPr txBox="1">
              <a:spLocks noChangeArrowheads="1"/>
            </p:cNvSpPr>
            <p:nvPr/>
          </p:nvSpPr>
          <p:spPr bwMode="auto">
            <a:xfrm>
              <a:off x="5103769" y="4161082"/>
              <a:ext cx="1195371" cy="431932"/>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分发</a:t>
              </a:r>
            </a:p>
          </p:txBody>
        </p:sp>
        <p:sp>
          <p:nvSpPr>
            <p:cNvPr id="72715" name="Text Box 13">
              <a:extLst>
                <a:ext uri="{FF2B5EF4-FFF2-40B4-BE49-F238E27FC236}">
                  <a16:creationId xmlns:a16="http://schemas.microsoft.com/office/drawing/2014/main" id="{2560A79E-CAF6-BD4B-83D6-79C9C8E6B0DD}"/>
                </a:ext>
              </a:extLst>
            </p:cNvPr>
            <p:cNvSpPr txBox="1">
              <a:spLocks noChangeArrowheads="1"/>
            </p:cNvSpPr>
            <p:nvPr/>
          </p:nvSpPr>
          <p:spPr bwMode="auto">
            <a:xfrm>
              <a:off x="3573441" y="5267907"/>
              <a:ext cx="1196958" cy="431932"/>
            </a:xfrm>
            <a:prstGeom prst="rect">
              <a:avLst/>
            </a:prstGeom>
            <a:noFill/>
            <a:ln>
              <a:noFill/>
            </a:ln>
            <a:effectLst/>
          </p:spPr>
          <p:txBody>
            <a:bodyP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r>
                <a:rPr lang="zh-CN" altLang="en-US" sz="2215" u="none" dirty="0">
                  <a:solidFill>
                    <a:srgbClr val="0000FF"/>
                  </a:solidFill>
                  <a:effectLst>
                    <a:outerShdw blurRad="38100" dist="38100" dir="2700000" algn="tl">
                      <a:srgbClr val="000000">
                        <a:alpha val="43137"/>
                      </a:srgbClr>
                    </a:outerShdw>
                  </a:effectLst>
                </a:rPr>
                <a:t>传输</a:t>
              </a:r>
            </a:p>
          </p:txBody>
        </p:sp>
        <p:sp>
          <p:nvSpPr>
            <p:cNvPr id="12" name="Text Box 16">
              <a:extLst>
                <a:ext uri="{FF2B5EF4-FFF2-40B4-BE49-F238E27FC236}">
                  <a16:creationId xmlns:a16="http://schemas.microsoft.com/office/drawing/2014/main" id="{2AD16EE5-37E0-474A-9F20-E5542C78074A}"/>
                </a:ext>
              </a:extLst>
            </p:cNvPr>
            <p:cNvSpPr txBox="1">
              <a:spLocks noChangeArrowheads="1"/>
            </p:cNvSpPr>
            <p:nvPr/>
          </p:nvSpPr>
          <p:spPr bwMode="auto">
            <a:xfrm>
              <a:off x="1976438" y="5514046"/>
              <a:ext cx="1597003" cy="433519"/>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3" name="Text Box 17">
              <a:extLst>
                <a:ext uri="{FF2B5EF4-FFF2-40B4-BE49-F238E27FC236}">
                  <a16:creationId xmlns:a16="http://schemas.microsoft.com/office/drawing/2014/main" id="{5B680802-9184-084D-8F3A-A3AE4D824CBF}"/>
                </a:ext>
              </a:extLst>
            </p:cNvPr>
            <p:cNvSpPr txBox="1">
              <a:spLocks noChangeArrowheads="1"/>
            </p:cNvSpPr>
            <p:nvPr/>
          </p:nvSpPr>
          <p:spPr bwMode="auto">
            <a:xfrm>
              <a:off x="5008520" y="5520398"/>
              <a:ext cx="1595416" cy="433519"/>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pic>
        <p:nvPicPr>
          <p:cNvPr id="36869" name="图片 2">
            <a:extLst>
              <a:ext uri="{FF2B5EF4-FFF2-40B4-BE49-F238E27FC236}">
                <a16:creationId xmlns:a16="http://schemas.microsoft.com/office/drawing/2014/main" id="{1FB48006-8492-2D40-98E4-6F16A33FC1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48300" y="993775"/>
            <a:ext cx="3411538" cy="25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72707">
                                            <p:txEl>
                                              <p:pRg st="0" end="0"/>
                                            </p:txEl>
                                          </p:spTgt>
                                        </p:tgtEl>
                                        <p:attrNameLst>
                                          <p:attrName>style.visibility</p:attrName>
                                        </p:attrNameLst>
                                      </p:cBhvr>
                                      <p:to>
                                        <p:strVal val="visible"/>
                                      </p:to>
                                    </p:set>
                                    <p:anim calcmode="lin" valueType="num">
                                      <p:cBhvr>
                                        <p:cTn id="12" dur="500" fill="hold"/>
                                        <p:tgtEl>
                                          <p:spTgt spid="72707">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72707">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72707">
                                            <p:txEl>
                                              <p:pRg st="0" end="0"/>
                                            </p:txEl>
                                          </p:spTgt>
                                        </p:tgtEl>
                                      </p:cBhvr>
                                    </p:animEffect>
                                  </p:childTnLst>
                                </p:cTn>
                              </p:par>
                            </p:childTnLst>
                          </p:cTn>
                        </p:par>
                        <p:par>
                          <p:cTn id="15" fill="hold" nodeType="afterGroup">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72707">
                                            <p:txEl>
                                              <p:pRg st="1" end="1"/>
                                            </p:txEl>
                                          </p:spTgt>
                                        </p:tgtEl>
                                        <p:attrNameLst>
                                          <p:attrName>style.visibility</p:attrName>
                                        </p:attrNameLst>
                                      </p:cBhvr>
                                      <p:to>
                                        <p:strVal val="visible"/>
                                      </p:to>
                                    </p:set>
                                    <p:anim calcmode="lin" valueType="num">
                                      <p:cBhvr>
                                        <p:cTn id="18" dur="500" fill="hold"/>
                                        <p:tgtEl>
                                          <p:spTgt spid="72707">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72707">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727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45DA01D6-71E9-5942-B64A-C4500B069814}"/>
              </a:ext>
            </a:extLst>
          </p:cNvPr>
          <p:cNvSpPr>
            <a:spLocks noGrp="1" noChangeArrowheads="1"/>
          </p:cNvSpPr>
          <p:nvPr>
            <p:ph type="title"/>
          </p:nvPr>
        </p:nvSpPr>
        <p:spPr bwMode="auto">
          <a:xfrm>
            <a:off x="457200" y="695325"/>
            <a:ext cx="8229600" cy="676275"/>
          </a:xfrm>
        </p:spPr>
        <p:txBody>
          <a:bodyPr vert="horz" wrap="square" lIns="84406" tIns="42203" rIns="84406" bIns="42203" numCol="1" anchor="t" anchorCtr="0" compatLnSpc="1">
            <a:prstTxWarp prst="textNoShape">
              <a:avLst/>
            </a:prstTxWarp>
          </a:bodyPr>
          <a:lstStyle/>
          <a:p>
            <a:pPr eaLnBrk="1" hangingPunct="1">
              <a:defRPr/>
            </a:pPr>
            <a:r>
              <a:rPr lang="zh-CN" altLang="en-US" sz="3200">
                <a:solidFill>
                  <a:srgbClr val="FF0000"/>
                </a:solidFill>
                <a:latin typeface="黑体" panose="02010609060101010101" pitchFamily="49" charset="-122"/>
                <a:ea typeface="黑体" panose="02010609060101010101" pitchFamily="49" charset="-122"/>
              </a:rPr>
              <a:t>鉴别方案</a:t>
            </a:r>
            <a:r>
              <a:rPr lang="en-US" altLang="zh-CN" sz="32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F</a:t>
            </a:r>
          </a:p>
        </p:txBody>
      </p:sp>
      <p:sp>
        <p:nvSpPr>
          <p:cNvPr id="73731" name="Rectangle 3">
            <a:extLst>
              <a:ext uri="{FF2B5EF4-FFF2-40B4-BE49-F238E27FC236}">
                <a16:creationId xmlns:a16="http://schemas.microsoft.com/office/drawing/2014/main" id="{46766242-516F-844C-9F1E-85AF29DCBEE5}"/>
              </a:ext>
            </a:extLst>
          </p:cNvPr>
          <p:cNvSpPr>
            <a:spLocks noGrp="1" noChangeArrowheads="1"/>
          </p:cNvSpPr>
          <p:nvPr>
            <p:ph type="body" idx="1"/>
          </p:nvPr>
        </p:nvSpPr>
        <p:spPr bwMode="auto">
          <a:xfrm>
            <a:off x="317500" y="4646613"/>
            <a:ext cx="8458200" cy="1422400"/>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u"/>
              <a:defRPr/>
            </a:pPr>
            <a:r>
              <a:rPr lang="zh-CN" altLang="en-US" sz="2400">
                <a:solidFill>
                  <a:schemeClr val="bg2"/>
                </a:solidFill>
                <a:latin typeface="黑体" panose="02010609060101010101" pitchFamily="49" charset="-122"/>
                <a:ea typeface="黑体" panose="02010609060101010101" pitchFamily="49" charset="-122"/>
              </a:rPr>
              <a:t>实体</a:t>
            </a:r>
            <a:r>
              <a:rPr lang="en-US" altLang="zh-CN" sz="2400">
                <a:solidFill>
                  <a:schemeClr val="bg2"/>
                </a:solidFill>
                <a:latin typeface="黑体" panose="02010609060101010101" pitchFamily="49" charset="-122"/>
                <a:ea typeface="黑体" panose="02010609060101010101" pitchFamily="49" charset="-122"/>
              </a:rPr>
              <a:t>A</a:t>
            </a:r>
            <a:r>
              <a:rPr lang="zh-CN" altLang="en-US" sz="2400">
                <a:solidFill>
                  <a:schemeClr val="bg2"/>
                </a:solidFill>
                <a:latin typeface="黑体" panose="02010609060101010101" pitchFamily="49" charset="-122"/>
                <a:ea typeface="黑体" panose="02010609060101010101" pitchFamily="49" charset="-122"/>
              </a:rPr>
              <a:t>在本地生成交换</a:t>
            </a:r>
            <a:r>
              <a:rPr lang="en-US" altLang="zh-CN" sz="2400">
                <a:solidFill>
                  <a:schemeClr val="bg2"/>
                </a:solidFill>
                <a:latin typeface="黑体" panose="02010609060101010101" pitchFamily="49" charset="-122"/>
                <a:ea typeface="黑体" panose="02010609060101010101" pitchFamily="49" charset="-122"/>
              </a:rPr>
              <a:t>AI</a:t>
            </a:r>
            <a:r>
              <a:rPr lang="zh-CN" altLang="en-US" sz="2400">
                <a:solidFill>
                  <a:schemeClr val="bg2"/>
                </a:solidFill>
                <a:latin typeface="黑体" panose="02010609060101010101" pitchFamily="49" charset="-122"/>
                <a:ea typeface="黑体" panose="02010609060101010101" pitchFamily="49" charset="-122"/>
              </a:rPr>
              <a:t>，并且提交给实体</a:t>
            </a:r>
            <a:r>
              <a:rPr lang="en-US" altLang="zh-CN" sz="2400">
                <a:solidFill>
                  <a:schemeClr val="bg2"/>
                </a:solidFill>
                <a:latin typeface="黑体" panose="02010609060101010101" pitchFamily="49" charset="-122"/>
                <a:ea typeface="黑体" panose="02010609060101010101" pitchFamily="49" charset="-122"/>
              </a:rPr>
              <a:t>B</a:t>
            </a:r>
            <a:r>
              <a:rPr lang="zh-CN" altLang="en-US" sz="2400">
                <a:solidFill>
                  <a:schemeClr val="bg2"/>
                </a:solidFill>
                <a:latin typeface="黑体" panose="02010609060101010101" pitchFamily="49" charset="-122"/>
                <a:ea typeface="黑体" panose="02010609060101010101" pitchFamily="49" charset="-122"/>
              </a:rPr>
              <a:t>；</a:t>
            </a:r>
          </a:p>
          <a:p>
            <a:pPr eaLnBrk="1" hangingPunct="1">
              <a:buClr>
                <a:srgbClr val="FF0000"/>
              </a:buClr>
              <a:buFont typeface="Wingdings" pitchFamily="2" charset="2"/>
              <a:buChar char="u"/>
              <a:defRPr/>
            </a:pPr>
            <a:r>
              <a:rPr lang="zh-CN" altLang="en-US" sz="2400">
                <a:solidFill>
                  <a:schemeClr val="bg2"/>
                </a:solidFill>
                <a:latin typeface="黑体" panose="02010609060101010101" pitchFamily="49" charset="-122"/>
                <a:ea typeface="黑体" panose="02010609060101010101" pitchFamily="49" charset="-122"/>
              </a:rPr>
              <a:t>实体</a:t>
            </a:r>
            <a:r>
              <a:rPr lang="en-US" altLang="zh-CN" sz="2400">
                <a:solidFill>
                  <a:schemeClr val="bg2"/>
                </a:solidFill>
                <a:latin typeface="黑体" panose="02010609060101010101" pitchFamily="49" charset="-122"/>
                <a:ea typeface="黑体" panose="02010609060101010101" pitchFamily="49" charset="-122"/>
              </a:rPr>
              <a:t>B</a:t>
            </a:r>
            <a:r>
              <a:rPr lang="zh-CN" altLang="en-US" sz="2400">
                <a:solidFill>
                  <a:schemeClr val="bg2"/>
                </a:solidFill>
                <a:latin typeface="黑体" panose="02010609060101010101" pitchFamily="49" charset="-122"/>
                <a:ea typeface="黑体" panose="02010609060101010101" pitchFamily="49" charset="-122"/>
              </a:rPr>
              <a:t>将从实体</a:t>
            </a:r>
            <a:r>
              <a:rPr lang="en-US" altLang="zh-CN" sz="2400">
                <a:solidFill>
                  <a:schemeClr val="bg2"/>
                </a:solidFill>
                <a:latin typeface="黑体" panose="02010609060101010101" pitchFamily="49" charset="-122"/>
                <a:ea typeface="黑体" panose="02010609060101010101" pitchFamily="49" charset="-122"/>
              </a:rPr>
              <a:t>A</a:t>
            </a:r>
            <a:r>
              <a:rPr lang="zh-CN" altLang="en-US" sz="2400">
                <a:solidFill>
                  <a:schemeClr val="bg2"/>
                </a:solidFill>
                <a:latin typeface="黑体" panose="02010609060101010101" pitchFamily="49" charset="-122"/>
                <a:ea typeface="黑体" panose="02010609060101010101" pitchFamily="49" charset="-122"/>
              </a:rPr>
              <a:t>收到的交换</a:t>
            </a:r>
            <a:r>
              <a:rPr lang="en-US" altLang="zh-CN" sz="2400">
                <a:solidFill>
                  <a:schemeClr val="bg2"/>
                </a:solidFill>
                <a:latin typeface="黑体" panose="02010609060101010101" pitchFamily="49" charset="-122"/>
                <a:ea typeface="黑体" panose="02010609060101010101" pitchFamily="49" charset="-122"/>
              </a:rPr>
              <a:t>AI</a:t>
            </a:r>
            <a:r>
              <a:rPr lang="zh-CN" altLang="en-US" sz="2400">
                <a:solidFill>
                  <a:schemeClr val="bg2"/>
                </a:solidFill>
                <a:latin typeface="黑体" panose="02010609060101010101" pitchFamily="49" charset="-122"/>
                <a:ea typeface="黑体" panose="02010609060101010101" pitchFamily="49" charset="-122"/>
              </a:rPr>
              <a:t>提交给可信第三方进行验证。</a:t>
            </a:r>
          </a:p>
        </p:txBody>
      </p:sp>
      <p:sp>
        <p:nvSpPr>
          <p:cNvPr id="73732" name="Rectangle 4">
            <a:extLst>
              <a:ext uri="{FF2B5EF4-FFF2-40B4-BE49-F238E27FC236}">
                <a16:creationId xmlns:a16="http://schemas.microsoft.com/office/drawing/2014/main" id="{EE67A750-320F-324C-BF6C-951B4641C2E5}"/>
              </a:ext>
            </a:extLst>
          </p:cNvPr>
          <p:cNvSpPr>
            <a:spLocks noChangeArrowheads="1"/>
          </p:cNvSpPr>
          <p:nvPr/>
        </p:nvSpPr>
        <p:spPr bwMode="auto">
          <a:xfrm>
            <a:off x="4413250" y="2381250"/>
            <a:ext cx="184150" cy="433388"/>
          </a:xfrm>
          <a:prstGeom prst="rect">
            <a:avLst/>
          </a:prstGeom>
          <a:noFill/>
          <a:ln>
            <a:noFill/>
          </a:ln>
          <a:effectLst/>
        </p:spPr>
        <p:txBody>
          <a:bodyPr wrap="none" anchor="ct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endParaRPr lang="zh-CN" altLang="en-US" sz="2215"/>
          </a:p>
        </p:txBody>
      </p:sp>
      <p:grpSp>
        <p:nvGrpSpPr>
          <p:cNvPr id="2" name="组合 1">
            <a:extLst>
              <a:ext uri="{FF2B5EF4-FFF2-40B4-BE49-F238E27FC236}">
                <a16:creationId xmlns:a16="http://schemas.microsoft.com/office/drawing/2014/main" id="{4065E4B0-3C88-4443-AC24-8885BF0380A6}"/>
              </a:ext>
            </a:extLst>
          </p:cNvPr>
          <p:cNvGrpSpPr>
            <a:grpSpLocks/>
          </p:cNvGrpSpPr>
          <p:nvPr/>
        </p:nvGrpSpPr>
        <p:grpSpPr bwMode="auto">
          <a:xfrm>
            <a:off x="3886200" y="1506538"/>
            <a:ext cx="4627563" cy="2616200"/>
            <a:chOff x="1920939" y="3362325"/>
            <a:chExt cx="4627498" cy="2614804"/>
          </a:xfrm>
        </p:grpSpPr>
        <p:sp>
          <p:nvSpPr>
            <p:cNvPr id="73733" name="Rectangle 5">
              <a:extLst>
                <a:ext uri="{FF2B5EF4-FFF2-40B4-BE49-F238E27FC236}">
                  <a16:creationId xmlns:a16="http://schemas.microsoft.com/office/drawing/2014/main" id="{76F5F5C6-5D9B-8A48-820E-87BD7622BD51}"/>
                </a:ext>
              </a:extLst>
            </p:cNvPr>
            <p:cNvSpPr>
              <a:spLocks noChangeArrowheads="1"/>
            </p:cNvSpPr>
            <p:nvPr/>
          </p:nvSpPr>
          <p:spPr bwMode="auto">
            <a:xfrm>
              <a:off x="2179698" y="5025137"/>
              <a:ext cx="1063610" cy="466476"/>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A </a:t>
              </a:r>
              <a:r>
                <a:rPr lang="zh-CN" altLang="en-US" sz="2215" u="none" dirty="0">
                  <a:solidFill>
                    <a:srgbClr val="FF0000"/>
                  </a:solidFill>
                  <a:effectLst>
                    <a:outerShdw blurRad="38100" dist="38100" dir="2700000" algn="tl">
                      <a:srgbClr val="000000">
                        <a:alpha val="43137"/>
                      </a:srgbClr>
                    </a:outerShdw>
                  </a:effectLst>
                </a:rPr>
                <a:t>方</a:t>
              </a:r>
            </a:p>
          </p:txBody>
        </p:sp>
        <p:sp>
          <p:nvSpPr>
            <p:cNvPr id="73734" name="AutoShape 6">
              <a:extLst>
                <a:ext uri="{FF2B5EF4-FFF2-40B4-BE49-F238E27FC236}">
                  <a16:creationId xmlns:a16="http://schemas.microsoft.com/office/drawing/2014/main" id="{BEDAD47C-46D7-AE4D-ABB6-7804EABB6F7A}"/>
                </a:ext>
              </a:extLst>
            </p:cNvPr>
            <p:cNvSpPr>
              <a:spLocks noChangeArrowheads="1"/>
            </p:cNvSpPr>
            <p:nvPr/>
          </p:nvSpPr>
          <p:spPr bwMode="auto">
            <a:xfrm>
              <a:off x="3441743" y="3362325"/>
              <a:ext cx="1730351" cy="533115"/>
            </a:xfrm>
            <a:prstGeom prst="flowChartAlternateProcess">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zh-CN" altLang="en-US" sz="2215" u="none" dirty="0">
                  <a:solidFill>
                    <a:srgbClr val="FF0000"/>
                  </a:solidFill>
                  <a:effectLst>
                    <a:outerShdw blurRad="38100" dist="38100" dir="2700000" algn="tl">
                      <a:srgbClr val="000000">
                        <a:alpha val="43137"/>
                      </a:srgbClr>
                    </a:outerShdw>
                  </a:effectLst>
                </a:rPr>
                <a:t>可信第三方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73735" name="Rectangle 7">
              <a:extLst>
                <a:ext uri="{FF2B5EF4-FFF2-40B4-BE49-F238E27FC236}">
                  <a16:creationId xmlns:a16="http://schemas.microsoft.com/office/drawing/2014/main" id="{EA7FB26D-6AE1-9943-A841-E773D9405EF9}"/>
                </a:ext>
              </a:extLst>
            </p:cNvPr>
            <p:cNvSpPr>
              <a:spLocks noChangeArrowheads="1"/>
            </p:cNvSpPr>
            <p:nvPr/>
          </p:nvSpPr>
          <p:spPr bwMode="auto">
            <a:xfrm>
              <a:off x="5235592" y="5025137"/>
              <a:ext cx="1063610" cy="466476"/>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B </a:t>
              </a:r>
              <a:r>
                <a:rPr lang="zh-CN" altLang="en-US" sz="2215" u="none" dirty="0">
                  <a:solidFill>
                    <a:srgbClr val="FF0000"/>
                  </a:solidFill>
                  <a:effectLst>
                    <a:outerShdw blurRad="38100" dist="38100" dir="2700000" algn="tl">
                      <a:srgbClr val="000000">
                        <a:alpha val="43137"/>
                      </a:srgbClr>
                    </a:outerShdw>
                  </a:effectLst>
                </a:rPr>
                <a:t>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73736" name="Line 9">
              <a:extLst>
                <a:ext uri="{FF2B5EF4-FFF2-40B4-BE49-F238E27FC236}">
                  <a16:creationId xmlns:a16="http://schemas.microsoft.com/office/drawing/2014/main" id="{96F037D4-6A43-2E49-AD80-E0DA44D056A1}"/>
                </a:ext>
              </a:extLst>
            </p:cNvPr>
            <p:cNvSpPr>
              <a:spLocks noChangeShapeType="1"/>
            </p:cNvSpPr>
            <p:nvPr/>
          </p:nvSpPr>
          <p:spPr bwMode="auto">
            <a:xfrm rot="5400000" flipH="1">
              <a:off x="4704875" y="3895940"/>
              <a:ext cx="1131283" cy="1130284"/>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effectLst>
                  <a:outerShdw blurRad="38100" dist="38100" dir="2700000" algn="tl">
                    <a:srgbClr val="000000">
                      <a:alpha val="43137"/>
                    </a:srgbClr>
                  </a:outerShdw>
                </a:effectLst>
              </a:endParaRPr>
            </a:p>
          </p:txBody>
        </p:sp>
        <p:sp>
          <p:nvSpPr>
            <p:cNvPr id="73737" name="Line 10">
              <a:extLst>
                <a:ext uri="{FF2B5EF4-FFF2-40B4-BE49-F238E27FC236}">
                  <a16:creationId xmlns:a16="http://schemas.microsoft.com/office/drawing/2014/main" id="{EBC3696D-31CE-B740-A6FF-C4BB4D7F7483}"/>
                </a:ext>
              </a:extLst>
            </p:cNvPr>
            <p:cNvSpPr>
              <a:spLocks noChangeShapeType="1"/>
            </p:cNvSpPr>
            <p:nvPr/>
          </p:nvSpPr>
          <p:spPr bwMode="auto">
            <a:xfrm>
              <a:off x="3308395" y="5290108"/>
              <a:ext cx="1927198" cy="0"/>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effectLst>
                  <a:outerShdw blurRad="38100" dist="38100" dir="2700000" algn="tl">
                    <a:srgbClr val="000000">
                      <a:alpha val="43137"/>
                    </a:srgbClr>
                  </a:outerShdw>
                </a:effectLst>
              </a:endParaRPr>
            </a:p>
          </p:txBody>
        </p:sp>
        <p:sp>
          <p:nvSpPr>
            <p:cNvPr id="73738" name="Text Box 12">
              <a:extLst>
                <a:ext uri="{FF2B5EF4-FFF2-40B4-BE49-F238E27FC236}">
                  <a16:creationId xmlns:a16="http://schemas.microsoft.com/office/drawing/2014/main" id="{A661F8CF-F620-C243-8F7E-130F8F8A504D}"/>
                </a:ext>
              </a:extLst>
            </p:cNvPr>
            <p:cNvSpPr txBox="1">
              <a:spLocks noChangeArrowheads="1"/>
            </p:cNvSpPr>
            <p:nvPr/>
          </p:nvSpPr>
          <p:spPr bwMode="auto">
            <a:xfrm>
              <a:off x="5103832" y="4160411"/>
              <a:ext cx="1195370" cy="431570"/>
            </a:xfrm>
            <a:prstGeom prst="rect">
              <a:avLst/>
            </a:prstGeom>
            <a:noFill/>
            <a:ln>
              <a:noFill/>
            </a:ln>
            <a:effectLst/>
          </p:spPr>
          <p:txBody>
            <a:bodyP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r>
                <a:rPr lang="zh-CN" altLang="en-US" sz="2215" u="none">
                  <a:solidFill>
                    <a:srgbClr val="0000FF"/>
                  </a:solidFill>
                  <a:effectLst>
                    <a:outerShdw blurRad="38100" dist="38100" dir="2700000" algn="tl">
                      <a:srgbClr val="000000">
                        <a:alpha val="43137"/>
                      </a:srgbClr>
                    </a:outerShdw>
                  </a:effectLst>
                </a:rPr>
                <a:t>验证</a:t>
              </a:r>
            </a:p>
          </p:txBody>
        </p:sp>
        <p:sp>
          <p:nvSpPr>
            <p:cNvPr id="73739" name="Text Box 13">
              <a:extLst>
                <a:ext uri="{FF2B5EF4-FFF2-40B4-BE49-F238E27FC236}">
                  <a16:creationId xmlns:a16="http://schemas.microsoft.com/office/drawing/2014/main" id="{60AA8165-8037-BF42-85F4-A9C9D1D3CE44}"/>
                </a:ext>
              </a:extLst>
            </p:cNvPr>
            <p:cNvSpPr txBox="1">
              <a:spLocks noChangeArrowheads="1"/>
            </p:cNvSpPr>
            <p:nvPr/>
          </p:nvSpPr>
          <p:spPr bwMode="auto">
            <a:xfrm>
              <a:off x="3573504" y="5267895"/>
              <a:ext cx="1196958" cy="431570"/>
            </a:xfrm>
            <a:prstGeom prst="rect">
              <a:avLst/>
            </a:prstGeom>
            <a:noFill/>
            <a:ln>
              <a:noFill/>
            </a:ln>
            <a:effectLst/>
          </p:spPr>
          <p:txBody>
            <a:bodyP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r>
                <a:rPr lang="zh-CN" altLang="en-US" sz="2215" u="none" dirty="0">
                  <a:solidFill>
                    <a:srgbClr val="0000FF"/>
                  </a:solidFill>
                  <a:effectLst>
                    <a:outerShdw blurRad="38100" dist="38100" dir="2700000" algn="tl">
                      <a:srgbClr val="000000">
                        <a:alpha val="43137"/>
                      </a:srgbClr>
                    </a:outerShdw>
                  </a:effectLst>
                </a:rPr>
                <a:t>传输</a:t>
              </a:r>
            </a:p>
          </p:txBody>
        </p:sp>
        <p:sp>
          <p:nvSpPr>
            <p:cNvPr id="12" name="Text Box 16">
              <a:extLst>
                <a:ext uri="{FF2B5EF4-FFF2-40B4-BE49-F238E27FC236}">
                  <a16:creationId xmlns:a16="http://schemas.microsoft.com/office/drawing/2014/main" id="{F7ED9E96-2CC7-264A-A302-1E76C82214C2}"/>
                </a:ext>
              </a:extLst>
            </p:cNvPr>
            <p:cNvSpPr txBox="1">
              <a:spLocks noChangeArrowheads="1"/>
            </p:cNvSpPr>
            <p:nvPr/>
          </p:nvSpPr>
          <p:spPr bwMode="auto">
            <a:xfrm>
              <a:off x="1920939" y="5536039"/>
              <a:ext cx="1597003" cy="43315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3" name="Text Box 17">
              <a:extLst>
                <a:ext uri="{FF2B5EF4-FFF2-40B4-BE49-F238E27FC236}">
                  <a16:creationId xmlns:a16="http://schemas.microsoft.com/office/drawing/2014/main" id="{CBF11BDA-2ACA-3248-8F82-F11A2018E224}"/>
                </a:ext>
              </a:extLst>
            </p:cNvPr>
            <p:cNvSpPr txBox="1">
              <a:spLocks noChangeArrowheads="1"/>
            </p:cNvSpPr>
            <p:nvPr/>
          </p:nvSpPr>
          <p:spPr bwMode="auto">
            <a:xfrm>
              <a:off x="4953021" y="5543972"/>
              <a:ext cx="1595416" cy="433157"/>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pic>
        <p:nvPicPr>
          <p:cNvPr id="37893" name="图片 2">
            <a:extLst>
              <a:ext uri="{FF2B5EF4-FFF2-40B4-BE49-F238E27FC236}">
                <a16:creationId xmlns:a16="http://schemas.microsoft.com/office/drawing/2014/main" id="{837D7D89-1C27-F54A-92A1-42432E139A1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6550" y="1593850"/>
            <a:ext cx="3176588" cy="243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73731">
                                            <p:txEl>
                                              <p:pRg st="0" end="0"/>
                                            </p:txEl>
                                          </p:spTgt>
                                        </p:tgtEl>
                                        <p:attrNameLst>
                                          <p:attrName>style.visibility</p:attrName>
                                        </p:attrNameLst>
                                      </p:cBhvr>
                                      <p:to>
                                        <p:strVal val="visible"/>
                                      </p:to>
                                    </p:set>
                                    <p:anim calcmode="lin" valueType="num">
                                      <p:cBhvr>
                                        <p:cTn id="12" dur="1000" fill="hold"/>
                                        <p:tgtEl>
                                          <p:spTgt spid="73731">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73731">
                                            <p:txEl>
                                              <p:pRg st="0" end="0"/>
                                            </p:txEl>
                                          </p:spTgt>
                                        </p:tgtEl>
                                        <p:attrNameLst>
                                          <p:attrName>ppt_h</p:attrName>
                                        </p:attrNameLst>
                                      </p:cBhvr>
                                      <p:tavLst>
                                        <p:tav tm="0">
                                          <p:val>
                                            <p:fltVal val="0"/>
                                          </p:val>
                                        </p:tav>
                                        <p:tav tm="100000">
                                          <p:val>
                                            <p:strVal val="#ppt_h"/>
                                          </p:val>
                                        </p:tav>
                                      </p:tavLst>
                                    </p:anim>
                                    <p:animEffect transition="in" filter="fade">
                                      <p:cBhvr>
                                        <p:cTn id="14" dur="1000"/>
                                        <p:tgtEl>
                                          <p:spTgt spid="73731">
                                            <p:txEl>
                                              <p:pRg st="0" end="0"/>
                                            </p:txEl>
                                          </p:spTgt>
                                        </p:tgtEl>
                                      </p:cBhvr>
                                    </p:animEffect>
                                  </p:childTnLst>
                                </p:cTn>
                              </p:par>
                            </p:childTnLst>
                          </p:cTn>
                        </p:par>
                        <p:par>
                          <p:cTn id="15" fill="hold" nodeType="afterGroup">
                            <p:stCondLst>
                              <p:cond delay="1500"/>
                            </p:stCondLst>
                            <p:childTnLst>
                              <p:par>
                                <p:cTn id="16" presetID="53" presetClass="entr" presetSubtype="16" fill="hold" grpId="0" nodeType="afterEffect">
                                  <p:stCondLst>
                                    <p:cond delay="0"/>
                                  </p:stCondLst>
                                  <p:childTnLst>
                                    <p:set>
                                      <p:cBhvr>
                                        <p:cTn id="17" dur="1" fill="hold">
                                          <p:stCondLst>
                                            <p:cond delay="0"/>
                                          </p:stCondLst>
                                        </p:cTn>
                                        <p:tgtEl>
                                          <p:spTgt spid="73731">
                                            <p:txEl>
                                              <p:pRg st="1" end="1"/>
                                            </p:txEl>
                                          </p:spTgt>
                                        </p:tgtEl>
                                        <p:attrNameLst>
                                          <p:attrName>style.visibility</p:attrName>
                                        </p:attrNameLst>
                                      </p:cBhvr>
                                      <p:to>
                                        <p:strVal val="visible"/>
                                      </p:to>
                                    </p:set>
                                    <p:anim calcmode="lin" valueType="num">
                                      <p:cBhvr>
                                        <p:cTn id="18" dur="1000" fill="hold"/>
                                        <p:tgtEl>
                                          <p:spTgt spid="73731">
                                            <p:txEl>
                                              <p:pRg st="1" end="1"/>
                                            </p:txEl>
                                          </p:spTgt>
                                        </p:tgtEl>
                                        <p:attrNameLst>
                                          <p:attrName>ppt_w</p:attrName>
                                        </p:attrNameLst>
                                      </p:cBhvr>
                                      <p:tavLst>
                                        <p:tav tm="0">
                                          <p:val>
                                            <p:fltVal val="0"/>
                                          </p:val>
                                        </p:tav>
                                        <p:tav tm="100000">
                                          <p:val>
                                            <p:strVal val="#ppt_w"/>
                                          </p:val>
                                        </p:tav>
                                      </p:tavLst>
                                    </p:anim>
                                    <p:anim calcmode="lin" valueType="num">
                                      <p:cBhvr>
                                        <p:cTn id="19" dur="1000" fill="hold"/>
                                        <p:tgtEl>
                                          <p:spTgt spid="73731">
                                            <p:txEl>
                                              <p:pRg st="1" end="1"/>
                                            </p:txEl>
                                          </p:spTgt>
                                        </p:tgtEl>
                                        <p:attrNameLst>
                                          <p:attrName>ppt_h</p:attrName>
                                        </p:attrNameLst>
                                      </p:cBhvr>
                                      <p:tavLst>
                                        <p:tav tm="0">
                                          <p:val>
                                            <p:fltVal val="0"/>
                                          </p:val>
                                        </p:tav>
                                        <p:tav tm="100000">
                                          <p:val>
                                            <p:strVal val="#ppt_h"/>
                                          </p:val>
                                        </p:tav>
                                      </p:tavLst>
                                    </p:anim>
                                    <p:animEffect transition="in" filter="fade">
                                      <p:cBhvr>
                                        <p:cTn id="20" dur="1000"/>
                                        <p:tgtEl>
                                          <p:spTgt spid="737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476CE9D9-EA7A-7542-A287-85B301A9452E}"/>
              </a:ext>
            </a:extLst>
          </p:cNvPr>
          <p:cNvSpPr>
            <a:spLocks noGrp="1" noChangeArrowheads="1"/>
          </p:cNvSpPr>
          <p:nvPr>
            <p:ph type="title"/>
          </p:nvPr>
        </p:nvSpPr>
        <p:spPr bwMode="auto">
          <a:xfrm>
            <a:off x="441325" y="676275"/>
            <a:ext cx="8229600" cy="650875"/>
          </a:xfrm>
        </p:spPr>
        <p:txBody>
          <a:bodyPr vert="horz" wrap="square" lIns="84406" tIns="42203" rIns="84406" bIns="42203" numCol="1" anchor="t" anchorCtr="0" compatLnSpc="1">
            <a:prstTxWarp prst="textNoShape">
              <a:avLst/>
            </a:prstTxWarp>
          </a:bodyPr>
          <a:lstStyle/>
          <a:p>
            <a:pPr eaLnBrk="1" hangingPunct="1">
              <a:defRPr/>
            </a:pPr>
            <a:r>
              <a:rPr lang="zh-CN" altLang="en-US" sz="3200">
                <a:solidFill>
                  <a:srgbClr val="FF0000"/>
                </a:solidFill>
                <a:latin typeface="黑体" panose="02010609060101010101" pitchFamily="49" charset="-122"/>
                <a:ea typeface="黑体" panose="02010609060101010101" pitchFamily="49" charset="-122"/>
              </a:rPr>
              <a:t>鉴别方案</a:t>
            </a:r>
            <a:r>
              <a:rPr lang="en-US" altLang="zh-CN" sz="32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G</a:t>
            </a:r>
          </a:p>
        </p:txBody>
      </p:sp>
      <p:sp>
        <p:nvSpPr>
          <p:cNvPr id="74755" name="Rectangle 3">
            <a:extLst>
              <a:ext uri="{FF2B5EF4-FFF2-40B4-BE49-F238E27FC236}">
                <a16:creationId xmlns:a16="http://schemas.microsoft.com/office/drawing/2014/main" id="{18820DAF-5104-3644-AC5D-AEFCF2316A9A}"/>
              </a:ext>
            </a:extLst>
          </p:cNvPr>
          <p:cNvSpPr>
            <a:spLocks noGrp="1" noChangeArrowheads="1"/>
          </p:cNvSpPr>
          <p:nvPr>
            <p:ph type="body" idx="1"/>
          </p:nvPr>
        </p:nvSpPr>
        <p:spPr bwMode="auto">
          <a:xfrm>
            <a:off x="609600" y="4418013"/>
            <a:ext cx="8229600" cy="1719262"/>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n"/>
              <a:defRPr/>
            </a:pPr>
            <a:r>
              <a:rPr lang="zh-CN" altLang="en-US" sz="2400">
                <a:solidFill>
                  <a:schemeClr val="bg2"/>
                </a:solidFill>
                <a:latin typeface="黑体" panose="02010609060101010101" pitchFamily="49" charset="-122"/>
                <a:ea typeface="黑体" panose="02010609060101010101" pitchFamily="49" charset="-122"/>
              </a:rPr>
              <a:t>一种在线式的委托关系，实体</a:t>
            </a:r>
            <a:r>
              <a:rPr lang="en-US" altLang="zh-CN" sz="2400">
                <a:solidFill>
                  <a:schemeClr val="bg2"/>
                </a:solidFill>
                <a:latin typeface="黑体" panose="02010609060101010101" pitchFamily="49" charset="-122"/>
                <a:ea typeface="黑体" panose="02010609060101010101" pitchFamily="49" charset="-122"/>
              </a:rPr>
              <a:t>A</a:t>
            </a:r>
            <a:r>
              <a:rPr lang="zh-CN" altLang="en-US" sz="2400">
                <a:solidFill>
                  <a:schemeClr val="bg2"/>
                </a:solidFill>
                <a:latin typeface="黑体" panose="02010609060101010101" pitchFamily="49" charset="-122"/>
                <a:ea typeface="黑体" panose="02010609060101010101" pitchFamily="49" charset="-122"/>
              </a:rPr>
              <a:t>在本地生成交换</a:t>
            </a:r>
            <a:r>
              <a:rPr lang="en-US" altLang="zh-CN" sz="2400">
                <a:solidFill>
                  <a:schemeClr val="bg2"/>
                </a:solidFill>
                <a:latin typeface="黑体" panose="02010609060101010101" pitchFamily="49" charset="-122"/>
                <a:ea typeface="黑体" panose="02010609060101010101" pitchFamily="49" charset="-122"/>
              </a:rPr>
              <a:t>AI</a:t>
            </a:r>
            <a:r>
              <a:rPr lang="zh-CN" altLang="en-US" sz="2400">
                <a:solidFill>
                  <a:schemeClr val="bg2"/>
                </a:solidFill>
                <a:latin typeface="黑体" panose="02010609060101010101" pitchFamily="49" charset="-122"/>
                <a:ea typeface="黑体" panose="02010609060101010101" pitchFamily="49" charset="-122"/>
              </a:rPr>
              <a:t>，并且提交给可信第三方；</a:t>
            </a:r>
          </a:p>
          <a:p>
            <a:pPr eaLnBrk="1" hangingPunct="1">
              <a:buClr>
                <a:srgbClr val="FF0000"/>
              </a:buClr>
              <a:buFont typeface="Wingdings" pitchFamily="2" charset="2"/>
              <a:buChar char="n"/>
              <a:defRPr/>
            </a:pPr>
            <a:r>
              <a:rPr lang="zh-CN" altLang="en-US" sz="2400">
                <a:solidFill>
                  <a:schemeClr val="bg2"/>
                </a:solidFill>
                <a:latin typeface="黑体" panose="02010609060101010101" pitchFamily="49" charset="-122"/>
                <a:ea typeface="黑体" panose="02010609060101010101" pitchFamily="49" charset="-122"/>
              </a:rPr>
              <a:t>可信第三方向实体</a:t>
            </a:r>
            <a:r>
              <a:rPr lang="en-US" altLang="zh-CN" sz="2400">
                <a:solidFill>
                  <a:schemeClr val="bg2"/>
                </a:solidFill>
                <a:latin typeface="黑体" panose="02010609060101010101" pitchFamily="49" charset="-122"/>
                <a:ea typeface="黑体" panose="02010609060101010101" pitchFamily="49" charset="-122"/>
              </a:rPr>
              <a:t>B</a:t>
            </a:r>
            <a:r>
              <a:rPr lang="zh-CN" altLang="en-US" sz="2400">
                <a:solidFill>
                  <a:schemeClr val="bg2"/>
                </a:solidFill>
                <a:latin typeface="黑体" panose="02010609060101010101" pitchFamily="49" charset="-122"/>
                <a:ea typeface="黑体" panose="02010609060101010101" pitchFamily="49" charset="-122"/>
              </a:rPr>
              <a:t>发送鉴别证书以及执行本地验证所必需的验证</a:t>
            </a:r>
            <a:r>
              <a:rPr lang="en-US" altLang="zh-CN" sz="2400">
                <a:solidFill>
                  <a:schemeClr val="bg2"/>
                </a:solidFill>
                <a:latin typeface="黑体" panose="02010609060101010101" pitchFamily="49" charset="-122"/>
                <a:ea typeface="黑体" panose="02010609060101010101" pitchFamily="49" charset="-122"/>
              </a:rPr>
              <a:t>AI</a:t>
            </a:r>
            <a:r>
              <a:rPr lang="zh-CN" altLang="en-US" sz="2400">
                <a:solidFill>
                  <a:schemeClr val="bg2"/>
                </a:solidFill>
                <a:latin typeface="黑体" panose="02010609060101010101" pitchFamily="49" charset="-122"/>
                <a:ea typeface="黑体" panose="02010609060101010101" pitchFamily="49" charset="-122"/>
              </a:rPr>
              <a:t>。</a:t>
            </a:r>
          </a:p>
        </p:txBody>
      </p:sp>
      <p:grpSp>
        <p:nvGrpSpPr>
          <p:cNvPr id="2" name="组合 1">
            <a:extLst>
              <a:ext uri="{FF2B5EF4-FFF2-40B4-BE49-F238E27FC236}">
                <a16:creationId xmlns:a16="http://schemas.microsoft.com/office/drawing/2014/main" id="{50CEFDFD-2782-3D43-B6EC-452AC1394201}"/>
              </a:ext>
            </a:extLst>
          </p:cNvPr>
          <p:cNvGrpSpPr>
            <a:grpSpLocks/>
          </p:cNvGrpSpPr>
          <p:nvPr/>
        </p:nvGrpSpPr>
        <p:grpSpPr bwMode="auto">
          <a:xfrm>
            <a:off x="1905000" y="1447800"/>
            <a:ext cx="4692650" cy="2543175"/>
            <a:chOff x="2005870" y="3629025"/>
            <a:chExt cx="4693380" cy="2543065"/>
          </a:xfrm>
        </p:grpSpPr>
        <p:sp>
          <p:nvSpPr>
            <p:cNvPr id="74756" name="Rectangle 5">
              <a:extLst>
                <a:ext uri="{FF2B5EF4-FFF2-40B4-BE49-F238E27FC236}">
                  <a16:creationId xmlns:a16="http://schemas.microsoft.com/office/drawing/2014/main" id="{8F5AA425-B0F5-C947-BF55-5EEF5E495D45}"/>
                </a:ext>
              </a:extLst>
            </p:cNvPr>
            <p:cNvSpPr>
              <a:spLocks noChangeArrowheads="1"/>
            </p:cNvSpPr>
            <p:nvPr/>
          </p:nvSpPr>
          <p:spPr bwMode="auto">
            <a:xfrm>
              <a:off x="2178935" y="5289478"/>
              <a:ext cx="1063790" cy="466705"/>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A </a:t>
              </a:r>
              <a:r>
                <a:rPr lang="zh-CN" altLang="en-US" sz="2215" u="none" dirty="0">
                  <a:solidFill>
                    <a:srgbClr val="FF0000"/>
                  </a:solidFill>
                  <a:effectLst>
                    <a:outerShdw blurRad="38100" dist="38100" dir="2700000" algn="tl">
                      <a:srgbClr val="000000">
                        <a:alpha val="43137"/>
                      </a:srgbClr>
                    </a:outerShdw>
                  </a:effectLst>
                </a:rPr>
                <a:t>方</a:t>
              </a:r>
            </a:p>
          </p:txBody>
        </p:sp>
        <p:sp>
          <p:nvSpPr>
            <p:cNvPr id="74757" name="AutoShape 6">
              <a:extLst>
                <a:ext uri="{FF2B5EF4-FFF2-40B4-BE49-F238E27FC236}">
                  <a16:creationId xmlns:a16="http://schemas.microsoft.com/office/drawing/2014/main" id="{EA2EA1D3-E036-8E40-B5D1-C1C414C98DC7}"/>
                </a:ext>
              </a:extLst>
            </p:cNvPr>
            <p:cNvSpPr>
              <a:spLocks noChangeArrowheads="1"/>
            </p:cNvSpPr>
            <p:nvPr/>
          </p:nvSpPr>
          <p:spPr bwMode="auto">
            <a:xfrm>
              <a:off x="3441193" y="3629025"/>
              <a:ext cx="1730644" cy="531790"/>
            </a:xfrm>
            <a:prstGeom prst="flowChartAlternateProcess">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zh-CN" altLang="en-US" sz="2215" u="none" dirty="0">
                  <a:solidFill>
                    <a:srgbClr val="FF0000"/>
                  </a:solidFill>
                  <a:effectLst>
                    <a:outerShdw blurRad="38100" dist="38100" dir="2700000" algn="tl">
                      <a:srgbClr val="000000">
                        <a:alpha val="43137"/>
                      </a:srgbClr>
                    </a:outerShdw>
                  </a:effectLst>
                </a:rPr>
                <a:t>可信第三方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74758" name="Rectangle 7">
              <a:extLst>
                <a:ext uri="{FF2B5EF4-FFF2-40B4-BE49-F238E27FC236}">
                  <a16:creationId xmlns:a16="http://schemas.microsoft.com/office/drawing/2014/main" id="{1A989B18-C5BB-B24C-AB30-661CFE2A50F9}"/>
                </a:ext>
              </a:extLst>
            </p:cNvPr>
            <p:cNvSpPr>
              <a:spLocks noChangeArrowheads="1"/>
            </p:cNvSpPr>
            <p:nvPr/>
          </p:nvSpPr>
          <p:spPr bwMode="auto">
            <a:xfrm>
              <a:off x="5235347" y="5289478"/>
              <a:ext cx="1063790" cy="466705"/>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B </a:t>
              </a:r>
              <a:r>
                <a:rPr lang="zh-CN" altLang="en-US" sz="2215" u="none" dirty="0">
                  <a:solidFill>
                    <a:srgbClr val="FF0000"/>
                  </a:solidFill>
                  <a:effectLst>
                    <a:outerShdw blurRad="38100" dist="38100" dir="2700000" algn="tl">
                      <a:srgbClr val="000000">
                        <a:alpha val="43137"/>
                      </a:srgbClr>
                    </a:outerShdw>
                  </a:effectLst>
                </a:rPr>
                <a:t>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74759" name="Line 8">
              <a:extLst>
                <a:ext uri="{FF2B5EF4-FFF2-40B4-BE49-F238E27FC236}">
                  <a16:creationId xmlns:a16="http://schemas.microsoft.com/office/drawing/2014/main" id="{1CD27539-1B3B-6548-8986-6888EAD83A0B}"/>
                </a:ext>
              </a:extLst>
            </p:cNvPr>
            <p:cNvSpPr>
              <a:spLocks noChangeShapeType="1"/>
            </p:cNvSpPr>
            <p:nvPr/>
          </p:nvSpPr>
          <p:spPr bwMode="auto">
            <a:xfrm flipH="1">
              <a:off x="2642557" y="4160815"/>
              <a:ext cx="1132063" cy="1128663"/>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effectLst>
                  <a:outerShdw blurRad="38100" dist="38100" dir="2700000" algn="tl">
                    <a:srgbClr val="000000">
                      <a:alpha val="43137"/>
                    </a:srgbClr>
                  </a:outerShdw>
                </a:effectLst>
              </a:endParaRPr>
            </a:p>
          </p:txBody>
        </p:sp>
        <p:sp>
          <p:nvSpPr>
            <p:cNvPr id="74760" name="Line 9">
              <a:extLst>
                <a:ext uri="{FF2B5EF4-FFF2-40B4-BE49-F238E27FC236}">
                  <a16:creationId xmlns:a16="http://schemas.microsoft.com/office/drawing/2014/main" id="{7523BE5B-F0B5-6144-AECD-2C68472717D3}"/>
                </a:ext>
              </a:extLst>
            </p:cNvPr>
            <p:cNvSpPr>
              <a:spLocks noChangeShapeType="1"/>
            </p:cNvSpPr>
            <p:nvPr/>
          </p:nvSpPr>
          <p:spPr bwMode="auto">
            <a:xfrm rot="5400000" flipH="1">
              <a:off x="4705152" y="4160703"/>
              <a:ext cx="1130251" cy="1130476"/>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effectLst>
                  <a:outerShdw blurRad="38100" dist="38100" dir="2700000" algn="tl">
                    <a:srgbClr val="000000">
                      <a:alpha val="43137"/>
                    </a:srgbClr>
                  </a:outerShdw>
                </a:effectLst>
              </a:endParaRPr>
            </a:p>
          </p:txBody>
        </p:sp>
        <p:sp>
          <p:nvSpPr>
            <p:cNvPr id="74761" name="Text Box 11">
              <a:extLst>
                <a:ext uri="{FF2B5EF4-FFF2-40B4-BE49-F238E27FC236}">
                  <a16:creationId xmlns:a16="http://schemas.microsoft.com/office/drawing/2014/main" id="{9AFA1A28-C7C7-7B48-BA3E-E2F64F631FB2}"/>
                </a:ext>
              </a:extLst>
            </p:cNvPr>
            <p:cNvSpPr txBox="1">
              <a:spLocks noChangeArrowheads="1"/>
            </p:cNvSpPr>
            <p:nvPr/>
          </p:nvSpPr>
          <p:spPr bwMode="auto">
            <a:xfrm>
              <a:off x="2244032" y="4425916"/>
              <a:ext cx="1195574" cy="433369"/>
            </a:xfrm>
            <a:prstGeom prst="rect">
              <a:avLst/>
            </a:prstGeom>
            <a:noFill/>
            <a:ln>
              <a:noFill/>
            </a:ln>
            <a:effectLst/>
          </p:spPr>
          <p:txBody>
            <a:bodyP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r>
                <a:rPr lang="zh-CN" altLang="en-US" sz="2215" u="none" dirty="0">
                  <a:solidFill>
                    <a:srgbClr val="0000FF"/>
                  </a:solidFill>
                  <a:effectLst>
                    <a:outerShdw blurRad="38100" dist="38100" dir="2700000" algn="tl">
                      <a:srgbClr val="000000">
                        <a:alpha val="43137"/>
                      </a:srgbClr>
                    </a:outerShdw>
                  </a:effectLst>
                </a:rPr>
                <a:t>传输</a:t>
              </a:r>
            </a:p>
          </p:txBody>
        </p:sp>
        <p:sp>
          <p:nvSpPr>
            <p:cNvPr id="74762" name="Text Box 12">
              <a:extLst>
                <a:ext uri="{FF2B5EF4-FFF2-40B4-BE49-F238E27FC236}">
                  <a16:creationId xmlns:a16="http://schemas.microsoft.com/office/drawing/2014/main" id="{8A294D64-7DB7-2543-A0FD-605CDB7EBDB4}"/>
                </a:ext>
              </a:extLst>
            </p:cNvPr>
            <p:cNvSpPr txBox="1">
              <a:spLocks noChangeArrowheads="1"/>
            </p:cNvSpPr>
            <p:nvPr/>
          </p:nvSpPr>
          <p:spPr bwMode="auto">
            <a:xfrm>
              <a:off x="5103565" y="4425916"/>
              <a:ext cx="1595685" cy="433369"/>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传输</a:t>
              </a:r>
              <a:r>
                <a:rPr lang="en-US" altLang="zh-CN"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20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分发</a:t>
              </a:r>
            </a:p>
          </p:txBody>
        </p:sp>
        <p:sp>
          <p:nvSpPr>
            <p:cNvPr id="11" name="Text Box 16">
              <a:extLst>
                <a:ext uri="{FF2B5EF4-FFF2-40B4-BE49-F238E27FC236}">
                  <a16:creationId xmlns:a16="http://schemas.microsoft.com/office/drawing/2014/main" id="{D8236440-3A9A-F847-B821-099E96E8797B}"/>
                </a:ext>
              </a:extLst>
            </p:cNvPr>
            <p:cNvSpPr txBox="1">
              <a:spLocks noChangeArrowheads="1"/>
            </p:cNvSpPr>
            <p:nvPr/>
          </p:nvSpPr>
          <p:spPr bwMode="auto">
            <a:xfrm>
              <a:off x="2005870" y="5730784"/>
              <a:ext cx="1597273" cy="434956"/>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2" name="Text Box 17">
              <a:extLst>
                <a:ext uri="{FF2B5EF4-FFF2-40B4-BE49-F238E27FC236}">
                  <a16:creationId xmlns:a16="http://schemas.microsoft.com/office/drawing/2014/main" id="{A6B68891-C379-4D43-A222-1E13E3BD3F9C}"/>
                </a:ext>
              </a:extLst>
            </p:cNvPr>
            <p:cNvSpPr txBox="1">
              <a:spLocks noChangeArrowheads="1"/>
            </p:cNvSpPr>
            <p:nvPr/>
          </p:nvSpPr>
          <p:spPr bwMode="auto">
            <a:xfrm>
              <a:off x="5038467" y="5738722"/>
              <a:ext cx="1595686" cy="433368"/>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74755">
                                            <p:txEl>
                                              <p:pRg st="0" end="0"/>
                                            </p:txEl>
                                          </p:spTgt>
                                        </p:tgtEl>
                                        <p:attrNameLst>
                                          <p:attrName>style.visibility</p:attrName>
                                        </p:attrNameLst>
                                      </p:cBhvr>
                                      <p:to>
                                        <p:strVal val="visible"/>
                                      </p:to>
                                    </p:set>
                                    <p:anim calcmode="lin" valueType="num">
                                      <p:cBhvr>
                                        <p:cTn id="12" dur="500" fill="hold"/>
                                        <p:tgtEl>
                                          <p:spTgt spid="7475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7475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74755">
                                            <p:txEl>
                                              <p:pRg st="0" end="0"/>
                                            </p:txEl>
                                          </p:spTgt>
                                        </p:tgtEl>
                                      </p:cBhvr>
                                    </p:animEffect>
                                  </p:childTnLst>
                                </p:cTn>
                              </p:par>
                            </p:childTnLst>
                          </p:cTn>
                        </p:par>
                        <p:par>
                          <p:cTn id="15" fill="hold" nodeType="afterGroup">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74755">
                                            <p:txEl>
                                              <p:pRg st="1" end="1"/>
                                            </p:txEl>
                                          </p:spTgt>
                                        </p:tgtEl>
                                        <p:attrNameLst>
                                          <p:attrName>style.visibility</p:attrName>
                                        </p:attrNameLst>
                                      </p:cBhvr>
                                      <p:to>
                                        <p:strVal val="visible"/>
                                      </p:to>
                                    </p:set>
                                    <p:anim calcmode="lin" valueType="num">
                                      <p:cBhvr>
                                        <p:cTn id="18" dur="500" fill="hold"/>
                                        <p:tgtEl>
                                          <p:spTgt spid="74755">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74755">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747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FA98A267-9941-EE41-AA4A-42D49F4838BA}"/>
              </a:ext>
            </a:extLst>
          </p:cNvPr>
          <p:cNvSpPr>
            <a:spLocks noGrp="1" noChangeArrowheads="1"/>
          </p:cNvSpPr>
          <p:nvPr>
            <p:ph type="title"/>
          </p:nvPr>
        </p:nvSpPr>
        <p:spPr bwMode="auto">
          <a:xfrm>
            <a:off x="457200" y="719138"/>
            <a:ext cx="8229600" cy="652462"/>
          </a:xfrm>
        </p:spPr>
        <p:txBody>
          <a:bodyPr vert="horz" wrap="square" lIns="84406" tIns="42203" rIns="84406" bIns="42203" numCol="1" anchor="t" anchorCtr="0" compatLnSpc="1">
            <a:prstTxWarp prst="textNoShape">
              <a:avLst/>
            </a:prstTxWarp>
          </a:bodyPr>
          <a:lstStyle/>
          <a:p>
            <a:pPr eaLnBrk="1" hangingPunct="1">
              <a:defRPr/>
            </a:pPr>
            <a:r>
              <a:rPr lang="zh-CN" altLang="en-US" sz="3200">
                <a:solidFill>
                  <a:srgbClr val="FF0000"/>
                </a:solidFill>
                <a:latin typeface="黑体" panose="02010609060101010101" pitchFamily="49" charset="-122"/>
                <a:ea typeface="黑体" panose="02010609060101010101" pitchFamily="49" charset="-122"/>
              </a:rPr>
              <a:t>鉴别方案</a:t>
            </a:r>
            <a:r>
              <a:rPr lang="en-US" altLang="zh-CN" sz="32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H</a:t>
            </a:r>
          </a:p>
        </p:txBody>
      </p:sp>
      <p:sp>
        <p:nvSpPr>
          <p:cNvPr id="75779" name="Rectangle 3">
            <a:extLst>
              <a:ext uri="{FF2B5EF4-FFF2-40B4-BE49-F238E27FC236}">
                <a16:creationId xmlns:a16="http://schemas.microsoft.com/office/drawing/2014/main" id="{64944941-E71A-414F-A0C5-0B63D0016449}"/>
              </a:ext>
            </a:extLst>
          </p:cNvPr>
          <p:cNvSpPr>
            <a:spLocks noGrp="1" noChangeArrowheads="1"/>
          </p:cNvSpPr>
          <p:nvPr>
            <p:ph type="body" idx="1"/>
          </p:nvPr>
        </p:nvSpPr>
        <p:spPr bwMode="auto">
          <a:xfrm>
            <a:off x="609600" y="4605338"/>
            <a:ext cx="8229600" cy="1379537"/>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n"/>
              <a:defRPr/>
            </a:pPr>
            <a:r>
              <a:rPr lang="zh-CN" altLang="en-US" sz="2400">
                <a:solidFill>
                  <a:schemeClr val="bg2"/>
                </a:solidFill>
                <a:latin typeface="黑体" panose="02010609060101010101" pitchFamily="49" charset="-122"/>
                <a:ea typeface="黑体" panose="02010609060101010101" pitchFamily="49" charset="-122"/>
              </a:rPr>
              <a:t>另一种在线式的委托关系，实体</a:t>
            </a:r>
            <a:r>
              <a:rPr lang="en-US" altLang="zh-CN" sz="2400">
                <a:solidFill>
                  <a:schemeClr val="bg2"/>
                </a:solidFill>
                <a:latin typeface="黑体" panose="02010609060101010101" pitchFamily="49" charset="-122"/>
                <a:ea typeface="黑体" panose="02010609060101010101" pitchFamily="49" charset="-122"/>
              </a:rPr>
              <a:t>A</a:t>
            </a:r>
            <a:r>
              <a:rPr lang="zh-CN" altLang="en-US" sz="2400">
                <a:solidFill>
                  <a:schemeClr val="bg2"/>
                </a:solidFill>
                <a:latin typeface="黑体" panose="02010609060101010101" pitchFamily="49" charset="-122"/>
                <a:ea typeface="黑体" panose="02010609060101010101" pitchFamily="49" charset="-122"/>
              </a:rPr>
              <a:t>在本地生成交换</a:t>
            </a:r>
            <a:r>
              <a:rPr lang="en-US" altLang="zh-CN" sz="2400">
                <a:solidFill>
                  <a:schemeClr val="bg2"/>
                </a:solidFill>
                <a:latin typeface="黑体" panose="02010609060101010101" pitchFamily="49" charset="-122"/>
                <a:ea typeface="黑体" panose="02010609060101010101" pitchFamily="49" charset="-122"/>
              </a:rPr>
              <a:t>AI</a:t>
            </a:r>
            <a:r>
              <a:rPr lang="zh-CN" altLang="en-US" sz="2400">
                <a:solidFill>
                  <a:schemeClr val="bg2"/>
                </a:solidFill>
                <a:latin typeface="黑体" panose="02010609060101010101" pitchFamily="49" charset="-122"/>
                <a:ea typeface="黑体" panose="02010609060101010101" pitchFamily="49" charset="-122"/>
              </a:rPr>
              <a:t>，并且提交给可信第三方；</a:t>
            </a:r>
          </a:p>
          <a:p>
            <a:pPr eaLnBrk="1" hangingPunct="1">
              <a:buClr>
                <a:srgbClr val="FF0000"/>
              </a:buClr>
              <a:buFont typeface="Wingdings" pitchFamily="2" charset="2"/>
              <a:buChar char="n"/>
              <a:defRPr/>
            </a:pPr>
            <a:r>
              <a:rPr lang="zh-CN" altLang="en-US" sz="2400">
                <a:solidFill>
                  <a:schemeClr val="bg2"/>
                </a:solidFill>
                <a:latin typeface="黑体" panose="02010609060101010101" pitchFamily="49" charset="-122"/>
                <a:ea typeface="黑体" panose="02010609060101010101" pitchFamily="49" charset="-122"/>
              </a:rPr>
              <a:t>可信第三方向实体</a:t>
            </a:r>
            <a:r>
              <a:rPr lang="en-US" altLang="zh-CN" sz="2400">
                <a:solidFill>
                  <a:schemeClr val="bg2"/>
                </a:solidFill>
                <a:latin typeface="黑体" panose="02010609060101010101" pitchFamily="49" charset="-122"/>
                <a:ea typeface="黑体" panose="02010609060101010101" pitchFamily="49" charset="-122"/>
              </a:rPr>
              <a:t>B</a:t>
            </a:r>
            <a:r>
              <a:rPr lang="zh-CN" altLang="en-US" sz="2400">
                <a:solidFill>
                  <a:schemeClr val="bg2"/>
                </a:solidFill>
                <a:latin typeface="黑体" panose="02010609060101010101" pitchFamily="49" charset="-122"/>
                <a:ea typeface="黑体" panose="02010609060101010101" pitchFamily="49" charset="-122"/>
              </a:rPr>
              <a:t>发出实体</a:t>
            </a:r>
            <a:r>
              <a:rPr lang="en-US" altLang="zh-CN" sz="2400">
                <a:solidFill>
                  <a:schemeClr val="bg2"/>
                </a:solidFill>
                <a:latin typeface="黑体" panose="02010609060101010101" pitchFamily="49" charset="-122"/>
                <a:ea typeface="黑体" panose="02010609060101010101" pitchFamily="49" charset="-122"/>
              </a:rPr>
              <a:t>A</a:t>
            </a:r>
            <a:r>
              <a:rPr lang="zh-CN" altLang="en-US" sz="2400">
                <a:solidFill>
                  <a:schemeClr val="bg2"/>
                </a:solidFill>
                <a:latin typeface="黑体" panose="02010609060101010101" pitchFamily="49" charset="-122"/>
                <a:ea typeface="黑体" panose="02010609060101010101" pitchFamily="49" charset="-122"/>
              </a:rPr>
              <a:t>的身份已被验证的通知。</a:t>
            </a:r>
          </a:p>
        </p:txBody>
      </p:sp>
      <p:sp>
        <p:nvSpPr>
          <p:cNvPr id="75780" name="Rectangle 4">
            <a:extLst>
              <a:ext uri="{FF2B5EF4-FFF2-40B4-BE49-F238E27FC236}">
                <a16:creationId xmlns:a16="http://schemas.microsoft.com/office/drawing/2014/main" id="{C2563D93-0194-5C4B-8DC5-01BAD60FA986}"/>
              </a:ext>
            </a:extLst>
          </p:cNvPr>
          <p:cNvSpPr>
            <a:spLocks noChangeArrowheads="1"/>
          </p:cNvSpPr>
          <p:nvPr/>
        </p:nvSpPr>
        <p:spPr bwMode="auto">
          <a:xfrm>
            <a:off x="4413250" y="2381250"/>
            <a:ext cx="184150" cy="433388"/>
          </a:xfrm>
          <a:prstGeom prst="rect">
            <a:avLst/>
          </a:prstGeom>
          <a:noFill/>
          <a:ln>
            <a:noFill/>
          </a:ln>
          <a:effectLst/>
        </p:spPr>
        <p:txBody>
          <a:bodyPr wrap="none" anchor="ct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endParaRPr lang="zh-CN" altLang="en-US" sz="2215"/>
          </a:p>
        </p:txBody>
      </p:sp>
      <p:grpSp>
        <p:nvGrpSpPr>
          <p:cNvPr id="2" name="组合 1">
            <a:extLst>
              <a:ext uri="{FF2B5EF4-FFF2-40B4-BE49-F238E27FC236}">
                <a16:creationId xmlns:a16="http://schemas.microsoft.com/office/drawing/2014/main" id="{7ACA281B-793A-DB48-9C7E-AA58426E56C7}"/>
              </a:ext>
            </a:extLst>
          </p:cNvPr>
          <p:cNvGrpSpPr>
            <a:grpSpLocks/>
          </p:cNvGrpSpPr>
          <p:nvPr/>
        </p:nvGrpSpPr>
        <p:grpSpPr bwMode="auto">
          <a:xfrm>
            <a:off x="4059238" y="1550988"/>
            <a:ext cx="4627562" cy="2527300"/>
            <a:chOff x="1920939" y="3495675"/>
            <a:chExt cx="4627498" cy="2527300"/>
          </a:xfrm>
        </p:grpSpPr>
        <p:sp>
          <p:nvSpPr>
            <p:cNvPr id="75781" name="Rectangle 5">
              <a:extLst>
                <a:ext uri="{FF2B5EF4-FFF2-40B4-BE49-F238E27FC236}">
                  <a16:creationId xmlns:a16="http://schemas.microsoft.com/office/drawing/2014/main" id="{DF734FF2-BD21-3B4B-85E5-22ECBDEFE973}"/>
                </a:ext>
              </a:extLst>
            </p:cNvPr>
            <p:cNvSpPr>
              <a:spLocks noChangeArrowheads="1"/>
            </p:cNvSpPr>
            <p:nvPr/>
          </p:nvSpPr>
          <p:spPr bwMode="auto">
            <a:xfrm>
              <a:off x="2179697" y="5157787"/>
              <a:ext cx="1063610" cy="466725"/>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A </a:t>
              </a:r>
              <a:r>
                <a:rPr lang="zh-CN" altLang="en-US" sz="2215" u="none" dirty="0">
                  <a:solidFill>
                    <a:srgbClr val="FF0000"/>
                  </a:solidFill>
                  <a:effectLst>
                    <a:outerShdw blurRad="38100" dist="38100" dir="2700000" algn="tl">
                      <a:srgbClr val="000000">
                        <a:alpha val="43137"/>
                      </a:srgbClr>
                    </a:outerShdw>
                  </a:effectLst>
                </a:rPr>
                <a:t>方</a:t>
              </a:r>
            </a:p>
          </p:txBody>
        </p:sp>
        <p:sp>
          <p:nvSpPr>
            <p:cNvPr id="75782" name="AutoShape 6">
              <a:extLst>
                <a:ext uri="{FF2B5EF4-FFF2-40B4-BE49-F238E27FC236}">
                  <a16:creationId xmlns:a16="http://schemas.microsoft.com/office/drawing/2014/main" id="{0BA9F820-C2EE-7344-8434-9C2687CA853D}"/>
                </a:ext>
              </a:extLst>
            </p:cNvPr>
            <p:cNvSpPr>
              <a:spLocks noChangeArrowheads="1"/>
            </p:cNvSpPr>
            <p:nvPr/>
          </p:nvSpPr>
          <p:spPr bwMode="auto">
            <a:xfrm>
              <a:off x="3441743" y="3495675"/>
              <a:ext cx="1730351" cy="533400"/>
            </a:xfrm>
            <a:prstGeom prst="flowChartAlternateProcess">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zh-CN" altLang="en-US" sz="2215" u="none" dirty="0">
                  <a:solidFill>
                    <a:srgbClr val="FF0000"/>
                  </a:solidFill>
                  <a:effectLst>
                    <a:outerShdw blurRad="38100" dist="38100" dir="2700000" algn="tl">
                      <a:srgbClr val="000000">
                        <a:alpha val="43137"/>
                      </a:srgbClr>
                    </a:outerShdw>
                  </a:effectLst>
                </a:rPr>
                <a:t>可信第三方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75783" name="Rectangle 7">
              <a:extLst>
                <a:ext uri="{FF2B5EF4-FFF2-40B4-BE49-F238E27FC236}">
                  <a16:creationId xmlns:a16="http://schemas.microsoft.com/office/drawing/2014/main" id="{98D94119-9E65-3B43-8FDD-EFA655F3D35B}"/>
                </a:ext>
              </a:extLst>
            </p:cNvPr>
            <p:cNvSpPr>
              <a:spLocks noChangeArrowheads="1"/>
            </p:cNvSpPr>
            <p:nvPr/>
          </p:nvSpPr>
          <p:spPr bwMode="auto">
            <a:xfrm>
              <a:off x="5235593" y="5157787"/>
              <a:ext cx="1063610" cy="466725"/>
            </a:xfrm>
            <a:prstGeom prst="rect">
              <a:avLst/>
            </a:prstGeom>
            <a:solidFill>
              <a:schemeClr val="accent1"/>
            </a:solidFill>
            <a:ln w="9525" algn="ctr">
              <a:solidFill>
                <a:schemeClr val="bg1"/>
              </a:solidFill>
              <a:miter lim="800000"/>
              <a:headEnd/>
              <a:tailEnd/>
            </a:ln>
            <a:effectLst/>
          </p:spPr>
          <p:txBody>
            <a:bodyPr wrap="none" anchor="ct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spcBef>
                  <a:spcPct val="20000"/>
                </a:spcBef>
                <a:defRPr/>
              </a:pPr>
              <a:r>
                <a:rPr lang="en-US" altLang="zh-CN" sz="2215" u="none" dirty="0">
                  <a:solidFill>
                    <a:srgbClr val="FF0000"/>
                  </a:solidFill>
                  <a:effectLst>
                    <a:outerShdw blurRad="38100" dist="38100" dir="2700000" algn="tl">
                      <a:srgbClr val="000000">
                        <a:alpha val="43137"/>
                      </a:srgbClr>
                    </a:outerShdw>
                  </a:effectLst>
                </a:rPr>
                <a:t>B </a:t>
              </a:r>
              <a:r>
                <a:rPr lang="zh-CN" altLang="en-US" sz="2215" u="none" dirty="0">
                  <a:solidFill>
                    <a:srgbClr val="FF0000"/>
                  </a:solidFill>
                  <a:effectLst>
                    <a:outerShdw blurRad="38100" dist="38100" dir="2700000" algn="tl">
                      <a:srgbClr val="000000">
                        <a:alpha val="43137"/>
                      </a:srgbClr>
                    </a:outerShdw>
                  </a:effectLst>
                </a:rPr>
                <a:t>方</a:t>
              </a:r>
              <a:endParaRPr lang="en-US" altLang="zh-CN" sz="2215" u="none" dirty="0">
                <a:solidFill>
                  <a:srgbClr val="FF0000"/>
                </a:solidFill>
                <a:effectLst>
                  <a:outerShdw blurRad="38100" dist="38100" dir="2700000" algn="tl">
                    <a:srgbClr val="000000">
                      <a:alpha val="43137"/>
                    </a:srgbClr>
                  </a:outerShdw>
                </a:effectLst>
              </a:endParaRPr>
            </a:p>
          </p:txBody>
        </p:sp>
        <p:sp>
          <p:nvSpPr>
            <p:cNvPr id="75784" name="Line 8">
              <a:extLst>
                <a:ext uri="{FF2B5EF4-FFF2-40B4-BE49-F238E27FC236}">
                  <a16:creationId xmlns:a16="http://schemas.microsoft.com/office/drawing/2014/main" id="{E7C5BB61-9FFC-E743-B244-15D649056C53}"/>
                </a:ext>
              </a:extLst>
            </p:cNvPr>
            <p:cNvSpPr>
              <a:spLocks noChangeShapeType="1"/>
            </p:cNvSpPr>
            <p:nvPr/>
          </p:nvSpPr>
          <p:spPr bwMode="auto">
            <a:xfrm flipH="1">
              <a:off x="2643241" y="4029075"/>
              <a:ext cx="1131872" cy="1128712"/>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effectLst>
                  <a:outerShdw blurRad="38100" dist="38100" dir="2700000" algn="tl">
                    <a:srgbClr val="000000">
                      <a:alpha val="43137"/>
                    </a:srgbClr>
                  </a:outerShdw>
                </a:effectLst>
              </a:endParaRPr>
            </a:p>
          </p:txBody>
        </p:sp>
        <p:sp>
          <p:nvSpPr>
            <p:cNvPr id="75785" name="Line 9">
              <a:extLst>
                <a:ext uri="{FF2B5EF4-FFF2-40B4-BE49-F238E27FC236}">
                  <a16:creationId xmlns:a16="http://schemas.microsoft.com/office/drawing/2014/main" id="{BB8C1325-769F-2F43-8F0F-5E4A5AF6465C}"/>
                </a:ext>
              </a:extLst>
            </p:cNvPr>
            <p:cNvSpPr>
              <a:spLocks noChangeShapeType="1"/>
            </p:cNvSpPr>
            <p:nvPr/>
          </p:nvSpPr>
          <p:spPr bwMode="auto">
            <a:xfrm rot="5400000" flipH="1">
              <a:off x="4705368" y="4029083"/>
              <a:ext cx="1130300" cy="1130284"/>
            </a:xfrm>
            <a:prstGeom prst="line">
              <a:avLst/>
            </a:prstGeom>
            <a:noFill/>
            <a:ln w="38100">
              <a:solidFill>
                <a:schemeClr val="bg1"/>
              </a:solidFill>
              <a:round/>
              <a:headEnd type="triangle" w="med" len="med"/>
              <a:tailEnd type="triangle" w="med" len="med"/>
            </a:ln>
            <a:effectLst/>
          </p:spPr>
          <p:txBody>
            <a:bodyPr>
              <a:spAutoFit/>
            </a:bodyPr>
            <a:lstStyle/>
            <a:p>
              <a:pPr>
                <a:defRPr/>
              </a:pPr>
              <a:endParaRPr lang="zh-CN" altLang="en-US" sz="4431">
                <a:effectLst>
                  <a:outerShdw blurRad="38100" dist="38100" dir="2700000" algn="tl">
                    <a:srgbClr val="000000">
                      <a:alpha val="43137"/>
                    </a:srgbClr>
                  </a:outerShdw>
                </a:effectLst>
              </a:endParaRPr>
            </a:p>
          </p:txBody>
        </p:sp>
        <p:sp>
          <p:nvSpPr>
            <p:cNvPr id="75786" name="Text Box 14">
              <a:extLst>
                <a:ext uri="{FF2B5EF4-FFF2-40B4-BE49-F238E27FC236}">
                  <a16:creationId xmlns:a16="http://schemas.microsoft.com/office/drawing/2014/main" id="{05A9D848-7AE2-0B4C-8222-427E6CD2228F}"/>
                </a:ext>
              </a:extLst>
            </p:cNvPr>
            <p:cNvSpPr txBox="1">
              <a:spLocks noChangeArrowheads="1"/>
            </p:cNvSpPr>
            <p:nvPr/>
          </p:nvSpPr>
          <p:spPr bwMode="auto">
            <a:xfrm>
              <a:off x="2181285" y="4294187"/>
              <a:ext cx="1195370" cy="431800"/>
            </a:xfrm>
            <a:prstGeom prst="rect">
              <a:avLst/>
            </a:prstGeom>
            <a:noFill/>
            <a:ln>
              <a:noFill/>
            </a:ln>
            <a:effectLst/>
          </p:spPr>
          <p:txBody>
            <a:bodyP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r>
                <a:rPr lang="zh-CN" altLang="en-US" sz="2215" u="none" dirty="0">
                  <a:solidFill>
                    <a:srgbClr val="0000FF"/>
                  </a:solidFill>
                  <a:effectLst>
                    <a:outerShdw blurRad="38100" dist="38100" dir="2700000" algn="tl">
                      <a:srgbClr val="000000">
                        <a:alpha val="43137"/>
                      </a:srgbClr>
                    </a:outerShdw>
                  </a:effectLst>
                </a:rPr>
                <a:t>传输</a:t>
              </a:r>
            </a:p>
          </p:txBody>
        </p:sp>
        <p:sp>
          <p:nvSpPr>
            <p:cNvPr id="75787" name="Text Box 15">
              <a:extLst>
                <a:ext uri="{FF2B5EF4-FFF2-40B4-BE49-F238E27FC236}">
                  <a16:creationId xmlns:a16="http://schemas.microsoft.com/office/drawing/2014/main" id="{D56CF61E-7639-3843-A76F-D7F22F151993}"/>
                </a:ext>
              </a:extLst>
            </p:cNvPr>
            <p:cNvSpPr txBox="1">
              <a:spLocks noChangeArrowheads="1"/>
            </p:cNvSpPr>
            <p:nvPr/>
          </p:nvSpPr>
          <p:spPr bwMode="auto">
            <a:xfrm>
              <a:off x="5038746" y="4294187"/>
              <a:ext cx="1195370" cy="431800"/>
            </a:xfrm>
            <a:prstGeom prst="rect">
              <a:avLst/>
            </a:prstGeom>
            <a:noFill/>
            <a:ln>
              <a:noFill/>
            </a:ln>
            <a:effectLst/>
          </p:spPr>
          <p:txBody>
            <a:bodyPr>
              <a:spAutoFit/>
            </a:bodyPr>
            <a:lstStyle>
              <a:lvl1pPr algn="ctr">
                <a:spcBef>
                  <a:spcPct val="50000"/>
                </a:spcBef>
                <a:defRPr sz="2400" b="1" u="sng">
                  <a:solidFill>
                    <a:schemeClr val="bg1"/>
                  </a:solidFill>
                  <a:latin typeface="Times New Roman" panose="02020603050405020304" pitchFamily="18" charset="0"/>
                  <a:ea typeface="宋体" panose="02010600030101010101" pitchFamily="2" charset="-122"/>
                </a:defRPr>
              </a:lvl1pPr>
              <a:lvl2pPr marL="742950" indent="-285750" algn="ctr">
                <a:spcBef>
                  <a:spcPct val="50000"/>
                </a:spcBef>
                <a:defRPr sz="2400" b="1" u="sng">
                  <a:solidFill>
                    <a:schemeClr val="bg1"/>
                  </a:solidFill>
                  <a:latin typeface="Times New Roman" panose="02020603050405020304" pitchFamily="18" charset="0"/>
                  <a:ea typeface="宋体" panose="02010600030101010101" pitchFamily="2" charset="-122"/>
                </a:defRPr>
              </a:lvl2pPr>
              <a:lvl3pPr marL="11430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3pPr>
              <a:lvl4pPr marL="16002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4pPr>
              <a:lvl5pPr marL="2057400" indent="-228600" algn="ctr">
                <a:spcBef>
                  <a:spcPct val="50000"/>
                </a:spcBef>
                <a:defRPr sz="2400" b="1" u="sng">
                  <a:solidFill>
                    <a:schemeClr val="bg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sz="2400" b="1" u="sng">
                  <a:solidFill>
                    <a:schemeClr val="bg1"/>
                  </a:solidFill>
                  <a:latin typeface="Times New Roman" panose="02020603050405020304" pitchFamily="18" charset="0"/>
                  <a:ea typeface="宋体" panose="02010600030101010101" pitchFamily="2" charset="-122"/>
                </a:defRPr>
              </a:lvl9pPr>
            </a:lstStyle>
            <a:p>
              <a:pPr eaLnBrk="1" hangingPunct="1">
                <a:defRPr/>
              </a:pPr>
              <a:r>
                <a:rPr lang="zh-CN" altLang="en-US" sz="2215" u="none" dirty="0">
                  <a:solidFill>
                    <a:srgbClr val="0000FF"/>
                  </a:solidFill>
                  <a:effectLst>
                    <a:outerShdw blurRad="38100" dist="38100" dir="2700000" algn="tl">
                      <a:srgbClr val="000000">
                        <a:alpha val="43137"/>
                      </a:srgbClr>
                    </a:outerShdw>
                  </a:effectLst>
                </a:rPr>
                <a:t>传输</a:t>
              </a:r>
            </a:p>
          </p:txBody>
        </p:sp>
        <p:sp>
          <p:nvSpPr>
            <p:cNvPr id="12" name="Text Box 16">
              <a:extLst>
                <a:ext uri="{FF2B5EF4-FFF2-40B4-BE49-F238E27FC236}">
                  <a16:creationId xmlns:a16="http://schemas.microsoft.com/office/drawing/2014/main" id="{3A0B2CF1-1B1D-D84B-81BC-ACB4FB2BA737}"/>
                </a:ext>
              </a:extLst>
            </p:cNvPr>
            <p:cNvSpPr txBox="1">
              <a:spLocks noChangeArrowheads="1"/>
            </p:cNvSpPr>
            <p:nvPr/>
          </p:nvSpPr>
          <p:spPr bwMode="auto">
            <a:xfrm>
              <a:off x="1920939" y="5583237"/>
              <a:ext cx="1597003" cy="433388"/>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申请者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3" name="Text Box 17">
              <a:extLst>
                <a:ext uri="{FF2B5EF4-FFF2-40B4-BE49-F238E27FC236}">
                  <a16:creationId xmlns:a16="http://schemas.microsoft.com/office/drawing/2014/main" id="{4CF54AA3-E735-2444-8DF7-1A7F062BFC22}"/>
                </a:ext>
              </a:extLst>
            </p:cNvPr>
            <p:cNvSpPr txBox="1">
              <a:spLocks noChangeArrowheads="1"/>
            </p:cNvSpPr>
            <p:nvPr/>
          </p:nvSpPr>
          <p:spPr bwMode="auto">
            <a:xfrm>
              <a:off x="4953022" y="5589587"/>
              <a:ext cx="1595415" cy="433388"/>
            </a:xfrm>
            <a:prstGeom prst="rect">
              <a:avLst/>
            </a:prstGeom>
            <a:noFill/>
            <a:ln>
              <a:noFill/>
            </a:ln>
            <a:effec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defRPr/>
              </a:pPr>
              <a:r>
                <a:rPr lang="zh-CN" altLang="en-US"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验证者</a:t>
              </a:r>
              <a:endParaRPr lang="en-US" altLang="zh-CN" sz="2200" u="sng">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pic>
        <p:nvPicPr>
          <p:cNvPr id="39941" name="图片 2">
            <a:extLst>
              <a:ext uri="{FF2B5EF4-FFF2-40B4-BE49-F238E27FC236}">
                <a16:creationId xmlns:a16="http://schemas.microsoft.com/office/drawing/2014/main" id="{62E5B881-C0CE-B24D-B24D-CCCF08031E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8288" y="1627188"/>
            <a:ext cx="3235325"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75779">
                                            <p:txEl>
                                              <p:pRg st="0" end="0"/>
                                            </p:txEl>
                                          </p:spTgt>
                                        </p:tgtEl>
                                        <p:attrNameLst>
                                          <p:attrName>style.visibility</p:attrName>
                                        </p:attrNameLst>
                                      </p:cBhvr>
                                      <p:to>
                                        <p:strVal val="visible"/>
                                      </p:to>
                                    </p:set>
                                    <p:anim calcmode="lin" valueType="num">
                                      <p:cBhvr>
                                        <p:cTn id="12" dur="1000" fill="hold"/>
                                        <p:tgtEl>
                                          <p:spTgt spid="75779">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75779">
                                            <p:txEl>
                                              <p:pRg st="0" end="0"/>
                                            </p:txEl>
                                          </p:spTgt>
                                        </p:tgtEl>
                                        <p:attrNameLst>
                                          <p:attrName>ppt_h</p:attrName>
                                        </p:attrNameLst>
                                      </p:cBhvr>
                                      <p:tavLst>
                                        <p:tav tm="0">
                                          <p:val>
                                            <p:fltVal val="0"/>
                                          </p:val>
                                        </p:tav>
                                        <p:tav tm="100000">
                                          <p:val>
                                            <p:strVal val="#ppt_h"/>
                                          </p:val>
                                        </p:tav>
                                      </p:tavLst>
                                    </p:anim>
                                    <p:animEffect transition="in" filter="fade">
                                      <p:cBhvr>
                                        <p:cTn id="14" dur="1000"/>
                                        <p:tgtEl>
                                          <p:spTgt spid="75779">
                                            <p:txEl>
                                              <p:pRg st="0" end="0"/>
                                            </p:txEl>
                                          </p:spTgt>
                                        </p:tgtEl>
                                      </p:cBhvr>
                                    </p:animEffect>
                                  </p:childTnLst>
                                </p:cTn>
                              </p:par>
                            </p:childTnLst>
                          </p:cTn>
                        </p:par>
                        <p:par>
                          <p:cTn id="15" fill="hold" nodeType="afterGroup">
                            <p:stCondLst>
                              <p:cond delay="1500"/>
                            </p:stCondLst>
                            <p:childTnLst>
                              <p:par>
                                <p:cTn id="16" presetID="53" presetClass="entr" presetSubtype="16" fill="hold" grpId="0" nodeType="afterEffect">
                                  <p:stCondLst>
                                    <p:cond delay="0"/>
                                  </p:stCondLst>
                                  <p:childTnLst>
                                    <p:set>
                                      <p:cBhvr>
                                        <p:cTn id="17" dur="1" fill="hold">
                                          <p:stCondLst>
                                            <p:cond delay="0"/>
                                          </p:stCondLst>
                                        </p:cTn>
                                        <p:tgtEl>
                                          <p:spTgt spid="75779">
                                            <p:txEl>
                                              <p:pRg st="1" end="1"/>
                                            </p:txEl>
                                          </p:spTgt>
                                        </p:tgtEl>
                                        <p:attrNameLst>
                                          <p:attrName>style.visibility</p:attrName>
                                        </p:attrNameLst>
                                      </p:cBhvr>
                                      <p:to>
                                        <p:strVal val="visible"/>
                                      </p:to>
                                    </p:set>
                                    <p:anim calcmode="lin" valueType="num">
                                      <p:cBhvr>
                                        <p:cTn id="18" dur="1000" fill="hold"/>
                                        <p:tgtEl>
                                          <p:spTgt spid="75779">
                                            <p:txEl>
                                              <p:pRg st="1" end="1"/>
                                            </p:txEl>
                                          </p:spTgt>
                                        </p:tgtEl>
                                        <p:attrNameLst>
                                          <p:attrName>ppt_w</p:attrName>
                                        </p:attrNameLst>
                                      </p:cBhvr>
                                      <p:tavLst>
                                        <p:tav tm="0">
                                          <p:val>
                                            <p:fltVal val="0"/>
                                          </p:val>
                                        </p:tav>
                                        <p:tav tm="100000">
                                          <p:val>
                                            <p:strVal val="#ppt_w"/>
                                          </p:val>
                                        </p:tav>
                                      </p:tavLst>
                                    </p:anim>
                                    <p:anim calcmode="lin" valueType="num">
                                      <p:cBhvr>
                                        <p:cTn id="19" dur="1000" fill="hold"/>
                                        <p:tgtEl>
                                          <p:spTgt spid="75779">
                                            <p:txEl>
                                              <p:pRg st="1" end="1"/>
                                            </p:txEl>
                                          </p:spTgt>
                                        </p:tgtEl>
                                        <p:attrNameLst>
                                          <p:attrName>ppt_h</p:attrName>
                                        </p:attrNameLst>
                                      </p:cBhvr>
                                      <p:tavLst>
                                        <p:tav tm="0">
                                          <p:val>
                                            <p:fltVal val="0"/>
                                          </p:val>
                                        </p:tav>
                                        <p:tav tm="100000">
                                          <p:val>
                                            <p:strVal val="#ppt_h"/>
                                          </p:val>
                                        </p:tav>
                                      </p:tavLst>
                                    </p:anim>
                                    <p:animEffect transition="in" filter="fade">
                                      <p:cBhvr>
                                        <p:cTn id="20" dur="1000"/>
                                        <p:tgtEl>
                                          <p:spTgt spid="757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6018" name="Rectangle 2">
            <a:extLst>
              <a:ext uri="{FF2B5EF4-FFF2-40B4-BE49-F238E27FC236}">
                <a16:creationId xmlns:a16="http://schemas.microsoft.com/office/drawing/2014/main" id="{9AC646F5-D64D-C443-86BC-AFE9B173BEC3}"/>
              </a:ext>
            </a:extLst>
          </p:cNvPr>
          <p:cNvSpPr>
            <a:spLocks noGrp="1" noChangeArrowheads="1"/>
          </p:cNvSpPr>
          <p:nvPr>
            <p:ph type="title"/>
          </p:nvPr>
        </p:nvSpPr>
        <p:spPr bwMode="auto">
          <a:xfrm>
            <a:off x="457200" y="838200"/>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en-US" altLang="zh-CN" sz="3200">
                <a:solidFill>
                  <a:srgbClr val="000000"/>
                </a:solidFill>
                <a:latin typeface="黑体" panose="02010609060101010101" pitchFamily="49" charset="-122"/>
                <a:ea typeface="黑体" panose="02010609060101010101" pitchFamily="49" charset="-122"/>
              </a:rPr>
              <a:t>5.5 </a:t>
            </a:r>
            <a:r>
              <a:rPr kumimoji="1" lang="zh-CN" altLang="en-US" sz="3200">
                <a:solidFill>
                  <a:srgbClr val="000000"/>
                </a:solidFill>
                <a:latin typeface="黑体" panose="02010609060101010101" pitchFamily="49" charset="-122"/>
                <a:ea typeface="黑体" panose="02010609060101010101" pitchFamily="49" charset="-122"/>
              </a:rPr>
              <a:t>鉴别机制</a:t>
            </a:r>
          </a:p>
        </p:txBody>
      </p:sp>
      <p:sp>
        <p:nvSpPr>
          <p:cNvPr id="1366019" name="Rectangle 3">
            <a:extLst>
              <a:ext uri="{FF2B5EF4-FFF2-40B4-BE49-F238E27FC236}">
                <a16:creationId xmlns:a16="http://schemas.microsoft.com/office/drawing/2014/main" id="{E3D4E0EE-76EC-874B-8CB2-3704B577F13C}"/>
              </a:ext>
            </a:extLst>
          </p:cNvPr>
          <p:cNvSpPr>
            <a:spLocks noGrp="1" noChangeArrowheads="1"/>
          </p:cNvSpPr>
          <p:nvPr>
            <p:ph type="body" idx="1"/>
          </p:nvPr>
        </p:nvSpPr>
        <p:spPr bwMode="auto">
          <a:xfrm>
            <a:off x="762000" y="1676400"/>
            <a:ext cx="8229600" cy="33528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u"/>
              <a:defRPr/>
            </a:pPr>
            <a:r>
              <a:rPr lang="zh-CN" altLang="en-US" sz="2800">
                <a:solidFill>
                  <a:srgbClr val="0000FF"/>
                </a:solidFill>
                <a:latin typeface="黑体" panose="02010609060101010101" pitchFamily="49" charset="-122"/>
                <a:ea typeface="黑体" panose="02010609060101010101" pitchFamily="49" charset="-122"/>
              </a:rPr>
              <a:t>非密码的鉴别机制</a:t>
            </a:r>
          </a:p>
          <a:p>
            <a:pPr eaLnBrk="1" hangingPunct="1">
              <a:buClr>
                <a:srgbClr val="FF0000"/>
              </a:buClr>
              <a:buFont typeface="Wingdings" pitchFamily="2" charset="2"/>
              <a:buChar char="u"/>
              <a:defRPr/>
            </a:pPr>
            <a:r>
              <a:rPr lang="zh-CN" altLang="en-US" sz="2800">
                <a:solidFill>
                  <a:srgbClr val="0000FF"/>
                </a:solidFill>
                <a:latin typeface="黑体" panose="02010609060101010101" pitchFamily="49" charset="-122"/>
                <a:ea typeface="黑体" panose="02010609060101010101" pitchFamily="49" charset="-122"/>
              </a:rPr>
              <a:t>基于密码算法的鉴别</a:t>
            </a:r>
          </a:p>
          <a:p>
            <a:pPr lvl="1" eaLnBrk="1" hangingPunct="1">
              <a:buClr>
                <a:srgbClr val="FF0000"/>
              </a:buClr>
              <a:buFont typeface="Wingdings" pitchFamily="2" charset="2"/>
              <a:buChar char="n"/>
              <a:defRPr/>
            </a:pPr>
            <a:r>
              <a:rPr lang="zh-CN" altLang="en-US">
                <a:solidFill>
                  <a:srgbClr val="0000FF"/>
                </a:solidFill>
                <a:latin typeface="黑体" panose="02010609060101010101" pitchFamily="49" charset="-122"/>
                <a:ea typeface="黑体" panose="02010609060101010101" pitchFamily="49" charset="-122"/>
              </a:rPr>
              <a:t>采用对称密码算法的机制</a:t>
            </a:r>
          </a:p>
          <a:p>
            <a:pPr lvl="1" eaLnBrk="1" hangingPunct="1">
              <a:buClr>
                <a:srgbClr val="FF0000"/>
              </a:buClr>
              <a:buFont typeface="Wingdings" pitchFamily="2" charset="2"/>
              <a:buChar char="n"/>
              <a:defRPr/>
            </a:pPr>
            <a:r>
              <a:rPr lang="zh-CN" altLang="en-US">
                <a:solidFill>
                  <a:srgbClr val="0000FF"/>
                </a:solidFill>
                <a:latin typeface="黑体" panose="02010609060101010101" pitchFamily="49" charset="-122"/>
                <a:ea typeface="黑体" panose="02010609060101010101" pitchFamily="49" charset="-122"/>
              </a:rPr>
              <a:t>采用公开密码算法的机制</a:t>
            </a:r>
          </a:p>
          <a:p>
            <a:pPr lvl="1" eaLnBrk="1" hangingPunct="1">
              <a:buClr>
                <a:srgbClr val="FF0000"/>
              </a:buClr>
              <a:buFont typeface="Wingdings" pitchFamily="2" charset="2"/>
              <a:buChar char="n"/>
              <a:defRPr/>
            </a:pPr>
            <a:r>
              <a:rPr lang="zh-CN" altLang="en-US">
                <a:solidFill>
                  <a:srgbClr val="0000FF"/>
                </a:solidFill>
                <a:latin typeface="黑体" panose="02010609060101010101" pitchFamily="49" charset="-122"/>
                <a:ea typeface="黑体" panose="02010609060101010101" pitchFamily="49" charset="-122"/>
              </a:rPr>
              <a:t>采用密码校验函数的机制</a:t>
            </a:r>
          </a:p>
          <a:p>
            <a:pPr eaLnBrk="1" hangingPunct="1">
              <a:buClr>
                <a:srgbClr val="FF0000"/>
              </a:buClr>
              <a:buFont typeface="Wingdings" pitchFamily="2" charset="2"/>
              <a:buChar char="u"/>
              <a:defRPr/>
            </a:pPr>
            <a:r>
              <a:rPr lang="zh-CN" altLang="en-US" sz="2800">
                <a:solidFill>
                  <a:srgbClr val="0000FF"/>
                </a:solidFill>
                <a:latin typeface="黑体" panose="02010609060101010101" pitchFamily="49" charset="-122"/>
                <a:ea typeface="黑体" panose="02010609060101010101" pitchFamily="49" charset="-122"/>
              </a:rPr>
              <a:t>零知识证明协议</a:t>
            </a:r>
          </a:p>
          <a:p>
            <a:pPr eaLnBrk="1" hangingPunct="1">
              <a:defRPr/>
            </a:pPr>
            <a:endParaRPr lang="zh-CN" altLang="en-US" sz="2800">
              <a:solidFill>
                <a:srgbClr val="0000FF"/>
              </a:solidFill>
              <a:ea typeface="宋体" panose="02010600030101010101" pitchFamily="2" charset="-122"/>
            </a:endParaRPr>
          </a:p>
          <a:p>
            <a:pPr eaLnBrk="1" hangingPunct="1">
              <a:defRPr/>
            </a:pPr>
            <a:endParaRPr lang="zh-CN" altLang="en-US" sz="2800">
              <a:solidFill>
                <a:srgbClr val="0000FF"/>
              </a:solidFill>
              <a:ea typeface="宋体" panose="02010600030101010101" pitchFamily="2" charset="-122"/>
            </a:endParaRPr>
          </a:p>
        </p:txBody>
      </p:sp>
      <p:pic>
        <p:nvPicPr>
          <p:cNvPr id="40963" name="图片 1">
            <a:extLst>
              <a:ext uri="{FF2B5EF4-FFF2-40B4-BE49-F238E27FC236}">
                <a16:creationId xmlns:a16="http://schemas.microsoft.com/office/drawing/2014/main" id="{8D0C36FA-F479-A543-B554-EC9029A2049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4419600"/>
            <a:ext cx="3048000"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7042" name="Rectangle 2">
            <a:extLst>
              <a:ext uri="{FF2B5EF4-FFF2-40B4-BE49-F238E27FC236}">
                <a16:creationId xmlns:a16="http://schemas.microsoft.com/office/drawing/2014/main" id="{4A277112-C0EA-4D41-AC3C-E053D3839BB4}"/>
              </a:ext>
            </a:extLst>
          </p:cNvPr>
          <p:cNvSpPr>
            <a:spLocks noGrp="1" noChangeArrowheads="1"/>
          </p:cNvSpPr>
          <p:nvPr>
            <p:ph type="title"/>
          </p:nvPr>
        </p:nvSpPr>
        <p:spPr bwMode="auto">
          <a:xfrm>
            <a:off x="457200" y="914400"/>
            <a:ext cx="8229600" cy="6556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en-US" altLang="zh-CN" sz="3200">
                <a:solidFill>
                  <a:srgbClr val="0000FF"/>
                </a:solidFill>
                <a:latin typeface="黑体" panose="02010609060101010101" pitchFamily="49" charset="-122"/>
                <a:ea typeface="黑体" panose="02010609060101010101" pitchFamily="49" charset="-122"/>
              </a:rPr>
              <a:t>5.5.1 </a:t>
            </a:r>
            <a:r>
              <a:rPr kumimoji="1" lang="zh-CN" altLang="en-US" sz="3200">
                <a:solidFill>
                  <a:srgbClr val="0000FF"/>
                </a:solidFill>
                <a:latin typeface="黑体" panose="02010609060101010101" pitchFamily="49" charset="-122"/>
                <a:ea typeface="黑体" panose="02010609060101010101" pitchFamily="49" charset="-122"/>
              </a:rPr>
              <a:t>非密码的鉴别机制</a:t>
            </a:r>
          </a:p>
        </p:txBody>
      </p:sp>
      <p:sp>
        <p:nvSpPr>
          <p:cNvPr id="5" name="内容占位符 2">
            <a:extLst>
              <a:ext uri="{FF2B5EF4-FFF2-40B4-BE49-F238E27FC236}">
                <a16:creationId xmlns:a16="http://schemas.microsoft.com/office/drawing/2014/main" id="{C8E62385-ED50-3348-B2A5-EAA7BE9FE3E0}"/>
              </a:ext>
            </a:extLst>
          </p:cNvPr>
          <p:cNvSpPr>
            <a:spLocks noGrp="1"/>
          </p:cNvSpPr>
          <p:nvPr>
            <p:ph idx="1"/>
          </p:nvPr>
        </p:nvSpPr>
        <p:spPr>
          <a:xfrm>
            <a:off x="1143000" y="1981200"/>
            <a:ext cx="7658100" cy="2438400"/>
          </a:xfrm>
        </p:spPr>
        <p:txBody>
          <a:bodyPr vert="horz" wrap="square" lIns="91440" tIns="45720" rIns="91440" bIns="45720" numCol="1" anchor="t" anchorCtr="0" compatLnSpc="1">
            <a:prstTxWarp prst="textNoShape">
              <a:avLst/>
            </a:prstTxWarp>
          </a:bodyPr>
          <a:lstStyle/>
          <a:p>
            <a:pPr eaLnBrk="1" hangingPunct="1">
              <a:buClrTx/>
              <a:buFont typeface="Wingdings" pitchFamily="2" charset="2"/>
              <a:buChar char="n"/>
              <a:defRPr/>
            </a:pPr>
            <a:r>
              <a:rPr lang="zh-CN" altLang="en-US" sz="2800">
                <a:solidFill>
                  <a:schemeClr val="bg2"/>
                </a:solidFill>
                <a:latin typeface="Times New Roman" panose="02020603050405020304" pitchFamily="18" charset="0"/>
                <a:ea typeface="宋体" panose="02010600030101010101" pitchFamily="2" charset="-122"/>
                <a:cs typeface="Times New Roman" panose="02020603050405020304" pitchFamily="18" charset="0"/>
              </a:rPr>
              <a:t>基于口令的身份鉴别</a:t>
            </a:r>
            <a:endParaRPr lang="en-US" altLang="zh-CN" sz="2800">
              <a:solidFill>
                <a:schemeClr val="bg2"/>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buClrTx/>
              <a:buFont typeface="Wingdings" pitchFamily="2" charset="2"/>
              <a:buChar char="n"/>
              <a:defRPr/>
            </a:pPr>
            <a:r>
              <a:rPr lang="zh-CN" altLang="en-US" sz="2800">
                <a:solidFill>
                  <a:schemeClr val="bg2"/>
                </a:solidFill>
                <a:latin typeface="Times New Roman" panose="02020603050405020304" pitchFamily="18" charset="0"/>
                <a:ea typeface="宋体" panose="02010600030101010101" pitchFamily="2" charset="-122"/>
                <a:cs typeface="Times New Roman" panose="02020603050405020304" pitchFamily="18" charset="0"/>
              </a:rPr>
              <a:t>基于生物特征的身份鉴别</a:t>
            </a:r>
            <a:endParaRPr lang="en-US" altLang="zh-CN" sz="2800">
              <a:solidFill>
                <a:schemeClr val="bg2"/>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buClrTx/>
              <a:buFont typeface="Wingdings" pitchFamily="2" charset="2"/>
              <a:buChar char="n"/>
              <a:defRPr/>
            </a:pPr>
            <a:r>
              <a:rPr lang="zh-CN" altLang="en-US" sz="2800">
                <a:solidFill>
                  <a:schemeClr val="bg2"/>
                </a:solidFill>
                <a:latin typeface="Times New Roman" panose="02020603050405020304" pitchFamily="18" charset="0"/>
                <a:ea typeface="宋体" panose="02010600030101010101" pitchFamily="2" charset="-122"/>
                <a:cs typeface="Times New Roman" panose="02020603050405020304" pitchFamily="18" charset="0"/>
              </a:rPr>
              <a:t>基于个人令牌的身份鉴别</a:t>
            </a:r>
            <a:endParaRPr lang="en-US" altLang="zh-CN" sz="2800">
              <a:solidFill>
                <a:schemeClr val="bg2"/>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buClrTx/>
              <a:buFont typeface="Wingdings" pitchFamily="2" charset="2"/>
              <a:buChar char="n"/>
              <a:defRPr/>
            </a:pPr>
            <a:r>
              <a:rPr lang="en-US" altLang="zh-CN" sz="2800">
                <a:solidFill>
                  <a:schemeClr val="bg2"/>
                </a:solidFill>
                <a:latin typeface="Times New Roman" panose="02020603050405020304" pitchFamily="18" charset="0"/>
                <a:ea typeface="宋体" panose="02010600030101010101" pitchFamily="2" charset="-122"/>
                <a:cs typeface="Times New Roman" panose="02020603050405020304" pitchFamily="18" charset="0"/>
              </a:rPr>
              <a:t>Kerberos</a:t>
            </a:r>
            <a:r>
              <a:rPr lang="zh-CN" altLang="en-US" sz="2800">
                <a:solidFill>
                  <a:schemeClr val="bg2"/>
                </a:solidFill>
                <a:latin typeface="Times New Roman" panose="02020603050405020304" pitchFamily="18" charset="0"/>
                <a:ea typeface="宋体" panose="02010600030101010101" pitchFamily="2" charset="-122"/>
                <a:cs typeface="Times New Roman" panose="02020603050405020304" pitchFamily="18" charset="0"/>
              </a:rPr>
              <a:t>身份鉴别协议</a:t>
            </a:r>
            <a:endParaRPr lang="en-US" altLang="zh-CN" sz="2800">
              <a:solidFill>
                <a:schemeClr val="bg2"/>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1987" name="图片 2">
            <a:extLst>
              <a:ext uri="{FF2B5EF4-FFF2-40B4-BE49-F238E27FC236}">
                <a16:creationId xmlns:a16="http://schemas.microsoft.com/office/drawing/2014/main" id="{90A40B3C-2D07-4A43-AAD9-67C3A4C1E5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53088" y="4114800"/>
            <a:ext cx="3148012" cy="203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8066" name="Rectangle 2">
            <a:extLst>
              <a:ext uri="{FF2B5EF4-FFF2-40B4-BE49-F238E27FC236}">
                <a16:creationId xmlns:a16="http://schemas.microsoft.com/office/drawing/2014/main" id="{C23B4A87-A016-BE41-8296-7EF470F33460}"/>
              </a:ext>
            </a:extLst>
          </p:cNvPr>
          <p:cNvSpPr>
            <a:spLocks noGrp="1" noChangeArrowheads="1"/>
          </p:cNvSpPr>
          <p:nvPr>
            <p:ph type="title"/>
          </p:nvPr>
        </p:nvSpPr>
        <p:spPr bwMode="auto">
          <a:xfrm>
            <a:off x="450850" y="685800"/>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en-US" altLang="zh-CN" sz="3200" kern="1200" dirty="0">
                <a:solidFill>
                  <a:srgbClr val="FF0000"/>
                </a:solidFill>
                <a:latin typeface="黑体" panose="02010609060101010101" pitchFamily="49" charset="-122"/>
                <a:ea typeface="黑体" panose="02010609060101010101" pitchFamily="49" charset="-122"/>
                <a:cs typeface="+mn-cs"/>
              </a:rPr>
              <a:t>A</a:t>
            </a:r>
            <a:r>
              <a:rPr kumimoji="1" lang="zh-CN" altLang="en-US" sz="3200" kern="1200" dirty="0">
                <a:solidFill>
                  <a:srgbClr val="FF0000"/>
                </a:solidFill>
                <a:latin typeface="黑体" panose="02010609060101010101" pitchFamily="49" charset="-122"/>
                <a:ea typeface="黑体" panose="02010609060101010101" pitchFamily="49" charset="-122"/>
                <a:cs typeface="+mn-cs"/>
              </a:rPr>
              <a:t>．口令机制 </a:t>
            </a:r>
          </a:p>
        </p:txBody>
      </p:sp>
      <p:sp>
        <p:nvSpPr>
          <p:cNvPr id="1368067" name="Rectangle 3">
            <a:extLst>
              <a:ext uri="{FF2B5EF4-FFF2-40B4-BE49-F238E27FC236}">
                <a16:creationId xmlns:a16="http://schemas.microsoft.com/office/drawing/2014/main" id="{2060C3C8-F1D5-404D-A254-DBE4189486A7}"/>
              </a:ext>
            </a:extLst>
          </p:cNvPr>
          <p:cNvSpPr>
            <a:spLocks noGrp="1" noChangeArrowheads="1"/>
          </p:cNvSpPr>
          <p:nvPr>
            <p:ph type="body" idx="1"/>
          </p:nvPr>
        </p:nvSpPr>
        <p:spPr bwMode="auto">
          <a:xfrm>
            <a:off x="577850" y="1370013"/>
            <a:ext cx="8229600" cy="11430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spcBef>
                <a:spcPct val="0"/>
              </a:spcBef>
              <a:buClr>
                <a:srgbClr val="FF0000"/>
              </a:buClr>
              <a:buSzPct val="70000"/>
              <a:buFont typeface="Wingdings" pitchFamily="2" charset="2"/>
              <a:buChar char="n"/>
              <a:defRPr/>
            </a:pPr>
            <a:r>
              <a:rPr kumimoji="1" lang="zh-CN" altLang="en-US" sz="2400">
                <a:solidFill>
                  <a:schemeClr val="bg2"/>
                </a:solidFill>
                <a:latin typeface="华文中宋" panose="02010600040101010101" pitchFamily="2" charset="-122"/>
                <a:ea typeface="华文中宋" panose="02010600040101010101" pitchFamily="2" charset="-122"/>
              </a:rPr>
              <a:t>口令或通行字机制是最广泛研究和使用的身份鉴别法，通常为长度为</a:t>
            </a:r>
            <a:r>
              <a:rPr kumimoji="1" lang="en-US" altLang="zh-CN" sz="2400">
                <a:solidFill>
                  <a:schemeClr val="bg2"/>
                </a:solidFill>
                <a:latin typeface="华文中宋" panose="02010600040101010101" pitchFamily="2" charset="-122"/>
                <a:ea typeface="华文中宋" panose="02010600040101010101" pitchFamily="2" charset="-122"/>
              </a:rPr>
              <a:t>6~8</a:t>
            </a:r>
            <a:r>
              <a:rPr kumimoji="1" lang="zh-CN" altLang="en-US" sz="2400">
                <a:solidFill>
                  <a:schemeClr val="bg2"/>
                </a:solidFill>
                <a:latin typeface="华文中宋" panose="02010600040101010101" pitchFamily="2" charset="-122"/>
                <a:ea typeface="华文中宋" panose="02010600040101010101" pitchFamily="2" charset="-122"/>
              </a:rPr>
              <a:t>的字符串。</a:t>
            </a:r>
            <a:endParaRPr kumimoji="1" lang="en-US" altLang="zh-CN" sz="2400">
              <a:solidFill>
                <a:schemeClr val="bg2"/>
              </a:solidFill>
              <a:latin typeface="华文中宋" panose="02010600040101010101" pitchFamily="2" charset="-122"/>
              <a:ea typeface="华文中宋" panose="02010600040101010101" pitchFamily="2" charset="-122"/>
            </a:endParaRPr>
          </a:p>
        </p:txBody>
      </p:sp>
      <p:sp>
        <p:nvSpPr>
          <p:cNvPr id="43012" name="Rectangle 4">
            <a:extLst>
              <a:ext uri="{FF2B5EF4-FFF2-40B4-BE49-F238E27FC236}">
                <a16:creationId xmlns:a16="http://schemas.microsoft.com/office/drawing/2014/main" id="{6DAAC5F6-8074-634B-9626-EFC1AF773CE9}"/>
              </a:ext>
            </a:extLst>
          </p:cNvPr>
          <p:cNvSpPr>
            <a:spLocks noChangeArrowheads="1"/>
          </p:cNvSpPr>
          <p:nvPr/>
        </p:nvSpPr>
        <p:spPr bwMode="auto">
          <a:xfrm>
            <a:off x="538163" y="3195638"/>
            <a:ext cx="8431212" cy="941387"/>
          </a:xfrm>
          <a:prstGeom prst="rect">
            <a:avLst/>
          </a:prstGeom>
          <a:noFill/>
          <a:ln>
            <a:noFill/>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0000"/>
              </a:lnSpc>
              <a:buClr>
                <a:srgbClr val="0000FF"/>
              </a:buClr>
              <a:buSzPct val="70000"/>
              <a:buFont typeface="Wingdings" pitchFamily="2" charset="2"/>
              <a:buChar char="n"/>
              <a:defRPr/>
            </a:pPr>
            <a:r>
              <a:rPr lang="en-US" altLang="zh-CN" sz="2400">
                <a:solidFill>
                  <a:schemeClr val="bg2"/>
                </a:solidFill>
                <a:effectLst>
                  <a:outerShdw blurRad="38100" dist="38100" dir="2700000" algn="tl">
                    <a:srgbClr val="C0C0C0"/>
                  </a:outerShdw>
                </a:effectLst>
                <a:latin typeface="华文中宋" panose="02010600040101010101" pitchFamily="2" charset="-122"/>
                <a:ea typeface="华文中宋" panose="02010600040101010101" pitchFamily="2" charset="-122"/>
              </a:rPr>
              <a:t> </a:t>
            </a:r>
            <a:r>
              <a:rPr lang="zh-CN" altLang="en-US" sz="2400">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系统事先保存每个用户的二元组信息，即用户身份信息和口令。这种口令信息是明文的或仅经过简单</a:t>
            </a:r>
            <a:r>
              <a:rPr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加密（或变换）</a:t>
            </a:r>
            <a:r>
              <a:rPr lang="zh-CN" altLang="en-US" sz="2400">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的。</a:t>
            </a:r>
          </a:p>
        </p:txBody>
      </p:sp>
      <p:sp>
        <p:nvSpPr>
          <p:cNvPr id="2" name="矩形 1">
            <a:extLst>
              <a:ext uri="{FF2B5EF4-FFF2-40B4-BE49-F238E27FC236}">
                <a16:creationId xmlns:a16="http://schemas.microsoft.com/office/drawing/2014/main" id="{5B3FDF7D-87D4-3441-A0E1-904714F6F2D4}"/>
              </a:ext>
            </a:extLst>
          </p:cNvPr>
          <p:cNvSpPr/>
          <p:nvPr/>
        </p:nvSpPr>
        <p:spPr>
          <a:xfrm>
            <a:off x="577850" y="4464050"/>
            <a:ext cx="8294688" cy="1422400"/>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0000"/>
              </a:lnSpc>
              <a:buClr>
                <a:srgbClr val="0000FF"/>
              </a:buClr>
              <a:buSzPct val="70000"/>
              <a:buFont typeface="Wingdings" pitchFamily="2" charset="2"/>
              <a:buChar char="n"/>
              <a:defRPr/>
            </a:pPr>
            <a:r>
              <a:rPr lang="zh-CN" altLang="en-US" sz="2400">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口令鉴别协议（</a:t>
            </a:r>
            <a:r>
              <a:rPr lang="en-US" altLang="zh-CN" sz="2400">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password authentication protocol</a:t>
            </a:r>
            <a:r>
              <a:rPr lang="zh-CN" altLang="en-US" sz="2400">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PAP)</a:t>
            </a:r>
            <a:r>
              <a:rPr lang="zh-CN" altLang="en-US" sz="2400">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鉴别一般在通信连接建立阶段进行，在数据传输阶段不进行</a:t>
            </a:r>
            <a:r>
              <a:rPr lang="en-US" altLang="zh-CN" sz="2400">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PAP</a:t>
            </a:r>
            <a:r>
              <a:rPr lang="zh-CN" altLang="en-US" sz="2400">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鉴别。 </a:t>
            </a:r>
          </a:p>
        </p:txBody>
      </p:sp>
      <p:sp>
        <p:nvSpPr>
          <p:cNvPr id="3" name="矩形 2">
            <a:extLst>
              <a:ext uri="{FF2B5EF4-FFF2-40B4-BE49-F238E27FC236}">
                <a16:creationId xmlns:a16="http://schemas.microsoft.com/office/drawing/2014/main" id="{982DE21C-A2D2-8A49-BBB5-85E08254A098}"/>
              </a:ext>
            </a:extLst>
          </p:cNvPr>
          <p:cNvSpPr/>
          <p:nvPr/>
        </p:nvSpPr>
        <p:spPr>
          <a:xfrm>
            <a:off x="566738" y="2370138"/>
            <a:ext cx="8048625" cy="536575"/>
          </a:xfrm>
          <a:prstGeom prst="rect">
            <a:avLst/>
          </a:prstGeom>
        </p:spPr>
        <p:txBody>
          <a:bodyPr>
            <a:spAutoFit/>
          </a:bodyPr>
          <a:lstStyle>
            <a:lvl1pPr marL="571500" indent="-5715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0000"/>
              </a:lnSpc>
              <a:buClr>
                <a:srgbClr val="FF0000"/>
              </a:buClr>
              <a:buSzPct val="70000"/>
              <a:buFont typeface="Wingdings" pitchFamily="2" charset="2"/>
              <a:buChar char="n"/>
              <a:defRPr/>
            </a:pPr>
            <a:r>
              <a:rPr lang="zh-CN" altLang="en-US" sz="2400">
                <a:solidFill>
                  <a:srgbClr val="0000FF"/>
                </a:solidFill>
                <a:effectLst>
                  <a:outerShdw blurRad="38100" dist="38100" dir="2700000" algn="tl">
                    <a:srgbClr val="C0C0C0"/>
                  </a:outerShdw>
                </a:effectLst>
                <a:latin typeface="华文中宋" panose="02010600040101010101" pitchFamily="2" charset="-122"/>
                <a:ea typeface="华文中宋" panose="02010600040101010101" pitchFamily="2" charset="-122"/>
              </a:rPr>
              <a:t>选择原则：</a:t>
            </a:r>
            <a:r>
              <a:rPr lang="zh-CN" altLang="en-US" sz="2400">
                <a:solidFill>
                  <a:schemeClr val="bg2"/>
                </a:solidFill>
                <a:effectLst>
                  <a:outerShdw blurRad="38100" dist="38100" dir="2700000" algn="tl">
                    <a:srgbClr val="C0C0C0"/>
                  </a:outerShdw>
                </a:effectLst>
                <a:latin typeface="华文中宋" panose="02010600040101010101" pitchFamily="2" charset="-122"/>
                <a:ea typeface="华文中宋" panose="02010600040101010101" pitchFamily="2" charset="-122"/>
              </a:rPr>
              <a:t>易记、难猜、抗分析能力强。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68067">
                                            <p:bg/>
                                          </p:spTgt>
                                        </p:tgtEl>
                                        <p:attrNameLst>
                                          <p:attrName>style.visibility</p:attrName>
                                        </p:attrNameLst>
                                      </p:cBhvr>
                                      <p:to>
                                        <p:strVal val="visible"/>
                                      </p:to>
                                    </p:set>
                                    <p:anim calcmode="lin" valueType="num">
                                      <p:cBhvr>
                                        <p:cTn id="7" dur="500" fill="hold"/>
                                        <p:tgtEl>
                                          <p:spTgt spid="1368067">
                                            <p:bg/>
                                          </p:spTgt>
                                        </p:tgtEl>
                                        <p:attrNameLst>
                                          <p:attrName>ppt_w</p:attrName>
                                        </p:attrNameLst>
                                      </p:cBhvr>
                                      <p:tavLst>
                                        <p:tav tm="0">
                                          <p:val>
                                            <p:fltVal val="0"/>
                                          </p:val>
                                        </p:tav>
                                        <p:tav tm="100000">
                                          <p:val>
                                            <p:strVal val="#ppt_w"/>
                                          </p:val>
                                        </p:tav>
                                      </p:tavLst>
                                    </p:anim>
                                    <p:anim calcmode="lin" valueType="num">
                                      <p:cBhvr>
                                        <p:cTn id="8" dur="500" fill="hold"/>
                                        <p:tgtEl>
                                          <p:spTgt spid="1368067">
                                            <p:bg/>
                                          </p:spTgt>
                                        </p:tgtEl>
                                        <p:attrNameLst>
                                          <p:attrName>ppt_h</p:attrName>
                                        </p:attrNameLst>
                                      </p:cBhvr>
                                      <p:tavLst>
                                        <p:tav tm="0">
                                          <p:val>
                                            <p:fltVal val="0"/>
                                          </p:val>
                                        </p:tav>
                                        <p:tav tm="100000">
                                          <p:val>
                                            <p:strVal val="#ppt_h"/>
                                          </p:val>
                                        </p:tav>
                                      </p:tavLst>
                                    </p:anim>
                                    <p:animEffect transition="in" filter="fade">
                                      <p:cBhvr>
                                        <p:cTn id="9" dur="500"/>
                                        <p:tgtEl>
                                          <p:spTgt spid="1368067">
                                            <p:bg/>
                                          </p:spTgt>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368067">
                                            <p:txEl>
                                              <p:pRg st="0" end="0"/>
                                            </p:txEl>
                                          </p:spTgt>
                                        </p:tgtEl>
                                        <p:attrNameLst>
                                          <p:attrName>style.visibility</p:attrName>
                                        </p:attrNameLst>
                                      </p:cBhvr>
                                      <p:to>
                                        <p:strVal val="visible"/>
                                      </p:to>
                                    </p:set>
                                    <p:anim calcmode="lin" valueType="num">
                                      <p:cBhvr>
                                        <p:cTn id="13" dur="500" fill="hold"/>
                                        <p:tgtEl>
                                          <p:spTgt spid="136806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368067">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1368067">
                                            <p:txEl>
                                              <p:pRg st="0" end="0"/>
                                            </p:txEl>
                                          </p:spTgt>
                                        </p:tgtEl>
                                      </p:cBhvr>
                                    </p:animEffect>
                                  </p:childTnLst>
                                </p:cTn>
                              </p:par>
                            </p:childTnLst>
                          </p:cTn>
                        </p:par>
                        <p:par>
                          <p:cTn id="16" fill="hold" nodeType="afterGroup">
                            <p:stCondLst>
                              <p:cond delay="1000"/>
                            </p:stCondLst>
                            <p:childTnLst>
                              <p:par>
                                <p:cTn id="17" presetID="2" presetClass="entr" presetSubtype="8"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43012"/>
                                        </p:tgtEl>
                                        <p:attrNameLst>
                                          <p:attrName>style.visibility</p:attrName>
                                        </p:attrNameLst>
                                      </p:cBhvr>
                                      <p:to>
                                        <p:strVal val="visible"/>
                                      </p:to>
                                    </p:set>
                                    <p:anim calcmode="lin" valueType="num">
                                      <p:cBhvr>
                                        <p:cTn id="25" dur="500" fill="hold"/>
                                        <p:tgtEl>
                                          <p:spTgt spid="43012"/>
                                        </p:tgtEl>
                                        <p:attrNameLst>
                                          <p:attrName>ppt_w</p:attrName>
                                        </p:attrNameLst>
                                      </p:cBhvr>
                                      <p:tavLst>
                                        <p:tav tm="0">
                                          <p:val>
                                            <p:fltVal val="0"/>
                                          </p:val>
                                        </p:tav>
                                        <p:tav tm="100000">
                                          <p:val>
                                            <p:strVal val="#ppt_w"/>
                                          </p:val>
                                        </p:tav>
                                      </p:tavLst>
                                    </p:anim>
                                    <p:anim calcmode="lin" valueType="num">
                                      <p:cBhvr>
                                        <p:cTn id="26" dur="500" fill="hold"/>
                                        <p:tgtEl>
                                          <p:spTgt spid="43012"/>
                                        </p:tgtEl>
                                        <p:attrNameLst>
                                          <p:attrName>ppt_h</p:attrName>
                                        </p:attrNameLst>
                                      </p:cBhvr>
                                      <p:tavLst>
                                        <p:tav tm="0">
                                          <p:val>
                                            <p:fltVal val="0"/>
                                          </p:val>
                                        </p:tav>
                                        <p:tav tm="100000">
                                          <p:val>
                                            <p:strVal val="#ppt_h"/>
                                          </p:val>
                                        </p:tav>
                                      </p:tavLst>
                                    </p:anim>
                                    <p:animEffect transition="in" filter="fade">
                                      <p:cBhvr>
                                        <p:cTn id="27" dur="500"/>
                                        <p:tgtEl>
                                          <p:spTgt spid="430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animEffect transition="in" filter="fade">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8067" grpId="0" build="p" animBg="1"/>
      <p:bldP spid="43012" grpId="0"/>
      <p:bldP spid="2" grpId="0"/>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24B7DBD-8A66-9544-92FD-727FE5E450C9}"/>
              </a:ext>
            </a:extLst>
          </p:cNvPr>
          <p:cNvSpPr>
            <a:spLocks noGrp="1" noChangeArrowheads="1"/>
          </p:cNvSpPr>
          <p:nvPr>
            <p:ph type="title"/>
          </p:nvPr>
        </p:nvSpPr>
        <p:spPr bwMode="auto">
          <a:xfrm>
            <a:off x="250825" y="792163"/>
            <a:ext cx="4397375" cy="731837"/>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3600">
                <a:solidFill>
                  <a:srgbClr val="0000FF"/>
                </a:solidFill>
                <a:latin typeface="黑体" panose="02010609060101010101" pitchFamily="49" charset="-122"/>
                <a:ea typeface="黑体" panose="02010609060101010101" pitchFamily="49" charset="-122"/>
              </a:rPr>
              <a:t>回顾：</a:t>
            </a:r>
            <a:r>
              <a:rPr lang="zh-CN" altLang="en-US" sz="3600">
                <a:solidFill>
                  <a:srgbClr val="FF0000"/>
                </a:solidFill>
                <a:latin typeface="黑体" panose="02010609060101010101" pitchFamily="49" charset="-122"/>
                <a:ea typeface="黑体" panose="02010609060101010101" pitchFamily="49" charset="-122"/>
              </a:rPr>
              <a:t>口令机制举例</a:t>
            </a:r>
            <a:r>
              <a:rPr lang="zh-CN" altLang="en-US" sz="3600" b="0">
                <a:solidFill>
                  <a:srgbClr val="FF0000"/>
                </a:solidFill>
                <a:latin typeface="黑体" panose="02010609060101010101" pitchFamily="49" charset="-122"/>
                <a:ea typeface="黑体" panose="02010609060101010101" pitchFamily="49" charset="-122"/>
              </a:rPr>
              <a:t> </a:t>
            </a:r>
          </a:p>
        </p:txBody>
      </p:sp>
      <p:sp>
        <p:nvSpPr>
          <p:cNvPr id="5" name="Text Box 2">
            <a:extLst>
              <a:ext uri="{FF2B5EF4-FFF2-40B4-BE49-F238E27FC236}">
                <a16:creationId xmlns:a16="http://schemas.microsoft.com/office/drawing/2014/main" id="{BB41C86E-E88F-7049-8BDD-8EB67741C576}"/>
              </a:ext>
            </a:extLst>
          </p:cNvPr>
          <p:cNvSpPr txBox="1">
            <a:spLocks noChangeArrowheads="1"/>
          </p:cNvSpPr>
          <p:nvPr/>
        </p:nvSpPr>
        <p:spPr bwMode="auto">
          <a:xfrm>
            <a:off x="374650" y="4157663"/>
            <a:ext cx="8640763"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4800" b="1">
                <a:solidFill>
                  <a:srgbClr val="FF0000"/>
                </a:solidFill>
                <a:latin typeface="隶书" pitchFamily="49" charset="-122"/>
                <a:ea typeface="隶书" pitchFamily="49" charset="-122"/>
              </a:defRPr>
            </a:lvl1pPr>
            <a:lvl2pPr>
              <a:defRPr kumimoji="1" sz="4800" b="1">
                <a:solidFill>
                  <a:srgbClr val="FF0000"/>
                </a:solidFill>
                <a:latin typeface="隶书" pitchFamily="49" charset="-122"/>
                <a:ea typeface="隶书" pitchFamily="49" charset="-122"/>
              </a:defRPr>
            </a:lvl2pPr>
            <a:lvl3pPr marL="1371600" indent="-4572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115000"/>
              </a:lnSpc>
              <a:spcBef>
                <a:spcPct val="20000"/>
              </a:spcBef>
              <a:buSzPct val="95000"/>
              <a:buFontTx/>
              <a:buBlip>
                <a:blip r:embed="rId2"/>
              </a:buBlip>
            </a:pPr>
            <a:r>
              <a:rPr lang="zh-CN" altLang="en-US" sz="2800">
                <a:solidFill>
                  <a:schemeClr val="bg2"/>
                </a:solidFill>
                <a:ea typeface="黑体" panose="02010609060101010101" pitchFamily="49" charset="-122"/>
              </a:rPr>
              <a:t> </a:t>
            </a:r>
            <a:r>
              <a:rPr lang="en-US" altLang="zh-CN" sz="2800">
                <a:solidFill>
                  <a:schemeClr val="bg2"/>
                </a:solidFill>
                <a:ea typeface="黑体" panose="02010609060101010101" pitchFamily="49" charset="-122"/>
              </a:rPr>
              <a:t>PPP</a:t>
            </a:r>
            <a:r>
              <a:rPr lang="zh-CN" altLang="en-US" sz="2800">
                <a:solidFill>
                  <a:schemeClr val="bg2"/>
                </a:solidFill>
                <a:ea typeface="黑体" panose="02010609060101010101" pitchFamily="49" charset="-122"/>
              </a:rPr>
              <a:t>组成</a:t>
            </a:r>
          </a:p>
          <a:p>
            <a:pPr lvl="2" eaLnBrk="1" hangingPunct="1">
              <a:lnSpc>
                <a:spcPct val="115000"/>
              </a:lnSpc>
              <a:spcBef>
                <a:spcPct val="20000"/>
              </a:spcBef>
              <a:buClr>
                <a:srgbClr val="D98725"/>
              </a:buClr>
              <a:buSzPct val="70000"/>
              <a:buFont typeface="Wingdings" pitchFamily="2" charset="2"/>
              <a:buChar char="u"/>
            </a:pPr>
            <a:r>
              <a:rPr lang="zh-CN" altLang="en-US" sz="2800">
                <a:solidFill>
                  <a:schemeClr val="bg2"/>
                </a:solidFill>
                <a:ea typeface="黑体" panose="02010609060101010101" pitchFamily="49" charset="-122"/>
              </a:rPr>
              <a:t> </a:t>
            </a:r>
            <a:r>
              <a:rPr lang="zh-CN" altLang="en-US" sz="2400">
                <a:solidFill>
                  <a:schemeClr val="bg2"/>
                </a:solidFill>
                <a:ea typeface="黑体" panose="02010609060101010101" pitchFamily="49" charset="-122"/>
              </a:rPr>
              <a:t>链路控制协议</a:t>
            </a:r>
            <a:r>
              <a:rPr lang="en-US" altLang="zh-CN" sz="2400">
                <a:solidFill>
                  <a:schemeClr val="bg2"/>
                </a:solidFill>
                <a:ea typeface="黑体" panose="02010609060101010101" pitchFamily="49" charset="-122"/>
              </a:rPr>
              <a:t>LCP</a:t>
            </a:r>
          </a:p>
          <a:p>
            <a:pPr lvl="2" eaLnBrk="1" hangingPunct="1">
              <a:lnSpc>
                <a:spcPct val="115000"/>
              </a:lnSpc>
              <a:spcBef>
                <a:spcPct val="20000"/>
              </a:spcBef>
              <a:buClr>
                <a:srgbClr val="D98725"/>
              </a:buClr>
              <a:buSzPct val="70000"/>
              <a:buFont typeface="Wingdings" pitchFamily="2" charset="2"/>
              <a:buChar char="u"/>
            </a:pPr>
            <a:r>
              <a:rPr lang="en-US" altLang="zh-CN" sz="2400">
                <a:solidFill>
                  <a:schemeClr val="bg2"/>
                </a:solidFill>
                <a:ea typeface="黑体" panose="02010609060101010101" pitchFamily="49" charset="-122"/>
              </a:rPr>
              <a:t> </a:t>
            </a:r>
            <a:r>
              <a:rPr lang="zh-CN" altLang="en-US" sz="2400">
                <a:solidFill>
                  <a:schemeClr val="bg2"/>
                </a:solidFill>
                <a:ea typeface="黑体" panose="02010609060101010101" pitchFamily="49" charset="-122"/>
              </a:rPr>
              <a:t>网络控制协议</a:t>
            </a:r>
            <a:r>
              <a:rPr lang="en-US" altLang="zh-CN" sz="2400">
                <a:solidFill>
                  <a:schemeClr val="bg2"/>
                </a:solidFill>
                <a:ea typeface="黑体" panose="02010609060101010101" pitchFamily="49" charset="-122"/>
              </a:rPr>
              <a:t>NCP</a:t>
            </a:r>
            <a:r>
              <a:rPr lang="zh-CN" altLang="en-US" sz="2400">
                <a:solidFill>
                  <a:schemeClr val="bg2"/>
                </a:solidFill>
                <a:ea typeface="黑体" panose="02010609060101010101" pitchFamily="49" charset="-122"/>
              </a:rPr>
              <a:t>组成</a:t>
            </a:r>
          </a:p>
        </p:txBody>
      </p:sp>
      <p:sp>
        <p:nvSpPr>
          <p:cNvPr id="44036" name="Rectangle 3">
            <a:extLst>
              <a:ext uri="{FF2B5EF4-FFF2-40B4-BE49-F238E27FC236}">
                <a16:creationId xmlns:a16="http://schemas.microsoft.com/office/drawing/2014/main" id="{17CF2D91-8A29-7D48-AFCC-BBFEBF8CA7FE}"/>
              </a:ext>
            </a:extLst>
          </p:cNvPr>
          <p:cNvSpPr>
            <a:spLocks noChangeArrowheads="1"/>
          </p:cNvSpPr>
          <p:nvPr/>
        </p:nvSpPr>
        <p:spPr bwMode="auto">
          <a:xfrm>
            <a:off x="685800" y="1541463"/>
            <a:ext cx="54102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en-US" altLang="zh-CN" sz="32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PPP</a:t>
            </a:r>
            <a:r>
              <a:rPr lang="zh-CN" altLang="en-US" sz="32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中的口令鉴别</a:t>
            </a:r>
            <a:r>
              <a:rPr lang="en-US" altLang="zh-CN" sz="3200">
                <a:latin typeface="Times New Roman" panose="02020603050405020304" pitchFamily="18" charset="0"/>
                <a:ea typeface="黑体" panose="02010609060101010101" pitchFamily="49" charset="-122"/>
                <a:cs typeface="Times New Roman" panose="02020603050405020304" pitchFamily="18" charset="0"/>
              </a:rPr>
              <a:t>PAP</a:t>
            </a:r>
            <a:r>
              <a:rPr lang="zh-CN" altLang="en-US" sz="3200">
                <a:latin typeface="Times New Roman" panose="02020603050405020304" pitchFamily="18" charset="0"/>
                <a:ea typeface="黑体" panose="02010609060101010101" pitchFamily="49" charset="-122"/>
                <a:cs typeface="Times New Roman" panose="02020603050405020304" pitchFamily="18" charset="0"/>
              </a:rPr>
              <a:t>协议</a:t>
            </a:r>
          </a:p>
        </p:txBody>
      </p:sp>
      <p:sp>
        <p:nvSpPr>
          <p:cNvPr id="2" name="矩形 1">
            <a:extLst>
              <a:ext uri="{FF2B5EF4-FFF2-40B4-BE49-F238E27FC236}">
                <a16:creationId xmlns:a16="http://schemas.microsoft.com/office/drawing/2014/main" id="{8B26FCE1-EBD7-A343-9C37-2FEDC47A43E5}"/>
              </a:ext>
            </a:extLst>
          </p:cNvPr>
          <p:cNvSpPr>
            <a:spLocks noChangeArrowheads="1"/>
          </p:cNvSpPr>
          <p:nvPr/>
        </p:nvSpPr>
        <p:spPr bwMode="auto">
          <a:xfrm>
            <a:off x="304800" y="2233613"/>
            <a:ext cx="8064500"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4800" b="1">
                <a:solidFill>
                  <a:srgbClr val="FF0000"/>
                </a:solidFill>
                <a:latin typeface="隶书" pitchFamily="49" charset="-122"/>
                <a:ea typeface="隶书" pitchFamily="49" charset="-122"/>
              </a:defRPr>
            </a:lvl1pPr>
            <a:lvl2pPr>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115000"/>
              </a:lnSpc>
              <a:spcBef>
                <a:spcPct val="20000"/>
              </a:spcBef>
              <a:buSzPct val="95000"/>
              <a:buFontTx/>
              <a:buBlip>
                <a:blip r:embed="rId2"/>
              </a:buBlip>
            </a:pP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 PPP(pointer-to-pointer)</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是最常用的借助于串行线或</a:t>
            </a: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ISDN</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建立拨入连接服务的协议</a:t>
            </a:r>
          </a:p>
        </p:txBody>
      </p:sp>
      <p:sp>
        <p:nvSpPr>
          <p:cNvPr id="3" name="矩形 2">
            <a:extLst>
              <a:ext uri="{FF2B5EF4-FFF2-40B4-BE49-F238E27FC236}">
                <a16:creationId xmlns:a16="http://schemas.microsoft.com/office/drawing/2014/main" id="{C15955CE-6317-5346-AF80-6BE246B3AA1F}"/>
              </a:ext>
            </a:extLst>
          </p:cNvPr>
          <p:cNvSpPr>
            <a:spLocks noChangeArrowheads="1"/>
          </p:cNvSpPr>
          <p:nvPr/>
        </p:nvSpPr>
        <p:spPr bwMode="auto">
          <a:xfrm>
            <a:off x="354013" y="3421063"/>
            <a:ext cx="8015287"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4800" b="1">
                <a:solidFill>
                  <a:srgbClr val="FF0000"/>
                </a:solidFill>
                <a:latin typeface="隶书" pitchFamily="49" charset="-122"/>
                <a:ea typeface="隶书" pitchFamily="49" charset="-122"/>
              </a:defRPr>
            </a:lvl1pPr>
            <a:lvl2pPr>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115000"/>
              </a:lnSpc>
              <a:spcBef>
                <a:spcPct val="20000"/>
              </a:spcBef>
              <a:buSzPct val="95000"/>
              <a:buFontTx/>
              <a:buBlip>
                <a:blip r:embed="rId2"/>
              </a:buBlip>
            </a:pPr>
            <a:r>
              <a:rPr lang="en-US" altLang="zh-CN" sz="2800">
                <a:solidFill>
                  <a:schemeClr val="bg2"/>
                </a:solidFill>
                <a:ea typeface="黑体" panose="02010609060101010101" pitchFamily="49" charset="-122"/>
              </a:rPr>
              <a:t>PPP</a:t>
            </a:r>
            <a:r>
              <a:rPr lang="zh-CN" altLang="en-US" sz="2800">
                <a:solidFill>
                  <a:schemeClr val="bg2"/>
                </a:solidFill>
                <a:ea typeface="黑体" panose="02010609060101010101" pitchFamily="49" charset="-122"/>
              </a:rPr>
              <a:t>是对串行链路数据进行</a:t>
            </a:r>
            <a:r>
              <a:rPr lang="en-US" altLang="zh-CN" sz="2800">
                <a:solidFill>
                  <a:schemeClr val="bg2"/>
                </a:solidFill>
                <a:ea typeface="黑体" panose="02010609060101010101" pitchFamily="49" charset="-122"/>
              </a:rPr>
              <a:t>IP</a:t>
            </a:r>
            <a:r>
              <a:rPr lang="zh-CN" altLang="en-US" sz="2800">
                <a:solidFill>
                  <a:schemeClr val="bg2"/>
                </a:solidFill>
                <a:ea typeface="黑体" panose="02010609060101010101" pitchFamily="49" charset="-122"/>
              </a:rPr>
              <a:t>封装的标准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4036"/>
                                        </p:tgtEl>
                                        <p:attrNameLst>
                                          <p:attrName>style.visibility</p:attrName>
                                        </p:attrNameLst>
                                      </p:cBhvr>
                                      <p:to>
                                        <p:strVal val="visible"/>
                                      </p:to>
                                    </p:set>
                                    <p:anim calcmode="lin" valueType="num">
                                      <p:cBhvr>
                                        <p:cTn id="7" dur="500" fill="hold"/>
                                        <p:tgtEl>
                                          <p:spTgt spid="44036"/>
                                        </p:tgtEl>
                                        <p:attrNameLst>
                                          <p:attrName>ppt_w</p:attrName>
                                        </p:attrNameLst>
                                      </p:cBhvr>
                                      <p:tavLst>
                                        <p:tav tm="0">
                                          <p:val>
                                            <p:fltVal val="0"/>
                                          </p:val>
                                        </p:tav>
                                        <p:tav tm="100000">
                                          <p:val>
                                            <p:strVal val="#ppt_w"/>
                                          </p:val>
                                        </p:tav>
                                      </p:tavLst>
                                    </p:anim>
                                    <p:anim calcmode="lin" valueType="num">
                                      <p:cBhvr>
                                        <p:cTn id="8" dur="500" fill="hold"/>
                                        <p:tgtEl>
                                          <p:spTgt spid="44036"/>
                                        </p:tgtEl>
                                        <p:attrNameLst>
                                          <p:attrName>ppt_h</p:attrName>
                                        </p:attrNameLst>
                                      </p:cBhvr>
                                      <p:tavLst>
                                        <p:tav tm="0">
                                          <p:val>
                                            <p:fltVal val="0"/>
                                          </p:val>
                                        </p:tav>
                                        <p:tav tm="100000">
                                          <p:val>
                                            <p:strVal val="#ppt_h"/>
                                          </p:val>
                                        </p:tav>
                                      </p:tavLst>
                                    </p:anim>
                                    <p:animEffect transition="in" filter="fade">
                                      <p:cBhvr>
                                        <p:cTn id="9" dur="500"/>
                                        <p:tgtEl>
                                          <p:spTgt spid="4403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0-#ppt_w/2"/>
                                          </p:val>
                                        </p:tav>
                                        <p:tav tm="100000">
                                          <p:val>
                                            <p:strVal val="#ppt_x"/>
                                          </p:val>
                                        </p:tav>
                                      </p:tavLst>
                                    </p:anim>
                                    <p:anim calcmode="lin" valueType="num">
                                      <p:cBhvr additive="base">
                                        <p:cTn id="15" dur="500" fill="hold"/>
                                        <p:tgtEl>
                                          <p:spTgt spid="2"/>
                                        </p:tgtEl>
                                        <p:attrNameLst>
                                          <p:attrName>ppt_y</p:attrName>
                                        </p:attrNameLst>
                                      </p:cBhvr>
                                      <p:tavLst>
                                        <p:tav tm="0">
                                          <p:val>
                                            <p:strVal val="#ppt_y"/>
                                          </p:val>
                                        </p:tav>
                                        <p:tav tm="100000">
                                          <p:val>
                                            <p:strVal val="#ppt_y"/>
                                          </p:val>
                                        </p:tav>
                                      </p:tavLst>
                                    </p:anim>
                                  </p:childTnLst>
                                </p:cTn>
                              </p:par>
                            </p:childTnLst>
                          </p:cTn>
                        </p:par>
                        <p:par>
                          <p:cTn id="16" fill="hold" nodeType="afterGroup">
                            <p:stCondLst>
                              <p:cond delay="500"/>
                            </p:stCondLst>
                            <p:childTnLst>
                              <p:par>
                                <p:cTn id="17" presetID="2" presetClass="entr" presetSubtype="8"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1500" fill="hold"/>
                                        <p:tgtEl>
                                          <p:spTgt spid="3"/>
                                        </p:tgtEl>
                                        <p:attrNameLst>
                                          <p:attrName>ppt_x</p:attrName>
                                        </p:attrNameLst>
                                      </p:cBhvr>
                                      <p:tavLst>
                                        <p:tav tm="0">
                                          <p:val>
                                            <p:strVal val="0-#ppt_w/2"/>
                                          </p:val>
                                        </p:tav>
                                        <p:tav tm="100000">
                                          <p:val>
                                            <p:strVal val="#ppt_x"/>
                                          </p:val>
                                        </p:tav>
                                      </p:tavLst>
                                    </p:anim>
                                    <p:anim calcmode="lin" valueType="num">
                                      <p:cBhvr additive="base">
                                        <p:cTn id="20" dur="1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4036" grpId="0"/>
      <p:bldP spid="2" grpId="0"/>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7">
            <a:extLst>
              <a:ext uri="{FF2B5EF4-FFF2-40B4-BE49-F238E27FC236}">
                <a16:creationId xmlns:a16="http://schemas.microsoft.com/office/drawing/2014/main" id="{F977A682-EE67-3D45-B872-111FCD82E8D1}"/>
              </a:ext>
            </a:extLst>
          </p:cNvPr>
          <p:cNvGrpSpPr>
            <a:grpSpLocks/>
          </p:cNvGrpSpPr>
          <p:nvPr/>
        </p:nvGrpSpPr>
        <p:grpSpPr bwMode="auto">
          <a:xfrm>
            <a:off x="304800" y="1557338"/>
            <a:ext cx="8839200" cy="4432300"/>
            <a:chOff x="304800" y="1557338"/>
            <a:chExt cx="8839200" cy="4432742"/>
          </a:xfrm>
        </p:grpSpPr>
        <p:sp>
          <p:nvSpPr>
            <p:cNvPr id="45061" name="Text Box 2">
              <a:extLst>
                <a:ext uri="{FF2B5EF4-FFF2-40B4-BE49-F238E27FC236}">
                  <a16:creationId xmlns:a16="http://schemas.microsoft.com/office/drawing/2014/main" id="{61ABDAB7-199E-2947-A627-AB3C818F22E7}"/>
                </a:ext>
              </a:extLst>
            </p:cNvPr>
            <p:cNvSpPr txBox="1">
              <a:spLocks noChangeArrowheads="1"/>
            </p:cNvSpPr>
            <p:nvPr/>
          </p:nvSpPr>
          <p:spPr bwMode="auto">
            <a:xfrm>
              <a:off x="304800" y="2590800"/>
              <a:ext cx="1079500" cy="517065"/>
            </a:xfrm>
            <a:prstGeom prst="rect">
              <a:avLst/>
            </a:prstGeom>
            <a:solidFill>
              <a:schemeClr val="tx1"/>
            </a:solidFill>
            <a:ln w="28575">
              <a:solidFill>
                <a:schemeClr val="tx1"/>
              </a:solidFill>
              <a:miter lim="800000"/>
              <a:headEnd/>
              <a:tailEnd/>
            </a:ln>
          </p:spPr>
          <p:txBody>
            <a:bodyPr>
              <a:spAutoFit/>
            </a:bodyPr>
            <a:lstStyle>
              <a:lvl1pPr marL="342900" indent="-342900">
                <a:defRPr kumimoji="1" sz="4800" b="1">
                  <a:solidFill>
                    <a:srgbClr val="FF0000"/>
                  </a:solidFill>
                  <a:latin typeface="隶书" pitchFamily="49" charset="-122"/>
                  <a:ea typeface="隶书" pitchFamily="49" charset="-122"/>
                </a:defRPr>
              </a:lvl1pPr>
              <a:lvl2pPr>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115000"/>
                </a:lnSpc>
                <a:spcBef>
                  <a:spcPct val="20000"/>
                </a:spcBef>
                <a:buSzPct val="95000"/>
              </a:pPr>
              <a:r>
                <a:rPr lang="en-US" altLang="zh-CN" sz="2400">
                  <a:solidFill>
                    <a:schemeClr val="bg2"/>
                  </a:solidFill>
                  <a:latin typeface="黑体" panose="02010609060101010101" pitchFamily="49" charset="-122"/>
                  <a:ea typeface="黑体" panose="02010609060101010101" pitchFamily="49" charset="-122"/>
                </a:rPr>
                <a:t>pc</a:t>
              </a:r>
            </a:p>
          </p:txBody>
        </p:sp>
        <p:sp>
          <p:nvSpPr>
            <p:cNvPr id="45062" name="Rectangle 4">
              <a:extLst>
                <a:ext uri="{FF2B5EF4-FFF2-40B4-BE49-F238E27FC236}">
                  <a16:creationId xmlns:a16="http://schemas.microsoft.com/office/drawing/2014/main" id="{134C7A75-DCAB-FD47-8A0A-73DC05A09219}"/>
                </a:ext>
              </a:extLst>
            </p:cNvPr>
            <p:cNvSpPr>
              <a:spLocks noChangeArrowheads="1"/>
            </p:cNvSpPr>
            <p:nvPr/>
          </p:nvSpPr>
          <p:spPr bwMode="auto">
            <a:xfrm>
              <a:off x="684213" y="2620962"/>
              <a:ext cx="647700" cy="50323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sz="1800">
                <a:solidFill>
                  <a:schemeClr val="bg2"/>
                </a:solidFill>
                <a:latin typeface="黑体" panose="02010609060101010101" pitchFamily="49" charset="-122"/>
                <a:ea typeface="黑体" panose="02010609060101010101" pitchFamily="49" charset="-122"/>
              </a:endParaRPr>
            </a:p>
          </p:txBody>
        </p:sp>
        <p:sp>
          <p:nvSpPr>
            <p:cNvPr id="45063" name="Line 5">
              <a:extLst>
                <a:ext uri="{FF2B5EF4-FFF2-40B4-BE49-F238E27FC236}">
                  <a16:creationId xmlns:a16="http://schemas.microsoft.com/office/drawing/2014/main" id="{32F70D16-DFA3-AB4D-A654-3DF3FCFFB737}"/>
                </a:ext>
              </a:extLst>
            </p:cNvPr>
            <p:cNvSpPr>
              <a:spLocks noChangeShapeType="1"/>
            </p:cNvSpPr>
            <p:nvPr/>
          </p:nvSpPr>
          <p:spPr bwMode="auto">
            <a:xfrm>
              <a:off x="1331913" y="2852738"/>
              <a:ext cx="2159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4" name="Rectangle 7">
              <a:extLst>
                <a:ext uri="{FF2B5EF4-FFF2-40B4-BE49-F238E27FC236}">
                  <a16:creationId xmlns:a16="http://schemas.microsoft.com/office/drawing/2014/main" id="{B21C5987-B9B7-2242-9F69-9E145AE049F9}"/>
                </a:ext>
              </a:extLst>
            </p:cNvPr>
            <p:cNvSpPr>
              <a:spLocks noChangeArrowheads="1"/>
            </p:cNvSpPr>
            <p:nvPr/>
          </p:nvSpPr>
          <p:spPr bwMode="auto">
            <a:xfrm>
              <a:off x="1557057" y="2636838"/>
              <a:ext cx="652743" cy="34163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en-US" altLang="zh-CN" sz="1800">
                  <a:solidFill>
                    <a:schemeClr val="bg2"/>
                  </a:solidFill>
                  <a:latin typeface="黑体" panose="02010609060101010101" pitchFamily="49" charset="-122"/>
                  <a:ea typeface="黑体" panose="02010609060101010101" pitchFamily="49" charset="-122"/>
                </a:rPr>
                <a:t>Mode</a:t>
              </a:r>
            </a:p>
          </p:txBody>
        </p:sp>
        <p:sp>
          <p:nvSpPr>
            <p:cNvPr id="45065" name="Line 8">
              <a:extLst>
                <a:ext uri="{FF2B5EF4-FFF2-40B4-BE49-F238E27FC236}">
                  <a16:creationId xmlns:a16="http://schemas.microsoft.com/office/drawing/2014/main" id="{57531470-5072-E643-AE83-1C78C27B6301}"/>
                </a:ext>
              </a:extLst>
            </p:cNvPr>
            <p:cNvSpPr>
              <a:spLocks noChangeShapeType="1"/>
            </p:cNvSpPr>
            <p:nvPr/>
          </p:nvSpPr>
          <p:spPr bwMode="auto">
            <a:xfrm>
              <a:off x="2195513" y="2852738"/>
              <a:ext cx="8636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6" name="Freeform 9">
              <a:extLst>
                <a:ext uri="{FF2B5EF4-FFF2-40B4-BE49-F238E27FC236}">
                  <a16:creationId xmlns:a16="http://schemas.microsoft.com/office/drawing/2014/main" id="{6EB37DE0-DC98-6047-B910-DDAE54E8E313}"/>
                </a:ext>
              </a:extLst>
            </p:cNvPr>
            <p:cNvSpPr>
              <a:spLocks/>
            </p:cNvSpPr>
            <p:nvPr/>
          </p:nvSpPr>
          <p:spPr bwMode="auto">
            <a:xfrm>
              <a:off x="3059113" y="2409825"/>
              <a:ext cx="865187" cy="585788"/>
            </a:xfrm>
            <a:custGeom>
              <a:avLst/>
              <a:gdLst>
                <a:gd name="T0" fmla="*/ 0 w 545"/>
                <a:gd name="T1" fmla="*/ 2147483646 h 369"/>
                <a:gd name="T2" fmla="*/ 2147483646 w 545"/>
                <a:gd name="T3" fmla="*/ 2147483646 h 369"/>
                <a:gd name="T4" fmla="*/ 2147483646 w 545"/>
                <a:gd name="T5" fmla="*/ 2147483646 h 369"/>
                <a:gd name="T6" fmla="*/ 2147483646 w 545"/>
                <a:gd name="T7" fmla="*/ 2147483646 h 369"/>
                <a:gd name="T8" fmla="*/ 0 60000 65536"/>
                <a:gd name="T9" fmla="*/ 0 60000 65536"/>
                <a:gd name="T10" fmla="*/ 0 60000 65536"/>
                <a:gd name="T11" fmla="*/ 0 60000 65536"/>
                <a:gd name="T12" fmla="*/ 0 w 545"/>
                <a:gd name="T13" fmla="*/ 0 h 369"/>
                <a:gd name="T14" fmla="*/ 545 w 545"/>
                <a:gd name="T15" fmla="*/ 369 h 369"/>
              </a:gdLst>
              <a:ahLst/>
              <a:cxnLst>
                <a:cxn ang="T8">
                  <a:pos x="T0" y="T1"/>
                </a:cxn>
                <a:cxn ang="T9">
                  <a:pos x="T2" y="T3"/>
                </a:cxn>
                <a:cxn ang="T10">
                  <a:pos x="T4" y="T5"/>
                </a:cxn>
                <a:cxn ang="T11">
                  <a:pos x="T6" y="T7"/>
                </a:cxn>
              </a:cxnLst>
              <a:rect l="T12" t="T13" r="T14" b="T15"/>
              <a:pathLst>
                <a:path w="545" h="369">
                  <a:moveTo>
                    <a:pt x="0" y="279"/>
                  </a:moveTo>
                  <a:cubicBezTo>
                    <a:pt x="53" y="139"/>
                    <a:pt x="107" y="0"/>
                    <a:pt x="137" y="7"/>
                  </a:cubicBezTo>
                  <a:cubicBezTo>
                    <a:pt x="167" y="14"/>
                    <a:pt x="114" y="279"/>
                    <a:pt x="182" y="324"/>
                  </a:cubicBezTo>
                  <a:cubicBezTo>
                    <a:pt x="250" y="369"/>
                    <a:pt x="485" y="286"/>
                    <a:pt x="545" y="279"/>
                  </a:cubicBezTo>
                </a:path>
              </a:pathLst>
            </a:cu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067" name="Line 10">
              <a:extLst>
                <a:ext uri="{FF2B5EF4-FFF2-40B4-BE49-F238E27FC236}">
                  <a16:creationId xmlns:a16="http://schemas.microsoft.com/office/drawing/2014/main" id="{50DA6112-AC23-1C4B-9235-EB7CC57E8A49}"/>
                </a:ext>
              </a:extLst>
            </p:cNvPr>
            <p:cNvSpPr>
              <a:spLocks noChangeShapeType="1"/>
            </p:cNvSpPr>
            <p:nvPr/>
          </p:nvSpPr>
          <p:spPr bwMode="auto">
            <a:xfrm>
              <a:off x="3851275" y="2852738"/>
              <a:ext cx="433388"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8" name="Rectangle 11">
              <a:extLst>
                <a:ext uri="{FF2B5EF4-FFF2-40B4-BE49-F238E27FC236}">
                  <a16:creationId xmlns:a16="http://schemas.microsoft.com/office/drawing/2014/main" id="{B04BF496-CBFE-1E43-98B5-2F06E303D61F}"/>
                </a:ext>
              </a:extLst>
            </p:cNvPr>
            <p:cNvSpPr>
              <a:spLocks noChangeArrowheads="1"/>
            </p:cNvSpPr>
            <p:nvPr/>
          </p:nvSpPr>
          <p:spPr bwMode="auto">
            <a:xfrm>
              <a:off x="4356100" y="2133600"/>
              <a:ext cx="1511300" cy="2663825"/>
            </a:xfrm>
            <a:prstGeom prst="rect">
              <a:avLst/>
            </a:prstGeom>
            <a:noFill/>
            <a:ln w="952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sz="1800">
                <a:solidFill>
                  <a:schemeClr val="bg2"/>
                </a:solidFill>
                <a:latin typeface="黑体" panose="02010609060101010101" pitchFamily="49" charset="-122"/>
                <a:ea typeface="黑体" panose="02010609060101010101" pitchFamily="49" charset="-122"/>
              </a:endParaRPr>
            </a:p>
          </p:txBody>
        </p:sp>
        <p:sp>
          <p:nvSpPr>
            <p:cNvPr id="45069" name="Rectangle 12">
              <a:extLst>
                <a:ext uri="{FF2B5EF4-FFF2-40B4-BE49-F238E27FC236}">
                  <a16:creationId xmlns:a16="http://schemas.microsoft.com/office/drawing/2014/main" id="{D287FCA2-45EB-A44C-9B2A-475644C374F9}"/>
                </a:ext>
              </a:extLst>
            </p:cNvPr>
            <p:cNvSpPr>
              <a:spLocks noChangeArrowheads="1"/>
            </p:cNvSpPr>
            <p:nvPr/>
          </p:nvSpPr>
          <p:spPr bwMode="auto">
            <a:xfrm>
              <a:off x="4643438" y="2492375"/>
              <a:ext cx="215900" cy="288925"/>
            </a:xfrm>
            <a:prstGeom prst="rect">
              <a:avLst/>
            </a:prstGeom>
            <a:solidFill>
              <a:schemeClr val="accent1"/>
            </a:solidFill>
            <a:ln w="9525" algn="ctr">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sz="1800">
                <a:solidFill>
                  <a:schemeClr val="bg2"/>
                </a:solidFill>
                <a:latin typeface="黑体" panose="02010609060101010101" pitchFamily="49" charset="-122"/>
                <a:ea typeface="黑体" panose="02010609060101010101" pitchFamily="49" charset="-122"/>
              </a:endParaRPr>
            </a:p>
          </p:txBody>
        </p:sp>
        <p:sp>
          <p:nvSpPr>
            <p:cNvPr id="45070" name="Rectangle 13">
              <a:extLst>
                <a:ext uri="{FF2B5EF4-FFF2-40B4-BE49-F238E27FC236}">
                  <a16:creationId xmlns:a16="http://schemas.microsoft.com/office/drawing/2014/main" id="{072BA218-D908-5D42-A026-1FDD3BC9A9CC}"/>
                </a:ext>
              </a:extLst>
            </p:cNvPr>
            <p:cNvSpPr>
              <a:spLocks noChangeArrowheads="1"/>
            </p:cNvSpPr>
            <p:nvPr/>
          </p:nvSpPr>
          <p:spPr bwMode="auto">
            <a:xfrm>
              <a:off x="4643438" y="2995613"/>
              <a:ext cx="215900" cy="288925"/>
            </a:xfrm>
            <a:prstGeom prst="rect">
              <a:avLst/>
            </a:prstGeom>
            <a:solidFill>
              <a:schemeClr val="accent1"/>
            </a:solidFill>
            <a:ln w="9525" algn="ctr">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sz="1800">
                <a:solidFill>
                  <a:schemeClr val="bg2"/>
                </a:solidFill>
                <a:latin typeface="黑体" panose="02010609060101010101" pitchFamily="49" charset="-122"/>
                <a:ea typeface="黑体" panose="02010609060101010101" pitchFamily="49" charset="-122"/>
              </a:endParaRPr>
            </a:p>
          </p:txBody>
        </p:sp>
        <p:sp>
          <p:nvSpPr>
            <p:cNvPr id="45071" name="Rectangle 14">
              <a:extLst>
                <a:ext uri="{FF2B5EF4-FFF2-40B4-BE49-F238E27FC236}">
                  <a16:creationId xmlns:a16="http://schemas.microsoft.com/office/drawing/2014/main" id="{1CFCAB42-2D23-0245-A37D-37BD635B0CC5}"/>
                </a:ext>
              </a:extLst>
            </p:cNvPr>
            <p:cNvSpPr>
              <a:spLocks noChangeArrowheads="1"/>
            </p:cNvSpPr>
            <p:nvPr/>
          </p:nvSpPr>
          <p:spPr bwMode="auto">
            <a:xfrm>
              <a:off x="4643438" y="3932238"/>
              <a:ext cx="215900" cy="288925"/>
            </a:xfrm>
            <a:prstGeom prst="rect">
              <a:avLst/>
            </a:prstGeom>
            <a:solidFill>
              <a:schemeClr val="accent1"/>
            </a:solidFill>
            <a:ln w="9525" algn="ctr">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sz="1800">
                <a:solidFill>
                  <a:schemeClr val="bg2"/>
                </a:solidFill>
                <a:latin typeface="黑体" panose="02010609060101010101" pitchFamily="49" charset="-122"/>
                <a:ea typeface="黑体" panose="02010609060101010101" pitchFamily="49" charset="-122"/>
              </a:endParaRPr>
            </a:p>
          </p:txBody>
        </p:sp>
        <p:sp>
          <p:nvSpPr>
            <p:cNvPr id="45072" name="Rectangle 15">
              <a:extLst>
                <a:ext uri="{FF2B5EF4-FFF2-40B4-BE49-F238E27FC236}">
                  <a16:creationId xmlns:a16="http://schemas.microsoft.com/office/drawing/2014/main" id="{29706546-6FFE-D340-9725-B3F9E1502BED}"/>
                </a:ext>
              </a:extLst>
            </p:cNvPr>
            <p:cNvSpPr>
              <a:spLocks noChangeArrowheads="1"/>
            </p:cNvSpPr>
            <p:nvPr/>
          </p:nvSpPr>
          <p:spPr bwMode="auto">
            <a:xfrm>
              <a:off x="4391025" y="4286250"/>
              <a:ext cx="885179" cy="34163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en-US" altLang="zh-CN" sz="1800">
                  <a:solidFill>
                    <a:schemeClr val="bg2"/>
                  </a:solidFill>
                  <a:latin typeface="黑体" panose="02010609060101010101" pitchFamily="49" charset="-122"/>
                  <a:ea typeface="黑体" panose="02010609060101010101" pitchFamily="49" charset="-122"/>
                </a:rPr>
                <a:t>Mode</a:t>
              </a:r>
              <a:r>
                <a:rPr lang="zh-CN" altLang="en-US" sz="1800">
                  <a:solidFill>
                    <a:schemeClr val="bg2"/>
                  </a:solidFill>
                  <a:latin typeface="黑体" panose="02010609060101010101" pitchFamily="49" charset="-122"/>
                  <a:ea typeface="黑体" panose="02010609060101010101" pitchFamily="49" charset="-122"/>
                </a:rPr>
                <a:t>池</a:t>
              </a:r>
            </a:p>
          </p:txBody>
        </p:sp>
        <p:sp>
          <p:nvSpPr>
            <p:cNvPr id="45073" name="Line 16">
              <a:extLst>
                <a:ext uri="{FF2B5EF4-FFF2-40B4-BE49-F238E27FC236}">
                  <a16:creationId xmlns:a16="http://schemas.microsoft.com/office/drawing/2014/main" id="{0D40A283-201E-5D4D-BB5F-4B9710206D65}"/>
                </a:ext>
              </a:extLst>
            </p:cNvPr>
            <p:cNvSpPr>
              <a:spLocks noChangeShapeType="1"/>
            </p:cNvSpPr>
            <p:nvPr/>
          </p:nvSpPr>
          <p:spPr bwMode="auto">
            <a:xfrm flipH="1">
              <a:off x="5076825" y="1700213"/>
              <a:ext cx="647700" cy="433387"/>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74" name="Rectangle 17">
              <a:extLst>
                <a:ext uri="{FF2B5EF4-FFF2-40B4-BE49-F238E27FC236}">
                  <a16:creationId xmlns:a16="http://schemas.microsoft.com/office/drawing/2014/main" id="{352D1A2D-D4C8-8F4D-B1BE-466886514844}"/>
                </a:ext>
              </a:extLst>
            </p:cNvPr>
            <p:cNvSpPr>
              <a:spLocks noChangeArrowheads="1"/>
            </p:cNvSpPr>
            <p:nvPr/>
          </p:nvSpPr>
          <p:spPr bwMode="auto">
            <a:xfrm>
              <a:off x="5649913" y="1557338"/>
              <a:ext cx="2451100" cy="34163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zh-CN" altLang="en-US" sz="1800">
                  <a:solidFill>
                    <a:schemeClr val="bg2"/>
                  </a:solidFill>
                  <a:latin typeface="黑体" panose="02010609060101010101" pitchFamily="49" charset="-122"/>
                  <a:ea typeface="黑体" panose="02010609060101010101" pitchFamily="49" charset="-122"/>
                </a:rPr>
                <a:t>配置成</a:t>
              </a:r>
              <a:r>
                <a:rPr lang="en-US" altLang="zh-CN" sz="1800">
                  <a:solidFill>
                    <a:schemeClr val="bg2"/>
                  </a:solidFill>
                  <a:latin typeface="黑体" panose="02010609060101010101" pitchFamily="49" charset="-122"/>
                  <a:ea typeface="黑体" panose="02010609060101010101" pitchFamily="49" charset="-122"/>
                </a:rPr>
                <a:t>PPTP</a:t>
              </a:r>
              <a:r>
                <a:rPr lang="zh-CN" altLang="en-US" sz="1800">
                  <a:solidFill>
                    <a:schemeClr val="bg2"/>
                  </a:solidFill>
                  <a:latin typeface="黑体" panose="02010609060101010101" pitchFamily="49" charset="-122"/>
                  <a:ea typeface="黑体" panose="02010609060101010101" pitchFamily="49" charset="-122"/>
                </a:rPr>
                <a:t>服务</a:t>
              </a:r>
            </a:p>
          </p:txBody>
        </p:sp>
        <p:sp>
          <p:nvSpPr>
            <p:cNvPr id="45075" name="Line 18">
              <a:extLst>
                <a:ext uri="{FF2B5EF4-FFF2-40B4-BE49-F238E27FC236}">
                  <a16:creationId xmlns:a16="http://schemas.microsoft.com/office/drawing/2014/main" id="{D968EB08-9655-F44B-915B-C07D64BA2EC1}"/>
                </a:ext>
              </a:extLst>
            </p:cNvPr>
            <p:cNvSpPr>
              <a:spLocks noChangeShapeType="1"/>
            </p:cNvSpPr>
            <p:nvPr/>
          </p:nvSpPr>
          <p:spPr bwMode="auto">
            <a:xfrm>
              <a:off x="5076825" y="2420938"/>
              <a:ext cx="0" cy="187166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6" name="Line 19">
              <a:extLst>
                <a:ext uri="{FF2B5EF4-FFF2-40B4-BE49-F238E27FC236}">
                  <a16:creationId xmlns:a16="http://schemas.microsoft.com/office/drawing/2014/main" id="{643767E0-FDC2-5F40-AE16-675BB21105F5}"/>
                </a:ext>
              </a:extLst>
            </p:cNvPr>
            <p:cNvSpPr>
              <a:spLocks noChangeShapeType="1"/>
            </p:cNvSpPr>
            <p:nvPr/>
          </p:nvSpPr>
          <p:spPr bwMode="auto">
            <a:xfrm>
              <a:off x="4859338" y="2636838"/>
              <a:ext cx="217487"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7" name="Line 20">
              <a:extLst>
                <a:ext uri="{FF2B5EF4-FFF2-40B4-BE49-F238E27FC236}">
                  <a16:creationId xmlns:a16="http://schemas.microsoft.com/office/drawing/2014/main" id="{6748D225-C5C3-6145-B4C3-0B8F81AA0319}"/>
                </a:ext>
              </a:extLst>
            </p:cNvPr>
            <p:cNvSpPr>
              <a:spLocks noChangeShapeType="1"/>
            </p:cNvSpPr>
            <p:nvPr/>
          </p:nvSpPr>
          <p:spPr bwMode="auto">
            <a:xfrm>
              <a:off x="4859338" y="3141663"/>
              <a:ext cx="217487"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8" name="Line 21">
              <a:extLst>
                <a:ext uri="{FF2B5EF4-FFF2-40B4-BE49-F238E27FC236}">
                  <a16:creationId xmlns:a16="http://schemas.microsoft.com/office/drawing/2014/main" id="{F841E9E6-A9BF-234C-90BE-FCA146E96B0D}"/>
                </a:ext>
              </a:extLst>
            </p:cNvPr>
            <p:cNvSpPr>
              <a:spLocks noChangeShapeType="1"/>
            </p:cNvSpPr>
            <p:nvPr/>
          </p:nvSpPr>
          <p:spPr bwMode="auto">
            <a:xfrm>
              <a:off x="4859338" y="4076700"/>
              <a:ext cx="217487"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9" name="Line 22">
              <a:extLst>
                <a:ext uri="{FF2B5EF4-FFF2-40B4-BE49-F238E27FC236}">
                  <a16:creationId xmlns:a16="http://schemas.microsoft.com/office/drawing/2014/main" id="{84BF7D22-B661-0146-983D-ECD33A496EB8}"/>
                </a:ext>
              </a:extLst>
            </p:cNvPr>
            <p:cNvSpPr>
              <a:spLocks noChangeShapeType="1"/>
            </p:cNvSpPr>
            <p:nvPr/>
          </p:nvSpPr>
          <p:spPr bwMode="auto">
            <a:xfrm>
              <a:off x="5076825" y="3213100"/>
              <a:ext cx="2159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0" name="Oval 23">
              <a:extLst>
                <a:ext uri="{FF2B5EF4-FFF2-40B4-BE49-F238E27FC236}">
                  <a16:creationId xmlns:a16="http://schemas.microsoft.com/office/drawing/2014/main" id="{2FDDE19B-E7F9-DD49-BAE8-CC45858B0105}"/>
                </a:ext>
              </a:extLst>
            </p:cNvPr>
            <p:cNvSpPr>
              <a:spLocks noChangeArrowheads="1"/>
            </p:cNvSpPr>
            <p:nvPr/>
          </p:nvSpPr>
          <p:spPr bwMode="auto">
            <a:xfrm>
              <a:off x="5292725" y="2852738"/>
              <a:ext cx="358775" cy="863600"/>
            </a:xfrm>
            <a:prstGeom prst="ellipse">
              <a:avLst/>
            </a:prstGeom>
            <a:solidFill>
              <a:schemeClr val="accent1"/>
            </a:solidFill>
            <a:ln w="9525" algn="ctr">
              <a:solidFill>
                <a:schemeClr val="bg2"/>
              </a:solidFill>
              <a:round/>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sz="1800">
                <a:solidFill>
                  <a:schemeClr val="bg2"/>
                </a:solidFill>
                <a:latin typeface="黑体" panose="02010609060101010101" pitchFamily="49" charset="-122"/>
                <a:ea typeface="黑体" panose="02010609060101010101" pitchFamily="49" charset="-122"/>
              </a:endParaRPr>
            </a:p>
          </p:txBody>
        </p:sp>
        <p:sp>
          <p:nvSpPr>
            <p:cNvPr id="45081" name="Freeform 24">
              <a:extLst>
                <a:ext uri="{FF2B5EF4-FFF2-40B4-BE49-F238E27FC236}">
                  <a16:creationId xmlns:a16="http://schemas.microsoft.com/office/drawing/2014/main" id="{ED974BF4-FFEF-9442-BB4F-7493A70C9B8D}"/>
                </a:ext>
              </a:extLst>
            </p:cNvPr>
            <p:cNvSpPr>
              <a:spLocks/>
            </p:cNvSpPr>
            <p:nvPr/>
          </p:nvSpPr>
          <p:spPr bwMode="auto">
            <a:xfrm>
              <a:off x="5651500" y="3141663"/>
              <a:ext cx="1225550" cy="514350"/>
            </a:xfrm>
            <a:custGeom>
              <a:avLst/>
              <a:gdLst>
                <a:gd name="T0" fmla="*/ 0 w 772"/>
                <a:gd name="T1" fmla="*/ 2147483646 h 324"/>
                <a:gd name="T2" fmla="*/ 2147483646 w 772"/>
                <a:gd name="T3" fmla="*/ 2147483646 h 324"/>
                <a:gd name="T4" fmla="*/ 2147483646 w 772"/>
                <a:gd name="T5" fmla="*/ 2147483646 h 324"/>
                <a:gd name="T6" fmla="*/ 2147483646 w 772"/>
                <a:gd name="T7" fmla="*/ 2147483646 h 324"/>
                <a:gd name="T8" fmla="*/ 2147483646 w 772"/>
                <a:gd name="T9" fmla="*/ 2147483646 h 324"/>
                <a:gd name="T10" fmla="*/ 0 60000 65536"/>
                <a:gd name="T11" fmla="*/ 0 60000 65536"/>
                <a:gd name="T12" fmla="*/ 0 60000 65536"/>
                <a:gd name="T13" fmla="*/ 0 60000 65536"/>
                <a:gd name="T14" fmla="*/ 0 60000 65536"/>
                <a:gd name="T15" fmla="*/ 0 w 772"/>
                <a:gd name="T16" fmla="*/ 0 h 324"/>
                <a:gd name="T17" fmla="*/ 772 w 772"/>
                <a:gd name="T18" fmla="*/ 324 h 324"/>
              </a:gdLst>
              <a:ahLst/>
              <a:cxnLst>
                <a:cxn ang="T10">
                  <a:pos x="T0" y="T1"/>
                </a:cxn>
                <a:cxn ang="T11">
                  <a:pos x="T2" y="T3"/>
                </a:cxn>
                <a:cxn ang="T12">
                  <a:pos x="T4" y="T5"/>
                </a:cxn>
                <a:cxn ang="T13">
                  <a:pos x="T6" y="T7"/>
                </a:cxn>
                <a:cxn ang="T14">
                  <a:pos x="T8" y="T9"/>
                </a:cxn>
              </a:cxnLst>
              <a:rect l="T15" t="T16" r="T17" b="T18"/>
              <a:pathLst>
                <a:path w="772" h="324">
                  <a:moveTo>
                    <a:pt x="0" y="90"/>
                  </a:moveTo>
                  <a:cubicBezTo>
                    <a:pt x="79" y="71"/>
                    <a:pt x="159" y="52"/>
                    <a:pt x="227" y="90"/>
                  </a:cubicBezTo>
                  <a:cubicBezTo>
                    <a:pt x="295" y="128"/>
                    <a:pt x="364" y="324"/>
                    <a:pt x="409" y="317"/>
                  </a:cubicBezTo>
                  <a:cubicBezTo>
                    <a:pt x="454" y="310"/>
                    <a:pt x="439" y="90"/>
                    <a:pt x="499" y="45"/>
                  </a:cubicBezTo>
                  <a:cubicBezTo>
                    <a:pt x="559" y="0"/>
                    <a:pt x="727" y="45"/>
                    <a:pt x="772" y="45"/>
                  </a:cubicBezTo>
                </a:path>
              </a:pathLst>
            </a:cu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082" name="Freeform 25">
              <a:extLst>
                <a:ext uri="{FF2B5EF4-FFF2-40B4-BE49-F238E27FC236}">
                  <a16:creationId xmlns:a16="http://schemas.microsoft.com/office/drawing/2014/main" id="{E4A2E6A9-F281-AC40-A619-B7DC826FDCFD}"/>
                </a:ext>
              </a:extLst>
            </p:cNvPr>
            <p:cNvSpPr>
              <a:spLocks/>
            </p:cNvSpPr>
            <p:nvPr/>
          </p:nvSpPr>
          <p:spPr bwMode="auto">
            <a:xfrm>
              <a:off x="6648450" y="2847975"/>
              <a:ext cx="1729129" cy="1366838"/>
            </a:xfrm>
            <a:custGeom>
              <a:avLst/>
              <a:gdLst>
                <a:gd name="T0" fmla="*/ 2147483646 w 1160"/>
                <a:gd name="T1" fmla="*/ 2147483646 h 861"/>
                <a:gd name="T2" fmla="*/ 2147483646 w 1160"/>
                <a:gd name="T3" fmla="*/ 2147483646 h 861"/>
                <a:gd name="T4" fmla="*/ 2147483646 w 1160"/>
                <a:gd name="T5" fmla="*/ 2147483646 h 861"/>
                <a:gd name="T6" fmla="*/ 2147483646 w 1160"/>
                <a:gd name="T7" fmla="*/ 2147483646 h 861"/>
                <a:gd name="T8" fmla="*/ 2147483646 w 1160"/>
                <a:gd name="T9" fmla="*/ 2147483646 h 861"/>
                <a:gd name="T10" fmla="*/ 2147483646 w 1160"/>
                <a:gd name="T11" fmla="*/ 2147483646 h 861"/>
                <a:gd name="T12" fmla="*/ 2147483646 w 1160"/>
                <a:gd name="T13" fmla="*/ 2147483646 h 861"/>
                <a:gd name="T14" fmla="*/ 2147483646 w 1160"/>
                <a:gd name="T15" fmla="*/ 2147483646 h 861"/>
                <a:gd name="T16" fmla="*/ 2147483646 w 1160"/>
                <a:gd name="T17" fmla="*/ 2147483646 h 861"/>
                <a:gd name="T18" fmla="*/ 2147483646 w 1160"/>
                <a:gd name="T19" fmla="*/ 2147483646 h 861"/>
                <a:gd name="T20" fmla="*/ 2147483646 w 1160"/>
                <a:gd name="T21" fmla="*/ 2147483646 h 861"/>
                <a:gd name="T22" fmla="*/ 2147483646 w 1160"/>
                <a:gd name="T23" fmla="*/ 2147483646 h 861"/>
                <a:gd name="T24" fmla="*/ 2147483646 w 1160"/>
                <a:gd name="T25" fmla="*/ 2147483646 h 861"/>
                <a:gd name="T26" fmla="*/ 2147483646 w 1160"/>
                <a:gd name="T27" fmla="*/ 2147483646 h 861"/>
                <a:gd name="T28" fmla="*/ 2147483646 w 1160"/>
                <a:gd name="T29" fmla="*/ 2147483646 h 861"/>
                <a:gd name="T30" fmla="*/ 2147483646 w 1160"/>
                <a:gd name="T31" fmla="*/ 2147483646 h 861"/>
                <a:gd name="T32" fmla="*/ 2147483646 w 1160"/>
                <a:gd name="T33" fmla="*/ 2147483646 h 861"/>
                <a:gd name="T34" fmla="*/ 2147483646 w 1160"/>
                <a:gd name="T35" fmla="*/ 2147483646 h 861"/>
                <a:gd name="T36" fmla="*/ 2147483646 w 1160"/>
                <a:gd name="T37" fmla="*/ 2147483646 h 861"/>
                <a:gd name="T38" fmla="*/ 2147483646 w 1160"/>
                <a:gd name="T39" fmla="*/ 2147483646 h 861"/>
                <a:gd name="T40" fmla="*/ 2147483646 w 1160"/>
                <a:gd name="T41" fmla="*/ 2147483646 h 861"/>
                <a:gd name="T42" fmla="*/ 2147483646 w 1160"/>
                <a:gd name="T43" fmla="*/ 2147483646 h 861"/>
                <a:gd name="T44" fmla="*/ 2147483646 w 1160"/>
                <a:gd name="T45" fmla="*/ 2147483646 h 86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60"/>
                <a:gd name="T70" fmla="*/ 0 h 861"/>
                <a:gd name="T71" fmla="*/ 1160 w 1160"/>
                <a:gd name="T72" fmla="*/ 861 h 86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60" h="861">
                  <a:moveTo>
                    <a:pt x="403" y="143"/>
                  </a:moveTo>
                  <a:cubicBezTo>
                    <a:pt x="320" y="170"/>
                    <a:pt x="230" y="155"/>
                    <a:pt x="145" y="176"/>
                  </a:cubicBezTo>
                  <a:cubicBezTo>
                    <a:pt x="117" y="194"/>
                    <a:pt x="88" y="207"/>
                    <a:pt x="61" y="226"/>
                  </a:cubicBezTo>
                  <a:cubicBezTo>
                    <a:pt x="0" y="316"/>
                    <a:pt x="61" y="441"/>
                    <a:pt x="145" y="493"/>
                  </a:cubicBezTo>
                  <a:cubicBezTo>
                    <a:pt x="230" y="602"/>
                    <a:pt x="351" y="626"/>
                    <a:pt x="470" y="685"/>
                  </a:cubicBezTo>
                  <a:cubicBezTo>
                    <a:pt x="592" y="746"/>
                    <a:pt x="716" y="799"/>
                    <a:pt x="837" y="861"/>
                  </a:cubicBezTo>
                  <a:cubicBezTo>
                    <a:pt x="873" y="858"/>
                    <a:pt x="910" y="859"/>
                    <a:pt x="946" y="852"/>
                  </a:cubicBezTo>
                  <a:cubicBezTo>
                    <a:pt x="956" y="850"/>
                    <a:pt x="962" y="841"/>
                    <a:pt x="971" y="836"/>
                  </a:cubicBezTo>
                  <a:cubicBezTo>
                    <a:pt x="1037" y="799"/>
                    <a:pt x="1046" y="780"/>
                    <a:pt x="1088" y="719"/>
                  </a:cubicBezTo>
                  <a:cubicBezTo>
                    <a:pt x="1099" y="685"/>
                    <a:pt x="1118" y="649"/>
                    <a:pt x="1138" y="619"/>
                  </a:cubicBezTo>
                  <a:cubicBezTo>
                    <a:pt x="1158" y="553"/>
                    <a:pt x="1160" y="559"/>
                    <a:pt x="1138" y="443"/>
                  </a:cubicBezTo>
                  <a:cubicBezTo>
                    <a:pt x="1136" y="431"/>
                    <a:pt x="1083" y="397"/>
                    <a:pt x="1079" y="393"/>
                  </a:cubicBezTo>
                  <a:cubicBezTo>
                    <a:pt x="1069" y="383"/>
                    <a:pt x="1064" y="369"/>
                    <a:pt x="1054" y="360"/>
                  </a:cubicBezTo>
                  <a:cubicBezTo>
                    <a:pt x="1010" y="321"/>
                    <a:pt x="957" y="291"/>
                    <a:pt x="913" y="251"/>
                  </a:cubicBezTo>
                  <a:cubicBezTo>
                    <a:pt x="824" y="169"/>
                    <a:pt x="880" y="200"/>
                    <a:pt x="812" y="168"/>
                  </a:cubicBezTo>
                  <a:cubicBezTo>
                    <a:pt x="763" y="118"/>
                    <a:pt x="707" y="90"/>
                    <a:pt x="645" y="59"/>
                  </a:cubicBezTo>
                  <a:cubicBezTo>
                    <a:pt x="528" y="0"/>
                    <a:pt x="640" y="42"/>
                    <a:pt x="570" y="17"/>
                  </a:cubicBezTo>
                  <a:cubicBezTo>
                    <a:pt x="534" y="20"/>
                    <a:pt x="497" y="17"/>
                    <a:pt x="462" y="26"/>
                  </a:cubicBezTo>
                  <a:cubicBezTo>
                    <a:pt x="443" y="31"/>
                    <a:pt x="429" y="48"/>
                    <a:pt x="412" y="59"/>
                  </a:cubicBezTo>
                  <a:cubicBezTo>
                    <a:pt x="404" y="65"/>
                    <a:pt x="387" y="76"/>
                    <a:pt x="387" y="76"/>
                  </a:cubicBezTo>
                  <a:cubicBezTo>
                    <a:pt x="381" y="84"/>
                    <a:pt x="377" y="94"/>
                    <a:pt x="370" y="101"/>
                  </a:cubicBezTo>
                  <a:cubicBezTo>
                    <a:pt x="369" y="102"/>
                    <a:pt x="315" y="127"/>
                    <a:pt x="353" y="143"/>
                  </a:cubicBezTo>
                  <a:cubicBezTo>
                    <a:pt x="368" y="150"/>
                    <a:pt x="386" y="143"/>
                    <a:pt x="403" y="143"/>
                  </a:cubicBezTo>
                  <a:close/>
                </a:path>
              </a:pathLst>
            </a:cu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083" name="Rectangle 26">
              <a:extLst>
                <a:ext uri="{FF2B5EF4-FFF2-40B4-BE49-F238E27FC236}">
                  <a16:creationId xmlns:a16="http://schemas.microsoft.com/office/drawing/2014/main" id="{CD89139E-48DB-2C4A-8B98-7CD7AB513130}"/>
                </a:ext>
              </a:extLst>
            </p:cNvPr>
            <p:cNvSpPr>
              <a:spLocks noChangeArrowheads="1"/>
            </p:cNvSpPr>
            <p:nvPr/>
          </p:nvSpPr>
          <p:spPr bwMode="auto">
            <a:xfrm>
              <a:off x="6948488" y="3357563"/>
              <a:ext cx="1509712" cy="341666"/>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en-US" altLang="zh-CN" sz="1800">
                  <a:solidFill>
                    <a:schemeClr val="bg2"/>
                  </a:solidFill>
                  <a:latin typeface="黑体" panose="02010609060101010101" pitchFamily="49" charset="-122"/>
                  <a:ea typeface="黑体" panose="02010609060101010101" pitchFamily="49" charset="-122"/>
                </a:rPr>
                <a:t>Internet</a:t>
              </a:r>
            </a:p>
          </p:txBody>
        </p:sp>
        <p:sp>
          <p:nvSpPr>
            <p:cNvPr id="45084" name="Line 27">
              <a:extLst>
                <a:ext uri="{FF2B5EF4-FFF2-40B4-BE49-F238E27FC236}">
                  <a16:creationId xmlns:a16="http://schemas.microsoft.com/office/drawing/2014/main" id="{4962535C-E245-744A-BFB7-BDEE567F4AB7}"/>
                </a:ext>
              </a:extLst>
            </p:cNvPr>
            <p:cNvSpPr>
              <a:spLocks noChangeShapeType="1"/>
            </p:cNvSpPr>
            <p:nvPr/>
          </p:nvSpPr>
          <p:spPr bwMode="auto">
            <a:xfrm>
              <a:off x="971550" y="5013325"/>
              <a:ext cx="33845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5" name="Line 28">
              <a:extLst>
                <a:ext uri="{FF2B5EF4-FFF2-40B4-BE49-F238E27FC236}">
                  <a16:creationId xmlns:a16="http://schemas.microsoft.com/office/drawing/2014/main" id="{0766E1AE-F1A1-E348-8979-CD5169A2502F}"/>
                </a:ext>
              </a:extLst>
            </p:cNvPr>
            <p:cNvSpPr>
              <a:spLocks noChangeShapeType="1"/>
            </p:cNvSpPr>
            <p:nvPr/>
          </p:nvSpPr>
          <p:spPr bwMode="auto">
            <a:xfrm>
              <a:off x="971550" y="4652963"/>
              <a:ext cx="0" cy="86360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6" name="Rectangle 29">
              <a:extLst>
                <a:ext uri="{FF2B5EF4-FFF2-40B4-BE49-F238E27FC236}">
                  <a16:creationId xmlns:a16="http://schemas.microsoft.com/office/drawing/2014/main" id="{37938A46-A141-6941-9D09-11411A7FDCD2}"/>
                </a:ext>
              </a:extLst>
            </p:cNvPr>
            <p:cNvSpPr>
              <a:spLocks noChangeArrowheads="1"/>
            </p:cNvSpPr>
            <p:nvPr/>
          </p:nvSpPr>
          <p:spPr bwMode="auto">
            <a:xfrm>
              <a:off x="1547813" y="5078412"/>
              <a:ext cx="2451100" cy="42473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en-US" altLang="zh-CN" sz="2400">
                  <a:solidFill>
                    <a:schemeClr val="bg2"/>
                  </a:solidFill>
                  <a:latin typeface="黑体" panose="02010609060101010101" pitchFamily="49" charset="-122"/>
                  <a:ea typeface="黑体" panose="02010609060101010101" pitchFamily="49" charset="-122"/>
                </a:rPr>
                <a:t>ppp</a:t>
              </a:r>
            </a:p>
          </p:txBody>
        </p:sp>
        <p:sp>
          <p:nvSpPr>
            <p:cNvPr id="45087" name="Line 30">
              <a:extLst>
                <a:ext uri="{FF2B5EF4-FFF2-40B4-BE49-F238E27FC236}">
                  <a16:creationId xmlns:a16="http://schemas.microsoft.com/office/drawing/2014/main" id="{E3434BEA-D5E5-0241-BDF3-6CB3A10172DB}"/>
                </a:ext>
              </a:extLst>
            </p:cNvPr>
            <p:cNvSpPr>
              <a:spLocks noChangeShapeType="1"/>
            </p:cNvSpPr>
            <p:nvPr/>
          </p:nvSpPr>
          <p:spPr bwMode="auto">
            <a:xfrm>
              <a:off x="4427538" y="4797425"/>
              <a:ext cx="0" cy="64770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8" name="Rectangle 31">
              <a:extLst>
                <a:ext uri="{FF2B5EF4-FFF2-40B4-BE49-F238E27FC236}">
                  <a16:creationId xmlns:a16="http://schemas.microsoft.com/office/drawing/2014/main" id="{31F7C0F2-91CE-E742-A51A-E888518CD30D}"/>
                </a:ext>
              </a:extLst>
            </p:cNvPr>
            <p:cNvSpPr>
              <a:spLocks noChangeArrowheads="1"/>
            </p:cNvSpPr>
            <p:nvPr/>
          </p:nvSpPr>
          <p:spPr bwMode="auto">
            <a:xfrm>
              <a:off x="4716463" y="5149850"/>
              <a:ext cx="4427537" cy="84023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en-US" altLang="zh-CN" sz="1800">
                  <a:solidFill>
                    <a:schemeClr val="bg2"/>
                  </a:solidFill>
                  <a:latin typeface="黑体" panose="02010609060101010101" pitchFamily="49" charset="-122"/>
                  <a:ea typeface="黑体" panose="02010609060101010101" pitchFamily="49" charset="-122"/>
                </a:rPr>
                <a:t>PC</a:t>
              </a:r>
              <a:r>
                <a:rPr lang="zh-CN" altLang="en-US" sz="1800">
                  <a:solidFill>
                    <a:schemeClr val="bg2"/>
                  </a:solidFill>
                  <a:latin typeface="黑体" panose="02010609060101010101" pitchFamily="49" charset="-122"/>
                  <a:ea typeface="黑体" panose="02010609060101010101" pitchFamily="49" charset="-122"/>
                </a:rPr>
                <a:t>通过交换电路网络与</a:t>
              </a:r>
              <a:r>
                <a:rPr lang="en-US" altLang="zh-CN" sz="1800">
                  <a:solidFill>
                    <a:schemeClr val="bg2"/>
                  </a:solidFill>
                  <a:latin typeface="黑体" panose="02010609060101010101" pitchFamily="49" charset="-122"/>
                  <a:ea typeface="黑体" panose="02010609060101010101" pitchFamily="49" charset="-122"/>
                </a:rPr>
                <a:t>ISP</a:t>
              </a:r>
              <a:r>
                <a:rPr lang="zh-CN" altLang="en-US" sz="1800">
                  <a:solidFill>
                    <a:schemeClr val="bg2"/>
                  </a:solidFill>
                  <a:latin typeface="黑体" panose="02010609060101010101" pitchFamily="49" charset="-122"/>
                  <a:ea typeface="黑体" panose="02010609060101010101" pitchFamily="49" charset="-122"/>
                </a:rPr>
                <a:t>建立第二层连接，然后在该连接上</a:t>
              </a:r>
              <a:r>
                <a:rPr lang="en-US" altLang="zh-CN" sz="1800">
                  <a:solidFill>
                    <a:schemeClr val="bg2"/>
                  </a:solidFill>
                  <a:latin typeface="黑体" panose="02010609060101010101" pitchFamily="49" charset="-122"/>
                  <a:ea typeface="黑体" panose="02010609060101010101" pitchFamily="49" charset="-122"/>
                </a:rPr>
                <a:t>PPP</a:t>
              </a:r>
              <a:r>
                <a:rPr lang="zh-CN" altLang="en-US" sz="1800">
                  <a:solidFill>
                    <a:schemeClr val="bg2"/>
                  </a:solidFill>
                  <a:latin typeface="黑体" panose="02010609060101010101" pitchFamily="49" charset="-122"/>
                  <a:ea typeface="黑体" panose="02010609060101010101" pitchFamily="49" charset="-122"/>
                </a:rPr>
                <a:t>进行通信。</a:t>
              </a:r>
            </a:p>
            <a:p>
              <a:pPr eaLnBrk="1" hangingPunct="1">
                <a:lnSpc>
                  <a:spcPct val="90000"/>
                </a:lnSpc>
              </a:pPr>
              <a:endParaRPr lang="en-US" altLang="zh-CN" sz="1800">
                <a:solidFill>
                  <a:schemeClr val="bg2"/>
                </a:solidFill>
                <a:latin typeface="黑体" panose="02010609060101010101" pitchFamily="49" charset="-122"/>
                <a:ea typeface="黑体" panose="02010609060101010101" pitchFamily="49" charset="-122"/>
              </a:endParaRPr>
            </a:p>
          </p:txBody>
        </p:sp>
        <p:sp>
          <p:nvSpPr>
            <p:cNvPr id="45089" name="Line 32">
              <a:extLst>
                <a:ext uri="{FF2B5EF4-FFF2-40B4-BE49-F238E27FC236}">
                  <a16:creationId xmlns:a16="http://schemas.microsoft.com/office/drawing/2014/main" id="{1B134302-F5A7-324A-8FA3-41ED51D8FC25}"/>
                </a:ext>
              </a:extLst>
            </p:cNvPr>
            <p:cNvSpPr>
              <a:spLocks noChangeShapeType="1"/>
            </p:cNvSpPr>
            <p:nvPr/>
          </p:nvSpPr>
          <p:spPr bwMode="auto">
            <a:xfrm>
              <a:off x="5508625" y="1989138"/>
              <a:ext cx="0" cy="50323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90" name="Line 33">
              <a:extLst>
                <a:ext uri="{FF2B5EF4-FFF2-40B4-BE49-F238E27FC236}">
                  <a16:creationId xmlns:a16="http://schemas.microsoft.com/office/drawing/2014/main" id="{1BAC068A-1F2E-B148-8C2D-DB61C702E910}"/>
                </a:ext>
              </a:extLst>
            </p:cNvPr>
            <p:cNvSpPr>
              <a:spLocks noChangeShapeType="1"/>
            </p:cNvSpPr>
            <p:nvPr/>
          </p:nvSpPr>
          <p:spPr bwMode="auto">
            <a:xfrm>
              <a:off x="5508625" y="2205038"/>
              <a:ext cx="19431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91" name="Line 34">
              <a:extLst>
                <a:ext uri="{FF2B5EF4-FFF2-40B4-BE49-F238E27FC236}">
                  <a16:creationId xmlns:a16="http://schemas.microsoft.com/office/drawing/2014/main" id="{2ED6EB80-E65A-C14A-94A9-BBFBFC678F6D}"/>
                </a:ext>
              </a:extLst>
            </p:cNvPr>
            <p:cNvSpPr>
              <a:spLocks noChangeShapeType="1"/>
            </p:cNvSpPr>
            <p:nvPr/>
          </p:nvSpPr>
          <p:spPr bwMode="auto">
            <a:xfrm>
              <a:off x="7524750" y="1989138"/>
              <a:ext cx="0" cy="57626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92" name="Rectangle 35">
              <a:extLst>
                <a:ext uri="{FF2B5EF4-FFF2-40B4-BE49-F238E27FC236}">
                  <a16:creationId xmlns:a16="http://schemas.microsoft.com/office/drawing/2014/main" id="{736FA8E8-1008-9747-9F8E-8094092121BC}"/>
                </a:ext>
              </a:extLst>
            </p:cNvPr>
            <p:cNvSpPr>
              <a:spLocks noChangeArrowheads="1"/>
            </p:cNvSpPr>
            <p:nvPr/>
          </p:nvSpPr>
          <p:spPr bwMode="auto">
            <a:xfrm>
              <a:off x="5865813" y="2270125"/>
              <a:ext cx="1514475" cy="34163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en-US" altLang="zh-CN" sz="1800">
                  <a:solidFill>
                    <a:schemeClr val="bg2"/>
                  </a:solidFill>
                  <a:latin typeface="黑体" panose="02010609060101010101" pitchFamily="49" charset="-122"/>
                  <a:ea typeface="黑体" panose="02010609060101010101" pitchFamily="49" charset="-122"/>
                </a:rPr>
                <a:t>PPTP</a:t>
              </a:r>
              <a:r>
                <a:rPr lang="zh-CN" altLang="en-US" sz="1800">
                  <a:solidFill>
                    <a:schemeClr val="bg2"/>
                  </a:solidFill>
                  <a:latin typeface="黑体" panose="02010609060101010101" pitchFamily="49" charset="-122"/>
                  <a:ea typeface="黑体" panose="02010609060101010101" pitchFamily="49" charset="-122"/>
                </a:rPr>
                <a:t>通道？</a:t>
              </a:r>
            </a:p>
          </p:txBody>
        </p:sp>
        <p:sp>
          <p:nvSpPr>
            <p:cNvPr id="45093" name="Line 36">
              <a:extLst>
                <a:ext uri="{FF2B5EF4-FFF2-40B4-BE49-F238E27FC236}">
                  <a16:creationId xmlns:a16="http://schemas.microsoft.com/office/drawing/2014/main" id="{317FF826-B075-5842-BDAA-246BD59D5B80}"/>
                </a:ext>
              </a:extLst>
            </p:cNvPr>
            <p:cNvSpPr>
              <a:spLocks noChangeShapeType="1"/>
            </p:cNvSpPr>
            <p:nvPr/>
          </p:nvSpPr>
          <p:spPr bwMode="auto">
            <a:xfrm>
              <a:off x="5580063" y="3644900"/>
              <a:ext cx="720725" cy="576263"/>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94" name="Rectangle 37">
              <a:extLst>
                <a:ext uri="{FF2B5EF4-FFF2-40B4-BE49-F238E27FC236}">
                  <a16:creationId xmlns:a16="http://schemas.microsoft.com/office/drawing/2014/main" id="{B3B89D78-23CB-4D44-9BCB-79903A35AF83}"/>
                </a:ext>
              </a:extLst>
            </p:cNvPr>
            <p:cNvSpPr>
              <a:spLocks noChangeArrowheads="1"/>
            </p:cNvSpPr>
            <p:nvPr/>
          </p:nvSpPr>
          <p:spPr bwMode="auto">
            <a:xfrm>
              <a:off x="6226175" y="3998913"/>
              <a:ext cx="1514475" cy="34163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zh-CN" altLang="en-US" sz="1800">
                  <a:solidFill>
                    <a:schemeClr val="bg2"/>
                  </a:solidFill>
                  <a:latin typeface="黑体" panose="02010609060101010101" pitchFamily="49" charset="-122"/>
                  <a:ea typeface="黑体" panose="02010609060101010101" pitchFamily="49" charset="-122"/>
                </a:rPr>
                <a:t>路由器</a:t>
              </a:r>
            </a:p>
          </p:txBody>
        </p:sp>
        <p:sp>
          <p:nvSpPr>
            <p:cNvPr id="45095" name="Rectangle 6">
              <a:extLst>
                <a:ext uri="{FF2B5EF4-FFF2-40B4-BE49-F238E27FC236}">
                  <a16:creationId xmlns:a16="http://schemas.microsoft.com/office/drawing/2014/main" id="{441011A7-D58F-DF45-B0A7-1139FA837B96}"/>
                </a:ext>
              </a:extLst>
            </p:cNvPr>
            <p:cNvSpPr>
              <a:spLocks noChangeArrowheads="1"/>
            </p:cNvSpPr>
            <p:nvPr/>
          </p:nvSpPr>
          <p:spPr bwMode="auto">
            <a:xfrm>
              <a:off x="1547813" y="2636838"/>
              <a:ext cx="647700" cy="503237"/>
            </a:xfrm>
            <a:prstGeom prst="rect">
              <a:avLst/>
            </a:prstGeom>
            <a:noFill/>
            <a:ln w="952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sz="1800">
                <a:solidFill>
                  <a:schemeClr val="bg2"/>
                </a:solidFill>
                <a:latin typeface="黑体" panose="02010609060101010101" pitchFamily="49" charset="-122"/>
                <a:ea typeface="黑体" panose="02010609060101010101" pitchFamily="49" charset="-122"/>
              </a:endParaRPr>
            </a:p>
          </p:txBody>
        </p:sp>
      </p:grpSp>
      <p:sp>
        <p:nvSpPr>
          <p:cNvPr id="75" name="Text Box 38">
            <a:extLst>
              <a:ext uri="{FF2B5EF4-FFF2-40B4-BE49-F238E27FC236}">
                <a16:creationId xmlns:a16="http://schemas.microsoft.com/office/drawing/2014/main" id="{B50C85BF-3D90-5E40-9ABE-6D81F2173A6C}"/>
              </a:ext>
            </a:extLst>
          </p:cNvPr>
          <p:cNvSpPr txBox="1">
            <a:spLocks noChangeArrowheads="1"/>
          </p:cNvSpPr>
          <p:nvPr/>
        </p:nvSpPr>
        <p:spPr bwMode="auto">
          <a:xfrm>
            <a:off x="76200" y="925513"/>
            <a:ext cx="8896350" cy="868362"/>
          </a:xfrm>
          <a:prstGeom prst="rect">
            <a:avLst/>
          </a:prstGeom>
          <a:solidFill>
            <a:schemeClr val="accent5">
              <a:lumMod val="75000"/>
            </a:schemeClr>
          </a:solidFill>
          <a:ln w="9525">
            <a:solidFill>
              <a:schemeClr val="tx2"/>
            </a:solidFill>
            <a:miter lim="800000"/>
            <a:headEnd/>
            <a:tailEnd/>
          </a:ln>
        </p:spPr>
        <p:txBody>
          <a:bodyPr>
            <a:spAutoFit/>
          </a:bodyPr>
          <a:lstStyle>
            <a:lvl1pPr marL="342900" indent="-342900">
              <a:defRPr kumimoji="1" sz="4800" b="1">
                <a:solidFill>
                  <a:srgbClr val="FF0000"/>
                </a:solidFill>
                <a:latin typeface="隶书" pitchFamily="49" charset="-122"/>
                <a:ea typeface="隶书" pitchFamily="49" charset="-122"/>
              </a:defRPr>
            </a:lvl1pPr>
            <a:lvl2pPr>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90000"/>
              </a:lnSpc>
              <a:spcBef>
                <a:spcPct val="50000"/>
              </a:spcBef>
              <a:buSzPct val="95000"/>
              <a:defRPr/>
            </a:pPr>
            <a:r>
              <a:rPr lang="zh-CN" altLang="en-US" sz="2800">
                <a:solidFill>
                  <a:srgbClr val="0000FF"/>
                </a:solidFill>
                <a:ea typeface="黑体" panose="02010609060101010101" pitchFamily="49" charset="-122"/>
              </a:rPr>
              <a:t>用户拨号接入服务器端时，路由器的调制解调器对拨号作出应答，并建立一条物理连接。</a:t>
            </a:r>
          </a:p>
        </p:txBody>
      </p:sp>
      <p:sp>
        <p:nvSpPr>
          <p:cNvPr id="76" name="Text Box 39">
            <a:extLst>
              <a:ext uri="{FF2B5EF4-FFF2-40B4-BE49-F238E27FC236}">
                <a16:creationId xmlns:a16="http://schemas.microsoft.com/office/drawing/2014/main" id="{A2D057EE-F310-C342-84C8-C065CFF62F03}"/>
              </a:ext>
            </a:extLst>
          </p:cNvPr>
          <p:cNvSpPr txBox="1">
            <a:spLocks noChangeArrowheads="1"/>
          </p:cNvSpPr>
          <p:nvPr/>
        </p:nvSpPr>
        <p:spPr bwMode="auto">
          <a:xfrm>
            <a:off x="76200" y="4849813"/>
            <a:ext cx="8896350" cy="1255712"/>
          </a:xfrm>
          <a:prstGeom prst="rect">
            <a:avLst/>
          </a:prstGeom>
          <a:solidFill>
            <a:srgbClr val="00B0F0"/>
          </a:solidFill>
          <a:ln w="9525">
            <a:solidFill>
              <a:schemeClr val="tx2"/>
            </a:solidFill>
            <a:miter lim="800000"/>
            <a:headEnd/>
            <a:tailEnd/>
          </a:ln>
        </p:spPr>
        <p:txBody>
          <a:bodyPr>
            <a:spAutoFit/>
          </a:bodyPr>
          <a:lstStyle>
            <a:lvl1pPr marL="342900" indent="-342900">
              <a:defRPr kumimoji="1" sz="4800" b="1">
                <a:solidFill>
                  <a:srgbClr val="FF0000"/>
                </a:solidFill>
                <a:latin typeface="隶书" pitchFamily="49" charset="-122"/>
                <a:ea typeface="隶书" pitchFamily="49" charset="-122"/>
              </a:defRPr>
            </a:lvl1pPr>
            <a:lvl2pPr>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90000"/>
              </a:lnSpc>
              <a:spcBef>
                <a:spcPct val="50000"/>
              </a:spcBef>
              <a:buSzPct val="95000"/>
            </a:pPr>
            <a:r>
              <a:rPr lang="zh-CN" altLang="en-US" sz="28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由</a:t>
            </a:r>
            <a:r>
              <a:rPr lang="en-US" altLang="zh-CN" sz="28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LCP</a:t>
            </a:r>
            <a:r>
              <a:rPr lang="zh-CN" altLang="en-US" sz="28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协议实现链路的创建（协商一些选项），接着进行网络层连接的建立，给新接入的</a:t>
            </a:r>
            <a:r>
              <a:rPr lang="en-US" altLang="zh-CN" sz="28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PC</a:t>
            </a:r>
            <a:r>
              <a:rPr lang="zh-CN" altLang="en-US" sz="28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机分配一个临时的</a:t>
            </a:r>
            <a:r>
              <a:rPr lang="en-US" altLang="zh-CN" sz="28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IP</a:t>
            </a:r>
            <a:r>
              <a:rPr lang="zh-CN" altLang="en-US" sz="28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地址，这样</a:t>
            </a:r>
            <a:r>
              <a:rPr lang="en-US" altLang="zh-CN" sz="28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PC</a:t>
            </a:r>
            <a:r>
              <a:rPr lang="zh-CN" altLang="en-US" sz="28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机就成为</a:t>
            </a:r>
            <a:r>
              <a:rPr lang="en-US" altLang="zh-CN" sz="28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Internet</a:t>
            </a:r>
            <a:r>
              <a:rPr lang="zh-CN" altLang="en-US" sz="28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上一个主机。</a:t>
            </a:r>
          </a:p>
        </p:txBody>
      </p:sp>
      <p:sp>
        <p:nvSpPr>
          <p:cNvPr id="77" name="Text Box 40">
            <a:extLst>
              <a:ext uri="{FF2B5EF4-FFF2-40B4-BE49-F238E27FC236}">
                <a16:creationId xmlns:a16="http://schemas.microsoft.com/office/drawing/2014/main" id="{8520215D-2ADA-AB46-9B35-3F05D8685167}"/>
              </a:ext>
            </a:extLst>
          </p:cNvPr>
          <p:cNvSpPr txBox="1">
            <a:spLocks noChangeArrowheads="1"/>
          </p:cNvSpPr>
          <p:nvPr/>
        </p:nvSpPr>
        <p:spPr bwMode="auto">
          <a:xfrm>
            <a:off x="76200" y="1885950"/>
            <a:ext cx="8896350" cy="280035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4800" b="1">
                <a:solidFill>
                  <a:srgbClr val="FF0000"/>
                </a:solidFill>
                <a:latin typeface="隶书" pitchFamily="49" charset="-122"/>
                <a:ea typeface="隶书" pitchFamily="49" charset="-122"/>
              </a:defRPr>
            </a:lvl1pPr>
            <a:lvl2pPr>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90000"/>
              </a:lnSpc>
              <a:spcBef>
                <a:spcPct val="50000"/>
              </a:spcBef>
              <a:buSzPct val="95000"/>
            </a:pPr>
            <a:r>
              <a:rPr lang="zh-CN" altLang="en-US" sz="32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在链路建立后，进入网络层协议阶段前，</a:t>
            </a:r>
            <a:r>
              <a:rPr lang="en-US" altLang="zh-CN" sz="32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PPP</a:t>
            </a:r>
            <a:r>
              <a:rPr lang="zh-CN" altLang="en-US" sz="32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提供一个可选择的</a:t>
            </a:r>
            <a:r>
              <a:rPr lang="zh-CN" altLang="en-US" sz="3200">
                <a:latin typeface="Times New Roman" panose="02020603050405020304" pitchFamily="18" charset="0"/>
                <a:ea typeface="黑体" panose="02010609060101010101" pitchFamily="49" charset="-122"/>
                <a:cs typeface="Times New Roman" panose="02020603050405020304" pitchFamily="18" charset="0"/>
              </a:rPr>
              <a:t>鉴别阶段</a:t>
            </a:r>
            <a:r>
              <a:rPr lang="zh-CN" altLang="en-US" sz="32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a:t>
            </a:r>
          </a:p>
          <a:p>
            <a:pPr lvl="1" eaLnBrk="1" hangingPunct="1">
              <a:lnSpc>
                <a:spcPct val="90000"/>
              </a:lnSpc>
              <a:spcBef>
                <a:spcPct val="50000"/>
              </a:spcBef>
              <a:buSzPct val="95000"/>
            </a:pPr>
            <a:r>
              <a:rPr lang="zh-CN" altLang="en-US" sz="32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口令验证协议</a:t>
            </a:r>
            <a:r>
              <a:rPr lang="en-US" altLang="zh-CN" sz="32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PAP</a:t>
            </a:r>
          </a:p>
          <a:p>
            <a:pPr lvl="1" eaLnBrk="1" hangingPunct="1">
              <a:lnSpc>
                <a:spcPct val="90000"/>
              </a:lnSpc>
              <a:spcBef>
                <a:spcPct val="50000"/>
              </a:spcBef>
              <a:buSzPct val="95000"/>
            </a:pPr>
            <a:r>
              <a:rPr lang="zh-CN" altLang="en-US" sz="32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连接请求端不停地发送</a:t>
            </a:r>
            <a:r>
              <a:rPr lang="en-US" altLang="zh-CN" sz="32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ID/Password</a:t>
            </a:r>
            <a:r>
              <a:rPr lang="zh-CN" altLang="en-US" sz="3200">
                <a:solidFill>
                  <a:srgbClr val="5A1502"/>
                </a:solidFill>
                <a:latin typeface="Times New Roman" panose="02020603050405020304" pitchFamily="18" charset="0"/>
                <a:ea typeface="黑体" panose="02010609060101010101" pitchFamily="49" charset="-122"/>
                <a:cs typeface="Times New Roman" panose="02020603050405020304" pitchFamily="18" charset="0"/>
              </a:rPr>
              <a:t>给验证者，一直到验证被响应或连接被终止为止。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5"/>
                                        </p:tgtEl>
                                        <p:attrNameLst>
                                          <p:attrName>style.visibility</p:attrName>
                                        </p:attrNameLst>
                                      </p:cBhvr>
                                      <p:to>
                                        <p:strVal val="visible"/>
                                      </p:to>
                                    </p:set>
                                    <p:anim calcmode="lin" valueType="num">
                                      <p:cBhvr additive="base">
                                        <p:cTn id="12" dur="500" fill="hold"/>
                                        <p:tgtEl>
                                          <p:spTgt spid="75"/>
                                        </p:tgtEl>
                                        <p:attrNameLst>
                                          <p:attrName>ppt_x</p:attrName>
                                        </p:attrNameLst>
                                      </p:cBhvr>
                                      <p:tavLst>
                                        <p:tav tm="0">
                                          <p:val>
                                            <p:strVal val="#ppt_x"/>
                                          </p:val>
                                        </p:tav>
                                        <p:tav tm="100000">
                                          <p:val>
                                            <p:strVal val="#ppt_x"/>
                                          </p:val>
                                        </p:tav>
                                      </p:tavLst>
                                    </p:anim>
                                    <p:anim calcmode="lin" valueType="num">
                                      <p:cBhvr additive="base">
                                        <p:cTn id="13"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76"/>
                                        </p:tgtEl>
                                        <p:attrNameLst>
                                          <p:attrName>style.visibility</p:attrName>
                                        </p:attrNameLst>
                                      </p:cBhvr>
                                      <p:to>
                                        <p:strVal val="visible"/>
                                      </p:to>
                                    </p:set>
                                    <p:animEffect transition="in" filter="box(in)">
                                      <p:cBhvr>
                                        <p:cTn id="18" dur="500"/>
                                        <p:tgtEl>
                                          <p:spTgt spid="7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77"/>
                                        </p:tgtEl>
                                        <p:attrNameLst>
                                          <p:attrName>style.visibility</p:attrName>
                                        </p:attrNameLst>
                                      </p:cBhvr>
                                      <p:to>
                                        <p:strVal val="visible"/>
                                      </p:to>
                                    </p:set>
                                    <p:animEffect transition="in" filter="checkerboard(across)">
                                      <p:cBhvr>
                                        <p:cTn id="23"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76" grpId="0" animBg="1"/>
      <p:bldP spid="7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
            <a:extLst>
              <a:ext uri="{FF2B5EF4-FFF2-40B4-BE49-F238E27FC236}">
                <a16:creationId xmlns:a16="http://schemas.microsoft.com/office/drawing/2014/main" id="{E2EB16FC-79F7-294D-AE70-AE37BE9A0506}"/>
              </a:ext>
            </a:extLst>
          </p:cNvPr>
          <p:cNvGraphicFramePr>
            <a:graphicFrameLocks noGrp="1"/>
          </p:cNvGraphicFramePr>
          <p:nvPr/>
        </p:nvGraphicFramePr>
        <p:xfrm>
          <a:off x="0" y="1700213"/>
          <a:ext cx="8934450" cy="457200"/>
        </p:xfrm>
        <a:graphic>
          <a:graphicData uri="http://schemas.openxmlformats.org/drawingml/2006/table">
            <a:tbl>
              <a:tblPr/>
              <a:tblGrid>
                <a:gridCol w="965200">
                  <a:extLst>
                    <a:ext uri="{9D8B030D-6E8A-4147-A177-3AD203B41FA5}">
                      <a16:colId xmlns:a16="http://schemas.microsoft.com/office/drawing/2014/main" val="20000"/>
                    </a:ext>
                  </a:extLst>
                </a:gridCol>
                <a:gridCol w="1644650">
                  <a:extLst>
                    <a:ext uri="{9D8B030D-6E8A-4147-A177-3AD203B41FA5}">
                      <a16:colId xmlns:a16="http://schemas.microsoft.com/office/drawing/2014/main" val="20001"/>
                    </a:ext>
                  </a:extLst>
                </a:gridCol>
                <a:gridCol w="1501775">
                  <a:extLst>
                    <a:ext uri="{9D8B030D-6E8A-4147-A177-3AD203B41FA5}">
                      <a16:colId xmlns:a16="http://schemas.microsoft.com/office/drawing/2014/main" val="20002"/>
                    </a:ext>
                  </a:extLst>
                </a:gridCol>
                <a:gridCol w="1501775">
                  <a:extLst>
                    <a:ext uri="{9D8B030D-6E8A-4147-A177-3AD203B41FA5}">
                      <a16:colId xmlns:a16="http://schemas.microsoft.com/office/drawing/2014/main" val="20003"/>
                    </a:ext>
                  </a:extLst>
                </a:gridCol>
                <a:gridCol w="1185863">
                  <a:extLst>
                    <a:ext uri="{9D8B030D-6E8A-4147-A177-3AD203B41FA5}">
                      <a16:colId xmlns:a16="http://schemas.microsoft.com/office/drawing/2014/main" val="20004"/>
                    </a:ext>
                  </a:extLst>
                </a:gridCol>
                <a:gridCol w="1008062">
                  <a:extLst>
                    <a:ext uri="{9D8B030D-6E8A-4147-A177-3AD203B41FA5}">
                      <a16:colId xmlns:a16="http://schemas.microsoft.com/office/drawing/2014/main" val="20005"/>
                    </a:ext>
                  </a:extLst>
                </a:gridCol>
                <a:gridCol w="1127125">
                  <a:extLst>
                    <a:ext uri="{9D8B030D-6E8A-4147-A177-3AD203B41FA5}">
                      <a16:colId xmlns:a16="http://schemas.microsoft.com/office/drawing/2014/main" val="20006"/>
                    </a:ext>
                  </a:extLst>
                </a:gridCol>
              </a:tblGrid>
              <a:tr h="455613">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Flag</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Address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Control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Protocol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Data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FCS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Flag</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5" name="AutoShape 20">
            <a:extLst>
              <a:ext uri="{FF2B5EF4-FFF2-40B4-BE49-F238E27FC236}">
                <a16:creationId xmlns:a16="http://schemas.microsoft.com/office/drawing/2014/main" id="{A3001BF6-3624-4647-BB0E-08D893EF54B3}"/>
              </a:ext>
            </a:extLst>
          </p:cNvPr>
          <p:cNvSpPr>
            <a:spLocks noChangeArrowheads="1"/>
          </p:cNvSpPr>
          <p:nvPr/>
        </p:nvSpPr>
        <p:spPr bwMode="auto">
          <a:xfrm>
            <a:off x="1524000" y="2690813"/>
            <a:ext cx="2057400" cy="533400"/>
          </a:xfrm>
          <a:prstGeom prst="wedgeRoundRectCallout">
            <a:avLst>
              <a:gd name="adj1" fmla="val 109005"/>
              <a:gd name="adj2" fmla="val -161384"/>
              <a:gd name="adj3" fmla="val 16667"/>
            </a:avLst>
          </a:prstGeom>
          <a:solidFill>
            <a:srgbClr val="FF0000"/>
          </a:solidFill>
          <a:ln w="9525" algn="ctr">
            <a:solidFill>
              <a:schemeClr val="tx1"/>
            </a:solidFill>
            <a:miter lim="800000"/>
            <a:headEnd/>
            <a:tailEnd/>
          </a:ln>
        </p:spPr>
        <p:txBody>
          <a:bodyPr lIns="36000" tIns="36000" rIns="36000" bIns="36000"/>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en-US" altLang="zh-CN" sz="2400">
                <a:solidFill>
                  <a:srgbClr val="FFFF00"/>
                </a:solidFill>
                <a:latin typeface="Times New Roman" panose="02020603050405020304" pitchFamily="18" charset="0"/>
              </a:rPr>
              <a:t>PAP=0xC023</a:t>
            </a:r>
          </a:p>
        </p:txBody>
      </p:sp>
      <p:graphicFrame>
        <p:nvGraphicFramePr>
          <p:cNvPr id="6" name="Group 21">
            <a:extLst>
              <a:ext uri="{FF2B5EF4-FFF2-40B4-BE49-F238E27FC236}">
                <a16:creationId xmlns:a16="http://schemas.microsoft.com/office/drawing/2014/main" id="{6E374C69-138C-FC44-9A71-0369E048EC27}"/>
              </a:ext>
            </a:extLst>
          </p:cNvPr>
          <p:cNvGraphicFramePr>
            <a:graphicFrameLocks noGrp="1"/>
          </p:cNvGraphicFramePr>
          <p:nvPr/>
        </p:nvGraphicFramePr>
        <p:xfrm>
          <a:off x="4324350" y="2782888"/>
          <a:ext cx="4191000" cy="609600"/>
        </p:xfrm>
        <a:graphic>
          <a:graphicData uri="http://schemas.openxmlformats.org/drawingml/2006/table">
            <a:tbl>
              <a:tblPr/>
              <a:tblGrid>
                <a:gridCol w="914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933450">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tblGrid>
              <a:tr h="609600">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类型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标识符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长度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数据</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bl>
          </a:graphicData>
        </a:graphic>
      </p:graphicFrame>
      <p:sp>
        <p:nvSpPr>
          <p:cNvPr id="7" name="Line 33">
            <a:extLst>
              <a:ext uri="{FF2B5EF4-FFF2-40B4-BE49-F238E27FC236}">
                <a16:creationId xmlns:a16="http://schemas.microsoft.com/office/drawing/2014/main" id="{A96339B2-2C2C-4345-8228-3DFA5D548330}"/>
              </a:ext>
            </a:extLst>
          </p:cNvPr>
          <p:cNvSpPr>
            <a:spLocks noChangeShapeType="1"/>
          </p:cNvSpPr>
          <p:nvPr/>
        </p:nvSpPr>
        <p:spPr bwMode="auto">
          <a:xfrm flipH="1">
            <a:off x="4572000" y="2133600"/>
            <a:ext cx="1295400" cy="649288"/>
          </a:xfrm>
          <a:prstGeom prst="line">
            <a:avLst/>
          </a:prstGeom>
          <a:noFill/>
          <a:ln w="381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34">
            <a:extLst>
              <a:ext uri="{FF2B5EF4-FFF2-40B4-BE49-F238E27FC236}">
                <a16:creationId xmlns:a16="http://schemas.microsoft.com/office/drawing/2014/main" id="{CAF97837-D009-DE45-9C7B-D459E4BA6230}"/>
              </a:ext>
            </a:extLst>
          </p:cNvPr>
          <p:cNvSpPr>
            <a:spLocks noChangeShapeType="1"/>
          </p:cNvSpPr>
          <p:nvPr/>
        </p:nvSpPr>
        <p:spPr bwMode="auto">
          <a:xfrm>
            <a:off x="6467475" y="2133600"/>
            <a:ext cx="1685925" cy="609600"/>
          </a:xfrm>
          <a:prstGeom prst="line">
            <a:avLst/>
          </a:prstGeom>
          <a:noFill/>
          <a:ln w="381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35">
            <a:extLst>
              <a:ext uri="{FF2B5EF4-FFF2-40B4-BE49-F238E27FC236}">
                <a16:creationId xmlns:a16="http://schemas.microsoft.com/office/drawing/2014/main" id="{02C4E933-E463-5042-B64F-BFDAB4A28DF2}"/>
              </a:ext>
            </a:extLst>
          </p:cNvPr>
          <p:cNvSpPr txBox="1">
            <a:spLocks noChangeArrowheads="1"/>
          </p:cNvSpPr>
          <p:nvPr/>
        </p:nvSpPr>
        <p:spPr bwMode="auto">
          <a:xfrm>
            <a:off x="390525" y="3810000"/>
            <a:ext cx="8324850" cy="1865313"/>
          </a:xfrm>
          <a:prstGeom prst="rect">
            <a:avLst/>
          </a:prstGeom>
          <a:noFill/>
          <a:ln>
            <a:noFill/>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0000"/>
              </a:lnSpc>
              <a:buFont typeface="Wingdings" pitchFamily="2" charset="2"/>
              <a:buChar char="Ø"/>
              <a:defRPr/>
            </a:pPr>
            <a:r>
              <a:rPr lang="zh-CN" altLang="en-US" sz="240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类型码</a:t>
            </a:r>
            <a:r>
              <a:rPr lang="zh-CN" altLang="en-US" sz="240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a:t>
            </a:r>
            <a:r>
              <a:rPr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a:t>
            </a:r>
            <a:r>
              <a:rPr lang="en-US" altLang="zh-CN"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1</a:t>
            </a:r>
            <a:r>
              <a:rPr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）鉴别请求　（</a:t>
            </a:r>
            <a:r>
              <a:rPr lang="en-US" altLang="zh-CN"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2</a:t>
            </a:r>
            <a:r>
              <a:rPr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）鉴别确认　（</a:t>
            </a:r>
            <a:r>
              <a:rPr lang="en-US" altLang="zh-CN"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3</a:t>
            </a:r>
            <a:r>
              <a:rPr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）鉴别否认</a:t>
            </a:r>
          </a:p>
          <a:p>
            <a:pPr eaLnBrk="1" hangingPunct="1">
              <a:lnSpc>
                <a:spcPct val="120000"/>
              </a:lnSpc>
              <a:buFont typeface="Wingdings" pitchFamily="2" charset="2"/>
              <a:buChar char="Ø"/>
              <a:defRPr/>
            </a:pPr>
            <a:r>
              <a:rPr lang="zh-CN" altLang="en-US" sz="240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标识符： </a:t>
            </a:r>
            <a:r>
              <a:rPr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一个字节，帮助匹配请求和应答</a:t>
            </a:r>
          </a:p>
          <a:p>
            <a:pPr eaLnBrk="1" hangingPunct="1">
              <a:lnSpc>
                <a:spcPct val="120000"/>
              </a:lnSpc>
              <a:buFont typeface="Wingdings" pitchFamily="2" charset="2"/>
              <a:buChar char="Ø"/>
              <a:defRPr/>
            </a:pPr>
            <a:r>
              <a:rPr lang="zh-CN" altLang="en-US" sz="240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长  度： </a:t>
            </a:r>
            <a:r>
              <a:rPr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两个字节，指示</a:t>
            </a:r>
            <a:r>
              <a:rPr lang="en-US" altLang="zh-CN"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PAP</a:t>
            </a:r>
            <a:r>
              <a:rPr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包的长度</a:t>
            </a:r>
          </a:p>
          <a:p>
            <a:pPr eaLnBrk="1" hangingPunct="1">
              <a:lnSpc>
                <a:spcPct val="120000"/>
              </a:lnSpc>
              <a:buFont typeface="Wingdings" pitchFamily="2" charset="2"/>
              <a:buChar char="Ø"/>
              <a:defRPr/>
            </a:pPr>
            <a:r>
              <a:rPr lang="zh-CN" altLang="en-US" sz="240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数  据： </a:t>
            </a:r>
            <a:r>
              <a:rPr lang="en-US" altLang="zh-CN"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0 </a:t>
            </a:r>
            <a:r>
              <a:rPr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Wingdings" pitchFamily="2" charset="2"/>
              </a:rPr>
              <a:t>或多个字节</a:t>
            </a:r>
            <a:endParaRPr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6115" name="Text Box 36">
            <a:extLst>
              <a:ext uri="{FF2B5EF4-FFF2-40B4-BE49-F238E27FC236}">
                <a16:creationId xmlns:a16="http://schemas.microsoft.com/office/drawing/2014/main" id="{35561835-755F-D34C-8721-F32691D2338D}"/>
              </a:ext>
            </a:extLst>
          </p:cNvPr>
          <p:cNvSpPr txBox="1">
            <a:spLocks noChangeArrowheads="1"/>
          </p:cNvSpPr>
          <p:nvPr/>
        </p:nvSpPr>
        <p:spPr bwMode="auto">
          <a:xfrm>
            <a:off x="590550" y="762000"/>
            <a:ext cx="79248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15000"/>
              </a:lnSpc>
              <a:spcBef>
                <a:spcPct val="20000"/>
              </a:spcBef>
              <a:buSzPct val="95000"/>
              <a:buFontTx/>
              <a:buChar char="•"/>
            </a:pP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 PAP</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帧格式：</a:t>
            </a: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PAP</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帧是</a:t>
            </a: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PPP</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帧的一种类型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par>
                          <p:cTn id="18" fill="hold" nodeType="afterGroup">
                            <p:stCondLst>
                              <p:cond delay="500"/>
                            </p:stCondLst>
                            <p:childTnLst>
                              <p:par>
                                <p:cTn id="19" presetID="22" presetClass="entr" presetSubtype="1"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500"/>
                                        <p:tgtEl>
                                          <p:spTgt spid="8"/>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up)">
                                      <p:cBhvr>
                                        <p:cTn id="25" dur="500"/>
                                        <p:tgtEl>
                                          <p:spTgt spid="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5B75724F-6BE1-5F46-8DD4-82A20348338E}"/>
              </a:ext>
            </a:extLst>
          </p:cNvPr>
          <p:cNvSpPr txBox="1">
            <a:spLocks noChangeArrowheads="1"/>
          </p:cNvSpPr>
          <p:nvPr/>
        </p:nvSpPr>
        <p:spPr bwMode="auto">
          <a:xfrm>
            <a:off x="461963" y="1277938"/>
            <a:ext cx="8351837"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15000"/>
              </a:lnSpc>
              <a:spcBef>
                <a:spcPct val="20000"/>
              </a:spcBef>
              <a:buSzPct val="95000"/>
              <a:buFontTx/>
              <a:buChar char="•"/>
            </a:pPr>
            <a:r>
              <a:rPr lang="en-US" altLang="zh-CN" sz="2400">
                <a:solidFill>
                  <a:srgbClr val="0000FF"/>
                </a:solidFill>
                <a:latin typeface="黑体" panose="02010609060101010101" pitchFamily="49" charset="-122"/>
                <a:ea typeface="黑体" panose="02010609060101010101" pitchFamily="49" charset="-122"/>
              </a:rPr>
              <a:t> </a:t>
            </a:r>
            <a:r>
              <a:rPr lang="zh-CN" altLang="en-US" sz="2400">
                <a:solidFill>
                  <a:srgbClr val="0000FF"/>
                </a:solidFill>
                <a:latin typeface="黑体" panose="02010609060101010101" pitchFamily="49" charset="-122"/>
                <a:ea typeface="黑体" panose="02010609060101010101" pitchFamily="49" charset="-122"/>
              </a:rPr>
              <a:t>鉴别请求：</a:t>
            </a: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当</a:t>
            </a:r>
            <a:r>
              <a:rPr lang="en-US" altLang="zh-CN"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LCP</a:t>
            </a: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完成之后，链路已建立完成，示证者向验证者发送</a:t>
            </a:r>
            <a:r>
              <a:rPr lang="en-US" altLang="zh-CN"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PAP</a:t>
            </a: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鉴别请求包。</a:t>
            </a:r>
          </a:p>
        </p:txBody>
      </p:sp>
      <p:graphicFrame>
        <p:nvGraphicFramePr>
          <p:cNvPr id="5" name="Group 3">
            <a:extLst>
              <a:ext uri="{FF2B5EF4-FFF2-40B4-BE49-F238E27FC236}">
                <a16:creationId xmlns:a16="http://schemas.microsoft.com/office/drawing/2014/main" id="{519EC9A8-2015-1049-A86F-114C0AF3039B}"/>
              </a:ext>
            </a:extLst>
          </p:cNvPr>
          <p:cNvGraphicFramePr>
            <a:graphicFrameLocks noGrp="1"/>
          </p:cNvGraphicFramePr>
          <p:nvPr/>
        </p:nvGraphicFramePr>
        <p:xfrm>
          <a:off x="179388" y="2994025"/>
          <a:ext cx="8964612" cy="517525"/>
        </p:xfrm>
        <a:graphic>
          <a:graphicData uri="http://schemas.openxmlformats.org/drawingml/2006/table">
            <a:tbl>
              <a:tblPr/>
              <a:tblGrid>
                <a:gridCol w="1049337">
                  <a:extLst>
                    <a:ext uri="{9D8B030D-6E8A-4147-A177-3AD203B41FA5}">
                      <a16:colId xmlns:a16="http://schemas.microsoft.com/office/drawing/2014/main" val="20000"/>
                    </a:ext>
                  </a:extLst>
                </a:gridCol>
                <a:gridCol w="1616075">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97038">
                  <a:extLst>
                    <a:ext uri="{9D8B030D-6E8A-4147-A177-3AD203B41FA5}">
                      <a16:colId xmlns:a16="http://schemas.microsoft.com/office/drawing/2014/main" val="20003"/>
                    </a:ext>
                  </a:extLst>
                </a:gridCol>
                <a:gridCol w="1211262">
                  <a:extLst>
                    <a:ext uri="{9D8B030D-6E8A-4147-A177-3AD203B41FA5}">
                      <a16:colId xmlns:a16="http://schemas.microsoft.com/office/drawing/2014/main" val="20004"/>
                    </a:ext>
                  </a:extLst>
                </a:gridCol>
                <a:gridCol w="889000">
                  <a:extLst>
                    <a:ext uri="{9D8B030D-6E8A-4147-A177-3AD203B41FA5}">
                      <a16:colId xmlns:a16="http://schemas.microsoft.com/office/drawing/2014/main" val="20005"/>
                    </a:ext>
                  </a:extLst>
                </a:gridCol>
                <a:gridCol w="1130300">
                  <a:extLst>
                    <a:ext uri="{9D8B030D-6E8A-4147-A177-3AD203B41FA5}">
                      <a16:colId xmlns:a16="http://schemas.microsoft.com/office/drawing/2014/main" val="20006"/>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Flag</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Address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Control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Protocol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Data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FCS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Flag</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99FF"/>
                    </a:solidFill>
                  </a:tcPr>
                </a:tc>
                <a:extLst>
                  <a:ext uri="{0D108BD9-81ED-4DB2-BD59-A6C34878D82A}">
                    <a16:rowId xmlns:a16="http://schemas.microsoft.com/office/drawing/2014/main" val="10000"/>
                  </a:ext>
                </a:extLst>
              </a:tr>
            </a:tbl>
          </a:graphicData>
        </a:graphic>
      </p:graphicFrame>
      <p:sp>
        <p:nvSpPr>
          <p:cNvPr id="6" name="AutoShape 21">
            <a:extLst>
              <a:ext uri="{FF2B5EF4-FFF2-40B4-BE49-F238E27FC236}">
                <a16:creationId xmlns:a16="http://schemas.microsoft.com/office/drawing/2014/main" id="{55B270FA-F07D-DC46-A4F4-519C284A4F87}"/>
              </a:ext>
            </a:extLst>
          </p:cNvPr>
          <p:cNvSpPr>
            <a:spLocks noChangeArrowheads="1"/>
          </p:cNvSpPr>
          <p:nvPr/>
        </p:nvSpPr>
        <p:spPr bwMode="auto">
          <a:xfrm>
            <a:off x="2819400" y="2273300"/>
            <a:ext cx="2286000" cy="457200"/>
          </a:xfrm>
          <a:prstGeom prst="wedgeRoundRectCallout">
            <a:avLst>
              <a:gd name="adj1" fmla="val 46111"/>
              <a:gd name="adj2" fmla="val 109028"/>
              <a:gd name="adj3" fmla="val 16667"/>
            </a:avLst>
          </a:prstGeom>
          <a:solidFill>
            <a:srgbClr val="FF0000"/>
          </a:solidFill>
          <a:ln w="9525">
            <a:solidFill>
              <a:schemeClr val="tx1"/>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en-US" altLang="zh-CN" sz="2400">
                <a:solidFill>
                  <a:srgbClr val="FFFF00"/>
                </a:solidFill>
                <a:latin typeface="Times New Roman" panose="02020603050405020304" pitchFamily="18" charset="0"/>
                <a:ea typeface="黑体" panose="02010609060101010101" pitchFamily="49" charset="-122"/>
              </a:rPr>
              <a:t>PAP=0xC023</a:t>
            </a:r>
          </a:p>
        </p:txBody>
      </p:sp>
      <p:graphicFrame>
        <p:nvGraphicFramePr>
          <p:cNvPr id="7" name="Group 22">
            <a:extLst>
              <a:ext uri="{FF2B5EF4-FFF2-40B4-BE49-F238E27FC236}">
                <a16:creationId xmlns:a16="http://schemas.microsoft.com/office/drawing/2014/main" id="{E702F083-FE3C-384E-874A-8829BFE43C16}"/>
              </a:ext>
            </a:extLst>
          </p:cNvPr>
          <p:cNvGraphicFramePr>
            <a:graphicFrameLocks noGrp="1"/>
          </p:cNvGraphicFramePr>
          <p:nvPr/>
        </p:nvGraphicFramePr>
        <p:xfrm>
          <a:off x="2895600" y="4143375"/>
          <a:ext cx="5181600" cy="569913"/>
        </p:xfrm>
        <a:graphic>
          <a:graphicData uri="http://schemas.openxmlformats.org/drawingml/2006/table">
            <a:tbl>
              <a:tblPr/>
              <a:tblGrid>
                <a:gridCol w="16002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569913">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类型＝</a:t>
                      </a: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标识符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长度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0"/>
                  </a:ext>
                </a:extLst>
              </a:tr>
            </a:tbl>
          </a:graphicData>
        </a:graphic>
      </p:graphicFrame>
      <p:sp>
        <p:nvSpPr>
          <p:cNvPr id="8" name="Line 34">
            <a:extLst>
              <a:ext uri="{FF2B5EF4-FFF2-40B4-BE49-F238E27FC236}">
                <a16:creationId xmlns:a16="http://schemas.microsoft.com/office/drawing/2014/main" id="{4B6A2377-A1F5-9441-A420-89462FAF67B5}"/>
              </a:ext>
            </a:extLst>
          </p:cNvPr>
          <p:cNvSpPr>
            <a:spLocks noChangeShapeType="1"/>
          </p:cNvSpPr>
          <p:nvPr/>
        </p:nvSpPr>
        <p:spPr bwMode="auto">
          <a:xfrm flipH="1">
            <a:off x="3352800" y="3511550"/>
            <a:ext cx="2911475" cy="633413"/>
          </a:xfrm>
          <a:prstGeom prst="line">
            <a:avLst/>
          </a:prstGeom>
          <a:noFill/>
          <a:ln w="381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35">
            <a:extLst>
              <a:ext uri="{FF2B5EF4-FFF2-40B4-BE49-F238E27FC236}">
                <a16:creationId xmlns:a16="http://schemas.microsoft.com/office/drawing/2014/main" id="{04BD1041-52CC-2340-871F-F7EC3E6CC3D1}"/>
              </a:ext>
            </a:extLst>
          </p:cNvPr>
          <p:cNvSpPr>
            <a:spLocks noChangeShapeType="1"/>
          </p:cNvSpPr>
          <p:nvPr/>
        </p:nvSpPr>
        <p:spPr bwMode="auto">
          <a:xfrm>
            <a:off x="6858000" y="3511550"/>
            <a:ext cx="846138" cy="587375"/>
          </a:xfrm>
          <a:prstGeom prst="line">
            <a:avLst/>
          </a:prstGeom>
          <a:noFill/>
          <a:ln w="381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0" name="Group 36">
            <a:extLst>
              <a:ext uri="{FF2B5EF4-FFF2-40B4-BE49-F238E27FC236}">
                <a16:creationId xmlns:a16="http://schemas.microsoft.com/office/drawing/2014/main" id="{D96EB244-76C8-9546-9010-B1289AB22035}"/>
              </a:ext>
            </a:extLst>
          </p:cNvPr>
          <p:cNvGraphicFramePr>
            <a:graphicFrameLocks noGrp="1"/>
          </p:cNvGraphicFramePr>
          <p:nvPr/>
        </p:nvGraphicFramePr>
        <p:xfrm>
          <a:off x="838200" y="5410200"/>
          <a:ext cx="7620000" cy="822340"/>
        </p:xfrm>
        <a:graphic>
          <a:graphicData uri="http://schemas.openxmlformats.org/drawingml/2006/table">
            <a:tbl>
              <a:tblPr/>
              <a:tblGrid>
                <a:gridCol w="2133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822325">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对等实体标识符长度</a:t>
                      </a:r>
                    </a:p>
                  </a:txBody>
                  <a:tcPr marT="45410" marB="4541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对等实体标识符</a:t>
                      </a:r>
                    </a:p>
                  </a:txBody>
                  <a:tcPr marT="45410" marB="454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口令长度</a:t>
                      </a:r>
                    </a:p>
                  </a:txBody>
                  <a:tcPr marT="45410" marB="454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口令</a:t>
                      </a:r>
                    </a:p>
                  </a:txBody>
                  <a:tcPr marT="45410" marB="4541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extLst>
                  <a:ext uri="{0D108BD9-81ED-4DB2-BD59-A6C34878D82A}">
                    <a16:rowId xmlns:a16="http://schemas.microsoft.com/office/drawing/2014/main" val="10000"/>
                  </a:ext>
                </a:extLst>
              </a:tr>
            </a:tbl>
          </a:graphicData>
        </a:graphic>
      </p:graphicFrame>
      <p:sp>
        <p:nvSpPr>
          <p:cNvPr id="11" name="Line 48">
            <a:extLst>
              <a:ext uri="{FF2B5EF4-FFF2-40B4-BE49-F238E27FC236}">
                <a16:creationId xmlns:a16="http://schemas.microsoft.com/office/drawing/2014/main" id="{F2C663FF-CF13-2543-9B51-CCDF7CFAC2B5}"/>
              </a:ext>
            </a:extLst>
          </p:cNvPr>
          <p:cNvSpPr>
            <a:spLocks noChangeShapeType="1"/>
          </p:cNvSpPr>
          <p:nvPr/>
        </p:nvSpPr>
        <p:spPr bwMode="auto">
          <a:xfrm flipH="1">
            <a:off x="1524000" y="4759325"/>
            <a:ext cx="5638800" cy="574675"/>
          </a:xfrm>
          <a:prstGeom prst="line">
            <a:avLst/>
          </a:prstGeom>
          <a:noFill/>
          <a:ln w="381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49">
            <a:extLst>
              <a:ext uri="{FF2B5EF4-FFF2-40B4-BE49-F238E27FC236}">
                <a16:creationId xmlns:a16="http://schemas.microsoft.com/office/drawing/2014/main" id="{07B22333-C9F0-734A-B35D-2DA14F104E20}"/>
              </a:ext>
            </a:extLst>
          </p:cNvPr>
          <p:cNvSpPr>
            <a:spLocks noChangeShapeType="1"/>
          </p:cNvSpPr>
          <p:nvPr/>
        </p:nvSpPr>
        <p:spPr bwMode="auto">
          <a:xfrm>
            <a:off x="7772400" y="4686300"/>
            <a:ext cx="457200" cy="723900"/>
          </a:xfrm>
          <a:prstGeom prst="line">
            <a:avLst/>
          </a:prstGeom>
          <a:noFill/>
          <a:ln w="381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30" name="Text Box 50">
            <a:extLst>
              <a:ext uri="{FF2B5EF4-FFF2-40B4-BE49-F238E27FC236}">
                <a16:creationId xmlns:a16="http://schemas.microsoft.com/office/drawing/2014/main" id="{D1753CE0-3698-F649-BA99-9990E2198AAC}"/>
              </a:ext>
            </a:extLst>
          </p:cNvPr>
          <p:cNvSpPr txBox="1">
            <a:spLocks noChangeArrowheads="1"/>
          </p:cNvSpPr>
          <p:nvPr/>
        </p:nvSpPr>
        <p:spPr bwMode="auto">
          <a:xfrm>
            <a:off x="473075" y="676275"/>
            <a:ext cx="5486400" cy="534988"/>
          </a:xfrm>
          <a:prstGeom prst="rect">
            <a:avLst/>
          </a:prstGeom>
          <a:noFill/>
          <a:ln>
            <a:noFill/>
          </a:ln>
        </p:spPr>
        <p:txBody>
          <a:bodyPr>
            <a:spAutoFit/>
          </a:bodyPr>
          <a:lstStyle>
            <a:lvl1pPr>
              <a:defRPr kumimoji="1" sz="4800" b="1">
                <a:solidFill>
                  <a:srgbClr val="FF0000"/>
                </a:solidFill>
                <a:latin typeface="隶书" panose="02010509060101010101" pitchFamily="49" charset="-122"/>
                <a:ea typeface="隶书" panose="02010509060101010101" pitchFamily="49" charset="-122"/>
              </a:defRPr>
            </a:lvl1pPr>
            <a:lvl2pPr marL="742950" indent="-285750">
              <a:defRPr kumimoji="1" sz="4800" b="1">
                <a:solidFill>
                  <a:srgbClr val="FF0000"/>
                </a:solidFill>
                <a:latin typeface="隶书" panose="02010509060101010101" pitchFamily="49" charset="-122"/>
                <a:ea typeface="隶书" panose="02010509060101010101" pitchFamily="49" charset="-122"/>
              </a:defRPr>
            </a:lvl2pPr>
            <a:lvl3pPr marL="1143000" indent="-228600">
              <a:defRPr kumimoji="1" sz="4800" b="1">
                <a:solidFill>
                  <a:srgbClr val="FF0000"/>
                </a:solidFill>
                <a:latin typeface="隶书" panose="02010509060101010101" pitchFamily="49" charset="-122"/>
                <a:ea typeface="隶书" panose="02010509060101010101" pitchFamily="49" charset="-122"/>
              </a:defRPr>
            </a:lvl3pPr>
            <a:lvl4pPr marL="1600200" indent="-228600">
              <a:defRPr kumimoji="1" sz="4800" b="1">
                <a:solidFill>
                  <a:srgbClr val="FF0000"/>
                </a:solidFill>
                <a:latin typeface="隶书" panose="02010509060101010101" pitchFamily="49" charset="-122"/>
                <a:ea typeface="隶书" panose="02010509060101010101" pitchFamily="49" charset="-122"/>
              </a:defRPr>
            </a:lvl4pPr>
            <a:lvl5pPr marL="2057400" indent="-228600">
              <a:defRPr kumimoji="1" sz="4800" b="1">
                <a:solidFill>
                  <a:srgbClr val="FF0000"/>
                </a:solidFill>
                <a:latin typeface="隶书" panose="02010509060101010101" pitchFamily="49" charset="-122"/>
                <a:ea typeface="隶书" panose="02010509060101010101" pitchFamily="49" charset="-122"/>
              </a:defRPr>
            </a:lvl5pPr>
            <a:lvl6pPr marL="2514600" indent="-228600" eaLnBrk="0" fontAlgn="base" hangingPunct="0">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6pPr>
            <a:lvl7pPr marL="2971800" indent="-228600" eaLnBrk="0" fontAlgn="base" hangingPunct="0">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7pPr>
            <a:lvl8pPr marL="3429000" indent="-228600" eaLnBrk="0" fontAlgn="base" hangingPunct="0">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8pPr>
            <a:lvl9pPr marL="3886200" indent="-228600" eaLnBrk="0" fontAlgn="base" hangingPunct="0">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9pPr>
          </a:lstStyle>
          <a:p>
            <a:pPr eaLnBrk="1" hangingPunct="1">
              <a:lnSpc>
                <a:spcPct val="90000"/>
              </a:lnSpc>
              <a:defRPr/>
            </a:pPr>
            <a:r>
              <a:rPr lang="en-US" altLang="zh-CN" sz="3200" dirty="0">
                <a:effectLst>
                  <a:outerShdw blurRad="38100" dist="38100" dir="2700000" algn="tl">
                    <a:srgbClr val="C0C0C0"/>
                  </a:outerShdw>
                </a:effectLst>
                <a:latin typeface="黑体" panose="02010609060101010101" pitchFamily="49" charset="-122"/>
                <a:ea typeface="黑体" panose="02010609060101010101" pitchFamily="49" charset="-122"/>
              </a:rPr>
              <a:t>PAP</a:t>
            </a:r>
            <a:r>
              <a:rPr lang="zh-CN" altLang="en-US" sz="3200" dirty="0">
                <a:effectLst>
                  <a:outerShdw blurRad="38100" dist="38100" dir="2700000" algn="tl">
                    <a:srgbClr val="C0C0C0"/>
                  </a:outerShdw>
                </a:effectLst>
                <a:latin typeface="黑体" panose="02010609060101010101" pitchFamily="49" charset="-122"/>
                <a:ea typeface="黑体" panose="02010609060101010101" pitchFamily="49" charset="-122"/>
              </a:rPr>
              <a:t>鉴别协议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Bottom)">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par>
                          <p:cTn id="23" fill="hold" nodeType="afterGroup">
                            <p:stCondLst>
                              <p:cond delay="500"/>
                            </p:stCondLst>
                            <p:childTnLst>
                              <p:par>
                                <p:cTn id="24" presetID="22" presetClass="entr" presetSubtype="1"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up)">
                                      <p:cBhvr>
                                        <p:cTn id="26" dur="500"/>
                                        <p:tgtEl>
                                          <p:spTgt spid="9"/>
                                        </p:tgtEl>
                                      </p:cBhvr>
                                    </p:animEffect>
                                  </p:childTnLst>
                                </p:cTn>
                              </p:par>
                            </p:childTnLst>
                          </p:cTn>
                        </p:par>
                        <p:par>
                          <p:cTn id="27" fill="hold" nodeType="afterGroup">
                            <p:stCondLst>
                              <p:cond delay="1000"/>
                            </p:stCondLst>
                            <p:childTnLst>
                              <p:par>
                                <p:cTn id="28" presetID="22" presetClass="entr" presetSubtype="1" fill="hold"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up)">
                                      <p:cBhvr>
                                        <p:cTn id="35" dur="500"/>
                                        <p:tgtEl>
                                          <p:spTgt spid="11"/>
                                        </p:tgtEl>
                                      </p:cBhvr>
                                    </p:animEffect>
                                  </p:childTnLst>
                                </p:cTn>
                              </p:par>
                            </p:childTnLst>
                          </p:cTn>
                        </p:par>
                        <p:par>
                          <p:cTn id="36" fill="hold" nodeType="afterGroup">
                            <p:stCondLst>
                              <p:cond delay="500"/>
                            </p:stCondLst>
                            <p:childTnLst>
                              <p:par>
                                <p:cTn id="37" presetID="22" presetClass="entr" presetSubtype="1"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500"/>
                                        <p:tgtEl>
                                          <p:spTgt spid="12"/>
                                        </p:tgtEl>
                                      </p:cBhvr>
                                    </p:animEffect>
                                  </p:childTnLst>
                                </p:cTn>
                              </p:par>
                            </p:childTnLst>
                          </p:cTn>
                        </p:par>
                        <p:par>
                          <p:cTn id="40" fill="hold" nodeType="afterGroup">
                            <p:stCondLst>
                              <p:cond delay="1000"/>
                            </p:stCondLst>
                            <p:childTnLst>
                              <p:par>
                                <p:cTn id="41" presetID="22" presetClass="entr" presetSubtype="1" fill="hold"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up)">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6"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
            <a:extLst>
              <a:ext uri="{FF2B5EF4-FFF2-40B4-BE49-F238E27FC236}">
                <a16:creationId xmlns:a16="http://schemas.microsoft.com/office/drawing/2014/main" id="{08E10A57-E297-144F-860C-8F7BAC266646}"/>
              </a:ext>
            </a:extLst>
          </p:cNvPr>
          <p:cNvSpPr txBox="1">
            <a:spLocks noChangeArrowheads="1"/>
          </p:cNvSpPr>
          <p:nvPr/>
        </p:nvSpPr>
        <p:spPr bwMode="auto">
          <a:xfrm>
            <a:off x="381000" y="1001713"/>
            <a:ext cx="8569325" cy="136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15000"/>
              </a:lnSpc>
              <a:spcBef>
                <a:spcPct val="20000"/>
              </a:spcBef>
              <a:buSzPct val="95000"/>
              <a:buFontTx/>
              <a:buChar char="•"/>
            </a:pPr>
            <a:r>
              <a:rPr lang="zh-CN" altLang="en-US" sz="2400">
                <a:solidFill>
                  <a:srgbClr val="0000FF"/>
                </a:solidFill>
                <a:latin typeface="黑体" panose="02010609060101010101" pitchFamily="49" charset="-122"/>
                <a:ea typeface="黑体" panose="02010609060101010101" pitchFamily="49" charset="-122"/>
              </a:rPr>
              <a:t>鉴别响应：</a:t>
            </a:r>
            <a:r>
              <a:rPr lang="zh-CN" altLang="en-US" sz="2400">
                <a:solidFill>
                  <a:schemeClr val="bg2"/>
                </a:solidFill>
                <a:latin typeface="黑体" panose="02010609060101010101" pitchFamily="49" charset="-122"/>
                <a:ea typeface="黑体" panose="02010609060101010101" pitchFamily="49" charset="-122"/>
              </a:rPr>
              <a:t>当验证者确认示证者的对等实体标识和口令正确后，验证者向示证者发送</a:t>
            </a:r>
            <a:r>
              <a:rPr lang="en-US" altLang="zh-CN" sz="2400">
                <a:solidFill>
                  <a:schemeClr val="bg2"/>
                </a:solidFill>
                <a:latin typeface="黑体" panose="02010609060101010101" pitchFamily="49" charset="-122"/>
                <a:ea typeface="黑体" panose="02010609060101010101" pitchFamily="49" charset="-122"/>
              </a:rPr>
              <a:t>PAP</a:t>
            </a:r>
            <a:r>
              <a:rPr lang="zh-CN" altLang="en-US" sz="2400">
                <a:solidFill>
                  <a:schemeClr val="bg2"/>
                </a:solidFill>
                <a:latin typeface="黑体" panose="02010609060101010101" pitchFamily="49" charset="-122"/>
                <a:ea typeface="黑体" panose="02010609060101010101" pitchFamily="49" charset="-122"/>
              </a:rPr>
              <a:t>鉴别确认包，否则返回鉴别否认包。</a:t>
            </a:r>
          </a:p>
        </p:txBody>
      </p:sp>
      <p:graphicFrame>
        <p:nvGraphicFramePr>
          <p:cNvPr id="15" name="Group 3">
            <a:extLst>
              <a:ext uri="{FF2B5EF4-FFF2-40B4-BE49-F238E27FC236}">
                <a16:creationId xmlns:a16="http://schemas.microsoft.com/office/drawing/2014/main" id="{44A84884-0576-E34E-87BE-1A12E0BCFB34}"/>
              </a:ext>
            </a:extLst>
          </p:cNvPr>
          <p:cNvGraphicFramePr>
            <a:graphicFrameLocks noGrp="1"/>
          </p:cNvGraphicFramePr>
          <p:nvPr/>
        </p:nvGraphicFramePr>
        <p:xfrm>
          <a:off x="158750" y="3462338"/>
          <a:ext cx="8964612" cy="517525"/>
        </p:xfrm>
        <a:graphic>
          <a:graphicData uri="http://schemas.openxmlformats.org/drawingml/2006/table">
            <a:tbl>
              <a:tblPr/>
              <a:tblGrid>
                <a:gridCol w="1049337">
                  <a:extLst>
                    <a:ext uri="{9D8B030D-6E8A-4147-A177-3AD203B41FA5}">
                      <a16:colId xmlns:a16="http://schemas.microsoft.com/office/drawing/2014/main" val="20000"/>
                    </a:ext>
                  </a:extLst>
                </a:gridCol>
                <a:gridCol w="1616075">
                  <a:extLst>
                    <a:ext uri="{9D8B030D-6E8A-4147-A177-3AD203B41FA5}">
                      <a16:colId xmlns:a16="http://schemas.microsoft.com/office/drawing/2014/main" val="20001"/>
                    </a:ext>
                  </a:extLst>
                </a:gridCol>
                <a:gridCol w="1373188">
                  <a:extLst>
                    <a:ext uri="{9D8B030D-6E8A-4147-A177-3AD203B41FA5}">
                      <a16:colId xmlns:a16="http://schemas.microsoft.com/office/drawing/2014/main" val="20002"/>
                    </a:ext>
                  </a:extLst>
                </a:gridCol>
                <a:gridCol w="1695450">
                  <a:extLst>
                    <a:ext uri="{9D8B030D-6E8A-4147-A177-3AD203B41FA5}">
                      <a16:colId xmlns:a16="http://schemas.microsoft.com/office/drawing/2014/main" val="20003"/>
                    </a:ext>
                  </a:extLst>
                </a:gridCol>
                <a:gridCol w="1211262">
                  <a:extLst>
                    <a:ext uri="{9D8B030D-6E8A-4147-A177-3AD203B41FA5}">
                      <a16:colId xmlns:a16="http://schemas.microsoft.com/office/drawing/2014/main" val="20004"/>
                    </a:ext>
                  </a:extLst>
                </a:gridCol>
                <a:gridCol w="889000">
                  <a:extLst>
                    <a:ext uri="{9D8B030D-6E8A-4147-A177-3AD203B41FA5}">
                      <a16:colId xmlns:a16="http://schemas.microsoft.com/office/drawing/2014/main" val="20005"/>
                    </a:ext>
                  </a:extLst>
                </a:gridCol>
                <a:gridCol w="1130300">
                  <a:extLst>
                    <a:ext uri="{9D8B030D-6E8A-4147-A177-3AD203B41FA5}">
                      <a16:colId xmlns:a16="http://schemas.microsoft.com/office/drawing/2014/main" val="20006"/>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Flag</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Address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Control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Protocol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Data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宋体" pitchFamily="2" charset="-122"/>
                        </a:rPr>
                        <a:t>FCS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Flag</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bl>
          </a:graphicData>
        </a:graphic>
      </p:graphicFrame>
      <p:sp>
        <p:nvSpPr>
          <p:cNvPr id="16" name="AutoShape 21">
            <a:extLst>
              <a:ext uri="{FF2B5EF4-FFF2-40B4-BE49-F238E27FC236}">
                <a16:creationId xmlns:a16="http://schemas.microsoft.com/office/drawing/2014/main" id="{20645651-EB96-E34C-A4F5-E68C0CC4DAAF}"/>
              </a:ext>
            </a:extLst>
          </p:cNvPr>
          <p:cNvSpPr>
            <a:spLocks noChangeArrowheads="1"/>
          </p:cNvSpPr>
          <p:nvPr/>
        </p:nvSpPr>
        <p:spPr bwMode="auto">
          <a:xfrm>
            <a:off x="2798763" y="2670175"/>
            <a:ext cx="2286000" cy="457200"/>
          </a:xfrm>
          <a:prstGeom prst="wedgeRoundRectCallout">
            <a:avLst>
              <a:gd name="adj1" fmla="val 46833"/>
              <a:gd name="adj2" fmla="val 125245"/>
              <a:gd name="adj3" fmla="val 16667"/>
            </a:avLst>
          </a:prstGeom>
          <a:solidFill>
            <a:srgbClr val="FF0000"/>
          </a:solidFill>
          <a:ln w="9525">
            <a:solidFill>
              <a:schemeClr val="tx1"/>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en-US" altLang="zh-CN" sz="2400">
                <a:solidFill>
                  <a:srgbClr val="FFFF00"/>
                </a:solidFill>
                <a:latin typeface="Times New Roman" panose="02020603050405020304" pitchFamily="18" charset="0"/>
                <a:ea typeface="黑体" panose="02010609060101010101" pitchFamily="49" charset="-122"/>
              </a:rPr>
              <a:t>PAP=0xC023</a:t>
            </a:r>
          </a:p>
        </p:txBody>
      </p:sp>
      <p:graphicFrame>
        <p:nvGraphicFramePr>
          <p:cNvPr id="17" name="Group 22">
            <a:extLst>
              <a:ext uri="{FF2B5EF4-FFF2-40B4-BE49-F238E27FC236}">
                <a16:creationId xmlns:a16="http://schemas.microsoft.com/office/drawing/2014/main" id="{548EA753-3B11-4E43-B8FC-1D206C366CE6}"/>
              </a:ext>
            </a:extLst>
          </p:cNvPr>
          <p:cNvGraphicFramePr>
            <a:graphicFrameLocks noGrp="1"/>
          </p:cNvGraphicFramePr>
          <p:nvPr/>
        </p:nvGraphicFramePr>
        <p:xfrm>
          <a:off x="2898775" y="4800600"/>
          <a:ext cx="5181600" cy="685800"/>
        </p:xfrm>
        <a:graphic>
          <a:graphicData uri="http://schemas.openxmlformats.org/drawingml/2006/table">
            <a:tbl>
              <a:tblPr/>
              <a:tblGrid>
                <a:gridCol w="16002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685800">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类型＝</a:t>
                      </a: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2/3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标识符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长度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lvl1pPr>
                        <a:lnSpc>
                          <a:spcPct val="90000"/>
                        </a:lnSpc>
                        <a:spcBef>
                          <a:spcPct val="30000"/>
                        </a:spcBef>
                        <a:buClr>
                          <a:schemeClr val="tx2"/>
                        </a:buClr>
                        <a:buSzPct val="75000"/>
                        <a:buFont typeface="Wingdings" pitchFamily="2" charset="2"/>
                        <a:defRPr sz="2800" b="1">
                          <a:solidFill>
                            <a:schemeClr val="tx1"/>
                          </a:solidFill>
                          <a:latin typeface="Arial" panose="020B0604020202020204" pitchFamily="34" charset="0"/>
                          <a:cs typeface="Arial" panose="020B0604020202020204" pitchFamily="34" charset="0"/>
                        </a:defRPr>
                      </a:lvl1pPr>
                      <a:lvl2pPr marL="742950" indent="-285750">
                        <a:lnSpc>
                          <a:spcPct val="90000"/>
                        </a:lnSpc>
                        <a:spcBef>
                          <a:spcPct val="30000"/>
                        </a:spcBef>
                        <a:buClr>
                          <a:schemeClr val="tx2"/>
                        </a:buClr>
                        <a:buSzPct val="75000"/>
                        <a:buFont typeface="Wingdings" pitchFamily="2" charset="2"/>
                        <a:defRPr sz="2400" b="1">
                          <a:solidFill>
                            <a:schemeClr val="tx1"/>
                          </a:solidFill>
                          <a:latin typeface="Arial" panose="020B0604020202020204" pitchFamily="34" charset="0"/>
                          <a:cs typeface="Arial" panose="020B0604020202020204" pitchFamily="34" charset="0"/>
                        </a:defRPr>
                      </a:lvl2pPr>
                      <a:lvl3pPr marL="1143000" indent="-228600">
                        <a:lnSpc>
                          <a:spcPct val="90000"/>
                        </a:lnSpc>
                        <a:spcBef>
                          <a:spcPct val="30000"/>
                        </a:spcBef>
                        <a:buClr>
                          <a:schemeClr val="tx2"/>
                        </a:buClr>
                        <a:buSzPct val="75000"/>
                        <a:buFont typeface="Wingdings" pitchFamily="2" charset="2"/>
                        <a:defRPr sz="2000" b="1">
                          <a:solidFill>
                            <a:schemeClr val="tx1"/>
                          </a:solidFill>
                          <a:latin typeface="Arial" panose="020B0604020202020204" pitchFamily="34" charset="0"/>
                          <a:cs typeface="Arial" panose="020B0604020202020204" pitchFamily="34" charset="0"/>
                        </a:defRPr>
                      </a:lvl3pPr>
                      <a:lvl4pPr marL="16002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4pPr>
                      <a:lvl5pPr marL="2057400" indent="-228600">
                        <a:lnSpc>
                          <a:spcPct val="90000"/>
                        </a:lnSpc>
                        <a:spcBef>
                          <a:spcPct val="30000"/>
                        </a:spcBef>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itchFamily="2" charset="2"/>
                        <a:defRPr b="1">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0"/>
                  </a:ext>
                </a:extLst>
              </a:tr>
            </a:tbl>
          </a:graphicData>
        </a:graphic>
      </p:graphicFrame>
      <p:sp>
        <p:nvSpPr>
          <p:cNvPr id="18" name="Line 34">
            <a:extLst>
              <a:ext uri="{FF2B5EF4-FFF2-40B4-BE49-F238E27FC236}">
                <a16:creationId xmlns:a16="http://schemas.microsoft.com/office/drawing/2014/main" id="{A11AF74F-AC9F-2E46-A122-E04B9E5FD717}"/>
              </a:ext>
            </a:extLst>
          </p:cNvPr>
          <p:cNvSpPr>
            <a:spLocks noChangeShapeType="1"/>
          </p:cNvSpPr>
          <p:nvPr/>
        </p:nvSpPr>
        <p:spPr bwMode="auto">
          <a:xfrm flipH="1">
            <a:off x="3141663" y="3975100"/>
            <a:ext cx="3048000" cy="766763"/>
          </a:xfrm>
          <a:prstGeom prst="line">
            <a:avLst/>
          </a:prstGeom>
          <a:noFill/>
          <a:ln w="381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35">
            <a:extLst>
              <a:ext uri="{FF2B5EF4-FFF2-40B4-BE49-F238E27FC236}">
                <a16:creationId xmlns:a16="http://schemas.microsoft.com/office/drawing/2014/main" id="{CF4FF794-4C9B-8A4E-8C17-16B7E7FEED04}"/>
              </a:ext>
            </a:extLst>
          </p:cNvPr>
          <p:cNvSpPr>
            <a:spLocks noChangeShapeType="1"/>
          </p:cNvSpPr>
          <p:nvPr/>
        </p:nvSpPr>
        <p:spPr bwMode="auto">
          <a:xfrm>
            <a:off x="6858000" y="3975100"/>
            <a:ext cx="914400" cy="766763"/>
          </a:xfrm>
          <a:prstGeom prst="line">
            <a:avLst/>
          </a:prstGeom>
          <a:noFill/>
          <a:ln w="381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lide(fromBottom)">
                                      <p:cBhvr>
                                        <p:cTn id="12" dur="500"/>
                                        <p:tgtEl>
                                          <p:spTgt spid="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up)">
                                      <p:cBhvr>
                                        <p:cTn id="22" dur="500"/>
                                        <p:tgtEl>
                                          <p:spTgt spid="18"/>
                                        </p:tgtEl>
                                      </p:cBhvr>
                                    </p:animEffect>
                                  </p:childTnLst>
                                </p:cTn>
                              </p:par>
                            </p:childTnLst>
                          </p:cTn>
                        </p:par>
                        <p:par>
                          <p:cTn id="23" fill="hold" nodeType="afterGroup">
                            <p:stCondLst>
                              <p:cond delay="500"/>
                            </p:stCondLst>
                            <p:childTnLst>
                              <p:par>
                                <p:cTn id="24" presetID="22" presetClass="entr" presetSubtype="1" fill="hold"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up)">
                                      <p:cBhvr>
                                        <p:cTn id="26" dur="500"/>
                                        <p:tgtEl>
                                          <p:spTgt spid="19"/>
                                        </p:tgtEl>
                                      </p:cBhvr>
                                    </p:animEffect>
                                  </p:childTnLst>
                                </p:cTn>
                              </p:par>
                            </p:childTnLst>
                          </p:cTn>
                        </p:par>
                        <p:par>
                          <p:cTn id="27" fill="hold" nodeType="afterGroup">
                            <p:stCondLst>
                              <p:cond delay="1000"/>
                            </p:stCondLst>
                            <p:childTnLst>
                              <p:par>
                                <p:cTn id="28" presetID="22" presetClass="entr" presetSubtype="1" fill="hold" nodeType="after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up)">
                                      <p:cBhvr>
                                        <p:cTn id="3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6"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E2600C3-AF41-064B-9C45-9DEFDCC8760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2070100"/>
            <a:ext cx="31750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a16="http://schemas.microsoft.com/office/drawing/2014/main" id="{FB093848-9FCE-6542-A95F-0C3E9CE07CB9}"/>
              </a:ext>
            </a:extLst>
          </p:cNvPr>
          <p:cNvSpPr>
            <a:spLocks noGrp="1" noChangeArrowheads="1"/>
          </p:cNvSpPr>
          <p:nvPr>
            <p:ph type="title"/>
          </p:nvPr>
        </p:nvSpPr>
        <p:spPr bwMode="auto">
          <a:xfrm>
            <a:off x="457200" y="990600"/>
            <a:ext cx="45720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en-US" altLang="zh-CN" sz="3200" kern="1200" dirty="0">
                <a:solidFill>
                  <a:srgbClr val="FF0000"/>
                </a:solidFill>
                <a:latin typeface="黑体" panose="02010609060101010101" pitchFamily="49" charset="-122"/>
                <a:ea typeface="黑体" panose="02010609060101010101" pitchFamily="49" charset="-122"/>
                <a:cs typeface="+mn-cs"/>
              </a:rPr>
              <a:t>A</a:t>
            </a:r>
            <a:r>
              <a:rPr kumimoji="1" lang="zh-CN" altLang="en-US" sz="3200" kern="1200" dirty="0">
                <a:solidFill>
                  <a:srgbClr val="FF0000"/>
                </a:solidFill>
                <a:latin typeface="黑体" panose="02010609060101010101" pitchFamily="49" charset="-122"/>
                <a:ea typeface="黑体" panose="02010609060101010101" pitchFamily="49" charset="-122"/>
                <a:cs typeface="+mn-cs"/>
              </a:rPr>
              <a:t>．口令机制 </a:t>
            </a:r>
          </a:p>
        </p:txBody>
      </p:sp>
      <p:sp>
        <p:nvSpPr>
          <p:cNvPr id="49155" name="矩形 4">
            <a:extLst>
              <a:ext uri="{FF2B5EF4-FFF2-40B4-BE49-F238E27FC236}">
                <a16:creationId xmlns:a16="http://schemas.microsoft.com/office/drawing/2014/main" id="{4D6C97F5-1563-B943-BB5D-3AC5F9271366}"/>
              </a:ext>
            </a:extLst>
          </p:cNvPr>
          <p:cNvSpPr>
            <a:spLocks noChangeArrowheads="1"/>
          </p:cNvSpPr>
          <p:nvPr/>
        </p:nvSpPr>
        <p:spPr bwMode="auto">
          <a:xfrm>
            <a:off x="1066800" y="4724400"/>
            <a:ext cx="3830638" cy="479425"/>
          </a:xfrm>
          <a:prstGeom prst="rect">
            <a:avLst/>
          </a:prstGeom>
          <a:noFill/>
          <a:ln>
            <a:noFill/>
          </a:ln>
        </p:spPr>
        <p:txBody>
          <a:bodyPr>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371600" indent="-4572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2" eaLnBrk="1" hangingPunct="1">
              <a:lnSpc>
                <a:spcPct val="90000"/>
              </a:lnSpc>
              <a:buFont typeface="Wingdings" pitchFamily="2" charset="2"/>
              <a:buChar char="n"/>
              <a:defRPr/>
            </a:pP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重放攻击</a:t>
            </a:r>
          </a:p>
        </p:txBody>
      </p:sp>
      <p:sp>
        <p:nvSpPr>
          <p:cNvPr id="2" name="矩形 1">
            <a:extLst>
              <a:ext uri="{FF2B5EF4-FFF2-40B4-BE49-F238E27FC236}">
                <a16:creationId xmlns:a16="http://schemas.microsoft.com/office/drawing/2014/main" id="{D41BCCA4-3B5C-CB43-BBAB-FB81C205B1B0}"/>
              </a:ext>
            </a:extLst>
          </p:cNvPr>
          <p:cNvSpPr/>
          <p:nvPr/>
        </p:nvSpPr>
        <p:spPr>
          <a:xfrm>
            <a:off x="838200" y="1722438"/>
            <a:ext cx="7315200" cy="584200"/>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defRPr/>
            </a:pPr>
            <a:r>
              <a:rPr lang="zh-CN" altLang="en-US" sz="32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口令机制（系统）有许多脆弱点</a:t>
            </a:r>
            <a:endPar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3" name="矩形 2">
            <a:extLst>
              <a:ext uri="{FF2B5EF4-FFF2-40B4-BE49-F238E27FC236}">
                <a16:creationId xmlns:a16="http://schemas.microsoft.com/office/drawing/2014/main" id="{60AD9917-2A8C-1549-A526-EC24EF4719C9}"/>
              </a:ext>
            </a:extLst>
          </p:cNvPr>
          <p:cNvSpPr/>
          <p:nvPr/>
        </p:nvSpPr>
        <p:spPr>
          <a:xfrm>
            <a:off x="1066800" y="2562225"/>
            <a:ext cx="3810000" cy="481013"/>
          </a:xfrm>
          <a:prstGeom prst="rect">
            <a:avLst/>
          </a:prstGeom>
        </p:spPr>
        <p:txBody>
          <a:bodyPr>
            <a:spAutoFit/>
          </a:bodyPr>
          <a:lstStyle/>
          <a:p>
            <a:pPr marL="1371600" lvl="2" indent="-457200" eaLnBrk="1" hangingPunct="1">
              <a:lnSpc>
                <a:spcPct val="90000"/>
              </a:lnSpc>
              <a:buFont typeface="Wingdings" panose="05000000000000000000" pitchFamily="2" charset="2"/>
              <a:buChar char="n"/>
              <a:defRPr/>
            </a:pPr>
            <a:r>
              <a:rPr lang="zh-CN" altLang="en-US" sz="2800" dirty="0">
                <a:solidFill>
                  <a:schemeClr val="bg2"/>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外部泄露</a:t>
            </a:r>
            <a:endParaRPr lang="en-US" altLang="zh-CN" sz="2800" dirty="0">
              <a:solidFill>
                <a:schemeClr val="bg2"/>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5" name="矩形 4">
            <a:extLst>
              <a:ext uri="{FF2B5EF4-FFF2-40B4-BE49-F238E27FC236}">
                <a16:creationId xmlns:a16="http://schemas.microsoft.com/office/drawing/2014/main" id="{4A1D6622-51C3-3644-A244-82FA51E8A5AD}"/>
              </a:ext>
            </a:extLst>
          </p:cNvPr>
          <p:cNvSpPr/>
          <p:nvPr/>
        </p:nvSpPr>
        <p:spPr>
          <a:xfrm>
            <a:off x="1066800" y="3060700"/>
            <a:ext cx="3013075" cy="481013"/>
          </a:xfrm>
          <a:prstGeom prst="rect">
            <a:avLst/>
          </a:prstGeom>
        </p:spPr>
        <p:txBody>
          <a:bodyPr wrap="none">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371600" indent="-4572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2" eaLnBrk="1" hangingPunct="1">
              <a:lnSpc>
                <a:spcPct val="90000"/>
              </a:lnSpc>
              <a:buFont typeface="Wingdings" pitchFamily="2" charset="2"/>
              <a:buChar char="n"/>
              <a:defRPr/>
            </a:pP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口令猜测</a:t>
            </a:r>
            <a:endParaRPr lang="en-US" altLang="zh-CN"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E1D0A2FD-7D80-134B-9B2E-E34FFBFC7F49}"/>
              </a:ext>
            </a:extLst>
          </p:cNvPr>
          <p:cNvSpPr/>
          <p:nvPr/>
        </p:nvSpPr>
        <p:spPr>
          <a:xfrm>
            <a:off x="1066800" y="3560763"/>
            <a:ext cx="3013075" cy="479425"/>
          </a:xfrm>
          <a:prstGeom prst="rect">
            <a:avLst/>
          </a:prstGeom>
        </p:spPr>
        <p:txBody>
          <a:bodyPr wrap="none">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371600" indent="-4572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2" eaLnBrk="1" hangingPunct="1">
              <a:lnSpc>
                <a:spcPct val="90000"/>
              </a:lnSpc>
              <a:buFont typeface="Wingdings" pitchFamily="2" charset="2"/>
              <a:buChar char="n"/>
              <a:defRPr/>
            </a:pP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线路窃听</a:t>
            </a:r>
            <a:endParaRPr lang="en-US" altLang="zh-CN"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7" name="矩形 6">
            <a:extLst>
              <a:ext uri="{FF2B5EF4-FFF2-40B4-BE49-F238E27FC236}">
                <a16:creationId xmlns:a16="http://schemas.microsoft.com/office/drawing/2014/main" id="{E38EA091-D61B-D54A-A34D-DDB9FD34316B}"/>
              </a:ext>
            </a:extLst>
          </p:cNvPr>
          <p:cNvSpPr/>
          <p:nvPr/>
        </p:nvSpPr>
        <p:spPr>
          <a:xfrm>
            <a:off x="1071563" y="4132263"/>
            <a:ext cx="3371850" cy="479425"/>
          </a:xfrm>
          <a:prstGeom prst="rect">
            <a:avLst/>
          </a:prstGeom>
        </p:spPr>
        <p:txBody>
          <a:bodyPr wrap="none">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371600" indent="-4572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2" eaLnBrk="1" hangingPunct="1">
              <a:lnSpc>
                <a:spcPct val="90000"/>
              </a:lnSpc>
              <a:buFont typeface="Wingdings" pitchFamily="2" charset="2"/>
              <a:buChar char="n"/>
              <a:defRPr/>
            </a:pP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危及验证者</a:t>
            </a:r>
            <a:endParaRPr lang="en-US" altLang="zh-CN"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31"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1000" fill="hold"/>
                                        <p:tgtEl>
                                          <p:spTgt spid="9"/>
                                        </p:tgtEl>
                                        <p:attrNameLst>
                                          <p:attrName>ppt_w</p:attrName>
                                        </p:attrNameLst>
                                      </p:cBhvr>
                                      <p:tavLst>
                                        <p:tav tm="0">
                                          <p:val>
                                            <p:fltVal val="0"/>
                                          </p:val>
                                        </p:tav>
                                        <p:tav tm="100000">
                                          <p:val>
                                            <p:strVal val="#ppt_w"/>
                                          </p:val>
                                        </p:tav>
                                      </p:tavLst>
                                    </p:anim>
                                    <p:anim calcmode="lin" valueType="num">
                                      <p:cBhvr>
                                        <p:cTn id="14" dur="1000" fill="hold"/>
                                        <p:tgtEl>
                                          <p:spTgt spid="9"/>
                                        </p:tgtEl>
                                        <p:attrNameLst>
                                          <p:attrName>ppt_h</p:attrName>
                                        </p:attrNameLst>
                                      </p:cBhvr>
                                      <p:tavLst>
                                        <p:tav tm="0">
                                          <p:val>
                                            <p:fltVal val="0"/>
                                          </p:val>
                                        </p:tav>
                                        <p:tav tm="100000">
                                          <p:val>
                                            <p:strVal val="#ppt_h"/>
                                          </p:val>
                                        </p:tav>
                                      </p:tavLst>
                                    </p:anim>
                                    <p:anim calcmode="lin" valueType="num">
                                      <p:cBhvr>
                                        <p:cTn id="15" dur="1000" fill="hold"/>
                                        <p:tgtEl>
                                          <p:spTgt spid="9"/>
                                        </p:tgtEl>
                                        <p:attrNameLst>
                                          <p:attrName>style.rotation</p:attrName>
                                        </p:attrNameLst>
                                      </p:cBhvr>
                                      <p:tavLst>
                                        <p:tav tm="0">
                                          <p:val>
                                            <p:fltVal val="90"/>
                                          </p:val>
                                        </p:tav>
                                        <p:tav tm="100000">
                                          <p:val>
                                            <p:fltVal val="0"/>
                                          </p:val>
                                        </p:tav>
                                      </p:tavLst>
                                    </p:anim>
                                    <p:animEffect transition="in" filter="fade">
                                      <p:cBhvr>
                                        <p:cTn id="16" dur="1000"/>
                                        <p:tgtEl>
                                          <p:spTgt spid="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fltVal val="0"/>
                                          </p:val>
                                        </p:tav>
                                        <p:tav tm="100000">
                                          <p:val>
                                            <p:strVal val="#ppt_h"/>
                                          </p:val>
                                        </p:tav>
                                      </p:tavLst>
                                    </p:anim>
                                    <p:animEffect transition="in" filter="fade">
                                      <p:cBhvr>
                                        <p:cTn id="23" dur="500"/>
                                        <p:tgtEl>
                                          <p:spTgt spid="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fltVal val="0"/>
                                          </p:val>
                                        </p:tav>
                                        <p:tav tm="100000">
                                          <p:val>
                                            <p:strVal val="#ppt_h"/>
                                          </p:val>
                                        </p:tav>
                                      </p:tavLst>
                                    </p:anim>
                                    <p:animEffect transition="in" filter="fade">
                                      <p:cBhvr>
                                        <p:cTn id="37" dur="500"/>
                                        <p:tgtEl>
                                          <p:spTgt spid="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p:cTn id="42" dur="500" fill="hold"/>
                                        <p:tgtEl>
                                          <p:spTgt spid="7"/>
                                        </p:tgtEl>
                                        <p:attrNameLst>
                                          <p:attrName>ppt_w</p:attrName>
                                        </p:attrNameLst>
                                      </p:cBhvr>
                                      <p:tavLst>
                                        <p:tav tm="0">
                                          <p:val>
                                            <p:fltVal val="0"/>
                                          </p:val>
                                        </p:tav>
                                        <p:tav tm="100000">
                                          <p:val>
                                            <p:strVal val="#ppt_w"/>
                                          </p:val>
                                        </p:tav>
                                      </p:tavLst>
                                    </p:anim>
                                    <p:anim calcmode="lin" valueType="num">
                                      <p:cBhvr>
                                        <p:cTn id="43" dur="500" fill="hold"/>
                                        <p:tgtEl>
                                          <p:spTgt spid="7"/>
                                        </p:tgtEl>
                                        <p:attrNameLst>
                                          <p:attrName>ppt_h</p:attrName>
                                        </p:attrNameLst>
                                      </p:cBhvr>
                                      <p:tavLst>
                                        <p:tav tm="0">
                                          <p:val>
                                            <p:fltVal val="0"/>
                                          </p:val>
                                        </p:tav>
                                        <p:tav tm="100000">
                                          <p:val>
                                            <p:strVal val="#ppt_h"/>
                                          </p:val>
                                        </p:tav>
                                      </p:tavLst>
                                    </p:anim>
                                    <p:animEffect transition="in" filter="fade">
                                      <p:cBhvr>
                                        <p:cTn id="44" dur="500"/>
                                        <p:tgtEl>
                                          <p:spTgt spid="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49155"/>
                                        </p:tgtEl>
                                        <p:attrNameLst>
                                          <p:attrName>style.visibility</p:attrName>
                                        </p:attrNameLst>
                                      </p:cBhvr>
                                      <p:to>
                                        <p:strVal val="visible"/>
                                      </p:to>
                                    </p:set>
                                    <p:anim calcmode="lin" valueType="num">
                                      <p:cBhvr>
                                        <p:cTn id="49" dur="500" fill="hold"/>
                                        <p:tgtEl>
                                          <p:spTgt spid="49155"/>
                                        </p:tgtEl>
                                        <p:attrNameLst>
                                          <p:attrName>ppt_w</p:attrName>
                                        </p:attrNameLst>
                                      </p:cBhvr>
                                      <p:tavLst>
                                        <p:tav tm="0">
                                          <p:val>
                                            <p:fltVal val="0"/>
                                          </p:val>
                                        </p:tav>
                                        <p:tav tm="100000">
                                          <p:val>
                                            <p:strVal val="#ppt_w"/>
                                          </p:val>
                                        </p:tav>
                                      </p:tavLst>
                                    </p:anim>
                                    <p:anim calcmode="lin" valueType="num">
                                      <p:cBhvr>
                                        <p:cTn id="50" dur="500" fill="hold"/>
                                        <p:tgtEl>
                                          <p:spTgt spid="49155"/>
                                        </p:tgtEl>
                                        <p:attrNameLst>
                                          <p:attrName>ppt_h</p:attrName>
                                        </p:attrNameLst>
                                      </p:cBhvr>
                                      <p:tavLst>
                                        <p:tav tm="0">
                                          <p:val>
                                            <p:fltVal val="0"/>
                                          </p:val>
                                        </p:tav>
                                        <p:tav tm="100000">
                                          <p:val>
                                            <p:strVal val="#ppt_h"/>
                                          </p:val>
                                        </p:tav>
                                      </p:tavLst>
                                    </p:anim>
                                    <p:animEffect transition="in" filter="fade">
                                      <p:cBhvr>
                                        <p:cTn id="51" dur="500"/>
                                        <p:tgtEl>
                                          <p:spTgt spid="49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p:bldP spid="2" grpId="0"/>
      <p:bldP spid="3" grpId="0"/>
      <p:bldP spid="5" grpId="0"/>
      <p:bldP spid="6" grpId="0"/>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9090" name="Rectangle 2">
            <a:extLst>
              <a:ext uri="{FF2B5EF4-FFF2-40B4-BE49-F238E27FC236}">
                <a16:creationId xmlns:a16="http://schemas.microsoft.com/office/drawing/2014/main" id="{2F5FA7C2-F5D7-E54D-8015-34AD69D7A955}"/>
              </a:ext>
            </a:extLst>
          </p:cNvPr>
          <p:cNvSpPr>
            <a:spLocks noGrp="1" noChangeArrowheads="1"/>
          </p:cNvSpPr>
          <p:nvPr>
            <p:ph type="title"/>
          </p:nvPr>
        </p:nvSpPr>
        <p:spPr bwMode="auto">
          <a:xfrm>
            <a:off x="381000" y="838200"/>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a:solidFill>
                  <a:srgbClr val="0000FF"/>
                </a:solidFill>
                <a:latin typeface="黑体" panose="02010609060101010101" pitchFamily="49" charset="-122"/>
                <a:ea typeface="黑体" panose="02010609060101010101" pitchFamily="49" charset="-122"/>
              </a:rPr>
              <a:t>对付外部泄露的措施</a:t>
            </a:r>
          </a:p>
        </p:txBody>
      </p:sp>
      <p:sp>
        <p:nvSpPr>
          <p:cNvPr id="1369091" name="Rectangle 3">
            <a:extLst>
              <a:ext uri="{FF2B5EF4-FFF2-40B4-BE49-F238E27FC236}">
                <a16:creationId xmlns:a16="http://schemas.microsoft.com/office/drawing/2014/main" id="{DDE1E88B-A5D5-6744-BFEA-FDF70DCC3D91}"/>
              </a:ext>
            </a:extLst>
          </p:cNvPr>
          <p:cNvSpPr>
            <a:spLocks noGrp="1" noChangeArrowheads="1"/>
          </p:cNvSpPr>
          <p:nvPr>
            <p:ph type="body" idx="1"/>
          </p:nvPr>
        </p:nvSpPr>
        <p:spPr bwMode="auto">
          <a:xfrm>
            <a:off x="685800" y="1752600"/>
            <a:ext cx="7086600" cy="34290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教育、培训；</a:t>
            </a:r>
          </a:p>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严格组织管理办法和执行手续；</a:t>
            </a:r>
          </a:p>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口令定期改变；</a:t>
            </a:r>
          </a:p>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每个口令只与一个人有关；</a:t>
            </a:r>
          </a:p>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输入的口令不再现在终端上；</a:t>
            </a:r>
          </a:p>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使用易记的口令，不要写在纸上。</a:t>
            </a:r>
          </a:p>
        </p:txBody>
      </p:sp>
      <p:pic>
        <p:nvPicPr>
          <p:cNvPr id="50179" name="图片 1">
            <a:extLst>
              <a:ext uri="{FF2B5EF4-FFF2-40B4-BE49-F238E27FC236}">
                <a16:creationId xmlns:a16="http://schemas.microsoft.com/office/drawing/2014/main" id="{C5D83EEF-97C4-2D4B-B525-3BC34DCC696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1447800"/>
            <a:ext cx="2667000"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69091">
                                            <p:bg/>
                                          </p:spTgt>
                                        </p:tgtEl>
                                        <p:attrNameLst>
                                          <p:attrName>style.visibility</p:attrName>
                                        </p:attrNameLst>
                                      </p:cBhvr>
                                      <p:to>
                                        <p:strVal val="visible"/>
                                      </p:to>
                                    </p:set>
                                    <p:anim calcmode="lin" valueType="num">
                                      <p:cBhvr>
                                        <p:cTn id="7" dur="500" fill="hold"/>
                                        <p:tgtEl>
                                          <p:spTgt spid="1369091">
                                            <p:bg/>
                                          </p:spTgt>
                                        </p:tgtEl>
                                        <p:attrNameLst>
                                          <p:attrName>ppt_w</p:attrName>
                                        </p:attrNameLst>
                                      </p:cBhvr>
                                      <p:tavLst>
                                        <p:tav tm="0">
                                          <p:val>
                                            <p:fltVal val="0"/>
                                          </p:val>
                                        </p:tav>
                                        <p:tav tm="100000">
                                          <p:val>
                                            <p:strVal val="#ppt_w"/>
                                          </p:val>
                                        </p:tav>
                                      </p:tavLst>
                                    </p:anim>
                                    <p:anim calcmode="lin" valueType="num">
                                      <p:cBhvr>
                                        <p:cTn id="8" dur="500" fill="hold"/>
                                        <p:tgtEl>
                                          <p:spTgt spid="1369091">
                                            <p:bg/>
                                          </p:spTgt>
                                        </p:tgtEl>
                                        <p:attrNameLst>
                                          <p:attrName>ppt_h</p:attrName>
                                        </p:attrNameLst>
                                      </p:cBhvr>
                                      <p:tavLst>
                                        <p:tav tm="0">
                                          <p:val>
                                            <p:fltVal val="0"/>
                                          </p:val>
                                        </p:tav>
                                        <p:tav tm="100000">
                                          <p:val>
                                            <p:strVal val="#ppt_h"/>
                                          </p:val>
                                        </p:tav>
                                      </p:tavLst>
                                    </p:anim>
                                    <p:animEffect transition="in" filter="fade">
                                      <p:cBhvr>
                                        <p:cTn id="9" dur="500"/>
                                        <p:tgtEl>
                                          <p:spTgt spid="1369091">
                                            <p:bg/>
                                          </p:spTgt>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369091">
                                            <p:txEl>
                                              <p:pRg st="0" end="0"/>
                                            </p:txEl>
                                          </p:spTgt>
                                        </p:tgtEl>
                                        <p:attrNameLst>
                                          <p:attrName>style.visibility</p:attrName>
                                        </p:attrNameLst>
                                      </p:cBhvr>
                                      <p:to>
                                        <p:strVal val="visible"/>
                                      </p:to>
                                    </p:set>
                                    <p:anim calcmode="lin" valueType="num">
                                      <p:cBhvr>
                                        <p:cTn id="13" dur="500" fill="hold"/>
                                        <p:tgtEl>
                                          <p:spTgt spid="1369091">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369091">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1369091">
                                            <p:txEl>
                                              <p:pRg st="0" end="0"/>
                                            </p:txEl>
                                          </p:spTgt>
                                        </p:tgtEl>
                                      </p:cBhvr>
                                    </p:animEffect>
                                  </p:childTnLst>
                                </p:cTn>
                              </p:par>
                            </p:childTnLst>
                          </p:cTn>
                        </p:par>
                        <p:par>
                          <p:cTn id="16" fill="hold" nodeType="afterGroup">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369091">
                                            <p:txEl>
                                              <p:pRg st="1" end="1"/>
                                            </p:txEl>
                                          </p:spTgt>
                                        </p:tgtEl>
                                        <p:attrNameLst>
                                          <p:attrName>style.visibility</p:attrName>
                                        </p:attrNameLst>
                                      </p:cBhvr>
                                      <p:to>
                                        <p:strVal val="visible"/>
                                      </p:to>
                                    </p:set>
                                    <p:anim calcmode="lin" valueType="num">
                                      <p:cBhvr>
                                        <p:cTn id="19" dur="500" fill="hold"/>
                                        <p:tgtEl>
                                          <p:spTgt spid="1369091">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1369091">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1369091">
                                            <p:txEl>
                                              <p:pRg st="1" end="1"/>
                                            </p:txEl>
                                          </p:spTgt>
                                        </p:tgtEl>
                                      </p:cBhvr>
                                    </p:animEffect>
                                  </p:childTnLst>
                                </p:cTn>
                              </p:par>
                            </p:childTnLst>
                          </p:cTn>
                        </p:par>
                        <p:par>
                          <p:cTn id="22" fill="hold" nodeType="afterGroup">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1369091">
                                            <p:txEl>
                                              <p:pRg st="2" end="2"/>
                                            </p:txEl>
                                          </p:spTgt>
                                        </p:tgtEl>
                                        <p:attrNameLst>
                                          <p:attrName>style.visibility</p:attrName>
                                        </p:attrNameLst>
                                      </p:cBhvr>
                                      <p:to>
                                        <p:strVal val="visible"/>
                                      </p:to>
                                    </p:set>
                                    <p:anim calcmode="lin" valueType="num">
                                      <p:cBhvr>
                                        <p:cTn id="25" dur="500" fill="hold"/>
                                        <p:tgtEl>
                                          <p:spTgt spid="1369091">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369091">
                                            <p:txEl>
                                              <p:pRg st="2" end="2"/>
                                            </p:txEl>
                                          </p:spTgt>
                                        </p:tgtEl>
                                        <p:attrNameLst>
                                          <p:attrName>ppt_h</p:attrName>
                                        </p:attrNameLst>
                                      </p:cBhvr>
                                      <p:tavLst>
                                        <p:tav tm="0">
                                          <p:val>
                                            <p:fltVal val="0"/>
                                          </p:val>
                                        </p:tav>
                                        <p:tav tm="100000">
                                          <p:val>
                                            <p:strVal val="#ppt_h"/>
                                          </p:val>
                                        </p:tav>
                                      </p:tavLst>
                                    </p:anim>
                                    <p:animEffect transition="in" filter="fade">
                                      <p:cBhvr>
                                        <p:cTn id="27" dur="500"/>
                                        <p:tgtEl>
                                          <p:spTgt spid="1369091">
                                            <p:txEl>
                                              <p:pRg st="2" end="2"/>
                                            </p:txEl>
                                          </p:spTgt>
                                        </p:tgtEl>
                                      </p:cBhvr>
                                    </p:animEffect>
                                  </p:childTnLst>
                                </p:cTn>
                              </p:par>
                            </p:childTnLst>
                          </p:cTn>
                        </p:par>
                        <p:par>
                          <p:cTn id="28" fill="hold" nodeType="afterGroup">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1369091">
                                            <p:txEl>
                                              <p:pRg st="3" end="3"/>
                                            </p:txEl>
                                          </p:spTgt>
                                        </p:tgtEl>
                                        <p:attrNameLst>
                                          <p:attrName>style.visibility</p:attrName>
                                        </p:attrNameLst>
                                      </p:cBhvr>
                                      <p:to>
                                        <p:strVal val="visible"/>
                                      </p:to>
                                    </p:set>
                                    <p:anim calcmode="lin" valueType="num">
                                      <p:cBhvr>
                                        <p:cTn id="31" dur="500" fill="hold"/>
                                        <p:tgtEl>
                                          <p:spTgt spid="1369091">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1369091">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1369091">
                                            <p:txEl>
                                              <p:pRg st="3" end="3"/>
                                            </p:txEl>
                                          </p:spTgt>
                                        </p:tgtEl>
                                      </p:cBhvr>
                                    </p:animEffect>
                                  </p:childTnLst>
                                </p:cTn>
                              </p:par>
                            </p:childTnLst>
                          </p:cTn>
                        </p:par>
                        <p:par>
                          <p:cTn id="34" fill="hold" nodeType="afterGroup">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1369091">
                                            <p:txEl>
                                              <p:pRg st="4" end="4"/>
                                            </p:txEl>
                                          </p:spTgt>
                                        </p:tgtEl>
                                        <p:attrNameLst>
                                          <p:attrName>style.visibility</p:attrName>
                                        </p:attrNameLst>
                                      </p:cBhvr>
                                      <p:to>
                                        <p:strVal val="visible"/>
                                      </p:to>
                                    </p:set>
                                    <p:anim calcmode="lin" valueType="num">
                                      <p:cBhvr>
                                        <p:cTn id="37" dur="500" fill="hold"/>
                                        <p:tgtEl>
                                          <p:spTgt spid="1369091">
                                            <p:txEl>
                                              <p:pRg st="4" end="4"/>
                                            </p:txEl>
                                          </p:spTgt>
                                        </p:tgtEl>
                                        <p:attrNameLst>
                                          <p:attrName>ppt_w</p:attrName>
                                        </p:attrNameLst>
                                      </p:cBhvr>
                                      <p:tavLst>
                                        <p:tav tm="0">
                                          <p:val>
                                            <p:fltVal val="0"/>
                                          </p:val>
                                        </p:tav>
                                        <p:tav tm="100000">
                                          <p:val>
                                            <p:strVal val="#ppt_w"/>
                                          </p:val>
                                        </p:tav>
                                      </p:tavLst>
                                    </p:anim>
                                    <p:anim calcmode="lin" valueType="num">
                                      <p:cBhvr>
                                        <p:cTn id="38" dur="500" fill="hold"/>
                                        <p:tgtEl>
                                          <p:spTgt spid="1369091">
                                            <p:txEl>
                                              <p:pRg st="4" end="4"/>
                                            </p:txEl>
                                          </p:spTgt>
                                        </p:tgtEl>
                                        <p:attrNameLst>
                                          <p:attrName>ppt_h</p:attrName>
                                        </p:attrNameLst>
                                      </p:cBhvr>
                                      <p:tavLst>
                                        <p:tav tm="0">
                                          <p:val>
                                            <p:fltVal val="0"/>
                                          </p:val>
                                        </p:tav>
                                        <p:tav tm="100000">
                                          <p:val>
                                            <p:strVal val="#ppt_h"/>
                                          </p:val>
                                        </p:tav>
                                      </p:tavLst>
                                    </p:anim>
                                    <p:animEffect transition="in" filter="fade">
                                      <p:cBhvr>
                                        <p:cTn id="39" dur="500"/>
                                        <p:tgtEl>
                                          <p:spTgt spid="1369091">
                                            <p:txEl>
                                              <p:pRg st="4" end="4"/>
                                            </p:txEl>
                                          </p:spTgt>
                                        </p:tgtEl>
                                      </p:cBhvr>
                                    </p:animEffect>
                                  </p:childTnLst>
                                </p:cTn>
                              </p:par>
                            </p:childTnLst>
                          </p:cTn>
                        </p:par>
                        <p:par>
                          <p:cTn id="40" fill="hold" nodeType="afterGroup">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1369091">
                                            <p:txEl>
                                              <p:pRg st="5" end="5"/>
                                            </p:txEl>
                                          </p:spTgt>
                                        </p:tgtEl>
                                        <p:attrNameLst>
                                          <p:attrName>style.visibility</p:attrName>
                                        </p:attrNameLst>
                                      </p:cBhvr>
                                      <p:to>
                                        <p:strVal val="visible"/>
                                      </p:to>
                                    </p:set>
                                    <p:anim calcmode="lin" valueType="num">
                                      <p:cBhvr>
                                        <p:cTn id="43" dur="500" fill="hold"/>
                                        <p:tgtEl>
                                          <p:spTgt spid="1369091">
                                            <p:txEl>
                                              <p:pRg st="5" end="5"/>
                                            </p:txEl>
                                          </p:spTgt>
                                        </p:tgtEl>
                                        <p:attrNameLst>
                                          <p:attrName>ppt_w</p:attrName>
                                        </p:attrNameLst>
                                      </p:cBhvr>
                                      <p:tavLst>
                                        <p:tav tm="0">
                                          <p:val>
                                            <p:fltVal val="0"/>
                                          </p:val>
                                        </p:tav>
                                        <p:tav tm="100000">
                                          <p:val>
                                            <p:strVal val="#ppt_w"/>
                                          </p:val>
                                        </p:tav>
                                      </p:tavLst>
                                    </p:anim>
                                    <p:anim calcmode="lin" valueType="num">
                                      <p:cBhvr>
                                        <p:cTn id="44" dur="500" fill="hold"/>
                                        <p:tgtEl>
                                          <p:spTgt spid="1369091">
                                            <p:txEl>
                                              <p:pRg st="5" end="5"/>
                                            </p:txEl>
                                          </p:spTgt>
                                        </p:tgtEl>
                                        <p:attrNameLst>
                                          <p:attrName>ppt_h</p:attrName>
                                        </p:attrNameLst>
                                      </p:cBhvr>
                                      <p:tavLst>
                                        <p:tav tm="0">
                                          <p:val>
                                            <p:fltVal val="0"/>
                                          </p:val>
                                        </p:tav>
                                        <p:tav tm="100000">
                                          <p:val>
                                            <p:strVal val="#ppt_h"/>
                                          </p:val>
                                        </p:tav>
                                      </p:tavLst>
                                    </p:anim>
                                    <p:animEffect transition="in" filter="fade">
                                      <p:cBhvr>
                                        <p:cTn id="45" dur="500"/>
                                        <p:tgtEl>
                                          <p:spTgt spid="13690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9091" grpId="0" build="p"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0114" name="Rectangle 2">
            <a:extLst>
              <a:ext uri="{FF2B5EF4-FFF2-40B4-BE49-F238E27FC236}">
                <a16:creationId xmlns:a16="http://schemas.microsoft.com/office/drawing/2014/main" id="{2DB9E903-57FB-F549-ABD4-4AB1FFFF41E2}"/>
              </a:ext>
            </a:extLst>
          </p:cNvPr>
          <p:cNvSpPr>
            <a:spLocks noGrp="1" noChangeArrowheads="1"/>
          </p:cNvSpPr>
          <p:nvPr>
            <p:ph type="title"/>
          </p:nvPr>
        </p:nvSpPr>
        <p:spPr bwMode="auto">
          <a:xfrm>
            <a:off x="457200" y="838200"/>
            <a:ext cx="6172200" cy="6556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a:solidFill>
                  <a:srgbClr val="0000FF"/>
                </a:solidFill>
                <a:latin typeface="黑体" panose="02010609060101010101" pitchFamily="49" charset="-122"/>
                <a:ea typeface="黑体" panose="02010609060101010101" pitchFamily="49" charset="-122"/>
              </a:rPr>
              <a:t>对付口令猜测的措施</a:t>
            </a:r>
          </a:p>
        </p:txBody>
      </p:sp>
      <p:sp>
        <p:nvSpPr>
          <p:cNvPr id="1370115" name="Rectangle 3">
            <a:extLst>
              <a:ext uri="{FF2B5EF4-FFF2-40B4-BE49-F238E27FC236}">
                <a16:creationId xmlns:a16="http://schemas.microsoft.com/office/drawing/2014/main" id="{C0729923-5FAA-064E-8154-183FE8F34D94}"/>
              </a:ext>
            </a:extLst>
          </p:cNvPr>
          <p:cNvSpPr>
            <a:spLocks noGrp="1" noChangeArrowheads="1"/>
          </p:cNvSpPr>
          <p:nvPr>
            <p:ph type="body" idx="1"/>
          </p:nvPr>
        </p:nvSpPr>
        <p:spPr bwMode="auto">
          <a:xfrm>
            <a:off x="914400" y="1600200"/>
            <a:ext cx="6172200" cy="4525963"/>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教育、培训；</a:t>
            </a:r>
          </a:p>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严格限制非法登录的次数；</a:t>
            </a:r>
          </a:p>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口令验证中插入实时延迟；</a:t>
            </a:r>
          </a:p>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限制最小长度，至少</a:t>
            </a:r>
            <a:r>
              <a:rPr lang="en-US" altLang="zh-CN" sz="2800">
                <a:solidFill>
                  <a:schemeClr val="bg2"/>
                </a:solidFill>
                <a:latin typeface="黑体" panose="02010609060101010101" pitchFamily="49" charset="-122"/>
                <a:ea typeface="黑体" panose="02010609060101010101" pitchFamily="49" charset="-122"/>
              </a:rPr>
              <a:t>6~8</a:t>
            </a:r>
            <a:r>
              <a:rPr lang="zh-CN" altLang="en-US" sz="2800">
                <a:solidFill>
                  <a:schemeClr val="bg2"/>
                </a:solidFill>
                <a:latin typeface="黑体" panose="02010609060101010101" pitchFamily="49" charset="-122"/>
                <a:ea typeface="黑体" panose="02010609060101010101" pitchFamily="49" charset="-122"/>
              </a:rPr>
              <a:t>字符以上</a:t>
            </a:r>
          </a:p>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防止用户特征相关口令，</a:t>
            </a:r>
          </a:p>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口令定期改变；</a:t>
            </a:r>
          </a:p>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及时更改预设口令；</a:t>
            </a:r>
          </a:p>
          <a:p>
            <a:pPr eaLnBrk="1" hangingPunct="1">
              <a:buClr>
                <a:srgbClr val="A3651C"/>
              </a:buClr>
              <a:buFont typeface="Wingdings" pitchFamily="2" charset="2"/>
              <a:buChar char="u"/>
              <a:defRPr/>
            </a:pPr>
            <a:r>
              <a:rPr lang="zh-CN" altLang="en-US" sz="2800">
                <a:solidFill>
                  <a:schemeClr val="bg2"/>
                </a:solidFill>
                <a:latin typeface="黑体" panose="02010609060101010101" pitchFamily="49" charset="-122"/>
                <a:ea typeface="黑体" panose="02010609060101010101" pitchFamily="49" charset="-122"/>
              </a:rPr>
              <a:t>使用机器产生的口令。</a:t>
            </a:r>
          </a:p>
        </p:txBody>
      </p:sp>
      <p:pic>
        <p:nvPicPr>
          <p:cNvPr id="2" name="图片 1">
            <a:extLst>
              <a:ext uri="{FF2B5EF4-FFF2-40B4-BE49-F238E27FC236}">
                <a16:creationId xmlns:a16="http://schemas.microsoft.com/office/drawing/2014/main" id="{2927AD24-746A-AC4E-BA57-29CA122FDC4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3836988"/>
            <a:ext cx="2678113" cy="233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70115">
                                            <p:bg/>
                                          </p:spTgt>
                                        </p:tgtEl>
                                        <p:attrNameLst>
                                          <p:attrName>style.visibility</p:attrName>
                                        </p:attrNameLst>
                                      </p:cBhvr>
                                      <p:to>
                                        <p:strVal val="visible"/>
                                      </p:to>
                                    </p:set>
                                    <p:anim calcmode="lin" valueType="num">
                                      <p:cBhvr>
                                        <p:cTn id="7" dur="500" fill="hold"/>
                                        <p:tgtEl>
                                          <p:spTgt spid="1370115">
                                            <p:bg/>
                                          </p:spTgt>
                                        </p:tgtEl>
                                        <p:attrNameLst>
                                          <p:attrName>ppt_w</p:attrName>
                                        </p:attrNameLst>
                                      </p:cBhvr>
                                      <p:tavLst>
                                        <p:tav tm="0">
                                          <p:val>
                                            <p:fltVal val="0"/>
                                          </p:val>
                                        </p:tav>
                                        <p:tav tm="100000">
                                          <p:val>
                                            <p:strVal val="#ppt_w"/>
                                          </p:val>
                                        </p:tav>
                                      </p:tavLst>
                                    </p:anim>
                                    <p:anim calcmode="lin" valueType="num">
                                      <p:cBhvr>
                                        <p:cTn id="8" dur="500" fill="hold"/>
                                        <p:tgtEl>
                                          <p:spTgt spid="1370115">
                                            <p:bg/>
                                          </p:spTgt>
                                        </p:tgtEl>
                                        <p:attrNameLst>
                                          <p:attrName>ppt_h</p:attrName>
                                        </p:attrNameLst>
                                      </p:cBhvr>
                                      <p:tavLst>
                                        <p:tav tm="0">
                                          <p:val>
                                            <p:fltVal val="0"/>
                                          </p:val>
                                        </p:tav>
                                        <p:tav tm="100000">
                                          <p:val>
                                            <p:strVal val="#ppt_h"/>
                                          </p:val>
                                        </p:tav>
                                      </p:tavLst>
                                    </p:anim>
                                    <p:animEffect transition="in" filter="fade">
                                      <p:cBhvr>
                                        <p:cTn id="9" dur="500"/>
                                        <p:tgtEl>
                                          <p:spTgt spid="1370115">
                                            <p:bg/>
                                          </p:spTgt>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370115">
                                            <p:txEl>
                                              <p:pRg st="0" end="0"/>
                                            </p:txEl>
                                          </p:spTgt>
                                        </p:tgtEl>
                                        <p:attrNameLst>
                                          <p:attrName>style.visibility</p:attrName>
                                        </p:attrNameLst>
                                      </p:cBhvr>
                                      <p:to>
                                        <p:strVal val="visible"/>
                                      </p:to>
                                    </p:set>
                                    <p:anim calcmode="lin" valueType="num">
                                      <p:cBhvr>
                                        <p:cTn id="13" dur="500" fill="hold"/>
                                        <p:tgtEl>
                                          <p:spTgt spid="1370115">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370115">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1370115">
                                            <p:txEl>
                                              <p:pRg st="0" end="0"/>
                                            </p:txEl>
                                          </p:spTgt>
                                        </p:tgtEl>
                                      </p:cBhvr>
                                    </p:animEffect>
                                  </p:childTnLst>
                                </p:cTn>
                              </p:par>
                            </p:childTnLst>
                          </p:cTn>
                        </p:par>
                        <p:par>
                          <p:cTn id="16" fill="hold" nodeType="afterGroup">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370115">
                                            <p:txEl>
                                              <p:pRg st="1" end="1"/>
                                            </p:txEl>
                                          </p:spTgt>
                                        </p:tgtEl>
                                        <p:attrNameLst>
                                          <p:attrName>style.visibility</p:attrName>
                                        </p:attrNameLst>
                                      </p:cBhvr>
                                      <p:to>
                                        <p:strVal val="visible"/>
                                      </p:to>
                                    </p:set>
                                    <p:anim calcmode="lin" valueType="num">
                                      <p:cBhvr>
                                        <p:cTn id="19" dur="500" fill="hold"/>
                                        <p:tgtEl>
                                          <p:spTgt spid="1370115">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1370115">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1370115">
                                            <p:txEl>
                                              <p:pRg st="1" end="1"/>
                                            </p:txEl>
                                          </p:spTgt>
                                        </p:tgtEl>
                                      </p:cBhvr>
                                    </p:animEffect>
                                  </p:childTnLst>
                                </p:cTn>
                              </p:par>
                            </p:childTnLst>
                          </p:cTn>
                        </p:par>
                        <p:par>
                          <p:cTn id="22" fill="hold" nodeType="afterGroup">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1370115">
                                            <p:txEl>
                                              <p:pRg st="2" end="2"/>
                                            </p:txEl>
                                          </p:spTgt>
                                        </p:tgtEl>
                                        <p:attrNameLst>
                                          <p:attrName>style.visibility</p:attrName>
                                        </p:attrNameLst>
                                      </p:cBhvr>
                                      <p:to>
                                        <p:strVal val="visible"/>
                                      </p:to>
                                    </p:set>
                                    <p:anim calcmode="lin" valueType="num">
                                      <p:cBhvr>
                                        <p:cTn id="25" dur="500" fill="hold"/>
                                        <p:tgtEl>
                                          <p:spTgt spid="1370115">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370115">
                                            <p:txEl>
                                              <p:pRg st="2" end="2"/>
                                            </p:txEl>
                                          </p:spTgt>
                                        </p:tgtEl>
                                        <p:attrNameLst>
                                          <p:attrName>ppt_h</p:attrName>
                                        </p:attrNameLst>
                                      </p:cBhvr>
                                      <p:tavLst>
                                        <p:tav tm="0">
                                          <p:val>
                                            <p:fltVal val="0"/>
                                          </p:val>
                                        </p:tav>
                                        <p:tav tm="100000">
                                          <p:val>
                                            <p:strVal val="#ppt_h"/>
                                          </p:val>
                                        </p:tav>
                                      </p:tavLst>
                                    </p:anim>
                                    <p:animEffect transition="in" filter="fade">
                                      <p:cBhvr>
                                        <p:cTn id="27" dur="500"/>
                                        <p:tgtEl>
                                          <p:spTgt spid="1370115">
                                            <p:txEl>
                                              <p:pRg st="2" end="2"/>
                                            </p:txEl>
                                          </p:spTgt>
                                        </p:tgtEl>
                                      </p:cBhvr>
                                    </p:animEffect>
                                  </p:childTnLst>
                                </p:cTn>
                              </p:par>
                            </p:childTnLst>
                          </p:cTn>
                        </p:par>
                        <p:par>
                          <p:cTn id="28" fill="hold" nodeType="afterGroup">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1370115">
                                            <p:txEl>
                                              <p:pRg st="3" end="3"/>
                                            </p:txEl>
                                          </p:spTgt>
                                        </p:tgtEl>
                                        <p:attrNameLst>
                                          <p:attrName>style.visibility</p:attrName>
                                        </p:attrNameLst>
                                      </p:cBhvr>
                                      <p:to>
                                        <p:strVal val="visible"/>
                                      </p:to>
                                    </p:set>
                                    <p:anim calcmode="lin" valueType="num">
                                      <p:cBhvr>
                                        <p:cTn id="31" dur="500" fill="hold"/>
                                        <p:tgtEl>
                                          <p:spTgt spid="1370115">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1370115">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1370115">
                                            <p:txEl>
                                              <p:pRg st="3" end="3"/>
                                            </p:txEl>
                                          </p:spTgt>
                                        </p:tgtEl>
                                      </p:cBhvr>
                                    </p:animEffect>
                                  </p:childTnLst>
                                </p:cTn>
                              </p:par>
                            </p:childTnLst>
                          </p:cTn>
                        </p:par>
                        <p:par>
                          <p:cTn id="34" fill="hold" nodeType="afterGroup">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1370115">
                                            <p:txEl>
                                              <p:pRg st="4" end="4"/>
                                            </p:txEl>
                                          </p:spTgt>
                                        </p:tgtEl>
                                        <p:attrNameLst>
                                          <p:attrName>style.visibility</p:attrName>
                                        </p:attrNameLst>
                                      </p:cBhvr>
                                      <p:to>
                                        <p:strVal val="visible"/>
                                      </p:to>
                                    </p:set>
                                    <p:anim calcmode="lin" valueType="num">
                                      <p:cBhvr>
                                        <p:cTn id="37" dur="500" fill="hold"/>
                                        <p:tgtEl>
                                          <p:spTgt spid="1370115">
                                            <p:txEl>
                                              <p:pRg st="4" end="4"/>
                                            </p:txEl>
                                          </p:spTgt>
                                        </p:tgtEl>
                                        <p:attrNameLst>
                                          <p:attrName>ppt_w</p:attrName>
                                        </p:attrNameLst>
                                      </p:cBhvr>
                                      <p:tavLst>
                                        <p:tav tm="0">
                                          <p:val>
                                            <p:fltVal val="0"/>
                                          </p:val>
                                        </p:tav>
                                        <p:tav tm="100000">
                                          <p:val>
                                            <p:strVal val="#ppt_w"/>
                                          </p:val>
                                        </p:tav>
                                      </p:tavLst>
                                    </p:anim>
                                    <p:anim calcmode="lin" valueType="num">
                                      <p:cBhvr>
                                        <p:cTn id="38" dur="500" fill="hold"/>
                                        <p:tgtEl>
                                          <p:spTgt spid="1370115">
                                            <p:txEl>
                                              <p:pRg st="4" end="4"/>
                                            </p:txEl>
                                          </p:spTgt>
                                        </p:tgtEl>
                                        <p:attrNameLst>
                                          <p:attrName>ppt_h</p:attrName>
                                        </p:attrNameLst>
                                      </p:cBhvr>
                                      <p:tavLst>
                                        <p:tav tm="0">
                                          <p:val>
                                            <p:fltVal val="0"/>
                                          </p:val>
                                        </p:tav>
                                        <p:tav tm="100000">
                                          <p:val>
                                            <p:strVal val="#ppt_h"/>
                                          </p:val>
                                        </p:tav>
                                      </p:tavLst>
                                    </p:anim>
                                    <p:animEffect transition="in" filter="fade">
                                      <p:cBhvr>
                                        <p:cTn id="39" dur="500"/>
                                        <p:tgtEl>
                                          <p:spTgt spid="1370115">
                                            <p:txEl>
                                              <p:pRg st="4" end="4"/>
                                            </p:txEl>
                                          </p:spTgt>
                                        </p:tgtEl>
                                      </p:cBhvr>
                                    </p:animEffect>
                                  </p:childTnLst>
                                </p:cTn>
                              </p:par>
                            </p:childTnLst>
                          </p:cTn>
                        </p:par>
                        <p:par>
                          <p:cTn id="40" fill="hold" nodeType="afterGroup">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1370115">
                                            <p:txEl>
                                              <p:pRg st="5" end="5"/>
                                            </p:txEl>
                                          </p:spTgt>
                                        </p:tgtEl>
                                        <p:attrNameLst>
                                          <p:attrName>style.visibility</p:attrName>
                                        </p:attrNameLst>
                                      </p:cBhvr>
                                      <p:to>
                                        <p:strVal val="visible"/>
                                      </p:to>
                                    </p:set>
                                    <p:anim calcmode="lin" valueType="num">
                                      <p:cBhvr>
                                        <p:cTn id="43" dur="500" fill="hold"/>
                                        <p:tgtEl>
                                          <p:spTgt spid="1370115">
                                            <p:txEl>
                                              <p:pRg st="5" end="5"/>
                                            </p:txEl>
                                          </p:spTgt>
                                        </p:tgtEl>
                                        <p:attrNameLst>
                                          <p:attrName>ppt_w</p:attrName>
                                        </p:attrNameLst>
                                      </p:cBhvr>
                                      <p:tavLst>
                                        <p:tav tm="0">
                                          <p:val>
                                            <p:fltVal val="0"/>
                                          </p:val>
                                        </p:tav>
                                        <p:tav tm="100000">
                                          <p:val>
                                            <p:strVal val="#ppt_w"/>
                                          </p:val>
                                        </p:tav>
                                      </p:tavLst>
                                    </p:anim>
                                    <p:anim calcmode="lin" valueType="num">
                                      <p:cBhvr>
                                        <p:cTn id="44" dur="500" fill="hold"/>
                                        <p:tgtEl>
                                          <p:spTgt spid="1370115">
                                            <p:txEl>
                                              <p:pRg st="5" end="5"/>
                                            </p:txEl>
                                          </p:spTgt>
                                        </p:tgtEl>
                                        <p:attrNameLst>
                                          <p:attrName>ppt_h</p:attrName>
                                        </p:attrNameLst>
                                      </p:cBhvr>
                                      <p:tavLst>
                                        <p:tav tm="0">
                                          <p:val>
                                            <p:fltVal val="0"/>
                                          </p:val>
                                        </p:tav>
                                        <p:tav tm="100000">
                                          <p:val>
                                            <p:strVal val="#ppt_h"/>
                                          </p:val>
                                        </p:tav>
                                      </p:tavLst>
                                    </p:anim>
                                    <p:animEffect transition="in" filter="fade">
                                      <p:cBhvr>
                                        <p:cTn id="45" dur="500"/>
                                        <p:tgtEl>
                                          <p:spTgt spid="1370115">
                                            <p:txEl>
                                              <p:pRg st="5" end="5"/>
                                            </p:txEl>
                                          </p:spTgt>
                                        </p:tgtEl>
                                      </p:cBhvr>
                                    </p:animEffect>
                                  </p:childTnLst>
                                </p:cTn>
                              </p:par>
                            </p:childTnLst>
                          </p:cTn>
                        </p:par>
                        <p:par>
                          <p:cTn id="46" fill="hold" nodeType="afterGroup">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1370115">
                                            <p:txEl>
                                              <p:pRg st="6" end="6"/>
                                            </p:txEl>
                                          </p:spTgt>
                                        </p:tgtEl>
                                        <p:attrNameLst>
                                          <p:attrName>style.visibility</p:attrName>
                                        </p:attrNameLst>
                                      </p:cBhvr>
                                      <p:to>
                                        <p:strVal val="visible"/>
                                      </p:to>
                                    </p:set>
                                    <p:anim calcmode="lin" valueType="num">
                                      <p:cBhvr>
                                        <p:cTn id="49" dur="500" fill="hold"/>
                                        <p:tgtEl>
                                          <p:spTgt spid="1370115">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1370115">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1370115">
                                            <p:txEl>
                                              <p:pRg st="6" end="6"/>
                                            </p:txEl>
                                          </p:spTgt>
                                        </p:tgtEl>
                                      </p:cBhvr>
                                    </p:animEffect>
                                  </p:childTnLst>
                                </p:cTn>
                              </p:par>
                            </p:childTnLst>
                          </p:cTn>
                        </p:par>
                        <p:par>
                          <p:cTn id="52" fill="hold" nodeType="afterGroup">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1370115">
                                            <p:txEl>
                                              <p:pRg st="7" end="7"/>
                                            </p:txEl>
                                          </p:spTgt>
                                        </p:tgtEl>
                                        <p:attrNameLst>
                                          <p:attrName>style.visibility</p:attrName>
                                        </p:attrNameLst>
                                      </p:cBhvr>
                                      <p:to>
                                        <p:strVal val="visible"/>
                                      </p:to>
                                    </p:set>
                                    <p:anim calcmode="lin" valueType="num">
                                      <p:cBhvr>
                                        <p:cTn id="55" dur="500" fill="hold"/>
                                        <p:tgtEl>
                                          <p:spTgt spid="1370115">
                                            <p:txEl>
                                              <p:pRg st="7" end="7"/>
                                            </p:txEl>
                                          </p:spTgt>
                                        </p:tgtEl>
                                        <p:attrNameLst>
                                          <p:attrName>ppt_w</p:attrName>
                                        </p:attrNameLst>
                                      </p:cBhvr>
                                      <p:tavLst>
                                        <p:tav tm="0">
                                          <p:val>
                                            <p:fltVal val="0"/>
                                          </p:val>
                                        </p:tav>
                                        <p:tav tm="100000">
                                          <p:val>
                                            <p:strVal val="#ppt_w"/>
                                          </p:val>
                                        </p:tav>
                                      </p:tavLst>
                                    </p:anim>
                                    <p:anim calcmode="lin" valueType="num">
                                      <p:cBhvr>
                                        <p:cTn id="56" dur="500" fill="hold"/>
                                        <p:tgtEl>
                                          <p:spTgt spid="1370115">
                                            <p:txEl>
                                              <p:pRg st="7" end="7"/>
                                            </p:txEl>
                                          </p:spTgt>
                                        </p:tgtEl>
                                        <p:attrNameLst>
                                          <p:attrName>ppt_h</p:attrName>
                                        </p:attrNameLst>
                                      </p:cBhvr>
                                      <p:tavLst>
                                        <p:tav tm="0">
                                          <p:val>
                                            <p:fltVal val="0"/>
                                          </p:val>
                                        </p:tav>
                                        <p:tav tm="100000">
                                          <p:val>
                                            <p:strVal val="#ppt_h"/>
                                          </p:val>
                                        </p:tav>
                                      </p:tavLst>
                                    </p:anim>
                                    <p:animEffect transition="in" filter="fade">
                                      <p:cBhvr>
                                        <p:cTn id="57" dur="500"/>
                                        <p:tgtEl>
                                          <p:spTgt spid="1370115">
                                            <p:txEl>
                                              <p:pRg st="7" end="7"/>
                                            </p:txEl>
                                          </p:spTgt>
                                        </p:tgtEl>
                                      </p:cBhvr>
                                    </p:animEffect>
                                  </p:childTnLst>
                                </p:cTn>
                              </p:par>
                            </p:childTnLst>
                          </p:cTn>
                        </p:par>
                        <p:par>
                          <p:cTn id="58" fill="hold" nodeType="afterGroup">
                            <p:stCondLst>
                              <p:cond delay="4500"/>
                            </p:stCondLst>
                            <p:childTnLst>
                              <p:par>
                                <p:cTn id="59" presetID="2" presetClass="entr" presetSubtype="2" fill="hold" nodeType="afterEffect">
                                  <p:stCondLst>
                                    <p:cond delay="0"/>
                                  </p:stCondLst>
                                  <p:childTnLst>
                                    <p:set>
                                      <p:cBhvr>
                                        <p:cTn id="60" dur="1" fill="hold">
                                          <p:stCondLst>
                                            <p:cond delay="0"/>
                                          </p:stCondLst>
                                        </p:cTn>
                                        <p:tgtEl>
                                          <p:spTgt spid="2"/>
                                        </p:tgtEl>
                                        <p:attrNameLst>
                                          <p:attrName>style.visibility</p:attrName>
                                        </p:attrNameLst>
                                      </p:cBhvr>
                                      <p:to>
                                        <p:strVal val="visible"/>
                                      </p:to>
                                    </p:set>
                                    <p:anim calcmode="lin" valueType="num">
                                      <p:cBhvr additive="base">
                                        <p:cTn id="61" dur="500" fill="hold"/>
                                        <p:tgtEl>
                                          <p:spTgt spid="2"/>
                                        </p:tgtEl>
                                        <p:attrNameLst>
                                          <p:attrName>ppt_x</p:attrName>
                                        </p:attrNameLst>
                                      </p:cBhvr>
                                      <p:tavLst>
                                        <p:tav tm="0">
                                          <p:val>
                                            <p:strVal val="1+#ppt_w/2"/>
                                          </p:val>
                                        </p:tav>
                                        <p:tav tm="100000">
                                          <p:val>
                                            <p:strVal val="#ppt_x"/>
                                          </p:val>
                                        </p:tav>
                                      </p:tavLst>
                                    </p:anim>
                                    <p:anim calcmode="lin" valueType="num">
                                      <p:cBhvr additive="base">
                                        <p:cTn id="6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0115" grpId="0" build="p"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12FFF52-79A4-9A4C-AFDF-C482FF48489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3262313"/>
            <a:ext cx="4772025"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6" name="Text Box 3">
            <a:extLst>
              <a:ext uri="{FF2B5EF4-FFF2-40B4-BE49-F238E27FC236}">
                <a16:creationId xmlns:a16="http://schemas.microsoft.com/office/drawing/2014/main" id="{5813DFF2-7607-5641-8F04-C1CAD7186CE2}"/>
              </a:ext>
            </a:extLst>
          </p:cNvPr>
          <p:cNvSpPr txBox="1">
            <a:spLocks noChangeArrowheads="1"/>
          </p:cNvSpPr>
          <p:nvPr/>
        </p:nvSpPr>
        <p:spPr bwMode="auto">
          <a:xfrm>
            <a:off x="457200" y="990600"/>
            <a:ext cx="7167563" cy="534988"/>
          </a:xfrm>
          <a:prstGeom prst="rect">
            <a:avLst/>
          </a:prstGeom>
          <a:noFill/>
          <a:ln>
            <a:noFill/>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32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对付线路窃听的措施 </a:t>
            </a:r>
          </a:p>
        </p:txBody>
      </p:sp>
      <p:sp>
        <p:nvSpPr>
          <p:cNvPr id="52227" name="Rectangle 4">
            <a:extLst>
              <a:ext uri="{FF2B5EF4-FFF2-40B4-BE49-F238E27FC236}">
                <a16:creationId xmlns:a16="http://schemas.microsoft.com/office/drawing/2014/main" id="{09FE0BA5-9642-5547-93B3-DA5838AA730E}"/>
              </a:ext>
            </a:extLst>
          </p:cNvPr>
          <p:cNvSpPr>
            <a:spLocks noChangeArrowheads="1"/>
          </p:cNvSpPr>
          <p:nvPr/>
        </p:nvSpPr>
        <p:spPr bwMode="auto">
          <a:xfrm>
            <a:off x="1295400" y="3011488"/>
            <a:ext cx="46482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85800" indent="-6858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buClr>
                <a:srgbClr val="000099"/>
              </a:buClr>
              <a:buSzPct val="70000"/>
              <a:buFont typeface="Wingdings" pitchFamily="2" charset="2"/>
              <a:buChar char="n"/>
            </a:pPr>
            <a:r>
              <a:rPr lang="zh-CN" altLang="en-US" sz="320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一次性口令（</a:t>
            </a:r>
            <a:r>
              <a:rPr lang="en-US" altLang="zh-CN" sz="320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OTP</a:t>
            </a:r>
            <a:r>
              <a:rPr lang="zh-CN" altLang="en-US" sz="320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2" name="矩形 1">
            <a:extLst>
              <a:ext uri="{FF2B5EF4-FFF2-40B4-BE49-F238E27FC236}">
                <a16:creationId xmlns:a16="http://schemas.microsoft.com/office/drawing/2014/main" id="{F8AB006E-2AA5-4644-A5D4-8AAC7A130988}"/>
              </a:ext>
            </a:extLst>
          </p:cNvPr>
          <p:cNvSpPr>
            <a:spLocks noChangeArrowheads="1"/>
          </p:cNvSpPr>
          <p:nvPr/>
        </p:nvSpPr>
        <p:spPr bwMode="auto">
          <a:xfrm>
            <a:off x="1295400" y="1828800"/>
            <a:ext cx="34702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685800" indent="-6858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buClr>
                <a:srgbClr val="000099"/>
              </a:buClr>
              <a:buSzPct val="70000"/>
              <a:buFont typeface="Wingdings" pitchFamily="2" charset="2"/>
              <a:buChar char="n"/>
            </a:pPr>
            <a:r>
              <a:rPr lang="zh-CN" altLang="en-US" sz="320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引入散列函数</a:t>
            </a:r>
          </a:p>
        </p:txBody>
      </p:sp>
      <p:sp>
        <p:nvSpPr>
          <p:cNvPr id="3" name="矩形 2">
            <a:extLst>
              <a:ext uri="{FF2B5EF4-FFF2-40B4-BE49-F238E27FC236}">
                <a16:creationId xmlns:a16="http://schemas.microsoft.com/office/drawing/2014/main" id="{376BBB77-0F61-FF4D-8EA3-45F805AE1352}"/>
              </a:ext>
            </a:extLst>
          </p:cNvPr>
          <p:cNvSpPr>
            <a:spLocks noChangeArrowheads="1"/>
          </p:cNvSpPr>
          <p:nvPr/>
        </p:nvSpPr>
        <p:spPr bwMode="auto">
          <a:xfrm>
            <a:off x="1295400" y="2401888"/>
            <a:ext cx="40227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685800" indent="-6858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buClr>
                <a:srgbClr val="000099"/>
              </a:buClr>
              <a:buSzPct val="70000"/>
              <a:buFont typeface="Wingdings" pitchFamily="2" charset="2"/>
              <a:buChar char="n"/>
            </a:pPr>
            <a:r>
              <a:rPr lang="zh-CN" altLang="en-US" sz="320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加盐（</a:t>
            </a:r>
            <a:r>
              <a:rPr lang="en-US" altLang="zh-CN" sz="320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Salt</a:t>
            </a:r>
            <a:r>
              <a:rPr lang="zh-CN" altLang="en-US" sz="320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）机制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nodeType="afterGroup">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52227"/>
                                        </p:tgtEl>
                                        <p:attrNameLst>
                                          <p:attrName>style.visibility</p:attrName>
                                        </p:attrNameLst>
                                      </p:cBhvr>
                                      <p:to>
                                        <p:strVal val="visible"/>
                                      </p:to>
                                    </p:set>
                                    <p:anim calcmode="lin" valueType="num">
                                      <p:cBhvr>
                                        <p:cTn id="19" dur="500" fill="hold"/>
                                        <p:tgtEl>
                                          <p:spTgt spid="52227"/>
                                        </p:tgtEl>
                                        <p:attrNameLst>
                                          <p:attrName>ppt_w</p:attrName>
                                        </p:attrNameLst>
                                      </p:cBhvr>
                                      <p:tavLst>
                                        <p:tav tm="0">
                                          <p:val>
                                            <p:fltVal val="0"/>
                                          </p:val>
                                        </p:tav>
                                        <p:tav tm="100000">
                                          <p:val>
                                            <p:strVal val="#ppt_w"/>
                                          </p:val>
                                        </p:tav>
                                      </p:tavLst>
                                    </p:anim>
                                    <p:anim calcmode="lin" valueType="num">
                                      <p:cBhvr>
                                        <p:cTn id="20" dur="500" fill="hold"/>
                                        <p:tgtEl>
                                          <p:spTgt spid="52227"/>
                                        </p:tgtEl>
                                        <p:attrNameLst>
                                          <p:attrName>ppt_h</p:attrName>
                                        </p:attrNameLst>
                                      </p:cBhvr>
                                      <p:tavLst>
                                        <p:tav tm="0">
                                          <p:val>
                                            <p:fltVal val="0"/>
                                          </p:val>
                                        </p:tav>
                                        <p:tav tm="100000">
                                          <p:val>
                                            <p:strVal val="#ppt_h"/>
                                          </p:val>
                                        </p:tav>
                                      </p:tavLst>
                                    </p:anim>
                                    <p:animEffect transition="in" filter="fade">
                                      <p:cBhvr>
                                        <p:cTn id="21" dur="500"/>
                                        <p:tgtEl>
                                          <p:spTgt spid="52227"/>
                                        </p:tgtEl>
                                      </p:cBhvr>
                                    </p:animEffect>
                                  </p:childTnLst>
                                </p:cTn>
                              </p:par>
                            </p:childTnLst>
                          </p:cTn>
                        </p:par>
                        <p:par>
                          <p:cTn id="22" fill="hold" nodeType="afterGroup">
                            <p:stCondLst>
                              <p:cond delay="1500"/>
                            </p:stCondLst>
                            <p:childTnLst>
                              <p:par>
                                <p:cTn id="23" presetID="53" presetClass="entr" presetSubtype="16"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P spid="2" grpId="0"/>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1138" name="Rectangle 2">
            <a:extLst>
              <a:ext uri="{FF2B5EF4-FFF2-40B4-BE49-F238E27FC236}">
                <a16:creationId xmlns:a16="http://schemas.microsoft.com/office/drawing/2014/main" id="{207F513B-5E44-FB40-ACD7-E952F551DDB2}"/>
              </a:ext>
            </a:extLst>
          </p:cNvPr>
          <p:cNvSpPr>
            <a:spLocks noGrp="1" noChangeArrowheads="1"/>
          </p:cNvSpPr>
          <p:nvPr>
            <p:ph type="title"/>
          </p:nvPr>
        </p:nvSpPr>
        <p:spPr bwMode="auto">
          <a:xfrm>
            <a:off x="457200" y="639763"/>
            <a:ext cx="8229600" cy="731837"/>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a:solidFill>
                  <a:srgbClr val="FF0000"/>
                </a:solidFill>
                <a:latin typeface="黑体" panose="02010609060101010101" pitchFamily="49" charset="-122"/>
                <a:ea typeface="黑体" panose="02010609060101010101" pitchFamily="49" charset="-122"/>
              </a:rPr>
              <a:t>对付线路窃听的措施</a:t>
            </a:r>
          </a:p>
        </p:txBody>
      </p:sp>
      <p:sp>
        <p:nvSpPr>
          <p:cNvPr id="1371139" name="Rectangle 3">
            <a:extLst>
              <a:ext uri="{FF2B5EF4-FFF2-40B4-BE49-F238E27FC236}">
                <a16:creationId xmlns:a16="http://schemas.microsoft.com/office/drawing/2014/main" id="{8795A070-A443-374C-AA4B-1F377A9993CC}"/>
              </a:ext>
            </a:extLst>
          </p:cNvPr>
          <p:cNvSpPr>
            <a:spLocks noGrp="1" noChangeArrowheads="1"/>
          </p:cNvSpPr>
          <p:nvPr>
            <p:ph type="body" idx="1"/>
          </p:nvPr>
        </p:nvSpPr>
        <p:spPr bwMode="auto">
          <a:xfrm>
            <a:off x="417513" y="1235075"/>
            <a:ext cx="8610600" cy="457200"/>
          </a:xfrm>
          <a:solidFill>
            <a:srgbClr val="FFFFFF"/>
          </a:solidFill>
          <a:ln w="38100">
            <a:solidFill>
              <a:schemeClr val="tx1"/>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6D4313"/>
              </a:buClr>
              <a:buFont typeface="Wingdings" pitchFamily="2" charset="2"/>
              <a:buChar char="u"/>
              <a:defRPr/>
            </a:pPr>
            <a:r>
              <a:rPr lang="zh-CN" altLang="en-US" sz="2800">
                <a:solidFill>
                  <a:srgbClr val="0000FF"/>
                </a:solidFill>
                <a:latin typeface="黑体" panose="02010609060101010101" pitchFamily="49" charset="-122"/>
                <a:ea typeface="黑体" panose="02010609060101010101" pitchFamily="49" charset="-122"/>
              </a:rPr>
              <a:t>使用保护口令机制：引入单向函数（散列函数）</a:t>
            </a:r>
          </a:p>
          <a:p>
            <a:pPr eaLnBrk="1" hangingPunct="1">
              <a:defRPr/>
            </a:pPr>
            <a:endParaRPr lang="zh-CN" altLang="en-US" sz="2800">
              <a:solidFill>
                <a:srgbClr val="0000FF"/>
              </a:solidFill>
              <a:latin typeface="黑体" panose="02010609060101010101" pitchFamily="49" charset="-122"/>
              <a:ea typeface="黑体" panose="02010609060101010101" pitchFamily="49" charset="-122"/>
            </a:endParaRPr>
          </a:p>
        </p:txBody>
      </p:sp>
      <p:grpSp>
        <p:nvGrpSpPr>
          <p:cNvPr id="4" name="组合 3">
            <a:extLst>
              <a:ext uri="{FF2B5EF4-FFF2-40B4-BE49-F238E27FC236}">
                <a16:creationId xmlns:a16="http://schemas.microsoft.com/office/drawing/2014/main" id="{B43ED1BF-64F8-3A46-B046-4990D057FF07}"/>
              </a:ext>
            </a:extLst>
          </p:cNvPr>
          <p:cNvGrpSpPr>
            <a:grpSpLocks/>
          </p:cNvGrpSpPr>
          <p:nvPr/>
        </p:nvGrpSpPr>
        <p:grpSpPr bwMode="auto">
          <a:xfrm>
            <a:off x="457200" y="1828800"/>
            <a:ext cx="7635875" cy="2971800"/>
            <a:chOff x="457200" y="1828800"/>
            <a:chExt cx="7635875" cy="2971801"/>
          </a:xfrm>
        </p:grpSpPr>
        <p:sp>
          <p:nvSpPr>
            <p:cNvPr id="53254" name="Rectangle 4">
              <a:extLst>
                <a:ext uri="{FF2B5EF4-FFF2-40B4-BE49-F238E27FC236}">
                  <a16:creationId xmlns:a16="http://schemas.microsoft.com/office/drawing/2014/main" id="{1D6E0E52-03FF-104E-9D4B-1082ED531FD1}"/>
                </a:ext>
              </a:extLst>
            </p:cNvPr>
            <p:cNvSpPr>
              <a:spLocks noChangeArrowheads="1"/>
            </p:cNvSpPr>
            <p:nvPr/>
          </p:nvSpPr>
          <p:spPr bwMode="auto">
            <a:xfrm>
              <a:off x="1311275" y="3376613"/>
              <a:ext cx="6400800"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20000"/>
                </a:spcBef>
              </a:pPr>
              <a:r>
                <a:rPr lang="zh-CN" altLang="en-US" sz="3200">
                  <a:solidFill>
                    <a:srgbClr val="000066"/>
                  </a:solidFill>
                  <a:latin typeface="Times New Roman" panose="02020603050405020304" pitchFamily="18" charset="0"/>
                  <a:ea typeface="宋体" panose="02010600030101010101" pitchFamily="2" charset="-122"/>
                </a:rPr>
                <a:t> </a:t>
              </a:r>
            </a:p>
          </p:txBody>
        </p:sp>
        <p:sp>
          <p:nvSpPr>
            <p:cNvPr id="1371141" name="Rectangle 5">
              <a:extLst>
                <a:ext uri="{FF2B5EF4-FFF2-40B4-BE49-F238E27FC236}">
                  <a16:creationId xmlns:a16="http://schemas.microsoft.com/office/drawing/2014/main" id="{5D47B3F2-0AF8-834B-88A2-451C59EC1473}"/>
                </a:ext>
              </a:extLst>
            </p:cNvPr>
            <p:cNvSpPr>
              <a:spLocks noChangeArrowheads="1"/>
            </p:cNvSpPr>
            <p:nvPr/>
          </p:nvSpPr>
          <p:spPr bwMode="auto">
            <a:xfrm>
              <a:off x="1844675" y="2244725"/>
              <a:ext cx="1295400" cy="2290764"/>
            </a:xfrm>
            <a:prstGeom prst="rect">
              <a:avLst/>
            </a:prstGeom>
            <a:solidFill>
              <a:srgbClr val="CCFFCC"/>
            </a:solidFill>
            <a:ln w="9525">
              <a:solidFill>
                <a:schemeClr val="bg2"/>
              </a:solidFill>
              <a:prstDash val="dash"/>
              <a:miter lim="800000"/>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3256" name="Rectangle 6">
              <a:extLst>
                <a:ext uri="{FF2B5EF4-FFF2-40B4-BE49-F238E27FC236}">
                  <a16:creationId xmlns:a16="http://schemas.microsoft.com/office/drawing/2014/main" id="{BE1326E6-D628-CF44-8BAA-6EA69265E267}"/>
                </a:ext>
              </a:extLst>
            </p:cNvPr>
            <p:cNvSpPr>
              <a:spLocks noChangeArrowheads="1"/>
            </p:cNvSpPr>
            <p:nvPr/>
          </p:nvSpPr>
          <p:spPr bwMode="auto">
            <a:xfrm>
              <a:off x="4283075" y="3048992"/>
              <a:ext cx="609600" cy="433388"/>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q </a:t>
              </a:r>
              <a:r>
                <a:rPr lang="en-US" altLang="zh-CN" sz="2400">
                  <a:solidFill>
                    <a:srgbClr val="000066"/>
                  </a:solidFill>
                  <a:latin typeface="Times New Roman" panose="02020603050405020304" pitchFamily="18" charset="0"/>
                  <a:ea typeface="宋体" panose="02010600030101010101" pitchFamily="2" charset="-122"/>
                  <a:sym typeface="Symbol" pitchFamily="2" charset="2"/>
                </a:rPr>
                <a:t></a:t>
              </a:r>
            </a:p>
          </p:txBody>
        </p:sp>
        <p:sp>
          <p:nvSpPr>
            <p:cNvPr id="53257" name="Rectangle 7">
              <a:extLst>
                <a:ext uri="{FF2B5EF4-FFF2-40B4-BE49-F238E27FC236}">
                  <a16:creationId xmlns:a16="http://schemas.microsoft.com/office/drawing/2014/main" id="{EEF9E552-7736-5349-8A66-6A09947C1BB1}"/>
                </a:ext>
              </a:extLst>
            </p:cNvPr>
            <p:cNvSpPr>
              <a:spLocks noChangeArrowheads="1"/>
            </p:cNvSpPr>
            <p:nvPr/>
          </p:nvSpPr>
          <p:spPr bwMode="auto">
            <a:xfrm>
              <a:off x="6340475" y="2200275"/>
              <a:ext cx="1752600" cy="2414588"/>
            </a:xfrm>
            <a:prstGeom prst="rect">
              <a:avLst/>
            </a:prstGeom>
            <a:solidFill>
              <a:schemeClr val="hlink"/>
            </a:solidFill>
            <a:ln w="9525">
              <a:solidFill>
                <a:schemeClr val="bg2"/>
              </a:solidFill>
              <a:prstDash val="dash"/>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endParaRPr lang="zh-CN" altLang="en-US" sz="2400">
                <a:solidFill>
                  <a:srgbClr val="000066"/>
                </a:solidFill>
                <a:latin typeface="Times New Roman" panose="02020603050405020304" pitchFamily="18" charset="0"/>
                <a:ea typeface="宋体" panose="02010600030101010101" pitchFamily="2" charset="-122"/>
              </a:endParaRPr>
            </a:p>
          </p:txBody>
        </p:sp>
        <p:sp>
          <p:nvSpPr>
            <p:cNvPr id="53258" name="Rectangle 8">
              <a:extLst>
                <a:ext uri="{FF2B5EF4-FFF2-40B4-BE49-F238E27FC236}">
                  <a16:creationId xmlns:a16="http://schemas.microsoft.com/office/drawing/2014/main" id="{944995CC-0A66-664D-88A8-73B95BFC0EF6}"/>
                </a:ext>
              </a:extLst>
            </p:cNvPr>
            <p:cNvSpPr>
              <a:spLocks noChangeArrowheads="1"/>
            </p:cNvSpPr>
            <p:nvPr/>
          </p:nvSpPr>
          <p:spPr bwMode="auto">
            <a:xfrm>
              <a:off x="2225675" y="2739430"/>
              <a:ext cx="533400" cy="433388"/>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latin typeface="Times New Roman" panose="02020603050405020304" pitchFamily="18" charset="0"/>
                  <a:ea typeface="宋体" panose="02010600030101010101" pitchFamily="2" charset="-122"/>
                </a:rPr>
                <a:t>f</a:t>
              </a:r>
            </a:p>
          </p:txBody>
        </p:sp>
        <p:sp>
          <p:nvSpPr>
            <p:cNvPr id="53259" name="Rectangle 9">
              <a:extLst>
                <a:ext uri="{FF2B5EF4-FFF2-40B4-BE49-F238E27FC236}">
                  <a16:creationId xmlns:a16="http://schemas.microsoft.com/office/drawing/2014/main" id="{E82C5BC2-0B07-9943-A37B-A7082DDAC76F}"/>
                </a:ext>
              </a:extLst>
            </p:cNvPr>
            <p:cNvSpPr>
              <a:spLocks noChangeArrowheads="1"/>
            </p:cNvSpPr>
            <p:nvPr/>
          </p:nvSpPr>
          <p:spPr bwMode="auto">
            <a:xfrm>
              <a:off x="4892675" y="3048992"/>
              <a:ext cx="609600" cy="433388"/>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id</a:t>
              </a:r>
            </a:p>
          </p:txBody>
        </p:sp>
        <p:sp>
          <p:nvSpPr>
            <p:cNvPr id="1371146" name="Line 10">
              <a:extLst>
                <a:ext uri="{FF2B5EF4-FFF2-40B4-BE49-F238E27FC236}">
                  <a16:creationId xmlns:a16="http://schemas.microsoft.com/office/drawing/2014/main" id="{B0634D6E-7FE9-384C-BC89-767F860A37C9}"/>
                </a:ext>
              </a:extLst>
            </p:cNvPr>
            <p:cNvSpPr>
              <a:spLocks noChangeShapeType="1"/>
            </p:cNvSpPr>
            <p:nvPr/>
          </p:nvSpPr>
          <p:spPr bwMode="auto">
            <a:xfrm>
              <a:off x="1311275" y="2925763"/>
              <a:ext cx="9144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1147" name="Line 11">
              <a:extLst>
                <a:ext uri="{FF2B5EF4-FFF2-40B4-BE49-F238E27FC236}">
                  <a16:creationId xmlns:a16="http://schemas.microsoft.com/office/drawing/2014/main" id="{04B40D6C-2A79-3F47-A5EC-C103E32B1980}"/>
                </a:ext>
              </a:extLst>
            </p:cNvPr>
            <p:cNvSpPr>
              <a:spLocks noChangeShapeType="1"/>
            </p:cNvSpPr>
            <p:nvPr/>
          </p:nvSpPr>
          <p:spPr bwMode="auto">
            <a:xfrm flipV="1">
              <a:off x="4359275" y="3482976"/>
              <a:ext cx="838200" cy="681038"/>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1148" name="Line 12">
              <a:extLst>
                <a:ext uri="{FF2B5EF4-FFF2-40B4-BE49-F238E27FC236}">
                  <a16:creationId xmlns:a16="http://schemas.microsoft.com/office/drawing/2014/main" id="{D0644995-4794-2E44-B2D5-B4AE5E299EF7}"/>
                </a:ext>
              </a:extLst>
            </p:cNvPr>
            <p:cNvSpPr>
              <a:spLocks noChangeShapeType="1"/>
            </p:cNvSpPr>
            <p:nvPr/>
          </p:nvSpPr>
          <p:spPr bwMode="auto">
            <a:xfrm>
              <a:off x="2759075" y="2943225"/>
              <a:ext cx="1524000" cy="185738"/>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1149" name="Line 13">
              <a:extLst>
                <a:ext uri="{FF2B5EF4-FFF2-40B4-BE49-F238E27FC236}">
                  <a16:creationId xmlns:a16="http://schemas.microsoft.com/office/drawing/2014/main" id="{A8599C91-5840-F84F-AA9D-EFE2E3D8F8A2}"/>
                </a:ext>
              </a:extLst>
            </p:cNvPr>
            <p:cNvSpPr>
              <a:spLocks noChangeShapeType="1"/>
            </p:cNvSpPr>
            <p:nvPr/>
          </p:nvSpPr>
          <p:spPr bwMode="auto">
            <a:xfrm flipH="1">
              <a:off x="1311275" y="4164014"/>
              <a:ext cx="3048000" cy="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3264" name="Rectangle 14">
              <a:extLst>
                <a:ext uri="{FF2B5EF4-FFF2-40B4-BE49-F238E27FC236}">
                  <a16:creationId xmlns:a16="http://schemas.microsoft.com/office/drawing/2014/main" id="{2FD38C7E-674B-6640-8CB8-B3383DB42F25}"/>
                </a:ext>
              </a:extLst>
            </p:cNvPr>
            <p:cNvSpPr>
              <a:spLocks noChangeArrowheads="1"/>
            </p:cNvSpPr>
            <p:nvPr/>
          </p:nvSpPr>
          <p:spPr bwMode="auto">
            <a:xfrm>
              <a:off x="6569075" y="2429867"/>
              <a:ext cx="609600" cy="433388"/>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id</a:t>
              </a:r>
            </a:p>
          </p:txBody>
        </p:sp>
        <p:sp>
          <p:nvSpPr>
            <p:cNvPr id="53265" name="Rectangle 15">
              <a:extLst>
                <a:ext uri="{FF2B5EF4-FFF2-40B4-BE49-F238E27FC236}">
                  <a16:creationId xmlns:a16="http://schemas.microsoft.com/office/drawing/2014/main" id="{D9884182-B055-C04B-9B2E-0392E1E2A77A}"/>
                </a:ext>
              </a:extLst>
            </p:cNvPr>
            <p:cNvSpPr>
              <a:spLocks noChangeArrowheads="1"/>
            </p:cNvSpPr>
            <p:nvPr/>
          </p:nvSpPr>
          <p:spPr bwMode="auto">
            <a:xfrm>
              <a:off x="7178675" y="2429867"/>
              <a:ext cx="609600" cy="433388"/>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q</a:t>
              </a:r>
            </a:p>
          </p:txBody>
        </p:sp>
        <p:sp>
          <p:nvSpPr>
            <p:cNvPr id="53266" name="Oval 16">
              <a:extLst>
                <a:ext uri="{FF2B5EF4-FFF2-40B4-BE49-F238E27FC236}">
                  <a16:creationId xmlns:a16="http://schemas.microsoft.com/office/drawing/2014/main" id="{54C0F557-F596-AE46-87D2-B52F9051E77E}"/>
                </a:ext>
              </a:extLst>
            </p:cNvPr>
            <p:cNvSpPr>
              <a:spLocks noChangeArrowheads="1"/>
            </p:cNvSpPr>
            <p:nvPr/>
          </p:nvSpPr>
          <p:spPr bwMode="auto">
            <a:xfrm>
              <a:off x="6797675" y="3172817"/>
              <a:ext cx="990600" cy="742950"/>
            </a:xfrm>
            <a:prstGeom prst="ellipse">
              <a:avLst/>
            </a:prstGeom>
            <a:solidFill>
              <a:srgbClr val="99FF99"/>
            </a:solidFill>
            <a:ln w="9525">
              <a:solidFill>
                <a:schemeClr val="tx1"/>
              </a:solidFill>
              <a:round/>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zh-CN" altLang="en-US" sz="2400">
                  <a:solidFill>
                    <a:srgbClr val="000066"/>
                  </a:solidFill>
                  <a:latin typeface="Times New Roman" panose="02020603050405020304" pitchFamily="18" charset="0"/>
                  <a:ea typeface="宋体" panose="02010600030101010101" pitchFamily="2" charset="-122"/>
                </a:rPr>
                <a:t>比较</a:t>
              </a:r>
            </a:p>
          </p:txBody>
        </p:sp>
        <p:sp>
          <p:nvSpPr>
            <p:cNvPr id="53267" name="Text Box 17">
              <a:extLst>
                <a:ext uri="{FF2B5EF4-FFF2-40B4-BE49-F238E27FC236}">
                  <a16:creationId xmlns:a16="http://schemas.microsoft.com/office/drawing/2014/main" id="{916E4D64-566C-0B4A-82BC-EB98392368A1}"/>
                </a:ext>
              </a:extLst>
            </p:cNvPr>
            <p:cNvSpPr txBox="1">
              <a:spLocks noChangeArrowheads="1"/>
            </p:cNvSpPr>
            <p:nvPr/>
          </p:nvSpPr>
          <p:spPr bwMode="auto">
            <a:xfrm>
              <a:off x="6569075" y="4163417"/>
              <a:ext cx="152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是或不是</a:t>
              </a:r>
            </a:p>
          </p:txBody>
        </p:sp>
        <p:sp>
          <p:nvSpPr>
            <p:cNvPr id="53268" name="Text Box 18">
              <a:extLst>
                <a:ext uri="{FF2B5EF4-FFF2-40B4-BE49-F238E27FC236}">
                  <a16:creationId xmlns:a16="http://schemas.microsoft.com/office/drawing/2014/main" id="{9A12A5CA-4E6C-FD4B-832C-2E017C944B0B}"/>
                </a:ext>
              </a:extLst>
            </p:cNvPr>
            <p:cNvSpPr txBox="1">
              <a:spLocks noChangeArrowheads="1"/>
            </p:cNvSpPr>
            <p:nvPr/>
          </p:nvSpPr>
          <p:spPr bwMode="auto">
            <a:xfrm>
              <a:off x="457200" y="2767806"/>
              <a:ext cx="5100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rgbClr val="000066"/>
                  </a:solidFill>
                  <a:latin typeface="Times New Roman" panose="02020603050405020304" pitchFamily="18" charset="0"/>
                  <a:ea typeface="宋体" panose="02010600030101010101" pitchFamily="2" charset="-122"/>
                </a:rPr>
                <a:t>p </a:t>
              </a:r>
              <a:r>
                <a:rPr lang="en-US" altLang="zh-CN" sz="2400">
                  <a:solidFill>
                    <a:srgbClr val="000066"/>
                  </a:solidFill>
                  <a:latin typeface="Times New Roman" panose="02020603050405020304" pitchFamily="18" charset="0"/>
                  <a:ea typeface="宋体" panose="02010600030101010101" pitchFamily="2" charset="-122"/>
                  <a:sym typeface="Symbol" pitchFamily="2" charset="2"/>
                </a:rPr>
                <a:t></a:t>
              </a:r>
            </a:p>
          </p:txBody>
        </p:sp>
        <p:sp>
          <p:nvSpPr>
            <p:cNvPr id="53269" name="Text Box 19">
              <a:extLst>
                <a:ext uri="{FF2B5EF4-FFF2-40B4-BE49-F238E27FC236}">
                  <a16:creationId xmlns:a16="http://schemas.microsoft.com/office/drawing/2014/main" id="{A29236E6-1711-EB4F-8C3D-681C3259586D}"/>
                </a:ext>
              </a:extLst>
            </p:cNvPr>
            <p:cNvSpPr txBox="1">
              <a:spLocks noChangeArrowheads="1"/>
            </p:cNvSpPr>
            <p:nvPr/>
          </p:nvSpPr>
          <p:spPr bwMode="auto">
            <a:xfrm>
              <a:off x="473075" y="3977680"/>
              <a:ext cx="4411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rgbClr val="000066"/>
                  </a:solidFill>
                  <a:latin typeface="Times New Roman" panose="02020603050405020304" pitchFamily="18" charset="0"/>
                  <a:ea typeface="宋体" panose="02010600030101010101" pitchFamily="2" charset="-122"/>
                </a:rPr>
                <a:t>id</a:t>
              </a:r>
            </a:p>
          </p:txBody>
        </p:sp>
        <p:sp>
          <p:nvSpPr>
            <p:cNvPr id="53270" name="Text Box 20">
              <a:extLst>
                <a:ext uri="{FF2B5EF4-FFF2-40B4-BE49-F238E27FC236}">
                  <a16:creationId xmlns:a16="http://schemas.microsoft.com/office/drawing/2014/main" id="{F35EEFC8-927A-594A-A8C7-9EC1F4AC4EE0}"/>
                </a:ext>
              </a:extLst>
            </p:cNvPr>
            <p:cNvSpPr txBox="1">
              <a:spLocks noChangeArrowheads="1"/>
            </p:cNvSpPr>
            <p:nvPr/>
          </p:nvSpPr>
          <p:spPr bwMode="auto">
            <a:xfrm>
              <a:off x="1940718" y="1888331"/>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声称者</a:t>
              </a:r>
            </a:p>
          </p:txBody>
        </p:sp>
        <p:sp>
          <p:nvSpPr>
            <p:cNvPr id="53271" name="Text Box 21">
              <a:extLst>
                <a:ext uri="{FF2B5EF4-FFF2-40B4-BE49-F238E27FC236}">
                  <a16:creationId xmlns:a16="http://schemas.microsoft.com/office/drawing/2014/main" id="{DE57D45D-3146-5640-9B00-B2B48415E597}"/>
                </a:ext>
              </a:extLst>
            </p:cNvPr>
            <p:cNvSpPr txBox="1">
              <a:spLocks noChangeArrowheads="1"/>
            </p:cNvSpPr>
            <p:nvPr/>
          </p:nvSpPr>
          <p:spPr bwMode="auto">
            <a:xfrm>
              <a:off x="6645275" y="1828800"/>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验证者</a:t>
              </a:r>
            </a:p>
          </p:txBody>
        </p:sp>
        <p:sp>
          <p:nvSpPr>
            <p:cNvPr id="53272" name="Text Box 22">
              <a:extLst>
                <a:ext uri="{FF2B5EF4-FFF2-40B4-BE49-F238E27FC236}">
                  <a16:creationId xmlns:a16="http://schemas.microsoft.com/office/drawing/2014/main" id="{ED6B5FE5-51FC-F142-9EE0-FD1764161D5B}"/>
                </a:ext>
              </a:extLst>
            </p:cNvPr>
            <p:cNvSpPr txBox="1">
              <a:spLocks noChangeArrowheads="1"/>
            </p:cNvSpPr>
            <p:nvPr/>
          </p:nvSpPr>
          <p:spPr bwMode="auto">
            <a:xfrm>
              <a:off x="3962400" y="2570461"/>
              <a:ext cx="93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消息</a:t>
              </a:r>
            </a:p>
          </p:txBody>
        </p:sp>
        <p:sp>
          <p:nvSpPr>
            <p:cNvPr id="1371159" name="Line 23">
              <a:extLst>
                <a:ext uri="{FF2B5EF4-FFF2-40B4-BE49-F238E27FC236}">
                  <a16:creationId xmlns:a16="http://schemas.microsoft.com/office/drawing/2014/main" id="{DEB550F6-50D3-FD4B-95A8-A9D8749AC745}"/>
                </a:ext>
              </a:extLst>
            </p:cNvPr>
            <p:cNvSpPr>
              <a:spLocks noChangeShapeType="1"/>
            </p:cNvSpPr>
            <p:nvPr/>
          </p:nvSpPr>
          <p:spPr bwMode="auto">
            <a:xfrm>
              <a:off x="5273675" y="2554288"/>
              <a:ext cx="1752600" cy="804862"/>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1160" name="Line 24">
              <a:extLst>
                <a:ext uri="{FF2B5EF4-FFF2-40B4-BE49-F238E27FC236}">
                  <a16:creationId xmlns:a16="http://schemas.microsoft.com/office/drawing/2014/main" id="{3C5767C1-5F61-5C46-A272-9B1A73D4EA78}"/>
                </a:ext>
              </a:extLst>
            </p:cNvPr>
            <p:cNvSpPr>
              <a:spLocks noChangeShapeType="1"/>
            </p:cNvSpPr>
            <p:nvPr/>
          </p:nvSpPr>
          <p:spPr bwMode="auto">
            <a:xfrm flipV="1">
              <a:off x="4664075" y="2554288"/>
              <a:ext cx="609600" cy="49530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1161" name="Line 25">
              <a:extLst>
                <a:ext uri="{FF2B5EF4-FFF2-40B4-BE49-F238E27FC236}">
                  <a16:creationId xmlns:a16="http://schemas.microsoft.com/office/drawing/2014/main" id="{30ADE5A4-5BC8-AC47-931D-4A2C8CADA667}"/>
                </a:ext>
              </a:extLst>
            </p:cNvPr>
            <p:cNvSpPr>
              <a:spLocks noChangeShapeType="1"/>
            </p:cNvSpPr>
            <p:nvPr/>
          </p:nvSpPr>
          <p:spPr bwMode="auto">
            <a:xfrm>
              <a:off x="7254875" y="2863850"/>
              <a:ext cx="0" cy="309563"/>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1162" name="Line 26">
              <a:extLst>
                <a:ext uri="{FF2B5EF4-FFF2-40B4-BE49-F238E27FC236}">
                  <a16:creationId xmlns:a16="http://schemas.microsoft.com/office/drawing/2014/main" id="{5C2B258C-A049-5443-A9EE-0AF85B66CCE3}"/>
                </a:ext>
              </a:extLst>
            </p:cNvPr>
            <p:cNvSpPr>
              <a:spLocks noChangeShapeType="1"/>
            </p:cNvSpPr>
            <p:nvPr/>
          </p:nvSpPr>
          <p:spPr bwMode="auto">
            <a:xfrm>
              <a:off x="7407275" y="3916364"/>
              <a:ext cx="0" cy="309562"/>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grpSp>
      <p:sp>
        <p:nvSpPr>
          <p:cNvPr id="27" name="矩形 26">
            <a:extLst>
              <a:ext uri="{FF2B5EF4-FFF2-40B4-BE49-F238E27FC236}">
                <a16:creationId xmlns:a16="http://schemas.microsoft.com/office/drawing/2014/main" id="{9781BB51-651A-4D42-A754-DBD0EC553EEE}"/>
              </a:ext>
            </a:extLst>
          </p:cNvPr>
          <p:cNvSpPr/>
          <p:nvPr/>
        </p:nvSpPr>
        <p:spPr>
          <a:xfrm>
            <a:off x="587375" y="4913313"/>
            <a:ext cx="8153400" cy="757237"/>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400">
                <a:effectLst>
                  <a:outerShdw blurRad="38100" dist="38100" dir="2700000" algn="tl">
                    <a:srgbClr val="C0C0C0"/>
                  </a:outerShdw>
                </a:effectLst>
                <a:latin typeface="黑体" panose="02010609060101010101" pitchFamily="49" charset="-122"/>
                <a:ea typeface="黑体" panose="02010609060101010101" pitchFamily="49" charset="-122"/>
              </a:rPr>
              <a:t>脆弱性：</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攻击者很容易构造一张</a:t>
            </a:r>
            <a:r>
              <a:rPr lang="en-US" altLang="zh-CN" sz="2400">
                <a:effectLst>
                  <a:outerShdw blurRad="38100" dist="38100" dir="2700000" algn="tl">
                    <a:srgbClr val="C0C0C0"/>
                  </a:outerShdw>
                </a:effectLst>
                <a:latin typeface="黑体" panose="02010609060101010101" pitchFamily="49" charset="-122"/>
                <a:ea typeface="黑体" panose="02010609060101010101" pitchFamily="49" charset="-122"/>
              </a:rPr>
              <a:t>q</a:t>
            </a:r>
            <a:r>
              <a:rPr lang="zh-CN" altLang="en-US" sz="2400">
                <a:effectLst>
                  <a:outerShdw blurRad="38100" dist="38100" dir="2700000" algn="tl">
                    <a:srgbClr val="C0C0C0"/>
                  </a:outerShdw>
                </a:effectLst>
                <a:latin typeface="黑体" panose="02010609060101010101" pitchFamily="49" charset="-122"/>
                <a:ea typeface="黑体" panose="02010609060101010101" pitchFamily="49" charset="-122"/>
              </a:rPr>
              <a:t>与</a:t>
            </a:r>
            <a:r>
              <a:rPr lang="en-US" altLang="zh-CN" sz="2400">
                <a:effectLst>
                  <a:outerShdw blurRad="38100" dist="38100" dir="2700000" algn="tl">
                    <a:srgbClr val="C0C0C0"/>
                  </a:outerShdw>
                </a:effectLst>
                <a:latin typeface="黑体" panose="02010609060101010101" pitchFamily="49" charset="-122"/>
                <a:ea typeface="黑体" panose="02010609060101010101" pitchFamily="49" charset="-122"/>
              </a:rPr>
              <a:t>p</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对应的表，表中的</a:t>
            </a: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p</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尽可能包含所期望的值，形成字典攻击。</a:t>
            </a:r>
            <a:endPar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3" name="矩形 2">
            <a:extLst>
              <a:ext uri="{FF2B5EF4-FFF2-40B4-BE49-F238E27FC236}">
                <a16:creationId xmlns:a16="http://schemas.microsoft.com/office/drawing/2014/main" id="{74B6B280-B944-0C4E-902E-EC20A0A77738}"/>
              </a:ext>
            </a:extLst>
          </p:cNvPr>
          <p:cNvSpPr/>
          <p:nvPr/>
        </p:nvSpPr>
        <p:spPr>
          <a:xfrm>
            <a:off x="152400" y="5741988"/>
            <a:ext cx="7467600" cy="481012"/>
          </a:xfrm>
          <a:prstGeom prst="rect">
            <a:avLst/>
          </a:prstGeom>
        </p:spPr>
        <p:txBody>
          <a:bodyPr>
            <a:spAutoFit/>
          </a:bodyPr>
          <a:lstStyle>
            <a:lvl1pPr marL="342900" indent="-342900">
              <a:defRPr kumimoji="1" sz="4800" b="1">
                <a:solidFill>
                  <a:srgbClr val="FF0000"/>
                </a:solidFill>
                <a:latin typeface="隶书" pitchFamily="49" charset="-122"/>
                <a:ea typeface="隶书" pitchFamily="49" charset="-122"/>
              </a:defRPr>
            </a:lvl1pPr>
            <a:lvl2pPr>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ct val="90000"/>
              </a:lnSpc>
              <a:buClr>
                <a:srgbClr val="A3651C"/>
              </a:buClr>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解决办法：</a:t>
            </a:r>
            <a:r>
              <a:rPr lang="zh-CN" altLang="en-US" sz="28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在口令后使用</a:t>
            </a:r>
            <a:r>
              <a:rPr lang="zh-CN" altLang="en-US" sz="2800">
                <a:solidFill>
                  <a:srgbClr val="0000FF"/>
                </a:solidFill>
                <a:effectLst>
                  <a:outerShdw blurRad="38100" dist="38100" dir="2700000" algn="tl">
                    <a:srgbClr val="C0C0C0"/>
                  </a:outerShdw>
                </a:effectLst>
                <a:ea typeface="宋体" panose="02010600030101010101" pitchFamily="2" charset="-122"/>
              </a:rPr>
              <a:t>随机串（</a:t>
            </a:r>
            <a:r>
              <a:rPr lang="en-US" altLang="zh-CN" sz="2800">
                <a:solidFill>
                  <a:srgbClr val="0000FF"/>
                </a:solidFill>
                <a:effectLst>
                  <a:outerShdw blurRad="38100" dist="38100" dir="2700000" algn="tl">
                    <a:srgbClr val="C0C0C0"/>
                  </a:outerShdw>
                </a:effectLst>
                <a:ea typeface="宋体" panose="02010600030101010101" pitchFamily="2" charset="-122"/>
              </a:rPr>
              <a:t>Salt</a:t>
            </a:r>
            <a:r>
              <a:rPr lang="zh-CN" altLang="en-US" sz="2800">
                <a:solidFill>
                  <a:srgbClr val="0000FF"/>
                </a:solidFill>
                <a:effectLst>
                  <a:outerShdw blurRad="38100" dist="38100" dir="2700000" algn="tl">
                    <a:srgbClr val="C0C0C0"/>
                  </a:outerShdw>
                </a:effectLst>
                <a:ea typeface="宋体" panose="02010600030101010101" pitchFamily="2" charset="-122"/>
              </a:rPr>
              <a:t>）</a:t>
            </a:r>
            <a:endParaRPr lang="en-US" altLang="zh-CN" sz="28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71544DA4-1B5A-0F42-93D6-3427321A5E2E}"/>
              </a:ext>
            </a:extLst>
          </p:cNvPr>
          <p:cNvSpPr txBox="1"/>
          <p:nvPr/>
        </p:nvSpPr>
        <p:spPr>
          <a:xfrm>
            <a:off x="8172339" y="2349996"/>
            <a:ext cx="1074959" cy="830997"/>
          </a:xfrm>
          <a:prstGeom prst="rect">
            <a:avLst/>
          </a:prstGeom>
          <a:noFill/>
        </p:spPr>
        <p:txBody>
          <a:bodyPr wrap="square" rtlCol="0">
            <a:spAutoFit/>
          </a:bodyPr>
          <a:lstStyle/>
          <a:p>
            <a:r>
              <a:rPr kumimoji="1" lang="en-US" altLang="zh-CN" sz="1600" dirty="0">
                <a:solidFill>
                  <a:schemeClr val="bg2"/>
                </a:solidFill>
              </a:rPr>
              <a:t>Id</a:t>
            </a:r>
            <a:r>
              <a:rPr kumimoji="1" lang="zh-CN" altLang="en-US" sz="1600" dirty="0">
                <a:solidFill>
                  <a:schemeClr val="bg2"/>
                </a:solidFill>
              </a:rPr>
              <a:t>用于数据库调取存的密码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71139">
                                            <p:bg/>
                                          </p:spTgt>
                                        </p:tgtEl>
                                        <p:attrNameLst>
                                          <p:attrName>style.visibility</p:attrName>
                                        </p:attrNameLst>
                                      </p:cBhvr>
                                      <p:to>
                                        <p:strVal val="visible"/>
                                      </p:to>
                                    </p:set>
                                    <p:anim calcmode="lin" valueType="num">
                                      <p:cBhvr>
                                        <p:cTn id="7" dur="500" fill="hold"/>
                                        <p:tgtEl>
                                          <p:spTgt spid="1371139">
                                            <p:bg/>
                                          </p:spTgt>
                                        </p:tgtEl>
                                        <p:attrNameLst>
                                          <p:attrName>ppt_w</p:attrName>
                                        </p:attrNameLst>
                                      </p:cBhvr>
                                      <p:tavLst>
                                        <p:tav tm="0">
                                          <p:val>
                                            <p:fltVal val="0"/>
                                          </p:val>
                                        </p:tav>
                                        <p:tav tm="100000">
                                          <p:val>
                                            <p:strVal val="#ppt_w"/>
                                          </p:val>
                                        </p:tav>
                                      </p:tavLst>
                                    </p:anim>
                                    <p:anim calcmode="lin" valueType="num">
                                      <p:cBhvr>
                                        <p:cTn id="8" dur="500" fill="hold"/>
                                        <p:tgtEl>
                                          <p:spTgt spid="1371139">
                                            <p:bg/>
                                          </p:spTgt>
                                        </p:tgtEl>
                                        <p:attrNameLst>
                                          <p:attrName>ppt_h</p:attrName>
                                        </p:attrNameLst>
                                      </p:cBhvr>
                                      <p:tavLst>
                                        <p:tav tm="0">
                                          <p:val>
                                            <p:fltVal val="0"/>
                                          </p:val>
                                        </p:tav>
                                        <p:tav tm="100000">
                                          <p:val>
                                            <p:strVal val="#ppt_h"/>
                                          </p:val>
                                        </p:tav>
                                      </p:tavLst>
                                    </p:anim>
                                    <p:animEffect transition="in" filter="fade">
                                      <p:cBhvr>
                                        <p:cTn id="9" dur="500"/>
                                        <p:tgtEl>
                                          <p:spTgt spid="1371139">
                                            <p:bg/>
                                          </p:spTgt>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371139">
                                            <p:txEl>
                                              <p:pRg st="0" end="0"/>
                                            </p:txEl>
                                          </p:spTgt>
                                        </p:tgtEl>
                                        <p:attrNameLst>
                                          <p:attrName>style.visibility</p:attrName>
                                        </p:attrNameLst>
                                      </p:cBhvr>
                                      <p:to>
                                        <p:strVal val="visible"/>
                                      </p:to>
                                    </p:set>
                                    <p:anim calcmode="lin" valueType="num">
                                      <p:cBhvr>
                                        <p:cTn id="13" dur="500" fill="hold"/>
                                        <p:tgtEl>
                                          <p:spTgt spid="1371139">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371139">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1371139">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16"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p:cTn id="20" dur="500" fill="hold"/>
                                        <p:tgtEl>
                                          <p:spTgt spid="4"/>
                                        </p:tgtEl>
                                        <p:attrNameLst>
                                          <p:attrName>ppt_w</p:attrName>
                                        </p:attrNameLst>
                                      </p:cBhvr>
                                      <p:tavLst>
                                        <p:tav tm="0">
                                          <p:val>
                                            <p:fltVal val="0"/>
                                          </p:val>
                                        </p:tav>
                                        <p:tav tm="100000">
                                          <p:val>
                                            <p:strVal val="#ppt_w"/>
                                          </p:val>
                                        </p:tav>
                                      </p:tavLst>
                                    </p:anim>
                                    <p:anim calcmode="lin" valueType="num">
                                      <p:cBhvr>
                                        <p:cTn id="21" dur="500" fill="hold"/>
                                        <p:tgtEl>
                                          <p:spTgt spid="4"/>
                                        </p:tgtEl>
                                        <p:attrNameLst>
                                          <p:attrName>ppt_h</p:attrName>
                                        </p:attrNameLst>
                                      </p:cBhvr>
                                      <p:tavLst>
                                        <p:tav tm="0">
                                          <p:val>
                                            <p:fltVal val="0"/>
                                          </p:val>
                                        </p:tav>
                                        <p:tav tm="100000">
                                          <p:val>
                                            <p:strVal val="#ppt_h"/>
                                          </p:val>
                                        </p:tav>
                                      </p:tavLst>
                                    </p:anim>
                                    <p:animEffect transition="in" filter="fade">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up)">
                                      <p:cBhvr>
                                        <p:cTn id="27" dur="500"/>
                                        <p:tgtEl>
                                          <p:spTgt spid="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circle(in)">
                                      <p:cBhvr>
                                        <p:cTn id="3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1139" grpId="0" build="p" animBg="1"/>
      <p:bldP spid="27" grpId="0"/>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FB88FAD-F726-D24F-ADDE-9C41F15F20A9}"/>
              </a:ext>
            </a:extLst>
          </p:cNvPr>
          <p:cNvGrpSpPr>
            <a:grpSpLocks/>
          </p:cNvGrpSpPr>
          <p:nvPr/>
        </p:nvGrpSpPr>
        <p:grpSpPr bwMode="auto">
          <a:xfrm>
            <a:off x="533400" y="2057400"/>
            <a:ext cx="7848600" cy="4084638"/>
            <a:chOff x="533400" y="2057400"/>
            <a:chExt cx="7848600" cy="4084638"/>
          </a:xfrm>
        </p:grpSpPr>
        <p:pic>
          <p:nvPicPr>
            <p:cNvPr id="54275" name="Picture 46">
              <a:extLst>
                <a:ext uri="{FF2B5EF4-FFF2-40B4-BE49-F238E27FC236}">
                  <a16:creationId xmlns:a16="http://schemas.microsoft.com/office/drawing/2014/main" id="{C976E91E-855C-3E41-A167-62CEA6EE7D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057400"/>
              <a:ext cx="7848600" cy="365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29">
              <a:extLst>
                <a:ext uri="{FF2B5EF4-FFF2-40B4-BE49-F238E27FC236}">
                  <a16:creationId xmlns:a16="http://schemas.microsoft.com/office/drawing/2014/main" id="{49FC79D3-6B1B-7744-9507-FD5117B77FEF}"/>
                </a:ext>
              </a:extLst>
            </p:cNvPr>
            <p:cNvSpPr txBox="1">
              <a:spLocks noChangeArrowheads="1"/>
            </p:cNvSpPr>
            <p:nvPr/>
          </p:nvSpPr>
          <p:spPr bwMode="auto">
            <a:xfrm>
              <a:off x="2667000" y="5716588"/>
              <a:ext cx="3702050" cy="425450"/>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zh-CN" altLang="en-US" sz="2000">
                  <a:solidFill>
                    <a:srgbClr val="000000"/>
                  </a:solidFill>
                  <a:latin typeface="华文中宋" panose="02010600040101010101" pitchFamily="2" charset="-122"/>
                  <a:ea typeface="华文中宋" panose="02010600040101010101" pitchFamily="2" charset="-122"/>
                </a:rPr>
                <a:t>加</a:t>
              </a:r>
              <a:r>
                <a:rPr lang="en-US" altLang="zh-CN" sz="2000">
                  <a:solidFill>
                    <a:srgbClr val="000000"/>
                  </a:solidFill>
                  <a:latin typeface="华文中宋" panose="02010600040101010101" pitchFamily="2" charset="-122"/>
                  <a:ea typeface="华文中宋" panose="02010600040101010101" pitchFamily="2" charset="-122"/>
                </a:rPr>
                <a:t>salt</a:t>
              </a:r>
              <a:r>
                <a:rPr lang="zh-CN" altLang="en-US" sz="2000">
                  <a:solidFill>
                    <a:srgbClr val="000000"/>
                  </a:solidFill>
                  <a:latin typeface="华文中宋" panose="02010600040101010101" pitchFamily="2" charset="-122"/>
                  <a:ea typeface="华文中宋" panose="02010600040101010101" pitchFamily="2" charset="-122"/>
                </a:rPr>
                <a:t>机制的鉴别交互示意图</a:t>
              </a:r>
              <a:endParaRPr lang="zh-CN" altLang="en-US" sz="2000">
                <a:latin typeface="华文中宋" panose="02010600040101010101" pitchFamily="2" charset="-122"/>
                <a:ea typeface="华文中宋" panose="02010600040101010101" pitchFamily="2" charset="-122"/>
              </a:endParaRPr>
            </a:p>
          </p:txBody>
        </p:sp>
      </p:grpSp>
      <p:sp>
        <p:nvSpPr>
          <p:cNvPr id="54276" name="矩形 5">
            <a:extLst>
              <a:ext uri="{FF2B5EF4-FFF2-40B4-BE49-F238E27FC236}">
                <a16:creationId xmlns:a16="http://schemas.microsoft.com/office/drawing/2014/main" id="{3E9DB740-BB40-B34A-97A9-3804A0EBF40F}"/>
              </a:ext>
            </a:extLst>
          </p:cNvPr>
          <p:cNvSpPr>
            <a:spLocks noChangeArrowheads="1"/>
          </p:cNvSpPr>
          <p:nvPr/>
        </p:nvSpPr>
        <p:spPr bwMode="auto">
          <a:xfrm>
            <a:off x="228600" y="815975"/>
            <a:ext cx="8458200"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zh-CN" altLang="en-US" sz="2400" dirty="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加盐（</a:t>
            </a:r>
            <a:r>
              <a:rPr lang="en-US" altLang="zh-CN" sz="2400" dirty="0">
                <a:solidFill>
                  <a:schemeClr val="bg2"/>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Salt</a:t>
            </a:r>
            <a:r>
              <a:rPr lang="en-US" altLang="zh-CN" sz="2400" dirty="0">
                <a:solidFill>
                  <a:schemeClr val="bg2"/>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）就是在进行散列运算时，增加</a:t>
            </a:r>
            <a:r>
              <a:rPr lang="en-US" altLang="zh-CN" sz="2400" dirty="0">
                <a:solidFill>
                  <a:schemeClr val="bg2"/>
                </a:solidFill>
                <a:latin typeface="Times New Roman" panose="02020603050405020304" pitchFamily="18" charset="0"/>
                <a:ea typeface="黑体" panose="02010609060101010101" pitchFamily="49" charset="-122"/>
                <a:cs typeface="Times New Roman" panose="02020603050405020304" pitchFamily="18" charset="0"/>
              </a:rPr>
              <a:t>Salt</a:t>
            </a:r>
            <a:r>
              <a:rPr lang="zh-CN" altLang="en-US" sz="2400" dirty="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字符串的输入，通过</a:t>
            </a:r>
            <a:r>
              <a:rPr lang="en-US" altLang="zh-CN" sz="2400" dirty="0">
                <a:solidFill>
                  <a:schemeClr val="bg2"/>
                </a:solidFill>
                <a:latin typeface="Times New Roman" panose="02020603050405020304" pitchFamily="18" charset="0"/>
                <a:ea typeface="黑体" panose="02010609060101010101" pitchFamily="49" charset="-122"/>
                <a:cs typeface="Times New Roman" panose="02020603050405020304" pitchFamily="18" charset="0"/>
              </a:rPr>
              <a:t>Salt</a:t>
            </a:r>
            <a:r>
              <a:rPr lang="zh-CN" altLang="en-US" sz="2400" dirty="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和口令混合（以特定符号间隔）加密得出散列值。可以看出，加入随机字符串（盐）后，将使得字典攻击的实施变得困难。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4276"/>
                                        </p:tgtEl>
                                        <p:attrNameLst>
                                          <p:attrName>style.visibility</p:attrName>
                                        </p:attrNameLst>
                                      </p:cBhvr>
                                      <p:to>
                                        <p:strVal val="visible"/>
                                      </p:to>
                                    </p:set>
                                    <p:anim calcmode="lin" valueType="num">
                                      <p:cBhvr>
                                        <p:cTn id="7" dur="500" fill="hold"/>
                                        <p:tgtEl>
                                          <p:spTgt spid="54276"/>
                                        </p:tgtEl>
                                        <p:attrNameLst>
                                          <p:attrName>ppt_w</p:attrName>
                                        </p:attrNameLst>
                                      </p:cBhvr>
                                      <p:tavLst>
                                        <p:tav tm="0">
                                          <p:val>
                                            <p:fltVal val="0"/>
                                          </p:val>
                                        </p:tav>
                                        <p:tav tm="100000">
                                          <p:val>
                                            <p:strVal val="#ppt_w"/>
                                          </p:val>
                                        </p:tav>
                                      </p:tavLst>
                                    </p:anim>
                                    <p:anim calcmode="lin" valueType="num">
                                      <p:cBhvr>
                                        <p:cTn id="8" dur="500" fill="hold"/>
                                        <p:tgtEl>
                                          <p:spTgt spid="54276"/>
                                        </p:tgtEl>
                                        <p:attrNameLst>
                                          <p:attrName>ppt_h</p:attrName>
                                        </p:attrNameLst>
                                      </p:cBhvr>
                                      <p:tavLst>
                                        <p:tav tm="0">
                                          <p:val>
                                            <p:fltVal val="0"/>
                                          </p:val>
                                        </p:tav>
                                        <p:tav tm="100000">
                                          <p:val>
                                            <p:strVal val="#ppt_h"/>
                                          </p:val>
                                        </p:tav>
                                      </p:tavLst>
                                    </p:anim>
                                    <p:animEffect transition="in" filter="fade">
                                      <p:cBhvr>
                                        <p:cTn id="9" dur="500"/>
                                        <p:tgtEl>
                                          <p:spTgt spid="5427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0AD207-2B0A-E94C-9FFD-44801D1617CF}"/>
              </a:ext>
            </a:extLst>
          </p:cNvPr>
          <p:cNvSpPr txBox="1">
            <a:spLocks noChangeArrowheads="1"/>
          </p:cNvSpPr>
          <p:nvPr/>
        </p:nvSpPr>
        <p:spPr bwMode="auto">
          <a:xfrm>
            <a:off x="304800" y="4495800"/>
            <a:ext cx="8229600" cy="1447800"/>
          </a:xfrm>
          <a:prstGeom prst="rect">
            <a:avLst/>
          </a:prstGeom>
          <a:noFill/>
          <a:ln>
            <a:miter lim="800000"/>
            <a:headEnd/>
            <a:tailEnd/>
          </a:ln>
        </p:spPr>
        <p:txBody>
          <a:bodyPr/>
          <a:lstStyle>
            <a:lvl1pPr marL="571500" indent="-5715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Clr>
                <a:schemeClr val="tx2"/>
              </a:buClr>
              <a:buSzPct val="75000"/>
              <a:defRPr/>
            </a:pPr>
            <a:r>
              <a:rPr kumimoji="0" lang="zh-CN" altLang="en-US" sz="32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       只能保护在多台计算机上使用相同口令或在同一计算机上使用同一口令的不同用户。</a:t>
            </a:r>
          </a:p>
        </p:txBody>
      </p:sp>
      <p:sp>
        <p:nvSpPr>
          <p:cNvPr id="2" name="矩形 1">
            <a:extLst>
              <a:ext uri="{FF2B5EF4-FFF2-40B4-BE49-F238E27FC236}">
                <a16:creationId xmlns:a16="http://schemas.microsoft.com/office/drawing/2014/main" id="{3367132D-8FD6-B24F-B71E-C4DDCB8EF57C}"/>
              </a:ext>
            </a:extLst>
          </p:cNvPr>
          <p:cNvSpPr/>
          <p:nvPr/>
        </p:nvSpPr>
        <p:spPr>
          <a:xfrm>
            <a:off x="390525" y="892175"/>
            <a:ext cx="6934200" cy="592138"/>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Clr>
                <a:schemeClr val="tx2"/>
              </a:buClr>
              <a:buSzPct val="75000"/>
              <a:defRPr/>
            </a:pPr>
            <a:r>
              <a:rPr kumimoji="0" lang="zh-CN" altLang="en-US" sz="3600" dirty="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该方案的主要缺陷是：</a:t>
            </a:r>
          </a:p>
        </p:txBody>
      </p:sp>
      <p:pic>
        <p:nvPicPr>
          <p:cNvPr id="3" name="图片 2">
            <a:extLst>
              <a:ext uri="{FF2B5EF4-FFF2-40B4-BE49-F238E27FC236}">
                <a16:creationId xmlns:a16="http://schemas.microsoft.com/office/drawing/2014/main" id="{83AFC862-66F8-6C45-BC1E-E1CBF78DA10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752600"/>
            <a:ext cx="28956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D55185E0-F3D4-7D4B-8654-0DAC1C9E169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568450"/>
            <a:ext cx="1876425"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Effect transition="in" filter="fade">
                                      <p:cBhvr>
                                        <p:cTn id="9" dur="1000"/>
                                        <p:tgtEl>
                                          <p:spTgt spid="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up)">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5234" name="Rectangle 2">
            <a:extLst>
              <a:ext uri="{FF2B5EF4-FFF2-40B4-BE49-F238E27FC236}">
                <a16:creationId xmlns:a16="http://schemas.microsoft.com/office/drawing/2014/main" id="{C1D1F776-4AC3-6745-9BB7-2F2FEA711945}"/>
              </a:ext>
            </a:extLst>
          </p:cNvPr>
          <p:cNvSpPr>
            <a:spLocks noGrp="1" noChangeArrowheads="1"/>
          </p:cNvSpPr>
          <p:nvPr>
            <p:ph type="title"/>
          </p:nvPr>
        </p:nvSpPr>
        <p:spPr bwMode="auto">
          <a:xfrm>
            <a:off x="228600" y="762000"/>
            <a:ext cx="8232775" cy="8382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dirty="0">
                <a:solidFill>
                  <a:srgbClr val="FF0000"/>
                </a:solidFill>
                <a:latin typeface="黑体" panose="02010609060101010101" pitchFamily="49" charset="-122"/>
                <a:ea typeface="黑体" panose="02010609060101010101" pitchFamily="49" charset="-122"/>
              </a:rPr>
              <a:t>基本的对付危及验证者的措施</a:t>
            </a:r>
          </a:p>
        </p:txBody>
      </p:sp>
      <p:grpSp>
        <p:nvGrpSpPr>
          <p:cNvPr id="2" name="组合 1">
            <a:extLst>
              <a:ext uri="{FF2B5EF4-FFF2-40B4-BE49-F238E27FC236}">
                <a16:creationId xmlns:a16="http://schemas.microsoft.com/office/drawing/2014/main" id="{E8D1845A-BD0D-C443-9415-8355B10F21E8}"/>
              </a:ext>
            </a:extLst>
          </p:cNvPr>
          <p:cNvGrpSpPr>
            <a:grpSpLocks/>
          </p:cNvGrpSpPr>
          <p:nvPr/>
        </p:nvGrpSpPr>
        <p:grpSpPr bwMode="auto">
          <a:xfrm>
            <a:off x="533400" y="2133600"/>
            <a:ext cx="8077200" cy="3657600"/>
            <a:chOff x="533400" y="2133600"/>
            <a:chExt cx="8077200" cy="3657600"/>
          </a:xfrm>
        </p:grpSpPr>
        <p:sp>
          <p:nvSpPr>
            <p:cNvPr id="1375236" name="Rectangle 4">
              <a:extLst>
                <a:ext uri="{FF2B5EF4-FFF2-40B4-BE49-F238E27FC236}">
                  <a16:creationId xmlns:a16="http://schemas.microsoft.com/office/drawing/2014/main" id="{645AFCB1-0FFF-B247-A2F1-C792349B3817}"/>
                </a:ext>
              </a:extLst>
            </p:cNvPr>
            <p:cNvSpPr>
              <a:spLocks noChangeArrowheads="1"/>
            </p:cNvSpPr>
            <p:nvPr/>
          </p:nvSpPr>
          <p:spPr bwMode="auto">
            <a:xfrm>
              <a:off x="1905000" y="2895600"/>
              <a:ext cx="1295400" cy="2819400"/>
            </a:xfrm>
            <a:prstGeom prst="rect">
              <a:avLst/>
            </a:prstGeom>
            <a:solidFill>
              <a:schemeClr val="hlink"/>
            </a:solidFill>
            <a:ln w="28575">
              <a:solidFill>
                <a:schemeClr val="bg2"/>
              </a:solidFill>
              <a:prstDash val="dash"/>
              <a:miter lim="800000"/>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6325" name="Rectangle 5">
              <a:extLst>
                <a:ext uri="{FF2B5EF4-FFF2-40B4-BE49-F238E27FC236}">
                  <a16:creationId xmlns:a16="http://schemas.microsoft.com/office/drawing/2014/main" id="{95B08C40-8380-D643-BD90-E096003E6E35}"/>
                </a:ext>
              </a:extLst>
            </p:cNvPr>
            <p:cNvSpPr>
              <a:spLocks noChangeArrowheads="1"/>
            </p:cNvSpPr>
            <p:nvPr/>
          </p:nvSpPr>
          <p:spPr bwMode="auto">
            <a:xfrm>
              <a:off x="4343400" y="3886200"/>
              <a:ext cx="609600" cy="5334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chemeClr val="bg2"/>
                  </a:solidFill>
                  <a:latin typeface="Times New Roman" panose="02020603050405020304" pitchFamily="18" charset="0"/>
                  <a:ea typeface="宋体" panose="02010600030101010101" pitchFamily="2" charset="-122"/>
                </a:rPr>
                <a:t>p</a:t>
              </a:r>
              <a:r>
                <a:rPr lang="en-US" altLang="zh-CN" sz="2400">
                  <a:solidFill>
                    <a:schemeClr val="bg2"/>
                  </a:solidFill>
                  <a:latin typeface="Times New Roman" panose="02020603050405020304" pitchFamily="18" charset="0"/>
                  <a:ea typeface="宋体" panose="02010600030101010101" pitchFamily="2" charset="-122"/>
                  <a:sym typeface="Symbol" pitchFamily="2" charset="2"/>
                </a:rPr>
                <a:t></a:t>
              </a:r>
            </a:p>
          </p:txBody>
        </p:sp>
        <p:sp>
          <p:nvSpPr>
            <p:cNvPr id="56326" name="Rectangle 6">
              <a:extLst>
                <a:ext uri="{FF2B5EF4-FFF2-40B4-BE49-F238E27FC236}">
                  <a16:creationId xmlns:a16="http://schemas.microsoft.com/office/drawing/2014/main" id="{66BAC7E2-8464-5C43-9021-FA00D981CDA8}"/>
                </a:ext>
              </a:extLst>
            </p:cNvPr>
            <p:cNvSpPr>
              <a:spLocks noChangeArrowheads="1"/>
            </p:cNvSpPr>
            <p:nvPr/>
          </p:nvSpPr>
          <p:spPr bwMode="auto">
            <a:xfrm>
              <a:off x="4953000" y="3886200"/>
              <a:ext cx="609600" cy="5334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id</a:t>
              </a:r>
              <a:endParaRPr lang="en-US" altLang="zh-CN" sz="2400" b="0">
                <a:solidFill>
                  <a:srgbClr val="000066"/>
                </a:solidFill>
                <a:latin typeface="Times New Roman" panose="02020603050405020304" pitchFamily="18" charset="0"/>
                <a:ea typeface="宋体" panose="02010600030101010101" pitchFamily="2" charset="-122"/>
              </a:endParaRPr>
            </a:p>
          </p:txBody>
        </p:sp>
        <p:sp>
          <p:nvSpPr>
            <p:cNvPr id="56327" name="Rectangle 7">
              <a:extLst>
                <a:ext uri="{FF2B5EF4-FFF2-40B4-BE49-F238E27FC236}">
                  <a16:creationId xmlns:a16="http://schemas.microsoft.com/office/drawing/2014/main" id="{5AD5F020-0BC9-A84E-B1D3-61000B4B89F6}"/>
                </a:ext>
              </a:extLst>
            </p:cNvPr>
            <p:cNvSpPr>
              <a:spLocks noChangeArrowheads="1"/>
            </p:cNvSpPr>
            <p:nvPr/>
          </p:nvSpPr>
          <p:spPr bwMode="auto">
            <a:xfrm>
              <a:off x="6172200" y="2819400"/>
              <a:ext cx="2438400" cy="2971800"/>
            </a:xfrm>
            <a:prstGeom prst="rect">
              <a:avLst/>
            </a:prstGeom>
            <a:solidFill>
              <a:schemeClr val="hlink"/>
            </a:solidFill>
            <a:ln w="28575">
              <a:solidFill>
                <a:schemeClr val="bg2"/>
              </a:solidFill>
              <a:prstDash val="dash"/>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endParaRPr lang="zh-CN" altLang="en-US" sz="2400" b="0">
                <a:solidFill>
                  <a:srgbClr val="000066"/>
                </a:solidFill>
                <a:latin typeface="Times New Roman" panose="02020603050405020304" pitchFamily="18" charset="0"/>
                <a:ea typeface="宋体" panose="02010600030101010101" pitchFamily="2" charset="-122"/>
              </a:endParaRPr>
            </a:p>
          </p:txBody>
        </p:sp>
        <p:sp>
          <p:nvSpPr>
            <p:cNvPr id="56328" name="Rectangle 8">
              <a:extLst>
                <a:ext uri="{FF2B5EF4-FFF2-40B4-BE49-F238E27FC236}">
                  <a16:creationId xmlns:a16="http://schemas.microsoft.com/office/drawing/2014/main" id="{F8647CBB-9E96-0C40-B5AE-44716860F151}"/>
                </a:ext>
              </a:extLst>
            </p:cNvPr>
            <p:cNvSpPr>
              <a:spLocks noChangeArrowheads="1"/>
            </p:cNvSpPr>
            <p:nvPr/>
          </p:nvSpPr>
          <p:spPr bwMode="auto">
            <a:xfrm>
              <a:off x="7010400" y="3124200"/>
              <a:ext cx="609600" cy="5334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id</a:t>
              </a:r>
              <a:endParaRPr lang="en-US" altLang="zh-CN" sz="2400" b="0">
                <a:solidFill>
                  <a:srgbClr val="000066"/>
                </a:solidFill>
                <a:latin typeface="Times New Roman" panose="02020603050405020304" pitchFamily="18" charset="0"/>
                <a:ea typeface="宋体" panose="02010600030101010101" pitchFamily="2" charset="-122"/>
              </a:endParaRPr>
            </a:p>
          </p:txBody>
        </p:sp>
        <p:sp>
          <p:nvSpPr>
            <p:cNvPr id="56329" name="Rectangle 9">
              <a:extLst>
                <a:ext uri="{FF2B5EF4-FFF2-40B4-BE49-F238E27FC236}">
                  <a16:creationId xmlns:a16="http://schemas.microsoft.com/office/drawing/2014/main" id="{FE49EAD3-F04B-5141-A932-0E77D79DA007}"/>
                </a:ext>
              </a:extLst>
            </p:cNvPr>
            <p:cNvSpPr>
              <a:spLocks noChangeArrowheads="1"/>
            </p:cNvSpPr>
            <p:nvPr/>
          </p:nvSpPr>
          <p:spPr bwMode="auto">
            <a:xfrm>
              <a:off x="7620000" y="3124200"/>
              <a:ext cx="609600" cy="5334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q</a:t>
              </a:r>
            </a:p>
          </p:txBody>
        </p:sp>
        <p:sp>
          <p:nvSpPr>
            <p:cNvPr id="56330" name="Oval 10">
              <a:extLst>
                <a:ext uri="{FF2B5EF4-FFF2-40B4-BE49-F238E27FC236}">
                  <a16:creationId xmlns:a16="http://schemas.microsoft.com/office/drawing/2014/main" id="{F0498DE9-0F58-7047-BFC2-46F89BA16808}"/>
                </a:ext>
              </a:extLst>
            </p:cNvPr>
            <p:cNvSpPr>
              <a:spLocks noChangeArrowheads="1"/>
            </p:cNvSpPr>
            <p:nvPr/>
          </p:nvSpPr>
          <p:spPr bwMode="auto">
            <a:xfrm>
              <a:off x="7315200" y="4038600"/>
              <a:ext cx="914400" cy="914400"/>
            </a:xfrm>
            <a:prstGeom prst="ellipse">
              <a:avLst/>
            </a:prstGeom>
            <a:solidFill>
              <a:srgbClr val="99FF99"/>
            </a:solidFill>
            <a:ln w="9525">
              <a:solidFill>
                <a:schemeClr val="bg2"/>
              </a:solidFill>
              <a:round/>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zh-CN" altLang="en-US" sz="2400">
                  <a:solidFill>
                    <a:srgbClr val="000066"/>
                  </a:solidFill>
                  <a:latin typeface="Times New Roman" panose="02020603050405020304" pitchFamily="18" charset="0"/>
                  <a:ea typeface="宋体" panose="02010600030101010101" pitchFamily="2" charset="-122"/>
                </a:rPr>
                <a:t>比较</a:t>
              </a:r>
            </a:p>
          </p:txBody>
        </p:sp>
        <p:sp>
          <p:nvSpPr>
            <p:cNvPr id="56331" name="Text Box 11">
              <a:extLst>
                <a:ext uri="{FF2B5EF4-FFF2-40B4-BE49-F238E27FC236}">
                  <a16:creationId xmlns:a16="http://schemas.microsoft.com/office/drawing/2014/main" id="{3518809D-42F0-7149-AE12-5E3DD9B1C956}"/>
                </a:ext>
              </a:extLst>
            </p:cNvPr>
            <p:cNvSpPr txBox="1">
              <a:spLocks noChangeArrowheads="1"/>
            </p:cNvSpPr>
            <p:nvPr/>
          </p:nvSpPr>
          <p:spPr bwMode="auto">
            <a:xfrm>
              <a:off x="7086600" y="5257800"/>
              <a:ext cx="1419225"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是或不是</a:t>
              </a:r>
            </a:p>
          </p:txBody>
        </p:sp>
        <p:sp>
          <p:nvSpPr>
            <p:cNvPr id="56332" name="Text Box 12">
              <a:extLst>
                <a:ext uri="{FF2B5EF4-FFF2-40B4-BE49-F238E27FC236}">
                  <a16:creationId xmlns:a16="http://schemas.microsoft.com/office/drawing/2014/main" id="{ACB2C3D5-D2E1-094C-830B-73D154955CD5}"/>
                </a:ext>
              </a:extLst>
            </p:cNvPr>
            <p:cNvSpPr txBox="1">
              <a:spLocks noChangeArrowheads="1"/>
            </p:cNvSpPr>
            <p:nvPr/>
          </p:nvSpPr>
          <p:spPr bwMode="auto">
            <a:xfrm>
              <a:off x="1905000" y="2209800"/>
              <a:ext cx="1112838"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声称者</a:t>
              </a:r>
              <a:endParaRPr lang="zh-CN" altLang="en-US" sz="2400" b="0">
                <a:solidFill>
                  <a:srgbClr val="000066"/>
                </a:solidFill>
                <a:latin typeface="Times New Roman" panose="02020603050405020304" pitchFamily="18" charset="0"/>
                <a:ea typeface="宋体" panose="02010600030101010101" pitchFamily="2" charset="-122"/>
              </a:endParaRPr>
            </a:p>
          </p:txBody>
        </p:sp>
        <p:sp>
          <p:nvSpPr>
            <p:cNvPr id="56333" name="Text Box 13">
              <a:extLst>
                <a:ext uri="{FF2B5EF4-FFF2-40B4-BE49-F238E27FC236}">
                  <a16:creationId xmlns:a16="http://schemas.microsoft.com/office/drawing/2014/main" id="{D6B205AD-004F-5844-A56B-418F22D335EF}"/>
                </a:ext>
              </a:extLst>
            </p:cNvPr>
            <p:cNvSpPr txBox="1">
              <a:spLocks noChangeArrowheads="1"/>
            </p:cNvSpPr>
            <p:nvPr/>
          </p:nvSpPr>
          <p:spPr bwMode="auto">
            <a:xfrm>
              <a:off x="6705600" y="2133600"/>
              <a:ext cx="1112838"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验证者</a:t>
              </a:r>
              <a:endParaRPr lang="zh-CN" altLang="en-US" sz="2400" b="0">
                <a:solidFill>
                  <a:srgbClr val="000066"/>
                </a:solidFill>
                <a:latin typeface="Times New Roman" panose="02020603050405020304" pitchFamily="18" charset="0"/>
                <a:ea typeface="宋体" panose="02010600030101010101" pitchFamily="2" charset="-122"/>
              </a:endParaRPr>
            </a:p>
          </p:txBody>
        </p:sp>
        <p:sp>
          <p:nvSpPr>
            <p:cNvPr id="1375246" name="Line 14">
              <a:extLst>
                <a:ext uri="{FF2B5EF4-FFF2-40B4-BE49-F238E27FC236}">
                  <a16:creationId xmlns:a16="http://schemas.microsoft.com/office/drawing/2014/main" id="{65FDDEB1-BBCD-7B48-9C8D-13B77F4082F6}"/>
                </a:ext>
              </a:extLst>
            </p:cNvPr>
            <p:cNvSpPr>
              <a:spLocks noChangeShapeType="1"/>
            </p:cNvSpPr>
            <p:nvPr/>
          </p:nvSpPr>
          <p:spPr bwMode="auto">
            <a:xfrm flipH="1">
              <a:off x="1371600" y="5257800"/>
              <a:ext cx="3048000" cy="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5247" name="Line 15">
              <a:extLst>
                <a:ext uri="{FF2B5EF4-FFF2-40B4-BE49-F238E27FC236}">
                  <a16:creationId xmlns:a16="http://schemas.microsoft.com/office/drawing/2014/main" id="{CC0BECE9-41B0-DE49-8FFE-7CB23769C551}"/>
                </a:ext>
              </a:extLst>
            </p:cNvPr>
            <p:cNvSpPr>
              <a:spLocks noChangeShapeType="1"/>
            </p:cNvSpPr>
            <p:nvPr/>
          </p:nvSpPr>
          <p:spPr bwMode="auto">
            <a:xfrm flipV="1">
              <a:off x="4419600" y="4419600"/>
              <a:ext cx="838200" cy="8382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5248" name="Line 16">
              <a:extLst>
                <a:ext uri="{FF2B5EF4-FFF2-40B4-BE49-F238E27FC236}">
                  <a16:creationId xmlns:a16="http://schemas.microsoft.com/office/drawing/2014/main" id="{C16030E0-E789-8642-8D5E-D58D918C01A5}"/>
                </a:ext>
              </a:extLst>
            </p:cNvPr>
            <p:cNvSpPr>
              <a:spLocks noChangeShapeType="1"/>
            </p:cNvSpPr>
            <p:nvPr/>
          </p:nvSpPr>
          <p:spPr bwMode="auto">
            <a:xfrm>
              <a:off x="7848600" y="3657600"/>
              <a:ext cx="0" cy="3810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5249" name="Line 17">
              <a:extLst>
                <a:ext uri="{FF2B5EF4-FFF2-40B4-BE49-F238E27FC236}">
                  <a16:creationId xmlns:a16="http://schemas.microsoft.com/office/drawing/2014/main" id="{B05B4FE4-C592-5B4A-A8A5-998DA1D16911}"/>
                </a:ext>
              </a:extLst>
            </p:cNvPr>
            <p:cNvSpPr>
              <a:spLocks noChangeShapeType="1"/>
            </p:cNvSpPr>
            <p:nvPr/>
          </p:nvSpPr>
          <p:spPr bwMode="auto">
            <a:xfrm>
              <a:off x="7848600" y="4953000"/>
              <a:ext cx="0" cy="3048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5250" name="Line 18">
              <a:extLst>
                <a:ext uri="{FF2B5EF4-FFF2-40B4-BE49-F238E27FC236}">
                  <a16:creationId xmlns:a16="http://schemas.microsoft.com/office/drawing/2014/main" id="{30FD695B-47C0-F043-BAA9-06A04531BFCE}"/>
                </a:ext>
              </a:extLst>
            </p:cNvPr>
            <p:cNvSpPr>
              <a:spLocks noChangeShapeType="1"/>
            </p:cNvSpPr>
            <p:nvPr/>
          </p:nvSpPr>
          <p:spPr bwMode="auto">
            <a:xfrm>
              <a:off x="1295400" y="4114800"/>
              <a:ext cx="30480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6339" name="Text Box 19">
              <a:extLst>
                <a:ext uri="{FF2B5EF4-FFF2-40B4-BE49-F238E27FC236}">
                  <a16:creationId xmlns:a16="http://schemas.microsoft.com/office/drawing/2014/main" id="{1B09BC4B-1BF8-5547-B7B8-CED9D4F6EDA4}"/>
                </a:ext>
              </a:extLst>
            </p:cNvPr>
            <p:cNvSpPr txBox="1">
              <a:spLocks noChangeArrowheads="1"/>
            </p:cNvSpPr>
            <p:nvPr/>
          </p:nvSpPr>
          <p:spPr bwMode="auto">
            <a:xfrm>
              <a:off x="533400" y="3810000"/>
              <a:ext cx="439738"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chemeClr val="bg2"/>
                  </a:solidFill>
                  <a:latin typeface="Times New Roman" panose="02020603050405020304" pitchFamily="18" charset="0"/>
                  <a:ea typeface="宋体" panose="02010600030101010101" pitchFamily="2" charset="-122"/>
                </a:rPr>
                <a:t>p</a:t>
              </a:r>
              <a:r>
                <a:rPr lang="en-US" altLang="zh-CN" sz="2400">
                  <a:solidFill>
                    <a:schemeClr val="bg2"/>
                  </a:solidFill>
                  <a:latin typeface="Times New Roman" panose="02020603050405020304" pitchFamily="18" charset="0"/>
                  <a:ea typeface="宋体" panose="02010600030101010101" pitchFamily="2" charset="-122"/>
                  <a:sym typeface="Symbol" pitchFamily="2" charset="2"/>
                </a:rPr>
                <a:t></a:t>
              </a:r>
              <a:endParaRPr lang="en-US" altLang="zh-CN" sz="2400" b="0">
                <a:solidFill>
                  <a:schemeClr val="bg2"/>
                </a:solidFill>
                <a:latin typeface="Times New Roman" panose="02020603050405020304" pitchFamily="18" charset="0"/>
                <a:ea typeface="宋体" panose="02010600030101010101" pitchFamily="2" charset="-122"/>
              </a:endParaRPr>
            </a:p>
          </p:txBody>
        </p:sp>
        <p:sp>
          <p:nvSpPr>
            <p:cNvPr id="56340" name="Text Box 20">
              <a:extLst>
                <a:ext uri="{FF2B5EF4-FFF2-40B4-BE49-F238E27FC236}">
                  <a16:creationId xmlns:a16="http://schemas.microsoft.com/office/drawing/2014/main" id="{ADEAFAFB-EE9A-2F42-92A0-9416519086E8}"/>
                </a:ext>
              </a:extLst>
            </p:cNvPr>
            <p:cNvSpPr txBox="1">
              <a:spLocks noChangeArrowheads="1"/>
            </p:cNvSpPr>
            <p:nvPr/>
          </p:nvSpPr>
          <p:spPr bwMode="auto">
            <a:xfrm>
              <a:off x="533400" y="5029200"/>
              <a:ext cx="447675"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rgbClr val="000066"/>
                  </a:solidFill>
                  <a:latin typeface="Times New Roman" panose="02020603050405020304" pitchFamily="18" charset="0"/>
                  <a:ea typeface="宋体" panose="02010600030101010101" pitchFamily="2" charset="-122"/>
                </a:rPr>
                <a:t>id</a:t>
              </a:r>
            </a:p>
          </p:txBody>
        </p:sp>
        <p:sp>
          <p:nvSpPr>
            <p:cNvPr id="56341" name="Text Box 21">
              <a:extLst>
                <a:ext uri="{FF2B5EF4-FFF2-40B4-BE49-F238E27FC236}">
                  <a16:creationId xmlns:a16="http://schemas.microsoft.com/office/drawing/2014/main" id="{511122E6-7CE6-594D-8D5B-CB9334B1DF87}"/>
                </a:ext>
              </a:extLst>
            </p:cNvPr>
            <p:cNvSpPr txBox="1">
              <a:spLocks noChangeArrowheads="1"/>
            </p:cNvSpPr>
            <p:nvPr/>
          </p:nvSpPr>
          <p:spPr bwMode="auto">
            <a:xfrm>
              <a:off x="4022725" y="3297238"/>
              <a:ext cx="806450"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消息</a:t>
              </a:r>
            </a:p>
          </p:txBody>
        </p:sp>
        <p:sp>
          <p:nvSpPr>
            <p:cNvPr id="56342" name="Rectangle 22">
              <a:extLst>
                <a:ext uri="{FF2B5EF4-FFF2-40B4-BE49-F238E27FC236}">
                  <a16:creationId xmlns:a16="http://schemas.microsoft.com/office/drawing/2014/main" id="{8FE00F88-7927-324E-A0E2-427756054ACB}"/>
                </a:ext>
              </a:extLst>
            </p:cNvPr>
            <p:cNvSpPr>
              <a:spLocks noChangeArrowheads="1"/>
            </p:cNvSpPr>
            <p:nvPr/>
          </p:nvSpPr>
          <p:spPr bwMode="auto">
            <a:xfrm>
              <a:off x="6400800" y="3429000"/>
              <a:ext cx="457200" cy="14478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latin typeface="Times New Roman" panose="02020603050405020304" pitchFamily="18" charset="0"/>
                  <a:ea typeface="宋体" panose="02010600030101010101" pitchFamily="2" charset="-122"/>
                </a:rPr>
                <a:t>f</a:t>
              </a:r>
            </a:p>
          </p:txBody>
        </p:sp>
        <p:sp>
          <p:nvSpPr>
            <p:cNvPr id="1375255" name="Line 23">
              <a:extLst>
                <a:ext uri="{FF2B5EF4-FFF2-40B4-BE49-F238E27FC236}">
                  <a16:creationId xmlns:a16="http://schemas.microsoft.com/office/drawing/2014/main" id="{231C7707-7382-2144-B35F-414B4B0AC593}"/>
                </a:ext>
              </a:extLst>
            </p:cNvPr>
            <p:cNvSpPr>
              <a:spLocks noChangeShapeType="1"/>
            </p:cNvSpPr>
            <p:nvPr/>
          </p:nvSpPr>
          <p:spPr bwMode="auto">
            <a:xfrm flipV="1">
              <a:off x="4724400" y="3657600"/>
              <a:ext cx="304800" cy="22860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5256" name="Line 24">
              <a:extLst>
                <a:ext uri="{FF2B5EF4-FFF2-40B4-BE49-F238E27FC236}">
                  <a16:creationId xmlns:a16="http://schemas.microsoft.com/office/drawing/2014/main" id="{2E5CA809-B147-934E-AEB4-5BABDDE21510}"/>
                </a:ext>
              </a:extLst>
            </p:cNvPr>
            <p:cNvSpPr>
              <a:spLocks noChangeShapeType="1"/>
            </p:cNvSpPr>
            <p:nvPr/>
          </p:nvSpPr>
          <p:spPr bwMode="auto">
            <a:xfrm>
              <a:off x="5029200" y="3657600"/>
              <a:ext cx="13716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5257" name="Line 25">
              <a:extLst>
                <a:ext uri="{FF2B5EF4-FFF2-40B4-BE49-F238E27FC236}">
                  <a16:creationId xmlns:a16="http://schemas.microsoft.com/office/drawing/2014/main" id="{2F96268E-3FEB-9143-BE35-8C194C97A678}"/>
                </a:ext>
              </a:extLst>
            </p:cNvPr>
            <p:cNvSpPr>
              <a:spLocks noChangeShapeType="1"/>
            </p:cNvSpPr>
            <p:nvPr/>
          </p:nvSpPr>
          <p:spPr bwMode="auto">
            <a:xfrm>
              <a:off x="5867400" y="4648200"/>
              <a:ext cx="5334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5258" name="Line 26">
              <a:extLst>
                <a:ext uri="{FF2B5EF4-FFF2-40B4-BE49-F238E27FC236}">
                  <a16:creationId xmlns:a16="http://schemas.microsoft.com/office/drawing/2014/main" id="{15304B1C-FF78-4944-AB62-043D5244FDE5}"/>
                </a:ext>
              </a:extLst>
            </p:cNvPr>
            <p:cNvSpPr>
              <a:spLocks noChangeShapeType="1"/>
            </p:cNvSpPr>
            <p:nvPr/>
          </p:nvSpPr>
          <p:spPr bwMode="auto">
            <a:xfrm>
              <a:off x="6858000" y="4495800"/>
              <a:ext cx="4572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6347" name="Text Box 27">
              <a:extLst>
                <a:ext uri="{FF2B5EF4-FFF2-40B4-BE49-F238E27FC236}">
                  <a16:creationId xmlns:a16="http://schemas.microsoft.com/office/drawing/2014/main" id="{060FFB70-78BC-734E-81B5-EC0E8E12289E}"/>
                </a:ext>
              </a:extLst>
            </p:cNvPr>
            <p:cNvSpPr txBox="1">
              <a:spLocks noChangeArrowheads="1"/>
            </p:cNvSpPr>
            <p:nvPr/>
          </p:nvSpPr>
          <p:spPr bwMode="auto">
            <a:xfrm>
              <a:off x="6934200" y="3886200"/>
              <a:ext cx="51593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rgbClr val="000066"/>
                  </a:solidFill>
                  <a:latin typeface="Times New Roman" panose="02020603050405020304" pitchFamily="18" charset="0"/>
                  <a:ea typeface="宋体" panose="02010600030101010101" pitchFamily="2" charset="-122"/>
                </a:rPr>
                <a:t>q </a:t>
              </a:r>
              <a:r>
                <a:rPr lang="en-US" altLang="zh-CN" sz="2400">
                  <a:solidFill>
                    <a:schemeClr val="tx1"/>
                  </a:solidFill>
                  <a:latin typeface="Times New Roman" panose="02020603050405020304" pitchFamily="18" charset="0"/>
                  <a:ea typeface="宋体" panose="02010600030101010101" pitchFamily="2" charset="-122"/>
                  <a:sym typeface="Symbol" pitchFamily="2" charset="2"/>
                </a:rPr>
                <a:t></a:t>
              </a:r>
            </a:p>
          </p:txBody>
        </p:sp>
        <p:sp>
          <p:nvSpPr>
            <p:cNvPr id="3" name="Text Box 28">
              <a:extLst>
                <a:ext uri="{FF2B5EF4-FFF2-40B4-BE49-F238E27FC236}">
                  <a16:creationId xmlns:a16="http://schemas.microsoft.com/office/drawing/2014/main" id="{F1998E01-7333-9149-A75B-F22B87817526}"/>
                </a:ext>
              </a:extLst>
            </p:cNvPr>
            <p:cNvSpPr txBox="1">
              <a:spLocks noChangeArrowheads="1"/>
            </p:cNvSpPr>
            <p:nvPr/>
          </p:nvSpPr>
          <p:spPr bwMode="auto">
            <a:xfrm>
              <a:off x="5181600" y="4648200"/>
              <a:ext cx="762000"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rgbClr val="000066"/>
                  </a:solidFill>
                  <a:latin typeface="Times New Roman" panose="02020603050405020304" pitchFamily="18" charset="0"/>
                  <a:ea typeface="宋体" panose="02010600030101010101" pitchFamily="2" charset="-122"/>
                </a:rPr>
                <a:t>Salt</a:t>
              </a:r>
            </a:p>
          </p:txBody>
        </p:sp>
      </p:grpSp>
      <p:sp>
        <p:nvSpPr>
          <p:cNvPr id="56348" name="矩形 27">
            <a:extLst>
              <a:ext uri="{FF2B5EF4-FFF2-40B4-BE49-F238E27FC236}">
                <a16:creationId xmlns:a16="http://schemas.microsoft.com/office/drawing/2014/main" id="{549E93CB-407E-8C41-8AE2-D248958ECF61}"/>
              </a:ext>
            </a:extLst>
          </p:cNvPr>
          <p:cNvSpPr>
            <a:spLocks noChangeArrowheads="1"/>
          </p:cNvSpPr>
          <p:nvPr/>
        </p:nvSpPr>
        <p:spPr bwMode="auto">
          <a:xfrm>
            <a:off x="457200" y="1447800"/>
            <a:ext cx="23495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zh-CN" altLang="en-US" sz="2800">
                <a:solidFill>
                  <a:srgbClr val="0000FF"/>
                </a:solidFill>
                <a:latin typeface="黑体" panose="02010609060101010101" pitchFamily="49" charset="-122"/>
                <a:ea typeface="黑体" panose="02010609060101010101" pitchFamily="49" charset="-122"/>
              </a:rPr>
              <a:t>使用单向函数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56348"/>
                                        </p:tgtEl>
                                        <p:attrNameLst>
                                          <p:attrName>style.visibility</p:attrName>
                                        </p:attrNameLst>
                                      </p:cBhvr>
                                      <p:to>
                                        <p:strVal val="visible"/>
                                      </p:to>
                                    </p:set>
                                    <p:anim calcmode="lin" valueType="num">
                                      <p:cBhvr>
                                        <p:cTn id="7" dur="500" fill="hold"/>
                                        <p:tgtEl>
                                          <p:spTgt spid="56348"/>
                                        </p:tgtEl>
                                        <p:attrNameLst>
                                          <p:attrName>ppt_w</p:attrName>
                                        </p:attrNameLst>
                                      </p:cBhvr>
                                      <p:tavLst>
                                        <p:tav tm="0">
                                          <p:val>
                                            <p:fltVal val="0"/>
                                          </p:val>
                                        </p:tav>
                                        <p:tav tm="100000">
                                          <p:val>
                                            <p:strVal val="#ppt_w"/>
                                          </p:val>
                                        </p:tav>
                                      </p:tavLst>
                                    </p:anim>
                                    <p:anim calcmode="lin" valueType="num">
                                      <p:cBhvr>
                                        <p:cTn id="8" dur="500" fill="hold"/>
                                        <p:tgtEl>
                                          <p:spTgt spid="56348"/>
                                        </p:tgtEl>
                                        <p:attrNameLst>
                                          <p:attrName>ppt_h</p:attrName>
                                        </p:attrNameLst>
                                      </p:cBhvr>
                                      <p:tavLst>
                                        <p:tav tm="0">
                                          <p:val>
                                            <p:fltVal val="0"/>
                                          </p:val>
                                        </p:tav>
                                        <p:tav tm="100000">
                                          <p:val>
                                            <p:strVal val="#ppt_h"/>
                                          </p:val>
                                        </p:tav>
                                      </p:tavLst>
                                    </p:anim>
                                    <p:animEffect transition="in" filter="fade">
                                      <p:cBhvr>
                                        <p:cTn id="9" dur="500"/>
                                        <p:tgtEl>
                                          <p:spTgt spid="5634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up)">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6258" name="Rectangle 2">
            <a:extLst>
              <a:ext uri="{FF2B5EF4-FFF2-40B4-BE49-F238E27FC236}">
                <a16:creationId xmlns:a16="http://schemas.microsoft.com/office/drawing/2014/main" id="{9257443D-7C16-9442-B5E7-AE4BCBD31A04}"/>
              </a:ext>
            </a:extLst>
          </p:cNvPr>
          <p:cNvSpPr>
            <a:spLocks noGrp="1" noChangeArrowheads="1"/>
          </p:cNvSpPr>
          <p:nvPr>
            <p:ph type="title"/>
          </p:nvPr>
        </p:nvSpPr>
        <p:spPr bwMode="auto">
          <a:xfrm>
            <a:off x="261938" y="858838"/>
            <a:ext cx="8308975" cy="731837"/>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a:solidFill>
                  <a:srgbClr val="FF0000"/>
                </a:solidFill>
                <a:latin typeface="黑体" panose="02010609060101010101" pitchFamily="49" charset="-122"/>
                <a:ea typeface="黑体" panose="02010609060101010101" pitchFamily="49" charset="-122"/>
              </a:rPr>
              <a:t>对付窃听及危及验证者的措施</a:t>
            </a:r>
          </a:p>
        </p:txBody>
      </p:sp>
      <p:grpSp>
        <p:nvGrpSpPr>
          <p:cNvPr id="2" name="组合 1">
            <a:extLst>
              <a:ext uri="{FF2B5EF4-FFF2-40B4-BE49-F238E27FC236}">
                <a16:creationId xmlns:a16="http://schemas.microsoft.com/office/drawing/2014/main" id="{3F49EF52-2E99-F94B-BDDE-2830CF325E9D}"/>
              </a:ext>
            </a:extLst>
          </p:cNvPr>
          <p:cNvGrpSpPr>
            <a:grpSpLocks/>
          </p:cNvGrpSpPr>
          <p:nvPr/>
        </p:nvGrpSpPr>
        <p:grpSpPr bwMode="auto">
          <a:xfrm>
            <a:off x="457200" y="1828800"/>
            <a:ext cx="8153400" cy="3505200"/>
            <a:chOff x="457200" y="1828800"/>
            <a:chExt cx="8153400" cy="3505200"/>
          </a:xfrm>
        </p:grpSpPr>
        <p:sp>
          <p:nvSpPr>
            <p:cNvPr id="1376260" name="Rectangle 4">
              <a:extLst>
                <a:ext uri="{FF2B5EF4-FFF2-40B4-BE49-F238E27FC236}">
                  <a16:creationId xmlns:a16="http://schemas.microsoft.com/office/drawing/2014/main" id="{07603FAC-40A6-1B43-8DDE-78819CE39512}"/>
                </a:ext>
              </a:extLst>
            </p:cNvPr>
            <p:cNvSpPr>
              <a:spLocks noChangeArrowheads="1"/>
            </p:cNvSpPr>
            <p:nvPr/>
          </p:nvSpPr>
          <p:spPr bwMode="auto">
            <a:xfrm>
              <a:off x="1866900" y="2514600"/>
              <a:ext cx="1295400" cy="2819400"/>
            </a:xfrm>
            <a:prstGeom prst="rect">
              <a:avLst/>
            </a:prstGeom>
            <a:solidFill>
              <a:schemeClr val="hlink"/>
            </a:solidFill>
            <a:ln w="28575">
              <a:solidFill>
                <a:schemeClr val="bg2"/>
              </a:solidFill>
              <a:prstDash val="dash"/>
              <a:miter lim="800000"/>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7348" name="Text Box 5">
              <a:extLst>
                <a:ext uri="{FF2B5EF4-FFF2-40B4-BE49-F238E27FC236}">
                  <a16:creationId xmlns:a16="http://schemas.microsoft.com/office/drawing/2014/main" id="{9FD6C36F-B5E3-0544-969E-4F07BD66F337}"/>
                </a:ext>
              </a:extLst>
            </p:cNvPr>
            <p:cNvSpPr txBox="1">
              <a:spLocks noChangeArrowheads="1"/>
            </p:cNvSpPr>
            <p:nvPr/>
          </p:nvSpPr>
          <p:spPr bwMode="auto">
            <a:xfrm>
              <a:off x="1943100" y="1828800"/>
              <a:ext cx="1112838"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声称者</a:t>
              </a:r>
              <a:endParaRPr lang="zh-CN" altLang="en-US" sz="2400" b="0">
                <a:solidFill>
                  <a:srgbClr val="000066"/>
                </a:solidFill>
                <a:latin typeface="Times New Roman" panose="02020603050405020304" pitchFamily="18" charset="0"/>
                <a:ea typeface="宋体" panose="02010600030101010101" pitchFamily="2" charset="-122"/>
              </a:endParaRPr>
            </a:p>
          </p:txBody>
        </p:sp>
        <p:sp>
          <p:nvSpPr>
            <p:cNvPr id="57349" name="Rectangle 6">
              <a:extLst>
                <a:ext uri="{FF2B5EF4-FFF2-40B4-BE49-F238E27FC236}">
                  <a16:creationId xmlns:a16="http://schemas.microsoft.com/office/drawing/2014/main" id="{F2A084AA-59A6-9147-B1D5-C50B4605007B}"/>
                </a:ext>
              </a:extLst>
            </p:cNvPr>
            <p:cNvSpPr>
              <a:spLocks noChangeArrowheads="1"/>
            </p:cNvSpPr>
            <p:nvPr/>
          </p:nvSpPr>
          <p:spPr bwMode="auto">
            <a:xfrm>
              <a:off x="6057900" y="2362200"/>
              <a:ext cx="2552700" cy="2971800"/>
            </a:xfrm>
            <a:prstGeom prst="rect">
              <a:avLst/>
            </a:prstGeom>
            <a:solidFill>
              <a:schemeClr val="hlink"/>
            </a:solidFill>
            <a:ln w="28575">
              <a:solidFill>
                <a:schemeClr val="bg2"/>
              </a:solidFill>
              <a:prstDash val="dash"/>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endParaRPr lang="zh-CN" altLang="en-US" sz="2400" b="0">
                <a:solidFill>
                  <a:srgbClr val="000066"/>
                </a:solidFill>
                <a:latin typeface="Times New Roman" panose="02020603050405020304" pitchFamily="18" charset="0"/>
                <a:ea typeface="宋体" panose="02010600030101010101" pitchFamily="2" charset="-122"/>
              </a:endParaRPr>
            </a:p>
          </p:txBody>
        </p:sp>
        <p:sp>
          <p:nvSpPr>
            <p:cNvPr id="57350" name="Rectangle 7">
              <a:extLst>
                <a:ext uri="{FF2B5EF4-FFF2-40B4-BE49-F238E27FC236}">
                  <a16:creationId xmlns:a16="http://schemas.microsoft.com/office/drawing/2014/main" id="{1EC8E90C-A437-6040-A43F-0FB411264EB4}"/>
                </a:ext>
              </a:extLst>
            </p:cNvPr>
            <p:cNvSpPr>
              <a:spLocks noChangeArrowheads="1"/>
            </p:cNvSpPr>
            <p:nvPr/>
          </p:nvSpPr>
          <p:spPr bwMode="auto">
            <a:xfrm>
              <a:off x="2247900" y="2743200"/>
              <a:ext cx="533400" cy="5334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f</a:t>
              </a:r>
            </a:p>
          </p:txBody>
        </p:sp>
        <p:sp>
          <p:nvSpPr>
            <p:cNvPr id="57351" name="Rectangle 8">
              <a:extLst>
                <a:ext uri="{FF2B5EF4-FFF2-40B4-BE49-F238E27FC236}">
                  <a16:creationId xmlns:a16="http://schemas.microsoft.com/office/drawing/2014/main" id="{749E1BDB-8733-CD45-9600-6903EF658EF3}"/>
                </a:ext>
              </a:extLst>
            </p:cNvPr>
            <p:cNvSpPr>
              <a:spLocks noChangeArrowheads="1"/>
            </p:cNvSpPr>
            <p:nvPr/>
          </p:nvSpPr>
          <p:spPr bwMode="auto">
            <a:xfrm>
              <a:off x="3848100" y="3200400"/>
              <a:ext cx="609600" cy="5334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q</a:t>
              </a:r>
              <a:r>
                <a:rPr lang="en-US" altLang="zh-CN" sz="2400">
                  <a:solidFill>
                    <a:srgbClr val="000066"/>
                  </a:solidFill>
                  <a:latin typeface="Times New Roman" panose="02020603050405020304" pitchFamily="18" charset="0"/>
                  <a:ea typeface="宋体" panose="02010600030101010101" pitchFamily="2" charset="-122"/>
                  <a:sym typeface="Symbol" pitchFamily="2" charset="2"/>
                </a:rPr>
                <a:t></a:t>
              </a:r>
              <a:endParaRPr lang="en-US" altLang="zh-CN" sz="2400">
                <a:solidFill>
                  <a:srgbClr val="000066"/>
                </a:solidFill>
                <a:latin typeface="Times New Roman" panose="02020603050405020304" pitchFamily="18" charset="0"/>
                <a:ea typeface="宋体" panose="02010600030101010101" pitchFamily="2" charset="-122"/>
              </a:endParaRPr>
            </a:p>
          </p:txBody>
        </p:sp>
        <p:sp>
          <p:nvSpPr>
            <p:cNvPr id="57352" name="Rectangle 9">
              <a:extLst>
                <a:ext uri="{FF2B5EF4-FFF2-40B4-BE49-F238E27FC236}">
                  <a16:creationId xmlns:a16="http://schemas.microsoft.com/office/drawing/2014/main" id="{4C8F00D3-3BC6-6743-BC39-32F023FB39C3}"/>
                </a:ext>
              </a:extLst>
            </p:cNvPr>
            <p:cNvSpPr>
              <a:spLocks noChangeArrowheads="1"/>
            </p:cNvSpPr>
            <p:nvPr/>
          </p:nvSpPr>
          <p:spPr bwMode="auto">
            <a:xfrm>
              <a:off x="4457700" y="3200400"/>
              <a:ext cx="609600" cy="5334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id</a:t>
              </a:r>
              <a:endParaRPr lang="en-US" altLang="zh-CN" sz="2400" b="0">
                <a:solidFill>
                  <a:srgbClr val="000066"/>
                </a:solidFill>
                <a:latin typeface="Times New Roman" panose="02020603050405020304" pitchFamily="18" charset="0"/>
                <a:ea typeface="宋体" panose="02010600030101010101" pitchFamily="2" charset="-122"/>
              </a:endParaRPr>
            </a:p>
          </p:txBody>
        </p:sp>
        <p:sp>
          <p:nvSpPr>
            <p:cNvPr id="57353" name="Rectangle 10">
              <a:extLst>
                <a:ext uri="{FF2B5EF4-FFF2-40B4-BE49-F238E27FC236}">
                  <a16:creationId xmlns:a16="http://schemas.microsoft.com/office/drawing/2014/main" id="{0A9534DA-23D9-CE48-AA03-0D758B562E8D}"/>
                </a:ext>
              </a:extLst>
            </p:cNvPr>
            <p:cNvSpPr>
              <a:spLocks noChangeArrowheads="1"/>
            </p:cNvSpPr>
            <p:nvPr/>
          </p:nvSpPr>
          <p:spPr bwMode="auto">
            <a:xfrm>
              <a:off x="6286500" y="2590800"/>
              <a:ext cx="457200" cy="15240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g</a:t>
              </a:r>
            </a:p>
          </p:txBody>
        </p:sp>
        <p:sp>
          <p:nvSpPr>
            <p:cNvPr id="57354" name="Rectangle 11">
              <a:extLst>
                <a:ext uri="{FF2B5EF4-FFF2-40B4-BE49-F238E27FC236}">
                  <a16:creationId xmlns:a16="http://schemas.microsoft.com/office/drawing/2014/main" id="{8E494782-43B2-EC4C-BEA5-A37FE06A7E67}"/>
                </a:ext>
              </a:extLst>
            </p:cNvPr>
            <p:cNvSpPr>
              <a:spLocks noChangeArrowheads="1"/>
            </p:cNvSpPr>
            <p:nvPr/>
          </p:nvSpPr>
          <p:spPr bwMode="auto">
            <a:xfrm>
              <a:off x="6972300" y="2514600"/>
              <a:ext cx="609600" cy="5334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id</a:t>
              </a:r>
              <a:endParaRPr lang="en-US" altLang="zh-CN" sz="2400" b="0">
                <a:solidFill>
                  <a:srgbClr val="000066"/>
                </a:solidFill>
                <a:latin typeface="Times New Roman" panose="02020603050405020304" pitchFamily="18" charset="0"/>
                <a:ea typeface="宋体" panose="02010600030101010101" pitchFamily="2" charset="-122"/>
              </a:endParaRPr>
            </a:p>
          </p:txBody>
        </p:sp>
        <p:sp>
          <p:nvSpPr>
            <p:cNvPr id="57355" name="Rectangle 12">
              <a:extLst>
                <a:ext uri="{FF2B5EF4-FFF2-40B4-BE49-F238E27FC236}">
                  <a16:creationId xmlns:a16="http://schemas.microsoft.com/office/drawing/2014/main" id="{CA7ED06D-DF81-9146-A0EF-BE9AC1FFA5DF}"/>
                </a:ext>
              </a:extLst>
            </p:cNvPr>
            <p:cNvSpPr>
              <a:spLocks noChangeArrowheads="1"/>
            </p:cNvSpPr>
            <p:nvPr/>
          </p:nvSpPr>
          <p:spPr bwMode="auto">
            <a:xfrm>
              <a:off x="7581900" y="2514600"/>
              <a:ext cx="609600" cy="5334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r</a:t>
              </a:r>
            </a:p>
          </p:txBody>
        </p:sp>
        <p:sp>
          <p:nvSpPr>
            <p:cNvPr id="57356" name="Oval 13">
              <a:extLst>
                <a:ext uri="{FF2B5EF4-FFF2-40B4-BE49-F238E27FC236}">
                  <a16:creationId xmlns:a16="http://schemas.microsoft.com/office/drawing/2014/main" id="{4E138B01-DB63-0040-93AD-1FD774C60D54}"/>
                </a:ext>
              </a:extLst>
            </p:cNvPr>
            <p:cNvSpPr>
              <a:spLocks noChangeArrowheads="1"/>
            </p:cNvSpPr>
            <p:nvPr/>
          </p:nvSpPr>
          <p:spPr bwMode="auto">
            <a:xfrm>
              <a:off x="7353300" y="3429000"/>
              <a:ext cx="914400" cy="914400"/>
            </a:xfrm>
            <a:prstGeom prst="ellipse">
              <a:avLst/>
            </a:prstGeom>
            <a:solidFill>
              <a:srgbClr val="99FF99"/>
            </a:solidFill>
            <a:ln w="9525">
              <a:solidFill>
                <a:schemeClr val="bg2"/>
              </a:solidFill>
              <a:round/>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zh-CN" altLang="en-US" sz="2400">
                  <a:solidFill>
                    <a:srgbClr val="000066"/>
                  </a:solidFill>
                  <a:latin typeface="Times New Roman" panose="02020603050405020304" pitchFamily="18" charset="0"/>
                  <a:ea typeface="宋体" panose="02010600030101010101" pitchFamily="2" charset="-122"/>
                </a:rPr>
                <a:t>比较</a:t>
              </a:r>
            </a:p>
          </p:txBody>
        </p:sp>
        <p:sp>
          <p:nvSpPr>
            <p:cNvPr id="57357" name="Text Box 14">
              <a:extLst>
                <a:ext uri="{FF2B5EF4-FFF2-40B4-BE49-F238E27FC236}">
                  <a16:creationId xmlns:a16="http://schemas.microsoft.com/office/drawing/2014/main" id="{E3781373-84A8-C548-8FC6-EDE88D0B513F}"/>
                </a:ext>
              </a:extLst>
            </p:cNvPr>
            <p:cNvSpPr txBox="1">
              <a:spLocks noChangeArrowheads="1"/>
            </p:cNvSpPr>
            <p:nvPr/>
          </p:nvSpPr>
          <p:spPr bwMode="auto">
            <a:xfrm>
              <a:off x="7124700" y="4800600"/>
              <a:ext cx="1419225"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是或不是</a:t>
              </a:r>
            </a:p>
          </p:txBody>
        </p:sp>
        <p:sp>
          <p:nvSpPr>
            <p:cNvPr id="1376271" name="Line 15">
              <a:extLst>
                <a:ext uri="{FF2B5EF4-FFF2-40B4-BE49-F238E27FC236}">
                  <a16:creationId xmlns:a16="http://schemas.microsoft.com/office/drawing/2014/main" id="{736F143C-48D2-CE42-A4E9-CB238D25831C}"/>
                </a:ext>
              </a:extLst>
            </p:cNvPr>
            <p:cNvSpPr>
              <a:spLocks noChangeShapeType="1"/>
            </p:cNvSpPr>
            <p:nvPr/>
          </p:nvSpPr>
          <p:spPr bwMode="auto">
            <a:xfrm>
              <a:off x="1333500" y="4876800"/>
              <a:ext cx="2819400" cy="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6272" name="Line 16">
              <a:extLst>
                <a:ext uri="{FF2B5EF4-FFF2-40B4-BE49-F238E27FC236}">
                  <a16:creationId xmlns:a16="http://schemas.microsoft.com/office/drawing/2014/main" id="{5FDAE24B-15A3-5C45-BB79-B89F5B874CE9}"/>
                </a:ext>
              </a:extLst>
            </p:cNvPr>
            <p:cNvSpPr>
              <a:spLocks noChangeShapeType="1"/>
            </p:cNvSpPr>
            <p:nvPr/>
          </p:nvSpPr>
          <p:spPr bwMode="auto">
            <a:xfrm flipV="1">
              <a:off x="4152900" y="3733800"/>
              <a:ext cx="685800" cy="11430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6273" name="Line 17">
              <a:extLst>
                <a:ext uri="{FF2B5EF4-FFF2-40B4-BE49-F238E27FC236}">
                  <a16:creationId xmlns:a16="http://schemas.microsoft.com/office/drawing/2014/main" id="{352AF6DF-3D07-3043-9CAB-2A5301F0BBA2}"/>
                </a:ext>
              </a:extLst>
            </p:cNvPr>
            <p:cNvSpPr>
              <a:spLocks noChangeShapeType="1"/>
            </p:cNvSpPr>
            <p:nvPr/>
          </p:nvSpPr>
          <p:spPr bwMode="auto">
            <a:xfrm>
              <a:off x="1295400" y="3200400"/>
              <a:ext cx="9906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7361" name="Text Box 18">
              <a:extLst>
                <a:ext uri="{FF2B5EF4-FFF2-40B4-BE49-F238E27FC236}">
                  <a16:creationId xmlns:a16="http://schemas.microsoft.com/office/drawing/2014/main" id="{43314CD3-5393-C749-B8F8-4B5D35C6B606}"/>
                </a:ext>
              </a:extLst>
            </p:cNvPr>
            <p:cNvSpPr txBox="1">
              <a:spLocks noChangeArrowheads="1"/>
            </p:cNvSpPr>
            <p:nvPr/>
          </p:nvSpPr>
          <p:spPr bwMode="auto">
            <a:xfrm>
              <a:off x="685800" y="3048000"/>
              <a:ext cx="439738"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rgbClr val="000066"/>
                  </a:solidFill>
                  <a:latin typeface="Times New Roman" panose="02020603050405020304" pitchFamily="18" charset="0"/>
                  <a:ea typeface="宋体" panose="02010600030101010101" pitchFamily="2" charset="-122"/>
                </a:rPr>
                <a:t>p</a:t>
              </a:r>
              <a:r>
                <a:rPr lang="en-US" altLang="zh-CN" sz="2400">
                  <a:solidFill>
                    <a:srgbClr val="000066"/>
                  </a:solidFill>
                  <a:latin typeface="Times New Roman" panose="02020603050405020304" pitchFamily="18" charset="0"/>
                  <a:ea typeface="宋体" panose="02010600030101010101" pitchFamily="2" charset="-122"/>
                  <a:sym typeface="Symbol" pitchFamily="2" charset="2"/>
                </a:rPr>
                <a:t></a:t>
              </a:r>
              <a:endParaRPr lang="en-US" altLang="zh-CN" sz="2400" b="0">
                <a:solidFill>
                  <a:srgbClr val="000066"/>
                </a:solidFill>
                <a:latin typeface="Times New Roman" panose="02020603050405020304" pitchFamily="18" charset="0"/>
                <a:ea typeface="宋体" panose="02010600030101010101" pitchFamily="2" charset="-122"/>
              </a:endParaRPr>
            </a:p>
          </p:txBody>
        </p:sp>
        <p:sp>
          <p:nvSpPr>
            <p:cNvPr id="57362" name="Text Box 19">
              <a:extLst>
                <a:ext uri="{FF2B5EF4-FFF2-40B4-BE49-F238E27FC236}">
                  <a16:creationId xmlns:a16="http://schemas.microsoft.com/office/drawing/2014/main" id="{EEF8A273-5DE5-6043-946F-F5D2379B2462}"/>
                </a:ext>
              </a:extLst>
            </p:cNvPr>
            <p:cNvSpPr txBox="1">
              <a:spLocks noChangeArrowheads="1"/>
            </p:cNvSpPr>
            <p:nvPr/>
          </p:nvSpPr>
          <p:spPr bwMode="auto">
            <a:xfrm>
              <a:off x="647700" y="4648200"/>
              <a:ext cx="447675"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rgbClr val="000066"/>
                  </a:solidFill>
                  <a:latin typeface="Times New Roman" panose="02020603050405020304" pitchFamily="18" charset="0"/>
                  <a:ea typeface="宋体" panose="02010600030101010101" pitchFamily="2" charset="-122"/>
                </a:rPr>
                <a:t>id</a:t>
              </a:r>
            </a:p>
          </p:txBody>
        </p:sp>
        <p:sp>
          <p:nvSpPr>
            <p:cNvPr id="1376276" name="Line 20">
              <a:extLst>
                <a:ext uri="{FF2B5EF4-FFF2-40B4-BE49-F238E27FC236}">
                  <a16:creationId xmlns:a16="http://schemas.microsoft.com/office/drawing/2014/main" id="{E49376AE-3956-B74A-8425-03F5F293C8BF}"/>
                </a:ext>
              </a:extLst>
            </p:cNvPr>
            <p:cNvSpPr>
              <a:spLocks noChangeShapeType="1"/>
            </p:cNvSpPr>
            <p:nvPr/>
          </p:nvSpPr>
          <p:spPr bwMode="auto">
            <a:xfrm>
              <a:off x="2781300" y="3048000"/>
              <a:ext cx="1066800" cy="2286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6277" name="Line 21">
              <a:extLst>
                <a:ext uri="{FF2B5EF4-FFF2-40B4-BE49-F238E27FC236}">
                  <a16:creationId xmlns:a16="http://schemas.microsoft.com/office/drawing/2014/main" id="{CC707496-831C-5542-8539-951E8F07C6B3}"/>
                </a:ext>
              </a:extLst>
            </p:cNvPr>
            <p:cNvSpPr>
              <a:spLocks noChangeShapeType="1"/>
            </p:cNvSpPr>
            <p:nvPr/>
          </p:nvSpPr>
          <p:spPr bwMode="auto">
            <a:xfrm flipV="1">
              <a:off x="4152900" y="2819400"/>
              <a:ext cx="0" cy="38100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6278" name="Line 22">
              <a:extLst>
                <a:ext uri="{FF2B5EF4-FFF2-40B4-BE49-F238E27FC236}">
                  <a16:creationId xmlns:a16="http://schemas.microsoft.com/office/drawing/2014/main" id="{3CE288AA-2846-AD4A-BAEE-29DC49F6D267}"/>
                </a:ext>
              </a:extLst>
            </p:cNvPr>
            <p:cNvSpPr>
              <a:spLocks noChangeShapeType="1"/>
            </p:cNvSpPr>
            <p:nvPr/>
          </p:nvSpPr>
          <p:spPr bwMode="auto">
            <a:xfrm>
              <a:off x="4152900" y="2819400"/>
              <a:ext cx="21336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6279" name="Line 23">
              <a:extLst>
                <a:ext uri="{FF2B5EF4-FFF2-40B4-BE49-F238E27FC236}">
                  <a16:creationId xmlns:a16="http://schemas.microsoft.com/office/drawing/2014/main" id="{E2F6A7E0-FA81-AF42-A6E3-9EE48C08A481}"/>
                </a:ext>
              </a:extLst>
            </p:cNvPr>
            <p:cNvSpPr>
              <a:spLocks noChangeShapeType="1"/>
            </p:cNvSpPr>
            <p:nvPr/>
          </p:nvSpPr>
          <p:spPr bwMode="auto">
            <a:xfrm>
              <a:off x="6743700" y="3657600"/>
              <a:ext cx="6096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7367" name="Text Box 24">
              <a:extLst>
                <a:ext uri="{FF2B5EF4-FFF2-40B4-BE49-F238E27FC236}">
                  <a16:creationId xmlns:a16="http://schemas.microsoft.com/office/drawing/2014/main" id="{D93DC82A-E44F-A645-A492-23AF9256D3EA}"/>
                </a:ext>
              </a:extLst>
            </p:cNvPr>
            <p:cNvSpPr txBox="1">
              <a:spLocks noChangeArrowheads="1"/>
            </p:cNvSpPr>
            <p:nvPr/>
          </p:nvSpPr>
          <p:spPr bwMode="auto">
            <a:xfrm>
              <a:off x="6896100" y="3114675"/>
              <a:ext cx="404813"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rgbClr val="000066"/>
                  </a:solidFill>
                  <a:latin typeface="Times New Roman" panose="02020603050405020304" pitchFamily="18" charset="0"/>
                  <a:ea typeface="宋体" panose="02010600030101010101" pitchFamily="2" charset="-122"/>
                </a:rPr>
                <a:t>r</a:t>
              </a:r>
              <a:r>
                <a:rPr lang="en-US" altLang="zh-CN" sz="2400">
                  <a:solidFill>
                    <a:srgbClr val="000066"/>
                  </a:solidFill>
                  <a:latin typeface="Times New Roman" panose="02020603050405020304" pitchFamily="18" charset="0"/>
                  <a:ea typeface="宋体" panose="02010600030101010101" pitchFamily="2" charset="-122"/>
                  <a:sym typeface="Symbol" pitchFamily="2" charset="2"/>
                </a:rPr>
                <a:t></a:t>
              </a:r>
              <a:endParaRPr lang="en-US" altLang="zh-CN" sz="2400">
                <a:solidFill>
                  <a:srgbClr val="000066"/>
                </a:solidFill>
                <a:latin typeface="Times New Roman" panose="02020603050405020304" pitchFamily="18" charset="0"/>
                <a:ea typeface="宋体" panose="02010600030101010101" pitchFamily="2" charset="-122"/>
              </a:endParaRPr>
            </a:p>
          </p:txBody>
        </p:sp>
        <p:sp>
          <p:nvSpPr>
            <p:cNvPr id="57368" name="Text Box 25">
              <a:extLst>
                <a:ext uri="{FF2B5EF4-FFF2-40B4-BE49-F238E27FC236}">
                  <a16:creationId xmlns:a16="http://schemas.microsoft.com/office/drawing/2014/main" id="{44BBEA97-C03D-E54B-9DED-6BEF9C919324}"/>
                </a:ext>
              </a:extLst>
            </p:cNvPr>
            <p:cNvSpPr txBox="1">
              <a:spLocks noChangeArrowheads="1"/>
            </p:cNvSpPr>
            <p:nvPr/>
          </p:nvSpPr>
          <p:spPr bwMode="auto">
            <a:xfrm>
              <a:off x="6591300" y="1828800"/>
              <a:ext cx="1112838"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验证者</a:t>
              </a:r>
              <a:endParaRPr lang="zh-CN" altLang="en-US" sz="2400" b="0">
                <a:solidFill>
                  <a:srgbClr val="000066"/>
                </a:solidFill>
                <a:latin typeface="Times New Roman" panose="02020603050405020304" pitchFamily="18" charset="0"/>
                <a:ea typeface="宋体" panose="02010600030101010101" pitchFamily="2" charset="-122"/>
              </a:endParaRPr>
            </a:p>
          </p:txBody>
        </p:sp>
        <p:sp>
          <p:nvSpPr>
            <p:cNvPr id="57369" name="Text Box 26">
              <a:extLst>
                <a:ext uri="{FF2B5EF4-FFF2-40B4-BE49-F238E27FC236}">
                  <a16:creationId xmlns:a16="http://schemas.microsoft.com/office/drawing/2014/main" id="{CC9CC095-4894-5240-A843-EEF1B8088294}"/>
                </a:ext>
              </a:extLst>
            </p:cNvPr>
            <p:cNvSpPr txBox="1">
              <a:spLocks noChangeArrowheads="1"/>
            </p:cNvSpPr>
            <p:nvPr/>
          </p:nvSpPr>
          <p:spPr bwMode="auto">
            <a:xfrm>
              <a:off x="3390900" y="2514600"/>
              <a:ext cx="806450"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消息</a:t>
              </a:r>
            </a:p>
          </p:txBody>
        </p:sp>
        <p:sp>
          <p:nvSpPr>
            <p:cNvPr id="1376283" name="Line 27">
              <a:extLst>
                <a:ext uri="{FF2B5EF4-FFF2-40B4-BE49-F238E27FC236}">
                  <a16:creationId xmlns:a16="http://schemas.microsoft.com/office/drawing/2014/main" id="{EC885BA5-9C28-0E41-B4B4-114140A4B322}"/>
                </a:ext>
              </a:extLst>
            </p:cNvPr>
            <p:cNvSpPr>
              <a:spLocks noChangeShapeType="1"/>
            </p:cNvSpPr>
            <p:nvPr/>
          </p:nvSpPr>
          <p:spPr bwMode="auto">
            <a:xfrm>
              <a:off x="7848600" y="3048000"/>
              <a:ext cx="0" cy="38100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7371" name="Text Box 28">
              <a:extLst>
                <a:ext uri="{FF2B5EF4-FFF2-40B4-BE49-F238E27FC236}">
                  <a16:creationId xmlns:a16="http://schemas.microsoft.com/office/drawing/2014/main" id="{148CE46A-4B4A-2A45-8ABC-982AE20480A6}"/>
                </a:ext>
              </a:extLst>
            </p:cNvPr>
            <p:cNvSpPr txBox="1">
              <a:spLocks noChangeArrowheads="1"/>
            </p:cNvSpPr>
            <p:nvPr/>
          </p:nvSpPr>
          <p:spPr bwMode="auto">
            <a:xfrm>
              <a:off x="457200" y="2590800"/>
              <a:ext cx="762000"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rgbClr val="000066"/>
                  </a:solidFill>
                  <a:latin typeface="Times New Roman" panose="02020603050405020304" pitchFamily="18" charset="0"/>
                  <a:ea typeface="宋体" panose="02010600030101010101" pitchFamily="2" charset="-122"/>
                </a:rPr>
                <a:t>salt</a:t>
              </a:r>
            </a:p>
          </p:txBody>
        </p:sp>
        <p:sp>
          <p:nvSpPr>
            <p:cNvPr id="1376285" name="Line 29">
              <a:extLst>
                <a:ext uri="{FF2B5EF4-FFF2-40B4-BE49-F238E27FC236}">
                  <a16:creationId xmlns:a16="http://schemas.microsoft.com/office/drawing/2014/main" id="{F241279B-9BBD-5B42-B295-957FAFAAAD1B}"/>
                </a:ext>
              </a:extLst>
            </p:cNvPr>
            <p:cNvSpPr>
              <a:spLocks noChangeShapeType="1"/>
            </p:cNvSpPr>
            <p:nvPr/>
          </p:nvSpPr>
          <p:spPr bwMode="auto">
            <a:xfrm>
              <a:off x="1295400" y="2895600"/>
              <a:ext cx="9906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7373" name="Text Box 30">
              <a:extLst>
                <a:ext uri="{FF2B5EF4-FFF2-40B4-BE49-F238E27FC236}">
                  <a16:creationId xmlns:a16="http://schemas.microsoft.com/office/drawing/2014/main" id="{81DBBA8E-2E29-774D-B51D-84E215C7E4CC}"/>
                </a:ext>
              </a:extLst>
            </p:cNvPr>
            <p:cNvSpPr txBox="1">
              <a:spLocks noChangeArrowheads="1"/>
            </p:cNvSpPr>
            <p:nvPr/>
          </p:nvSpPr>
          <p:spPr bwMode="auto">
            <a:xfrm>
              <a:off x="5105400" y="3886200"/>
              <a:ext cx="762000"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rgbClr val="000066"/>
                  </a:solidFill>
                  <a:latin typeface="Times New Roman" panose="02020603050405020304" pitchFamily="18" charset="0"/>
                  <a:ea typeface="宋体" panose="02010600030101010101" pitchFamily="2" charset="-122"/>
                </a:rPr>
                <a:t>Salt</a:t>
              </a:r>
            </a:p>
          </p:txBody>
        </p:sp>
        <p:sp>
          <p:nvSpPr>
            <p:cNvPr id="1376287" name="Line 31">
              <a:extLst>
                <a:ext uri="{FF2B5EF4-FFF2-40B4-BE49-F238E27FC236}">
                  <a16:creationId xmlns:a16="http://schemas.microsoft.com/office/drawing/2014/main" id="{EB0CF7BB-7A9A-5842-B3F8-E004D6C54A1C}"/>
                </a:ext>
              </a:extLst>
            </p:cNvPr>
            <p:cNvSpPr>
              <a:spLocks noChangeShapeType="1"/>
            </p:cNvSpPr>
            <p:nvPr/>
          </p:nvSpPr>
          <p:spPr bwMode="auto">
            <a:xfrm>
              <a:off x="5638800" y="3810000"/>
              <a:ext cx="6096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6288" name="Line 32">
              <a:extLst>
                <a:ext uri="{FF2B5EF4-FFF2-40B4-BE49-F238E27FC236}">
                  <a16:creationId xmlns:a16="http://schemas.microsoft.com/office/drawing/2014/main" id="{4DF3A8B6-1247-974F-91FC-2DA564187E49}"/>
                </a:ext>
              </a:extLst>
            </p:cNvPr>
            <p:cNvSpPr>
              <a:spLocks noChangeShapeType="1"/>
            </p:cNvSpPr>
            <p:nvPr/>
          </p:nvSpPr>
          <p:spPr bwMode="auto">
            <a:xfrm>
              <a:off x="7848600" y="4343400"/>
              <a:ext cx="0" cy="3048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7282" name="Rectangle 2">
            <a:extLst>
              <a:ext uri="{FF2B5EF4-FFF2-40B4-BE49-F238E27FC236}">
                <a16:creationId xmlns:a16="http://schemas.microsoft.com/office/drawing/2014/main" id="{868C10BC-2C47-0942-961B-D5219E334118}"/>
              </a:ext>
            </a:extLst>
          </p:cNvPr>
          <p:cNvSpPr>
            <a:spLocks noGrp="1" noChangeArrowheads="1"/>
          </p:cNvSpPr>
          <p:nvPr>
            <p:ph type="title"/>
          </p:nvPr>
        </p:nvSpPr>
        <p:spPr bwMode="auto">
          <a:xfrm>
            <a:off x="495300" y="825500"/>
            <a:ext cx="8229600" cy="8080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a:solidFill>
                  <a:srgbClr val="FF0000"/>
                </a:solidFill>
                <a:latin typeface="黑体" panose="02010609060101010101" pitchFamily="49" charset="-122"/>
                <a:ea typeface="黑体" panose="02010609060101010101" pitchFamily="49" charset="-122"/>
              </a:rPr>
              <a:t>对付重放攻击的措施</a:t>
            </a:r>
          </a:p>
        </p:txBody>
      </p:sp>
      <p:grpSp>
        <p:nvGrpSpPr>
          <p:cNvPr id="2" name="组合 1">
            <a:extLst>
              <a:ext uri="{FF2B5EF4-FFF2-40B4-BE49-F238E27FC236}">
                <a16:creationId xmlns:a16="http://schemas.microsoft.com/office/drawing/2014/main" id="{BE566724-56BE-3542-BDD7-50D4522DDC48}"/>
              </a:ext>
            </a:extLst>
          </p:cNvPr>
          <p:cNvGrpSpPr>
            <a:grpSpLocks/>
          </p:cNvGrpSpPr>
          <p:nvPr/>
        </p:nvGrpSpPr>
        <p:grpSpPr bwMode="auto">
          <a:xfrm>
            <a:off x="381000" y="1666875"/>
            <a:ext cx="8229600" cy="4124325"/>
            <a:chOff x="381000" y="1666875"/>
            <a:chExt cx="8229600" cy="4124325"/>
          </a:xfrm>
        </p:grpSpPr>
        <p:sp>
          <p:nvSpPr>
            <p:cNvPr id="58372" name="Rectangle 5">
              <a:extLst>
                <a:ext uri="{FF2B5EF4-FFF2-40B4-BE49-F238E27FC236}">
                  <a16:creationId xmlns:a16="http://schemas.microsoft.com/office/drawing/2014/main" id="{6F0028B8-5E7C-984A-AA4B-4388923BAC68}"/>
                </a:ext>
              </a:extLst>
            </p:cNvPr>
            <p:cNvSpPr>
              <a:spLocks noChangeArrowheads="1"/>
            </p:cNvSpPr>
            <p:nvPr/>
          </p:nvSpPr>
          <p:spPr bwMode="auto">
            <a:xfrm>
              <a:off x="1524000" y="2581275"/>
              <a:ext cx="1676400" cy="3124200"/>
            </a:xfrm>
            <a:prstGeom prst="rect">
              <a:avLst/>
            </a:prstGeom>
            <a:solidFill>
              <a:schemeClr val="hlink"/>
            </a:solidFill>
            <a:ln w="28575">
              <a:solidFill>
                <a:schemeClr val="bg2"/>
              </a:solidFill>
              <a:prstDash val="dash"/>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endParaRPr lang="zh-CN" altLang="en-US" sz="2400" b="0">
                <a:solidFill>
                  <a:srgbClr val="000066"/>
                </a:solidFill>
                <a:latin typeface="Times New Roman" panose="02020603050405020304" pitchFamily="18" charset="0"/>
                <a:ea typeface="宋体" panose="02010600030101010101" pitchFamily="2" charset="-122"/>
              </a:endParaRPr>
            </a:p>
          </p:txBody>
        </p:sp>
        <p:sp>
          <p:nvSpPr>
            <p:cNvPr id="58373" name="Rectangle 6">
              <a:extLst>
                <a:ext uri="{FF2B5EF4-FFF2-40B4-BE49-F238E27FC236}">
                  <a16:creationId xmlns:a16="http://schemas.microsoft.com/office/drawing/2014/main" id="{2CCBB9C9-40B0-E24B-927E-EC4E2E02CB6C}"/>
                </a:ext>
              </a:extLst>
            </p:cNvPr>
            <p:cNvSpPr>
              <a:spLocks noChangeArrowheads="1"/>
            </p:cNvSpPr>
            <p:nvPr/>
          </p:nvSpPr>
          <p:spPr bwMode="auto">
            <a:xfrm>
              <a:off x="3733800" y="3068638"/>
              <a:ext cx="609600" cy="3810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r </a:t>
              </a:r>
              <a:r>
                <a:rPr lang="en-US" altLang="zh-CN" sz="2400">
                  <a:solidFill>
                    <a:srgbClr val="000066"/>
                  </a:solidFill>
                  <a:latin typeface="Times New Roman" panose="02020603050405020304" pitchFamily="18" charset="0"/>
                  <a:ea typeface="宋体" panose="02010600030101010101" pitchFamily="2" charset="-122"/>
                  <a:sym typeface="Symbol" pitchFamily="2" charset="2"/>
                </a:rPr>
                <a:t></a:t>
              </a:r>
            </a:p>
          </p:txBody>
        </p:sp>
        <p:sp>
          <p:nvSpPr>
            <p:cNvPr id="58374" name="Rectangle 7">
              <a:extLst>
                <a:ext uri="{FF2B5EF4-FFF2-40B4-BE49-F238E27FC236}">
                  <a16:creationId xmlns:a16="http://schemas.microsoft.com/office/drawing/2014/main" id="{0311F37B-A36A-6449-8952-0E1183329C8E}"/>
                </a:ext>
              </a:extLst>
            </p:cNvPr>
            <p:cNvSpPr>
              <a:spLocks noChangeArrowheads="1"/>
            </p:cNvSpPr>
            <p:nvPr/>
          </p:nvSpPr>
          <p:spPr bwMode="auto">
            <a:xfrm>
              <a:off x="4343400" y="3068638"/>
              <a:ext cx="533400" cy="3810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id</a:t>
              </a:r>
            </a:p>
          </p:txBody>
        </p:sp>
        <p:sp>
          <p:nvSpPr>
            <p:cNvPr id="58375" name="Rectangle 8">
              <a:extLst>
                <a:ext uri="{FF2B5EF4-FFF2-40B4-BE49-F238E27FC236}">
                  <a16:creationId xmlns:a16="http://schemas.microsoft.com/office/drawing/2014/main" id="{D6B54C63-E274-754C-B4B1-9A20ED628DE6}"/>
                </a:ext>
              </a:extLst>
            </p:cNvPr>
            <p:cNvSpPr>
              <a:spLocks noChangeArrowheads="1"/>
            </p:cNvSpPr>
            <p:nvPr/>
          </p:nvSpPr>
          <p:spPr bwMode="auto">
            <a:xfrm>
              <a:off x="4876800" y="3068638"/>
              <a:ext cx="762000" cy="3810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nrv</a:t>
              </a:r>
            </a:p>
          </p:txBody>
        </p:sp>
        <p:sp>
          <p:nvSpPr>
            <p:cNvPr id="1377289" name="Rectangle 9">
              <a:extLst>
                <a:ext uri="{FF2B5EF4-FFF2-40B4-BE49-F238E27FC236}">
                  <a16:creationId xmlns:a16="http://schemas.microsoft.com/office/drawing/2014/main" id="{BAB8BD43-C04C-3A4F-A9AC-690E06E7420D}"/>
                </a:ext>
              </a:extLst>
            </p:cNvPr>
            <p:cNvSpPr>
              <a:spLocks noChangeArrowheads="1"/>
            </p:cNvSpPr>
            <p:nvPr/>
          </p:nvSpPr>
          <p:spPr bwMode="auto">
            <a:xfrm>
              <a:off x="6629400" y="2276475"/>
              <a:ext cx="1981200" cy="3505200"/>
            </a:xfrm>
            <a:prstGeom prst="rect">
              <a:avLst/>
            </a:prstGeom>
            <a:solidFill>
              <a:schemeClr val="hlink"/>
            </a:solidFill>
            <a:ln w="28575">
              <a:solidFill>
                <a:schemeClr val="bg2"/>
              </a:solidFill>
              <a:prstDash val="dash"/>
              <a:miter lim="800000"/>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8377" name="Rectangle 10">
              <a:extLst>
                <a:ext uri="{FF2B5EF4-FFF2-40B4-BE49-F238E27FC236}">
                  <a16:creationId xmlns:a16="http://schemas.microsoft.com/office/drawing/2014/main" id="{F6D861C5-03A8-C64E-AF71-5A464C3A65F4}"/>
                </a:ext>
              </a:extLst>
            </p:cNvPr>
            <p:cNvSpPr>
              <a:spLocks noChangeArrowheads="1"/>
            </p:cNvSpPr>
            <p:nvPr/>
          </p:nvSpPr>
          <p:spPr bwMode="auto">
            <a:xfrm>
              <a:off x="2514600" y="3830638"/>
              <a:ext cx="457200" cy="7620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g</a:t>
              </a:r>
            </a:p>
          </p:txBody>
        </p:sp>
        <p:sp>
          <p:nvSpPr>
            <p:cNvPr id="58378" name="Rectangle 11">
              <a:extLst>
                <a:ext uri="{FF2B5EF4-FFF2-40B4-BE49-F238E27FC236}">
                  <a16:creationId xmlns:a16="http://schemas.microsoft.com/office/drawing/2014/main" id="{7E8AF2A4-BE10-1A4B-AC08-44B252A3599D}"/>
                </a:ext>
              </a:extLst>
            </p:cNvPr>
            <p:cNvSpPr>
              <a:spLocks noChangeArrowheads="1"/>
            </p:cNvSpPr>
            <p:nvPr/>
          </p:nvSpPr>
          <p:spPr bwMode="auto">
            <a:xfrm>
              <a:off x="1905000" y="2763838"/>
              <a:ext cx="457200" cy="7620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f</a:t>
              </a:r>
              <a:endParaRPr lang="en-US" altLang="zh-CN" sz="2400" b="0">
                <a:solidFill>
                  <a:srgbClr val="000066"/>
                </a:solidFill>
                <a:latin typeface="Times New Roman" panose="02020603050405020304" pitchFamily="18" charset="0"/>
                <a:ea typeface="宋体" panose="02010600030101010101" pitchFamily="2" charset="-122"/>
              </a:endParaRPr>
            </a:p>
          </p:txBody>
        </p:sp>
        <p:sp>
          <p:nvSpPr>
            <p:cNvPr id="1377292" name="Line 12">
              <a:extLst>
                <a:ext uri="{FF2B5EF4-FFF2-40B4-BE49-F238E27FC236}">
                  <a16:creationId xmlns:a16="http://schemas.microsoft.com/office/drawing/2014/main" id="{97433CD1-3203-FD49-84F7-1FF6696F1074}"/>
                </a:ext>
              </a:extLst>
            </p:cNvPr>
            <p:cNvSpPr>
              <a:spLocks noChangeShapeType="1"/>
            </p:cNvSpPr>
            <p:nvPr/>
          </p:nvSpPr>
          <p:spPr bwMode="auto">
            <a:xfrm>
              <a:off x="1219200" y="2962275"/>
              <a:ext cx="6858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8380" name="Rectangle 13">
              <a:extLst>
                <a:ext uri="{FF2B5EF4-FFF2-40B4-BE49-F238E27FC236}">
                  <a16:creationId xmlns:a16="http://schemas.microsoft.com/office/drawing/2014/main" id="{63EF7AF3-EC9B-B340-A498-52D532A7EEB8}"/>
                </a:ext>
              </a:extLst>
            </p:cNvPr>
            <p:cNvSpPr>
              <a:spLocks noChangeArrowheads="1"/>
            </p:cNvSpPr>
            <p:nvPr/>
          </p:nvSpPr>
          <p:spPr bwMode="auto">
            <a:xfrm>
              <a:off x="6934200" y="2459038"/>
              <a:ext cx="609600" cy="3810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id</a:t>
              </a:r>
            </a:p>
          </p:txBody>
        </p:sp>
        <p:sp>
          <p:nvSpPr>
            <p:cNvPr id="58381" name="Rectangle 14">
              <a:extLst>
                <a:ext uri="{FF2B5EF4-FFF2-40B4-BE49-F238E27FC236}">
                  <a16:creationId xmlns:a16="http://schemas.microsoft.com/office/drawing/2014/main" id="{049AA894-F8E8-EB40-BBAA-07BA5535B780}"/>
                </a:ext>
              </a:extLst>
            </p:cNvPr>
            <p:cNvSpPr>
              <a:spLocks noChangeArrowheads="1"/>
            </p:cNvSpPr>
            <p:nvPr/>
          </p:nvSpPr>
          <p:spPr bwMode="auto">
            <a:xfrm>
              <a:off x="7543800" y="2459038"/>
              <a:ext cx="533400" cy="3810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q</a:t>
              </a:r>
            </a:p>
          </p:txBody>
        </p:sp>
        <p:sp>
          <p:nvSpPr>
            <p:cNvPr id="58382" name="Rectangle 15">
              <a:extLst>
                <a:ext uri="{FF2B5EF4-FFF2-40B4-BE49-F238E27FC236}">
                  <a16:creationId xmlns:a16="http://schemas.microsoft.com/office/drawing/2014/main" id="{F847D966-722B-4C4F-8211-4AADE465CFCE}"/>
                </a:ext>
              </a:extLst>
            </p:cNvPr>
            <p:cNvSpPr>
              <a:spLocks noChangeArrowheads="1"/>
            </p:cNvSpPr>
            <p:nvPr/>
          </p:nvSpPr>
          <p:spPr bwMode="auto">
            <a:xfrm>
              <a:off x="7620000" y="3221038"/>
              <a:ext cx="381000" cy="5334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rgbClr val="000066"/>
                  </a:solidFill>
                  <a:latin typeface="Times New Roman" panose="02020603050405020304" pitchFamily="18" charset="0"/>
                  <a:ea typeface="宋体" panose="02010600030101010101" pitchFamily="2" charset="-122"/>
                </a:rPr>
                <a:t>g</a:t>
              </a:r>
            </a:p>
          </p:txBody>
        </p:sp>
        <p:sp>
          <p:nvSpPr>
            <p:cNvPr id="58383" name="Oval 16">
              <a:extLst>
                <a:ext uri="{FF2B5EF4-FFF2-40B4-BE49-F238E27FC236}">
                  <a16:creationId xmlns:a16="http://schemas.microsoft.com/office/drawing/2014/main" id="{BCB1915E-EC4C-A348-B96F-A315B7928502}"/>
                </a:ext>
              </a:extLst>
            </p:cNvPr>
            <p:cNvSpPr>
              <a:spLocks noChangeArrowheads="1"/>
            </p:cNvSpPr>
            <p:nvPr/>
          </p:nvSpPr>
          <p:spPr bwMode="auto">
            <a:xfrm>
              <a:off x="7391400" y="4211638"/>
              <a:ext cx="838200" cy="685800"/>
            </a:xfrm>
            <a:prstGeom prst="ellipse">
              <a:avLst/>
            </a:prstGeom>
            <a:solidFill>
              <a:srgbClr val="99FF99"/>
            </a:solidFill>
            <a:ln w="9525">
              <a:solidFill>
                <a:schemeClr val="bg2"/>
              </a:solidFill>
              <a:round/>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zh-CN" altLang="en-US" sz="2400">
                  <a:solidFill>
                    <a:srgbClr val="000066"/>
                  </a:solidFill>
                  <a:latin typeface="Times New Roman" panose="02020603050405020304" pitchFamily="18" charset="0"/>
                  <a:ea typeface="宋体" panose="02010600030101010101" pitchFamily="2" charset="-122"/>
                </a:rPr>
                <a:t>比较</a:t>
              </a:r>
              <a:endParaRPr lang="zh-CN" altLang="en-US" sz="2400" b="0">
                <a:solidFill>
                  <a:srgbClr val="000066"/>
                </a:solidFill>
                <a:latin typeface="Times New Roman" panose="02020603050405020304" pitchFamily="18" charset="0"/>
                <a:ea typeface="宋体" panose="02010600030101010101" pitchFamily="2" charset="-122"/>
              </a:endParaRPr>
            </a:p>
          </p:txBody>
        </p:sp>
        <p:sp>
          <p:nvSpPr>
            <p:cNvPr id="58384" name="Text Box 17">
              <a:extLst>
                <a:ext uri="{FF2B5EF4-FFF2-40B4-BE49-F238E27FC236}">
                  <a16:creationId xmlns:a16="http://schemas.microsoft.com/office/drawing/2014/main" id="{49B5AD26-025D-144D-A1D8-0825423754FB}"/>
                </a:ext>
              </a:extLst>
            </p:cNvPr>
            <p:cNvSpPr txBox="1">
              <a:spLocks noChangeArrowheads="1"/>
            </p:cNvSpPr>
            <p:nvPr/>
          </p:nvSpPr>
          <p:spPr bwMode="auto">
            <a:xfrm>
              <a:off x="7010400" y="5324475"/>
              <a:ext cx="1419225"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是或不是</a:t>
              </a:r>
            </a:p>
          </p:txBody>
        </p:sp>
        <p:sp>
          <p:nvSpPr>
            <p:cNvPr id="58385" name="Text Box 18">
              <a:extLst>
                <a:ext uri="{FF2B5EF4-FFF2-40B4-BE49-F238E27FC236}">
                  <a16:creationId xmlns:a16="http://schemas.microsoft.com/office/drawing/2014/main" id="{CC8A0999-F4E7-074B-A4B7-9D4561BDC27B}"/>
                </a:ext>
              </a:extLst>
            </p:cNvPr>
            <p:cNvSpPr txBox="1">
              <a:spLocks noChangeArrowheads="1"/>
            </p:cNvSpPr>
            <p:nvPr/>
          </p:nvSpPr>
          <p:spPr bwMode="auto">
            <a:xfrm>
              <a:off x="685800" y="2657475"/>
              <a:ext cx="439738"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rgbClr val="000066"/>
                  </a:solidFill>
                  <a:latin typeface="Times New Roman" panose="02020603050405020304" pitchFamily="18" charset="0"/>
                  <a:ea typeface="宋体" panose="02010600030101010101" pitchFamily="2" charset="-122"/>
                </a:rPr>
                <a:t>p</a:t>
              </a:r>
              <a:r>
                <a:rPr lang="en-US" altLang="zh-CN" sz="2400">
                  <a:solidFill>
                    <a:srgbClr val="000066"/>
                  </a:solidFill>
                  <a:latin typeface="Times New Roman" panose="02020603050405020304" pitchFamily="18" charset="0"/>
                  <a:ea typeface="宋体" panose="02010600030101010101" pitchFamily="2" charset="-122"/>
                  <a:sym typeface="Symbol" pitchFamily="2" charset="2"/>
                </a:rPr>
                <a:t></a:t>
              </a:r>
              <a:endParaRPr lang="en-US" altLang="zh-CN" sz="2400" b="0">
                <a:solidFill>
                  <a:srgbClr val="000066"/>
                </a:solidFill>
                <a:latin typeface="Times New Roman" panose="02020603050405020304" pitchFamily="18" charset="0"/>
                <a:ea typeface="宋体" panose="02010600030101010101" pitchFamily="2" charset="-122"/>
              </a:endParaRPr>
            </a:p>
          </p:txBody>
        </p:sp>
        <p:sp>
          <p:nvSpPr>
            <p:cNvPr id="58386" name="Text Box 19">
              <a:extLst>
                <a:ext uri="{FF2B5EF4-FFF2-40B4-BE49-F238E27FC236}">
                  <a16:creationId xmlns:a16="http://schemas.microsoft.com/office/drawing/2014/main" id="{4325F644-0E75-1F4E-B35C-0445AC042456}"/>
                </a:ext>
              </a:extLst>
            </p:cNvPr>
            <p:cNvSpPr txBox="1">
              <a:spLocks noChangeArrowheads="1"/>
            </p:cNvSpPr>
            <p:nvPr/>
          </p:nvSpPr>
          <p:spPr bwMode="auto">
            <a:xfrm>
              <a:off x="1905000" y="1971675"/>
              <a:ext cx="1112838"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声称者</a:t>
              </a:r>
              <a:endParaRPr lang="zh-CN" altLang="en-US" sz="2400" b="0">
                <a:solidFill>
                  <a:srgbClr val="000066"/>
                </a:solidFill>
                <a:latin typeface="Times New Roman" panose="02020603050405020304" pitchFamily="18" charset="0"/>
                <a:ea typeface="宋体" panose="02010600030101010101" pitchFamily="2" charset="-122"/>
              </a:endParaRPr>
            </a:p>
          </p:txBody>
        </p:sp>
        <p:sp>
          <p:nvSpPr>
            <p:cNvPr id="58387" name="Text Box 20">
              <a:extLst>
                <a:ext uri="{FF2B5EF4-FFF2-40B4-BE49-F238E27FC236}">
                  <a16:creationId xmlns:a16="http://schemas.microsoft.com/office/drawing/2014/main" id="{1A0F70F6-6926-144E-9216-19E4708E5894}"/>
                </a:ext>
              </a:extLst>
            </p:cNvPr>
            <p:cNvSpPr txBox="1">
              <a:spLocks noChangeArrowheads="1"/>
            </p:cNvSpPr>
            <p:nvPr/>
          </p:nvSpPr>
          <p:spPr bwMode="auto">
            <a:xfrm>
              <a:off x="7010400" y="1666875"/>
              <a:ext cx="1112838"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验证者</a:t>
              </a:r>
              <a:endParaRPr lang="zh-CN" altLang="en-US" sz="2400" b="0">
                <a:solidFill>
                  <a:srgbClr val="000066"/>
                </a:solidFill>
                <a:latin typeface="Times New Roman" panose="02020603050405020304" pitchFamily="18" charset="0"/>
                <a:ea typeface="宋体" panose="02010600030101010101" pitchFamily="2" charset="-122"/>
              </a:endParaRPr>
            </a:p>
          </p:txBody>
        </p:sp>
        <p:sp>
          <p:nvSpPr>
            <p:cNvPr id="1377301" name="Line 21">
              <a:extLst>
                <a:ext uri="{FF2B5EF4-FFF2-40B4-BE49-F238E27FC236}">
                  <a16:creationId xmlns:a16="http://schemas.microsoft.com/office/drawing/2014/main" id="{DCC0976F-CBB9-3045-B211-78FEC3259B11}"/>
                </a:ext>
              </a:extLst>
            </p:cNvPr>
            <p:cNvSpPr>
              <a:spLocks noChangeShapeType="1"/>
            </p:cNvSpPr>
            <p:nvPr/>
          </p:nvSpPr>
          <p:spPr bwMode="auto">
            <a:xfrm>
              <a:off x="1219200" y="5202238"/>
              <a:ext cx="3429000" cy="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02" name="Line 22">
              <a:extLst>
                <a:ext uri="{FF2B5EF4-FFF2-40B4-BE49-F238E27FC236}">
                  <a16:creationId xmlns:a16="http://schemas.microsoft.com/office/drawing/2014/main" id="{E8C5146A-FEA7-B74A-93D6-A22397277168}"/>
                </a:ext>
              </a:extLst>
            </p:cNvPr>
            <p:cNvSpPr>
              <a:spLocks noChangeShapeType="1"/>
            </p:cNvSpPr>
            <p:nvPr/>
          </p:nvSpPr>
          <p:spPr bwMode="auto">
            <a:xfrm flipV="1">
              <a:off x="4648200" y="3449638"/>
              <a:ext cx="0" cy="17526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03" name="Line 23">
              <a:extLst>
                <a:ext uri="{FF2B5EF4-FFF2-40B4-BE49-F238E27FC236}">
                  <a16:creationId xmlns:a16="http://schemas.microsoft.com/office/drawing/2014/main" id="{4C1C6C9D-2F4E-414F-8369-CB1B8B5E12DD}"/>
                </a:ext>
              </a:extLst>
            </p:cNvPr>
            <p:cNvSpPr>
              <a:spLocks noChangeShapeType="1"/>
            </p:cNvSpPr>
            <p:nvPr/>
          </p:nvSpPr>
          <p:spPr bwMode="auto">
            <a:xfrm>
              <a:off x="2133600" y="5583238"/>
              <a:ext cx="3200400" cy="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04" name="Line 24">
              <a:extLst>
                <a:ext uri="{FF2B5EF4-FFF2-40B4-BE49-F238E27FC236}">
                  <a16:creationId xmlns:a16="http://schemas.microsoft.com/office/drawing/2014/main" id="{78DE4095-8EC6-5E44-A091-3CACC37E1743}"/>
                </a:ext>
              </a:extLst>
            </p:cNvPr>
            <p:cNvSpPr>
              <a:spLocks noChangeShapeType="1"/>
            </p:cNvSpPr>
            <p:nvPr/>
          </p:nvSpPr>
          <p:spPr bwMode="auto">
            <a:xfrm flipV="1">
              <a:off x="5334000" y="3449638"/>
              <a:ext cx="0" cy="21336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05" name="Line 25">
              <a:extLst>
                <a:ext uri="{FF2B5EF4-FFF2-40B4-BE49-F238E27FC236}">
                  <a16:creationId xmlns:a16="http://schemas.microsoft.com/office/drawing/2014/main" id="{530F470C-D2A5-034E-9A30-6536301D1ED5}"/>
                </a:ext>
              </a:extLst>
            </p:cNvPr>
            <p:cNvSpPr>
              <a:spLocks noChangeShapeType="1"/>
            </p:cNvSpPr>
            <p:nvPr/>
          </p:nvSpPr>
          <p:spPr bwMode="auto">
            <a:xfrm flipV="1">
              <a:off x="2286000" y="4287838"/>
              <a:ext cx="0" cy="129540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06" name="Line 26">
              <a:extLst>
                <a:ext uri="{FF2B5EF4-FFF2-40B4-BE49-F238E27FC236}">
                  <a16:creationId xmlns:a16="http://schemas.microsoft.com/office/drawing/2014/main" id="{AD59DDF2-5AAB-104C-A887-9C42D5630DEE}"/>
                </a:ext>
              </a:extLst>
            </p:cNvPr>
            <p:cNvSpPr>
              <a:spLocks noChangeShapeType="1"/>
            </p:cNvSpPr>
            <p:nvPr/>
          </p:nvSpPr>
          <p:spPr bwMode="auto">
            <a:xfrm>
              <a:off x="2286000" y="4287838"/>
              <a:ext cx="2286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07" name="Line 27">
              <a:extLst>
                <a:ext uri="{FF2B5EF4-FFF2-40B4-BE49-F238E27FC236}">
                  <a16:creationId xmlns:a16="http://schemas.microsoft.com/office/drawing/2014/main" id="{CBCA4252-BB7C-904F-9D5B-90401FC4A897}"/>
                </a:ext>
              </a:extLst>
            </p:cNvPr>
            <p:cNvSpPr>
              <a:spLocks noChangeShapeType="1"/>
            </p:cNvSpPr>
            <p:nvPr/>
          </p:nvSpPr>
          <p:spPr bwMode="auto">
            <a:xfrm>
              <a:off x="2362200" y="3144838"/>
              <a:ext cx="304800" cy="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08" name="Line 28">
              <a:extLst>
                <a:ext uri="{FF2B5EF4-FFF2-40B4-BE49-F238E27FC236}">
                  <a16:creationId xmlns:a16="http://schemas.microsoft.com/office/drawing/2014/main" id="{F4B7CE8D-D8A5-FE41-9A6D-85DED265F755}"/>
                </a:ext>
              </a:extLst>
            </p:cNvPr>
            <p:cNvSpPr>
              <a:spLocks noChangeShapeType="1"/>
            </p:cNvSpPr>
            <p:nvPr/>
          </p:nvSpPr>
          <p:spPr bwMode="auto">
            <a:xfrm>
              <a:off x="2667000" y="3144838"/>
              <a:ext cx="0" cy="6858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8396" name="Text Box 29">
              <a:extLst>
                <a:ext uri="{FF2B5EF4-FFF2-40B4-BE49-F238E27FC236}">
                  <a16:creationId xmlns:a16="http://schemas.microsoft.com/office/drawing/2014/main" id="{FAA146A7-FB79-D04E-A495-90ADD9BF03DC}"/>
                </a:ext>
              </a:extLst>
            </p:cNvPr>
            <p:cNvSpPr txBox="1">
              <a:spLocks noChangeArrowheads="1"/>
            </p:cNvSpPr>
            <p:nvPr/>
          </p:nvSpPr>
          <p:spPr bwMode="auto">
            <a:xfrm>
              <a:off x="4343400" y="2438400"/>
              <a:ext cx="806450"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rgbClr val="000066"/>
                  </a:solidFill>
                  <a:latin typeface="Times New Roman" panose="02020603050405020304" pitchFamily="18" charset="0"/>
                  <a:ea typeface="宋体" panose="02010600030101010101" pitchFamily="2" charset="-122"/>
                </a:rPr>
                <a:t>消息</a:t>
              </a:r>
            </a:p>
          </p:txBody>
        </p:sp>
        <p:sp>
          <p:nvSpPr>
            <p:cNvPr id="1377310" name="Line 30">
              <a:extLst>
                <a:ext uri="{FF2B5EF4-FFF2-40B4-BE49-F238E27FC236}">
                  <a16:creationId xmlns:a16="http://schemas.microsoft.com/office/drawing/2014/main" id="{1FF7A010-0E52-BE4F-A8DB-1F324FC1E949}"/>
                </a:ext>
              </a:extLst>
            </p:cNvPr>
            <p:cNvSpPr>
              <a:spLocks noChangeShapeType="1"/>
            </p:cNvSpPr>
            <p:nvPr/>
          </p:nvSpPr>
          <p:spPr bwMode="auto">
            <a:xfrm flipV="1">
              <a:off x="5257800" y="2459038"/>
              <a:ext cx="228600" cy="60960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11" name="Line 31">
              <a:extLst>
                <a:ext uri="{FF2B5EF4-FFF2-40B4-BE49-F238E27FC236}">
                  <a16:creationId xmlns:a16="http://schemas.microsoft.com/office/drawing/2014/main" id="{BFA41D32-B6FD-F643-8A1B-FBDF22A11E34}"/>
                </a:ext>
              </a:extLst>
            </p:cNvPr>
            <p:cNvSpPr>
              <a:spLocks noChangeShapeType="1"/>
            </p:cNvSpPr>
            <p:nvPr/>
          </p:nvSpPr>
          <p:spPr bwMode="auto">
            <a:xfrm>
              <a:off x="5486400" y="2459038"/>
              <a:ext cx="2133600" cy="10668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12" name="Line 32">
              <a:extLst>
                <a:ext uri="{FF2B5EF4-FFF2-40B4-BE49-F238E27FC236}">
                  <a16:creationId xmlns:a16="http://schemas.microsoft.com/office/drawing/2014/main" id="{6EAC3B09-EC67-684E-9988-3CAA18D2AFE7}"/>
                </a:ext>
              </a:extLst>
            </p:cNvPr>
            <p:cNvSpPr>
              <a:spLocks noChangeShapeType="1"/>
            </p:cNvSpPr>
            <p:nvPr/>
          </p:nvSpPr>
          <p:spPr bwMode="auto">
            <a:xfrm>
              <a:off x="7848600" y="2840038"/>
              <a:ext cx="0" cy="3810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13" name="Line 33">
              <a:extLst>
                <a:ext uri="{FF2B5EF4-FFF2-40B4-BE49-F238E27FC236}">
                  <a16:creationId xmlns:a16="http://schemas.microsoft.com/office/drawing/2014/main" id="{5DA1945D-48A9-DF4A-A8D9-8864ADF1C6EE}"/>
                </a:ext>
              </a:extLst>
            </p:cNvPr>
            <p:cNvSpPr>
              <a:spLocks noChangeShapeType="1"/>
            </p:cNvSpPr>
            <p:nvPr/>
          </p:nvSpPr>
          <p:spPr bwMode="auto">
            <a:xfrm>
              <a:off x="7848600" y="3754438"/>
              <a:ext cx="0" cy="4572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14" name="Line 34">
              <a:extLst>
                <a:ext uri="{FF2B5EF4-FFF2-40B4-BE49-F238E27FC236}">
                  <a16:creationId xmlns:a16="http://schemas.microsoft.com/office/drawing/2014/main" id="{5466F9F1-AF7A-304E-843E-626AD70B8FAA}"/>
                </a:ext>
              </a:extLst>
            </p:cNvPr>
            <p:cNvSpPr>
              <a:spLocks noChangeShapeType="1"/>
            </p:cNvSpPr>
            <p:nvPr/>
          </p:nvSpPr>
          <p:spPr bwMode="auto">
            <a:xfrm>
              <a:off x="7848600" y="4897438"/>
              <a:ext cx="0" cy="4572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8402" name="Text Box 35">
              <a:extLst>
                <a:ext uri="{FF2B5EF4-FFF2-40B4-BE49-F238E27FC236}">
                  <a16:creationId xmlns:a16="http://schemas.microsoft.com/office/drawing/2014/main" id="{0DC5A24D-7288-E347-8E2C-78ED7A3C7AE6}"/>
                </a:ext>
              </a:extLst>
            </p:cNvPr>
            <p:cNvSpPr txBox="1">
              <a:spLocks noChangeArrowheads="1"/>
            </p:cNvSpPr>
            <p:nvPr/>
          </p:nvSpPr>
          <p:spPr bwMode="auto">
            <a:xfrm>
              <a:off x="2438400" y="2667000"/>
              <a:ext cx="515938"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rgbClr val="000066"/>
                  </a:solidFill>
                  <a:latin typeface="Times New Roman" panose="02020603050405020304" pitchFamily="18" charset="0"/>
                  <a:ea typeface="宋体" panose="02010600030101010101" pitchFamily="2" charset="-122"/>
                </a:rPr>
                <a:t>q </a:t>
              </a:r>
              <a:r>
                <a:rPr lang="en-US" altLang="zh-CN" sz="2400">
                  <a:solidFill>
                    <a:srgbClr val="000066"/>
                  </a:solidFill>
                  <a:latin typeface="Times New Roman" panose="02020603050405020304" pitchFamily="18" charset="0"/>
                  <a:ea typeface="宋体" panose="02010600030101010101" pitchFamily="2" charset="-122"/>
                  <a:sym typeface="Symbol" pitchFamily="2" charset="2"/>
                </a:rPr>
                <a:t></a:t>
              </a:r>
            </a:p>
          </p:txBody>
        </p:sp>
        <p:sp>
          <p:nvSpPr>
            <p:cNvPr id="1377316" name="Line 36">
              <a:extLst>
                <a:ext uri="{FF2B5EF4-FFF2-40B4-BE49-F238E27FC236}">
                  <a16:creationId xmlns:a16="http://schemas.microsoft.com/office/drawing/2014/main" id="{651D1188-A18E-9F45-99F9-5364C259E0F1}"/>
                </a:ext>
              </a:extLst>
            </p:cNvPr>
            <p:cNvSpPr>
              <a:spLocks noChangeShapeType="1"/>
            </p:cNvSpPr>
            <p:nvPr/>
          </p:nvSpPr>
          <p:spPr bwMode="auto">
            <a:xfrm>
              <a:off x="2971800" y="4287838"/>
              <a:ext cx="990600" cy="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17" name="Line 37">
              <a:extLst>
                <a:ext uri="{FF2B5EF4-FFF2-40B4-BE49-F238E27FC236}">
                  <a16:creationId xmlns:a16="http://schemas.microsoft.com/office/drawing/2014/main" id="{5EFCD092-E7F8-EB46-9A5A-389291B36C64}"/>
                </a:ext>
              </a:extLst>
            </p:cNvPr>
            <p:cNvSpPr>
              <a:spLocks noChangeShapeType="1"/>
            </p:cNvSpPr>
            <p:nvPr/>
          </p:nvSpPr>
          <p:spPr bwMode="auto">
            <a:xfrm flipV="1">
              <a:off x="3962400" y="3449638"/>
              <a:ext cx="0" cy="8382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18" name="Line 38">
              <a:extLst>
                <a:ext uri="{FF2B5EF4-FFF2-40B4-BE49-F238E27FC236}">
                  <a16:creationId xmlns:a16="http://schemas.microsoft.com/office/drawing/2014/main" id="{2602677F-5B64-8541-BCFF-AED34CE20A1D}"/>
                </a:ext>
              </a:extLst>
            </p:cNvPr>
            <p:cNvSpPr>
              <a:spLocks noChangeShapeType="1"/>
            </p:cNvSpPr>
            <p:nvPr/>
          </p:nvSpPr>
          <p:spPr bwMode="auto">
            <a:xfrm>
              <a:off x="4191000" y="3449638"/>
              <a:ext cx="0" cy="60960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19" name="Line 39">
              <a:extLst>
                <a:ext uri="{FF2B5EF4-FFF2-40B4-BE49-F238E27FC236}">
                  <a16:creationId xmlns:a16="http://schemas.microsoft.com/office/drawing/2014/main" id="{2D76A330-4145-BC42-9DDB-FF1D3A43BEE9}"/>
                </a:ext>
              </a:extLst>
            </p:cNvPr>
            <p:cNvSpPr>
              <a:spLocks noChangeShapeType="1"/>
            </p:cNvSpPr>
            <p:nvPr/>
          </p:nvSpPr>
          <p:spPr bwMode="auto">
            <a:xfrm>
              <a:off x="4191000" y="4592638"/>
              <a:ext cx="32004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77320" name="Line 40">
              <a:extLst>
                <a:ext uri="{FF2B5EF4-FFF2-40B4-BE49-F238E27FC236}">
                  <a16:creationId xmlns:a16="http://schemas.microsoft.com/office/drawing/2014/main" id="{9E747762-6B40-EF4E-B65D-859A590BE28F}"/>
                </a:ext>
              </a:extLst>
            </p:cNvPr>
            <p:cNvSpPr>
              <a:spLocks noChangeShapeType="1"/>
            </p:cNvSpPr>
            <p:nvPr/>
          </p:nvSpPr>
          <p:spPr bwMode="auto">
            <a:xfrm>
              <a:off x="4191000" y="3983038"/>
              <a:ext cx="0" cy="60960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8408" name="Text Box 41">
              <a:extLst>
                <a:ext uri="{FF2B5EF4-FFF2-40B4-BE49-F238E27FC236}">
                  <a16:creationId xmlns:a16="http://schemas.microsoft.com/office/drawing/2014/main" id="{94A2B33D-AEEC-984D-BE72-E89789734F6C}"/>
                </a:ext>
              </a:extLst>
            </p:cNvPr>
            <p:cNvSpPr txBox="1">
              <a:spLocks noChangeArrowheads="1"/>
            </p:cNvSpPr>
            <p:nvPr/>
          </p:nvSpPr>
          <p:spPr bwMode="auto">
            <a:xfrm>
              <a:off x="685800" y="5019675"/>
              <a:ext cx="447675"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rgbClr val="000066"/>
                  </a:solidFill>
                  <a:latin typeface="Times New Roman" panose="02020603050405020304" pitchFamily="18" charset="0"/>
                  <a:ea typeface="宋体" panose="02010600030101010101" pitchFamily="2" charset="-122"/>
                </a:rPr>
                <a:t>id</a:t>
              </a:r>
            </a:p>
          </p:txBody>
        </p:sp>
        <p:sp>
          <p:nvSpPr>
            <p:cNvPr id="58409" name="Text Box 42">
              <a:extLst>
                <a:ext uri="{FF2B5EF4-FFF2-40B4-BE49-F238E27FC236}">
                  <a16:creationId xmlns:a16="http://schemas.microsoft.com/office/drawing/2014/main" id="{97C09A4C-5238-CF42-BB26-268B95118C87}"/>
                </a:ext>
              </a:extLst>
            </p:cNvPr>
            <p:cNvSpPr txBox="1">
              <a:spLocks noChangeArrowheads="1"/>
            </p:cNvSpPr>
            <p:nvPr/>
          </p:nvSpPr>
          <p:spPr bwMode="auto">
            <a:xfrm>
              <a:off x="1524000" y="5257800"/>
              <a:ext cx="650875"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rgbClr val="000066"/>
                  </a:solidFill>
                  <a:latin typeface="Times New Roman" panose="02020603050405020304" pitchFamily="18" charset="0"/>
                  <a:ea typeface="宋体" panose="02010600030101010101" pitchFamily="2" charset="-122"/>
                </a:rPr>
                <a:t>nrv</a:t>
              </a:r>
              <a:endParaRPr lang="en-US" altLang="zh-CN" sz="2400" b="0">
                <a:solidFill>
                  <a:srgbClr val="000066"/>
                </a:solidFill>
                <a:latin typeface="Times New Roman" panose="02020603050405020304" pitchFamily="18" charset="0"/>
                <a:ea typeface="宋体" panose="02010600030101010101" pitchFamily="2" charset="-122"/>
              </a:endParaRPr>
            </a:p>
          </p:txBody>
        </p:sp>
        <p:sp>
          <p:nvSpPr>
            <p:cNvPr id="1377323" name="Line 43">
              <a:extLst>
                <a:ext uri="{FF2B5EF4-FFF2-40B4-BE49-F238E27FC236}">
                  <a16:creationId xmlns:a16="http://schemas.microsoft.com/office/drawing/2014/main" id="{525AD24C-B776-0A4E-BA87-9CD4AD7071C8}"/>
                </a:ext>
              </a:extLst>
            </p:cNvPr>
            <p:cNvSpPr>
              <a:spLocks noChangeShapeType="1"/>
            </p:cNvSpPr>
            <p:nvPr/>
          </p:nvSpPr>
          <p:spPr bwMode="auto">
            <a:xfrm>
              <a:off x="1219200" y="3343275"/>
              <a:ext cx="685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58411" name="Text Box 44">
              <a:extLst>
                <a:ext uri="{FF2B5EF4-FFF2-40B4-BE49-F238E27FC236}">
                  <a16:creationId xmlns:a16="http://schemas.microsoft.com/office/drawing/2014/main" id="{C497440E-2AB5-3244-BAB2-7DF51B2C5D57}"/>
                </a:ext>
              </a:extLst>
            </p:cNvPr>
            <p:cNvSpPr txBox="1">
              <a:spLocks noChangeArrowheads="1"/>
            </p:cNvSpPr>
            <p:nvPr/>
          </p:nvSpPr>
          <p:spPr bwMode="auto">
            <a:xfrm>
              <a:off x="381000" y="3190875"/>
              <a:ext cx="685800"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rgbClr val="000066"/>
                  </a:solidFill>
                  <a:latin typeface="Times New Roman" panose="02020603050405020304" pitchFamily="18" charset="0"/>
                  <a:ea typeface="宋体" panose="02010600030101010101" pitchFamily="2" charset="-122"/>
                </a:rPr>
                <a:t>salt</a:t>
              </a:r>
            </a:p>
          </p:txBody>
        </p:sp>
      </p:grpSp>
      <p:sp>
        <p:nvSpPr>
          <p:cNvPr id="58371" name="Text Box 20">
            <a:extLst>
              <a:ext uri="{FF2B5EF4-FFF2-40B4-BE49-F238E27FC236}">
                <a16:creationId xmlns:a16="http://schemas.microsoft.com/office/drawing/2014/main" id="{E2B486E8-20FF-8E43-A7AF-DA7F6EE2FA0F}"/>
              </a:ext>
            </a:extLst>
          </p:cNvPr>
          <p:cNvSpPr txBox="1">
            <a:spLocks noChangeArrowheads="1"/>
          </p:cNvSpPr>
          <p:nvPr/>
        </p:nvSpPr>
        <p:spPr bwMode="auto">
          <a:xfrm>
            <a:off x="4054475" y="5621338"/>
            <a:ext cx="1111250" cy="461962"/>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latin typeface="Times New Roman" panose="02020603050405020304" pitchFamily="18" charset="0"/>
                <a:ea typeface="宋体" panose="02010600030101010101" pitchFamily="2" charset="-122"/>
              </a:rPr>
              <a:t>随机数</a:t>
            </a:r>
            <a:endParaRPr lang="zh-CN" altLang="en-US" sz="2400" b="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8306" name="Rectangle 2">
            <a:extLst>
              <a:ext uri="{FF2B5EF4-FFF2-40B4-BE49-F238E27FC236}">
                <a16:creationId xmlns:a16="http://schemas.microsoft.com/office/drawing/2014/main" id="{19755E75-7AFD-8044-9F0F-9F2E013FFBC5}"/>
              </a:ext>
            </a:extLst>
          </p:cNvPr>
          <p:cNvSpPr>
            <a:spLocks noGrp="1" noChangeArrowheads="1"/>
          </p:cNvSpPr>
          <p:nvPr>
            <p:ph type="title"/>
          </p:nvPr>
        </p:nvSpPr>
        <p:spPr bwMode="auto">
          <a:xfrm>
            <a:off x="457200" y="847725"/>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en-US" altLang="zh-CN" sz="3200" kern="1200" dirty="0">
                <a:solidFill>
                  <a:srgbClr val="FF0000"/>
                </a:solidFill>
                <a:latin typeface="黑体" panose="02010609060101010101" pitchFamily="49" charset="-122"/>
                <a:ea typeface="黑体" panose="02010609060101010101" pitchFamily="49" charset="-122"/>
                <a:cs typeface="+mn-cs"/>
              </a:rPr>
              <a:t>B</a:t>
            </a:r>
            <a:r>
              <a:rPr kumimoji="1" lang="zh-CN" altLang="en-US" sz="3200" kern="1200" dirty="0">
                <a:solidFill>
                  <a:srgbClr val="FF0000"/>
                </a:solidFill>
                <a:latin typeface="黑体" panose="02010609060101010101" pitchFamily="49" charset="-122"/>
                <a:ea typeface="黑体" panose="02010609060101010101" pitchFamily="49" charset="-122"/>
                <a:cs typeface="+mn-cs"/>
              </a:rPr>
              <a:t>．一次性口令机制（</a:t>
            </a:r>
            <a:r>
              <a:rPr kumimoji="1" lang="en-US" altLang="zh-CN" sz="3200" kern="1200" dirty="0">
                <a:solidFill>
                  <a:srgbClr val="FF0000"/>
                </a:solidFill>
                <a:latin typeface="黑体" panose="02010609060101010101" pitchFamily="49" charset="-122"/>
                <a:ea typeface="黑体" panose="02010609060101010101" pitchFamily="49" charset="-122"/>
                <a:cs typeface="+mn-cs"/>
              </a:rPr>
              <a:t>OPT</a:t>
            </a:r>
            <a:r>
              <a:rPr kumimoji="1" lang="zh-CN" altLang="en-US" sz="3200" kern="1200" dirty="0">
                <a:solidFill>
                  <a:srgbClr val="FF0000"/>
                </a:solidFill>
                <a:latin typeface="黑体" panose="02010609060101010101" pitchFamily="49" charset="-122"/>
                <a:ea typeface="黑体" panose="02010609060101010101" pitchFamily="49" charset="-122"/>
                <a:cs typeface="+mn-cs"/>
              </a:rPr>
              <a:t>）</a:t>
            </a:r>
          </a:p>
        </p:txBody>
      </p:sp>
      <p:sp>
        <p:nvSpPr>
          <p:cNvPr id="1378307" name="Rectangle 3">
            <a:extLst>
              <a:ext uri="{FF2B5EF4-FFF2-40B4-BE49-F238E27FC236}">
                <a16:creationId xmlns:a16="http://schemas.microsoft.com/office/drawing/2014/main" id="{4A39502C-04CF-E749-AE60-523711D1A905}"/>
              </a:ext>
            </a:extLst>
          </p:cNvPr>
          <p:cNvSpPr>
            <a:spLocks noGrp="1" noChangeArrowheads="1"/>
          </p:cNvSpPr>
          <p:nvPr>
            <p:ph type="body" idx="1"/>
          </p:nvPr>
        </p:nvSpPr>
        <p:spPr bwMode="auto">
          <a:xfrm>
            <a:off x="884238" y="3505200"/>
            <a:ext cx="7848600" cy="24384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indent="0" eaLnBrk="1" hangingPunct="1">
              <a:lnSpc>
                <a:spcPct val="100000"/>
              </a:lnSpc>
              <a:buClr>
                <a:srgbClr val="6D4313"/>
              </a:buClr>
              <a:buFont typeface="Wingdings" pitchFamily="2" charset="2"/>
              <a:buNone/>
              <a:defRPr/>
            </a:pPr>
            <a:r>
              <a:rPr lang="zh-CN" altLang="en-US" sz="2400">
                <a:solidFill>
                  <a:schemeClr val="bg2"/>
                </a:solidFill>
                <a:latin typeface="黑体" panose="02010609060101010101" pitchFamily="49" charset="-122"/>
                <a:ea typeface="黑体" panose="02010609060101010101" pitchFamily="49" charset="-122"/>
              </a:rPr>
              <a:t>（</a:t>
            </a:r>
            <a:r>
              <a:rPr lang="en-US" altLang="zh-CN" sz="2400">
                <a:solidFill>
                  <a:schemeClr val="bg2"/>
                </a:solidFill>
                <a:latin typeface="黑体" panose="02010609060101010101" pitchFamily="49" charset="-122"/>
                <a:ea typeface="黑体" panose="02010609060101010101" pitchFamily="49" charset="-122"/>
              </a:rPr>
              <a:t>1</a:t>
            </a:r>
            <a:r>
              <a:rPr lang="zh-CN" altLang="en-US" sz="2400">
                <a:solidFill>
                  <a:schemeClr val="bg2"/>
                </a:solidFill>
                <a:latin typeface="黑体" panose="02010609060101010101" pitchFamily="49" charset="-122"/>
                <a:ea typeface="黑体" panose="02010609060101010101" pitchFamily="49" charset="-122"/>
              </a:rPr>
              <a:t>）两端共同拥有一串随机口令，在该串的某一位置保持同步；</a:t>
            </a:r>
            <a:br>
              <a:rPr lang="zh-CN" altLang="en-US" sz="2400">
                <a:solidFill>
                  <a:schemeClr val="bg2"/>
                </a:solidFill>
                <a:latin typeface="黑体" panose="02010609060101010101" pitchFamily="49" charset="-122"/>
                <a:ea typeface="黑体" panose="02010609060101010101" pitchFamily="49" charset="-122"/>
              </a:rPr>
            </a:br>
            <a:r>
              <a:rPr lang="zh-CN" altLang="en-US" sz="2400">
                <a:solidFill>
                  <a:schemeClr val="bg2"/>
                </a:solidFill>
                <a:latin typeface="黑体" panose="02010609060101010101" pitchFamily="49" charset="-122"/>
                <a:ea typeface="黑体" panose="02010609060101010101" pitchFamily="49" charset="-122"/>
              </a:rPr>
              <a:t>（</a:t>
            </a:r>
            <a:r>
              <a:rPr lang="en-US" altLang="zh-CN" sz="2400">
                <a:solidFill>
                  <a:schemeClr val="bg2"/>
                </a:solidFill>
                <a:latin typeface="黑体" panose="02010609060101010101" pitchFamily="49" charset="-122"/>
                <a:ea typeface="黑体" panose="02010609060101010101" pitchFamily="49" charset="-122"/>
              </a:rPr>
              <a:t>2</a:t>
            </a:r>
            <a:r>
              <a:rPr lang="zh-CN" altLang="en-US" sz="2400">
                <a:solidFill>
                  <a:schemeClr val="bg2"/>
                </a:solidFill>
                <a:latin typeface="黑体" panose="02010609060101010101" pitchFamily="49" charset="-122"/>
                <a:ea typeface="黑体" panose="02010609060101010101" pitchFamily="49" charset="-122"/>
              </a:rPr>
              <a:t>）两端共同使用一个随机序列生成器，在该序列生成器的初态保持同步；</a:t>
            </a:r>
            <a:br>
              <a:rPr lang="zh-CN" altLang="en-US" sz="2400">
                <a:solidFill>
                  <a:schemeClr val="bg2"/>
                </a:solidFill>
                <a:latin typeface="黑体" panose="02010609060101010101" pitchFamily="49" charset="-122"/>
                <a:ea typeface="黑体" panose="02010609060101010101" pitchFamily="49" charset="-122"/>
              </a:rPr>
            </a:br>
            <a:r>
              <a:rPr lang="zh-CN" altLang="en-US" sz="2400">
                <a:solidFill>
                  <a:schemeClr val="bg2"/>
                </a:solidFill>
                <a:latin typeface="黑体" panose="02010609060101010101" pitchFamily="49" charset="-122"/>
                <a:ea typeface="黑体" panose="02010609060101010101" pitchFamily="49" charset="-122"/>
              </a:rPr>
              <a:t>（</a:t>
            </a:r>
            <a:r>
              <a:rPr lang="en-US" altLang="zh-CN" sz="2400">
                <a:solidFill>
                  <a:schemeClr val="bg2"/>
                </a:solidFill>
                <a:latin typeface="黑体" panose="02010609060101010101" pitchFamily="49" charset="-122"/>
                <a:ea typeface="黑体" panose="02010609060101010101" pitchFamily="49" charset="-122"/>
              </a:rPr>
              <a:t>3</a:t>
            </a:r>
            <a:r>
              <a:rPr lang="zh-CN" altLang="en-US" sz="2400">
                <a:solidFill>
                  <a:schemeClr val="bg2"/>
                </a:solidFill>
                <a:latin typeface="黑体" panose="02010609060101010101" pitchFamily="49" charset="-122"/>
                <a:ea typeface="黑体" panose="02010609060101010101" pitchFamily="49" charset="-122"/>
              </a:rPr>
              <a:t>）使用时戳，两端维持同步的时钟。</a:t>
            </a:r>
            <a:endParaRPr lang="zh-CN" altLang="en-US" sz="1800">
              <a:solidFill>
                <a:schemeClr val="bg2"/>
              </a:solidFill>
              <a:latin typeface="黑体" panose="02010609060101010101" pitchFamily="49" charset="-122"/>
              <a:ea typeface="黑体" panose="02010609060101010101" pitchFamily="49" charset="-122"/>
            </a:endParaRPr>
          </a:p>
        </p:txBody>
      </p:sp>
      <p:sp>
        <p:nvSpPr>
          <p:cNvPr id="2" name="矩形 1">
            <a:extLst>
              <a:ext uri="{FF2B5EF4-FFF2-40B4-BE49-F238E27FC236}">
                <a16:creationId xmlns:a16="http://schemas.microsoft.com/office/drawing/2014/main" id="{856EDA46-6054-1E40-AAB1-9151BF79FED8}"/>
              </a:ext>
            </a:extLst>
          </p:cNvPr>
          <p:cNvSpPr/>
          <p:nvPr/>
        </p:nvSpPr>
        <p:spPr>
          <a:xfrm>
            <a:off x="762000" y="1511300"/>
            <a:ext cx="7391400" cy="954088"/>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buClr>
                <a:srgbClr val="6D4313"/>
              </a:buClr>
              <a:buFont typeface="Wingdings" pitchFamily="2" charset="2"/>
              <a:buChar char="u"/>
              <a:defRPr/>
            </a:pPr>
            <a:r>
              <a:rPr lang="zh-CN" altLang="en-US" sz="28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一次性口令机制确保在每次认证中所使用的口令不同，以对付重放攻击。</a:t>
            </a:r>
          </a:p>
        </p:txBody>
      </p:sp>
      <p:sp>
        <p:nvSpPr>
          <p:cNvPr id="3" name="矩形 2">
            <a:extLst>
              <a:ext uri="{FF2B5EF4-FFF2-40B4-BE49-F238E27FC236}">
                <a16:creationId xmlns:a16="http://schemas.microsoft.com/office/drawing/2014/main" id="{6FAB3450-6050-0E4B-8FAF-5D79F53A9A79}"/>
              </a:ext>
            </a:extLst>
          </p:cNvPr>
          <p:cNvSpPr/>
          <p:nvPr/>
        </p:nvSpPr>
        <p:spPr>
          <a:xfrm>
            <a:off x="762000" y="2619375"/>
            <a:ext cx="4572000" cy="523875"/>
          </a:xfrm>
          <a:prstGeom prst="rect">
            <a:avLst/>
          </a:prstGeom>
        </p:spPr>
        <p:txBody>
          <a:bodyPr>
            <a:spAutoFit/>
          </a:bodyPr>
          <a:lstStyle>
            <a:lvl1pPr marL="457200" indent="-4572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buClr>
                <a:srgbClr val="6D4313"/>
              </a:buClr>
              <a:buFont typeface="Wingdings" pitchFamily="2" charset="2"/>
              <a:buChar char="u"/>
              <a:defRPr/>
            </a:pPr>
            <a:r>
              <a:rPr lang="zh-CN" altLang="en-US" sz="28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确定口令的方法：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nodeType="afterGroup">
                            <p:stCondLst>
                              <p:cond delay="1000"/>
                            </p:stCondLst>
                            <p:childTnLst>
                              <p:par>
                                <p:cTn id="17" presetID="22" presetClass="entr" presetSubtype="1" fill="hold" grpId="0" nodeType="afterEffect">
                                  <p:stCondLst>
                                    <p:cond delay="0"/>
                                  </p:stCondLst>
                                  <p:childTnLst>
                                    <p:set>
                                      <p:cBhvr>
                                        <p:cTn id="18" dur="1" fill="hold">
                                          <p:stCondLst>
                                            <p:cond delay="0"/>
                                          </p:stCondLst>
                                        </p:cTn>
                                        <p:tgtEl>
                                          <p:spTgt spid="1378307">
                                            <p:bg/>
                                          </p:spTgt>
                                        </p:tgtEl>
                                        <p:attrNameLst>
                                          <p:attrName>style.visibility</p:attrName>
                                        </p:attrNameLst>
                                      </p:cBhvr>
                                      <p:to>
                                        <p:strVal val="visible"/>
                                      </p:to>
                                    </p:set>
                                    <p:animEffect transition="in" filter="wipe(up)">
                                      <p:cBhvr>
                                        <p:cTn id="19" dur="500"/>
                                        <p:tgtEl>
                                          <p:spTgt spid="1378307">
                                            <p:bg/>
                                          </p:spTgt>
                                        </p:tgtEl>
                                      </p:cBhvr>
                                    </p:animEffect>
                                  </p:childTnLst>
                                </p:cTn>
                              </p:par>
                            </p:childTnLst>
                          </p:cTn>
                        </p:par>
                        <p:par>
                          <p:cTn id="20" fill="hold" nodeType="afterGroup">
                            <p:stCondLst>
                              <p:cond delay="1500"/>
                            </p:stCondLst>
                            <p:childTnLst>
                              <p:par>
                                <p:cTn id="21" presetID="22" presetClass="entr" presetSubtype="1" fill="hold" grpId="0" nodeType="afterEffect">
                                  <p:stCondLst>
                                    <p:cond delay="0"/>
                                  </p:stCondLst>
                                  <p:childTnLst>
                                    <p:set>
                                      <p:cBhvr>
                                        <p:cTn id="22" dur="1" fill="hold">
                                          <p:stCondLst>
                                            <p:cond delay="0"/>
                                          </p:stCondLst>
                                        </p:cTn>
                                        <p:tgtEl>
                                          <p:spTgt spid="1378307">
                                            <p:txEl>
                                              <p:pRg st="0" end="0"/>
                                            </p:txEl>
                                          </p:spTgt>
                                        </p:tgtEl>
                                        <p:attrNameLst>
                                          <p:attrName>style.visibility</p:attrName>
                                        </p:attrNameLst>
                                      </p:cBhvr>
                                      <p:to>
                                        <p:strVal val="visible"/>
                                      </p:to>
                                    </p:set>
                                    <p:animEffect transition="in" filter="wipe(up)">
                                      <p:cBhvr>
                                        <p:cTn id="23" dur="500"/>
                                        <p:tgtEl>
                                          <p:spTgt spid="13783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8307" grpId="0" build="p" animBg="1"/>
      <p:bldP spid="2" grpId="0"/>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9330" name="Rectangle 2">
            <a:extLst>
              <a:ext uri="{FF2B5EF4-FFF2-40B4-BE49-F238E27FC236}">
                <a16:creationId xmlns:a16="http://schemas.microsoft.com/office/drawing/2014/main" id="{E9BA692D-4DC4-9143-9D9A-8E3B04C1E665}"/>
              </a:ext>
            </a:extLst>
          </p:cNvPr>
          <p:cNvSpPr>
            <a:spLocks noGrp="1" noChangeArrowheads="1"/>
          </p:cNvSpPr>
          <p:nvPr>
            <p:ph type="title"/>
          </p:nvPr>
        </p:nvSpPr>
        <p:spPr bwMode="auto">
          <a:xfrm>
            <a:off x="2667000" y="5791200"/>
            <a:ext cx="4027488" cy="46355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2800">
                <a:solidFill>
                  <a:srgbClr val="FF0000"/>
                </a:solidFill>
                <a:latin typeface="黑体" panose="02010609060101010101" pitchFamily="49" charset="-122"/>
                <a:ea typeface="黑体" panose="02010609060101010101" pitchFamily="49" charset="-122"/>
              </a:rPr>
              <a:t>一次性口令鉴别机制</a:t>
            </a:r>
          </a:p>
        </p:txBody>
      </p:sp>
      <p:pic>
        <p:nvPicPr>
          <p:cNvPr id="3" name="图片 2">
            <a:extLst>
              <a:ext uri="{FF2B5EF4-FFF2-40B4-BE49-F238E27FC236}">
                <a16:creationId xmlns:a16="http://schemas.microsoft.com/office/drawing/2014/main" id="{9299C516-DD01-F248-911A-0A89A360C9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22338"/>
            <a:ext cx="8010525" cy="486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nodeType="afterGroup">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379330"/>
                                        </p:tgtEl>
                                        <p:attrNameLst>
                                          <p:attrName>style.visibility</p:attrName>
                                        </p:attrNameLst>
                                      </p:cBhvr>
                                      <p:to>
                                        <p:strVal val="visible"/>
                                      </p:to>
                                    </p:set>
                                    <p:anim calcmode="lin" valueType="num">
                                      <p:cBhvr>
                                        <p:cTn id="11" dur="500" fill="hold"/>
                                        <p:tgtEl>
                                          <p:spTgt spid="1379330"/>
                                        </p:tgtEl>
                                        <p:attrNameLst>
                                          <p:attrName>ppt_w</p:attrName>
                                        </p:attrNameLst>
                                      </p:cBhvr>
                                      <p:tavLst>
                                        <p:tav tm="0">
                                          <p:val>
                                            <p:fltVal val="0"/>
                                          </p:val>
                                        </p:tav>
                                        <p:tav tm="100000">
                                          <p:val>
                                            <p:strVal val="#ppt_w"/>
                                          </p:val>
                                        </p:tav>
                                      </p:tavLst>
                                    </p:anim>
                                    <p:anim calcmode="lin" valueType="num">
                                      <p:cBhvr>
                                        <p:cTn id="12" dur="500" fill="hold"/>
                                        <p:tgtEl>
                                          <p:spTgt spid="1379330"/>
                                        </p:tgtEl>
                                        <p:attrNameLst>
                                          <p:attrName>ppt_h</p:attrName>
                                        </p:attrNameLst>
                                      </p:cBhvr>
                                      <p:tavLst>
                                        <p:tav tm="0">
                                          <p:val>
                                            <p:fltVal val="0"/>
                                          </p:val>
                                        </p:tav>
                                        <p:tav tm="100000">
                                          <p:val>
                                            <p:strVal val="#ppt_h"/>
                                          </p:val>
                                        </p:tav>
                                      </p:tavLst>
                                    </p:anim>
                                    <p:animEffect transition="in" filter="fade">
                                      <p:cBhvr>
                                        <p:cTn id="13" dur="500"/>
                                        <p:tgtEl>
                                          <p:spTgt spid="1379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933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a:extLst>
              <a:ext uri="{FF2B5EF4-FFF2-40B4-BE49-F238E27FC236}">
                <a16:creationId xmlns:a16="http://schemas.microsoft.com/office/drawing/2014/main" id="{C9AB6A8E-439F-DC43-A6A6-51F30B6199FD}"/>
              </a:ext>
            </a:extLst>
          </p:cNvPr>
          <p:cNvSpPr>
            <a:spLocks noGrp="1" noChangeArrowheads="1"/>
          </p:cNvSpPr>
          <p:nvPr>
            <p:ph type="title"/>
          </p:nvPr>
        </p:nvSpPr>
        <p:spPr bwMode="auto">
          <a:xfrm>
            <a:off x="457200" y="762000"/>
            <a:ext cx="4800600" cy="6096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sz="3600" dirty="0">
                <a:solidFill>
                  <a:srgbClr val="0000FF"/>
                </a:solidFill>
                <a:latin typeface="Times New Roman" panose="02020603050405020304" pitchFamily="18" charset="0"/>
                <a:ea typeface="黑体" pitchFamily="2" charset="-122"/>
                <a:cs typeface="Times New Roman" panose="02020603050405020304" pitchFamily="18" charset="0"/>
              </a:rPr>
              <a:t>OPT</a:t>
            </a:r>
            <a:r>
              <a:rPr lang="zh-CN" altLang="en-US" sz="3600" dirty="0">
                <a:solidFill>
                  <a:srgbClr val="0000FF"/>
                </a:solidFill>
                <a:latin typeface="Times New Roman" panose="02020603050405020304" pitchFamily="18" charset="0"/>
                <a:ea typeface="黑体" pitchFamily="2" charset="-122"/>
                <a:cs typeface="Times New Roman" panose="02020603050405020304" pitchFamily="18" charset="0"/>
              </a:rPr>
              <a:t>安全性分析</a:t>
            </a:r>
          </a:p>
        </p:txBody>
      </p:sp>
      <p:sp>
        <p:nvSpPr>
          <p:cNvPr id="2" name="矩形 1">
            <a:extLst>
              <a:ext uri="{FF2B5EF4-FFF2-40B4-BE49-F238E27FC236}">
                <a16:creationId xmlns:a16="http://schemas.microsoft.com/office/drawing/2014/main" id="{D2B98F10-B205-C141-B456-CCA85C05DC2A}"/>
              </a:ext>
            </a:extLst>
          </p:cNvPr>
          <p:cNvSpPr/>
          <p:nvPr/>
        </p:nvSpPr>
        <p:spPr>
          <a:xfrm>
            <a:off x="685800" y="1524000"/>
            <a:ext cx="8001000" cy="461963"/>
          </a:xfrm>
          <a:prstGeom prst="rect">
            <a:avLst/>
          </a:prstGeom>
        </p:spPr>
        <p:txBody>
          <a:bodyPr>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没有器件而知道口令</a:t>
            </a: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p</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，不能导致一个简单的攻击；</a:t>
            </a:r>
          </a:p>
        </p:txBody>
      </p:sp>
      <p:sp>
        <p:nvSpPr>
          <p:cNvPr id="3" name="矩形 2">
            <a:extLst>
              <a:ext uri="{FF2B5EF4-FFF2-40B4-BE49-F238E27FC236}">
                <a16:creationId xmlns:a16="http://schemas.microsoft.com/office/drawing/2014/main" id="{651A47DA-5F42-9E4E-86CA-A507C30350B3}"/>
              </a:ext>
            </a:extLst>
          </p:cNvPr>
          <p:cNvSpPr/>
          <p:nvPr/>
        </p:nvSpPr>
        <p:spPr>
          <a:xfrm>
            <a:off x="685800" y="2125663"/>
            <a:ext cx="8001000" cy="461962"/>
          </a:xfrm>
          <a:prstGeom prst="rect">
            <a:avLst/>
          </a:prstGeom>
        </p:spPr>
        <p:txBody>
          <a:bodyPr>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拥有器件而不知道口令</a:t>
            </a: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p</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，不能导致一个简单的攻击；</a:t>
            </a:r>
          </a:p>
        </p:txBody>
      </p:sp>
      <p:sp>
        <p:nvSpPr>
          <p:cNvPr id="4" name="矩形 3">
            <a:extLst>
              <a:ext uri="{FF2B5EF4-FFF2-40B4-BE49-F238E27FC236}">
                <a16:creationId xmlns:a16="http://schemas.microsoft.com/office/drawing/2014/main" id="{C1255F4A-A146-F64E-A807-1E71B07EC8F2}"/>
              </a:ext>
            </a:extLst>
          </p:cNvPr>
          <p:cNvSpPr/>
          <p:nvPr/>
        </p:nvSpPr>
        <p:spPr>
          <a:xfrm>
            <a:off x="693738" y="2724150"/>
            <a:ext cx="8069262" cy="831850"/>
          </a:xfrm>
          <a:prstGeom prst="rect">
            <a:avLst/>
          </a:prstGeom>
        </p:spPr>
        <p:txBody>
          <a:bodyPr>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除非攻击者也能进行时间同步，否则重放不是一个简单的攻击；</a:t>
            </a:r>
          </a:p>
        </p:txBody>
      </p:sp>
      <p:sp>
        <p:nvSpPr>
          <p:cNvPr id="5" name="矩形 4">
            <a:extLst>
              <a:ext uri="{FF2B5EF4-FFF2-40B4-BE49-F238E27FC236}">
                <a16:creationId xmlns:a16="http://schemas.microsoft.com/office/drawing/2014/main" id="{C7492FB5-388B-764B-9CE6-BAB4E1BCFCDD}"/>
              </a:ext>
            </a:extLst>
          </p:cNvPr>
          <p:cNvSpPr/>
          <p:nvPr/>
        </p:nvSpPr>
        <p:spPr>
          <a:xfrm>
            <a:off x="762000" y="3586163"/>
            <a:ext cx="7924800" cy="830262"/>
          </a:xfrm>
          <a:prstGeom prst="rect">
            <a:avLst/>
          </a:prstGeom>
        </p:spPr>
        <p:txBody>
          <a:bodyPr>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知道</a:t>
            </a: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q</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（例如通过浏览验证者系统文件）而不知道设备安全值</a:t>
            </a: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dsv</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，不能导致一个简单的攻击。</a:t>
            </a:r>
          </a:p>
        </p:txBody>
      </p:sp>
      <p:pic>
        <p:nvPicPr>
          <p:cNvPr id="61446" name="图片 5">
            <a:extLst>
              <a:ext uri="{FF2B5EF4-FFF2-40B4-BE49-F238E27FC236}">
                <a16:creationId xmlns:a16="http://schemas.microsoft.com/office/drawing/2014/main" id="{073DFE71-8739-1442-B502-86BD51538D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4106863"/>
            <a:ext cx="1905000"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a:extLst>
              <a:ext uri="{FF2B5EF4-FFF2-40B4-BE49-F238E27FC236}">
                <a16:creationId xmlns:a16="http://schemas.microsoft.com/office/drawing/2014/main" id="{530B1BCA-3D1E-2F40-B333-5507BB3FBED5}"/>
              </a:ext>
            </a:extLst>
          </p:cNvPr>
          <p:cNvSpPr>
            <a:spLocks noChangeArrowheads="1"/>
          </p:cNvSpPr>
          <p:nvPr/>
        </p:nvSpPr>
        <p:spPr bwMode="auto">
          <a:xfrm>
            <a:off x="685800" y="1619250"/>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en-US" altLang="zh-CN" sz="2800">
                <a:solidFill>
                  <a:schemeClr val="bg2"/>
                </a:solidFill>
                <a:latin typeface="华文中宋" panose="02010600040101010101" pitchFamily="2" charset="-122"/>
                <a:ea typeface="华文中宋" panose="02010600040101010101" pitchFamily="2" charset="-122"/>
                <a:cs typeface="Times New Roman" panose="02020603050405020304" pitchFamily="18" charset="0"/>
              </a:rPr>
              <a:t>S/Key</a:t>
            </a:r>
            <a:r>
              <a:rPr lang="zh-CN" altLang="en-US" sz="2800">
                <a:solidFill>
                  <a:schemeClr val="bg2"/>
                </a:solidFill>
                <a:latin typeface="华文中宋" panose="02010600040101010101" pitchFamily="2" charset="-122"/>
                <a:ea typeface="华文中宋" panose="02010600040101010101" pitchFamily="2" charset="-122"/>
                <a:cs typeface="Times New Roman" panose="02020603050405020304" pitchFamily="18" charset="0"/>
              </a:rPr>
              <a:t>一次性口令身份鉴别协议</a:t>
            </a:r>
          </a:p>
        </p:txBody>
      </p:sp>
      <p:sp>
        <p:nvSpPr>
          <p:cNvPr id="62466" name="Rectangle 5">
            <a:extLst>
              <a:ext uri="{FF2B5EF4-FFF2-40B4-BE49-F238E27FC236}">
                <a16:creationId xmlns:a16="http://schemas.microsoft.com/office/drawing/2014/main" id="{E4098512-6EB4-BF48-8830-4CB49DA912C6}"/>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2467" name="Rectangle 6">
            <a:extLst>
              <a:ext uri="{FF2B5EF4-FFF2-40B4-BE49-F238E27FC236}">
                <a16:creationId xmlns:a16="http://schemas.microsoft.com/office/drawing/2014/main" id="{228FFE32-8BA6-A242-938F-EEB593A838CA}"/>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2468" name="Rectangle 7">
            <a:extLst>
              <a:ext uri="{FF2B5EF4-FFF2-40B4-BE49-F238E27FC236}">
                <a16:creationId xmlns:a16="http://schemas.microsoft.com/office/drawing/2014/main" id="{3C0FE58B-BCB8-0D46-8A22-973C239936EF}"/>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2469" name="Rectangle 8">
            <a:extLst>
              <a:ext uri="{FF2B5EF4-FFF2-40B4-BE49-F238E27FC236}">
                <a16:creationId xmlns:a16="http://schemas.microsoft.com/office/drawing/2014/main" id="{836D7FC0-C334-B541-BABC-264FF115FB89}"/>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2470" name="Rectangle 9">
            <a:extLst>
              <a:ext uri="{FF2B5EF4-FFF2-40B4-BE49-F238E27FC236}">
                <a16:creationId xmlns:a16="http://schemas.microsoft.com/office/drawing/2014/main" id="{FEFE4472-9379-4F45-9F22-6F86D02E4FC1}"/>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2471" name="Rectangle 10">
            <a:extLst>
              <a:ext uri="{FF2B5EF4-FFF2-40B4-BE49-F238E27FC236}">
                <a16:creationId xmlns:a16="http://schemas.microsoft.com/office/drawing/2014/main" id="{1EE98178-1B48-094B-B679-560266D580A5}"/>
              </a:ext>
            </a:extLst>
          </p:cNvPr>
          <p:cNvSpPr>
            <a:spLocks noChangeArrowheads="1"/>
          </p:cNvSpPr>
          <p:nvPr/>
        </p:nvSpPr>
        <p:spPr bwMode="auto">
          <a:xfrm>
            <a:off x="0" y="33480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grpSp>
        <p:nvGrpSpPr>
          <p:cNvPr id="2" name="组合 1">
            <a:extLst>
              <a:ext uri="{FF2B5EF4-FFF2-40B4-BE49-F238E27FC236}">
                <a16:creationId xmlns:a16="http://schemas.microsoft.com/office/drawing/2014/main" id="{22FDE472-D263-AA48-999B-3F847C37A9A2}"/>
              </a:ext>
            </a:extLst>
          </p:cNvPr>
          <p:cNvGrpSpPr>
            <a:grpSpLocks/>
          </p:cNvGrpSpPr>
          <p:nvPr/>
        </p:nvGrpSpPr>
        <p:grpSpPr bwMode="auto">
          <a:xfrm>
            <a:off x="1066800" y="2590800"/>
            <a:ext cx="7200900" cy="3810000"/>
            <a:chOff x="1066800" y="2590800"/>
            <a:chExt cx="7200900" cy="3810000"/>
          </a:xfrm>
        </p:grpSpPr>
        <p:sp>
          <p:nvSpPr>
            <p:cNvPr id="62474" name="Rectangle 18">
              <a:extLst>
                <a:ext uri="{FF2B5EF4-FFF2-40B4-BE49-F238E27FC236}">
                  <a16:creationId xmlns:a16="http://schemas.microsoft.com/office/drawing/2014/main" id="{B6100481-4C0A-6B42-AAE5-F0561C81CA04}"/>
                </a:ext>
              </a:extLst>
            </p:cNvPr>
            <p:cNvSpPr>
              <a:spLocks noChangeArrowheads="1"/>
            </p:cNvSpPr>
            <p:nvPr/>
          </p:nvSpPr>
          <p:spPr bwMode="auto">
            <a:xfrm>
              <a:off x="2411413" y="5980113"/>
              <a:ext cx="4306887"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sz="2000">
                  <a:solidFill>
                    <a:schemeClr val="bg2"/>
                  </a:solidFill>
                  <a:latin typeface="黑体" panose="02010609060101010101" pitchFamily="49" charset="-122"/>
                  <a:ea typeface="黑体" panose="02010609060101010101" pitchFamily="49" charset="-122"/>
                </a:rPr>
                <a:t>S/Key</a:t>
              </a:r>
              <a:r>
                <a:rPr lang="zh-CN" altLang="en-US" sz="2000">
                  <a:solidFill>
                    <a:schemeClr val="bg2"/>
                  </a:solidFill>
                  <a:latin typeface="黑体" panose="02010609060101010101" pitchFamily="49" charset="-122"/>
                  <a:ea typeface="黑体" panose="02010609060101010101" pitchFamily="49" charset="-122"/>
                </a:rPr>
                <a:t>一次性口令交互示意图</a:t>
              </a:r>
              <a:endParaRPr lang="zh-CN" altLang="en-US" sz="2000">
                <a:solidFill>
                  <a:schemeClr val="bg2"/>
                </a:solidFill>
              </a:endParaRPr>
            </a:p>
          </p:txBody>
        </p:sp>
        <p:grpSp>
          <p:nvGrpSpPr>
            <p:cNvPr id="62475" name="组合 2">
              <a:extLst>
                <a:ext uri="{FF2B5EF4-FFF2-40B4-BE49-F238E27FC236}">
                  <a16:creationId xmlns:a16="http://schemas.microsoft.com/office/drawing/2014/main" id="{254E668E-37C1-3E45-A7A3-7BFCB7CEC732}"/>
                </a:ext>
              </a:extLst>
            </p:cNvPr>
            <p:cNvGrpSpPr>
              <a:grpSpLocks/>
            </p:cNvGrpSpPr>
            <p:nvPr/>
          </p:nvGrpSpPr>
          <p:grpSpPr bwMode="auto">
            <a:xfrm>
              <a:off x="1066800" y="2590800"/>
              <a:ext cx="7200900" cy="3257550"/>
              <a:chOff x="900113" y="1771650"/>
              <a:chExt cx="7200900" cy="3257550"/>
            </a:xfrm>
          </p:grpSpPr>
          <p:sp>
            <p:nvSpPr>
              <p:cNvPr id="62476" name="Rectangle 12">
                <a:extLst>
                  <a:ext uri="{FF2B5EF4-FFF2-40B4-BE49-F238E27FC236}">
                    <a16:creationId xmlns:a16="http://schemas.microsoft.com/office/drawing/2014/main" id="{260F23FE-93D9-6A4D-A138-8FC6FD7B5C61}"/>
                  </a:ext>
                </a:extLst>
              </p:cNvPr>
              <p:cNvSpPr>
                <a:spLocks noChangeArrowheads="1"/>
              </p:cNvSpPr>
              <p:nvPr/>
            </p:nvSpPr>
            <p:spPr bwMode="auto">
              <a:xfrm>
                <a:off x="1633538" y="2951163"/>
                <a:ext cx="1103312"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latin typeface="Arial" panose="020B0604020202020204" pitchFamily="34" charset="0"/>
                </a:endParaRPr>
              </a:p>
            </p:txBody>
          </p:sp>
          <p:sp>
            <p:nvSpPr>
              <p:cNvPr id="62477" name="Rectangle 13">
                <a:extLst>
                  <a:ext uri="{FF2B5EF4-FFF2-40B4-BE49-F238E27FC236}">
                    <a16:creationId xmlns:a16="http://schemas.microsoft.com/office/drawing/2014/main" id="{ED450B46-2F64-AA49-AEC8-A4D1B0E45CD5}"/>
                  </a:ext>
                </a:extLst>
              </p:cNvPr>
              <p:cNvSpPr>
                <a:spLocks noChangeArrowheads="1"/>
              </p:cNvSpPr>
              <p:nvPr/>
            </p:nvSpPr>
            <p:spPr bwMode="auto">
              <a:xfrm>
                <a:off x="900113" y="1771650"/>
                <a:ext cx="1692275" cy="3257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zh-CN" altLang="en-US" sz="2000">
                    <a:solidFill>
                      <a:srgbClr val="000000"/>
                    </a:solidFill>
                    <a:latin typeface="Arial" panose="020B0604020202020204" pitchFamily="34" charset="0"/>
                    <a:ea typeface="华文中宋" panose="02010600040101010101" pitchFamily="2" charset="-122"/>
                  </a:rPr>
                  <a:t>声称者</a:t>
                </a:r>
                <a:r>
                  <a:rPr lang="en-US" altLang="zh-CN" sz="2000">
                    <a:solidFill>
                      <a:srgbClr val="000000"/>
                    </a:solidFill>
                    <a:latin typeface="Arial" panose="020B0604020202020204" pitchFamily="34" charset="0"/>
                    <a:ea typeface="华文中宋" panose="02010600040101010101" pitchFamily="2" charset="-122"/>
                  </a:rPr>
                  <a:t>U</a:t>
                </a:r>
              </a:p>
              <a:p>
                <a:pPr algn="ctr" eaLnBrk="1" hangingPunct="1">
                  <a:lnSpc>
                    <a:spcPct val="90000"/>
                  </a:lnSpc>
                </a:pPr>
                <a:endParaRPr lang="en-US" altLang="zh-CN" sz="2000">
                  <a:solidFill>
                    <a:srgbClr val="000000"/>
                  </a:solidFill>
                  <a:latin typeface="Arial" panose="020B0604020202020204" pitchFamily="34" charset="0"/>
                  <a:ea typeface="华文中宋" panose="02010600040101010101" pitchFamily="2" charset="-122"/>
                </a:endParaRPr>
              </a:p>
              <a:p>
                <a:pPr algn="ctr" eaLnBrk="1" hangingPunct="1">
                  <a:lnSpc>
                    <a:spcPct val="90000"/>
                  </a:lnSpc>
                </a:pPr>
                <a:endParaRPr lang="en-US" altLang="zh-CN" sz="2000">
                  <a:solidFill>
                    <a:srgbClr val="000000"/>
                  </a:solidFill>
                  <a:latin typeface="Arial" panose="020B0604020202020204" pitchFamily="34" charset="0"/>
                  <a:ea typeface="华文中宋" panose="02010600040101010101" pitchFamily="2" charset="-122"/>
                </a:endParaRPr>
              </a:p>
              <a:p>
                <a:pPr algn="ctr" eaLnBrk="1" hangingPunct="1">
                  <a:lnSpc>
                    <a:spcPct val="90000"/>
                  </a:lnSpc>
                </a:pPr>
                <a:r>
                  <a:rPr lang="zh-CN" altLang="en-US" sz="2000">
                    <a:solidFill>
                      <a:srgbClr val="000000"/>
                    </a:solidFill>
                    <a:latin typeface="Arial" panose="020B0604020202020204" pitchFamily="34" charset="0"/>
                    <a:ea typeface="华文中宋" panose="02010600040101010101" pitchFamily="2" charset="-122"/>
                  </a:rPr>
                  <a:t>计算</a:t>
                </a:r>
              </a:p>
              <a:p>
                <a:pPr algn="ctr" eaLnBrk="1" hangingPunct="1">
                  <a:lnSpc>
                    <a:spcPct val="90000"/>
                  </a:lnSpc>
                </a:pPr>
                <a:r>
                  <a:rPr lang="en-US" altLang="zh-CN" sz="2000" i="1">
                    <a:latin typeface="Arial" panose="020B0604020202020204" pitchFamily="34" charset="0"/>
                    <a:ea typeface="华文中宋" panose="02010600040101010101" pitchFamily="2" charset="-122"/>
                  </a:rPr>
                  <a:t>h</a:t>
                </a:r>
                <a:r>
                  <a:rPr lang="en-US" altLang="zh-CN" sz="2000" baseline="30000">
                    <a:latin typeface="Arial" panose="020B0604020202020204" pitchFamily="34" charset="0"/>
                    <a:ea typeface="华文中宋" panose="02010600040101010101" pitchFamily="2" charset="-122"/>
                  </a:rPr>
                  <a:t>M</a:t>
                </a:r>
                <a:r>
                  <a:rPr lang="en-US" altLang="zh-CN" sz="2000">
                    <a:latin typeface="Arial" panose="020B0604020202020204" pitchFamily="34" charset="0"/>
                    <a:ea typeface="华文中宋" panose="02010600040101010101" pitchFamily="2" charset="-122"/>
                  </a:rPr>
                  <a:t>(</a:t>
                </a:r>
                <a:r>
                  <a:rPr lang="en-US" altLang="zh-CN" sz="2000" i="1">
                    <a:latin typeface="Arial" panose="020B0604020202020204" pitchFamily="34" charset="0"/>
                    <a:ea typeface="华文中宋" panose="02010600040101010101" pitchFamily="2" charset="-122"/>
                  </a:rPr>
                  <a:t>pw</a:t>
                </a:r>
                <a:r>
                  <a:rPr lang="en-US" altLang="zh-CN" sz="2000">
                    <a:latin typeface="Arial" panose="020B0604020202020204" pitchFamily="34" charset="0"/>
                    <a:ea typeface="华文中宋" panose="02010600040101010101" pitchFamily="2" charset="-122"/>
                  </a:rPr>
                  <a:t>||seed)</a:t>
                </a:r>
              </a:p>
              <a:p>
                <a:pPr eaLnBrk="1" hangingPunct="1">
                  <a:lnSpc>
                    <a:spcPct val="90000"/>
                  </a:lnSpc>
                </a:pPr>
                <a:endParaRPr lang="en-US" altLang="zh-CN" sz="2000">
                  <a:latin typeface="Arial" panose="020B0604020202020204" pitchFamily="34" charset="0"/>
                  <a:ea typeface="华文中宋" panose="02010600040101010101" pitchFamily="2" charset="-122"/>
                </a:endParaRPr>
              </a:p>
            </p:txBody>
          </p:sp>
          <p:sp>
            <p:nvSpPr>
              <p:cNvPr id="62478" name="Rectangle 14">
                <a:extLst>
                  <a:ext uri="{FF2B5EF4-FFF2-40B4-BE49-F238E27FC236}">
                    <a16:creationId xmlns:a16="http://schemas.microsoft.com/office/drawing/2014/main" id="{78CF2930-EB14-854C-930B-C01948AF0DBB}"/>
                  </a:ext>
                </a:extLst>
              </p:cNvPr>
              <p:cNvSpPr>
                <a:spLocks noChangeArrowheads="1"/>
              </p:cNvSpPr>
              <p:nvPr/>
            </p:nvSpPr>
            <p:spPr bwMode="auto">
              <a:xfrm>
                <a:off x="6207125" y="2951163"/>
                <a:ext cx="1317625"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latin typeface="Arial" panose="020B0604020202020204" pitchFamily="34" charset="0"/>
                </a:endParaRPr>
              </a:p>
            </p:txBody>
          </p:sp>
          <p:sp>
            <p:nvSpPr>
              <p:cNvPr id="62479" name="Rectangle 15">
                <a:extLst>
                  <a:ext uri="{FF2B5EF4-FFF2-40B4-BE49-F238E27FC236}">
                    <a16:creationId xmlns:a16="http://schemas.microsoft.com/office/drawing/2014/main" id="{3A6B94CE-570C-C34E-A94B-A2446AA633B8}"/>
                  </a:ext>
                </a:extLst>
              </p:cNvPr>
              <p:cNvSpPr>
                <a:spLocks noChangeArrowheads="1"/>
              </p:cNvSpPr>
              <p:nvPr/>
            </p:nvSpPr>
            <p:spPr bwMode="auto">
              <a:xfrm>
                <a:off x="5754688" y="1773238"/>
                <a:ext cx="2346325" cy="32559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36000" tIns="0" rIns="36000" bIns="0"/>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zh-CN" altLang="en-US" sz="2000">
                    <a:solidFill>
                      <a:srgbClr val="000000"/>
                    </a:solidFill>
                    <a:latin typeface="Arial" panose="020B0604020202020204" pitchFamily="34" charset="0"/>
                    <a:ea typeface="华文中宋" panose="02010600040101010101" pitchFamily="2" charset="-122"/>
                  </a:rPr>
                  <a:t>验证者</a:t>
                </a:r>
                <a:r>
                  <a:rPr lang="en-US" altLang="zh-CN" sz="2000">
                    <a:solidFill>
                      <a:srgbClr val="000000"/>
                    </a:solidFill>
                    <a:latin typeface="Arial" panose="020B0604020202020204" pitchFamily="34" charset="0"/>
                    <a:ea typeface="华文中宋" panose="02010600040101010101" pitchFamily="2" charset="-122"/>
                  </a:rPr>
                  <a:t>AS</a:t>
                </a:r>
              </a:p>
              <a:p>
                <a:pPr algn="just" eaLnBrk="1" hangingPunct="1">
                  <a:lnSpc>
                    <a:spcPct val="90000"/>
                  </a:lnSpc>
                </a:pPr>
                <a:r>
                  <a:rPr lang="zh-CN" altLang="en-US" sz="2000">
                    <a:solidFill>
                      <a:srgbClr val="000000"/>
                    </a:solidFill>
                    <a:latin typeface="Arial" panose="020B0604020202020204" pitchFamily="34" charset="0"/>
                    <a:ea typeface="华文中宋" panose="02010600040101010101" pitchFamily="2" charset="-122"/>
                  </a:rPr>
                  <a:t>验证</a:t>
                </a:r>
                <a:r>
                  <a:rPr lang="en-US" altLang="zh-CN" sz="2000">
                    <a:solidFill>
                      <a:srgbClr val="000000"/>
                    </a:solidFill>
                    <a:latin typeface="Arial" panose="020B0604020202020204" pitchFamily="34" charset="0"/>
                    <a:ea typeface="华文中宋" panose="02010600040101010101" pitchFamily="2" charset="-122"/>
                  </a:rPr>
                  <a:t>ID</a:t>
                </a:r>
                <a:r>
                  <a:rPr lang="zh-CN" altLang="en-US" sz="2000">
                    <a:solidFill>
                      <a:srgbClr val="000000"/>
                    </a:solidFill>
                    <a:latin typeface="Arial" panose="020B0604020202020204" pitchFamily="34" charset="0"/>
                    <a:ea typeface="华文中宋" panose="02010600040101010101" pitchFamily="2" charset="-122"/>
                  </a:rPr>
                  <a:t>有效性</a:t>
                </a:r>
              </a:p>
              <a:p>
                <a:pPr algn="just" eaLnBrk="1" hangingPunct="1">
                  <a:lnSpc>
                    <a:spcPct val="90000"/>
                  </a:lnSpc>
                </a:pPr>
                <a:endParaRPr lang="zh-CN" altLang="en-US" sz="2000">
                  <a:solidFill>
                    <a:srgbClr val="000000"/>
                  </a:solidFill>
                  <a:latin typeface="Arial" panose="020B0604020202020204" pitchFamily="34" charset="0"/>
                  <a:ea typeface="华文中宋" panose="02010600040101010101" pitchFamily="2" charset="-122"/>
                </a:endParaRPr>
              </a:p>
              <a:p>
                <a:pPr algn="just" eaLnBrk="1" hangingPunct="1">
                  <a:lnSpc>
                    <a:spcPct val="90000"/>
                  </a:lnSpc>
                </a:pPr>
                <a:r>
                  <a:rPr lang="zh-CN" altLang="en-US" sz="2000">
                    <a:solidFill>
                      <a:srgbClr val="000000"/>
                    </a:solidFill>
                    <a:latin typeface="Arial" panose="020B0604020202020204" pitchFamily="34" charset="0"/>
                    <a:ea typeface="华文中宋" panose="02010600040101010101" pitchFamily="2" charset="-122"/>
                  </a:rPr>
                  <a:t>查找相应种子</a:t>
                </a:r>
                <a:r>
                  <a:rPr lang="en-US" altLang="zh-CN" sz="2000">
                    <a:solidFill>
                      <a:srgbClr val="000000"/>
                    </a:solidFill>
                    <a:latin typeface="Arial" panose="020B0604020202020204" pitchFamily="34" charset="0"/>
                    <a:ea typeface="华文中宋" panose="02010600040101010101" pitchFamily="2" charset="-122"/>
                  </a:rPr>
                  <a:t>seed</a:t>
                </a:r>
                <a:r>
                  <a:rPr lang="zh-CN" altLang="en-US" sz="2000">
                    <a:solidFill>
                      <a:srgbClr val="000000"/>
                    </a:solidFill>
                    <a:latin typeface="Arial" panose="020B0604020202020204" pitchFamily="34" charset="0"/>
                    <a:ea typeface="华文中宋" panose="02010600040101010101" pitchFamily="2" charset="-122"/>
                  </a:rPr>
                  <a:t>和当前迭代值</a:t>
                </a:r>
                <a:r>
                  <a:rPr lang="en-US" altLang="zh-CN" sz="2000">
                    <a:solidFill>
                      <a:srgbClr val="000000"/>
                    </a:solidFill>
                    <a:latin typeface="Arial" panose="020B0604020202020204" pitchFamily="34" charset="0"/>
                    <a:ea typeface="华文中宋" panose="02010600040101010101" pitchFamily="2" charset="-122"/>
                  </a:rPr>
                  <a:t>M</a:t>
                </a:r>
              </a:p>
              <a:p>
                <a:pPr eaLnBrk="1" hangingPunct="1">
                  <a:lnSpc>
                    <a:spcPct val="90000"/>
                  </a:lnSpc>
                </a:pPr>
                <a:r>
                  <a:rPr lang="zh-CN" altLang="en-US" sz="2000">
                    <a:latin typeface="Arial" panose="020B0604020202020204" pitchFamily="34" charset="0"/>
                    <a:ea typeface="华文中宋" panose="02010600040101010101" pitchFamily="2" charset="-122"/>
                  </a:rPr>
                  <a:t>计算</a:t>
                </a:r>
                <a:r>
                  <a:rPr lang="en-US" altLang="zh-CN" sz="2000" i="1">
                    <a:latin typeface="Arial" panose="020B0604020202020204" pitchFamily="34" charset="0"/>
                    <a:ea typeface="华文中宋" panose="02010600040101010101" pitchFamily="2" charset="-122"/>
                  </a:rPr>
                  <a:t>h</a:t>
                </a:r>
                <a:r>
                  <a:rPr lang="en-US" altLang="zh-CN" sz="2000">
                    <a:latin typeface="Arial" panose="020B0604020202020204" pitchFamily="34" charset="0"/>
                    <a:ea typeface="华文中宋" panose="02010600040101010101" pitchFamily="2" charset="-122"/>
                  </a:rPr>
                  <a:t>(OTP</a:t>
                </a:r>
                <a:r>
                  <a:rPr lang="en-US" altLang="zh-CN" sz="2000" baseline="-25000">
                    <a:latin typeface="Arial" panose="020B0604020202020204" pitchFamily="34" charset="0"/>
                    <a:ea typeface="华文中宋" panose="02010600040101010101" pitchFamily="2" charset="-122"/>
                  </a:rPr>
                  <a:t>M</a:t>
                </a:r>
                <a:r>
                  <a:rPr lang="zh-CN" altLang="en-US" sz="2000" baseline="-25000">
                    <a:latin typeface="Arial" panose="020B0604020202020204" pitchFamily="34" charset="0"/>
                    <a:ea typeface="华文中宋" panose="02010600040101010101" pitchFamily="2" charset="-122"/>
                  </a:rPr>
                  <a:t>－</a:t>
                </a:r>
                <a:r>
                  <a:rPr lang="en-US" altLang="zh-CN" sz="2000" baseline="-25000">
                    <a:latin typeface="Arial" panose="020B0604020202020204" pitchFamily="34" charset="0"/>
                    <a:ea typeface="华文中宋" panose="02010600040101010101" pitchFamily="2" charset="-122"/>
                  </a:rPr>
                  <a:t>1</a:t>
                </a:r>
                <a:r>
                  <a:rPr lang="en-US" altLang="zh-CN" sz="2000">
                    <a:latin typeface="Arial" panose="020B0604020202020204" pitchFamily="34" charset="0"/>
                    <a:ea typeface="华文中宋" panose="02010600040101010101" pitchFamily="2" charset="-122"/>
                  </a:rPr>
                  <a:t>)</a:t>
                </a:r>
                <a:r>
                  <a:rPr lang="zh-CN" altLang="en-US" sz="2000">
                    <a:latin typeface="Arial" panose="020B0604020202020204" pitchFamily="34" charset="0"/>
                    <a:ea typeface="华文中宋" panose="02010600040101010101" pitchFamily="2" charset="-122"/>
                  </a:rPr>
                  <a:t>，并与存储的</a:t>
                </a:r>
                <a:r>
                  <a:rPr lang="en-US" altLang="zh-CN" sz="2000">
                    <a:latin typeface="Arial" panose="020B0604020202020204" pitchFamily="34" charset="0"/>
                    <a:ea typeface="华文中宋" panose="02010600040101010101" pitchFamily="2" charset="-122"/>
                  </a:rPr>
                  <a:t>OTP</a:t>
                </a:r>
                <a:r>
                  <a:rPr lang="en-US" altLang="zh-CN" sz="2000" baseline="-25000">
                    <a:latin typeface="Arial" panose="020B0604020202020204" pitchFamily="34" charset="0"/>
                    <a:ea typeface="华文中宋" panose="02010600040101010101" pitchFamily="2" charset="-122"/>
                  </a:rPr>
                  <a:t>M</a:t>
                </a:r>
                <a:r>
                  <a:rPr lang="zh-CN" altLang="en-US" sz="2000">
                    <a:latin typeface="Arial" panose="020B0604020202020204" pitchFamily="34" charset="0"/>
                    <a:ea typeface="华文中宋" panose="02010600040101010101" pitchFamily="2" charset="-122"/>
                  </a:rPr>
                  <a:t>比较，若通过则：</a:t>
                </a:r>
                <a:r>
                  <a:rPr lang="en-US" altLang="zh-CN" sz="2000">
                    <a:latin typeface="Arial" panose="020B0604020202020204" pitchFamily="34" charset="0"/>
                    <a:ea typeface="华文中宋" panose="02010600040101010101" pitchFamily="2" charset="-122"/>
                  </a:rPr>
                  <a:t>OTP</a:t>
                </a:r>
                <a:r>
                  <a:rPr lang="en-US" altLang="zh-CN" sz="2000" baseline="-25000">
                    <a:latin typeface="Arial" panose="020B0604020202020204" pitchFamily="34" charset="0"/>
                    <a:ea typeface="华文中宋" panose="02010600040101010101" pitchFamily="2" charset="-122"/>
                  </a:rPr>
                  <a:t>M</a:t>
                </a:r>
                <a:r>
                  <a:rPr lang="en-US" altLang="zh-CN" sz="2000">
                    <a:latin typeface="Arial" panose="020B0604020202020204" pitchFamily="34" charset="0"/>
                    <a:ea typeface="华文中宋" panose="02010600040101010101" pitchFamily="2" charset="-122"/>
                  </a:rPr>
                  <a:t>←OTP</a:t>
                </a:r>
                <a:r>
                  <a:rPr lang="en-US" altLang="zh-CN" sz="2000" baseline="-25000">
                    <a:latin typeface="Arial" panose="020B0604020202020204" pitchFamily="34" charset="0"/>
                    <a:ea typeface="华文中宋" panose="02010600040101010101" pitchFamily="2" charset="-122"/>
                  </a:rPr>
                  <a:t>M</a:t>
                </a:r>
                <a:r>
                  <a:rPr lang="zh-CN" altLang="en-US" sz="2000" baseline="-25000">
                    <a:latin typeface="Arial" panose="020B0604020202020204" pitchFamily="34" charset="0"/>
                    <a:ea typeface="华文中宋" panose="02010600040101010101" pitchFamily="2" charset="-122"/>
                  </a:rPr>
                  <a:t>－</a:t>
                </a:r>
                <a:r>
                  <a:rPr lang="en-US" altLang="zh-CN" sz="2000" baseline="-25000">
                    <a:latin typeface="Arial" panose="020B0604020202020204" pitchFamily="34" charset="0"/>
                    <a:ea typeface="华文中宋" panose="02010600040101010101" pitchFamily="2" charset="-122"/>
                  </a:rPr>
                  <a:t>1</a:t>
                </a:r>
                <a:r>
                  <a:rPr lang="zh-CN" altLang="en-US" sz="2000">
                    <a:latin typeface="Arial" panose="020B0604020202020204" pitchFamily="34" charset="0"/>
                    <a:ea typeface="华文中宋" panose="02010600040101010101" pitchFamily="2" charset="-122"/>
                  </a:rPr>
                  <a:t>，</a:t>
                </a:r>
                <a:r>
                  <a:rPr lang="en-US" altLang="zh-CN" sz="2000">
                    <a:latin typeface="Arial" panose="020B0604020202020204" pitchFamily="34" charset="0"/>
                    <a:ea typeface="华文中宋" panose="02010600040101010101" pitchFamily="2" charset="-122"/>
                  </a:rPr>
                  <a:t>M←M</a:t>
                </a:r>
                <a:r>
                  <a:rPr lang="zh-CN" altLang="en-US" sz="2000">
                    <a:latin typeface="Arial" panose="020B0604020202020204" pitchFamily="34" charset="0"/>
                    <a:ea typeface="华文中宋" panose="02010600040101010101" pitchFamily="2" charset="-122"/>
                  </a:rPr>
                  <a:t>－</a:t>
                </a:r>
                <a:r>
                  <a:rPr lang="en-US" altLang="zh-CN" sz="2000">
                    <a:latin typeface="Arial" panose="020B0604020202020204" pitchFamily="34" charset="0"/>
                    <a:ea typeface="华文中宋" panose="02010600040101010101" pitchFamily="2" charset="-122"/>
                  </a:rPr>
                  <a:t>1</a:t>
                </a:r>
              </a:p>
            </p:txBody>
          </p:sp>
          <p:sp>
            <p:nvSpPr>
              <p:cNvPr id="62480" name="Rectangle 16">
                <a:extLst>
                  <a:ext uri="{FF2B5EF4-FFF2-40B4-BE49-F238E27FC236}">
                    <a16:creationId xmlns:a16="http://schemas.microsoft.com/office/drawing/2014/main" id="{7F2F077C-2444-E64E-910B-D4D37D75458E}"/>
                  </a:ext>
                </a:extLst>
              </p:cNvPr>
              <p:cNvSpPr>
                <a:spLocks noChangeArrowheads="1"/>
              </p:cNvSpPr>
              <p:nvPr/>
            </p:nvSpPr>
            <p:spPr bwMode="auto">
              <a:xfrm>
                <a:off x="3419475" y="1854200"/>
                <a:ext cx="18732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just" eaLnBrk="1" hangingPunct="1">
                  <a:lnSpc>
                    <a:spcPct val="90000"/>
                  </a:lnSpc>
                </a:pPr>
                <a:r>
                  <a:rPr lang="zh-CN" altLang="en-US" sz="2000">
                    <a:solidFill>
                      <a:srgbClr val="000000"/>
                    </a:solidFill>
                    <a:latin typeface="Arial" panose="020B0604020202020204" pitchFamily="34" charset="0"/>
                    <a:ea typeface="华文中宋" panose="02010600040101010101" pitchFamily="2" charset="-122"/>
                  </a:rPr>
                  <a:t>鉴别请求，</a:t>
                </a:r>
                <a:r>
                  <a:rPr lang="en-US" altLang="zh-CN" sz="2000">
                    <a:solidFill>
                      <a:srgbClr val="000000"/>
                    </a:solidFill>
                    <a:latin typeface="Arial" panose="020B0604020202020204" pitchFamily="34" charset="0"/>
                    <a:ea typeface="华文中宋" panose="02010600040101010101" pitchFamily="2" charset="-122"/>
                  </a:rPr>
                  <a:t>ID</a:t>
                </a:r>
                <a:endParaRPr lang="en-US" altLang="zh-CN" sz="2000">
                  <a:latin typeface="Arial" panose="020B0604020202020204" pitchFamily="34" charset="0"/>
                  <a:ea typeface="华文中宋" panose="02010600040101010101" pitchFamily="2" charset="-122"/>
                </a:endParaRPr>
              </a:p>
            </p:txBody>
          </p:sp>
          <p:sp>
            <p:nvSpPr>
              <p:cNvPr id="62481" name="Rectangle 17">
                <a:extLst>
                  <a:ext uri="{FF2B5EF4-FFF2-40B4-BE49-F238E27FC236}">
                    <a16:creationId xmlns:a16="http://schemas.microsoft.com/office/drawing/2014/main" id="{5DFEA565-98BA-D04E-B1FF-FB310E91ED08}"/>
                  </a:ext>
                </a:extLst>
              </p:cNvPr>
              <p:cNvSpPr>
                <a:spLocks noChangeArrowheads="1"/>
              </p:cNvSpPr>
              <p:nvPr/>
            </p:nvSpPr>
            <p:spPr bwMode="auto">
              <a:xfrm>
                <a:off x="3414713" y="2911475"/>
                <a:ext cx="1909762"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sz="2000">
                    <a:solidFill>
                      <a:srgbClr val="000000"/>
                    </a:solidFill>
                    <a:latin typeface="Arial" panose="020B0604020202020204" pitchFamily="34" charset="0"/>
                  </a:rPr>
                  <a:t>seed</a:t>
                </a:r>
                <a:r>
                  <a:rPr lang="zh-CN" altLang="en-US" sz="2000">
                    <a:solidFill>
                      <a:srgbClr val="000000"/>
                    </a:solidFill>
                    <a:latin typeface="Arial" panose="020B0604020202020204" pitchFamily="34" charset="0"/>
                  </a:rPr>
                  <a:t>，</a:t>
                </a:r>
                <a:r>
                  <a:rPr lang="en-US" altLang="zh-CN" sz="2000">
                    <a:solidFill>
                      <a:srgbClr val="000000"/>
                    </a:solidFill>
                    <a:latin typeface="Arial" panose="020B0604020202020204" pitchFamily="34" charset="0"/>
                  </a:rPr>
                  <a:t>M</a:t>
                </a:r>
                <a:endParaRPr lang="en-US" altLang="zh-CN" sz="2000">
                  <a:latin typeface="Arial" panose="020B0604020202020204" pitchFamily="34" charset="0"/>
                </a:endParaRPr>
              </a:p>
            </p:txBody>
          </p:sp>
          <p:sp>
            <p:nvSpPr>
              <p:cNvPr id="62482" name="Line 19">
                <a:extLst>
                  <a:ext uri="{FF2B5EF4-FFF2-40B4-BE49-F238E27FC236}">
                    <a16:creationId xmlns:a16="http://schemas.microsoft.com/office/drawing/2014/main" id="{DBAEB96B-D5EE-ED4A-B2D3-5502A5C0E663}"/>
                  </a:ext>
                </a:extLst>
              </p:cNvPr>
              <p:cNvSpPr>
                <a:spLocks noChangeShapeType="1"/>
              </p:cNvSpPr>
              <p:nvPr/>
            </p:nvSpPr>
            <p:spPr bwMode="auto">
              <a:xfrm flipH="1">
                <a:off x="2600325" y="3244850"/>
                <a:ext cx="3165475" cy="15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483" name="Rectangle 20">
                <a:extLst>
                  <a:ext uri="{FF2B5EF4-FFF2-40B4-BE49-F238E27FC236}">
                    <a16:creationId xmlns:a16="http://schemas.microsoft.com/office/drawing/2014/main" id="{F7B7C513-572F-5A4B-907A-1937E32EAD3D}"/>
                  </a:ext>
                </a:extLst>
              </p:cNvPr>
              <p:cNvSpPr>
                <a:spLocks noChangeArrowheads="1"/>
              </p:cNvSpPr>
              <p:nvPr/>
            </p:nvSpPr>
            <p:spPr bwMode="auto">
              <a:xfrm>
                <a:off x="2627313" y="4032250"/>
                <a:ext cx="28813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sz="2000">
                    <a:latin typeface="Arial" panose="020B0604020202020204" pitchFamily="34" charset="0"/>
                  </a:rPr>
                  <a:t>OTP</a:t>
                </a:r>
                <a:r>
                  <a:rPr lang="en-US" altLang="zh-CN" sz="2000" baseline="-25000">
                    <a:latin typeface="Arial" panose="020B0604020202020204" pitchFamily="34" charset="0"/>
                  </a:rPr>
                  <a:t> M</a:t>
                </a:r>
                <a:r>
                  <a:rPr lang="zh-CN" altLang="en-US" sz="2000" baseline="-25000">
                    <a:latin typeface="Arial" panose="020B0604020202020204" pitchFamily="34" charset="0"/>
                  </a:rPr>
                  <a:t>－</a:t>
                </a:r>
                <a:r>
                  <a:rPr lang="en-US" altLang="zh-CN" sz="2000" baseline="-25000">
                    <a:latin typeface="Arial" panose="020B0604020202020204" pitchFamily="34" charset="0"/>
                  </a:rPr>
                  <a:t>1</a:t>
                </a:r>
                <a:r>
                  <a:rPr lang="zh-CN" altLang="en-US" sz="2000" i="1">
                    <a:latin typeface="Arial" panose="020B0604020202020204" pitchFamily="34" charset="0"/>
                  </a:rPr>
                  <a:t>＝</a:t>
                </a:r>
                <a:r>
                  <a:rPr lang="en-US" altLang="zh-CN" sz="2000" i="1">
                    <a:latin typeface="Arial" panose="020B0604020202020204" pitchFamily="34" charset="0"/>
                  </a:rPr>
                  <a:t>h</a:t>
                </a:r>
                <a:r>
                  <a:rPr lang="en-US" altLang="zh-CN" sz="2000" baseline="30000">
                    <a:latin typeface="Arial" panose="020B0604020202020204" pitchFamily="34" charset="0"/>
                  </a:rPr>
                  <a:t>M</a:t>
                </a:r>
                <a:r>
                  <a:rPr lang="en-US" altLang="zh-CN" sz="2000">
                    <a:latin typeface="Arial" panose="020B0604020202020204" pitchFamily="34" charset="0"/>
                  </a:rPr>
                  <a:t>(</a:t>
                </a:r>
                <a:r>
                  <a:rPr lang="en-US" altLang="zh-CN" sz="2000" i="1">
                    <a:latin typeface="Arial" panose="020B0604020202020204" pitchFamily="34" charset="0"/>
                  </a:rPr>
                  <a:t>pw</a:t>
                </a:r>
                <a:r>
                  <a:rPr lang="en-US" altLang="zh-CN" sz="2000">
                    <a:latin typeface="Arial" panose="020B0604020202020204" pitchFamily="34" charset="0"/>
                  </a:rPr>
                  <a:t>||seed)</a:t>
                </a:r>
              </a:p>
            </p:txBody>
          </p:sp>
          <p:sp>
            <p:nvSpPr>
              <p:cNvPr id="62484" name="Line 21">
                <a:extLst>
                  <a:ext uri="{FF2B5EF4-FFF2-40B4-BE49-F238E27FC236}">
                    <a16:creationId xmlns:a16="http://schemas.microsoft.com/office/drawing/2014/main" id="{CDE2503F-691C-1E44-A61B-8D66C7636BB3}"/>
                  </a:ext>
                </a:extLst>
              </p:cNvPr>
              <p:cNvSpPr>
                <a:spLocks noChangeShapeType="1"/>
              </p:cNvSpPr>
              <p:nvPr/>
            </p:nvSpPr>
            <p:spPr bwMode="auto">
              <a:xfrm flipH="1">
                <a:off x="2601913" y="4437063"/>
                <a:ext cx="3165475"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2485" name="Line 22">
                <a:extLst>
                  <a:ext uri="{FF2B5EF4-FFF2-40B4-BE49-F238E27FC236}">
                    <a16:creationId xmlns:a16="http://schemas.microsoft.com/office/drawing/2014/main" id="{86A89E39-6322-F449-8F25-881E37604C00}"/>
                  </a:ext>
                </a:extLst>
              </p:cNvPr>
              <p:cNvSpPr>
                <a:spLocks noChangeShapeType="1"/>
              </p:cNvSpPr>
              <p:nvPr/>
            </p:nvSpPr>
            <p:spPr bwMode="auto">
              <a:xfrm flipH="1">
                <a:off x="2578100" y="2232025"/>
                <a:ext cx="3165475" cy="1588"/>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2" name="Rectangle 2">
            <a:extLst>
              <a:ext uri="{FF2B5EF4-FFF2-40B4-BE49-F238E27FC236}">
                <a16:creationId xmlns:a16="http://schemas.microsoft.com/office/drawing/2014/main" id="{4D4AC9B2-830E-2148-867B-665B13D50205}"/>
              </a:ext>
            </a:extLst>
          </p:cNvPr>
          <p:cNvSpPr txBox="1">
            <a:spLocks noChangeArrowheads="1"/>
          </p:cNvSpPr>
          <p:nvPr/>
        </p:nvSpPr>
        <p:spPr bwMode="auto">
          <a:xfrm>
            <a:off x="393700" y="779463"/>
            <a:ext cx="4800600" cy="609600"/>
          </a:xfrm>
          <a:prstGeom prst="rect">
            <a:avLst/>
          </a:prstGeom>
          <a:solidFill>
            <a:srgbClr val="FFFFFF"/>
          </a:solidFill>
          <a:ln>
            <a:solidFill>
              <a:srgbClr val="FFFFFF"/>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kumimoji="0" lang="en-US" altLang="zh-CN" sz="3600"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OPT</a:t>
            </a:r>
            <a:r>
              <a:rPr kumimoji="0" lang="zh-CN" altLang="en-US" sz="3600"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算法的演进</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6562"/>
                                        </p:tgtEl>
                                        <p:attrNameLst>
                                          <p:attrName>style.visibility</p:attrName>
                                        </p:attrNameLst>
                                      </p:cBhvr>
                                      <p:to>
                                        <p:strVal val="visible"/>
                                      </p:to>
                                    </p:set>
                                    <p:anim calcmode="lin" valueType="num">
                                      <p:cBhvr>
                                        <p:cTn id="7" dur="500" fill="hold"/>
                                        <p:tgtEl>
                                          <p:spTgt spid="66562"/>
                                        </p:tgtEl>
                                        <p:attrNameLst>
                                          <p:attrName>ppt_w</p:attrName>
                                        </p:attrNameLst>
                                      </p:cBhvr>
                                      <p:tavLst>
                                        <p:tav tm="0">
                                          <p:val>
                                            <p:fltVal val="0"/>
                                          </p:val>
                                        </p:tav>
                                        <p:tav tm="100000">
                                          <p:val>
                                            <p:strVal val="#ppt_w"/>
                                          </p:val>
                                        </p:tav>
                                      </p:tavLst>
                                    </p:anim>
                                    <p:anim calcmode="lin" valueType="num">
                                      <p:cBhvr>
                                        <p:cTn id="8" dur="500" fill="hold"/>
                                        <p:tgtEl>
                                          <p:spTgt spid="66562"/>
                                        </p:tgtEl>
                                        <p:attrNameLst>
                                          <p:attrName>ppt_h</p:attrName>
                                        </p:attrNameLst>
                                      </p:cBhvr>
                                      <p:tavLst>
                                        <p:tav tm="0">
                                          <p:val>
                                            <p:fltVal val="0"/>
                                          </p:val>
                                        </p:tav>
                                        <p:tav tm="100000">
                                          <p:val>
                                            <p:strVal val="#ppt_h"/>
                                          </p:val>
                                        </p:tav>
                                      </p:tavLst>
                                    </p:anim>
                                    <p:animEffect transition="in" filter="fade">
                                      <p:cBhvr>
                                        <p:cTn id="9" dur="500"/>
                                        <p:tgtEl>
                                          <p:spTgt spid="66562"/>
                                        </p:tgtEl>
                                      </p:cBhvr>
                                    </p:animEffect>
                                  </p:childTnLst>
                                </p:cTn>
                              </p:par>
                            </p:childTnLst>
                          </p:cTn>
                        </p:par>
                        <p:par>
                          <p:cTn id="10" fill="hold" nodeType="afterGroup">
                            <p:stCondLst>
                              <p:cond delay="500"/>
                            </p:stCondLst>
                            <p:childTnLst>
                              <p:par>
                                <p:cTn id="11" presetID="2" presetClass="entr" presetSubtype="4"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1000" fill="hold"/>
                                        <p:tgtEl>
                                          <p:spTgt spid="2"/>
                                        </p:tgtEl>
                                        <p:attrNameLst>
                                          <p:attrName>ppt_x</p:attrName>
                                        </p:attrNameLst>
                                      </p:cBhvr>
                                      <p:tavLst>
                                        <p:tav tm="0">
                                          <p:val>
                                            <p:strVal val="#ppt_x"/>
                                          </p:val>
                                        </p:tav>
                                        <p:tav tm="100000">
                                          <p:val>
                                            <p:strVal val="#ppt_x"/>
                                          </p:val>
                                        </p:tav>
                                      </p:tavLst>
                                    </p:anim>
                                    <p:anim calcmode="lin" valueType="num">
                                      <p:cBhvr additive="base">
                                        <p:cTn id="14"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2" name="Rectangle 4">
            <a:extLst>
              <a:ext uri="{FF2B5EF4-FFF2-40B4-BE49-F238E27FC236}">
                <a16:creationId xmlns:a16="http://schemas.microsoft.com/office/drawing/2014/main" id="{97C4D630-7E7B-1C42-B668-4ACBF83AB8D3}"/>
              </a:ext>
            </a:extLst>
          </p:cNvPr>
          <p:cNvSpPr>
            <a:spLocks noChangeArrowheads="1"/>
          </p:cNvSpPr>
          <p:nvPr/>
        </p:nvSpPr>
        <p:spPr bwMode="auto">
          <a:xfrm>
            <a:off x="685800" y="1619250"/>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en-US" altLang="zh-CN" sz="2800">
                <a:solidFill>
                  <a:schemeClr val="bg2"/>
                </a:solidFill>
                <a:latin typeface="华文中宋" panose="02010600040101010101" pitchFamily="2" charset="-122"/>
                <a:ea typeface="华文中宋" panose="02010600040101010101" pitchFamily="2" charset="-122"/>
                <a:cs typeface="Times New Roman" panose="02020603050405020304" pitchFamily="18" charset="0"/>
              </a:rPr>
              <a:t>S/Key</a:t>
            </a:r>
            <a:r>
              <a:rPr lang="zh-CN" altLang="en-US" sz="2800">
                <a:solidFill>
                  <a:schemeClr val="bg2"/>
                </a:solidFill>
                <a:latin typeface="华文中宋" panose="02010600040101010101" pitchFamily="2" charset="-122"/>
                <a:ea typeface="华文中宋" panose="02010600040101010101" pitchFamily="2" charset="-122"/>
                <a:cs typeface="Times New Roman" panose="02020603050405020304" pitchFamily="18" charset="0"/>
              </a:rPr>
              <a:t>一次性口令身份鉴别协议</a:t>
            </a:r>
          </a:p>
        </p:txBody>
      </p:sp>
      <p:sp>
        <p:nvSpPr>
          <p:cNvPr id="63490" name="Rectangle 5">
            <a:extLst>
              <a:ext uri="{FF2B5EF4-FFF2-40B4-BE49-F238E27FC236}">
                <a16:creationId xmlns:a16="http://schemas.microsoft.com/office/drawing/2014/main" id="{8B7CEA81-EB5F-8C48-8DB5-C0112F5C5FB2}"/>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3491" name="Rectangle 6">
            <a:extLst>
              <a:ext uri="{FF2B5EF4-FFF2-40B4-BE49-F238E27FC236}">
                <a16:creationId xmlns:a16="http://schemas.microsoft.com/office/drawing/2014/main" id="{763ACDD6-5A56-CC47-AEE7-A697ACE8A09E}"/>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3492" name="Rectangle 7">
            <a:extLst>
              <a:ext uri="{FF2B5EF4-FFF2-40B4-BE49-F238E27FC236}">
                <a16:creationId xmlns:a16="http://schemas.microsoft.com/office/drawing/2014/main" id="{2A213153-E91F-AA41-8ABF-8308E45F5E82}"/>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3493" name="Rectangle 8">
            <a:extLst>
              <a:ext uri="{FF2B5EF4-FFF2-40B4-BE49-F238E27FC236}">
                <a16:creationId xmlns:a16="http://schemas.microsoft.com/office/drawing/2014/main" id="{C17B8FCC-791F-D447-8C66-72F5D85F21B1}"/>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3494" name="Rectangle 9">
            <a:extLst>
              <a:ext uri="{FF2B5EF4-FFF2-40B4-BE49-F238E27FC236}">
                <a16:creationId xmlns:a16="http://schemas.microsoft.com/office/drawing/2014/main" id="{F2CD62F2-C37A-2A4F-A9AB-C089BE52198A}"/>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3495" name="Rectangle 10">
            <a:extLst>
              <a:ext uri="{FF2B5EF4-FFF2-40B4-BE49-F238E27FC236}">
                <a16:creationId xmlns:a16="http://schemas.microsoft.com/office/drawing/2014/main" id="{F6AF0F7F-B2BF-7E4F-BED4-EB8AC7CC7081}"/>
              </a:ext>
            </a:extLst>
          </p:cNvPr>
          <p:cNvSpPr>
            <a:spLocks noChangeArrowheads="1"/>
          </p:cNvSpPr>
          <p:nvPr/>
        </p:nvSpPr>
        <p:spPr bwMode="auto">
          <a:xfrm>
            <a:off x="0" y="33480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22" name="Rectangle 2">
            <a:extLst>
              <a:ext uri="{FF2B5EF4-FFF2-40B4-BE49-F238E27FC236}">
                <a16:creationId xmlns:a16="http://schemas.microsoft.com/office/drawing/2014/main" id="{FCA9899F-D400-FB4C-A8C5-BE9DFA6B8FD6}"/>
              </a:ext>
            </a:extLst>
          </p:cNvPr>
          <p:cNvSpPr txBox="1">
            <a:spLocks noChangeArrowheads="1"/>
          </p:cNvSpPr>
          <p:nvPr/>
        </p:nvSpPr>
        <p:spPr bwMode="auto">
          <a:xfrm>
            <a:off x="393700" y="779463"/>
            <a:ext cx="4800600" cy="609600"/>
          </a:xfrm>
          <a:prstGeom prst="rect">
            <a:avLst/>
          </a:prstGeom>
          <a:solidFill>
            <a:srgbClr val="FFFFFF"/>
          </a:solidFill>
          <a:ln>
            <a:solidFill>
              <a:srgbClr val="FFFFFF"/>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kumimoji="0" lang="en-US" altLang="zh-CN" sz="3600"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OPT</a:t>
            </a:r>
            <a:r>
              <a:rPr kumimoji="0" lang="zh-CN" altLang="en-US" sz="3600"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算法的演进</a:t>
            </a:r>
          </a:p>
        </p:txBody>
      </p:sp>
      <p:pic>
        <p:nvPicPr>
          <p:cNvPr id="63497" name="Picture 2" descr="在这里插入图片描述">
            <a:extLst>
              <a:ext uri="{FF2B5EF4-FFF2-40B4-BE49-F238E27FC236}">
                <a16:creationId xmlns:a16="http://schemas.microsoft.com/office/drawing/2014/main" id="{D4B10C97-71B0-9048-A752-03620D96CB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513" y="2740025"/>
            <a:ext cx="7800975"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A445C51D-8BC9-7149-84A0-D09A3415D52F}"/>
              </a:ext>
            </a:extLst>
          </p:cNvPr>
          <p:cNvSpPr/>
          <p:nvPr/>
        </p:nvSpPr>
        <p:spPr bwMode="auto">
          <a:xfrm>
            <a:off x="6084888" y="4876800"/>
            <a:ext cx="2830512" cy="685800"/>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665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513" name="Rectangle 5">
            <a:extLst>
              <a:ext uri="{FF2B5EF4-FFF2-40B4-BE49-F238E27FC236}">
                <a16:creationId xmlns:a16="http://schemas.microsoft.com/office/drawing/2014/main" id="{DE562CA5-E937-9549-9E53-E4250320473D}"/>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4514" name="Rectangle 6">
            <a:extLst>
              <a:ext uri="{FF2B5EF4-FFF2-40B4-BE49-F238E27FC236}">
                <a16:creationId xmlns:a16="http://schemas.microsoft.com/office/drawing/2014/main" id="{80E59615-E355-FE40-9495-0A49417BE432}"/>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4515" name="Rectangle 7">
            <a:extLst>
              <a:ext uri="{FF2B5EF4-FFF2-40B4-BE49-F238E27FC236}">
                <a16:creationId xmlns:a16="http://schemas.microsoft.com/office/drawing/2014/main" id="{06B1A54E-462F-0248-A582-C141AF8B6895}"/>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3" name="矩形 2">
            <a:extLst>
              <a:ext uri="{FF2B5EF4-FFF2-40B4-BE49-F238E27FC236}">
                <a16:creationId xmlns:a16="http://schemas.microsoft.com/office/drawing/2014/main" id="{D6282154-906C-6F45-A7F8-D1C9A436D57D}"/>
              </a:ext>
            </a:extLst>
          </p:cNvPr>
          <p:cNvSpPr/>
          <p:nvPr/>
        </p:nvSpPr>
        <p:spPr bwMode="auto">
          <a:xfrm>
            <a:off x="6084888" y="4876800"/>
            <a:ext cx="2830512" cy="685800"/>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pic>
        <p:nvPicPr>
          <p:cNvPr id="64517" name="Picture 2" descr="在这里插入图片描述">
            <a:extLst>
              <a:ext uri="{FF2B5EF4-FFF2-40B4-BE49-F238E27FC236}">
                <a16:creationId xmlns:a16="http://schemas.microsoft.com/office/drawing/2014/main" id="{BC79F819-460D-ED4E-BB17-A14C222BD6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432"/>
          <a:stretch>
            <a:fillRect/>
          </a:stretch>
        </p:blipFill>
        <p:spPr bwMode="auto">
          <a:xfrm>
            <a:off x="1524000" y="533400"/>
            <a:ext cx="6283325"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709539BD-1D47-954C-94A0-0619862F4494}"/>
              </a:ext>
            </a:extLst>
          </p:cNvPr>
          <p:cNvSpPr>
            <a:spLocks noChangeArrowheads="1"/>
          </p:cNvSpPr>
          <p:nvPr/>
        </p:nvSpPr>
        <p:spPr bwMode="auto">
          <a:xfrm>
            <a:off x="762000" y="2138363"/>
            <a:ext cx="7761288" cy="2381250"/>
          </a:xfrm>
          <a:prstGeom prst="rect">
            <a:avLst/>
          </a:prstGeom>
          <a:noFill/>
          <a:ln>
            <a:noFill/>
          </a:ln>
        </p:spPr>
        <p:txBody>
          <a:bodyPr>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0000"/>
              </a:lnSpc>
              <a:buClr>
                <a:schemeClr val="accent2"/>
              </a:buClr>
              <a:buSzPct val="70000"/>
              <a:buFont typeface="Wingdings" pitchFamily="2" charset="2"/>
              <a:buChar char="u"/>
              <a:defRPr/>
            </a:pP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S/KEY</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系统不能防止小数攻击。</a:t>
            </a:r>
          </a:p>
          <a:p>
            <a:pPr eaLnBrk="1" hangingPunct="1">
              <a:lnSpc>
                <a:spcPct val="120000"/>
              </a:lnSpc>
              <a:buClr>
                <a:schemeClr val="accent2"/>
              </a:buClr>
              <a:buSzPct val="70000"/>
              <a:buFont typeface="Wingdings" pitchFamily="2" charset="2"/>
              <a:buChar char="u"/>
              <a:defRPr/>
            </a:pP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S/Key</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缺乏完整性保护机制。不能保护用户鉴别过程受到各种主动攻击：包括注入虚假信息，修改传输过程中的鉴别数据，修改口令文件等。</a:t>
            </a:r>
          </a:p>
          <a:p>
            <a:pPr eaLnBrk="1" hangingPunct="1">
              <a:lnSpc>
                <a:spcPct val="120000"/>
              </a:lnSpc>
              <a:buClr>
                <a:schemeClr val="accent2"/>
              </a:buClr>
              <a:buSzPct val="70000"/>
              <a:buFont typeface="Wingdings" pitchFamily="2" charset="2"/>
              <a:buChar char="u"/>
              <a:defRPr/>
            </a:pP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S/Key</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系统在实际应用时还需进一步完善。</a:t>
            </a:r>
          </a:p>
        </p:txBody>
      </p:sp>
      <p:sp>
        <p:nvSpPr>
          <p:cNvPr id="65538" name="Rectangle 4">
            <a:extLst>
              <a:ext uri="{FF2B5EF4-FFF2-40B4-BE49-F238E27FC236}">
                <a16:creationId xmlns:a16="http://schemas.microsoft.com/office/drawing/2014/main" id="{A47823C8-5635-054C-83C5-02CB5AA5A3B5}"/>
              </a:ext>
            </a:extLst>
          </p:cNvPr>
          <p:cNvSpPr>
            <a:spLocks noChangeArrowheads="1"/>
          </p:cNvSpPr>
          <p:nvPr/>
        </p:nvSpPr>
        <p:spPr bwMode="auto">
          <a:xfrm>
            <a:off x="468313" y="955675"/>
            <a:ext cx="7272337"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en-US" altLang="zh-CN" sz="3200">
                <a:latin typeface="Times New Roman" panose="02020603050405020304" pitchFamily="18" charset="0"/>
                <a:ea typeface="黑体" panose="02010609060101010101" pitchFamily="49" charset="-122"/>
                <a:cs typeface="Times New Roman" panose="02020603050405020304" pitchFamily="18" charset="0"/>
              </a:rPr>
              <a:t>S/Key</a:t>
            </a:r>
            <a:r>
              <a:rPr lang="zh-CN" altLang="en-US" sz="3200">
                <a:latin typeface="Times New Roman" panose="02020603050405020304" pitchFamily="18" charset="0"/>
                <a:ea typeface="黑体" panose="02010609060101010101" pitchFamily="49" charset="-122"/>
                <a:cs typeface="Times New Roman" panose="02020603050405020304" pitchFamily="18" charset="0"/>
              </a:rPr>
              <a:t>一次性口令身份鉴别协议的缺陷</a:t>
            </a:r>
          </a:p>
        </p:txBody>
      </p:sp>
      <p:sp>
        <p:nvSpPr>
          <p:cNvPr id="65539" name="Rectangle 5">
            <a:extLst>
              <a:ext uri="{FF2B5EF4-FFF2-40B4-BE49-F238E27FC236}">
                <a16:creationId xmlns:a16="http://schemas.microsoft.com/office/drawing/2014/main" id="{373B64C3-C063-2B4C-AA6B-9A7293A45002}"/>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5540" name="Rectangle 6">
            <a:extLst>
              <a:ext uri="{FF2B5EF4-FFF2-40B4-BE49-F238E27FC236}">
                <a16:creationId xmlns:a16="http://schemas.microsoft.com/office/drawing/2014/main" id="{E4E28E12-6263-5D41-92F5-C1A1815687A8}"/>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5541" name="Rectangle 7">
            <a:extLst>
              <a:ext uri="{FF2B5EF4-FFF2-40B4-BE49-F238E27FC236}">
                <a16:creationId xmlns:a16="http://schemas.microsoft.com/office/drawing/2014/main" id="{DB9AF62E-906E-BC43-895E-8F604233AC93}"/>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5542" name="Rectangle 8">
            <a:extLst>
              <a:ext uri="{FF2B5EF4-FFF2-40B4-BE49-F238E27FC236}">
                <a16:creationId xmlns:a16="http://schemas.microsoft.com/office/drawing/2014/main" id="{B06E8854-364A-7049-8771-0A452FB38762}"/>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5543" name="Rectangle 9">
            <a:extLst>
              <a:ext uri="{FF2B5EF4-FFF2-40B4-BE49-F238E27FC236}">
                <a16:creationId xmlns:a16="http://schemas.microsoft.com/office/drawing/2014/main" id="{A4CA1237-BDFB-E447-BB06-FB3EFF17965F}"/>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5544" name="Rectangle 11">
            <a:extLst>
              <a:ext uri="{FF2B5EF4-FFF2-40B4-BE49-F238E27FC236}">
                <a16:creationId xmlns:a16="http://schemas.microsoft.com/office/drawing/2014/main" id="{4043C946-AF22-C34B-A38D-4D2A21F38C2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5545" name="Rectangle 12">
            <a:extLst>
              <a:ext uri="{FF2B5EF4-FFF2-40B4-BE49-F238E27FC236}">
                <a16:creationId xmlns:a16="http://schemas.microsoft.com/office/drawing/2014/main" id="{92FBEBA0-0FB7-9047-8437-9D20B98C867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0658"/>
                                        </p:tgtEl>
                                        <p:attrNameLst>
                                          <p:attrName>style.visibility</p:attrName>
                                        </p:attrNameLst>
                                      </p:cBhvr>
                                      <p:to>
                                        <p:strVal val="visible"/>
                                      </p:to>
                                    </p:set>
                                    <p:anim calcmode="lin" valueType="num">
                                      <p:cBhvr>
                                        <p:cTn id="7" dur="500" fill="hold"/>
                                        <p:tgtEl>
                                          <p:spTgt spid="70658"/>
                                        </p:tgtEl>
                                        <p:attrNameLst>
                                          <p:attrName>ppt_w</p:attrName>
                                        </p:attrNameLst>
                                      </p:cBhvr>
                                      <p:tavLst>
                                        <p:tav tm="0">
                                          <p:val>
                                            <p:fltVal val="0"/>
                                          </p:val>
                                        </p:tav>
                                        <p:tav tm="100000">
                                          <p:val>
                                            <p:strVal val="#ppt_w"/>
                                          </p:val>
                                        </p:tav>
                                      </p:tavLst>
                                    </p:anim>
                                    <p:anim calcmode="lin" valueType="num">
                                      <p:cBhvr>
                                        <p:cTn id="8" dur="500" fill="hold"/>
                                        <p:tgtEl>
                                          <p:spTgt spid="70658"/>
                                        </p:tgtEl>
                                        <p:attrNameLst>
                                          <p:attrName>ppt_h</p:attrName>
                                        </p:attrNameLst>
                                      </p:cBhvr>
                                      <p:tavLst>
                                        <p:tav tm="0">
                                          <p:val>
                                            <p:fltVal val="0"/>
                                          </p:val>
                                        </p:tav>
                                        <p:tav tm="100000">
                                          <p:val>
                                            <p:strVal val="#ppt_h"/>
                                          </p:val>
                                        </p:tav>
                                      </p:tavLst>
                                    </p:anim>
                                    <p:animEffect transition="in" filter="fade">
                                      <p:cBhvr>
                                        <p:cTn id="9" dur="500"/>
                                        <p:tgtEl>
                                          <p:spTgt spid="70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183AA5D-28F5-C047-A807-3839B4FA140F}"/>
              </a:ext>
            </a:extLst>
          </p:cNvPr>
          <p:cNvSpPr>
            <a:spLocks noGrp="1" noChangeArrowheads="1"/>
          </p:cNvSpPr>
          <p:nvPr>
            <p:ph type="title"/>
          </p:nvPr>
        </p:nvSpPr>
        <p:spPr bwMode="auto">
          <a:xfrm>
            <a:off x="457200" y="914400"/>
            <a:ext cx="3657600" cy="587375"/>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3200">
                <a:solidFill>
                  <a:srgbClr val="0000FF"/>
                </a:solidFill>
                <a:latin typeface="黑体" panose="02010609060101010101" pitchFamily="49" charset="-122"/>
                <a:ea typeface="黑体" panose="02010609060101010101" pitchFamily="49" charset="-122"/>
              </a:rPr>
              <a:t>小技巧：验证码</a:t>
            </a:r>
          </a:p>
        </p:txBody>
      </p:sp>
      <p:sp>
        <p:nvSpPr>
          <p:cNvPr id="5" name="Rectangle 3">
            <a:extLst>
              <a:ext uri="{FF2B5EF4-FFF2-40B4-BE49-F238E27FC236}">
                <a16:creationId xmlns:a16="http://schemas.microsoft.com/office/drawing/2014/main" id="{9CA63FF7-13C5-504A-9E8C-C0D2EAA4C4AB}"/>
              </a:ext>
            </a:extLst>
          </p:cNvPr>
          <p:cNvSpPr txBox="1">
            <a:spLocks noChangeArrowheads="1"/>
          </p:cNvSpPr>
          <p:nvPr/>
        </p:nvSpPr>
        <p:spPr bwMode="auto">
          <a:xfrm>
            <a:off x="914400" y="2954338"/>
            <a:ext cx="8001000" cy="1630362"/>
          </a:xfrm>
          <a:prstGeom prst="rect">
            <a:avLst/>
          </a:prstGeom>
          <a:noFill/>
          <a:ln>
            <a:miter lim="800000"/>
            <a:headEnd/>
            <a:tailEnd/>
          </a:ln>
        </p:spPr>
        <p:txBody>
          <a:bodyPr/>
          <a:lstStyle>
            <a:lvl1pPr marL="571500" indent="-571500">
              <a:defRPr kumimoji="1" sz="4800" b="1">
                <a:solidFill>
                  <a:srgbClr val="FF0000"/>
                </a:solidFill>
                <a:latin typeface="隶书" pitchFamily="49" charset="-122"/>
                <a:ea typeface="隶书" pitchFamily="49" charset="-122"/>
              </a:defRPr>
            </a:lvl1pPr>
            <a:lvl2pPr marL="1028700" indent="-455613">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n"/>
              <a:defRPr/>
            </a:pPr>
            <a:r>
              <a:rPr kumimoji="0" lang="zh-CN" altLang="en-US" sz="2400">
                <a:effectLst>
                  <a:outerShdw blurRad="38100" dist="38100" dir="2700000" algn="tl">
                    <a:srgbClr val="C0C0C0"/>
                  </a:outerShdw>
                </a:effectLst>
                <a:latin typeface="黑体" panose="02010609060101010101" pitchFamily="49" charset="-122"/>
                <a:ea typeface="黑体" panose="02010609060101010101" pitchFamily="49" charset="-122"/>
              </a:rPr>
              <a:t>目的：</a:t>
            </a:r>
          </a:p>
          <a:p>
            <a:pPr lvl="1" eaLnBrk="1" hangingPunct="1">
              <a:lnSpc>
                <a:spcPct val="90000"/>
              </a:lnSpc>
              <a:spcBef>
                <a:spcPct val="30000"/>
              </a:spcBef>
              <a:buClr>
                <a:srgbClr val="FF0000"/>
              </a:buClr>
              <a:buSzPct val="75000"/>
              <a:buFont typeface="Wingdings" pitchFamily="2" charset="2"/>
              <a:buChar char="u"/>
              <a:defRPr/>
            </a:pPr>
            <a:r>
              <a:rPr kumimoji="0"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防止用户利用机器人自动注册，登陆，灌水。</a:t>
            </a:r>
          </a:p>
          <a:p>
            <a:pPr lvl="1" eaLnBrk="1" hangingPunct="1">
              <a:lnSpc>
                <a:spcPct val="90000"/>
              </a:lnSpc>
              <a:spcBef>
                <a:spcPct val="30000"/>
              </a:spcBef>
              <a:buClr>
                <a:srgbClr val="FF0000"/>
              </a:buClr>
              <a:buSzPct val="75000"/>
              <a:buFont typeface="Wingdings" pitchFamily="2" charset="2"/>
              <a:buChar char="u"/>
              <a:defRPr/>
            </a:pPr>
            <a:r>
              <a:rPr kumimoji="0"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有效防止某一特定注册用户用特定程序暴力破解方式进行不断的登录尝试。</a:t>
            </a:r>
            <a:endParaRPr kumimoji="0" lang="en-US" altLang="zh-CN"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2" name="矩形 1">
            <a:extLst>
              <a:ext uri="{FF2B5EF4-FFF2-40B4-BE49-F238E27FC236}">
                <a16:creationId xmlns:a16="http://schemas.microsoft.com/office/drawing/2014/main" id="{99AF8215-F59B-3C43-8741-F359B709B6C8}"/>
              </a:ext>
            </a:extLst>
          </p:cNvPr>
          <p:cNvSpPr/>
          <p:nvPr/>
        </p:nvSpPr>
        <p:spPr>
          <a:xfrm>
            <a:off x="762000" y="1600200"/>
            <a:ext cx="7467600" cy="1255713"/>
          </a:xfrm>
          <a:prstGeom prst="rect">
            <a:avLst/>
          </a:prstGeom>
        </p:spPr>
        <p:txBody>
          <a:bodyPr>
            <a:spAutoFit/>
          </a:bodyPr>
          <a:lstStyle>
            <a:lvl1pPr marL="571500" indent="-5715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SzPct val="75000"/>
              <a:buFont typeface="Wingdings" pitchFamily="2" charset="2"/>
              <a:buChar char="n"/>
              <a:defRPr/>
            </a:pPr>
            <a:r>
              <a:rPr kumimoji="0" lang="zh-CN" altLang="en-US" sz="2400">
                <a:effectLst>
                  <a:outerShdw blurRad="38100" dist="38100" dir="2700000" algn="tl">
                    <a:srgbClr val="C0C0C0"/>
                  </a:outerShdw>
                </a:effectLst>
                <a:latin typeface="黑体" panose="02010609060101010101" pitchFamily="49" charset="-122"/>
                <a:ea typeface="黑体" panose="02010609060101010101" pitchFamily="49" charset="-122"/>
              </a:rPr>
              <a:t>定义：</a:t>
            </a:r>
            <a:r>
              <a:rPr kumimoji="0"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将一串随机产生的数字或符号，生成一幅图片，在图片里加入一些干扰像素，由用户肉眼识别其中的验证码信息，输入表单提交到网站进行验证，验证成功后才能使用某项功能。</a:t>
            </a:r>
          </a:p>
        </p:txBody>
      </p:sp>
      <p:pic>
        <p:nvPicPr>
          <p:cNvPr id="64517" name="图片 2">
            <a:extLst>
              <a:ext uri="{FF2B5EF4-FFF2-40B4-BE49-F238E27FC236}">
                <a16:creationId xmlns:a16="http://schemas.microsoft.com/office/drawing/2014/main" id="{61E5D044-FB0A-AA46-A5B9-58A51EBE77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4773613"/>
            <a:ext cx="1905000" cy="136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8" name="图片 5">
            <a:extLst>
              <a:ext uri="{FF2B5EF4-FFF2-40B4-BE49-F238E27FC236}">
                <a16:creationId xmlns:a16="http://schemas.microsoft.com/office/drawing/2014/main" id="{66E25E49-810D-CD42-8673-674CFAA2EB1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63788" y="4772025"/>
            <a:ext cx="2111375" cy="136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8A49254F-EA07-9049-A577-A8F97B6BA3F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4632325"/>
            <a:ext cx="2127250"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a:extLst>
              <a:ext uri="{FF2B5EF4-FFF2-40B4-BE49-F238E27FC236}">
                <a16:creationId xmlns:a16="http://schemas.microsoft.com/office/drawing/2014/main" id="{79EB603A-A2C5-FA45-A94F-9B65578D4DC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05563" y="4584700"/>
            <a:ext cx="2489200" cy="156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par>
                          <p:cTn id="15" fill="hold" nodeType="afterGroup">
                            <p:stCondLst>
                              <p:cond delay="500"/>
                            </p:stCondLst>
                            <p:childTnLst>
                              <p:par>
                                <p:cTn id="16" presetID="53" presetClass="entr" presetSubtype="16" fill="hold" nodeType="afterEffect">
                                  <p:stCondLst>
                                    <p:cond delay="0"/>
                                  </p:stCondLst>
                                  <p:childTnLst>
                                    <p:set>
                                      <p:cBhvr>
                                        <p:cTn id="17" dur="1" fill="hold">
                                          <p:stCondLst>
                                            <p:cond delay="0"/>
                                          </p:stCondLst>
                                        </p:cTn>
                                        <p:tgtEl>
                                          <p:spTgt spid="64517"/>
                                        </p:tgtEl>
                                        <p:attrNameLst>
                                          <p:attrName>style.visibility</p:attrName>
                                        </p:attrNameLst>
                                      </p:cBhvr>
                                      <p:to>
                                        <p:strVal val="visible"/>
                                      </p:to>
                                    </p:set>
                                    <p:anim calcmode="lin" valueType="num">
                                      <p:cBhvr>
                                        <p:cTn id="18" dur="1000" fill="hold"/>
                                        <p:tgtEl>
                                          <p:spTgt spid="64517"/>
                                        </p:tgtEl>
                                        <p:attrNameLst>
                                          <p:attrName>ppt_w</p:attrName>
                                        </p:attrNameLst>
                                      </p:cBhvr>
                                      <p:tavLst>
                                        <p:tav tm="0">
                                          <p:val>
                                            <p:fltVal val="0"/>
                                          </p:val>
                                        </p:tav>
                                        <p:tav tm="100000">
                                          <p:val>
                                            <p:strVal val="#ppt_w"/>
                                          </p:val>
                                        </p:tav>
                                      </p:tavLst>
                                    </p:anim>
                                    <p:anim calcmode="lin" valueType="num">
                                      <p:cBhvr>
                                        <p:cTn id="19" dur="1000" fill="hold"/>
                                        <p:tgtEl>
                                          <p:spTgt spid="64517"/>
                                        </p:tgtEl>
                                        <p:attrNameLst>
                                          <p:attrName>ppt_h</p:attrName>
                                        </p:attrNameLst>
                                      </p:cBhvr>
                                      <p:tavLst>
                                        <p:tav tm="0">
                                          <p:val>
                                            <p:fltVal val="0"/>
                                          </p:val>
                                        </p:tav>
                                        <p:tav tm="100000">
                                          <p:val>
                                            <p:strVal val="#ppt_h"/>
                                          </p:val>
                                        </p:tav>
                                      </p:tavLst>
                                    </p:anim>
                                    <p:animEffect transition="in" filter="fade">
                                      <p:cBhvr>
                                        <p:cTn id="20" dur="1000"/>
                                        <p:tgtEl>
                                          <p:spTgt spid="64517"/>
                                        </p:tgtEl>
                                      </p:cBhvr>
                                    </p:animEffect>
                                  </p:childTnLst>
                                </p:cTn>
                              </p:par>
                            </p:childTnLst>
                          </p:cTn>
                        </p:par>
                        <p:par>
                          <p:cTn id="21" fill="hold" nodeType="afterGroup">
                            <p:stCondLst>
                              <p:cond delay="1500"/>
                            </p:stCondLst>
                            <p:childTnLst>
                              <p:par>
                                <p:cTn id="22" presetID="53" presetClass="entr" presetSubtype="16" fill="hold" nodeType="afterEffect">
                                  <p:stCondLst>
                                    <p:cond delay="0"/>
                                  </p:stCondLst>
                                  <p:childTnLst>
                                    <p:set>
                                      <p:cBhvr>
                                        <p:cTn id="23" dur="1" fill="hold">
                                          <p:stCondLst>
                                            <p:cond delay="0"/>
                                          </p:stCondLst>
                                        </p:cTn>
                                        <p:tgtEl>
                                          <p:spTgt spid="64518"/>
                                        </p:tgtEl>
                                        <p:attrNameLst>
                                          <p:attrName>style.visibility</p:attrName>
                                        </p:attrNameLst>
                                      </p:cBhvr>
                                      <p:to>
                                        <p:strVal val="visible"/>
                                      </p:to>
                                    </p:set>
                                    <p:anim calcmode="lin" valueType="num">
                                      <p:cBhvr>
                                        <p:cTn id="24" dur="500" fill="hold"/>
                                        <p:tgtEl>
                                          <p:spTgt spid="64518"/>
                                        </p:tgtEl>
                                        <p:attrNameLst>
                                          <p:attrName>ppt_w</p:attrName>
                                        </p:attrNameLst>
                                      </p:cBhvr>
                                      <p:tavLst>
                                        <p:tav tm="0">
                                          <p:val>
                                            <p:fltVal val="0"/>
                                          </p:val>
                                        </p:tav>
                                        <p:tav tm="100000">
                                          <p:val>
                                            <p:strVal val="#ppt_w"/>
                                          </p:val>
                                        </p:tav>
                                      </p:tavLst>
                                    </p:anim>
                                    <p:anim calcmode="lin" valueType="num">
                                      <p:cBhvr>
                                        <p:cTn id="25" dur="500" fill="hold"/>
                                        <p:tgtEl>
                                          <p:spTgt spid="64518"/>
                                        </p:tgtEl>
                                        <p:attrNameLst>
                                          <p:attrName>ppt_h</p:attrName>
                                        </p:attrNameLst>
                                      </p:cBhvr>
                                      <p:tavLst>
                                        <p:tav tm="0">
                                          <p:val>
                                            <p:fltVal val="0"/>
                                          </p:val>
                                        </p:tav>
                                        <p:tav tm="100000">
                                          <p:val>
                                            <p:strVal val="#ppt_h"/>
                                          </p:val>
                                        </p:tav>
                                      </p:tavLst>
                                    </p:anim>
                                    <p:animEffect transition="in" filter="fade">
                                      <p:cBhvr>
                                        <p:cTn id="26" dur="500"/>
                                        <p:tgtEl>
                                          <p:spTgt spid="64518"/>
                                        </p:tgtEl>
                                      </p:cBhvr>
                                    </p:animEffect>
                                  </p:childTnLst>
                                </p:cTn>
                              </p:par>
                            </p:childTnLst>
                          </p:cTn>
                        </p:par>
                        <p:par>
                          <p:cTn id="27" fill="hold" nodeType="afterGroup">
                            <p:stCondLst>
                              <p:cond delay="2000"/>
                            </p:stCondLst>
                            <p:childTnLst>
                              <p:par>
                                <p:cTn id="28" presetID="53" presetClass="entr" presetSubtype="16"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animEffect transition="in" filter="fade">
                                      <p:cBhvr>
                                        <p:cTn id="32" dur="500"/>
                                        <p:tgtEl>
                                          <p:spTgt spid="6"/>
                                        </p:tgtEl>
                                      </p:cBhvr>
                                    </p:animEffect>
                                  </p:childTnLst>
                                </p:cTn>
                              </p:par>
                            </p:childTnLst>
                          </p:cTn>
                        </p:par>
                        <p:par>
                          <p:cTn id="33" fill="hold" nodeType="afterGroup">
                            <p:stCondLst>
                              <p:cond delay="2500"/>
                            </p:stCondLst>
                            <p:childTnLst>
                              <p:par>
                                <p:cTn id="34" presetID="53" presetClass="entr" presetSubtype="16" fill="hold" nodeType="after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p:cTn id="36" dur="500" fill="hold"/>
                                        <p:tgtEl>
                                          <p:spTgt spid="7"/>
                                        </p:tgtEl>
                                        <p:attrNameLst>
                                          <p:attrName>ppt_w</p:attrName>
                                        </p:attrNameLst>
                                      </p:cBhvr>
                                      <p:tavLst>
                                        <p:tav tm="0">
                                          <p:val>
                                            <p:fltVal val="0"/>
                                          </p:val>
                                        </p:tav>
                                        <p:tav tm="100000">
                                          <p:val>
                                            <p:strVal val="#ppt_w"/>
                                          </p:val>
                                        </p:tav>
                                      </p:tavLst>
                                    </p:anim>
                                    <p:anim calcmode="lin" valueType="num">
                                      <p:cBhvr>
                                        <p:cTn id="37" dur="500" fill="hold"/>
                                        <p:tgtEl>
                                          <p:spTgt spid="7"/>
                                        </p:tgtEl>
                                        <p:attrNameLst>
                                          <p:attrName>ppt_h</p:attrName>
                                        </p:attrNameLst>
                                      </p:cBhvr>
                                      <p:tavLst>
                                        <p:tav tm="0">
                                          <p:val>
                                            <p:fltVal val="0"/>
                                          </p:val>
                                        </p:tav>
                                        <p:tav tm="100000">
                                          <p:val>
                                            <p:strVal val="#ppt_h"/>
                                          </p:val>
                                        </p:tav>
                                      </p:tavLst>
                                    </p:anim>
                                    <p:animEffect transition="in" filter="fade">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6DFE1CBD-1F57-F146-8F43-688F1E3CDA01}"/>
              </a:ext>
            </a:extLst>
          </p:cNvPr>
          <p:cNvSpPr>
            <a:spLocks noChangeArrowheads="1"/>
          </p:cNvSpPr>
          <p:nvPr/>
        </p:nvSpPr>
        <p:spPr bwMode="auto">
          <a:xfrm>
            <a:off x="468313" y="1628775"/>
            <a:ext cx="5170487" cy="3582988"/>
          </a:xfrm>
          <a:prstGeom prst="rect">
            <a:avLst/>
          </a:prstGeom>
          <a:noFill/>
          <a:ln>
            <a:noFill/>
          </a:ln>
        </p:spPr>
        <p:txBody>
          <a:bodyPr>
            <a:spAutoFit/>
          </a:bodyPr>
          <a:lstStyle>
            <a:lvl1pPr indent="2667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en-US" altLang="zh-CN"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基于</a:t>
            </a: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质询</a:t>
            </a:r>
            <a:r>
              <a:rPr lang="en-US" altLang="zh-CN" sz="2800">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应答</a:t>
            </a: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的身份鉴别在鉴别时，由验证者给声称者发送一个确定的值（质询消息），该值参与鉴别信息的运算。产生的非重复质询消息完全由验证者决定，使得每次传输的鉴别信息不同。这能很好地防止口令窃听和重放，但需要额外的通信花销。</a:t>
            </a:r>
          </a:p>
        </p:txBody>
      </p:sp>
      <p:sp>
        <p:nvSpPr>
          <p:cNvPr id="65539" name="Text Box 3">
            <a:extLst>
              <a:ext uri="{FF2B5EF4-FFF2-40B4-BE49-F238E27FC236}">
                <a16:creationId xmlns:a16="http://schemas.microsoft.com/office/drawing/2014/main" id="{6C2A5EEE-4167-554B-B798-F94CAB2533B0}"/>
              </a:ext>
            </a:extLst>
          </p:cNvPr>
          <p:cNvSpPr txBox="1">
            <a:spLocks noChangeArrowheads="1"/>
          </p:cNvSpPr>
          <p:nvPr/>
        </p:nvSpPr>
        <p:spPr bwMode="auto">
          <a:xfrm>
            <a:off x="501650" y="820738"/>
            <a:ext cx="7034213" cy="534987"/>
          </a:xfrm>
          <a:prstGeom prst="rect">
            <a:avLst/>
          </a:prstGeom>
          <a:noFill/>
          <a:ln>
            <a:noFill/>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defRPr/>
            </a:pPr>
            <a:r>
              <a:rPr lang="zh-CN" altLang="en-US" sz="32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基于质询－应答的身份鉴别技术</a:t>
            </a:r>
          </a:p>
        </p:txBody>
      </p:sp>
      <p:sp>
        <p:nvSpPr>
          <p:cNvPr id="67587" name="Rectangle 5">
            <a:extLst>
              <a:ext uri="{FF2B5EF4-FFF2-40B4-BE49-F238E27FC236}">
                <a16:creationId xmlns:a16="http://schemas.microsoft.com/office/drawing/2014/main" id="{CB0DC2D9-6DC2-5740-835A-BB30EDFCDA9D}"/>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7588" name="Rectangle 6">
            <a:extLst>
              <a:ext uri="{FF2B5EF4-FFF2-40B4-BE49-F238E27FC236}">
                <a16:creationId xmlns:a16="http://schemas.microsoft.com/office/drawing/2014/main" id="{B8F84E52-318E-7E43-9821-0D9A2C5E629C}"/>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7589" name="Rectangle 7">
            <a:extLst>
              <a:ext uri="{FF2B5EF4-FFF2-40B4-BE49-F238E27FC236}">
                <a16:creationId xmlns:a16="http://schemas.microsoft.com/office/drawing/2014/main" id="{B14D1FF5-BE1E-4E48-BFA2-C042F655F111}"/>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7590" name="Rectangle 8">
            <a:extLst>
              <a:ext uri="{FF2B5EF4-FFF2-40B4-BE49-F238E27FC236}">
                <a16:creationId xmlns:a16="http://schemas.microsoft.com/office/drawing/2014/main" id="{D4FE9FD1-DB1C-544F-A67B-DDD23043FB27}"/>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7591" name="Rectangle 9">
            <a:extLst>
              <a:ext uri="{FF2B5EF4-FFF2-40B4-BE49-F238E27FC236}">
                <a16:creationId xmlns:a16="http://schemas.microsoft.com/office/drawing/2014/main" id="{26534410-1969-4044-AF28-88246AE72E3F}"/>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67592" name="Rectangle 11">
            <a:extLst>
              <a:ext uri="{FF2B5EF4-FFF2-40B4-BE49-F238E27FC236}">
                <a16:creationId xmlns:a16="http://schemas.microsoft.com/office/drawing/2014/main" id="{858AE313-CB96-DD4A-9BF9-A05477D0523F}"/>
              </a:ext>
            </a:extLst>
          </p:cNvPr>
          <p:cNvSpPr>
            <a:spLocks noChangeArrowheads="1"/>
          </p:cNvSpPr>
          <p:nvPr/>
        </p:nvSpPr>
        <p:spPr bwMode="auto">
          <a:xfrm>
            <a:off x="0" y="33480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pic>
        <p:nvPicPr>
          <p:cNvPr id="67593" name="图片 1">
            <a:extLst>
              <a:ext uri="{FF2B5EF4-FFF2-40B4-BE49-F238E27FC236}">
                <a16:creationId xmlns:a16="http://schemas.microsoft.com/office/drawing/2014/main" id="{4E6B5DA5-A468-5942-B23B-DA17573401A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65800" y="2895600"/>
            <a:ext cx="3048000"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5538"/>
                                        </p:tgtEl>
                                        <p:attrNameLst>
                                          <p:attrName>style.visibility</p:attrName>
                                        </p:attrNameLst>
                                      </p:cBhvr>
                                      <p:to>
                                        <p:strVal val="visible"/>
                                      </p:to>
                                    </p:set>
                                    <p:anim calcmode="lin" valueType="num">
                                      <p:cBhvr>
                                        <p:cTn id="7" dur="1000" fill="hold"/>
                                        <p:tgtEl>
                                          <p:spTgt spid="65538"/>
                                        </p:tgtEl>
                                        <p:attrNameLst>
                                          <p:attrName>ppt_w</p:attrName>
                                        </p:attrNameLst>
                                      </p:cBhvr>
                                      <p:tavLst>
                                        <p:tav tm="0">
                                          <p:val>
                                            <p:fltVal val="0"/>
                                          </p:val>
                                        </p:tav>
                                        <p:tav tm="100000">
                                          <p:val>
                                            <p:strVal val="#ppt_w"/>
                                          </p:val>
                                        </p:tav>
                                      </p:tavLst>
                                    </p:anim>
                                    <p:anim calcmode="lin" valueType="num">
                                      <p:cBhvr>
                                        <p:cTn id="8" dur="1000" fill="hold"/>
                                        <p:tgtEl>
                                          <p:spTgt spid="65538"/>
                                        </p:tgtEl>
                                        <p:attrNameLst>
                                          <p:attrName>ppt_h</p:attrName>
                                        </p:attrNameLst>
                                      </p:cBhvr>
                                      <p:tavLst>
                                        <p:tav tm="0">
                                          <p:val>
                                            <p:fltVal val="0"/>
                                          </p:val>
                                        </p:tav>
                                        <p:tav tm="100000">
                                          <p:val>
                                            <p:strVal val="#ppt_h"/>
                                          </p:val>
                                        </p:tav>
                                      </p:tavLst>
                                    </p:anim>
                                    <p:animEffect transition="in" filter="fade">
                                      <p:cBhvr>
                                        <p:cTn id="9" dur="1000"/>
                                        <p:tgtEl>
                                          <p:spTgt spid="65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a:extLst>
              <a:ext uri="{FF2B5EF4-FFF2-40B4-BE49-F238E27FC236}">
                <a16:creationId xmlns:a16="http://schemas.microsoft.com/office/drawing/2014/main" id="{1C5A187A-748E-2942-AFA1-A31DA54370F6}"/>
              </a:ext>
            </a:extLst>
          </p:cNvPr>
          <p:cNvSpPr>
            <a:spLocks noChangeArrowheads="1"/>
          </p:cNvSpPr>
          <p:nvPr/>
        </p:nvSpPr>
        <p:spPr bwMode="auto">
          <a:xfrm>
            <a:off x="460375" y="792163"/>
            <a:ext cx="6988175" cy="534987"/>
          </a:xfrm>
          <a:prstGeom prst="rect">
            <a:avLst/>
          </a:prstGeom>
          <a:noFill/>
          <a:ln>
            <a:noFill/>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defRPr/>
            </a:pPr>
            <a:r>
              <a:rPr lang="zh-CN" altLang="en-US" sz="32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基于质询－应答的身份鉴别技术</a:t>
            </a:r>
          </a:p>
        </p:txBody>
      </p:sp>
      <p:sp>
        <p:nvSpPr>
          <p:cNvPr id="68610" name="Rectangle 54">
            <a:extLst>
              <a:ext uri="{FF2B5EF4-FFF2-40B4-BE49-F238E27FC236}">
                <a16:creationId xmlns:a16="http://schemas.microsoft.com/office/drawing/2014/main" id="{147246C9-CE36-D344-A026-A6FF326BD72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grpSp>
        <p:nvGrpSpPr>
          <p:cNvPr id="4" name="组合 3">
            <a:extLst>
              <a:ext uri="{FF2B5EF4-FFF2-40B4-BE49-F238E27FC236}">
                <a16:creationId xmlns:a16="http://schemas.microsoft.com/office/drawing/2014/main" id="{06DE2624-338E-A044-90AE-B451A319F971}"/>
              </a:ext>
            </a:extLst>
          </p:cNvPr>
          <p:cNvGrpSpPr>
            <a:grpSpLocks/>
          </p:cNvGrpSpPr>
          <p:nvPr/>
        </p:nvGrpSpPr>
        <p:grpSpPr bwMode="auto">
          <a:xfrm>
            <a:off x="912813" y="1524000"/>
            <a:ext cx="7234237" cy="4710113"/>
            <a:chOff x="913077" y="1524000"/>
            <a:chExt cx="7233775" cy="4710113"/>
          </a:xfrm>
        </p:grpSpPr>
        <p:sp>
          <p:nvSpPr>
            <p:cNvPr id="68612" name="Text Box 33">
              <a:extLst>
                <a:ext uri="{FF2B5EF4-FFF2-40B4-BE49-F238E27FC236}">
                  <a16:creationId xmlns:a16="http://schemas.microsoft.com/office/drawing/2014/main" id="{1C6223B9-2963-C940-B65B-B4981AD16230}"/>
                </a:ext>
              </a:extLst>
            </p:cNvPr>
            <p:cNvSpPr txBox="1">
              <a:spLocks noChangeArrowheads="1"/>
            </p:cNvSpPr>
            <p:nvPr/>
          </p:nvSpPr>
          <p:spPr bwMode="auto">
            <a:xfrm>
              <a:off x="2891936" y="5791200"/>
              <a:ext cx="4259977" cy="442913"/>
            </a:xfrm>
            <a:prstGeom prst="rect">
              <a:avLst/>
            </a:prstGeom>
            <a:solidFill>
              <a:schemeClr val="tx1"/>
            </a:solidFill>
            <a:ln w="9525">
              <a:solidFill>
                <a:schemeClr val="tx1"/>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just" eaLnBrk="1" hangingPunct="1">
                <a:lnSpc>
                  <a:spcPct val="90000"/>
                </a:lnSpc>
              </a:pPr>
              <a:r>
                <a:rPr lang="zh-CN" altLang="en-US" sz="2000">
                  <a:latin typeface="华文中宋" panose="02010600040101010101" pitchFamily="2" charset="-122"/>
                  <a:ea typeface="华文中宋" panose="02010600040101010101" pitchFamily="2" charset="-122"/>
                </a:rPr>
                <a:t>质询</a:t>
              </a:r>
              <a:r>
                <a:rPr lang="en-US" altLang="zh-CN" sz="2000">
                  <a:latin typeface="华文中宋" panose="02010600040101010101" pitchFamily="2" charset="-122"/>
                  <a:ea typeface="华文中宋" panose="02010600040101010101" pitchFamily="2" charset="-122"/>
                </a:rPr>
                <a:t>-</a:t>
              </a:r>
              <a:r>
                <a:rPr lang="zh-CN" altLang="en-US" sz="2000">
                  <a:latin typeface="华文中宋" panose="02010600040101010101" pitchFamily="2" charset="-122"/>
                  <a:ea typeface="华文中宋" panose="02010600040101010101" pitchFamily="2" charset="-122"/>
                </a:rPr>
                <a:t>应答身份鉴别技术示意图</a:t>
              </a:r>
            </a:p>
          </p:txBody>
        </p:sp>
        <p:grpSp>
          <p:nvGrpSpPr>
            <p:cNvPr id="68613" name="Group 71">
              <a:extLst>
                <a:ext uri="{FF2B5EF4-FFF2-40B4-BE49-F238E27FC236}">
                  <a16:creationId xmlns:a16="http://schemas.microsoft.com/office/drawing/2014/main" id="{7BF60743-7615-6A42-9CF4-A410207016BD}"/>
                </a:ext>
              </a:extLst>
            </p:cNvPr>
            <p:cNvGrpSpPr>
              <a:grpSpLocks/>
            </p:cNvGrpSpPr>
            <p:nvPr/>
          </p:nvGrpSpPr>
          <p:grpSpPr bwMode="auto">
            <a:xfrm>
              <a:off x="913077" y="1524000"/>
              <a:ext cx="7233775" cy="4011613"/>
              <a:chOff x="839" y="1512"/>
              <a:chExt cx="4354" cy="2229"/>
            </a:xfrm>
          </p:grpSpPr>
          <p:sp>
            <p:nvSpPr>
              <p:cNvPr id="68614" name="Text Box 12">
                <a:extLst>
                  <a:ext uri="{FF2B5EF4-FFF2-40B4-BE49-F238E27FC236}">
                    <a16:creationId xmlns:a16="http://schemas.microsoft.com/office/drawing/2014/main" id="{E4C4C3B8-057C-A94A-BE19-0F1C7B3ED7C3}"/>
                  </a:ext>
                </a:extLst>
              </p:cNvPr>
              <p:cNvSpPr txBox="1">
                <a:spLocks noChangeArrowheads="1"/>
              </p:cNvSpPr>
              <p:nvPr/>
            </p:nvSpPr>
            <p:spPr bwMode="auto">
              <a:xfrm>
                <a:off x="2744" y="2720"/>
                <a:ext cx="952" cy="278"/>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just" eaLnBrk="1" hangingPunct="1">
                  <a:lnSpc>
                    <a:spcPct val="90000"/>
                  </a:lnSpc>
                </a:pPr>
                <a:r>
                  <a:rPr lang="zh-CN" altLang="en-US" sz="2000">
                    <a:solidFill>
                      <a:schemeClr val="bg2"/>
                    </a:solidFill>
                    <a:ea typeface="华文中宋" panose="02010600040101010101" pitchFamily="2" charset="-122"/>
                  </a:rPr>
                  <a:t>应答消息</a:t>
                </a:r>
              </a:p>
            </p:txBody>
          </p:sp>
          <p:sp>
            <p:nvSpPr>
              <p:cNvPr id="68615" name="Text Box 13">
                <a:extLst>
                  <a:ext uri="{FF2B5EF4-FFF2-40B4-BE49-F238E27FC236}">
                    <a16:creationId xmlns:a16="http://schemas.microsoft.com/office/drawing/2014/main" id="{88990226-80F5-0449-80F5-3559CDFB9E16}"/>
                  </a:ext>
                </a:extLst>
              </p:cNvPr>
              <p:cNvSpPr txBox="1">
                <a:spLocks noChangeArrowheads="1"/>
              </p:cNvSpPr>
              <p:nvPr/>
            </p:nvSpPr>
            <p:spPr bwMode="auto">
              <a:xfrm>
                <a:off x="4105" y="1512"/>
                <a:ext cx="862" cy="279"/>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just" eaLnBrk="1" hangingPunct="1">
                  <a:lnSpc>
                    <a:spcPct val="90000"/>
                  </a:lnSpc>
                </a:pPr>
                <a:r>
                  <a:rPr lang="zh-CN" altLang="en-US" sz="2000">
                    <a:solidFill>
                      <a:schemeClr val="bg2"/>
                    </a:solidFill>
                    <a:ea typeface="华文宋体" panose="02010600040101010101" pitchFamily="2" charset="-122"/>
                  </a:rPr>
                  <a:t>验证者</a:t>
                </a:r>
              </a:p>
            </p:txBody>
          </p:sp>
          <p:sp>
            <p:nvSpPr>
              <p:cNvPr id="68616" name="Text Box 14">
                <a:extLst>
                  <a:ext uri="{FF2B5EF4-FFF2-40B4-BE49-F238E27FC236}">
                    <a16:creationId xmlns:a16="http://schemas.microsoft.com/office/drawing/2014/main" id="{E1A72748-B250-F74E-AC0B-D69A1143A6C1}"/>
                  </a:ext>
                </a:extLst>
              </p:cNvPr>
              <p:cNvSpPr txBox="1">
                <a:spLocks noChangeArrowheads="1"/>
              </p:cNvSpPr>
              <p:nvPr/>
            </p:nvSpPr>
            <p:spPr bwMode="auto">
              <a:xfrm>
                <a:off x="863" y="3277"/>
                <a:ext cx="339" cy="261"/>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zh-CN" sz="2000">
                  <a:solidFill>
                    <a:schemeClr val="bg2"/>
                  </a:solidFill>
                </a:endParaRPr>
              </a:p>
            </p:txBody>
          </p:sp>
          <p:sp>
            <p:nvSpPr>
              <p:cNvPr id="68617" name="Text Box 15">
                <a:extLst>
                  <a:ext uri="{FF2B5EF4-FFF2-40B4-BE49-F238E27FC236}">
                    <a16:creationId xmlns:a16="http://schemas.microsoft.com/office/drawing/2014/main" id="{13B0FAF3-402F-DB48-8872-4E9B36C456D5}"/>
                  </a:ext>
                </a:extLst>
              </p:cNvPr>
              <p:cNvSpPr txBox="1">
                <a:spLocks noChangeArrowheads="1"/>
              </p:cNvSpPr>
              <p:nvPr/>
            </p:nvSpPr>
            <p:spPr bwMode="auto">
              <a:xfrm>
                <a:off x="971" y="2348"/>
                <a:ext cx="363" cy="285"/>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zh-CN" sz="2000">
                  <a:solidFill>
                    <a:schemeClr val="bg2"/>
                  </a:solidFill>
                </a:endParaRPr>
              </a:p>
            </p:txBody>
          </p:sp>
          <p:sp>
            <p:nvSpPr>
              <p:cNvPr id="68618" name="Text Box 16">
                <a:extLst>
                  <a:ext uri="{FF2B5EF4-FFF2-40B4-BE49-F238E27FC236}">
                    <a16:creationId xmlns:a16="http://schemas.microsoft.com/office/drawing/2014/main" id="{10C1C188-2C10-BF42-9A35-F141138E5343}"/>
                  </a:ext>
                </a:extLst>
              </p:cNvPr>
              <p:cNvSpPr txBox="1">
                <a:spLocks noChangeArrowheads="1"/>
              </p:cNvSpPr>
              <p:nvPr/>
            </p:nvSpPr>
            <p:spPr bwMode="auto">
              <a:xfrm>
                <a:off x="1429" y="1885"/>
                <a:ext cx="841" cy="279"/>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just" eaLnBrk="1" hangingPunct="1">
                  <a:lnSpc>
                    <a:spcPct val="90000"/>
                  </a:lnSpc>
                </a:pPr>
                <a:r>
                  <a:rPr lang="zh-CN" altLang="en-US" sz="2000">
                    <a:solidFill>
                      <a:schemeClr val="bg2"/>
                    </a:solidFill>
                    <a:ea typeface="华文中宋" panose="02010600040101010101" pitchFamily="2" charset="-122"/>
                  </a:rPr>
                  <a:t>声称者</a:t>
                </a:r>
              </a:p>
            </p:txBody>
          </p:sp>
          <p:sp>
            <p:nvSpPr>
              <p:cNvPr id="68619" name="Rectangle 17">
                <a:extLst>
                  <a:ext uri="{FF2B5EF4-FFF2-40B4-BE49-F238E27FC236}">
                    <a16:creationId xmlns:a16="http://schemas.microsoft.com/office/drawing/2014/main" id="{FE62D53E-0AF0-3E4F-9014-B5627A890FAF}"/>
                  </a:ext>
                </a:extLst>
              </p:cNvPr>
              <p:cNvSpPr>
                <a:spLocks noChangeArrowheads="1"/>
              </p:cNvSpPr>
              <p:nvPr/>
            </p:nvSpPr>
            <p:spPr bwMode="auto">
              <a:xfrm>
                <a:off x="3741" y="1791"/>
                <a:ext cx="1452" cy="1950"/>
              </a:xfrm>
              <a:prstGeom prst="rect">
                <a:avLst/>
              </a:prstGeom>
              <a:noFill/>
              <a:ln w="38100" cap="rnd">
                <a:solidFill>
                  <a:srgbClr val="00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sz="2000">
                  <a:solidFill>
                    <a:schemeClr val="bg2"/>
                  </a:solidFill>
                </a:endParaRPr>
              </a:p>
            </p:txBody>
          </p:sp>
          <p:sp>
            <p:nvSpPr>
              <p:cNvPr id="68620" name="Rectangle 18">
                <a:extLst>
                  <a:ext uri="{FF2B5EF4-FFF2-40B4-BE49-F238E27FC236}">
                    <a16:creationId xmlns:a16="http://schemas.microsoft.com/office/drawing/2014/main" id="{233C7C43-B25E-6743-9F15-26373FC23682}"/>
                  </a:ext>
                </a:extLst>
              </p:cNvPr>
              <p:cNvSpPr>
                <a:spLocks noChangeArrowheads="1"/>
              </p:cNvSpPr>
              <p:nvPr/>
            </p:nvSpPr>
            <p:spPr bwMode="auto">
              <a:xfrm>
                <a:off x="1296" y="2162"/>
                <a:ext cx="1083" cy="1486"/>
              </a:xfrm>
              <a:prstGeom prst="rect">
                <a:avLst/>
              </a:prstGeom>
              <a:noFill/>
              <a:ln w="38100" cap="rnd">
                <a:solidFill>
                  <a:srgbClr val="00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sz="2000">
                  <a:solidFill>
                    <a:schemeClr val="bg2"/>
                  </a:solidFill>
                </a:endParaRPr>
              </a:p>
            </p:txBody>
          </p:sp>
          <p:sp>
            <p:nvSpPr>
              <p:cNvPr id="68621" name="Text Box 19">
                <a:extLst>
                  <a:ext uri="{FF2B5EF4-FFF2-40B4-BE49-F238E27FC236}">
                    <a16:creationId xmlns:a16="http://schemas.microsoft.com/office/drawing/2014/main" id="{76D25D70-D144-F344-80B6-656AB8236012}"/>
                  </a:ext>
                </a:extLst>
              </p:cNvPr>
              <p:cNvSpPr txBox="1">
                <a:spLocks noChangeArrowheads="1"/>
              </p:cNvSpPr>
              <p:nvPr/>
            </p:nvSpPr>
            <p:spPr bwMode="auto">
              <a:xfrm>
                <a:off x="2699" y="1884"/>
                <a:ext cx="952" cy="278"/>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just" eaLnBrk="1" hangingPunct="1">
                  <a:lnSpc>
                    <a:spcPct val="90000"/>
                  </a:lnSpc>
                </a:pPr>
                <a:r>
                  <a:rPr lang="zh-CN" altLang="en-US" sz="2000">
                    <a:solidFill>
                      <a:schemeClr val="bg2"/>
                    </a:solidFill>
                    <a:ea typeface="华文中宋" panose="02010600040101010101" pitchFamily="2" charset="-122"/>
                  </a:rPr>
                  <a:t>质询消息</a:t>
                </a:r>
              </a:p>
            </p:txBody>
          </p:sp>
          <p:sp>
            <p:nvSpPr>
              <p:cNvPr id="68622" name="Text Box 20">
                <a:extLst>
                  <a:ext uri="{FF2B5EF4-FFF2-40B4-BE49-F238E27FC236}">
                    <a16:creationId xmlns:a16="http://schemas.microsoft.com/office/drawing/2014/main" id="{B3BB23E0-6CCD-074C-ACC3-0CA002D9A5C4}"/>
                  </a:ext>
                </a:extLst>
              </p:cNvPr>
              <p:cNvSpPr txBox="1">
                <a:spLocks noChangeArrowheads="1"/>
              </p:cNvSpPr>
              <p:nvPr/>
            </p:nvSpPr>
            <p:spPr bwMode="auto">
              <a:xfrm>
                <a:off x="1621" y="2527"/>
                <a:ext cx="326" cy="28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zh-CN" sz="2000">
                  <a:solidFill>
                    <a:schemeClr val="bg2"/>
                  </a:solidFill>
                </a:endParaRPr>
              </a:p>
            </p:txBody>
          </p:sp>
          <p:sp>
            <p:nvSpPr>
              <p:cNvPr id="68623" name="Text Box 21">
                <a:extLst>
                  <a:ext uri="{FF2B5EF4-FFF2-40B4-BE49-F238E27FC236}">
                    <a16:creationId xmlns:a16="http://schemas.microsoft.com/office/drawing/2014/main" id="{288F68C0-8907-A746-8255-A664B97DBCFE}"/>
                  </a:ext>
                </a:extLst>
              </p:cNvPr>
              <p:cNvSpPr txBox="1">
                <a:spLocks noChangeArrowheads="1"/>
              </p:cNvSpPr>
              <p:nvPr/>
            </p:nvSpPr>
            <p:spPr bwMode="auto">
              <a:xfrm>
                <a:off x="3028" y="2162"/>
                <a:ext cx="433" cy="27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sz="2000" i="1">
                    <a:solidFill>
                      <a:schemeClr val="bg2"/>
                    </a:solidFill>
                  </a:rPr>
                  <a:t>n</a:t>
                </a:r>
                <a:endParaRPr lang="en-US" altLang="zh-CN" sz="2000">
                  <a:solidFill>
                    <a:schemeClr val="bg2"/>
                  </a:solidFill>
                </a:endParaRPr>
              </a:p>
            </p:txBody>
          </p:sp>
          <p:sp>
            <p:nvSpPr>
              <p:cNvPr id="68624" name="Text Box 22">
                <a:extLst>
                  <a:ext uri="{FF2B5EF4-FFF2-40B4-BE49-F238E27FC236}">
                    <a16:creationId xmlns:a16="http://schemas.microsoft.com/office/drawing/2014/main" id="{EF5F2D19-0B18-6947-82BC-53F6607BAAAD}"/>
                  </a:ext>
                </a:extLst>
              </p:cNvPr>
              <p:cNvSpPr txBox="1">
                <a:spLocks noChangeArrowheads="1"/>
              </p:cNvSpPr>
              <p:nvPr/>
            </p:nvSpPr>
            <p:spPr bwMode="auto">
              <a:xfrm>
                <a:off x="4327" y="1884"/>
                <a:ext cx="650" cy="27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just" eaLnBrk="1" hangingPunct="1">
                  <a:lnSpc>
                    <a:spcPct val="90000"/>
                  </a:lnSpc>
                </a:pPr>
                <a:r>
                  <a:rPr lang="en-US" altLang="zh-CN" sz="2000">
                    <a:solidFill>
                      <a:schemeClr val="bg2"/>
                    </a:solidFill>
                  </a:rPr>
                  <a:t>  </a:t>
                </a:r>
              </a:p>
              <a:p>
                <a:pPr algn="just" eaLnBrk="1" hangingPunct="1">
                  <a:lnSpc>
                    <a:spcPct val="90000"/>
                  </a:lnSpc>
                </a:pPr>
                <a:endParaRPr lang="en-US" altLang="zh-CN" sz="2000">
                  <a:solidFill>
                    <a:schemeClr val="bg2"/>
                  </a:solidFill>
                </a:endParaRPr>
              </a:p>
              <a:p>
                <a:pPr eaLnBrk="1" hangingPunct="1">
                  <a:lnSpc>
                    <a:spcPct val="90000"/>
                  </a:lnSpc>
                </a:pPr>
                <a:endParaRPr lang="en-US" altLang="zh-CN" sz="2000">
                  <a:solidFill>
                    <a:schemeClr val="bg2"/>
                  </a:solidFill>
                </a:endParaRPr>
              </a:p>
            </p:txBody>
          </p:sp>
          <p:sp>
            <p:nvSpPr>
              <p:cNvPr id="68625" name="Line 23">
                <a:extLst>
                  <a:ext uri="{FF2B5EF4-FFF2-40B4-BE49-F238E27FC236}">
                    <a16:creationId xmlns:a16="http://schemas.microsoft.com/office/drawing/2014/main" id="{2BD3F2F7-53D7-4346-842C-57A584A3185E}"/>
                  </a:ext>
                </a:extLst>
              </p:cNvPr>
              <p:cNvSpPr>
                <a:spLocks noChangeShapeType="1"/>
              </p:cNvSpPr>
              <p:nvPr/>
            </p:nvSpPr>
            <p:spPr bwMode="auto">
              <a:xfrm>
                <a:off x="4652" y="1884"/>
                <a:ext cx="0" cy="27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6" name="Text Box 24">
                <a:extLst>
                  <a:ext uri="{FF2B5EF4-FFF2-40B4-BE49-F238E27FC236}">
                    <a16:creationId xmlns:a16="http://schemas.microsoft.com/office/drawing/2014/main" id="{A03D91D8-091F-D84B-AB8D-C5B08A5FD223}"/>
                  </a:ext>
                </a:extLst>
              </p:cNvPr>
              <p:cNvSpPr txBox="1">
                <a:spLocks noChangeArrowheads="1"/>
              </p:cNvSpPr>
              <p:nvPr/>
            </p:nvSpPr>
            <p:spPr bwMode="auto">
              <a:xfrm>
                <a:off x="4327" y="2444"/>
                <a:ext cx="639" cy="2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sz="2000" i="1">
                    <a:solidFill>
                      <a:schemeClr val="bg2"/>
                    </a:solidFill>
                  </a:rPr>
                  <a:t>h</a:t>
                </a:r>
                <a:endParaRPr lang="en-US" altLang="zh-CN" sz="2000">
                  <a:solidFill>
                    <a:schemeClr val="bg2"/>
                  </a:solidFill>
                </a:endParaRPr>
              </a:p>
            </p:txBody>
          </p:sp>
          <p:sp>
            <p:nvSpPr>
              <p:cNvPr id="68627" name="Text Box 25">
                <a:extLst>
                  <a:ext uri="{FF2B5EF4-FFF2-40B4-BE49-F238E27FC236}">
                    <a16:creationId xmlns:a16="http://schemas.microsoft.com/office/drawing/2014/main" id="{9F4CBE66-3315-994A-A3D0-F19A4599F9AA}"/>
                  </a:ext>
                </a:extLst>
              </p:cNvPr>
              <p:cNvSpPr txBox="1">
                <a:spLocks noChangeArrowheads="1"/>
              </p:cNvSpPr>
              <p:nvPr/>
            </p:nvSpPr>
            <p:spPr bwMode="auto">
              <a:xfrm>
                <a:off x="1946" y="2935"/>
                <a:ext cx="254" cy="20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just" eaLnBrk="1" hangingPunct="1">
                  <a:lnSpc>
                    <a:spcPct val="90000"/>
                  </a:lnSpc>
                </a:pPr>
                <a:endParaRPr lang="zh-CN" altLang="zh-CN" sz="2000">
                  <a:solidFill>
                    <a:schemeClr val="bg2"/>
                  </a:solidFill>
                </a:endParaRPr>
              </a:p>
            </p:txBody>
          </p:sp>
          <p:sp>
            <p:nvSpPr>
              <p:cNvPr id="68628" name="Line 26">
                <a:extLst>
                  <a:ext uri="{FF2B5EF4-FFF2-40B4-BE49-F238E27FC236}">
                    <a16:creationId xmlns:a16="http://schemas.microsoft.com/office/drawing/2014/main" id="{43DE578D-6429-D944-95F8-4EC30C8C4048}"/>
                  </a:ext>
                </a:extLst>
              </p:cNvPr>
              <p:cNvSpPr>
                <a:spLocks noChangeShapeType="1"/>
              </p:cNvSpPr>
              <p:nvPr/>
            </p:nvSpPr>
            <p:spPr bwMode="auto">
              <a:xfrm>
                <a:off x="1946" y="2720"/>
                <a:ext cx="108"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9" name="Line 27">
                <a:extLst>
                  <a:ext uri="{FF2B5EF4-FFF2-40B4-BE49-F238E27FC236}">
                    <a16:creationId xmlns:a16="http://schemas.microsoft.com/office/drawing/2014/main" id="{6B087298-FFFA-3B45-865B-4203F98D459A}"/>
                  </a:ext>
                </a:extLst>
              </p:cNvPr>
              <p:cNvSpPr>
                <a:spLocks noChangeShapeType="1"/>
              </p:cNvSpPr>
              <p:nvPr/>
            </p:nvSpPr>
            <p:spPr bwMode="auto">
              <a:xfrm>
                <a:off x="2054" y="2720"/>
                <a:ext cx="0" cy="185"/>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30" name="Line 28">
                <a:extLst>
                  <a:ext uri="{FF2B5EF4-FFF2-40B4-BE49-F238E27FC236}">
                    <a16:creationId xmlns:a16="http://schemas.microsoft.com/office/drawing/2014/main" id="{A9B37932-97FD-874D-8140-2260DEF7CC52}"/>
                  </a:ext>
                </a:extLst>
              </p:cNvPr>
              <p:cNvSpPr>
                <a:spLocks noChangeShapeType="1"/>
              </p:cNvSpPr>
              <p:nvPr/>
            </p:nvSpPr>
            <p:spPr bwMode="auto">
              <a:xfrm>
                <a:off x="4760" y="2162"/>
                <a:ext cx="0" cy="27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31" name="Text Box 29">
                <a:extLst>
                  <a:ext uri="{FF2B5EF4-FFF2-40B4-BE49-F238E27FC236}">
                    <a16:creationId xmlns:a16="http://schemas.microsoft.com/office/drawing/2014/main" id="{FDC4E8AA-C1CC-C34A-A7D4-6845077767AF}"/>
                  </a:ext>
                </a:extLst>
              </p:cNvPr>
              <p:cNvSpPr txBox="1">
                <a:spLocks noChangeArrowheads="1"/>
              </p:cNvSpPr>
              <p:nvPr/>
            </p:nvSpPr>
            <p:spPr bwMode="auto">
              <a:xfrm>
                <a:off x="4435" y="2909"/>
                <a:ext cx="542" cy="27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zh-CN" altLang="en-US" sz="2000">
                    <a:solidFill>
                      <a:schemeClr val="bg2"/>
                    </a:solidFill>
                    <a:ea typeface="华文中宋" panose="02010600040101010101" pitchFamily="2" charset="-122"/>
                  </a:rPr>
                  <a:t>比较</a:t>
                </a:r>
              </a:p>
            </p:txBody>
          </p:sp>
          <p:sp>
            <p:nvSpPr>
              <p:cNvPr id="68632" name="Line 30">
                <a:extLst>
                  <a:ext uri="{FF2B5EF4-FFF2-40B4-BE49-F238E27FC236}">
                    <a16:creationId xmlns:a16="http://schemas.microsoft.com/office/drawing/2014/main" id="{628CB845-5DB1-DA4F-9BA6-D739DF59B322}"/>
                  </a:ext>
                </a:extLst>
              </p:cNvPr>
              <p:cNvSpPr>
                <a:spLocks noChangeShapeType="1"/>
              </p:cNvSpPr>
              <p:nvPr/>
            </p:nvSpPr>
            <p:spPr bwMode="auto">
              <a:xfrm>
                <a:off x="4760" y="2723"/>
                <a:ext cx="0" cy="186"/>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33" name="Text Box 31">
                <a:extLst>
                  <a:ext uri="{FF2B5EF4-FFF2-40B4-BE49-F238E27FC236}">
                    <a16:creationId xmlns:a16="http://schemas.microsoft.com/office/drawing/2014/main" id="{CFAA522E-3606-8641-B4A0-DAB429F0EC4A}"/>
                  </a:ext>
                </a:extLst>
              </p:cNvPr>
              <p:cNvSpPr txBox="1">
                <a:spLocks noChangeArrowheads="1"/>
              </p:cNvSpPr>
              <p:nvPr/>
            </p:nvSpPr>
            <p:spPr bwMode="auto">
              <a:xfrm>
                <a:off x="4150" y="3370"/>
                <a:ext cx="998" cy="278"/>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zh-CN" altLang="en-US" sz="2000">
                    <a:solidFill>
                      <a:schemeClr val="bg2"/>
                    </a:solidFill>
                    <a:ea typeface="华文中宋" panose="02010600040101010101" pitchFamily="2" charset="-122"/>
                  </a:rPr>
                  <a:t>是或不是</a:t>
                </a:r>
              </a:p>
            </p:txBody>
          </p:sp>
          <p:sp>
            <p:nvSpPr>
              <p:cNvPr id="68634" name="Line 32">
                <a:extLst>
                  <a:ext uri="{FF2B5EF4-FFF2-40B4-BE49-F238E27FC236}">
                    <a16:creationId xmlns:a16="http://schemas.microsoft.com/office/drawing/2014/main" id="{F98EB154-4961-9946-A5DF-2CA630DE534A}"/>
                  </a:ext>
                </a:extLst>
              </p:cNvPr>
              <p:cNvSpPr>
                <a:spLocks noChangeShapeType="1"/>
              </p:cNvSpPr>
              <p:nvPr/>
            </p:nvSpPr>
            <p:spPr bwMode="auto">
              <a:xfrm>
                <a:off x="4760" y="3184"/>
                <a:ext cx="0" cy="186"/>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35" name="Text Box 34">
                <a:extLst>
                  <a:ext uri="{FF2B5EF4-FFF2-40B4-BE49-F238E27FC236}">
                    <a16:creationId xmlns:a16="http://schemas.microsoft.com/office/drawing/2014/main" id="{776A54A6-9153-254E-A08D-41DC6E54F284}"/>
                  </a:ext>
                </a:extLst>
              </p:cNvPr>
              <p:cNvSpPr txBox="1">
                <a:spLocks noChangeArrowheads="1"/>
              </p:cNvSpPr>
              <p:nvPr/>
            </p:nvSpPr>
            <p:spPr bwMode="auto">
              <a:xfrm>
                <a:off x="3028" y="3091"/>
                <a:ext cx="650" cy="27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just" eaLnBrk="1" hangingPunct="1">
                  <a:lnSpc>
                    <a:spcPct val="90000"/>
                  </a:lnSpc>
                </a:pPr>
                <a:r>
                  <a:rPr lang="en-US" altLang="zh-CN" sz="2000">
                    <a:solidFill>
                      <a:schemeClr val="bg2"/>
                    </a:solidFill>
                  </a:rPr>
                  <a:t>    </a:t>
                </a:r>
              </a:p>
              <a:p>
                <a:pPr algn="just" eaLnBrk="1" hangingPunct="1">
                  <a:lnSpc>
                    <a:spcPct val="90000"/>
                  </a:lnSpc>
                </a:pPr>
                <a:endParaRPr lang="en-US" altLang="zh-CN" sz="2000">
                  <a:solidFill>
                    <a:schemeClr val="bg2"/>
                  </a:solidFill>
                </a:endParaRPr>
              </a:p>
              <a:p>
                <a:pPr eaLnBrk="1" hangingPunct="1">
                  <a:lnSpc>
                    <a:spcPct val="90000"/>
                  </a:lnSpc>
                </a:pPr>
                <a:endParaRPr lang="en-US" altLang="zh-CN" sz="2000">
                  <a:solidFill>
                    <a:schemeClr val="bg2"/>
                  </a:solidFill>
                </a:endParaRPr>
              </a:p>
            </p:txBody>
          </p:sp>
          <p:sp>
            <p:nvSpPr>
              <p:cNvPr id="68636" name="Line 35">
                <a:extLst>
                  <a:ext uri="{FF2B5EF4-FFF2-40B4-BE49-F238E27FC236}">
                    <a16:creationId xmlns:a16="http://schemas.microsoft.com/office/drawing/2014/main" id="{A4505BA3-3400-2A45-9CE8-2EF8BF8EADB5}"/>
                  </a:ext>
                </a:extLst>
              </p:cNvPr>
              <p:cNvSpPr>
                <a:spLocks noChangeShapeType="1"/>
              </p:cNvSpPr>
              <p:nvPr/>
            </p:nvSpPr>
            <p:spPr bwMode="auto">
              <a:xfrm>
                <a:off x="3353" y="3091"/>
                <a:ext cx="0" cy="27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37" name="Line 36">
                <a:extLst>
                  <a:ext uri="{FF2B5EF4-FFF2-40B4-BE49-F238E27FC236}">
                    <a16:creationId xmlns:a16="http://schemas.microsoft.com/office/drawing/2014/main" id="{C10F5892-D703-D645-AF8B-B359B4D944C4}"/>
                  </a:ext>
                </a:extLst>
              </p:cNvPr>
              <p:cNvSpPr>
                <a:spLocks noChangeShapeType="1"/>
              </p:cNvSpPr>
              <p:nvPr/>
            </p:nvSpPr>
            <p:spPr bwMode="auto">
              <a:xfrm flipV="1">
                <a:off x="3461" y="3370"/>
                <a:ext cx="0" cy="186"/>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38" name="Line 37">
                <a:extLst>
                  <a:ext uri="{FF2B5EF4-FFF2-40B4-BE49-F238E27FC236}">
                    <a16:creationId xmlns:a16="http://schemas.microsoft.com/office/drawing/2014/main" id="{68A86DB1-D468-F549-A939-4BED5951CE7F}"/>
                  </a:ext>
                </a:extLst>
              </p:cNvPr>
              <p:cNvSpPr>
                <a:spLocks noChangeShapeType="1"/>
              </p:cNvSpPr>
              <p:nvPr/>
            </p:nvSpPr>
            <p:spPr bwMode="auto">
              <a:xfrm flipH="1">
                <a:off x="1080" y="3556"/>
                <a:ext cx="238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39" name="Line 38">
                <a:extLst>
                  <a:ext uri="{FF2B5EF4-FFF2-40B4-BE49-F238E27FC236}">
                    <a16:creationId xmlns:a16="http://schemas.microsoft.com/office/drawing/2014/main" id="{DC9D566C-4E1A-5A4C-8650-D22626060EBF}"/>
                  </a:ext>
                </a:extLst>
              </p:cNvPr>
              <p:cNvSpPr>
                <a:spLocks noChangeShapeType="1"/>
              </p:cNvSpPr>
              <p:nvPr/>
            </p:nvSpPr>
            <p:spPr bwMode="auto">
              <a:xfrm flipV="1">
                <a:off x="1404" y="2720"/>
                <a:ext cx="0" cy="83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40" name="Line 39">
                <a:extLst>
                  <a:ext uri="{FF2B5EF4-FFF2-40B4-BE49-F238E27FC236}">
                    <a16:creationId xmlns:a16="http://schemas.microsoft.com/office/drawing/2014/main" id="{92FFC17C-E320-EB48-BB77-739C251575C9}"/>
                  </a:ext>
                </a:extLst>
              </p:cNvPr>
              <p:cNvSpPr>
                <a:spLocks noChangeShapeType="1"/>
              </p:cNvSpPr>
              <p:nvPr/>
            </p:nvSpPr>
            <p:spPr bwMode="auto">
              <a:xfrm>
                <a:off x="1404" y="2720"/>
                <a:ext cx="217"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41" name="Line 40">
                <a:extLst>
                  <a:ext uri="{FF2B5EF4-FFF2-40B4-BE49-F238E27FC236}">
                    <a16:creationId xmlns:a16="http://schemas.microsoft.com/office/drawing/2014/main" id="{5D0DDF8A-27E2-0947-9093-951082C332DB}"/>
                  </a:ext>
                </a:extLst>
              </p:cNvPr>
              <p:cNvSpPr>
                <a:spLocks noChangeShapeType="1"/>
              </p:cNvSpPr>
              <p:nvPr/>
            </p:nvSpPr>
            <p:spPr bwMode="auto">
              <a:xfrm>
                <a:off x="1080" y="2627"/>
                <a:ext cx="541"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42" name="Line 41">
                <a:extLst>
                  <a:ext uri="{FF2B5EF4-FFF2-40B4-BE49-F238E27FC236}">
                    <a16:creationId xmlns:a16="http://schemas.microsoft.com/office/drawing/2014/main" id="{770B20FE-AAA6-8040-AB76-9A28AB78C29C}"/>
                  </a:ext>
                </a:extLst>
              </p:cNvPr>
              <p:cNvSpPr>
                <a:spLocks noChangeShapeType="1"/>
              </p:cNvSpPr>
              <p:nvPr/>
            </p:nvSpPr>
            <p:spPr bwMode="auto">
              <a:xfrm>
                <a:off x="2162" y="2348"/>
                <a:ext cx="86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43" name="Line 42">
                <a:extLst>
                  <a:ext uri="{FF2B5EF4-FFF2-40B4-BE49-F238E27FC236}">
                    <a16:creationId xmlns:a16="http://schemas.microsoft.com/office/drawing/2014/main" id="{84E29528-B174-7348-AF3D-593D0612532B}"/>
                  </a:ext>
                </a:extLst>
              </p:cNvPr>
              <p:cNvSpPr>
                <a:spLocks noChangeShapeType="1"/>
              </p:cNvSpPr>
              <p:nvPr/>
            </p:nvSpPr>
            <p:spPr bwMode="auto">
              <a:xfrm>
                <a:off x="2162" y="2348"/>
                <a:ext cx="0" cy="55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44" name="Line 43">
                <a:extLst>
                  <a:ext uri="{FF2B5EF4-FFF2-40B4-BE49-F238E27FC236}">
                    <a16:creationId xmlns:a16="http://schemas.microsoft.com/office/drawing/2014/main" id="{57284907-9ED9-914B-8C2F-E0AADFD1B012}"/>
                  </a:ext>
                </a:extLst>
              </p:cNvPr>
              <p:cNvSpPr>
                <a:spLocks noChangeShapeType="1"/>
              </p:cNvSpPr>
              <p:nvPr/>
            </p:nvSpPr>
            <p:spPr bwMode="auto">
              <a:xfrm>
                <a:off x="2054" y="3184"/>
                <a:ext cx="0" cy="9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45" name="Line 44">
                <a:extLst>
                  <a:ext uri="{FF2B5EF4-FFF2-40B4-BE49-F238E27FC236}">
                    <a16:creationId xmlns:a16="http://schemas.microsoft.com/office/drawing/2014/main" id="{03D49357-AF5B-064D-9114-3890A3FBD31A}"/>
                  </a:ext>
                </a:extLst>
              </p:cNvPr>
              <p:cNvSpPr>
                <a:spLocks noChangeShapeType="1"/>
              </p:cNvSpPr>
              <p:nvPr/>
            </p:nvSpPr>
            <p:spPr bwMode="auto">
              <a:xfrm flipH="1">
                <a:off x="2054" y="3277"/>
                <a:ext cx="97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46" name="Line 45">
                <a:extLst>
                  <a:ext uri="{FF2B5EF4-FFF2-40B4-BE49-F238E27FC236}">
                    <a16:creationId xmlns:a16="http://schemas.microsoft.com/office/drawing/2014/main" id="{84CCDB54-AB22-A949-A1C9-27A0B4565972}"/>
                  </a:ext>
                </a:extLst>
              </p:cNvPr>
              <p:cNvSpPr>
                <a:spLocks noChangeShapeType="1"/>
              </p:cNvSpPr>
              <p:nvPr/>
            </p:nvSpPr>
            <p:spPr bwMode="auto">
              <a:xfrm>
                <a:off x="3461" y="2255"/>
                <a:ext cx="974" cy="0"/>
              </a:xfrm>
              <a:prstGeom prst="line">
                <a:avLst/>
              </a:prstGeom>
              <a:noFill/>
              <a:ln w="3810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8647" name="Line 46">
                <a:extLst>
                  <a:ext uri="{FF2B5EF4-FFF2-40B4-BE49-F238E27FC236}">
                    <a16:creationId xmlns:a16="http://schemas.microsoft.com/office/drawing/2014/main" id="{A75F1C0F-1A5F-B14D-A760-E670BC36D509}"/>
                  </a:ext>
                </a:extLst>
              </p:cNvPr>
              <p:cNvSpPr>
                <a:spLocks noChangeShapeType="1"/>
              </p:cNvSpPr>
              <p:nvPr/>
            </p:nvSpPr>
            <p:spPr bwMode="auto">
              <a:xfrm>
                <a:off x="4435" y="2255"/>
                <a:ext cx="0" cy="186"/>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48" name="Line 47">
                <a:extLst>
                  <a:ext uri="{FF2B5EF4-FFF2-40B4-BE49-F238E27FC236}">
                    <a16:creationId xmlns:a16="http://schemas.microsoft.com/office/drawing/2014/main" id="{A3232E77-3FCF-0D4D-8A08-EDE972384E0C}"/>
                  </a:ext>
                </a:extLst>
              </p:cNvPr>
              <p:cNvSpPr>
                <a:spLocks noChangeShapeType="1"/>
              </p:cNvSpPr>
              <p:nvPr/>
            </p:nvSpPr>
            <p:spPr bwMode="auto">
              <a:xfrm>
                <a:off x="4219" y="1976"/>
                <a:ext cx="0" cy="27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49" name="Line 48">
                <a:extLst>
                  <a:ext uri="{FF2B5EF4-FFF2-40B4-BE49-F238E27FC236}">
                    <a16:creationId xmlns:a16="http://schemas.microsoft.com/office/drawing/2014/main" id="{DD4AB630-838D-D242-95B9-3C62B9DCE0F3}"/>
                  </a:ext>
                </a:extLst>
              </p:cNvPr>
              <p:cNvSpPr>
                <a:spLocks noChangeShapeType="1"/>
              </p:cNvSpPr>
              <p:nvPr/>
            </p:nvSpPr>
            <p:spPr bwMode="auto">
              <a:xfrm>
                <a:off x="3245" y="2998"/>
                <a:ext cx="0" cy="9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50" name="Line 49">
                <a:extLst>
                  <a:ext uri="{FF2B5EF4-FFF2-40B4-BE49-F238E27FC236}">
                    <a16:creationId xmlns:a16="http://schemas.microsoft.com/office/drawing/2014/main" id="{008C8FD3-8EEA-D644-B75B-C7674C700EF7}"/>
                  </a:ext>
                </a:extLst>
              </p:cNvPr>
              <p:cNvSpPr>
                <a:spLocks noChangeShapeType="1"/>
              </p:cNvSpPr>
              <p:nvPr/>
            </p:nvSpPr>
            <p:spPr bwMode="auto">
              <a:xfrm>
                <a:off x="3245" y="2998"/>
                <a:ext cx="1190"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51" name="Text Box 50">
                <a:extLst>
                  <a:ext uri="{FF2B5EF4-FFF2-40B4-BE49-F238E27FC236}">
                    <a16:creationId xmlns:a16="http://schemas.microsoft.com/office/drawing/2014/main" id="{F20A59BF-70AE-0B42-8F3D-A0C3EF70A203}"/>
                  </a:ext>
                </a:extLst>
              </p:cNvPr>
              <p:cNvSpPr txBox="1">
                <a:spLocks noChangeArrowheads="1"/>
              </p:cNvSpPr>
              <p:nvPr/>
            </p:nvSpPr>
            <p:spPr bwMode="auto">
              <a:xfrm>
                <a:off x="3868" y="1864"/>
                <a:ext cx="298" cy="189"/>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endParaRPr lang="en-US" altLang="zh-CN" sz="2000">
                  <a:solidFill>
                    <a:schemeClr val="bg2"/>
                  </a:solidFill>
                </a:endParaRPr>
              </a:p>
              <a:p>
                <a:pPr algn="ctr" eaLnBrk="1" hangingPunct="1">
                  <a:lnSpc>
                    <a:spcPct val="90000"/>
                  </a:lnSpc>
                </a:pPr>
                <a:endParaRPr lang="en-US" altLang="zh-CN" sz="2000">
                  <a:solidFill>
                    <a:schemeClr val="bg2"/>
                  </a:solidFill>
                </a:endParaRPr>
              </a:p>
              <a:p>
                <a:pPr eaLnBrk="1" hangingPunct="1">
                  <a:lnSpc>
                    <a:spcPct val="90000"/>
                  </a:lnSpc>
                </a:pPr>
                <a:endParaRPr lang="en-US" altLang="zh-CN" sz="2000">
                  <a:solidFill>
                    <a:schemeClr val="bg2"/>
                  </a:solidFill>
                </a:endParaRPr>
              </a:p>
            </p:txBody>
          </p:sp>
          <p:sp>
            <p:nvSpPr>
              <p:cNvPr id="68652" name="Text Box 51">
                <a:extLst>
                  <a:ext uri="{FF2B5EF4-FFF2-40B4-BE49-F238E27FC236}">
                    <a16:creationId xmlns:a16="http://schemas.microsoft.com/office/drawing/2014/main" id="{FF44D47D-C1A4-A84B-AF18-20E2CEACFCB6}"/>
                  </a:ext>
                </a:extLst>
              </p:cNvPr>
              <p:cNvSpPr txBox="1">
                <a:spLocks noChangeArrowheads="1"/>
              </p:cNvSpPr>
              <p:nvPr/>
            </p:nvSpPr>
            <p:spPr bwMode="auto">
              <a:xfrm>
                <a:off x="4850" y="2727"/>
                <a:ext cx="162" cy="225"/>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sz="2000">
                    <a:solidFill>
                      <a:schemeClr val="bg2"/>
                    </a:solidFill>
                  </a:rPr>
                  <a:t>r</a:t>
                </a:r>
              </a:p>
            </p:txBody>
          </p:sp>
          <p:graphicFrame>
            <p:nvGraphicFramePr>
              <p:cNvPr id="68653" name="Object 53">
                <a:extLst>
                  <a:ext uri="{FF2B5EF4-FFF2-40B4-BE49-F238E27FC236}">
                    <a16:creationId xmlns:a16="http://schemas.microsoft.com/office/drawing/2014/main" id="{AC9C0143-94E4-204B-8ACA-88ED2692A19B}"/>
                  </a:ext>
                </a:extLst>
              </p:cNvPr>
              <p:cNvGraphicFramePr>
                <a:graphicFrameLocks noChangeAspect="1"/>
              </p:cNvGraphicFramePr>
              <p:nvPr/>
            </p:nvGraphicFramePr>
            <p:xfrm>
              <a:off x="884" y="2432"/>
              <a:ext cx="250" cy="262"/>
            </p:xfrm>
            <a:graphic>
              <a:graphicData uri="http://schemas.openxmlformats.org/presentationml/2006/ole">
                <mc:AlternateContent xmlns:mc="http://schemas.openxmlformats.org/markup-compatibility/2006">
                  <mc:Choice xmlns:v="urn:schemas-microsoft-com:vml" Requires="v">
                    <p:oleObj name="Equation" r:id="rId2" imgW="4394200" imgH="4686300" progId="Equation.DSMT4">
                      <p:embed/>
                    </p:oleObj>
                  </mc:Choice>
                  <mc:Fallback>
                    <p:oleObj name="Equation" r:id="rId2" imgW="4394200" imgH="4686300" progId="Equation.DSMT4">
                      <p:embed/>
                      <p:pic>
                        <p:nvPicPr>
                          <p:cNvPr id="0" name="Object 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 y="2432"/>
                            <a:ext cx="250"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54" name="Object 55">
                <a:extLst>
                  <a:ext uri="{FF2B5EF4-FFF2-40B4-BE49-F238E27FC236}">
                    <a16:creationId xmlns:a16="http://schemas.microsoft.com/office/drawing/2014/main" id="{22535B3F-336D-424B-A747-1AEF04E30A08}"/>
                  </a:ext>
                </a:extLst>
              </p:cNvPr>
              <p:cNvGraphicFramePr>
                <a:graphicFrameLocks noChangeAspect="1"/>
              </p:cNvGraphicFramePr>
              <p:nvPr/>
            </p:nvGraphicFramePr>
            <p:xfrm>
              <a:off x="839" y="3407"/>
              <a:ext cx="224" cy="250"/>
            </p:xfrm>
            <a:graphic>
              <a:graphicData uri="http://schemas.openxmlformats.org/presentationml/2006/ole">
                <mc:AlternateContent xmlns:mc="http://schemas.openxmlformats.org/markup-compatibility/2006">
                  <mc:Choice xmlns:v="urn:schemas-microsoft-com:vml" Requires="v">
                    <p:oleObj name="Equation" r:id="rId4" imgW="3797300" imgH="4102100" progId="Equation.DSMT4">
                      <p:embed/>
                    </p:oleObj>
                  </mc:Choice>
                  <mc:Fallback>
                    <p:oleObj name="Equation" r:id="rId4" imgW="3797300" imgH="4102100" progId="Equation.DSMT4">
                      <p:embed/>
                      <p:pic>
                        <p:nvPicPr>
                          <p:cNvPr id="0" name="Object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9" y="3407"/>
                            <a:ext cx="2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55" name="Object 57">
                <a:extLst>
                  <a:ext uri="{FF2B5EF4-FFF2-40B4-BE49-F238E27FC236}">
                    <a16:creationId xmlns:a16="http://schemas.microsoft.com/office/drawing/2014/main" id="{26F57BE2-53FA-5948-B731-781BE0F12627}"/>
                  </a:ext>
                </a:extLst>
              </p:cNvPr>
              <p:cNvGraphicFramePr>
                <a:graphicFrameLocks noChangeAspect="1"/>
              </p:cNvGraphicFramePr>
              <p:nvPr/>
            </p:nvGraphicFramePr>
            <p:xfrm>
              <a:off x="1655" y="2568"/>
              <a:ext cx="207" cy="272"/>
            </p:xfrm>
            <a:graphic>
              <a:graphicData uri="http://schemas.openxmlformats.org/presentationml/2006/ole">
                <mc:AlternateContent xmlns:mc="http://schemas.openxmlformats.org/markup-compatibility/2006">
                  <mc:Choice xmlns:v="urn:schemas-microsoft-com:vml" Requires="v">
                    <p:oleObj name="Equation" r:id="rId6" imgW="3505200" imgH="4686300" progId="Equation.DSMT4">
                      <p:embed/>
                    </p:oleObj>
                  </mc:Choice>
                  <mc:Fallback>
                    <p:oleObj name="Equation" r:id="rId6" imgW="3505200" imgH="4686300" progId="Equation.DSMT4">
                      <p:embed/>
                      <p:pic>
                        <p:nvPicPr>
                          <p:cNvPr id="0" name="Object 5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5" y="2568"/>
                            <a:ext cx="20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56" name="Object 59">
                <a:extLst>
                  <a:ext uri="{FF2B5EF4-FFF2-40B4-BE49-F238E27FC236}">
                    <a16:creationId xmlns:a16="http://schemas.microsoft.com/office/drawing/2014/main" id="{EE189478-432B-E94E-ABC1-3FC192A094A9}"/>
                  </a:ext>
                </a:extLst>
              </p:cNvPr>
              <p:cNvGraphicFramePr>
                <a:graphicFrameLocks noChangeAspect="1"/>
              </p:cNvGraphicFramePr>
              <p:nvPr/>
            </p:nvGraphicFramePr>
            <p:xfrm>
              <a:off x="1973" y="2931"/>
              <a:ext cx="155" cy="227"/>
            </p:xfrm>
            <a:graphic>
              <a:graphicData uri="http://schemas.openxmlformats.org/presentationml/2006/ole">
                <mc:AlternateContent xmlns:mc="http://schemas.openxmlformats.org/markup-compatibility/2006">
                  <mc:Choice xmlns:v="urn:schemas-microsoft-com:vml" Requires="v">
                    <p:oleObj name="Equation" r:id="rId8" imgW="2921000" imgH="4102100" progId="Equation.DSMT4">
                      <p:embed/>
                    </p:oleObj>
                  </mc:Choice>
                  <mc:Fallback>
                    <p:oleObj name="Equation" r:id="rId8" imgW="2921000" imgH="4102100" progId="Equation.DSMT4">
                      <p:embed/>
                      <p:pic>
                        <p:nvPicPr>
                          <p:cNvPr id="0" name="Object 5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3" y="2931"/>
                            <a:ext cx="155"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57" name="Object 61">
                <a:extLst>
                  <a:ext uri="{FF2B5EF4-FFF2-40B4-BE49-F238E27FC236}">
                    <a16:creationId xmlns:a16="http://schemas.microsoft.com/office/drawing/2014/main" id="{CA62DAEB-94B8-1C4F-B0D9-252C666793C0}"/>
                  </a:ext>
                </a:extLst>
              </p:cNvPr>
              <p:cNvGraphicFramePr>
                <a:graphicFrameLocks noChangeAspect="1"/>
              </p:cNvGraphicFramePr>
              <p:nvPr/>
            </p:nvGraphicFramePr>
            <p:xfrm>
              <a:off x="3061" y="3113"/>
              <a:ext cx="212" cy="226"/>
            </p:xfrm>
            <a:graphic>
              <a:graphicData uri="http://schemas.openxmlformats.org/presentationml/2006/ole">
                <mc:AlternateContent xmlns:mc="http://schemas.openxmlformats.org/markup-compatibility/2006">
                  <mc:Choice xmlns:v="urn:schemas-microsoft-com:vml" Requires="v">
                    <p:oleObj name="Equation" r:id="rId10" imgW="3505200" imgH="3797300" progId="Equation.DSMT4">
                      <p:embed/>
                    </p:oleObj>
                  </mc:Choice>
                  <mc:Fallback>
                    <p:oleObj name="Equation" r:id="rId10" imgW="3505200" imgH="3797300" progId="Equation.DSMT4">
                      <p:embed/>
                      <p:pic>
                        <p:nvPicPr>
                          <p:cNvPr id="0" name="Object 6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61" y="3113"/>
                            <a:ext cx="21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58" name="Object 63">
                <a:extLst>
                  <a:ext uri="{FF2B5EF4-FFF2-40B4-BE49-F238E27FC236}">
                    <a16:creationId xmlns:a16="http://schemas.microsoft.com/office/drawing/2014/main" id="{941E8B0C-3D6F-D54E-9922-70364841613C}"/>
                  </a:ext>
                </a:extLst>
              </p:cNvPr>
              <p:cNvGraphicFramePr>
                <a:graphicFrameLocks noChangeAspect="1"/>
              </p:cNvGraphicFramePr>
              <p:nvPr/>
            </p:nvGraphicFramePr>
            <p:xfrm>
              <a:off x="3403" y="3113"/>
              <a:ext cx="203" cy="227"/>
            </p:xfrm>
            <a:graphic>
              <a:graphicData uri="http://schemas.openxmlformats.org/presentationml/2006/ole">
                <mc:AlternateContent xmlns:mc="http://schemas.openxmlformats.org/markup-compatibility/2006">
                  <mc:Choice xmlns:v="urn:schemas-microsoft-com:vml" Requires="v">
                    <p:oleObj name="Equation" r:id="rId12" imgW="3797300" imgH="4102100" progId="Equation.DSMT4">
                      <p:embed/>
                    </p:oleObj>
                  </mc:Choice>
                  <mc:Fallback>
                    <p:oleObj name="Equation" r:id="rId12" imgW="3797300" imgH="4102100" progId="Equation.DSMT4">
                      <p:embed/>
                      <p:pic>
                        <p:nvPicPr>
                          <p:cNvPr id="0" name="Object 6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03" y="3113"/>
                            <a:ext cx="20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59" name="Object 65">
                <a:extLst>
                  <a:ext uri="{FF2B5EF4-FFF2-40B4-BE49-F238E27FC236}">
                    <a16:creationId xmlns:a16="http://schemas.microsoft.com/office/drawing/2014/main" id="{1B4378FA-7BE0-1247-8ACF-FC4ABBE959E0}"/>
                  </a:ext>
                </a:extLst>
              </p:cNvPr>
              <p:cNvGraphicFramePr>
                <a:graphicFrameLocks noChangeAspect="1"/>
              </p:cNvGraphicFramePr>
              <p:nvPr/>
            </p:nvGraphicFramePr>
            <p:xfrm>
              <a:off x="4014" y="1888"/>
              <a:ext cx="157" cy="181"/>
            </p:xfrm>
            <a:graphic>
              <a:graphicData uri="http://schemas.openxmlformats.org/presentationml/2006/ole">
                <mc:AlternateContent xmlns:mc="http://schemas.openxmlformats.org/markup-compatibility/2006">
                  <mc:Choice xmlns:v="urn:schemas-microsoft-com:vml" Requires="v">
                    <p:oleObj name="Equation" r:id="rId14" imgW="2921000" imgH="3213100" progId="Equation.DSMT4">
                      <p:embed/>
                    </p:oleObj>
                  </mc:Choice>
                  <mc:Fallback>
                    <p:oleObj name="Equation" r:id="rId14" imgW="2921000" imgH="3213100" progId="Equation.DSMT4">
                      <p:embed/>
                      <p:pic>
                        <p:nvPicPr>
                          <p:cNvPr id="0" name="Object 6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14" y="1888"/>
                            <a:ext cx="15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60" name="Object 67">
                <a:extLst>
                  <a:ext uri="{FF2B5EF4-FFF2-40B4-BE49-F238E27FC236}">
                    <a16:creationId xmlns:a16="http://schemas.microsoft.com/office/drawing/2014/main" id="{C2A7298B-A14E-0B42-8C36-A034F454D7F3}"/>
                  </a:ext>
                </a:extLst>
              </p:cNvPr>
              <p:cNvGraphicFramePr>
                <a:graphicFrameLocks noChangeAspect="1"/>
              </p:cNvGraphicFramePr>
              <p:nvPr/>
            </p:nvGraphicFramePr>
            <p:xfrm>
              <a:off x="4377" y="1933"/>
              <a:ext cx="203" cy="227"/>
            </p:xfrm>
            <a:graphic>
              <a:graphicData uri="http://schemas.openxmlformats.org/presentationml/2006/ole">
                <mc:AlternateContent xmlns:mc="http://schemas.openxmlformats.org/markup-compatibility/2006">
                  <mc:Choice xmlns:v="urn:schemas-microsoft-com:vml" Requires="v">
                    <p:oleObj name="Equation" r:id="rId16" imgW="3797300" imgH="4102100" progId="Equation.DSMT4">
                      <p:embed/>
                    </p:oleObj>
                  </mc:Choice>
                  <mc:Fallback>
                    <p:oleObj name="Equation" r:id="rId16" imgW="3797300" imgH="4102100" progId="Equation.DSMT4">
                      <p:embed/>
                      <p:pic>
                        <p:nvPicPr>
                          <p:cNvPr id="0" name="Object 6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77" y="1933"/>
                            <a:ext cx="20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61" name="Object 69">
                <a:extLst>
                  <a:ext uri="{FF2B5EF4-FFF2-40B4-BE49-F238E27FC236}">
                    <a16:creationId xmlns:a16="http://schemas.microsoft.com/office/drawing/2014/main" id="{C4DC43BB-B607-2546-9F48-FFEC2E8AC5DE}"/>
                  </a:ext>
                </a:extLst>
              </p:cNvPr>
              <p:cNvGraphicFramePr>
                <a:graphicFrameLocks noChangeAspect="1"/>
              </p:cNvGraphicFramePr>
              <p:nvPr/>
            </p:nvGraphicFramePr>
            <p:xfrm>
              <a:off x="4694" y="1888"/>
              <a:ext cx="208" cy="272"/>
            </p:xfrm>
            <a:graphic>
              <a:graphicData uri="http://schemas.openxmlformats.org/presentationml/2006/ole">
                <mc:AlternateContent xmlns:mc="http://schemas.openxmlformats.org/markup-compatibility/2006">
                  <mc:Choice xmlns:v="urn:schemas-microsoft-com:vml" Requires="v">
                    <p:oleObj name="Equation" r:id="rId17" imgW="2921000" imgH="3797300" progId="Equation.DSMT4">
                      <p:embed/>
                    </p:oleObj>
                  </mc:Choice>
                  <mc:Fallback>
                    <p:oleObj name="Equation" r:id="rId17" imgW="2921000" imgH="3797300" progId="Equation.DSMT4">
                      <p:embed/>
                      <p:pic>
                        <p:nvPicPr>
                          <p:cNvPr id="0" name="Object 6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94" y="1888"/>
                            <a:ext cx="20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C9FA7B36-0E92-654C-9C93-E1C233E42509}"/>
              </a:ext>
            </a:extLst>
          </p:cNvPr>
          <p:cNvSpPr>
            <a:spLocks noChangeArrowheads="1"/>
          </p:cNvSpPr>
          <p:nvPr/>
        </p:nvSpPr>
        <p:spPr bwMode="auto">
          <a:xfrm>
            <a:off x="685800" y="3348038"/>
            <a:ext cx="8286750"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zh-CN" altLang="en-US" sz="2800">
                <a:solidFill>
                  <a:schemeClr val="bg2"/>
                </a:solidFill>
                <a:ea typeface="华文中宋" panose="02010600040101010101" pitchFamily="2" charset="-122"/>
              </a:rPr>
              <a:t>质询</a:t>
            </a:r>
            <a:r>
              <a:rPr lang="en-US" altLang="zh-CN" sz="2800">
                <a:solidFill>
                  <a:schemeClr val="bg2"/>
                </a:solidFill>
                <a:latin typeface="华文中宋" panose="02010600040101010101" pitchFamily="2" charset="-122"/>
                <a:ea typeface="华文中宋" panose="02010600040101010101" pitchFamily="2" charset="-122"/>
              </a:rPr>
              <a:t>—</a:t>
            </a:r>
            <a:r>
              <a:rPr lang="zh-CN" altLang="en-US" sz="2800">
                <a:solidFill>
                  <a:schemeClr val="bg2"/>
                </a:solidFill>
                <a:ea typeface="华文中宋" panose="02010600040101010101" pitchFamily="2" charset="-122"/>
              </a:rPr>
              <a:t>响应的身份鉴别，其安全性取决于</a:t>
            </a:r>
          </a:p>
          <a:p>
            <a:pPr lvl="2" eaLnBrk="1" hangingPunct="1">
              <a:lnSpc>
                <a:spcPct val="90000"/>
              </a:lnSpc>
              <a:buClr>
                <a:srgbClr val="000099"/>
              </a:buClr>
              <a:buSzPct val="70000"/>
              <a:buFont typeface="Wingdings" pitchFamily="2" charset="2"/>
              <a:buChar char="n"/>
            </a:pPr>
            <a:r>
              <a:rPr lang="zh-CN" altLang="en-US" sz="2800">
                <a:solidFill>
                  <a:srgbClr val="0000FF"/>
                </a:solidFill>
                <a:ea typeface="华文中宋" panose="02010600040101010101" pitchFamily="2" charset="-122"/>
              </a:rPr>
              <a:t>散列函数的安全性；</a:t>
            </a:r>
          </a:p>
          <a:p>
            <a:pPr lvl="2" eaLnBrk="1" hangingPunct="1">
              <a:lnSpc>
                <a:spcPct val="90000"/>
              </a:lnSpc>
              <a:buClr>
                <a:srgbClr val="000099"/>
              </a:buClr>
              <a:buSzPct val="70000"/>
              <a:buFont typeface="Wingdings" pitchFamily="2" charset="2"/>
              <a:buChar char="n"/>
            </a:pPr>
            <a:r>
              <a:rPr lang="zh-CN" altLang="en-US" sz="2800">
                <a:solidFill>
                  <a:srgbClr val="0000FF"/>
                </a:solidFill>
                <a:ea typeface="华文中宋" panose="02010600040101010101" pitchFamily="2" charset="-122"/>
              </a:rPr>
              <a:t>由于是单向鉴别，还存在着验证者的假冒和重放攻击。</a:t>
            </a:r>
          </a:p>
        </p:txBody>
      </p:sp>
      <p:sp>
        <p:nvSpPr>
          <p:cNvPr id="67587" name="Rectangle 4">
            <a:extLst>
              <a:ext uri="{FF2B5EF4-FFF2-40B4-BE49-F238E27FC236}">
                <a16:creationId xmlns:a16="http://schemas.microsoft.com/office/drawing/2014/main" id="{A5B7BA30-0E58-7146-95DA-21EB65E1AA5D}"/>
              </a:ext>
            </a:extLst>
          </p:cNvPr>
          <p:cNvSpPr>
            <a:spLocks noChangeArrowheads="1"/>
          </p:cNvSpPr>
          <p:nvPr/>
        </p:nvSpPr>
        <p:spPr bwMode="auto">
          <a:xfrm>
            <a:off x="533400" y="814388"/>
            <a:ext cx="6048375" cy="534987"/>
          </a:xfrm>
          <a:prstGeom prst="rect">
            <a:avLst/>
          </a:prstGeom>
          <a:noFill/>
          <a:ln>
            <a:noFill/>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defRPr/>
            </a:pPr>
            <a:r>
              <a:rPr lang="zh-CN" altLang="en-US" sz="32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基于质询－应答的身份鉴别技术</a:t>
            </a:r>
          </a:p>
        </p:txBody>
      </p:sp>
      <p:sp>
        <p:nvSpPr>
          <p:cNvPr id="2" name="矩形 1">
            <a:extLst>
              <a:ext uri="{FF2B5EF4-FFF2-40B4-BE49-F238E27FC236}">
                <a16:creationId xmlns:a16="http://schemas.microsoft.com/office/drawing/2014/main" id="{D02B54D0-5ED9-894A-A7BB-21E272DB883B}"/>
              </a:ext>
            </a:extLst>
          </p:cNvPr>
          <p:cNvSpPr>
            <a:spLocks noChangeArrowheads="1"/>
          </p:cNvSpPr>
          <p:nvPr/>
        </p:nvSpPr>
        <p:spPr bwMode="auto">
          <a:xfrm>
            <a:off x="609600" y="1563688"/>
            <a:ext cx="80010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buFont typeface="Wingdings" pitchFamily="2" charset="2"/>
              <a:buChar char="n"/>
            </a:pPr>
            <a:r>
              <a:rPr lang="zh-CN" altLang="en-US" sz="2400">
                <a:solidFill>
                  <a:schemeClr val="bg2"/>
                </a:solidFill>
                <a:ea typeface="华文中宋" panose="02010600040101010101" pitchFamily="2" charset="-122"/>
              </a:rPr>
              <a:t>产生非重复值的能力完全掌握在验证者手中。提供了一种很好的重放检测能力。</a:t>
            </a:r>
            <a:endParaRPr lang="en-US" altLang="zh-CN" sz="2400">
              <a:solidFill>
                <a:schemeClr val="bg2"/>
              </a:solidFill>
              <a:ea typeface="华文中宋" panose="02010600040101010101" pitchFamily="2" charset="-122"/>
            </a:endParaRPr>
          </a:p>
          <a:p>
            <a:pPr eaLnBrk="1" hangingPunct="1">
              <a:buFont typeface="Wingdings" pitchFamily="2" charset="2"/>
              <a:buChar char="n"/>
            </a:pPr>
            <a:r>
              <a:rPr lang="zh-CN" altLang="en-US" sz="2400">
                <a:solidFill>
                  <a:schemeClr val="bg2"/>
                </a:solidFill>
                <a:ea typeface="华文中宋" panose="02010600040101010101" pitchFamily="2" charset="-122"/>
              </a:rPr>
              <a:t>附加的复杂协议意味着这种机制不能与传统的简单口令协议结合使用。</a:t>
            </a:r>
          </a:p>
        </p:txBody>
      </p:sp>
      <p:sp>
        <p:nvSpPr>
          <p:cNvPr id="3" name="矩形 2">
            <a:extLst>
              <a:ext uri="{FF2B5EF4-FFF2-40B4-BE49-F238E27FC236}">
                <a16:creationId xmlns:a16="http://schemas.microsoft.com/office/drawing/2014/main" id="{3A914E83-6384-854F-9A99-06AB59E09F25}"/>
              </a:ext>
            </a:extLst>
          </p:cNvPr>
          <p:cNvSpPr>
            <a:spLocks noChangeArrowheads="1"/>
          </p:cNvSpPr>
          <p:nvPr/>
        </p:nvSpPr>
        <p:spPr bwMode="auto">
          <a:xfrm>
            <a:off x="990600" y="5181600"/>
            <a:ext cx="6781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r>
              <a:rPr lang="zh-CN" altLang="en-US" sz="2800">
                <a:ea typeface="华文中宋" panose="02010600040101010101" pitchFamily="2" charset="-122"/>
              </a:rPr>
              <a:t>这可以通过双向鉴别或时间戳来解决。</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2" presetClass="entr" presetSubtype="8" fill="hold" grpId="0" nodeType="afterEffect">
                                  <p:stCondLst>
                                    <p:cond delay="0"/>
                                  </p:stCondLst>
                                  <p:childTnLst>
                                    <p:set>
                                      <p:cBhvr>
                                        <p:cTn id="12" dur="1" fill="hold">
                                          <p:stCondLst>
                                            <p:cond delay="0"/>
                                          </p:stCondLst>
                                        </p:cTn>
                                        <p:tgtEl>
                                          <p:spTgt spid="67586"/>
                                        </p:tgtEl>
                                        <p:attrNameLst>
                                          <p:attrName>style.visibility</p:attrName>
                                        </p:attrNameLst>
                                      </p:cBhvr>
                                      <p:to>
                                        <p:strVal val="visible"/>
                                      </p:to>
                                    </p:set>
                                    <p:anim calcmode="lin" valueType="num">
                                      <p:cBhvr additive="base">
                                        <p:cTn id="13" dur="1000" fill="hold"/>
                                        <p:tgtEl>
                                          <p:spTgt spid="67586"/>
                                        </p:tgtEl>
                                        <p:attrNameLst>
                                          <p:attrName>ppt_x</p:attrName>
                                        </p:attrNameLst>
                                      </p:cBhvr>
                                      <p:tavLst>
                                        <p:tav tm="0">
                                          <p:val>
                                            <p:strVal val="0-#ppt_w/2"/>
                                          </p:val>
                                        </p:tav>
                                        <p:tav tm="100000">
                                          <p:val>
                                            <p:strVal val="#ppt_x"/>
                                          </p:val>
                                        </p:tav>
                                      </p:tavLst>
                                    </p:anim>
                                    <p:anim calcmode="lin" valueType="num">
                                      <p:cBhvr additive="base">
                                        <p:cTn id="14" dur="1000" fill="hold"/>
                                        <p:tgtEl>
                                          <p:spTgt spid="67586"/>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15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p:bldP spid="2" grpId="0"/>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02" name="Rectangle 2">
            <a:extLst>
              <a:ext uri="{FF2B5EF4-FFF2-40B4-BE49-F238E27FC236}">
                <a16:creationId xmlns:a16="http://schemas.microsoft.com/office/drawing/2014/main" id="{1FF5B01F-10F8-984D-8398-688488AC7004}"/>
              </a:ext>
            </a:extLst>
          </p:cNvPr>
          <p:cNvSpPr>
            <a:spLocks noGrp="1" noChangeArrowheads="1"/>
          </p:cNvSpPr>
          <p:nvPr>
            <p:ph type="title"/>
          </p:nvPr>
        </p:nvSpPr>
        <p:spPr bwMode="auto">
          <a:xfrm>
            <a:off x="457200" y="762000"/>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en-US" altLang="zh-CN" sz="3200" kern="1200" dirty="0">
                <a:solidFill>
                  <a:srgbClr val="FF0000"/>
                </a:solidFill>
                <a:latin typeface="黑体" panose="02010609060101010101" pitchFamily="49" charset="-122"/>
                <a:ea typeface="黑体" panose="02010609060101010101" pitchFamily="49" charset="-122"/>
                <a:cs typeface="+mn-cs"/>
              </a:rPr>
              <a:t>C</a:t>
            </a:r>
            <a:r>
              <a:rPr kumimoji="1" lang="zh-CN" altLang="en-US" sz="3200" kern="1200" dirty="0">
                <a:solidFill>
                  <a:srgbClr val="FF0000"/>
                </a:solidFill>
                <a:latin typeface="黑体" panose="02010609060101010101" pitchFamily="49" charset="-122"/>
                <a:ea typeface="黑体" panose="02010609060101010101" pitchFamily="49" charset="-122"/>
                <a:cs typeface="+mn-cs"/>
              </a:rPr>
              <a:t>、基于地址的机制</a:t>
            </a:r>
          </a:p>
        </p:txBody>
      </p:sp>
      <p:sp>
        <p:nvSpPr>
          <p:cNvPr id="1382403" name="Rectangle 3">
            <a:extLst>
              <a:ext uri="{FF2B5EF4-FFF2-40B4-BE49-F238E27FC236}">
                <a16:creationId xmlns:a16="http://schemas.microsoft.com/office/drawing/2014/main" id="{85F1E949-6A54-F548-ADA6-A5CD8142EA7D}"/>
              </a:ext>
            </a:extLst>
          </p:cNvPr>
          <p:cNvSpPr>
            <a:spLocks noGrp="1" noChangeArrowheads="1"/>
          </p:cNvSpPr>
          <p:nvPr>
            <p:ph type="body" idx="1"/>
          </p:nvPr>
        </p:nvSpPr>
        <p:spPr bwMode="auto">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80000"/>
              </a:lnSpc>
              <a:buClr>
                <a:srgbClr val="A3651C"/>
              </a:buClr>
              <a:buFont typeface="Wingdings" pitchFamily="2" charset="2"/>
              <a:buChar char="u"/>
              <a:defRPr/>
            </a:pPr>
            <a:r>
              <a:rPr lang="zh-CN" altLang="en-US" sz="2400" dirty="0">
                <a:solidFill>
                  <a:schemeClr val="bg2"/>
                </a:solidFill>
                <a:ea typeface="宋体" panose="02010600030101010101" pitchFamily="2" charset="-122"/>
              </a:rPr>
              <a:t>基于地址的机制假定声称者的可鉴别性是以呼叫的源地址为基础的。</a:t>
            </a:r>
          </a:p>
          <a:p>
            <a:pPr eaLnBrk="1" hangingPunct="1">
              <a:lnSpc>
                <a:spcPct val="80000"/>
              </a:lnSpc>
              <a:buClr>
                <a:srgbClr val="A3651C"/>
              </a:buClr>
              <a:buFont typeface="Wingdings" pitchFamily="2" charset="2"/>
              <a:buChar char="u"/>
              <a:defRPr/>
            </a:pPr>
            <a:r>
              <a:rPr lang="zh-CN" altLang="en-US" sz="2400" dirty="0">
                <a:solidFill>
                  <a:schemeClr val="bg2"/>
                </a:solidFill>
                <a:ea typeface="宋体" panose="02010600030101010101" pitchFamily="2" charset="-122"/>
              </a:rPr>
              <a:t>在大多数的数据网络中，呼叫地址的辨别都是可行的。</a:t>
            </a:r>
          </a:p>
          <a:p>
            <a:pPr eaLnBrk="1" hangingPunct="1">
              <a:lnSpc>
                <a:spcPct val="80000"/>
              </a:lnSpc>
              <a:buClr>
                <a:srgbClr val="A3651C"/>
              </a:buClr>
              <a:buFont typeface="Wingdings" pitchFamily="2" charset="2"/>
              <a:buChar char="u"/>
              <a:defRPr/>
            </a:pPr>
            <a:r>
              <a:rPr lang="zh-CN" altLang="en-US" sz="2400" dirty="0">
                <a:solidFill>
                  <a:schemeClr val="bg2"/>
                </a:solidFill>
                <a:ea typeface="宋体" panose="02010600030101010101" pitchFamily="2" charset="-122"/>
              </a:rPr>
              <a:t>在不能可靠地辨别地址时，可以用一个质询</a:t>
            </a:r>
            <a:r>
              <a:rPr lang="en-US" altLang="zh-CN" sz="2400" dirty="0">
                <a:solidFill>
                  <a:schemeClr val="bg2"/>
                </a:solidFill>
                <a:ea typeface="宋体" panose="02010600030101010101" pitchFamily="2" charset="-122"/>
              </a:rPr>
              <a:t>—</a:t>
            </a:r>
            <a:r>
              <a:rPr lang="zh-CN" altLang="en-US" sz="2400" dirty="0">
                <a:solidFill>
                  <a:schemeClr val="bg2"/>
                </a:solidFill>
                <a:ea typeface="宋体" panose="02010600030101010101" pitchFamily="2" charset="-122"/>
              </a:rPr>
              <a:t>回应设备来获得呼叫的源地址。</a:t>
            </a:r>
          </a:p>
          <a:p>
            <a:pPr eaLnBrk="1" hangingPunct="1">
              <a:lnSpc>
                <a:spcPct val="80000"/>
              </a:lnSpc>
              <a:buClr>
                <a:srgbClr val="A3651C"/>
              </a:buClr>
              <a:buFont typeface="Wingdings" pitchFamily="2" charset="2"/>
              <a:buChar char="u"/>
              <a:defRPr/>
            </a:pPr>
            <a:r>
              <a:rPr lang="zh-CN" altLang="en-US" sz="2400" dirty="0">
                <a:solidFill>
                  <a:schemeClr val="bg2"/>
                </a:solidFill>
                <a:ea typeface="宋体" panose="02010600030101010101" pitchFamily="2" charset="-122"/>
              </a:rPr>
              <a:t> 一个验证者对每一个主体都保持一份合法呼叫地址的文件。</a:t>
            </a:r>
          </a:p>
          <a:p>
            <a:pPr eaLnBrk="1" hangingPunct="1">
              <a:lnSpc>
                <a:spcPct val="80000"/>
              </a:lnSpc>
              <a:buClr>
                <a:srgbClr val="A3651C"/>
              </a:buClr>
              <a:buFont typeface="Wingdings" pitchFamily="2" charset="2"/>
              <a:buChar char="u"/>
              <a:defRPr/>
            </a:pPr>
            <a:r>
              <a:rPr lang="zh-CN" altLang="en-US" sz="2400" dirty="0">
                <a:solidFill>
                  <a:schemeClr val="bg2"/>
                </a:solidFill>
                <a:ea typeface="宋体" panose="02010600030101010101" pitchFamily="2" charset="-122"/>
              </a:rPr>
              <a:t> 这种机制最大的困难是在一个临时的环境里维持一个连续的主机和网络地址的联系。地址的转换频</a:t>
            </a:r>
            <a:r>
              <a:rPr lang="zh-CN" altLang="en-US" sz="2400" b="0" dirty="0">
                <a:solidFill>
                  <a:schemeClr val="bg2"/>
                </a:solidFill>
                <a:ea typeface="宋体" panose="02010600030101010101" pitchFamily="2" charset="-122"/>
              </a:rPr>
              <a:t>繁</a:t>
            </a:r>
            <a:r>
              <a:rPr lang="zh-CN" altLang="en-US" sz="2400" dirty="0">
                <a:solidFill>
                  <a:schemeClr val="bg2"/>
                </a:solidFill>
                <a:ea typeface="宋体" panose="02010600030101010101" pitchFamily="2" charset="-122"/>
              </a:rPr>
              <a:t>、质询</a:t>
            </a:r>
            <a:r>
              <a:rPr lang="en-US" altLang="zh-CN" sz="2400" dirty="0">
                <a:solidFill>
                  <a:schemeClr val="bg2"/>
                </a:solidFill>
                <a:ea typeface="宋体" panose="02010600030101010101" pitchFamily="2" charset="-122"/>
              </a:rPr>
              <a:t>—</a:t>
            </a:r>
            <a:r>
              <a:rPr lang="zh-CN" altLang="en-US" sz="2400" dirty="0">
                <a:solidFill>
                  <a:schemeClr val="bg2"/>
                </a:solidFill>
                <a:ea typeface="宋体" panose="02010600030101010101" pitchFamily="2" charset="-122"/>
              </a:rPr>
              <a:t>转发或重定向引起了一些主要问题。</a:t>
            </a:r>
          </a:p>
          <a:p>
            <a:pPr eaLnBrk="1" hangingPunct="1">
              <a:lnSpc>
                <a:spcPct val="80000"/>
              </a:lnSpc>
              <a:buClr>
                <a:srgbClr val="A3651C"/>
              </a:buClr>
              <a:buFont typeface="Wingdings" pitchFamily="2" charset="2"/>
              <a:buChar char="u"/>
              <a:defRPr/>
            </a:pPr>
            <a:r>
              <a:rPr lang="zh-CN" altLang="en-US" sz="2400" dirty="0">
                <a:solidFill>
                  <a:schemeClr val="bg2"/>
                </a:solidFill>
                <a:ea typeface="宋体" panose="02010600030101010101" pitchFamily="2" charset="-122"/>
              </a:rPr>
              <a:t> 基于地址的机制自身不能被作为鉴别机制，但可作为其它机制的有用补充。</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82403">
                                            <p:bg/>
                                          </p:spTgt>
                                        </p:tgtEl>
                                        <p:attrNameLst>
                                          <p:attrName>style.visibility</p:attrName>
                                        </p:attrNameLst>
                                      </p:cBhvr>
                                      <p:to>
                                        <p:strVal val="visible"/>
                                      </p:to>
                                    </p:set>
                                    <p:anim calcmode="lin" valueType="num">
                                      <p:cBhvr>
                                        <p:cTn id="7" dur="500" fill="hold"/>
                                        <p:tgtEl>
                                          <p:spTgt spid="1382403">
                                            <p:bg/>
                                          </p:spTgt>
                                        </p:tgtEl>
                                        <p:attrNameLst>
                                          <p:attrName>ppt_w</p:attrName>
                                        </p:attrNameLst>
                                      </p:cBhvr>
                                      <p:tavLst>
                                        <p:tav tm="0">
                                          <p:val>
                                            <p:fltVal val="0"/>
                                          </p:val>
                                        </p:tav>
                                        <p:tav tm="100000">
                                          <p:val>
                                            <p:strVal val="#ppt_w"/>
                                          </p:val>
                                        </p:tav>
                                      </p:tavLst>
                                    </p:anim>
                                    <p:anim calcmode="lin" valueType="num">
                                      <p:cBhvr>
                                        <p:cTn id="8" dur="500" fill="hold"/>
                                        <p:tgtEl>
                                          <p:spTgt spid="1382403">
                                            <p:bg/>
                                          </p:spTgt>
                                        </p:tgtEl>
                                        <p:attrNameLst>
                                          <p:attrName>ppt_h</p:attrName>
                                        </p:attrNameLst>
                                      </p:cBhvr>
                                      <p:tavLst>
                                        <p:tav tm="0">
                                          <p:val>
                                            <p:fltVal val="0"/>
                                          </p:val>
                                        </p:tav>
                                        <p:tav tm="100000">
                                          <p:val>
                                            <p:strVal val="#ppt_h"/>
                                          </p:val>
                                        </p:tav>
                                      </p:tavLst>
                                    </p:anim>
                                    <p:animEffect transition="in" filter="fade">
                                      <p:cBhvr>
                                        <p:cTn id="9" dur="500"/>
                                        <p:tgtEl>
                                          <p:spTgt spid="1382403">
                                            <p:bg/>
                                          </p:spTgt>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382403">
                                            <p:txEl>
                                              <p:pRg st="0" end="0"/>
                                            </p:txEl>
                                          </p:spTgt>
                                        </p:tgtEl>
                                        <p:attrNameLst>
                                          <p:attrName>style.visibility</p:attrName>
                                        </p:attrNameLst>
                                      </p:cBhvr>
                                      <p:to>
                                        <p:strVal val="visible"/>
                                      </p:to>
                                    </p:set>
                                    <p:anim calcmode="lin" valueType="num">
                                      <p:cBhvr>
                                        <p:cTn id="13" dur="500" fill="hold"/>
                                        <p:tgtEl>
                                          <p:spTgt spid="138240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38240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1382403">
                                            <p:txEl>
                                              <p:pRg st="0" end="0"/>
                                            </p:txEl>
                                          </p:spTgt>
                                        </p:tgtEl>
                                      </p:cBhvr>
                                    </p:animEffect>
                                  </p:childTnLst>
                                </p:cTn>
                              </p:par>
                            </p:childTnLst>
                          </p:cTn>
                        </p:par>
                        <p:par>
                          <p:cTn id="16" fill="hold" nodeType="afterGroup">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382403">
                                            <p:txEl>
                                              <p:pRg st="1" end="1"/>
                                            </p:txEl>
                                          </p:spTgt>
                                        </p:tgtEl>
                                        <p:attrNameLst>
                                          <p:attrName>style.visibility</p:attrName>
                                        </p:attrNameLst>
                                      </p:cBhvr>
                                      <p:to>
                                        <p:strVal val="visible"/>
                                      </p:to>
                                    </p:set>
                                    <p:anim calcmode="lin" valueType="num">
                                      <p:cBhvr>
                                        <p:cTn id="19" dur="500" fill="hold"/>
                                        <p:tgtEl>
                                          <p:spTgt spid="1382403">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1382403">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1382403">
                                            <p:txEl>
                                              <p:pRg st="1" end="1"/>
                                            </p:txEl>
                                          </p:spTgt>
                                        </p:tgtEl>
                                      </p:cBhvr>
                                    </p:animEffect>
                                  </p:childTnLst>
                                </p:cTn>
                              </p:par>
                            </p:childTnLst>
                          </p:cTn>
                        </p:par>
                        <p:par>
                          <p:cTn id="22" fill="hold" nodeType="afterGroup">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1382403">
                                            <p:txEl>
                                              <p:pRg st="2" end="2"/>
                                            </p:txEl>
                                          </p:spTgt>
                                        </p:tgtEl>
                                        <p:attrNameLst>
                                          <p:attrName>style.visibility</p:attrName>
                                        </p:attrNameLst>
                                      </p:cBhvr>
                                      <p:to>
                                        <p:strVal val="visible"/>
                                      </p:to>
                                    </p:set>
                                    <p:anim calcmode="lin" valueType="num">
                                      <p:cBhvr>
                                        <p:cTn id="25" dur="500" fill="hold"/>
                                        <p:tgtEl>
                                          <p:spTgt spid="1382403">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382403">
                                            <p:txEl>
                                              <p:pRg st="2" end="2"/>
                                            </p:txEl>
                                          </p:spTgt>
                                        </p:tgtEl>
                                        <p:attrNameLst>
                                          <p:attrName>ppt_h</p:attrName>
                                        </p:attrNameLst>
                                      </p:cBhvr>
                                      <p:tavLst>
                                        <p:tav tm="0">
                                          <p:val>
                                            <p:fltVal val="0"/>
                                          </p:val>
                                        </p:tav>
                                        <p:tav tm="100000">
                                          <p:val>
                                            <p:strVal val="#ppt_h"/>
                                          </p:val>
                                        </p:tav>
                                      </p:tavLst>
                                    </p:anim>
                                    <p:animEffect transition="in" filter="fade">
                                      <p:cBhvr>
                                        <p:cTn id="27" dur="500"/>
                                        <p:tgtEl>
                                          <p:spTgt spid="1382403">
                                            <p:txEl>
                                              <p:pRg st="2" end="2"/>
                                            </p:txEl>
                                          </p:spTgt>
                                        </p:tgtEl>
                                      </p:cBhvr>
                                    </p:animEffect>
                                  </p:childTnLst>
                                </p:cTn>
                              </p:par>
                            </p:childTnLst>
                          </p:cTn>
                        </p:par>
                        <p:par>
                          <p:cTn id="28" fill="hold" nodeType="afterGroup">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1382403">
                                            <p:txEl>
                                              <p:pRg st="3" end="3"/>
                                            </p:txEl>
                                          </p:spTgt>
                                        </p:tgtEl>
                                        <p:attrNameLst>
                                          <p:attrName>style.visibility</p:attrName>
                                        </p:attrNameLst>
                                      </p:cBhvr>
                                      <p:to>
                                        <p:strVal val="visible"/>
                                      </p:to>
                                    </p:set>
                                    <p:anim calcmode="lin" valueType="num">
                                      <p:cBhvr>
                                        <p:cTn id="31" dur="500" fill="hold"/>
                                        <p:tgtEl>
                                          <p:spTgt spid="138240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1382403">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1382403">
                                            <p:txEl>
                                              <p:pRg st="3" end="3"/>
                                            </p:txEl>
                                          </p:spTgt>
                                        </p:tgtEl>
                                      </p:cBhvr>
                                    </p:animEffect>
                                  </p:childTnLst>
                                </p:cTn>
                              </p:par>
                            </p:childTnLst>
                          </p:cTn>
                        </p:par>
                        <p:par>
                          <p:cTn id="34" fill="hold" nodeType="afterGroup">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1382403">
                                            <p:txEl>
                                              <p:pRg st="4" end="4"/>
                                            </p:txEl>
                                          </p:spTgt>
                                        </p:tgtEl>
                                        <p:attrNameLst>
                                          <p:attrName>style.visibility</p:attrName>
                                        </p:attrNameLst>
                                      </p:cBhvr>
                                      <p:to>
                                        <p:strVal val="visible"/>
                                      </p:to>
                                    </p:set>
                                    <p:anim calcmode="lin" valueType="num">
                                      <p:cBhvr>
                                        <p:cTn id="37" dur="500" fill="hold"/>
                                        <p:tgtEl>
                                          <p:spTgt spid="1382403">
                                            <p:txEl>
                                              <p:pRg st="4" end="4"/>
                                            </p:txEl>
                                          </p:spTgt>
                                        </p:tgtEl>
                                        <p:attrNameLst>
                                          <p:attrName>ppt_w</p:attrName>
                                        </p:attrNameLst>
                                      </p:cBhvr>
                                      <p:tavLst>
                                        <p:tav tm="0">
                                          <p:val>
                                            <p:fltVal val="0"/>
                                          </p:val>
                                        </p:tav>
                                        <p:tav tm="100000">
                                          <p:val>
                                            <p:strVal val="#ppt_w"/>
                                          </p:val>
                                        </p:tav>
                                      </p:tavLst>
                                    </p:anim>
                                    <p:anim calcmode="lin" valueType="num">
                                      <p:cBhvr>
                                        <p:cTn id="38" dur="500" fill="hold"/>
                                        <p:tgtEl>
                                          <p:spTgt spid="1382403">
                                            <p:txEl>
                                              <p:pRg st="4" end="4"/>
                                            </p:txEl>
                                          </p:spTgt>
                                        </p:tgtEl>
                                        <p:attrNameLst>
                                          <p:attrName>ppt_h</p:attrName>
                                        </p:attrNameLst>
                                      </p:cBhvr>
                                      <p:tavLst>
                                        <p:tav tm="0">
                                          <p:val>
                                            <p:fltVal val="0"/>
                                          </p:val>
                                        </p:tav>
                                        <p:tav tm="100000">
                                          <p:val>
                                            <p:strVal val="#ppt_h"/>
                                          </p:val>
                                        </p:tav>
                                      </p:tavLst>
                                    </p:anim>
                                    <p:animEffect transition="in" filter="fade">
                                      <p:cBhvr>
                                        <p:cTn id="39" dur="500"/>
                                        <p:tgtEl>
                                          <p:spTgt spid="1382403">
                                            <p:txEl>
                                              <p:pRg st="4" end="4"/>
                                            </p:txEl>
                                          </p:spTgt>
                                        </p:tgtEl>
                                      </p:cBhvr>
                                    </p:animEffect>
                                  </p:childTnLst>
                                </p:cTn>
                              </p:par>
                            </p:childTnLst>
                          </p:cTn>
                        </p:par>
                        <p:par>
                          <p:cTn id="40" fill="hold" nodeType="afterGroup">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1382403">
                                            <p:txEl>
                                              <p:pRg st="5" end="5"/>
                                            </p:txEl>
                                          </p:spTgt>
                                        </p:tgtEl>
                                        <p:attrNameLst>
                                          <p:attrName>style.visibility</p:attrName>
                                        </p:attrNameLst>
                                      </p:cBhvr>
                                      <p:to>
                                        <p:strVal val="visible"/>
                                      </p:to>
                                    </p:set>
                                    <p:anim calcmode="lin" valueType="num">
                                      <p:cBhvr>
                                        <p:cTn id="43" dur="500" fill="hold"/>
                                        <p:tgtEl>
                                          <p:spTgt spid="1382403">
                                            <p:txEl>
                                              <p:pRg st="5" end="5"/>
                                            </p:txEl>
                                          </p:spTgt>
                                        </p:tgtEl>
                                        <p:attrNameLst>
                                          <p:attrName>ppt_w</p:attrName>
                                        </p:attrNameLst>
                                      </p:cBhvr>
                                      <p:tavLst>
                                        <p:tav tm="0">
                                          <p:val>
                                            <p:fltVal val="0"/>
                                          </p:val>
                                        </p:tav>
                                        <p:tav tm="100000">
                                          <p:val>
                                            <p:strVal val="#ppt_w"/>
                                          </p:val>
                                        </p:tav>
                                      </p:tavLst>
                                    </p:anim>
                                    <p:anim calcmode="lin" valueType="num">
                                      <p:cBhvr>
                                        <p:cTn id="44" dur="500" fill="hold"/>
                                        <p:tgtEl>
                                          <p:spTgt spid="1382403">
                                            <p:txEl>
                                              <p:pRg st="5" end="5"/>
                                            </p:txEl>
                                          </p:spTgt>
                                        </p:tgtEl>
                                        <p:attrNameLst>
                                          <p:attrName>ppt_h</p:attrName>
                                        </p:attrNameLst>
                                      </p:cBhvr>
                                      <p:tavLst>
                                        <p:tav tm="0">
                                          <p:val>
                                            <p:fltVal val="0"/>
                                          </p:val>
                                        </p:tav>
                                        <p:tav tm="100000">
                                          <p:val>
                                            <p:strVal val="#ppt_h"/>
                                          </p:val>
                                        </p:tav>
                                      </p:tavLst>
                                    </p:anim>
                                    <p:animEffect transition="in" filter="fade">
                                      <p:cBhvr>
                                        <p:cTn id="45" dur="500"/>
                                        <p:tgtEl>
                                          <p:spTgt spid="13824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03" grpId="0" build="p"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3426" name="Rectangle 2">
            <a:extLst>
              <a:ext uri="{FF2B5EF4-FFF2-40B4-BE49-F238E27FC236}">
                <a16:creationId xmlns:a16="http://schemas.microsoft.com/office/drawing/2014/main" id="{3E99AABA-A659-7144-BA7C-ACF71793BD73}"/>
              </a:ext>
            </a:extLst>
          </p:cNvPr>
          <p:cNvSpPr>
            <a:spLocks noGrp="1" noChangeArrowheads="1"/>
          </p:cNvSpPr>
          <p:nvPr>
            <p:ph type="title"/>
          </p:nvPr>
        </p:nvSpPr>
        <p:spPr bwMode="auto">
          <a:xfrm>
            <a:off x="465138" y="762000"/>
            <a:ext cx="6392862" cy="5334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en-US" altLang="zh-CN" sz="3200" kern="1200" dirty="0">
                <a:solidFill>
                  <a:srgbClr val="FF0000"/>
                </a:solidFill>
                <a:latin typeface="黑体" panose="02010609060101010101" pitchFamily="49" charset="-122"/>
                <a:ea typeface="黑体" panose="02010609060101010101" pitchFamily="49" charset="-122"/>
                <a:cs typeface="+mn-cs"/>
              </a:rPr>
              <a:t>D</a:t>
            </a:r>
            <a:r>
              <a:rPr kumimoji="1" lang="zh-CN" altLang="en-US" sz="3200" kern="1200" dirty="0">
                <a:solidFill>
                  <a:srgbClr val="FF0000"/>
                </a:solidFill>
                <a:latin typeface="黑体" panose="02010609060101010101" pitchFamily="49" charset="-122"/>
                <a:ea typeface="黑体" panose="02010609060101010101" pitchFamily="49" charset="-122"/>
                <a:cs typeface="+mn-cs"/>
              </a:rPr>
              <a:t>．基于个人生理特征的机制</a:t>
            </a:r>
          </a:p>
        </p:txBody>
      </p:sp>
      <p:sp>
        <p:nvSpPr>
          <p:cNvPr id="5" name="内容占位符 2">
            <a:extLst>
              <a:ext uri="{FF2B5EF4-FFF2-40B4-BE49-F238E27FC236}">
                <a16:creationId xmlns:a16="http://schemas.microsoft.com/office/drawing/2014/main" id="{4455141E-D26E-2F42-B091-A4E802C7980A}"/>
              </a:ext>
            </a:extLst>
          </p:cNvPr>
          <p:cNvSpPr>
            <a:spLocks noGrp="1"/>
          </p:cNvSpPr>
          <p:nvPr>
            <p:ph idx="1"/>
          </p:nvPr>
        </p:nvSpPr>
        <p:spPr>
          <a:xfrm>
            <a:off x="585788" y="4267200"/>
            <a:ext cx="7977187" cy="1600200"/>
          </a:xfrm>
        </p:spPr>
        <p:txBody>
          <a:bodyPr vert="horz" wrap="square" lIns="91440" tIns="45720" rIns="91440" bIns="45720" numCol="1" anchor="t" anchorCtr="0" compatLnSpc="1">
            <a:prstTxWarp prst="textNoShape">
              <a:avLst/>
            </a:prstTxWarp>
            <a:normAutofit/>
          </a:bodyPr>
          <a:lstStyle/>
          <a:p>
            <a:pPr marL="0" indent="0" eaLnBrk="1" hangingPunct="1">
              <a:buFont typeface="Wingdings" pitchFamily="2" charset="2"/>
              <a:buNone/>
              <a:defRPr/>
            </a:pPr>
            <a:r>
              <a:rPr lang="zh-CN" altLang="en-US" sz="2400">
                <a:solidFill>
                  <a:srgbClr val="FF0000"/>
                </a:solidFill>
                <a:latin typeface="黑体" panose="02010609060101010101" pitchFamily="49" charset="-122"/>
                <a:ea typeface="黑体" panose="02010609060101010101" pitchFamily="49" charset="-122"/>
              </a:rPr>
              <a:t>手掌、手型 </a:t>
            </a:r>
          </a:p>
          <a:p>
            <a:pPr lvl="1" eaLnBrk="1" hangingPunct="1">
              <a:buClr>
                <a:srgbClr val="A3651C"/>
              </a:buClr>
              <a:defRPr/>
            </a:pPr>
            <a:r>
              <a:rPr lang="zh-CN" altLang="en-US" sz="2000">
                <a:solidFill>
                  <a:schemeClr val="bg2"/>
                </a:solidFill>
                <a:latin typeface="黑体" panose="02010609060101010101" pitchFamily="49" charset="-122"/>
                <a:ea typeface="黑体" panose="02010609060101010101" pitchFamily="49" charset="-122"/>
              </a:rPr>
              <a:t>手掌有折痕，起皱，还有凹槽</a:t>
            </a:r>
          </a:p>
          <a:p>
            <a:pPr lvl="1" eaLnBrk="1" hangingPunct="1">
              <a:buClr>
                <a:srgbClr val="A3651C"/>
              </a:buClr>
              <a:defRPr/>
            </a:pPr>
            <a:r>
              <a:rPr lang="zh-CN" altLang="en-US" sz="2000">
                <a:solidFill>
                  <a:schemeClr val="bg2"/>
                </a:solidFill>
                <a:latin typeface="黑体" panose="02010609060101010101" pitchFamily="49" charset="-122"/>
                <a:ea typeface="黑体" panose="02010609060101010101" pitchFamily="49" charset="-122"/>
              </a:rPr>
              <a:t>还包括每个手指的指纹 </a:t>
            </a:r>
          </a:p>
          <a:p>
            <a:pPr lvl="1" eaLnBrk="1" hangingPunct="1">
              <a:buClr>
                <a:srgbClr val="A3651C"/>
              </a:buClr>
              <a:defRPr/>
            </a:pPr>
            <a:r>
              <a:rPr lang="zh-CN" altLang="en-US" sz="2000">
                <a:solidFill>
                  <a:schemeClr val="bg2"/>
                </a:solidFill>
                <a:latin typeface="黑体" panose="02010609060101010101" pitchFamily="49" charset="-122"/>
                <a:ea typeface="黑体" panose="02010609060101010101" pitchFamily="49" charset="-122"/>
              </a:rPr>
              <a:t>人手的形状（手的长度，宽度和手指）表示了手的几何特征 </a:t>
            </a:r>
          </a:p>
        </p:txBody>
      </p:sp>
      <p:sp>
        <p:nvSpPr>
          <p:cNvPr id="2" name="矩形 1">
            <a:extLst>
              <a:ext uri="{FF2B5EF4-FFF2-40B4-BE49-F238E27FC236}">
                <a16:creationId xmlns:a16="http://schemas.microsoft.com/office/drawing/2014/main" id="{E087A6B4-14B0-A948-964A-EC8A5B0B62ED}"/>
              </a:ext>
            </a:extLst>
          </p:cNvPr>
          <p:cNvSpPr/>
          <p:nvPr/>
        </p:nvSpPr>
        <p:spPr>
          <a:xfrm>
            <a:off x="762000" y="1504950"/>
            <a:ext cx="6705600" cy="460375"/>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defRPr/>
            </a:pPr>
            <a:r>
              <a:rPr lang="zh-CN" altLang="en-US" sz="24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基于假设：每个人的生理特征所具有唯一性</a:t>
            </a:r>
          </a:p>
        </p:txBody>
      </p:sp>
      <p:sp>
        <p:nvSpPr>
          <p:cNvPr id="3" name="矩形 2">
            <a:extLst>
              <a:ext uri="{FF2B5EF4-FFF2-40B4-BE49-F238E27FC236}">
                <a16:creationId xmlns:a16="http://schemas.microsoft.com/office/drawing/2014/main" id="{B09DDA2E-7120-3B44-9545-D056D951ABD1}"/>
              </a:ext>
            </a:extLst>
          </p:cNvPr>
          <p:cNvSpPr>
            <a:spLocks noChangeArrowheads="1"/>
          </p:cNvSpPr>
          <p:nvPr/>
        </p:nvSpPr>
        <p:spPr bwMode="auto">
          <a:xfrm>
            <a:off x="768350" y="2057400"/>
            <a:ext cx="7658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4800" b="1">
                <a:solidFill>
                  <a:srgbClr val="FF0000"/>
                </a:solidFill>
                <a:latin typeface="隶书" pitchFamily="49" charset="-122"/>
                <a:ea typeface="隶书" pitchFamily="49" charset="-122"/>
              </a:defRPr>
            </a:lvl1pPr>
            <a:lvl2pPr>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buClr>
                <a:srgbClr val="A3651C"/>
              </a:buClr>
            </a:pPr>
            <a:r>
              <a:rPr lang="zh-CN" altLang="en-US" sz="2400">
                <a:solidFill>
                  <a:schemeClr val="bg2"/>
                </a:solidFill>
                <a:latin typeface="黑体" panose="02010609060101010101" pitchFamily="49" charset="-122"/>
                <a:ea typeface="黑体" panose="02010609060101010101" pitchFamily="49" charset="-122"/>
              </a:rPr>
              <a:t>指纹，视网膜，声音，虹膜、语音、面部、签名等</a:t>
            </a:r>
          </a:p>
        </p:txBody>
      </p:sp>
      <p:sp>
        <p:nvSpPr>
          <p:cNvPr id="4" name="矩形 3">
            <a:extLst>
              <a:ext uri="{FF2B5EF4-FFF2-40B4-BE49-F238E27FC236}">
                <a16:creationId xmlns:a16="http://schemas.microsoft.com/office/drawing/2014/main" id="{45B7FE64-D5C2-5942-A173-F422E5999A36}"/>
              </a:ext>
            </a:extLst>
          </p:cNvPr>
          <p:cNvSpPr/>
          <p:nvPr/>
        </p:nvSpPr>
        <p:spPr>
          <a:xfrm>
            <a:off x="631825" y="2609850"/>
            <a:ext cx="7931150" cy="1477963"/>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1028700" indent="-455613">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Clr>
                <a:schemeClr val="tx2"/>
              </a:buClr>
              <a:buSzPct val="75000"/>
              <a:defRPr/>
            </a:pPr>
            <a:r>
              <a:rPr lang="zh-CN" altLang="en-US" sz="2400">
                <a:effectLst>
                  <a:outerShdw blurRad="38100" dist="38100" dir="2700000" algn="tl">
                    <a:srgbClr val="C0C0C0"/>
                  </a:outerShdw>
                </a:effectLst>
                <a:latin typeface="黑体" panose="02010609060101010101" pitchFamily="49" charset="-122"/>
                <a:ea typeface="黑体" panose="02010609060101010101" pitchFamily="49" charset="-122"/>
              </a:rPr>
              <a:t>指纹</a:t>
            </a:r>
          </a:p>
          <a:p>
            <a:pPr lvl="1" eaLnBrk="1" hangingPunct="1">
              <a:lnSpc>
                <a:spcPct val="90000"/>
              </a:lnSpc>
              <a:spcBef>
                <a:spcPct val="30000"/>
              </a:spcBef>
              <a:buClr>
                <a:srgbClr val="A3651C"/>
              </a:buClr>
              <a:buSzPct val="75000"/>
              <a:buFont typeface="Wingdings" pitchFamily="2" charset="2"/>
              <a:buChar char="Ø"/>
              <a:defRPr/>
            </a:pPr>
            <a:r>
              <a:rPr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一些曲线和分叉以及一些非常微小的特征</a:t>
            </a:r>
          </a:p>
          <a:p>
            <a:pPr lvl="1" eaLnBrk="1" hangingPunct="1">
              <a:lnSpc>
                <a:spcPct val="90000"/>
              </a:lnSpc>
              <a:spcBef>
                <a:spcPct val="30000"/>
              </a:spcBef>
              <a:buClr>
                <a:srgbClr val="A3651C"/>
              </a:buClr>
              <a:buSzPct val="75000"/>
              <a:buFont typeface="Wingdings" pitchFamily="2" charset="2"/>
              <a:buChar char="Ø"/>
              <a:defRPr/>
            </a:pPr>
            <a:r>
              <a:rPr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提取指纹中的一些特征并且存储这些特征信息：节省资源，快速查询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0-#ppt_w/2"/>
                                          </p:val>
                                        </p:tav>
                                        <p:tav tm="100000">
                                          <p:val>
                                            <p:strVal val="#ppt_x"/>
                                          </p:val>
                                        </p:tav>
                                      </p:tavLst>
                                    </p:anim>
                                    <p:anim calcmode="lin" valueType="num">
                                      <p:cBhvr additive="base">
                                        <p:cTn id="21"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 calcmode="lin" valueType="num">
                                      <p:cBhvr additive="base">
                                        <p:cTn id="26"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5">
                                            <p:txEl>
                                              <p:pRg st="0" end="0"/>
                                            </p:txEl>
                                          </p:spTgt>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stCondLst>
                                    <p:cond delay="0"/>
                                  </p:stCondLst>
                                  <p:childTnLst>
                                    <p:set>
                                      <p:cBhvr>
                                        <p:cTn id="29" dur="1" fill="hold">
                                          <p:stCondLst>
                                            <p:cond delay="0"/>
                                          </p:stCondLst>
                                        </p:cTn>
                                        <p:tgtEl>
                                          <p:spTgt spid="5">
                                            <p:txEl>
                                              <p:pRg st="1" end="1"/>
                                            </p:txEl>
                                          </p:spTgt>
                                        </p:tgtEl>
                                        <p:attrNameLst>
                                          <p:attrName>style.visibility</p:attrName>
                                        </p:attrNameLst>
                                      </p:cBhvr>
                                      <p:to>
                                        <p:strVal val="visible"/>
                                      </p:to>
                                    </p:set>
                                    <p:anim calcmode="lin" valueType="num">
                                      <p:cBhvr additive="base">
                                        <p:cTn id="30"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5">
                                            <p:txEl>
                                              <p:pRg st="1" end="1"/>
                                            </p:txEl>
                                          </p:spTgt>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0"/>
                                  </p:stCondLst>
                                  <p:childTnLst>
                                    <p:set>
                                      <p:cBhvr>
                                        <p:cTn id="33" dur="1" fill="hold">
                                          <p:stCondLst>
                                            <p:cond delay="0"/>
                                          </p:stCondLst>
                                        </p:cTn>
                                        <p:tgtEl>
                                          <p:spTgt spid="5">
                                            <p:txEl>
                                              <p:pRg st="2" end="2"/>
                                            </p:txEl>
                                          </p:spTgt>
                                        </p:tgtEl>
                                        <p:attrNameLst>
                                          <p:attrName>style.visibility</p:attrName>
                                        </p:attrNameLst>
                                      </p:cBhvr>
                                      <p:to>
                                        <p:strVal val="visible"/>
                                      </p:to>
                                    </p:set>
                                    <p:anim calcmode="lin" valueType="num">
                                      <p:cBhvr additive="base">
                                        <p:cTn id="34"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5">
                                            <p:txEl>
                                              <p:pRg st="2" end="2"/>
                                            </p:txEl>
                                          </p:spTgt>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7" dur="1" fill="hold">
                                          <p:stCondLst>
                                            <p:cond delay="0"/>
                                          </p:stCondLst>
                                        </p:cTn>
                                        <p:tgtEl>
                                          <p:spTgt spid="5">
                                            <p:txEl>
                                              <p:pRg st="3" end="3"/>
                                            </p:txEl>
                                          </p:spTgt>
                                        </p:tgtEl>
                                        <p:attrNameLst>
                                          <p:attrName>style.visibility</p:attrName>
                                        </p:attrNameLst>
                                      </p:cBhvr>
                                      <p:to>
                                        <p:strVal val="visible"/>
                                      </p:to>
                                    </p:set>
                                    <p:anim calcmode="lin" valueType="num">
                                      <p:cBhvr additive="base">
                                        <p:cTn id="38" dur="500" fill="hold"/>
                                        <p:tgtEl>
                                          <p:spTgt spid="5">
                                            <p:txEl>
                                              <p:pRg st="3" end="3"/>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p:bldP spid="3" grpId="0"/>
      <p:bldP spid="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C09FCF59-5ADF-114C-9FA5-743E3580A3EA}"/>
              </a:ext>
            </a:extLst>
          </p:cNvPr>
          <p:cNvSpPr>
            <a:spLocks noGrp="1"/>
          </p:cNvSpPr>
          <p:nvPr>
            <p:ph idx="1"/>
          </p:nvPr>
        </p:nvSpPr>
        <p:spPr>
          <a:xfrm>
            <a:off x="228600" y="1219200"/>
            <a:ext cx="8763000" cy="4343400"/>
          </a:xfrm>
        </p:spPr>
        <p:txBody>
          <a:bodyPr vert="horz" wrap="square" lIns="91440" tIns="45720" rIns="91440" bIns="45720" numCol="1" anchor="t" anchorCtr="0" compatLnSpc="1">
            <a:prstTxWarp prst="textNoShape">
              <a:avLst/>
            </a:prstTxWarp>
            <a:noAutofit/>
          </a:bodyPr>
          <a:lstStyle/>
          <a:p>
            <a:pPr eaLnBrk="1" hangingPunct="1">
              <a:defRPr/>
            </a:pPr>
            <a:r>
              <a:rPr lang="zh-CN" altLang="en-US" sz="2400" dirty="0">
                <a:solidFill>
                  <a:srgbClr val="FF0000"/>
                </a:solidFill>
                <a:latin typeface="黑体" panose="02010609060101010101" pitchFamily="49" charset="-122"/>
                <a:ea typeface="黑体" panose="02010609060101010101" pitchFamily="49" charset="-122"/>
              </a:rPr>
              <a:t>视网膜扫描 </a:t>
            </a:r>
          </a:p>
          <a:p>
            <a:pPr lvl="1" eaLnBrk="1" hangingPunct="1">
              <a:buClr>
                <a:srgbClr val="A3651C"/>
              </a:buClr>
              <a:defRPr/>
            </a:pPr>
            <a:r>
              <a:rPr lang="zh-CN" altLang="en-US" sz="2000" dirty="0">
                <a:solidFill>
                  <a:schemeClr val="bg2"/>
                </a:solidFill>
                <a:latin typeface="黑体" panose="02010609060101010101" pitchFamily="49" charset="-122"/>
                <a:ea typeface="黑体" panose="02010609060101010101" pitchFamily="49" charset="-122"/>
              </a:rPr>
              <a:t>扫描眼球后方的视网膜上面的血管的图案；</a:t>
            </a:r>
          </a:p>
          <a:p>
            <a:pPr eaLnBrk="1" hangingPunct="1">
              <a:defRPr/>
            </a:pPr>
            <a:r>
              <a:rPr lang="zh-CN" altLang="en-US" sz="2400" dirty="0">
                <a:solidFill>
                  <a:srgbClr val="FF0000"/>
                </a:solidFill>
                <a:latin typeface="黑体" panose="02010609060101010101" pitchFamily="49" charset="-122"/>
                <a:ea typeface="黑体" panose="02010609060101010101" pitchFamily="49" charset="-122"/>
              </a:rPr>
              <a:t>虹膜扫描 </a:t>
            </a:r>
          </a:p>
          <a:p>
            <a:pPr lvl="1" eaLnBrk="1" hangingPunct="1">
              <a:buClr>
                <a:srgbClr val="A3651C"/>
              </a:buClr>
              <a:defRPr/>
            </a:pPr>
            <a:r>
              <a:rPr lang="zh-CN" altLang="en-US" sz="2000" dirty="0">
                <a:solidFill>
                  <a:schemeClr val="bg2"/>
                </a:solidFill>
                <a:latin typeface="黑体" panose="02010609060101010101" pitchFamily="49" charset="-122"/>
                <a:ea typeface="黑体" panose="02010609060101010101" pitchFamily="49" charset="-122"/>
              </a:rPr>
              <a:t>虹膜是眼睛中位于瞳孔周围的一圈彩色的部分</a:t>
            </a:r>
          </a:p>
          <a:p>
            <a:pPr lvl="1" eaLnBrk="1" hangingPunct="1">
              <a:buClr>
                <a:srgbClr val="A3651C"/>
              </a:buClr>
              <a:defRPr/>
            </a:pPr>
            <a:r>
              <a:rPr lang="zh-CN" altLang="en-US" sz="2000" dirty="0">
                <a:solidFill>
                  <a:schemeClr val="bg2"/>
                </a:solidFill>
                <a:latin typeface="黑体" panose="02010609060101010101" pitchFamily="49" charset="-122"/>
                <a:ea typeface="黑体" panose="02010609060101010101" pitchFamily="49" charset="-122"/>
              </a:rPr>
              <a:t>虹膜有其独有的图案，分叉，颜色，环状，光环以及皱褶</a:t>
            </a:r>
          </a:p>
          <a:p>
            <a:pPr eaLnBrk="1" hangingPunct="1">
              <a:defRPr/>
            </a:pPr>
            <a:r>
              <a:rPr lang="zh-CN" altLang="en-US" sz="2400" dirty="0">
                <a:solidFill>
                  <a:srgbClr val="FF0000"/>
                </a:solidFill>
                <a:latin typeface="黑体" panose="02010609060101010101" pitchFamily="49" charset="-122"/>
                <a:ea typeface="黑体" panose="02010609060101010101" pitchFamily="49" charset="-122"/>
              </a:rPr>
              <a:t>语音识别</a:t>
            </a:r>
            <a:r>
              <a:rPr lang="zh-CN" altLang="en-US" sz="2400" dirty="0">
                <a:solidFill>
                  <a:schemeClr val="bg2"/>
                </a:solidFill>
                <a:latin typeface="黑体" panose="02010609060101010101" pitchFamily="49" charset="-122"/>
                <a:ea typeface="黑体" panose="02010609060101010101" pitchFamily="49" charset="-122"/>
              </a:rPr>
              <a:t> </a:t>
            </a:r>
          </a:p>
          <a:p>
            <a:pPr lvl="1" eaLnBrk="1" hangingPunct="1">
              <a:buClr>
                <a:srgbClr val="A3651C"/>
              </a:buClr>
              <a:defRPr/>
            </a:pPr>
            <a:r>
              <a:rPr lang="zh-CN" altLang="en-US" sz="2000" dirty="0">
                <a:solidFill>
                  <a:schemeClr val="bg2"/>
                </a:solidFill>
                <a:latin typeface="黑体" panose="02010609060101010101" pitchFamily="49" charset="-122"/>
                <a:ea typeface="黑体" panose="02010609060101010101" pitchFamily="49" charset="-122"/>
              </a:rPr>
              <a:t>记录时说几个不同的单词，然后识别系统将这些单词混杂在一起，让他再次读出给出的一系列单词（鸡尾酒效应、嗅觉专注）</a:t>
            </a:r>
          </a:p>
          <a:p>
            <a:pPr eaLnBrk="1" hangingPunct="1">
              <a:defRPr/>
            </a:pPr>
            <a:r>
              <a:rPr lang="zh-CN" altLang="en-US" sz="2400" dirty="0">
                <a:solidFill>
                  <a:srgbClr val="FF0000"/>
                </a:solidFill>
                <a:latin typeface="黑体" panose="02010609060101010101" pitchFamily="49" charset="-122"/>
                <a:ea typeface="黑体" panose="02010609060101010101" pitchFamily="49" charset="-122"/>
              </a:rPr>
              <a:t>面部扫描 </a:t>
            </a:r>
          </a:p>
          <a:p>
            <a:pPr lvl="1" eaLnBrk="1" hangingPunct="1">
              <a:buClr>
                <a:srgbClr val="A3651C"/>
              </a:buClr>
              <a:defRPr/>
            </a:pPr>
            <a:r>
              <a:rPr lang="zh-CN" altLang="en-US" sz="2000" dirty="0">
                <a:solidFill>
                  <a:schemeClr val="bg2"/>
                </a:solidFill>
                <a:latin typeface="黑体" panose="02010609060101010101" pitchFamily="49" charset="-122"/>
                <a:ea typeface="黑体" panose="02010609060101010101" pitchFamily="49" charset="-122"/>
              </a:rPr>
              <a:t>人都有不同的骨骼结构，鼻梁，眼眶，额头和下颚形状</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68291234-C181-AD48-9AA2-738D5F8DF303}"/>
              </a:ext>
            </a:extLst>
          </p:cNvPr>
          <p:cNvSpPr>
            <a:spLocks noGrp="1"/>
          </p:cNvSpPr>
          <p:nvPr>
            <p:ph type="title"/>
          </p:nvPr>
        </p:nvSpPr>
        <p:spPr>
          <a:xfrm>
            <a:off x="400050" y="703263"/>
            <a:ext cx="6513513" cy="487362"/>
          </a:xfrm>
        </p:spPr>
        <p:txBody>
          <a:bodyPr vert="horz" wrap="square" lIns="91440" tIns="45720" rIns="91440" bIns="45720" numCol="1" anchor="t" anchorCtr="0" compatLnSpc="1">
            <a:prstTxWarp prst="textNoShape">
              <a:avLst/>
            </a:prstTxWarp>
          </a:bodyPr>
          <a:lstStyle/>
          <a:p>
            <a:pPr eaLnBrk="1" hangingPunct="1">
              <a:defRPr/>
            </a:pPr>
            <a:r>
              <a:rPr lang="zh-CN" altLang="en-US" sz="3200">
                <a:solidFill>
                  <a:srgbClr val="0000FF"/>
                </a:solidFill>
                <a:latin typeface="黑体" panose="02010609060101010101" pitchFamily="49" charset="-122"/>
                <a:ea typeface="黑体" panose="02010609060101010101" pitchFamily="49" charset="-122"/>
              </a:rPr>
              <a:t>指纹识别的实现原理</a:t>
            </a:r>
          </a:p>
        </p:txBody>
      </p:sp>
      <p:sp>
        <p:nvSpPr>
          <p:cNvPr id="5" name="内容占位符 2">
            <a:extLst>
              <a:ext uri="{FF2B5EF4-FFF2-40B4-BE49-F238E27FC236}">
                <a16:creationId xmlns:a16="http://schemas.microsoft.com/office/drawing/2014/main" id="{15648B80-FC86-4641-98B3-36D549C837F4}"/>
              </a:ext>
            </a:extLst>
          </p:cNvPr>
          <p:cNvSpPr>
            <a:spLocks noGrp="1"/>
          </p:cNvSpPr>
          <p:nvPr>
            <p:ph idx="1"/>
          </p:nvPr>
        </p:nvSpPr>
        <p:spPr>
          <a:xfrm>
            <a:off x="457200" y="1371600"/>
            <a:ext cx="8382000" cy="2590800"/>
          </a:xfrm>
        </p:spPr>
        <p:txBody>
          <a:bodyPr vert="horz" wrap="square" lIns="91440" tIns="45720" rIns="91440" bIns="45720" numCol="1" anchor="t" anchorCtr="0" compatLnSpc="1">
            <a:prstTxWarp prst="textNoShape">
              <a:avLst/>
            </a:prstTxWarp>
            <a:normAutofit/>
          </a:bodyPr>
          <a:lstStyle/>
          <a:p>
            <a:pPr eaLnBrk="1" hangingPunct="1">
              <a:buClr>
                <a:srgbClr val="844C09"/>
              </a:buClr>
              <a:buFont typeface="Wingdings" pitchFamily="2" charset="2"/>
              <a:buChar char="u"/>
              <a:defRPr/>
            </a:pPr>
            <a:r>
              <a:rPr lang="zh-CN" altLang="en-US" sz="2400">
                <a:solidFill>
                  <a:schemeClr val="bg2"/>
                </a:solidFill>
                <a:ea typeface="宋体" panose="02010600030101010101" pitchFamily="2" charset="-122"/>
              </a:rPr>
              <a:t>通过特殊的光电扫描和计算机图像处理技术，对指纹进行采集、分析和比对，自动、迅速、准确地认证出个人身份。</a:t>
            </a:r>
            <a:endParaRPr lang="en-US" altLang="zh-CN" sz="2400">
              <a:solidFill>
                <a:schemeClr val="bg2"/>
              </a:solidFill>
              <a:ea typeface="宋体" panose="02010600030101010101" pitchFamily="2" charset="-122"/>
            </a:endParaRPr>
          </a:p>
          <a:p>
            <a:pPr eaLnBrk="1" hangingPunct="1">
              <a:buClr>
                <a:srgbClr val="844C09"/>
              </a:buClr>
              <a:buFont typeface="Wingdings" pitchFamily="2" charset="2"/>
              <a:buChar char="u"/>
              <a:defRPr/>
            </a:pPr>
            <a:r>
              <a:rPr lang="zh-CN" altLang="en-US" sz="2400">
                <a:solidFill>
                  <a:schemeClr val="bg2"/>
                </a:solidFill>
                <a:ea typeface="宋体" panose="02010600030101010101" pitchFamily="2" charset="-122"/>
              </a:rPr>
              <a:t>指纹识别的过程</a:t>
            </a:r>
            <a:endParaRPr lang="en-US" altLang="zh-CN" sz="2400">
              <a:solidFill>
                <a:schemeClr val="bg2"/>
              </a:solidFill>
              <a:ea typeface="宋体" panose="02010600030101010101" pitchFamily="2" charset="-122"/>
            </a:endParaRPr>
          </a:p>
          <a:p>
            <a:pPr lvl="1" eaLnBrk="1" hangingPunct="1">
              <a:buClr>
                <a:srgbClr val="FF0000"/>
              </a:buClr>
              <a:defRPr/>
            </a:pPr>
            <a:r>
              <a:rPr lang="zh-CN" altLang="en-US" sz="2000">
                <a:solidFill>
                  <a:schemeClr val="bg2"/>
                </a:solidFill>
                <a:ea typeface="宋体" panose="02010600030101010101" pitchFamily="2" charset="-122"/>
              </a:rPr>
              <a:t>按照用户和姓名等信息将其存在指纹数据库中的模板指纹调出来，然后再用用户输入的指纹与该模板的指纹相匹配，以确定这两幅指纹是否出于同一幅指纹。</a:t>
            </a:r>
          </a:p>
        </p:txBody>
      </p:sp>
      <p:grpSp>
        <p:nvGrpSpPr>
          <p:cNvPr id="73731" name="Group 5">
            <a:extLst>
              <a:ext uri="{FF2B5EF4-FFF2-40B4-BE49-F238E27FC236}">
                <a16:creationId xmlns:a16="http://schemas.microsoft.com/office/drawing/2014/main" id="{1946A624-A303-1947-8F80-49229ABE69FA}"/>
              </a:ext>
            </a:extLst>
          </p:cNvPr>
          <p:cNvGrpSpPr>
            <a:grpSpLocks/>
          </p:cNvGrpSpPr>
          <p:nvPr/>
        </p:nvGrpSpPr>
        <p:grpSpPr bwMode="auto">
          <a:xfrm>
            <a:off x="1238250" y="4419600"/>
            <a:ext cx="6819900" cy="1042988"/>
            <a:chOff x="1351" y="2395"/>
            <a:chExt cx="2417" cy="329"/>
          </a:xfrm>
        </p:grpSpPr>
        <p:grpSp>
          <p:nvGrpSpPr>
            <p:cNvPr id="73732" name="Group 6">
              <a:extLst>
                <a:ext uri="{FF2B5EF4-FFF2-40B4-BE49-F238E27FC236}">
                  <a16:creationId xmlns:a16="http://schemas.microsoft.com/office/drawing/2014/main" id="{8956988A-6CEE-6A41-99A7-160DA1231E77}"/>
                </a:ext>
              </a:extLst>
            </p:cNvPr>
            <p:cNvGrpSpPr>
              <a:grpSpLocks/>
            </p:cNvGrpSpPr>
            <p:nvPr/>
          </p:nvGrpSpPr>
          <p:grpSpPr bwMode="auto">
            <a:xfrm>
              <a:off x="1351" y="2395"/>
              <a:ext cx="2273" cy="329"/>
              <a:chOff x="1983" y="7229"/>
              <a:chExt cx="5682" cy="820"/>
            </a:xfrm>
          </p:grpSpPr>
          <p:grpSp>
            <p:nvGrpSpPr>
              <p:cNvPr id="73734" name="Group 7">
                <a:extLst>
                  <a:ext uri="{FF2B5EF4-FFF2-40B4-BE49-F238E27FC236}">
                    <a16:creationId xmlns:a16="http://schemas.microsoft.com/office/drawing/2014/main" id="{73B142F0-1F55-8641-908B-8334F6D9079C}"/>
                  </a:ext>
                </a:extLst>
              </p:cNvPr>
              <p:cNvGrpSpPr>
                <a:grpSpLocks/>
              </p:cNvGrpSpPr>
              <p:nvPr/>
            </p:nvGrpSpPr>
            <p:grpSpPr bwMode="auto">
              <a:xfrm>
                <a:off x="2265" y="7485"/>
                <a:ext cx="5400" cy="564"/>
                <a:chOff x="2265" y="7485"/>
                <a:chExt cx="5400" cy="564"/>
              </a:xfrm>
            </p:grpSpPr>
            <p:sp>
              <p:nvSpPr>
                <p:cNvPr id="23" name="Rectangle 8" descr="宽上对角线">
                  <a:extLst>
                    <a:ext uri="{FF2B5EF4-FFF2-40B4-BE49-F238E27FC236}">
                      <a16:creationId xmlns:a16="http://schemas.microsoft.com/office/drawing/2014/main" id="{2AD6C70E-9200-5E44-A90E-56AEB6408F21}"/>
                    </a:ext>
                  </a:extLst>
                </p:cNvPr>
                <p:cNvSpPr>
                  <a:spLocks noChangeArrowheads="1"/>
                </p:cNvSpPr>
                <p:nvPr/>
              </p:nvSpPr>
              <p:spPr bwMode="ltGray">
                <a:xfrm>
                  <a:off x="2987" y="7485"/>
                  <a:ext cx="1024" cy="564"/>
                </a:xfrm>
                <a:prstGeom prst="rect">
                  <a:avLst/>
                </a:prstGeom>
                <a:noFill/>
                <a:ln w="9525" cap="rnd">
                  <a:solidFill>
                    <a:srgbClr val="000000"/>
                  </a:solidFill>
                  <a:miter lim="800000"/>
                  <a:headEnd/>
                  <a:tailEnd/>
                </a:ln>
                <a:effec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a:lnSpc>
                      <a:spcPct val="90000"/>
                    </a:lnSpc>
                    <a:defRPr/>
                  </a:pPr>
                  <a:r>
                    <a:rPr lang="zh-CN" altLang="en-US" sz="200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rPr>
                    <a:t>指纹图象</a:t>
                  </a:r>
                </a:p>
                <a:p>
                  <a:pPr algn="ctr">
                    <a:lnSpc>
                      <a:spcPct val="90000"/>
                    </a:lnSpc>
                    <a:defRPr/>
                  </a:pPr>
                  <a:r>
                    <a:rPr lang="zh-CN" altLang="en-US" sz="200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rPr>
                    <a:t>采集仪</a:t>
                  </a:r>
                </a:p>
              </p:txBody>
            </p:sp>
            <p:sp>
              <p:nvSpPr>
                <p:cNvPr id="24" name="Rectangle 9" descr="宽上对角线">
                  <a:extLst>
                    <a:ext uri="{FF2B5EF4-FFF2-40B4-BE49-F238E27FC236}">
                      <a16:creationId xmlns:a16="http://schemas.microsoft.com/office/drawing/2014/main" id="{EE54AF9B-9226-A94C-90EB-1D50C5A293B4}"/>
                    </a:ext>
                  </a:extLst>
                </p:cNvPr>
                <p:cNvSpPr>
                  <a:spLocks noChangeArrowheads="1"/>
                </p:cNvSpPr>
                <p:nvPr/>
              </p:nvSpPr>
              <p:spPr bwMode="ltGray">
                <a:xfrm>
                  <a:off x="4426" y="7485"/>
                  <a:ext cx="1024" cy="564"/>
                </a:xfrm>
                <a:prstGeom prst="rect">
                  <a:avLst/>
                </a:prstGeom>
                <a:noFill/>
                <a:ln w="9525" cap="rnd">
                  <a:solidFill>
                    <a:srgbClr val="000000"/>
                  </a:solidFill>
                  <a:miter lim="800000"/>
                  <a:headEnd/>
                  <a:tailEnd/>
                </a:ln>
                <a:effec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a:lnSpc>
                      <a:spcPct val="90000"/>
                    </a:lnSpc>
                    <a:defRPr/>
                  </a:pPr>
                  <a:r>
                    <a:rPr lang="zh-CN" altLang="en-US" sz="200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rPr>
                    <a:t>图象输入</a:t>
                  </a:r>
                </a:p>
                <a:p>
                  <a:pPr algn="ctr">
                    <a:lnSpc>
                      <a:spcPct val="90000"/>
                    </a:lnSpc>
                    <a:defRPr/>
                  </a:pPr>
                  <a:r>
                    <a:rPr lang="zh-CN" altLang="en-US" sz="200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rPr>
                    <a:t>通道</a:t>
                  </a:r>
                </a:p>
              </p:txBody>
            </p:sp>
            <p:sp>
              <p:nvSpPr>
                <p:cNvPr id="25" name="Rectangle 10" descr="宽上对角线">
                  <a:extLst>
                    <a:ext uri="{FF2B5EF4-FFF2-40B4-BE49-F238E27FC236}">
                      <a16:creationId xmlns:a16="http://schemas.microsoft.com/office/drawing/2014/main" id="{02DD96BC-1AFB-2449-A132-3F93535A0D63}"/>
                    </a:ext>
                  </a:extLst>
                </p:cNvPr>
                <p:cNvSpPr>
                  <a:spLocks noChangeArrowheads="1"/>
                </p:cNvSpPr>
                <p:nvPr/>
              </p:nvSpPr>
              <p:spPr bwMode="ltGray">
                <a:xfrm>
                  <a:off x="5865" y="7485"/>
                  <a:ext cx="1024" cy="564"/>
                </a:xfrm>
                <a:prstGeom prst="rect">
                  <a:avLst/>
                </a:prstGeom>
                <a:noFill/>
                <a:ln w="9525" cap="rnd">
                  <a:solidFill>
                    <a:srgbClr val="000000"/>
                  </a:solidFill>
                  <a:miter lim="800000"/>
                  <a:headEnd/>
                  <a:tailEnd/>
                </a:ln>
                <a:effec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a:lnSpc>
                      <a:spcPct val="90000"/>
                    </a:lnSpc>
                    <a:defRPr/>
                  </a:pPr>
                  <a:r>
                    <a:rPr lang="zh-CN" altLang="en-US" sz="200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rPr>
                    <a:t>指纹细节</a:t>
                  </a:r>
                </a:p>
                <a:p>
                  <a:pPr algn="ctr">
                    <a:lnSpc>
                      <a:spcPct val="90000"/>
                    </a:lnSpc>
                    <a:defRPr/>
                  </a:pPr>
                  <a:r>
                    <a:rPr lang="zh-CN" altLang="en-US" sz="200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rPr>
                    <a:t>匹配</a:t>
                  </a:r>
                </a:p>
              </p:txBody>
            </p:sp>
            <p:sp>
              <p:nvSpPr>
                <p:cNvPr id="26" name="Line 11">
                  <a:extLst>
                    <a:ext uri="{FF2B5EF4-FFF2-40B4-BE49-F238E27FC236}">
                      <a16:creationId xmlns:a16="http://schemas.microsoft.com/office/drawing/2014/main" id="{A33BB5EC-326B-7A46-97F4-025C26BA7FD7}"/>
                    </a:ext>
                  </a:extLst>
                </p:cNvPr>
                <p:cNvSpPr>
                  <a:spLocks noChangeShapeType="1"/>
                </p:cNvSpPr>
                <p:nvPr/>
              </p:nvSpPr>
              <p:spPr bwMode="auto">
                <a:xfrm>
                  <a:off x="4066" y="7794"/>
                  <a:ext cx="360" cy="0"/>
                </a:xfrm>
                <a:prstGeom prst="line">
                  <a:avLst/>
                </a:prstGeom>
                <a:noFill/>
                <a:ln w="9525">
                  <a:solidFill>
                    <a:srgbClr val="000000"/>
                  </a:solidFill>
                  <a:round/>
                  <a:headEnd/>
                  <a:tailEnd type="triangle" w="med" len="med"/>
                </a:ln>
              </p:spPr>
              <p:txBody>
                <a:bodyPr/>
                <a:lstStyle/>
                <a:p>
                  <a:pPr eaLnBrk="1" hangingPunct="1">
                    <a:lnSpc>
                      <a:spcPct val="90000"/>
                    </a:lnSpc>
                    <a:defRPr/>
                  </a:pPr>
                  <a:endParaRPr lang="zh-CN" altLang="en-US" sz="2000">
                    <a:solidFill>
                      <a:srgbClr val="0000FF"/>
                    </a:solidFill>
                    <a:effectLst>
                      <a:outerShdw blurRad="38100" dist="38100" dir="2700000" algn="tl">
                        <a:srgbClr val="000000">
                          <a:alpha val="43137"/>
                        </a:srgbClr>
                      </a:outerShdw>
                    </a:effectLst>
                    <a:latin typeface="宋体" pitchFamily="2" charset="-122"/>
                    <a:ea typeface="宋体" pitchFamily="2" charset="-122"/>
                  </a:endParaRPr>
                </a:p>
              </p:txBody>
            </p:sp>
            <p:sp>
              <p:nvSpPr>
                <p:cNvPr id="27" name="Line 12">
                  <a:extLst>
                    <a:ext uri="{FF2B5EF4-FFF2-40B4-BE49-F238E27FC236}">
                      <a16:creationId xmlns:a16="http://schemas.microsoft.com/office/drawing/2014/main" id="{B587497A-949B-7143-B0BD-EC0D21D53F16}"/>
                    </a:ext>
                  </a:extLst>
                </p:cNvPr>
                <p:cNvSpPr>
                  <a:spLocks noChangeShapeType="1"/>
                </p:cNvSpPr>
                <p:nvPr/>
              </p:nvSpPr>
              <p:spPr bwMode="auto">
                <a:xfrm>
                  <a:off x="5505" y="7794"/>
                  <a:ext cx="360" cy="0"/>
                </a:xfrm>
                <a:prstGeom prst="line">
                  <a:avLst/>
                </a:prstGeom>
                <a:noFill/>
                <a:ln w="9525">
                  <a:solidFill>
                    <a:srgbClr val="000000"/>
                  </a:solidFill>
                  <a:round/>
                  <a:headEnd/>
                  <a:tailEnd type="triangle" w="med" len="med"/>
                </a:ln>
              </p:spPr>
              <p:txBody>
                <a:bodyPr/>
                <a:lstStyle/>
                <a:p>
                  <a:pPr eaLnBrk="1" hangingPunct="1">
                    <a:lnSpc>
                      <a:spcPct val="90000"/>
                    </a:lnSpc>
                    <a:defRPr/>
                  </a:pPr>
                  <a:endParaRPr lang="zh-CN" altLang="en-US" sz="2000">
                    <a:solidFill>
                      <a:srgbClr val="0000FF"/>
                    </a:solidFill>
                    <a:effectLst>
                      <a:outerShdw blurRad="38100" dist="38100" dir="2700000" algn="tl">
                        <a:srgbClr val="000000">
                          <a:alpha val="43137"/>
                        </a:srgbClr>
                      </a:outerShdw>
                    </a:effectLst>
                    <a:latin typeface="宋体" pitchFamily="2" charset="-122"/>
                    <a:ea typeface="宋体" pitchFamily="2" charset="-122"/>
                  </a:endParaRPr>
                </a:p>
              </p:txBody>
            </p:sp>
            <p:sp>
              <p:nvSpPr>
                <p:cNvPr id="28" name="Line 13">
                  <a:extLst>
                    <a:ext uri="{FF2B5EF4-FFF2-40B4-BE49-F238E27FC236}">
                      <a16:creationId xmlns:a16="http://schemas.microsoft.com/office/drawing/2014/main" id="{A3B543CE-E324-D743-A5C4-5CB8F940E8BB}"/>
                    </a:ext>
                  </a:extLst>
                </p:cNvPr>
                <p:cNvSpPr>
                  <a:spLocks noChangeShapeType="1"/>
                </p:cNvSpPr>
                <p:nvPr/>
              </p:nvSpPr>
              <p:spPr bwMode="auto">
                <a:xfrm>
                  <a:off x="6945" y="7794"/>
                  <a:ext cx="720" cy="0"/>
                </a:xfrm>
                <a:prstGeom prst="line">
                  <a:avLst/>
                </a:prstGeom>
                <a:noFill/>
                <a:ln w="9525">
                  <a:solidFill>
                    <a:srgbClr val="000000"/>
                  </a:solidFill>
                  <a:round/>
                  <a:headEnd/>
                  <a:tailEnd type="triangle" w="med" len="med"/>
                </a:ln>
              </p:spPr>
              <p:txBody>
                <a:bodyPr/>
                <a:lstStyle/>
                <a:p>
                  <a:pPr eaLnBrk="1" hangingPunct="1">
                    <a:lnSpc>
                      <a:spcPct val="90000"/>
                    </a:lnSpc>
                    <a:defRPr/>
                  </a:pPr>
                  <a:endParaRPr lang="zh-CN" altLang="en-US" sz="2000">
                    <a:solidFill>
                      <a:srgbClr val="0000FF"/>
                    </a:solidFill>
                    <a:effectLst>
                      <a:outerShdw blurRad="38100" dist="38100" dir="2700000" algn="tl">
                        <a:srgbClr val="000000">
                          <a:alpha val="43137"/>
                        </a:srgbClr>
                      </a:outerShdw>
                    </a:effectLst>
                    <a:latin typeface="宋体" pitchFamily="2" charset="-122"/>
                    <a:ea typeface="宋体" pitchFamily="2" charset="-122"/>
                  </a:endParaRPr>
                </a:p>
              </p:txBody>
            </p:sp>
            <p:sp>
              <p:nvSpPr>
                <p:cNvPr id="29" name="Line 14">
                  <a:extLst>
                    <a:ext uri="{FF2B5EF4-FFF2-40B4-BE49-F238E27FC236}">
                      <a16:creationId xmlns:a16="http://schemas.microsoft.com/office/drawing/2014/main" id="{78873330-7ED1-CA41-A7C7-39227A10DEC4}"/>
                    </a:ext>
                  </a:extLst>
                </p:cNvPr>
                <p:cNvSpPr>
                  <a:spLocks noChangeShapeType="1"/>
                </p:cNvSpPr>
                <p:nvPr/>
              </p:nvSpPr>
              <p:spPr bwMode="auto">
                <a:xfrm>
                  <a:off x="2267" y="7794"/>
                  <a:ext cx="720" cy="0"/>
                </a:xfrm>
                <a:prstGeom prst="line">
                  <a:avLst/>
                </a:prstGeom>
                <a:noFill/>
                <a:ln w="9525">
                  <a:solidFill>
                    <a:srgbClr val="000000"/>
                  </a:solidFill>
                  <a:round/>
                  <a:headEnd/>
                  <a:tailEnd type="triangle" w="med" len="med"/>
                </a:ln>
              </p:spPr>
              <p:txBody>
                <a:bodyPr/>
                <a:lstStyle/>
                <a:p>
                  <a:pPr eaLnBrk="1" hangingPunct="1">
                    <a:lnSpc>
                      <a:spcPct val="90000"/>
                    </a:lnSpc>
                    <a:defRPr/>
                  </a:pPr>
                  <a:endParaRPr lang="zh-CN" altLang="en-US" sz="2000">
                    <a:solidFill>
                      <a:srgbClr val="0000FF"/>
                    </a:solidFill>
                    <a:effectLst>
                      <a:outerShdw blurRad="38100" dist="38100" dir="2700000" algn="tl">
                        <a:srgbClr val="000000">
                          <a:alpha val="43137"/>
                        </a:srgbClr>
                      </a:outerShdw>
                    </a:effectLst>
                    <a:latin typeface="宋体" pitchFamily="2" charset="-122"/>
                    <a:ea typeface="宋体" pitchFamily="2" charset="-122"/>
                  </a:endParaRPr>
                </a:p>
              </p:txBody>
            </p:sp>
          </p:grpSp>
          <p:graphicFrame>
            <p:nvGraphicFramePr>
              <p:cNvPr id="73735" name="Object 4">
                <a:extLst>
                  <a:ext uri="{FF2B5EF4-FFF2-40B4-BE49-F238E27FC236}">
                    <a16:creationId xmlns:a16="http://schemas.microsoft.com/office/drawing/2014/main" id="{5235EE5D-A316-1840-A9A2-5D11AF37B24E}"/>
                  </a:ext>
                </a:extLst>
              </p:cNvPr>
              <p:cNvGraphicFramePr>
                <a:graphicFrameLocks noChangeAspect="1"/>
              </p:cNvGraphicFramePr>
              <p:nvPr/>
            </p:nvGraphicFramePr>
            <p:xfrm>
              <a:off x="1983" y="7229"/>
              <a:ext cx="525" cy="720"/>
            </p:xfrm>
            <a:graphic>
              <a:graphicData uri="http://schemas.openxmlformats.org/presentationml/2006/ole">
                <mc:AlternateContent xmlns:mc="http://schemas.openxmlformats.org/markup-compatibility/2006">
                  <mc:Choice xmlns:v="urn:schemas-microsoft-com:vml" Requires="v">
                    <p:oleObj name="位图图像" r:id="rId2" imgW="787400" imgH="1104900" progId="PBrush">
                      <p:embed/>
                    </p:oleObj>
                  </mc:Choice>
                  <mc:Fallback>
                    <p:oleObj name="位图图像" r:id="rId2" imgW="787400" imgH="1104900" progId="PBrush">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3" y="7229"/>
                            <a:ext cx="525"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0" name="Text Box 16">
              <a:extLst>
                <a:ext uri="{FF2B5EF4-FFF2-40B4-BE49-F238E27FC236}">
                  <a16:creationId xmlns:a16="http://schemas.microsoft.com/office/drawing/2014/main" id="{995C16B7-6CF1-BE47-95E3-4B1B9CD7C898}"/>
                </a:ext>
              </a:extLst>
            </p:cNvPr>
            <p:cNvSpPr txBox="1">
              <a:spLocks noChangeArrowheads="1"/>
            </p:cNvSpPr>
            <p:nvPr/>
          </p:nvSpPr>
          <p:spPr bwMode="auto">
            <a:xfrm>
              <a:off x="3336" y="2470"/>
              <a:ext cx="432" cy="250"/>
            </a:xfrm>
            <a:prstGeom prst="rect">
              <a:avLst/>
            </a:prstGeom>
            <a:noFill/>
            <a:ln w="9525">
              <a:noFill/>
              <a:miter lim="800000"/>
              <a:headEnd/>
              <a:tailEnd/>
            </a:ln>
            <a:effec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just">
                <a:lnSpc>
                  <a:spcPct val="90000"/>
                </a:lnSpc>
                <a:defRPr/>
              </a:pPr>
              <a:r>
                <a:rPr lang="zh-CN" altLang="en-US" sz="200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rPr>
                <a:t>认证结果</a:t>
              </a: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4450" name="Rectangle 2">
            <a:extLst>
              <a:ext uri="{FF2B5EF4-FFF2-40B4-BE49-F238E27FC236}">
                <a16:creationId xmlns:a16="http://schemas.microsoft.com/office/drawing/2014/main" id="{76C8511A-F7F2-754F-88EE-E1F7C62B8B8F}"/>
              </a:ext>
            </a:extLst>
          </p:cNvPr>
          <p:cNvSpPr>
            <a:spLocks noGrp="1" noChangeArrowheads="1"/>
          </p:cNvSpPr>
          <p:nvPr>
            <p:ph type="title"/>
          </p:nvPr>
        </p:nvSpPr>
        <p:spPr bwMode="auto">
          <a:xfrm>
            <a:off x="484188" y="831850"/>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en-US" altLang="zh-CN" sz="3200">
                <a:solidFill>
                  <a:srgbClr val="FF0000"/>
                </a:solidFill>
                <a:latin typeface="黑体" panose="02010609060101010101" pitchFamily="49" charset="-122"/>
                <a:ea typeface="黑体" panose="02010609060101010101" pitchFamily="49" charset="-122"/>
              </a:rPr>
              <a:t>E</a:t>
            </a:r>
            <a:r>
              <a:rPr kumimoji="1" lang="zh-CN" altLang="en-US" sz="3200">
                <a:solidFill>
                  <a:srgbClr val="FF0000"/>
                </a:solidFill>
                <a:latin typeface="黑体" panose="02010609060101010101" pitchFamily="49" charset="-122"/>
                <a:ea typeface="黑体" panose="02010609060101010101" pitchFamily="49" charset="-122"/>
              </a:rPr>
              <a:t>．个人鉴别令牌</a:t>
            </a:r>
          </a:p>
        </p:txBody>
      </p:sp>
      <p:sp>
        <p:nvSpPr>
          <p:cNvPr id="1384451" name="Rectangle 3">
            <a:extLst>
              <a:ext uri="{FF2B5EF4-FFF2-40B4-BE49-F238E27FC236}">
                <a16:creationId xmlns:a16="http://schemas.microsoft.com/office/drawing/2014/main" id="{F1C6FF19-102B-8B46-83F9-37B927346CA9}"/>
              </a:ext>
            </a:extLst>
          </p:cNvPr>
          <p:cNvSpPr>
            <a:spLocks noGrp="1" noChangeArrowheads="1"/>
          </p:cNvSpPr>
          <p:nvPr>
            <p:ph type="body" idx="1"/>
          </p:nvPr>
        </p:nvSpPr>
        <p:spPr bwMode="auto">
          <a:xfrm>
            <a:off x="762000" y="1828800"/>
            <a:ext cx="8229600" cy="33528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u"/>
              <a:defRPr/>
            </a:pPr>
            <a:r>
              <a:rPr lang="zh-CN" altLang="en-US" sz="2400">
                <a:solidFill>
                  <a:schemeClr val="bg2"/>
                </a:solidFill>
                <a:ea typeface="宋体" panose="02010600030101010101" pitchFamily="2" charset="-122"/>
              </a:rPr>
              <a:t>物理特性用于支持认证“某人拥有某东西” ，但通常要与一个口令或</a:t>
            </a:r>
            <a:r>
              <a:rPr lang="en-US" altLang="zh-CN" sz="2400">
                <a:solidFill>
                  <a:schemeClr val="bg2"/>
                </a:solidFill>
                <a:ea typeface="宋体" panose="02010600030101010101" pitchFamily="2" charset="-122"/>
              </a:rPr>
              <a:t>PIN</a:t>
            </a:r>
            <a:r>
              <a:rPr lang="zh-CN" altLang="en-US" sz="2400">
                <a:solidFill>
                  <a:schemeClr val="bg2"/>
                </a:solidFill>
                <a:ea typeface="宋体" panose="02010600030101010101" pitchFamily="2" charset="-122"/>
              </a:rPr>
              <a:t>结合使用。</a:t>
            </a:r>
          </a:p>
          <a:p>
            <a:pPr eaLnBrk="1" hangingPunct="1">
              <a:buClr>
                <a:srgbClr val="FF0000"/>
              </a:buClr>
              <a:buFont typeface="Wingdings" pitchFamily="2" charset="2"/>
              <a:buChar char="u"/>
              <a:defRPr/>
            </a:pPr>
            <a:r>
              <a:rPr lang="zh-CN" altLang="en-US" sz="2400">
                <a:solidFill>
                  <a:schemeClr val="bg2"/>
                </a:solidFill>
                <a:ea typeface="宋体" panose="02010600030101010101" pitchFamily="2" charset="-122"/>
              </a:rPr>
              <a:t>这种器件应具有存储功能，通常有键盘、显示器等界面部件，更复杂的能支持一次性口令，甚至可嵌入处理器和自己的网络通信设备（如智能卡）。</a:t>
            </a:r>
          </a:p>
          <a:p>
            <a:pPr eaLnBrk="1" hangingPunct="1">
              <a:buClr>
                <a:srgbClr val="FF0000"/>
              </a:buClr>
              <a:buFont typeface="Wingdings" pitchFamily="2" charset="2"/>
              <a:buChar char="u"/>
              <a:defRPr/>
            </a:pPr>
            <a:r>
              <a:rPr lang="zh-CN" altLang="en-US" sz="2400">
                <a:solidFill>
                  <a:schemeClr val="bg2"/>
                </a:solidFill>
                <a:ea typeface="宋体" panose="02010600030101010101" pitchFamily="2" charset="-122"/>
              </a:rPr>
              <a:t>这种器件通常还利用其它密码鉴别方法。</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F569C745-7245-7042-BF72-2E77139E8240}"/>
              </a:ext>
            </a:extLst>
          </p:cNvPr>
          <p:cNvSpPr>
            <a:spLocks noGrp="1"/>
          </p:cNvSpPr>
          <p:nvPr>
            <p:ph idx="1"/>
          </p:nvPr>
        </p:nvSpPr>
        <p:spPr>
          <a:xfrm>
            <a:off x="228600" y="990600"/>
            <a:ext cx="8432800" cy="5181600"/>
          </a:xfrm>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u"/>
              <a:defRPr/>
            </a:pPr>
            <a:r>
              <a:rPr lang="zh-CN" altLang="en-US" sz="2400">
                <a:solidFill>
                  <a:schemeClr val="bg2"/>
                </a:solidFill>
                <a:ea typeface="宋体" panose="02010600030101010101" pitchFamily="2" charset="-122"/>
              </a:rPr>
              <a:t>集成电路卡（</a:t>
            </a:r>
            <a:r>
              <a:rPr lang="en-US" altLang="zh-CN" sz="2400">
                <a:solidFill>
                  <a:schemeClr val="bg2"/>
                </a:solidFill>
                <a:ea typeface="宋体" panose="02010600030101010101" pitchFamily="2" charset="-122"/>
              </a:rPr>
              <a:t>Integrated Circuit Card</a:t>
            </a:r>
            <a:r>
              <a:rPr lang="zh-CN" altLang="en-US" sz="2400">
                <a:solidFill>
                  <a:schemeClr val="bg2"/>
                </a:solidFill>
                <a:ea typeface="宋体" panose="02010600030101010101" pitchFamily="2" charset="-122"/>
              </a:rPr>
              <a:t>）简称</a:t>
            </a:r>
            <a:r>
              <a:rPr lang="en-US" altLang="zh-CN" sz="2400">
                <a:solidFill>
                  <a:schemeClr val="bg2"/>
                </a:solidFill>
                <a:ea typeface="宋体" panose="02010600030101010101" pitchFamily="2" charset="-122"/>
              </a:rPr>
              <a:t>IC</a:t>
            </a:r>
            <a:r>
              <a:rPr lang="zh-CN" altLang="en-US" sz="2400">
                <a:solidFill>
                  <a:schemeClr val="bg2"/>
                </a:solidFill>
                <a:ea typeface="宋体" panose="02010600030101010101" pitchFamily="2" charset="-122"/>
              </a:rPr>
              <a:t>卡，其中镶嵌集成电路芯片</a:t>
            </a:r>
            <a:endParaRPr lang="en-US" altLang="zh-CN" sz="2400">
              <a:solidFill>
                <a:schemeClr val="bg2"/>
              </a:solidFill>
              <a:ea typeface="宋体" panose="02010600030101010101" pitchFamily="2" charset="-122"/>
            </a:endParaRPr>
          </a:p>
          <a:p>
            <a:pPr eaLnBrk="1" hangingPunct="1">
              <a:buClr>
                <a:srgbClr val="FF0000"/>
              </a:buClr>
              <a:buFont typeface="Wingdings" pitchFamily="2" charset="2"/>
              <a:buChar char="u"/>
              <a:defRPr/>
            </a:pPr>
            <a:r>
              <a:rPr lang="en-US" altLang="zh-CN" sz="2400">
                <a:solidFill>
                  <a:schemeClr val="bg2"/>
                </a:solidFill>
                <a:ea typeface="宋体" panose="02010600030101010101" pitchFamily="2" charset="-122"/>
              </a:rPr>
              <a:t>IC</a:t>
            </a:r>
            <a:r>
              <a:rPr lang="zh-CN" altLang="en-US" sz="2400">
                <a:solidFill>
                  <a:schemeClr val="bg2"/>
                </a:solidFill>
                <a:ea typeface="宋体" panose="02010600030101010101" pitchFamily="2" charset="-122"/>
              </a:rPr>
              <a:t>卡的分类</a:t>
            </a:r>
            <a:endParaRPr lang="en-US" altLang="zh-CN" sz="2400">
              <a:solidFill>
                <a:schemeClr val="bg2"/>
              </a:solidFill>
              <a:ea typeface="宋体" panose="02010600030101010101" pitchFamily="2" charset="-122"/>
            </a:endParaRPr>
          </a:p>
          <a:p>
            <a:pPr lvl="1" eaLnBrk="1" hangingPunct="1">
              <a:buClr>
                <a:srgbClr val="FF0000"/>
              </a:buClr>
              <a:defRPr/>
            </a:pPr>
            <a:r>
              <a:rPr lang="en-US" altLang="zh-CN" sz="2400">
                <a:solidFill>
                  <a:schemeClr val="bg2"/>
                </a:solidFill>
                <a:ea typeface="宋体" panose="02010600030101010101" pitchFamily="2" charset="-122"/>
              </a:rPr>
              <a:t>IC</a:t>
            </a:r>
            <a:r>
              <a:rPr lang="zh-CN" altLang="en-US" sz="2400">
                <a:solidFill>
                  <a:schemeClr val="bg2"/>
                </a:solidFill>
                <a:ea typeface="宋体" panose="02010600030101010101" pitchFamily="2" charset="-122"/>
              </a:rPr>
              <a:t>卡接口类型</a:t>
            </a:r>
            <a:endParaRPr lang="en-US" altLang="zh-CN" sz="2400">
              <a:solidFill>
                <a:schemeClr val="bg2"/>
              </a:solidFill>
              <a:ea typeface="宋体" panose="02010600030101010101" pitchFamily="2" charset="-122"/>
            </a:endParaRPr>
          </a:p>
          <a:p>
            <a:pPr lvl="2" eaLnBrk="1" hangingPunct="1">
              <a:buClr>
                <a:srgbClr val="C6720E"/>
              </a:buClr>
              <a:buFont typeface="Wingdings" pitchFamily="2" charset="2"/>
              <a:buChar char="u"/>
              <a:defRPr/>
            </a:pPr>
            <a:r>
              <a:rPr lang="zh-CN" altLang="en-US" sz="2200">
                <a:solidFill>
                  <a:schemeClr val="bg2"/>
                </a:solidFill>
                <a:ea typeface="宋体" panose="02010600030101010101" pitchFamily="2" charset="-122"/>
              </a:rPr>
              <a:t>接触式</a:t>
            </a:r>
            <a:r>
              <a:rPr lang="en-US" altLang="zh-CN" sz="2200">
                <a:solidFill>
                  <a:schemeClr val="bg2"/>
                </a:solidFill>
                <a:ea typeface="宋体" panose="02010600030101010101" pitchFamily="2" charset="-122"/>
              </a:rPr>
              <a:t>IC</a:t>
            </a:r>
            <a:r>
              <a:rPr lang="zh-CN" altLang="en-US" sz="2200">
                <a:solidFill>
                  <a:schemeClr val="bg2"/>
                </a:solidFill>
                <a:ea typeface="宋体" panose="02010600030101010101" pitchFamily="2" charset="-122"/>
              </a:rPr>
              <a:t>卡</a:t>
            </a:r>
            <a:endParaRPr lang="en-US" altLang="zh-CN" sz="2200">
              <a:solidFill>
                <a:schemeClr val="bg2"/>
              </a:solidFill>
              <a:ea typeface="宋体" panose="02010600030101010101" pitchFamily="2" charset="-122"/>
            </a:endParaRPr>
          </a:p>
          <a:p>
            <a:pPr lvl="2" eaLnBrk="1" hangingPunct="1">
              <a:buClr>
                <a:srgbClr val="C6720E"/>
              </a:buClr>
              <a:buFont typeface="Wingdings" pitchFamily="2" charset="2"/>
              <a:buChar char="u"/>
              <a:defRPr/>
            </a:pPr>
            <a:r>
              <a:rPr lang="zh-CN" altLang="en-US" sz="2200">
                <a:solidFill>
                  <a:schemeClr val="bg2"/>
                </a:solidFill>
                <a:ea typeface="宋体" panose="02010600030101010101" pitchFamily="2" charset="-122"/>
              </a:rPr>
              <a:t>非接触式</a:t>
            </a:r>
            <a:r>
              <a:rPr lang="en-US" altLang="zh-CN" sz="2200">
                <a:solidFill>
                  <a:schemeClr val="bg2"/>
                </a:solidFill>
                <a:ea typeface="宋体" panose="02010600030101010101" pitchFamily="2" charset="-122"/>
              </a:rPr>
              <a:t>IC</a:t>
            </a:r>
            <a:r>
              <a:rPr lang="zh-CN" altLang="en-US" sz="2200">
                <a:solidFill>
                  <a:schemeClr val="bg2"/>
                </a:solidFill>
                <a:ea typeface="宋体" panose="02010600030101010101" pitchFamily="2" charset="-122"/>
              </a:rPr>
              <a:t>卡</a:t>
            </a:r>
            <a:endParaRPr lang="en-US" altLang="zh-CN" sz="2200">
              <a:solidFill>
                <a:schemeClr val="bg2"/>
              </a:solidFill>
              <a:ea typeface="宋体" panose="02010600030101010101" pitchFamily="2" charset="-122"/>
            </a:endParaRPr>
          </a:p>
          <a:p>
            <a:pPr lvl="2" eaLnBrk="1" hangingPunct="1">
              <a:buClr>
                <a:srgbClr val="C6720E"/>
              </a:buClr>
              <a:buFont typeface="Wingdings" pitchFamily="2" charset="2"/>
              <a:buChar char="u"/>
              <a:defRPr/>
            </a:pPr>
            <a:r>
              <a:rPr lang="zh-CN" altLang="en-US" sz="2200">
                <a:solidFill>
                  <a:schemeClr val="bg2"/>
                </a:solidFill>
                <a:ea typeface="宋体" panose="02010600030101010101" pitchFamily="2" charset="-122"/>
              </a:rPr>
              <a:t>双界面卡</a:t>
            </a:r>
            <a:endParaRPr lang="en-US" altLang="zh-CN" sz="2200">
              <a:solidFill>
                <a:schemeClr val="bg2"/>
              </a:solidFill>
              <a:ea typeface="宋体" panose="02010600030101010101" pitchFamily="2" charset="-122"/>
            </a:endParaRPr>
          </a:p>
          <a:p>
            <a:pPr lvl="1" eaLnBrk="1" hangingPunct="1">
              <a:buClr>
                <a:srgbClr val="FF0000"/>
              </a:buClr>
              <a:defRPr/>
            </a:pPr>
            <a:r>
              <a:rPr lang="zh-CN" altLang="en-US" sz="2400">
                <a:solidFill>
                  <a:schemeClr val="bg2"/>
                </a:solidFill>
                <a:ea typeface="宋体" panose="02010600030101010101" pitchFamily="2" charset="-122"/>
              </a:rPr>
              <a:t>嵌入集成电路芯片的形式和类型</a:t>
            </a:r>
            <a:endParaRPr lang="en-US" altLang="zh-CN" sz="2400">
              <a:solidFill>
                <a:schemeClr val="bg2"/>
              </a:solidFill>
              <a:ea typeface="宋体" panose="02010600030101010101" pitchFamily="2" charset="-122"/>
            </a:endParaRPr>
          </a:p>
          <a:p>
            <a:pPr lvl="2" eaLnBrk="1" hangingPunct="1">
              <a:buClr>
                <a:srgbClr val="C6720E"/>
              </a:buClr>
              <a:buFont typeface="Wingdings" pitchFamily="2" charset="2"/>
              <a:buChar char="u"/>
              <a:defRPr/>
            </a:pPr>
            <a:r>
              <a:rPr lang="zh-CN" altLang="en-US" sz="2200">
                <a:solidFill>
                  <a:schemeClr val="bg2"/>
                </a:solidFill>
                <a:ea typeface="宋体" panose="02010600030101010101" pitchFamily="2" charset="-122"/>
              </a:rPr>
              <a:t>非加密存储卡</a:t>
            </a:r>
            <a:endParaRPr lang="en-US" altLang="zh-CN" sz="2200">
              <a:solidFill>
                <a:schemeClr val="bg2"/>
              </a:solidFill>
              <a:ea typeface="宋体" panose="02010600030101010101" pitchFamily="2" charset="-122"/>
            </a:endParaRPr>
          </a:p>
          <a:p>
            <a:pPr lvl="2" eaLnBrk="1" hangingPunct="1">
              <a:buClr>
                <a:srgbClr val="C6720E"/>
              </a:buClr>
              <a:buFont typeface="Wingdings" pitchFamily="2" charset="2"/>
              <a:buChar char="u"/>
              <a:defRPr/>
            </a:pPr>
            <a:r>
              <a:rPr lang="zh-CN" altLang="en-US" sz="2200">
                <a:solidFill>
                  <a:schemeClr val="bg2"/>
                </a:solidFill>
                <a:ea typeface="宋体" panose="02010600030101010101" pitchFamily="2" charset="-122"/>
              </a:rPr>
              <a:t>逻辑加密卡</a:t>
            </a:r>
            <a:endParaRPr lang="en-US" altLang="zh-CN" sz="2200">
              <a:solidFill>
                <a:schemeClr val="bg2"/>
              </a:solidFill>
              <a:ea typeface="宋体" panose="02010600030101010101" pitchFamily="2" charset="-122"/>
            </a:endParaRPr>
          </a:p>
          <a:p>
            <a:pPr lvl="2" eaLnBrk="1" hangingPunct="1">
              <a:buClr>
                <a:srgbClr val="C6720E"/>
              </a:buClr>
              <a:buFont typeface="Wingdings" pitchFamily="2" charset="2"/>
              <a:buChar char="u"/>
              <a:defRPr/>
            </a:pPr>
            <a:r>
              <a:rPr lang="en-US" altLang="zh-CN" sz="2200">
                <a:solidFill>
                  <a:schemeClr val="bg2"/>
                </a:solidFill>
                <a:ea typeface="宋体" panose="02010600030101010101" pitchFamily="2" charset="-122"/>
              </a:rPr>
              <a:t>CPU</a:t>
            </a:r>
            <a:r>
              <a:rPr lang="zh-CN" altLang="en-US" sz="2200">
                <a:solidFill>
                  <a:schemeClr val="bg2"/>
                </a:solidFill>
                <a:ea typeface="宋体" panose="02010600030101010101" pitchFamily="2" charset="-122"/>
              </a:rPr>
              <a:t>卡（又称智能卡）</a:t>
            </a:r>
            <a:endParaRPr lang="en-US" altLang="zh-CN" sz="2200">
              <a:solidFill>
                <a:schemeClr val="bg2"/>
              </a:solidFill>
              <a:ea typeface="宋体" panose="02010600030101010101" pitchFamily="2" charset="-122"/>
            </a:endParaRPr>
          </a:p>
          <a:p>
            <a:pPr lvl="1" eaLnBrk="1" hangingPunct="1">
              <a:defRPr/>
            </a:pPr>
            <a:endParaRPr lang="en-US" altLang="zh-CN" sz="2400">
              <a:solidFill>
                <a:schemeClr val="bg2"/>
              </a:solidFill>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A715B518-CE6D-B147-B562-0173599BBAF0}"/>
              </a:ext>
            </a:extLst>
          </p:cNvPr>
          <p:cNvSpPr>
            <a:spLocks noGrp="1"/>
          </p:cNvSpPr>
          <p:nvPr>
            <p:ph idx="1"/>
          </p:nvPr>
        </p:nvSpPr>
        <p:spPr>
          <a:xfrm>
            <a:off x="336550" y="838200"/>
            <a:ext cx="8251825" cy="5181600"/>
          </a:xfrm>
        </p:spPr>
        <p:txBody>
          <a:bodyPr vert="horz" wrap="square" lIns="91440" tIns="45720" rIns="91440" bIns="45720" numCol="1" anchor="t" anchorCtr="0" compatLnSpc="1">
            <a:prstTxWarp prst="textNoShape">
              <a:avLst/>
            </a:prstTxWarp>
            <a:noAutofit/>
          </a:bodyPr>
          <a:lstStyle/>
          <a:p>
            <a:pPr eaLnBrk="1" hangingPunct="1">
              <a:buClr>
                <a:srgbClr val="FF0000"/>
              </a:buClr>
              <a:buFont typeface="Wingdings" pitchFamily="2" charset="2"/>
              <a:buChar char="u"/>
              <a:defRPr/>
            </a:pPr>
            <a:r>
              <a:rPr lang="zh-CN" altLang="en-US" sz="2400">
                <a:solidFill>
                  <a:schemeClr val="bg2"/>
                </a:solidFill>
                <a:ea typeface="宋体" panose="02010600030101010101" pitchFamily="2" charset="-122"/>
              </a:rPr>
              <a:t>硬件</a:t>
            </a:r>
            <a:endParaRPr lang="en-US" altLang="zh-CN" sz="2400">
              <a:solidFill>
                <a:schemeClr val="bg2"/>
              </a:solidFill>
              <a:ea typeface="宋体" panose="02010600030101010101" pitchFamily="2" charset="-122"/>
            </a:endParaRPr>
          </a:p>
          <a:p>
            <a:pPr lvl="1" eaLnBrk="1" hangingPunct="1">
              <a:buClr>
                <a:srgbClr val="FF0000"/>
              </a:buClr>
              <a:defRPr/>
            </a:pPr>
            <a:r>
              <a:rPr lang="zh-CN" altLang="en-US" sz="2400">
                <a:solidFill>
                  <a:schemeClr val="bg2"/>
                </a:solidFill>
                <a:ea typeface="宋体" panose="02010600030101010101" pitchFamily="2" charset="-122"/>
              </a:rPr>
              <a:t>与外界通信前，先完成智能卡与终端间的认证</a:t>
            </a:r>
            <a:endParaRPr lang="en-US" altLang="zh-CN" sz="2400">
              <a:solidFill>
                <a:schemeClr val="bg2"/>
              </a:solidFill>
              <a:ea typeface="宋体" panose="02010600030101010101" pitchFamily="2" charset="-122"/>
            </a:endParaRPr>
          </a:p>
          <a:p>
            <a:pPr lvl="1" eaLnBrk="1" hangingPunct="1">
              <a:buClr>
                <a:srgbClr val="FF0000"/>
              </a:buClr>
              <a:defRPr/>
            </a:pPr>
            <a:r>
              <a:rPr lang="zh-CN" altLang="en-US" sz="2400">
                <a:solidFill>
                  <a:schemeClr val="bg2"/>
                </a:solidFill>
                <a:ea typeface="宋体" panose="02010600030101010101" pitchFamily="2" charset="-122"/>
              </a:rPr>
              <a:t>加入安全传感器，防止在数据被读出或写入时被修改</a:t>
            </a:r>
            <a:endParaRPr lang="en-US" altLang="zh-CN" sz="2400">
              <a:solidFill>
                <a:schemeClr val="bg2"/>
              </a:solidFill>
              <a:ea typeface="宋体" panose="02010600030101010101" pitchFamily="2" charset="-122"/>
            </a:endParaRPr>
          </a:p>
          <a:p>
            <a:pPr lvl="1" eaLnBrk="1" hangingPunct="1">
              <a:buClr>
                <a:srgbClr val="FF0000"/>
              </a:buClr>
              <a:defRPr/>
            </a:pPr>
            <a:r>
              <a:rPr lang="zh-CN" altLang="en-US" sz="2400">
                <a:solidFill>
                  <a:schemeClr val="bg2"/>
                </a:solidFill>
                <a:ea typeface="宋体" panose="02010600030101010101" pitchFamily="2" charset="-122"/>
              </a:rPr>
              <a:t>发生异常，智能卡复位，或者置标志位，使智能卡操作系统做出相应反应</a:t>
            </a:r>
            <a:endParaRPr lang="en-US" altLang="zh-CN" sz="2400">
              <a:solidFill>
                <a:schemeClr val="bg2"/>
              </a:solidFill>
              <a:ea typeface="宋体" panose="02010600030101010101" pitchFamily="2" charset="-122"/>
            </a:endParaRPr>
          </a:p>
          <a:p>
            <a:pPr lvl="1" eaLnBrk="1" hangingPunct="1">
              <a:buClr>
                <a:srgbClr val="FF0000"/>
              </a:buClr>
              <a:defRPr/>
            </a:pPr>
            <a:r>
              <a:rPr lang="zh-CN" altLang="en-US" sz="2400">
                <a:solidFill>
                  <a:schemeClr val="bg2"/>
                </a:solidFill>
                <a:ea typeface="宋体" panose="02010600030101010101" pitchFamily="2" charset="-122"/>
              </a:rPr>
              <a:t>存储器加密，不保存任何明文</a:t>
            </a:r>
            <a:endParaRPr lang="en-US" altLang="zh-CN" sz="2400">
              <a:solidFill>
                <a:schemeClr val="bg2"/>
              </a:solidFill>
              <a:ea typeface="宋体" panose="02010600030101010101" pitchFamily="2" charset="-122"/>
            </a:endParaRPr>
          </a:p>
          <a:p>
            <a:pPr eaLnBrk="1" hangingPunct="1">
              <a:buClr>
                <a:srgbClr val="FF0000"/>
              </a:buClr>
              <a:buFont typeface="Wingdings" pitchFamily="2" charset="2"/>
              <a:buChar char="u"/>
              <a:defRPr/>
            </a:pPr>
            <a:r>
              <a:rPr lang="zh-CN" altLang="en-US" sz="2400">
                <a:solidFill>
                  <a:schemeClr val="bg2"/>
                </a:solidFill>
                <a:ea typeface="宋体" panose="02010600030101010101" pitchFamily="2" charset="-122"/>
              </a:rPr>
              <a:t>软件</a:t>
            </a:r>
            <a:endParaRPr lang="en-US" altLang="zh-CN" sz="2400">
              <a:solidFill>
                <a:schemeClr val="bg2"/>
              </a:solidFill>
              <a:ea typeface="宋体" panose="02010600030101010101" pitchFamily="2" charset="-122"/>
            </a:endParaRPr>
          </a:p>
          <a:p>
            <a:pPr lvl="1" eaLnBrk="1" hangingPunct="1">
              <a:buClr>
                <a:srgbClr val="FF0000"/>
              </a:buClr>
              <a:defRPr/>
            </a:pPr>
            <a:r>
              <a:rPr lang="zh-CN" altLang="en-US" sz="2400">
                <a:solidFill>
                  <a:schemeClr val="bg2"/>
                </a:solidFill>
                <a:ea typeface="宋体" panose="02010600030101010101" pitchFamily="2" charset="-122"/>
              </a:rPr>
              <a:t>使用需要通过双因素认证，进入操作智能卡的安全状态</a:t>
            </a:r>
            <a:endParaRPr lang="en-US" altLang="zh-CN" sz="2400">
              <a:solidFill>
                <a:schemeClr val="bg2"/>
              </a:solidFill>
              <a:ea typeface="宋体" panose="02010600030101010101" pitchFamily="2" charset="-122"/>
            </a:endParaRPr>
          </a:p>
          <a:p>
            <a:pPr lvl="1" eaLnBrk="1" hangingPunct="1">
              <a:buClr>
                <a:srgbClr val="FF0000"/>
              </a:buClr>
              <a:defRPr/>
            </a:pPr>
            <a:r>
              <a:rPr lang="zh-CN" altLang="en-US" sz="2400">
                <a:solidFill>
                  <a:schemeClr val="bg2"/>
                </a:solidFill>
                <a:ea typeface="宋体" panose="02010600030101010101" pitchFamily="2" charset="-122"/>
              </a:rPr>
              <a:t>信息采用文件系统进行保存，依据类型或密钥的不同，提供不同的访问操作</a:t>
            </a:r>
            <a:endParaRPr lang="en-US" altLang="zh-CN" sz="2400">
              <a:solidFill>
                <a:schemeClr val="bg2"/>
              </a:solidFill>
              <a:ea typeface="宋体" panose="02010600030101010101" pitchFamily="2" charset="-122"/>
            </a:endParaRPr>
          </a:p>
          <a:p>
            <a:pPr lvl="1" eaLnBrk="1" hangingPunct="1">
              <a:buClr>
                <a:srgbClr val="FF0000"/>
              </a:buClr>
              <a:defRPr/>
            </a:pPr>
            <a:r>
              <a:rPr lang="zh-CN" altLang="en-US" sz="2400">
                <a:solidFill>
                  <a:schemeClr val="bg2"/>
                </a:solidFill>
                <a:ea typeface="宋体" panose="02010600030101010101" pitchFamily="2" charset="-122"/>
              </a:rPr>
              <a:t>支持</a:t>
            </a:r>
            <a:r>
              <a:rPr lang="en-US" altLang="zh-CN" sz="2400">
                <a:solidFill>
                  <a:schemeClr val="bg2"/>
                </a:solidFill>
                <a:ea typeface="宋体" panose="02010600030101010101" pitchFamily="2" charset="-122"/>
              </a:rPr>
              <a:t>DES</a:t>
            </a:r>
            <a:r>
              <a:rPr lang="zh-CN" altLang="en-US" sz="2400">
                <a:solidFill>
                  <a:schemeClr val="bg2"/>
                </a:solidFill>
                <a:ea typeface="宋体" panose="02010600030101010101" pitchFamily="2" charset="-122"/>
              </a:rPr>
              <a:t>、</a:t>
            </a:r>
            <a:r>
              <a:rPr lang="en-US" altLang="zh-CN" sz="2400">
                <a:solidFill>
                  <a:schemeClr val="bg2"/>
                </a:solidFill>
                <a:ea typeface="宋体" panose="02010600030101010101" pitchFamily="2" charset="-122"/>
              </a:rPr>
              <a:t>3DES</a:t>
            </a:r>
            <a:r>
              <a:rPr lang="zh-CN" altLang="en-US" sz="2400">
                <a:solidFill>
                  <a:schemeClr val="bg2"/>
                </a:solidFill>
                <a:ea typeface="宋体" panose="02010600030101010101" pitchFamily="2" charset="-122"/>
              </a:rPr>
              <a:t>和</a:t>
            </a:r>
            <a:r>
              <a:rPr lang="en-US" altLang="zh-CN" sz="2400">
                <a:solidFill>
                  <a:schemeClr val="bg2"/>
                </a:solidFill>
                <a:ea typeface="宋体" panose="02010600030101010101" pitchFamily="2" charset="-122"/>
              </a:rPr>
              <a:t>RSA</a:t>
            </a:r>
            <a:r>
              <a:rPr lang="zh-CN" altLang="en-US" sz="2400">
                <a:solidFill>
                  <a:schemeClr val="bg2"/>
                </a:solidFill>
                <a:ea typeface="宋体" panose="02010600030101010101" pitchFamily="2" charset="-122"/>
              </a:rPr>
              <a:t>等密码算法</a:t>
            </a:r>
            <a:endParaRPr lang="en-US" altLang="zh-CN" sz="2400">
              <a:solidFill>
                <a:schemeClr val="bg2"/>
              </a:solidFill>
              <a:ea typeface="宋体" panose="02010600030101010101" pitchFamily="2" charset="-122"/>
            </a:endParaRPr>
          </a:p>
          <a:p>
            <a:pPr lvl="1" eaLnBrk="1" hangingPunct="1">
              <a:defRPr/>
            </a:pPr>
            <a:endParaRPr lang="en-US" altLang="zh-CN" sz="2400">
              <a:solidFill>
                <a:schemeClr val="bg2"/>
              </a:solidFill>
              <a:latin typeface="黑体" panose="02010609060101010101" pitchFamily="49" charset="-122"/>
              <a:ea typeface="黑体" panose="02010609060101010101" pitchFamily="49"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825" name="组合 39">
            <a:extLst>
              <a:ext uri="{FF2B5EF4-FFF2-40B4-BE49-F238E27FC236}">
                <a16:creationId xmlns:a16="http://schemas.microsoft.com/office/drawing/2014/main" id="{08223338-7AF2-EF42-AE03-A1E91BC5DFB1}"/>
              </a:ext>
            </a:extLst>
          </p:cNvPr>
          <p:cNvGrpSpPr>
            <a:grpSpLocks/>
          </p:cNvGrpSpPr>
          <p:nvPr/>
        </p:nvGrpSpPr>
        <p:grpSpPr bwMode="auto">
          <a:xfrm>
            <a:off x="1143000" y="992188"/>
            <a:ext cx="6627813" cy="4570412"/>
            <a:chOff x="1143000" y="838200"/>
            <a:chExt cx="6627780" cy="4570412"/>
          </a:xfrm>
        </p:grpSpPr>
        <p:sp>
          <p:nvSpPr>
            <p:cNvPr id="5" name="TextBox 6">
              <a:extLst>
                <a:ext uri="{FF2B5EF4-FFF2-40B4-BE49-F238E27FC236}">
                  <a16:creationId xmlns:a16="http://schemas.microsoft.com/office/drawing/2014/main" id="{B0222740-2048-4F41-BBB7-1A3BC0948451}"/>
                </a:ext>
              </a:extLst>
            </p:cNvPr>
            <p:cNvSpPr txBox="1">
              <a:spLocks noChangeArrowheads="1"/>
            </p:cNvSpPr>
            <p:nvPr/>
          </p:nvSpPr>
          <p:spPr bwMode="auto">
            <a:xfrm>
              <a:off x="1143000" y="838200"/>
              <a:ext cx="1112832" cy="425450"/>
            </a:xfrm>
            <a:prstGeom prst="rect">
              <a:avLst/>
            </a:prstGeom>
            <a:noFill/>
            <a:ln w="9525">
              <a:solidFill>
                <a:schemeClr val="tx1"/>
              </a:solid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智能卡</a:t>
              </a:r>
            </a:p>
          </p:txBody>
        </p:sp>
        <p:sp>
          <p:nvSpPr>
            <p:cNvPr id="6" name="TextBox 7">
              <a:extLst>
                <a:ext uri="{FF2B5EF4-FFF2-40B4-BE49-F238E27FC236}">
                  <a16:creationId xmlns:a16="http://schemas.microsoft.com/office/drawing/2014/main" id="{76E525BB-6CE0-0B42-89F5-ACE7DB2BEF9E}"/>
                </a:ext>
              </a:extLst>
            </p:cNvPr>
            <p:cNvSpPr txBox="1">
              <a:spLocks noChangeArrowheads="1"/>
            </p:cNvSpPr>
            <p:nvPr/>
          </p:nvSpPr>
          <p:spPr bwMode="auto">
            <a:xfrm>
              <a:off x="3919524" y="838200"/>
              <a:ext cx="1112831" cy="425450"/>
            </a:xfrm>
            <a:prstGeom prst="rect">
              <a:avLst/>
            </a:prstGeom>
            <a:noFill/>
            <a:ln w="9525">
              <a:solidFill>
                <a:schemeClr val="tx1"/>
              </a:solid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客户端</a:t>
              </a:r>
            </a:p>
          </p:txBody>
        </p:sp>
        <p:sp>
          <p:nvSpPr>
            <p:cNvPr id="7" name="TextBox 8">
              <a:extLst>
                <a:ext uri="{FF2B5EF4-FFF2-40B4-BE49-F238E27FC236}">
                  <a16:creationId xmlns:a16="http://schemas.microsoft.com/office/drawing/2014/main" id="{4354F5B3-FC50-BA4E-90B7-CA8299D4EC91}"/>
                </a:ext>
              </a:extLst>
            </p:cNvPr>
            <p:cNvSpPr txBox="1">
              <a:spLocks noChangeArrowheads="1"/>
            </p:cNvSpPr>
            <p:nvPr/>
          </p:nvSpPr>
          <p:spPr bwMode="auto">
            <a:xfrm>
              <a:off x="6657948" y="838200"/>
              <a:ext cx="1112832" cy="425450"/>
            </a:xfrm>
            <a:prstGeom prst="rect">
              <a:avLst/>
            </a:prstGeom>
            <a:noFill/>
            <a:ln w="9525">
              <a:solidFill>
                <a:schemeClr val="tx1"/>
              </a:solid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服务端</a:t>
              </a:r>
            </a:p>
          </p:txBody>
        </p:sp>
        <p:cxnSp>
          <p:nvCxnSpPr>
            <p:cNvPr id="8" name="直接连接符 7">
              <a:extLst>
                <a:ext uri="{FF2B5EF4-FFF2-40B4-BE49-F238E27FC236}">
                  <a16:creationId xmlns:a16="http://schemas.microsoft.com/office/drawing/2014/main" id="{2301DD5F-539C-884E-9332-0B9CEB5464CC}"/>
                </a:ext>
              </a:extLst>
            </p:cNvPr>
            <p:cNvCxnSpPr/>
            <p:nvPr/>
          </p:nvCxnSpPr>
          <p:spPr>
            <a:xfrm rot="5400000">
              <a:off x="-532608" y="3286918"/>
              <a:ext cx="4194175" cy="36513"/>
            </a:xfrm>
            <a:prstGeom prst="line">
              <a:avLst/>
            </a:prstGeom>
            <a:ln w="38100" cmpd="sng">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03DC4906-E5A1-2541-A986-5822C75FA023}"/>
                </a:ext>
              </a:extLst>
            </p:cNvPr>
            <p:cNvCxnSpPr/>
            <p:nvPr/>
          </p:nvCxnSpPr>
          <p:spPr>
            <a:xfrm rot="5400000">
              <a:off x="2242328" y="3293268"/>
              <a:ext cx="4194175" cy="36513"/>
            </a:xfrm>
            <a:prstGeom prst="line">
              <a:avLst/>
            </a:prstGeom>
            <a:ln w="38100" cmpd="sng">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CDFF57E4-0665-8D4A-8863-F971AA4A27BD}"/>
                </a:ext>
              </a:extLst>
            </p:cNvPr>
            <p:cNvCxnSpPr/>
            <p:nvPr/>
          </p:nvCxnSpPr>
          <p:spPr>
            <a:xfrm rot="5400000">
              <a:off x="5017264" y="3293268"/>
              <a:ext cx="4194175" cy="36513"/>
            </a:xfrm>
            <a:prstGeom prst="line">
              <a:avLst/>
            </a:prstGeom>
            <a:ln w="38100" cmpd="sng">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1F8C503D-7F33-2244-9444-48631E9FE299}"/>
                </a:ext>
              </a:extLst>
            </p:cNvPr>
            <p:cNvCxnSpPr/>
            <p:nvPr/>
          </p:nvCxnSpPr>
          <p:spPr>
            <a:xfrm>
              <a:off x="4357672" y="1458912"/>
              <a:ext cx="2774936" cy="15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5">
              <a:extLst>
                <a:ext uri="{FF2B5EF4-FFF2-40B4-BE49-F238E27FC236}">
                  <a16:creationId xmlns:a16="http://schemas.microsoft.com/office/drawing/2014/main" id="{EE5BD064-3C29-444F-A540-5A9168CE93C3}"/>
                </a:ext>
              </a:extLst>
            </p:cNvPr>
            <p:cNvSpPr txBox="1">
              <a:spLocks noChangeArrowheads="1"/>
            </p:cNvSpPr>
            <p:nvPr/>
          </p:nvSpPr>
          <p:spPr bwMode="auto">
            <a:xfrm>
              <a:off x="5233968" y="1203325"/>
              <a:ext cx="1262056" cy="2857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发出登录请求</a:t>
              </a:r>
            </a:p>
          </p:txBody>
        </p:sp>
        <p:cxnSp>
          <p:nvCxnSpPr>
            <p:cNvPr id="13" name="直接箭头连接符 12">
              <a:extLst>
                <a:ext uri="{FF2B5EF4-FFF2-40B4-BE49-F238E27FC236}">
                  <a16:creationId xmlns:a16="http://schemas.microsoft.com/office/drawing/2014/main" id="{679AB83F-BEC2-EE4E-8427-3D06387A3C6B}"/>
                </a:ext>
              </a:extLst>
            </p:cNvPr>
            <p:cNvCxnSpPr/>
            <p:nvPr/>
          </p:nvCxnSpPr>
          <p:spPr>
            <a:xfrm>
              <a:off x="4357672" y="1751012"/>
              <a:ext cx="2774936" cy="1588"/>
            </a:xfrm>
            <a:prstGeom prst="straightConnector1">
              <a:avLst/>
            </a:prstGeom>
            <a:ln w="19050">
              <a:solidFill>
                <a:schemeClr val="tx2">
                  <a:lumMod val="40000"/>
                  <a:lumOff val="60000"/>
                </a:schemeClr>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14" name="TextBox 17">
              <a:extLst>
                <a:ext uri="{FF2B5EF4-FFF2-40B4-BE49-F238E27FC236}">
                  <a16:creationId xmlns:a16="http://schemas.microsoft.com/office/drawing/2014/main" id="{36598FDB-0D13-0B44-B5E5-CC99326E526D}"/>
                </a:ext>
              </a:extLst>
            </p:cNvPr>
            <p:cNvSpPr txBox="1">
              <a:spLocks noChangeArrowheads="1"/>
            </p:cNvSpPr>
            <p:nvPr/>
          </p:nvSpPr>
          <p:spPr bwMode="auto">
            <a:xfrm>
              <a:off x="5014894" y="1495425"/>
              <a:ext cx="1979602" cy="2857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要求用户完成身份认证</a:t>
              </a:r>
            </a:p>
          </p:txBody>
        </p:sp>
        <p:cxnSp>
          <p:nvCxnSpPr>
            <p:cNvPr id="15" name="直接箭头连接符 14">
              <a:extLst>
                <a:ext uri="{FF2B5EF4-FFF2-40B4-BE49-F238E27FC236}">
                  <a16:creationId xmlns:a16="http://schemas.microsoft.com/office/drawing/2014/main" id="{53563F6E-A34E-2A4C-A2E8-D69B2C4720DE}"/>
                </a:ext>
              </a:extLst>
            </p:cNvPr>
            <p:cNvCxnSpPr/>
            <p:nvPr/>
          </p:nvCxnSpPr>
          <p:spPr>
            <a:xfrm>
              <a:off x="1571623" y="1970087"/>
              <a:ext cx="2774936" cy="1588"/>
            </a:xfrm>
            <a:prstGeom prst="straightConnector1">
              <a:avLst/>
            </a:prstGeom>
            <a:ln w="38100">
              <a:solidFill>
                <a:srgbClr val="0000FF"/>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16" name="TextBox 19">
              <a:extLst>
                <a:ext uri="{FF2B5EF4-FFF2-40B4-BE49-F238E27FC236}">
                  <a16:creationId xmlns:a16="http://schemas.microsoft.com/office/drawing/2014/main" id="{BA8C34E1-A9A9-E446-BE0C-8C5551C9F72C}"/>
                </a:ext>
              </a:extLst>
            </p:cNvPr>
            <p:cNvSpPr txBox="1">
              <a:spLocks noChangeArrowheads="1"/>
            </p:cNvSpPr>
            <p:nvPr/>
          </p:nvSpPr>
          <p:spPr bwMode="auto">
            <a:xfrm>
              <a:off x="2349494" y="1714500"/>
              <a:ext cx="1620830" cy="2857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请求读出公钥证书</a:t>
              </a:r>
            </a:p>
          </p:txBody>
        </p:sp>
        <p:cxnSp>
          <p:nvCxnSpPr>
            <p:cNvPr id="17" name="直接箭头连接符 16">
              <a:extLst>
                <a:ext uri="{FF2B5EF4-FFF2-40B4-BE49-F238E27FC236}">
                  <a16:creationId xmlns:a16="http://schemas.microsoft.com/office/drawing/2014/main" id="{47C0A05A-BAA5-C443-84F7-EEF73FCBA7C8}"/>
                </a:ext>
              </a:extLst>
            </p:cNvPr>
            <p:cNvCxnSpPr/>
            <p:nvPr/>
          </p:nvCxnSpPr>
          <p:spPr>
            <a:xfrm>
              <a:off x="1582736" y="2262187"/>
              <a:ext cx="2774936" cy="1588"/>
            </a:xfrm>
            <a:prstGeom prst="straightConnector1">
              <a:avLst/>
            </a:prstGeom>
            <a:ln w="38100">
              <a:solidFill>
                <a:srgbClr val="0000FF"/>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8" name="TextBox 21">
              <a:extLst>
                <a:ext uri="{FF2B5EF4-FFF2-40B4-BE49-F238E27FC236}">
                  <a16:creationId xmlns:a16="http://schemas.microsoft.com/office/drawing/2014/main" id="{D368F0D2-DBB1-7E43-801C-AA1B3265AF65}"/>
                </a:ext>
              </a:extLst>
            </p:cNvPr>
            <p:cNvSpPr txBox="1">
              <a:spLocks noChangeArrowheads="1"/>
            </p:cNvSpPr>
            <p:nvPr/>
          </p:nvSpPr>
          <p:spPr bwMode="auto">
            <a:xfrm>
              <a:off x="2497131" y="2006600"/>
              <a:ext cx="1171569" cy="2857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要求验证</a:t>
              </a:r>
              <a:r>
                <a:rPr lang="en-US" altLang="zh-CN"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PIN</a:t>
              </a:r>
              <a:endPar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cxnSp>
          <p:nvCxnSpPr>
            <p:cNvPr id="19" name="直接箭头连接符 18">
              <a:extLst>
                <a:ext uri="{FF2B5EF4-FFF2-40B4-BE49-F238E27FC236}">
                  <a16:creationId xmlns:a16="http://schemas.microsoft.com/office/drawing/2014/main" id="{5B08FD8F-0488-6846-B5DB-C8AD5BC10F9A}"/>
                </a:ext>
              </a:extLst>
            </p:cNvPr>
            <p:cNvCxnSpPr/>
            <p:nvPr/>
          </p:nvCxnSpPr>
          <p:spPr>
            <a:xfrm>
              <a:off x="1571623" y="2554287"/>
              <a:ext cx="2774936" cy="1588"/>
            </a:xfrm>
            <a:prstGeom prst="straightConnector1">
              <a:avLst/>
            </a:prstGeom>
            <a:ln w="38100">
              <a:solidFill>
                <a:srgbClr val="0000FF"/>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0" name="TextBox 23">
              <a:extLst>
                <a:ext uri="{FF2B5EF4-FFF2-40B4-BE49-F238E27FC236}">
                  <a16:creationId xmlns:a16="http://schemas.microsoft.com/office/drawing/2014/main" id="{441A10BC-D87B-1349-80DF-96C1B8EBA7E3}"/>
                </a:ext>
              </a:extLst>
            </p:cNvPr>
            <p:cNvSpPr txBox="1">
              <a:spLocks noChangeArrowheads="1"/>
            </p:cNvSpPr>
            <p:nvPr/>
          </p:nvSpPr>
          <p:spPr bwMode="auto">
            <a:xfrm>
              <a:off x="2611431" y="2298700"/>
              <a:ext cx="812796" cy="2857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输入</a:t>
              </a:r>
              <a:r>
                <a:rPr lang="en-US" altLang="zh-CN"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PIN</a:t>
              </a:r>
              <a:endPar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cxnSp>
          <p:nvCxnSpPr>
            <p:cNvPr id="21" name="直接箭头连接符 20">
              <a:extLst>
                <a:ext uri="{FF2B5EF4-FFF2-40B4-BE49-F238E27FC236}">
                  <a16:creationId xmlns:a16="http://schemas.microsoft.com/office/drawing/2014/main" id="{3F3EA5A7-77E0-E84B-85A4-57D0A32CBD63}"/>
                </a:ext>
              </a:extLst>
            </p:cNvPr>
            <p:cNvCxnSpPr/>
            <p:nvPr/>
          </p:nvCxnSpPr>
          <p:spPr>
            <a:xfrm>
              <a:off x="1582736" y="2846387"/>
              <a:ext cx="2774936" cy="1588"/>
            </a:xfrm>
            <a:prstGeom prst="straightConnector1">
              <a:avLst/>
            </a:prstGeom>
            <a:ln w="38100">
              <a:solidFill>
                <a:srgbClr val="0000FF"/>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22" name="TextBox 25">
              <a:extLst>
                <a:ext uri="{FF2B5EF4-FFF2-40B4-BE49-F238E27FC236}">
                  <a16:creationId xmlns:a16="http://schemas.microsoft.com/office/drawing/2014/main" id="{E67DD2F8-D222-F54C-B85E-854FC91C748E}"/>
                </a:ext>
              </a:extLst>
            </p:cNvPr>
            <p:cNvSpPr txBox="1">
              <a:spLocks noChangeArrowheads="1"/>
            </p:cNvSpPr>
            <p:nvPr/>
          </p:nvSpPr>
          <p:spPr bwMode="auto">
            <a:xfrm>
              <a:off x="2324094" y="2590800"/>
              <a:ext cx="1800216" cy="2857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完成验证，读出证书</a:t>
              </a:r>
            </a:p>
          </p:txBody>
        </p:sp>
        <p:cxnSp>
          <p:nvCxnSpPr>
            <p:cNvPr id="23" name="直接箭头连接符 22">
              <a:extLst>
                <a:ext uri="{FF2B5EF4-FFF2-40B4-BE49-F238E27FC236}">
                  <a16:creationId xmlns:a16="http://schemas.microsoft.com/office/drawing/2014/main" id="{CB6B2043-D853-8A40-A115-B4A7C1F62DE2}"/>
                </a:ext>
              </a:extLst>
            </p:cNvPr>
            <p:cNvCxnSpPr/>
            <p:nvPr/>
          </p:nvCxnSpPr>
          <p:spPr>
            <a:xfrm>
              <a:off x="4357672" y="3065462"/>
              <a:ext cx="2774936" cy="1588"/>
            </a:xfrm>
            <a:prstGeom prst="straightConnector1">
              <a:avLst/>
            </a:prstGeom>
            <a:ln w="19050">
              <a:solidFill>
                <a:schemeClr val="tx2">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sp>
          <p:nvSpPr>
            <p:cNvPr id="24" name="TextBox 27">
              <a:extLst>
                <a:ext uri="{FF2B5EF4-FFF2-40B4-BE49-F238E27FC236}">
                  <a16:creationId xmlns:a16="http://schemas.microsoft.com/office/drawing/2014/main" id="{6E0A1B07-F29E-F74F-9DD7-750A2E39A844}"/>
                </a:ext>
              </a:extLst>
            </p:cNvPr>
            <p:cNvSpPr txBox="1">
              <a:spLocks noChangeArrowheads="1"/>
            </p:cNvSpPr>
            <p:nvPr/>
          </p:nvSpPr>
          <p:spPr bwMode="auto">
            <a:xfrm>
              <a:off x="4495783" y="2809875"/>
              <a:ext cx="2878124" cy="2857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发送证书，服务器验证证书有效性</a:t>
              </a:r>
            </a:p>
          </p:txBody>
        </p:sp>
        <p:cxnSp>
          <p:nvCxnSpPr>
            <p:cNvPr id="25" name="直接箭头连接符 24">
              <a:extLst>
                <a:ext uri="{FF2B5EF4-FFF2-40B4-BE49-F238E27FC236}">
                  <a16:creationId xmlns:a16="http://schemas.microsoft.com/office/drawing/2014/main" id="{A06491D4-8985-E543-A69B-D11497A1A1C3}"/>
                </a:ext>
              </a:extLst>
            </p:cNvPr>
            <p:cNvCxnSpPr/>
            <p:nvPr/>
          </p:nvCxnSpPr>
          <p:spPr>
            <a:xfrm>
              <a:off x="4357672" y="3357562"/>
              <a:ext cx="2774936" cy="1588"/>
            </a:xfrm>
            <a:prstGeom prst="straightConnector1">
              <a:avLst/>
            </a:prstGeom>
            <a:ln w="19050">
              <a:solidFill>
                <a:schemeClr val="tx2">
                  <a:lumMod val="40000"/>
                  <a:lumOff val="60000"/>
                </a:schemeClr>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6" name="TextBox 29">
              <a:extLst>
                <a:ext uri="{FF2B5EF4-FFF2-40B4-BE49-F238E27FC236}">
                  <a16:creationId xmlns:a16="http://schemas.microsoft.com/office/drawing/2014/main" id="{EDA05E21-EF5E-F343-8385-D18D82909363}"/>
                </a:ext>
              </a:extLst>
            </p:cNvPr>
            <p:cNvSpPr txBox="1">
              <a:spLocks noChangeArrowheads="1"/>
            </p:cNvSpPr>
            <p:nvPr/>
          </p:nvSpPr>
          <p:spPr bwMode="auto">
            <a:xfrm>
              <a:off x="4868844" y="3101975"/>
              <a:ext cx="2070090" cy="2857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签名正确，发出随机数</a:t>
              </a:r>
              <a:r>
                <a:rPr lang="en-US" altLang="zh-CN"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N</a:t>
              </a:r>
              <a:endPar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cxnSp>
          <p:nvCxnSpPr>
            <p:cNvPr id="27" name="直接箭头连接符 26">
              <a:extLst>
                <a:ext uri="{FF2B5EF4-FFF2-40B4-BE49-F238E27FC236}">
                  <a16:creationId xmlns:a16="http://schemas.microsoft.com/office/drawing/2014/main" id="{0F3BD4DC-06FC-754E-B4C9-AA72965A97AC}"/>
                </a:ext>
              </a:extLst>
            </p:cNvPr>
            <p:cNvCxnSpPr/>
            <p:nvPr/>
          </p:nvCxnSpPr>
          <p:spPr>
            <a:xfrm>
              <a:off x="1546223" y="3686175"/>
              <a:ext cx="2774936" cy="1587"/>
            </a:xfrm>
            <a:prstGeom prst="straightConnector1">
              <a:avLst/>
            </a:prstGeom>
            <a:ln w="38100">
              <a:solidFill>
                <a:srgbClr val="0000FF"/>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8" name="TextBox 31">
              <a:extLst>
                <a:ext uri="{FF2B5EF4-FFF2-40B4-BE49-F238E27FC236}">
                  <a16:creationId xmlns:a16="http://schemas.microsoft.com/office/drawing/2014/main" id="{54DB68F2-1293-5749-8A77-1F68F7C245AB}"/>
                </a:ext>
              </a:extLst>
            </p:cNvPr>
            <p:cNvSpPr txBox="1">
              <a:spLocks noChangeArrowheads="1"/>
            </p:cNvSpPr>
            <p:nvPr/>
          </p:nvSpPr>
          <p:spPr bwMode="auto">
            <a:xfrm>
              <a:off x="2203445" y="3430587"/>
              <a:ext cx="1711316" cy="2857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请求对</a:t>
              </a:r>
              <a:r>
                <a:rPr lang="en-US" altLang="zh-CN"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N</a:t>
              </a:r>
              <a:r>
                <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用私钥签名</a:t>
              </a:r>
            </a:p>
          </p:txBody>
        </p:sp>
        <p:cxnSp>
          <p:nvCxnSpPr>
            <p:cNvPr id="29" name="直接箭头连接符 28">
              <a:extLst>
                <a:ext uri="{FF2B5EF4-FFF2-40B4-BE49-F238E27FC236}">
                  <a16:creationId xmlns:a16="http://schemas.microsoft.com/office/drawing/2014/main" id="{18E59B2F-6865-4748-A81A-681EDFF89888}"/>
                </a:ext>
              </a:extLst>
            </p:cNvPr>
            <p:cNvCxnSpPr/>
            <p:nvPr/>
          </p:nvCxnSpPr>
          <p:spPr>
            <a:xfrm>
              <a:off x="1557336" y="3978275"/>
              <a:ext cx="2774936" cy="1587"/>
            </a:xfrm>
            <a:prstGeom prst="straightConnector1">
              <a:avLst/>
            </a:prstGeom>
            <a:ln w="38100">
              <a:solidFill>
                <a:srgbClr val="0000FF"/>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30" name="TextBox 33">
              <a:extLst>
                <a:ext uri="{FF2B5EF4-FFF2-40B4-BE49-F238E27FC236}">
                  <a16:creationId xmlns:a16="http://schemas.microsoft.com/office/drawing/2014/main" id="{5631B0FB-1455-6848-84A0-001435667473}"/>
                </a:ext>
              </a:extLst>
            </p:cNvPr>
            <p:cNvSpPr txBox="1">
              <a:spLocks noChangeArrowheads="1"/>
            </p:cNvSpPr>
            <p:nvPr/>
          </p:nvSpPr>
          <p:spPr bwMode="auto">
            <a:xfrm>
              <a:off x="2203445" y="3722687"/>
              <a:ext cx="1800216" cy="2857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返回私钥签名的结果</a:t>
              </a:r>
            </a:p>
          </p:txBody>
        </p:sp>
        <p:cxnSp>
          <p:nvCxnSpPr>
            <p:cNvPr id="31" name="直接箭头连接符 30">
              <a:extLst>
                <a:ext uri="{FF2B5EF4-FFF2-40B4-BE49-F238E27FC236}">
                  <a16:creationId xmlns:a16="http://schemas.microsoft.com/office/drawing/2014/main" id="{591F6295-3897-4F4E-8494-E0F2EAB5CB6C}"/>
                </a:ext>
              </a:extLst>
            </p:cNvPr>
            <p:cNvCxnSpPr/>
            <p:nvPr/>
          </p:nvCxnSpPr>
          <p:spPr>
            <a:xfrm>
              <a:off x="4344972" y="4343400"/>
              <a:ext cx="2776523" cy="1587"/>
            </a:xfrm>
            <a:prstGeom prst="straightConnector1">
              <a:avLst/>
            </a:prstGeom>
            <a:ln w="19050">
              <a:solidFill>
                <a:schemeClr val="tx2">
                  <a:lumMod val="40000"/>
                  <a:lumOff val="60000"/>
                </a:schemeClr>
              </a:solidFill>
              <a:tailEnd type="arrow"/>
            </a:ln>
          </p:spPr>
          <p:style>
            <a:lnRef idx="1">
              <a:schemeClr val="accent1"/>
            </a:lnRef>
            <a:fillRef idx="0">
              <a:schemeClr val="accent1"/>
            </a:fillRef>
            <a:effectRef idx="0">
              <a:schemeClr val="accent1"/>
            </a:effectRef>
            <a:fontRef idx="minor">
              <a:schemeClr val="tx1"/>
            </a:fontRef>
          </p:style>
        </p:cxnSp>
        <p:sp>
          <p:nvSpPr>
            <p:cNvPr id="32" name="TextBox 35">
              <a:extLst>
                <a:ext uri="{FF2B5EF4-FFF2-40B4-BE49-F238E27FC236}">
                  <a16:creationId xmlns:a16="http://schemas.microsoft.com/office/drawing/2014/main" id="{D0AED83B-E51B-9148-AFA6-FF02B67CE64C}"/>
                </a:ext>
              </a:extLst>
            </p:cNvPr>
            <p:cNvSpPr txBox="1">
              <a:spLocks noChangeArrowheads="1"/>
            </p:cNvSpPr>
            <p:nvPr/>
          </p:nvSpPr>
          <p:spPr bwMode="auto">
            <a:xfrm>
              <a:off x="4394184" y="4087812"/>
              <a:ext cx="3057510" cy="2857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签名结果作为响应，服务器验证签名</a:t>
              </a:r>
            </a:p>
          </p:txBody>
        </p:sp>
        <p:cxnSp>
          <p:nvCxnSpPr>
            <p:cNvPr id="33" name="直接箭头连接符 32">
              <a:extLst>
                <a:ext uri="{FF2B5EF4-FFF2-40B4-BE49-F238E27FC236}">
                  <a16:creationId xmlns:a16="http://schemas.microsoft.com/office/drawing/2014/main" id="{A3F642B2-1555-5047-9C74-1F1E7D9F1D01}"/>
                </a:ext>
              </a:extLst>
            </p:cNvPr>
            <p:cNvCxnSpPr/>
            <p:nvPr/>
          </p:nvCxnSpPr>
          <p:spPr>
            <a:xfrm>
              <a:off x="4321159" y="4635500"/>
              <a:ext cx="2774936" cy="1587"/>
            </a:xfrm>
            <a:prstGeom prst="straightConnector1">
              <a:avLst/>
            </a:prstGeom>
            <a:ln w="19050">
              <a:solidFill>
                <a:schemeClr val="tx2">
                  <a:lumMod val="40000"/>
                  <a:lumOff val="60000"/>
                </a:schemeClr>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4" name="TextBox 37">
              <a:extLst>
                <a:ext uri="{FF2B5EF4-FFF2-40B4-BE49-F238E27FC236}">
                  <a16:creationId xmlns:a16="http://schemas.microsoft.com/office/drawing/2014/main" id="{144ACDFE-2A4F-1D45-B763-85B055D3479D}"/>
                </a:ext>
              </a:extLst>
            </p:cNvPr>
            <p:cNvSpPr txBox="1">
              <a:spLocks noChangeArrowheads="1"/>
            </p:cNvSpPr>
            <p:nvPr/>
          </p:nvSpPr>
          <p:spPr bwMode="auto">
            <a:xfrm>
              <a:off x="4868844" y="4379912"/>
              <a:ext cx="2158989" cy="2857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1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验证正确，允许用户登录</a:t>
              </a:r>
            </a:p>
          </p:txBody>
        </p:sp>
        <p:cxnSp>
          <p:nvCxnSpPr>
            <p:cNvPr id="35" name="直接箭头连接符 34">
              <a:extLst>
                <a:ext uri="{FF2B5EF4-FFF2-40B4-BE49-F238E27FC236}">
                  <a16:creationId xmlns:a16="http://schemas.microsoft.com/office/drawing/2014/main" id="{76DE2BF0-1369-664D-8CCA-F62736E97528}"/>
                </a:ext>
              </a:extLst>
            </p:cNvPr>
            <p:cNvCxnSpPr/>
            <p:nvPr/>
          </p:nvCxnSpPr>
          <p:spPr>
            <a:xfrm>
              <a:off x="4343384" y="3124200"/>
              <a:ext cx="2774936" cy="1587"/>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58F5559A-5C6E-DE4F-A901-1CF5055411A5}"/>
                </a:ext>
              </a:extLst>
            </p:cNvPr>
            <p:cNvCxnSpPr/>
            <p:nvPr/>
          </p:nvCxnSpPr>
          <p:spPr>
            <a:xfrm>
              <a:off x="4343384" y="1751012"/>
              <a:ext cx="2774936" cy="1588"/>
            </a:xfrm>
            <a:prstGeom prst="straightConnector1">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FAB2C05A-D870-6E4D-BA12-FE472CCC212F}"/>
                </a:ext>
              </a:extLst>
            </p:cNvPr>
            <p:cNvCxnSpPr/>
            <p:nvPr/>
          </p:nvCxnSpPr>
          <p:spPr>
            <a:xfrm>
              <a:off x="4311634" y="3427412"/>
              <a:ext cx="2774936" cy="1588"/>
            </a:xfrm>
            <a:prstGeom prst="straightConnector1">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FD471A2E-86A7-1941-8EFC-5A9F8B49C333}"/>
                </a:ext>
              </a:extLst>
            </p:cNvPr>
            <p:cNvCxnSpPr/>
            <p:nvPr/>
          </p:nvCxnSpPr>
          <p:spPr>
            <a:xfrm>
              <a:off x="4343384" y="4343400"/>
              <a:ext cx="2774936" cy="1587"/>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B6EBB8E0-FB89-2B44-BAAF-585EE16D2091}"/>
                </a:ext>
              </a:extLst>
            </p:cNvPr>
            <p:cNvCxnSpPr/>
            <p:nvPr/>
          </p:nvCxnSpPr>
          <p:spPr>
            <a:xfrm>
              <a:off x="4311634" y="4722812"/>
              <a:ext cx="2774936" cy="1588"/>
            </a:xfrm>
            <a:prstGeom prst="straightConnector1">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 name="矩形 40">
            <a:extLst>
              <a:ext uri="{FF2B5EF4-FFF2-40B4-BE49-F238E27FC236}">
                <a16:creationId xmlns:a16="http://schemas.microsoft.com/office/drawing/2014/main" id="{9F969F39-31F3-664A-9117-D028F6EB029B}"/>
              </a:ext>
            </a:extLst>
          </p:cNvPr>
          <p:cNvSpPr/>
          <p:nvPr/>
        </p:nvSpPr>
        <p:spPr>
          <a:xfrm>
            <a:off x="1828800" y="5715000"/>
            <a:ext cx="5562600" cy="534988"/>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32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基于智能卡的身份鉴别过程</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A0393DB-4FEE-AB46-9BD4-C5DAB0B51D77}"/>
              </a:ext>
            </a:extLst>
          </p:cNvPr>
          <p:cNvSpPr txBox="1"/>
          <p:nvPr/>
        </p:nvSpPr>
        <p:spPr>
          <a:xfrm>
            <a:off x="266700" y="5257800"/>
            <a:ext cx="8610600" cy="584775"/>
          </a:xfrm>
          <a:prstGeom prst="rect">
            <a:avLst/>
          </a:prstGeom>
          <a:noFill/>
        </p:spPr>
        <p:txBody>
          <a:bodyPr wrap="square" rtlCol="0">
            <a:spAutoFit/>
          </a:bodyPr>
          <a:lstStyle/>
          <a:p>
            <a:r>
              <a:rPr kumimoji="1" lang="en" altLang="zh-CN" sz="1600" dirty="0">
                <a:solidFill>
                  <a:schemeClr val="bg2"/>
                </a:solidFill>
              </a:rPr>
              <a:t>https://</a:t>
            </a:r>
            <a:r>
              <a:rPr kumimoji="1" lang="en" altLang="zh-CN" sz="1600" dirty="0" err="1">
                <a:solidFill>
                  <a:schemeClr val="bg2"/>
                </a:solidFill>
              </a:rPr>
              <a:t>www.bilibili.com</a:t>
            </a:r>
            <a:r>
              <a:rPr kumimoji="1" lang="en" altLang="zh-CN" sz="1600" dirty="0">
                <a:solidFill>
                  <a:schemeClr val="bg2"/>
                </a:solidFill>
              </a:rPr>
              <a:t>/video/BV18PsCe4E1K/?</a:t>
            </a:r>
            <a:r>
              <a:rPr kumimoji="1" lang="en" altLang="zh-CN" sz="1600" dirty="0" err="1">
                <a:solidFill>
                  <a:schemeClr val="bg2"/>
                </a:solidFill>
              </a:rPr>
              <a:t>spm_id_from</a:t>
            </a:r>
            <a:r>
              <a:rPr kumimoji="1" lang="en" altLang="zh-CN" sz="1600" dirty="0">
                <a:solidFill>
                  <a:schemeClr val="bg2"/>
                </a:solidFill>
              </a:rPr>
              <a:t>=333.999.0.0&amp;vd_source=0991c0bfd7ce6d8c34ea5d7729eaded5</a:t>
            </a:r>
            <a:endParaRPr kumimoji="1" lang="zh-CN" altLang="en-US" sz="1600" dirty="0">
              <a:solidFill>
                <a:schemeClr val="bg2"/>
              </a:solidFill>
            </a:endParaRPr>
          </a:p>
        </p:txBody>
      </p:sp>
      <p:pic>
        <p:nvPicPr>
          <p:cNvPr id="141314" name="Picture 2">
            <a:extLst>
              <a:ext uri="{FF2B5EF4-FFF2-40B4-BE49-F238E27FC236}">
                <a16:creationId xmlns:a16="http://schemas.microsoft.com/office/drawing/2014/main" id="{DEB4DAA2-A3BC-FC41-A332-5CDF0A4E20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240" y="1676400"/>
            <a:ext cx="5303520" cy="331470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36678389-21ED-9949-8C88-C0082D4A0E32}"/>
              </a:ext>
            </a:extLst>
          </p:cNvPr>
          <p:cNvSpPr txBox="1"/>
          <p:nvPr/>
        </p:nvSpPr>
        <p:spPr>
          <a:xfrm>
            <a:off x="284988" y="1019830"/>
            <a:ext cx="3331361" cy="523220"/>
          </a:xfrm>
          <a:prstGeom prst="rect">
            <a:avLst/>
          </a:prstGeom>
          <a:noFill/>
        </p:spPr>
        <p:txBody>
          <a:bodyPr wrap="none" rtlCol="0">
            <a:spAutoFit/>
          </a:bodyPr>
          <a:lstStyle/>
          <a:p>
            <a:r>
              <a:rPr kumimoji="1" lang="en-US" altLang="zh-CN" sz="2800" dirty="0">
                <a:solidFill>
                  <a:schemeClr val="bg2"/>
                </a:solidFill>
              </a:rPr>
              <a:t>2024</a:t>
            </a:r>
            <a:r>
              <a:rPr kumimoji="1" lang="zh-CN" altLang="en-US" sz="2800" dirty="0">
                <a:solidFill>
                  <a:schemeClr val="bg2"/>
                </a:solidFill>
              </a:rPr>
              <a:t>年 黎巴嫩事件</a:t>
            </a:r>
          </a:p>
        </p:txBody>
      </p:sp>
    </p:spTree>
    <p:extLst>
      <p:ext uri="{BB962C8B-B14F-4D97-AF65-F5344CB8AC3E}">
        <p14:creationId xmlns:p14="http://schemas.microsoft.com/office/powerpoint/2010/main" val="30548367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B8D61D64-1CF3-C94C-89BA-CABD740EE93E}"/>
              </a:ext>
            </a:extLst>
          </p:cNvPr>
          <p:cNvSpPr>
            <a:spLocks noChangeArrowheads="1"/>
          </p:cNvSpPr>
          <p:nvPr/>
        </p:nvSpPr>
        <p:spPr bwMode="auto">
          <a:xfrm>
            <a:off x="468313" y="2082800"/>
            <a:ext cx="84582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0000"/>
              </a:lnSpc>
            </a:pPr>
            <a:r>
              <a:rPr lang="en-US" altLang="zh-CN" sz="2800" dirty="0">
                <a:solidFill>
                  <a:schemeClr val="bg2"/>
                </a:solidFill>
                <a:latin typeface="华文中宋" panose="02010600040101010101" pitchFamily="2" charset="-122"/>
                <a:ea typeface="华文中宋" panose="02010600040101010101" pitchFamily="2" charset="-122"/>
              </a:rPr>
              <a:t>   </a:t>
            </a:r>
            <a:r>
              <a:rPr lang="zh-CN" altLang="en-US" sz="2800" dirty="0">
                <a:solidFill>
                  <a:schemeClr val="bg2"/>
                </a:solidFill>
                <a:latin typeface="华文中宋" panose="02010600040101010101" pitchFamily="2" charset="-122"/>
                <a:ea typeface="华文中宋" panose="02010600040101010101" pitchFamily="2" charset="-122"/>
              </a:rPr>
              <a:t>在密码学中，希望一个鉴别协议能够在声称者向验证者证明他身份的同时，没有泄露任何信息。</a:t>
            </a:r>
          </a:p>
        </p:txBody>
      </p:sp>
      <p:sp>
        <p:nvSpPr>
          <p:cNvPr id="78850" name="Rectangle 3">
            <a:extLst>
              <a:ext uri="{FF2B5EF4-FFF2-40B4-BE49-F238E27FC236}">
                <a16:creationId xmlns:a16="http://schemas.microsoft.com/office/drawing/2014/main" id="{B5F0385D-F4E3-C643-88F4-CAA9E56DFBFC}"/>
              </a:ext>
            </a:extLst>
          </p:cNvPr>
          <p:cNvSpPr>
            <a:spLocks noChangeArrowheads="1"/>
          </p:cNvSpPr>
          <p:nvPr/>
        </p:nvSpPr>
        <p:spPr bwMode="auto">
          <a:xfrm>
            <a:off x="468313" y="1579563"/>
            <a:ext cx="53990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latin typeface="华文中宋" panose="02010600040101010101" pitchFamily="2" charset="-122"/>
                <a:ea typeface="华文中宋" panose="02010600040101010101" pitchFamily="2" charset="-122"/>
                <a:cs typeface="Times New Roman" panose="02020603050405020304" pitchFamily="18" charset="0"/>
              </a:rPr>
              <a:t>零知识证明思想</a:t>
            </a:r>
          </a:p>
        </p:txBody>
      </p:sp>
      <p:sp>
        <p:nvSpPr>
          <p:cNvPr id="78851" name="Rectangle 4">
            <a:extLst>
              <a:ext uri="{FF2B5EF4-FFF2-40B4-BE49-F238E27FC236}">
                <a16:creationId xmlns:a16="http://schemas.microsoft.com/office/drawing/2014/main" id="{18245930-5A4D-644E-AC4A-BDADFED50ECF}"/>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2" name="Rectangle 5">
            <a:extLst>
              <a:ext uri="{FF2B5EF4-FFF2-40B4-BE49-F238E27FC236}">
                <a16:creationId xmlns:a16="http://schemas.microsoft.com/office/drawing/2014/main" id="{8DCE87DA-E7B5-3847-94FE-6E4EA74E950A}"/>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3" name="Rectangle 6">
            <a:extLst>
              <a:ext uri="{FF2B5EF4-FFF2-40B4-BE49-F238E27FC236}">
                <a16:creationId xmlns:a16="http://schemas.microsoft.com/office/drawing/2014/main" id="{841F571C-35DF-474A-B7F5-19BEE4B6AEE3}"/>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4" name="Rectangle 7">
            <a:extLst>
              <a:ext uri="{FF2B5EF4-FFF2-40B4-BE49-F238E27FC236}">
                <a16:creationId xmlns:a16="http://schemas.microsoft.com/office/drawing/2014/main" id="{FDA8CBB8-1857-3A48-B705-D7B6CB130A14}"/>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5" name="Rectangle 8">
            <a:extLst>
              <a:ext uri="{FF2B5EF4-FFF2-40B4-BE49-F238E27FC236}">
                <a16:creationId xmlns:a16="http://schemas.microsoft.com/office/drawing/2014/main" id="{DE7CBD3A-86D4-BC42-B858-E4FEA37D959C}"/>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6" name="Rectangle 9">
            <a:extLst>
              <a:ext uri="{FF2B5EF4-FFF2-40B4-BE49-F238E27FC236}">
                <a16:creationId xmlns:a16="http://schemas.microsoft.com/office/drawing/2014/main" id="{FE096478-A213-C047-A454-35C0314D40C8}"/>
              </a:ext>
            </a:extLst>
          </p:cNvPr>
          <p:cNvSpPr>
            <a:spLocks noChangeArrowheads="1"/>
          </p:cNvSpPr>
          <p:nvPr/>
        </p:nvSpPr>
        <p:spPr bwMode="auto">
          <a:xfrm>
            <a:off x="0" y="33480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7" name="Rectangle 10">
            <a:extLst>
              <a:ext uri="{FF2B5EF4-FFF2-40B4-BE49-F238E27FC236}">
                <a16:creationId xmlns:a16="http://schemas.microsoft.com/office/drawing/2014/main" id="{F1DB012F-DD38-E847-B8D4-7D89422D674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8" name="Rectangle 11">
            <a:extLst>
              <a:ext uri="{FF2B5EF4-FFF2-40B4-BE49-F238E27FC236}">
                <a16:creationId xmlns:a16="http://schemas.microsoft.com/office/drawing/2014/main" id="{107000C1-55D7-4D48-9B31-3A831CD322A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13" name="Rectangle 2">
            <a:extLst>
              <a:ext uri="{FF2B5EF4-FFF2-40B4-BE49-F238E27FC236}">
                <a16:creationId xmlns:a16="http://schemas.microsoft.com/office/drawing/2014/main" id="{97E3E15A-0228-AA49-9C81-393520DE26D1}"/>
              </a:ext>
            </a:extLst>
          </p:cNvPr>
          <p:cNvSpPr txBox="1">
            <a:spLocks noChangeArrowheads="1"/>
          </p:cNvSpPr>
          <p:nvPr/>
        </p:nvSpPr>
        <p:spPr bwMode="auto">
          <a:xfrm>
            <a:off x="442913" y="782638"/>
            <a:ext cx="7481887" cy="733425"/>
          </a:xfrm>
          <a:prstGeom prst="rect">
            <a:avLst/>
          </a:prstGeom>
          <a:solidFill>
            <a:srgbClr val="FFFFFF"/>
          </a:solidFill>
          <a:ln>
            <a:solidFill>
              <a:srgbClr val="FFFFFF"/>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kumimoji="0" lang="en-US" altLang="zh-CN" sz="36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5.5.2 </a:t>
            </a:r>
            <a:r>
              <a:rPr lang="zh-CN" altLang="en-US" sz="36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零知识证明与身份鉴别技术</a:t>
            </a:r>
            <a:endParaRPr kumimoji="0" lang="zh-CN" altLang="en-US" sz="36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pic>
        <p:nvPicPr>
          <p:cNvPr id="78860" name="图片 3">
            <a:extLst>
              <a:ext uri="{FF2B5EF4-FFF2-40B4-BE49-F238E27FC236}">
                <a16:creationId xmlns:a16="http://schemas.microsoft.com/office/drawing/2014/main" id="{4B83DD2C-4B42-D949-8499-4DDA8FDF66A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30598" y="3276600"/>
            <a:ext cx="4360863"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F6C2D335-18B3-BF4C-BF0F-ED0FBDA4F875}"/>
              </a:ext>
            </a:extLst>
          </p:cNvPr>
          <p:cNvSpPr txBox="1"/>
          <p:nvPr/>
        </p:nvSpPr>
        <p:spPr>
          <a:xfrm>
            <a:off x="2895600" y="3554412"/>
            <a:ext cx="2250937" cy="461665"/>
          </a:xfrm>
          <a:prstGeom prst="rect">
            <a:avLst/>
          </a:prstGeom>
          <a:noFill/>
        </p:spPr>
        <p:txBody>
          <a:bodyPr wrap="none" rtlCol="0">
            <a:spAutoFit/>
          </a:bodyPr>
          <a:lstStyle/>
          <a:p>
            <a:r>
              <a:rPr kumimoji="1" lang="zh-CN" altLang="en-US" sz="2400" dirty="0">
                <a:solidFill>
                  <a:srgbClr val="002060"/>
                </a:solidFill>
              </a:rPr>
              <a:t>验证者</a:t>
            </a:r>
            <a:r>
              <a:rPr kumimoji="1" lang="en-US" altLang="zh-CN" sz="2400" dirty="0">
                <a:solidFill>
                  <a:srgbClr val="002060"/>
                </a:solidFill>
              </a:rPr>
              <a:t>V</a:t>
            </a:r>
            <a:r>
              <a:rPr kumimoji="1" lang="zh-CN" altLang="en-US" sz="2400" dirty="0">
                <a:solidFill>
                  <a:srgbClr val="002060"/>
                </a:solidFill>
              </a:rPr>
              <a:t>（问）</a:t>
            </a:r>
          </a:p>
        </p:txBody>
      </p:sp>
      <p:sp>
        <p:nvSpPr>
          <p:cNvPr id="15" name="文本框 14">
            <a:extLst>
              <a:ext uri="{FF2B5EF4-FFF2-40B4-BE49-F238E27FC236}">
                <a16:creationId xmlns:a16="http://schemas.microsoft.com/office/drawing/2014/main" id="{95AA15F4-A4C9-884B-8C1B-E0C73654B9EE}"/>
              </a:ext>
            </a:extLst>
          </p:cNvPr>
          <p:cNvSpPr txBox="1"/>
          <p:nvPr/>
        </p:nvSpPr>
        <p:spPr>
          <a:xfrm>
            <a:off x="6986896" y="3348335"/>
            <a:ext cx="2233304" cy="461665"/>
          </a:xfrm>
          <a:prstGeom prst="rect">
            <a:avLst/>
          </a:prstGeom>
          <a:noFill/>
        </p:spPr>
        <p:txBody>
          <a:bodyPr wrap="none" rtlCol="0">
            <a:spAutoFit/>
          </a:bodyPr>
          <a:lstStyle/>
          <a:p>
            <a:r>
              <a:rPr kumimoji="1" lang="zh-CN" altLang="en-US" sz="2400" dirty="0">
                <a:solidFill>
                  <a:srgbClr val="002060"/>
                </a:solidFill>
              </a:rPr>
              <a:t>证明者</a:t>
            </a:r>
            <a:r>
              <a:rPr kumimoji="1" lang="en-US" altLang="zh-CN" sz="2400" dirty="0">
                <a:solidFill>
                  <a:srgbClr val="002060"/>
                </a:solidFill>
              </a:rPr>
              <a:t>P</a:t>
            </a:r>
            <a:r>
              <a:rPr kumimoji="1" lang="zh-CN" altLang="en-US" sz="2400" dirty="0">
                <a:solidFill>
                  <a:srgbClr val="002060"/>
                </a:solidFill>
              </a:rPr>
              <a:t>（答）</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B8D61D64-1CF3-C94C-89BA-CABD740EE93E}"/>
              </a:ext>
            </a:extLst>
          </p:cNvPr>
          <p:cNvSpPr>
            <a:spLocks noChangeArrowheads="1"/>
          </p:cNvSpPr>
          <p:nvPr/>
        </p:nvSpPr>
        <p:spPr bwMode="auto">
          <a:xfrm>
            <a:off x="152400" y="1552735"/>
            <a:ext cx="6019800" cy="1308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667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50000"/>
              </a:lnSpc>
            </a:pPr>
            <a:r>
              <a:rPr lang="en-US" altLang="zh-CN" sz="2800" dirty="0">
                <a:solidFill>
                  <a:schemeClr val="bg2"/>
                </a:solidFill>
                <a:latin typeface="华文中宋" panose="02010600040101010101" pitchFamily="2" charset="-122"/>
                <a:ea typeface="华文中宋" panose="02010600040101010101" pitchFamily="2" charset="-122"/>
              </a:rPr>
              <a:t>1</a:t>
            </a:r>
            <a:r>
              <a:rPr lang="zh-CN" altLang="en-US" sz="2800" dirty="0">
                <a:solidFill>
                  <a:schemeClr val="bg2"/>
                </a:solidFill>
                <a:latin typeface="华文中宋" panose="02010600040101010101" pitchFamily="2" charset="-122"/>
                <a:ea typeface="华文中宋" panose="02010600040101010101" pitchFamily="2" charset="-122"/>
              </a:rPr>
              <a:t>、证明者</a:t>
            </a:r>
            <a:r>
              <a:rPr lang="en-US" altLang="zh-CN" sz="2800" dirty="0">
                <a:solidFill>
                  <a:schemeClr val="bg2"/>
                </a:solidFill>
                <a:latin typeface="华文中宋" panose="02010600040101010101" pitchFamily="2" charset="-122"/>
                <a:ea typeface="华文中宋" panose="02010600040101010101" pitchFamily="2" charset="-122"/>
              </a:rPr>
              <a:t>P</a:t>
            </a:r>
            <a:r>
              <a:rPr lang="zh-CN" altLang="en-US" sz="2800" dirty="0">
                <a:solidFill>
                  <a:schemeClr val="bg2"/>
                </a:solidFill>
                <a:latin typeface="华文中宋" panose="02010600040101010101" pitchFamily="2" charset="-122"/>
                <a:ea typeface="华文中宋" panose="02010600040101010101" pitchFamily="2" charset="-122"/>
              </a:rPr>
              <a:t>不提供有意义的信息</a:t>
            </a:r>
            <a:endParaRPr lang="en-US" altLang="zh-CN" sz="2800" dirty="0">
              <a:solidFill>
                <a:schemeClr val="bg2"/>
              </a:solidFill>
              <a:latin typeface="华文中宋" panose="02010600040101010101" pitchFamily="2" charset="-122"/>
              <a:ea typeface="华文中宋" panose="02010600040101010101" pitchFamily="2" charset="-122"/>
            </a:endParaRPr>
          </a:p>
          <a:p>
            <a:pPr eaLnBrk="1" hangingPunct="1">
              <a:lnSpc>
                <a:spcPct val="150000"/>
              </a:lnSpc>
            </a:pPr>
            <a:r>
              <a:rPr lang="en-US" altLang="zh-CN" sz="2800" dirty="0">
                <a:solidFill>
                  <a:schemeClr val="bg2"/>
                </a:solidFill>
                <a:latin typeface="华文中宋" panose="02010600040101010101" pitchFamily="2" charset="-122"/>
                <a:ea typeface="华文中宋" panose="02010600040101010101" pitchFamily="2" charset="-122"/>
              </a:rPr>
              <a:t>2</a:t>
            </a:r>
            <a:r>
              <a:rPr lang="zh-CN" altLang="en-US" sz="2800" dirty="0">
                <a:solidFill>
                  <a:schemeClr val="bg2"/>
                </a:solidFill>
                <a:latin typeface="华文中宋" panose="02010600040101010101" pitchFamily="2" charset="-122"/>
                <a:ea typeface="华文中宋" panose="02010600040101010101" pitchFamily="2" charset="-122"/>
              </a:rPr>
              <a:t>、验证者</a:t>
            </a:r>
            <a:r>
              <a:rPr lang="en-US" altLang="zh-CN" sz="2800" dirty="0">
                <a:solidFill>
                  <a:schemeClr val="bg2"/>
                </a:solidFill>
                <a:latin typeface="华文中宋" panose="02010600040101010101" pitchFamily="2" charset="-122"/>
                <a:ea typeface="华文中宋" panose="02010600040101010101" pitchFamily="2" charset="-122"/>
              </a:rPr>
              <a:t>V</a:t>
            </a:r>
            <a:r>
              <a:rPr lang="zh-CN" altLang="en-US" sz="2800" dirty="0">
                <a:solidFill>
                  <a:schemeClr val="bg2"/>
                </a:solidFill>
                <a:latin typeface="华文中宋" panose="02010600040101010101" pitchFamily="2" charset="-122"/>
                <a:ea typeface="华文中宋" panose="02010600040101010101" pitchFamily="2" charset="-122"/>
              </a:rPr>
              <a:t>相信证明者提供的信息</a:t>
            </a:r>
            <a:endParaRPr lang="en-US" altLang="zh-CN" sz="2800" dirty="0">
              <a:solidFill>
                <a:schemeClr val="bg2"/>
              </a:solidFill>
              <a:latin typeface="华文中宋" panose="02010600040101010101" pitchFamily="2" charset="-122"/>
              <a:ea typeface="华文中宋" panose="02010600040101010101" pitchFamily="2" charset="-122"/>
            </a:endParaRPr>
          </a:p>
        </p:txBody>
      </p:sp>
      <p:sp>
        <p:nvSpPr>
          <p:cNvPr id="78850" name="Rectangle 3">
            <a:extLst>
              <a:ext uri="{FF2B5EF4-FFF2-40B4-BE49-F238E27FC236}">
                <a16:creationId xmlns:a16="http://schemas.microsoft.com/office/drawing/2014/main" id="{B5F0385D-F4E3-C643-88F4-CAA9E56DFBFC}"/>
              </a:ext>
            </a:extLst>
          </p:cNvPr>
          <p:cNvSpPr>
            <a:spLocks noChangeArrowheads="1"/>
          </p:cNvSpPr>
          <p:nvPr/>
        </p:nvSpPr>
        <p:spPr bwMode="auto">
          <a:xfrm>
            <a:off x="468313" y="908050"/>
            <a:ext cx="5399087"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dirty="0">
                <a:latin typeface="华文中宋" panose="02010600040101010101" pitchFamily="2" charset="-122"/>
                <a:ea typeface="华文中宋" panose="02010600040101010101" pitchFamily="2" charset="-122"/>
                <a:cs typeface="Times New Roman" panose="02020603050405020304" pitchFamily="18" charset="0"/>
              </a:rPr>
              <a:t>零知识证明原则</a:t>
            </a:r>
          </a:p>
        </p:txBody>
      </p:sp>
      <p:sp>
        <p:nvSpPr>
          <p:cNvPr id="78851" name="Rectangle 4">
            <a:extLst>
              <a:ext uri="{FF2B5EF4-FFF2-40B4-BE49-F238E27FC236}">
                <a16:creationId xmlns:a16="http://schemas.microsoft.com/office/drawing/2014/main" id="{18245930-5A4D-644E-AC4A-BDADFED50ECF}"/>
              </a:ext>
            </a:extLst>
          </p:cNvPr>
          <p:cNvSpPr>
            <a:spLocks noChangeArrowheads="1"/>
          </p:cNvSpPr>
          <p:nvPr/>
        </p:nvSpPr>
        <p:spPr bwMode="auto">
          <a:xfrm>
            <a:off x="0" y="2657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2" name="Rectangle 5">
            <a:extLst>
              <a:ext uri="{FF2B5EF4-FFF2-40B4-BE49-F238E27FC236}">
                <a16:creationId xmlns:a16="http://schemas.microsoft.com/office/drawing/2014/main" id="{8DCE87DA-E7B5-3847-94FE-6E4EA74E950A}"/>
              </a:ext>
            </a:extLst>
          </p:cNvPr>
          <p:cNvSpPr>
            <a:spLocks noChangeArrowheads="1"/>
          </p:cNvSpPr>
          <p:nvPr/>
        </p:nvSpPr>
        <p:spPr bwMode="auto">
          <a:xfrm>
            <a:off x="0" y="2667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3" name="Rectangle 6">
            <a:extLst>
              <a:ext uri="{FF2B5EF4-FFF2-40B4-BE49-F238E27FC236}">
                <a16:creationId xmlns:a16="http://schemas.microsoft.com/office/drawing/2014/main" id="{841F571C-35DF-474A-B7F5-19BEE4B6AEE3}"/>
              </a:ext>
            </a:extLst>
          </p:cNvPr>
          <p:cNvSpPr>
            <a:spLocks noChangeArrowheads="1"/>
          </p:cNvSpPr>
          <p:nvPr/>
        </p:nvSpPr>
        <p:spPr bwMode="auto">
          <a:xfrm>
            <a:off x="0" y="2667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4" name="Rectangle 7">
            <a:extLst>
              <a:ext uri="{FF2B5EF4-FFF2-40B4-BE49-F238E27FC236}">
                <a16:creationId xmlns:a16="http://schemas.microsoft.com/office/drawing/2014/main" id="{FDA8CBB8-1857-3A48-B705-D7B6CB130A14}"/>
              </a:ext>
            </a:extLst>
          </p:cNvPr>
          <p:cNvSpPr>
            <a:spLocks noChangeArrowheads="1"/>
          </p:cNvSpPr>
          <p:nvPr/>
        </p:nvSpPr>
        <p:spPr bwMode="auto">
          <a:xfrm>
            <a:off x="0" y="2657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7" name="Rectangle 10">
            <a:extLst>
              <a:ext uri="{FF2B5EF4-FFF2-40B4-BE49-F238E27FC236}">
                <a16:creationId xmlns:a16="http://schemas.microsoft.com/office/drawing/2014/main" id="{F1DB012F-DD38-E847-B8D4-7D89422D674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8" name="Rectangle 11">
            <a:extLst>
              <a:ext uri="{FF2B5EF4-FFF2-40B4-BE49-F238E27FC236}">
                <a16:creationId xmlns:a16="http://schemas.microsoft.com/office/drawing/2014/main" id="{107000C1-55D7-4D48-9B31-3A831CD322A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pic>
        <p:nvPicPr>
          <p:cNvPr id="14" name="图片 3">
            <a:extLst>
              <a:ext uri="{FF2B5EF4-FFF2-40B4-BE49-F238E27FC236}">
                <a16:creationId xmlns:a16="http://schemas.microsoft.com/office/drawing/2014/main" id="{5C5A6CE7-375F-3342-AF82-FB6447EEC20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11398" y="3124200"/>
            <a:ext cx="4360863"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文本框 14">
            <a:extLst>
              <a:ext uri="{FF2B5EF4-FFF2-40B4-BE49-F238E27FC236}">
                <a16:creationId xmlns:a16="http://schemas.microsoft.com/office/drawing/2014/main" id="{FCCB5AB5-1AAC-1442-ACC8-5BB856CF1E86}"/>
              </a:ext>
            </a:extLst>
          </p:cNvPr>
          <p:cNvSpPr txBox="1"/>
          <p:nvPr/>
        </p:nvSpPr>
        <p:spPr>
          <a:xfrm>
            <a:off x="2057400" y="3402012"/>
            <a:ext cx="2031325" cy="461665"/>
          </a:xfrm>
          <a:prstGeom prst="rect">
            <a:avLst/>
          </a:prstGeom>
          <a:noFill/>
        </p:spPr>
        <p:txBody>
          <a:bodyPr wrap="none" rtlCol="0">
            <a:spAutoFit/>
          </a:bodyPr>
          <a:lstStyle/>
          <a:p>
            <a:r>
              <a:rPr kumimoji="1" lang="zh-CN" altLang="en-US" sz="2400" dirty="0">
                <a:solidFill>
                  <a:srgbClr val="002060"/>
                </a:solidFill>
              </a:rPr>
              <a:t>验证者（问）</a:t>
            </a:r>
          </a:p>
        </p:txBody>
      </p:sp>
      <p:sp>
        <p:nvSpPr>
          <p:cNvPr id="16" name="文本框 15">
            <a:extLst>
              <a:ext uri="{FF2B5EF4-FFF2-40B4-BE49-F238E27FC236}">
                <a16:creationId xmlns:a16="http://schemas.microsoft.com/office/drawing/2014/main" id="{244BF148-69E4-934A-9E08-A926219201AD}"/>
              </a:ext>
            </a:extLst>
          </p:cNvPr>
          <p:cNvSpPr txBox="1"/>
          <p:nvPr/>
        </p:nvSpPr>
        <p:spPr>
          <a:xfrm>
            <a:off x="5665733" y="3195935"/>
            <a:ext cx="2106667" cy="461665"/>
          </a:xfrm>
          <a:prstGeom prst="rect">
            <a:avLst/>
          </a:prstGeom>
          <a:noFill/>
        </p:spPr>
        <p:txBody>
          <a:bodyPr wrap="none" rtlCol="0">
            <a:spAutoFit/>
          </a:bodyPr>
          <a:lstStyle/>
          <a:p>
            <a:r>
              <a:rPr kumimoji="1" lang="zh-CN" altLang="en-US" sz="2400" dirty="0">
                <a:solidFill>
                  <a:srgbClr val="002060"/>
                </a:solidFill>
              </a:rPr>
              <a:t>证明者（答）</a:t>
            </a:r>
          </a:p>
        </p:txBody>
      </p:sp>
    </p:spTree>
    <p:extLst>
      <p:ext uri="{BB962C8B-B14F-4D97-AF65-F5344CB8AC3E}">
        <p14:creationId xmlns:p14="http://schemas.microsoft.com/office/powerpoint/2010/main" val="28238722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B8D61D64-1CF3-C94C-89BA-CABD740EE93E}"/>
              </a:ext>
            </a:extLst>
          </p:cNvPr>
          <p:cNvSpPr>
            <a:spLocks noChangeArrowheads="1"/>
          </p:cNvSpPr>
          <p:nvPr/>
        </p:nvSpPr>
        <p:spPr bwMode="auto">
          <a:xfrm>
            <a:off x="-152400" y="1552735"/>
            <a:ext cx="9296400" cy="224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667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50000"/>
              </a:lnSpc>
            </a:pPr>
            <a:r>
              <a:rPr lang="zh-CN" altLang="en-US" sz="2400" dirty="0">
                <a:solidFill>
                  <a:schemeClr val="bg2"/>
                </a:solidFill>
                <a:latin typeface="华文中宋" panose="02010600040101010101" pitchFamily="2" charset="-122"/>
                <a:ea typeface="华文中宋" panose="02010600040101010101" pitchFamily="2" charset="-122"/>
              </a:rPr>
              <a:t>（</a:t>
            </a:r>
            <a:r>
              <a:rPr lang="en-US" altLang="zh-CN" sz="2400" dirty="0">
                <a:solidFill>
                  <a:schemeClr val="bg2"/>
                </a:solidFill>
                <a:latin typeface="华文中宋" panose="02010600040101010101" pitchFamily="2" charset="-122"/>
                <a:ea typeface="华文中宋" panose="02010600040101010101" pitchFamily="2" charset="-122"/>
              </a:rPr>
              <a:t>1</a:t>
            </a:r>
            <a:r>
              <a:rPr lang="zh-CN" altLang="en-US" sz="2400" dirty="0">
                <a:solidFill>
                  <a:schemeClr val="bg2"/>
                </a:solidFill>
                <a:latin typeface="华文中宋" panose="02010600040101010101" pitchFamily="2" charset="-122"/>
                <a:ea typeface="华文中宋" panose="02010600040101010101" pitchFamily="2" charset="-122"/>
              </a:rPr>
              <a:t>）完备性：真的假不了（证明者若具备某种能力可被轻易验证）</a:t>
            </a:r>
            <a:endParaRPr lang="en-US" altLang="zh-CN" sz="2400" dirty="0">
              <a:solidFill>
                <a:schemeClr val="bg2"/>
              </a:solidFill>
              <a:latin typeface="华文中宋" panose="02010600040101010101" pitchFamily="2" charset="-122"/>
              <a:ea typeface="华文中宋" panose="02010600040101010101" pitchFamily="2" charset="-122"/>
            </a:endParaRPr>
          </a:p>
          <a:p>
            <a:pPr eaLnBrk="1" hangingPunct="1">
              <a:lnSpc>
                <a:spcPct val="150000"/>
              </a:lnSpc>
            </a:pPr>
            <a:r>
              <a:rPr lang="zh-CN" altLang="en-US" sz="2400" dirty="0">
                <a:solidFill>
                  <a:schemeClr val="bg2"/>
                </a:solidFill>
                <a:latin typeface="华文中宋" panose="02010600040101010101" pitchFamily="2" charset="-122"/>
                <a:ea typeface="华文中宋" panose="02010600040101010101" pitchFamily="2" charset="-122"/>
              </a:rPr>
              <a:t>（</a:t>
            </a:r>
            <a:r>
              <a:rPr lang="en-US" altLang="zh-CN" sz="2400" dirty="0">
                <a:solidFill>
                  <a:schemeClr val="bg2"/>
                </a:solidFill>
                <a:latin typeface="华文中宋" panose="02010600040101010101" pitchFamily="2" charset="-122"/>
                <a:ea typeface="华文中宋" panose="02010600040101010101" pitchFamily="2" charset="-122"/>
              </a:rPr>
              <a:t>2</a:t>
            </a:r>
            <a:r>
              <a:rPr lang="zh-CN" altLang="en-US" sz="2400" dirty="0">
                <a:solidFill>
                  <a:schemeClr val="bg2"/>
                </a:solidFill>
                <a:latin typeface="华文中宋" panose="02010600040101010101" pitchFamily="2" charset="-122"/>
                <a:ea typeface="华文中宋" panose="02010600040101010101" pitchFamily="2" charset="-122"/>
              </a:rPr>
              <a:t>）合理性：假的真不了（证明者若不具备某种能力难以冒充）</a:t>
            </a:r>
            <a:endParaRPr lang="en-US" altLang="zh-CN" sz="2400" dirty="0">
              <a:solidFill>
                <a:schemeClr val="bg2"/>
              </a:solidFill>
              <a:latin typeface="华文中宋" panose="02010600040101010101" pitchFamily="2" charset="-122"/>
              <a:ea typeface="华文中宋" panose="02010600040101010101" pitchFamily="2" charset="-122"/>
            </a:endParaRPr>
          </a:p>
          <a:p>
            <a:pPr eaLnBrk="1" hangingPunct="1">
              <a:lnSpc>
                <a:spcPct val="150000"/>
              </a:lnSpc>
            </a:pPr>
            <a:r>
              <a:rPr lang="zh-CN" altLang="en-US" sz="2400" dirty="0">
                <a:solidFill>
                  <a:schemeClr val="bg2"/>
                </a:solidFill>
                <a:latin typeface="华文中宋" panose="02010600040101010101" pitchFamily="2" charset="-122"/>
                <a:ea typeface="华文中宋" panose="02010600040101010101" pitchFamily="2" charset="-122"/>
              </a:rPr>
              <a:t>（</a:t>
            </a:r>
            <a:r>
              <a:rPr lang="en-US" altLang="zh-CN" sz="2400" dirty="0">
                <a:solidFill>
                  <a:schemeClr val="bg2"/>
                </a:solidFill>
                <a:latin typeface="华文中宋" panose="02010600040101010101" pitchFamily="2" charset="-122"/>
                <a:ea typeface="华文中宋" panose="02010600040101010101" pitchFamily="2" charset="-122"/>
              </a:rPr>
              <a:t>3</a:t>
            </a:r>
            <a:r>
              <a:rPr lang="zh-CN" altLang="en-US" sz="2400" dirty="0">
                <a:solidFill>
                  <a:schemeClr val="bg2"/>
                </a:solidFill>
                <a:latin typeface="华文中宋" panose="02010600040101010101" pitchFamily="2" charset="-122"/>
                <a:ea typeface="华文中宋" panose="02010600040101010101" pitchFamily="2" charset="-122"/>
              </a:rPr>
              <a:t>）零知识：验证者仅获得证明者具备某种能力的这一信息</a:t>
            </a:r>
            <a:endParaRPr lang="en-US" altLang="zh-CN" sz="2400" dirty="0">
              <a:solidFill>
                <a:schemeClr val="bg2"/>
              </a:solidFill>
              <a:latin typeface="华文中宋" panose="02010600040101010101" pitchFamily="2" charset="-122"/>
              <a:ea typeface="华文中宋" panose="02010600040101010101" pitchFamily="2" charset="-122"/>
            </a:endParaRPr>
          </a:p>
          <a:p>
            <a:pPr eaLnBrk="1" hangingPunct="1">
              <a:lnSpc>
                <a:spcPct val="150000"/>
              </a:lnSpc>
            </a:pPr>
            <a:r>
              <a:rPr lang="en-US" altLang="zh-CN" sz="2400" dirty="0">
                <a:solidFill>
                  <a:schemeClr val="bg2"/>
                </a:solidFill>
                <a:latin typeface="华文中宋" panose="02010600040101010101" pitchFamily="2" charset="-122"/>
                <a:ea typeface="华文中宋" panose="02010600040101010101" pitchFamily="2" charset="-122"/>
              </a:rPr>
              <a:t>			</a:t>
            </a:r>
            <a:r>
              <a:rPr lang="zh-CN" altLang="en-US" sz="2400" dirty="0">
                <a:solidFill>
                  <a:schemeClr val="bg2"/>
                </a:solidFill>
                <a:latin typeface="华文中宋" panose="02010600040101010101" pitchFamily="2" charset="-122"/>
                <a:ea typeface="华文中宋" panose="02010600040101010101" pitchFamily="2" charset="-122"/>
              </a:rPr>
              <a:t>（不获得任何其他知识）</a:t>
            </a:r>
            <a:endParaRPr lang="en-US" altLang="zh-CN" sz="2400" dirty="0">
              <a:solidFill>
                <a:schemeClr val="bg2"/>
              </a:solidFill>
              <a:latin typeface="华文中宋" panose="02010600040101010101" pitchFamily="2" charset="-122"/>
              <a:ea typeface="华文中宋" panose="02010600040101010101" pitchFamily="2" charset="-122"/>
            </a:endParaRPr>
          </a:p>
        </p:txBody>
      </p:sp>
      <p:sp>
        <p:nvSpPr>
          <p:cNvPr id="78850" name="Rectangle 3">
            <a:extLst>
              <a:ext uri="{FF2B5EF4-FFF2-40B4-BE49-F238E27FC236}">
                <a16:creationId xmlns:a16="http://schemas.microsoft.com/office/drawing/2014/main" id="{B5F0385D-F4E3-C643-88F4-CAA9E56DFBFC}"/>
              </a:ext>
            </a:extLst>
          </p:cNvPr>
          <p:cNvSpPr>
            <a:spLocks noChangeArrowheads="1"/>
          </p:cNvSpPr>
          <p:nvPr/>
        </p:nvSpPr>
        <p:spPr bwMode="auto">
          <a:xfrm>
            <a:off x="468313" y="908050"/>
            <a:ext cx="5399087"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dirty="0">
                <a:latin typeface="华文中宋" panose="02010600040101010101" pitchFamily="2" charset="-122"/>
                <a:ea typeface="华文中宋" panose="02010600040101010101" pitchFamily="2" charset="-122"/>
                <a:cs typeface="Times New Roman" panose="02020603050405020304" pitchFamily="18" charset="0"/>
              </a:rPr>
              <a:t>零知识证明原则</a:t>
            </a:r>
          </a:p>
        </p:txBody>
      </p:sp>
      <p:sp>
        <p:nvSpPr>
          <p:cNvPr id="78851" name="Rectangle 4">
            <a:extLst>
              <a:ext uri="{FF2B5EF4-FFF2-40B4-BE49-F238E27FC236}">
                <a16:creationId xmlns:a16="http://schemas.microsoft.com/office/drawing/2014/main" id="{18245930-5A4D-644E-AC4A-BDADFED50ECF}"/>
              </a:ext>
            </a:extLst>
          </p:cNvPr>
          <p:cNvSpPr>
            <a:spLocks noChangeArrowheads="1"/>
          </p:cNvSpPr>
          <p:nvPr/>
        </p:nvSpPr>
        <p:spPr bwMode="auto">
          <a:xfrm>
            <a:off x="0" y="2657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2" name="Rectangle 5">
            <a:extLst>
              <a:ext uri="{FF2B5EF4-FFF2-40B4-BE49-F238E27FC236}">
                <a16:creationId xmlns:a16="http://schemas.microsoft.com/office/drawing/2014/main" id="{8DCE87DA-E7B5-3847-94FE-6E4EA74E950A}"/>
              </a:ext>
            </a:extLst>
          </p:cNvPr>
          <p:cNvSpPr>
            <a:spLocks noChangeArrowheads="1"/>
          </p:cNvSpPr>
          <p:nvPr/>
        </p:nvSpPr>
        <p:spPr bwMode="auto">
          <a:xfrm>
            <a:off x="0" y="2667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3" name="Rectangle 6">
            <a:extLst>
              <a:ext uri="{FF2B5EF4-FFF2-40B4-BE49-F238E27FC236}">
                <a16:creationId xmlns:a16="http://schemas.microsoft.com/office/drawing/2014/main" id="{841F571C-35DF-474A-B7F5-19BEE4B6AEE3}"/>
              </a:ext>
            </a:extLst>
          </p:cNvPr>
          <p:cNvSpPr>
            <a:spLocks noChangeArrowheads="1"/>
          </p:cNvSpPr>
          <p:nvPr/>
        </p:nvSpPr>
        <p:spPr bwMode="auto">
          <a:xfrm>
            <a:off x="0" y="2667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4" name="Rectangle 7">
            <a:extLst>
              <a:ext uri="{FF2B5EF4-FFF2-40B4-BE49-F238E27FC236}">
                <a16:creationId xmlns:a16="http://schemas.microsoft.com/office/drawing/2014/main" id="{FDA8CBB8-1857-3A48-B705-D7B6CB130A14}"/>
              </a:ext>
            </a:extLst>
          </p:cNvPr>
          <p:cNvSpPr>
            <a:spLocks noChangeArrowheads="1"/>
          </p:cNvSpPr>
          <p:nvPr/>
        </p:nvSpPr>
        <p:spPr bwMode="auto">
          <a:xfrm>
            <a:off x="0" y="2657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7" name="Rectangle 10">
            <a:extLst>
              <a:ext uri="{FF2B5EF4-FFF2-40B4-BE49-F238E27FC236}">
                <a16:creationId xmlns:a16="http://schemas.microsoft.com/office/drawing/2014/main" id="{F1DB012F-DD38-E847-B8D4-7D89422D674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8858" name="Rectangle 11">
            <a:extLst>
              <a:ext uri="{FF2B5EF4-FFF2-40B4-BE49-F238E27FC236}">
                <a16:creationId xmlns:a16="http://schemas.microsoft.com/office/drawing/2014/main" id="{107000C1-55D7-4D48-9B31-3A831CD322A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pic>
        <p:nvPicPr>
          <p:cNvPr id="14" name="图片 3">
            <a:extLst>
              <a:ext uri="{FF2B5EF4-FFF2-40B4-BE49-F238E27FC236}">
                <a16:creationId xmlns:a16="http://schemas.microsoft.com/office/drawing/2014/main" id="{5C5A6CE7-375F-3342-AF82-FB6447EEC20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00016" y="4953000"/>
            <a:ext cx="1872384" cy="1308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文本框 14">
            <a:extLst>
              <a:ext uri="{FF2B5EF4-FFF2-40B4-BE49-F238E27FC236}">
                <a16:creationId xmlns:a16="http://schemas.microsoft.com/office/drawing/2014/main" id="{FCCB5AB5-1AAC-1442-ACC8-5BB856CF1E86}"/>
              </a:ext>
            </a:extLst>
          </p:cNvPr>
          <p:cNvSpPr txBox="1"/>
          <p:nvPr/>
        </p:nvSpPr>
        <p:spPr>
          <a:xfrm>
            <a:off x="4114800" y="5607346"/>
            <a:ext cx="2031325" cy="461665"/>
          </a:xfrm>
          <a:prstGeom prst="rect">
            <a:avLst/>
          </a:prstGeom>
          <a:noFill/>
        </p:spPr>
        <p:txBody>
          <a:bodyPr wrap="none" rtlCol="0">
            <a:spAutoFit/>
          </a:bodyPr>
          <a:lstStyle/>
          <a:p>
            <a:r>
              <a:rPr kumimoji="1" lang="zh-CN" altLang="en-US" sz="2400" dirty="0">
                <a:solidFill>
                  <a:srgbClr val="002060"/>
                </a:solidFill>
              </a:rPr>
              <a:t>验证者（问）</a:t>
            </a:r>
          </a:p>
        </p:txBody>
      </p:sp>
      <p:sp>
        <p:nvSpPr>
          <p:cNvPr id="16" name="文本框 15">
            <a:extLst>
              <a:ext uri="{FF2B5EF4-FFF2-40B4-BE49-F238E27FC236}">
                <a16:creationId xmlns:a16="http://schemas.microsoft.com/office/drawing/2014/main" id="{244BF148-69E4-934A-9E08-A926219201AD}"/>
              </a:ext>
            </a:extLst>
          </p:cNvPr>
          <p:cNvSpPr txBox="1"/>
          <p:nvPr/>
        </p:nvSpPr>
        <p:spPr>
          <a:xfrm>
            <a:off x="7315200" y="4768542"/>
            <a:ext cx="2106667" cy="461665"/>
          </a:xfrm>
          <a:prstGeom prst="rect">
            <a:avLst/>
          </a:prstGeom>
          <a:noFill/>
        </p:spPr>
        <p:txBody>
          <a:bodyPr wrap="none" rtlCol="0">
            <a:spAutoFit/>
          </a:bodyPr>
          <a:lstStyle/>
          <a:p>
            <a:r>
              <a:rPr kumimoji="1" lang="zh-CN" altLang="en-US" sz="2400" dirty="0">
                <a:solidFill>
                  <a:srgbClr val="002060"/>
                </a:solidFill>
              </a:rPr>
              <a:t>证明者（答）</a:t>
            </a:r>
          </a:p>
        </p:txBody>
      </p:sp>
      <p:sp>
        <p:nvSpPr>
          <p:cNvPr id="13" name="文本框 12">
            <a:extLst>
              <a:ext uri="{FF2B5EF4-FFF2-40B4-BE49-F238E27FC236}">
                <a16:creationId xmlns:a16="http://schemas.microsoft.com/office/drawing/2014/main" id="{D52C6290-331C-6F46-91E1-EA7188744A80}"/>
              </a:ext>
            </a:extLst>
          </p:cNvPr>
          <p:cNvSpPr txBox="1"/>
          <p:nvPr/>
        </p:nvSpPr>
        <p:spPr>
          <a:xfrm>
            <a:off x="228600" y="4238332"/>
            <a:ext cx="7263527" cy="461665"/>
          </a:xfrm>
          <a:prstGeom prst="rect">
            <a:avLst/>
          </a:prstGeom>
          <a:noFill/>
        </p:spPr>
        <p:txBody>
          <a:bodyPr wrap="none" rtlCol="0">
            <a:spAutoFit/>
          </a:bodyPr>
          <a:lstStyle/>
          <a:p>
            <a:r>
              <a:rPr kumimoji="1" lang="zh-CN" altLang="en-US" sz="2400" dirty="0">
                <a:solidFill>
                  <a:srgbClr val="C00000"/>
                </a:solidFill>
              </a:rPr>
              <a:t>“我证明了哥德巴赫猜想”怎么证明且不被剽窃成果</a:t>
            </a:r>
          </a:p>
        </p:txBody>
      </p:sp>
    </p:spTree>
    <p:extLst>
      <p:ext uri="{BB962C8B-B14F-4D97-AF65-F5344CB8AC3E}">
        <p14:creationId xmlns:p14="http://schemas.microsoft.com/office/powerpoint/2010/main" val="37195924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AED2F8AF-B7F5-BE43-9289-B8404B4A4086}"/>
              </a:ext>
            </a:extLst>
          </p:cNvPr>
          <p:cNvSpPr>
            <a:spLocks noChangeArrowheads="1"/>
          </p:cNvSpPr>
          <p:nvPr/>
        </p:nvSpPr>
        <p:spPr bwMode="auto">
          <a:xfrm>
            <a:off x="381000" y="3352800"/>
            <a:ext cx="83820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858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0000"/>
              </a:lnSpc>
              <a:buClr>
                <a:srgbClr val="000099"/>
              </a:buClr>
              <a:buSzPct val="70000"/>
              <a:buFont typeface="Wingdings" pitchFamily="2" charset="2"/>
              <a:buChar char="p"/>
            </a:pPr>
            <a:r>
              <a:rPr lang="zh-CN" altLang="en-US" sz="2400">
                <a:latin typeface="华文中宋" panose="02010600040101010101" pitchFamily="2" charset="-122"/>
                <a:ea typeface="华文中宋" panose="02010600040101010101" pitchFamily="2" charset="-122"/>
              </a:rPr>
              <a:t>直接证明</a:t>
            </a:r>
            <a:r>
              <a:rPr lang="zh-CN" altLang="en-US" sz="2400">
                <a:solidFill>
                  <a:schemeClr val="bg2"/>
                </a:solidFill>
                <a:latin typeface="华文中宋" panose="02010600040101010101" pitchFamily="2" charset="-122"/>
                <a:ea typeface="华文中宋" panose="02010600040101010101" pitchFamily="2" charset="-122"/>
              </a:rPr>
              <a:t>，是出示或说出该事物，使别人知道和相信，从而得到证明。</a:t>
            </a:r>
            <a:r>
              <a:rPr lang="zh-CN" altLang="en-US" sz="2400">
                <a:solidFill>
                  <a:srgbClr val="0000FF"/>
                </a:solidFill>
                <a:latin typeface="华文中宋" panose="02010600040101010101" pitchFamily="2" charset="-122"/>
                <a:ea typeface="华文中宋" panose="02010600040101010101" pitchFamily="2" charset="-122"/>
              </a:rPr>
              <a:t>但这会使别人也知道或掌握这一秘密，是最大泄漏证明</a:t>
            </a:r>
            <a:r>
              <a:rPr lang="zh-CN" altLang="en-US" sz="2400">
                <a:solidFill>
                  <a:schemeClr val="bg2"/>
                </a:solidFill>
                <a:latin typeface="华文中宋" panose="02010600040101010101" pitchFamily="2" charset="-122"/>
                <a:ea typeface="华文中宋" panose="02010600040101010101" pitchFamily="2" charset="-122"/>
              </a:rPr>
              <a:t>；</a:t>
            </a:r>
          </a:p>
        </p:txBody>
      </p:sp>
      <p:sp>
        <p:nvSpPr>
          <p:cNvPr id="79874" name="Rectangle 3">
            <a:extLst>
              <a:ext uri="{FF2B5EF4-FFF2-40B4-BE49-F238E27FC236}">
                <a16:creationId xmlns:a16="http://schemas.microsoft.com/office/drawing/2014/main" id="{4006417E-BBC2-8A42-8563-BD9BE24E18B7}"/>
              </a:ext>
            </a:extLst>
          </p:cNvPr>
          <p:cNvSpPr>
            <a:spLocks noChangeArrowheads="1"/>
          </p:cNvSpPr>
          <p:nvPr/>
        </p:nvSpPr>
        <p:spPr bwMode="auto">
          <a:xfrm>
            <a:off x="533400" y="1638300"/>
            <a:ext cx="539908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3200">
                <a:solidFill>
                  <a:schemeClr val="bg2"/>
                </a:solidFill>
                <a:latin typeface="华文中宋" panose="02010600040101010101" pitchFamily="2" charset="-122"/>
                <a:ea typeface="华文中宋" panose="02010600040101010101" pitchFamily="2" charset="-122"/>
                <a:cs typeface="Times New Roman" panose="02020603050405020304" pitchFamily="18" charset="0"/>
              </a:rPr>
              <a:t>证明方法</a:t>
            </a:r>
          </a:p>
        </p:txBody>
      </p:sp>
      <p:sp>
        <p:nvSpPr>
          <p:cNvPr id="79875" name="Rectangle 4">
            <a:extLst>
              <a:ext uri="{FF2B5EF4-FFF2-40B4-BE49-F238E27FC236}">
                <a16:creationId xmlns:a16="http://schemas.microsoft.com/office/drawing/2014/main" id="{10558034-84B2-F449-A997-3A82C0E6A9E4}"/>
              </a:ext>
            </a:extLst>
          </p:cNvPr>
          <p:cNvSpPr>
            <a:spLocks noChangeArrowheads="1"/>
          </p:cNvSpPr>
          <p:nvPr/>
        </p:nvSpPr>
        <p:spPr bwMode="auto">
          <a:xfrm>
            <a:off x="0" y="3543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9876" name="Rectangle 5">
            <a:extLst>
              <a:ext uri="{FF2B5EF4-FFF2-40B4-BE49-F238E27FC236}">
                <a16:creationId xmlns:a16="http://schemas.microsoft.com/office/drawing/2014/main" id="{996D8025-59E2-6B45-9922-2B790A0F944D}"/>
              </a:ext>
            </a:extLst>
          </p:cNvPr>
          <p:cNvSpPr>
            <a:spLocks noChangeArrowheads="1"/>
          </p:cNvSpPr>
          <p:nvPr/>
        </p:nvSpPr>
        <p:spPr bwMode="auto">
          <a:xfrm>
            <a:off x="0" y="3552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9877" name="Rectangle 6">
            <a:extLst>
              <a:ext uri="{FF2B5EF4-FFF2-40B4-BE49-F238E27FC236}">
                <a16:creationId xmlns:a16="http://schemas.microsoft.com/office/drawing/2014/main" id="{AEBFC4D2-52EE-7347-BC8B-DE236D9B800B}"/>
              </a:ext>
            </a:extLst>
          </p:cNvPr>
          <p:cNvSpPr>
            <a:spLocks noChangeArrowheads="1"/>
          </p:cNvSpPr>
          <p:nvPr/>
        </p:nvSpPr>
        <p:spPr bwMode="auto">
          <a:xfrm>
            <a:off x="0" y="3552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9878" name="Rectangle 7">
            <a:extLst>
              <a:ext uri="{FF2B5EF4-FFF2-40B4-BE49-F238E27FC236}">
                <a16:creationId xmlns:a16="http://schemas.microsoft.com/office/drawing/2014/main" id="{0B968D78-B9CC-EA42-A82E-47EA9D470403}"/>
              </a:ext>
            </a:extLst>
          </p:cNvPr>
          <p:cNvSpPr>
            <a:spLocks noChangeArrowheads="1"/>
          </p:cNvSpPr>
          <p:nvPr/>
        </p:nvSpPr>
        <p:spPr bwMode="auto">
          <a:xfrm>
            <a:off x="0" y="3543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9879" name="Rectangle 8">
            <a:extLst>
              <a:ext uri="{FF2B5EF4-FFF2-40B4-BE49-F238E27FC236}">
                <a16:creationId xmlns:a16="http://schemas.microsoft.com/office/drawing/2014/main" id="{AF8C5B75-BAAA-4F41-952E-FA721659B7B7}"/>
              </a:ext>
            </a:extLst>
          </p:cNvPr>
          <p:cNvSpPr>
            <a:spLocks noChangeArrowheads="1"/>
          </p:cNvSpPr>
          <p:nvPr/>
        </p:nvSpPr>
        <p:spPr bwMode="auto">
          <a:xfrm>
            <a:off x="0" y="3552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9880" name="Rectangle 9">
            <a:extLst>
              <a:ext uri="{FF2B5EF4-FFF2-40B4-BE49-F238E27FC236}">
                <a16:creationId xmlns:a16="http://schemas.microsoft.com/office/drawing/2014/main" id="{4E67C889-898C-554D-93B4-361FC3A9F51C}"/>
              </a:ext>
            </a:extLst>
          </p:cNvPr>
          <p:cNvSpPr>
            <a:spLocks noChangeArrowheads="1"/>
          </p:cNvSpPr>
          <p:nvPr/>
        </p:nvSpPr>
        <p:spPr bwMode="auto">
          <a:xfrm>
            <a:off x="0" y="3562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9881" name="Rectangle 10">
            <a:extLst>
              <a:ext uri="{FF2B5EF4-FFF2-40B4-BE49-F238E27FC236}">
                <a16:creationId xmlns:a16="http://schemas.microsoft.com/office/drawing/2014/main" id="{94858BCB-41ED-074B-AA85-3200456C126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9882" name="Rectangle 11">
            <a:extLst>
              <a:ext uri="{FF2B5EF4-FFF2-40B4-BE49-F238E27FC236}">
                <a16:creationId xmlns:a16="http://schemas.microsoft.com/office/drawing/2014/main" id="{A21B3B7F-C45F-5B41-AB29-D0411931DE5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79883" name="Text Box 12">
            <a:extLst>
              <a:ext uri="{FF2B5EF4-FFF2-40B4-BE49-F238E27FC236}">
                <a16:creationId xmlns:a16="http://schemas.microsoft.com/office/drawing/2014/main" id="{1DF6E939-B255-424E-A3A3-44792F2E833D}"/>
              </a:ext>
            </a:extLst>
          </p:cNvPr>
          <p:cNvSpPr txBox="1">
            <a:spLocks noChangeArrowheads="1"/>
          </p:cNvSpPr>
          <p:nvPr/>
        </p:nvSpPr>
        <p:spPr bwMode="auto">
          <a:xfrm>
            <a:off x="228600" y="839788"/>
            <a:ext cx="7177088"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3600">
                <a:solidFill>
                  <a:srgbClr val="0000FF"/>
                </a:solidFill>
                <a:latin typeface="华文中宋" panose="02010600040101010101" pitchFamily="2" charset="-122"/>
                <a:ea typeface="华文中宋" panose="02010600040101010101" pitchFamily="2" charset="-122"/>
                <a:cs typeface="Times New Roman" panose="02020603050405020304" pitchFamily="18" charset="0"/>
              </a:rPr>
              <a:t>零知识证明与身份鉴别技术 </a:t>
            </a:r>
          </a:p>
        </p:txBody>
      </p:sp>
      <p:sp>
        <p:nvSpPr>
          <p:cNvPr id="2" name="矩形 1">
            <a:extLst>
              <a:ext uri="{FF2B5EF4-FFF2-40B4-BE49-F238E27FC236}">
                <a16:creationId xmlns:a16="http://schemas.microsoft.com/office/drawing/2014/main" id="{4C96BE92-3DBF-D440-98CD-EE7939B42299}"/>
              </a:ext>
            </a:extLst>
          </p:cNvPr>
          <p:cNvSpPr>
            <a:spLocks noChangeArrowheads="1"/>
          </p:cNvSpPr>
          <p:nvPr/>
        </p:nvSpPr>
        <p:spPr bwMode="auto">
          <a:xfrm>
            <a:off x="723900" y="2206625"/>
            <a:ext cx="76962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0000"/>
              </a:lnSpc>
              <a:buClr>
                <a:srgbClr val="000099"/>
              </a:buClr>
              <a:buSzPct val="70000"/>
            </a:pPr>
            <a:r>
              <a:rPr lang="zh-CN" altLang="en-US" sz="2400">
                <a:solidFill>
                  <a:srgbClr val="0000FF"/>
                </a:solidFill>
                <a:latin typeface="华文中宋" panose="02010600040101010101" pitchFamily="2" charset="-122"/>
                <a:ea typeface="华文中宋" panose="02010600040101010101" pitchFamily="2" charset="-122"/>
              </a:rPr>
              <a:t>向别人证明知道某种事物或者拥有某种物品有</a:t>
            </a:r>
            <a:r>
              <a:rPr lang="zh-CN" altLang="en-US" sz="2400">
                <a:latin typeface="华文中宋" panose="02010600040101010101" pitchFamily="2" charset="-122"/>
                <a:ea typeface="华文中宋" panose="02010600040101010101" pitchFamily="2" charset="-122"/>
              </a:rPr>
              <a:t>直接证明</a:t>
            </a:r>
            <a:r>
              <a:rPr lang="zh-CN" altLang="en-US" sz="2400">
                <a:solidFill>
                  <a:srgbClr val="0000FF"/>
                </a:solidFill>
                <a:latin typeface="华文中宋" panose="02010600040101010101" pitchFamily="2" charset="-122"/>
                <a:ea typeface="华文中宋" panose="02010600040101010101" pitchFamily="2" charset="-122"/>
              </a:rPr>
              <a:t>和</a:t>
            </a:r>
            <a:r>
              <a:rPr lang="zh-CN" altLang="en-US" sz="2400">
                <a:latin typeface="华文中宋" panose="02010600040101010101" pitchFamily="2" charset="-122"/>
                <a:ea typeface="华文中宋" panose="02010600040101010101" pitchFamily="2" charset="-122"/>
              </a:rPr>
              <a:t>间接证明</a:t>
            </a:r>
            <a:r>
              <a:rPr lang="zh-CN" altLang="en-US" sz="2400">
                <a:solidFill>
                  <a:srgbClr val="0000FF"/>
                </a:solidFill>
                <a:latin typeface="华文中宋" panose="02010600040101010101" pitchFamily="2" charset="-122"/>
                <a:ea typeface="华文中宋" panose="02010600040101010101" pitchFamily="2" charset="-122"/>
              </a:rPr>
              <a:t>两种方法。</a:t>
            </a:r>
          </a:p>
        </p:txBody>
      </p:sp>
      <p:sp>
        <p:nvSpPr>
          <p:cNvPr id="3" name="矩形 2">
            <a:extLst>
              <a:ext uri="{FF2B5EF4-FFF2-40B4-BE49-F238E27FC236}">
                <a16:creationId xmlns:a16="http://schemas.microsoft.com/office/drawing/2014/main" id="{D33A5A6B-3305-6244-B750-E55518F09BB5}"/>
              </a:ext>
            </a:extLst>
          </p:cNvPr>
          <p:cNvSpPr>
            <a:spLocks noChangeArrowheads="1"/>
          </p:cNvSpPr>
          <p:nvPr/>
        </p:nvSpPr>
        <p:spPr bwMode="auto">
          <a:xfrm>
            <a:off x="381000" y="4783138"/>
            <a:ext cx="83820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858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0000"/>
              </a:lnSpc>
              <a:buClr>
                <a:srgbClr val="000099"/>
              </a:buClr>
              <a:buSzPct val="70000"/>
              <a:buFont typeface="Wingdings" pitchFamily="2" charset="2"/>
              <a:buChar char="p"/>
            </a:pPr>
            <a:r>
              <a:rPr lang="zh-CN" altLang="en-US" sz="2400">
                <a:latin typeface="华文中宋" panose="02010600040101010101" pitchFamily="2" charset="-122"/>
                <a:ea typeface="华文中宋" panose="02010600040101010101" pitchFamily="2" charset="-122"/>
              </a:rPr>
              <a:t> 间接证明</a:t>
            </a:r>
            <a:r>
              <a:rPr lang="zh-CN" altLang="en-US" sz="2400">
                <a:solidFill>
                  <a:schemeClr val="bg2"/>
                </a:solidFill>
                <a:latin typeface="华文中宋" panose="02010600040101010101" pitchFamily="2" charset="-122"/>
                <a:ea typeface="华文中宋" panose="02010600040101010101" pitchFamily="2" charset="-122"/>
              </a:rPr>
              <a:t>，用一种有效的数学方法证明其知道秘密，而又不泄漏信息给别人，这就是零知识证明问题。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77826"/>
                                        </p:tgtEl>
                                        <p:attrNameLst>
                                          <p:attrName>style.visibility</p:attrName>
                                        </p:attrNameLst>
                                      </p:cBhvr>
                                      <p:to>
                                        <p:strVal val="visible"/>
                                      </p:to>
                                    </p:set>
                                    <p:anim calcmode="lin" valueType="num">
                                      <p:cBhvr additive="base">
                                        <p:cTn id="14" dur="500" fill="hold"/>
                                        <p:tgtEl>
                                          <p:spTgt spid="77826"/>
                                        </p:tgtEl>
                                        <p:attrNameLst>
                                          <p:attrName>ppt_x</p:attrName>
                                        </p:attrNameLst>
                                      </p:cBhvr>
                                      <p:tavLst>
                                        <p:tav tm="0">
                                          <p:val>
                                            <p:strVal val="0-#ppt_w/2"/>
                                          </p:val>
                                        </p:tav>
                                        <p:tav tm="100000">
                                          <p:val>
                                            <p:strVal val="#ppt_x"/>
                                          </p:val>
                                        </p:tav>
                                      </p:tavLst>
                                    </p:anim>
                                    <p:anim calcmode="lin" valueType="num">
                                      <p:cBhvr additive="base">
                                        <p:cTn id="15" dur="500" fill="hold"/>
                                        <p:tgtEl>
                                          <p:spTgt spid="77826"/>
                                        </p:tgtEl>
                                        <p:attrNameLst>
                                          <p:attrName>ppt_y</p:attrName>
                                        </p:attrNameLst>
                                      </p:cBhvr>
                                      <p:tavLst>
                                        <p:tav tm="0">
                                          <p:val>
                                            <p:strVal val="#ppt_y"/>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0-#ppt_w/2"/>
                                          </p:val>
                                        </p:tav>
                                        <p:tav tm="100000">
                                          <p:val>
                                            <p:strVal val="#ppt_x"/>
                                          </p:val>
                                        </p:tav>
                                      </p:tavLst>
                                    </p:anim>
                                    <p:anim calcmode="lin" valueType="num">
                                      <p:cBhvr additive="base">
                                        <p:cTn id="21"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p:bldP spid="2" grpId="0"/>
      <p:bldP spid="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10">
            <a:extLst>
              <a:ext uri="{FF2B5EF4-FFF2-40B4-BE49-F238E27FC236}">
                <a16:creationId xmlns:a16="http://schemas.microsoft.com/office/drawing/2014/main" id="{23EA7930-AB7A-6A43-8735-8FD68CFC827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0898" name="Rectangle 11">
            <a:extLst>
              <a:ext uri="{FF2B5EF4-FFF2-40B4-BE49-F238E27FC236}">
                <a16:creationId xmlns:a16="http://schemas.microsoft.com/office/drawing/2014/main" id="{EAAE0F82-43C2-144D-AB18-36F4500BB26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0899" name="Rectangle 3">
            <a:extLst>
              <a:ext uri="{FF2B5EF4-FFF2-40B4-BE49-F238E27FC236}">
                <a16:creationId xmlns:a16="http://schemas.microsoft.com/office/drawing/2014/main" id="{E73FE2F0-BC0B-0148-BD18-45FD572EC786}"/>
              </a:ext>
            </a:extLst>
          </p:cNvPr>
          <p:cNvSpPr>
            <a:spLocks noChangeArrowheads="1"/>
          </p:cNvSpPr>
          <p:nvPr/>
        </p:nvSpPr>
        <p:spPr bwMode="auto">
          <a:xfrm>
            <a:off x="685800" y="685800"/>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latin typeface="华文中宋" panose="02010600040101010101" pitchFamily="2" charset="-122"/>
                <a:ea typeface="华文中宋" panose="02010600040101010101" pitchFamily="2" charset="-122"/>
                <a:cs typeface="Times New Roman" panose="02020603050405020304" pitchFamily="18" charset="0"/>
              </a:rPr>
              <a:t>零知识证明举例</a:t>
            </a:r>
          </a:p>
        </p:txBody>
      </p:sp>
      <p:pic>
        <p:nvPicPr>
          <p:cNvPr id="80900" name="图片 7">
            <a:extLst>
              <a:ext uri="{FF2B5EF4-FFF2-40B4-BE49-F238E27FC236}">
                <a16:creationId xmlns:a16="http://schemas.microsoft.com/office/drawing/2014/main" id="{55D70276-5352-0945-AB11-A938844ECE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63247" y="2082801"/>
            <a:ext cx="2480180" cy="269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1" name="Rectangle 3">
            <a:extLst>
              <a:ext uri="{FF2B5EF4-FFF2-40B4-BE49-F238E27FC236}">
                <a16:creationId xmlns:a16="http://schemas.microsoft.com/office/drawing/2014/main" id="{B8F3BEFC-1013-F94D-90CA-7938BE80B3CB}"/>
              </a:ext>
            </a:extLst>
          </p:cNvPr>
          <p:cNvSpPr>
            <a:spLocks noChangeArrowheads="1"/>
          </p:cNvSpPr>
          <p:nvPr/>
        </p:nvSpPr>
        <p:spPr bwMode="auto">
          <a:xfrm>
            <a:off x="434975" y="2249488"/>
            <a:ext cx="5508625"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5000"/>
              </a:lnSpc>
              <a:spcBef>
                <a:spcPct val="50000"/>
              </a:spcBef>
            </a:pPr>
            <a:r>
              <a:rPr lang="en-US" altLang="zh-CN"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大盗得到一份藏宝图，但是要过一些关卡才能得宝，阿里巴巴被</a:t>
            </a:r>
            <a:r>
              <a:rPr lang="en-US" altLang="zh-CN"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大盗胁迫寻宝。阿里巴巴要证明自己能够闯关（证明自己有存活价值）、但不能告诉别人闯关方法（保留自己的存活价值）。</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10">
            <a:extLst>
              <a:ext uri="{FF2B5EF4-FFF2-40B4-BE49-F238E27FC236}">
                <a16:creationId xmlns:a16="http://schemas.microsoft.com/office/drawing/2014/main" id="{3A12E930-C6B3-4447-A547-31E383D6A73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1922" name="Rectangle 11">
            <a:extLst>
              <a:ext uri="{FF2B5EF4-FFF2-40B4-BE49-F238E27FC236}">
                <a16:creationId xmlns:a16="http://schemas.microsoft.com/office/drawing/2014/main" id="{2676A925-CCEB-9341-A686-CCCAF0A90E9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1923" name="Rectangle 3">
            <a:extLst>
              <a:ext uri="{FF2B5EF4-FFF2-40B4-BE49-F238E27FC236}">
                <a16:creationId xmlns:a16="http://schemas.microsoft.com/office/drawing/2014/main" id="{2E06813D-07FD-DB4B-813D-89EBF1E0E873}"/>
              </a:ext>
            </a:extLst>
          </p:cNvPr>
          <p:cNvSpPr>
            <a:spLocks noChangeArrowheads="1"/>
          </p:cNvSpPr>
          <p:nvPr/>
        </p:nvSpPr>
        <p:spPr bwMode="auto">
          <a:xfrm>
            <a:off x="685800" y="685800"/>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latin typeface="华文中宋" panose="02010600040101010101" pitchFamily="2" charset="-122"/>
                <a:ea typeface="华文中宋" panose="02010600040101010101" pitchFamily="2" charset="-122"/>
                <a:cs typeface="Times New Roman" panose="02020603050405020304" pitchFamily="18" charset="0"/>
              </a:rPr>
              <a:t>零知识证明举例</a:t>
            </a:r>
          </a:p>
        </p:txBody>
      </p:sp>
      <p:sp>
        <p:nvSpPr>
          <p:cNvPr id="81924" name="Rectangle 3">
            <a:extLst>
              <a:ext uri="{FF2B5EF4-FFF2-40B4-BE49-F238E27FC236}">
                <a16:creationId xmlns:a16="http://schemas.microsoft.com/office/drawing/2014/main" id="{40317960-E564-C449-B9C3-C09279657834}"/>
              </a:ext>
            </a:extLst>
          </p:cNvPr>
          <p:cNvSpPr>
            <a:spLocks noChangeArrowheads="1"/>
          </p:cNvSpPr>
          <p:nvPr/>
        </p:nvSpPr>
        <p:spPr bwMode="auto">
          <a:xfrm>
            <a:off x="454025" y="1371600"/>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色盲验证双球（红绿）颜色问题</a:t>
            </a:r>
          </a:p>
        </p:txBody>
      </p:sp>
      <p:sp>
        <p:nvSpPr>
          <p:cNvPr id="81925" name="Rectangle 3">
            <a:extLst>
              <a:ext uri="{FF2B5EF4-FFF2-40B4-BE49-F238E27FC236}">
                <a16:creationId xmlns:a16="http://schemas.microsoft.com/office/drawing/2014/main" id="{03B638A6-67B2-3842-83AC-4F4E30D13F72}"/>
              </a:ext>
            </a:extLst>
          </p:cNvPr>
          <p:cNvSpPr>
            <a:spLocks noChangeArrowheads="1"/>
          </p:cNvSpPr>
          <p:nvPr/>
        </p:nvSpPr>
        <p:spPr bwMode="auto">
          <a:xfrm>
            <a:off x="914400" y="2036763"/>
            <a:ext cx="6858000"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5000"/>
              </a:lnSpc>
              <a:spcBef>
                <a:spcPct val="50000"/>
              </a:spcBef>
            </a:pPr>
            <a:r>
              <a:rPr lang="zh-CN" altLang="en-US" sz="24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阿里巴巴正常，盗贼全色盲，关卡为红绿分球。</a:t>
            </a:r>
          </a:p>
        </p:txBody>
      </p:sp>
      <p:sp>
        <p:nvSpPr>
          <p:cNvPr id="11" name="Rectangle 3">
            <a:extLst>
              <a:ext uri="{FF2B5EF4-FFF2-40B4-BE49-F238E27FC236}">
                <a16:creationId xmlns:a16="http://schemas.microsoft.com/office/drawing/2014/main" id="{87C60EB6-6C00-5943-BD70-174750F5DA74}"/>
              </a:ext>
            </a:extLst>
          </p:cNvPr>
          <p:cNvSpPr>
            <a:spLocks noChangeArrowheads="1"/>
          </p:cNvSpPr>
          <p:nvPr/>
        </p:nvSpPr>
        <p:spPr bwMode="auto">
          <a:xfrm>
            <a:off x="914400" y="2814638"/>
            <a:ext cx="7618413" cy="189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5000"/>
              </a:lnSpc>
              <a:spcBef>
                <a:spcPct val="50000"/>
              </a:spcBef>
            </a:pPr>
            <a:r>
              <a:rPr lang="zh-CN" altLang="en-US" sz="24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盗贼让阿里巴巴选好一红一绿，阿里巴巴看准红绿球左右顺序，盗贼将两球在背后交换，自己记住是否交换，然后展示两球让阿里巴巴说是否交换。多次进行，可以验证。</a:t>
            </a:r>
          </a:p>
        </p:txBody>
      </p:sp>
      <p:pic>
        <p:nvPicPr>
          <p:cNvPr id="81927" name="图片 11">
            <a:extLst>
              <a:ext uri="{FF2B5EF4-FFF2-40B4-BE49-F238E27FC236}">
                <a16:creationId xmlns:a16="http://schemas.microsoft.com/office/drawing/2014/main" id="{0169FD4A-A7A1-124D-96AC-965F117770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825" y="4951413"/>
            <a:ext cx="112395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8" name="图片 12">
            <a:extLst>
              <a:ext uri="{FF2B5EF4-FFF2-40B4-BE49-F238E27FC236}">
                <a16:creationId xmlns:a16="http://schemas.microsoft.com/office/drawing/2014/main" id="{3CCBE505-DAA2-BF4D-A97E-CE80328A26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5050" y="4941888"/>
            <a:ext cx="1095375"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a:extLst>
              <a:ext uri="{FF2B5EF4-FFF2-40B4-BE49-F238E27FC236}">
                <a16:creationId xmlns:a16="http://schemas.microsoft.com/office/drawing/2014/main" id="{C3A8E27F-BD3A-3445-A563-7F74B0B66174}"/>
              </a:ext>
            </a:extLst>
          </p:cNvPr>
          <p:cNvSpPr/>
          <p:nvPr/>
        </p:nvSpPr>
        <p:spPr bwMode="auto">
          <a:xfrm>
            <a:off x="6400800" y="4941888"/>
            <a:ext cx="457200" cy="468312"/>
          </a:xfrm>
          <a:prstGeom prst="ellipse">
            <a:avLst/>
          </a:prstGeom>
          <a:solidFill>
            <a:srgbClr val="C00000"/>
          </a:solidFill>
          <a:ln w="9525" cap="flat" cmpd="sng" algn="ctr">
            <a:solidFill>
              <a:srgbClr val="000000"/>
            </a:solidFill>
            <a:prstDash val="solid"/>
            <a:round/>
            <a:headEnd type="none" w="med" len="med"/>
            <a:tailEnd type="non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5" name="椭圆 14">
            <a:extLst>
              <a:ext uri="{FF2B5EF4-FFF2-40B4-BE49-F238E27FC236}">
                <a16:creationId xmlns:a16="http://schemas.microsoft.com/office/drawing/2014/main" id="{2B3B2852-83E3-5B4F-977E-F32D20C03387}"/>
              </a:ext>
            </a:extLst>
          </p:cNvPr>
          <p:cNvSpPr/>
          <p:nvPr/>
        </p:nvSpPr>
        <p:spPr bwMode="auto">
          <a:xfrm>
            <a:off x="6400800" y="5640388"/>
            <a:ext cx="457200" cy="468312"/>
          </a:xfrm>
          <a:prstGeom prst="ellipse">
            <a:avLst/>
          </a:prstGeom>
          <a:solidFill>
            <a:schemeClr val="bg1">
              <a:lumMod val="75000"/>
            </a:schemeClr>
          </a:solidFill>
          <a:ln w="9525" cap="flat" cmpd="sng" algn="ctr">
            <a:solidFill>
              <a:srgbClr val="000000"/>
            </a:solidFill>
            <a:prstDash val="solid"/>
            <a:round/>
            <a:headEnd type="none" w="med" len="med"/>
            <a:tailEnd type="non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10">
            <a:extLst>
              <a:ext uri="{FF2B5EF4-FFF2-40B4-BE49-F238E27FC236}">
                <a16:creationId xmlns:a16="http://schemas.microsoft.com/office/drawing/2014/main" id="{3A12E930-C6B3-4447-A547-31E383D6A73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1922" name="Rectangle 11">
            <a:extLst>
              <a:ext uri="{FF2B5EF4-FFF2-40B4-BE49-F238E27FC236}">
                <a16:creationId xmlns:a16="http://schemas.microsoft.com/office/drawing/2014/main" id="{2676A925-CCEB-9341-A686-CCCAF0A90E9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1923" name="Rectangle 3">
            <a:extLst>
              <a:ext uri="{FF2B5EF4-FFF2-40B4-BE49-F238E27FC236}">
                <a16:creationId xmlns:a16="http://schemas.microsoft.com/office/drawing/2014/main" id="{2E06813D-07FD-DB4B-813D-89EBF1E0E873}"/>
              </a:ext>
            </a:extLst>
          </p:cNvPr>
          <p:cNvSpPr>
            <a:spLocks noChangeArrowheads="1"/>
          </p:cNvSpPr>
          <p:nvPr/>
        </p:nvSpPr>
        <p:spPr bwMode="auto">
          <a:xfrm>
            <a:off x="685800" y="685800"/>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latin typeface="华文中宋" panose="02010600040101010101" pitchFamily="2" charset="-122"/>
                <a:ea typeface="华文中宋" panose="02010600040101010101" pitchFamily="2" charset="-122"/>
                <a:cs typeface="Times New Roman" panose="02020603050405020304" pitchFamily="18" charset="0"/>
              </a:rPr>
              <a:t>零知识证明举例</a:t>
            </a:r>
          </a:p>
        </p:txBody>
      </p:sp>
      <p:sp>
        <p:nvSpPr>
          <p:cNvPr id="81924" name="Rectangle 3">
            <a:extLst>
              <a:ext uri="{FF2B5EF4-FFF2-40B4-BE49-F238E27FC236}">
                <a16:creationId xmlns:a16="http://schemas.microsoft.com/office/drawing/2014/main" id="{40317960-E564-C449-B9C3-C09279657834}"/>
              </a:ext>
            </a:extLst>
          </p:cNvPr>
          <p:cNvSpPr>
            <a:spLocks noChangeArrowheads="1"/>
          </p:cNvSpPr>
          <p:nvPr/>
        </p:nvSpPr>
        <p:spPr bwMode="auto">
          <a:xfrm>
            <a:off x="696912" y="1371600"/>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皇帝的新衣</a:t>
            </a:r>
          </a:p>
        </p:txBody>
      </p:sp>
      <p:sp>
        <p:nvSpPr>
          <p:cNvPr id="81925" name="Rectangle 3">
            <a:extLst>
              <a:ext uri="{FF2B5EF4-FFF2-40B4-BE49-F238E27FC236}">
                <a16:creationId xmlns:a16="http://schemas.microsoft.com/office/drawing/2014/main" id="{03B638A6-67B2-3842-83AC-4F4E30D13F72}"/>
              </a:ext>
            </a:extLst>
          </p:cNvPr>
          <p:cNvSpPr>
            <a:spLocks noChangeArrowheads="1"/>
          </p:cNvSpPr>
          <p:nvPr/>
        </p:nvSpPr>
        <p:spPr bwMode="auto">
          <a:xfrm>
            <a:off x="914400" y="2036763"/>
            <a:ext cx="7618412" cy="973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5000"/>
              </a:lnSpc>
              <a:spcBef>
                <a:spcPct val="50000"/>
              </a:spcBef>
            </a:pPr>
            <a:r>
              <a:rPr lang="zh-CN" altLang="en-US"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两个裁缝向皇帝进献旁人看不见的新衣，怎么验证衣服真假？</a:t>
            </a:r>
          </a:p>
        </p:txBody>
      </p:sp>
      <p:sp>
        <p:nvSpPr>
          <p:cNvPr id="11" name="Rectangle 3">
            <a:extLst>
              <a:ext uri="{FF2B5EF4-FFF2-40B4-BE49-F238E27FC236}">
                <a16:creationId xmlns:a16="http://schemas.microsoft.com/office/drawing/2014/main" id="{87C60EB6-6C00-5943-BD70-174750F5DA74}"/>
              </a:ext>
            </a:extLst>
          </p:cNvPr>
          <p:cNvSpPr>
            <a:spLocks noChangeArrowheads="1"/>
          </p:cNvSpPr>
          <p:nvPr/>
        </p:nvSpPr>
        <p:spPr bwMode="auto">
          <a:xfrm>
            <a:off x="914400" y="3278982"/>
            <a:ext cx="7618413" cy="1435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5000"/>
              </a:lnSpc>
              <a:spcBef>
                <a:spcPct val="50000"/>
              </a:spcBef>
            </a:pPr>
            <a:r>
              <a:rPr lang="zh-CN" altLang="en-US"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两个裁缝分关进两个房间，两名士兵负责试穿。一个房间的裁缝负责随机二选一给士兵穿衣服，一个房间的裁缝负责辨认哪个士兵穿了新衣。多次进行，可以验证。</a:t>
            </a:r>
          </a:p>
        </p:txBody>
      </p:sp>
      <p:pic>
        <p:nvPicPr>
          <p:cNvPr id="81927" name="图片 11">
            <a:extLst>
              <a:ext uri="{FF2B5EF4-FFF2-40B4-BE49-F238E27FC236}">
                <a16:creationId xmlns:a16="http://schemas.microsoft.com/office/drawing/2014/main" id="{0169FD4A-A7A1-124D-96AC-965F117770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4976625"/>
            <a:ext cx="112395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8" name="图片 12">
            <a:extLst>
              <a:ext uri="{FF2B5EF4-FFF2-40B4-BE49-F238E27FC236}">
                <a16:creationId xmlns:a16="http://schemas.microsoft.com/office/drawing/2014/main" id="{3CCBE505-DAA2-BF4D-A97E-CE80328A26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4557" y="4976625"/>
            <a:ext cx="1095375"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a:extLst>
              <a:ext uri="{FF2B5EF4-FFF2-40B4-BE49-F238E27FC236}">
                <a16:creationId xmlns:a16="http://schemas.microsoft.com/office/drawing/2014/main" id="{C3A8E27F-BD3A-3445-A563-7F74B0B66174}"/>
              </a:ext>
            </a:extLst>
          </p:cNvPr>
          <p:cNvSpPr/>
          <p:nvPr/>
        </p:nvSpPr>
        <p:spPr bwMode="auto">
          <a:xfrm>
            <a:off x="3556004" y="5577323"/>
            <a:ext cx="869942" cy="468312"/>
          </a:xfrm>
          <a:prstGeom prst="ellipse">
            <a:avLst/>
          </a:prstGeom>
          <a:solidFill>
            <a:srgbClr val="C00000"/>
          </a:solidFill>
          <a:ln w="9525" cap="flat" cmpd="sng" algn="ctr">
            <a:solidFill>
              <a:srgbClr val="000000"/>
            </a:solidFill>
            <a:prstDash val="solid"/>
            <a:round/>
            <a:headEnd type="none" w="med" len="med"/>
            <a:tailEnd type="non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pic>
        <p:nvPicPr>
          <p:cNvPr id="12" name="图片 12">
            <a:extLst>
              <a:ext uri="{FF2B5EF4-FFF2-40B4-BE49-F238E27FC236}">
                <a16:creationId xmlns:a16="http://schemas.microsoft.com/office/drawing/2014/main" id="{D4E33534-42CE-8242-8670-10B01060FD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296" y="4976626"/>
            <a:ext cx="1095375"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1">
            <a:extLst>
              <a:ext uri="{FF2B5EF4-FFF2-40B4-BE49-F238E27FC236}">
                <a16:creationId xmlns:a16="http://schemas.microsoft.com/office/drawing/2014/main" id="{C2603167-E750-0A45-804E-054ABF6C4B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8777" y="4976625"/>
            <a:ext cx="112395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3254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nodeType="withEffect">
                                  <p:stCondLst>
                                    <p:cond delay="0"/>
                                  </p:stCondLst>
                                  <p:childTnLst>
                                    <p:set>
                                      <p:cBhvr>
                                        <p:cTn id="9" dur="1" fill="hold">
                                          <p:stCondLst>
                                            <p:cond delay="0"/>
                                          </p:stCondLst>
                                        </p:cTn>
                                        <p:tgtEl>
                                          <p:spTgt spid="81927"/>
                                        </p:tgtEl>
                                        <p:attrNameLst>
                                          <p:attrName>style.visibility</p:attrName>
                                        </p:attrNameLst>
                                      </p:cBhvr>
                                      <p:to>
                                        <p:strVal val="visible"/>
                                      </p:to>
                                    </p:set>
                                    <p:animEffect transition="in" filter="wipe(left)">
                                      <p:cBhvr>
                                        <p:cTn id="10" dur="500"/>
                                        <p:tgtEl>
                                          <p:spTgt spid="81927"/>
                                        </p:tgtEl>
                                      </p:cBhvr>
                                    </p:animEffect>
                                  </p:childTnLst>
                                </p:cTn>
                              </p:par>
                              <p:par>
                                <p:cTn id="11" presetID="22" presetClass="entr" presetSubtype="8" fill="hold" nodeType="withEffect">
                                  <p:stCondLst>
                                    <p:cond delay="0"/>
                                  </p:stCondLst>
                                  <p:childTnLst>
                                    <p:set>
                                      <p:cBhvr>
                                        <p:cTn id="12" dur="1" fill="hold">
                                          <p:stCondLst>
                                            <p:cond delay="0"/>
                                          </p:stCondLst>
                                        </p:cTn>
                                        <p:tgtEl>
                                          <p:spTgt spid="81928"/>
                                        </p:tgtEl>
                                        <p:attrNameLst>
                                          <p:attrName>style.visibility</p:attrName>
                                        </p:attrNameLst>
                                      </p:cBhvr>
                                      <p:to>
                                        <p:strVal val="visible"/>
                                      </p:to>
                                    </p:set>
                                    <p:animEffect transition="in" filter="wipe(left)">
                                      <p:cBhvr>
                                        <p:cTn id="13" dur="500"/>
                                        <p:tgtEl>
                                          <p:spTgt spid="81928"/>
                                        </p:tgtEl>
                                      </p:cBhvr>
                                    </p:animEffect>
                                  </p:childTnLst>
                                </p:cTn>
                              </p:par>
                              <p:par>
                                <p:cTn id="14" presetID="22" presetClass="entr" presetSubtype="8" fill="hold" grpId="1"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par>
                                <p:cTn id="17" presetID="22" presetClass="entr" presetSubtype="8"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par>
                                <p:cTn id="20" presetID="22" presetClass="entr" presetSubtype="8"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p:bldP spid="2" grpId="1"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10">
            <a:extLst>
              <a:ext uri="{FF2B5EF4-FFF2-40B4-BE49-F238E27FC236}">
                <a16:creationId xmlns:a16="http://schemas.microsoft.com/office/drawing/2014/main" id="{6D77848A-3393-3440-BB80-DE32552709F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2946" name="Rectangle 11">
            <a:extLst>
              <a:ext uri="{FF2B5EF4-FFF2-40B4-BE49-F238E27FC236}">
                <a16:creationId xmlns:a16="http://schemas.microsoft.com/office/drawing/2014/main" id="{B6735274-56EC-804A-9746-DE8722149DD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2947" name="Rectangle 3">
            <a:extLst>
              <a:ext uri="{FF2B5EF4-FFF2-40B4-BE49-F238E27FC236}">
                <a16:creationId xmlns:a16="http://schemas.microsoft.com/office/drawing/2014/main" id="{31E048CF-9AA9-7F4C-8539-4313093B2208}"/>
              </a:ext>
            </a:extLst>
          </p:cNvPr>
          <p:cNvSpPr>
            <a:spLocks noChangeArrowheads="1"/>
          </p:cNvSpPr>
          <p:nvPr/>
        </p:nvSpPr>
        <p:spPr bwMode="auto">
          <a:xfrm>
            <a:off x="685800" y="685800"/>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latin typeface="华文中宋" panose="02010600040101010101" pitchFamily="2" charset="-122"/>
                <a:ea typeface="华文中宋" panose="02010600040101010101" pitchFamily="2" charset="-122"/>
                <a:cs typeface="Times New Roman" panose="02020603050405020304" pitchFamily="18" charset="0"/>
              </a:rPr>
              <a:t>零知识证明举例</a:t>
            </a:r>
          </a:p>
        </p:txBody>
      </p:sp>
      <p:sp>
        <p:nvSpPr>
          <p:cNvPr id="82948" name="Rectangle 3">
            <a:extLst>
              <a:ext uri="{FF2B5EF4-FFF2-40B4-BE49-F238E27FC236}">
                <a16:creationId xmlns:a16="http://schemas.microsoft.com/office/drawing/2014/main" id="{A0E569AE-1BD4-3945-BDC2-4B571FA28109}"/>
              </a:ext>
            </a:extLst>
          </p:cNvPr>
          <p:cNvSpPr>
            <a:spLocks noChangeArrowheads="1"/>
          </p:cNvSpPr>
          <p:nvPr/>
        </p:nvSpPr>
        <p:spPr bwMode="auto">
          <a:xfrm>
            <a:off x="454025" y="1371600"/>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山洞问题</a:t>
            </a:r>
          </a:p>
        </p:txBody>
      </p:sp>
      <p:sp>
        <p:nvSpPr>
          <p:cNvPr id="82949" name="Rectangle 3">
            <a:extLst>
              <a:ext uri="{FF2B5EF4-FFF2-40B4-BE49-F238E27FC236}">
                <a16:creationId xmlns:a16="http://schemas.microsoft.com/office/drawing/2014/main" id="{9C278C5B-A133-334D-B01F-8212E09CE04A}"/>
              </a:ext>
            </a:extLst>
          </p:cNvPr>
          <p:cNvSpPr>
            <a:spLocks noChangeArrowheads="1"/>
          </p:cNvSpPr>
          <p:nvPr/>
        </p:nvSpPr>
        <p:spPr bwMode="auto">
          <a:xfrm>
            <a:off x="914400" y="2036763"/>
            <a:ext cx="6858000"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5000"/>
              </a:lnSpc>
              <a:spcBef>
                <a:spcPct val="50000"/>
              </a:spcBef>
            </a:pPr>
            <a:r>
              <a:rPr lang="zh-CN" altLang="en-US" sz="24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阿里巴巴知道开门口诀，关卡为开山洞门。</a:t>
            </a:r>
          </a:p>
        </p:txBody>
      </p:sp>
      <p:sp>
        <p:nvSpPr>
          <p:cNvPr id="11" name="Rectangle 3">
            <a:extLst>
              <a:ext uri="{FF2B5EF4-FFF2-40B4-BE49-F238E27FC236}">
                <a16:creationId xmlns:a16="http://schemas.microsoft.com/office/drawing/2014/main" id="{29ABF23A-AF4C-3A49-9405-B9B6081F14A4}"/>
              </a:ext>
            </a:extLst>
          </p:cNvPr>
          <p:cNvSpPr>
            <a:spLocks noChangeArrowheads="1"/>
          </p:cNvSpPr>
          <p:nvPr/>
        </p:nvSpPr>
        <p:spPr bwMode="auto">
          <a:xfrm>
            <a:off x="360363" y="2943225"/>
            <a:ext cx="4284662" cy="189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5000"/>
              </a:lnSpc>
              <a:spcBef>
                <a:spcPct val="50000"/>
              </a:spcBef>
            </a:pPr>
            <a:r>
              <a:rPr lang="zh-CN" altLang="en-US" sz="24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阿里巴巴先进洞，盗贼在洞口喊话，随机让阿里巴巴从</a:t>
            </a:r>
            <a:r>
              <a:rPr lang="en-US" altLang="zh-CN" sz="24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C</a:t>
            </a:r>
            <a:r>
              <a:rPr lang="zh-CN" altLang="en-US" sz="24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或</a:t>
            </a:r>
            <a:r>
              <a:rPr lang="en-US" altLang="zh-CN" sz="24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D</a:t>
            </a:r>
            <a:r>
              <a:rPr lang="zh-CN" altLang="en-US" sz="24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端走出来。每次都正确走出，则证明成功。</a:t>
            </a:r>
          </a:p>
        </p:txBody>
      </p:sp>
      <p:pic>
        <p:nvPicPr>
          <p:cNvPr id="82951" name="Picture 18">
            <a:extLst>
              <a:ext uri="{FF2B5EF4-FFF2-40B4-BE49-F238E27FC236}">
                <a16:creationId xmlns:a16="http://schemas.microsoft.com/office/drawing/2014/main" id="{8475C6AA-F329-7247-87AF-B59981D2B3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8575" y="3124200"/>
            <a:ext cx="3675063"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13D1B1A-53A6-E04C-94D5-0E86FF90A1BD}"/>
              </a:ext>
            </a:extLst>
          </p:cNvPr>
          <p:cNvSpPr/>
          <p:nvPr/>
        </p:nvSpPr>
        <p:spPr bwMode="auto">
          <a:xfrm>
            <a:off x="6858000" y="4953000"/>
            <a:ext cx="152400" cy="381000"/>
          </a:xfrm>
          <a:prstGeom prst="rect">
            <a:avLst/>
          </a:prstGeom>
          <a:solidFill>
            <a:schemeClr val="accent1">
              <a:lumMod val="75000"/>
            </a:schemeClr>
          </a:solidFill>
          <a:ln w="9525" cap="flat" cmpd="sng" algn="ctr">
            <a:solidFill>
              <a:srgbClr val="000000"/>
            </a:solidFill>
            <a:prstDash val="solid"/>
            <a:round/>
            <a:headEnd type="none" w="med" len="med"/>
            <a:tailEnd type="non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82953" name="Rectangle 3">
            <a:extLst>
              <a:ext uri="{FF2B5EF4-FFF2-40B4-BE49-F238E27FC236}">
                <a16:creationId xmlns:a16="http://schemas.microsoft.com/office/drawing/2014/main" id="{2F8B7F9F-44F8-874F-AD72-FA4791521DD5}"/>
              </a:ext>
            </a:extLst>
          </p:cNvPr>
          <p:cNvSpPr>
            <a:spLocks noChangeArrowheads="1"/>
          </p:cNvSpPr>
          <p:nvPr/>
        </p:nvSpPr>
        <p:spPr bwMode="auto">
          <a:xfrm>
            <a:off x="6532563" y="5673725"/>
            <a:ext cx="12192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5000"/>
              </a:lnSpc>
              <a:spcBef>
                <a:spcPct val="50000"/>
              </a:spcBef>
            </a:pPr>
            <a:r>
              <a:rPr lang="zh-CN" altLang="en-US" sz="24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山洞门</a:t>
            </a:r>
          </a:p>
        </p:txBody>
      </p:sp>
      <p:pic>
        <p:nvPicPr>
          <p:cNvPr id="82954" name="图片 3">
            <a:extLst>
              <a:ext uri="{FF2B5EF4-FFF2-40B4-BE49-F238E27FC236}">
                <a16:creationId xmlns:a16="http://schemas.microsoft.com/office/drawing/2014/main" id="{31BC372B-3900-2A48-BE4F-206A4C2DB8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2663" y="4802188"/>
            <a:ext cx="71755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5" name="图片 5">
            <a:extLst>
              <a:ext uri="{FF2B5EF4-FFF2-40B4-BE49-F238E27FC236}">
                <a16:creationId xmlns:a16="http://schemas.microsoft.com/office/drawing/2014/main" id="{3A765294-9D20-604B-9D9E-073354E1DF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8288" y="3387725"/>
            <a:ext cx="6985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10">
            <a:extLst>
              <a:ext uri="{FF2B5EF4-FFF2-40B4-BE49-F238E27FC236}">
                <a16:creationId xmlns:a16="http://schemas.microsoft.com/office/drawing/2014/main" id="{6D77848A-3393-3440-BB80-DE32552709F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2946" name="Rectangle 11">
            <a:extLst>
              <a:ext uri="{FF2B5EF4-FFF2-40B4-BE49-F238E27FC236}">
                <a16:creationId xmlns:a16="http://schemas.microsoft.com/office/drawing/2014/main" id="{B6735274-56EC-804A-9746-DE8722149DD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2947" name="Rectangle 3">
            <a:extLst>
              <a:ext uri="{FF2B5EF4-FFF2-40B4-BE49-F238E27FC236}">
                <a16:creationId xmlns:a16="http://schemas.microsoft.com/office/drawing/2014/main" id="{31E048CF-9AA9-7F4C-8539-4313093B2208}"/>
              </a:ext>
            </a:extLst>
          </p:cNvPr>
          <p:cNvSpPr>
            <a:spLocks noChangeArrowheads="1"/>
          </p:cNvSpPr>
          <p:nvPr/>
        </p:nvSpPr>
        <p:spPr bwMode="auto">
          <a:xfrm>
            <a:off x="685800" y="873125"/>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latin typeface="华文中宋" panose="02010600040101010101" pitchFamily="2" charset="-122"/>
                <a:ea typeface="华文中宋" panose="02010600040101010101" pitchFamily="2" charset="-122"/>
                <a:cs typeface="Times New Roman" panose="02020603050405020304" pitchFamily="18" charset="0"/>
              </a:rPr>
              <a:t>零知识证明举例</a:t>
            </a:r>
          </a:p>
        </p:txBody>
      </p:sp>
      <p:sp>
        <p:nvSpPr>
          <p:cNvPr id="82948" name="Rectangle 3">
            <a:extLst>
              <a:ext uri="{FF2B5EF4-FFF2-40B4-BE49-F238E27FC236}">
                <a16:creationId xmlns:a16="http://schemas.microsoft.com/office/drawing/2014/main" id="{A0E569AE-1BD4-3945-BDC2-4B571FA28109}"/>
              </a:ext>
            </a:extLst>
          </p:cNvPr>
          <p:cNvSpPr>
            <a:spLocks noChangeArrowheads="1"/>
          </p:cNvSpPr>
          <p:nvPr/>
        </p:nvSpPr>
        <p:spPr bwMode="auto">
          <a:xfrm>
            <a:off x="685800" y="1548606"/>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山洞问题</a:t>
            </a:r>
          </a:p>
        </p:txBody>
      </p:sp>
      <p:sp>
        <p:nvSpPr>
          <p:cNvPr id="11" name="Rectangle 3">
            <a:extLst>
              <a:ext uri="{FF2B5EF4-FFF2-40B4-BE49-F238E27FC236}">
                <a16:creationId xmlns:a16="http://schemas.microsoft.com/office/drawing/2014/main" id="{29ABF23A-AF4C-3A49-9405-B9B6081F14A4}"/>
              </a:ext>
            </a:extLst>
          </p:cNvPr>
          <p:cNvSpPr>
            <a:spLocks noChangeArrowheads="1"/>
          </p:cNvSpPr>
          <p:nvPr/>
        </p:nvSpPr>
        <p:spPr bwMode="auto">
          <a:xfrm>
            <a:off x="469107" y="2037175"/>
            <a:ext cx="4284662" cy="428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5000"/>
              </a:lnSpc>
              <a:spcBef>
                <a:spcPct val="50000"/>
              </a:spcBef>
            </a:pPr>
            <a:r>
              <a:rPr lang="zh-CN" altLang="en-US" sz="20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盗贼不能看着阿里巴巴从哪边进，才符合零知识证明。确保只有盗贼知道阿里巴巴有口诀（知道这个事实本身也是一种知识），其他人则无法确定（无法拥有这个知识）。（盗贼看着阿里巴巴进入山洞，录像给别人看，别人也可以确定阿里巴巴有口诀；反之，就算盗贼录像，因为总是没有阿里巴巴进洞画面，别人单凭录像可以认为盗贼与阿里巴巴串通好录像，无法确定阿里巴巴是否有口诀）</a:t>
            </a:r>
          </a:p>
        </p:txBody>
      </p:sp>
      <p:pic>
        <p:nvPicPr>
          <p:cNvPr id="82951" name="Picture 18">
            <a:extLst>
              <a:ext uri="{FF2B5EF4-FFF2-40B4-BE49-F238E27FC236}">
                <a16:creationId xmlns:a16="http://schemas.microsoft.com/office/drawing/2014/main" id="{8475C6AA-F329-7247-87AF-B59981D2B3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8575" y="3124200"/>
            <a:ext cx="3675063"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13D1B1A-53A6-E04C-94D5-0E86FF90A1BD}"/>
              </a:ext>
            </a:extLst>
          </p:cNvPr>
          <p:cNvSpPr/>
          <p:nvPr/>
        </p:nvSpPr>
        <p:spPr bwMode="auto">
          <a:xfrm>
            <a:off x="6858000" y="4953000"/>
            <a:ext cx="152400" cy="381000"/>
          </a:xfrm>
          <a:prstGeom prst="rect">
            <a:avLst/>
          </a:prstGeom>
          <a:solidFill>
            <a:schemeClr val="accent1">
              <a:lumMod val="75000"/>
            </a:schemeClr>
          </a:solidFill>
          <a:ln w="9525" cap="flat" cmpd="sng" algn="ctr">
            <a:solidFill>
              <a:srgbClr val="000000"/>
            </a:solidFill>
            <a:prstDash val="solid"/>
            <a:round/>
            <a:headEnd type="none" w="med" len="med"/>
            <a:tailEnd type="non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82953" name="Rectangle 3">
            <a:extLst>
              <a:ext uri="{FF2B5EF4-FFF2-40B4-BE49-F238E27FC236}">
                <a16:creationId xmlns:a16="http://schemas.microsoft.com/office/drawing/2014/main" id="{2F8B7F9F-44F8-874F-AD72-FA4791521DD5}"/>
              </a:ext>
            </a:extLst>
          </p:cNvPr>
          <p:cNvSpPr>
            <a:spLocks noChangeArrowheads="1"/>
          </p:cNvSpPr>
          <p:nvPr/>
        </p:nvSpPr>
        <p:spPr bwMode="auto">
          <a:xfrm>
            <a:off x="6532563" y="5673725"/>
            <a:ext cx="12192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5000"/>
              </a:lnSpc>
              <a:spcBef>
                <a:spcPct val="50000"/>
              </a:spcBef>
            </a:pPr>
            <a:r>
              <a:rPr lang="zh-CN" altLang="en-US" sz="24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山洞门</a:t>
            </a:r>
          </a:p>
        </p:txBody>
      </p:sp>
      <p:pic>
        <p:nvPicPr>
          <p:cNvPr id="82954" name="图片 3">
            <a:extLst>
              <a:ext uri="{FF2B5EF4-FFF2-40B4-BE49-F238E27FC236}">
                <a16:creationId xmlns:a16="http://schemas.microsoft.com/office/drawing/2014/main" id="{31BC372B-3900-2A48-BE4F-206A4C2DB8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2663" y="4802188"/>
            <a:ext cx="71755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5" name="图片 5">
            <a:extLst>
              <a:ext uri="{FF2B5EF4-FFF2-40B4-BE49-F238E27FC236}">
                <a16:creationId xmlns:a16="http://schemas.microsoft.com/office/drawing/2014/main" id="{3A765294-9D20-604B-9D9E-073354E1DF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8288" y="3387725"/>
            <a:ext cx="6985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文本框 15">
            <a:extLst>
              <a:ext uri="{FF2B5EF4-FFF2-40B4-BE49-F238E27FC236}">
                <a16:creationId xmlns:a16="http://schemas.microsoft.com/office/drawing/2014/main" id="{CF307BEC-75AD-8F42-9CDA-EB14185BD83B}"/>
              </a:ext>
            </a:extLst>
          </p:cNvPr>
          <p:cNvSpPr txBox="1"/>
          <p:nvPr/>
        </p:nvSpPr>
        <p:spPr>
          <a:xfrm>
            <a:off x="4759865" y="1372819"/>
            <a:ext cx="4664596" cy="830997"/>
          </a:xfrm>
          <a:prstGeom prst="rect">
            <a:avLst/>
          </a:prstGeom>
          <a:noFill/>
        </p:spPr>
        <p:txBody>
          <a:bodyPr wrap="square">
            <a:spAutoFit/>
          </a:bodyPr>
          <a:lstStyle/>
          <a:p>
            <a:r>
              <a:rPr lang="zh-CN" altLang="en-US" sz="2400" dirty="0">
                <a:solidFill>
                  <a:srgbClr val="C00000"/>
                </a:solidFill>
                <a:latin typeface="华文中宋" panose="02010600040101010101" pitchFamily="2" charset="-122"/>
                <a:ea typeface="华文中宋" panose="02010600040101010101" pitchFamily="2" charset="-122"/>
                <a:cs typeface="Times New Roman" panose="02020603050405020304" pitchFamily="18" charset="0"/>
              </a:rPr>
              <a:t>思考：不用那么麻烦，盗贼直接要求阿里巴巴</a:t>
            </a:r>
            <a:r>
              <a:rPr lang="en-US" altLang="zh-CN" sz="2400" dirty="0">
                <a:solidFill>
                  <a:srgbClr val="C00000"/>
                </a:solidFill>
                <a:latin typeface="华文中宋" panose="02010600040101010101" pitchFamily="2" charset="-122"/>
                <a:ea typeface="华文中宋" panose="02010600040101010101" pitchFamily="2" charset="-122"/>
                <a:cs typeface="Times New Roman" panose="02020603050405020304" pitchFamily="18" charset="0"/>
              </a:rPr>
              <a:t>C</a:t>
            </a:r>
            <a:r>
              <a:rPr lang="zh-CN" altLang="en-US" sz="2400" dirty="0">
                <a:solidFill>
                  <a:srgbClr val="C00000"/>
                </a:solidFill>
                <a:latin typeface="华文中宋" panose="02010600040101010101" pitchFamily="2" charset="-122"/>
                <a:ea typeface="华文中宋" panose="02010600040101010101" pitchFamily="2" charset="-122"/>
                <a:cs typeface="Times New Roman" panose="02020603050405020304" pitchFamily="18" charset="0"/>
              </a:rPr>
              <a:t>进</a:t>
            </a:r>
            <a:r>
              <a:rPr lang="en-US" altLang="zh-CN" sz="2400" dirty="0">
                <a:solidFill>
                  <a:srgbClr val="C00000"/>
                </a:solidFill>
                <a:latin typeface="华文中宋" panose="02010600040101010101" pitchFamily="2" charset="-122"/>
                <a:ea typeface="华文中宋" panose="02010600040101010101" pitchFamily="2" charset="-122"/>
                <a:cs typeface="Times New Roman" panose="02020603050405020304" pitchFamily="18" charset="0"/>
              </a:rPr>
              <a:t>D</a:t>
            </a:r>
            <a:r>
              <a:rPr lang="zh-CN" altLang="en-US" sz="2400" dirty="0">
                <a:solidFill>
                  <a:srgbClr val="C00000"/>
                </a:solidFill>
                <a:latin typeface="华文中宋" panose="02010600040101010101" pitchFamily="2" charset="-122"/>
                <a:ea typeface="华文中宋" panose="02010600040101010101" pitchFamily="2" charset="-122"/>
                <a:cs typeface="Times New Roman" panose="02020603050405020304" pitchFamily="18" charset="0"/>
              </a:rPr>
              <a:t>出即可？</a:t>
            </a:r>
            <a:endParaRPr lang="zh-CN" altLang="en-US" sz="2400" dirty="0">
              <a:solidFill>
                <a:srgbClr val="C00000"/>
              </a:solidFill>
            </a:endParaRPr>
          </a:p>
        </p:txBody>
      </p:sp>
    </p:spTree>
    <p:extLst>
      <p:ext uri="{BB962C8B-B14F-4D97-AF65-F5344CB8AC3E}">
        <p14:creationId xmlns:p14="http://schemas.microsoft.com/office/powerpoint/2010/main" val="39587710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69" name="Picture 18">
            <a:extLst>
              <a:ext uri="{FF2B5EF4-FFF2-40B4-BE49-F238E27FC236}">
                <a16:creationId xmlns:a16="http://schemas.microsoft.com/office/drawing/2014/main" id="{0B70206B-F346-824E-B7EC-7CCBD9EDA8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719388"/>
            <a:ext cx="4357688"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0" name="Rectangle 2">
            <a:extLst>
              <a:ext uri="{FF2B5EF4-FFF2-40B4-BE49-F238E27FC236}">
                <a16:creationId xmlns:a16="http://schemas.microsoft.com/office/drawing/2014/main" id="{5A1CD672-946B-BE4C-984F-B22EF999B0E3}"/>
              </a:ext>
            </a:extLst>
          </p:cNvPr>
          <p:cNvSpPr>
            <a:spLocks noChangeArrowheads="1"/>
          </p:cNvSpPr>
          <p:nvPr/>
        </p:nvSpPr>
        <p:spPr bwMode="auto">
          <a:xfrm>
            <a:off x="250825" y="1143000"/>
            <a:ext cx="86645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r>
              <a:rPr lang="en-US" altLang="zh-CN" sz="2200">
                <a:solidFill>
                  <a:srgbClr val="0000FF"/>
                </a:solidFill>
                <a:latin typeface="华文中宋" panose="02010600040101010101" pitchFamily="2" charset="-122"/>
                <a:ea typeface="华文中宋" panose="02010600040101010101" pitchFamily="2" charset="-122"/>
              </a:rPr>
              <a:t>  </a:t>
            </a:r>
            <a:r>
              <a:rPr lang="zh-CN" altLang="en-US" sz="2200">
                <a:solidFill>
                  <a:srgbClr val="0000FF"/>
                </a:solidFill>
                <a:latin typeface="华文中宋" panose="02010600040101010101" pitchFamily="2" charset="-122"/>
                <a:ea typeface="华文中宋" panose="02010600040101010101" pitchFamily="2" charset="-122"/>
              </a:rPr>
              <a:t>洞穴问题：在</a:t>
            </a:r>
            <a:r>
              <a:rPr lang="en-US" altLang="zh-CN" sz="2200">
                <a:solidFill>
                  <a:srgbClr val="0000FF"/>
                </a:solidFill>
                <a:latin typeface="华文中宋" panose="02010600040101010101" pitchFamily="2" charset="-122"/>
                <a:ea typeface="华文中宋" panose="02010600040101010101" pitchFamily="2" charset="-122"/>
              </a:rPr>
              <a:t>C</a:t>
            </a:r>
            <a:r>
              <a:rPr lang="zh-CN" altLang="en-US" sz="2200">
                <a:solidFill>
                  <a:srgbClr val="0000FF"/>
                </a:solidFill>
                <a:latin typeface="华文中宋" panose="02010600040101010101" pitchFamily="2" charset="-122"/>
                <a:ea typeface="华文中宋" panose="02010600040101010101" pitchFamily="2" charset="-122"/>
              </a:rPr>
              <a:t>和</a:t>
            </a:r>
            <a:r>
              <a:rPr lang="en-US" altLang="zh-CN" sz="2200">
                <a:solidFill>
                  <a:srgbClr val="0000FF"/>
                </a:solidFill>
                <a:latin typeface="华文中宋" panose="02010600040101010101" pitchFamily="2" charset="-122"/>
                <a:ea typeface="华文中宋" panose="02010600040101010101" pitchFamily="2" charset="-122"/>
              </a:rPr>
              <a:t>D</a:t>
            </a:r>
            <a:r>
              <a:rPr lang="zh-CN" altLang="en-US" sz="2200">
                <a:solidFill>
                  <a:srgbClr val="0000FF"/>
                </a:solidFill>
                <a:latin typeface="华文中宋" panose="02010600040101010101" pitchFamily="2" charset="-122"/>
                <a:ea typeface="华文中宋" panose="02010600040101010101" pitchFamily="2" charset="-122"/>
              </a:rPr>
              <a:t>之间存在一个暗门，知道咒语的人才能打开，否则洞穴就是一个死胡同。假设</a:t>
            </a:r>
            <a:r>
              <a:rPr lang="en-US" altLang="zh-CN" sz="2200">
                <a:solidFill>
                  <a:srgbClr val="0000FF"/>
                </a:solidFill>
                <a:latin typeface="华文中宋" panose="02010600040101010101" pitchFamily="2" charset="-122"/>
                <a:ea typeface="华文中宋" panose="02010600040101010101" pitchFamily="2" charset="-122"/>
              </a:rPr>
              <a:t>P(</a:t>
            </a:r>
            <a:r>
              <a:rPr lang="zh-CN" altLang="en-US" sz="2200">
                <a:solidFill>
                  <a:srgbClr val="0000FF"/>
                </a:solidFill>
                <a:latin typeface="华文中宋" panose="02010600040101010101" pitchFamily="2" charset="-122"/>
                <a:ea typeface="华文中宋" panose="02010600040101010101" pitchFamily="2" charset="-122"/>
              </a:rPr>
              <a:t>声明者）知道咒语并想对</a:t>
            </a:r>
            <a:r>
              <a:rPr lang="en-US" altLang="zh-CN" sz="2200">
                <a:solidFill>
                  <a:srgbClr val="0000FF"/>
                </a:solidFill>
                <a:latin typeface="华文中宋" panose="02010600040101010101" pitchFamily="2" charset="-122"/>
                <a:ea typeface="华文中宋" panose="02010600040101010101" pitchFamily="2" charset="-122"/>
              </a:rPr>
              <a:t>V</a:t>
            </a:r>
            <a:r>
              <a:rPr lang="zh-CN" altLang="en-US" sz="2200">
                <a:solidFill>
                  <a:srgbClr val="0000FF"/>
                </a:solidFill>
                <a:latin typeface="华文中宋" panose="02010600040101010101" pitchFamily="2" charset="-122"/>
                <a:ea typeface="华文中宋" panose="02010600040101010101" pitchFamily="2" charset="-122"/>
              </a:rPr>
              <a:t>（验证者）证明自己知道，但要求证明过程中不能泄露咒语。</a:t>
            </a:r>
          </a:p>
        </p:txBody>
      </p:sp>
      <p:sp>
        <p:nvSpPr>
          <p:cNvPr id="83971" name="Rectangle 3">
            <a:extLst>
              <a:ext uri="{FF2B5EF4-FFF2-40B4-BE49-F238E27FC236}">
                <a16:creationId xmlns:a16="http://schemas.microsoft.com/office/drawing/2014/main" id="{B843E4B2-07C2-2242-9958-E9C8F3A431D3}"/>
              </a:ext>
            </a:extLst>
          </p:cNvPr>
          <p:cNvSpPr>
            <a:spLocks noChangeArrowheads="1"/>
          </p:cNvSpPr>
          <p:nvPr/>
        </p:nvSpPr>
        <p:spPr bwMode="auto">
          <a:xfrm>
            <a:off x="685800" y="685800"/>
            <a:ext cx="53990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latin typeface="华文中宋" panose="02010600040101010101" pitchFamily="2" charset="-122"/>
                <a:ea typeface="华文中宋" panose="02010600040101010101" pitchFamily="2" charset="-122"/>
                <a:cs typeface="Times New Roman" panose="02020603050405020304" pitchFamily="18" charset="0"/>
              </a:rPr>
              <a:t>洞穴问题</a:t>
            </a:r>
          </a:p>
        </p:txBody>
      </p:sp>
      <p:sp>
        <p:nvSpPr>
          <p:cNvPr id="83972" name="Rectangle 4">
            <a:extLst>
              <a:ext uri="{FF2B5EF4-FFF2-40B4-BE49-F238E27FC236}">
                <a16:creationId xmlns:a16="http://schemas.microsoft.com/office/drawing/2014/main" id="{2562C629-E0F1-2C4A-A2AE-6EB84FFC184D}"/>
              </a:ext>
            </a:extLst>
          </p:cNvPr>
          <p:cNvSpPr>
            <a:spLocks noChangeArrowheads="1"/>
          </p:cNvSpPr>
          <p:nvPr/>
        </p:nvSpPr>
        <p:spPr bwMode="auto">
          <a:xfrm>
            <a:off x="0" y="3057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3973" name="Rectangle 5">
            <a:extLst>
              <a:ext uri="{FF2B5EF4-FFF2-40B4-BE49-F238E27FC236}">
                <a16:creationId xmlns:a16="http://schemas.microsoft.com/office/drawing/2014/main" id="{C85745B3-BAA9-5247-8BA1-3948653DF6FA}"/>
              </a:ext>
            </a:extLst>
          </p:cNvPr>
          <p:cNvSpPr>
            <a:spLocks noChangeArrowheads="1"/>
          </p:cNvSpPr>
          <p:nvPr/>
        </p:nvSpPr>
        <p:spPr bwMode="auto">
          <a:xfrm>
            <a:off x="0" y="3067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3974" name="Rectangle 6">
            <a:extLst>
              <a:ext uri="{FF2B5EF4-FFF2-40B4-BE49-F238E27FC236}">
                <a16:creationId xmlns:a16="http://schemas.microsoft.com/office/drawing/2014/main" id="{17013BF4-EC48-AE4D-B2D8-DBF35118705F}"/>
              </a:ext>
            </a:extLst>
          </p:cNvPr>
          <p:cNvSpPr>
            <a:spLocks noChangeArrowheads="1"/>
          </p:cNvSpPr>
          <p:nvPr/>
        </p:nvSpPr>
        <p:spPr bwMode="auto">
          <a:xfrm>
            <a:off x="0" y="3067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3975" name="Rectangle 7">
            <a:extLst>
              <a:ext uri="{FF2B5EF4-FFF2-40B4-BE49-F238E27FC236}">
                <a16:creationId xmlns:a16="http://schemas.microsoft.com/office/drawing/2014/main" id="{B5CADA09-3E42-8C44-8E22-C52D62668849}"/>
              </a:ext>
            </a:extLst>
          </p:cNvPr>
          <p:cNvSpPr>
            <a:spLocks noChangeArrowheads="1"/>
          </p:cNvSpPr>
          <p:nvPr/>
        </p:nvSpPr>
        <p:spPr bwMode="auto">
          <a:xfrm>
            <a:off x="0" y="3057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3976" name="Rectangle 8">
            <a:extLst>
              <a:ext uri="{FF2B5EF4-FFF2-40B4-BE49-F238E27FC236}">
                <a16:creationId xmlns:a16="http://schemas.microsoft.com/office/drawing/2014/main" id="{7A825F6E-EA39-824A-B3BA-9C78E26E3402}"/>
              </a:ext>
            </a:extLst>
          </p:cNvPr>
          <p:cNvSpPr>
            <a:spLocks noChangeArrowheads="1"/>
          </p:cNvSpPr>
          <p:nvPr/>
        </p:nvSpPr>
        <p:spPr bwMode="auto">
          <a:xfrm>
            <a:off x="0" y="3067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3977" name="Rectangle 9">
            <a:extLst>
              <a:ext uri="{FF2B5EF4-FFF2-40B4-BE49-F238E27FC236}">
                <a16:creationId xmlns:a16="http://schemas.microsoft.com/office/drawing/2014/main" id="{18F6D2FF-13CA-9547-85DC-12E98AB76912}"/>
              </a:ext>
            </a:extLst>
          </p:cNvPr>
          <p:cNvSpPr>
            <a:spLocks noChangeArrowheads="1"/>
          </p:cNvSpPr>
          <p:nvPr/>
        </p:nvSpPr>
        <p:spPr bwMode="auto">
          <a:xfrm>
            <a:off x="0" y="3076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3978" name="Rectangle 10">
            <a:extLst>
              <a:ext uri="{FF2B5EF4-FFF2-40B4-BE49-F238E27FC236}">
                <a16:creationId xmlns:a16="http://schemas.microsoft.com/office/drawing/2014/main" id="{C22CDF11-2A77-7F42-9AA0-0E650F3ACDA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3979" name="Rectangle 11">
            <a:extLst>
              <a:ext uri="{FF2B5EF4-FFF2-40B4-BE49-F238E27FC236}">
                <a16:creationId xmlns:a16="http://schemas.microsoft.com/office/drawing/2014/main" id="{77F44D60-76B3-4E4B-9A69-76CAE6ACB27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3980" name="Rectangle 14">
            <a:extLst>
              <a:ext uri="{FF2B5EF4-FFF2-40B4-BE49-F238E27FC236}">
                <a16:creationId xmlns:a16="http://schemas.microsoft.com/office/drawing/2014/main" id="{A23B24CA-35D6-0F44-83E0-BF6F732821D1}"/>
              </a:ext>
            </a:extLst>
          </p:cNvPr>
          <p:cNvSpPr>
            <a:spLocks noChangeArrowheads="1"/>
          </p:cNvSpPr>
          <p:nvPr/>
        </p:nvSpPr>
        <p:spPr bwMode="auto">
          <a:xfrm>
            <a:off x="0" y="2286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3981" name="Rectangle 15">
            <a:extLst>
              <a:ext uri="{FF2B5EF4-FFF2-40B4-BE49-F238E27FC236}">
                <a16:creationId xmlns:a16="http://schemas.microsoft.com/office/drawing/2014/main" id="{86C87B9A-14DD-D64C-BEE1-58A8BDDE0BE1}"/>
              </a:ext>
            </a:extLst>
          </p:cNvPr>
          <p:cNvSpPr>
            <a:spLocks noChangeArrowheads="1"/>
          </p:cNvSpPr>
          <p:nvPr/>
        </p:nvSpPr>
        <p:spPr bwMode="auto">
          <a:xfrm>
            <a:off x="600075" y="5868988"/>
            <a:ext cx="2765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zh-CN" altLang="en-US" sz="2000">
                <a:solidFill>
                  <a:srgbClr val="000000"/>
                </a:solidFill>
                <a:ea typeface="黑体" panose="02010609060101010101" pitchFamily="49" charset="-122"/>
                <a:cs typeface="宋体" panose="02010600030101010101" pitchFamily="2" charset="-122"/>
              </a:rPr>
              <a:t>零知识证明的洞穴问题</a:t>
            </a:r>
          </a:p>
        </p:txBody>
      </p:sp>
      <p:sp>
        <p:nvSpPr>
          <p:cNvPr id="85008" name="Rectangle 16">
            <a:extLst>
              <a:ext uri="{FF2B5EF4-FFF2-40B4-BE49-F238E27FC236}">
                <a16:creationId xmlns:a16="http://schemas.microsoft.com/office/drawing/2014/main" id="{3800D0A7-351F-D249-94EE-8A81BEAC8114}"/>
              </a:ext>
            </a:extLst>
          </p:cNvPr>
          <p:cNvSpPr>
            <a:spLocks noChangeArrowheads="1"/>
          </p:cNvSpPr>
          <p:nvPr/>
        </p:nvSpPr>
        <p:spPr bwMode="auto">
          <a:xfrm>
            <a:off x="660400" y="2362200"/>
            <a:ext cx="36036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a:t>V</a:t>
            </a:r>
          </a:p>
        </p:txBody>
      </p:sp>
      <p:sp>
        <p:nvSpPr>
          <p:cNvPr id="85009" name="Rectangle 17">
            <a:extLst>
              <a:ext uri="{FF2B5EF4-FFF2-40B4-BE49-F238E27FC236}">
                <a16:creationId xmlns:a16="http://schemas.microsoft.com/office/drawing/2014/main" id="{B787291C-4DCB-704B-866A-EFB405809200}"/>
              </a:ext>
            </a:extLst>
          </p:cNvPr>
          <p:cNvSpPr>
            <a:spLocks noChangeArrowheads="1"/>
          </p:cNvSpPr>
          <p:nvPr/>
        </p:nvSpPr>
        <p:spPr bwMode="auto">
          <a:xfrm>
            <a:off x="4038600" y="2286000"/>
            <a:ext cx="3603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a:solidFill>
                  <a:schemeClr val="accent2"/>
                </a:solidFill>
              </a:rPr>
              <a:t>P</a:t>
            </a:r>
          </a:p>
        </p:txBody>
      </p:sp>
      <p:sp>
        <p:nvSpPr>
          <p:cNvPr id="85012" name="Line 20">
            <a:extLst>
              <a:ext uri="{FF2B5EF4-FFF2-40B4-BE49-F238E27FC236}">
                <a16:creationId xmlns:a16="http://schemas.microsoft.com/office/drawing/2014/main" id="{38D7C39A-53C9-B544-98C8-6FF8F2DF6EDC}"/>
              </a:ext>
            </a:extLst>
          </p:cNvPr>
          <p:cNvSpPr>
            <a:spLocks noChangeShapeType="1"/>
          </p:cNvSpPr>
          <p:nvPr/>
        </p:nvSpPr>
        <p:spPr bwMode="auto">
          <a:xfrm>
            <a:off x="2389188" y="4878388"/>
            <a:ext cx="0" cy="215900"/>
          </a:xfrm>
          <a:prstGeom prst="line">
            <a:avLst/>
          </a:prstGeom>
          <a:noFill/>
          <a:ln w="539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13" name="Line 21">
            <a:extLst>
              <a:ext uri="{FF2B5EF4-FFF2-40B4-BE49-F238E27FC236}">
                <a16:creationId xmlns:a16="http://schemas.microsoft.com/office/drawing/2014/main" id="{4AC89D74-0CEE-0E40-8F68-F390FAAB91D6}"/>
              </a:ext>
            </a:extLst>
          </p:cNvPr>
          <p:cNvSpPr>
            <a:spLocks noChangeShapeType="1"/>
          </p:cNvSpPr>
          <p:nvPr/>
        </p:nvSpPr>
        <p:spPr bwMode="auto">
          <a:xfrm flipV="1">
            <a:off x="2389188" y="5094288"/>
            <a:ext cx="0" cy="217487"/>
          </a:xfrm>
          <a:prstGeom prst="line">
            <a:avLst/>
          </a:prstGeom>
          <a:noFill/>
          <a:ln w="539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 name="组合 1">
            <a:extLst>
              <a:ext uri="{FF2B5EF4-FFF2-40B4-BE49-F238E27FC236}">
                <a16:creationId xmlns:a16="http://schemas.microsoft.com/office/drawing/2014/main" id="{5669659E-184F-1F4F-96DD-D25527A3FDA5}"/>
              </a:ext>
            </a:extLst>
          </p:cNvPr>
          <p:cNvGrpSpPr>
            <a:grpSpLocks/>
          </p:cNvGrpSpPr>
          <p:nvPr/>
        </p:nvGrpSpPr>
        <p:grpSpPr bwMode="auto">
          <a:xfrm>
            <a:off x="4495800" y="2209800"/>
            <a:ext cx="4646613" cy="3962400"/>
            <a:chOff x="4495800" y="2209792"/>
            <a:chExt cx="4646339" cy="3962408"/>
          </a:xfrm>
        </p:grpSpPr>
        <p:sp>
          <p:nvSpPr>
            <p:cNvPr id="19" name="Rectangle 2">
              <a:extLst>
                <a:ext uri="{FF2B5EF4-FFF2-40B4-BE49-F238E27FC236}">
                  <a16:creationId xmlns:a16="http://schemas.microsoft.com/office/drawing/2014/main" id="{B2C57678-B07A-1E49-8401-BAE16A7AE8F3}"/>
                </a:ext>
              </a:extLst>
            </p:cNvPr>
            <p:cNvSpPr>
              <a:spLocks noChangeArrowheads="1"/>
            </p:cNvSpPr>
            <p:nvPr/>
          </p:nvSpPr>
          <p:spPr bwMode="auto">
            <a:xfrm>
              <a:off x="4495800" y="5802312"/>
              <a:ext cx="4646339" cy="369888"/>
            </a:xfrm>
            <a:prstGeom prst="rect">
              <a:avLst/>
            </a:prstGeom>
            <a:noFill/>
            <a:ln>
              <a:noFill/>
            </a:ln>
          </p:spPr>
          <p:txBody>
            <a:bodyPr>
              <a:spAutoFit/>
            </a:bodyPr>
            <a:lstStyle>
              <a:lvl1pPr indent="2667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6</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V</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重复步骤（</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）至（</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5</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i="1"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n</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次。</a:t>
              </a:r>
            </a:p>
          </p:txBody>
        </p:sp>
        <p:sp>
          <p:nvSpPr>
            <p:cNvPr id="20" name="矩形 19">
              <a:extLst>
                <a:ext uri="{FF2B5EF4-FFF2-40B4-BE49-F238E27FC236}">
                  <a16:creationId xmlns:a16="http://schemas.microsoft.com/office/drawing/2014/main" id="{C2B74696-A543-2747-A020-1E3DC6A99617}"/>
                </a:ext>
              </a:extLst>
            </p:cNvPr>
            <p:cNvSpPr/>
            <p:nvPr/>
          </p:nvSpPr>
          <p:spPr>
            <a:xfrm>
              <a:off x="4571996" y="2209792"/>
              <a:ext cx="2131887" cy="369889"/>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证明的步骤如下：</a:t>
              </a:r>
            </a:p>
          </p:txBody>
        </p:sp>
        <p:sp>
          <p:nvSpPr>
            <p:cNvPr id="21" name="矩形 20">
              <a:extLst>
                <a:ext uri="{FF2B5EF4-FFF2-40B4-BE49-F238E27FC236}">
                  <a16:creationId xmlns:a16="http://schemas.microsoft.com/office/drawing/2014/main" id="{1485BE48-9EF1-4544-8524-74EDB3943EB8}"/>
                </a:ext>
              </a:extLst>
            </p:cNvPr>
            <p:cNvSpPr/>
            <p:nvPr/>
          </p:nvSpPr>
          <p:spPr>
            <a:xfrm>
              <a:off x="4648191" y="2744781"/>
              <a:ext cx="2131887" cy="369888"/>
            </a:xfrm>
            <a:prstGeom prst="rect">
              <a:avLst/>
            </a:prstGeom>
          </p:spPr>
          <p:txBody>
            <a:bodyPr>
              <a:spAutoFit/>
            </a:bodyPr>
            <a:lstStyle/>
            <a:p>
              <a:pPr eaLnBrk="1" hangingPunct="1">
                <a:lnSpc>
                  <a:spcPct val="90000"/>
                </a:lnSpc>
                <a:defRPr/>
              </a:pPr>
              <a:r>
                <a:rPr lang="zh-CN" altLang="en-US"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V</a:t>
              </a:r>
              <a:r>
                <a:rPr lang="zh-CN" altLang="en-US"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站在</a:t>
              </a:r>
              <a:r>
                <a:rPr lang="en-US" altLang="zh-CN"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点；</a:t>
              </a:r>
            </a:p>
          </p:txBody>
        </p:sp>
        <p:sp>
          <p:nvSpPr>
            <p:cNvPr id="22" name="矩形 21">
              <a:extLst>
                <a:ext uri="{FF2B5EF4-FFF2-40B4-BE49-F238E27FC236}">
                  <a16:creationId xmlns:a16="http://schemas.microsoft.com/office/drawing/2014/main" id="{CC7DC738-3FF4-334B-9BE8-8A6721F6A46E}"/>
                </a:ext>
              </a:extLst>
            </p:cNvPr>
            <p:cNvSpPr/>
            <p:nvPr/>
          </p:nvSpPr>
          <p:spPr>
            <a:xfrm>
              <a:off x="4648191" y="3135307"/>
              <a:ext cx="4352668" cy="646113"/>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一直走进洞穴，到达</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点或者</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D</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点；</a:t>
              </a:r>
            </a:p>
          </p:txBody>
        </p:sp>
        <p:sp>
          <p:nvSpPr>
            <p:cNvPr id="23" name="矩形 22">
              <a:extLst>
                <a:ext uri="{FF2B5EF4-FFF2-40B4-BE49-F238E27FC236}">
                  <a16:creationId xmlns:a16="http://schemas.microsoft.com/office/drawing/2014/main" id="{512E476E-1721-EF4C-A913-5D61750591AE}"/>
                </a:ext>
              </a:extLst>
            </p:cNvPr>
            <p:cNvSpPr/>
            <p:nvPr/>
          </p:nvSpPr>
          <p:spPr>
            <a:xfrm>
              <a:off x="4646604" y="3784595"/>
              <a:ext cx="4116144" cy="646114"/>
            </a:xfrm>
            <a:prstGeom prst="rect">
              <a:avLst/>
            </a:prstGeom>
          </p:spPr>
          <p:txBody>
            <a:bodyPr>
              <a:spAutoFit/>
            </a:bodyPr>
            <a:lstStyle/>
            <a:p>
              <a:pPr eaLnBrk="1" hangingPunct="1">
                <a:lnSpc>
                  <a:spcPct val="90000"/>
                </a:lnSpc>
                <a:defRPr/>
              </a:pPr>
              <a:r>
                <a:rPr lang="zh-CN" altLang="en-US"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）在</a:t>
              </a:r>
              <a:r>
                <a:rPr lang="en-US" altLang="zh-CN"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P</a:t>
              </a:r>
              <a:r>
                <a:rPr lang="zh-CN" altLang="en-US"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消失在洞穴中之后，</a:t>
              </a:r>
              <a:r>
                <a:rPr lang="en-US" altLang="zh-CN"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V</a:t>
              </a:r>
              <a:r>
                <a:rPr lang="zh-CN" altLang="en-US"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走到</a:t>
              </a:r>
              <a:r>
                <a:rPr lang="en-US" altLang="zh-CN"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000" dirty="0">
                  <a:solidFill>
                    <a:srgbClr val="000000"/>
                  </a:solidFill>
                  <a:effectLst>
                    <a:outerShdw blurRad="38100" dist="38100" dir="2700000" algn="tl">
                      <a:srgbClr val="000000">
                        <a:alpha val="43137"/>
                      </a:srgbClr>
                    </a:outerShdw>
                  </a:effectLst>
                  <a:latin typeface="Times New Roman" panose="02020603050405020304" pitchFamily="18" charset="0"/>
                  <a:ea typeface="华文中宋" panose="02010600040101010101" pitchFamily="2" charset="-122"/>
                  <a:cs typeface="Times New Roman" panose="02020603050405020304" pitchFamily="18" charset="0"/>
                </a:rPr>
                <a:t>点；</a:t>
              </a:r>
            </a:p>
          </p:txBody>
        </p:sp>
        <p:sp>
          <p:nvSpPr>
            <p:cNvPr id="24" name="矩形 23">
              <a:extLst>
                <a:ext uri="{FF2B5EF4-FFF2-40B4-BE49-F238E27FC236}">
                  <a16:creationId xmlns:a16="http://schemas.microsoft.com/office/drawing/2014/main" id="{4515D871-50AC-484C-9765-81F01D5CCD9B}"/>
                </a:ext>
              </a:extLst>
            </p:cNvPr>
            <p:cNvSpPr/>
            <p:nvPr/>
          </p:nvSpPr>
          <p:spPr>
            <a:xfrm>
              <a:off x="4684702" y="4470397"/>
              <a:ext cx="4327270" cy="646114"/>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V</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随机选择左通道或者右通道，要求</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从该通道出来；</a:t>
              </a:r>
            </a:p>
          </p:txBody>
        </p:sp>
        <p:sp>
          <p:nvSpPr>
            <p:cNvPr id="25" name="矩形 24">
              <a:extLst>
                <a:ext uri="{FF2B5EF4-FFF2-40B4-BE49-F238E27FC236}">
                  <a16:creationId xmlns:a16="http://schemas.microsoft.com/office/drawing/2014/main" id="{82196115-9F25-CB4C-8B0C-292E748F88FF}"/>
                </a:ext>
              </a:extLst>
            </p:cNvPr>
            <p:cNvSpPr/>
            <p:nvPr/>
          </p:nvSpPr>
          <p:spPr>
            <a:xfrm>
              <a:off x="4724387" y="5116511"/>
              <a:ext cx="4305046" cy="646113"/>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5</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从</a:t>
              </a:r>
              <a:r>
                <a:rPr lang="en-US" altLang="zh-CN"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V</a:t>
              </a: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要求的通道出来，如果有必要就用咒语打开暗门；</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0" presetClass="path" presetSubtype="0" accel="50000" decel="50000" fill="hold" grpId="0" nodeType="clickEffect">
                                  <p:stCondLst>
                                    <p:cond delay="0"/>
                                  </p:stCondLst>
                                  <p:childTnLst>
                                    <p:animMotion origin="layout" path="M 0.01563 0.00209 C 0.01858 -0.02315 0.02257 -0.04722 0.03056 -0.04722 C 0.03959 -0.04722 0.04271 -0.02315 0.04566 0.00209 C 0.04966 0.0301 0.05261 0.0581 0.06268 0.0581 C 0.07171 0.0581 0.07466 0.0301 0.07865 0.00209 C 0.08056 -0.02315 0.08455 -0.04722 0.09358 -0.04722 C 0.10157 -0.04722 0.10556 -0.02315 0.10868 0.00209 C 0.11164 0.0301 0.11563 0.0581 0.12466 0.0581 C 0.13368 0.0581 0.14063 0.00209 0.14063 0.00232 C 0.14358 -0.02315 0.14671 -0.04722 0.15556 -0.04722 C 0.16459 -0.04722 0.16771 -0.02315 0.17066 0.00209 C 0.17466 0.0301 0.17761 0.0581 0.18768 0.0581 C 0.19671 0.0581 0.19966 0.0301 0.20261 0.00209 C 0.2066 -0.02315 0.20955 -0.04722 0.21858 -0.04722 C 0.22657 -0.04722 0.23056 -0.02315 0.23368 0.00209 C 0.23664 0.0301 0.24063 0.0581 0.24966 0.0581 C 0.25868 0.0581 0.26164 0.0301 0.26563 0.00209 " pathEditMode="relative" rAng="0" ptsTypes="fffffffffffffffff">
                                      <p:cBhvr>
                                        <p:cTn id="6" dur="2000" fill="hold"/>
                                        <p:tgtEl>
                                          <p:spTgt spid="85008"/>
                                        </p:tgtEl>
                                        <p:attrNameLst>
                                          <p:attrName>ppt_x</p:attrName>
                                          <p:attrName>ppt_y</p:attrName>
                                        </p:attrNameLst>
                                      </p:cBhvr>
                                      <p:rCtr x="12500" y="324"/>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500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62" presetClass="path" presetSubtype="0" accel="50000" decel="50000" fill="hold" grpId="1" nodeType="clickEffect">
                                  <p:stCondLst>
                                    <p:cond delay="0"/>
                                  </p:stCondLst>
                                  <p:childTnLst>
                                    <p:animMotion origin="layout" path="M -1.66667E-6 -4.81481E-6 L -0.05208 -0.00162 L -0.05208 -0.00023 L -0.125 -0.00023 L -0.12396 0.06644 L -0.12396 0.10116 L -0.15191 0.10139 L -0.2026 0.10139 L -0.20521 0.10255 L -0.22291 0.09977 L -0.25312 0.10116 L -0.25208 0.20116 L -0.30312 0.19977 L -0.30382 0.20278 L -0.40937 0.20533 L -0.41041 0.20533 L -0.41041 0.39422 L -0.28333 0.39283 " pathEditMode="relative" rAng="0" ptsTypes="FFFFFFFFFAFFFFFAAF">
                                      <p:cBhvr>
                                        <p:cTn id="14" dur="5000" fill="hold"/>
                                        <p:tgtEl>
                                          <p:spTgt spid="85009"/>
                                        </p:tgtEl>
                                        <p:attrNameLst>
                                          <p:attrName>ppt_x</p:attrName>
                                          <p:attrName>ppt_y</p:attrName>
                                        </p:attrNameLst>
                                      </p:cBhvr>
                                      <p:rCtr x="-20521" y="19630"/>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xit" presetSubtype="0" fill="hold" grpId="2" nodeType="clickEffect">
                                  <p:stCondLst>
                                    <p:cond delay="0"/>
                                  </p:stCondLst>
                                  <p:childTnLst>
                                    <p:animEffect transition="out" filter="fade">
                                      <p:cBhvr>
                                        <p:cTn id="18" dur="2000"/>
                                        <p:tgtEl>
                                          <p:spTgt spid="85009"/>
                                        </p:tgtEl>
                                      </p:cBhvr>
                                    </p:animEffect>
                                    <p:set>
                                      <p:cBhvr>
                                        <p:cTn id="19" dur="1" fill="hold">
                                          <p:stCondLst>
                                            <p:cond delay="1999"/>
                                          </p:stCondLst>
                                        </p:cTn>
                                        <p:tgtEl>
                                          <p:spTgt spid="85009"/>
                                        </p:tgtEl>
                                        <p:attrNameLst>
                                          <p:attrName>style.visibility</p:attrName>
                                        </p:attrNameLst>
                                      </p:cBhvr>
                                      <p:to>
                                        <p:strVal val="hidden"/>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0" presetClass="path" presetSubtype="0" accel="50000" decel="50000" fill="hold" grpId="1" nodeType="clickEffect">
                                  <p:stCondLst>
                                    <p:cond delay="0"/>
                                  </p:stCondLst>
                                  <p:childTnLst>
                                    <p:animMotion origin="layout" path="M 0.26563 0.00209 C 0.26528 0.03218 0.26459 0.06227 0.26459 0.09236 C 0.22709 0.09074 0.19375 0.09005 0.15521 0.09098 C 0.14809 0.09422 0.15851 0.09213 0.15087 0.09329 C 0.1474 0.09028 0.1323 0.09537 0.1323 0.09236 C 0.1566 0.09885 0.13855 0.15787 0.13855 0.19098 " pathEditMode="relative" rAng="0" ptsTypes="ffffff">
                                      <p:cBhvr>
                                        <p:cTn id="23" dur="2000" fill="hold"/>
                                        <p:tgtEl>
                                          <p:spTgt spid="85008"/>
                                        </p:tgtEl>
                                        <p:attrNameLst>
                                          <p:attrName>ppt_x</p:attrName>
                                          <p:attrName>ppt_y</p:attrName>
                                        </p:attrNameLst>
                                      </p:cBhvr>
                                      <p:rCtr x="-6667" y="9444"/>
                                    </p:animMotion>
                                  </p:childTnLst>
                                </p:cTn>
                              </p:par>
                            </p:childTnLst>
                          </p:cTn>
                        </p:par>
                      </p:childTnLst>
                    </p:cTn>
                  </p:par>
                  <p:par>
                    <p:cTn id="24" fill="hold" nodeType="clickPar">
                      <p:stCondLst>
                        <p:cond delay="indefinite"/>
                      </p:stCondLst>
                      <p:childTnLst>
                        <p:par>
                          <p:cTn id="25" fill="hold" nodeType="withGroup">
                            <p:stCondLst>
                              <p:cond delay="0"/>
                            </p:stCondLst>
                            <p:childTnLst>
                              <p:par>
                                <p:cTn id="26" presetID="0" presetClass="path" presetSubtype="0" accel="50000" decel="50000" fill="hold" grpId="2" nodeType="clickEffect">
                                  <p:stCondLst>
                                    <p:cond delay="0"/>
                                  </p:stCondLst>
                                  <p:childTnLst>
                                    <p:animMotion origin="layout" path="M 0.13855 0.19098 C 0.19757 0.18033 0.25938 0.18959 0.31875 0.18959 C 0.32101 0.19445 0.32188 0.19954 0.32292 0.20533 C 0.32361 0.2095 0.325 0.21806 0.325 0.21829 C 0.32344 0.31528 0.32396 0.26135 0.32396 0.37963 C 0.28577 0.37686 0.2474 0.38149 0.20938 0.38149 " pathEditMode="relative" rAng="0" ptsTypes="fffffA">
                                      <p:cBhvr>
                                        <p:cTn id="27" dur="2000" fill="hold"/>
                                        <p:tgtEl>
                                          <p:spTgt spid="85008"/>
                                        </p:tgtEl>
                                        <p:attrNameLst>
                                          <p:attrName>ppt_x</p:attrName>
                                          <p:attrName>ppt_y</p:attrName>
                                        </p:attrNameLst>
                                      </p:cBhvr>
                                      <p:rCtr x="9323" y="8981"/>
                                    </p:animMotion>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3" nodeType="clickEffect">
                                  <p:stCondLst>
                                    <p:cond delay="0"/>
                                  </p:stCondLst>
                                  <p:childTnLst>
                                    <p:set>
                                      <p:cBhvr>
                                        <p:cTn id="31" dur="1" fill="hold">
                                          <p:stCondLst>
                                            <p:cond delay="0"/>
                                          </p:stCondLst>
                                        </p:cTn>
                                        <p:tgtEl>
                                          <p:spTgt spid="85009"/>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64" presetClass="path" presetSubtype="0" accel="50000" decel="50000" fill="hold" nodeType="clickEffect">
                                  <p:stCondLst>
                                    <p:cond delay="0"/>
                                  </p:stCondLst>
                                  <p:childTnLst>
                                    <p:animMotion origin="layout" path="M 2.5E-6 -4.07407E-6 L 2.5E-6 -0.02615 " pathEditMode="relative" rAng="0" ptsTypes="AA">
                                      <p:cBhvr>
                                        <p:cTn id="35" dur="2000" fill="hold"/>
                                        <p:tgtEl>
                                          <p:spTgt spid="85012"/>
                                        </p:tgtEl>
                                        <p:attrNameLst>
                                          <p:attrName>ppt_x</p:attrName>
                                          <p:attrName>ppt_y</p:attrName>
                                        </p:attrNameLst>
                                      </p:cBhvr>
                                      <p:rCtr x="0" y="-1319"/>
                                    </p:animMotion>
                                  </p:childTnLst>
                                </p:cTn>
                              </p:par>
                            </p:childTnLst>
                          </p:cTn>
                        </p:par>
                      </p:childTnLst>
                    </p:cTn>
                  </p:par>
                  <p:par>
                    <p:cTn id="36" fill="hold" nodeType="clickPar">
                      <p:stCondLst>
                        <p:cond delay="indefinite"/>
                      </p:stCondLst>
                      <p:childTnLst>
                        <p:par>
                          <p:cTn id="37" fill="hold" nodeType="withGroup">
                            <p:stCondLst>
                              <p:cond delay="0"/>
                            </p:stCondLst>
                            <p:childTnLst>
                              <p:par>
                                <p:cTn id="38" presetID="42" presetClass="path" presetSubtype="0" accel="50000" decel="50000" fill="hold" nodeType="clickEffect">
                                  <p:stCondLst>
                                    <p:cond delay="0"/>
                                  </p:stCondLst>
                                  <p:childTnLst>
                                    <p:animMotion origin="layout" path="M 2.5E-6 1.85185E-6 L 2.5E-6 0.02639 " pathEditMode="relative" rAng="0" ptsTypes="AA">
                                      <p:cBhvr>
                                        <p:cTn id="39" dur="2000" fill="hold"/>
                                        <p:tgtEl>
                                          <p:spTgt spid="85013"/>
                                        </p:tgtEl>
                                        <p:attrNameLst>
                                          <p:attrName>ppt_x</p:attrName>
                                          <p:attrName>ppt_y</p:attrName>
                                        </p:attrNameLst>
                                      </p:cBhvr>
                                      <p:rCtr x="0" y="1319"/>
                                    </p:animMotion>
                                  </p:childTnLst>
                                </p:cTn>
                              </p:par>
                            </p:childTnLst>
                          </p:cTn>
                        </p:par>
                      </p:childTnLst>
                    </p:cTn>
                  </p:par>
                  <p:par>
                    <p:cTn id="40" fill="hold" nodeType="clickPar">
                      <p:stCondLst>
                        <p:cond delay="indefinite"/>
                      </p:stCondLst>
                      <p:childTnLst>
                        <p:par>
                          <p:cTn id="41" fill="hold" nodeType="withGroup">
                            <p:stCondLst>
                              <p:cond delay="0"/>
                            </p:stCondLst>
                            <p:childTnLst>
                              <p:par>
                                <p:cTn id="42" presetID="63" presetClass="path" presetSubtype="0" accel="50000" decel="50000" fill="hold" grpId="4" nodeType="clickEffect">
                                  <p:stCondLst>
                                    <p:cond delay="0"/>
                                  </p:stCondLst>
                                  <p:childTnLst>
                                    <p:animMotion origin="layout" path="M -0.28333 0.39283 L -0.22448 0.39399 " pathEditMode="relative" rAng="0" ptsTypes="AA">
                                      <p:cBhvr>
                                        <p:cTn id="43" dur="2000" fill="hold"/>
                                        <p:tgtEl>
                                          <p:spTgt spid="85009"/>
                                        </p:tgtEl>
                                        <p:attrNameLst>
                                          <p:attrName>ppt_x</p:attrName>
                                          <p:attrName>ppt_y</p:attrName>
                                        </p:attrNameLst>
                                      </p:cBhvr>
                                      <p:rCtr x="2934" y="46"/>
                                    </p:animMotion>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left)">
                                      <p:cBhvr>
                                        <p:cTn id="4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8" grpId="0"/>
      <p:bldP spid="85008" grpId="1"/>
      <p:bldP spid="85008" grpId="2"/>
      <p:bldP spid="85009" grpId="0"/>
      <p:bldP spid="85009" grpId="1"/>
      <p:bldP spid="85009" grpId="2"/>
      <p:bldP spid="85009" grpId="3"/>
      <p:bldP spid="85009" grpId="4"/>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50A81338-12D2-C04C-B79F-26B25170D228}"/>
              </a:ext>
            </a:extLst>
          </p:cNvPr>
          <p:cNvSpPr>
            <a:spLocks noChangeArrowheads="1"/>
          </p:cNvSpPr>
          <p:nvPr/>
        </p:nvSpPr>
        <p:spPr bwMode="auto">
          <a:xfrm>
            <a:off x="719138" y="2362200"/>
            <a:ext cx="7705725" cy="3194050"/>
          </a:xfrm>
          <a:prstGeom prst="rect">
            <a:avLst/>
          </a:prstGeom>
          <a:noFill/>
          <a:ln>
            <a:noFill/>
          </a:ln>
        </p:spPr>
        <p:txBody>
          <a:bodyPr>
            <a:spAutoFit/>
          </a:bodyPr>
          <a:lstStyle>
            <a:lvl1pPr indent="2667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0000"/>
              </a:lnSpc>
              <a:defRPr/>
            </a:pP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如果</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不知道这个打开暗门的咒语，那么只能从进去的通道出来。如果在协议的每一轮中</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都能按</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V</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要求的通道出来，那么</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所有</a:t>
            </a:r>
            <a:r>
              <a:rPr lang="en-US" altLang="zh-CN" sz="2400" i="1"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n</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次都猜中的概率是</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1/2</a:t>
            </a:r>
            <a:r>
              <a:rPr lang="en-US" altLang="zh-CN" sz="2400" baseline="300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n</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。经过</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16</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轮后，</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只有</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65536</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分之一的机会猜中。于是</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V</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可以判定，如果所有</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16</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次</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的证明都是有效的，那么</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一定知道开启洞穴</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点和</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D</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点间暗门的咒语，而</a:t>
            </a:r>
            <a:r>
              <a:rPr lang="en-US" altLang="zh-CN"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V</a:t>
            </a:r>
            <a:r>
              <a:rPr lang="zh-CN" altLang="en-US" sz="2400"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却未能从证明过程获取到该咒语。 </a:t>
            </a:r>
          </a:p>
        </p:txBody>
      </p:sp>
      <p:sp>
        <p:nvSpPr>
          <p:cNvPr id="84994" name="Rectangle 3">
            <a:extLst>
              <a:ext uri="{FF2B5EF4-FFF2-40B4-BE49-F238E27FC236}">
                <a16:creationId xmlns:a16="http://schemas.microsoft.com/office/drawing/2014/main" id="{D9EF9386-AA5A-5642-91EA-7BDE591B2CA9}"/>
              </a:ext>
            </a:extLst>
          </p:cNvPr>
          <p:cNvSpPr>
            <a:spLocks noChangeArrowheads="1"/>
          </p:cNvSpPr>
          <p:nvPr/>
        </p:nvSpPr>
        <p:spPr bwMode="auto">
          <a:xfrm>
            <a:off x="687388" y="1566863"/>
            <a:ext cx="539908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洞穴问题安全性分析</a:t>
            </a:r>
          </a:p>
        </p:txBody>
      </p:sp>
      <p:sp>
        <p:nvSpPr>
          <p:cNvPr id="84995" name="Rectangle 4">
            <a:extLst>
              <a:ext uri="{FF2B5EF4-FFF2-40B4-BE49-F238E27FC236}">
                <a16:creationId xmlns:a16="http://schemas.microsoft.com/office/drawing/2014/main" id="{688CA53E-C41A-5440-90F9-048D06A97FF8}"/>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4996" name="Rectangle 5">
            <a:extLst>
              <a:ext uri="{FF2B5EF4-FFF2-40B4-BE49-F238E27FC236}">
                <a16:creationId xmlns:a16="http://schemas.microsoft.com/office/drawing/2014/main" id="{81009EDA-7DBC-7B45-8B48-386B13EBF20B}"/>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4997" name="Rectangle 6">
            <a:extLst>
              <a:ext uri="{FF2B5EF4-FFF2-40B4-BE49-F238E27FC236}">
                <a16:creationId xmlns:a16="http://schemas.microsoft.com/office/drawing/2014/main" id="{BBD272AA-6B09-6642-BE19-1FE2A197489F}"/>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4998" name="Rectangle 7">
            <a:extLst>
              <a:ext uri="{FF2B5EF4-FFF2-40B4-BE49-F238E27FC236}">
                <a16:creationId xmlns:a16="http://schemas.microsoft.com/office/drawing/2014/main" id="{A6637853-3DFF-EB41-911A-3AEA67C1227B}"/>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4999" name="Rectangle 8">
            <a:extLst>
              <a:ext uri="{FF2B5EF4-FFF2-40B4-BE49-F238E27FC236}">
                <a16:creationId xmlns:a16="http://schemas.microsoft.com/office/drawing/2014/main" id="{5070BD6E-B7C1-8646-A252-9DB252545166}"/>
              </a:ext>
            </a:extLst>
          </p:cNvPr>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5000" name="Rectangle 9">
            <a:extLst>
              <a:ext uri="{FF2B5EF4-FFF2-40B4-BE49-F238E27FC236}">
                <a16:creationId xmlns:a16="http://schemas.microsoft.com/office/drawing/2014/main" id="{8C4BB5F1-1FDD-CC42-9913-E096F8735311}"/>
              </a:ext>
            </a:extLst>
          </p:cNvPr>
          <p:cNvSpPr>
            <a:spLocks noChangeArrowheads="1"/>
          </p:cNvSpPr>
          <p:nvPr/>
        </p:nvSpPr>
        <p:spPr bwMode="auto">
          <a:xfrm>
            <a:off x="0" y="33480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5001" name="Rectangle 10">
            <a:extLst>
              <a:ext uri="{FF2B5EF4-FFF2-40B4-BE49-F238E27FC236}">
                <a16:creationId xmlns:a16="http://schemas.microsoft.com/office/drawing/2014/main" id="{17B7B61B-6381-514F-A885-4F73A1D68DF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5002" name="Rectangle 11">
            <a:extLst>
              <a:ext uri="{FF2B5EF4-FFF2-40B4-BE49-F238E27FC236}">
                <a16:creationId xmlns:a16="http://schemas.microsoft.com/office/drawing/2014/main" id="{94EADC12-8E9E-404A-9E97-C5B574A61FA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5003" name="Text Box 12">
            <a:extLst>
              <a:ext uri="{FF2B5EF4-FFF2-40B4-BE49-F238E27FC236}">
                <a16:creationId xmlns:a16="http://schemas.microsoft.com/office/drawing/2014/main" id="{2B14EB55-4A73-1F49-AF41-F0CA721579BC}"/>
              </a:ext>
            </a:extLst>
          </p:cNvPr>
          <p:cNvSpPr txBox="1">
            <a:spLocks noChangeArrowheads="1"/>
          </p:cNvSpPr>
          <p:nvPr/>
        </p:nvSpPr>
        <p:spPr bwMode="auto">
          <a:xfrm>
            <a:off x="304800" y="815975"/>
            <a:ext cx="7177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solidFill>
                  <a:srgbClr val="0000FF"/>
                </a:solidFill>
                <a:latin typeface="华文中宋" panose="02010600040101010101" pitchFamily="2" charset="-122"/>
                <a:ea typeface="华文中宋" panose="02010600040101010101" pitchFamily="2" charset="-122"/>
                <a:cs typeface="Times New Roman" panose="02020603050405020304" pitchFamily="18" charset="0"/>
              </a:rPr>
              <a:t>零知识证明与身份鉴别技术 </a:t>
            </a:r>
          </a:p>
        </p:txBody>
      </p:sp>
      <p:sp>
        <p:nvSpPr>
          <p:cNvPr id="85004" name="Rectangle 13">
            <a:extLst>
              <a:ext uri="{FF2B5EF4-FFF2-40B4-BE49-F238E27FC236}">
                <a16:creationId xmlns:a16="http://schemas.microsoft.com/office/drawing/2014/main" id="{0335C929-1E7D-2E48-ABDF-F95497BA6B3D}"/>
              </a:ext>
            </a:extLst>
          </p:cNvPr>
          <p:cNvSpPr>
            <a:spLocks noChangeArrowheads="1"/>
          </p:cNvSpPr>
          <p:nvPr/>
        </p:nvSpPr>
        <p:spPr bwMode="auto">
          <a:xfrm>
            <a:off x="0" y="2557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10">
            <a:extLst>
              <a:ext uri="{FF2B5EF4-FFF2-40B4-BE49-F238E27FC236}">
                <a16:creationId xmlns:a16="http://schemas.microsoft.com/office/drawing/2014/main" id="{FA919DCA-184D-F44D-80A2-315F2830E34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6018" name="Rectangle 11">
            <a:extLst>
              <a:ext uri="{FF2B5EF4-FFF2-40B4-BE49-F238E27FC236}">
                <a16:creationId xmlns:a16="http://schemas.microsoft.com/office/drawing/2014/main" id="{193A3B4D-C3F2-CB48-879F-45530886741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6019" name="Rectangle 3">
            <a:extLst>
              <a:ext uri="{FF2B5EF4-FFF2-40B4-BE49-F238E27FC236}">
                <a16:creationId xmlns:a16="http://schemas.microsoft.com/office/drawing/2014/main" id="{41B9F8F3-C72C-634F-9AFB-E965B88B864E}"/>
              </a:ext>
            </a:extLst>
          </p:cNvPr>
          <p:cNvSpPr>
            <a:spLocks noChangeArrowheads="1"/>
          </p:cNvSpPr>
          <p:nvPr/>
        </p:nvSpPr>
        <p:spPr bwMode="auto">
          <a:xfrm>
            <a:off x="609600" y="701645"/>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latin typeface="华文中宋" panose="02010600040101010101" pitchFamily="2" charset="-122"/>
                <a:ea typeface="华文中宋" panose="02010600040101010101" pitchFamily="2" charset="-122"/>
                <a:cs typeface="Times New Roman" panose="02020603050405020304" pitchFamily="18" charset="0"/>
              </a:rPr>
              <a:t>零知识证明举例</a:t>
            </a:r>
          </a:p>
        </p:txBody>
      </p:sp>
      <p:sp>
        <p:nvSpPr>
          <p:cNvPr id="86020" name="Rectangle 3">
            <a:extLst>
              <a:ext uri="{FF2B5EF4-FFF2-40B4-BE49-F238E27FC236}">
                <a16:creationId xmlns:a16="http://schemas.microsoft.com/office/drawing/2014/main" id="{58C2AFAF-41CA-984F-8E9D-31CF32F32143}"/>
              </a:ext>
            </a:extLst>
          </p:cNvPr>
          <p:cNvSpPr>
            <a:spLocks noChangeArrowheads="1"/>
          </p:cNvSpPr>
          <p:nvPr/>
        </p:nvSpPr>
        <p:spPr bwMode="auto">
          <a:xfrm>
            <a:off x="609600" y="1349375"/>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数独问题</a:t>
            </a:r>
          </a:p>
        </p:txBody>
      </p:sp>
      <p:pic>
        <p:nvPicPr>
          <p:cNvPr id="86021" name="图片 2">
            <a:extLst>
              <a:ext uri="{FF2B5EF4-FFF2-40B4-BE49-F238E27FC236}">
                <a16:creationId xmlns:a16="http://schemas.microsoft.com/office/drawing/2014/main" id="{66BFE185-42DD-1D43-8094-828929CF7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389932"/>
            <a:ext cx="2944812" cy="29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D218C75A-C64E-2F4C-B676-9A347C5DBF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873250"/>
            <a:ext cx="3932238" cy="247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3">
            <a:extLst>
              <a:ext uri="{FF2B5EF4-FFF2-40B4-BE49-F238E27FC236}">
                <a16:creationId xmlns:a16="http://schemas.microsoft.com/office/drawing/2014/main" id="{3E5655A9-A3E3-0D48-910B-36343C84903B}"/>
              </a:ext>
            </a:extLst>
          </p:cNvPr>
          <p:cNvSpPr>
            <a:spLocks noChangeArrowheads="1"/>
          </p:cNvSpPr>
          <p:nvPr/>
        </p:nvSpPr>
        <p:spPr bwMode="auto">
          <a:xfrm>
            <a:off x="544513" y="4437062"/>
            <a:ext cx="8294687" cy="1896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5000"/>
              </a:lnSpc>
              <a:spcBef>
                <a:spcPct val="50000"/>
              </a:spcBef>
            </a:pPr>
            <a:r>
              <a:rPr lang="zh-CN" altLang="en-US"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阿里巴巴用带数字的牌子填好空，然后盖牌。让盗贼选“行列格”之一，选好以后（若行），用九个袋子装对应（行）所有牌子，每个袋子抖匀，盗贼选任一（行）的袋子，验证所选袋中牌总和。重复以上步骤（从选行列开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10">
            <a:extLst>
              <a:ext uri="{FF2B5EF4-FFF2-40B4-BE49-F238E27FC236}">
                <a16:creationId xmlns:a16="http://schemas.microsoft.com/office/drawing/2014/main" id="{8F599376-2115-DE40-8E5C-0F1D777B7B4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7042" name="Rectangle 11">
            <a:extLst>
              <a:ext uri="{FF2B5EF4-FFF2-40B4-BE49-F238E27FC236}">
                <a16:creationId xmlns:a16="http://schemas.microsoft.com/office/drawing/2014/main" id="{4A8BE1D5-E8E9-4348-855E-BC0DEA05A21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7043" name="Rectangle 3">
            <a:extLst>
              <a:ext uri="{FF2B5EF4-FFF2-40B4-BE49-F238E27FC236}">
                <a16:creationId xmlns:a16="http://schemas.microsoft.com/office/drawing/2014/main" id="{24A6B35E-B92A-A345-B956-19AEE33D29DB}"/>
              </a:ext>
            </a:extLst>
          </p:cNvPr>
          <p:cNvSpPr>
            <a:spLocks noChangeArrowheads="1"/>
          </p:cNvSpPr>
          <p:nvPr/>
        </p:nvSpPr>
        <p:spPr bwMode="auto">
          <a:xfrm>
            <a:off x="685800" y="685800"/>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latin typeface="华文中宋" panose="02010600040101010101" pitchFamily="2" charset="-122"/>
                <a:ea typeface="华文中宋" panose="02010600040101010101" pitchFamily="2" charset="-122"/>
                <a:cs typeface="Times New Roman" panose="02020603050405020304" pitchFamily="18" charset="0"/>
              </a:rPr>
              <a:t>零知识证明举例</a:t>
            </a:r>
          </a:p>
        </p:txBody>
      </p:sp>
      <p:sp>
        <p:nvSpPr>
          <p:cNvPr id="87044" name="Rectangle 3">
            <a:extLst>
              <a:ext uri="{FF2B5EF4-FFF2-40B4-BE49-F238E27FC236}">
                <a16:creationId xmlns:a16="http://schemas.microsoft.com/office/drawing/2014/main" id="{2B84781F-57CA-F24C-9C6D-865D13E846A2}"/>
              </a:ext>
            </a:extLst>
          </p:cNvPr>
          <p:cNvSpPr>
            <a:spLocks noChangeArrowheads="1"/>
          </p:cNvSpPr>
          <p:nvPr/>
        </p:nvSpPr>
        <p:spPr bwMode="auto">
          <a:xfrm>
            <a:off x="609600" y="1876425"/>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地图三色问题</a:t>
            </a:r>
          </a:p>
        </p:txBody>
      </p:sp>
      <p:pic>
        <p:nvPicPr>
          <p:cNvPr id="87046" name="图片 3">
            <a:extLst>
              <a:ext uri="{FF2B5EF4-FFF2-40B4-BE49-F238E27FC236}">
                <a16:creationId xmlns:a16="http://schemas.microsoft.com/office/drawing/2014/main" id="{3F1D87C3-C22F-D94D-9C58-92B43A3EEF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40" y="2832099"/>
            <a:ext cx="4109808" cy="1444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7" name="Rectangle 3">
            <a:extLst>
              <a:ext uri="{FF2B5EF4-FFF2-40B4-BE49-F238E27FC236}">
                <a16:creationId xmlns:a16="http://schemas.microsoft.com/office/drawing/2014/main" id="{5EBFB6A3-877F-A144-A6DC-96150D66AD75}"/>
              </a:ext>
            </a:extLst>
          </p:cNvPr>
          <p:cNvSpPr>
            <a:spLocks noChangeArrowheads="1"/>
          </p:cNvSpPr>
          <p:nvPr/>
        </p:nvSpPr>
        <p:spPr bwMode="auto">
          <a:xfrm>
            <a:off x="211138" y="4757738"/>
            <a:ext cx="4572000"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40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三色染色不一定，四色总是可以</a:t>
            </a:r>
          </a:p>
        </p:txBody>
      </p:sp>
      <p:sp>
        <p:nvSpPr>
          <p:cNvPr id="11" name="Rectangle 3">
            <a:extLst>
              <a:ext uri="{FF2B5EF4-FFF2-40B4-BE49-F238E27FC236}">
                <a16:creationId xmlns:a16="http://schemas.microsoft.com/office/drawing/2014/main" id="{5A90240C-6037-3242-9C84-A05B43D406C4}"/>
              </a:ext>
            </a:extLst>
          </p:cNvPr>
          <p:cNvSpPr>
            <a:spLocks noChangeArrowheads="1"/>
          </p:cNvSpPr>
          <p:nvPr/>
        </p:nvSpPr>
        <p:spPr bwMode="auto">
          <a:xfrm>
            <a:off x="4859338" y="1885950"/>
            <a:ext cx="4132262" cy="328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25000"/>
              </a:lnSpc>
              <a:spcBef>
                <a:spcPct val="50000"/>
              </a:spcBef>
            </a:pPr>
            <a:r>
              <a:rPr lang="zh-CN" altLang="en-US"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阿里巴巴用信封装颜色标签，然后填好每个区域颜色，盗贼随机选</a:t>
            </a:r>
            <a:r>
              <a:rPr lang="en-US" altLang="zh-CN"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2</a:t>
            </a:r>
            <a:r>
              <a:rPr lang="zh-CN" altLang="en-US"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个相邻区域，进行验证。（这里不能直接翻另外的区域</a:t>
            </a:r>
            <a:r>
              <a:rPr lang="en-US" altLang="zh-CN"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a:t>
            </a:r>
            <a:r>
              <a:rPr lang="zh-CN" altLang="en-US"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零知识）下一轮验证，阿里巴巴将颜色轮换，重新填色，再进行验证。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10">
            <a:extLst>
              <a:ext uri="{FF2B5EF4-FFF2-40B4-BE49-F238E27FC236}">
                <a16:creationId xmlns:a16="http://schemas.microsoft.com/office/drawing/2014/main" id="{8F599376-2115-DE40-8E5C-0F1D777B7B4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7042" name="Rectangle 11">
            <a:extLst>
              <a:ext uri="{FF2B5EF4-FFF2-40B4-BE49-F238E27FC236}">
                <a16:creationId xmlns:a16="http://schemas.microsoft.com/office/drawing/2014/main" id="{4A8BE1D5-E8E9-4348-855E-BC0DEA05A21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87043" name="Rectangle 3">
            <a:extLst>
              <a:ext uri="{FF2B5EF4-FFF2-40B4-BE49-F238E27FC236}">
                <a16:creationId xmlns:a16="http://schemas.microsoft.com/office/drawing/2014/main" id="{24A6B35E-B92A-A345-B956-19AEE33D29DB}"/>
              </a:ext>
            </a:extLst>
          </p:cNvPr>
          <p:cNvSpPr>
            <a:spLocks noChangeArrowheads="1"/>
          </p:cNvSpPr>
          <p:nvPr/>
        </p:nvSpPr>
        <p:spPr bwMode="auto">
          <a:xfrm>
            <a:off x="685800" y="685800"/>
            <a:ext cx="53990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800">
                <a:latin typeface="华文中宋" panose="02010600040101010101" pitchFamily="2" charset="-122"/>
                <a:ea typeface="华文中宋" panose="02010600040101010101" pitchFamily="2" charset="-122"/>
                <a:cs typeface="Times New Roman" panose="02020603050405020304" pitchFamily="18" charset="0"/>
              </a:rPr>
              <a:t>零知识证明举例</a:t>
            </a:r>
          </a:p>
        </p:txBody>
      </p:sp>
      <p:sp>
        <p:nvSpPr>
          <p:cNvPr id="87045" name="Rectangle 3">
            <a:extLst>
              <a:ext uri="{FF2B5EF4-FFF2-40B4-BE49-F238E27FC236}">
                <a16:creationId xmlns:a16="http://schemas.microsoft.com/office/drawing/2014/main" id="{D37B4E3D-FA20-BB42-AD98-0A0F1D307D1B}"/>
              </a:ext>
            </a:extLst>
          </p:cNvPr>
          <p:cNvSpPr>
            <a:spLocks noChangeArrowheads="1"/>
          </p:cNvSpPr>
          <p:nvPr/>
        </p:nvSpPr>
        <p:spPr bwMode="auto">
          <a:xfrm>
            <a:off x="574560" y="4145165"/>
            <a:ext cx="8382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即所有数学命题都可以转换为一个地图上的三染色，如果要证明“我证明了哥德巴赫猜想”则只要三染色成功，即证明猜想成立</a:t>
            </a:r>
          </a:p>
        </p:txBody>
      </p:sp>
      <p:pic>
        <p:nvPicPr>
          <p:cNvPr id="87046" name="图片 3">
            <a:extLst>
              <a:ext uri="{FF2B5EF4-FFF2-40B4-BE49-F238E27FC236}">
                <a16:creationId xmlns:a16="http://schemas.microsoft.com/office/drawing/2014/main" id="{3F1D87C3-C22F-D94D-9C58-92B43A3EEF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295400"/>
            <a:ext cx="4109808" cy="1444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13E73B21-0264-0743-8AD8-D361E80611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4600" y="554376"/>
            <a:ext cx="2583961" cy="3359149"/>
          </a:xfrm>
          <a:prstGeom prst="rect">
            <a:avLst/>
          </a:prstGeom>
        </p:spPr>
      </p:pic>
      <p:sp>
        <p:nvSpPr>
          <p:cNvPr id="12" name="Rectangle 3">
            <a:extLst>
              <a:ext uri="{FF2B5EF4-FFF2-40B4-BE49-F238E27FC236}">
                <a16:creationId xmlns:a16="http://schemas.microsoft.com/office/drawing/2014/main" id="{E6782940-6023-E541-BA8E-47F632597844}"/>
              </a:ext>
            </a:extLst>
          </p:cNvPr>
          <p:cNvSpPr>
            <a:spLocks noChangeArrowheads="1"/>
          </p:cNvSpPr>
          <p:nvPr/>
        </p:nvSpPr>
        <p:spPr bwMode="auto">
          <a:xfrm>
            <a:off x="574560" y="2828835"/>
            <a:ext cx="539908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任意数学命题（哥德巴赫猜想、费马大定理等）都可转换为一个</a:t>
            </a:r>
            <a:r>
              <a:rPr lang="en-US" altLang="zh-CN"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NPC</a:t>
            </a:r>
            <a:r>
              <a:rPr lang="zh-CN" altLang="en-US" sz="2400" dirty="0">
                <a:solidFill>
                  <a:srgbClr val="000000"/>
                </a:solidFill>
                <a:latin typeface="华文中宋" panose="02010600040101010101" pitchFamily="2" charset="-122"/>
                <a:ea typeface="华文中宋" panose="02010600040101010101" pitchFamily="2" charset="-122"/>
                <a:cs typeface="Times New Roman" panose="02020603050405020304" pitchFamily="18" charset="0"/>
              </a:rPr>
              <a:t>问题（三染色问题等）</a:t>
            </a:r>
          </a:p>
        </p:txBody>
      </p:sp>
      <p:sp>
        <p:nvSpPr>
          <p:cNvPr id="2" name="文本框 1">
            <a:extLst>
              <a:ext uri="{FF2B5EF4-FFF2-40B4-BE49-F238E27FC236}">
                <a16:creationId xmlns:a16="http://schemas.microsoft.com/office/drawing/2014/main" id="{DA7D62A6-EC2E-2044-B74C-717A8DE2C3DA}"/>
              </a:ext>
            </a:extLst>
          </p:cNvPr>
          <p:cNvSpPr txBox="1"/>
          <p:nvPr/>
        </p:nvSpPr>
        <p:spPr>
          <a:xfrm>
            <a:off x="421596" y="5451645"/>
            <a:ext cx="8300808" cy="830997"/>
          </a:xfrm>
          <a:prstGeom prst="rect">
            <a:avLst/>
          </a:prstGeom>
          <a:noFill/>
        </p:spPr>
        <p:txBody>
          <a:bodyPr wrap="square" rtlCol="0">
            <a:spAutoFit/>
          </a:bodyPr>
          <a:lstStyle/>
          <a:p>
            <a:r>
              <a:rPr kumimoji="1" lang="zh-CN" altLang="en" sz="1600" dirty="0">
                <a:solidFill>
                  <a:schemeClr val="bg2"/>
                </a:solidFill>
              </a:rPr>
              <a:t>百万富翁</a:t>
            </a:r>
            <a:r>
              <a:rPr kumimoji="1" lang="zh-CN" altLang="en-US" sz="1600" dirty="0">
                <a:solidFill>
                  <a:schemeClr val="bg2"/>
                </a:solidFill>
              </a:rPr>
              <a:t>问题：</a:t>
            </a:r>
            <a:r>
              <a:rPr kumimoji="1" lang="en" altLang="zh-CN" sz="1600" dirty="0">
                <a:solidFill>
                  <a:schemeClr val="bg2"/>
                </a:solidFill>
              </a:rPr>
              <a:t>https://</a:t>
            </a:r>
            <a:r>
              <a:rPr kumimoji="1" lang="en" altLang="zh-CN" sz="1600" dirty="0" err="1">
                <a:solidFill>
                  <a:schemeClr val="bg2"/>
                </a:solidFill>
              </a:rPr>
              <a:t>www.bilibili.com</a:t>
            </a:r>
            <a:r>
              <a:rPr kumimoji="1" lang="en" altLang="zh-CN" sz="1600" dirty="0">
                <a:solidFill>
                  <a:schemeClr val="bg2"/>
                </a:solidFill>
              </a:rPr>
              <a:t>/video/BV1cm4y1v72f/?</a:t>
            </a:r>
            <a:r>
              <a:rPr kumimoji="1" lang="en" altLang="zh-CN" sz="1600" dirty="0" err="1">
                <a:solidFill>
                  <a:schemeClr val="bg2"/>
                </a:solidFill>
              </a:rPr>
              <a:t>spm_id_from</a:t>
            </a:r>
            <a:r>
              <a:rPr kumimoji="1" lang="en" altLang="zh-CN" sz="1600" dirty="0">
                <a:solidFill>
                  <a:schemeClr val="bg2"/>
                </a:solidFill>
              </a:rPr>
              <a:t>=333.999.0.0&amp;vd_source=0991c0bfd7ce6d8c34ea5d7729eaded5</a:t>
            </a:r>
            <a:endParaRPr kumimoji="1" lang="zh-CN" altLang="en-US" sz="1600" dirty="0">
              <a:solidFill>
                <a:schemeClr val="bg2"/>
              </a:solidFill>
            </a:endParaRPr>
          </a:p>
        </p:txBody>
      </p:sp>
    </p:spTree>
    <p:extLst>
      <p:ext uri="{BB962C8B-B14F-4D97-AF65-F5344CB8AC3E}">
        <p14:creationId xmlns:p14="http://schemas.microsoft.com/office/powerpoint/2010/main" val="288200896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F491488-BCFD-954A-A030-8F87876E3775}"/>
              </a:ext>
            </a:extLst>
          </p:cNvPr>
          <p:cNvSpPr>
            <a:spLocks noChangeArrowheads="1"/>
          </p:cNvSpPr>
          <p:nvPr/>
        </p:nvSpPr>
        <p:spPr bwMode="auto">
          <a:xfrm>
            <a:off x="955675" y="3708400"/>
            <a:ext cx="65992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离散对数的困难性</a:t>
            </a:r>
          </a:p>
        </p:txBody>
      </p:sp>
      <p:sp>
        <p:nvSpPr>
          <p:cNvPr id="88066" name="Text Box 12">
            <a:extLst>
              <a:ext uri="{FF2B5EF4-FFF2-40B4-BE49-F238E27FC236}">
                <a16:creationId xmlns:a16="http://schemas.microsoft.com/office/drawing/2014/main" id="{0FEBD306-D518-3B41-BA9D-43A10DE6CA63}"/>
              </a:ext>
            </a:extLst>
          </p:cNvPr>
          <p:cNvSpPr txBox="1">
            <a:spLocks noChangeArrowheads="1"/>
          </p:cNvSpPr>
          <p:nvPr/>
        </p:nvSpPr>
        <p:spPr bwMode="auto">
          <a:xfrm>
            <a:off x="304800" y="1066800"/>
            <a:ext cx="717708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3200">
                <a:solidFill>
                  <a:srgbClr val="0000FF"/>
                </a:solidFill>
                <a:latin typeface="华文中宋" panose="02010600040101010101" pitchFamily="2" charset="-122"/>
                <a:ea typeface="华文中宋" panose="02010600040101010101" pitchFamily="2" charset="-122"/>
                <a:cs typeface="Times New Roman" panose="02020603050405020304" pitchFamily="18" charset="0"/>
              </a:rPr>
              <a:t>典型零知识证明的身份鉴别协议 </a:t>
            </a:r>
          </a:p>
        </p:txBody>
      </p:sp>
      <p:sp>
        <p:nvSpPr>
          <p:cNvPr id="4" name="矩形 3">
            <a:extLst>
              <a:ext uri="{FF2B5EF4-FFF2-40B4-BE49-F238E27FC236}">
                <a16:creationId xmlns:a16="http://schemas.microsoft.com/office/drawing/2014/main" id="{5813B515-F80B-0D4E-B9C3-3A0B8A77603A}"/>
              </a:ext>
            </a:extLst>
          </p:cNvPr>
          <p:cNvSpPr>
            <a:spLocks noChangeArrowheads="1"/>
          </p:cNvSpPr>
          <p:nvPr/>
        </p:nvSpPr>
        <p:spPr bwMode="auto">
          <a:xfrm>
            <a:off x="838200" y="1981200"/>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计算模</a:t>
            </a: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n</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平方根的困难性</a:t>
            </a:r>
          </a:p>
        </p:txBody>
      </p:sp>
      <p:sp>
        <p:nvSpPr>
          <p:cNvPr id="5" name="矩形 4">
            <a:extLst>
              <a:ext uri="{FF2B5EF4-FFF2-40B4-BE49-F238E27FC236}">
                <a16:creationId xmlns:a16="http://schemas.microsoft.com/office/drawing/2014/main" id="{806B9FA9-20EB-A849-8902-8C819803B4D7}"/>
              </a:ext>
            </a:extLst>
          </p:cNvPr>
          <p:cNvSpPr>
            <a:spLocks noChangeArrowheads="1"/>
          </p:cNvSpPr>
          <p:nvPr/>
        </p:nvSpPr>
        <p:spPr bwMode="auto">
          <a:xfrm>
            <a:off x="1143000" y="2590800"/>
            <a:ext cx="6065838"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4800" b="1">
                <a:solidFill>
                  <a:srgbClr val="FF0000"/>
                </a:solidFill>
                <a:latin typeface="隶书" pitchFamily="49" charset="-122"/>
                <a:ea typeface="隶书" pitchFamily="49" charset="-122"/>
              </a:defRPr>
            </a:lvl1pPr>
            <a:lvl2pPr marL="914400" indent="-45720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lnSpc>
                <a:spcPts val="3800"/>
              </a:lnSpc>
              <a:buFont typeface="Wingdings" pitchFamily="2" charset="2"/>
              <a:buChar char="u"/>
            </a:pPr>
            <a:r>
              <a:rPr lang="en-US" altLang="zh-CN" sz="2800" dirty="0">
                <a:solidFill>
                  <a:schemeClr val="bg2"/>
                </a:solidFill>
                <a:latin typeface="Times New Roman" panose="02020603050405020304" pitchFamily="18" charset="0"/>
                <a:ea typeface="黑体" panose="02010609060101010101" pitchFamily="49" charset="-122"/>
                <a:cs typeface="Times New Roman" panose="02020603050405020304" pitchFamily="18" charset="0"/>
              </a:rPr>
              <a:t>Fiat-Shamir</a:t>
            </a:r>
            <a:r>
              <a:rPr lang="zh-CN" altLang="en-US" sz="2800" dirty="0">
                <a:solidFill>
                  <a:schemeClr val="bg2"/>
                </a:solidFill>
                <a:latin typeface="Times New Roman" panose="02020603050405020304" pitchFamily="18" charset="0"/>
                <a:ea typeface="黑体" panose="02010609060101010101" pitchFamily="49" charset="-122"/>
                <a:cs typeface="Times New Roman" panose="02020603050405020304" pitchFamily="18" charset="0"/>
              </a:rPr>
              <a:t>身份识别协议</a:t>
            </a:r>
          </a:p>
          <a:p>
            <a:pPr lvl="1" eaLnBrk="1" hangingPunct="1">
              <a:lnSpc>
                <a:spcPts val="3800"/>
              </a:lnSpc>
              <a:buFont typeface="Wingdings" pitchFamily="2" charset="2"/>
              <a:buChar char="u"/>
            </a:pPr>
            <a:r>
              <a:rPr lang="en-US" altLang="zh-CN" sz="2800" dirty="0" err="1">
                <a:solidFill>
                  <a:schemeClr val="bg2"/>
                </a:solidFill>
                <a:latin typeface="Times New Roman" panose="02020603050405020304" pitchFamily="18" charset="0"/>
                <a:ea typeface="黑体" panose="02010609060101010101" pitchFamily="49" charset="-122"/>
                <a:cs typeface="Times New Roman" panose="02020603050405020304" pitchFamily="18" charset="0"/>
              </a:rPr>
              <a:t>Fiege</a:t>
            </a:r>
            <a:r>
              <a:rPr lang="en-US" altLang="zh-CN" sz="2800" dirty="0">
                <a:solidFill>
                  <a:schemeClr val="bg2"/>
                </a:solidFill>
                <a:latin typeface="Times New Roman" panose="02020603050405020304" pitchFamily="18" charset="0"/>
                <a:ea typeface="黑体" panose="02010609060101010101" pitchFamily="49" charset="-122"/>
                <a:cs typeface="Times New Roman" panose="02020603050405020304" pitchFamily="18" charset="0"/>
              </a:rPr>
              <a:t>-Fiat-Shamir</a:t>
            </a:r>
            <a:r>
              <a:rPr lang="zh-CN" altLang="en-US" sz="2800" dirty="0">
                <a:solidFill>
                  <a:schemeClr val="bg2"/>
                </a:solidFill>
                <a:latin typeface="Times New Roman" panose="02020603050405020304" pitchFamily="18" charset="0"/>
                <a:ea typeface="黑体" panose="02010609060101010101" pitchFamily="49" charset="-122"/>
                <a:cs typeface="Times New Roman" panose="02020603050405020304" pitchFamily="18" charset="0"/>
              </a:rPr>
              <a:t>身份识别协议</a:t>
            </a:r>
          </a:p>
        </p:txBody>
      </p:sp>
      <p:sp>
        <p:nvSpPr>
          <p:cNvPr id="6" name="矩形 5">
            <a:extLst>
              <a:ext uri="{FF2B5EF4-FFF2-40B4-BE49-F238E27FC236}">
                <a16:creationId xmlns:a16="http://schemas.microsoft.com/office/drawing/2014/main" id="{6D399283-7F40-1542-9BE1-D032001D399A}"/>
              </a:ext>
            </a:extLst>
          </p:cNvPr>
          <p:cNvSpPr>
            <a:spLocks noChangeArrowheads="1"/>
          </p:cNvSpPr>
          <p:nvPr/>
        </p:nvSpPr>
        <p:spPr bwMode="auto">
          <a:xfrm>
            <a:off x="1219200" y="4275138"/>
            <a:ext cx="49736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kumimoji="1" sz="4800" b="1">
                <a:solidFill>
                  <a:srgbClr val="FF0000"/>
                </a:solidFill>
                <a:latin typeface="隶书" pitchFamily="49" charset="-122"/>
                <a:ea typeface="隶书" pitchFamily="49" charset="-122"/>
              </a:defRPr>
            </a:lvl1pPr>
            <a:lvl2pPr marL="914400" indent="-45720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lvl="1" eaLnBrk="1" hangingPunct="1">
              <a:buFont typeface="Wingdings" pitchFamily="2" charset="2"/>
              <a:buChar char="u"/>
            </a:pP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Needham-Schroeder</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协议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Effect transition="in" filter="fade">
                                      <p:cBhvr>
                                        <p:cTn id="14" dur="1000"/>
                                        <p:tgtEl>
                                          <p:spTgt spid="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53" presetClass="entr" presetSubtype="16"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1000" fill="hold"/>
                                        <p:tgtEl>
                                          <p:spTgt spid="6"/>
                                        </p:tgtEl>
                                        <p:attrNameLst>
                                          <p:attrName>ppt_w</p:attrName>
                                        </p:attrNameLst>
                                      </p:cBhvr>
                                      <p:tavLst>
                                        <p:tav tm="0">
                                          <p:val>
                                            <p:fltVal val="0"/>
                                          </p:val>
                                        </p:tav>
                                        <p:tav tm="100000">
                                          <p:val>
                                            <p:strVal val="#ppt_w"/>
                                          </p:val>
                                        </p:tav>
                                      </p:tavLst>
                                    </p:anim>
                                    <p:anim calcmode="lin" valueType="num">
                                      <p:cBhvr>
                                        <p:cTn id="25" dur="1000" fill="hold"/>
                                        <p:tgtEl>
                                          <p:spTgt spid="6"/>
                                        </p:tgtEl>
                                        <p:attrNameLst>
                                          <p:attrName>ppt_h</p:attrName>
                                        </p:attrNameLst>
                                      </p:cBhvr>
                                      <p:tavLst>
                                        <p:tav tm="0">
                                          <p:val>
                                            <p:fltVal val="0"/>
                                          </p:val>
                                        </p:tav>
                                        <p:tav tm="100000">
                                          <p:val>
                                            <p:strVal val="#ppt_h"/>
                                          </p:val>
                                        </p:tav>
                                      </p:tavLst>
                                    </p:anim>
                                    <p:animEffect transition="in" filter="fade">
                                      <p:cBhvr>
                                        <p:cTn id="2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6498" name="Rectangle 2">
            <a:extLst>
              <a:ext uri="{FF2B5EF4-FFF2-40B4-BE49-F238E27FC236}">
                <a16:creationId xmlns:a16="http://schemas.microsoft.com/office/drawing/2014/main" id="{B9C0B152-F023-E240-BF2A-79C7C2D9E168}"/>
              </a:ext>
            </a:extLst>
          </p:cNvPr>
          <p:cNvSpPr>
            <a:spLocks noGrp="1" noChangeArrowheads="1"/>
          </p:cNvSpPr>
          <p:nvPr>
            <p:ph type="title"/>
          </p:nvPr>
        </p:nvSpPr>
        <p:spPr bwMode="auto">
          <a:xfrm>
            <a:off x="381000" y="914400"/>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sz="3600">
                <a:solidFill>
                  <a:srgbClr val="0000FF"/>
                </a:solidFill>
                <a:latin typeface="黑体" panose="02010609060101010101" pitchFamily="49" charset="-122"/>
                <a:ea typeface="黑体" panose="02010609060101010101" pitchFamily="49" charset="-122"/>
              </a:rPr>
              <a:t>5.5.3 </a:t>
            </a:r>
            <a:r>
              <a:rPr lang="zh-CN" altLang="en-US" sz="3600">
                <a:solidFill>
                  <a:srgbClr val="0000FF"/>
                </a:solidFill>
                <a:latin typeface="黑体" panose="02010609060101010101" pitchFamily="49" charset="-122"/>
                <a:ea typeface="黑体" panose="02010609060101010101" pitchFamily="49" charset="-122"/>
              </a:rPr>
              <a:t>采用对称密码的鉴别机制</a:t>
            </a:r>
          </a:p>
        </p:txBody>
      </p:sp>
      <p:sp>
        <p:nvSpPr>
          <p:cNvPr id="1386499" name="Rectangle 3">
            <a:extLst>
              <a:ext uri="{FF2B5EF4-FFF2-40B4-BE49-F238E27FC236}">
                <a16:creationId xmlns:a16="http://schemas.microsoft.com/office/drawing/2014/main" id="{2A6ADF77-DBCA-6542-8F54-AE7D54A13363}"/>
              </a:ext>
            </a:extLst>
          </p:cNvPr>
          <p:cNvSpPr>
            <a:spLocks noGrp="1" noChangeArrowheads="1"/>
          </p:cNvSpPr>
          <p:nvPr>
            <p:ph type="body" idx="1"/>
          </p:nvPr>
        </p:nvSpPr>
        <p:spPr bwMode="auto">
          <a:xfrm>
            <a:off x="609600" y="1828800"/>
            <a:ext cx="8229600" cy="24384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indent="0" eaLnBrk="1" hangingPunct="1">
              <a:buFont typeface="Wingdings" pitchFamily="2" charset="2"/>
              <a:buNone/>
              <a:defRPr/>
            </a:pPr>
            <a:r>
              <a:rPr lang="zh-CN" altLang="en-US" dirty="0">
                <a:solidFill>
                  <a:schemeClr val="bg2"/>
                </a:solidFill>
                <a:latin typeface="黑体" panose="02010609060101010101" pitchFamily="49" charset="-122"/>
                <a:ea typeface="黑体" panose="02010609060101010101" pitchFamily="49" charset="-122"/>
              </a:rPr>
              <a:t>基于对称密码算法的鉴别依靠一定协议下的数据加密处理。通信双方共享一个</a:t>
            </a:r>
            <a:r>
              <a:rPr lang="zh-CN" altLang="en-US" dirty="0">
                <a:solidFill>
                  <a:srgbClr val="FF3300"/>
                </a:solidFill>
                <a:latin typeface="黑体" panose="02010609060101010101" pitchFamily="49" charset="-122"/>
                <a:ea typeface="黑体" panose="02010609060101010101" pitchFamily="49" charset="-122"/>
              </a:rPr>
              <a:t>密钥</a:t>
            </a:r>
            <a:r>
              <a:rPr lang="zh-CN" altLang="en-US" dirty="0">
                <a:solidFill>
                  <a:schemeClr val="bg2"/>
                </a:solidFill>
                <a:latin typeface="黑体" panose="02010609060101010101" pitchFamily="49" charset="-122"/>
                <a:ea typeface="黑体" panose="02010609060101010101" pitchFamily="49" charset="-122"/>
              </a:rPr>
              <a:t>（通常存储在硬件中），该密钥在</a:t>
            </a:r>
            <a:r>
              <a:rPr lang="zh-CN" altLang="en-US" dirty="0">
                <a:solidFill>
                  <a:srgbClr val="FF3300"/>
                </a:solidFill>
                <a:latin typeface="黑体" panose="02010609060101010101" pitchFamily="49" charset="-122"/>
                <a:ea typeface="黑体" panose="02010609060101010101" pitchFamily="49" charset="-122"/>
              </a:rPr>
              <a:t>质询</a:t>
            </a:r>
            <a:r>
              <a:rPr lang="en-US" altLang="zh-CN" dirty="0">
                <a:solidFill>
                  <a:srgbClr val="FF3300"/>
                </a:solidFill>
                <a:latin typeface="黑体" panose="02010609060101010101" pitchFamily="49" charset="-122"/>
                <a:ea typeface="黑体" panose="02010609060101010101" pitchFamily="49" charset="-122"/>
              </a:rPr>
              <a:t>—</a:t>
            </a:r>
            <a:r>
              <a:rPr lang="zh-CN" altLang="en-US" dirty="0">
                <a:solidFill>
                  <a:srgbClr val="FF3300"/>
                </a:solidFill>
                <a:latin typeface="黑体" panose="02010609060101010101" pitchFamily="49" charset="-122"/>
                <a:ea typeface="黑体" panose="02010609060101010101" pitchFamily="49" charset="-122"/>
              </a:rPr>
              <a:t>应答协议</a:t>
            </a:r>
            <a:r>
              <a:rPr lang="zh-CN" altLang="en-US" dirty="0">
                <a:solidFill>
                  <a:schemeClr val="bg2"/>
                </a:solidFill>
                <a:latin typeface="黑体" panose="02010609060101010101" pitchFamily="49" charset="-122"/>
                <a:ea typeface="黑体" panose="02010609060101010101" pitchFamily="49" charset="-122"/>
              </a:rPr>
              <a:t>中处理或加密信息交换。</a:t>
            </a:r>
          </a:p>
          <a:p>
            <a:pPr marL="0" indent="0" eaLnBrk="1" hangingPunct="1">
              <a:defRPr/>
            </a:pPr>
            <a:endParaRPr lang="zh-CN" altLang="en-US" dirty="0">
              <a:solidFill>
                <a:schemeClr val="bg2"/>
              </a:solidFill>
              <a:latin typeface="黑体" panose="02010609060101010101" pitchFamily="49" charset="-122"/>
              <a:ea typeface="黑体" panose="02010609060101010101" pitchFamily="49"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7522" name="Rectangle 2">
            <a:extLst>
              <a:ext uri="{FF2B5EF4-FFF2-40B4-BE49-F238E27FC236}">
                <a16:creationId xmlns:a16="http://schemas.microsoft.com/office/drawing/2014/main" id="{90AB471E-7808-904D-B5B9-7241EDD32BC9}"/>
              </a:ext>
            </a:extLst>
          </p:cNvPr>
          <p:cNvSpPr>
            <a:spLocks noGrp="1" noChangeArrowheads="1"/>
          </p:cNvSpPr>
          <p:nvPr>
            <p:ph type="title"/>
          </p:nvPr>
        </p:nvSpPr>
        <p:spPr bwMode="auto">
          <a:xfrm>
            <a:off x="533400" y="762000"/>
            <a:ext cx="8229600" cy="6556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kern="1200" dirty="0">
                <a:solidFill>
                  <a:srgbClr val="FF0000"/>
                </a:solidFill>
                <a:latin typeface="黑体" panose="02010609060101010101" pitchFamily="49" charset="-122"/>
                <a:ea typeface="黑体" panose="02010609060101010101" pitchFamily="49" charset="-122"/>
                <a:cs typeface="+mn-cs"/>
              </a:rPr>
              <a:t>设计鉴别协议</a:t>
            </a:r>
          </a:p>
        </p:txBody>
      </p:sp>
      <p:sp>
        <p:nvSpPr>
          <p:cNvPr id="1387523" name="Rectangle 3">
            <a:extLst>
              <a:ext uri="{FF2B5EF4-FFF2-40B4-BE49-F238E27FC236}">
                <a16:creationId xmlns:a16="http://schemas.microsoft.com/office/drawing/2014/main" id="{4419C364-AE15-9741-92DD-C62587E3966F}"/>
              </a:ext>
            </a:extLst>
          </p:cNvPr>
          <p:cNvSpPr>
            <a:spLocks noGrp="1" noChangeArrowheads="1"/>
          </p:cNvSpPr>
          <p:nvPr>
            <p:ph type="body" idx="1"/>
          </p:nvPr>
        </p:nvSpPr>
        <p:spPr bwMode="auto">
          <a:xfrm>
            <a:off x="457200" y="1524000"/>
            <a:ext cx="8229600" cy="4525963"/>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u"/>
              <a:defRPr/>
            </a:pPr>
            <a:r>
              <a:rPr lang="zh-CN" altLang="en-US" sz="2800" dirty="0">
                <a:solidFill>
                  <a:schemeClr val="bg2"/>
                </a:solidFill>
                <a:latin typeface="黑体" panose="02010609060101010101" pitchFamily="49" charset="-122"/>
                <a:ea typeface="黑体" panose="02010609060101010101" pitchFamily="49" charset="-122"/>
              </a:rPr>
              <a:t>介绍在设计鉴别协议时特别需要注意的问题，并给出抵抗这些攻击的具体设计策略。</a:t>
            </a:r>
          </a:p>
          <a:p>
            <a:pPr eaLnBrk="1" hangingPunct="1">
              <a:buClr>
                <a:srgbClr val="FF0000"/>
              </a:buClr>
              <a:buFont typeface="Wingdings" pitchFamily="2" charset="2"/>
              <a:buChar char="u"/>
              <a:defRPr/>
            </a:pPr>
            <a:r>
              <a:rPr lang="zh-CN" altLang="en-US" sz="2800" dirty="0">
                <a:solidFill>
                  <a:schemeClr val="bg2"/>
                </a:solidFill>
                <a:latin typeface="黑体" panose="02010609060101010101" pitchFamily="49" charset="-122"/>
                <a:ea typeface="黑体" panose="02010609060101010101" pitchFamily="49" charset="-122"/>
              </a:rPr>
              <a:t>鉴别和密钥交换协议的核心问题有两个：</a:t>
            </a:r>
          </a:p>
          <a:p>
            <a:pPr lvl="1" eaLnBrk="1" hangingPunct="1">
              <a:buClr>
                <a:srgbClr val="C6720E"/>
              </a:buClr>
              <a:buFont typeface="Wingdings" pitchFamily="2" charset="2"/>
              <a:buChar char="u"/>
              <a:defRPr/>
            </a:pPr>
            <a:r>
              <a:rPr lang="zh-CN" altLang="en-US" sz="2400" dirty="0">
                <a:solidFill>
                  <a:schemeClr val="bg2"/>
                </a:solidFill>
                <a:latin typeface="黑体" panose="02010609060101010101" pitchFamily="49" charset="-122"/>
                <a:ea typeface="黑体" panose="02010609060101010101" pitchFamily="49" charset="-122"/>
              </a:rPr>
              <a:t>保密性</a:t>
            </a:r>
          </a:p>
          <a:p>
            <a:pPr lvl="1" eaLnBrk="1" hangingPunct="1">
              <a:buClr>
                <a:srgbClr val="C6720E"/>
              </a:buClr>
              <a:buFont typeface="Wingdings" pitchFamily="2" charset="2"/>
              <a:buChar char="u"/>
              <a:defRPr/>
            </a:pPr>
            <a:r>
              <a:rPr lang="zh-CN" altLang="en-US" sz="2400" dirty="0">
                <a:solidFill>
                  <a:schemeClr val="bg2"/>
                </a:solidFill>
                <a:latin typeface="黑体" panose="02010609060101010101" pitchFamily="49" charset="-122"/>
                <a:ea typeface="黑体" panose="02010609060101010101" pitchFamily="49" charset="-122"/>
              </a:rPr>
              <a:t>时效性</a:t>
            </a:r>
          </a:p>
          <a:p>
            <a:pPr eaLnBrk="1" hangingPunct="1">
              <a:buClr>
                <a:srgbClr val="FF0000"/>
              </a:buClr>
              <a:buFont typeface="Wingdings" pitchFamily="2" charset="2"/>
              <a:buChar char="u"/>
              <a:defRPr/>
            </a:pPr>
            <a:r>
              <a:rPr lang="zh-CN" altLang="en-US" sz="2800" dirty="0">
                <a:solidFill>
                  <a:schemeClr val="bg2"/>
                </a:solidFill>
                <a:latin typeface="黑体" panose="02010609060101010101" pitchFamily="49" charset="-122"/>
                <a:ea typeface="黑体" panose="02010609060101010101" pitchFamily="49" charset="-122"/>
              </a:rPr>
              <a:t>为了防止伪装和防止暴露会话密钥，基本鉴别与会话密码信息必须以保密形式通信。这就要求预先存在保密或公开密钥供实现加密使用。</a:t>
            </a:r>
          </a:p>
          <a:p>
            <a:pPr eaLnBrk="1" hangingPunct="1">
              <a:buClr>
                <a:srgbClr val="FF0000"/>
              </a:buClr>
              <a:buFont typeface="Wingdings" pitchFamily="2" charset="2"/>
              <a:buChar char="u"/>
              <a:defRPr/>
            </a:pPr>
            <a:r>
              <a:rPr lang="zh-CN" altLang="en-US" sz="2800" dirty="0">
                <a:solidFill>
                  <a:schemeClr val="bg2"/>
                </a:solidFill>
                <a:latin typeface="黑体" panose="02010609060101010101" pitchFamily="49" charset="-122"/>
                <a:ea typeface="黑体" panose="02010609060101010101" pitchFamily="49" charset="-122"/>
              </a:rPr>
              <a:t>第二个问题也很重要，因为涉及防止消息重放攻击。</a:t>
            </a:r>
          </a:p>
          <a:p>
            <a:pPr eaLnBrk="1" hangingPunct="1">
              <a:defRPr/>
            </a:pPr>
            <a:endParaRPr lang="zh-CN" altLang="en-US" sz="2800" dirty="0">
              <a:solidFill>
                <a:schemeClr val="bg2"/>
              </a:solidFill>
              <a:latin typeface="黑体" panose="02010609060101010101" pitchFamily="49" charset="-122"/>
              <a:ea typeface="黑体" panose="02010609060101010101" pitchFamily="49"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8546" name="Rectangle 2">
            <a:extLst>
              <a:ext uri="{FF2B5EF4-FFF2-40B4-BE49-F238E27FC236}">
                <a16:creationId xmlns:a16="http://schemas.microsoft.com/office/drawing/2014/main" id="{56D8F949-2A87-244D-B64F-892AF87CE980}"/>
              </a:ext>
            </a:extLst>
          </p:cNvPr>
          <p:cNvSpPr>
            <a:spLocks noGrp="1" noChangeArrowheads="1"/>
          </p:cNvSpPr>
          <p:nvPr>
            <p:ph type="title"/>
          </p:nvPr>
        </p:nvSpPr>
        <p:spPr bwMode="auto">
          <a:xfrm>
            <a:off x="457200" y="685800"/>
            <a:ext cx="8229600" cy="5794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kern="1200" dirty="0">
                <a:solidFill>
                  <a:srgbClr val="FF0000"/>
                </a:solidFill>
                <a:latin typeface="黑体" panose="02010609060101010101" pitchFamily="49" charset="-122"/>
                <a:ea typeface="黑体" panose="02010609060101010101" pitchFamily="49" charset="-122"/>
                <a:cs typeface="+mn-cs"/>
              </a:rPr>
              <a:t>（</a:t>
            </a:r>
            <a:r>
              <a:rPr kumimoji="1" lang="en-US" altLang="zh-CN" sz="3200" kern="1200" dirty="0">
                <a:solidFill>
                  <a:srgbClr val="FF0000"/>
                </a:solidFill>
                <a:latin typeface="黑体" panose="02010609060101010101" pitchFamily="49" charset="-122"/>
                <a:ea typeface="黑体" panose="02010609060101010101" pitchFamily="49" charset="-122"/>
                <a:cs typeface="+mn-cs"/>
              </a:rPr>
              <a:t>1</a:t>
            </a:r>
            <a:r>
              <a:rPr kumimoji="1" lang="zh-CN" altLang="en-US" sz="3200" kern="1200" dirty="0">
                <a:solidFill>
                  <a:srgbClr val="FF0000"/>
                </a:solidFill>
                <a:latin typeface="黑体" panose="02010609060101010101" pitchFamily="49" charset="-122"/>
                <a:ea typeface="黑体" panose="02010609060101010101" pitchFamily="49" charset="-122"/>
                <a:cs typeface="+mn-cs"/>
              </a:rPr>
              <a:t>）重放</a:t>
            </a:r>
          </a:p>
        </p:txBody>
      </p:sp>
      <p:sp>
        <p:nvSpPr>
          <p:cNvPr id="1388547" name="Rectangle 3">
            <a:extLst>
              <a:ext uri="{FF2B5EF4-FFF2-40B4-BE49-F238E27FC236}">
                <a16:creationId xmlns:a16="http://schemas.microsoft.com/office/drawing/2014/main" id="{2F0F2067-2722-0049-8C26-FF513FCAC599}"/>
              </a:ext>
            </a:extLst>
          </p:cNvPr>
          <p:cNvSpPr>
            <a:spLocks noGrp="1" noChangeArrowheads="1"/>
          </p:cNvSpPr>
          <p:nvPr>
            <p:ph type="body" idx="1"/>
          </p:nvPr>
        </p:nvSpPr>
        <p:spPr bwMode="auto">
          <a:xfrm>
            <a:off x="563563" y="1371600"/>
            <a:ext cx="8158162" cy="444658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a:lnSpc>
                <a:spcPts val="2600"/>
              </a:lnSpc>
              <a:spcBef>
                <a:spcPct val="0"/>
              </a:spcBef>
              <a:buFont typeface="Wingdings" pitchFamily="2" charset="2"/>
              <a:buNone/>
              <a:defRPr/>
            </a:pPr>
            <a:r>
              <a:rPr lang="zh-CN" altLang="en-US" sz="2800" dirty="0">
                <a:solidFill>
                  <a:srgbClr val="0000FF"/>
                </a:solidFill>
                <a:ea typeface="宋体" panose="02010600030101010101" pitchFamily="2" charset="-122"/>
              </a:rPr>
              <a:t>常见的消息重放 攻击形式有：</a:t>
            </a:r>
            <a:endParaRPr lang="en-US" altLang="zh-CN" sz="2800" dirty="0">
              <a:solidFill>
                <a:srgbClr val="0000FF"/>
              </a:solidFill>
              <a:ea typeface="宋体" panose="02010600030101010101" pitchFamily="2" charset="-122"/>
            </a:endParaRPr>
          </a:p>
          <a:p>
            <a:pPr>
              <a:lnSpc>
                <a:spcPts val="2600"/>
              </a:lnSpc>
              <a:spcBef>
                <a:spcPct val="0"/>
              </a:spcBef>
              <a:buFont typeface="Wingdings" pitchFamily="2" charset="2"/>
              <a:buNone/>
              <a:defRPr/>
            </a:pPr>
            <a:endParaRPr lang="zh-CN" altLang="en-US" sz="2800" dirty="0">
              <a:solidFill>
                <a:srgbClr val="0000FF"/>
              </a:solidFill>
              <a:ea typeface="宋体" panose="02010600030101010101" pitchFamily="2" charset="-122"/>
            </a:endParaRPr>
          </a:p>
          <a:p>
            <a:pPr>
              <a:lnSpc>
                <a:spcPts val="2600"/>
              </a:lnSpc>
              <a:spcBef>
                <a:spcPct val="0"/>
              </a:spcBef>
              <a:buClr>
                <a:srgbClr val="FF0000"/>
              </a:buClr>
              <a:buFont typeface="Wingdings" pitchFamily="2" charset="2"/>
              <a:buChar char="u"/>
              <a:defRPr/>
            </a:pPr>
            <a:r>
              <a:rPr lang="zh-CN" altLang="en-US" sz="2000" dirty="0">
                <a:solidFill>
                  <a:srgbClr val="FF0000"/>
                </a:solidFill>
                <a:latin typeface="黑体" panose="02010609060101010101" pitchFamily="49" charset="-122"/>
                <a:ea typeface="黑体" panose="02010609060101010101" pitchFamily="49" charset="-122"/>
              </a:rPr>
              <a:t>简单重放：</a:t>
            </a:r>
            <a:r>
              <a:rPr lang="zh-CN" altLang="en-US" sz="2000" dirty="0">
                <a:solidFill>
                  <a:schemeClr val="bg2"/>
                </a:solidFill>
                <a:latin typeface="黑体" panose="02010609060101010101" pitchFamily="49" charset="-122"/>
                <a:ea typeface="黑体" panose="02010609060101010101" pitchFamily="49" charset="-122"/>
              </a:rPr>
              <a:t>攻击者简单复制一条消息，以后在重新发送它；</a:t>
            </a:r>
          </a:p>
          <a:p>
            <a:pPr>
              <a:lnSpc>
                <a:spcPts val="2600"/>
              </a:lnSpc>
              <a:spcBef>
                <a:spcPct val="0"/>
              </a:spcBef>
              <a:buClr>
                <a:srgbClr val="FF0000"/>
              </a:buClr>
              <a:buFont typeface="Wingdings" pitchFamily="2" charset="2"/>
              <a:buChar char="u"/>
              <a:defRPr/>
            </a:pPr>
            <a:r>
              <a:rPr lang="zh-CN" altLang="en-US" sz="2000" dirty="0">
                <a:solidFill>
                  <a:srgbClr val="FF0000"/>
                </a:solidFill>
                <a:latin typeface="黑体" panose="02010609060101010101" pitchFamily="49" charset="-122"/>
                <a:ea typeface="黑体" panose="02010609060101010101" pitchFamily="49" charset="-122"/>
              </a:rPr>
              <a:t>可被日志记录的复制品：</a:t>
            </a:r>
            <a:r>
              <a:rPr lang="zh-CN" altLang="en-US" sz="2000" dirty="0">
                <a:solidFill>
                  <a:schemeClr val="bg2"/>
                </a:solidFill>
                <a:latin typeface="黑体" panose="02010609060101010101" pitchFamily="49" charset="-122"/>
                <a:ea typeface="黑体" panose="02010609060101010101" pitchFamily="49" charset="-122"/>
              </a:rPr>
              <a:t>攻击者可以在一个合法有效的时间窗内重放一个带时间戳的消息；</a:t>
            </a:r>
          </a:p>
          <a:p>
            <a:pPr>
              <a:lnSpc>
                <a:spcPts val="2600"/>
              </a:lnSpc>
              <a:spcBef>
                <a:spcPct val="0"/>
              </a:spcBef>
              <a:buClr>
                <a:srgbClr val="FF0000"/>
              </a:buClr>
              <a:buFont typeface="Wingdings" pitchFamily="2" charset="2"/>
              <a:buChar char="u"/>
              <a:defRPr/>
            </a:pPr>
            <a:r>
              <a:rPr lang="zh-CN" altLang="en-US" sz="2000" dirty="0">
                <a:solidFill>
                  <a:srgbClr val="FF0000"/>
                </a:solidFill>
                <a:latin typeface="黑体" panose="02010609060101010101" pitchFamily="49" charset="-122"/>
                <a:ea typeface="黑体" panose="02010609060101010101" pitchFamily="49" charset="-122"/>
              </a:rPr>
              <a:t>不能被检测到的复制品：</a:t>
            </a:r>
            <a:r>
              <a:rPr lang="zh-CN" altLang="en-US" sz="2000" dirty="0">
                <a:solidFill>
                  <a:schemeClr val="bg2"/>
                </a:solidFill>
                <a:latin typeface="黑体" panose="02010609060101010101" pitchFamily="49" charset="-122"/>
                <a:ea typeface="黑体" panose="02010609060101010101" pitchFamily="49" charset="-122"/>
              </a:rPr>
              <a:t>这种情况可能出现，原因是原始信息已经被拦截，无法到达目的地，而只有重放的信息到达目的地。</a:t>
            </a:r>
          </a:p>
          <a:p>
            <a:pPr>
              <a:lnSpc>
                <a:spcPts val="2600"/>
              </a:lnSpc>
              <a:spcBef>
                <a:spcPct val="0"/>
              </a:spcBef>
              <a:buClr>
                <a:srgbClr val="FF0000"/>
              </a:buClr>
              <a:buFont typeface="Wingdings" pitchFamily="2" charset="2"/>
              <a:buChar char="u"/>
              <a:defRPr/>
            </a:pPr>
            <a:r>
              <a:rPr lang="zh-CN" altLang="en-US" sz="2000" dirty="0">
                <a:solidFill>
                  <a:srgbClr val="FF0000"/>
                </a:solidFill>
                <a:latin typeface="黑体" panose="02010609060101010101" pitchFamily="49" charset="-122"/>
                <a:ea typeface="黑体" panose="02010609060101010101" pitchFamily="49" charset="-122"/>
              </a:rPr>
              <a:t>反向重放，</a:t>
            </a:r>
            <a:r>
              <a:rPr lang="zh-CN" altLang="en-US" sz="2000" dirty="0">
                <a:solidFill>
                  <a:schemeClr val="bg2"/>
                </a:solidFill>
                <a:latin typeface="黑体" panose="02010609060101010101" pitchFamily="49" charset="-122"/>
                <a:ea typeface="黑体" panose="02010609060101010101" pitchFamily="49" charset="-122"/>
              </a:rPr>
              <a:t>不做修改。向消息发送者重放。当采用传统对称加密方式时，这种攻击是可能的。因为消息发送者不能简单地识别发送的消息和收到的消息在内容上的区别。</a:t>
            </a:r>
          </a:p>
          <a:p>
            <a:pPr lvl="1" eaLnBrk="1" hangingPunct="1">
              <a:lnSpc>
                <a:spcPts val="2600"/>
              </a:lnSpc>
              <a:buClr>
                <a:srgbClr val="6D4313"/>
              </a:buClr>
              <a:buFont typeface="Wingdings" pitchFamily="2" charset="2"/>
              <a:buChar char="n"/>
              <a:defRPr/>
            </a:pPr>
            <a:r>
              <a:rPr lang="zh-CN" altLang="en-US" sz="2000" dirty="0">
                <a:solidFill>
                  <a:schemeClr val="bg2"/>
                </a:solidFill>
                <a:ea typeface="宋体" panose="02010600030101010101" pitchFamily="2" charset="-122"/>
              </a:rPr>
              <a:t>针对同一验证者的重放：非重复值 </a:t>
            </a:r>
          </a:p>
          <a:p>
            <a:pPr lvl="1" eaLnBrk="1" hangingPunct="1">
              <a:lnSpc>
                <a:spcPts val="2600"/>
              </a:lnSpc>
              <a:buClr>
                <a:srgbClr val="6D4313"/>
              </a:buClr>
              <a:buFont typeface="Wingdings" pitchFamily="2" charset="2"/>
              <a:buChar char="n"/>
              <a:defRPr/>
            </a:pPr>
            <a:r>
              <a:rPr lang="zh-CN" altLang="en-US" sz="2000" dirty="0">
                <a:solidFill>
                  <a:schemeClr val="bg2"/>
                </a:solidFill>
                <a:ea typeface="宋体" panose="02010600030101010101" pitchFamily="2" charset="-122"/>
              </a:rPr>
              <a:t>针对不同验证者的重放：验证者的标识符</a:t>
            </a:r>
          </a:p>
          <a:p>
            <a:pPr eaLnBrk="1" hangingPunct="1">
              <a:buFont typeface="Wingdings" pitchFamily="2" charset="2"/>
              <a:buNone/>
              <a:defRPr/>
            </a:pPr>
            <a:endParaRPr lang="zh-CN" altLang="en-US" sz="2400" dirty="0">
              <a:solidFill>
                <a:schemeClr val="bg2"/>
              </a:solidFill>
              <a:ea typeface="宋体" panose="0201060003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9570" name="Rectangle 2">
            <a:extLst>
              <a:ext uri="{FF2B5EF4-FFF2-40B4-BE49-F238E27FC236}">
                <a16:creationId xmlns:a16="http://schemas.microsoft.com/office/drawing/2014/main" id="{C5B111B3-0EEE-454F-98E8-23DCC53B9B6A}"/>
              </a:ext>
            </a:extLst>
          </p:cNvPr>
          <p:cNvSpPr>
            <a:spLocks noGrp="1" noChangeArrowheads="1"/>
          </p:cNvSpPr>
          <p:nvPr>
            <p:ph type="title"/>
          </p:nvPr>
        </p:nvSpPr>
        <p:spPr bwMode="auto">
          <a:xfrm>
            <a:off x="457200" y="698500"/>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a:solidFill>
                  <a:srgbClr val="FF0000"/>
                </a:solidFill>
                <a:latin typeface="黑体" panose="02010609060101010101" pitchFamily="49" charset="-122"/>
                <a:ea typeface="黑体" panose="02010609060101010101" pitchFamily="49" charset="-122"/>
              </a:rPr>
              <a:t>（</a:t>
            </a:r>
            <a:r>
              <a:rPr kumimoji="1" lang="en-US" altLang="zh-CN" sz="3200">
                <a:solidFill>
                  <a:srgbClr val="FF0000"/>
                </a:solidFill>
                <a:latin typeface="黑体" panose="02010609060101010101" pitchFamily="49" charset="-122"/>
                <a:ea typeface="黑体" panose="02010609060101010101" pitchFamily="49" charset="-122"/>
              </a:rPr>
              <a:t>2</a:t>
            </a:r>
            <a:r>
              <a:rPr kumimoji="1" lang="zh-CN" altLang="en-US" sz="3200">
                <a:solidFill>
                  <a:srgbClr val="FF0000"/>
                </a:solidFill>
                <a:latin typeface="黑体" panose="02010609060101010101" pitchFamily="49" charset="-122"/>
                <a:ea typeface="黑体" panose="02010609060101010101" pitchFamily="49" charset="-122"/>
              </a:rPr>
              <a:t>）非重复值的使用</a:t>
            </a:r>
          </a:p>
        </p:txBody>
      </p:sp>
      <p:sp>
        <p:nvSpPr>
          <p:cNvPr id="1389571" name="Rectangle 3">
            <a:extLst>
              <a:ext uri="{FF2B5EF4-FFF2-40B4-BE49-F238E27FC236}">
                <a16:creationId xmlns:a16="http://schemas.microsoft.com/office/drawing/2014/main" id="{29566ACE-053B-5144-9255-80866423F84E}"/>
              </a:ext>
            </a:extLst>
          </p:cNvPr>
          <p:cNvSpPr>
            <a:spLocks noGrp="1" noChangeArrowheads="1"/>
          </p:cNvSpPr>
          <p:nvPr>
            <p:ph type="body" idx="1"/>
          </p:nvPr>
        </p:nvSpPr>
        <p:spPr bwMode="auto">
          <a:xfrm>
            <a:off x="538163" y="1417638"/>
            <a:ext cx="8610600" cy="4525962"/>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indent="0" eaLnBrk="1" hangingPunct="1">
              <a:buFont typeface="Wingdings" pitchFamily="2" charset="2"/>
              <a:buNone/>
              <a:defRPr/>
            </a:pPr>
            <a:r>
              <a:rPr lang="zh-CN" altLang="en-US" sz="2800">
                <a:solidFill>
                  <a:srgbClr val="0000FF"/>
                </a:solidFill>
                <a:latin typeface="黑体" panose="02010609060101010101" pitchFamily="49" charset="-122"/>
                <a:ea typeface="黑体" panose="02010609060101010101" pitchFamily="49" charset="-122"/>
              </a:rPr>
              <a:t>非重复值的使用：</a:t>
            </a:r>
            <a:endParaRPr lang="en-US" altLang="zh-CN" sz="2800">
              <a:solidFill>
                <a:srgbClr val="0000FF"/>
              </a:solidFill>
              <a:latin typeface="黑体" panose="02010609060101010101" pitchFamily="49" charset="-122"/>
              <a:ea typeface="黑体" panose="02010609060101010101" pitchFamily="49" charset="-122"/>
            </a:endParaRPr>
          </a:p>
          <a:p>
            <a:pPr marL="0" indent="0" eaLnBrk="1" hangingPunct="1">
              <a:buFont typeface="Wingdings" pitchFamily="2" charset="2"/>
              <a:buNone/>
              <a:defRPr/>
            </a:pPr>
            <a:br>
              <a:rPr lang="zh-CN" altLang="en-US" sz="2600">
                <a:solidFill>
                  <a:schemeClr val="bg2"/>
                </a:solidFill>
                <a:ea typeface="宋体" panose="02010600030101010101" pitchFamily="2" charset="-122"/>
              </a:rPr>
            </a:br>
            <a:r>
              <a:rPr lang="en-US" altLang="zh-CN" sz="2600">
                <a:solidFill>
                  <a:schemeClr val="bg2"/>
                </a:solidFill>
                <a:ea typeface="宋体" panose="02010600030101010101" pitchFamily="2" charset="-122"/>
              </a:rPr>
              <a:t>1</a:t>
            </a:r>
            <a:r>
              <a:rPr lang="zh-CN" altLang="en-US" sz="2600">
                <a:solidFill>
                  <a:schemeClr val="bg2"/>
                </a:solidFill>
                <a:ea typeface="宋体" panose="02010600030101010101" pitchFamily="2" charset="-122"/>
              </a:rPr>
              <a:t>）</a:t>
            </a:r>
            <a:r>
              <a:rPr lang="zh-CN" altLang="en-US" sz="2600">
                <a:solidFill>
                  <a:srgbClr val="FF0000"/>
                </a:solidFill>
                <a:latin typeface="黑体" panose="02010609060101010101" pitchFamily="49" charset="-122"/>
                <a:ea typeface="黑体" panose="02010609060101010101" pitchFamily="49" charset="-122"/>
              </a:rPr>
              <a:t>序列号：</a:t>
            </a:r>
            <a:r>
              <a:rPr lang="zh-CN" altLang="en-US" sz="2600">
                <a:solidFill>
                  <a:schemeClr val="bg2"/>
                </a:solidFill>
                <a:ea typeface="宋体" panose="02010600030101010101" pitchFamily="2" charset="-122"/>
              </a:rPr>
              <a:t>计数的策略：对付重放攻击的一种方法是在认证交换中使用一个序数来给每一个消息报文编号。仅当收到的消息序数顺序合法时才接受之。但这种方法的困难是要求双方必须保持上次消息的序号。</a:t>
            </a:r>
            <a:endParaRPr lang="en-US" altLang="zh-CN" sz="2600">
              <a:solidFill>
                <a:schemeClr val="bg2"/>
              </a:solidFill>
              <a:ea typeface="宋体" panose="02010600030101010101" pitchFamily="2" charset="-122"/>
            </a:endParaRPr>
          </a:p>
          <a:p>
            <a:pPr marL="0" indent="0" eaLnBrk="1" hangingPunct="1">
              <a:buFont typeface="Wingdings" pitchFamily="2" charset="2"/>
              <a:buNone/>
              <a:defRPr/>
            </a:pPr>
            <a:r>
              <a:rPr lang="en-US" altLang="zh-CN" sz="2600">
                <a:solidFill>
                  <a:schemeClr val="bg2"/>
                </a:solidFill>
                <a:ea typeface="宋体" panose="02010600030101010101" pitchFamily="2" charset="-122"/>
              </a:rPr>
              <a:t>2</a:t>
            </a:r>
            <a:r>
              <a:rPr lang="zh-CN" altLang="en-US" sz="2600">
                <a:solidFill>
                  <a:schemeClr val="bg2"/>
                </a:solidFill>
                <a:ea typeface="宋体" panose="02010600030101010101" pitchFamily="2" charset="-122"/>
              </a:rPr>
              <a:t>）</a:t>
            </a:r>
            <a:r>
              <a:rPr lang="zh-CN" altLang="en-US" sz="2600">
                <a:solidFill>
                  <a:srgbClr val="FF0000"/>
                </a:solidFill>
                <a:latin typeface="黑体" panose="02010609060101010101" pitchFamily="49" charset="-122"/>
                <a:ea typeface="黑体" panose="02010609060101010101" pitchFamily="49" charset="-122"/>
              </a:rPr>
              <a:t>时间戳： </a:t>
            </a:r>
            <a:r>
              <a:rPr lang="en-US" altLang="zh-CN" sz="2600">
                <a:solidFill>
                  <a:schemeClr val="bg2"/>
                </a:solidFill>
                <a:ea typeface="宋体" panose="02010600030101010101" pitchFamily="2" charset="-122"/>
              </a:rPr>
              <a:t>A</a:t>
            </a:r>
            <a:r>
              <a:rPr lang="zh-CN" altLang="en-US" sz="2600">
                <a:solidFill>
                  <a:schemeClr val="bg2"/>
                </a:solidFill>
                <a:ea typeface="宋体" panose="02010600030101010101" pitchFamily="2" charset="-122"/>
              </a:rPr>
              <a:t>接受一个新消息仅当该消息包含一个时间戳，该时间戳在</a:t>
            </a:r>
            <a:r>
              <a:rPr lang="en-US" altLang="zh-CN" sz="2600">
                <a:solidFill>
                  <a:schemeClr val="bg2"/>
                </a:solidFill>
                <a:ea typeface="宋体" panose="02010600030101010101" pitchFamily="2" charset="-122"/>
              </a:rPr>
              <a:t>A</a:t>
            </a:r>
            <a:r>
              <a:rPr lang="zh-CN" altLang="en-US" sz="2600">
                <a:solidFill>
                  <a:schemeClr val="bg2"/>
                </a:solidFill>
                <a:ea typeface="宋体" panose="02010600030101010101" pitchFamily="2" charset="-122"/>
              </a:rPr>
              <a:t>看来，是足够接近</a:t>
            </a:r>
            <a:r>
              <a:rPr lang="en-US" altLang="zh-CN" sz="2600">
                <a:solidFill>
                  <a:schemeClr val="bg2"/>
                </a:solidFill>
                <a:ea typeface="宋体" panose="02010600030101010101" pitchFamily="2" charset="-122"/>
              </a:rPr>
              <a:t>A</a:t>
            </a:r>
            <a:r>
              <a:rPr lang="zh-CN" altLang="en-US" sz="2600">
                <a:solidFill>
                  <a:schemeClr val="bg2"/>
                </a:solidFill>
                <a:ea typeface="宋体" panose="02010600030101010101" pitchFamily="2" charset="-122"/>
              </a:rPr>
              <a:t>所知道的当前时间；这种方法要求不同参与者之间的时钟需要同步</a:t>
            </a:r>
            <a:endParaRPr lang="en-US" altLang="zh-CN" sz="2600">
              <a:solidFill>
                <a:schemeClr val="bg2"/>
              </a:solidFill>
              <a:ea typeface="宋体" panose="02010600030101010101" pitchFamily="2" charset="-122"/>
            </a:endParaRPr>
          </a:p>
          <a:p>
            <a:pPr marL="0" indent="0" eaLnBrk="1" hangingPunct="1">
              <a:buFont typeface="Wingdings" pitchFamily="2" charset="2"/>
              <a:buNone/>
              <a:defRPr/>
            </a:pPr>
            <a:r>
              <a:rPr lang="en-US" altLang="zh-CN" sz="2600">
                <a:solidFill>
                  <a:schemeClr val="bg2"/>
                </a:solidFill>
                <a:ea typeface="宋体" panose="02010600030101010101" pitchFamily="2" charset="-122"/>
              </a:rPr>
              <a:t>3</a:t>
            </a:r>
            <a:r>
              <a:rPr lang="zh-CN" altLang="en-US" sz="2600">
                <a:solidFill>
                  <a:schemeClr val="bg2"/>
                </a:solidFill>
                <a:ea typeface="宋体" panose="02010600030101010101" pitchFamily="2" charset="-122"/>
              </a:rPr>
              <a:t>）验证者发送随机值（如质询）：不可预测、不重复</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0594" name="Rectangle 2">
            <a:extLst>
              <a:ext uri="{FF2B5EF4-FFF2-40B4-BE49-F238E27FC236}">
                <a16:creationId xmlns:a16="http://schemas.microsoft.com/office/drawing/2014/main" id="{B39DFCDF-DC33-5B4C-96AC-8416CA63A34C}"/>
              </a:ext>
            </a:extLst>
          </p:cNvPr>
          <p:cNvSpPr>
            <a:spLocks noGrp="1" noChangeArrowheads="1"/>
          </p:cNvSpPr>
          <p:nvPr>
            <p:ph type="title"/>
          </p:nvPr>
        </p:nvSpPr>
        <p:spPr bwMode="auto">
          <a:xfrm>
            <a:off x="457200" y="762000"/>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a:solidFill>
                  <a:srgbClr val="FF0000"/>
                </a:solidFill>
                <a:latin typeface="黑体" panose="02010609060101010101" pitchFamily="49" charset="-122"/>
                <a:ea typeface="黑体" panose="02010609060101010101" pitchFamily="49" charset="-122"/>
              </a:rPr>
              <a:t>时间戳</a:t>
            </a:r>
          </a:p>
        </p:txBody>
      </p:sp>
      <p:sp>
        <p:nvSpPr>
          <p:cNvPr id="1390595" name="Rectangle 3">
            <a:extLst>
              <a:ext uri="{FF2B5EF4-FFF2-40B4-BE49-F238E27FC236}">
                <a16:creationId xmlns:a16="http://schemas.microsoft.com/office/drawing/2014/main" id="{07692BC0-1C39-844D-90B4-C9CB9D130A6A}"/>
              </a:ext>
            </a:extLst>
          </p:cNvPr>
          <p:cNvSpPr>
            <a:spLocks noGrp="1" noChangeArrowheads="1"/>
          </p:cNvSpPr>
          <p:nvPr>
            <p:ph type="body" idx="1"/>
          </p:nvPr>
        </p:nvSpPr>
        <p:spPr bwMode="auto">
          <a:xfrm>
            <a:off x="457200" y="1600200"/>
            <a:ext cx="8229600" cy="37338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u"/>
              <a:defRPr/>
            </a:pPr>
            <a:r>
              <a:rPr lang="zh-CN" altLang="en-US" sz="2800">
                <a:solidFill>
                  <a:schemeClr val="bg2"/>
                </a:solidFill>
                <a:ea typeface="宋体" panose="02010600030101010101" pitchFamily="2" charset="-122"/>
              </a:rPr>
              <a:t>在网络环境中，特别是在分布式网络环境中，时钟同步并不容易做到</a:t>
            </a:r>
          </a:p>
          <a:p>
            <a:pPr eaLnBrk="1" hangingPunct="1">
              <a:buClr>
                <a:srgbClr val="FF0000"/>
              </a:buClr>
              <a:buFont typeface="Wingdings" pitchFamily="2" charset="2"/>
              <a:buChar char="u"/>
              <a:defRPr/>
            </a:pPr>
            <a:r>
              <a:rPr lang="zh-CN" altLang="en-US" sz="2800">
                <a:solidFill>
                  <a:schemeClr val="bg2"/>
                </a:solidFill>
                <a:ea typeface="宋体" panose="02010600030101010101" pitchFamily="2" charset="-122"/>
              </a:rPr>
              <a:t>一旦时钟同步失败</a:t>
            </a:r>
          </a:p>
          <a:p>
            <a:pPr lvl="1" eaLnBrk="1" hangingPunct="1">
              <a:buClr>
                <a:schemeClr val="bg2"/>
              </a:buClr>
              <a:defRPr/>
            </a:pPr>
            <a:r>
              <a:rPr lang="zh-CN" altLang="en-US">
                <a:solidFill>
                  <a:schemeClr val="bg2"/>
                </a:solidFill>
                <a:ea typeface="宋体" panose="02010600030101010101" pitchFamily="2" charset="-122"/>
              </a:rPr>
              <a:t>要么协议不能正常服务，影响可用性</a:t>
            </a:r>
            <a:r>
              <a:rPr lang="en-US" altLang="zh-CN">
                <a:solidFill>
                  <a:schemeClr val="bg2"/>
                </a:solidFill>
                <a:ea typeface="宋体" panose="02010600030101010101" pitchFamily="2" charset="-122"/>
              </a:rPr>
              <a:t>(availability)</a:t>
            </a:r>
            <a:r>
              <a:rPr lang="zh-CN" altLang="en-US">
                <a:solidFill>
                  <a:schemeClr val="bg2"/>
                </a:solidFill>
                <a:ea typeface="宋体" panose="02010600030101010101" pitchFamily="2" charset="-122"/>
              </a:rPr>
              <a:t>，造成拒绝服务</a:t>
            </a:r>
            <a:r>
              <a:rPr lang="en-US" altLang="zh-CN">
                <a:solidFill>
                  <a:schemeClr val="bg2"/>
                </a:solidFill>
                <a:ea typeface="宋体" panose="02010600030101010101" pitchFamily="2" charset="-122"/>
              </a:rPr>
              <a:t>(DOS)</a:t>
            </a:r>
          </a:p>
          <a:p>
            <a:pPr lvl="1" eaLnBrk="1" hangingPunct="1">
              <a:buClr>
                <a:schemeClr val="bg2"/>
              </a:buClr>
              <a:defRPr/>
            </a:pPr>
            <a:r>
              <a:rPr lang="zh-CN" altLang="en-US">
                <a:solidFill>
                  <a:schemeClr val="bg2"/>
                </a:solidFill>
                <a:ea typeface="宋体" panose="02010600030101010101" pitchFamily="2" charset="-122"/>
              </a:rPr>
              <a:t>要么放大时钟窗口，造成攻击的机会</a:t>
            </a:r>
          </a:p>
          <a:p>
            <a:pPr eaLnBrk="1" hangingPunct="1">
              <a:buClr>
                <a:srgbClr val="FF0000"/>
              </a:buClr>
              <a:buFont typeface="Wingdings" pitchFamily="2" charset="2"/>
              <a:buChar char="u"/>
              <a:defRPr/>
            </a:pPr>
            <a:r>
              <a:rPr lang="zh-CN" altLang="en-US" sz="2800">
                <a:solidFill>
                  <a:schemeClr val="bg2"/>
                </a:solidFill>
                <a:ea typeface="宋体" panose="02010600030101010101" pitchFamily="2" charset="-122"/>
              </a:rPr>
              <a:t>时间窗大小的选择应根据消息的时效性来确定</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1618" name="Rectangle 2">
            <a:extLst>
              <a:ext uri="{FF2B5EF4-FFF2-40B4-BE49-F238E27FC236}">
                <a16:creationId xmlns:a16="http://schemas.microsoft.com/office/drawing/2014/main" id="{5F203398-A485-B549-9442-408B89162E44}"/>
              </a:ext>
            </a:extLst>
          </p:cNvPr>
          <p:cNvSpPr>
            <a:spLocks noGrp="1" noChangeArrowheads="1"/>
          </p:cNvSpPr>
          <p:nvPr>
            <p:ph type="title"/>
          </p:nvPr>
        </p:nvSpPr>
        <p:spPr bwMode="auto">
          <a:xfrm>
            <a:off x="457200" y="685800"/>
            <a:ext cx="83820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a:solidFill>
                  <a:srgbClr val="FF0000"/>
                </a:solidFill>
                <a:latin typeface="黑体" panose="02010609060101010101" pitchFamily="49" charset="-122"/>
                <a:ea typeface="黑体" panose="02010609060101010101" pitchFamily="49" charset="-122"/>
              </a:rPr>
              <a:t>质询</a:t>
            </a:r>
            <a:r>
              <a:rPr kumimoji="1" lang="en-US" altLang="zh-CN" sz="3200">
                <a:solidFill>
                  <a:srgbClr val="FF0000"/>
                </a:solidFill>
                <a:latin typeface="黑体" panose="02010609060101010101" pitchFamily="49" charset="-122"/>
                <a:ea typeface="黑体" panose="02010609060101010101" pitchFamily="49" charset="-122"/>
              </a:rPr>
              <a:t>/</a:t>
            </a:r>
            <a:r>
              <a:rPr kumimoji="1" lang="zh-CN" altLang="en-US" sz="3200">
                <a:solidFill>
                  <a:srgbClr val="FF0000"/>
                </a:solidFill>
                <a:latin typeface="黑体" panose="02010609060101010101" pitchFamily="49" charset="-122"/>
                <a:ea typeface="黑体" panose="02010609060101010101" pitchFamily="49" charset="-122"/>
              </a:rPr>
              <a:t>应答方式</a:t>
            </a:r>
            <a:r>
              <a:rPr lang="en-US" altLang="zh-CN" sz="3200">
                <a:solidFill>
                  <a:srgbClr val="FF0000"/>
                </a:solidFill>
                <a:latin typeface="Times New Roman" panose="02020603050405020304" pitchFamily="18" charset="0"/>
                <a:ea typeface="隶书" pitchFamily="49" charset="-122"/>
                <a:cs typeface="Times New Roman" panose="02020603050405020304" pitchFamily="18" charset="0"/>
              </a:rPr>
              <a:t>(Challenge/Response)</a:t>
            </a:r>
          </a:p>
        </p:txBody>
      </p:sp>
      <p:sp>
        <p:nvSpPr>
          <p:cNvPr id="1391619" name="Rectangle 3">
            <a:extLst>
              <a:ext uri="{FF2B5EF4-FFF2-40B4-BE49-F238E27FC236}">
                <a16:creationId xmlns:a16="http://schemas.microsoft.com/office/drawing/2014/main" id="{BD0FEF5B-71FA-9548-BBEC-AEAB5BD4F09D}"/>
              </a:ext>
            </a:extLst>
          </p:cNvPr>
          <p:cNvSpPr>
            <a:spLocks noGrp="1" noChangeArrowheads="1"/>
          </p:cNvSpPr>
          <p:nvPr>
            <p:ph type="body" idx="1"/>
          </p:nvPr>
        </p:nvSpPr>
        <p:spPr bwMode="auto">
          <a:xfrm>
            <a:off x="492125" y="1676400"/>
            <a:ext cx="8237538" cy="398938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u"/>
              <a:defRPr/>
            </a:pPr>
            <a:r>
              <a:rPr lang="en-US" altLang="zh-CN" sz="2800">
                <a:solidFill>
                  <a:schemeClr val="bg2"/>
                </a:solidFill>
                <a:ea typeface="宋体" panose="02010600030101010101" pitchFamily="2" charset="-122"/>
              </a:rPr>
              <a:t>A</a:t>
            </a:r>
            <a:r>
              <a:rPr lang="zh-CN" altLang="en-US" sz="2800">
                <a:solidFill>
                  <a:schemeClr val="bg2"/>
                </a:solidFill>
                <a:ea typeface="宋体" panose="02010600030101010101" pitchFamily="2" charset="-122"/>
              </a:rPr>
              <a:t>期望从</a:t>
            </a:r>
            <a:r>
              <a:rPr lang="en-US" altLang="zh-CN" sz="2800">
                <a:solidFill>
                  <a:schemeClr val="bg2"/>
                </a:solidFill>
                <a:ea typeface="宋体" panose="02010600030101010101" pitchFamily="2" charset="-122"/>
              </a:rPr>
              <a:t>B</a:t>
            </a:r>
            <a:r>
              <a:rPr lang="zh-CN" altLang="en-US" sz="2800">
                <a:solidFill>
                  <a:schemeClr val="bg2"/>
                </a:solidFill>
                <a:ea typeface="宋体" panose="02010600030101010101" pitchFamily="2" charset="-122"/>
              </a:rPr>
              <a:t>获得一个消息</a:t>
            </a:r>
          </a:p>
          <a:p>
            <a:pPr lvl="1" eaLnBrk="1" hangingPunct="1">
              <a:buClr>
                <a:schemeClr val="bg2"/>
              </a:buClr>
              <a:defRPr/>
            </a:pPr>
            <a:r>
              <a:rPr lang="zh-CN" altLang="en-US" sz="2400">
                <a:solidFill>
                  <a:schemeClr val="bg2"/>
                </a:solidFill>
                <a:ea typeface="宋体" panose="02010600030101010101" pitchFamily="2" charset="-122"/>
              </a:rPr>
              <a:t>首先发给</a:t>
            </a:r>
            <a:r>
              <a:rPr lang="en-US" altLang="zh-CN" sz="2400">
                <a:solidFill>
                  <a:schemeClr val="bg2"/>
                </a:solidFill>
                <a:ea typeface="宋体" panose="02010600030101010101" pitchFamily="2" charset="-122"/>
              </a:rPr>
              <a:t>B</a:t>
            </a:r>
            <a:r>
              <a:rPr lang="zh-CN" altLang="en-US" sz="2400">
                <a:solidFill>
                  <a:schemeClr val="bg2"/>
                </a:solidFill>
                <a:ea typeface="宋体" panose="02010600030101010101" pitchFamily="2" charset="-122"/>
              </a:rPr>
              <a:t>一个随机值</a:t>
            </a:r>
            <a:r>
              <a:rPr lang="en-US" altLang="zh-CN" sz="2400">
                <a:solidFill>
                  <a:schemeClr val="bg2"/>
                </a:solidFill>
                <a:ea typeface="宋体" panose="02010600030101010101" pitchFamily="2" charset="-122"/>
              </a:rPr>
              <a:t>(challenge)</a:t>
            </a:r>
          </a:p>
          <a:p>
            <a:pPr lvl="1" eaLnBrk="1" hangingPunct="1">
              <a:buClr>
                <a:schemeClr val="bg2"/>
              </a:buClr>
              <a:defRPr/>
            </a:pPr>
            <a:r>
              <a:rPr lang="en-US" altLang="zh-CN" sz="2400">
                <a:solidFill>
                  <a:schemeClr val="bg2"/>
                </a:solidFill>
                <a:ea typeface="宋体" panose="02010600030101010101" pitchFamily="2" charset="-122"/>
              </a:rPr>
              <a:t>B</a:t>
            </a:r>
            <a:r>
              <a:rPr lang="zh-CN" altLang="en-US" sz="2400">
                <a:solidFill>
                  <a:schemeClr val="bg2"/>
                </a:solidFill>
                <a:ea typeface="宋体" panose="02010600030101010101" pitchFamily="2" charset="-122"/>
              </a:rPr>
              <a:t>收到这个值之后，对它作某种变换，并送回去</a:t>
            </a:r>
          </a:p>
          <a:p>
            <a:pPr lvl="1" eaLnBrk="1" hangingPunct="1">
              <a:buClr>
                <a:schemeClr val="bg2"/>
              </a:buClr>
              <a:defRPr/>
            </a:pPr>
            <a:r>
              <a:rPr lang="en-US" altLang="zh-CN" sz="2400">
                <a:solidFill>
                  <a:schemeClr val="bg2"/>
                </a:solidFill>
                <a:ea typeface="宋体" panose="02010600030101010101" pitchFamily="2" charset="-122"/>
              </a:rPr>
              <a:t>A</a:t>
            </a:r>
            <a:r>
              <a:rPr lang="zh-CN" altLang="en-US" sz="2400">
                <a:solidFill>
                  <a:schemeClr val="bg2"/>
                </a:solidFill>
                <a:ea typeface="宋体" panose="02010600030101010101" pitchFamily="2" charset="-122"/>
              </a:rPr>
              <a:t>收到</a:t>
            </a:r>
            <a:r>
              <a:rPr lang="en-US" altLang="zh-CN" sz="2400">
                <a:solidFill>
                  <a:schemeClr val="bg2"/>
                </a:solidFill>
                <a:ea typeface="宋体" panose="02010600030101010101" pitchFamily="2" charset="-122"/>
              </a:rPr>
              <a:t>B</a:t>
            </a:r>
            <a:r>
              <a:rPr lang="zh-CN" altLang="en-US" sz="2400">
                <a:solidFill>
                  <a:schemeClr val="bg2"/>
                </a:solidFill>
                <a:ea typeface="宋体" panose="02010600030101010101" pitchFamily="2" charset="-122"/>
              </a:rPr>
              <a:t>的</a:t>
            </a:r>
            <a:r>
              <a:rPr lang="en-US" altLang="zh-CN" sz="2400">
                <a:solidFill>
                  <a:schemeClr val="bg2"/>
                </a:solidFill>
                <a:ea typeface="宋体" panose="02010600030101010101" pitchFamily="2" charset="-122"/>
              </a:rPr>
              <a:t>response</a:t>
            </a:r>
            <a:r>
              <a:rPr lang="zh-CN" altLang="en-US" sz="2400">
                <a:solidFill>
                  <a:schemeClr val="bg2"/>
                </a:solidFill>
                <a:ea typeface="宋体" panose="02010600030101010101" pitchFamily="2" charset="-122"/>
              </a:rPr>
              <a:t>，希望包含这个随机值</a:t>
            </a:r>
          </a:p>
          <a:p>
            <a:pPr eaLnBrk="1" hangingPunct="1">
              <a:buClr>
                <a:srgbClr val="FF0000"/>
              </a:buClr>
              <a:buFont typeface="Wingdings" pitchFamily="2" charset="2"/>
              <a:buChar char="u"/>
              <a:defRPr/>
            </a:pPr>
            <a:r>
              <a:rPr lang="zh-CN" altLang="en-US" sz="2800">
                <a:solidFill>
                  <a:schemeClr val="bg2"/>
                </a:solidFill>
                <a:ea typeface="宋体" panose="02010600030101010101" pitchFamily="2" charset="-122"/>
              </a:rPr>
              <a:t>询问</a:t>
            </a:r>
            <a:r>
              <a:rPr lang="en-US" altLang="zh-CN" sz="2800">
                <a:solidFill>
                  <a:schemeClr val="bg2"/>
                </a:solidFill>
                <a:ea typeface="宋体" panose="02010600030101010101" pitchFamily="2" charset="-122"/>
              </a:rPr>
              <a:t>/</a:t>
            </a:r>
            <a:r>
              <a:rPr lang="zh-CN" altLang="en-US" sz="2800">
                <a:solidFill>
                  <a:schemeClr val="bg2"/>
                </a:solidFill>
                <a:ea typeface="宋体" panose="02010600030101010101" pitchFamily="2" charset="-122"/>
              </a:rPr>
              <a:t>应答方法不适应非连接性的应用，因为它要求在传输开始之前先有握手的额外开销，这就抵消了无连接通信的主要特点。</a:t>
            </a:r>
          </a:p>
          <a:p>
            <a:pPr eaLnBrk="1" hangingPunct="1">
              <a:defRPr/>
            </a:pPr>
            <a:endParaRPr lang="zh-CN" altLang="en-US" sz="2800">
              <a:solidFill>
                <a:schemeClr val="bg2"/>
              </a:solidFill>
              <a:ea typeface="宋体" panose="0201060003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4121330-1A8D-9645-B2DD-562006231EA5}"/>
              </a:ext>
            </a:extLst>
          </p:cNvPr>
          <p:cNvSpPr txBox="1">
            <a:spLocks noChangeArrowheads="1"/>
          </p:cNvSpPr>
          <p:nvPr/>
        </p:nvSpPr>
        <p:spPr>
          <a:xfrm>
            <a:off x="533400" y="914400"/>
            <a:ext cx="8001000" cy="1189038"/>
          </a:xfrm>
          <a:prstGeom prst="rect">
            <a:avLst/>
          </a:prstGeom>
        </p:spPr>
        <p:txBody>
          <a:bodyPr/>
          <a:lstStyle>
            <a:lvl1pPr marL="571500" indent="-5715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Clr>
                <a:schemeClr val="bg2"/>
              </a:buClr>
              <a:buSzPct val="75000"/>
              <a:buFont typeface="Wingdings" pitchFamily="2" charset="2"/>
              <a:buChar char="u"/>
              <a:defRPr/>
            </a:pPr>
            <a:r>
              <a:rPr kumimoji="0" lang="en-US" altLang="zh-CN" sz="2800">
                <a:effectLst>
                  <a:outerShdw blurRad="38100" dist="38100" dir="2700000" algn="tl">
                    <a:srgbClr val="C0C0C0"/>
                  </a:outerShdw>
                </a:effectLst>
                <a:latin typeface="Times New Roman" panose="02020603050405020304" pitchFamily="18" charset="0"/>
                <a:cs typeface="Times New Roman" panose="02020603050405020304" pitchFamily="18" charset="0"/>
              </a:rPr>
              <a:t>Challenge and Response Handshake Protocol</a:t>
            </a:r>
          </a:p>
          <a:p>
            <a:pPr eaLnBrk="1" hangingPunct="1">
              <a:lnSpc>
                <a:spcPct val="90000"/>
              </a:lnSpc>
              <a:spcBef>
                <a:spcPct val="30000"/>
              </a:spcBef>
              <a:buClr>
                <a:schemeClr val="bg2"/>
              </a:buClr>
              <a:buSzPct val="75000"/>
              <a:buFont typeface="Wingdings" pitchFamily="2" charset="2"/>
              <a:buChar char="u"/>
              <a:defRPr/>
            </a:pPr>
            <a:r>
              <a:rPr kumimoji="0" lang="en-US" altLang="zh-CN" sz="280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Client</a:t>
            </a:r>
            <a:r>
              <a:rPr kumimoji="0" lang="zh-CN" altLang="en-US" sz="280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和</a:t>
            </a:r>
            <a:r>
              <a:rPr kumimoji="0" lang="en-US" altLang="zh-CN" sz="280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Server</a:t>
            </a:r>
            <a:r>
              <a:rPr kumimoji="0" lang="zh-CN" altLang="en-US" sz="280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共享一个密钥</a:t>
            </a:r>
          </a:p>
          <a:p>
            <a:pPr eaLnBrk="1" hangingPunct="1">
              <a:lnSpc>
                <a:spcPct val="90000"/>
              </a:lnSpc>
              <a:spcBef>
                <a:spcPct val="30000"/>
              </a:spcBef>
              <a:buClr>
                <a:schemeClr val="tx2"/>
              </a:buClr>
              <a:buSzPct val="75000"/>
              <a:buFont typeface="Wingdings" pitchFamily="2" charset="2"/>
              <a:buChar char="l"/>
              <a:defRPr/>
            </a:pPr>
            <a:endParaRPr kumimoji="0" lang="en-US" altLang="zh-CN" sz="280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grpSp>
        <p:nvGrpSpPr>
          <p:cNvPr id="2" name="Group 4">
            <a:extLst>
              <a:ext uri="{FF2B5EF4-FFF2-40B4-BE49-F238E27FC236}">
                <a16:creationId xmlns:a16="http://schemas.microsoft.com/office/drawing/2014/main" id="{89EF10CB-D0B6-1148-8936-93FDA8148DE2}"/>
              </a:ext>
            </a:extLst>
          </p:cNvPr>
          <p:cNvGrpSpPr>
            <a:grpSpLocks/>
          </p:cNvGrpSpPr>
          <p:nvPr/>
        </p:nvGrpSpPr>
        <p:grpSpPr bwMode="auto">
          <a:xfrm>
            <a:off x="2124075" y="2730500"/>
            <a:ext cx="4103688" cy="360363"/>
            <a:chOff x="1338" y="2676"/>
            <a:chExt cx="2585" cy="227"/>
          </a:xfrm>
        </p:grpSpPr>
        <p:sp>
          <p:nvSpPr>
            <p:cNvPr id="95252" name="Line 5">
              <a:extLst>
                <a:ext uri="{FF2B5EF4-FFF2-40B4-BE49-F238E27FC236}">
                  <a16:creationId xmlns:a16="http://schemas.microsoft.com/office/drawing/2014/main" id="{CB248167-CD6F-0F4D-B2A2-06AF03843696}"/>
                </a:ext>
              </a:extLst>
            </p:cNvPr>
            <p:cNvSpPr>
              <a:spLocks noChangeShapeType="1"/>
            </p:cNvSpPr>
            <p:nvPr/>
          </p:nvSpPr>
          <p:spPr bwMode="auto">
            <a:xfrm>
              <a:off x="1338" y="2903"/>
              <a:ext cx="2585" cy="0"/>
            </a:xfrm>
            <a:prstGeom prst="line">
              <a:avLst/>
            </a:prstGeom>
            <a:noFill/>
            <a:ln w="12700">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253" name="Rectangle 6">
              <a:extLst>
                <a:ext uri="{FF2B5EF4-FFF2-40B4-BE49-F238E27FC236}">
                  <a16:creationId xmlns:a16="http://schemas.microsoft.com/office/drawing/2014/main" id="{E939A658-2E06-DF48-9ED3-3FA338E531F7}"/>
                </a:ext>
              </a:extLst>
            </p:cNvPr>
            <p:cNvSpPr>
              <a:spLocks noChangeArrowheads="1"/>
            </p:cNvSpPr>
            <p:nvPr/>
          </p:nvSpPr>
          <p:spPr bwMode="auto">
            <a:xfrm>
              <a:off x="2154" y="2676"/>
              <a:ext cx="907" cy="182"/>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sz="2000">
                  <a:solidFill>
                    <a:schemeClr val="bg2"/>
                  </a:solidFill>
                  <a:latin typeface="Times New Roman" panose="02020603050405020304" pitchFamily="18" charset="0"/>
                  <a:cs typeface="Times New Roman" panose="02020603050405020304" pitchFamily="18" charset="0"/>
                </a:rPr>
                <a:t>Login ,IDc</a:t>
              </a:r>
            </a:p>
          </p:txBody>
        </p:sp>
      </p:grpSp>
      <p:grpSp>
        <p:nvGrpSpPr>
          <p:cNvPr id="3" name="Group 7">
            <a:extLst>
              <a:ext uri="{FF2B5EF4-FFF2-40B4-BE49-F238E27FC236}">
                <a16:creationId xmlns:a16="http://schemas.microsoft.com/office/drawing/2014/main" id="{C8D6BD3C-3959-644B-8962-6066D1236BA6}"/>
              </a:ext>
            </a:extLst>
          </p:cNvPr>
          <p:cNvGrpSpPr>
            <a:grpSpLocks/>
          </p:cNvGrpSpPr>
          <p:nvPr/>
        </p:nvGrpSpPr>
        <p:grpSpPr bwMode="auto">
          <a:xfrm>
            <a:off x="2051050" y="3305175"/>
            <a:ext cx="4176713" cy="361950"/>
            <a:chOff x="1292" y="3038"/>
            <a:chExt cx="2631" cy="228"/>
          </a:xfrm>
        </p:grpSpPr>
        <p:sp>
          <p:nvSpPr>
            <p:cNvPr id="95250" name="Line 8">
              <a:extLst>
                <a:ext uri="{FF2B5EF4-FFF2-40B4-BE49-F238E27FC236}">
                  <a16:creationId xmlns:a16="http://schemas.microsoft.com/office/drawing/2014/main" id="{ED40522F-8460-7348-BDA8-E6F4B3BFD234}"/>
                </a:ext>
              </a:extLst>
            </p:cNvPr>
            <p:cNvSpPr>
              <a:spLocks noChangeShapeType="1"/>
            </p:cNvSpPr>
            <p:nvPr/>
          </p:nvSpPr>
          <p:spPr bwMode="auto">
            <a:xfrm flipH="1">
              <a:off x="1292" y="3266"/>
              <a:ext cx="2631" cy="0"/>
            </a:xfrm>
            <a:prstGeom prst="line">
              <a:avLst/>
            </a:prstGeom>
            <a:noFill/>
            <a:ln w="12700">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251" name="Rectangle 9">
              <a:extLst>
                <a:ext uri="{FF2B5EF4-FFF2-40B4-BE49-F238E27FC236}">
                  <a16:creationId xmlns:a16="http://schemas.microsoft.com/office/drawing/2014/main" id="{913D885F-6481-9E45-89D5-325DF8DB40AA}"/>
                </a:ext>
              </a:extLst>
            </p:cNvPr>
            <p:cNvSpPr>
              <a:spLocks noChangeArrowheads="1"/>
            </p:cNvSpPr>
            <p:nvPr/>
          </p:nvSpPr>
          <p:spPr bwMode="auto">
            <a:xfrm>
              <a:off x="2154" y="3038"/>
              <a:ext cx="907" cy="182"/>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sz="2000">
                  <a:solidFill>
                    <a:schemeClr val="bg2"/>
                  </a:solidFill>
                  <a:latin typeface="Times New Roman" panose="02020603050405020304" pitchFamily="18" charset="0"/>
                  <a:cs typeface="Times New Roman" panose="02020603050405020304" pitchFamily="18" charset="0"/>
                </a:rPr>
                <a:t>IDc, R</a:t>
              </a:r>
            </a:p>
          </p:txBody>
        </p:sp>
      </p:grpSp>
      <p:grpSp>
        <p:nvGrpSpPr>
          <p:cNvPr id="5" name="Group 10">
            <a:extLst>
              <a:ext uri="{FF2B5EF4-FFF2-40B4-BE49-F238E27FC236}">
                <a16:creationId xmlns:a16="http://schemas.microsoft.com/office/drawing/2014/main" id="{40A13C07-6690-5341-8A49-5854E0C5C96F}"/>
              </a:ext>
            </a:extLst>
          </p:cNvPr>
          <p:cNvGrpSpPr>
            <a:grpSpLocks/>
          </p:cNvGrpSpPr>
          <p:nvPr/>
        </p:nvGrpSpPr>
        <p:grpSpPr bwMode="auto">
          <a:xfrm>
            <a:off x="2051050" y="4098925"/>
            <a:ext cx="4176713" cy="360363"/>
            <a:chOff x="1292" y="3538"/>
            <a:chExt cx="2631" cy="227"/>
          </a:xfrm>
        </p:grpSpPr>
        <p:sp>
          <p:nvSpPr>
            <p:cNvPr id="95248" name="Rectangle 11">
              <a:extLst>
                <a:ext uri="{FF2B5EF4-FFF2-40B4-BE49-F238E27FC236}">
                  <a16:creationId xmlns:a16="http://schemas.microsoft.com/office/drawing/2014/main" id="{7944C212-1D2A-0B4F-82AA-82EE2AE5B733}"/>
                </a:ext>
              </a:extLst>
            </p:cNvPr>
            <p:cNvSpPr>
              <a:spLocks noChangeArrowheads="1"/>
            </p:cNvSpPr>
            <p:nvPr/>
          </p:nvSpPr>
          <p:spPr bwMode="auto">
            <a:xfrm>
              <a:off x="2154" y="3538"/>
              <a:ext cx="907" cy="182"/>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sz="2000">
                  <a:solidFill>
                    <a:schemeClr val="bg2"/>
                  </a:solidFill>
                  <a:latin typeface="Times New Roman" panose="02020603050405020304" pitchFamily="18" charset="0"/>
                  <a:cs typeface="Times New Roman" panose="02020603050405020304" pitchFamily="18" charset="0"/>
                </a:rPr>
                <a:t>IDc, MAC</a:t>
              </a:r>
            </a:p>
          </p:txBody>
        </p:sp>
        <p:sp>
          <p:nvSpPr>
            <p:cNvPr id="95249" name="Line 12">
              <a:extLst>
                <a:ext uri="{FF2B5EF4-FFF2-40B4-BE49-F238E27FC236}">
                  <a16:creationId xmlns:a16="http://schemas.microsoft.com/office/drawing/2014/main" id="{89EBDB95-C0A6-6244-A504-2FE3F180123B}"/>
                </a:ext>
              </a:extLst>
            </p:cNvPr>
            <p:cNvSpPr>
              <a:spLocks noChangeShapeType="1"/>
            </p:cNvSpPr>
            <p:nvPr/>
          </p:nvSpPr>
          <p:spPr bwMode="auto">
            <a:xfrm>
              <a:off x="1292" y="3765"/>
              <a:ext cx="2631" cy="0"/>
            </a:xfrm>
            <a:prstGeom prst="line">
              <a:avLst/>
            </a:prstGeom>
            <a:noFill/>
            <a:ln w="12700">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5237" name="Rectangle 13">
            <a:extLst>
              <a:ext uri="{FF2B5EF4-FFF2-40B4-BE49-F238E27FC236}">
                <a16:creationId xmlns:a16="http://schemas.microsoft.com/office/drawing/2014/main" id="{E66DA215-B04D-F749-B099-B13466132AB4}"/>
              </a:ext>
            </a:extLst>
          </p:cNvPr>
          <p:cNvSpPr>
            <a:spLocks noChangeArrowheads="1"/>
          </p:cNvSpPr>
          <p:nvPr/>
        </p:nvSpPr>
        <p:spPr bwMode="auto">
          <a:xfrm>
            <a:off x="1763713" y="2514600"/>
            <a:ext cx="647700" cy="287338"/>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sz="2800">
                <a:solidFill>
                  <a:schemeClr val="bg2"/>
                </a:solidFill>
                <a:latin typeface="Times New Roman" panose="02020603050405020304" pitchFamily="18" charset="0"/>
                <a:cs typeface="Times New Roman" panose="02020603050405020304" pitchFamily="18" charset="0"/>
              </a:rPr>
              <a:t>c</a:t>
            </a:r>
          </a:p>
        </p:txBody>
      </p:sp>
      <p:sp>
        <p:nvSpPr>
          <p:cNvPr id="95238" name="Line 14">
            <a:extLst>
              <a:ext uri="{FF2B5EF4-FFF2-40B4-BE49-F238E27FC236}">
                <a16:creationId xmlns:a16="http://schemas.microsoft.com/office/drawing/2014/main" id="{93B99347-874D-B643-AD84-05D786E8F5BA}"/>
              </a:ext>
            </a:extLst>
          </p:cNvPr>
          <p:cNvSpPr>
            <a:spLocks noChangeShapeType="1"/>
          </p:cNvSpPr>
          <p:nvPr/>
        </p:nvSpPr>
        <p:spPr bwMode="auto">
          <a:xfrm>
            <a:off x="2051050" y="2803525"/>
            <a:ext cx="0" cy="2303463"/>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6" name="Text Box 15">
            <a:extLst>
              <a:ext uri="{FF2B5EF4-FFF2-40B4-BE49-F238E27FC236}">
                <a16:creationId xmlns:a16="http://schemas.microsoft.com/office/drawing/2014/main" id="{9597C850-FAD4-9B4F-A472-8C0BA8C26B50}"/>
              </a:ext>
            </a:extLst>
          </p:cNvPr>
          <p:cNvSpPr txBox="1">
            <a:spLocks noChangeArrowheads="1"/>
          </p:cNvSpPr>
          <p:nvPr/>
        </p:nvSpPr>
        <p:spPr bwMode="auto">
          <a:xfrm>
            <a:off x="304800" y="3954463"/>
            <a:ext cx="1812925" cy="369887"/>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en-US" altLang="zh-CN" sz="2000">
                <a:solidFill>
                  <a:schemeClr val="bg2"/>
                </a:solidFill>
                <a:latin typeface="Times New Roman" panose="02020603050405020304" pitchFamily="18" charset="0"/>
                <a:cs typeface="Times New Roman" panose="02020603050405020304" pitchFamily="18" charset="0"/>
              </a:rPr>
              <a:t>MAC=H(R,K)</a:t>
            </a:r>
          </a:p>
        </p:txBody>
      </p:sp>
      <p:sp>
        <p:nvSpPr>
          <p:cNvPr id="95240" name="Rectangle 16">
            <a:extLst>
              <a:ext uri="{FF2B5EF4-FFF2-40B4-BE49-F238E27FC236}">
                <a16:creationId xmlns:a16="http://schemas.microsoft.com/office/drawing/2014/main" id="{9A123D76-17F2-F946-9BE7-DFE2B05CB410}"/>
              </a:ext>
            </a:extLst>
          </p:cNvPr>
          <p:cNvSpPr>
            <a:spLocks noChangeArrowheads="1"/>
          </p:cNvSpPr>
          <p:nvPr/>
        </p:nvSpPr>
        <p:spPr bwMode="auto">
          <a:xfrm>
            <a:off x="5940425" y="2514600"/>
            <a:ext cx="647700" cy="287338"/>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pPr>
            <a:r>
              <a:rPr lang="en-US" altLang="zh-CN" sz="2800">
                <a:solidFill>
                  <a:schemeClr val="bg2"/>
                </a:solidFill>
                <a:latin typeface="Times New Roman" panose="02020603050405020304" pitchFamily="18" charset="0"/>
                <a:cs typeface="Times New Roman" panose="02020603050405020304" pitchFamily="18" charset="0"/>
              </a:rPr>
              <a:t>s</a:t>
            </a:r>
          </a:p>
        </p:txBody>
      </p:sp>
      <p:sp>
        <p:nvSpPr>
          <p:cNvPr id="95241" name="Line 17">
            <a:extLst>
              <a:ext uri="{FF2B5EF4-FFF2-40B4-BE49-F238E27FC236}">
                <a16:creationId xmlns:a16="http://schemas.microsoft.com/office/drawing/2014/main" id="{609E5784-C573-7C4C-8EA7-3DE47F7D6081}"/>
              </a:ext>
            </a:extLst>
          </p:cNvPr>
          <p:cNvSpPr>
            <a:spLocks noChangeShapeType="1"/>
          </p:cNvSpPr>
          <p:nvPr/>
        </p:nvSpPr>
        <p:spPr bwMode="auto">
          <a:xfrm>
            <a:off x="6227763" y="2803525"/>
            <a:ext cx="0" cy="2492375"/>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9" name="Text Box 18">
            <a:extLst>
              <a:ext uri="{FF2B5EF4-FFF2-40B4-BE49-F238E27FC236}">
                <a16:creationId xmlns:a16="http://schemas.microsoft.com/office/drawing/2014/main" id="{18E175D8-D0ED-8641-A693-7EF6417FBE9A}"/>
              </a:ext>
            </a:extLst>
          </p:cNvPr>
          <p:cNvSpPr txBox="1">
            <a:spLocks noChangeArrowheads="1"/>
          </p:cNvSpPr>
          <p:nvPr/>
        </p:nvSpPr>
        <p:spPr bwMode="auto">
          <a:xfrm>
            <a:off x="6372225" y="4383088"/>
            <a:ext cx="2238375" cy="369887"/>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en-US" altLang="zh-CN" sz="2000">
                <a:solidFill>
                  <a:schemeClr val="bg2"/>
                </a:solidFill>
                <a:latin typeface="Times New Roman" panose="02020603050405020304" pitchFamily="18" charset="0"/>
                <a:cs typeface="Times New Roman" panose="02020603050405020304" pitchFamily="18" charset="0"/>
              </a:rPr>
              <a:t>MAC’=H(R,K)</a:t>
            </a:r>
          </a:p>
        </p:txBody>
      </p:sp>
      <p:sp>
        <p:nvSpPr>
          <p:cNvPr id="20" name="Text Box 19">
            <a:extLst>
              <a:ext uri="{FF2B5EF4-FFF2-40B4-BE49-F238E27FC236}">
                <a16:creationId xmlns:a16="http://schemas.microsoft.com/office/drawing/2014/main" id="{DCECC9D8-AEF6-FA4B-B66C-B3577BF4C119}"/>
              </a:ext>
            </a:extLst>
          </p:cNvPr>
          <p:cNvSpPr txBox="1">
            <a:spLocks noChangeArrowheads="1"/>
          </p:cNvSpPr>
          <p:nvPr/>
        </p:nvSpPr>
        <p:spPr bwMode="auto">
          <a:xfrm>
            <a:off x="6300788" y="4746625"/>
            <a:ext cx="2462212" cy="369888"/>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zh-CN" altLang="en-US" sz="20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比较</a:t>
            </a:r>
            <a:r>
              <a:rPr lang="en-US" altLang="zh-CN" sz="20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MAC’</a:t>
            </a:r>
            <a:r>
              <a:rPr lang="zh-CN" altLang="en-US" sz="20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20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MAC</a:t>
            </a:r>
          </a:p>
        </p:txBody>
      </p:sp>
      <p:grpSp>
        <p:nvGrpSpPr>
          <p:cNvPr id="6" name="Group 20">
            <a:extLst>
              <a:ext uri="{FF2B5EF4-FFF2-40B4-BE49-F238E27FC236}">
                <a16:creationId xmlns:a16="http://schemas.microsoft.com/office/drawing/2014/main" id="{BB69C979-B36A-204C-B7F7-B575CBF40BE0}"/>
              </a:ext>
            </a:extLst>
          </p:cNvPr>
          <p:cNvGrpSpPr>
            <a:grpSpLocks/>
          </p:cNvGrpSpPr>
          <p:nvPr/>
        </p:nvGrpSpPr>
        <p:grpSpPr bwMode="auto">
          <a:xfrm>
            <a:off x="2051050" y="4575175"/>
            <a:ext cx="4105275" cy="387350"/>
            <a:chOff x="1292" y="3838"/>
            <a:chExt cx="2586" cy="244"/>
          </a:xfrm>
        </p:grpSpPr>
        <p:sp>
          <p:nvSpPr>
            <p:cNvPr id="95246" name="Line 21">
              <a:extLst>
                <a:ext uri="{FF2B5EF4-FFF2-40B4-BE49-F238E27FC236}">
                  <a16:creationId xmlns:a16="http://schemas.microsoft.com/office/drawing/2014/main" id="{0ED1764B-984A-7047-8D2B-74251CBE8BB5}"/>
                </a:ext>
              </a:extLst>
            </p:cNvPr>
            <p:cNvSpPr>
              <a:spLocks noChangeShapeType="1"/>
            </p:cNvSpPr>
            <p:nvPr/>
          </p:nvSpPr>
          <p:spPr bwMode="auto">
            <a:xfrm flipH="1">
              <a:off x="1292" y="4082"/>
              <a:ext cx="2586" cy="0"/>
            </a:xfrm>
            <a:prstGeom prst="line">
              <a:avLst/>
            </a:prstGeom>
            <a:noFill/>
            <a:ln w="12700">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247" name="Text Box 22">
              <a:extLst>
                <a:ext uri="{FF2B5EF4-FFF2-40B4-BE49-F238E27FC236}">
                  <a16:creationId xmlns:a16="http://schemas.microsoft.com/office/drawing/2014/main" id="{13115CB5-28BA-7E43-B523-C324B8B52041}"/>
                </a:ext>
              </a:extLst>
            </p:cNvPr>
            <p:cNvSpPr txBox="1">
              <a:spLocks noChangeArrowheads="1"/>
            </p:cNvSpPr>
            <p:nvPr/>
          </p:nvSpPr>
          <p:spPr bwMode="auto">
            <a:xfrm>
              <a:off x="2109" y="3838"/>
              <a:ext cx="1587" cy="233"/>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en-US" altLang="zh-CN" sz="2000">
                  <a:solidFill>
                    <a:schemeClr val="bg2"/>
                  </a:solidFill>
                  <a:latin typeface="Times New Roman" panose="02020603050405020304" pitchFamily="18" charset="0"/>
                  <a:cs typeface="Times New Roman" panose="02020603050405020304" pitchFamily="18" charset="0"/>
                </a:rPr>
                <a:t>OK / Disconnect</a:t>
              </a:r>
            </a:p>
          </p:txBody>
        </p:sp>
      </p:grpSp>
      <p:sp>
        <p:nvSpPr>
          <p:cNvPr id="95245" name="Text Box 24">
            <a:extLst>
              <a:ext uri="{FF2B5EF4-FFF2-40B4-BE49-F238E27FC236}">
                <a16:creationId xmlns:a16="http://schemas.microsoft.com/office/drawing/2014/main" id="{92DD0594-9E40-4B41-B4E2-DAADBF3C82BF}"/>
              </a:ext>
            </a:extLst>
          </p:cNvPr>
          <p:cNvSpPr txBox="1">
            <a:spLocks noChangeArrowheads="1"/>
          </p:cNvSpPr>
          <p:nvPr/>
        </p:nvSpPr>
        <p:spPr bwMode="auto">
          <a:xfrm>
            <a:off x="522288" y="5670550"/>
            <a:ext cx="8012112" cy="42545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en-US" altLang="zh-CN" sz="2400">
                <a:solidFill>
                  <a:schemeClr val="bg2"/>
                </a:solidFill>
                <a:latin typeface="黑体" panose="02010609060101010101" pitchFamily="49" charset="-122"/>
                <a:ea typeface="黑体" panose="02010609060101010101" pitchFamily="49" charset="-122"/>
              </a:rPr>
              <a:t>MAC</a:t>
            </a:r>
            <a:r>
              <a:rPr lang="zh-CN" altLang="en-US" sz="2400">
                <a:solidFill>
                  <a:schemeClr val="bg2"/>
                </a:solidFill>
                <a:latin typeface="黑体" panose="02010609060101010101" pitchFamily="49" charset="-122"/>
                <a:ea typeface="黑体" panose="02010609060101010101" pitchFamily="49" charset="-122"/>
              </a:rPr>
              <a:t>的计算可以基于</a:t>
            </a:r>
            <a:r>
              <a:rPr lang="en-US" altLang="zh-CN" sz="2400">
                <a:solidFill>
                  <a:schemeClr val="bg2"/>
                </a:solidFill>
                <a:latin typeface="黑体" panose="02010609060101010101" pitchFamily="49" charset="-122"/>
                <a:ea typeface="黑体" panose="02010609060101010101" pitchFamily="49" charset="-122"/>
              </a:rPr>
              <a:t>Hash</a:t>
            </a:r>
            <a:r>
              <a:rPr lang="zh-CN" altLang="en-US" sz="2400">
                <a:solidFill>
                  <a:schemeClr val="bg2"/>
                </a:solidFill>
                <a:latin typeface="黑体" panose="02010609060101010101" pitchFamily="49" charset="-122"/>
                <a:ea typeface="黑体" panose="02010609060101010101" pitchFamily="49" charset="-122"/>
              </a:rPr>
              <a:t>算</a:t>
            </a:r>
            <a:r>
              <a:rPr lang="en-US" altLang="zh-CN" sz="2400">
                <a:solidFill>
                  <a:schemeClr val="bg2"/>
                </a:solidFill>
                <a:latin typeface="黑体" panose="02010609060101010101" pitchFamily="49" charset="-122"/>
                <a:ea typeface="黑体" panose="02010609060101010101" pitchFamily="49" charset="-122"/>
              </a:rPr>
              <a:t>, </a:t>
            </a:r>
            <a:r>
              <a:rPr lang="zh-CN" altLang="en-US" sz="2400">
                <a:solidFill>
                  <a:schemeClr val="bg2"/>
                </a:solidFill>
                <a:latin typeface="黑体" panose="02010609060101010101" pitchFamily="49" charset="-122"/>
                <a:ea typeface="黑体" panose="02010609060101010101" pitchFamily="49" charset="-122"/>
              </a:rPr>
              <a:t>对称密钥算法，公开密钥算法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0"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42" name="Rectangle 2">
            <a:extLst>
              <a:ext uri="{FF2B5EF4-FFF2-40B4-BE49-F238E27FC236}">
                <a16:creationId xmlns:a16="http://schemas.microsoft.com/office/drawing/2014/main" id="{380F2C07-F577-634D-A934-79C51CB1391B}"/>
              </a:ext>
            </a:extLst>
          </p:cNvPr>
          <p:cNvSpPr>
            <a:spLocks noGrp="1" noChangeArrowheads="1"/>
          </p:cNvSpPr>
          <p:nvPr>
            <p:ph type="title"/>
          </p:nvPr>
        </p:nvSpPr>
        <p:spPr bwMode="auto">
          <a:xfrm>
            <a:off x="457200" y="762000"/>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dirty="0">
                <a:solidFill>
                  <a:srgbClr val="FF0000"/>
                </a:solidFill>
                <a:latin typeface="黑体" panose="02010609060101010101" pitchFamily="49" charset="-122"/>
                <a:ea typeface="黑体" panose="02010609060101010101" pitchFamily="49" charset="-122"/>
              </a:rPr>
              <a:t>（</a:t>
            </a:r>
            <a:r>
              <a:rPr kumimoji="1" lang="en-US" altLang="zh-CN" sz="3200" dirty="0">
                <a:solidFill>
                  <a:srgbClr val="FF0000"/>
                </a:solidFill>
                <a:latin typeface="黑体" panose="02010609060101010101" pitchFamily="49" charset="-122"/>
                <a:ea typeface="黑体" panose="02010609060101010101" pitchFamily="49" charset="-122"/>
              </a:rPr>
              <a:t>3</a:t>
            </a:r>
            <a:r>
              <a:rPr kumimoji="1" lang="zh-CN" altLang="en-US" sz="3200" dirty="0">
                <a:solidFill>
                  <a:srgbClr val="FF0000"/>
                </a:solidFill>
                <a:latin typeface="黑体" panose="02010609060101010101" pitchFamily="49" charset="-122"/>
                <a:ea typeface="黑体" panose="02010609060101010101" pitchFamily="49" charset="-122"/>
              </a:rPr>
              <a:t>）相互鉴别协议</a:t>
            </a:r>
          </a:p>
        </p:txBody>
      </p:sp>
      <p:sp>
        <p:nvSpPr>
          <p:cNvPr id="1392643" name="Rectangle 3">
            <a:extLst>
              <a:ext uri="{FF2B5EF4-FFF2-40B4-BE49-F238E27FC236}">
                <a16:creationId xmlns:a16="http://schemas.microsoft.com/office/drawing/2014/main" id="{2B64EBBC-12DC-E14B-8AD5-4F7EC492FE8A}"/>
              </a:ext>
            </a:extLst>
          </p:cNvPr>
          <p:cNvSpPr>
            <a:spLocks noGrp="1" noChangeArrowheads="1"/>
          </p:cNvSpPr>
          <p:nvPr>
            <p:ph type="body" idx="1"/>
          </p:nvPr>
        </p:nvSpPr>
        <p:spPr bwMode="auto">
          <a:xfrm>
            <a:off x="457200" y="1600200"/>
            <a:ext cx="8229600" cy="41148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u"/>
              <a:defRPr/>
            </a:pPr>
            <a:r>
              <a:rPr lang="zh-CN" altLang="en-US" sz="2800" dirty="0">
                <a:solidFill>
                  <a:schemeClr val="bg2"/>
                </a:solidFill>
                <a:latin typeface="黑体" panose="02010609060101010101" pitchFamily="49" charset="-122"/>
                <a:ea typeface="黑体" panose="02010609060101010101" pitchFamily="49" charset="-122"/>
              </a:rPr>
              <a:t>在理论上，相互鉴别可通过组合两个单向鉴别交换协议来实现。然而，这种组合需要被仔细地考察，因为有可能这样的组合易受窃听重放攻击。（</a:t>
            </a:r>
            <a:r>
              <a:rPr lang="en-US" altLang="zh-CN" sz="2800" dirty="0">
                <a:solidFill>
                  <a:schemeClr val="bg2"/>
                </a:solidFill>
                <a:latin typeface="黑体" panose="02010609060101010101" pitchFamily="49" charset="-122"/>
                <a:ea typeface="黑体" panose="02010609060101010101" pitchFamily="49" charset="-122"/>
              </a:rPr>
              <a:t>WAPI</a:t>
            </a:r>
            <a:r>
              <a:rPr lang="zh-CN" altLang="en-US" sz="2800" dirty="0">
                <a:solidFill>
                  <a:schemeClr val="bg2"/>
                </a:solidFill>
                <a:latin typeface="黑体" panose="02010609060101010101" pitchFamily="49" charset="-122"/>
                <a:ea typeface="黑体" panose="02010609060101010101" pitchFamily="49" charset="-122"/>
              </a:rPr>
              <a:t>想国产化替代</a:t>
            </a:r>
            <a:r>
              <a:rPr lang="en-US" altLang="zh-CN" sz="2800" dirty="0">
                <a:solidFill>
                  <a:schemeClr val="bg2"/>
                </a:solidFill>
                <a:latin typeface="黑体" panose="02010609060101010101" pitchFamily="49" charset="-122"/>
                <a:ea typeface="黑体" panose="02010609060101010101" pitchFamily="49" charset="-122"/>
              </a:rPr>
              <a:t>WIFI</a:t>
            </a:r>
            <a:r>
              <a:rPr lang="zh-CN" altLang="en-US" sz="2800" dirty="0">
                <a:solidFill>
                  <a:schemeClr val="bg2"/>
                </a:solidFill>
                <a:latin typeface="黑体" panose="02010609060101010101" pitchFamily="49" charset="-122"/>
                <a:ea typeface="黑体" panose="02010609060101010101" pitchFamily="49" charset="-122"/>
              </a:rPr>
              <a:t>）</a:t>
            </a:r>
          </a:p>
          <a:p>
            <a:pPr eaLnBrk="1" hangingPunct="1">
              <a:buClr>
                <a:srgbClr val="FF0000"/>
              </a:buClr>
              <a:buFont typeface="Wingdings" pitchFamily="2" charset="2"/>
              <a:buChar char="u"/>
              <a:defRPr/>
            </a:pPr>
            <a:r>
              <a:rPr lang="zh-CN" altLang="en-US" sz="2800" dirty="0">
                <a:solidFill>
                  <a:schemeClr val="bg2"/>
                </a:solidFill>
                <a:latin typeface="黑体" panose="02010609060101010101" pitchFamily="49" charset="-122"/>
                <a:ea typeface="黑体" panose="02010609060101010101" pitchFamily="49" charset="-122"/>
              </a:rPr>
              <a:t>另外，设计协议消息数比相应的单向交换协议的消息数的两倍少得多的相互鉴别交换协议是可能的。</a:t>
            </a:r>
          </a:p>
          <a:p>
            <a:pPr eaLnBrk="1" hangingPunct="1">
              <a:buClr>
                <a:srgbClr val="FF0000"/>
              </a:buClr>
              <a:buFont typeface="Wingdings" pitchFamily="2" charset="2"/>
              <a:buChar char="u"/>
              <a:defRPr/>
            </a:pPr>
            <a:r>
              <a:rPr lang="zh-CN" altLang="en-US" sz="2800" dirty="0">
                <a:solidFill>
                  <a:schemeClr val="bg2"/>
                </a:solidFill>
                <a:latin typeface="黑体" panose="02010609060101010101" pitchFamily="49" charset="-122"/>
                <a:ea typeface="黑体" panose="02010609060101010101" pitchFamily="49" charset="-122"/>
              </a:rPr>
              <a:t>因此，由于安全性和性能的原因，相互鉴别交换协议必须为此目的而特别地进行设计。</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4218DE78-A608-5E44-BF43-F05FEBFEB805}"/>
              </a:ext>
            </a:extLst>
          </p:cNvPr>
          <p:cNvSpPr txBox="1"/>
          <p:nvPr/>
        </p:nvSpPr>
        <p:spPr>
          <a:xfrm>
            <a:off x="421596" y="5451645"/>
            <a:ext cx="8300808" cy="584775"/>
          </a:xfrm>
          <a:prstGeom prst="rect">
            <a:avLst/>
          </a:prstGeom>
          <a:noFill/>
        </p:spPr>
        <p:txBody>
          <a:bodyPr wrap="square" rtlCol="0">
            <a:spAutoFit/>
          </a:bodyPr>
          <a:lstStyle/>
          <a:p>
            <a:r>
              <a:rPr kumimoji="1" lang="en" altLang="zh-CN" sz="1600" dirty="0">
                <a:solidFill>
                  <a:schemeClr val="bg2"/>
                </a:solidFill>
              </a:rPr>
              <a:t>https://</a:t>
            </a:r>
            <a:r>
              <a:rPr kumimoji="1" lang="en" altLang="zh-CN" sz="1600" dirty="0" err="1">
                <a:solidFill>
                  <a:schemeClr val="bg2"/>
                </a:solidFill>
              </a:rPr>
              <a:t>www.bilibili.com</a:t>
            </a:r>
            <a:r>
              <a:rPr kumimoji="1" lang="en" altLang="zh-CN" sz="1600" dirty="0">
                <a:solidFill>
                  <a:schemeClr val="bg2"/>
                </a:solidFill>
              </a:rPr>
              <a:t>/video/BV1jU411f7G3/?</a:t>
            </a:r>
            <a:r>
              <a:rPr kumimoji="1" lang="en" altLang="zh-CN" sz="1600" dirty="0" err="1">
                <a:solidFill>
                  <a:schemeClr val="bg2"/>
                </a:solidFill>
              </a:rPr>
              <a:t>spm_id_from</a:t>
            </a:r>
            <a:r>
              <a:rPr kumimoji="1" lang="en" altLang="zh-CN" sz="1600" dirty="0">
                <a:solidFill>
                  <a:schemeClr val="bg2"/>
                </a:solidFill>
              </a:rPr>
              <a:t>=333.999.0.0&amp;vd_source=0991c0bfd7ce6d8c34ea5d7729eaded5</a:t>
            </a:r>
            <a:endParaRPr kumimoji="1" lang="zh-CN" altLang="en-US" sz="1600" dirty="0">
              <a:solidFill>
                <a:schemeClr val="bg2"/>
              </a:solidFill>
            </a:endParaRPr>
          </a:p>
        </p:txBody>
      </p:sp>
      <p:pic>
        <p:nvPicPr>
          <p:cNvPr id="142338" name="Picture 2">
            <a:extLst>
              <a:ext uri="{FF2B5EF4-FFF2-40B4-BE49-F238E27FC236}">
                <a16:creationId xmlns:a16="http://schemas.microsoft.com/office/drawing/2014/main" id="{948C190C-866D-1D4B-B2D5-2E440C9B2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700" y="1371600"/>
            <a:ext cx="5562600" cy="3476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422828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3666" name="Rectangle 2">
            <a:extLst>
              <a:ext uri="{FF2B5EF4-FFF2-40B4-BE49-F238E27FC236}">
                <a16:creationId xmlns:a16="http://schemas.microsoft.com/office/drawing/2014/main" id="{14813909-985B-2E4E-8B28-FD3B102906F2}"/>
              </a:ext>
            </a:extLst>
          </p:cNvPr>
          <p:cNvSpPr>
            <a:spLocks noGrp="1" noChangeArrowheads="1"/>
          </p:cNvSpPr>
          <p:nvPr>
            <p:ph type="title"/>
          </p:nvPr>
        </p:nvSpPr>
        <p:spPr bwMode="auto">
          <a:xfrm>
            <a:off x="442913" y="838200"/>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en-US" altLang="zh-CN" sz="3200">
                <a:solidFill>
                  <a:srgbClr val="FF0000"/>
                </a:solidFill>
                <a:latin typeface="黑体" panose="02010609060101010101" pitchFamily="49" charset="-122"/>
                <a:ea typeface="黑体" panose="02010609060101010101" pitchFamily="49" charset="-122"/>
              </a:rPr>
              <a:t>5.5.3 </a:t>
            </a:r>
            <a:r>
              <a:rPr kumimoji="1" lang="zh-CN" altLang="en-US" sz="3200">
                <a:solidFill>
                  <a:srgbClr val="FF0000"/>
                </a:solidFill>
                <a:latin typeface="黑体" panose="02010609060101010101" pitchFamily="49" charset="-122"/>
                <a:ea typeface="黑体" panose="02010609060101010101" pitchFamily="49" charset="-122"/>
              </a:rPr>
              <a:t>采用对称密码的鉴别机制</a:t>
            </a:r>
          </a:p>
        </p:txBody>
      </p:sp>
      <p:sp>
        <p:nvSpPr>
          <p:cNvPr id="1393667" name="Rectangle 3">
            <a:extLst>
              <a:ext uri="{FF2B5EF4-FFF2-40B4-BE49-F238E27FC236}">
                <a16:creationId xmlns:a16="http://schemas.microsoft.com/office/drawing/2014/main" id="{B996AF73-0DDA-8A42-99D7-FF9A437F78D4}"/>
              </a:ext>
            </a:extLst>
          </p:cNvPr>
          <p:cNvSpPr>
            <a:spLocks noGrp="1" noChangeArrowheads="1"/>
          </p:cNvSpPr>
          <p:nvPr>
            <p:ph type="body" idx="1"/>
          </p:nvPr>
        </p:nvSpPr>
        <p:spPr bwMode="auto">
          <a:xfrm>
            <a:off x="457200" y="1600200"/>
            <a:ext cx="7848600" cy="4525963"/>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u"/>
              <a:defRPr/>
            </a:pPr>
            <a:r>
              <a:rPr lang="zh-CN" altLang="en-US" sz="2800">
                <a:solidFill>
                  <a:schemeClr val="bg2"/>
                </a:solidFill>
                <a:ea typeface="宋体" panose="02010600030101010101" pitchFamily="2" charset="-122"/>
              </a:rPr>
              <a:t>无可信第三方参与的鉴别</a:t>
            </a:r>
          </a:p>
          <a:p>
            <a:pPr lvl="1" eaLnBrk="1" hangingPunct="1">
              <a:buClr>
                <a:srgbClr val="C6720E"/>
              </a:buClr>
              <a:buFont typeface="Wingdings" pitchFamily="2" charset="2"/>
              <a:buChar char="u"/>
              <a:defRPr/>
            </a:pPr>
            <a:r>
              <a:rPr lang="zh-CN" altLang="en-US" sz="2400">
                <a:solidFill>
                  <a:schemeClr val="bg2"/>
                </a:solidFill>
                <a:latin typeface="黑体" panose="02010609060101010101" pitchFamily="49" charset="-122"/>
                <a:ea typeface="黑体" panose="02010609060101010101" pitchFamily="49" charset="-122"/>
              </a:rPr>
              <a:t>单向鉴别：使用该机制时，两实体中只有一方被鉴别。</a:t>
            </a:r>
          </a:p>
          <a:p>
            <a:pPr lvl="1" eaLnBrk="1" hangingPunct="1">
              <a:buClr>
                <a:srgbClr val="C6720E"/>
              </a:buClr>
              <a:buFont typeface="Wingdings" pitchFamily="2" charset="2"/>
              <a:buChar char="u"/>
              <a:defRPr/>
            </a:pPr>
            <a:r>
              <a:rPr lang="zh-CN" altLang="en-US" sz="2400">
                <a:solidFill>
                  <a:schemeClr val="bg2"/>
                </a:solidFill>
                <a:latin typeface="黑体" panose="02010609060101010101" pitchFamily="49" charset="-122"/>
                <a:ea typeface="黑体" panose="02010609060101010101" pitchFamily="49" charset="-122"/>
              </a:rPr>
              <a:t>双向鉴别：两通信实体使用此机制进行相互鉴别。</a:t>
            </a:r>
          </a:p>
          <a:p>
            <a:pPr eaLnBrk="1" hangingPunct="1">
              <a:buClr>
                <a:srgbClr val="FF0000"/>
              </a:buClr>
              <a:buFont typeface="Wingdings" pitchFamily="2" charset="2"/>
              <a:buChar char="u"/>
              <a:defRPr/>
            </a:pPr>
            <a:r>
              <a:rPr lang="zh-CN" altLang="en-US" sz="2800">
                <a:solidFill>
                  <a:schemeClr val="bg2"/>
                </a:solidFill>
                <a:ea typeface="宋体" panose="02010600030101010101" pitchFamily="2" charset="-122"/>
              </a:rPr>
              <a:t>有可信第三方参与的鉴别</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4690" name="Rectangle 2">
            <a:extLst>
              <a:ext uri="{FF2B5EF4-FFF2-40B4-BE49-F238E27FC236}">
                <a16:creationId xmlns:a16="http://schemas.microsoft.com/office/drawing/2014/main" id="{A267A10C-FCF2-CC49-8627-EA6AD686EA68}"/>
              </a:ext>
            </a:extLst>
          </p:cNvPr>
          <p:cNvSpPr>
            <a:spLocks noGrp="1" noChangeArrowheads="1"/>
          </p:cNvSpPr>
          <p:nvPr>
            <p:ph type="title"/>
          </p:nvPr>
        </p:nvSpPr>
        <p:spPr bwMode="auto">
          <a:xfrm>
            <a:off x="457200" y="685800"/>
            <a:ext cx="8229600" cy="6096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a:solidFill>
                  <a:srgbClr val="FF0000"/>
                </a:solidFill>
                <a:latin typeface="黑体" panose="02010609060101010101" pitchFamily="49" charset="-122"/>
                <a:ea typeface="黑体" panose="02010609060101010101" pitchFamily="49" charset="-122"/>
              </a:rPr>
              <a:t>本部分使用以下记法</a:t>
            </a:r>
          </a:p>
        </p:txBody>
      </p:sp>
      <p:sp>
        <p:nvSpPr>
          <p:cNvPr id="1394691" name="Rectangle 3">
            <a:extLst>
              <a:ext uri="{FF2B5EF4-FFF2-40B4-BE49-F238E27FC236}">
                <a16:creationId xmlns:a16="http://schemas.microsoft.com/office/drawing/2014/main" id="{501F67FE-C920-1D43-BB0B-1E6AD70D939E}"/>
              </a:ext>
            </a:extLst>
          </p:cNvPr>
          <p:cNvSpPr>
            <a:spLocks noGrp="1" noChangeArrowheads="1"/>
          </p:cNvSpPr>
          <p:nvPr>
            <p:ph type="body" idx="1"/>
          </p:nvPr>
        </p:nvSpPr>
        <p:spPr bwMode="auto">
          <a:xfrm>
            <a:off x="381000" y="1371600"/>
            <a:ext cx="8458200" cy="48006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A:</a:t>
            </a:r>
            <a:r>
              <a:rPr lang="zh-CN" altLang="en-US" sz="1600">
                <a:solidFill>
                  <a:schemeClr val="bg2"/>
                </a:solidFill>
                <a:ea typeface="宋体" panose="02010600030101010101" pitchFamily="2" charset="-122"/>
              </a:rPr>
              <a:t>实体</a:t>
            </a:r>
            <a:r>
              <a:rPr lang="en-US" altLang="zh-CN" sz="1600">
                <a:solidFill>
                  <a:schemeClr val="bg2"/>
                </a:solidFill>
                <a:ea typeface="宋体" panose="02010600030101010101" pitchFamily="2" charset="-122"/>
              </a:rPr>
              <a:t>A</a:t>
            </a:r>
            <a:r>
              <a:rPr lang="zh-CN" altLang="en-US" sz="1600">
                <a:solidFill>
                  <a:schemeClr val="bg2"/>
                </a:solidFill>
                <a:ea typeface="宋体" panose="02010600030101010101" pitchFamily="2" charset="-122"/>
              </a:rPr>
              <a:t>的可区分标识符</a:t>
            </a:r>
          </a:p>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B:</a:t>
            </a:r>
            <a:r>
              <a:rPr lang="zh-CN" altLang="en-US" sz="1600">
                <a:solidFill>
                  <a:schemeClr val="bg2"/>
                </a:solidFill>
                <a:ea typeface="宋体" panose="02010600030101010101" pitchFamily="2" charset="-122"/>
              </a:rPr>
              <a:t>实体</a:t>
            </a:r>
            <a:r>
              <a:rPr lang="en-US" altLang="zh-CN" sz="1600">
                <a:solidFill>
                  <a:schemeClr val="bg2"/>
                </a:solidFill>
                <a:ea typeface="宋体" panose="02010600030101010101" pitchFamily="2" charset="-122"/>
              </a:rPr>
              <a:t>B</a:t>
            </a:r>
            <a:r>
              <a:rPr lang="zh-CN" altLang="en-US" sz="1600">
                <a:solidFill>
                  <a:schemeClr val="bg2"/>
                </a:solidFill>
                <a:ea typeface="宋体" panose="02010600030101010101" pitchFamily="2" charset="-122"/>
              </a:rPr>
              <a:t>的可区分标识符</a:t>
            </a:r>
          </a:p>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TP:</a:t>
            </a:r>
            <a:r>
              <a:rPr lang="zh-CN" altLang="en-US" sz="1600">
                <a:solidFill>
                  <a:schemeClr val="bg2"/>
                </a:solidFill>
                <a:ea typeface="宋体" panose="02010600030101010101" pitchFamily="2" charset="-122"/>
              </a:rPr>
              <a:t>可信第三方的可区分标识符</a:t>
            </a:r>
          </a:p>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K</a:t>
            </a:r>
            <a:r>
              <a:rPr lang="en-US" altLang="zh-CN" sz="1600" baseline="-25000">
                <a:solidFill>
                  <a:schemeClr val="bg2"/>
                </a:solidFill>
                <a:ea typeface="宋体" panose="02010600030101010101" pitchFamily="2" charset="-122"/>
              </a:rPr>
              <a:t>XY</a:t>
            </a:r>
            <a:r>
              <a:rPr lang="en-US" altLang="zh-CN" sz="1600">
                <a:solidFill>
                  <a:schemeClr val="bg2"/>
                </a:solidFill>
                <a:ea typeface="宋体" panose="02010600030101010101" pitchFamily="2" charset="-122"/>
              </a:rPr>
              <a:t>:</a:t>
            </a:r>
            <a:r>
              <a:rPr lang="zh-CN" altLang="en-US" sz="1600">
                <a:solidFill>
                  <a:schemeClr val="bg2"/>
                </a:solidFill>
                <a:ea typeface="宋体" panose="02010600030101010101" pitchFamily="2" charset="-122"/>
              </a:rPr>
              <a:t>实体</a:t>
            </a:r>
            <a:r>
              <a:rPr lang="en-US" altLang="zh-CN" sz="1600">
                <a:solidFill>
                  <a:schemeClr val="bg2"/>
                </a:solidFill>
                <a:ea typeface="宋体" panose="02010600030101010101" pitchFamily="2" charset="-122"/>
              </a:rPr>
              <a:t>X</a:t>
            </a:r>
            <a:r>
              <a:rPr lang="zh-CN" altLang="en-US" sz="1600">
                <a:solidFill>
                  <a:schemeClr val="bg2"/>
                </a:solidFill>
                <a:ea typeface="宋体" panose="02010600030101010101" pitchFamily="2" charset="-122"/>
              </a:rPr>
              <a:t>和实体</a:t>
            </a:r>
            <a:r>
              <a:rPr lang="en-US" altLang="zh-CN" sz="1600">
                <a:solidFill>
                  <a:schemeClr val="bg2"/>
                </a:solidFill>
                <a:ea typeface="宋体" panose="02010600030101010101" pitchFamily="2" charset="-122"/>
              </a:rPr>
              <a:t>Y</a:t>
            </a:r>
            <a:r>
              <a:rPr lang="zh-CN" altLang="en-US" sz="1600">
                <a:solidFill>
                  <a:schemeClr val="bg2"/>
                </a:solidFill>
                <a:ea typeface="宋体" panose="02010600030101010101" pitchFamily="2" charset="-122"/>
              </a:rPr>
              <a:t>之间共享的秘密密钥</a:t>
            </a:r>
            <a:r>
              <a:rPr lang="en-US" altLang="zh-CN" sz="1600">
                <a:solidFill>
                  <a:schemeClr val="bg2"/>
                </a:solidFill>
                <a:ea typeface="宋体" panose="02010600030101010101" pitchFamily="2" charset="-122"/>
              </a:rPr>
              <a:t>,</a:t>
            </a:r>
            <a:r>
              <a:rPr lang="zh-CN" altLang="en-US" sz="1600">
                <a:solidFill>
                  <a:schemeClr val="bg2"/>
                </a:solidFill>
                <a:ea typeface="宋体" panose="02010600030101010101" pitchFamily="2" charset="-122"/>
              </a:rPr>
              <a:t>只用于对称密码技术</a:t>
            </a:r>
          </a:p>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S</a:t>
            </a:r>
            <a:r>
              <a:rPr lang="en-US" altLang="zh-CN" sz="1600" baseline="-25000">
                <a:solidFill>
                  <a:schemeClr val="bg2"/>
                </a:solidFill>
                <a:ea typeface="宋体" panose="02010600030101010101" pitchFamily="2" charset="-122"/>
              </a:rPr>
              <a:t>X</a:t>
            </a:r>
            <a:r>
              <a:rPr lang="en-US" altLang="zh-CN" sz="1600">
                <a:solidFill>
                  <a:schemeClr val="bg2"/>
                </a:solidFill>
                <a:ea typeface="宋体" panose="02010600030101010101" pitchFamily="2" charset="-122"/>
              </a:rPr>
              <a:t>:</a:t>
            </a:r>
            <a:r>
              <a:rPr lang="zh-CN" altLang="en-US" sz="1600">
                <a:solidFill>
                  <a:schemeClr val="bg2"/>
                </a:solidFill>
                <a:ea typeface="宋体" panose="02010600030101010101" pitchFamily="2" charset="-122"/>
              </a:rPr>
              <a:t>与实体</a:t>
            </a:r>
            <a:r>
              <a:rPr lang="en-US" altLang="zh-CN" sz="1600">
                <a:solidFill>
                  <a:schemeClr val="bg2"/>
                </a:solidFill>
                <a:ea typeface="宋体" panose="02010600030101010101" pitchFamily="2" charset="-122"/>
              </a:rPr>
              <a:t>X</a:t>
            </a:r>
            <a:r>
              <a:rPr lang="zh-CN" altLang="en-US" sz="1600">
                <a:solidFill>
                  <a:schemeClr val="bg2"/>
                </a:solidFill>
                <a:ea typeface="宋体" panose="02010600030101010101" pitchFamily="2" charset="-122"/>
              </a:rPr>
              <a:t>有关的私有签名密钥</a:t>
            </a:r>
            <a:r>
              <a:rPr lang="en-US" altLang="zh-CN" sz="1600">
                <a:solidFill>
                  <a:schemeClr val="bg2"/>
                </a:solidFill>
                <a:ea typeface="宋体" panose="02010600030101010101" pitchFamily="2" charset="-122"/>
              </a:rPr>
              <a:t>,</a:t>
            </a:r>
            <a:r>
              <a:rPr lang="zh-CN" altLang="en-US" sz="1600">
                <a:solidFill>
                  <a:schemeClr val="bg2"/>
                </a:solidFill>
                <a:ea typeface="宋体" panose="02010600030101010101" pitchFamily="2" charset="-122"/>
              </a:rPr>
              <a:t>只用于非对称加密技术</a:t>
            </a:r>
          </a:p>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N</a:t>
            </a:r>
            <a:r>
              <a:rPr lang="en-US" altLang="zh-CN" sz="1600" baseline="-25000">
                <a:solidFill>
                  <a:schemeClr val="bg2"/>
                </a:solidFill>
                <a:ea typeface="宋体" panose="02010600030101010101" pitchFamily="2" charset="-122"/>
              </a:rPr>
              <a:t>X</a:t>
            </a:r>
            <a:r>
              <a:rPr lang="en-US" altLang="zh-CN" sz="1600">
                <a:solidFill>
                  <a:schemeClr val="bg2"/>
                </a:solidFill>
                <a:ea typeface="宋体" panose="02010600030101010101" pitchFamily="2" charset="-122"/>
              </a:rPr>
              <a:t>:</a:t>
            </a:r>
            <a:r>
              <a:rPr lang="zh-CN" altLang="en-US" sz="1600">
                <a:solidFill>
                  <a:schemeClr val="bg2"/>
                </a:solidFill>
                <a:ea typeface="宋体" panose="02010600030101010101" pitchFamily="2" charset="-122"/>
              </a:rPr>
              <a:t>由实体</a:t>
            </a:r>
            <a:r>
              <a:rPr lang="en-US" altLang="zh-CN" sz="1600">
                <a:solidFill>
                  <a:schemeClr val="bg2"/>
                </a:solidFill>
                <a:ea typeface="宋体" panose="02010600030101010101" pitchFamily="2" charset="-122"/>
              </a:rPr>
              <a:t>X</a:t>
            </a:r>
            <a:r>
              <a:rPr lang="zh-CN" altLang="en-US" sz="1600">
                <a:solidFill>
                  <a:schemeClr val="bg2"/>
                </a:solidFill>
                <a:ea typeface="宋体" panose="02010600030101010101" pitchFamily="2" charset="-122"/>
              </a:rPr>
              <a:t>给出的顺序号</a:t>
            </a:r>
          </a:p>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R</a:t>
            </a:r>
            <a:r>
              <a:rPr lang="en-US" altLang="zh-CN" sz="1600" baseline="-25000">
                <a:solidFill>
                  <a:schemeClr val="bg2"/>
                </a:solidFill>
                <a:ea typeface="宋体" panose="02010600030101010101" pitchFamily="2" charset="-122"/>
              </a:rPr>
              <a:t>X</a:t>
            </a:r>
            <a:r>
              <a:rPr lang="en-US" altLang="zh-CN" sz="1600">
                <a:solidFill>
                  <a:schemeClr val="bg2"/>
                </a:solidFill>
                <a:ea typeface="宋体" panose="02010600030101010101" pitchFamily="2" charset="-122"/>
              </a:rPr>
              <a:t>:</a:t>
            </a:r>
            <a:r>
              <a:rPr lang="zh-CN" altLang="en-US" sz="1600">
                <a:solidFill>
                  <a:schemeClr val="bg2"/>
                </a:solidFill>
                <a:ea typeface="宋体" panose="02010600030101010101" pitchFamily="2" charset="-122"/>
              </a:rPr>
              <a:t>由实体</a:t>
            </a:r>
            <a:r>
              <a:rPr lang="en-US" altLang="zh-CN" sz="1600">
                <a:solidFill>
                  <a:schemeClr val="bg2"/>
                </a:solidFill>
                <a:ea typeface="宋体" panose="02010600030101010101" pitchFamily="2" charset="-122"/>
              </a:rPr>
              <a:t>X</a:t>
            </a:r>
            <a:r>
              <a:rPr lang="zh-CN" altLang="en-US" sz="1600">
                <a:solidFill>
                  <a:schemeClr val="bg2"/>
                </a:solidFill>
                <a:ea typeface="宋体" panose="02010600030101010101" pitchFamily="2" charset="-122"/>
              </a:rPr>
              <a:t>给出的随机数</a:t>
            </a:r>
          </a:p>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T</a:t>
            </a:r>
            <a:r>
              <a:rPr lang="en-US" altLang="zh-CN" sz="1600" baseline="-25000">
                <a:solidFill>
                  <a:schemeClr val="bg2"/>
                </a:solidFill>
                <a:ea typeface="宋体" panose="02010600030101010101" pitchFamily="2" charset="-122"/>
              </a:rPr>
              <a:t>X</a:t>
            </a:r>
            <a:r>
              <a:rPr lang="en-US" altLang="zh-CN" sz="1600">
                <a:solidFill>
                  <a:schemeClr val="bg2"/>
                </a:solidFill>
                <a:ea typeface="宋体" panose="02010600030101010101" pitchFamily="2" charset="-122"/>
              </a:rPr>
              <a:t>:</a:t>
            </a:r>
            <a:r>
              <a:rPr lang="zh-CN" altLang="en-US" sz="1600">
                <a:solidFill>
                  <a:schemeClr val="bg2"/>
                </a:solidFill>
                <a:ea typeface="宋体" panose="02010600030101010101" pitchFamily="2" charset="-122"/>
              </a:rPr>
              <a:t>由实体</a:t>
            </a:r>
            <a:r>
              <a:rPr lang="en-US" altLang="zh-CN" sz="1600">
                <a:solidFill>
                  <a:schemeClr val="bg2"/>
                </a:solidFill>
                <a:ea typeface="宋体" panose="02010600030101010101" pitchFamily="2" charset="-122"/>
              </a:rPr>
              <a:t>X</a:t>
            </a:r>
            <a:r>
              <a:rPr lang="zh-CN" altLang="en-US" sz="1600">
                <a:solidFill>
                  <a:schemeClr val="bg2"/>
                </a:solidFill>
                <a:ea typeface="宋体" panose="02010600030101010101" pitchFamily="2" charset="-122"/>
              </a:rPr>
              <a:t>原发的时变参数</a:t>
            </a:r>
            <a:r>
              <a:rPr lang="en-US" altLang="zh-CN" sz="1600">
                <a:solidFill>
                  <a:schemeClr val="bg2"/>
                </a:solidFill>
                <a:ea typeface="宋体" panose="02010600030101010101" pitchFamily="2" charset="-122"/>
              </a:rPr>
              <a:t>,</a:t>
            </a:r>
            <a:r>
              <a:rPr lang="zh-CN" altLang="en-US" sz="1600">
                <a:solidFill>
                  <a:schemeClr val="bg2"/>
                </a:solidFill>
                <a:ea typeface="宋体" panose="02010600030101010101" pitchFamily="2" charset="-122"/>
              </a:rPr>
              <a:t>它或者是时间标记</a:t>
            </a:r>
            <a:r>
              <a:rPr lang="en-US" altLang="zh-CN" sz="1600">
                <a:solidFill>
                  <a:schemeClr val="bg2"/>
                </a:solidFill>
                <a:ea typeface="宋体" panose="02010600030101010101" pitchFamily="2" charset="-122"/>
              </a:rPr>
              <a:t>T</a:t>
            </a:r>
            <a:r>
              <a:rPr lang="en-US" altLang="zh-CN" sz="1600" baseline="-25000">
                <a:solidFill>
                  <a:schemeClr val="bg2"/>
                </a:solidFill>
                <a:ea typeface="宋体" panose="02010600030101010101" pitchFamily="2" charset="-122"/>
              </a:rPr>
              <a:t>X</a:t>
            </a:r>
            <a:r>
              <a:rPr lang="en-US" altLang="zh-CN" sz="1600">
                <a:solidFill>
                  <a:schemeClr val="bg2"/>
                </a:solidFill>
                <a:ea typeface="宋体" panose="02010600030101010101" pitchFamily="2" charset="-122"/>
              </a:rPr>
              <a:t>,</a:t>
            </a:r>
            <a:r>
              <a:rPr lang="zh-CN" altLang="en-US" sz="1600">
                <a:solidFill>
                  <a:schemeClr val="bg2"/>
                </a:solidFill>
                <a:ea typeface="宋体" panose="02010600030101010101" pitchFamily="2" charset="-122"/>
              </a:rPr>
              <a:t>或者是顺序号</a:t>
            </a:r>
            <a:r>
              <a:rPr lang="en-US" altLang="zh-CN" sz="1600">
                <a:solidFill>
                  <a:schemeClr val="bg2"/>
                </a:solidFill>
                <a:ea typeface="宋体" panose="02010600030101010101" pitchFamily="2" charset="-122"/>
              </a:rPr>
              <a:t>R</a:t>
            </a:r>
            <a:r>
              <a:rPr lang="en-US" altLang="zh-CN" sz="1600" baseline="-25000">
                <a:solidFill>
                  <a:schemeClr val="bg2"/>
                </a:solidFill>
                <a:ea typeface="宋体" panose="02010600030101010101" pitchFamily="2" charset="-122"/>
              </a:rPr>
              <a:t>X </a:t>
            </a:r>
            <a:r>
              <a:rPr lang="en-US" altLang="zh-CN" sz="1600">
                <a:solidFill>
                  <a:schemeClr val="bg2"/>
                </a:solidFill>
                <a:ea typeface="宋体" panose="02010600030101010101" pitchFamily="2" charset="-122"/>
              </a:rPr>
              <a:t>N</a:t>
            </a:r>
            <a:r>
              <a:rPr lang="en-US" altLang="zh-CN" sz="1600" baseline="-25000">
                <a:solidFill>
                  <a:schemeClr val="bg2"/>
                </a:solidFill>
                <a:ea typeface="宋体" panose="02010600030101010101" pitchFamily="2" charset="-122"/>
              </a:rPr>
              <a:t>X</a:t>
            </a:r>
            <a:r>
              <a:rPr lang="en-US" altLang="zh-CN" sz="1600">
                <a:solidFill>
                  <a:schemeClr val="bg2"/>
                </a:solidFill>
                <a:ea typeface="宋体" panose="02010600030101010101" pitchFamily="2" charset="-122"/>
              </a:rPr>
              <a:t>:</a:t>
            </a:r>
          </a:p>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Y||Z:</a:t>
            </a:r>
            <a:r>
              <a:rPr lang="zh-CN" altLang="en-US" sz="1600">
                <a:solidFill>
                  <a:schemeClr val="bg2"/>
                </a:solidFill>
                <a:ea typeface="宋体" panose="02010600030101010101" pitchFamily="2" charset="-122"/>
              </a:rPr>
              <a:t>数据项</a:t>
            </a:r>
            <a:r>
              <a:rPr lang="en-US" altLang="zh-CN" sz="1600">
                <a:solidFill>
                  <a:schemeClr val="bg2"/>
                </a:solidFill>
                <a:ea typeface="宋体" panose="02010600030101010101" pitchFamily="2" charset="-122"/>
              </a:rPr>
              <a:t>Y</a:t>
            </a:r>
            <a:r>
              <a:rPr lang="zh-CN" altLang="en-US" sz="1600">
                <a:solidFill>
                  <a:schemeClr val="bg2"/>
                </a:solidFill>
                <a:ea typeface="宋体" panose="02010600030101010101" pitchFamily="2" charset="-122"/>
              </a:rPr>
              <a:t>和</a:t>
            </a:r>
            <a:r>
              <a:rPr lang="en-US" altLang="zh-CN" sz="1600">
                <a:solidFill>
                  <a:schemeClr val="bg2"/>
                </a:solidFill>
                <a:ea typeface="宋体" panose="02010600030101010101" pitchFamily="2" charset="-122"/>
              </a:rPr>
              <a:t>Z</a:t>
            </a:r>
            <a:r>
              <a:rPr lang="zh-CN" altLang="en-US" sz="1600">
                <a:solidFill>
                  <a:schemeClr val="bg2"/>
                </a:solidFill>
                <a:ea typeface="宋体" panose="02010600030101010101" pitchFamily="2" charset="-122"/>
              </a:rPr>
              <a:t>以</a:t>
            </a:r>
            <a:r>
              <a:rPr lang="en-US" altLang="zh-CN" sz="1600">
                <a:solidFill>
                  <a:schemeClr val="bg2"/>
                </a:solidFill>
                <a:ea typeface="宋体" panose="02010600030101010101" pitchFamily="2" charset="-122"/>
              </a:rPr>
              <a:t>Y</a:t>
            </a:r>
            <a:r>
              <a:rPr lang="zh-CN" altLang="en-US" sz="1600">
                <a:solidFill>
                  <a:schemeClr val="bg2"/>
                </a:solidFill>
                <a:ea typeface="宋体" panose="02010600030101010101" pitchFamily="2" charset="-122"/>
              </a:rPr>
              <a:t>在前</a:t>
            </a:r>
            <a:r>
              <a:rPr lang="en-US" altLang="zh-CN" sz="1600">
                <a:solidFill>
                  <a:schemeClr val="bg2"/>
                </a:solidFill>
                <a:ea typeface="宋体" panose="02010600030101010101" pitchFamily="2" charset="-122"/>
              </a:rPr>
              <a:t>Z</a:t>
            </a:r>
            <a:r>
              <a:rPr lang="zh-CN" altLang="en-US" sz="1600">
                <a:solidFill>
                  <a:schemeClr val="bg2"/>
                </a:solidFill>
                <a:ea typeface="宋体" panose="02010600030101010101" pitchFamily="2" charset="-122"/>
              </a:rPr>
              <a:t>在后顺序拼接的结果</a:t>
            </a:r>
          </a:p>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eK(Z):</a:t>
            </a:r>
            <a:r>
              <a:rPr lang="zh-CN" altLang="en-US" sz="1600">
                <a:solidFill>
                  <a:schemeClr val="bg2"/>
                </a:solidFill>
                <a:ea typeface="宋体" panose="02010600030101010101" pitchFamily="2" charset="-122"/>
              </a:rPr>
              <a:t>用密钥</a:t>
            </a:r>
            <a:r>
              <a:rPr lang="en-US" altLang="zh-CN" sz="1600">
                <a:solidFill>
                  <a:schemeClr val="bg2"/>
                </a:solidFill>
                <a:ea typeface="宋体" panose="02010600030101010101" pitchFamily="2" charset="-122"/>
              </a:rPr>
              <a:t>K</a:t>
            </a:r>
            <a:r>
              <a:rPr lang="zh-CN" altLang="en-US" sz="1600">
                <a:solidFill>
                  <a:schemeClr val="bg2"/>
                </a:solidFill>
                <a:ea typeface="宋体" panose="02010600030101010101" pitchFamily="2" charset="-122"/>
              </a:rPr>
              <a:t>的对称加密算法对数据</a:t>
            </a:r>
            <a:r>
              <a:rPr lang="en-US" altLang="zh-CN" sz="1600">
                <a:solidFill>
                  <a:schemeClr val="bg2"/>
                </a:solidFill>
                <a:ea typeface="宋体" panose="02010600030101010101" pitchFamily="2" charset="-122"/>
              </a:rPr>
              <a:t>Z</a:t>
            </a:r>
            <a:r>
              <a:rPr lang="zh-CN" altLang="en-US" sz="1600">
                <a:solidFill>
                  <a:schemeClr val="bg2"/>
                </a:solidFill>
                <a:ea typeface="宋体" panose="02010600030101010101" pitchFamily="2" charset="-122"/>
              </a:rPr>
              <a:t>加密的结果</a:t>
            </a:r>
          </a:p>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fK(Z):</a:t>
            </a:r>
            <a:r>
              <a:rPr lang="zh-CN" altLang="en-US" sz="1600">
                <a:solidFill>
                  <a:schemeClr val="bg2"/>
                </a:solidFill>
                <a:ea typeface="宋体" panose="02010600030101010101" pitchFamily="2" charset="-122"/>
              </a:rPr>
              <a:t>使用以密钥</a:t>
            </a:r>
            <a:r>
              <a:rPr lang="en-US" altLang="zh-CN" sz="1600">
                <a:solidFill>
                  <a:schemeClr val="bg2"/>
                </a:solidFill>
                <a:ea typeface="宋体" panose="02010600030101010101" pitchFamily="2" charset="-122"/>
              </a:rPr>
              <a:t>K</a:t>
            </a:r>
            <a:r>
              <a:rPr lang="zh-CN" altLang="en-US" sz="1600">
                <a:solidFill>
                  <a:schemeClr val="bg2"/>
                </a:solidFill>
                <a:ea typeface="宋体" panose="02010600030101010101" pitchFamily="2" charset="-122"/>
              </a:rPr>
              <a:t>和任意数据串</a:t>
            </a:r>
            <a:r>
              <a:rPr lang="en-US" altLang="zh-CN" sz="1600">
                <a:solidFill>
                  <a:schemeClr val="bg2"/>
                </a:solidFill>
                <a:ea typeface="宋体" panose="02010600030101010101" pitchFamily="2" charset="-122"/>
              </a:rPr>
              <a:t>Z</a:t>
            </a:r>
            <a:r>
              <a:rPr lang="zh-CN" altLang="en-US" sz="1600">
                <a:solidFill>
                  <a:schemeClr val="bg2"/>
                </a:solidFill>
                <a:ea typeface="宋体" panose="02010600030101010101" pitchFamily="2" charset="-122"/>
              </a:rPr>
              <a:t>作为输入的密码校验函数</a:t>
            </a:r>
            <a:r>
              <a:rPr lang="en-US" altLang="zh-CN" sz="1600">
                <a:solidFill>
                  <a:schemeClr val="bg2"/>
                </a:solidFill>
                <a:ea typeface="宋体" panose="02010600030101010101" pitchFamily="2" charset="-122"/>
              </a:rPr>
              <a:t>f</a:t>
            </a:r>
            <a:r>
              <a:rPr lang="zh-CN" altLang="en-US" sz="1600">
                <a:solidFill>
                  <a:schemeClr val="bg2"/>
                </a:solidFill>
                <a:ea typeface="宋体" panose="02010600030101010101" pitchFamily="2" charset="-122"/>
              </a:rPr>
              <a:t>所产生的密码校验值</a:t>
            </a:r>
          </a:p>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CertX:</a:t>
            </a:r>
            <a:r>
              <a:rPr lang="zh-CN" altLang="en-US" sz="1600">
                <a:solidFill>
                  <a:schemeClr val="bg2"/>
                </a:solidFill>
                <a:ea typeface="宋体" panose="02010600030101010101" pitchFamily="2" charset="-122"/>
              </a:rPr>
              <a:t>由可信第三方签发给实体</a:t>
            </a:r>
            <a:r>
              <a:rPr lang="en-US" altLang="zh-CN" sz="1600">
                <a:solidFill>
                  <a:schemeClr val="bg2"/>
                </a:solidFill>
                <a:ea typeface="宋体" panose="02010600030101010101" pitchFamily="2" charset="-122"/>
              </a:rPr>
              <a:t>X</a:t>
            </a:r>
            <a:r>
              <a:rPr lang="zh-CN" altLang="en-US" sz="1600">
                <a:solidFill>
                  <a:schemeClr val="bg2"/>
                </a:solidFill>
                <a:ea typeface="宋体" panose="02010600030101010101" pitchFamily="2" charset="-122"/>
              </a:rPr>
              <a:t>的证书</a:t>
            </a:r>
          </a:p>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TokenXY:</a:t>
            </a:r>
            <a:r>
              <a:rPr lang="zh-CN" altLang="en-US" sz="1600">
                <a:solidFill>
                  <a:schemeClr val="bg2"/>
                </a:solidFill>
                <a:ea typeface="宋体" panose="02010600030101010101" pitchFamily="2" charset="-122"/>
              </a:rPr>
              <a:t>实体</a:t>
            </a:r>
            <a:r>
              <a:rPr lang="en-US" altLang="zh-CN" sz="1600">
                <a:solidFill>
                  <a:schemeClr val="bg2"/>
                </a:solidFill>
                <a:ea typeface="宋体" panose="02010600030101010101" pitchFamily="2" charset="-122"/>
              </a:rPr>
              <a:t>X</a:t>
            </a:r>
            <a:r>
              <a:rPr lang="zh-CN" altLang="en-US" sz="1600">
                <a:solidFill>
                  <a:schemeClr val="bg2"/>
                </a:solidFill>
                <a:ea typeface="宋体" panose="02010600030101010101" pitchFamily="2" charset="-122"/>
              </a:rPr>
              <a:t>发给</a:t>
            </a:r>
            <a:r>
              <a:rPr lang="en-US" altLang="zh-CN" sz="1600">
                <a:solidFill>
                  <a:schemeClr val="bg2"/>
                </a:solidFill>
                <a:ea typeface="宋体" panose="02010600030101010101" pitchFamily="2" charset="-122"/>
              </a:rPr>
              <a:t>Y</a:t>
            </a:r>
            <a:r>
              <a:rPr lang="zh-CN" altLang="en-US" sz="1600">
                <a:solidFill>
                  <a:schemeClr val="bg2"/>
                </a:solidFill>
                <a:ea typeface="宋体" panose="02010600030101010101" pitchFamily="2" charset="-122"/>
              </a:rPr>
              <a:t>的权标</a:t>
            </a:r>
            <a:r>
              <a:rPr lang="en-US" altLang="zh-CN" sz="1600">
                <a:solidFill>
                  <a:schemeClr val="bg2"/>
                </a:solidFill>
                <a:ea typeface="宋体" panose="02010600030101010101" pitchFamily="2" charset="-122"/>
              </a:rPr>
              <a:t>,</a:t>
            </a:r>
            <a:r>
              <a:rPr lang="zh-CN" altLang="en-US" sz="1600">
                <a:solidFill>
                  <a:schemeClr val="bg2"/>
                </a:solidFill>
                <a:ea typeface="宋体" panose="02010600030101010101" pitchFamily="2" charset="-122"/>
              </a:rPr>
              <a:t>包含使用密码技术变换的信息</a:t>
            </a:r>
          </a:p>
          <a:p>
            <a:pPr eaLnBrk="1" hangingPunct="1">
              <a:buClr>
                <a:srgbClr val="A3651C"/>
              </a:buClr>
              <a:buFont typeface="Wingdings" pitchFamily="2" charset="2"/>
              <a:buChar char="u"/>
              <a:defRPr/>
            </a:pPr>
            <a:r>
              <a:rPr lang="en-US" altLang="zh-CN" sz="1600">
                <a:solidFill>
                  <a:schemeClr val="bg2"/>
                </a:solidFill>
                <a:ea typeface="宋体" panose="02010600030101010101" pitchFamily="2" charset="-122"/>
              </a:rPr>
              <a:t>TVP:</a:t>
            </a:r>
            <a:r>
              <a:rPr lang="zh-CN" altLang="en-US" sz="1600">
                <a:solidFill>
                  <a:schemeClr val="bg2"/>
                </a:solidFill>
                <a:ea typeface="宋体" panose="02010600030101010101" pitchFamily="2" charset="-122"/>
              </a:rPr>
              <a:t>时变参数</a:t>
            </a:r>
          </a:p>
          <a:p>
            <a:pPr eaLnBrk="1" hangingPunct="1">
              <a:buClr>
                <a:srgbClr val="A3651C"/>
              </a:buClr>
              <a:buFont typeface="Wingdings" pitchFamily="2" charset="2"/>
              <a:buChar char="u"/>
              <a:defRPr/>
            </a:pPr>
            <a:r>
              <a:rPr lang="en-US" altLang="zh-CN" sz="1600" baseline="-25000">
                <a:solidFill>
                  <a:schemeClr val="bg2"/>
                </a:solidFill>
                <a:ea typeface="宋体" panose="02010600030101010101" pitchFamily="2" charset="-122"/>
              </a:rPr>
              <a:t>S</a:t>
            </a:r>
            <a:r>
              <a:rPr lang="en-US" altLang="zh-CN" sz="1600">
                <a:solidFill>
                  <a:schemeClr val="bg2"/>
                </a:solidFill>
                <a:ea typeface="宋体" panose="02010600030101010101" pitchFamily="2" charset="-122"/>
              </a:rPr>
              <a:t>S</a:t>
            </a:r>
            <a:r>
              <a:rPr lang="en-US" altLang="zh-CN" sz="1600" baseline="-25000">
                <a:solidFill>
                  <a:schemeClr val="bg2"/>
                </a:solidFill>
                <a:ea typeface="宋体" panose="02010600030101010101" pitchFamily="2" charset="-122"/>
              </a:rPr>
              <a:t>X</a:t>
            </a:r>
            <a:r>
              <a:rPr lang="en-US" altLang="zh-CN" sz="1600">
                <a:solidFill>
                  <a:schemeClr val="bg2"/>
                </a:solidFill>
                <a:ea typeface="宋体" panose="02010600030101010101" pitchFamily="2" charset="-122"/>
              </a:rPr>
              <a:t>(Z):</a:t>
            </a:r>
            <a:r>
              <a:rPr lang="zh-CN" altLang="en-US" sz="1600">
                <a:solidFill>
                  <a:schemeClr val="bg2"/>
                </a:solidFill>
                <a:ea typeface="宋体" panose="02010600030101010101" pitchFamily="2" charset="-122"/>
              </a:rPr>
              <a:t>用私有签名密钥</a:t>
            </a:r>
            <a:r>
              <a:rPr lang="en-US" altLang="zh-CN" sz="1600">
                <a:solidFill>
                  <a:schemeClr val="bg2"/>
                </a:solidFill>
                <a:ea typeface="宋体" panose="02010600030101010101" pitchFamily="2" charset="-122"/>
              </a:rPr>
              <a:t>S</a:t>
            </a:r>
            <a:r>
              <a:rPr lang="en-US" altLang="zh-CN" sz="1600" baseline="-25000">
                <a:solidFill>
                  <a:schemeClr val="bg2"/>
                </a:solidFill>
                <a:ea typeface="宋体" panose="02010600030101010101" pitchFamily="2" charset="-122"/>
              </a:rPr>
              <a:t>X</a:t>
            </a:r>
            <a:r>
              <a:rPr lang="zh-CN" altLang="en-US" sz="1600">
                <a:solidFill>
                  <a:schemeClr val="bg2"/>
                </a:solidFill>
                <a:ea typeface="宋体" panose="02010600030101010101" pitchFamily="2" charset="-122"/>
              </a:rPr>
              <a:t>对数据</a:t>
            </a:r>
            <a:r>
              <a:rPr lang="en-US" altLang="zh-CN" sz="1600">
                <a:solidFill>
                  <a:schemeClr val="bg2"/>
                </a:solidFill>
                <a:ea typeface="宋体" panose="02010600030101010101" pitchFamily="2" charset="-122"/>
              </a:rPr>
              <a:t>Z</a:t>
            </a:r>
            <a:r>
              <a:rPr lang="zh-CN" altLang="en-US" sz="1600">
                <a:solidFill>
                  <a:schemeClr val="bg2"/>
                </a:solidFill>
                <a:ea typeface="宋体" panose="02010600030101010101" pitchFamily="2" charset="-122"/>
              </a:rPr>
              <a:t>进行私有签名变换所产生的签名</a:t>
            </a:r>
            <a:r>
              <a:rPr lang="en-US" altLang="zh-CN" sz="1600">
                <a:solidFill>
                  <a:schemeClr val="bg2"/>
                </a:solidFill>
                <a:ea typeface="宋体" panose="02010600030101010101" pitchFamily="2" charset="-122"/>
              </a:rPr>
              <a:t>.</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5714" name="Rectangle 2">
            <a:extLst>
              <a:ext uri="{FF2B5EF4-FFF2-40B4-BE49-F238E27FC236}">
                <a16:creationId xmlns:a16="http://schemas.microsoft.com/office/drawing/2014/main" id="{135FDBB4-BF6B-FA46-A121-41ADEF85F0BB}"/>
              </a:ext>
            </a:extLst>
          </p:cNvPr>
          <p:cNvSpPr>
            <a:spLocks noGrp="1" noChangeArrowheads="1"/>
          </p:cNvSpPr>
          <p:nvPr>
            <p:ph type="title"/>
          </p:nvPr>
        </p:nvSpPr>
        <p:spPr bwMode="auto">
          <a:xfrm>
            <a:off x="495300" y="906463"/>
            <a:ext cx="8229600" cy="11430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a:solidFill>
                  <a:srgbClr val="FF0000"/>
                </a:solidFill>
                <a:latin typeface="黑体" panose="02010609060101010101" pitchFamily="49" charset="-122"/>
                <a:ea typeface="黑体" panose="02010609060101010101" pitchFamily="49" charset="-122"/>
              </a:rPr>
              <a:t>无可信第三方参与的机制单向鉴别</a:t>
            </a:r>
          </a:p>
        </p:txBody>
      </p:sp>
      <p:sp>
        <p:nvSpPr>
          <p:cNvPr id="99330" name="Text Box 4">
            <a:extLst>
              <a:ext uri="{FF2B5EF4-FFF2-40B4-BE49-F238E27FC236}">
                <a16:creationId xmlns:a16="http://schemas.microsoft.com/office/drawing/2014/main" id="{FCB21850-7AC6-A541-9C72-CD9501D4DA0B}"/>
              </a:ext>
            </a:extLst>
          </p:cNvPr>
          <p:cNvSpPr txBox="1">
            <a:spLocks noChangeArrowheads="1"/>
          </p:cNvSpPr>
          <p:nvPr/>
        </p:nvSpPr>
        <p:spPr bwMode="auto">
          <a:xfrm>
            <a:off x="1676400" y="3048000"/>
            <a:ext cx="914400" cy="528638"/>
          </a:xfrm>
          <a:prstGeom prst="rect">
            <a:avLst/>
          </a:prstGeom>
          <a:solidFill>
            <a:srgbClr val="00FFFF"/>
          </a:solidFill>
          <a:ln w="9525">
            <a:solidFill>
              <a:schemeClr val="bg2"/>
            </a:solid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99331" name="Text Box 5">
            <a:extLst>
              <a:ext uri="{FF2B5EF4-FFF2-40B4-BE49-F238E27FC236}">
                <a16:creationId xmlns:a16="http://schemas.microsoft.com/office/drawing/2014/main" id="{A509473B-350D-7A4D-B5F7-1446465D9D9A}"/>
              </a:ext>
            </a:extLst>
          </p:cNvPr>
          <p:cNvSpPr txBox="1">
            <a:spLocks noChangeArrowheads="1"/>
          </p:cNvSpPr>
          <p:nvPr/>
        </p:nvSpPr>
        <p:spPr bwMode="auto">
          <a:xfrm>
            <a:off x="5943600" y="3048000"/>
            <a:ext cx="914400" cy="528638"/>
          </a:xfrm>
          <a:prstGeom prst="rect">
            <a:avLst/>
          </a:prstGeom>
          <a:solidFill>
            <a:srgbClr val="00FFFF"/>
          </a:solidFill>
          <a:ln w="9525">
            <a:solidFill>
              <a:schemeClr val="bg2"/>
            </a:solid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395718" name="Line 6">
            <a:extLst>
              <a:ext uri="{FF2B5EF4-FFF2-40B4-BE49-F238E27FC236}">
                <a16:creationId xmlns:a16="http://schemas.microsoft.com/office/drawing/2014/main" id="{5E418CDE-6DA5-F64C-A184-AC9984235586}"/>
              </a:ext>
            </a:extLst>
          </p:cNvPr>
          <p:cNvSpPr>
            <a:spLocks noChangeShapeType="1"/>
          </p:cNvSpPr>
          <p:nvPr/>
        </p:nvSpPr>
        <p:spPr bwMode="auto">
          <a:xfrm>
            <a:off x="2590800" y="32766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99333" name="Text Box 7">
            <a:extLst>
              <a:ext uri="{FF2B5EF4-FFF2-40B4-BE49-F238E27FC236}">
                <a16:creationId xmlns:a16="http://schemas.microsoft.com/office/drawing/2014/main" id="{863C447F-DE00-2340-B8DB-F64AF244221F}"/>
              </a:ext>
            </a:extLst>
          </p:cNvPr>
          <p:cNvSpPr txBox="1">
            <a:spLocks noChangeArrowheads="1"/>
          </p:cNvSpPr>
          <p:nvPr/>
        </p:nvSpPr>
        <p:spPr bwMode="auto">
          <a:xfrm>
            <a:off x="3200400" y="23622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a:t>
            </a:r>
          </a:p>
        </p:txBody>
      </p:sp>
      <p:sp>
        <p:nvSpPr>
          <p:cNvPr id="99334" name="Text Box 8">
            <a:extLst>
              <a:ext uri="{FF2B5EF4-FFF2-40B4-BE49-F238E27FC236}">
                <a16:creationId xmlns:a16="http://schemas.microsoft.com/office/drawing/2014/main" id="{BC0EA780-52D5-9C41-8E04-7E882278A5E6}"/>
              </a:ext>
            </a:extLst>
          </p:cNvPr>
          <p:cNvSpPr txBox="1">
            <a:spLocks noChangeArrowheads="1"/>
          </p:cNvSpPr>
          <p:nvPr/>
        </p:nvSpPr>
        <p:spPr bwMode="auto">
          <a:xfrm>
            <a:off x="7086600" y="30480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(2)</a:t>
            </a:r>
          </a:p>
        </p:txBody>
      </p:sp>
      <p:sp>
        <p:nvSpPr>
          <p:cNvPr id="99335" name="Text Box 9">
            <a:extLst>
              <a:ext uri="{FF2B5EF4-FFF2-40B4-BE49-F238E27FC236}">
                <a16:creationId xmlns:a16="http://schemas.microsoft.com/office/drawing/2014/main" id="{1C600407-0EC3-804D-93D2-16D78F9FAFA0}"/>
              </a:ext>
            </a:extLst>
          </p:cNvPr>
          <p:cNvSpPr txBox="1">
            <a:spLocks noChangeArrowheads="1"/>
          </p:cNvSpPr>
          <p:nvPr/>
        </p:nvSpPr>
        <p:spPr bwMode="auto">
          <a:xfrm>
            <a:off x="1219200" y="3871913"/>
            <a:ext cx="7010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TokenAB=Text2||eK</a:t>
            </a:r>
            <a:r>
              <a:rPr lang="en-US" altLang="zh-CN" sz="2400" baseline="-25000">
                <a:solidFill>
                  <a:schemeClr val="bg2"/>
                </a:solidFill>
                <a:latin typeface="Times New Roman" panose="02020603050405020304" pitchFamily="18" charset="0"/>
                <a:ea typeface="宋体" panose="02010600030101010101" pitchFamily="2" charset="-122"/>
              </a:rPr>
              <a:t>AB</a:t>
            </a:r>
            <a:r>
              <a:rPr lang="en-US" altLang="zh-CN" sz="2400">
                <a:solidFill>
                  <a:schemeClr val="bg2"/>
                </a:solidFill>
                <a:latin typeface="Times New Roman" panose="02020603050405020304" pitchFamily="18" charset="0"/>
                <a:ea typeface="宋体" panose="02010600030101010101" pitchFamily="2" charset="-122"/>
              </a:rPr>
              <a:t>(T</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||B||Text1)</a:t>
            </a:r>
          </a:p>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                                                   N</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    </a:t>
            </a:r>
          </a:p>
        </p:txBody>
      </p:sp>
      <p:sp>
        <p:nvSpPr>
          <p:cNvPr id="99336" name="Text Box 10">
            <a:extLst>
              <a:ext uri="{FF2B5EF4-FFF2-40B4-BE49-F238E27FC236}">
                <a16:creationId xmlns:a16="http://schemas.microsoft.com/office/drawing/2014/main" id="{416E754E-9FDA-BE48-BFD5-B9823F4EFB2E}"/>
              </a:ext>
            </a:extLst>
          </p:cNvPr>
          <p:cNvSpPr txBox="1">
            <a:spLocks noChangeArrowheads="1"/>
          </p:cNvSpPr>
          <p:nvPr/>
        </p:nvSpPr>
        <p:spPr bwMode="auto">
          <a:xfrm>
            <a:off x="1219200" y="5029200"/>
            <a:ext cx="708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解密，验证</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、时间标记或顺序号的正确性</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6739" name="Rectangle 3">
            <a:extLst>
              <a:ext uri="{FF2B5EF4-FFF2-40B4-BE49-F238E27FC236}">
                <a16:creationId xmlns:a16="http://schemas.microsoft.com/office/drawing/2014/main" id="{99E93C7E-B8C9-8249-8647-1A3D209B9C1C}"/>
              </a:ext>
            </a:extLst>
          </p:cNvPr>
          <p:cNvSpPr>
            <a:spLocks noGrp="1" noChangeArrowheads="1"/>
          </p:cNvSpPr>
          <p:nvPr>
            <p:ph type="body" idx="1"/>
          </p:nvPr>
        </p:nvSpPr>
        <p:spPr bwMode="auto">
          <a:xfrm>
            <a:off x="900113" y="1801813"/>
            <a:ext cx="7489825" cy="4446587"/>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None/>
              <a:defRPr/>
            </a:pPr>
            <a:r>
              <a:rPr lang="zh-CN" altLang="en-US">
                <a:ea typeface="宋体" panose="02010600030101010101" pitchFamily="2" charset="-122"/>
              </a:rPr>
              <a:t> </a:t>
            </a:r>
          </a:p>
        </p:txBody>
      </p:sp>
      <p:sp>
        <p:nvSpPr>
          <p:cNvPr id="95236" name="Rectangle 4">
            <a:extLst>
              <a:ext uri="{FF2B5EF4-FFF2-40B4-BE49-F238E27FC236}">
                <a16:creationId xmlns:a16="http://schemas.microsoft.com/office/drawing/2014/main" id="{7C483EEE-8B91-9340-8C15-7F8AED872048}"/>
              </a:ext>
            </a:extLst>
          </p:cNvPr>
          <p:cNvSpPr>
            <a:spLocks noChangeArrowheads="1"/>
          </p:cNvSpPr>
          <p:nvPr/>
        </p:nvSpPr>
        <p:spPr bwMode="auto">
          <a:xfrm>
            <a:off x="609600" y="901700"/>
            <a:ext cx="7772400" cy="735013"/>
          </a:xfrm>
          <a:prstGeom prst="rect">
            <a:avLst/>
          </a:prstGeom>
          <a:noFill/>
          <a:ln>
            <a:noFill/>
          </a:ln>
        </p:spPr>
        <p:txBody>
          <a:bodyPr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20000"/>
              </a:spcBef>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无可信第三方参与的机制单向鉴别</a:t>
            </a:r>
          </a:p>
        </p:txBody>
      </p:sp>
      <p:sp>
        <p:nvSpPr>
          <p:cNvPr id="100355" name="Rectangle 5">
            <a:extLst>
              <a:ext uri="{FF2B5EF4-FFF2-40B4-BE49-F238E27FC236}">
                <a16:creationId xmlns:a16="http://schemas.microsoft.com/office/drawing/2014/main" id="{2B3B72F8-2C27-1248-9325-88436C9BAA16}"/>
              </a:ext>
            </a:extLst>
          </p:cNvPr>
          <p:cNvSpPr>
            <a:spLocks noChangeArrowheads="1"/>
          </p:cNvSpPr>
          <p:nvPr/>
        </p:nvSpPr>
        <p:spPr bwMode="auto">
          <a:xfrm>
            <a:off x="758825" y="1828800"/>
            <a:ext cx="5184775"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20000"/>
              </a:spcBef>
              <a:buFont typeface="Wingdings" pitchFamily="2" charset="2"/>
              <a:buChar char="u"/>
            </a:pPr>
            <a:r>
              <a:rPr lang="zh-CN" altLang="en-US" sz="3200">
                <a:solidFill>
                  <a:schemeClr val="bg2"/>
                </a:solidFill>
                <a:latin typeface="Times New Roman" panose="02020603050405020304" pitchFamily="18" charset="0"/>
                <a:ea typeface="宋体" panose="02010600030101010101" pitchFamily="2" charset="-122"/>
              </a:rPr>
              <a:t>  </a:t>
            </a:r>
            <a:r>
              <a:rPr lang="zh-CN" altLang="en-US" sz="2800">
                <a:solidFill>
                  <a:schemeClr val="bg2"/>
                </a:solidFill>
                <a:latin typeface="Times New Roman" panose="02020603050405020304" pitchFamily="18" charset="0"/>
                <a:ea typeface="宋体" panose="02010600030101010101" pitchFamily="2" charset="-122"/>
              </a:rPr>
              <a:t>两次传送鉴别</a:t>
            </a:r>
          </a:p>
        </p:txBody>
      </p:sp>
      <p:sp>
        <p:nvSpPr>
          <p:cNvPr id="100356" name="Text Box 6">
            <a:extLst>
              <a:ext uri="{FF2B5EF4-FFF2-40B4-BE49-F238E27FC236}">
                <a16:creationId xmlns:a16="http://schemas.microsoft.com/office/drawing/2014/main" id="{1A703AB2-D8F3-8F49-A0C2-AF2B136BE70D}"/>
              </a:ext>
            </a:extLst>
          </p:cNvPr>
          <p:cNvSpPr txBox="1">
            <a:spLocks noChangeArrowheads="1"/>
          </p:cNvSpPr>
          <p:nvPr/>
        </p:nvSpPr>
        <p:spPr bwMode="auto">
          <a:xfrm>
            <a:off x="1676400" y="3048000"/>
            <a:ext cx="914400" cy="9906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100357" name="Text Box 7">
            <a:extLst>
              <a:ext uri="{FF2B5EF4-FFF2-40B4-BE49-F238E27FC236}">
                <a16:creationId xmlns:a16="http://schemas.microsoft.com/office/drawing/2014/main" id="{A9AC7D83-C173-984D-A1CD-5CE3545EFF8A}"/>
              </a:ext>
            </a:extLst>
          </p:cNvPr>
          <p:cNvSpPr txBox="1">
            <a:spLocks noChangeArrowheads="1"/>
          </p:cNvSpPr>
          <p:nvPr/>
        </p:nvSpPr>
        <p:spPr bwMode="auto">
          <a:xfrm>
            <a:off x="5943600" y="3052763"/>
            <a:ext cx="914400" cy="1062037"/>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chemeClr val="bg2"/>
                </a:solidFill>
                <a:latin typeface="Times New Roman" panose="02020603050405020304" pitchFamily="18" charset="0"/>
                <a:ea typeface="宋体" panose="02010600030101010101" pitchFamily="2" charset="-122"/>
              </a:rPr>
              <a:t>B</a:t>
            </a:r>
          </a:p>
        </p:txBody>
      </p:sp>
      <p:sp>
        <p:nvSpPr>
          <p:cNvPr id="1396744" name="Line 8">
            <a:extLst>
              <a:ext uri="{FF2B5EF4-FFF2-40B4-BE49-F238E27FC236}">
                <a16:creationId xmlns:a16="http://schemas.microsoft.com/office/drawing/2014/main" id="{C5AFBD4C-BBFC-6249-8214-E4EBBBFA0326}"/>
              </a:ext>
            </a:extLst>
          </p:cNvPr>
          <p:cNvSpPr>
            <a:spLocks noChangeShapeType="1"/>
          </p:cNvSpPr>
          <p:nvPr/>
        </p:nvSpPr>
        <p:spPr bwMode="auto">
          <a:xfrm>
            <a:off x="2590800" y="38862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0359" name="Text Box 9">
            <a:extLst>
              <a:ext uri="{FF2B5EF4-FFF2-40B4-BE49-F238E27FC236}">
                <a16:creationId xmlns:a16="http://schemas.microsoft.com/office/drawing/2014/main" id="{FAAB3558-BA2D-8042-BBE0-84F45CD4E20F}"/>
              </a:ext>
            </a:extLst>
          </p:cNvPr>
          <p:cNvSpPr txBox="1">
            <a:spLocks noChangeArrowheads="1"/>
          </p:cNvSpPr>
          <p:nvPr/>
        </p:nvSpPr>
        <p:spPr bwMode="auto">
          <a:xfrm>
            <a:off x="3200400" y="27432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||Text1</a:t>
            </a:r>
          </a:p>
        </p:txBody>
      </p:sp>
      <p:sp>
        <p:nvSpPr>
          <p:cNvPr id="100360" name="Text Box 10">
            <a:extLst>
              <a:ext uri="{FF2B5EF4-FFF2-40B4-BE49-F238E27FC236}">
                <a16:creationId xmlns:a16="http://schemas.microsoft.com/office/drawing/2014/main" id="{D0963ACE-13E6-E749-AFC7-A330D61753DE}"/>
              </a:ext>
            </a:extLst>
          </p:cNvPr>
          <p:cNvSpPr txBox="1">
            <a:spLocks noChangeArrowheads="1"/>
          </p:cNvSpPr>
          <p:nvPr/>
        </p:nvSpPr>
        <p:spPr bwMode="auto">
          <a:xfrm>
            <a:off x="7086600" y="33528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(3)</a:t>
            </a:r>
          </a:p>
        </p:txBody>
      </p:sp>
      <p:sp>
        <p:nvSpPr>
          <p:cNvPr id="100361" name="Text Box 11">
            <a:extLst>
              <a:ext uri="{FF2B5EF4-FFF2-40B4-BE49-F238E27FC236}">
                <a16:creationId xmlns:a16="http://schemas.microsoft.com/office/drawing/2014/main" id="{9BE26E65-F6D9-1045-9925-432215007BF3}"/>
              </a:ext>
            </a:extLst>
          </p:cNvPr>
          <p:cNvSpPr txBox="1">
            <a:spLocks noChangeArrowheads="1"/>
          </p:cNvSpPr>
          <p:nvPr/>
        </p:nvSpPr>
        <p:spPr bwMode="auto">
          <a:xfrm>
            <a:off x="1371600" y="4849813"/>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TokenAB=Text3||eK</a:t>
            </a:r>
            <a:r>
              <a:rPr lang="en-US" altLang="zh-CN" sz="2400" baseline="-25000">
                <a:solidFill>
                  <a:schemeClr val="bg2"/>
                </a:solidFill>
                <a:latin typeface="Times New Roman" panose="02020603050405020304" pitchFamily="18" charset="0"/>
                <a:ea typeface="宋体" panose="02010600030101010101" pitchFamily="2" charset="-122"/>
              </a:rPr>
              <a:t>AB</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||B||Text2) </a:t>
            </a:r>
          </a:p>
        </p:txBody>
      </p:sp>
      <p:sp>
        <p:nvSpPr>
          <p:cNvPr id="100362" name="Text Box 12">
            <a:extLst>
              <a:ext uri="{FF2B5EF4-FFF2-40B4-BE49-F238E27FC236}">
                <a16:creationId xmlns:a16="http://schemas.microsoft.com/office/drawing/2014/main" id="{C647FED1-1C61-AC49-93A6-34C14DC9BE4D}"/>
              </a:ext>
            </a:extLst>
          </p:cNvPr>
          <p:cNvSpPr txBox="1">
            <a:spLocks noChangeArrowheads="1"/>
          </p:cNvSpPr>
          <p:nvPr/>
        </p:nvSpPr>
        <p:spPr bwMode="auto">
          <a:xfrm>
            <a:off x="1371600" y="5535613"/>
            <a:ext cx="609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3</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解密，验证</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 </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的正确性</a:t>
            </a:r>
          </a:p>
        </p:txBody>
      </p:sp>
      <p:sp>
        <p:nvSpPr>
          <p:cNvPr id="1396749" name="Line 13">
            <a:extLst>
              <a:ext uri="{FF2B5EF4-FFF2-40B4-BE49-F238E27FC236}">
                <a16:creationId xmlns:a16="http://schemas.microsoft.com/office/drawing/2014/main" id="{042BBF23-316D-1549-8D25-43F7D89E8C5B}"/>
              </a:ext>
            </a:extLst>
          </p:cNvPr>
          <p:cNvSpPr>
            <a:spLocks noChangeShapeType="1"/>
          </p:cNvSpPr>
          <p:nvPr/>
        </p:nvSpPr>
        <p:spPr bwMode="auto">
          <a:xfrm flipH="1">
            <a:off x="2590800" y="32766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0364" name="Text Box 14">
            <a:extLst>
              <a:ext uri="{FF2B5EF4-FFF2-40B4-BE49-F238E27FC236}">
                <a16:creationId xmlns:a16="http://schemas.microsoft.com/office/drawing/2014/main" id="{35CCC1E5-4AE3-104D-8807-53EA74628688}"/>
              </a:ext>
            </a:extLst>
          </p:cNvPr>
          <p:cNvSpPr txBox="1">
            <a:spLocks noChangeArrowheads="1"/>
          </p:cNvSpPr>
          <p:nvPr/>
        </p:nvSpPr>
        <p:spPr bwMode="auto">
          <a:xfrm>
            <a:off x="3124200" y="39624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7763" name="Rectangle 3">
            <a:extLst>
              <a:ext uri="{FF2B5EF4-FFF2-40B4-BE49-F238E27FC236}">
                <a16:creationId xmlns:a16="http://schemas.microsoft.com/office/drawing/2014/main" id="{368AC4D3-674E-9B4E-8693-1587AB9B35C7}"/>
              </a:ext>
            </a:extLst>
          </p:cNvPr>
          <p:cNvSpPr>
            <a:spLocks noGrp="1" noChangeArrowheads="1"/>
          </p:cNvSpPr>
          <p:nvPr>
            <p:ph type="body" idx="1"/>
          </p:nvPr>
        </p:nvSpPr>
        <p:spPr bwMode="auto">
          <a:xfrm>
            <a:off x="457200" y="1600200"/>
            <a:ext cx="8229600" cy="6096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None/>
              <a:defRPr/>
            </a:pPr>
            <a:r>
              <a:rPr lang="zh-CN" altLang="en-US" dirty="0">
                <a:ea typeface="宋体" panose="02010600030101010101" pitchFamily="2" charset="-122"/>
              </a:rPr>
              <a:t> </a:t>
            </a:r>
          </a:p>
        </p:txBody>
      </p:sp>
      <p:sp>
        <p:nvSpPr>
          <p:cNvPr id="101378" name="Rectangle 4">
            <a:extLst>
              <a:ext uri="{FF2B5EF4-FFF2-40B4-BE49-F238E27FC236}">
                <a16:creationId xmlns:a16="http://schemas.microsoft.com/office/drawing/2014/main" id="{6E5B7C3F-6D0F-4640-8A4B-D87E8160EEFF}"/>
              </a:ext>
            </a:extLst>
          </p:cNvPr>
          <p:cNvSpPr>
            <a:spLocks noChangeArrowheads="1"/>
          </p:cNvSpPr>
          <p:nvPr/>
        </p:nvSpPr>
        <p:spPr bwMode="auto">
          <a:xfrm>
            <a:off x="6858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zh-CN" altLang="en-US">
                <a:solidFill>
                  <a:srgbClr val="000066"/>
                </a:solidFill>
                <a:latin typeface="Times New Roman" panose="02020603050405020304" pitchFamily="18" charset="0"/>
                <a:ea typeface="华文新魏" panose="02010800040101010101" pitchFamily="2" charset="-122"/>
              </a:rPr>
              <a:t> </a:t>
            </a:r>
          </a:p>
        </p:txBody>
      </p:sp>
      <p:sp>
        <p:nvSpPr>
          <p:cNvPr id="101379" name="Rectangle 5">
            <a:extLst>
              <a:ext uri="{FF2B5EF4-FFF2-40B4-BE49-F238E27FC236}">
                <a16:creationId xmlns:a16="http://schemas.microsoft.com/office/drawing/2014/main" id="{E758EE87-772D-764A-A6A0-53BD2525E4E2}"/>
              </a:ext>
            </a:extLst>
          </p:cNvPr>
          <p:cNvSpPr>
            <a:spLocks noChangeArrowheads="1"/>
          </p:cNvSpPr>
          <p:nvPr/>
        </p:nvSpPr>
        <p:spPr bwMode="auto">
          <a:xfrm>
            <a:off x="762000" y="16764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20000"/>
              </a:spcBef>
            </a:pPr>
            <a:r>
              <a:rPr lang="zh-CN" altLang="en-US" sz="3200">
                <a:solidFill>
                  <a:srgbClr val="000066"/>
                </a:solidFill>
                <a:latin typeface="Times New Roman" panose="02020603050405020304" pitchFamily="18" charset="0"/>
                <a:ea typeface="宋体" panose="02010600030101010101" pitchFamily="2" charset="-122"/>
              </a:rPr>
              <a:t> </a:t>
            </a:r>
          </a:p>
        </p:txBody>
      </p:sp>
      <p:sp>
        <p:nvSpPr>
          <p:cNvPr id="96261" name="Rectangle 6">
            <a:extLst>
              <a:ext uri="{FF2B5EF4-FFF2-40B4-BE49-F238E27FC236}">
                <a16:creationId xmlns:a16="http://schemas.microsoft.com/office/drawing/2014/main" id="{60474192-5AEF-9D46-A862-DA7BCBDDACF5}"/>
              </a:ext>
            </a:extLst>
          </p:cNvPr>
          <p:cNvSpPr>
            <a:spLocks noChangeArrowheads="1"/>
          </p:cNvSpPr>
          <p:nvPr/>
        </p:nvSpPr>
        <p:spPr bwMode="auto">
          <a:xfrm>
            <a:off x="500063" y="647700"/>
            <a:ext cx="8001000" cy="762000"/>
          </a:xfrm>
          <a:prstGeom prst="rect">
            <a:avLst/>
          </a:prstGeom>
          <a:noFill/>
          <a:ln>
            <a:noFill/>
          </a:ln>
        </p:spPr>
        <p:txBody>
          <a:bodyPr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20000"/>
              </a:spcBef>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无可信第三方参与的机制双向鉴别</a:t>
            </a:r>
          </a:p>
        </p:txBody>
      </p:sp>
      <p:sp>
        <p:nvSpPr>
          <p:cNvPr id="101381" name="Rectangle 7">
            <a:extLst>
              <a:ext uri="{FF2B5EF4-FFF2-40B4-BE49-F238E27FC236}">
                <a16:creationId xmlns:a16="http://schemas.microsoft.com/office/drawing/2014/main" id="{0AE13DE3-A5CD-E640-82F6-638C640C4F70}"/>
              </a:ext>
            </a:extLst>
          </p:cNvPr>
          <p:cNvSpPr>
            <a:spLocks noChangeArrowheads="1"/>
          </p:cNvSpPr>
          <p:nvPr/>
        </p:nvSpPr>
        <p:spPr bwMode="auto">
          <a:xfrm>
            <a:off x="685800" y="1404938"/>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20000"/>
              </a:spcBef>
              <a:buFont typeface="Wingdings" pitchFamily="2" charset="2"/>
              <a:buChar char="u"/>
            </a:pPr>
            <a:r>
              <a:rPr lang="zh-CN" altLang="en-US" sz="3200">
                <a:solidFill>
                  <a:schemeClr val="bg2"/>
                </a:solidFill>
                <a:latin typeface="Times New Roman" panose="02020603050405020304" pitchFamily="18" charset="0"/>
                <a:ea typeface="宋体" panose="02010600030101010101" pitchFamily="2" charset="-122"/>
              </a:rPr>
              <a:t>  </a:t>
            </a:r>
            <a:r>
              <a:rPr lang="zh-CN" altLang="en-US" sz="2800">
                <a:solidFill>
                  <a:schemeClr val="bg2"/>
                </a:solidFill>
                <a:latin typeface="黑体" panose="02010609060101010101" pitchFamily="49" charset="-122"/>
                <a:ea typeface="黑体" panose="02010609060101010101" pitchFamily="49" charset="-122"/>
              </a:rPr>
              <a:t>两次传送鉴别</a:t>
            </a:r>
          </a:p>
        </p:txBody>
      </p:sp>
      <p:sp>
        <p:nvSpPr>
          <p:cNvPr id="101382" name="Text Box 8">
            <a:extLst>
              <a:ext uri="{FF2B5EF4-FFF2-40B4-BE49-F238E27FC236}">
                <a16:creationId xmlns:a16="http://schemas.microsoft.com/office/drawing/2014/main" id="{0A3B67E6-1222-2A46-8EA0-D609C606D31B}"/>
              </a:ext>
            </a:extLst>
          </p:cNvPr>
          <p:cNvSpPr txBox="1">
            <a:spLocks noChangeArrowheads="1"/>
          </p:cNvSpPr>
          <p:nvPr/>
        </p:nvSpPr>
        <p:spPr bwMode="auto">
          <a:xfrm>
            <a:off x="1676400" y="2590800"/>
            <a:ext cx="914400" cy="9906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101383" name="Text Box 9">
            <a:extLst>
              <a:ext uri="{FF2B5EF4-FFF2-40B4-BE49-F238E27FC236}">
                <a16:creationId xmlns:a16="http://schemas.microsoft.com/office/drawing/2014/main" id="{FB2FC3CD-4233-4A4E-AFEF-24A41729D6E2}"/>
              </a:ext>
            </a:extLst>
          </p:cNvPr>
          <p:cNvSpPr txBox="1">
            <a:spLocks noChangeArrowheads="1"/>
          </p:cNvSpPr>
          <p:nvPr/>
        </p:nvSpPr>
        <p:spPr bwMode="auto">
          <a:xfrm>
            <a:off x="5943600" y="2519363"/>
            <a:ext cx="914400" cy="1062037"/>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397770" name="Line 10">
            <a:extLst>
              <a:ext uri="{FF2B5EF4-FFF2-40B4-BE49-F238E27FC236}">
                <a16:creationId xmlns:a16="http://schemas.microsoft.com/office/drawing/2014/main" id="{EC29939B-789B-434C-9CC0-613A2148F371}"/>
              </a:ext>
            </a:extLst>
          </p:cNvPr>
          <p:cNvSpPr>
            <a:spLocks noChangeShapeType="1"/>
          </p:cNvSpPr>
          <p:nvPr/>
        </p:nvSpPr>
        <p:spPr bwMode="auto">
          <a:xfrm>
            <a:off x="2590800" y="3429000"/>
            <a:ext cx="3352800" cy="0"/>
          </a:xfrm>
          <a:prstGeom prst="line">
            <a:avLst/>
          </a:prstGeom>
          <a:noFill/>
          <a:ln w="38100">
            <a:solidFill>
              <a:schemeClr val="bg2"/>
            </a:solidFill>
            <a:round/>
            <a:headEnd type="triangle" w="med" len="med"/>
            <a:tailEn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1385" name="Text Box 11">
            <a:extLst>
              <a:ext uri="{FF2B5EF4-FFF2-40B4-BE49-F238E27FC236}">
                <a16:creationId xmlns:a16="http://schemas.microsoft.com/office/drawing/2014/main" id="{52B312F3-4274-0046-881A-03DE2F604A99}"/>
              </a:ext>
            </a:extLst>
          </p:cNvPr>
          <p:cNvSpPr txBox="1">
            <a:spLocks noChangeArrowheads="1"/>
          </p:cNvSpPr>
          <p:nvPr/>
        </p:nvSpPr>
        <p:spPr bwMode="auto">
          <a:xfrm>
            <a:off x="3200400" y="22098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 </a:t>
            </a:r>
            <a:r>
              <a:rPr lang="en-US" altLang="zh-CN" sz="2400">
                <a:solidFill>
                  <a:schemeClr val="bg2"/>
                </a:solidFill>
                <a:latin typeface="Times New Roman" panose="02020603050405020304" pitchFamily="18" charset="0"/>
                <a:ea typeface="宋体" panose="02010600030101010101" pitchFamily="2" charset="-122"/>
              </a:rPr>
              <a:t>TokenAB</a:t>
            </a:r>
          </a:p>
        </p:txBody>
      </p:sp>
      <p:sp>
        <p:nvSpPr>
          <p:cNvPr id="101386" name="Text Box 12">
            <a:extLst>
              <a:ext uri="{FF2B5EF4-FFF2-40B4-BE49-F238E27FC236}">
                <a16:creationId xmlns:a16="http://schemas.microsoft.com/office/drawing/2014/main" id="{0900DE22-BAAB-314F-8931-7956CB576C8C}"/>
              </a:ext>
            </a:extLst>
          </p:cNvPr>
          <p:cNvSpPr txBox="1">
            <a:spLocks noChangeArrowheads="1"/>
          </p:cNvSpPr>
          <p:nvPr/>
        </p:nvSpPr>
        <p:spPr bwMode="auto">
          <a:xfrm>
            <a:off x="7086600" y="28194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(2)</a:t>
            </a:r>
          </a:p>
        </p:txBody>
      </p:sp>
      <p:sp>
        <p:nvSpPr>
          <p:cNvPr id="101387" name="Text Box 13">
            <a:extLst>
              <a:ext uri="{FF2B5EF4-FFF2-40B4-BE49-F238E27FC236}">
                <a16:creationId xmlns:a16="http://schemas.microsoft.com/office/drawing/2014/main" id="{F0A1C898-8D30-4047-B996-C95A7429CD75}"/>
              </a:ext>
            </a:extLst>
          </p:cNvPr>
          <p:cNvSpPr txBox="1">
            <a:spLocks noChangeArrowheads="1"/>
          </p:cNvSpPr>
          <p:nvPr/>
        </p:nvSpPr>
        <p:spPr bwMode="auto">
          <a:xfrm>
            <a:off x="1447800" y="5638800"/>
            <a:ext cx="609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4</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解密，验证</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 </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的正确性</a:t>
            </a:r>
          </a:p>
        </p:txBody>
      </p:sp>
      <p:sp>
        <p:nvSpPr>
          <p:cNvPr id="1397774" name="Line 14">
            <a:extLst>
              <a:ext uri="{FF2B5EF4-FFF2-40B4-BE49-F238E27FC236}">
                <a16:creationId xmlns:a16="http://schemas.microsoft.com/office/drawing/2014/main" id="{565A4FFB-EEB5-6241-8B2F-F5FBDA435B73}"/>
              </a:ext>
            </a:extLst>
          </p:cNvPr>
          <p:cNvSpPr>
            <a:spLocks noChangeShapeType="1"/>
          </p:cNvSpPr>
          <p:nvPr/>
        </p:nvSpPr>
        <p:spPr bwMode="auto">
          <a:xfrm flipH="1">
            <a:off x="2590800" y="2743200"/>
            <a:ext cx="3352800" cy="0"/>
          </a:xfrm>
          <a:prstGeom prst="line">
            <a:avLst/>
          </a:prstGeom>
          <a:noFill/>
          <a:ln w="38100">
            <a:solidFill>
              <a:schemeClr val="bg2"/>
            </a:solidFill>
            <a:round/>
            <a:headEnd type="triangle" w="med" len="med"/>
            <a:tailEn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1389" name="Text Box 15">
            <a:extLst>
              <a:ext uri="{FF2B5EF4-FFF2-40B4-BE49-F238E27FC236}">
                <a16:creationId xmlns:a16="http://schemas.microsoft.com/office/drawing/2014/main" id="{23C6C8F5-0894-3C47-8FFB-6728A58169A3}"/>
              </a:ext>
            </a:extLst>
          </p:cNvPr>
          <p:cNvSpPr txBox="1">
            <a:spLocks noChangeArrowheads="1"/>
          </p:cNvSpPr>
          <p:nvPr/>
        </p:nvSpPr>
        <p:spPr bwMode="auto">
          <a:xfrm>
            <a:off x="3124200" y="34290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3</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TokenBA</a:t>
            </a:r>
          </a:p>
        </p:txBody>
      </p:sp>
      <p:sp>
        <p:nvSpPr>
          <p:cNvPr id="101390" name="Text Box 16">
            <a:extLst>
              <a:ext uri="{FF2B5EF4-FFF2-40B4-BE49-F238E27FC236}">
                <a16:creationId xmlns:a16="http://schemas.microsoft.com/office/drawing/2014/main" id="{71B152A5-3AD3-3243-869F-B0FEF4B4BC17}"/>
              </a:ext>
            </a:extLst>
          </p:cNvPr>
          <p:cNvSpPr txBox="1">
            <a:spLocks noChangeArrowheads="1"/>
          </p:cNvSpPr>
          <p:nvPr/>
        </p:nvSpPr>
        <p:spPr bwMode="auto">
          <a:xfrm>
            <a:off x="1447800" y="3886200"/>
            <a:ext cx="61722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TokenAB=Text2||eK</a:t>
            </a:r>
            <a:r>
              <a:rPr lang="en-US" altLang="zh-CN" sz="2400" baseline="-25000">
                <a:solidFill>
                  <a:schemeClr val="bg2"/>
                </a:solidFill>
                <a:latin typeface="Times New Roman" panose="02020603050405020304" pitchFamily="18" charset="0"/>
                <a:ea typeface="宋体" panose="02010600030101010101" pitchFamily="2" charset="-122"/>
              </a:rPr>
              <a:t>AB</a:t>
            </a:r>
            <a:r>
              <a:rPr lang="en-US" altLang="zh-CN" sz="2400">
                <a:solidFill>
                  <a:schemeClr val="bg2"/>
                </a:solidFill>
                <a:latin typeface="Times New Roman" panose="02020603050405020304" pitchFamily="18" charset="0"/>
                <a:ea typeface="宋体" panose="02010600030101010101" pitchFamily="2" charset="-122"/>
              </a:rPr>
              <a:t>(T</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||B||Text1)</a:t>
            </a:r>
          </a:p>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                                                   N</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    </a:t>
            </a:r>
          </a:p>
        </p:txBody>
      </p:sp>
      <p:sp>
        <p:nvSpPr>
          <p:cNvPr id="101391" name="Text Box 17">
            <a:extLst>
              <a:ext uri="{FF2B5EF4-FFF2-40B4-BE49-F238E27FC236}">
                <a16:creationId xmlns:a16="http://schemas.microsoft.com/office/drawing/2014/main" id="{FC5B5787-D014-214F-AC46-CCF2AE1AED9F}"/>
              </a:ext>
            </a:extLst>
          </p:cNvPr>
          <p:cNvSpPr txBox="1">
            <a:spLocks noChangeArrowheads="1"/>
          </p:cNvSpPr>
          <p:nvPr/>
        </p:nvSpPr>
        <p:spPr bwMode="auto">
          <a:xfrm>
            <a:off x="1447800" y="4724400"/>
            <a:ext cx="61722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3</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TokenBA=Text4||eK</a:t>
            </a:r>
            <a:r>
              <a:rPr lang="en-US" altLang="zh-CN" sz="2400" baseline="-25000">
                <a:solidFill>
                  <a:schemeClr val="bg2"/>
                </a:solidFill>
                <a:latin typeface="Times New Roman" panose="02020603050405020304" pitchFamily="18" charset="0"/>
                <a:ea typeface="宋体" panose="02010600030101010101" pitchFamily="2" charset="-122"/>
              </a:rPr>
              <a:t>AB</a:t>
            </a:r>
            <a:r>
              <a:rPr lang="en-US" altLang="zh-CN" sz="2400">
                <a:solidFill>
                  <a:schemeClr val="bg2"/>
                </a:solidFill>
                <a:latin typeface="Times New Roman" panose="02020603050405020304" pitchFamily="18" charset="0"/>
                <a:ea typeface="宋体" panose="02010600030101010101" pitchFamily="2" charset="-122"/>
              </a:rPr>
              <a:t>(T</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||A||Text3)</a:t>
            </a:r>
          </a:p>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                                                   N</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    </a:t>
            </a:r>
          </a:p>
        </p:txBody>
      </p:sp>
      <p:sp>
        <p:nvSpPr>
          <p:cNvPr id="101392" name="Text Box 18">
            <a:extLst>
              <a:ext uri="{FF2B5EF4-FFF2-40B4-BE49-F238E27FC236}">
                <a16:creationId xmlns:a16="http://schemas.microsoft.com/office/drawing/2014/main" id="{0FA2628A-B455-6845-87D7-17F16155A475}"/>
              </a:ext>
            </a:extLst>
          </p:cNvPr>
          <p:cNvSpPr txBox="1">
            <a:spLocks noChangeArrowheads="1"/>
          </p:cNvSpPr>
          <p:nvPr/>
        </p:nvSpPr>
        <p:spPr bwMode="auto">
          <a:xfrm>
            <a:off x="762000" y="27432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(4)</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4">
            <a:extLst>
              <a:ext uri="{FF2B5EF4-FFF2-40B4-BE49-F238E27FC236}">
                <a16:creationId xmlns:a16="http://schemas.microsoft.com/office/drawing/2014/main" id="{A786BC1E-2D9E-D445-879D-DE882AB2562E}"/>
              </a:ext>
            </a:extLst>
          </p:cNvPr>
          <p:cNvSpPr>
            <a:spLocks noChangeArrowheads="1"/>
          </p:cNvSpPr>
          <p:nvPr/>
        </p:nvSpPr>
        <p:spPr bwMode="auto">
          <a:xfrm>
            <a:off x="419100" y="793750"/>
            <a:ext cx="77724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zh-CN" altLang="en-US">
                <a:solidFill>
                  <a:srgbClr val="000066"/>
                </a:solidFill>
                <a:latin typeface="Times New Roman" panose="02020603050405020304" pitchFamily="18" charset="0"/>
                <a:ea typeface="华文新魏" panose="02010800040101010101" pitchFamily="2" charset="-122"/>
              </a:rPr>
              <a:t> </a:t>
            </a:r>
          </a:p>
        </p:txBody>
      </p:sp>
      <p:sp>
        <p:nvSpPr>
          <p:cNvPr id="102402" name="Rectangle 5">
            <a:extLst>
              <a:ext uri="{FF2B5EF4-FFF2-40B4-BE49-F238E27FC236}">
                <a16:creationId xmlns:a16="http://schemas.microsoft.com/office/drawing/2014/main" id="{102C0193-A36A-7A46-ABD1-49CE2B74D954}"/>
              </a:ext>
            </a:extLst>
          </p:cNvPr>
          <p:cNvSpPr>
            <a:spLocks noChangeArrowheads="1"/>
          </p:cNvSpPr>
          <p:nvPr/>
        </p:nvSpPr>
        <p:spPr bwMode="auto">
          <a:xfrm>
            <a:off x="762000" y="16764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20000"/>
              </a:spcBef>
            </a:pPr>
            <a:r>
              <a:rPr lang="zh-CN" altLang="en-US" sz="3200">
                <a:solidFill>
                  <a:srgbClr val="000066"/>
                </a:solidFill>
                <a:latin typeface="Times New Roman" panose="02020603050405020304" pitchFamily="18" charset="0"/>
                <a:ea typeface="宋体" panose="02010600030101010101" pitchFamily="2" charset="-122"/>
              </a:rPr>
              <a:t> </a:t>
            </a:r>
          </a:p>
        </p:txBody>
      </p:sp>
      <p:sp>
        <p:nvSpPr>
          <p:cNvPr id="97284" name="Rectangle 6">
            <a:extLst>
              <a:ext uri="{FF2B5EF4-FFF2-40B4-BE49-F238E27FC236}">
                <a16:creationId xmlns:a16="http://schemas.microsoft.com/office/drawing/2014/main" id="{5B642B42-7E2A-BB43-A121-B68508F7C161}"/>
              </a:ext>
            </a:extLst>
          </p:cNvPr>
          <p:cNvSpPr>
            <a:spLocks noChangeArrowheads="1"/>
          </p:cNvSpPr>
          <p:nvPr/>
        </p:nvSpPr>
        <p:spPr bwMode="auto">
          <a:xfrm>
            <a:off x="609600" y="762000"/>
            <a:ext cx="7772400" cy="762000"/>
          </a:xfrm>
          <a:prstGeom prst="rect">
            <a:avLst/>
          </a:prstGeom>
          <a:noFill/>
          <a:ln>
            <a:noFill/>
          </a:ln>
        </p:spPr>
        <p:txBody>
          <a:bodyPr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20000"/>
              </a:spcBef>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无可信第三方参与的机制双向鉴别</a:t>
            </a:r>
          </a:p>
        </p:txBody>
      </p:sp>
      <p:sp>
        <p:nvSpPr>
          <p:cNvPr id="102404" name="Rectangle 7">
            <a:extLst>
              <a:ext uri="{FF2B5EF4-FFF2-40B4-BE49-F238E27FC236}">
                <a16:creationId xmlns:a16="http://schemas.microsoft.com/office/drawing/2014/main" id="{E98BD437-D58F-9341-878C-39F701D501A2}"/>
              </a:ext>
            </a:extLst>
          </p:cNvPr>
          <p:cNvSpPr>
            <a:spLocks noChangeArrowheads="1"/>
          </p:cNvSpPr>
          <p:nvPr/>
        </p:nvSpPr>
        <p:spPr bwMode="auto">
          <a:xfrm>
            <a:off x="685800" y="1612900"/>
            <a:ext cx="77724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20000"/>
              </a:spcBef>
              <a:buFont typeface="Wingdings" pitchFamily="2" charset="2"/>
              <a:buChar char="u"/>
            </a:pPr>
            <a:r>
              <a:rPr lang="zh-CN" altLang="en-US" sz="3200">
                <a:solidFill>
                  <a:schemeClr val="bg2"/>
                </a:solidFill>
                <a:latin typeface="黑体" panose="02010609060101010101" pitchFamily="49" charset="-122"/>
                <a:ea typeface="黑体" panose="02010609060101010101" pitchFamily="49" charset="-122"/>
              </a:rPr>
              <a:t>  </a:t>
            </a:r>
            <a:r>
              <a:rPr lang="zh-CN" altLang="en-US" sz="2800">
                <a:solidFill>
                  <a:schemeClr val="bg2"/>
                </a:solidFill>
                <a:latin typeface="黑体" panose="02010609060101010101" pitchFamily="49" charset="-122"/>
                <a:ea typeface="黑体" panose="02010609060101010101" pitchFamily="49" charset="-122"/>
              </a:rPr>
              <a:t>三次传送鉴别</a:t>
            </a:r>
          </a:p>
        </p:txBody>
      </p:sp>
      <p:sp>
        <p:nvSpPr>
          <p:cNvPr id="102405" name="Text Box 8">
            <a:extLst>
              <a:ext uri="{FF2B5EF4-FFF2-40B4-BE49-F238E27FC236}">
                <a16:creationId xmlns:a16="http://schemas.microsoft.com/office/drawing/2014/main" id="{F95610EB-4F27-0942-A53D-CDFBE837B8C7}"/>
              </a:ext>
            </a:extLst>
          </p:cNvPr>
          <p:cNvSpPr txBox="1">
            <a:spLocks noChangeArrowheads="1"/>
          </p:cNvSpPr>
          <p:nvPr/>
        </p:nvSpPr>
        <p:spPr bwMode="auto">
          <a:xfrm>
            <a:off x="1676400" y="2667000"/>
            <a:ext cx="914400" cy="11430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102406" name="Text Box 9">
            <a:extLst>
              <a:ext uri="{FF2B5EF4-FFF2-40B4-BE49-F238E27FC236}">
                <a16:creationId xmlns:a16="http://schemas.microsoft.com/office/drawing/2014/main" id="{AD12F389-EABB-0F41-8BFF-70D6EE9038AE}"/>
              </a:ext>
            </a:extLst>
          </p:cNvPr>
          <p:cNvSpPr txBox="1">
            <a:spLocks noChangeArrowheads="1"/>
          </p:cNvSpPr>
          <p:nvPr/>
        </p:nvSpPr>
        <p:spPr bwMode="auto">
          <a:xfrm>
            <a:off x="5943600" y="2595563"/>
            <a:ext cx="914400" cy="1214437"/>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398794" name="Line 10">
            <a:extLst>
              <a:ext uri="{FF2B5EF4-FFF2-40B4-BE49-F238E27FC236}">
                <a16:creationId xmlns:a16="http://schemas.microsoft.com/office/drawing/2014/main" id="{C3CDADE7-2C36-AF4A-898E-BC3E944D4F4E}"/>
              </a:ext>
            </a:extLst>
          </p:cNvPr>
          <p:cNvSpPr>
            <a:spLocks noChangeShapeType="1"/>
          </p:cNvSpPr>
          <p:nvPr/>
        </p:nvSpPr>
        <p:spPr bwMode="auto">
          <a:xfrm>
            <a:off x="2590800" y="32766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2408" name="Text Box 11">
            <a:extLst>
              <a:ext uri="{FF2B5EF4-FFF2-40B4-BE49-F238E27FC236}">
                <a16:creationId xmlns:a16="http://schemas.microsoft.com/office/drawing/2014/main" id="{21A39F6A-1D4A-1441-A3C2-14AD2ABC2BD4}"/>
              </a:ext>
            </a:extLst>
          </p:cNvPr>
          <p:cNvSpPr txBox="1">
            <a:spLocks noChangeArrowheads="1"/>
          </p:cNvSpPr>
          <p:nvPr/>
        </p:nvSpPr>
        <p:spPr bwMode="auto">
          <a:xfrm>
            <a:off x="3124200" y="24384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||Text1</a:t>
            </a:r>
          </a:p>
        </p:txBody>
      </p:sp>
      <p:sp>
        <p:nvSpPr>
          <p:cNvPr id="102409" name="Text Box 12">
            <a:extLst>
              <a:ext uri="{FF2B5EF4-FFF2-40B4-BE49-F238E27FC236}">
                <a16:creationId xmlns:a16="http://schemas.microsoft.com/office/drawing/2014/main" id="{C91531EA-C343-FA45-9311-BA8A123825DA}"/>
              </a:ext>
            </a:extLst>
          </p:cNvPr>
          <p:cNvSpPr txBox="1">
            <a:spLocks noChangeArrowheads="1"/>
          </p:cNvSpPr>
          <p:nvPr/>
        </p:nvSpPr>
        <p:spPr bwMode="auto">
          <a:xfrm>
            <a:off x="6934200" y="25908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(3)</a:t>
            </a:r>
          </a:p>
        </p:txBody>
      </p:sp>
      <p:sp>
        <p:nvSpPr>
          <p:cNvPr id="102410" name="Text Box 13">
            <a:extLst>
              <a:ext uri="{FF2B5EF4-FFF2-40B4-BE49-F238E27FC236}">
                <a16:creationId xmlns:a16="http://schemas.microsoft.com/office/drawing/2014/main" id="{39D92D67-9173-4541-9048-15B39409D790}"/>
              </a:ext>
            </a:extLst>
          </p:cNvPr>
          <p:cNvSpPr txBox="1">
            <a:spLocks noChangeArrowheads="1"/>
          </p:cNvSpPr>
          <p:nvPr/>
        </p:nvSpPr>
        <p:spPr bwMode="auto">
          <a:xfrm>
            <a:off x="1371600" y="4343400"/>
            <a:ext cx="655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TokenAB=Text3||eK</a:t>
            </a:r>
            <a:r>
              <a:rPr lang="en-US" altLang="zh-CN" sz="2400" baseline="-25000">
                <a:solidFill>
                  <a:schemeClr val="bg2"/>
                </a:solidFill>
                <a:latin typeface="Times New Roman" panose="02020603050405020304" pitchFamily="18" charset="0"/>
                <a:ea typeface="宋体" panose="02010600030101010101" pitchFamily="2" charset="-122"/>
              </a:rPr>
              <a:t>AB</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 ||R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||B||Text2) </a:t>
            </a:r>
          </a:p>
        </p:txBody>
      </p:sp>
      <p:sp>
        <p:nvSpPr>
          <p:cNvPr id="102411" name="Text Box 14">
            <a:extLst>
              <a:ext uri="{FF2B5EF4-FFF2-40B4-BE49-F238E27FC236}">
                <a16:creationId xmlns:a16="http://schemas.microsoft.com/office/drawing/2014/main" id="{06CC492C-4B32-8041-8299-F042E3CD9B76}"/>
              </a:ext>
            </a:extLst>
          </p:cNvPr>
          <p:cNvSpPr txBox="1">
            <a:spLocks noChangeArrowheads="1"/>
          </p:cNvSpPr>
          <p:nvPr/>
        </p:nvSpPr>
        <p:spPr bwMode="auto">
          <a:xfrm>
            <a:off x="1371600" y="4800600"/>
            <a:ext cx="609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3</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解密，验证</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 </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的正确性</a:t>
            </a:r>
          </a:p>
        </p:txBody>
      </p:sp>
      <p:sp>
        <p:nvSpPr>
          <p:cNvPr id="1398799" name="Line 15">
            <a:extLst>
              <a:ext uri="{FF2B5EF4-FFF2-40B4-BE49-F238E27FC236}">
                <a16:creationId xmlns:a16="http://schemas.microsoft.com/office/drawing/2014/main" id="{23AD9FFA-F5C4-0E4C-BB22-26B1FA53065C}"/>
              </a:ext>
            </a:extLst>
          </p:cNvPr>
          <p:cNvSpPr>
            <a:spLocks noChangeShapeType="1"/>
          </p:cNvSpPr>
          <p:nvPr/>
        </p:nvSpPr>
        <p:spPr bwMode="auto">
          <a:xfrm flipH="1">
            <a:off x="2590800" y="28956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2413" name="Text Box 16">
            <a:extLst>
              <a:ext uri="{FF2B5EF4-FFF2-40B4-BE49-F238E27FC236}">
                <a16:creationId xmlns:a16="http://schemas.microsoft.com/office/drawing/2014/main" id="{1C3D58E8-C645-8E4D-9819-9B98D373F53D}"/>
              </a:ext>
            </a:extLst>
          </p:cNvPr>
          <p:cNvSpPr txBox="1">
            <a:spLocks noChangeArrowheads="1"/>
          </p:cNvSpPr>
          <p:nvPr/>
        </p:nvSpPr>
        <p:spPr bwMode="auto">
          <a:xfrm>
            <a:off x="3124200" y="28956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a:t>
            </a:r>
          </a:p>
        </p:txBody>
      </p:sp>
      <p:sp>
        <p:nvSpPr>
          <p:cNvPr id="1398801" name="Line 17">
            <a:extLst>
              <a:ext uri="{FF2B5EF4-FFF2-40B4-BE49-F238E27FC236}">
                <a16:creationId xmlns:a16="http://schemas.microsoft.com/office/drawing/2014/main" id="{1DF463F7-7C45-2349-82E1-B2EC00447967}"/>
              </a:ext>
            </a:extLst>
          </p:cNvPr>
          <p:cNvSpPr>
            <a:spLocks noChangeShapeType="1"/>
          </p:cNvSpPr>
          <p:nvPr/>
        </p:nvSpPr>
        <p:spPr bwMode="auto">
          <a:xfrm flipH="1">
            <a:off x="2590800" y="35814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2415" name="Text Box 18">
            <a:extLst>
              <a:ext uri="{FF2B5EF4-FFF2-40B4-BE49-F238E27FC236}">
                <a16:creationId xmlns:a16="http://schemas.microsoft.com/office/drawing/2014/main" id="{4DB2088C-43E4-084C-8783-8C6E3917E656}"/>
              </a:ext>
            </a:extLst>
          </p:cNvPr>
          <p:cNvSpPr txBox="1">
            <a:spLocks noChangeArrowheads="1"/>
          </p:cNvSpPr>
          <p:nvPr/>
        </p:nvSpPr>
        <p:spPr bwMode="auto">
          <a:xfrm>
            <a:off x="3124200" y="36576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4</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TokenBA</a:t>
            </a:r>
          </a:p>
        </p:txBody>
      </p:sp>
      <p:sp>
        <p:nvSpPr>
          <p:cNvPr id="102416" name="Text Box 19">
            <a:extLst>
              <a:ext uri="{FF2B5EF4-FFF2-40B4-BE49-F238E27FC236}">
                <a16:creationId xmlns:a16="http://schemas.microsoft.com/office/drawing/2014/main" id="{F843E29E-B7E7-D643-B35E-4697D51FA204}"/>
              </a:ext>
            </a:extLst>
          </p:cNvPr>
          <p:cNvSpPr txBox="1">
            <a:spLocks noChangeArrowheads="1"/>
          </p:cNvSpPr>
          <p:nvPr/>
        </p:nvSpPr>
        <p:spPr bwMode="auto">
          <a:xfrm>
            <a:off x="1371600" y="5257800"/>
            <a:ext cx="655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4</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TokenBA=Text5||eK</a:t>
            </a:r>
            <a:r>
              <a:rPr lang="en-US" altLang="zh-CN" sz="2400" baseline="-25000">
                <a:solidFill>
                  <a:schemeClr val="bg2"/>
                </a:solidFill>
                <a:latin typeface="Times New Roman" panose="02020603050405020304" pitchFamily="18" charset="0"/>
                <a:ea typeface="宋体" panose="02010600030101010101" pitchFamily="2" charset="-122"/>
              </a:rPr>
              <a:t>AB</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 ||R</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||Text4) </a:t>
            </a:r>
          </a:p>
        </p:txBody>
      </p:sp>
      <p:sp>
        <p:nvSpPr>
          <p:cNvPr id="102417" name="Text Box 20">
            <a:extLst>
              <a:ext uri="{FF2B5EF4-FFF2-40B4-BE49-F238E27FC236}">
                <a16:creationId xmlns:a16="http://schemas.microsoft.com/office/drawing/2014/main" id="{2119B615-98B4-CD4B-B409-39B3A9313E49}"/>
              </a:ext>
            </a:extLst>
          </p:cNvPr>
          <p:cNvSpPr txBox="1">
            <a:spLocks noChangeArrowheads="1"/>
          </p:cNvSpPr>
          <p:nvPr/>
        </p:nvSpPr>
        <p:spPr bwMode="auto">
          <a:xfrm>
            <a:off x="838200" y="27432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(5)</a:t>
            </a:r>
          </a:p>
        </p:txBody>
      </p:sp>
      <p:sp>
        <p:nvSpPr>
          <p:cNvPr id="102418" name="Text Box 21">
            <a:extLst>
              <a:ext uri="{FF2B5EF4-FFF2-40B4-BE49-F238E27FC236}">
                <a16:creationId xmlns:a16="http://schemas.microsoft.com/office/drawing/2014/main" id="{8BA45934-B7BE-0A40-9FAF-8886EC5F471C}"/>
              </a:ext>
            </a:extLst>
          </p:cNvPr>
          <p:cNvSpPr txBox="1">
            <a:spLocks noChangeArrowheads="1"/>
          </p:cNvSpPr>
          <p:nvPr/>
        </p:nvSpPr>
        <p:spPr bwMode="auto">
          <a:xfrm>
            <a:off x="1371600" y="5791200"/>
            <a:ext cx="609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5</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解密，验证</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a:t>
            </a:r>
            <a:r>
              <a:rPr lang="zh-CN" altLang="en-US" sz="2400" baseline="-25000">
                <a:solidFill>
                  <a:schemeClr val="bg2"/>
                </a:solidFill>
                <a:latin typeface="Times New Roman" panose="02020603050405020304" pitchFamily="18" charset="0"/>
                <a:ea typeface="宋体" panose="02010600030101010101" pitchFamily="2" charset="-122"/>
              </a:rPr>
              <a:t> </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的正确性</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9810" name="Rectangle 2">
            <a:extLst>
              <a:ext uri="{FF2B5EF4-FFF2-40B4-BE49-F238E27FC236}">
                <a16:creationId xmlns:a16="http://schemas.microsoft.com/office/drawing/2014/main" id="{DA3FC34B-4463-F84C-9D85-41A639BCAB9E}"/>
              </a:ext>
            </a:extLst>
          </p:cNvPr>
          <p:cNvSpPr>
            <a:spLocks noGrp="1" noChangeArrowheads="1"/>
          </p:cNvSpPr>
          <p:nvPr>
            <p:ph type="title"/>
          </p:nvPr>
        </p:nvSpPr>
        <p:spPr bwMode="auto">
          <a:xfrm>
            <a:off x="533400" y="685800"/>
            <a:ext cx="8382000" cy="6858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spcBef>
                <a:spcPct val="20000"/>
              </a:spcBef>
              <a:defRPr/>
            </a:pPr>
            <a:r>
              <a:rPr kumimoji="1" lang="zh-CN" altLang="en-US" sz="3200">
                <a:solidFill>
                  <a:srgbClr val="FF0000"/>
                </a:solidFill>
                <a:latin typeface="黑体" panose="02010609060101010101" pitchFamily="49" charset="-122"/>
                <a:ea typeface="黑体" panose="02010609060101010101" pitchFamily="49" charset="-122"/>
              </a:rPr>
              <a:t>涉及可信第三方的机制</a:t>
            </a:r>
            <a:r>
              <a:rPr kumimoji="1" lang="en-US" altLang="zh-CN" sz="3200">
                <a:solidFill>
                  <a:srgbClr val="FF0000"/>
                </a:solidFill>
                <a:latin typeface="黑体" panose="02010609060101010101" pitchFamily="49" charset="-122"/>
                <a:ea typeface="黑体" panose="02010609060101010101" pitchFamily="49" charset="-122"/>
              </a:rPr>
              <a:t>--</a:t>
            </a:r>
            <a:r>
              <a:rPr kumimoji="1" lang="zh-CN" altLang="en-US" sz="3200">
                <a:solidFill>
                  <a:srgbClr val="FF0000"/>
                </a:solidFill>
                <a:latin typeface="黑体" panose="02010609060101010101" pitchFamily="49" charset="-122"/>
                <a:ea typeface="黑体" panose="02010609060101010101" pitchFamily="49" charset="-122"/>
              </a:rPr>
              <a:t>双向鉴别</a:t>
            </a:r>
          </a:p>
        </p:txBody>
      </p:sp>
      <p:sp>
        <p:nvSpPr>
          <p:cNvPr id="1399811" name="Rectangle 3">
            <a:extLst>
              <a:ext uri="{FF2B5EF4-FFF2-40B4-BE49-F238E27FC236}">
                <a16:creationId xmlns:a16="http://schemas.microsoft.com/office/drawing/2014/main" id="{C163E767-01CF-0A47-BCF9-383D39D7E5A2}"/>
              </a:ext>
            </a:extLst>
          </p:cNvPr>
          <p:cNvSpPr>
            <a:spLocks noGrp="1" noChangeArrowheads="1"/>
          </p:cNvSpPr>
          <p:nvPr>
            <p:ph type="body" idx="1"/>
          </p:nvPr>
        </p:nvSpPr>
        <p:spPr bwMode="auto">
          <a:xfrm>
            <a:off x="685800" y="1219200"/>
            <a:ext cx="7772400" cy="549275"/>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spcBef>
                <a:spcPct val="20000"/>
              </a:spcBef>
              <a:buClr>
                <a:schemeClr val="bg2"/>
              </a:buClr>
              <a:buFont typeface="Wingdings" pitchFamily="2" charset="2"/>
              <a:buChar char="u"/>
              <a:defRPr/>
            </a:pPr>
            <a:r>
              <a:rPr kumimoji="1" lang="zh-CN" altLang="en-US" sz="2800">
                <a:solidFill>
                  <a:schemeClr val="bg2"/>
                </a:solidFill>
                <a:latin typeface="黑体" panose="02010609060101010101" pitchFamily="49" charset="-122"/>
                <a:ea typeface="黑体" panose="02010609060101010101" pitchFamily="49" charset="-122"/>
              </a:rPr>
              <a:t>四次传送鉴别</a:t>
            </a:r>
          </a:p>
        </p:txBody>
      </p:sp>
      <p:sp>
        <p:nvSpPr>
          <p:cNvPr id="103427" name="Text Box 4">
            <a:extLst>
              <a:ext uri="{FF2B5EF4-FFF2-40B4-BE49-F238E27FC236}">
                <a16:creationId xmlns:a16="http://schemas.microsoft.com/office/drawing/2014/main" id="{E5E32948-637A-284F-BFCC-849261C008FB}"/>
              </a:ext>
            </a:extLst>
          </p:cNvPr>
          <p:cNvSpPr txBox="1">
            <a:spLocks noChangeArrowheads="1"/>
          </p:cNvSpPr>
          <p:nvPr/>
        </p:nvSpPr>
        <p:spPr bwMode="auto">
          <a:xfrm>
            <a:off x="3733800" y="2819400"/>
            <a:ext cx="914400" cy="6096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chemeClr val="bg2"/>
                </a:solidFill>
                <a:latin typeface="Times New Roman" panose="02020603050405020304" pitchFamily="18" charset="0"/>
                <a:ea typeface="宋体" panose="02010600030101010101" pitchFamily="2" charset="-122"/>
              </a:rPr>
              <a:t>A</a:t>
            </a:r>
          </a:p>
        </p:txBody>
      </p:sp>
      <p:sp>
        <p:nvSpPr>
          <p:cNvPr id="103428" name="Text Box 5">
            <a:extLst>
              <a:ext uri="{FF2B5EF4-FFF2-40B4-BE49-F238E27FC236}">
                <a16:creationId xmlns:a16="http://schemas.microsoft.com/office/drawing/2014/main" id="{1FF124C4-B091-FE48-8D44-B0A6CC5225E5}"/>
              </a:ext>
            </a:extLst>
          </p:cNvPr>
          <p:cNvSpPr txBox="1">
            <a:spLocks noChangeArrowheads="1"/>
          </p:cNvSpPr>
          <p:nvPr/>
        </p:nvSpPr>
        <p:spPr bwMode="auto">
          <a:xfrm>
            <a:off x="7391400" y="2895600"/>
            <a:ext cx="914400" cy="528638"/>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399814" name="Line 6">
            <a:extLst>
              <a:ext uri="{FF2B5EF4-FFF2-40B4-BE49-F238E27FC236}">
                <a16:creationId xmlns:a16="http://schemas.microsoft.com/office/drawing/2014/main" id="{55A7936D-C0A4-F74C-A95B-ECD0961CA80B}"/>
              </a:ext>
            </a:extLst>
          </p:cNvPr>
          <p:cNvSpPr>
            <a:spLocks noChangeShapeType="1"/>
          </p:cNvSpPr>
          <p:nvPr/>
        </p:nvSpPr>
        <p:spPr bwMode="auto">
          <a:xfrm>
            <a:off x="4648200" y="3276600"/>
            <a:ext cx="2743200" cy="0"/>
          </a:xfrm>
          <a:prstGeom prst="line">
            <a:avLst/>
          </a:prstGeom>
          <a:noFill/>
          <a:ln w="38100">
            <a:solidFill>
              <a:schemeClr val="bg2"/>
            </a:solidFill>
            <a:round/>
            <a:headEnd type="triangle" w="med" len="med"/>
            <a:tailEn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99815" name="Line 7">
            <a:extLst>
              <a:ext uri="{FF2B5EF4-FFF2-40B4-BE49-F238E27FC236}">
                <a16:creationId xmlns:a16="http://schemas.microsoft.com/office/drawing/2014/main" id="{EDF5B004-F751-8044-A4BD-1E76B0E2BA9E}"/>
              </a:ext>
            </a:extLst>
          </p:cNvPr>
          <p:cNvSpPr>
            <a:spLocks noChangeShapeType="1"/>
          </p:cNvSpPr>
          <p:nvPr/>
        </p:nvSpPr>
        <p:spPr bwMode="auto">
          <a:xfrm flipH="1">
            <a:off x="4648200" y="3048000"/>
            <a:ext cx="2743200" cy="0"/>
          </a:xfrm>
          <a:prstGeom prst="line">
            <a:avLst/>
          </a:prstGeom>
          <a:noFill/>
          <a:ln w="38100">
            <a:solidFill>
              <a:schemeClr val="bg2"/>
            </a:solidFill>
            <a:round/>
            <a:headEnd type="triangle" w="med" len="med"/>
            <a:tailEn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3431" name="Text Box 8">
            <a:extLst>
              <a:ext uri="{FF2B5EF4-FFF2-40B4-BE49-F238E27FC236}">
                <a16:creationId xmlns:a16="http://schemas.microsoft.com/office/drawing/2014/main" id="{576A359B-A81F-A540-8CD7-99D605054826}"/>
              </a:ext>
            </a:extLst>
          </p:cNvPr>
          <p:cNvSpPr txBox="1">
            <a:spLocks noChangeArrowheads="1"/>
          </p:cNvSpPr>
          <p:nvPr/>
        </p:nvSpPr>
        <p:spPr bwMode="auto">
          <a:xfrm>
            <a:off x="4800600" y="34290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6</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TokenBA</a:t>
            </a:r>
          </a:p>
        </p:txBody>
      </p:sp>
      <p:sp>
        <p:nvSpPr>
          <p:cNvPr id="103432" name="Text Box 9">
            <a:extLst>
              <a:ext uri="{FF2B5EF4-FFF2-40B4-BE49-F238E27FC236}">
                <a16:creationId xmlns:a16="http://schemas.microsoft.com/office/drawing/2014/main" id="{E98A75E5-A95E-9743-9204-CBDEE9CAEC0F}"/>
              </a:ext>
            </a:extLst>
          </p:cNvPr>
          <p:cNvSpPr txBox="1">
            <a:spLocks noChangeArrowheads="1"/>
          </p:cNvSpPr>
          <p:nvPr/>
        </p:nvSpPr>
        <p:spPr bwMode="auto">
          <a:xfrm>
            <a:off x="3733800" y="1371600"/>
            <a:ext cx="914400" cy="5334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TP</a:t>
            </a:r>
          </a:p>
        </p:txBody>
      </p:sp>
      <p:sp>
        <p:nvSpPr>
          <p:cNvPr id="1399818" name="Line 10">
            <a:extLst>
              <a:ext uri="{FF2B5EF4-FFF2-40B4-BE49-F238E27FC236}">
                <a16:creationId xmlns:a16="http://schemas.microsoft.com/office/drawing/2014/main" id="{A96F8E3C-1834-FE47-9AAA-75A90DE0D0BB}"/>
              </a:ext>
            </a:extLst>
          </p:cNvPr>
          <p:cNvSpPr>
            <a:spLocks noChangeShapeType="1"/>
          </p:cNvSpPr>
          <p:nvPr/>
        </p:nvSpPr>
        <p:spPr bwMode="auto">
          <a:xfrm flipV="1">
            <a:off x="4038600" y="1905000"/>
            <a:ext cx="0" cy="91440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399819" name="Line 11">
            <a:extLst>
              <a:ext uri="{FF2B5EF4-FFF2-40B4-BE49-F238E27FC236}">
                <a16:creationId xmlns:a16="http://schemas.microsoft.com/office/drawing/2014/main" id="{1A68F6F6-F855-F14B-8514-67CF62992F7C}"/>
              </a:ext>
            </a:extLst>
          </p:cNvPr>
          <p:cNvSpPr>
            <a:spLocks noChangeShapeType="1"/>
          </p:cNvSpPr>
          <p:nvPr/>
        </p:nvSpPr>
        <p:spPr bwMode="auto">
          <a:xfrm>
            <a:off x="4343400" y="1905000"/>
            <a:ext cx="0" cy="91440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3435" name="Text Box 12">
            <a:extLst>
              <a:ext uri="{FF2B5EF4-FFF2-40B4-BE49-F238E27FC236}">
                <a16:creationId xmlns:a16="http://schemas.microsoft.com/office/drawing/2014/main" id="{A8577BE4-ABF8-5D41-A05F-A7C7DAB1365A}"/>
              </a:ext>
            </a:extLst>
          </p:cNvPr>
          <p:cNvSpPr txBox="1">
            <a:spLocks noChangeArrowheads="1"/>
          </p:cNvSpPr>
          <p:nvPr/>
        </p:nvSpPr>
        <p:spPr bwMode="auto">
          <a:xfrm>
            <a:off x="4800600" y="25908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4</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a:t>
            </a:r>
          </a:p>
        </p:txBody>
      </p:sp>
      <p:sp>
        <p:nvSpPr>
          <p:cNvPr id="103436" name="Text Box 13">
            <a:extLst>
              <a:ext uri="{FF2B5EF4-FFF2-40B4-BE49-F238E27FC236}">
                <a16:creationId xmlns:a16="http://schemas.microsoft.com/office/drawing/2014/main" id="{D2AC1A72-40D0-E14A-B8D7-190DD22EDB80}"/>
              </a:ext>
            </a:extLst>
          </p:cNvPr>
          <p:cNvSpPr txBox="1">
            <a:spLocks noChangeArrowheads="1"/>
          </p:cNvSpPr>
          <p:nvPr/>
        </p:nvSpPr>
        <p:spPr bwMode="auto">
          <a:xfrm>
            <a:off x="4800600" y="17526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TokenTA</a:t>
            </a:r>
          </a:p>
        </p:txBody>
      </p:sp>
      <p:sp>
        <p:nvSpPr>
          <p:cNvPr id="103437" name="Text Box 14">
            <a:extLst>
              <a:ext uri="{FF2B5EF4-FFF2-40B4-BE49-F238E27FC236}">
                <a16:creationId xmlns:a16="http://schemas.microsoft.com/office/drawing/2014/main" id="{F34EC114-343B-7748-AB67-79FA9E712633}"/>
              </a:ext>
            </a:extLst>
          </p:cNvPr>
          <p:cNvSpPr txBox="1">
            <a:spLocks noChangeArrowheads="1"/>
          </p:cNvSpPr>
          <p:nvPr/>
        </p:nvSpPr>
        <p:spPr bwMode="auto">
          <a:xfrm>
            <a:off x="1143000" y="19050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TVP</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||B||Text1</a:t>
            </a:r>
          </a:p>
        </p:txBody>
      </p:sp>
      <p:sp>
        <p:nvSpPr>
          <p:cNvPr id="103438" name="Text Box 15">
            <a:extLst>
              <a:ext uri="{FF2B5EF4-FFF2-40B4-BE49-F238E27FC236}">
                <a16:creationId xmlns:a16="http://schemas.microsoft.com/office/drawing/2014/main" id="{97A68B57-5B72-BC47-B806-9029F54C4B49}"/>
              </a:ext>
            </a:extLst>
          </p:cNvPr>
          <p:cNvSpPr txBox="1">
            <a:spLocks noChangeArrowheads="1"/>
          </p:cNvSpPr>
          <p:nvPr/>
        </p:nvSpPr>
        <p:spPr bwMode="auto">
          <a:xfrm>
            <a:off x="2895600" y="26670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(3)</a:t>
            </a:r>
          </a:p>
        </p:txBody>
      </p:sp>
      <p:sp>
        <p:nvSpPr>
          <p:cNvPr id="103439" name="Text Box 16">
            <a:extLst>
              <a:ext uri="{FF2B5EF4-FFF2-40B4-BE49-F238E27FC236}">
                <a16:creationId xmlns:a16="http://schemas.microsoft.com/office/drawing/2014/main" id="{0767356B-B83C-3748-AC9D-48118D8D2A76}"/>
              </a:ext>
            </a:extLst>
          </p:cNvPr>
          <p:cNvSpPr txBox="1">
            <a:spLocks noChangeArrowheads="1"/>
          </p:cNvSpPr>
          <p:nvPr/>
        </p:nvSpPr>
        <p:spPr bwMode="auto">
          <a:xfrm>
            <a:off x="2895600" y="30480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(7)</a:t>
            </a:r>
          </a:p>
        </p:txBody>
      </p:sp>
      <p:sp>
        <p:nvSpPr>
          <p:cNvPr id="103440" name="Text Box 17">
            <a:extLst>
              <a:ext uri="{FF2B5EF4-FFF2-40B4-BE49-F238E27FC236}">
                <a16:creationId xmlns:a16="http://schemas.microsoft.com/office/drawing/2014/main" id="{9FE2CE47-842B-2243-B2F1-4D334AECB88C}"/>
              </a:ext>
            </a:extLst>
          </p:cNvPr>
          <p:cNvSpPr txBox="1">
            <a:spLocks noChangeArrowheads="1"/>
          </p:cNvSpPr>
          <p:nvPr/>
        </p:nvSpPr>
        <p:spPr bwMode="auto">
          <a:xfrm>
            <a:off x="8458200" y="28956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(5)</a:t>
            </a:r>
          </a:p>
        </p:txBody>
      </p:sp>
      <p:sp>
        <p:nvSpPr>
          <p:cNvPr id="103441" name="Text Box 18">
            <a:extLst>
              <a:ext uri="{FF2B5EF4-FFF2-40B4-BE49-F238E27FC236}">
                <a16:creationId xmlns:a16="http://schemas.microsoft.com/office/drawing/2014/main" id="{AC70EAF9-F788-7541-9F02-130EF223E6DF}"/>
              </a:ext>
            </a:extLst>
          </p:cNvPr>
          <p:cNvSpPr txBox="1">
            <a:spLocks noChangeArrowheads="1"/>
          </p:cNvSpPr>
          <p:nvPr/>
        </p:nvSpPr>
        <p:spPr bwMode="auto">
          <a:xfrm>
            <a:off x="76200" y="3733800"/>
            <a:ext cx="89916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2</a:t>
            </a: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TokenTA=Text4||eK</a:t>
            </a:r>
            <a:r>
              <a:rPr lang="en-US" altLang="zh-CN" sz="2000" baseline="-25000">
                <a:solidFill>
                  <a:schemeClr val="bg2"/>
                </a:solidFill>
                <a:latin typeface="Times New Roman" panose="02020603050405020304" pitchFamily="18" charset="0"/>
                <a:ea typeface="宋体" panose="02010600030101010101" pitchFamily="2" charset="-122"/>
              </a:rPr>
              <a:t>AT</a:t>
            </a:r>
            <a:r>
              <a:rPr lang="en-US" altLang="zh-CN" sz="2000">
                <a:solidFill>
                  <a:schemeClr val="bg2"/>
                </a:solidFill>
                <a:latin typeface="Times New Roman" panose="02020603050405020304" pitchFamily="18" charset="0"/>
                <a:ea typeface="宋体" panose="02010600030101010101" pitchFamily="2" charset="-122"/>
              </a:rPr>
              <a:t>(TVP</a:t>
            </a:r>
            <a:r>
              <a:rPr lang="en-US" altLang="zh-CN" sz="2000" baseline="-25000">
                <a:solidFill>
                  <a:schemeClr val="bg2"/>
                </a:solidFill>
                <a:latin typeface="Times New Roman" panose="02020603050405020304" pitchFamily="18" charset="0"/>
                <a:ea typeface="宋体" panose="02010600030101010101" pitchFamily="2" charset="-122"/>
              </a:rPr>
              <a:t>A</a:t>
            </a:r>
            <a:r>
              <a:rPr lang="en-US" altLang="zh-CN" sz="2000">
                <a:solidFill>
                  <a:schemeClr val="bg2"/>
                </a:solidFill>
                <a:latin typeface="Times New Roman" panose="02020603050405020304" pitchFamily="18" charset="0"/>
                <a:ea typeface="宋体" panose="02010600030101010101" pitchFamily="2" charset="-122"/>
              </a:rPr>
              <a:t> ||K</a:t>
            </a:r>
            <a:r>
              <a:rPr lang="en-US" altLang="zh-CN" sz="2000" baseline="-25000">
                <a:solidFill>
                  <a:schemeClr val="bg2"/>
                </a:solidFill>
                <a:latin typeface="Times New Roman" panose="02020603050405020304" pitchFamily="18" charset="0"/>
                <a:ea typeface="宋体" panose="02010600030101010101" pitchFamily="2" charset="-122"/>
              </a:rPr>
              <a:t>AB</a:t>
            </a:r>
            <a:r>
              <a:rPr lang="en-US" altLang="zh-CN" sz="2000">
                <a:solidFill>
                  <a:schemeClr val="bg2"/>
                </a:solidFill>
                <a:latin typeface="Times New Roman" panose="02020603050405020304" pitchFamily="18" charset="0"/>
                <a:ea typeface="宋体" panose="02010600030101010101" pitchFamily="2" charset="-122"/>
              </a:rPr>
              <a:t>||B||Text3) || eK</a:t>
            </a:r>
            <a:r>
              <a:rPr lang="en-US" altLang="zh-CN" sz="2000" baseline="-25000">
                <a:solidFill>
                  <a:schemeClr val="bg2"/>
                </a:solidFill>
                <a:latin typeface="Times New Roman" panose="02020603050405020304" pitchFamily="18" charset="0"/>
                <a:ea typeface="宋体" panose="02010600030101010101" pitchFamily="2" charset="-122"/>
              </a:rPr>
              <a:t>BT</a:t>
            </a:r>
            <a:r>
              <a:rPr lang="en-US" altLang="zh-CN" sz="2000">
                <a:solidFill>
                  <a:schemeClr val="bg2"/>
                </a:solidFill>
                <a:latin typeface="Times New Roman" panose="02020603050405020304" pitchFamily="18" charset="0"/>
                <a:ea typeface="宋体" panose="02010600030101010101" pitchFamily="2" charset="-122"/>
              </a:rPr>
              <a:t>(T</a:t>
            </a:r>
            <a:r>
              <a:rPr lang="en-US" altLang="zh-CN" sz="2000" baseline="-25000">
                <a:solidFill>
                  <a:schemeClr val="bg2"/>
                </a:solidFill>
                <a:latin typeface="Times New Roman" panose="02020603050405020304" pitchFamily="18" charset="0"/>
                <a:ea typeface="宋体" panose="02010600030101010101" pitchFamily="2" charset="-122"/>
              </a:rPr>
              <a:t>TP</a:t>
            </a:r>
            <a:r>
              <a:rPr lang="en-US" altLang="zh-CN" sz="2000">
                <a:solidFill>
                  <a:schemeClr val="bg2"/>
                </a:solidFill>
                <a:latin typeface="Times New Roman" panose="02020603050405020304" pitchFamily="18" charset="0"/>
                <a:ea typeface="宋体" panose="02010600030101010101" pitchFamily="2" charset="-122"/>
              </a:rPr>
              <a:t> ||K</a:t>
            </a:r>
            <a:r>
              <a:rPr lang="en-US" altLang="zh-CN" sz="2000" baseline="-25000">
                <a:solidFill>
                  <a:schemeClr val="bg2"/>
                </a:solidFill>
                <a:latin typeface="Times New Roman" panose="02020603050405020304" pitchFamily="18" charset="0"/>
                <a:ea typeface="宋体" panose="02010600030101010101" pitchFamily="2" charset="-122"/>
              </a:rPr>
              <a:t>AB</a:t>
            </a:r>
            <a:r>
              <a:rPr lang="en-US" altLang="zh-CN" sz="2000">
                <a:solidFill>
                  <a:schemeClr val="bg2"/>
                </a:solidFill>
                <a:latin typeface="Times New Roman" panose="02020603050405020304" pitchFamily="18" charset="0"/>
                <a:ea typeface="宋体" panose="02010600030101010101" pitchFamily="2" charset="-122"/>
              </a:rPr>
              <a:t>||A||Text2)</a:t>
            </a:r>
          </a:p>
          <a:p>
            <a:pPr eaLnBrk="1" hangingPunct="1">
              <a:spcBef>
                <a:spcPct val="50000"/>
              </a:spcBef>
            </a:pPr>
            <a:r>
              <a:rPr lang="en-US" altLang="zh-CN" sz="2000">
                <a:solidFill>
                  <a:schemeClr val="bg2"/>
                </a:solidFill>
                <a:latin typeface="Times New Roman" panose="02020603050405020304" pitchFamily="18" charset="0"/>
                <a:ea typeface="宋体" panose="02010600030101010101" pitchFamily="2" charset="-122"/>
              </a:rPr>
              <a:t>                                                                                                    N</a:t>
            </a:r>
            <a:r>
              <a:rPr lang="en-US" altLang="zh-CN" sz="2000" baseline="-25000">
                <a:solidFill>
                  <a:schemeClr val="bg2"/>
                </a:solidFill>
                <a:latin typeface="Times New Roman" panose="02020603050405020304" pitchFamily="18" charset="0"/>
                <a:ea typeface="宋体" panose="02010600030101010101" pitchFamily="2" charset="-122"/>
              </a:rPr>
              <a:t>TP</a:t>
            </a:r>
            <a:r>
              <a:rPr lang="en-US" altLang="zh-CN" sz="2000">
                <a:solidFill>
                  <a:schemeClr val="bg2"/>
                </a:solidFill>
                <a:latin typeface="Times New Roman" panose="02020603050405020304" pitchFamily="18" charset="0"/>
                <a:ea typeface="宋体" panose="02010600030101010101" pitchFamily="2" charset="-122"/>
              </a:rPr>
              <a:t> </a:t>
            </a:r>
          </a:p>
        </p:txBody>
      </p:sp>
      <p:sp>
        <p:nvSpPr>
          <p:cNvPr id="103442" name="Text Box 19">
            <a:extLst>
              <a:ext uri="{FF2B5EF4-FFF2-40B4-BE49-F238E27FC236}">
                <a16:creationId xmlns:a16="http://schemas.microsoft.com/office/drawing/2014/main" id="{73B20939-5224-654F-876B-4EA8A6CD9A66}"/>
              </a:ext>
            </a:extLst>
          </p:cNvPr>
          <p:cNvSpPr txBox="1">
            <a:spLocks noChangeArrowheads="1"/>
          </p:cNvSpPr>
          <p:nvPr/>
        </p:nvSpPr>
        <p:spPr bwMode="auto">
          <a:xfrm>
            <a:off x="76200" y="4632325"/>
            <a:ext cx="89916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4</a:t>
            </a: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TokenAB=Text6|| eK</a:t>
            </a:r>
            <a:r>
              <a:rPr lang="en-US" altLang="zh-CN" sz="2000" baseline="-25000">
                <a:solidFill>
                  <a:schemeClr val="bg2"/>
                </a:solidFill>
                <a:latin typeface="Times New Roman" panose="02020603050405020304" pitchFamily="18" charset="0"/>
                <a:ea typeface="宋体" panose="02010600030101010101" pitchFamily="2" charset="-122"/>
              </a:rPr>
              <a:t>BT</a:t>
            </a:r>
            <a:r>
              <a:rPr lang="en-US" altLang="zh-CN" sz="2000">
                <a:solidFill>
                  <a:schemeClr val="bg2"/>
                </a:solidFill>
                <a:latin typeface="Times New Roman" panose="02020603050405020304" pitchFamily="18" charset="0"/>
                <a:ea typeface="宋体" panose="02010600030101010101" pitchFamily="2" charset="-122"/>
              </a:rPr>
              <a:t>(T</a:t>
            </a:r>
            <a:r>
              <a:rPr lang="en-US" altLang="zh-CN" sz="2000" baseline="-25000">
                <a:solidFill>
                  <a:schemeClr val="bg2"/>
                </a:solidFill>
                <a:latin typeface="Times New Roman" panose="02020603050405020304" pitchFamily="18" charset="0"/>
                <a:ea typeface="宋体" panose="02010600030101010101" pitchFamily="2" charset="-122"/>
              </a:rPr>
              <a:t>TP</a:t>
            </a:r>
            <a:r>
              <a:rPr lang="en-US" altLang="zh-CN" sz="2000">
                <a:solidFill>
                  <a:schemeClr val="bg2"/>
                </a:solidFill>
                <a:latin typeface="Times New Roman" panose="02020603050405020304" pitchFamily="18" charset="0"/>
                <a:ea typeface="宋体" panose="02010600030101010101" pitchFamily="2" charset="-122"/>
              </a:rPr>
              <a:t> ||K</a:t>
            </a:r>
            <a:r>
              <a:rPr lang="en-US" altLang="zh-CN" sz="2000" baseline="-25000">
                <a:solidFill>
                  <a:schemeClr val="bg2"/>
                </a:solidFill>
                <a:latin typeface="Times New Roman" panose="02020603050405020304" pitchFamily="18" charset="0"/>
                <a:ea typeface="宋体" panose="02010600030101010101" pitchFamily="2" charset="-122"/>
              </a:rPr>
              <a:t>AB</a:t>
            </a:r>
            <a:r>
              <a:rPr lang="en-US" altLang="zh-CN" sz="2000">
                <a:solidFill>
                  <a:schemeClr val="bg2"/>
                </a:solidFill>
                <a:latin typeface="Times New Roman" panose="02020603050405020304" pitchFamily="18" charset="0"/>
                <a:ea typeface="宋体" panose="02010600030101010101" pitchFamily="2" charset="-122"/>
              </a:rPr>
              <a:t>||A||Text2) eK</a:t>
            </a:r>
            <a:r>
              <a:rPr lang="en-US" altLang="zh-CN" sz="2000" baseline="-25000">
                <a:solidFill>
                  <a:schemeClr val="bg2"/>
                </a:solidFill>
                <a:latin typeface="Times New Roman" panose="02020603050405020304" pitchFamily="18" charset="0"/>
                <a:ea typeface="宋体" panose="02010600030101010101" pitchFamily="2" charset="-122"/>
              </a:rPr>
              <a:t>AB</a:t>
            </a:r>
            <a:r>
              <a:rPr lang="en-US" altLang="zh-CN" sz="2000">
                <a:solidFill>
                  <a:schemeClr val="bg2"/>
                </a:solidFill>
                <a:latin typeface="Times New Roman" panose="02020603050405020304" pitchFamily="18" charset="0"/>
                <a:ea typeface="宋体" panose="02010600030101010101" pitchFamily="2" charset="-122"/>
              </a:rPr>
              <a:t>(T</a:t>
            </a:r>
            <a:r>
              <a:rPr lang="en-US" altLang="zh-CN" sz="2000" baseline="-25000">
                <a:solidFill>
                  <a:schemeClr val="bg2"/>
                </a:solidFill>
                <a:latin typeface="Times New Roman" panose="02020603050405020304" pitchFamily="18" charset="0"/>
                <a:ea typeface="宋体" panose="02010600030101010101" pitchFamily="2" charset="-122"/>
              </a:rPr>
              <a:t>A</a:t>
            </a:r>
            <a:r>
              <a:rPr lang="en-US" altLang="zh-CN" sz="2000">
                <a:solidFill>
                  <a:schemeClr val="bg2"/>
                </a:solidFill>
                <a:latin typeface="Times New Roman" panose="02020603050405020304" pitchFamily="18" charset="0"/>
                <a:ea typeface="宋体" panose="02010600030101010101" pitchFamily="2" charset="-122"/>
              </a:rPr>
              <a:t> ||B||Text5)</a:t>
            </a:r>
          </a:p>
          <a:p>
            <a:pPr eaLnBrk="1" hangingPunct="1">
              <a:spcBef>
                <a:spcPct val="50000"/>
              </a:spcBef>
            </a:pPr>
            <a:r>
              <a:rPr lang="en-US" altLang="zh-CN" sz="2000">
                <a:solidFill>
                  <a:schemeClr val="bg2"/>
                </a:solidFill>
                <a:latin typeface="Times New Roman" panose="02020603050405020304" pitchFamily="18" charset="0"/>
                <a:ea typeface="宋体" panose="02010600030101010101" pitchFamily="2" charset="-122"/>
              </a:rPr>
              <a:t>                                                   N</a:t>
            </a:r>
            <a:r>
              <a:rPr lang="en-US" altLang="zh-CN" sz="2000" baseline="-25000">
                <a:solidFill>
                  <a:schemeClr val="bg2"/>
                </a:solidFill>
                <a:latin typeface="Times New Roman" panose="02020603050405020304" pitchFamily="18" charset="0"/>
                <a:ea typeface="宋体" panose="02010600030101010101" pitchFamily="2" charset="-122"/>
              </a:rPr>
              <a:t>TP</a:t>
            </a:r>
            <a:r>
              <a:rPr lang="en-US" altLang="zh-CN" sz="2000">
                <a:solidFill>
                  <a:schemeClr val="bg2"/>
                </a:solidFill>
                <a:latin typeface="Times New Roman" panose="02020603050405020304" pitchFamily="18" charset="0"/>
                <a:ea typeface="宋体" panose="02010600030101010101" pitchFamily="2" charset="-122"/>
              </a:rPr>
              <a:t>                                     N</a:t>
            </a:r>
            <a:r>
              <a:rPr lang="en-US" altLang="zh-CN" sz="2000" baseline="-25000">
                <a:solidFill>
                  <a:schemeClr val="bg2"/>
                </a:solidFill>
                <a:latin typeface="Times New Roman" panose="02020603050405020304" pitchFamily="18" charset="0"/>
                <a:ea typeface="宋体" panose="02010600030101010101" pitchFamily="2" charset="-122"/>
              </a:rPr>
              <a:t>A</a:t>
            </a:r>
          </a:p>
        </p:txBody>
      </p:sp>
      <p:sp>
        <p:nvSpPr>
          <p:cNvPr id="103443" name="Text Box 20">
            <a:extLst>
              <a:ext uri="{FF2B5EF4-FFF2-40B4-BE49-F238E27FC236}">
                <a16:creationId xmlns:a16="http://schemas.microsoft.com/office/drawing/2014/main" id="{7F607ADA-8B3E-074F-8BC5-B667B7E6DBFA}"/>
              </a:ext>
            </a:extLst>
          </p:cNvPr>
          <p:cNvSpPr txBox="1">
            <a:spLocks noChangeArrowheads="1"/>
          </p:cNvSpPr>
          <p:nvPr/>
        </p:nvSpPr>
        <p:spPr bwMode="auto">
          <a:xfrm>
            <a:off x="152400" y="5622925"/>
            <a:ext cx="89916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6</a:t>
            </a: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TokenBA=Text8|| eK</a:t>
            </a:r>
            <a:r>
              <a:rPr lang="en-US" altLang="zh-CN" sz="2000" baseline="-25000">
                <a:solidFill>
                  <a:schemeClr val="bg2"/>
                </a:solidFill>
                <a:latin typeface="Times New Roman" panose="02020603050405020304" pitchFamily="18" charset="0"/>
                <a:ea typeface="宋体" panose="02010600030101010101" pitchFamily="2" charset="-122"/>
              </a:rPr>
              <a:t>AB</a:t>
            </a:r>
            <a:r>
              <a:rPr lang="en-US" altLang="zh-CN" sz="2000">
                <a:solidFill>
                  <a:schemeClr val="bg2"/>
                </a:solidFill>
                <a:latin typeface="Times New Roman" panose="02020603050405020304" pitchFamily="18" charset="0"/>
                <a:ea typeface="宋体" panose="02010600030101010101" pitchFamily="2" charset="-122"/>
              </a:rPr>
              <a:t>(T</a:t>
            </a:r>
            <a:r>
              <a:rPr lang="en-US" altLang="zh-CN" sz="2000" baseline="-25000">
                <a:solidFill>
                  <a:schemeClr val="bg2"/>
                </a:solidFill>
                <a:latin typeface="Times New Roman" panose="02020603050405020304" pitchFamily="18" charset="0"/>
                <a:ea typeface="宋体" panose="02010600030101010101" pitchFamily="2" charset="-122"/>
              </a:rPr>
              <a:t>B</a:t>
            </a:r>
            <a:r>
              <a:rPr lang="en-US" altLang="zh-CN" sz="2000">
                <a:solidFill>
                  <a:schemeClr val="bg2"/>
                </a:solidFill>
                <a:latin typeface="Times New Roman" panose="02020603050405020304" pitchFamily="18" charset="0"/>
                <a:ea typeface="宋体" panose="02010600030101010101" pitchFamily="2" charset="-122"/>
              </a:rPr>
              <a:t> ||A||Text7)</a:t>
            </a:r>
          </a:p>
          <a:p>
            <a:pPr eaLnBrk="1" hangingPunct="1">
              <a:spcBef>
                <a:spcPct val="50000"/>
              </a:spcBef>
            </a:pPr>
            <a:r>
              <a:rPr lang="en-US" altLang="zh-CN" sz="2000">
                <a:solidFill>
                  <a:schemeClr val="bg2"/>
                </a:solidFill>
                <a:latin typeface="Times New Roman" panose="02020603050405020304" pitchFamily="18" charset="0"/>
                <a:ea typeface="宋体" panose="02010600030101010101" pitchFamily="2" charset="-122"/>
              </a:rPr>
              <a:t>                                                   N</a:t>
            </a:r>
            <a:r>
              <a:rPr lang="en-US" altLang="zh-CN" sz="2000" baseline="-25000">
                <a:solidFill>
                  <a:schemeClr val="bg2"/>
                </a:solidFill>
                <a:latin typeface="Times New Roman" panose="02020603050405020304" pitchFamily="18" charset="0"/>
                <a:ea typeface="宋体" panose="02010600030101010101" pitchFamily="2" charset="-122"/>
              </a:rPr>
              <a:t>B</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4">
            <a:extLst>
              <a:ext uri="{FF2B5EF4-FFF2-40B4-BE49-F238E27FC236}">
                <a16:creationId xmlns:a16="http://schemas.microsoft.com/office/drawing/2014/main" id="{4D776049-E8EF-9445-B52B-2C2E104EA8CC}"/>
              </a:ext>
            </a:extLst>
          </p:cNvPr>
          <p:cNvSpPr>
            <a:spLocks noChangeArrowheads="1"/>
          </p:cNvSpPr>
          <p:nvPr/>
        </p:nvSpPr>
        <p:spPr bwMode="auto">
          <a:xfrm>
            <a:off x="457200" y="609600"/>
            <a:ext cx="8382000" cy="685800"/>
          </a:xfrm>
          <a:prstGeom prst="rect">
            <a:avLst/>
          </a:prstGeom>
          <a:noFill/>
          <a:ln>
            <a:noFill/>
          </a:ln>
        </p:spPr>
        <p:txBody>
          <a:bodyPr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20000"/>
              </a:spcBef>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涉及可信第三方的机制</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双向鉴别</a:t>
            </a:r>
          </a:p>
        </p:txBody>
      </p:sp>
      <p:sp>
        <p:nvSpPr>
          <p:cNvPr id="104450" name="Rectangle 5">
            <a:extLst>
              <a:ext uri="{FF2B5EF4-FFF2-40B4-BE49-F238E27FC236}">
                <a16:creationId xmlns:a16="http://schemas.microsoft.com/office/drawing/2014/main" id="{0CB2A5FD-501C-4B46-959D-1E0F706C9D49}"/>
              </a:ext>
            </a:extLst>
          </p:cNvPr>
          <p:cNvSpPr>
            <a:spLocks noChangeArrowheads="1"/>
          </p:cNvSpPr>
          <p:nvPr/>
        </p:nvSpPr>
        <p:spPr bwMode="auto">
          <a:xfrm>
            <a:off x="685800" y="12954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20000"/>
              </a:spcBef>
              <a:buFont typeface="Wingdings" pitchFamily="2" charset="2"/>
              <a:buChar char="u"/>
            </a:pPr>
            <a:r>
              <a:rPr lang="zh-CN" altLang="en-US" sz="2400">
                <a:solidFill>
                  <a:schemeClr val="bg2"/>
                </a:solidFill>
                <a:latin typeface="黑体" panose="02010609060101010101" pitchFamily="49" charset="-122"/>
                <a:ea typeface="黑体" panose="02010609060101010101" pitchFamily="49" charset="-122"/>
              </a:rPr>
              <a:t>五次传送鉴别</a:t>
            </a:r>
          </a:p>
        </p:txBody>
      </p:sp>
      <p:sp>
        <p:nvSpPr>
          <p:cNvPr id="104451" name="Text Box 6">
            <a:extLst>
              <a:ext uri="{FF2B5EF4-FFF2-40B4-BE49-F238E27FC236}">
                <a16:creationId xmlns:a16="http://schemas.microsoft.com/office/drawing/2014/main" id="{BACD9853-32E6-F641-A5BC-6B45D0702762}"/>
              </a:ext>
            </a:extLst>
          </p:cNvPr>
          <p:cNvSpPr txBox="1">
            <a:spLocks noChangeArrowheads="1"/>
          </p:cNvSpPr>
          <p:nvPr/>
        </p:nvSpPr>
        <p:spPr bwMode="auto">
          <a:xfrm>
            <a:off x="3733800" y="3124200"/>
            <a:ext cx="914400" cy="8382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104452" name="Text Box 7">
            <a:extLst>
              <a:ext uri="{FF2B5EF4-FFF2-40B4-BE49-F238E27FC236}">
                <a16:creationId xmlns:a16="http://schemas.microsoft.com/office/drawing/2014/main" id="{9CC735C7-0753-7245-A92D-856D336AD15D}"/>
              </a:ext>
            </a:extLst>
          </p:cNvPr>
          <p:cNvSpPr txBox="1">
            <a:spLocks noChangeArrowheads="1"/>
          </p:cNvSpPr>
          <p:nvPr/>
        </p:nvSpPr>
        <p:spPr bwMode="auto">
          <a:xfrm>
            <a:off x="7391400" y="3124200"/>
            <a:ext cx="914400" cy="833438"/>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400840" name="Line 8">
            <a:extLst>
              <a:ext uri="{FF2B5EF4-FFF2-40B4-BE49-F238E27FC236}">
                <a16:creationId xmlns:a16="http://schemas.microsoft.com/office/drawing/2014/main" id="{216380CE-0D34-3A48-B1F6-E824208F6EA8}"/>
              </a:ext>
            </a:extLst>
          </p:cNvPr>
          <p:cNvSpPr>
            <a:spLocks noChangeShapeType="1"/>
          </p:cNvSpPr>
          <p:nvPr/>
        </p:nvSpPr>
        <p:spPr bwMode="auto">
          <a:xfrm>
            <a:off x="4648200" y="3886200"/>
            <a:ext cx="2743200" cy="0"/>
          </a:xfrm>
          <a:prstGeom prst="line">
            <a:avLst/>
          </a:prstGeom>
          <a:noFill/>
          <a:ln w="38100">
            <a:solidFill>
              <a:schemeClr val="bg2"/>
            </a:solidFill>
            <a:round/>
            <a:headEnd type="triangle" w="med" len="med"/>
            <a:tailEn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400841" name="Line 9">
            <a:extLst>
              <a:ext uri="{FF2B5EF4-FFF2-40B4-BE49-F238E27FC236}">
                <a16:creationId xmlns:a16="http://schemas.microsoft.com/office/drawing/2014/main" id="{569A9764-0DA9-C143-8395-01A1C9A4C8D4}"/>
              </a:ext>
            </a:extLst>
          </p:cNvPr>
          <p:cNvSpPr>
            <a:spLocks noChangeShapeType="1"/>
          </p:cNvSpPr>
          <p:nvPr/>
        </p:nvSpPr>
        <p:spPr bwMode="auto">
          <a:xfrm flipH="1">
            <a:off x="4648200" y="3733800"/>
            <a:ext cx="2743200" cy="0"/>
          </a:xfrm>
          <a:prstGeom prst="line">
            <a:avLst/>
          </a:prstGeom>
          <a:noFill/>
          <a:ln w="38100">
            <a:solidFill>
              <a:schemeClr val="bg2"/>
            </a:solidFill>
            <a:round/>
            <a:headEnd type="triangle" w="med" len="med"/>
            <a:tailEn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4455" name="Text Box 10">
            <a:extLst>
              <a:ext uri="{FF2B5EF4-FFF2-40B4-BE49-F238E27FC236}">
                <a16:creationId xmlns:a16="http://schemas.microsoft.com/office/drawing/2014/main" id="{B16CEC25-253C-EB44-9FC8-C91A2C603E69}"/>
              </a:ext>
            </a:extLst>
          </p:cNvPr>
          <p:cNvSpPr txBox="1">
            <a:spLocks noChangeArrowheads="1"/>
          </p:cNvSpPr>
          <p:nvPr/>
        </p:nvSpPr>
        <p:spPr bwMode="auto">
          <a:xfrm>
            <a:off x="4724400" y="39624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7</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TokenBA</a:t>
            </a:r>
          </a:p>
        </p:txBody>
      </p:sp>
      <p:sp>
        <p:nvSpPr>
          <p:cNvPr id="104456" name="Text Box 11">
            <a:extLst>
              <a:ext uri="{FF2B5EF4-FFF2-40B4-BE49-F238E27FC236}">
                <a16:creationId xmlns:a16="http://schemas.microsoft.com/office/drawing/2014/main" id="{07222ECD-31BE-2C41-A508-2E28AB401F10}"/>
              </a:ext>
            </a:extLst>
          </p:cNvPr>
          <p:cNvSpPr txBox="1">
            <a:spLocks noChangeArrowheads="1"/>
          </p:cNvSpPr>
          <p:nvPr/>
        </p:nvSpPr>
        <p:spPr bwMode="auto">
          <a:xfrm>
            <a:off x="3733800" y="1676400"/>
            <a:ext cx="914400" cy="5334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TP</a:t>
            </a:r>
          </a:p>
        </p:txBody>
      </p:sp>
      <p:sp>
        <p:nvSpPr>
          <p:cNvPr id="1400844" name="Line 12">
            <a:extLst>
              <a:ext uri="{FF2B5EF4-FFF2-40B4-BE49-F238E27FC236}">
                <a16:creationId xmlns:a16="http://schemas.microsoft.com/office/drawing/2014/main" id="{F0B15320-9E60-BF4E-9DAE-9DB11B2BA737}"/>
              </a:ext>
            </a:extLst>
          </p:cNvPr>
          <p:cNvSpPr>
            <a:spLocks noChangeShapeType="1"/>
          </p:cNvSpPr>
          <p:nvPr/>
        </p:nvSpPr>
        <p:spPr bwMode="auto">
          <a:xfrm flipV="1">
            <a:off x="4038600" y="2209800"/>
            <a:ext cx="0" cy="91440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400845" name="Line 13">
            <a:extLst>
              <a:ext uri="{FF2B5EF4-FFF2-40B4-BE49-F238E27FC236}">
                <a16:creationId xmlns:a16="http://schemas.microsoft.com/office/drawing/2014/main" id="{000483AD-DB6A-A44B-8038-75A4BD59E725}"/>
              </a:ext>
            </a:extLst>
          </p:cNvPr>
          <p:cNvSpPr>
            <a:spLocks noChangeShapeType="1"/>
          </p:cNvSpPr>
          <p:nvPr/>
        </p:nvSpPr>
        <p:spPr bwMode="auto">
          <a:xfrm>
            <a:off x="4343400" y="2209800"/>
            <a:ext cx="0" cy="91440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4459" name="Text Box 14">
            <a:extLst>
              <a:ext uri="{FF2B5EF4-FFF2-40B4-BE49-F238E27FC236}">
                <a16:creationId xmlns:a16="http://schemas.microsoft.com/office/drawing/2014/main" id="{6552CB51-FBA2-3A46-8AFA-A17A5450D743}"/>
              </a:ext>
            </a:extLst>
          </p:cNvPr>
          <p:cNvSpPr txBox="1">
            <a:spLocks noChangeArrowheads="1"/>
          </p:cNvSpPr>
          <p:nvPr/>
        </p:nvSpPr>
        <p:spPr bwMode="auto">
          <a:xfrm>
            <a:off x="4800600" y="33528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5</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a:t>
            </a:r>
          </a:p>
        </p:txBody>
      </p:sp>
      <p:sp>
        <p:nvSpPr>
          <p:cNvPr id="104460" name="Text Box 15">
            <a:extLst>
              <a:ext uri="{FF2B5EF4-FFF2-40B4-BE49-F238E27FC236}">
                <a16:creationId xmlns:a16="http://schemas.microsoft.com/office/drawing/2014/main" id="{6E395340-AC32-3841-BD99-B0D973F84DB8}"/>
              </a:ext>
            </a:extLst>
          </p:cNvPr>
          <p:cNvSpPr txBox="1">
            <a:spLocks noChangeArrowheads="1"/>
          </p:cNvSpPr>
          <p:nvPr/>
        </p:nvSpPr>
        <p:spPr bwMode="auto">
          <a:xfrm>
            <a:off x="4953000" y="23622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3</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TokenTA</a:t>
            </a:r>
          </a:p>
        </p:txBody>
      </p:sp>
      <p:sp>
        <p:nvSpPr>
          <p:cNvPr id="104461" name="Text Box 16">
            <a:extLst>
              <a:ext uri="{FF2B5EF4-FFF2-40B4-BE49-F238E27FC236}">
                <a16:creationId xmlns:a16="http://schemas.microsoft.com/office/drawing/2014/main" id="{EA5A13A1-14FD-E749-8A01-96555046C235}"/>
              </a:ext>
            </a:extLst>
          </p:cNvPr>
          <p:cNvSpPr txBox="1">
            <a:spLocks noChangeArrowheads="1"/>
          </p:cNvSpPr>
          <p:nvPr/>
        </p:nvSpPr>
        <p:spPr bwMode="auto">
          <a:xfrm>
            <a:off x="838200" y="24384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a:solidFill>
                  <a:schemeClr val="bg2"/>
                </a:solidFill>
                <a:latin typeface="Times New Roman" panose="02020603050405020304" pitchFamily="18" charset="0"/>
                <a:ea typeface="宋体" panose="02010600030101010101" pitchFamily="2" charset="-122"/>
                <a:sym typeface="Symbol" pitchFamily="2" charset="2"/>
              </a:rPr>
              <a:t></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||B||Text2</a:t>
            </a:r>
          </a:p>
        </p:txBody>
      </p:sp>
      <p:sp>
        <p:nvSpPr>
          <p:cNvPr id="104462" name="Text Box 17">
            <a:extLst>
              <a:ext uri="{FF2B5EF4-FFF2-40B4-BE49-F238E27FC236}">
                <a16:creationId xmlns:a16="http://schemas.microsoft.com/office/drawing/2014/main" id="{6740642D-36A0-354B-9C28-BCC5A2C1F88F}"/>
              </a:ext>
            </a:extLst>
          </p:cNvPr>
          <p:cNvSpPr txBox="1">
            <a:spLocks noChangeArrowheads="1"/>
          </p:cNvSpPr>
          <p:nvPr/>
        </p:nvSpPr>
        <p:spPr bwMode="auto">
          <a:xfrm>
            <a:off x="2895600" y="32004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(4)</a:t>
            </a:r>
          </a:p>
        </p:txBody>
      </p:sp>
      <p:sp>
        <p:nvSpPr>
          <p:cNvPr id="104463" name="Text Box 18">
            <a:extLst>
              <a:ext uri="{FF2B5EF4-FFF2-40B4-BE49-F238E27FC236}">
                <a16:creationId xmlns:a16="http://schemas.microsoft.com/office/drawing/2014/main" id="{B58219A1-AB86-6F4A-9803-3721A59D2307}"/>
              </a:ext>
            </a:extLst>
          </p:cNvPr>
          <p:cNvSpPr txBox="1">
            <a:spLocks noChangeArrowheads="1"/>
          </p:cNvSpPr>
          <p:nvPr/>
        </p:nvSpPr>
        <p:spPr bwMode="auto">
          <a:xfrm>
            <a:off x="2895600" y="35814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(8)</a:t>
            </a:r>
          </a:p>
        </p:txBody>
      </p:sp>
      <p:sp>
        <p:nvSpPr>
          <p:cNvPr id="104464" name="Text Box 19">
            <a:extLst>
              <a:ext uri="{FF2B5EF4-FFF2-40B4-BE49-F238E27FC236}">
                <a16:creationId xmlns:a16="http://schemas.microsoft.com/office/drawing/2014/main" id="{BA99035B-FA1B-CD4E-9A30-DC194B36FD4C}"/>
              </a:ext>
            </a:extLst>
          </p:cNvPr>
          <p:cNvSpPr txBox="1">
            <a:spLocks noChangeArrowheads="1"/>
          </p:cNvSpPr>
          <p:nvPr/>
        </p:nvSpPr>
        <p:spPr bwMode="auto">
          <a:xfrm>
            <a:off x="8458200" y="34290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(6)</a:t>
            </a:r>
          </a:p>
        </p:txBody>
      </p:sp>
      <p:sp>
        <p:nvSpPr>
          <p:cNvPr id="104465" name="Text Box 20">
            <a:extLst>
              <a:ext uri="{FF2B5EF4-FFF2-40B4-BE49-F238E27FC236}">
                <a16:creationId xmlns:a16="http://schemas.microsoft.com/office/drawing/2014/main" id="{B88E29EE-7127-D646-A902-C774E2AFC9B5}"/>
              </a:ext>
            </a:extLst>
          </p:cNvPr>
          <p:cNvSpPr txBox="1">
            <a:spLocks noChangeArrowheads="1"/>
          </p:cNvSpPr>
          <p:nvPr/>
        </p:nvSpPr>
        <p:spPr bwMode="auto">
          <a:xfrm>
            <a:off x="76200" y="4556125"/>
            <a:ext cx="899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3</a:t>
            </a: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TokenTA=Text5||eK</a:t>
            </a:r>
            <a:r>
              <a:rPr lang="en-US" altLang="zh-CN" sz="2000" baseline="-25000">
                <a:solidFill>
                  <a:schemeClr val="bg2"/>
                </a:solidFill>
                <a:latin typeface="Times New Roman" panose="02020603050405020304" pitchFamily="18" charset="0"/>
                <a:ea typeface="宋体" panose="02010600030101010101" pitchFamily="2" charset="-122"/>
              </a:rPr>
              <a:t>AT</a:t>
            </a:r>
            <a:r>
              <a:rPr lang="en-US" altLang="zh-CN" sz="20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a:solidFill>
                  <a:schemeClr val="bg2"/>
                </a:solidFill>
                <a:latin typeface="Times New Roman" panose="02020603050405020304" pitchFamily="18" charset="0"/>
                <a:ea typeface="宋体" panose="02010600030101010101" pitchFamily="2" charset="-122"/>
                <a:sym typeface="Symbol" pitchFamily="2" charset="2"/>
              </a:rPr>
              <a:t></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000">
                <a:solidFill>
                  <a:schemeClr val="bg2"/>
                </a:solidFill>
                <a:latin typeface="Times New Roman" panose="02020603050405020304" pitchFamily="18" charset="0"/>
                <a:ea typeface="宋体" panose="02010600030101010101" pitchFamily="2" charset="-122"/>
              </a:rPr>
              <a:t> ||K</a:t>
            </a:r>
            <a:r>
              <a:rPr lang="en-US" altLang="zh-CN" sz="2000" baseline="-25000">
                <a:solidFill>
                  <a:schemeClr val="bg2"/>
                </a:solidFill>
                <a:latin typeface="Times New Roman" panose="02020603050405020304" pitchFamily="18" charset="0"/>
                <a:ea typeface="宋体" panose="02010600030101010101" pitchFamily="2" charset="-122"/>
              </a:rPr>
              <a:t>AB</a:t>
            </a:r>
            <a:r>
              <a:rPr lang="en-US" altLang="zh-CN" sz="2000">
                <a:solidFill>
                  <a:schemeClr val="bg2"/>
                </a:solidFill>
                <a:latin typeface="Times New Roman" panose="02020603050405020304" pitchFamily="18" charset="0"/>
                <a:ea typeface="宋体" panose="02010600030101010101" pitchFamily="2" charset="-122"/>
              </a:rPr>
              <a:t>||B||Text4) || eK</a:t>
            </a:r>
            <a:r>
              <a:rPr lang="en-US" altLang="zh-CN" sz="2000" baseline="-25000">
                <a:solidFill>
                  <a:schemeClr val="bg2"/>
                </a:solidFill>
                <a:latin typeface="Times New Roman" panose="02020603050405020304" pitchFamily="18" charset="0"/>
                <a:ea typeface="宋体" panose="02010600030101010101" pitchFamily="2" charset="-122"/>
              </a:rPr>
              <a:t>BT</a:t>
            </a:r>
            <a:r>
              <a:rPr lang="en-US" altLang="zh-CN" sz="20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000" baseline="-25000">
                <a:solidFill>
                  <a:schemeClr val="bg2"/>
                </a:solidFill>
                <a:latin typeface="Times New Roman" panose="02020603050405020304" pitchFamily="18" charset="0"/>
                <a:ea typeface="宋体" panose="02010600030101010101" pitchFamily="2" charset="-122"/>
              </a:rPr>
              <a:t> </a:t>
            </a:r>
            <a:r>
              <a:rPr lang="en-US" altLang="zh-CN" sz="2000">
                <a:solidFill>
                  <a:schemeClr val="bg2"/>
                </a:solidFill>
                <a:latin typeface="Times New Roman" panose="02020603050405020304" pitchFamily="18" charset="0"/>
                <a:ea typeface="宋体" panose="02010600030101010101" pitchFamily="2" charset="-122"/>
              </a:rPr>
              <a:t>|| K</a:t>
            </a:r>
            <a:r>
              <a:rPr lang="en-US" altLang="zh-CN" sz="2000" baseline="-25000">
                <a:solidFill>
                  <a:schemeClr val="bg2"/>
                </a:solidFill>
                <a:latin typeface="Times New Roman" panose="02020603050405020304" pitchFamily="18" charset="0"/>
                <a:ea typeface="宋体" panose="02010600030101010101" pitchFamily="2" charset="-122"/>
              </a:rPr>
              <a:t>AB</a:t>
            </a:r>
            <a:r>
              <a:rPr lang="en-US" altLang="zh-CN" sz="2000">
                <a:solidFill>
                  <a:schemeClr val="bg2"/>
                </a:solidFill>
                <a:latin typeface="Times New Roman" panose="02020603050405020304" pitchFamily="18" charset="0"/>
                <a:ea typeface="宋体" panose="02010600030101010101" pitchFamily="2" charset="-122"/>
              </a:rPr>
              <a:t>|| A||Text3) </a:t>
            </a:r>
          </a:p>
        </p:txBody>
      </p:sp>
      <p:sp>
        <p:nvSpPr>
          <p:cNvPr id="104466" name="Text Box 21">
            <a:extLst>
              <a:ext uri="{FF2B5EF4-FFF2-40B4-BE49-F238E27FC236}">
                <a16:creationId xmlns:a16="http://schemas.microsoft.com/office/drawing/2014/main" id="{2D4D970C-8C26-C144-89AF-72858FB7C44E}"/>
              </a:ext>
            </a:extLst>
          </p:cNvPr>
          <p:cNvSpPr txBox="1">
            <a:spLocks noChangeArrowheads="1"/>
          </p:cNvSpPr>
          <p:nvPr/>
        </p:nvSpPr>
        <p:spPr bwMode="auto">
          <a:xfrm>
            <a:off x="76200" y="5226050"/>
            <a:ext cx="899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5</a:t>
            </a: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TokenAB=Text7|| eK</a:t>
            </a:r>
            <a:r>
              <a:rPr lang="en-US" altLang="zh-CN" sz="2000" baseline="-25000">
                <a:solidFill>
                  <a:schemeClr val="bg2"/>
                </a:solidFill>
                <a:latin typeface="Times New Roman" panose="02020603050405020304" pitchFamily="18" charset="0"/>
                <a:ea typeface="宋体" panose="02010600030101010101" pitchFamily="2" charset="-122"/>
              </a:rPr>
              <a:t>BT</a:t>
            </a:r>
            <a:r>
              <a:rPr lang="en-US" altLang="zh-CN" sz="20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000" baseline="-25000">
                <a:solidFill>
                  <a:schemeClr val="bg2"/>
                </a:solidFill>
                <a:latin typeface="Times New Roman" panose="02020603050405020304" pitchFamily="18" charset="0"/>
                <a:ea typeface="宋体" panose="02010600030101010101" pitchFamily="2" charset="-122"/>
              </a:rPr>
              <a:t> </a:t>
            </a:r>
            <a:r>
              <a:rPr lang="en-US" altLang="zh-CN" sz="2000">
                <a:solidFill>
                  <a:schemeClr val="bg2"/>
                </a:solidFill>
                <a:latin typeface="Times New Roman" panose="02020603050405020304" pitchFamily="18" charset="0"/>
                <a:ea typeface="宋体" panose="02010600030101010101" pitchFamily="2" charset="-122"/>
              </a:rPr>
              <a:t>|| K</a:t>
            </a:r>
            <a:r>
              <a:rPr lang="en-US" altLang="zh-CN" sz="2000" baseline="-25000">
                <a:solidFill>
                  <a:schemeClr val="bg2"/>
                </a:solidFill>
                <a:latin typeface="Times New Roman" panose="02020603050405020304" pitchFamily="18" charset="0"/>
                <a:ea typeface="宋体" panose="02010600030101010101" pitchFamily="2" charset="-122"/>
              </a:rPr>
              <a:t>AB</a:t>
            </a:r>
            <a:r>
              <a:rPr lang="en-US" altLang="zh-CN" sz="2000">
                <a:solidFill>
                  <a:schemeClr val="bg2"/>
                </a:solidFill>
                <a:latin typeface="Times New Roman" panose="02020603050405020304" pitchFamily="18" charset="0"/>
                <a:ea typeface="宋体" panose="02010600030101010101" pitchFamily="2" charset="-122"/>
              </a:rPr>
              <a:t>|| A||Text3) ||eK</a:t>
            </a:r>
            <a:r>
              <a:rPr lang="en-US" altLang="zh-CN" sz="2000" baseline="-25000">
                <a:solidFill>
                  <a:schemeClr val="bg2"/>
                </a:solidFill>
                <a:latin typeface="Times New Roman" panose="02020603050405020304" pitchFamily="18" charset="0"/>
                <a:ea typeface="宋体" panose="02010600030101010101" pitchFamily="2" charset="-122"/>
              </a:rPr>
              <a:t>AB</a:t>
            </a:r>
            <a:r>
              <a:rPr lang="en-US" altLang="zh-CN" sz="2000">
                <a:solidFill>
                  <a:schemeClr val="bg2"/>
                </a:solidFill>
                <a:latin typeface="Times New Roman" panose="02020603050405020304" pitchFamily="18" charset="0"/>
                <a:ea typeface="宋体" panose="02010600030101010101" pitchFamily="2" charset="-122"/>
              </a:rPr>
              <a:t>(R</a:t>
            </a:r>
            <a:r>
              <a:rPr lang="en-US" altLang="zh-CN" sz="2000" baseline="-25000">
                <a:solidFill>
                  <a:schemeClr val="bg2"/>
                </a:solidFill>
                <a:latin typeface="Times New Roman" panose="02020603050405020304" pitchFamily="18" charset="0"/>
                <a:ea typeface="宋体" panose="02010600030101010101" pitchFamily="2" charset="-122"/>
              </a:rPr>
              <a:t>A</a:t>
            </a:r>
            <a:r>
              <a:rPr lang="en-US" altLang="zh-CN" sz="2000">
                <a:solidFill>
                  <a:schemeClr val="bg2"/>
                </a:solidFill>
                <a:latin typeface="Times New Roman" panose="02020603050405020304" pitchFamily="18" charset="0"/>
                <a:ea typeface="宋体" panose="02010600030101010101" pitchFamily="2" charset="-122"/>
              </a:rPr>
              <a:t> ||R</a:t>
            </a:r>
            <a:r>
              <a:rPr lang="en-US" altLang="zh-CN" sz="2000" baseline="-25000">
                <a:solidFill>
                  <a:schemeClr val="bg2"/>
                </a:solidFill>
                <a:latin typeface="Times New Roman" panose="02020603050405020304" pitchFamily="18" charset="0"/>
                <a:ea typeface="宋体" panose="02010600030101010101" pitchFamily="2" charset="-122"/>
              </a:rPr>
              <a:t>B</a:t>
            </a:r>
            <a:r>
              <a:rPr lang="en-US" altLang="zh-CN" sz="2000">
                <a:solidFill>
                  <a:schemeClr val="bg2"/>
                </a:solidFill>
                <a:latin typeface="Times New Roman" panose="02020603050405020304" pitchFamily="18" charset="0"/>
                <a:ea typeface="宋体" panose="02010600030101010101" pitchFamily="2" charset="-122"/>
              </a:rPr>
              <a:t>||Text6)                                              </a:t>
            </a:r>
            <a:endParaRPr lang="en-US" altLang="zh-CN" sz="2000" baseline="-25000">
              <a:solidFill>
                <a:schemeClr val="bg2"/>
              </a:solidFill>
              <a:latin typeface="Times New Roman" panose="02020603050405020304" pitchFamily="18" charset="0"/>
              <a:ea typeface="宋体" panose="02010600030101010101" pitchFamily="2" charset="-122"/>
            </a:endParaRPr>
          </a:p>
        </p:txBody>
      </p:sp>
      <p:sp>
        <p:nvSpPr>
          <p:cNvPr id="104467" name="Text Box 22">
            <a:extLst>
              <a:ext uri="{FF2B5EF4-FFF2-40B4-BE49-F238E27FC236}">
                <a16:creationId xmlns:a16="http://schemas.microsoft.com/office/drawing/2014/main" id="{8DD998CC-EE57-9D49-849E-931FEDC37C54}"/>
              </a:ext>
            </a:extLst>
          </p:cNvPr>
          <p:cNvSpPr txBox="1">
            <a:spLocks noChangeArrowheads="1"/>
          </p:cNvSpPr>
          <p:nvPr/>
        </p:nvSpPr>
        <p:spPr bwMode="auto">
          <a:xfrm>
            <a:off x="152400" y="5851525"/>
            <a:ext cx="7543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7</a:t>
            </a: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TokenBA=Text9|| eK</a:t>
            </a:r>
            <a:r>
              <a:rPr lang="en-US" altLang="zh-CN" sz="2000" baseline="-25000">
                <a:solidFill>
                  <a:schemeClr val="bg2"/>
                </a:solidFill>
                <a:latin typeface="Times New Roman" panose="02020603050405020304" pitchFamily="18" charset="0"/>
                <a:ea typeface="宋体" panose="02010600030101010101" pitchFamily="2" charset="-122"/>
              </a:rPr>
              <a:t>AB</a:t>
            </a:r>
            <a:r>
              <a:rPr lang="en-US" altLang="zh-CN" sz="2000">
                <a:solidFill>
                  <a:schemeClr val="bg2"/>
                </a:solidFill>
                <a:latin typeface="Times New Roman" panose="02020603050405020304" pitchFamily="18" charset="0"/>
                <a:ea typeface="宋体" panose="02010600030101010101" pitchFamily="2" charset="-122"/>
              </a:rPr>
              <a:t>(R</a:t>
            </a:r>
            <a:r>
              <a:rPr lang="en-US" altLang="zh-CN" sz="2000" baseline="-25000">
                <a:solidFill>
                  <a:schemeClr val="bg2"/>
                </a:solidFill>
                <a:latin typeface="Times New Roman" panose="02020603050405020304" pitchFamily="18" charset="0"/>
                <a:ea typeface="宋体" panose="02010600030101010101" pitchFamily="2" charset="-122"/>
              </a:rPr>
              <a:t>B</a:t>
            </a:r>
            <a:r>
              <a:rPr lang="en-US" altLang="zh-CN" sz="2000">
                <a:solidFill>
                  <a:schemeClr val="bg2"/>
                </a:solidFill>
                <a:latin typeface="Times New Roman" panose="02020603050405020304" pitchFamily="18" charset="0"/>
                <a:ea typeface="宋体" panose="02010600030101010101" pitchFamily="2" charset="-122"/>
              </a:rPr>
              <a:t> ||R</a:t>
            </a:r>
            <a:r>
              <a:rPr lang="en-US" altLang="zh-CN" sz="2000" baseline="-25000">
                <a:solidFill>
                  <a:schemeClr val="bg2"/>
                </a:solidFill>
                <a:latin typeface="Times New Roman" panose="02020603050405020304" pitchFamily="18" charset="0"/>
                <a:ea typeface="宋体" panose="02010600030101010101" pitchFamily="2" charset="-122"/>
              </a:rPr>
              <a:t>A</a:t>
            </a:r>
            <a:r>
              <a:rPr lang="en-US" altLang="zh-CN" sz="2000">
                <a:solidFill>
                  <a:schemeClr val="bg2"/>
                </a:solidFill>
                <a:latin typeface="Times New Roman" panose="02020603050405020304" pitchFamily="18" charset="0"/>
                <a:ea typeface="宋体" panose="02010600030101010101" pitchFamily="2" charset="-122"/>
              </a:rPr>
              <a:t>||Text8)</a:t>
            </a:r>
            <a:endParaRPr lang="en-US" altLang="zh-CN" sz="2000" baseline="-25000">
              <a:solidFill>
                <a:schemeClr val="bg2"/>
              </a:solidFill>
              <a:latin typeface="Times New Roman" panose="02020603050405020304" pitchFamily="18" charset="0"/>
              <a:ea typeface="宋体" panose="02010600030101010101" pitchFamily="2" charset="-122"/>
            </a:endParaRPr>
          </a:p>
        </p:txBody>
      </p:sp>
      <p:sp>
        <p:nvSpPr>
          <p:cNvPr id="1400855" name="Line 23">
            <a:extLst>
              <a:ext uri="{FF2B5EF4-FFF2-40B4-BE49-F238E27FC236}">
                <a16:creationId xmlns:a16="http://schemas.microsoft.com/office/drawing/2014/main" id="{A43F8507-C5BD-4340-AFF4-B5516806FD9C}"/>
              </a:ext>
            </a:extLst>
          </p:cNvPr>
          <p:cNvSpPr>
            <a:spLocks noChangeShapeType="1"/>
          </p:cNvSpPr>
          <p:nvPr/>
        </p:nvSpPr>
        <p:spPr bwMode="auto">
          <a:xfrm flipH="1">
            <a:off x="4648200" y="3276600"/>
            <a:ext cx="27432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4469" name="Text Box 24">
            <a:extLst>
              <a:ext uri="{FF2B5EF4-FFF2-40B4-BE49-F238E27FC236}">
                <a16:creationId xmlns:a16="http://schemas.microsoft.com/office/drawing/2014/main" id="{2BC3D9B1-8EC0-0B41-ACD1-EED0FE48AB43}"/>
              </a:ext>
            </a:extLst>
          </p:cNvPr>
          <p:cNvSpPr txBox="1">
            <a:spLocks noChangeArrowheads="1"/>
          </p:cNvSpPr>
          <p:nvPr/>
        </p:nvSpPr>
        <p:spPr bwMode="auto">
          <a:xfrm>
            <a:off x="5105400" y="28194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(1)R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||Text1</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1858" name="Rectangle 2">
            <a:extLst>
              <a:ext uri="{FF2B5EF4-FFF2-40B4-BE49-F238E27FC236}">
                <a16:creationId xmlns:a16="http://schemas.microsoft.com/office/drawing/2014/main" id="{18738959-2496-3949-BC04-4312EA27509E}"/>
              </a:ext>
            </a:extLst>
          </p:cNvPr>
          <p:cNvSpPr>
            <a:spLocks noGrp="1" noChangeArrowheads="1"/>
          </p:cNvSpPr>
          <p:nvPr>
            <p:ph type="title"/>
          </p:nvPr>
        </p:nvSpPr>
        <p:spPr bwMode="auto">
          <a:xfrm>
            <a:off x="457200" y="762000"/>
            <a:ext cx="8229600" cy="731838"/>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sz="3600">
                <a:solidFill>
                  <a:srgbClr val="0000FF"/>
                </a:solidFill>
                <a:latin typeface="黑体" panose="02010609060101010101" pitchFamily="49" charset="-122"/>
                <a:ea typeface="黑体" panose="02010609060101010101" pitchFamily="49" charset="-122"/>
              </a:rPr>
              <a:t>5.5.4 </a:t>
            </a:r>
            <a:r>
              <a:rPr lang="zh-CN" altLang="en-US" sz="3600">
                <a:solidFill>
                  <a:srgbClr val="0000FF"/>
                </a:solidFill>
                <a:latin typeface="黑体" panose="02010609060101010101" pitchFamily="49" charset="-122"/>
                <a:ea typeface="黑体" panose="02010609060101010101" pitchFamily="49" charset="-122"/>
              </a:rPr>
              <a:t>采用公开密码算法的机制</a:t>
            </a:r>
          </a:p>
        </p:txBody>
      </p:sp>
      <p:sp>
        <p:nvSpPr>
          <p:cNvPr id="1401859" name="Rectangle 3">
            <a:extLst>
              <a:ext uri="{FF2B5EF4-FFF2-40B4-BE49-F238E27FC236}">
                <a16:creationId xmlns:a16="http://schemas.microsoft.com/office/drawing/2014/main" id="{19A6E4DE-CE7C-A64F-A454-DA289D374117}"/>
              </a:ext>
            </a:extLst>
          </p:cNvPr>
          <p:cNvSpPr>
            <a:spLocks noGrp="1" noChangeArrowheads="1"/>
          </p:cNvSpPr>
          <p:nvPr>
            <p:ph type="body" idx="1"/>
          </p:nvPr>
        </p:nvSpPr>
        <p:spPr bwMode="auto">
          <a:xfrm>
            <a:off x="457200" y="1600200"/>
            <a:ext cx="8229600" cy="38862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n"/>
              <a:defRPr/>
            </a:pPr>
            <a:r>
              <a:rPr lang="zh-CN" altLang="en-US" sz="2800">
                <a:solidFill>
                  <a:schemeClr val="bg2"/>
                </a:solidFill>
                <a:ea typeface="宋体" panose="02010600030101010101" pitchFamily="2" charset="-122"/>
              </a:rPr>
              <a:t>在该机制中，声称者要通过证明他知道某秘密签名密钥来证实身份。由使用他的秘密签名密钥签署某一消息来完成。消息可包含一个非重复值以抵抗重放攻击。</a:t>
            </a:r>
          </a:p>
          <a:p>
            <a:pPr eaLnBrk="1" hangingPunct="1">
              <a:buClr>
                <a:srgbClr val="FF0000"/>
              </a:buClr>
              <a:buFont typeface="Wingdings" pitchFamily="2" charset="2"/>
              <a:buChar char="n"/>
              <a:defRPr/>
            </a:pPr>
            <a:r>
              <a:rPr lang="zh-CN" altLang="en-US" sz="2800">
                <a:solidFill>
                  <a:schemeClr val="bg2"/>
                </a:solidFill>
                <a:ea typeface="宋体" panose="02010600030101010101" pitchFamily="2" charset="-122"/>
              </a:rPr>
              <a:t>要求验证者有声称者的有效公钥</a:t>
            </a:r>
          </a:p>
          <a:p>
            <a:pPr eaLnBrk="1" hangingPunct="1">
              <a:buClr>
                <a:srgbClr val="FF0000"/>
              </a:buClr>
              <a:buFont typeface="Wingdings" pitchFamily="2" charset="2"/>
              <a:buChar char="n"/>
              <a:defRPr/>
            </a:pPr>
            <a:r>
              <a:rPr lang="zh-CN" altLang="en-US" sz="2800">
                <a:solidFill>
                  <a:schemeClr val="bg2"/>
                </a:solidFill>
                <a:ea typeface="宋体" panose="02010600030101010101" pitchFamily="2" charset="-122"/>
              </a:rPr>
              <a:t>声称者有仅由自己知道和使用的秘密签名私钥。</a:t>
            </a:r>
          </a:p>
          <a:p>
            <a:pPr eaLnBrk="1" hangingPunct="1">
              <a:buClr>
                <a:srgbClr val="FF0000"/>
              </a:buClr>
              <a:buFont typeface="Wingdings" pitchFamily="2" charset="2"/>
              <a:buChar char="n"/>
              <a:defRPr/>
            </a:pPr>
            <a:r>
              <a:rPr lang="zh-CN" altLang="en-US" sz="2800">
                <a:solidFill>
                  <a:schemeClr val="bg2"/>
                </a:solidFill>
                <a:ea typeface="宋体" panose="02010600030101010101" pitchFamily="2" charset="-122"/>
              </a:rPr>
              <a:t>单向鉴别：仅对实体中的一个进行鉴别。</a:t>
            </a:r>
          </a:p>
          <a:p>
            <a:pPr eaLnBrk="1" hangingPunct="1">
              <a:buClr>
                <a:srgbClr val="FF0000"/>
              </a:buClr>
              <a:buFont typeface="Wingdings" pitchFamily="2" charset="2"/>
              <a:buChar char="n"/>
              <a:defRPr/>
            </a:pPr>
            <a:r>
              <a:rPr lang="zh-CN" altLang="en-US" sz="2800">
                <a:solidFill>
                  <a:schemeClr val="bg2"/>
                </a:solidFill>
                <a:ea typeface="宋体" panose="02010600030101010101" pitchFamily="2" charset="-122"/>
              </a:rPr>
              <a:t>双向鉴别：两个通信实体相互进行鉴别。</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4690" name="Rectangle 2">
            <a:extLst>
              <a:ext uri="{FF2B5EF4-FFF2-40B4-BE49-F238E27FC236}">
                <a16:creationId xmlns:a16="http://schemas.microsoft.com/office/drawing/2014/main" id="{131408F7-7AFA-B54C-9555-ABEF0A6F2257}"/>
              </a:ext>
            </a:extLst>
          </p:cNvPr>
          <p:cNvSpPr>
            <a:spLocks noGrp="1" noChangeArrowheads="1"/>
          </p:cNvSpPr>
          <p:nvPr>
            <p:ph type="title"/>
          </p:nvPr>
        </p:nvSpPr>
        <p:spPr bwMode="auto">
          <a:xfrm>
            <a:off x="457200" y="685800"/>
            <a:ext cx="8229600" cy="6096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1" lang="zh-CN" altLang="en-US" sz="3200">
                <a:solidFill>
                  <a:srgbClr val="FF0000"/>
                </a:solidFill>
                <a:latin typeface="黑体" panose="02010609060101010101" pitchFamily="49" charset="-122"/>
                <a:ea typeface="黑体" panose="02010609060101010101" pitchFamily="49" charset="-122"/>
              </a:rPr>
              <a:t>本部分使用以下记法</a:t>
            </a:r>
          </a:p>
        </p:txBody>
      </p:sp>
      <p:sp>
        <p:nvSpPr>
          <p:cNvPr id="1394691" name="Rectangle 3">
            <a:extLst>
              <a:ext uri="{FF2B5EF4-FFF2-40B4-BE49-F238E27FC236}">
                <a16:creationId xmlns:a16="http://schemas.microsoft.com/office/drawing/2014/main" id="{0E2BCC8E-B981-4F4C-BA3E-24D1C20EF685}"/>
              </a:ext>
            </a:extLst>
          </p:cNvPr>
          <p:cNvSpPr>
            <a:spLocks noGrp="1" noChangeArrowheads="1"/>
          </p:cNvSpPr>
          <p:nvPr>
            <p:ph type="body" idx="1"/>
          </p:nvPr>
        </p:nvSpPr>
        <p:spPr bwMode="auto">
          <a:xfrm>
            <a:off x="381000" y="1371600"/>
            <a:ext cx="8458200" cy="48006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A3651C"/>
              </a:buClr>
              <a:buFont typeface="Wingdings" pitchFamily="2" charset="2"/>
              <a:buChar char="u"/>
              <a:defRPr/>
            </a:pPr>
            <a:r>
              <a:rPr lang="en-US" altLang="zh-CN" sz="1600" dirty="0">
                <a:solidFill>
                  <a:schemeClr val="bg2"/>
                </a:solidFill>
                <a:ea typeface="宋体" panose="02010600030101010101" pitchFamily="2" charset="-122"/>
              </a:rPr>
              <a:t>A:</a:t>
            </a:r>
            <a:r>
              <a:rPr lang="zh-CN" altLang="en-US" sz="1600" dirty="0">
                <a:solidFill>
                  <a:schemeClr val="bg2"/>
                </a:solidFill>
                <a:ea typeface="宋体" panose="02010600030101010101" pitchFamily="2" charset="-122"/>
              </a:rPr>
              <a:t>实体</a:t>
            </a:r>
            <a:r>
              <a:rPr lang="en-US" altLang="zh-CN" sz="1600" dirty="0">
                <a:solidFill>
                  <a:schemeClr val="bg2"/>
                </a:solidFill>
                <a:ea typeface="宋体" panose="02010600030101010101" pitchFamily="2" charset="-122"/>
              </a:rPr>
              <a:t>A</a:t>
            </a:r>
            <a:r>
              <a:rPr lang="zh-CN" altLang="en-US" sz="1600" dirty="0">
                <a:solidFill>
                  <a:schemeClr val="bg2"/>
                </a:solidFill>
                <a:ea typeface="宋体" panose="02010600030101010101" pitchFamily="2" charset="-122"/>
              </a:rPr>
              <a:t>的可区分标识符</a:t>
            </a:r>
          </a:p>
          <a:p>
            <a:pPr eaLnBrk="1" hangingPunct="1">
              <a:buClr>
                <a:srgbClr val="A3651C"/>
              </a:buClr>
              <a:buFont typeface="Wingdings" pitchFamily="2" charset="2"/>
              <a:buChar char="u"/>
              <a:defRPr/>
            </a:pPr>
            <a:r>
              <a:rPr lang="en-US" altLang="zh-CN" sz="1600" dirty="0">
                <a:solidFill>
                  <a:schemeClr val="bg2"/>
                </a:solidFill>
                <a:ea typeface="宋体" panose="02010600030101010101" pitchFamily="2" charset="-122"/>
              </a:rPr>
              <a:t>B:</a:t>
            </a:r>
            <a:r>
              <a:rPr lang="zh-CN" altLang="en-US" sz="1600" dirty="0">
                <a:solidFill>
                  <a:schemeClr val="bg2"/>
                </a:solidFill>
                <a:ea typeface="宋体" panose="02010600030101010101" pitchFamily="2" charset="-122"/>
              </a:rPr>
              <a:t>实体</a:t>
            </a:r>
            <a:r>
              <a:rPr lang="en-US" altLang="zh-CN" sz="1600" dirty="0">
                <a:solidFill>
                  <a:schemeClr val="bg2"/>
                </a:solidFill>
                <a:ea typeface="宋体" panose="02010600030101010101" pitchFamily="2" charset="-122"/>
              </a:rPr>
              <a:t>B</a:t>
            </a:r>
            <a:r>
              <a:rPr lang="zh-CN" altLang="en-US" sz="1600" dirty="0">
                <a:solidFill>
                  <a:schemeClr val="bg2"/>
                </a:solidFill>
                <a:ea typeface="宋体" panose="02010600030101010101" pitchFamily="2" charset="-122"/>
              </a:rPr>
              <a:t>的可区分标识符</a:t>
            </a:r>
          </a:p>
          <a:p>
            <a:pPr eaLnBrk="1" hangingPunct="1">
              <a:buClr>
                <a:srgbClr val="A3651C"/>
              </a:buClr>
              <a:buFont typeface="Wingdings" pitchFamily="2" charset="2"/>
              <a:buChar char="u"/>
              <a:defRPr/>
            </a:pPr>
            <a:r>
              <a:rPr lang="en-US" altLang="zh-CN" sz="1600" dirty="0">
                <a:solidFill>
                  <a:schemeClr val="bg2"/>
                </a:solidFill>
                <a:ea typeface="宋体" panose="02010600030101010101" pitchFamily="2" charset="-122"/>
              </a:rPr>
              <a:t>TP:</a:t>
            </a:r>
            <a:r>
              <a:rPr lang="zh-CN" altLang="en-US" sz="1600" dirty="0">
                <a:solidFill>
                  <a:schemeClr val="bg2"/>
                </a:solidFill>
                <a:ea typeface="宋体" panose="02010600030101010101" pitchFamily="2" charset="-122"/>
              </a:rPr>
              <a:t>可信第三方的可区分标识符</a:t>
            </a:r>
          </a:p>
          <a:p>
            <a:pPr eaLnBrk="1" hangingPunct="1">
              <a:buClr>
                <a:srgbClr val="A3651C"/>
              </a:buClr>
              <a:buFont typeface="Wingdings" pitchFamily="2" charset="2"/>
              <a:buChar char="u"/>
              <a:defRPr/>
            </a:pPr>
            <a:r>
              <a:rPr lang="en-US" altLang="zh-CN" sz="1600" dirty="0">
                <a:solidFill>
                  <a:schemeClr val="bg2"/>
                </a:solidFill>
                <a:ea typeface="宋体" panose="02010600030101010101" pitchFamily="2" charset="-122"/>
              </a:rPr>
              <a:t>K</a:t>
            </a:r>
            <a:r>
              <a:rPr lang="en-US" altLang="zh-CN" sz="1600" baseline="-25000" dirty="0">
                <a:solidFill>
                  <a:schemeClr val="bg2"/>
                </a:solidFill>
                <a:ea typeface="宋体" panose="02010600030101010101" pitchFamily="2" charset="-122"/>
              </a:rPr>
              <a:t>XY</a:t>
            </a:r>
            <a:r>
              <a:rPr lang="en-US" altLang="zh-CN" sz="1600" dirty="0">
                <a:solidFill>
                  <a:schemeClr val="bg2"/>
                </a:solidFill>
                <a:ea typeface="宋体" panose="02010600030101010101" pitchFamily="2" charset="-122"/>
              </a:rPr>
              <a:t>:</a:t>
            </a:r>
            <a:r>
              <a:rPr lang="zh-CN" altLang="en-US" sz="1600" dirty="0">
                <a:solidFill>
                  <a:schemeClr val="bg2"/>
                </a:solidFill>
                <a:ea typeface="宋体" panose="02010600030101010101" pitchFamily="2" charset="-122"/>
              </a:rPr>
              <a:t>实体</a:t>
            </a:r>
            <a:r>
              <a:rPr lang="en-US" altLang="zh-CN" sz="1600" dirty="0">
                <a:solidFill>
                  <a:schemeClr val="bg2"/>
                </a:solidFill>
                <a:ea typeface="宋体" panose="02010600030101010101" pitchFamily="2" charset="-122"/>
              </a:rPr>
              <a:t>X</a:t>
            </a:r>
            <a:r>
              <a:rPr lang="zh-CN" altLang="en-US" sz="1600" dirty="0">
                <a:solidFill>
                  <a:schemeClr val="bg2"/>
                </a:solidFill>
                <a:ea typeface="宋体" panose="02010600030101010101" pitchFamily="2" charset="-122"/>
              </a:rPr>
              <a:t>和实体</a:t>
            </a:r>
            <a:r>
              <a:rPr lang="en-US" altLang="zh-CN" sz="1600" dirty="0">
                <a:solidFill>
                  <a:schemeClr val="bg2"/>
                </a:solidFill>
                <a:ea typeface="宋体" panose="02010600030101010101" pitchFamily="2" charset="-122"/>
              </a:rPr>
              <a:t>Y</a:t>
            </a:r>
            <a:r>
              <a:rPr lang="zh-CN" altLang="en-US" sz="1600" dirty="0">
                <a:solidFill>
                  <a:schemeClr val="bg2"/>
                </a:solidFill>
                <a:ea typeface="宋体" panose="02010600030101010101" pitchFamily="2" charset="-122"/>
              </a:rPr>
              <a:t>之间共享的秘密密钥</a:t>
            </a:r>
            <a:r>
              <a:rPr lang="en-US" altLang="zh-CN" sz="1600" dirty="0">
                <a:solidFill>
                  <a:schemeClr val="bg2"/>
                </a:solidFill>
                <a:ea typeface="宋体" panose="02010600030101010101" pitchFamily="2" charset="-122"/>
              </a:rPr>
              <a:t>,</a:t>
            </a:r>
            <a:r>
              <a:rPr lang="zh-CN" altLang="en-US" sz="1600" dirty="0">
                <a:solidFill>
                  <a:schemeClr val="bg2"/>
                </a:solidFill>
                <a:ea typeface="宋体" panose="02010600030101010101" pitchFamily="2" charset="-122"/>
              </a:rPr>
              <a:t>只用于对称密码技术</a:t>
            </a:r>
          </a:p>
          <a:p>
            <a:pPr eaLnBrk="1" hangingPunct="1">
              <a:buClr>
                <a:srgbClr val="A3651C"/>
              </a:buClr>
              <a:buFont typeface="Wingdings" pitchFamily="2" charset="2"/>
              <a:buChar char="u"/>
              <a:defRPr/>
            </a:pPr>
            <a:r>
              <a:rPr lang="en-US" altLang="zh-CN" sz="1600" dirty="0">
                <a:solidFill>
                  <a:schemeClr val="bg2"/>
                </a:solidFill>
                <a:ea typeface="宋体" panose="02010600030101010101" pitchFamily="2" charset="-122"/>
              </a:rPr>
              <a:t>S</a:t>
            </a:r>
            <a:r>
              <a:rPr lang="en-US" altLang="zh-CN" sz="1600" baseline="-25000" dirty="0">
                <a:solidFill>
                  <a:schemeClr val="bg2"/>
                </a:solidFill>
                <a:ea typeface="宋体" panose="02010600030101010101" pitchFamily="2" charset="-122"/>
              </a:rPr>
              <a:t>X</a:t>
            </a:r>
            <a:r>
              <a:rPr lang="en-US" altLang="zh-CN" sz="1600" dirty="0">
                <a:solidFill>
                  <a:schemeClr val="bg2"/>
                </a:solidFill>
                <a:ea typeface="宋体" panose="02010600030101010101" pitchFamily="2" charset="-122"/>
              </a:rPr>
              <a:t>:</a:t>
            </a:r>
            <a:r>
              <a:rPr lang="zh-CN" altLang="en-US" sz="1600" dirty="0">
                <a:solidFill>
                  <a:schemeClr val="bg2"/>
                </a:solidFill>
                <a:ea typeface="宋体" panose="02010600030101010101" pitchFamily="2" charset="-122"/>
              </a:rPr>
              <a:t>与实体</a:t>
            </a:r>
            <a:r>
              <a:rPr lang="en-US" altLang="zh-CN" sz="1600" dirty="0">
                <a:solidFill>
                  <a:schemeClr val="bg2"/>
                </a:solidFill>
                <a:ea typeface="宋体" panose="02010600030101010101" pitchFamily="2" charset="-122"/>
              </a:rPr>
              <a:t>X</a:t>
            </a:r>
            <a:r>
              <a:rPr lang="zh-CN" altLang="en-US" sz="1600" dirty="0">
                <a:solidFill>
                  <a:schemeClr val="bg2"/>
                </a:solidFill>
                <a:ea typeface="宋体" panose="02010600030101010101" pitchFamily="2" charset="-122"/>
              </a:rPr>
              <a:t>有关的私有签名密钥</a:t>
            </a:r>
            <a:r>
              <a:rPr lang="en-US" altLang="zh-CN" sz="1600" dirty="0">
                <a:solidFill>
                  <a:schemeClr val="bg2"/>
                </a:solidFill>
                <a:ea typeface="宋体" panose="02010600030101010101" pitchFamily="2" charset="-122"/>
              </a:rPr>
              <a:t>,</a:t>
            </a:r>
            <a:r>
              <a:rPr lang="zh-CN" altLang="en-US" sz="1600" dirty="0">
                <a:solidFill>
                  <a:schemeClr val="bg2"/>
                </a:solidFill>
                <a:ea typeface="宋体" panose="02010600030101010101" pitchFamily="2" charset="-122"/>
              </a:rPr>
              <a:t>只用于非对称加密技术</a:t>
            </a:r>
          </a:p>
          <a:p>
            <a:pPr eaLnBrk="1" hangingPunct="1">
              <a:buClr>
                <a:srgbClr val="A3651C"/>
              </a:buClr>
              <a:buFont typeface="Wingdings" pitchFamily="2" charset="2"/>
              <a:buChar char="u"/>
              <a:defRPr/>
            </a:pPr>
            <a:r>
              <a:rPr lang="en-US" altLang="zh-CN" sz="1600" dirty="0">
                <a:solidFill>
                  <a:schemeClr val="bg2"/>
                </a:solidFill>
                <a:ea typeface="宋体" panose="02010600030101010101" pitchFamily="2" charset="-122"/>
              </a:rPr>
              <a:t>N</a:t>
            </a:r>
            <a:r>
              <a:rPr lang="en-US" altLang="zh-CN" sz="1600" baseline="-25000" dirty="0">
                <a:solidFill>
                  <a:schemeClr val="bg2"/>
                </a:solidFill>
                <a:ea typeface="宋体" panose="02010600030101010101" pitchFamily="2" charset="-122"/>
              </a:rPr>
              <a:t>X</a:t>
            </a:r>
            <a:r>
              <a:rPr lang="en-US" altLang="zh-CN" sz="1600" dirty="0">
                <a:solidFill>
                  <a:schemeClr val="bg2"/>
                </a:solidFill>
                <a:ea typeface="宋体" panose="02010600030101010101" pitchFamily="2" charset="-122"/>
              </a:rPr>
              <a:t>:</a:t>
            </a:r>
            <a:r>
              <a:rPr lang="zh-CN" altLang="en-US" sz="1600" dirty="0">
                <a:solidFill>
                  <a:schemeClr val="bg2"/>
                </a:solidFill>
                <a:ea typeface="宋体" panose="02010600030101010101" pitchFamily="2" charset="-122"/>
              </a:rPr>
              <a:t>由实体</a:t>
            </a:r>
            <a:r>
              <a:rPr lang="en-US" altLang="zh-CN" sz="1600" dirty="0">
                <a:solidFill>
                  <a:schemeClr val="bg2"/>
                </a:solidFill>
                <a:ea typeface="宋体" panose="02010600030101010101" pitchFamily="2" charset="-122"/>
              </a:rPr>
              <a:t>X</a:t>
            </a:r>
            <a:r>
              <a:rPr lang="zh-CN" altLang="en-US" sz="1600" dirty="0">
                <a:solidFill>
                  <a:schemeClr val="bg2"/>
                </a:solidFill>
                <a:ea typeface="宋体" panose="02010600030101010101" pitchFamily="2" charset="-122"/>
              </a:rPr>
              <a:t>给出的顺序号</a:t>
            </a:r>
          </a:p>
          <a:p>
            <a:pPr eaLnBrk="1" hangingPunct="1">
              <a:buClr>
                <a:srgbClr val="A3651C"/>
              </a:buClr>
              <a:buFont typeface="Wingdings" pitchFamily="2" charset="2"/>
              <a:buChar char="u"/>
              <a:defRPr/>
            </a:pPr>
            <a:r>
              <a:rPr lang="en-US" altLang="zh-CN" sz="1600" dirty="0">
                <a:solidFill>
                  <a:schemeClr val="bg2"/>
                </a:solidFill>
                <a:ea typeface="宋体" panose="02010600030101010101" pitchFamily="2" charset="-122"/>
              </a:rPr>
              <a:t>R</a:t>
            </a:r>
            <a:r>
              <a:rPr lang="en-US" altLang="zh-CN" sz="1600" baseline="-25000" dirty="0">
                <a:solidFill>
                  <a:schemeClr val="bg2"/>
                </a:solidFill>
                <a:ea typeface="宋体" panose="02010600030101010101" pitchFamily="2" charset="-122"/>
              </a:rPr>
              <a:t>X</a:t>
            </a:r>
            <a:r>
              <a:rPr lang="en-US" altLang="zh-CN" sz="1600" dirty="0">
                <a:solidFill>
                  <a:schemeClr val="bg2"/>
                </a:solidFill>
                <a:ea typeface="宋体" panose="02010600030101010101" pitchFamily="2" charset="-122"/>
              </a:rPr>
              <a:t>:</a:t>
            </a:r>
            <a:r>
              <a:rPr lang="zh-CN" altLang="en-US" sz="1600" dirty="0">
                <a:solidFill>
                  <a:schemeClr val="bg2"/>
                </a:solidFill>
                <a:ea typeface="宋体" panose="02010600030101010101" pitchFamily="2" charset="-122"/>
              </a:rPr>
              <a:t>由实体</a:t>
            </a:r>
            <a:r>
              <a:rPr lang="en-US" altLang="zh-CN" sz="1600" dirty="0">
                <a:solidFill>
                  <a:schemeClr val="bg2"/>
                </a:solidFill>
                <a:ea typeface="宋体" panose="02010600030101010101" pitchFamily="2" charset="-122"/>
              </a:rPr>
              <a:t>X</a:t>
            </a:r>
            <a:r>
              <a:rPr lang="zh-CN" altLang="en-US" sz="1600" dirty="0">
                <a:solidFill>
                  <a:schemeClr val="bg2"/>
                </a:solidFill>
                <a:ea typeface="宋体" panose="02010600030101010101" pitchFamily="2" charset="-122"/>
              </a:rPr>
              <a:t>给出的随机数</a:t>
            </a:r>
          </a:p>
          <a:p>
            <a:pPr eaLnBrk="1" hangingPunct="1">
              <a:buClr>
                <a:srgbClr val="A3651C"/>
              </a:buClr>
              <a:buFont typeface="Wingdings" pitchFamily="2" charset="2"/>
              <a:buChar char="u"/>
              <a:defRPr/>
            </a:pPr>
            <a:r>
              <a:rPr lang="en-US" altLang="zh-CN" sz="1600" dirty="0">
                <a:solidFill>
                  <a:schemeClr val="bg2"/>
                </a:solidFill>
                <a:ea typeface="宋体" panose="02010600030101010101" pitchFamily="2" charset="-122"/>
              </a:rPr>
              <a:t>T</a:t>
            </a:r>
            <a:r>
              <a:rPr lang="en-US" altLang="zh-CN" sz="1600" baseline="-25000" dirty="0">
                <a:solidFill>
                  <a:schemeClr val="bg2"/>
                </a:solidFill>
                <a:ea typeface="宋体" panose="02010600030101010101" pitchFamily="2" charset="-122"/>
              </a:rPr>
              <a:t>X</a:t>
            </a:r>
            <a:r>
              <a:rPr lang="en-US" altLang="zh-CN" sz="1600" dirty="0">
                <a:solidFill>
                  <a:schemeClr val="bg2"/>
                </a:solidFill>
                <a:ea typeface="宋体" panose="02010600030101010101" pitchFamily="2" charset="-122"/>
              </a:rPr>
              <a:t>:</a:t>
            </a:r>
            <a:r>
              <a:rPr lang="zh-CN" altLang="en-US" sz="1600" dirty="0">
                <a:solidFill>
                  <a:schemeClr val="bg2"/>
                </a:solidFill>
                <a:ea typeface="宋体" panose="02010600030101010101" pitchFamily="2" charset="-122"/>
              </a:rPr>
              <a:t>由实体</a:t>
            </a:r>
            <a:r>
              <a:rPr lang="en-US" altLang="zh-CN" sz="1600" dirty="0">
                <a:solidFill>
                  <a:schemeClr val="bg2"/>
                </a:solidFill>
                <a:ea typeface="宋体" panose="02010600030101010101" pitchFamily="2" charset="-122"/>
              </a:rPr>
              <a:t>X</a:t>
            </a:r>
            <a:r>
              <a:rPr lang="zh-CN" altLang="en-US" sz="1600" dirty="0">
                <a:solidFill>
                  <a:schemeClr val="bg2"/>
                </a:solidFill>
                <a:ea typeface="宋体" panose="02010600030101010101" pitchFamily="2" charset="-122"/>
              </a:rPr>
              <a:t>原发的时变参数</a:t>
            </a:r>
            <a:r>
              <a:rPr lang="en-US" altLang="zh-CN" sz="1600" dirty="0">
                <a:solidFill>
                  <a:schemeClr val="bg2"/>
                </a:solidFill>
                <a:ea typeface="宋体" panose="02010600030101010101" pitchFamily="2" charset="-122"/>
              </a:rPr>
              <a:t>,</a:t>
            </a:r>
            <a:r>
              <a:rPr lang="zh-CN" altLang="en-US" sz="1600" dirty="0">
                <a:solidFill>
                  <a:schemeClr val="bg2"/>
                </a:solidFill>
                <a:ea typeface="宋体" panose="02010600030101010101" pitchFamily="2" charset="-122"/>
              </a:rPr>
              <a:t>它或者是时间标记</a:t>
            </a:r>
            <a:r>
              <a:rPr lang="en-US" altLang="zh-CN" sz="1600" dirty="0">
                <a:solidFill>
                  <a:schemeClr val="bg2"/>
                </a:solidFill>
                <a:ea typeface="宋体" panose="02010600030101010101" pitchFamily="2" charset="-122"/>
              </a:rPr>
              <a:t>T</a:t>
            </a:r>
            <a:r>
              <a:rPr lang="en-US" altLang="zh-CN" sz="1600" baseline="-25000" dirty="0">
                <a:solidFill>
                  <a:schemeClr val="bg2"/>
                </a:solidFill>
                <a:ea typeface="宋体" panose="02010600030101010101" pitchFamily="2" charset="-122"/>
              </a:rPr>
              <a:t>X</a:t>
            </a:r>
            <a:r>
              <a:rPr lang="en-US" altLang="zh-CN" sz="1600" dirty="0">
                <a:solidFill>
                  <a:schemeClr val="bg2"/>
                </a:solidFill>
                <a:ea typeface="宋体" panose="02010600030101010101" pitchFamily="2" charset="-122"/>
              </a:rPr>
              <a:t>,</a:t>
            </a:r>
            <a:r>
              <a:rPr lang="zh-CN" altLang="en-US" sz="1600" dirty="0">
                <a:solidFill>
                  <a:schemeClr val="bg2"/>
                </a:solidFill>
                <a:ea typeface="宋体" panose="02010600030101010101" pitchFamily="2" charset="-122"/>
              </a:rPr>
              <a:t>或者是顺序号</a:t>
            </a:r>
            <a:r>
              <a:rPr lang="en-US" altLang="zh-CN" sz="1600" dirty="0">
                <a:solidFill>
                  <a:schemeClr val="bg2"/>
                </a:solidFill>
                <a:ea typeface="宋体" panose="02010600030101010101" pitchFamily="2" charset="-122"/>
              </a:rPr>
              <a:t>R</a:t>
            </a:r>
            <a:r>
              <a:rPr lang="en-US" altLang="zh-CN" sz="1600" baseline="-25000" dirty="0">
                <a:solidFill>
                  <a:schemeClr val="bg2"/>
                </a:solidFill>
                <a:ea typeface="宋体" panose="02010600030101010101" pitchFamily="2" charset="-122"/>
              </a:rPr>
              <a:t>X </a:t>
            </a:r>
            <a:r>
              <a:rPr lang="en-US" altLang="zh-CN" sz="1600" dirty="0">
                <a:solidFill>
                  <a:schemeClr val="bg2"/>
                </a:solidFill>
                <a:ea typeface="宋体" panose="02010600030101010101" pitchFamily="2" charset="-122"/>
              </a:rPr>
              <a:t>N</a:t>
            </a:r>
            <a:r>
              <a:rPr lang="en-US" altLang="zh-CN" sz="1600" baseline="-25000" dirty="0">
                <a:solidFill>
                  <a:schemeClr val="bg2"/>
                </a:solidFill>
                <a:ea typeface="宋体" panose="02010600030101010101" pitchFamily="2" charset="-122"/>
              </a:rPr>
              <a:t>X</a:t>
            </a:r>
            <a:r>
              <a:rPr lang="en-US" altLang="zh-CN" sz="1600" dirty="0">
                <a:solidFill>
                  <a:schemeClr val="bg2"/>
                </a:solidFill>
                <a:ea typeface="宋体" panose="02010600030101010101" pitchFamily="2" charset="-122"/>
              </a:rPr>
              <a:t>:</a:t>
            </a:r>
          </a:p>
          <a:p>
            <a:pPr eaLnBrk="1" hangingPunct="1">
              <a:buClr>
                <a:srgbClr val="A3651C"/>
              </a:buClr>
              <a:buFont typeface="Wingdings" pitchFamily="2" charset="2"/>
              <a:buChar char="u"/>
              <a:defRPr/>
            </a:pPr>
            <a:r>
              <a:rPr lang="en-US" altLang="zh-CN" sz="1600" dirty="0">
                <a:solidFill>
                  <a:schemeClr val="bg2"/>
                </a:solidFill>
                <a:ea typeface="宋体" panose="02010600030101010101" pitchFamily="2" charset="-122"/>
              </a:rPr>
              <a:t>Y||Z:</a:t>
            </a:r>
            <a:r>
              <a:rPr lang="zh-CN" altLang="en-US" sz="1600" dirty="0">
                <a:solidFill>
                  <a:schemeClr val="bg2"/>
                </a:solidFill>
                <a:ea typeface="宋体" panose="02010600030101010101" pitchFamily="2" charset="-122"/>
              </a:rPr>
              <a:t>数据项</a:t>
            </a:r>
            <a:r>
              <a:rPr lang="en-US" altLang="zh-CN" sz="1600" dirty="0">
                <a:solidFill>
                  <a:schemeClr val="bg2"/>
                </a:solidFill>
                <a:ea typeface="宋体" panose="02010600030101010101" pitchFamily="2" charset="-122"/>
              </a:rPr>
              <a:t>Y</a:t>
            </a:r>
            <a:r>
              <a:rPr lang="zh-CN" altLang="en-US" sz="1600" dirty="0">
                <a:solidFill>
                  <a:schemeClr val="bg2"/>
                </a:solidFill>
                <a:ea typeface="宋体" panose="02010600030101010101" pitchFamily="2" charset="-122"/>
              </a:rPr>
              <a:t>和</a:t>
            </a:r>
            <a:r>
              <a:rPr lang="en-US" altLang="zh-CN" sz="1600" dirty="0">
                <a:solidFill>
                  <a:schemeClr val="bg2"/>
                </a:solidFill>
                <a:ea typeface="宋体" panose="02010600030101010101" pitchFamily="2" charset="-122"/>
              </a:rPr>
              <a:t>Z</a:t>
            </a:r>
            <a:r>
              <a:rPr lang="zh-CN" altLang="en-US" sz="1600" dirty="0">
                <a:solidFill>
                  <a:schemeClr val="bg2"/>
                </a:solidFill>
                <a:ea typeface="宋体" panose="02010600030101010101" pitchFamily="2" charset="-122"/>
              </a:rPr>
              <a:t>以</a:t>
            </a:r>
            <a:r>
              <a:rPr lang="en-US" altLang="zh-CN" sz="1600" dirty="0">
                <a:solidFill>
                  <a:schemeClr val="bg2"/>
                </a:solidFill>
                <a:ea typeface="宋体" panose="02010600030101010101" pitchFamily="2" charset="-122"/>
              </a:rPr>
              <a:t>Y</a:t>
            </a:r>
            <a:r>
              <a:rPr lang="zh-CN" altLang="en-US" sz="1600" dirty="0">
                <a:solidFill>
                  <a:schemeClr val="bg2"/>
                </a:solidFill>
                <a:ea typeface="宋体" panose="02010600030101010101" pitchFamily="2" charset="-122"/>
              </a:rPr>
              <a:t>在前</a:t>
            </a:r>
            <a:r>
              <a:rPr lang="en-US" altLang="zh-CN" sz="1600" dirty="0">
                <a:solidFill>
                  <a:schemeClr val="bg2"/>
                </a:solidFill>
                <a:ea typeface="宋体" panose="02010600030101010101" pitchFamily="2" charset="-122"/>
              </a:rPr>
              <a:t>Z</a:t>
            </a:r>
            <a:r>
              <a:rPr lang="zh-CN" altLang="en-US" sz="1600" dirty="0">
                <a:solidFill>
                  <a:schemeClr val="bg2"/>
                </a:solidFill>
                <a:ea typeface="宋体" panose="02010600030101010101" pitchFamily="2" charset="-122"/>
              </a:rPr>
              <a:t>在后顺序拼接的结果</a:t>
            </a:r>
          </a:p>
          <a:p>
            <a:pPr eaLnBrk="1" hangingPunct="1">
              <a:buClr>
                <a:srgbClr val="A3651C"/>
              </a:buClr>
              <a:buFont typeface="Wingdings" pitchFamily="2" charset="2"/>
              <a:buChar char="u"/>
              <a:defRPr/>
            </a:pPr>
            <a:r>
              <a:rPr lang="en-US" altLang="zh-CN" sz="1600" dirty="0" err="1">
                <a:solidFill>
                  <a:schemeClr val="bg2"/>
                </a:solidFill>
                <a:ea typeface="宋体" panose="02010600030101010101" pitchFamily="2" charset="-122"/>
              </a:rPr>
              <a:t>eK</a:t>
            </a:r>
            <a:r>
              <a:rPr lang="en-US" altLang="zh-CN" sz="1600" dirty="0">
                <a:solidFill>
                  <a:schemeClr val="bg2"/>
                </a:solidFill>
                <a:ea typeface="宋体" panose="02010600030101010101" pitchFamily="2" charset="-122"/>
              </a:rPr>
              <a:t>(Z):</a:t>
            </a:r>
            <a:r>
              <a:rPr lang="zh-CN" altLang="en-US" sz="1600" dirty="0">
                <a:solidFill>
                  <a:schemeClr val="bg2"/>
                </a:solidFill>
                <a:ea typeface="宋体" panose="02010600030101010101" pitchFamily="2" charset="-122"/>
              </a:rPr>
              <a:t>用密钥</a:t>
            </a:r>
            <a:r>
              <a:rPr lang="en-US" altLang="zh-CN" sz="1600" dirty="0">
                <a:solidFill>
                  <a:schemeClr val="bg2"/>
                </a:solidFill>
                <a:ea typeface="宋体" panose="02010600030101010101" pitchFamily="2" charset="-122"/>
              </a:rPr>
              <a:t>K</a:t>
            </a:r>
            <a:r>
              <a:rPr lang="zh-CN" altLang="en-US" sz="1600" dirty="0">
                <a:solidFill>
                  <a:schemeClr val="bg2"/>
                </a:solidFill>
                <a:ea typeface="宋体" panose="02010600030101010101" pitchFamily="2" charset="-122"/>
              </a:rPr>
              <a:t>的对称加密算法对数据</a:t>
            </a:r>
            <a:r>
              <a:rPr lang="en-US" altLang="zh-CN" sz="1600" dirty="0">
                <a:solidFill>
                  <a:schemeClr val="bg2"/>
                </a:solidFill>
                <a:ea typeface="宋体" panose="02010600030101010101" pitchFamily="2" charset="-122"/>
              </a:rPr>
              <a:t>Z</a:t>
            </a:r>
            <a:r>
              <a:rPr lang="zh-CN" altLang="en-US" sz="1600" dirty="0">
                <a:solidFill>
                  <a:schemeClr val="bg2"/>
                </a:solidFill>
                <a:ea typeface="宋体" panose="02010600030101010101" pitchFamily="2" charset="-122"/>
              </a:rPr>
              <a:t>加密的结果</a:t>
            </a:r>
          </a:p>
          <a:p>
            <a:pPr eaLnBrk="1" hangingPunct="1">
              <a:buClr>
                <a:srgbClr val="A3651C"/>
              </a:buClr>
              <a:buFont typeface="Wingdings" pitchFamily="2" charset="2"/>
              <a:buChar char="u"/>
              <a:defRPr/>
            </a:pPr>
            <a:r>
              <a:rPr lang="en-US" altLang="zh-CN" sz="1600" dirty="0" err="1">
                <a:solidFill>
                  <a:schemeClr val="bg2"/>
                </a:solidFill>
                <a:ea typeface="宋体" panose="02010600030101010101" pitchFamily="2" charset="-122"/>
              </a:rPr>
              <a:t>fK</a:t>
            </a:r>
            <a:r>
              <a:rPr lang="en-US" altLang="zh-CN" sz="1600" dirty="0">
                <a:solidFill>
                  <a:schemeClr val="bg2"/>
                </a:solidFill>
                <a:ea typeface="宋体" panose="02010600030101010101" pitchFamily="2" charset="-122"/>
              </a:rPr>
              <a:t>(Z):</a:t>
            </a:r>
            <a:r>
              <a:rPr lang="zh-CN" altLang="en-US" sz="1600" dirty="0">
                <a:solidFill>
                  <a:schemeClr val="bg2"/>
                </a:solidFill>
                <a:ea typeface="宋体" panose="02010600030101010101" pitchFamily="2" charset="-122"/>
              </a:rPr>
              <a:t>使用以密钥</a:t>
            </a:r>
            <a:r>
              <a:rPr lang="en-US" altLang="zh-CN" sz="1600" dirty="0">
                <a:solidFill>
                  <a:schemeClr val="bg2"/>
                </a:solidFill>
                <a:ea typeface="宋体" panose="02010600030101010101" pitchFamily="2" charset="-122"/>
              </a:rPr>
              <a:t>K</a:t>
            </a:r>
            <a:r>
              <a:rPr lang="zh-CN" altLang="en-US" sz="1600" dirty="0">
                <a:solidFill>
                  <a:schemeClr val="bg2"/>
                </a:solidFill>
                <a:ea typeface="宋体" panose="02010600030101010101" pitchFamily="2" charset="-122"/>
              </a:rPr>
              <a:t>和任意数据串</a:t>
            </a:r>
            <a:r>
              <a:rPr lang="en-US" altLang="zh-CN" sz="1600" dirty="0">
                <a:solidFill>
                  <a:schemeClr val="bg2"/>
                </a:solidFill>
                <a:ea typeface="宋体" panose="02010600030101010101" pitchFamily="2" charset="-122"/>
              </a:rPr>
              <a:t>Z</a:t>
            </a:r>
            <a:r>
              <a:rPr lang="zh-CN" altLang="en-US" sz="1600" dirty="0">
                <a:solidFill>
                  <a:schemeClr val="bg2"/>
                </a:solidFill>
                <a:ea typeface="宋体" panose="02010600030101010101" pitchFamily="2" charset="-122"/>
              </a:rPr>
              <a:t>作为输入的密码校验函数</a:t>
            </a:r>
            <a:r>
              <a:rPr lang="en-US" altLang="zh-CN" sz="1600" dirty="0">
                <a:solidFill>
                  <a:schemeClr val="bg2"/>
                </a:solidFill>
                <a:ea typeface="宋体" panose="02010600030101010101" pitchFamily="2" charset="-122"/>
              </a:rPr>
              <a:t>f</a:t>
            </a:r>
            <a:r>
              <a:rPr lang="zh-CN" altLang="en-US" sz="1600" dirty="0">
                <a:solidFill>
                  <a:schemeClr val="bg2"/>
                </a:solidFill>
                <a:ea typeface="宋体" panose="02010600030101010101" pitchFamily="2" charset="-122"/>
              </a:rPr>
              <a:t>所产生的密码校验值</a:t>
            </a:r>
          </a:p>
          <a:p>
            <a:pPr eaLnBrk="1" hangingPunct="1">
              <a:buClr>
                <a:srgbClr val="A3651C"/>
              </a:buClr>
              <a:buFont typeface="Wingdings" pitchFamily="2" charset="2"/>
              <a:buChar char="u"/>
              <a:defRPr/>
            </a:pPr>
            <a:r>
              <a:rPr lang="en-US" altLang="zh-CN" sz="1600" dirty="0" err="1">
                <a:solidFill>
                  <a:schemeClr val="bg2"/>
                </a:solidFill>
                <a:ea typeface="宋体" panose="02010600030101010101" pitchFamily="2" charset="-122"/>
              </a:rPr>
              <a:t>CertX</a:t>
            </a:r>
            <a:r>
              <a:rPr lang="en-US" altLang="zh-CN" sz="1600" dirty="0">
                <a:solidFill>
                  <a:schemeClr val="bg2"/>
                </a:solidFill>
                <a:ea typeface="宋体" panose="02010600030101010101" pitchFamily="2" charset="-122"/>
              </a:rPr>
              <a:t>:</a:t>
            </a:r>
            <a:r>
              <a:rPr lang="zh-CN" altLang="en-US" sz="1600" dirty="0">
                <a:solidFill>
                  <a:schemeClr val="bg2"/>
                </a:solidFill>
                <a:ea typeface="宋体" panose="02010600030101010101" pitchFamily="2" charset="-122"/>
              </a:rPr>
              <a:t>由可信第三方签发给实体</a:t>
            </a:r>
            <a:r>
              <a:rPr lang="en-US" altLang="zh-CN" sz="1600" dirty="0">
                <a:solidFill>
                  <a:schemeClr val="bg2"/>
                </a:solidFill>
                <a:ea typeface="宋体" panose="02010600030101010101" pitchFamily="2" charset="-122"/>
              </a:rPr>
              <a:t>X</a:t>
            </a:r>
            <a:r>
              <a:rPr lang="zh-CN" altLang="en-US" sz="1600" dirty="0">
                <a:solidFill>
                  <a:schemeClr val="bg2"/>
                </a:solidFill>
                <a:ea typeface="宋体" panose="02010600030101010101" pitchFamily="2" charset="-122"/>
              </a:rPr>
              <a:t>的证书</a:t>
            </a:r>
          </a:p>
          <a:p>
            <a:pPr eaLnBrk="1" hangingPunct="1">
              <a:buClr>
                <a:srgbClr val="A3651C"/>
              </a:buClr>
              <a:buFont typeface="Wingdings" pitchFamily="2" charset="2"/>
              <a:buChar char="u"/>
              <a:defRPr/>
            </a:pPr>
            <a:r>
              <a:rPr lang="en-US" altLang="zh-CN" sz="1600" dirty="0" err="1">
                <a:solidFill>
                  <a:schemeClr val="bg2"/>
                </a:solidFill>
                <a:ea typeface="宋体" panose="02010600030101010101" pitchFamily="2" charset="-122"/>
              </a:rPr>
              <a:t>TokenXY</a:t>
            </a:r>
            <a:r>
              <a:rPr lang="en-US" altLang="zh-CN" sz="1600" dirty="0">
                <a:solidFill>
                  <a:schemeClr val="bg2"/>
                </a:solidFill>
                <a:ea typeface="宋体" panose="02010600030101010101" pitchFamily="2" charset="-122"/>
              </a:rPr>
              <a:t>:</a:t>
            </a:r>
            <a:r>
              <a:rPr lang="zh-CN" altLang="en-US" sz="1600" dirty="0">
                <a:solidFill>
                  <a:schemeClr val="bg2"/>
                </a:solidFill>
                <a:ea typeface="宋体" panose="02010600030101010101" pitchFamily="2" charset="-122"/>
              </a:rPr>
              <a:t>实体</a:t>
            </a:r>
            <a:r>
              <a:rPr lang="en-US" altLang="zh-CN" sz="1600" dirty="0">
                <a:solidFill>
                  <a:schemeClr val="bg2"/>
                </a:solidFill>
                <a:ea typeface="宋体" panose="02010600030101010101" pitchFamily="2" charset="-122"/>
              </a:rPr>
              <a:t>X</a:t>
            </a:r>
            <a:r>
              <a:rPr lang="zh-CN" altLang="en-US" sz="1600" dirty="0">
                <a:solidFill>
                  <a:schemeClr val="bg2"/>
                </a:solidFill>
                <a:ea typeface="宋体" panose="02010600030101010101" pitchFamily="2" charset="-122"/>
              </a:rPr>
              <a:t>发给</a:t>
            </a:r>
            <a:r>
              <a:rPr lang="en-US" altLang="zh-CN" sz="1600" dirty="0">
                <a:solidFill>
                  <a:schemeClr val="bg2"/>
                </a:solidFill>
                <a:ea typeface="宋体" panose="02010600030101010101" pitchFamily="2" charset="-122"/>
              </a:rPr>
              <a:t>Y</a:t>
            </a:r>
            <a:r>
              <a:rPr lang="zh-CN" altLang="en-US" sz="1600" dirty="0">
                <a:solidFill>
                  <a:schemeClr val="bg2"/>
                </a:solidFill>
                <a:ea typeface="宋体" panose="02010600030101010101" pitchFamily="2" charset="-122"/>
              </a:rPr>
              <a:t>的权标</a:t>
            </a:r>
            <a:r>
              <a:rPr lang="en-US" altLang="zh-CN" sz="1600" dirty="0">
                <a:solidFill>
                  <a:schemeClr val="bg2"/>
                </a:solidFill>
                <a:ea typeface="宋体" panose="02010600030101010101" pitchFamily="2" charset="-122"/>
              </a:rPr>
              <a:t>,</a:t>
            </a:r>
            <a:r>
              <a:rPr lang="zh-CN" altLang="en-US" sz="1600" dirty="0">
                <a:solidFill>
                  <a:schemeClr val="bg2"/>
                </a:solidFill>
                <a:ea typeface="宋体" panose="02010600030101010101" pitchFamily="2" charset="-122"/>
              </a:rPr>
              <a:t>包含使用密码技术变换的信息</a:t>
            </a:r>
          </a:p>
          <a:p>
            <a:pPr eaLnBrk="1" hangingPunct="1">
              <a:buClr>
                <a:srgbClr val="A3651C"/>
              </a:buClr>
              <a:buFont typeface="Wingdings" pitchFamily="2" charset="2"/>
              <a:buChar char="u"/>
              <a:defRPr/>
            </a:pPr>
            <a:r>
              <a:rPr lang="en-US" altLang="zh-CN" sz="1600" dirty="0">
                <a:solidFill>
                  <a:schemeClr val="bg2"/>
                </a:solidFill>
                <a:ea typeface="宋体" panose="02010600030101010101" pitchFamily="2" charset="-122"/>
              </a:rPr>
              <a:t>TVP:</a:t>
            </a:r>
            <a:r>
              <a:rPr lang="zh-CN" altLang="en-US" sz="1600" dirty="0">
                <a:solidFill>
                  <a:schemeClr val="bg2"/>
                </a:solidFill>
                <a:ea typeface="宋体" panose="02010600030101010101" pitchFamily="2" charset="-122"/>
              </a:rPr>
              <a:t>时变参数</a:t>
            </a:r>
          </a:p>
          <a:p>
            <a:pPr eaLnBrk="1" hangingPunct="1">
              <a:buClr>
                <a:srgbClr val="A3651C"/>
              </a:buClr>
              <a:buFont typeface="Wingdings" pitchFamily="2" charset="2"/>
              <a:buChar char="u"/>
              <a:defRPr/>
            </a:pPr>
            <a:r>
              <a:rPr lang="en-US" altLang="zh-CN" sz="1600" baseline="-25000" dirty="0">
                <a:solidFill>
                  <a:schemeClr val="bg2"/>
                </a:solidFill>
                <a:ea typeface="宋体" panose="02010600030101010101" pitchFamily="2" charset="-122"/>
              </a:rPr>
              <a:t>S</a:t>
            </a:r>
            <a:r>
              <a:rPr lang="en-US" altLang="zh-CN" sz="1600" dirty="0">
                <a:solidFill>
                  <a:schemeClr val="bg2"/>
                </a:solidFill>
                <a:ea typeface="宋体" panose="02010600030101010101" pitchFamily="2" charset="-122"/>
              </a:rPr>
              <a:t>S</a:t>
            </a:r>
            <a:r>
              <a:rPr lang="en-US" altLang="zh-CN" sz="1600" baseline="-25000" dirty="0">
                <a:solidFill>
                  <a:schemeClr val="bg2"/>
                </a:solidFill>
                <a:ea typeface="宋体" panose="02010600030101010101" pitchFamily="2" charset="-122"/>
              </a:rPr>
              <a:t>X</a:t>
            </a:r>
            <a:r>
              <a:rPr lang="en-US" altLang="zh-CN" sz="1600" dirty="0">
                <a:solidFill>
                  <a:schemeClr val="bg2"/>
                </a:solidFill>
                <a:ea typeface="宋体" panose="02010600030101010101" pitchFamily="2" charset="-122"/>
              </a:rPr>
              <a:t>(Z):</a:t>
            </a:r>
            <a:r>
              <a:rPr lang="zh-CN" altLang="en-US" sz="1600" dirty="0">
                <a:solidFill>
                  <a:schemeClr val="bg2"/>
                </a:solidFill>
                <a:ea typeface="宋体" panose="02010600030101010101" pitchFamily="2" charset="-122"/>
              </a:rPr>
              <a:t>用私有签名密钥</a:t>
            </a:r>
            <a:r>
              <a:rPr lang="en-US" altLang="zh-CN" sz="1600" dirty="0">
                <a:solidFill>
                  <a:schemeClr val="bg2"/>
                </a:solidFill>
                <a:ea typeface="宋体" panose="02010600030101010101" pitchFamily="2" charset="-122"/>
              </a:rPr>
              <a:t>S</a:t>
            </a:r>
            <a:r>
              <a:rPr lang="en-US" altLang="zh-CN" sz="1600" baseline="-25000" dirty="0">
                <a:solidFill>
                  <a:schemeClr val="bg2"/>
                </a:solidFill>
                <a:ea typeface="宋体" panose="02010600030101010101" pitchFamily="2" charset="-122"/>
              </a:rPr>
              <a:t>X</a:t>
            </a:r>
            <a:r>
              <a:rPr lang="zh-CN" altLang="en-US" sz="1600" dirty="0">
                <a:solidFill>
                  <a:schemeClr val="bg2"/>
                </a:solidFill>
                <a:ea typeface="宋体" panose="02010600030101010101" pitchFamily="2" charset="-122"/>
              </a:rPr>
              <a:t>对数据</a:t>
            </a:r>
            <a:r>
              <a:rPr lang="en-US" altLang="zh-CN" sz="1600" dirty="0">
                <a:solidFill>
                  <a:schemeClr val="bg2"/>
                </a:solidFill>
                <a:ea typeface="宋体" panose="02010600030101010101" pitchFamily="2" charset="-122"/>
              </a:rPr>
              <a:t>Z</a:t>
            </a:r>
            <a:r>
              <a:rPr lang="zh-CN" altLang="en-US" sz="1600" dirty="0">
                <a:solidFill>
                  <a:schemeClr val="bg2"/>
                </a:solidFill>
                <a:ea typeface="宋体" panose="02010600030101010101" pitchFamily="2" charset="-122"/>
              </a:rPr>
              <a:t>进行私有签名变换所产生的签名</a:t>
            </a:r>
            <a:r>
              <a:rPr lang="en-US" altLang="zh-CN" sz="1600" dirty="0">
                <a:solidFill>
                  <a:schemeClr val="bg2"/>
                </a:solidFill>
                <a:ea typeface="宋体" panose="02010600030101010101" pitchFamily="2" charset="-122"/>
              </a:rPr>
              <a: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82" name="Rectangle 2">
            <a:extLst>
              <a:ext uri="{FF2B5EF4-FFF2-40B4-BE49-F238E27FC236}">
                <a16:creationId xmlns:a16="http://schemas.microsoft.com/office/drawing/2014/main" id="{48000FEB-8345-EB48-8423-D48ABB1D9F62}"/>
              </a:ext>
            </a:extLst>
          </p:cNvPr>
          <p:cNvSpPr>
            <a:spLocks noGrp="1" noChangeArrowheads="1"/>
          </p:cNvSpPr>
          <p:nvPr>
            <p:ph type="title"/>
          </p:nvPr>
        </p:nvSpPr>
        <p:spPr bwMode="auto">
          <a:xfrm>
            <a:off x="431800" y="954088"/>
            <a:ext cx="8229600" cy="700087"/>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spcBef>
                <a:spcPct val="20000"/>
              </a:spcBef>
              <a:defRPr/>
            </a:pPr>
            <a:r>
              <a:rPr kumimoji="1" lang="zh-CN" altLang="en-US" sz="3200" dirty="0">
                <a:solidFill>
                  <a:srgbClr val="FF0000"/>
                </a:solidFill>
                <a:latin typeface="黑体" panose="02010609060101010101" pitchFamily="49" charset="-122"/>
                <a:ea typeface="黑体" panose="02010609060101010101" pitchFamily="49" charset="-122"/>
              </a:rPr>
              <a:t>采用公开密码算法的机制</a:t>
            </a:r>
            <a:r>
              <a:rPr kumimoji="1" lang="en-US" altLang="zh-CN" sz="3200" dirty="0">
                <a:solidFill>
                  <a:srgbClr val="FF0000"/>
                </a:solidFill>
                <a:latin typeface="黑体" panose="02010609060101010101" pitchFamily="49" charset="-122"/>
                <a:ea typeface="黑体" panose="02010609060101010101" pitchFamily="49" charset="-122"/>
              </a:rPr>
              <a:t>—</a:t>
            </a:r>
            <a:r>
              <a:rPr kumimoji="1" lang="zh-CN" altLang="en-US" sz="3200" dirty="0">
                <a:solidFill>
                  <a:srgbClr val="FF0000"/>
                </a:solidFill>
                <a:latin typeface="黑体" panose="02010609060101010101" pitchFamily="49" charset="-122"/>
                <a:ea typeface="黑体" panose="02010609060101010101" pitchFamily="49" charset="-122"/>
              </a:rPr>
              <a:t>单向鉴别</a:t>
            </a:r>
          </a:p>
        </p:txBody>
      </p:sp>
      <p:sp>
        <p:nvSpPr>
          <p:cNvPr id="1402883" name="Rectangle 3">
            <a:extLst>
              <a:ext uri="{FF2B5EF4-FFF2-40B4-BE49-F238E27FC236}">
                <a16:creationId xmlns:a16="http://schemas.microsoft.com/office/drawing/2014/main" id="{ED012424-B4DE-BD4E-B485-957E002F7945}"/>
              </a:ext>
            </a:extLst>
          </p:cNvPr>
          <p:cNvSpPr>
            <a:spLocks noGrp="1" noChangeArrowheads="1"/>
          </p:cNvSpPr>
          <p:nvPr>
            <p:ph type="body" idx="1"/>
          </p:nvPr>
        </p:nvSpPr>
        <p:spPr bwMode="auto">
          <a:xfrm>
            <a:off x="685800" y="1768475"/>
            <a:ext cx="8229600" cy="5334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Tx/>
              <a:buFont typeface="Wingdings" pitchFamily="2" charset="2"/>
              <a:buChar char="u"/>
              <a:defRPr/>
            </a:pPr>
            <a:r>
              <a:rPr lang="zh-CN" altLang="en-US" sz="2800">
                <a:solidFill>
                  <a:schemeClr val="bg2"/>
                </a:solidFill>
                <a:ea typeface="宋体" panose="02010600030101010101" pitchFamily="2" charset="-122"/>
              </a:rPr>
              <a:t>一次传递机制</a:t>
            </a:r>
          </a:p>
          <a:p>
            <a:pPr eaLnBrk="1" hangingPunct="1">
              <a:defRPr/>
            </a:pPr>
            <a:endParaRPr lang="zh-CN" altLang="en-US" sz="2800">
              <a:solidFill>
                <a:schemeClr val="bg2"/>
              </a:solidFill>
              <a:ea typeface="宋体" panose="02010600030101010101" pitchFamily="2" charset="-122"/>
            </a:endParaRPr>
          </a:p>
        </p:txBody>
      </p:sp>
      <p:sp>
        <p:nvSpPr>
          <p:cNvPr id="107523" name="Text Box 4">
            <a:extLst>
              <a:ext uri="{FF2B5EF4-FFF2-40B4-BE49-F238E27FC236}">
                <a16:creationId xmlns:a16="http://schemas.microsoft.com/office/drawing/2014/main" id="{AA0BF9B3-11DC-464B-95B4-C306D6E2404B}"/>
              </a:ext>
            </a:extLst>
          </p:cNvPr>
          <p:cNvSpPr txBox="1">
            <a:spLocks noChangeArrowheads="1"/>
          </p:cNvSpPr>
          <p:nvPr/>
        </p:nvSpPr>
        <p:spPr bwMode="auto">
          <a:xfrm>
            <a:off x="1676400" y="3048000"/>
            <a:ext cx="914400" cy="528638"/>
          </a:xfrm>
          <a:prstGeom prst="rect">
            <a:avLst/>
          </a:prstGeom>
          <a:solidFill>
            <a:srgbClr val="00FFFF"/>
          </a:solidFill>
          <a:ln w="9525">
            <a:solidFill>
              <a:schemeClr val="bg2"/>
            </a:solid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107524" name="Text Box 5">
            <a:extLst>
              <a:ext uri="{FF2B5EF4-FFF2-40B4-BE49-F238E27FC236}">
                <a16:creationId xmlns:a16="http://schemas.microsoft.com/office/drawing/2014/main" id="{10F43850-3B4F-DD4A-90A6-63D63EAA6D40}"/>
              </a:ext>
            </a:extLst>
          </p:cNvPr>
          <p:cNvSpPr txBox="1">
            <a:spLocks noChangeArrowheads="1"/>
          </p:cNvSpPr>
          <p:nvPr/>
        </p:nvSpPr>
        <p:spPr bwMode="auto">
          <a:xfrm>
            <a:off x="6248400" y="2895600"/>
            <a:ext cx="914400" cy="528638"/>
          </a:xfrm>
          <a:prstGeom prst="rect">
            <a:avLst/>
          </a:prstGeom>
          <a:solidFill>
            <a:srgbClr val="00FFFF"/>
          </a:solidFill>
          <a:ln w="9525">
            <a:solidFill>
              <a:schemeClr val="bg2"/>
            </a:solid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402886" name="Line 6">
            <a:extLst>
              <a:ext uri="{FF2B5EF4-FFF2-40B4-BE49-F238E27FC236}">
                <a16:creationId xmlns:a16="http://schemas.microsoft.com/office/drawing/2014/main" id="{4EEF6FFC-98DF-E043-BE15-3543D15ABCB1}"/>
              </a:ext>
            </a:extLst>
          </p:cNvPr>
          <p:cNvSpPr>
            <a:spLocks noChangeShapeType="1"/>
          </p:cNvSpPr>
          <p:nvPr/>
        </p:nvSpPr>
        <p:spPr bwMode="auto">
          <a:xfrm>
            <a:off x="2590800" y="3276600"/>
            <a:ext cx="36576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7526" name="Text Box 7">
            <a:extLst>
              <a:ext uri="{FF2B5EF4-FFF2-40B4-BE49-F238E27FC236}">
                <a16:creationId xmlns:a16="http://schemas.microsoft.com/office/drawing/2014/main" id="{C6C2C91F-F87F-6B44-8553-3D89E8ED4065}"/>
              </a:ext>
            </a:extLst>
          </p:cNvPr>
          <p:cNvSpPr txBox="1">
            <a:spLocks noChangeArrowheads="1"/>
          </p:cNvSpPr>
          <p:nvPr/>
        </p:nvSpPr>
        <p:spPr bwMode="auto">
          <a:xfrm>
            <a:off x="2667000" y="2667000"/>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CertA||TokenAB</a:t>
            </a:r>
          </a:p>
        </p:txBody>
      </p:sp>
      <p:sp>
        <p:nvSpPr>
          <p:cNvPr id="107527" name="Text Box 8">
            <a:extLst>
              <a:ext uri="{FF2B5EF4-FFF2-40B4-BE49-F238E27FC236}">
                <a16:creationId xmlns:a16="http://schemas.microsoft.com/office/drawing/2014/main" id="{135AAE04-B141-924D-89F5-B7B71823D6BE}"/>
              </a:ext>
            </a:extLst>
          </p:cNvPr>
          <p:cNvSpPr txBox="1">
            <a:spLocks noChangeArrowheads="1"/>
          </p:cNvSpPr>
          <p:nvPr/>
        </p:nvSpPr>
        <p:spPr bwMode="auto">
          <a:xfrm>
            <a:off x="685800" y="4024313"/>
            <a:ext cx="68580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TokenAB=T</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||B||Text2||</a:t>
            </a:r>
            <a:r>
              <a:rPr lang="en-US" altLang="zh-CN" sz="2400" baseline="-25000">
                <a:solidFill>
                  <a:schemeClr val="bg2"/>
                </a:solidFill>
                <a:latin typeface="Times New Roman" panose="02020603050405020304" pitchFamily="18" charset="0"/>
                <a:ea typeface="宋体" panose="02010600030101010101" pitchFamily="2" charset="-122"/>
              </a:rPr>
              <a:t>S</a:t>
            </a:r>
            <a:r>
              <a:rPr lang="en-US" altLang="zh-CN" sz="2400">
                <a:solidFill>
                  <a:schemeClr val="bg2"/>
                </a:solidFill>
                <a:latin typeface="Times New Roman" panose="02020603050405020304" pitchFamily="18" charset="0"/>
                <a:ea typeface="宋体" panose="02010600030101010101" pitchFamily="2" charset="-122"/>
              </a:rPr>
              <a:t>S</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(T</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||B||Text1)</a:t>
            </a:r>
          </a:p>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                             N</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                         N</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    </a:t>
            </a:r>
          </a:p>
        </p:txBody>
      </p:sp>
      <p:sp>
        <p:nvSpPr>
          <p:cNvPr id="107528" name="Text Box 9">
            <a:extLst>
              <a:ext uri="{FF2B5EF4-FFF2-40B4-BE49-F238E27FC236}">
                <a16:creationId xmlns:a16="http://schemas.microsoft.com/office/drawing/2014/main" id="{61AA21B4-45A4-3D49-8782-20C60DB6E143}"/>
              </a:ext>
            </a:extLst>
          </p:cNvPr>
          <p:cNvSpPr txBox="1">
            <a:spLocks noChangeArrowheads="1"/>
          </p:cNvSpPr>
          <p:nvPr/>
        </p:nvSpPr>
        <p:spPr bwMode="auto">
          <a:xfrm>
            <a:off x="7467600" y="28194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tx1"/>
                </a:solidFill>
                <a:latin typeface="Times New Roman" panose="02020603050405020304" pitchFamily="18" charset="0"/>
                <a:ea typeface="宋体" panose="02010600030101010101" pitchFamily="2" charset="-122"/>
              </a:rPr>
              <a:t>(2)</a:t>
            </a:r>
          </a:p>
        </p:txBody>
      </p:sp>
      <p:sp>
        <p:nvSpPr>
          <p:cNvPr id="107529" name="Text Box 10">
            <a:extLst>
              <a:ext uri="{FF2B5EF4-FFF2-40B4-BE49-F238E27FC236}">
                <a16:creationId xmlns:a16="http://schemas.microsoft.com/office/drawing/2014/main" id="{64D6A6D9-D8DB-DB4B-A236-74E0C3702FDE}"/>
              </a:ext>
            </a:extLst>
          </p:cNvPr>
          <p:cNvSpPr txBox="1">
            <a:spLocks noChangeArrowheads="1"/>
          </p:cNvSpPr>
          <p:nvPr/>
        </p:nvSpPr>
        <p:spPr bwMode="auto">
          <a:xfrm>
            <a:off x="838200" y="5257800"/>
            <a:ext cx="731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(2)B</a:t>
            </a:r>
            <a:r>
              <a:rPr lang="zh-CN" altLang="en-US" sz="2400">
                <a:solidFill>
                  <a:schemeClr val="bg2"/>
                </a:solidFill>
                <a:latin typeface="Times New Roman" panose="02020603050405020304" pitchFamily="18" charset="0"/>
                <a:ea typeface="宋体" panose="02010600030101010101" pitchFamily="2" charset="-122"/>
              </a:rPr>
              <a:t>验证</a:t>
            </a:r>
            <a:r>
              <a:rPr lang="en-US" altLang="zh-CN" sz="24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的公开密钥，验证</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的标识符号</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3906" name="Rectangle 2">
            <a:extLst>
              <a:ext uri="{FF2B5EF4-FFF2-40B4-BE49-F238E27FC236}">
                <a16:creationId xmlns:a16="http://schemas.microsoft.com/office/drawing/2014/main" id="{4C2E6247-5BA7-4B4C-838C-6E5328A754A2}"/>
              </a:ext>
            </a:extLst>
          </p:cNvPr>
          <p:cNvSpPr>
            <a:spLocks noGrp="1" noChangeArrowheads="1"/>
          </p:cNvSpPr>
          <p:nvPr>
            <p:ph type="title"/>
          </p:nvPr>
        </p:nvSpPr>
        <p:spPr bwMode="auto">
          <a:xfrm>
            <a:off x="381000" y="976313"/>
            <a:ext cx="8229600" cy="6096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spcBef>
                <a:spcPct val="20000"/>
              </a:spcBef>
              <a:defRPr/>
            </a:pPr>
            <a:r>
              <a:rPr kumimoji="1" lang="zh-CN" altLang="en-US" sz="3200">
                <a:solidFill>
                  <a:srgbClr val="FF0000"/>
                </a:solidFill>
                <a:latin typeface="黑体" panose="02010609060101010101" pitchFamily="49" charset="-122"/>
                <a:ea typeface="黑体" panose="02010609060101010101" pitchFamily="49" charset="-122"/>
              </a:rPr>
              <a:t>采用公开密码算法的机制</a:t>
            </a:r>
            <a:r>
              <a:rPr kumimoji="1" lang="en-US" altLang="zh-CN" sz="3200">
                <a:solidFill>
                  <a:srgbClr val="FF0000"/>
                </a:solidFill>
                <a:latin typeface="黑体" panose="02010609060101010101" pitchFamily="49" charset="-122"/>
                <a:ea typeface="黑体" panose="02010609060101010101" pitchFamily="49" charset="-122"/>
              </a:rPr>
              <a:t>—</a:t>
            </a:r>
            <a:r>
              <a:rPr kumimoji="1" lang="zh-CN" altLang="en-US" sz="3200">
                <a:solidFill>
                  <a:srgbClr val="FF0000"/>
                </a:solidFill>
                <a:latin typeface="黑体" panose="02010609060101010101" pitchFamily="49" charset="-122"/>
                <a:ea typeface="黑体" panose="02010609060101010101" pitchFamily="49" charset="-122"/>
              </a:rPr>
              <a:t>单向鉴别</a:t>
            </a:r>
          </a:p>
        </p:txBody>
      </p:sp>
      <p:sp>
        <p:nvSpPr>
          <p:cNvPr id="1403907" name="Rectangle 3">
            <a:extLst>
              <a:ext uri="{FF2B5EF4-FFF2-40B4-BE49-F238E27FC236}">
                <a16:creationId xmlns:a16="http://schemas.microsoft.com/office/drawing/2014/main" id="{2C932EAB-D69A-2A42-A413-4E82654E4B96}"/>
              </a:ext>
            </a:extLst>
          </p:cNvPr>
          <p:cNvSpPr>
            <a:spLocks noGrp="1" noChangeArrowheads="1"/>
          </p:cNvSpPr>
          <p:nvPr>
            <p:ph type="body" idx="1"/>
          </p:nvPr>
        </p:nvSpPr>
        <p:spPr bwMode="auto">
          <a:xfrm>
            <a:off x="493713" y="1776413"/>
            <a:ext cx="8229600" cy="5334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Tx/>
              <a:buFont typeface="Wingdings" pitchFamily="2" charset="2"/>
              <a:buChar char="u"/>
              <a:defRPr/>
            </a:pPr>
            <a:r>
              <a:rPr lang="zh-CN" altLang="en-US" sz="2800">
                <a:solidFill>
                  <a:schemeClr val="bg2"/>
                </a:solidFill>
                <a:ea typeface="宋体" panose="02010600030101010101" pitchFamily="2" charset="-122"/>
              </a:rPr>
              <a:t>两次传递机制</a:t>
            </a:r>
          </a:p>
        </p:txBody>
      </p:sp>
      <p:sp>
        <p:nvSpPr>
          <p:cNvPr id="108547" name="Text Box 4">
            <a:extLst>
              <a:ext uri="{FF2B5EF4-FFF2-40B4-BE49-F238E27FC236}">
                <a16:creationId xmlns:a16="http://schemas.microsoft.com/office/drawing/2014/main" id="{60FB9276-C0F1-1A43-8F33-CFD972BC04BB}"/>
              </a:ext>
            </a:extLst>
          </p:cNvPr>
          <p:cNvSpPr txBox="1">
            <a:spLocks noChangeArrowheads="1"/>
          </p:cNvSpPr>
          <p:nvPr/>
        </p:nvSpPr>
        <p:spPr bwMode="auto">
          <a:xfrm>
            <a:off x="1676400" y="2819400"/>
            <a:ext cx="914400" cy="9906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108548" name="Text Box 5">
            <a:extLst>
              <a:ext uri="{FF2B5EF4-FFF2-40B4-BE49-F238E27FC236}">
                <a16:creationId xmlns:a16="http://schemas.microsoft.com/office/drawing/2014/main" id="{2CBEFE3A-288E-B646-A152-1E14E4134C07}"/>
              </a:ext>
            </a:extLst>
          </p:cNvPr>
          <p:cNvSpPr txBox="1">
            <a:spLocks noChangeArrowheads="1"/>
          </p:cNvSpPr>
          <p:nvPr/>
        </p:nvSpPr>
        <p:spPr bwMode="auto">
          <a:xfrm>
            <a:off x="5943600" y="2824163"/>
            <a:ext cx="914400" cy="1062037"/>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403910" name="Line 6">
            <a:extLst>
              <a:ext uri="{FF2B5EF4-FFF2-40B4-BE49-F238E27FC236}">
                <a16:creationId xmlns:a16="http://schemas.microsoft.com/office/drawing/2014/main" id="{1D606520-25BD-0941-85D0-15F511A4EE6D}"/>
              </a:ext>
            </a:extLst>
          </p:cNvPr>
          <p:cNvSpPr>
            <a:spLocks noChangeShapeType="1"/>
          </p:cNvSpPr>
          <p:nvPr/>
        </p:nvSpPr>
        <p:spPr bwMode="auto">
          <a:xfrm>
            <a:off x="2590800" y="36576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8550" name="Text Box 7">
            <a:extLst>
              <a:ext uri="{FF2B5EF4-FFF2-40B4-BE49-F238E27FC236}">
                <a16:creationId xmlns:a16="http://schemas.microsoft.com/office/drawing/2014/main" id="{D3926740-9DC8-354A-8E7C-B2243940C862}"/>
              </a:ext>
            </a:extLst>
          </p:cNvPr>
          <p:cNvSpPr txBox="1">
            <a:spLocks noChangeArrowheads="1"/>
          </p:cNvSpPr>
          <p:nvPr/>
        </p:nvSpPr>
        <p:spPr bwMode="auto">
          <a:xfrm>
            <a:off x="3200400" y="25908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||Text1</a:t>
            </a:r>
          </a:p>
        </p:txBody>
      </p:sp>
      <p:sp>
        <p:nvSpPr>
          <p:cNvPr id="108551" name="Text Box 8">
            <a:extLst>
              <a:ext uri="{FF2B5EF4-FFF2-40B4-BE49-F238E27FC236}">
                <a16:creationId xmlns:a16="http://schemas.microsoft.com/office/drawing/2014/main" id="{958424D6-D6B9-0346-B3CD-F62669378E5A}"/>
              </a:ext>
            </a:extLst>
          </p:cNvPr>
          <p:cNvSpPr txBox="1">
            <a:spLocks noChangeArrowheads="1"/>
          </p:cNvSpPr>
          <p:nvPr/>
        </p:nvSpPr>
        <p:spPr bwMode="auto">
          <a:xfrm>
            <a:off x="7086600" y="30480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tx1"/>
                </a:solidFill>
                <a:latin typeface="Times New Roman" panose="02020603050405020304" pitchFamily="18" charset="0"/>
                <a:ea typeface="宋体" panose="02010600030101010101" pitchFamily="2" charset="-122"/>
              </a:rPr>
              <a:t>(3)</a:t>
            </a:r>
          </a:p>
        </p:txBody>
      </p:sp>
      <p:sp>
        <p:nvSpPr>
          <p:cNvPr id="108552" name="Text Box 9">
            <a:extLst>
              <a:ext uri="{FF2B5EF4-FFF2-40B4-BE49-F238E27FC236}">
                <a16:creationId xmlns:a16="http://schemas.microsoft.com/office/drawing/2014/main" id="{F6D0B801-0465-4F4B-BDB1-634628A26730}"/>
              </a:ext>
            </a:extLst>
          </p:cNvPr>
          <p:cNvSpPr txBox="1">
            <a:spLocks noChangeArrowheads="1"/>
          </p:cNvSpPr>
          <p:nvPr/>
        </p:nvSpPr>
        <p:spPr bwMode="auto">
          <a:xfrm>
            <a:off x="457200" y="541020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3</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验证</a:t>
            </a:r>
            <a:r>
              <a:rPr lang="en-US" altLang="zh-CN" sz="24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的公开密钥，验证</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的标识符号</a:t>
            </a:r>
          </a:p>
        </p:txBody>
      </p:sp>
      <p:sp>
        <p:nvSpPr>
          <p:cNvPr id="1403914" name="Line 10">
            <a:extLst>
              <a:ext uri="{FF2B5EF4-FFF2-40B4-BE49-F238E27FC236}">
                <a16:creationId xmlns:a16="http://schemas.microsoft.com/office/drawing/2014/main" id="{2E1EB32B-C95C-7C4F-BED6-664B9F38452E}"/>
              </a:ext>
            </a:extLst>
          </p:cNvPr>
          <p:cNvSpPr>
            <a:spLocks noChangeShapeType="1"/>
          </p:cNvSpPr>
          <p:nvPr/>
        </p:nvSpPr>
        <p:spPr bwMode="auto">
          <a:xfrm flipH="1">
            <a:off x="2590800" y="30480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8554" name="Text Box 11">
            <a:extLst>
              <a:ext uri="{FF2B5EF4-FFF2-40B4-BE49-F238E27FC236}">
                <a16:creationId xmlns:a16="http://schemas.microsoft.com/office/drawing/2014/main" id="{8AEC8800-5223-C244-B3AF-A635EC0C0918}"/>
              </a:ext>
            </a:extLst>
          </p:cNvPr>
          <p:cNvSpPr txBox="1">
            <a:spLocks noChangeArrowheads="1"/>
          </p:cNvSpPr>
          <p:nvPr/>
        </p:nvSpPr>
        <p:spPr bwMode="auto">
          <a:xfrm>
            <a:off x="2667000" y="3810000"/>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CertA||TokenAB</a:t>
            </a:r>
          </a:p>
        </p:txBody>
      </p:sp>
      <p:sp>
        <p:nvSpPr>
          <p:cNvPr id="108555" name="Text Box 12">
            <a:extLst>
              <a:ext uri="{FF2B5EF4-FFF2-40B4-BE49-F238E27FC236}">
                <a16:creationId xmlns:a16="http://schemas.microsoft.com/office/drawing/2014/main" id="{857CC4A8-9DC5-0E4E-93D1-970B1DFC3431}"/>
              </a:ext>
            </a:extLst>
          </p:cNvPr>
          <p:cNvSpPr txBox="1">
            <a:spLocks noChangeArrowheads="1"/>
          </p:cNvSpPr>
          <p:nvPr/>
        </p:nvSpPr>
        <p:spPr bwMode="auto">
          <a:xfrm>
            <a:off x="381000" y="45720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TokenAB=R</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||B||Text3||</a:t>
            </a:r>
            <a:r>
              <a:rPr lang="en-US" altLang="zh-CN" sz="2400" baseline="-25000">
                <a:solidFill>
                  <a:schemeClr val="bg2"/>
                </a:solidFill>
                <a:latin typeface="Times New Roman" panose="02020603050405020304" pitchFamily="18" charset="0"/>
                <a:ea typeface="宋体" panose="02010600030101010101" pitchFamily="2" charset="-122"/>
              </a:rPr>
              <a:t>S</a:t>
            </a:r>
            <a:r>
              <a:rPr lang="en-US" altLang="zh-CN" sz="2400">
                <a:solidFill>
                  <a:schemeClr val="bg2"/>
                </a:solidFill>
                <a:latin typeface="Times New Roman" panose="02020603050405020304" pitchFamily="18" charset="0"/>
                <a:ea typeface="宋体" panose="02010600030101010101" pitchFamily="2" charset="-122"/>
              </a:rPr>
              <a:t>S</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||B||Text2) </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a:extLst>
              <a:ext uri="{FF2B5EF4-FFF2-40B4-BE49-F238E27FC236}">
                <a16:creationId xmlns:a16="http://schemas.microsoft.com/office/drawing/2014/main" id="{85CCB171-B77D-3449-9861-9ED144218965}"/>
              </a:ext>
            </a:extLst>
          </p:cNvPr>
          <p:cNvSpPr>
            <a:spLocks noGrp="1" noChangeArrowheads="1"/>
          </p:cNvSpPr>
          <p:nvPr>
            <p:ph type="title"/>
          </p:nvPr>
        </p:nvSpPr>
        <p:spPr bwMode="auto">
          <a:xfrm>
            <a:off x="457200" y="860425"/>
            <a:ext cx="8229600" cy="658813"/>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spcBef>
                <a:spcPct val="20000"/>
              </a:spcBef>
              <a:defRPr/>
            </a:pPr>
            <a:r>
              <a:rPr kumimoji="1" lang="zh-CN" altLang="en-US" sz="3200">
                <a:solidFill>
                  <a:srgbClr val="FF0000"/>
                </a:solidFill>
                <a:latin typeface="黑体" panose="02010609060101010101" pitchFamily="49" charset="-122"/>
                <a:ea typeface="黑体" panose="02010609060101010101" pitchFamily="49" charset="-122"/>
              </a:rPr>
              <a:t>采用公开密码算法的机制</a:t>
            </a:r>
            <a:r>
              <a:rPr kumimoji="1" lang="en-US" altLang="zh-CN" sz="3200">
                <a:solidFill>
                  <a:srgbClr val="FF0000"/>
                </a:solidFill>
                <a:latin typeface="黑体" panose="02010609060101010101" pitchFamily="49" charset="-122"/>
                <a:ea typeface="黑体" panose="02010609060101010101" pitchFamily="49" charset="-122"/>
              </a:rPr>
              <a:t>—</a:t>
            </a:r>
            <a:r>
              <a:rPr kumimoji="1" lang="zh-CN" altLang="en-US" sz="3200">
                <a:solidFill>
                  <a:srgbClr val="FF0000"/>
                </a:solidFill>
                <a:latin typeface="黑体" panose="02010609060101010101" pitchFamily="49" charset="-122"/>
                <a:ea typeface="黑体" panose="02010609060101010101" pitchFamily="49" charset="-122"/>
              </a:rPr>
              <a:t>双向鉴别（</a:t>
            </a:r>
            <a:r>
              <a:rPr kumimoji="1" lang="en-US" altLang="zh-CN" sz="3200">
                <a:solidFill>
                  <a:srgbClr val="FF0000"/>
                </a:solidFill>
                <a:latin typeface="黑体" panose="02010609060101010101" pitchFamily="49" charset="-122"/>
                <a:ea typeface="黑体" panose="02010609060101010101" pitchFamily="49" charset="-122"/>
              </a:rPr>
              <a:t>1</a:t>
            </a:r>
            <a:r>
              <a:rPr kumimoji="1" lang="zh-CN" altLang="en-US" sz="3200">
                <a:solidFill>
                  <a:srgbClr val="FF0000"/>
                </a:solidFill>
                <a:latin typeface="黑体" panose="02010609060101010101" pitchFamily="49" charset="-122"/>
                <a:ea typeface="黑体" panose="02010609060101010101" pitchFamily="49" charset="-122"/>
              </a:rPr>
              <a:t>）</a:t>
            </a:r>
          </a:p>
        </p:txBody>
      </p:sp>
      <p:sp>
        <p:nvSpPr>
          <p:cNvPr id="109570" name="Text Box 3">
            <a:extLst>
              <a:ext uri="{FF2B5EF4-FFF2-40B4-BE49-F238E27FC236}">
                <a16:creationId xmlns:a16="http://schemas.microsoft.com/office/drawing/2014/main" id="{35392DE8-55DC-E74D-8258-33C52FA801AD}"/>
              </a:ext>
            </a:extLst>
          </p:cNvPr>
          <p:cNvSpPr txBox="1">
            <a:spLocks noChangeArrowheads="1"/>
          </p:cNvSpPr>
          <p:nvPr/>
        </p:nvSpPr>
        <p:spPr bwMode="auto">
          <a:xfrm>
            <a:off x="1676400" y="2438400"/>
            <a:ext cx="914400" cy="9906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109571" name="Text Box 4">
            <a:extLst>
              <a:ext uri="{FF2B5EF4-FFF2-40B4-BE49-F238E27FC236}">
                <a16:creationId xmlns:a16="http://schemas.microsoft.com/office/drawing/2014/main" id="{DB2095BA-7D80-9C4F-BA95-C1306959DCF3}"/>
              </a:ext>
            </a:extLst>
          </p:cNvPr>
          <p:cNvSpPr txBox="1">
            <a:spLocks noChangeArrowheads="1"/>
          </p:cNvSpPr>
          <p:nvPr/>
        </p:nvSpPr>
        <p:spPr bwMode="auto">
          <a:xfrm>
            <a:off x="6096000" y="2362200"/>
            <a:ext cx="914400" cy="1062038"/>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404933" name="Line 5">
            <a:extLst>
              <a:ext uri="{FF2B5EF4-FFF2-40B4-BE49-F238E27FC236}">
                <a16:creationId xmlns:a16="http://schemas.microsoft.com/office/drawing/2014/main" id="{928ACFB1-DA58-AE41-BA69-D7A24A970878}"/>
              </a:ext>
            </a:extLst>
          </p:cNvPr>
          <p:cNvSpPr>
            <a:spLocks noChangeShapeType="1"/>
          </p:cNvSpPr>
          <p:nvPr/>
        </p:nvSpPr>
        <p:spPr bwMode="auto">
          <a:xfrm>
            <a:off x="2590800" y="3048000"/>
            <a:ext cx="35052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9573" name="Text Box 6">
            <a:extLst>
              <a:ext uri="{FF2B5EF4-FFF2-40B4-BE49-F238E27FC236}">
                <a16:creationId xmlns:a16="http://schemas.microsoft.com/office/drawing/2014/main" id="{8B59886A-71B6-D843-B783-A91E1121E357}"/>
              </a:ext>
            </a:extLst>
          </p:cNvPr>
          <p:cNvSpPr txBox="1">
            <a:spLocks noChangeArrowheads="1"/>
          </p:cNvSpPr>
          <p:nvPr/>
        </p:nvSpPr>
        <p:spPr bwMode="auto">
          <a:xfrm>
            <a:off x="7086600" y="2667000"/>
            <a:ext cx="685800"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(2)</a:t>
            </a:r>
          </a:p>
        </p:txBody>
      </p:sp>
      <p:sp>
        <p:nvSpPr>
          <p:cNvPr id="109574" name="Text Box 7">
            <a:extLst>
              <a:ext uri="{FF2B5EF4-FFF2-40B4-BE49-F238E27FC236}">
                <a16:creationId xmlns:a16="http://schemas.microsoft.com/office/drawing/2014/main" id="{6EE8A479-2322-6348-8065-76711305D8B3}"/>
              </a:ext>
            </a:extLst>
          </p:cNvPr>
          <p:cNvSpPr txBox="1">
            <a:spLocks noChangeArrowheads="1"/>
          </p:cNvSpPr>
          <p:nvPr/>
        </p:nvSpPr>
        <p:spPr bwMode="auto">
          <a:xfrm>
            <a:off x="762000" y="464820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tx1"/>
                </a:solidFill>
                <a:latin typeface="Times New Roman" panose="02020603050405020304" pitchFamily="18" charset="0"/>
                <a:ea typeface="宋体" panose="02010600030101010101" pitchFamily="2" charset="-122"/>
              </a:rPr>
              <a:t>（</a:t>
            </a:r>
            <a:r>
              <a:rPr lang="en-US" altLang="zh-CN" sz="2400">
                <a:solidFill>
                  <a:schemeClr val="tx1"/>
                </a:solidFill>
                <a:latin typeface="Times New Roman" panose="02020603050405020304" pitchFamily="18" charset="0"/>
                <a:ea typeface="宋体" panose="02010600030101010101" pitchFamily="2" charset="-122"/>
              </a:rPr>
              <a:t>2</a:t>
            </a:r>
            <a:r>
              <a:rPr lang="zh-CN" altLang="en-US" sz="2400">
                <a:solidFill>
                  <a:schemeClr val="tx1"/>
                </a:solidFill>
                <a:latin typeface="Times New Roman" panose="02020603050405020304" pitchFamily="18" charset="0"/>
                <a:ea typeface="宋体" panose="02010600030101010101" pitchFamily="2" charset="-122"/>
              </a:rPr>
              <a:t>）</a:t>
            </a:r>
            <a:r>
              <a:rPr lang="en-US" altLang="zh-CN" sz="2400">
                <a:solidFill>
                  <a:schemeClr val="tx1"/>
                </a:solidFill>
                <a:latin typeface="Times New Roman" panose="02020603050405020304" pitchFamily="18" charset="0"/>
                <a:ea typeface="宋体" panose="02010600030101010101" pitchFamily="2" charset="-122"/>
              </a:rPr>
              <a:t>B</a:t>
            </a:r>
            <a:r>
              <a:rPr lang="zh-CN" altLang="en-US" sz="2400">
                <a:solidFill>
                  <a:schemeClr val="tx1"/>
                </a:solidFill>
                <a:latin typeface="Times New Roman" panose="02020603050405020304" pitchFamily="18" charset="0"/>
                <a:ea typeface="宋体" panose="02010600030101010101" pitchFamily="2" charset="-122"/>
              </a:rPr>
              <a:t>验证</a:t>
            </a:r>
            <a:r>
              <a:rPr lang="en-US" altLang="zh-CN" sz="2400">
                <a:solidFill>
                  <a:schemeClr val="tx1"/>
                </a:solidFill>
                <a:latin typeface="Times New Roman" panose="02020603050405020304" pitchFamily="18" charset="0"/>
                <a:ea typeface="宋体" panose="02010600030101010101" pitchFamily="2" charset="-122"/>
              </a:rPr>
              <a:t>A</a:t>
            </a:r>
            <a:r>
              <a:rPr lang="zh-CN" altLang="en-US" sz="2400">
                <a:solidFill>
                  <a:schemeClr val="tx1"/>
                </a:solidFill>
                <a:latin typeface="Times New Roman" panose="02020603050405020304" pitchFamily="18" charset="0"/>
                <a:ea typeface="宋体" panose="02010600030101010101" pitchFamily="2" charset="-122"/>
              </a:rPr>
              <a:t>的公开密钥，验证</a:t>
            </a:r>
            <a:r>
              <a:rPr lang="en-US" altLang="zh-CN" sz="2400">
                <a:solidFill>
                  <a:schemeClr val="tx1"/>
                </a:solidFill>
                <a:latin typeface="Times New Roman" panose="02020603050405020304" pitchFamily="18" charset="0"/>
                <a:ea typeface="宋体" panose="02010600030101010101" pitchFamily="2" charset="-122"/>
              </a:rPr>
              <a:t>B</a:t>
            </a:r>
            <a:r>
              <a:rPr lang="zh-CN" altLang="en-US" sz="2400">
                <a:solidFill>
                  <a:schemeClr val="tx1"/>
                </a:solidFill>
                <a:latin typeface="Times New Roman" panose="02020603050405020304" pitchFamily="18" charset="0"/>
                <a:ea typeface="宋体" panose="02010600030101010101" pitchFamily="2" charset="-122"/>
              </a:rPr>
              <a:t>的标识符号</a:t>
            </a:r>
          </a:p>
        </p:txBody>
      </p:sp>
      <p:sp>
        <p:nvSpPr>
          <p:cNvPr id="1404936" name="Line 8">
            <a:extLst>
              <a:ext uri="{FF2B5EF4-FFF2-40B4-BE49-F238E27FC236}">
                <a16:creationId xmlns:a16="http://schemas.microsoft.com/office/drawing/2014/main" id="{12C472A6-85B6-454A-A170-FCDF153A180E}"/>
              </a:ext>
            </a:extLst>
          </p:cNvPr>
          <p:cNvSpPr>
            <a:spLocks noChangeShapeType="1"/>
          </p:cNvSpPr>
          <p:nvPr/>
        </p:nvSpPr>
        <p:spPr bwMode="auto">
          <a:xfrm flipH="1">
            <a:off x="2590800" y="2743200"/>
            <a:ext cx="35052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09576" name="Text Box 9">
            <a:extLst>
              <a:ext uri="{FF2B5EF4-FFF2-40B4-BE49-F238E27FC236}">
                <a16:creationId xmlns:a16="http://schemas.microsoft.com/office/drawing/2014/main" id="{0E22BD66-58E3-2845-B033-D98BD6B6EE43}"/>
              </a:ext>
            </a:extLst>
          </p:cNvPr>
          <p:cNvSpPr txBox="1">
            <a:spLocks noChangeArrowheads="1"/>
          </p:cNvSpPr>
          <p:nvPr/>
        </p:nvSpPr>
        <p:spPr bwMode="auto">
          <a:xfrm>
            <a:off x="2667000" y="3124200"/>
            <a:ext cx="3276600" cy="495300"/>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3</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CertB||TokenBA</a:t>
            </a:r>
          </a:p>
        </p:txBody>
      </p:sp>
      <p:sp>
        <p:nvSpPr>
          <p:cNvPr id="1404938" name="Rectangle 10">
            <a:extLst>
              <a:ext uri="{FF2B5EF4-FFF2-40B4-BE49-F238E27FC236}">
                <a16:creationId xmlns:a16="http://schemas.microsoft.com/office/drawing/2014/main" id="{2674FF5E-8089-D245-88C0-04BAC6E76A19}"/>
              </a:ext>
            </a:extLst>
          </p:cNvPr>
          <p:cNvSpPr>
            <a:spLocks noGrp="1" noChangeArrowheads="1"/>
          </p:cNvSpPr>
          <p:nvPr>
            <p:ph type="body" idx="1"/>
          </p:nvPr>
        </p:nvSpPr>
        <p:spPr bwMode="auto">
          <a:xfrm>
            <a:off x="609600" y="1600200"/>
            <a:ext cx="7772400" cy="604838"/>
          </a:xfrm>
          <a:ln>
            <a:miter lim="800000"/>
            <a:headEnd/>
            <a:tailEnd/>
          </a:ln>
        </p:spPr>
        <p:txBody>
          <a:bodyPr vert="horz" wrap="square" lIns="91440" tIns="45720" rIns="91440" bIns="45720" numCol="1" anchor="t" anchorCtr="0" compatLnSpc="1">
            <a:prstTxWarp prst="textNoShape">
              <a:avLst/>
            </a:prstTxWarp>
          </a:bodyPr>
          <a:lstStyle/>
          <a:p>
            <a:pPr eaLnBrk="1" hangingPunct="1">
              <a:buClrTx/>
              <a:buFont typeface="Wingdings" pitchFamily="2" charset="2"/>
              <a:buChar char="u"/>
              <a:defRPr/>
            </a:pPr>
            <a:r>
              <a:rPr lang="zh-CN" altLang="en-US" sz="2800">
                <a:solidFill>
                  <a:schemeClr val="bg2"/>
                </a:solidFill>
                <a:ea typeface="宋体" panose="02010600030101010101" pitchFamily="2" charset="-122"/>
              </a:rPr>
              <a:t>两次传递机制</a:t>
            </a:r>
          </a:p>
        </p:txBody>
      </p:sp>
      <p:sp>
        <p:nvSpPr>
          <p:cNvPr id="109578" name="Text Box 11">
            <a:extLst>
              <a:ext uri="{FF2B5EF4-FFF2-40B4-BE49-F238E27FC236}">
                <a16:creationId xmlns:a16="http://schemas.microsoft.com/office/drawing/2014/main" id="{0BBF8ACD-9B79-F146-936D-876E9EF869B9}"/>
              </a:ext>
            </a:extLst>
          </p:cNvPr>
          <p:cNvSpPr txBox="1">
            <a:spLocks noChangeArrowheads="1"/>
          </p:cNvSpPr>
          <p:nvPr/>
        </p:nvSpPr>
        <p:spPr bwMode="auto">
          <a:xfrm>
            <a:off x="2743200" y="2133600"/>
            <a:ext cx="3276600"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CertA||TokenAB</a:t>
            </a:r>
          </a:p>
        </p:txBody>
      </p:sp>
      <p:sp>
        <p:nvSpPr>
          <p:cNvPr id="109579" name="Text Box 12">
            <a:extLst>
              <a:ext uri="{FF2B5EF4-FFF2-40B4-BE49-F238E27FC236}">
                <a16:creationId xmlns:a16="http://schemas.microsoft.com/office/drawing/2014/main" id="{7F8943DC-A752-9446-9238-D538A89F341E}"/>
              </a:ext>
            </a:extLst>
          </p:cNvPr>
          <p:cNvSpPr txBox="1">
            <a:spLocks noChangeArrowheads="1"/>
          </p:cNvSpPr>
          <p:nvPr/>
        </p:nvSpPr>
        <p:spPr bwMode="auto">
          <a:xfrm>
            <a:off x="838200" y="3733800"/>
            <a:ext cx="68580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TokenAB=T</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||B||Text2||</a:t>
            </a:r>
            <a:r>
              <a:rPr lang="en-US" altLang="zh-CN" sz="2400" baseline="-25000">
                <a:solidFill>
                  <a:schemeClr val="bg2"/>
                </a:solidFill>
                <a:latin typeface="Times New Roman" panose="02020603050405020304" pitchFamily="18" charset="0"/>
                <a:ea typeface="宋体" panose="02010600030101010101" pitchFamily="2" charset="-122"/>
              </a:rPr>
              <a:t>S</a:t>
            </a:r>
            <a:r>
              <a:rPr lang="en-US" altLang="zh-CN" sz="2400">
                <a:solidFill>
                  <a:schemeClr val="bg2"/>
                </a:solidFill>
                <a:latin typeface="Times New Roman" panose="02020603050405020304" pitchFamily="18" charset="0"/>
                <a:ea typeface="宋体" panose="02010600030101010101" pitchFamily="2" charset="-122"/>
              </a:rPr>
              <a:t>S</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(T</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||B||Text1)</a:t>
            </a:r>
          </a:p>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                             N</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                         N</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    </a:t>
            </a:r>
          </a:p>
        </p:txBody>
      </p:sp>
      <p:sp>
        <p:nvSpPr>
          <p:cNvPr id="109580" name="Text Box 13">
            <a:extLst>
              <a:ext uri="{FF2B5EF4-FFF2-40B4-BE49-F238E27FC236}">
                <a16:creationId xmlns:a16="http://schemas.microsoft.com/office/drawing/2014/main" id="{4A16754D-374B-1942-AA02-A32C781E3C0E}"/>
              </a:ext>
            </a:extLst>
          </p:cNvPr>
          <p:cNvSpPr txBox="1">
            <a:spLocks noChangeArrowheads="1"/>
          </p:cNvSpPr>
          <p:nvPr/>
        </p:nvSpPr>
        <p:spPr bwMode="auto">
          <a:xfrm>
            <a:off x="838200" y="2590800"/>
            <a:ext cx="685800"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(4)</a:t>
            </a:r>
          </a:p>
        </p:txBody>
      </p:sp>
      <p:sp>
        <p:nvSpPr>
          <p:cNvPr id="109581" name="Text Box 14">
            <a:extLst>
              <a:ext uri="{FF2B5EF4-FFF2-40B4-BE49-F238E27FC236}">
                <a16:creationId xmlns:a16="http://schemas.microsoft.com/office/drawing/2014/main" id="{AB90A618-495C-DC4C-9842-D168C128330A}"/>
              </a:ext>
            </a:extLst>
          </p:cNvPr>
          <p:cNvSpPr txBox="1">
            <a:spLocks noChangeArrowheads="1"/>
          </p:cNvSpPr>
          <p:nvPr/>
        </p:nvSpPr>
        <p:spPr bwMode="auto">
          <a:xfrm>
            <a:off x="685800" y="4800600"/>
            <a:ext cx="68580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3</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TokenBA=T</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||A||Text4||</a:t>
            </a:r>
            <a:r>
              <a:rPr lang="en-US" altLang="zh-CN" sz="2400" baseline="-25000">
                <a:solidFill>
                  <a:schemeClr val="bg2"/>
                </a:solidFill>
                <a:latin typeface="Times New Roman" panose="02020603050405020304" pitchFamily="18" charset="0"/>
                <a:ea typeface="宋体" panose="02010600030101010101" pitchFamily="2" charset="-122"/>
              </a:rPr>
              <a:t>S</a:t>
            </a:r>
            <a:r>
              <a:rPr lang="en-US" altLang="zh-CN" sz="2400">
                <a:solidFill>
                  <a:schemeClr val="bg2"/>
                </a:solidFill>
                <a:latin typeface="Times New Roman" panose="02020603050405020304" pitchFamily="18" charset="0"/>
                <a:ea typeface="宋体" panose="02010600030101010101" pitchFamily="2" charset="-122"/>
              </a:rPr>
              <a:t>S</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(T</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||A||Text3)</a:t>
            </a:r>
          </a:p>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                             N</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                         N</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    </a:t>
            </a:r>
          </a:p>
        </p:txBody>
      </p:sp>
      <p:sp>
        <p:nvSpPr>
          <p:cNvPr id="109582" name="Text Box 15">
            <a:extLst>
              <a:ext uri="{FF2B5EF4-FFF2-40B4-BE49-F238E27FC236}">
                <a16:creationId xmlns:a16="http://schemas.microsoft.com/office/drawing/2014/main" id="{29731102-ED0A-F440-B10A-A0D1553A0E19}"/>
              </a:ext>
            </a:extLst>
          </p:cNvPr>
          <p:cNvSpPr txBox="1">
            <a:spLocks noChangeArrowheads="1"/>
          </p:cNvSpPr>
          <p:nvPr/>
        </p:nvSpPr>
        <p:spPr bwMode="auto">
          <a:xfrm>
            <a:off x="762000" y="579120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4</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验证</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的公开密钥，验证</a:t>
            </a:r>
            <a:r>
              <a:rPr lang="en-US" altLang="zh-CN" sz="24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的标识符号</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5954" name="Rectangle 2">
            <a:extLst>
              <a:ext uri="{FF2B5EF4-FFF2-40B4-BE49-F238E27FC236}">
                <a16:creationId xmlns:a16="http://schemas.microsoft.com/office/drawing/2014/main" id="{9A1D718E-39D4-8A4E-9872-6C3BFE15C105}"/>
              </a:ext>
            </a:extLst>
          </p:cNvPr>
          <p:cNvSpPr>
            <a:spLocks noGrp="1" noChangeArrowheads="1"/>
          </p:cNvSpPr>
          <p:nvPr>
            <p:ph type="title"/>
          </p:nvPr>
        </p:nvSpPr>
        <p:spPr bwMode="auto">
          <a:xfrm>
            <a:off x="376238" y="846138"/>
            <a:ext cx="8229600" cy="655637"/>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spcBef>
                <a:spcPct val="20000"/>
              </a:spcBef>
              <a:defRPr/>
            </a:pPr>
            <a:r>
              <a:rPr kumimoji="1" lang="zh-CN" altLang="en-US" sz="3200">
                <a:solidFill>
                  <a:srgbClr val="FF0000"/>
                </a:solidFill>
                <a:latin typeface="黑体" panose="02010609060101010101" pitchFamily="49" charset="-122"/>
                <a:ea typeface="黑体" panose="02010609060101010101" pitchFamily="49" charset="-122"/>
              </a:rPr>
              <a:t>采用公开密码算法的机制</a:t>
            </a:r>
            <a:r>
              <a:rPr kumimoji="1" lang="en-US" altLang="zh-CN" sz="3200">
                <a:solidFill>
                  <a:srgbClr val="FF0000"/>
                </a:solidFill>
                <a:latin typeface="黑体" panose="02010609060101010101" pitchFamily="49" charset="-122"/>
                <a:ea typeface="黑体" panose="02010609060101010101" pitchFamily="49" charset="-122"/>
              </a:rPr>
              <a:t>—</a:t>
            </a:r>
            <a:r>
              <a:rPr kumimoji="1" lang="zh-CN" altLang="en-US" sz="3200">
                <a:solidFill>
                  <a:srgbClr val="FF0000"/>
                </a:solidFill>
                <a:latin typeface="黑体" panose="02010609060101010101" pitchFamily="49" charset="-122"/>
                <a:ea typeface="黑体" panose="02010609060101010101" pitchFamily="49" charset="-122"/>
              </a:rPr>
              <a:t>双向鉴别（</a:t>
            </a:r>
            <a:r>
              <a:rPr kumimoji="1" lang="en-US" altLang="zh-CN" sz="3200">
                <a:solidFill>
                  <a:srgbClr val="FF0000"/>
                </a:solidFill>
                <a:latin typeface="黑体" panose="02010609060101010101" pitchFamily="49" charset="-122"/>
                <a:ea typeface="黑体" panose="02010609060101010101" pitchFamily="49" charset="-122"/>
              </a:rPr>
              <a:t>2</a:t>
            </a:r>
            <a:r>
              <a:rPr kumimoji="1" lang="zh-CN" altLang="en-US" sz="3200">
                <a:solidFill>
                  <a:srgbClr val="FF0000"/>
                </a:solidFill>
                <a:latin typeface="黑体" panose="02010609060101010101" pitchFamily="49" charset="-122"/>
                <a:ea typeface="黑体" panose="02010609060101010101" pitchFamily="49" charset="-122"/>
              </a:rPr>
              <a:t>）</a:t>
            </a:r>
          </a:p>
        </p:txBody>
      </p:sp>
      <p:sp>
        <p:nvSpPr>
          <p:cNvPr id="1405955" name="Rectangle 3">
            <a:extLst>
              <a:ext uri="{FF2B5EF4-FFF2-40B4-BE49-F238E27FC236}">
                <a16:creationId xmlns:a16="http://schemas.microsoft.com/office/drawing/2014/main" id="{53496CAE-93ED-974A-BCBD-C94104D33BBA}"/>
              </a:ext>
            </a:extLst>
          </p:cNvPr>
          <p:cNvSpPr>
            <a:spLocks noGrp="1" noChangeArrowheads="1"/>
          </p:cNvSpPr>
          <p:nvPr>
            <p:ph type="body" idx="1"/>
          </p:nvPr>
        </p:nvSpPr>
        <p:spPr bwMode="auto">
          <a:xfrm>
            <a:off x="457200" y="1585913"/>
            <a:ext cx="8229600" cy="623887"/>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None/>
              <a:defRPr/>
            </a:pPr>
            <a:r>
              <a:rPr lang="zh-CN" altLang="en-US">
                <a:solidFill>
                  <a:schemeClr val="bg2"/>
                </a:solidFill>
                <a:ea typeface="宋体" panose="02010600030101010101" pitchFamily="2" charset="-122"/>
              </a:rPr>
              <a:t> </a:t>
            </a:r>
          </a:p>
        </p:txBody>
      </p:sp>
      <p:sp>
        <p:nvSpPr>
          <p:cNvPr id="103428" name="Rectangle 4">
            <a:extLst>
              <a:ext uri="{FF2B5EF4-FFF2-40B4-BE49-F238E27FC236}">
                <a16:creationId xmlns:a16="http://schemas.microsoft.com/office/drawing/2014/main" id="{F712D891-0C7B-AC48-B29A-043314B8921F}"/>
              </a:ext>
            </a:extLst>
          </p:cNvPr>
          <p:cNvSpPr>
            <a:spLocks noChangeArrowheads="1"/>
          </p:cNvSpPr>
          <p:nvPr/>
        </p:nvSpPr>
        <p:spPr bwMode="auto">
          <a:xfrm>
            <a:off x="685800" y="1585913"/>
            <a:ext cx="7772400" cy="601662"/>
          </a:xfrm>
          <a:prstGeom prst="rect">
            <a:avLst/>
          </a:prstGeom>
          <a:noFill/>
          <a:ln>
            <a:noFill/>
          </a:ln>
        </p:spPr>
        <p:txBody>
          <a:bodyPr/>
          <a:lstStyle>
            <a:lvl1pPr marL="571500" indent="-5715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SzPct val="75000"/>
              <a:buFont typeface="Wingdings" pitchFamily="2" charset="2"/>
              <a:buChar char="u"/>
              <a:defRPr/>
            </a:pPr>
            <a:r>
              <a:rPr lang="zh-CN" altLang="en-US" sz="28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三次传递机制</a:t>
            </a:r>
          </a:p>
        </p:txBody>
      </p:sp>
      <p:sp>
        <p:nvSpPr>
          <p:cNvPr id="110596" name="Text Box 5">
            <a:extLst>
              <a:ext uri="{FF2B5EF4-FFF2-40B4-BE49-F238E27FC236}">
                <a16:creationId xmlns:a16="http://schemas.microsoft.com/office/drawing/2014/main" id="{C8C579BB-D6FB-474C-BB50-17950E1FAD8A}"/>
              </a:ext>
            </a:extLst>
          </p:cNvPr>
          <p:cNvSpPr txBox="1">
            <a:spLocks noChangeArrowheads="1"/>
          </p:cNvSpPr>
          <p:nvPr/>
        </p:nvSpPr>
        <p:spPr bwMode="auto">
          <a:xfrm>
            <a:off x="1676400" y="2743200"/>
            <a:ext cx="914400" cy="9906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110597" name="Text Box 6">
            <a:extLst>
              <a:ext uri="{FF2B5EF4-FFF2-40B4-BE49-F238E27FC236}">
                <a16:creationId xmlns:a16="http://schemas.microsoft.com/office/drawing/2014/main" id="{562BFB5E-5A05-5148-9633-42D6CD560711}"/>
              </a:ext>
            </a:extLst>
          </p:cNvPr>
          <p:cNvSpPr txBox="1">
            <a:spLocks noChangeArrowheads="1"/>
          </p:cNvSpPr>
          <p:nvPr/>
        </p:nvSpPr>
        <p:spPr bwMode="auto">
          <a:xfrm>
            <a:off x="5943600" y="2671763"/>
            <a:ext cx="914400" cy="1062037"/>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405959" name="Line 7">
            <a:extLst>
              <a:ext uri="{FF2B5EF4-FFF2-40B4-BE49-F238E27FC236}">
                <a16:creationId xmlns:a16="http://schemas.microsoft.com/office/drawing/2014/main" id="{B4033F0C-1F9E-5B4E-9178-357D3D68E47C}"/>
              </a:ext>
            </a:extLst>
          </p:cNvPr>
          <p:cNvSpPr>
            <a:spLocks noChangeShapeType="1"/>
          </p:cNvSpPr>
          <p:nvPr/>
        </p:nvSpPr>
        <p:spPr bwMode="auto">
          <a:xfrm>
            <a:off x="2590800" y="32766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0599" name="Text Box 8">
            <a:extLst>
              <a:ext uri="{FF2B5EF4-FFF2-40B4-BE49-F238E27FC236}">
                <a16:creationId xmlns:a16="http://schemas.microsoft.com/office/drawing/2014/main" id="{6DA55DF2-26B7-6740-912D-B438AD90B4DC}"/>
              </a:ext>
            </a:extLst>
          </p:cNvPr>
          <p:cNvSpPr txBox="1">
            <a:spLocks noChangeArrowheads="1"/>
          </p:cNvSpPr>
          <p:nvPr/>
        </p:nvSpPr>
        <p:spPr bwMode="auto">
          <a:xfrm>
            <a:off x="2743200" y="23622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||Text1</a:t>
            </a:r>
          </a:p>
        </p:txBody>
      </p:sp>
      <p:sp>
        <p:nvSpPr>
          <p:cNvPr id="110600" name="Text Box 9">
            <a:extLst>
              <a:ext uri="{FF2B5EF4-FFF2-40B4-BE49-F238E27FC236}">
                <a16:creationId xmlns:a16="http://schemas.microsoft.com/office/drawing/2014/main" id="{09070A83-7AF0-8C4D-993F-216B8FAE9F99}"/>
              </a:ext>
            </a:extLst>
          </p:cNvPr>
          <p:cNvSpPr txBox="1">
            <a:spLocks noChangeArrowheads="1"/>
          </p:cNvSpPr>
          <p:nvPr/>
        </p:nvSpPr>
        <p:spPr bwMode="auto">
          <a:xfrm>
            <a:off x="7086600" y="28956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(3)</a:t>
            </a:r>
          </a:p>
        </p:txBody>
      </p:sp>
      <p:sp>
        <p:nvSpPr>
          <p:cNvPr id="110601" name="Text Box 10">
            <a:extLst>
              <a:ext uri="{FF2B5EF4-FFF2-40B4-BE49-F238E27FC236}">
                <a16:creationId xmlns:a16="http://schemas.microsoft.com/office/drawing/2014/main" id="{3DEC1115-9E8D-534A-B526-7D23A527E1B2}"/>
              </a:ext>
            </a:extLst>
          </p:cNvPr>
          <p:cNvSpPr txBox="1">
            <a:spLocks noChangeArrowheads="1"/>
          </p:cNvSpPr>
          <p:nvPr/>
        </p:nvSpPr>
        <p:spPr bwMode="auto">
          <a:xfrm>
            <a:off x="381000" y="472440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3</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验证</a:t>
            </a:r>
            <a:r>
              <a:rPr lang="en-US" altLang="zh-CN" sz="24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的公开密钥，验证</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的标识符号</a:t>
            </a:r>
          </a:p>
        </p:txBody>
      </p:sp>
      <p:sp>
        <p:nvSpPr>
          <p:cNvPr id="1405963" name="Line 11">
            <a:extLst>
              <a:ext uri="{FF2B5EF4-FFF2-40B4-BE49-F238E27FC236}">
                <a16:creationId xmlns:a16="http://schemas.microsoft.com/office/drawing/2014/main" id="{E7795F52-578C-3749-B23E-9195401FDD5B}"/>
              </a:ext>
            </a:extLst>
          </p:cNvPr>
          <p:cNvSpPr>
            <a:spLocks noChangeShapeType="1"/>
          </p:cNvSpPr>
          <p:nvPr/>
        </p:nvSpPr>
        <p:spPr bwMode="auto">
          <a:xfrm flipH="1">
            <a:off x="2590800" y="28194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0603" name="Text Box 12">
            <a:extLst>
              <a:ext uri="{FF2B5EF4-FFF2-40B4-BE49-F238E27FC236}">
                <a16:creationId xmlns:a16="http://schemas.microsoft.com/office/drawing/2014/main" id="{00311C17-125E-BC43-AC52-A7575A02F85A}"/>
              </a:ext>
            </a:extLst>
          </p:cNvPr>
          <p:cNvSpPr txBox="1">
            <a:spLocks noChangeArrowheads="1"/>
          </p:cNvSpPr>
          <p:nvPr/>
        </p:nvSpPr>
        <p:spPr bwMode="auto">
          <a:xfrm>
            <a:off x="2743200" y="2819400"/>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CertA||TokenAB</a:t>
            </a:r>
          </a:p>
        </p:txBody>
      </p:sp>
      <p:sp>
        <p:nvSpPr>
          <p:cNvPr id="110604" name="Text Box 13">
            <a:extLst>
              <a:ext uri="{FF2B5EF4-FFF2-40B4-BE49-F238E27FC236}">
                <a16:creationId xmlns:a16="http://schemas.microsoft.com/office/drawing/2014/main" id="{D66488E4-2A94-A740-855B-802D357B3B51}"/>
              </a:ext>
            </a:extLst>
          </p:cNvPr>
          <p:cNvSpPr txBox="1">
            <a:spLocks noChangeArrowheads="1"/>
          </p:cNvSpPr>
          <p:nvPr/>
        </p:nvSpPr>
        <p:spPr bwMode="auto">
          <a:xfrm>
            <a:off x="381000" y="41910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TokenAB=RA||RB||B||Text3||SSA(RA||RB||B||Text2) </a:t>
            </a:r>
          </a:p>
        </p:txBody>
      </p:sp>
      <p:sp>
        <p:nvSpPr>
          <p:cNvPr id="1405966" name="Line 14">
            <a:extLst>
              <a:ext uri="{FF2B5EF4-FFF2-40B4-BE49-F238E27FC236}">
                <a16:creationId xmlns:a16="http://schemas.microsoft.com/office/drawing/2014/main" id="{B447ECCC-CC15-5A4C-94FF-B5D6BBE4DF69}"/>
              </a:ext>
            </a:extLst>
          </p:cNvPr>
          <p:cNvSpPr>
            <a:spLocks noChangeShapeType="1"/>
          </p:cNvSpPr>
          <p:nvPr/>
        </p:nvSpPr>
        <p:spPr bwMode="auto">
          <a:xfrm flipH="1">
            <a:off x="2590800" y="35814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0606" name="Text Box 15">
            <a:extLst>
              <a:ext uri="{FF2B5EF4-FFF2-40B4-BE49-F238E27FC236}">
                <a16:creationId xmlns:a16="http://schemas.microsoft.com/office/drawing/2014/main" id="{E7C4621A-61BC-EB41-8CAA-3713AED4A1A0}"/>
              </a:ext>
            </a:extLst>
          </p:cNvPr>
          <p:cNvSpPr txBox="1">
            <a:spLocks noChangeArrowheads="1"/>
          </p:cNvSpPr>
          <p:nvPr/>
        </p:nvSpPr>
        <p:spPr bwMode="auto">
          <a:xfrm>
            <a:off x="2743200" y="3657600"/>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4</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CertB||TokenBA</a:t>
            </a:r>
          </a:p>
        </p:txBody>
      </p:sp>
      <p:sp>
        <p:nvSpPr>
          <p:cNvPr id="110607" name="Text Box 16">
            <a:extLst>
              <a:ext uri="{FF2B5EF4-FFF2-40B4-BE49-F238E27FC236}">
                <a16:creationId xmlns:a16="http://schemas.microsoft.com/office/drawing/2014/main" id="{726A288C-1F7E-5945-8EDA-EA545C6384C4}"/>
              </a:ext>
            </a:extLst>
          </p:cNvPr>
          <p:cNvSpPr txBox="1">
            <a:spLocks noChangeArrowheads="1"/>
          </p:cNvSpPr>
          <p:nvPr/>
        </p:nvSpPr>
        <p:spPr bwMode="auto">
          <a:xfrm>
            <a:off x="381000" y="51816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4</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TokenBA=RB||RA||A||Text5||SSB(RB||RA||A||Text4) </a:t>
            </a:r>
          </a:p>
        </p:txBody>
      </p:sp>
      <p:sp>
        <p:nvSpPr>
          <p:cNvPr id="110608" name="Text Box 17">
            <a:extLst>
              <a:ext uri="{FF2B5EF4-FFF2-40B4-BE49-F238E27FC236}">
                <a16:creationId xmlns:a16="http://schemas.microsoft.com/office/drawing/2014/main" id="{51BFAB87-8F92-5C45-8399-831FB997D893}"/>
              </a:ext>
            </a:extLst>
          </p:cNvPr>
          <p:cNvSpPr txBox="1">
            <a:spLocks noChangeArrowheads="1"/>
          </p:cNvSpPr>
          <p:nvPr/>
        </p:nvSpPr>
        <p:spPr bwMode="auto">
          <a:xfrm>
            <a:off x="381000" y="563880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5</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验证</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的公开密钥，验证</a:t>
            </a:r>
            <a:r>
              <a:rPr lang="en-US" altLang="zh-CN" sz="24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的标识符号</a:t>
            </a:r>
          </a:p>
        </p:txBody>
      </p:sp>
      <p:sp>
        <p:nvSpPr>
          <p:cNvPr id="110609" name="Text Box 18">
            <a:extLst>
              <a:ext uri="{FF2B5EF4-FFF2-40B4-BE49-F238E27FC236}">
                <a16:creationId xmlns:a16="http://schemas.microsoft.com/office/drawing/2014/main" id="{3CF0C669-63F0-E942-9958-E6FD20D0BB0E}"/>
              </a:ext>
            </a:extLst>
          </p:cNvPr>
          <p:cNvSpPr txBox="1">
            <a:spLocks noChangeArrowheads="1"/>
          </p:cNvSpPr>
          <p:nvPr/>
        </p:nvSpPr>
        <p:spPr bwMode="auto">
          <a:xfrm>
            <a:off x="762000" y="28956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(5)</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6978" name="Rectangle 2">
            <a:extLst>
              <a:ext uri="{FF2B5EF4-FFF2-40B4-BE49-F238E27FC236}">
                <a16:creationId xmlns:a16="http://schemas.microsoft.com/office/drawing/2014/main" id="{30E44D41-6FD0-F846-82DC-9261176D5858}"/>
              </a:ext>
            </a:extLst>
          </p:cNvPr>
          <p:cNvSpPr>
            <a:spLocks noGrp="1" noChangeArrowheads="1"/>
          </p:cNvSpPr>
          <p:nvPr>
            <p:ph type="title"/>
          </p:nvPr>
        </p:nvSpPr>
        <p:spPr bwMode="auto">
          <a:xfrm>
            <a:off x="457200" y="792163"/>
            <a:ext cx="7772400" cy="701675"/>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spcBef>
                <a:spcPct val="20000"/>
              </a:spcBef>
              <a:defRPr/>
            </a:pPr>
            <a:r>
              <a:rPr kumimoji="1" lang="zh-CN" altLang="en-US" sz="3200">
                <a:solidFill>
                  <a:srgbClr val="FF0000"/>
                </a:solidFill>
                <a:latin typeface="黑体" panose="02010609060101010101" pitchFamily="49" charset="-122"/>
                <a:ea typeface="黑体" panose="02010609060101010101" pitchFamily="49" charset="-122"/>
              </a:rPr>
              <a:t>采用公开密码算法的机制</a:t>
            </a:r>
            <a:r>
              <a:rPr kumimoji="1" lang="en-US" altLang="zh-CN" sz="3200">
                <a:solidFill>
                  <a:srgbClr val="FF0000"/>
                </a:solidFill>
                <a:latin typeface="黑体" panose="02010609060101010101" pitchFamily="49" charset="-122"/>
                <a:ea typeface="黑体" panose="02010609060101010101" pitchFamily="49" charset="-122"/>
              </a:rPr>
              <a:t>—</a:t>
            </a:r>
            <a:r>
              <a:rPr kumimoji="1" lang="zh-CN" altLang="en-US" sz="3200">
                <a:solidFill>
                  <a:srgbClr val="FF0000"/>
                </a:solidFill>
                <a:latin typeface="黑体" panose="02010609060101010101" pitchFamily="49" charset="-122"/>
                <a:ea typeface="黑体" panose="02010609060101010101" pitchFamily="49" charset="-122"/>
              </a:rPr>
              <a:t>双向鉴别（</a:t>
            </a:r>
            <a:r>
              <a:rPr kumimoji="1" lang="en-US" altLang="zh-CN" sz="3200">
                <a:solidFill>
                  <a:srgbClr val="FF0000"/>
                </a:solidFill>
                <a:latin typeface="黑体" panose="02010609060101010101" pitchFamily="49" charset="-122"/>
                <a:ea typeface="黑体" panose="02010609060101010101" pitchFamily="49" charset="-122"/>
              </a:rPr>
              <a:t>3</a:t>
            </a:r>
            <a:r>
              <a:rPr kumimoji="1" lang="zh-CN" altLang="en-US" sz="3200">
                <a:solidFill>
                  <a:srgbClr val="FF0000"/>
                </a:solidFill>
                <a:latin typeface="黑体" panose="02010609060101010101" pitchFamily="49" charset="-122"/>
                <a:ea typeface="黑体" panose="02010609060101010101" pitchFamily="49" charset="-122"/>
              </a:rPr>
              <a:t>）</a:t>
            </a:r>
          </a:p>
        </p:txBody>
      </p:sp>
      <p:sp>
        <p:nvSpPr>
          <p:cNvPr id="111618" name="Rectangle 4">
            <a:extLst>
              <a:ext uri="{FF2B5EF4-FFF2-40B4-BE49-F238E27FC236}">
                <a16:creationId xmlns:a16="http://schemas.microsoft.com/office/drawing/2014/main" id="{D17320C1-A104-864B-9423-5C4C66045CB8}"/>
              </a:ext>
            </a:extLst>
          </p:cNvPr>
          <p:cNvSpPr>
            <a:spLocks noChangeArrowheads="1"/>
          </p:cNvSpPr>
          <p:nvPr/>
        </p:nvSpPr>
        <p:spPr bwMode="auto">
          <a:xfrm>
            <a:off x="914400" y="16764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20000"/>
              </a:spcBef>
            </a:pPr>
            <a:r>
              <a:rPr lang="zh-CN" altLang="en-US" sz="3200">
                <a:solidFill>
                  <a:srgbClr val="000066"/>
                </a:solidFill>
                <a:latin typeface="Times New Roman" panose="02020603050405020304" pitchFamily="18" charset="0"/>
                <a:ea typeface="宋体" panose="02010600030101010101" pitchFamily="2" charset="-122"/>
              </a:rPr>
              <a:t> </a:t>
            </a:r>
          </a:p>
        </p:txBody>
      </p:sp>
      <p:sp>
        <p:nvSpPr>
          <p:cNvPr id="111619" name="Rectangle 5">
            <a:extLst>
              <a:ext uri="{FF2B5EF4-FFF2-40B4-BE49-F238E27FC236}">
                <a16:creationId xmlns:a16="http://schemas.microsoft.com/office/drawing/2014/main" id="{2B7756CD-BC1D-1942-A5EF-744D17DFF312}"/>
              </a:ext>
            </a:extLst>
          </p:cNvPr>
          <p:cNvSpPr>
            <a:spLocks noChangeArrowheads="1"/>
          </p:cNvSpPr>
          <p:nvPr/>
        </p:nvSpPr>
        <p:spPr bwMode="auto">
          <a:xfrm>
            <a:off x="762000" y="14398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黑体" panose="02010609060101010101" pitchFamily="49" charset="-122"/>
                <a:ea typeface="黑体" panose="02010609060101010101" pitchFamily="49" charset="-122"/>
              </a:rPr>
              <a:t>两次传递并行机制</a:t>
            </a:r>
          </a:p>
        </p:txBody>
      </p:sp>
      <p:sp>
        <p:nvSpPr>
          <p:cNvPr id="111620" name="Text Box 6">
            <a:extLst>
              <a:ext uri="{FF2B5EF4-FFF2-40B4-BE49-F238E27FC236}">
                <a16:creationId xmlns:a16="http://schemas.microsoft.com/office/drawing/2014/main" id="{C02A3BBE-0E9A-374E-A4A8-26979B2B8791}"/>
              </a:ext>
            </a:extLst>
          </p:cNvPr>
          <p:cNvSpPr txBox="1">
            <a:spLocks noChangeArrowheads="1"/>
          </p:cNvSpPr>
          <p:nvPr/>
        </p:nvSpPr>
        <p:spPr bwMode="auto">
          <a:xfrm>
            <a:off x="1905000" y="2133600"/>
            <a:ext cx="914400" cy="13716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111621" name="Text Box 7">
            <a:extLst>
              <a:ext uri="{FF2B5EF4-FFF2-40B4-BE49-F238E27FC236}">
                <a16:creationId xmlns:a16="http://schemas.microsoft.com/office/drawing/2014/main" id="{728F9537-3160-484F-ADD0-D0C898897E63}"/>
              </a:ext>
            </a:extLst>
          </p:cNvPr>
          <p:cNvSpPr txBox="1">
            <a:spLocks noChangeArrowheads="1"/>
          </p:cNvSpPr>
          <p:nvPr/>
        </p:nvSpPr>
        <p:spPr bwMode="auto">
          <a:xfrm>
            <a:off x="6172200" y="2057400"/>
            <a:ext cx="914400" cy="14478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406984" name="Line 8">
            <a:extLst>
              <a:ext uri="{FF2B5EF4-FFF2-40B4-BE49-F238E27FC236}">
                <a16:creationId xmlns:a16="http://schemas.microsoft.com/office/drawing/2014/main" id="{3FFAC312-0E26-974D-98EC-E80955590997}"/>
              </a:ext>
            </a:extLst>
          </p:cNvPr>
          <p:cNvSpPr>
            <a:spLocks noChangeShapeType="1"/>
          </p:cNvSpPr>
          <p:nvPr/>
        </p:nvSpPr>
        <p:spPr bwMode="auto">
          <a:xfrm>
            <a:off x="2819400" y="24384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1623" name="Text Box 9">
            <a:extLst>
              <a:ext uri="{FF2B5EF4-FFF2-40B4-BE49-F238E27FC236}">
                <a16:creationId xmlns:a16="http://schemas.microsoft.com/office/drawing/2014/main" id="{63C4C94A-CCD8-A148-A0E6-4AF86E0B6810}"/>
              </a:ext>
            </a:extLst>
          </p:cNvPr>
          <p:cNvSpPr txBox="1">
            <a:spLocks noChangeArrowheads="1"/>
          </p:cNvSpPr>
          <p:nvPr/>
        </p:nvSpPr>
        <p:spPr bwMode="auto">
          <a:xfrm>
            <a:off x="2895600" y="19050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CertA||RA||Text1</a:t>
            </a:r>
          </a:p>
        </p:txBody>
      </p:sp>
      <p:sp>
        <p:nvSpPr>
          <p:cNvPr id="111624" name="Text Box 10">
            <a:extLst>
              <a:ext uri="{FF2B5EF4-FFF2-40B4-BE49-F238E27FC236}">
                <a16:creationId xmlns:a16="http://schemas.microsoft.com/office/drawing/2014/main" id="{D9279E8F-3E93-6C46-9ECE-794C4C6D5929}"/>
              </a:ext>
            </a:extLst>
          </p:cNvPr>
          <p:cNvSpPr txBox="1">
            <a:spLocks noChangeArrowheads="1"/>
          </p:cNvSpPr>
          <p:nvPr/>
        </p:nvSpPr>
        <p:spPr bwMode="auto">
          <a:xfrm>
            <a:off x="7315200" y="2286000"/>
            <a:ext cx="6858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(2)</a:t>
            </a:r>
          </a:p>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(4)</a:t>
            </a:r>
            <a:endParaRPr lang="en-US" altLang="zh-CN" sz="2400">
              <a:solidFill>
                <a:schemeClr val="bg2"/>
              </a:solidFill>
              <a:latin typeface="Times New Roman" panose="02020603050405020304" pitchFamily="18" charset="0"/>
              <a:ea typeface="宋体" panose="02010600030101010101" pitchFamily="2" charset="-122"/>
              <a:sym typeface="Symbol" pitchFamily="2" charset="2"/>
            </a:endParaRPr>
          </a:p>
        </p:txBody>
      </p:sp>
      <p:sp>
        <p:nvSpPr>
          <p:cNvPr id="111625" name="Text Box 11">
            <a:extLst>
              <a:ext uri="{FF2B5EF4-FFF2-40B4-BE49-F238E27FC236}">
                <a16:creationId xmlns:a16="http://schemas.microsoft.com/office/drawing/2014/main" id="{8F797E95-D174-5E4D-BABC-28E91048AFAE}"/>
              </a:ext>
            </a:extLst>
          </p:cNvPr>
          <p:cNvSpPr txBox="1">
            <a:spLocks noChangeArrowheads="1"/>
          </p:cNvSpPr>
          <p:nvPr/>
        </p:nvSpPr>
        <p:spPr bwMode="auto">
          <a:xfrm>
            <a:off x="685800" y="563880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4</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和</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验证各自的随机数</a:t>
            </a:r>
          </a:p>
        </p:txBody>
      </p:sp>
      <p:sp>
        <p:nvSpPr>
          <p:cNvPr id="1406988" name="Line 12">
            <a:extLst>
              <a:ext uri="{FF2B5EF4-FFF2-40B4-BE49-F238E27FC236}">
                <a16:creationId xmlns:a16="http://schemas.microsoft.com/office/drawing/2014/main" id="{BE55AC5F-00F5-DB4E-B84E-3A0BAB21A09E}"/>
              </a:ext>
            </a:extLst>
          </p:cNvPr>
          <p:cNvSpPr>
            <a:spLocks noChangeShapeType="1"/>
          </p:cNvSpPr>
          <p:nvPr/>
        </p:nvSpPr>
        <p:spPr bwMode="auto">
          <a:xfrm flipH="1">
            <a:off x="2819400" y="22860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1627" name="Text Box 13">
            <a:extLst>
              <a:ext uri="{FF2B5EF4-FFF2-40B4-BE49-F238E27FC236}">
                <a16:creationId xmlns:a16="http://schemas.microsoft.com/office/drawing/2014/main" id="{8B680893-D5B8-5D48-AA9B-277B7114A263}"/>
              </a:ext>
            </a:extLst>
          </p:cNvPr>
          <p:cNvSpPr txBox="1">
            <a:spLocks noChangeArrowheads="1"/>
          </p:cNvSpPr>
          <p:nvPr/>
        </p:nvSpPr>
        <p:spPr bwMode="auto">
          <a:xfrm>
            <a:off x="2895600" y="2438400"/>
            <a:ext cx="3276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1 </a:t>
            </a:r>
            <a:r>
              <a:rPr lang="en-US" altLang="zh-CN" sz="2000">
                <a:solidFill>
                  <a:schemeClr val="bg2"/>
                </a:solidFill>
                <a:latin typeface="Times New Roman" panose="02020603050405020304" pitchFamily="18" charset="0"/>
                <a:ea typeface="宋体" panose="02010600030101010101" pitchFamily="2" charset="-122"/>
                <a:cs typeface="Times New Roman" panose="02020603050405020304" pitchFamily="18" charset="0"/>
                <a:sym typeface="Symbol" pitchFamily="2" charset="2"/>
              </a:rPr>
              <a:t></a:t>
            </a:r>
            <a:r>
              <a:rPr lang="en-US" altLang="zh-CN" sz="2000">
                <a:solidFill>
                  <a:schemeClr val="bg2"/>
                </a:solidFill>
                <a:latin typeface="Times New Roman" panose="02020603050405020304" pitchFamily="18" charset="0"/>
                <a:ea typeface="宋体" panose="02010600030101010101" pitchFamily="2" charset="-122"/>
              </a:rPr>
              <a:t> </a:t>
            </a: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Cert</a:t>
            </a:r>
            <a:r>
              <a:rPr lang="en-US" altLang="zh-CN" sz="2000" baseline="-25000">
                <a:solidFill>
                  <a:schemeClr val="bg2"/>
                </a:solidFill>
                <a:latin typeface="Times New Roman" panose="02020603050405020304" pitchFamily="18" charset="0"/>
                <a:ea typeface="宋体" panose="02010600030101010101" pitchFamily="2" charset="-122"/>
              </a:rPr>
              <a:t>B</a:t>
            </a:r>
            <a:r>
              <a:rPr lang="en-US" altLang="zh-CN" sz="2000">
                <a:solidFill>
                  <a:schemeClr val="bg2"/>
                </a:solidFill>
                <a:latin typeface="Times New Roman" panose="02020603050405020304" pitchFamily="18" charset="0"/>
                <a:ea typeface="宋体" panose="02010600030101010101" pitchFamily="2" charset="-122"/>
              </a:rPr>
              <a:t>||R</a:t>
            </a:r>
            <a:r>
              <a:rPr lang="en-US" altLang="zh-CN" sz="2000" baseline="-25000">
                <a:solidFill>
                  <a:schemeClr val="bg2"/>
                </a:solidFill>
                <a:latin typeface="Times New Roman" panose="02020603050405020304" pitchFamily="18" charset="0"/>
                <a:ea typeface="宋体" panose="02010600030101010101" pitchFamily="2" charset="-122"/>
              </a:rPr>
              <a:t>B</a:t>
            </a:r>
            <a:r>
              <a:rPr lang="en-US" altLang="zh-CN" sz="2000">
                <a:solidFill>
                  <a:schemeClr val="bg2"/>
                </a:solidFill>
                <a:latin typeface="Times New Roman" panose="02020603050405020304" pitchFamily="18" charset="0"/>
                <a:ea typeface="宋体" panose="02010600030101010101" pitchFamily="2" charset="-122"/>
              </a:rPr>
              <a:t>||Text2</a:t>
            </a:r>
          </a:p>
        </p:txBody>
      </p:sp>
      <p:sp>
        <p:nvSpPr>
          <p:cNvPr id="111628" name="Text Box 14">
            <a:extLst>
              <a:ext uri="{FF2B5EF4-FFF2-40B4-BE49-F238E27FC236}">
                <a16:creationId xmlns:a16="http://schemas.microsoft.com/office/drawing/2014/main" id="{7B9724B5-99C9-EB4D-852F-3871124F0A40}"/>
              </a:ext>
            </a:extLst>
          </p:cNvPr>
          <p:cNvSpPr txBox="1">
            <a:spLocks noChangeArrowheads="1"/>
          </p:cNvSpPr>
          <p:nvPr/>
        </p:nvSpPr>
        <p:spPr bwMode="auto">
          <a:xfrm>
            <a:off x="609600" y="38862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TokenAB=R</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||B||Text4||</a:t>
            </a:r>
            <a:r>
              <a:rPr lang="en-US" altLang="zh-CN" sz="2400" baseline="-25000">
                <a:solidFill>
                  <a:schemeClr val="bg2"/>
                </a:solidFill>
                <a:latin typeface="Times New Roman" panose="02020603050405020304" pitchFamily="18" charset="0"/>
                <a:ea typeface="宋体" panose="02010600030101010101" pitchFamily="2" charset="-122"/>
              </a:rPr>
              <a:t>S</a:t>
            </a:r>
            <a:r>
              <a:rPr lang="en-US" altLang="zh-CN" sz="2400">
                <a:solidFill>
                  <a:schemeClr val="bg2"/>
                </a:solidFill>
                <a:latin typeface="Times New Roman" panose="02020603050405020304" pitchFamily="18" charset="0"/>
                <a:ea typeface="宋体" panose="02010600030101010101" pitchFamily="2" charset="-122"/>
              </a:rPr>
              <a:t>S</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||B||Text3) </a:t>
            </a:r>
          </a:p>
        </p:txBody>
      </p:sp>
      <p:sp>
        <p:nvSpPr>
          <p:cNvPr id="1406991" name="Line 15">
            <a:extLst>
              <a:ext uri="{FF2B5EF4-FFF2-40B4-BE49-F238E27FC236}">
                <a16:creationId xmlns:a16="http://schemas.microsoft.com/office/drawing/2014/main" id="{48E58103-D56A-0A45-B48E-F160EDC93F4D}"/>
              </a:ext>
            </a:extLst>
          </p:cNvPr>
          <p:cNvSpPr>
            <a:spLocks noChangeShapeType="1"/>
          </p:cNvSpPr>
          <p:nvPr/>
        </p:nvSpPr>
        <p:spPr bwMode="auto">
          <a:xfrm flipH="1">
            <a:off x="2819400" y="33528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1630" name="Text Box 16">
            <a:extLst>
              <a:ext uri="{FF2B5EF4-FFF2-40B4-BE49-F238E27FC236}">
                <a16:creationId xmlns:a16="http://schemas.microsoft.com/office/drawing/2014/main" id="{D27F34A8-2BAF-0C48-A9EC-4CBD13AC64AD}"/>
              </a:ext>
            </a:extLst>
          </p:cNvPr>
          <p:cNvSpPr txBox="1">
            <a:spLocks noChangeArrowheads="1"/>
          </p:cNvSpPr>
          <p:nvPr/>
        </p:nvSpPr>
        <p:spPr bwMode="auto">
          <a:xfrm>
            <a:off x="2895600" y="2879725"/>
            <a:ext cx="3276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3</a:t>
            </a: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TokenBA</a:t>
            </a:r>
          </a:p>
        </p:txBody>
      </p:sp>
      <p:sp>
        <p:nvSpPr>
          <p:cNvPr id="111631" name="Text Box 17">
            <a:extLst>
              <a:ext uri="{FF2B5EF4-FFF2-40B4-BE49-F238E27FC236}">
                <a16:creationId xmlns:a16="http://schemas.microsoft.com/office/drawing/2014/main" id="{E91D4E0F-C6CC-0042-82E1-9A5FD4F3B8B7}"/>
              </a:ext>
            </a:extLst>
          </p:cNvPr>
          <p:cNvSpPr txBox="1">
            <a:spLocks noChangeArrowheads="1"/>
          </p:cNvSpPr>
          <p:nvPr/>
        </p:nvSpPr>
        <p:spPr bwMode="auto">
          <a:xfrm>
            <a:off x="633413" y="43862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 </a:t>
            </a:r>
            <a:r>
              <a:rPr lang="en-US" altLang="zh-CN" sz="2400">
                <a:solidFill>
                  <a:schemeClr val="bg2"/>
                </a:solidFill>
                <a:latin typeface="Times New Roman" panose="02020603050405020304" pitchFamily="18" charset="0"/>
                <a:ea typeface="宋体" panose="02010600030101010101" pitchFamily="2" charset="-122"/>
                <a:sym typeface="Symbol" pitchFamily="2" charset="2"/>
              </a:rPr>
              <a:t></a:t>
            </a:r>
            <a:r>
              <a:rPr lang="en-US" altLang="zh-CN" sz="2400">
                <a:solidFill>
                  <a:schemeClr val="bg2"/>
                </a:solidFill>
                <a:latin typeface="Times New Roman" panose="02020603050405020304" pitchFamily="18" charset="0"/>
                <a:ea typeface="宋体" panose="02010600030101010101" pitchFamily="2" charset="-122"/>
              </a:rPr>
              <a:t> </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okenBA=RB||RA||A||Text6||SSB(RB||RA||A||Text5) </a:t>
            </a:r>
          </a:p>
        </p:txBody>
      </p:sp>
      <p:sp>
        <p:nvSpPr>
          <p:cNvPr id="111632" name="Text Box 18">
            <a:extLst>
              <a:ext uri="{FF2B5EF4-FFF2-40B4-BE49-F238E27FC236}">
                <a16:creationId xmlns:a16="http://schemas.microsoft.com/office/drawing/2014/main" id="{1B08E234-428B-444C-B712-AA5F105C8223}"/>
              </a:ext>
            </a:extLst>
          </p:cNvPr>
          <p:cNvSpPr txBox="1">
            <a:spLocks noChangeArrowheads="1"/>
          </p:cNvSpPr>
          <p:nvPr/>
        </p:nvSpPr>
        <p:spPr bwMode="auto">
          <a:xfrm>
            <a:off x="685800" y="502920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和</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确保他们拥有另一实体的公开密钥</a:t>
            </a:r>
          </a:p>
        </p:txBody>
      </p:sp>
      <p:sp>
        <p:nvSpPr>
          <p:cNvPr id="111633" name="Text Box 19">
            <a:extLst>
              <a:ext uri="{FF2B5EF4-FFF2-40B4-BE49-F238E27FC236}">
                <a16:creationId xmlns:a16="http://schemas.microsoft.com/office/drawing/2014/main" id="{93C1CE15-F833-9A48-97D7-575222269B04}"/>
              </a:ext>
            </a:extLst>
          </p:cNvPr>
          <p:cNvSpPr txBox="1">
            <a:spLocks noChangeArrowheads="1"/>
          </p:cNvSpPr>
          <p:nvPr/>
        </p:nvSpPr>
        <p:spPr bwMode="auto">
          <a:xfrm>
            <a:off x="1066800" y="2209800"/>
            <a:ext cx="6858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(2)</a:t>
            </a:r>
          </a:p>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(4)</a:t>
            </a:r>
          </a:p>
        </p:txBody>
      </p:sp>
      <p:sp>
        <p:nvSpPr>
          <p:cNvPr id="1406996" name="Line 20">
            <a:extLst>
              <a:ext uri="{FF2B5EF4-FFF2-40B4-BE49-F238E27FC236}">
                <a16:creationId xmlns:a16="http://schemas.microsoft.com/office/drawing/2014/main" id="{C837E6F9-C388-AD4E-B7FE-AC09C902D2B1}"/>
              </a:ext>
            </a:extLst>
          </p:cNvPr>
          <p:cNvSpPr>
            <a:spLocks noChangeShapeType="1"/>
          </p:cNvSpPr>
          <p:nvPr/>
        </p:nvSpPr>
        <p:spPr bwMode="auto">
          <a:xfrm>
            <a:off x="2819400" y="32004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1635" name="Text Box 21">
            <a:extLst>
              <a:ext uri="{FF2B5EF4-FFF2-40B4-BE49-F238E27FC236}">
                <a16:creationId xmlns:a16="http://schemas.microsoft.com/office/drawing/2014/main" id="{D03C9DDB-0FC7-374A-9C6D-8BF0C66F9B81}"/>
              </a:ext>
            </a:extLst>
          </p:cNvPr>
          <p:cNvSpPr txBox="1">
            <a:spLocks noChangeArrowheads="1"/>
          </p:cNvSpPr>
          <p:nvPr/>
        </p:nvSpPr>
        <p:spPr bwMode="auto">
          <a:xfrm>
            <a:off x="2895600" y="3352800"/>
            <a:ext cx="3276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3</a:t>
            </a:r>
            <a:r>
              <a:rPr lang="en-US" altLang="zh-CN" sz="2000">
                <a:solidFill>
                  <a:schemeClr val="bg2"/>
                </a:solidFill>
                <a:latin typeface="Times New Roman" panose="02020603050405020304" pitchFamily="18" charset="0"/>
                <a:ea typeface="宋体" panose="02010600030101010101" pitchFamily="2" charset="-122"/>
                <a:cs typeface="Times New Roman" panose="02020603050405020304" pitchFamily="18" charset="0"/>
                <a:sym typeface="Symbol" pitchFamily="2" charset="2"/>
              </a:rPr>
              <a:t></a:t>
            </a:r>
            <a:r>
              <a:rPr lang="en-US" altLang="zh-CN" sz="2000">
                <a:solidFill>
                  <a:schemeClr val="bg2"/>
                </a:solidFill>
                <a:latin typeface="Times New Roman" panose="02020603050405020304" pitchFamily="18" charset="0"/>
                <a:ea typeface="宋体" panose="02010600030101010101" pitchFamily="2" charset="-122"/>
              </a:rPr>
              <a:t> </a:t>
            </a:r>
            <a:r>
              <a:rPr lang="zh-CN" altLang="en-US" sz="2000">
                <a:solidFill>
                  <a:schemeClr val="bg2"/>
                </a:solidFill>
                <a:latin typeface="Times New Roman" panose="02020603050405020304" pitchFamily="18" charset="0"/>
                <a:ea typeface="宋体" panose="02010600030101010101" pitchFamily="2" charset="-122"/>
              </a:rPr>
              <a:t>）</a:t>
            </a:r>
            <a:r>
              <a:rPr lang="en-US" altLang="zh-CN" sz="2000">
                <a:solidFill>
                  <a:schemeClr val="bg2"/>
                </a:solidFill>
                <a:latin typeface="Times New Roman" panose="02020603050405020304" pitchFamily="18" charset="0"/>
                <a:ea typeface="宋体" panose="02010600030101010101" pitchFamily="2" charset="-122"/>
              </a:rPr>
              <a:t>TokenAB</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8002" name="Rectangle 2">
            <a:extLst>
              <a:ext uri="{FF2B5EF4-FFF2-40B4-BE49-F238E27FC236}">
                <a16:creationId xmlns:a16="http://schemas.microsoft.com/office/drawing/2014/main" id="{44551F99-314F-B24C-83D8-997F5BEB8A14}"/>
              </a:ext>
            </a:extLst>
          </p:cNvPr>
          <p:cNvSpPr>
            <a:spLocks noGrp="1" noChangeArrowheads="1"/>
          </p:cNvSpPr>
          <p:nvPr>
            <p:ph type="title"/>
          </p:nvPr>
        </p:nvSpPr>
        <p:spPr bwMode="auto">
          <a:xfrm>
            <a:off x="441325" y="914400"/>
            <a:ext cx="8229600" cy="7620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sz="3600" dirty="0">
                <a:solidFill>
                  <a:srgbClr val="0000FF"/>
                </a:solidFill>
                <a:latin typeface="黑体" panose="02010609060101010101" pitchFamily="49" charset="-122"/>
                <a:ea typeface="黑体" panose="02010609060101010101" pitchFamily="49" charset="-122"/>
              </a:rPr>
              <a:t>5.5.5 </a:t>
            </a:r>
            <a:r>
              <a:rPr lang="zh-CN" altLang="en-US" sz="3600" dirty="0">
                <a:solidFill>
                  <a:srgbClr val="0000FF"/>
                </a:solidFill>
                <a:latin typeface="黑体" panose="02010609060101010101" pitchFamily="49" charset="-122"/>
                <a:ea typeface="黑体" panose="02010609060101010101" pitchFamily="49" charset="-122"/>
              </a:rPr>
              <a:t>采用密码校验函数的机制</a:t>
            </a:r>
          </a:p>
        </p:txBody>
      </p:sp>
      <p:sp>
        <p:nvSpPr>
          <p:cNvPr id="1408003" name="Rectangle 3">
            <a:extLst>
              <a:ext uri="{FF2B5EF4-FFF2-40B4-BE49-F238E27FC236}">
                <a16:creationId xmlns:a16="http://schemas.microsoft.com/office/drawing/2014/main" id="{9C33FA11-F4F7-F74F-8173-197175F63443}"/>
              </a:ext>
            </a:extLst>
          </p:cNvPr>
          <p:cNvSpPr>
            <a:spLocks noGrp="1" noChangeArrowheads="1"/>
          </p:cNvSpPr>
          <p:nvPr>
            <p:ph type="body" idx="1"/>
          </p:nvPr>
        </p:nvSpPr>
        <p:spPr bwMode="auto">
          <a:xfrm>
            <a:off x="457200" y="2286000"/>
            <a:ext cx="8229600" cy="30480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u"/>
              <a:defRPr/>
            </a:pPr>
            <a:r>
              <a:rPr lang="zh-CN" altLang="en-US" sz="2800">
                <a:solidFill>
                  <a:schemeClr val="bg2"/>
                </a:solidFill>
                <a:ea typeface="宋体" panose="02010600030101010101" pitchFamily="2" charset="-122"/>
              </a:rPr>
              <a:t>在该机制中，待鉴别的实体通过表明它拥有某个秘密鉴别密钥来证实其身份。可由该实体以其秘密密钥和特定数据作输入，使用密码校验函数获得密码校验值来达到。</a:t>
            </a:r>
          </a:p>
          <a:p>
            <a:pPr eaLnBrk="1" hangingPunct="1">
              <a:buClr>
                <a:srgbClr val="FF0000"/>
              </a:buClr>
              <a:buFont typeface="Wingdings" pitchFamily="2" charset="2"/>
              <a:buChar char="u"/>
              <a:defRPr/>
            </a:pPr>
            <a:r>
              <a:rPr lang="zh-CN" altLang="en-US" sz="2800">
                <a:solidFill>
                  <a:schemeClr val="bg2"/>
                </a:solidFill>
                <a:ea typeface="宋体" panose="02010600030101010101" pitchFamily="2" charset="-122"/>
              </a:rPr>
              <a:t>声称者和验证者共享秘密鉴别密钥，应仅为该两个实体所知，以及他们的信任方。</a:t>
            </a:r>
          </a:p>
          <a:p>
            <a:pPr eaLnBrk="1" hangingPunct="1">
              <a:defRPr/>
            </a:pPr>
            <a:endParaRPr lang="zh-CN" altLang="en-US" sz="2800">
              <a:solidFill>
                <a:schemeClr val="bg2"/>
              </a:solidFill>
              <a:ea typeface="宋体" panose="0201060003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9026" name="Rectangle 2">
            <a:extLst>
              <a:ext uri="{FF2B5EF4-FFF2-40B4-BE49-F238E27FC236}">
                <a16:creationId xmlns:a16="http://schemas.microsoft.com/office/drawing/2014/main" id="{FD0B2991-2BC8-3044-8F2B-5B6C8300603F}"/>
              </a:ext>
            </a:extLst>
          </p:cNvPr>
          <p:cNvSpPr>
            <a:spLocks noGrp="1" noChangeArrowheads="1"/>
          </p:cNvSpPr>
          <p:nvPr>
            <p:ph type="title"/>
          </p:nvPr>
        </p:nvSpPr>
        <p:spPr bwMode="auto">
          <a:xfrm>
            <a:off x="442913" y="817563"/>
            <a:ext cx="8229600" cy="6858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spcBef>
                <a:spcPct val="20000"/>
              </a:spcBef>
              <a:defRPr/>
            </a:pPr>
            <a:r>
              <a:rPr kumimoji="1" lang="zh-CN" altLang="en-US" sz="3200">
                <a:solidFill>
                  <a:srgbClr val="FF0000"/>
                </a:solidFill>
                <a:latin typeface="黑体" panose="02010609060101010101" pitchFamily="49" charset="-122"/>
                <a:ea typeface="黑体" panose="02010609060101010101" pitchFamily="49" charset="-122"/>
              </a:rPr>
              <a:t>采用密码校验函数的机制</a:t>
            </a:r>
            <a:r>
              <a:rPr kumimoji="1" lang="en-US" altLang="zh-CN" sz="3200">
                <a:solidFill>
                  <a:srgbClr val="FF0000"/>
                </a:solidFill>
                <a:latin typeface="黑体" panose="02010609060101010101" pitchFamily="49" charset="-122"/>
                <a:ea typeface="黑体" panose="02010609060101010101" pitchFamily="49" charset="-122"/>
              </a:rPr>
              <a:t>-</a:t>
            </a:r>
            <a:r>
              <a:rPr kumimoji="1" lang="zh-CN" altLang="en-US" sz="3200">
                <a:solidFill>
                  <a:srgbClr val="FF0000"/>
                </a:solidFill>
                <a:latin typeface="黑体" panose="02010609060101010101" pitchFamily="49" charset="-122"/>
                <a:ea typeface="黑体" panose="02010609060101010101" pitchFamily="49" charset="-122"/>
              </a:rPr>
              <a:t>单向鉴别</a:t>
            </a:r>
          </a:p>
        </p:txBody>
      </p:sp>
      <p:sp>
        <p:nvSpPr>
          <p:cNvPr id="1409027" name="Rectangle 3">
            <a:extLst>
              <a:ext uri="{FF2B5EF4-FFF2-40B4-BE49-F238E27FC236}">
                <a16:creationId xmlns:a16="http://schemas.microsoft.com/office/drawing/2014/main" id="{0BAD99CB-A85B-894D-B6B9-0291311D9675}"/>
              </a:ext>
            </a:extLst>
          </p:cNvPr>
          <p:cNvSpPr>
            <a:spLocks noGrp="1" noChangeArrowheads="1"/>
          </p:cNvSpPr>
          <p:nvPr>
            <p:ph type="body" idx="1"/>
          </p:nvPr>
        </p:nvSpPr>
        <p:spPr bwMode="auto">
          <a:xfrm>
            <a:off x="457200" y="1798638"/>
            <a:ext cx="8229600" cy="639762"/>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ClrTx/>
              <a:buFont typeface="Wingdings" pitchFamily="2" charset="2"/>
              <a:buChar char="u"/>
              <a:defRPr/>
            </a:pPr>
            <a:r>
              <a:rPr lang="zh-CN" altLang="en-US" sz="2800">
                <a:solidFill>
                  <a:schemeClr val="bg2"/>
                </a:solidFill>
                <a:ea typeface="宋体" panose="02010600030101010101" pitchFamily="2" charset="-122"/>
              </a:rPr>
              <a:t> </a:t>
            </a:r>
            <a:r>
              <a:rPr lang="zh-CN" altLang="en-US" sz="2800">
                <a:solidFill>
                  <a:schemeClr val="bg2"/>
                </a:solidFill>
                <a:latin typeface="黑体" panose="02010609060101010101" pitchFamily="49" charset="-122"/>
                <a:ea typeface="黑体" panose="02010609060101010101" pitchFamily="49" charset="-122"/>
              </a:rPr>
              <a:t>一次传递鉴别</a:t>
            </a:r>
          </a:p>
        </p:txBody>
      </p:sp>
      <p:sp>
        <p:nvSpPr>
          <p:cNvPr id="113667" name="Text Box 4">
            <a:extLst>
              <a:ext uri="{FF2B5EF4-FFF2-40B4-BE49-F238E27FC236}">
                <a16:creationId xmlns:a16="http://schemas.microsoft.com/office/drawing/2014/main" id="{C1842702-A4B3-504B-A3A6-782A008DB8D7}"/>
              </a:ext>
            </a:extLst>
          </p:cNvPr>
          <p:cNvSpPr txBox="1">
            <a:spLocks noChangeArrowheads="1"/>
          </p:cNvSpPr>
          <p:nvPr/>
        </p:nvSpPr>
        <p:spPr bwMode="auto">
          <a:xfrm>
            <a:off x="1676400" y="3048000"/>
            <a:ext cx="914400" cy="528638"/>
          </a:xfrm>
          <a:prstGeom prst="rect">
            <a:avLst/>
          </a:prstGeom>
          <a:solidFill>
            <a:srgbClr val="00FFFF"/>
          </a:solidFill>
          <a:ln w="9525">
            <a:solidFill>
              <a:schemeClr val="bg2"/>
            </a:solid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113668" name="Text Box 5">
            <a:extLst>
              <a:ext uri="{FF2B5EF4-FFF2-40B4-BE49-F238E27FC236}">
                <a16:creationId xmlns:a16="http://schemas.microsoft.com/office/drawing/2014/main" id="{27B7AF27-1034-FC4F-8D6C-B3F5FAD31212}"/>
              </a:ext>
            </a:extLst>
          </p:cNvPr>
          <p:cNvSpPr txBox="1">
            <a:spLocks noChangeArrowheads="1"/>
          </p:cNvSpPr>
          <p:nvPr/>
        </p:nvSpPr>
        <p:spPr bwMode="auto">
          <a:xfrm>
            <a:off x="6248400" y="2976563"/>
            <a:ext cx="914400" cy="528637"/>
          </a:xfrm>
          <a:prstGeom prst="rect">
            <a:avLst/>
          </a:prstGeom>
          <a:solidFill>
            <a:srgbClr val="00FFFF"/>
          </a:solidFill>
          <a:ln w="9525">
            <a:solidFill>
              <a:schemeClr val="bg2"/>
            </a:solid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409030" name="Line 6">
            <a:extLst>
              <a:ext uri="{FF2B5EF4-FFF2-40B4-BE49-F238E27FC236}">
                <a16:creationId xmlns:a16="http://schemas.microsoft.com/office/drawing/2014/main" id="{B0C38875-851A-E447-9D1E-AE01E2F6DE2E}"/>
              </a:ext>
            </a:extLst>
          </p:cNvPr>
          <p:cNvSpPr>
            <a:spLocks noChangeShapeType="1"/>
          </p:cNvSpPr>
          <p:nvPr/>
        </p:nvSpPr>
        <p:spPr bwMode="auto">
          <a:xfrm>
            <a:off x="2590800" y="3276600"/>
            <a:ext cx="36576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3670" name="Text Box 7">
            <a:extLst>
              <a:ext uri="{FF2B5EF4-FFF2-40B4-BE49-F238E27FC236}">
                <a16:creationId xmlns:a16="http://schemas.microsoft.com/office/drawing/2014/main" id="{8F6B0E05-9A96-9A4B-A087-EE93D44687A1}"/>
              </a:ext>
            </a:extLst>
          </p:cNvPr>
          <p:cNvSpPr txBox="1">
            <a:spLocks noChangeArrowheads="1"/>
          </p:cNvSpPr>
          <p:nvPr/>
        </p:nvSpPr>
        <p:spPr bwMode="auto">
          <a:xfrm>
            <a:off x="2667000" y="2667000"/>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a:t>
            </a:r>
          </a:p>
        </p:txBody>
      </p:sp>
      <p:sp>
        <p:nvSpPr>
          <p:cNvPr id="113671" name="Text Box 8">
            <a:extLst>
              <a:ext uri="{FF2B5EF4-FFF2-40B4-BE49-F238E27FC236}">
                <a16:creationId xmlns:a16="http://schemas.microsoft.com/office/drawing/2014/main" id="{CF61D3A3-2B1A-0A49-8A32-EABEE4EBBA68}"/>
              </a:ext>
            </a:extLst>
          </p:cNvPr>
          <p:cNvSpPr txBox="1">
            <a:spLocks noChangeArrowheads="1"/>
          </p:cNvSpPr>
          <p:nvPr/>
        </p:nvSpPr>
        <p:spPr bwMode="auto">
          <a:xfrm>
            <a:off x="685800" y="3948113"/>
            <a:ext cx="68580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TokenAB=T</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||Text2||fK</a:t>
            </a:r>
            <a:r>
              <a:rPr lang="en-US" altLang="zh-CN" sz="2400" baseline="-25000">
                <a:solidFill>
                  <a:schemeClr val="bg2"/>
                </a:solidFill>
                <a:latin typeface="Times New Roman" panose="02020603050405020304" pitchFamily="18" charset="0"/>
                <a:ea typeface="宋体" panose="02010600030101010101" pitchFamily="2" charset="-122"/>
              </a:rPr>
              <a:t>AB</a:t>
            </a:r>
            <a:r>
              <a:rPr lang="en-US" altLang="zh-CN" sz="2400">
                <a:solidFill>
                  <a:schemeClr val="bg2"/>
                </a:solidFill>
                <a:latin typeface="Times New Roman" panose="02020603050405020304" pitchFamily="18" charset="0"/>
                <a:ea typeface="宋体" panose="02010600030101010101" pitchFamily="2" charset="-122"/>
              </a:rPr>
              <a:t>(T</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||B||Text1)</a:t>
            </a:r>
          </a:p>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                             N</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                       N</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    </a:t>
            </a:r>
          </a:p>
        </p:txBody>
      </p:sp>
      <p:sp>
        <p:nvSpPr>
          <p:cNvPr id="113672" name="Text Box 9">
            <a:extLst>
              <a:ext uri="{FF2B5EF4-FFF2-40B4-BE49-F238E27FC236}">
                <a16:creationId xmlns:a16="http://schemas.microsoft.com/office/drawing/2014/main" id="{0D5440EB-4D28-234F-ACC3-59E7B64568F9}"/>
              </a:ext>
            </a:extLst>
          </p:cNvPr>
          <p:cNvSpPr txBox="1">
            <a:spLocks noChangeArrowheads="1"/>
          </p:cNvSpPr>
          <p:nvPr/>
        </p:nvSpPr>
        <p:spPr bwMode="auto">
          <a:xfrm>
            <a:off x="7391400" y="29718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(2)</a:t>
            </a:r>
          </a:p>
        </p:txBody>
      </p:sp>
      <p:sp>
        <p:nvSpPr>
          <p:cNvPr id="113673" name="Text Box 10">
            <a:extLst>
              <a:ext uri="{FF2B5EF4-FFF2-40B4-BE49-F238E27FC236}">
                <a16:creationId xmlns:a16="http://schemas.microsoft.com/office/drawing/2014/main" id="{6E4D0D2A-EE9E-D84E-9427-B33B7ED1CFD0}"/>
              </a:ext>
            </a:extLst>
          </p:cNvPr>
          <p:cNvSpPr txBox="1">
            <a:spLocks noChangeArrowheads="1"/>
          </p:cNvSpPr>
          <p:nvPr/>
        </p:nvSpPr>
        <p:spPr bwMode="auto">
          <a:xfrm>
            <a:off x="838200" y="5029200"/>
            <a:ext cx="731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chemeClr val="bg2"/>
                </a:solidFill>
                <a:latin typeface="Times New Roman" panose="02020603050405020304" pitchFamily="18" charset="0"/>
                <a:ea typeface="宋体" panose="02010600030101010101" pitchFamily="2" charset="-122"/>
              </a:rPr>
              <a:t>(2)B</a:t>
            </a:r>
            <a:r>
              <a:rPr lang="zh-CN" altLang="en-US" sz="2400">
                <a:solidFill>
                  <a:schemeClr val="bg2"/>
                </a:solidFill>
                <a:latin typeface="Times New Roman" panose="02020603050405020304" pitchFamily="18" charset="0"/>
                <a:ea typeface="宋体" panose="02010600030101010101" pitchFamily="2" charset="-122"/>
              </a:rPr>
              <a:t>验证</a:t>
            </a:r>
            <a:r>
              <a:rPr lang="en-US" altLang="zh-CN" sz="24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的标识符号和时间标记</a:t>
            </a:r>
          </a:p>
        </p:txBody>
      </p:sp>
      <p:sp>
        <p:nvSpPr>
          <p:cNvPr id="113674" name="文本框 11">
            <a:extLst>
              <a:ext uri="{FF2B5EF4-FFF2-40B4-BE49-F238E27FC236}">
                <a16:creationId xmlns:a16="http://schemas.microsoft.com/office/drawing/2014/main" id="{C171F49B-10B2-DB4D-9B02-2237EFEED78B}"/>
              </a:ext>
            </a:extLst>
          </p:cNvPr>
          <p:cNvSpPr txBox="1">
            <a:spLocks noChangeArrowheads="1"/>
          </p:cNvSpPr>
          <p:nvPr/>
        </p:nvSpPr>
        <p:spPr bwMode="auto">
          <a:xfrm>
            <a:off x="4348163" y="1646238"/>
            <a:ext cx="48307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r>
              <a:rPr lang="en-US" altLang="zh-CN" sz="2000">
                <a:solidFill>
                  <a:schemeClr val="bg2"/>
                </a:solidFill>
                <a:ea typeface="宋体" panose="02010600030101010101" pitchFamily="2" charset="-122"/>
              </a:rPr>
              <a:t>fK(Z):</a:t>
            </a:r>
            <a:r>
              <a:rPr lang="zh-CN" altLang="en-US" sz="2000">
                <a:solidFill>
                  <a:schemeClr val="bg2"/>
                </a:solidFill>
                <a:ea typeface="宋体" panose="02010600030101010101" pitchFamily="2" charset="-122"/>
              </a:rPr>
              <a:t>使用以密钥</a:t>
            </a:r>
            <a:r>
              <a:rPr lang="en-US" altLang="zh-CN" sz="2000">
                <a:solidFill>
                  <a:schemeClr val="bg2"/>
                </a:solidFill>
                <a:ea typeface="宋体" panose="02010600030101010101" pitchFamily="2" charset="-122"/>
              </a:rPr>
              <a:t>K</a:t>
            </a:r>
            <a:r>
              <a:rPr lang="zh-CN" altLang="en-US" sz="2000">
                <a:solidFill>
                  <a:schemeClr val="bg2"/>
                </a:solidFill>
                <a:ea typeface="宋体" panose="02010600030101010101" pitchFamily="2" charset="-122"/>
              </a:rPr>
              <a:t>和任意数据串</a:t>
            </a:r>
            <a:r>
              <a:rPr lang="en-US" altLang="zh-CN" sz="2000">
                <a:solidFill>
                  <a:schemeClr val="bg2"/>
                </a:solidFill>
                <a:ea typeface="宋体" panose="02010600030101010101" pitchFamily="2" charset="-122"/>
              </a:rPr>
              <a:t>Z</a:t>
            </a:r>
            <a:r>
              <a:rPr lang="zh-CN" altLang="en-US" sz="2000">
                <a:solidFill>
                  <a:schemeClr val="bg2"/>
                </a:solidFill>
                <a:ea typeface="宋体" panose="02010600030101010101" pitchFamily="2" charset="-122"/>
              </a:rPr>
              <a:t>作为输入的密码校验函数</a:t>
            </a:r>
            <a:r>
              <a:rPr lang="en-US" altLang="zh-CN" sz="2000">
                <a:solidFill>
                  <a:schemeClr val="bg2"/>
                </a:solidFill>
                <a:ea typeface="宋体" panose="02010600030101010101" pitchFamily="2" charset="-122"/>
              </a:rPr>
              <a:t>f</a:t>
            </a:r>
            <a:r>
              <a:rPr lang="zh-CN" altLang="en-US" sz="2000">
                <a:solidFill>
                  <a:schemeClr val="bg2"/>
                </a:solidFill>
                <a:ea typeface="宋体" panose="02010600030101010101" pitchFamily="2" charset="-122"/>
              </a:rPr>
              <a:t>所产生的密码校验值</a:t>
            </a:r>
            <a:endParaRPr lang="zh-CN" altLang="en-US" sz="200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0050" name="Rectangle 2">
            <a:extLst>
              <a:ext uri="{FF2B5EF4-FFF2-40B4-BE49-F238E27FC236}">
                <a16:creationId xmlns:a16="http://schemas.microsoft.com/office/drawing/2014/main" id="{B293280D-7998-B94E-9C34-EEE5EABDFC73}"/>
              </a:ext>
            </a:extLst>
          </p:cNvPr>
          <p:cNvSpPr>
            <a:spLocks noGrp="1" noChangeArrowheads="1"/>
          </p:cNvSpPr>
          <p:nvPr>
            <p:ph type="title"/>
          </p:nvPr>
        </p:nvSpPr>
        <p:spPr bwMode="auto">
          <a:xfrm>
            <a:off x="533400" y="838200"/>
            <a:ext cx="8229600" cy="7620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spcBef>
                <a:spcPct val="20000"/>
              </a:spcBef>
              <a:defRPr/>
            </a:pPr>
            <a:r>
              <a:rPr kumimoji="1" lang="zh-CN" altLang="en-US" sz="3200">
                <a:solidFill>
                  <a:srgbClr val="FF0000"/>
                </a:solidFill>
                <a:latin typeface="黑体" panose="02010609060101010101" pitchFamily="49" charset="-122"/>
                <a:ea typeface="黑体" panose="02010609060101010101" pitchFamily="49" charset="-122"/>
              </a:rPr>
              <a:t>采用密码校验函数的机制</a:t>
            </a:r>
            <a:r>
              <a:rPr kumimoji="1" lang="en-US" altLang="zh-CN" sz="3200">
                <a:solidFill>
                  <a:srgbClr val="FF0000"/>
                </a:solidFill>
                <a:latin typeface="黑体" panose="02010609060101010101" pitchFamily="49" charset="-122"/>
                <a:ea typeface="黑体" panose="02010609060101010101" pitchFamily="49" charset="-122"/>
              </a:rPr>
              <a:t>-</a:t>
            </a:r>
            <a:r>
              <a:rPr kumimoji="1" lang="zh-CN" altLang="en-US" sz="3200">
                <a:solidFill>
                  <a:srgbClr val="FF0000"/>
                </a:solidFill>
                <a:latin typeface="黑体" panose="02010609060101010101" pitchFamily="49" charset="-122"/>
                <a:ea typeface="黑体" panose="02010609060101010101" pitchFamily="49" charset="-122"/>
              </a:rPr>
              <a:t>单向鉴别</a:t>
            </a:r>
          </a:p>
        </p:txBody>
      </p:sp>
      <p:sp>
        <p:nvSpPr>
          <p:cNvPr id="114690" name="Text Box 3">
            <a:extLst>
              <a:ext uri="{FF2B5EF4-FFF2-40B4-BE49-F238E27FC236}">
                <a16:creationId xmlns:a16="http://schemas.microsoft.com/office/drawing/2014/main" id="{80E33EE7-987F-0D46-8E6C-44AC32AE67E9}"/>
              </a:ext>
            </a:extLst>
          </p:cNvPr>
          <p:cNvSpPr txBox="1">
            <a:spLocks noChangeArrowheads="1"/>
          </p:cNvSpPr>
          <p:nvPr/>
        </p:nvSpPr>
        <p:spPr bwMode="auto">
          <a:xfrm>
            <a:off x="1676400" y="2819400"/>
            <a:ext cx="914400" cy="9906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114691" name="Text Box 4">
            <a:extLst>
              <a:ext uri="{FF2B5EF4-FFF2-40B4-BE49-F238E27FC236}">
                <a16:creationId xmlns:a16="http://schemas.microsoft.com/office/drawing/2014/main" id="{7D8AD88A-3B7F-A243-B352-A15507966B08}"/>
              </a:ext>
            </a:extLst>
          </p:cNvPr>
          <p:cNvSpPr txBox="1">
            <a:spLocks noChangeArrowheads="1"/>
          </p:cNvSpPr>
          <p:nvPr/>
        </p:nvSpPr>
        <p:spPr bwMode="auto">
          <a:xfrm>
            <a:off x="5943600" y="2743200"/>
            <a:ext cx="914400" cy="1062038"/>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410053" name="Line 5">
            <a:extLst>
              <a:ext uri="{FF2B5EF4-FFF2-40B4-BE49-F238E27FC236}">
                <a16:creationId xmlns:a16="http://schemas.microsoft.com/office/drawing/2014/main" id="{AD6E2FD5-422D-2A49-9274-BEFEE7A5BB5B}"/>
              </a:ext>
            </a:extLst>
          </p:cNvPr>
          <p:cNvSpPr>
            <a:spLocks noChangeShapeType="1"/>
          </p:cNvSpPr>
          <p:nvPr/>
        </p:nvSpPr>
        <p:spPr bwMode="auto">
          <a:xfrm>
            <a:off x="2590800" y="36576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4693" name="Text Box 6">
            <a:extLst>
              <a:ext uri="{FF2B5EF4-FFF2-40B4-BE49-F238E27FC236}">
                <a16:creationId xmlns:a16="http://schemas.microsoft.com/office/drawing/2014/main" id="{24317404-0F37-4F42-AEB2-FDC9FEDCBE9B}"/>
              </a:ext>
            </a:extLst>
          </p:cNvPr>
          <p:cNvSpPr txBox="1">
            <a:spLocks noChangeArrowheads="1"/>
          </p:cNvSpPr>
          <p:nvPr/>
        </p:nvSpPr>
        <p:spPr bwMode="auto">
          <a:xfrm>
            <a:off x="3200400" y="25146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1</a:t>
            </a: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R</a:t>
            </a:r>
            <a:r>
              <a:rPr lang="en-US" altLang="zh-CN" sz="2400" baseline="-25000">
                <a:solidFill>
                  <a:srgbClr val="000066"/>
                </a:solidFill>
                <a:latin typeface="Times New Roman" panose="02020603050405020304" pitchFamily="18" charset="0"/>
                <a:ea typeface="宋体" panose="02010600030101010101" pitchFamily="2" charset="-122"/>
              </a:rPr>
              <a:t>B</a:t>
            </a:r>
            <a:r>
              <a:rPr lang="en-US" altLang="zh-CN" sz="2400">
                <a:solidFill>
                  <a:srgbClr val="000066"/>
                </a:solidFill>
                <a:latin typeface="Times New Roman" panose="02020603050405020304" pitchFamily="18" charset="0"/>
                <a:ea typeface="宋体" panose="02010600030101010101" pitchFamily="2" charset="-122"/>
              </a:rPr>
              <a:t>||Text1</a:t>
            </a:r>
          </a:p>
        </p:txBody>
      </p:sp>
      <p:sp>
        <p:nvSpPr>
          <p:cNvPr id="114694" name="Text Box 7">
            <a:extLst>
              <a:ext uri="{FF2B5EF4-FFF2-40B4-BE49-F238E27FC236}">
                <a16:creationId xmlns:a16="http://schemas.microsoft.com/office/drawing/2014/main" id="{A66DF06F-8F04-0147-9620-C8C28AA56494}"/>
              </a:ext>
            </a:extLst>
          </p:cNvPr>
          <p:cNvSpPr txBox="1">
            <a:spLocks noChangeArrowheads="1"/>
          </p:cNvSpPr>
          <p:nvPr/>
        </p:nvSpPr>
        <p:spPr bwMode="auto">
          <a:xfrm>
            <a:off x="7086600" y="32766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rgbClr val="000066"/>
                </a:solidFill>
                <a:latin typeface="Times New Roman" panose="02020603050405020304" pitchFamily="18" charset="0"/>
                <a:ea typeface="宋体" panose="02010600030101010101" pitchFamily="2" charset="-122"/>
              </a:rPr>
              <a:t>(3)</a:t>
            </a:r>
          </a:p>
        </p:txBody>
      </p:sp>
      <p:sp>
        <p:nvSpPr>
          <p:cNvPr id="114695" name="Text Box 8">
            <a:extLst>
              <a:ext uri="{FF2B5EF4-FFF2-40B4-BE49-F238E27FC236}">
                <a16:creationId xmlns:a16="http://schemas.microsoft.com/office/drawing/2014/main" id="{66367B7D-427C-0048-8A10-2D62360B3426}"/>
              </a:ext>
            </a:extLst>
          </p:cNvPr>
          <p:cNvSpPr txBox="1">
            <a:spLocks noChangeArrowheads="1"/>
          </p:cNvSpPr>
          <p:nvPr/>
        </p:nvSpPr>
        <p:spPr bwMode="auto">
          <a:xfrm>
            <a:off x="838200" y="518160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3</a:t>
            </a: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B</a:t>
            </a:r>
            <a:r>
              <a:rPr lang="zh-CN" altLang="en-US" sz="2400">
                <a:solidFill>
                  <a:srgbClr val="000066"/>
                </a:solidFill>
                <a:latin typeface="Times New Roman" panose="02020603050405020304" pitchFamily="18" charset="0"/>
                <a:ea typeface="宋体" panose="02010600030101010101" pitchFamily="2" charset="-122"/>
              </a:rPr>
              <a:t>验证</a:t>
            </a:r>
            <a:r>
              <a:rPr lang="en-US" altLang="zh-CN" sz="2400">
                <a:solidFill>
                  <a:srgbClr val="000066"/>
                </a:solidFill>
                <a:latin typeface="Times New Roman" panose="02020603050405020304" pitchFamily="18" charset="0"/>
                <a:ea typeface="宋体" panose="02010600030101010101" pitchFamily="2" charset="-122"/>
              </a:rPr>
              <a:t>B</a:t>
            </a:r>
            <a:r>
              <a:rPr lang="zh-CN" altLang="en-US" sz="2400">
                <a:solidFill>
                  <a:srgbClr val="000066"/>
                </a:solidFill>
                <a:latin typeface="Times New Roman" panose="02020603050405020304" pitchFamily="18" charset="0"/>
                <a:ea typeface="宋体" panose="02010600030101010101" pitchFamily="2" charset="-122"/>
              </a:rPr>
              <a:t>的标识符号和随机数</a:t>
            </a:r>
          </a:p>
        </p:txBody>
      </p:sp>
      <p:sp>
        <p:nvSpPr>
          <p:cNvPr id="1410057" name="Line 9">
            <a:extLst>
              <a:ext uri="{FF2B5EF4-FFF2-40B4-BE49-F238E27FC236}">
                <a16:creationId xmlns:a16="http://schemas.microsoft.com/office/drawing/2014/main" id="{D767F05B-E3D9-204B-B6F0-13C639DA0CEF}"/>
              </a:ext>
            </a:extLst>
          </p:cNvPr>
          <p:cNvSpPr>
            <a:spLocks noChangeShapeType="1"/>
          </p:cNvSpPr>
          <p:nvPr/>
        </p:nvSpPr>
        <p:spPr bwMode="auto">
          <a:xfrm flipH="1">
            <a:off x="2590800" y="29718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4697" name="Text Box 10">
            <a:extLst>
              <a:ext uri="{FF2B5EF4-FFF2-40B4-BE49-F238E27FC236}">
                <a16:creationId xmlns:a16="http://schemas.microsoft.com/office/drawing/2014/main" id="{0F4AFA62-70BB-E149-B33A-4D7617230BF7}"/>
              </a:ext>
            </a:extLst>
          </p:cNvPr>
          <p:cNvSpPr txBox="1">
            <a:spLocks noChangeArrowheads="1"/>
          </p:cNvSpPr>
          <p:nvPr/>
        </p:nvSpPr>
        <p:spPr bwMode="auto">
          <a:xfrm>
            <a:off x="3124200" y="3810000"/>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2</a:t>
            </a: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TokenAB</a:t>
            </a:r>
          </a:p>
        </p:txBody>
      </p:sp>
      <p:sp>
        <p:nvSpPr>
          <p:cNvPr id="114698" name="Text Box 11">
            <a:extLst>
              <a:ext uri="{FF2B5EF4-FFF2-40B4-BE49-F238E27FC236}">
                <a16:creationId xmlns:a16="http://schemas.microsoft.com/office/drawing/2014/main" id="{46E9C24D-62B4-FF40-930E-E53224AB0830}"/>
              </a:ext>
            </a:extLst>
          </p:cNvPr>
          <p:cNvSpPr txBox="1">
            <a:spLocks noChangeArrowheads="1"/>
          </p:cNvSpPr>
          <p:nvPr/>
        </p:nvSpPr>
        <p:spPr bwMode="auto">
          <a:xfrm>
            <a:off x="838200" y="44196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2</a:t>
            </a: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TokenAB=Text3||fK</a:t>
            </a:r>
            <a:r>
              <a:rPr lang="en-US" altLang="zh-CN" sz="2400" baseline="-25000">
                <a:solidFill>
                  <a:srgbClr val="000066"/>
                </a:solidFill>
                <a:latin typeface="Times New Roman" panose="02020603050405020304" pitchFamily="18" charset="0"/>
                <a:ea typeface="宋体" panose="02010600030101010101" pitchFamily="2" charset="-122"/>
              </a:rPr>
              <a:t>AB</a:t>
            </a:r>
            <a:r>
              <a:rPr lang="en-US" altLang="zh-CN" sz="2400">
                <a:solidFill>
                  <a:srgbClr val="000066"/>
                </a:solidFill>
                <a:latin typeface="Times New Roman" panose="02020603050405020304" pitchFamily="18" charset="0"/>
                <a:ea typeface="宋体" panose="02010600030101010101" pitchFamily="2" charset="-122"/>
              </a:rPr>
              <a:t>(R</a:t>
            </a:r>
            <a:r>
              <a:rPr lang="en-US" altLang="zh-CN" sz="2400" baseline="-25000">
                <a:solidFill>
                  <a:srgbClr val="000066"/>
                </a:solidFill>
                <a:latin typeface="Times New Roman" panose="02020603050405020304" pitchFamily="18" charset="0"/>
                <a:ea typeface="宋体" panose="02010600030101010101" pitchFamily="2" charset="-122"/>
              </a:rPr>
              <a:t>B</a:t>
            </a:r>
            <a:r>
              <a:rPr lang="en-US" altLang="zh-CN" sz="2400">
                <a:solidFill>
                  <a:srgbClr val="000066"/>
                </a:solidFill>
                <a:latin typeface="Times New Roman" panose="02020603050405020304" pitchFamily="18" charset="0"/>
                <a:ea typeface="宋体" panose="02010600030101010101" pitchFamily="2" charset="-122"/>
              </a:rPr>
              <a:t>||B||Text2) </a:t>
            </a:r>
          </a:p>
        </p:txBody>
      </p:sp>
      <p:sp>
        <p:nvSpPr>
          <p:cNvPr id="1410060" name="Rectangle 12">
            <a:extLst>
              <a:ext uri="{FF2B5EF4-FFF2-40B4-BE49-F238E27FC236}">
                <a16:creationId xmlns:a16="http://schemas.microsoft.com/office/drawing/2014/main" id="{A4944BB5-04C3-554D-8BA0-7B3D8C6BE6D2}"/>
              </a:ext>
            </a:extLst>
          </p:cNvPr>
          <p:cNvSpPr>
            <a:spLocks noGrp="1" noChangeArrowheads="1"/>
          </p:cNvSpPr>
          <p:nvPr>
            <p:ph type="body" idx="1"/>
          </p:nvPr>
        </p:nvSpPr>
        <p:spPr bwMode="auto">
          <a:xfrm>
            <a:off x="762000" y="1752600"/>
            <a:ext cx="7772400" cy="609600"/>
          </a:xfrm>
          <a:ln>
            <a:miter lim="800000"/>
            <a:headEnd/>
            <a:tailEnd/>
          </a:ln>
        </p:spPr>
        <p:txBody>
          <a:bodyPr vert="horz" wrap="square" lIns="91440" tIns="45720" rIns="91440" bIns="45720" numCol="1" anchor="t" anchorCtr="0" compatLnSpc="1">
            <a:prstTxWarp prst="textNoShape">
              <a:avLst/>
            </a:prstTxWarp>
          </a:bodyPr>
          <a:lstStyle/>
          <a:p>
            <a:pPr eaLnBrk="1" hangingPunct="1">
              <a:buClrTx/>
              <a:buFont typeface="Wingdings" pitchFamily="2" charset="2"/>
              <a:buChar char="u"/>
              <a:defRPr/>
            </a:pPr>
            <a:r>
              <a:rPr lang="zh-CN" altLang="en-US" sz="2800">
                <a:solidFill>
                  <a:schemeClr val="bg2"/>
                </a:solidFill>
                <a:ea typeface="宋体" panose="02010600030101010101" pitchFamily="2" charset="-122"/>
              </a:rPr>
              <a:t>两次传递机制</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1075" name="Rectangle 3">
            <a:extLst>
              <a:ext uri="{FF2B5EF4-FFF2-40B4-BE49-F238E27FC236}">
                <a16:creationId xmlns:a16="http://schemas.microsoft.com/office/drawing/2014/main" id="{2401B5B1-B1C4-604F-BAC9-6814DE608295}"/>
              </a:ext>
            </a:extLst>
          </p:cNvPr>
          <p:cNvSpPr>
            <a:spLocks noGrp="1" noChangeArrowheads="1"/>
          </p:cNvSpPr>
          <p:nvPr>
            <p:ph type="body" idx="1"/>
          </p:nvPr>
        </p:nvSpPr>
        <p:spPr bwMode="auto">
          <a:xfrm>
            <a:off x="457200" y="1447800"/>
            <a:ext cx="8229600" cy="4525963"/>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None/>
              <a:defRPr/>
            </a:pPr>
            <a:r>
              <a:rPr lang="zh-CN" altLang="en-US" dirty="0">
                <a:ea typeface="宋体" panose="02010600030101010101" pitchFamily="2" charset="-122"/>
              </a:rPr>
              <a:t> </a:t>
            </a:r>
          </a:p>
        </p:txBody>
      </p:sp>
      <p:sp>
        <p:nvSpPr>
          <p:cNvPr id="107523" name="Rectangle 4">
            <a:extLst>
              <a:ext uri="{FF2B5EF4-FFF2-40B4-BE49-F238E27FC236}">
                <a16:creationId xmlns:a16="http://schemas.microsoft.com/office/drawing/2014/main" id="{E70203AB-19F6-FD40-AAB4-43EE25964763}"/>
              </a:ext>
            </a:extLst>
          </p:cNvPr>
          <p:cNvSpPr>
            <a:spLocks noChangeArrowheads="1"/>
          </p:cNvSpPr>
          <p:nvPr/>
        </p:nvSpPr>
        <p:spPr bwMode="auto">
          <a:xfrm>
            <a:off x="457200" y="842963"/>
            <a:ext cx="7772400" cy="685800"/>
          </a:xfrm>
          <a:prstGeom prst="rect">
            <a:avLst/>
          </a:prstGeom>
          <a:solidFill>
            <a:srgbClr val="FFFFFF"/>
          </a:solidFill>
          <a:ln>
            <a:solidFill>
              <a:srgbClr val="FFFFFF"/>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20000"/>
              </a:spcBef>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采用密码校验函数的机制</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双向鉴别（</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
        <p:nvSpPr>
          <p:cNvPr id="115715" name="Text Box 5">
            <a:extLst>
              <a:ext uri="{FF2B5EF4-FFF2-40B4-BE49-F238E27FC236}">
                <a16:creationId xmlns:a16="http://schemas.microsoft.com/office/drawing/2014/main" id="{4C04BB19-9C26-794A-988A-C5CD105D3584}"/>
              </a:ext>
            </a:extLst>
          </p:cNvPr>
          <p:cNvSpPr txBox="1">
            <a:spLocks noChangeArrowheads="1"/>
          </p:cNvSpPr>
          <p:nvPr/>
        </p:nvSpPr>
        <p:spPr bwMode="auto">
          <a:xfrm>
            <a:off x="1676400" y="2438400"/>
            <a:ext cx="914400" cy="9906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115716" name="Text Box 6">
            <a:extLst>
              <a:ext uri="{FF2B5EF4-FFF2-40B4-BE49-F238E27FC236}">
                <a16:creationId xmlns:a16="http://schemas.microsoft.com/office/drawing/2014/main" id="{7CB895F0-B83F-5147-AE97-66F938A63643}"/>
              </a:ext>
            </a:extLst>
          </p:cNvPr>
          <p:cNvSpPr txBox="1">
            <a:spLocks noChangeArrowheads="1"/>
          </p:cNvSpPr>
          <p:nvPr/>
        </p:nvSpPr>
        <p:spPr bwMode="auto">
          <a:xfrm>
            <a:off x="5943600" y="2362200"/>
            <a:ext cx="914400" cy="1062038"/>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411079" name="Line 7">
            <a:extLst>
              <a:ext uri="{FF2B5EF4-FFF2-40B4-BE49-F238E27FC236}">
                <a16:creationId xmlns:a16="http://schemas.microsoft.com/office/drawing/2014/main" id="{16FA9365-8809-7747-AC99-C93B1D79DE7C}"/>
              </a:ext>
            </a:extLst>
          </p:cNvPr>
          <p:cNvSpPr>
            <a:spLocks noChangeShapeType="1"/>
          </p:cNvSpPr>
          <p:nvPr/>
        </p:nvSpPr>
        <p:spPr bwMode="auto">
          <a:xfrm flipH="1" flipV="1">
            <a:off x="2590800" y="3214688"/>
            <a:ext cx="3352800" cy="15875"/>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5718" name="Text Box 8">
            <a:extLst>
              <a:ext uri="{FF2B5EF4-FFF2-40B4-BE49-F238E27FC236}">
                <a16:creationId xmlns:a16="http://schemas.microsoft.com/office/drawing/2014/main" id="{3354A891-5627-9046-A7BA-4354DF6B6E6E}"/>
              </a:ext>
            </a:extLst>
          </p:cNvPr>
          <p:cNvSpPr txBox="1">
            <a:spLocks noChangeArrowheads="1"/>
          </p:cNvSpPr>
          <p:nvPr/>
        </p:nvSpPr>
        <p:spPr bwMode="auto">
          <a:xfrm>
            <a:off x="7086600" y="28956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rgbClr val="000066"/>
                </a:solidFill>
                <a:latin typeface="Times New Roman" panose="02020603050405020304" pitchFamily="18" charset="0"/>
                <a:ea typeface="宋体" panose="02010600030101010101" pitchFamily="2" charset="-122"/>
              </a:rPr>
              <a:t>(2)</a:t>
            </a:r>
          </a:p>
        </p:txBody>
      </p:sp>
      <p:sp>
        <p:nvSpPr>
          <p:cNvPr id="115719" name="Text Box 9">
            <a:extLst>
              <a:ext uri="{FF2B5EF4-FFF2-40B4-BE49-F238E27FC236}">
                <a16:creationId xmlns:a16="http://schemas.microsoft.com/office/drawing/2014/main" id="{1248C96A-D2F8-AE4E-8F7F-747556F8F789}"/>
              </a:ext>
            </a:extLst>
          </p:cNvPr>
          <p:cNvSpPr txBox="1">
            <a:spLocks noChangeArrowheads="1"/>
          </p:cNvSpPr>
          <p:nvPr/>
        </p:nvSpPr>
        <p:spPr bwMode="auto">
          <a:xfrm>
            <a:off x="762000" y="441960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2</a:t>
            </a: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B</a:t>
            </a:r>
            <a:r>
              <a:rPr lang="zh-CN" altLang="en-US" sz="2400">
                <a:solidFill>
                  <a:srgbClr val="000066"/>
                </a:solidFill>
                <a:latin typeface="Times New Roman" panose="02020603050405020304" pitchFamily="18" charset="0"/>
                <a:ea typeface="宋体" panose="02010600030101010101" pitchFamily="2" charset="-122"/>
              </a:rPr>
              <a:t>验证</a:t>
            </a:r>
            <a:r>
              <a:rPr lang="en-US" altLang="zh-CN" sz="2400">
                <a:solidFill>
                  <a:srgbClr val="000066"/>
                </a:solidFill>
                <a:latin typeface="Times New Roman" panose="02020603050405020304" pitchFamily="18" charset="0"/>
                <a:ea typeface="宋体" panose="02010600030101010101" pitchFamily="2" charset="-122"/>
              </a:rPr>
              <a:t>A</a:t>
            </a:r>
            <a:r>
              <a:rPr lang="zh-CN" altLang="en-US" sz="2400">
                <a:solidFill>
                  <a:srgbClr val="000066"/>
                </a:solidFill>
                <a:latin typeface="Times New Roman" panose="02020603050405020304" pitchFamily="18" charset="0"/>
                <a:ea typeface="宋体" panose="02010600030101010101" pitchFamily="2" charset="-122"/>
              </a:rPr>
              <a:t>的标识符号和时间标记</a:t>
            </a:r>
          </a:p>
        </p:txBody>
      </p:sp>
      <p:sp>
        <p:nvSpPr>
          <p:cNvPr id="1411082" name="Line 10">
            <a:extLst>
              <a:ext uri="{FF2B5EF4-FFF2-40B4-BE49-F238E27FC236}">
                <a16:creationId xmlns:a16="http://schemas.microsoft.com/office/drawing/2014/main" id="{C9F903B3-312F-584B-96DD-C8862CB11949}"/>
              </a:ext>
            </a:extLst>
          </p:cNvPr>
          <p:cNvSpPr>
            <a:spLocks noChangeShapeType="1"/>
          </p:cNvSpPr>
          <p:nvPr/>
        </p:nvSpPr>
        <p:spPr bwMode="auto">
          <a:xfrm flipH="1">
            <a:off x="2590800" y="2590800"/>
            <a:ext cx="3352800" cy="0"/>
          </a:xfrm>
          <a:prstGeom prst="line">
            <a:avLst/>
          </a:prstGeom>
          <a:noFill/>
          <a:ln w="38100">
            <a:solidFill>
              <a:schemeClr val="bg2"/>
            </a:solidFill>
            <a:round/>
            <a:headEnd type="triangle" w="med" len="med"/>
            <a:tailEn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5721" name="Text Box 11">
            <a:extLst>
              <a:ext uri="{FF2B5EF4-FFF2-40B4-BE49-F238E27FC236}">
                <a16:creationId xmlns:a16="http://schemas.microsoft.com/office/drawing/2014/main" id="{1C7941B7-E6A6-C741-930C-5DA9206C3CEA}"/>
              </a:ext>
            </a:extLst>
          </p:cNvPr>
          <p:cNvSpPr txBox="1">
            <a:spLocks noChangeArrowheads="1"/>
          </p:cNvSpPr>
          <p:nvPr/>
        </p:nvSpPr>
        <p:spPr bwMode="auto">
          <a:xfrm>
            <a:off x="2667000" y="2743200"/>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3</a:t>
            </a: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TokenBA</a:t>
            </a:r>
          </a:p>
        </p:txBody>
      </p:sp>
      <p:sp>
        <p:nvSpPr>
          <p:cNvPr id="108555" name="Rectangle 12">
            <a:extLst>
              <a:ext uri="{FF2B5EF4-FFF2-40B4-BE49-F238E27FC236}">
                <a16:creationId xmlns:a16="http://schemas.microsoft.com/office/drawing/2014/main" id="{AB786CEB-FC6B-E144-8C38-CDA76D15B91A}"/>
              </a:ext>
            </a:extLst>
          </p:cNvPr>
          <p:cNvSpPr>
            <a:spLocks noChangeArrowheads="1"/>
          </p:cNvSpPr>
          <p:nvPr/>
        </p:nvSpPr>
        <p:spPr bwMode="auto">
          <a:xfrm>
            <a:off x="685800" y="1524000"/>
            <a:ext cx="7772400" cy="563563"/>
          </a:xfrm>
          <a:prstGeom prst="rect">
            <a:avLst/>
          </a:prstGeom>
          <a:noFill/>
          <a:ln>
            <a:noFill/>
          </a:ln>
        </p:spPr>
        <p:txBody>
          <a:bodyPr/>
          <a:lstStyle>
            <a:lvl1pPr marL="571500" indent="-5715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SzPct val="75000"/>
              <a:buFont typeface="Wingdings" pitchFamily="2" charset="2"/>
              <a:buChar char="u"/>
              <a:defRPr/>
            </a:pPr>
            <a:r>
              <a:rPr lang="zh-CN" altLang="en-US" sz="28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两次传递机制</a:t>
            </a:r>
          </a:p>
        </p:txBody>
      </p:sp>
      <p:sp>
        <p:nvSpPr>
          <p:cNvPr id="115723" name="Text Box 13">
            <a:extLst>
              <a:ext uri="{FF2B5EF4-FFF2-40B4-BE49-F238E27FC236}">
                <a16:creationId xmlns:a16="http://schemas.microsoft.com/office/drawing/2014/main" id="{7555A11A-1A28-9749-886F-C28D509EB69C}"/>
              </a:ext>
            </a:extLst>
          </p:cNvPr>
          <p:cNvSpPr txBox="1">
            <a:spLocks noChangeArrowheads="1"/>
          </p:cNvSpPr>
          <p:nvPr/>
        </p:nvSpPr>
        <p:spPr bwMode="auto">
          <a:xfrm>
            <a:off x="2743200" y="2133600"/>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1</a:t>
            </a: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TokenAB</a:t>
            </a:r>
          </a:p>
        </p:txBody>
      </p:sp>
      <p:sp>
        <p:nvSpPr>
          <p:cNvPr id="115724" name="Text Box 14">
            <a:extLst>
              <a:ext uri="{FF2B5EF4-FFF2-40B4-BE49-F238E27FC236}">
                <a16:creationId xmlns:a16="http://schemas.microsoft.com/office/drawing/2014/main" id="{B97E0952-A4A1-9C4B-A665-6C00E30B4E8E}"/>
              </a:ext>
            </a:extLst>
          </p:cNvPr>
          <p:cNvSpPr txBox="1">
            <a:spLocks noChangeArrowheads="1"/>
          </p:cNvSpPr>
          <p:nvPr/>
        </p:nvSpPr>
        <p:spPr bwMode="auto">
          <a:xfrm>
            <a:off x="838200" y="3505200"/>
            <a:ext cx="68580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1</a:t>
            </a: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TokenAB=T</a:t>
            </a:r>
            <a:r>
              <a:rPr lang="en-US" altLang="zh-CN" sz="2400" baseline="-25000">
                <a:solidFill>
                  <a:srgbClr val="000066"/>
                </a:solidFill>
                <a:latin typeface="Times New Roman" panose="02020603050405020304" pitchFamily="18" charset="0"/>
                <a:ea typeface="宋体" panose="02010600030101010101" pitchFamily="2" charset="-122"/>
              </a:rPr>
              <a:t>A</a:t>
            </a:r>
            <a:r>
              <a:rPr lang="en-US" altLang="zh-CN" sz="2400">
                <a:solidFill>
                  <a:srgbClr val="000066"/>
                </a:solidFill>
                <a:latin typeface="Times New Roman" panose="02020603050405020304" pitchFamily="18" charset="0"/>
                <a:ea typeface="宋体" panose="02010600030101010101" pitchFamily="2" charset="-122"/>
              </a:rPr>
              <a:t>||B||Text2||fK</a:t>
            </a:r>
            <a:r>
              <a:rPr lang="en-US" altLang="zh-CN" sz="2400" baseline="-25000">
                <a:solidFill>
                  <a:srgbClr val="000066"/>
                </a:solidFill>
                <a:latin typeface="Times New Roman" panose="02020603050405020304" pitchFamily="18" charset="0"/>
                <a:ea typeface="宋体" panose="02010600030101010101" pitchFamily="2" charset="-122"/>
              </a:rPr>
              <a:t>AB</a:t>
            </a:r>
            <a:r>
              <a:rPr lang="en-US" altLang="zh-CN" sz="2400">
                <a:solidFill>
                  <a:srgbClr val="000066"/>
                </a:solidFill>
                <a:latin typeface="Times New Roman" panose="02020603050405020304" pitchFamily="18" charset="0"/>
                <a:ea typeface="宋体" panose="02010600030101010101" pitchFamily="2" charset="-122"/>
              </a:rPr>
              <a:t>(T</a:t>
            </a:r>
            <a:r>
              <a:rPr lang="en-US" altLang="zh-CN" sz="2400" baseline="-25000">
                <a:solidFill>
                  <a:srgbClr val="000066"/>
                </a:solidFill>
                <a:latin typeface="Times New Roman" panose="02020603050405020304" pitchFamily="18" charset="0"/>
                <a:ea typeface="宋体" panose="02010600030101010101" pitchFamily="2" charset="-122"/>
              </a:rPr>
              <a:t>A</a:t>
            </a:r>
            <a:r>
              <a:rPr lang="en-US" altLang="zh-CN" sz="2400">
                <a:solidFill>
                  <a:srgbClr val="000066"/>
                </a:solidFill>
                <a:latin typeface="Times New Roman" panose="02020603050405020304" pitchFamily="18" charset="0"/>
                <a:ea typeface="宋体" panose="02010600030101010101" pitchFamily="2" charset="-122"/>
              </a:rPr>
              <a:t>||B||Text1)</a:t>
            </a:r>
          </a:p>
          <a:p>
            <a:pPr eaLnBrk="1" hangingPunct="1">
              <a:spcBef>
                <a:spcPct val="50000"/>
              </a:spcBef>
            </a:pPr>
            <a:r>
              <a:rPr lang="en-US" altLang="zh-CN" sz="2400">
                <a:solidFill>
                  <a:srgbClr val="000066"/>
                </a:solidFill>
                <a:latin typeface="Times New Roman" panose="02020603050405020304" pitchFamily="18" charset="0"/>
                <a:ea typeface="宋体" panose="02010600030101010101" pitchFamily="2" charset="-122"/>
              </a:rPr>
              <a:t>                             N</a:t>
            </a:r>
            <a:r>
              <a:rPr lang="en-US" altLang="zh-CN" sz="2400" baseline="-25000">
                <a:solidFill>
                  <a:srgbClr val="000066"/>
                </a:solidFill>
                <a:latin typeface="Times New Roman" panose="02020603050405020304" pitchFamily="18" charset="0"/>
                <a:ea typeface="宋体" panose="02010600030101010101" pitchFamily="2" charset="-122"/>
              </a:rPr>
              <a:t>A</a:t>
            </a:r>
            <a:r>
              <a:rPr lang="en-US" altLang="zh-CN" sz="2400">
                <a:solidFill>
                  <a:srgbClr val="000066"/>
                </a:solidFill>
                <a:latin typeface="Times New Roman" panose="02020603050405020304" pitchFamily="18" charset="0"/>
                <a:ea typeface="宋体" panose="02010600030101010101" pitchFamily="2" charset="-122"/>
              </a:rPr>
              <a:t>                           N</a:t>
            </a:r>
            <a:r>
              <a:rPr lang="en-US" altLang="zh-CN" sz="2400" baseline="-25000">
                <a:solidFill>
                  <a:srgbClr val="000066"/>
                </a:solidFill>
                <a:latin typeface="Times New Roman" panose="02020603050405020304" pitchFamily="18" charset="0"/>
                <a:ea typeface="宋体" panose="02010600030101010101" pitchFamily="2" charset="-122"/>
              </a:rPr>
              <a:t>A</a:t>
            </a:r>
            <a:r>
              <a:rPr lang="en-US" altLang="zh-CN" sz="2400">
                <a:solidFill>
                  <a:srgbClr val="000066"/>
                </a:solidFill>
                <a:latin typeface="Times New Roman" panose="02020603050405020304" pitchFamily="18" charset="0"/>
                <a:ea typeface="宋体" panose="02010600030101010101" pitchFamily="2" charset="-122"/>
              </a:rPr>
              <a:t>    </a:t>
            </a:r>
          </a:p>
        </p:txBody>
      </p:sp>
      <p:sp>
        <p:nvSpPr>
          <p:cNvPr id="115725" name="Text Box 15">
            <a:extLst>
              <a:ext uri="{FF2B5EF4-FFF2-40B4-BE49-F238E27FC236}">
                <a16:creationId xmlns:a16="http://schemas.microsoft.com/office/drawing/2014/main" id="{A7A1313B-5A70-9047-B257-E76F07012904}"/>
              </a:ext>
            </a:extLst>
          </p:cNvPr>
          <p:cNvSpPr txBox="1">
            <a:spLocks noChangeArrowheads="1"/>
          </p:cNvSpPr>
          <p:nvPr/>
        </p:nvSpPr>
        <p:spPr bwMode="auto">
          <a:xfrm>
            <a:off x="762000" y="27432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rgbClr val="000066"/>
                </a:solidFill>
                <a:latin typeface="Times New Roman" panose="02020603050405020304" pitchFamily="18" charset="0"/>
                <a:ea typeface="宋体" panose="02010600030101010101" pitchFamily="2" charset="-122"/>
              </a:rPr>
              <a:t>(4)</a:t>
            </a:r>
          </a:p>
        </p:txBody>
      </p:sp>
      <p:sp>
        <p:nvSpPr>
          <p:cNvPr id="115726" name="Text Box 16">
            <a:extLst>
              <a:ext uri="{FF2B5EF4-FFF2-40B4-BE49-F238E27FC236}">
                <a16:creationId xmlns:a16="http://schemas.microsoft.com/office/drawing/2014/main" id="{380902DE-B56A-0240-822D-AB914EE76269}"/>
              </a:ext>
            </a:extLst>
          </p:cNvPr>
          <p:cNvSpPr txBox="1">
            <a:spLocks noChangeArrowheads="1"/>
          </p:cNvSpPr>
          <p:nvPr/>
        </p:nvSpPr>
        <p:spPr bwMode="auto">
          <a:xfrm>
            <a:off x="762000" y="4800600"/>
            <a:ext cx="68580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3</a:t>
            </a: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TokenBA=T</a:t>
            </a:r>
            <a:r>
              <a:rPr lang="en-US" altLang="zh-CN" sz="2400" baseline="-25000">
                <a:solidFill>
                  <a:srgbClr val="000066"/>
                </a:solidFill>
                <a:latin typeface="Times New Roman" panose="02020603050405020304" pitchFamily="18" charset="0"/>
                <a:ea typeface="宋体" panose="02010600030101010101" pitchFamily="2" charset="-122"/>
              </a:rPr>
              <a:t>B</a:t>
            </a:r>
            <a:r>
              <a:rPr lang="en-US" altLang="zh-CN" sz="2400">
                <a:solidFill>
                  <a:srgbClr val="000066"/>
                </a:solidFill>
                <a:latin typeface="Times New Roman" panose="02020603050405020304" pitchFamily="18" charset="0"/>
                <a:ea typeface="宋体" panose="02010600030101010101" pitchFamily="2" charset="-122"/>
              </a:rPr>
              <a:t>||A||Text4||</a:t>
            </a:r>
            <a:r>
              <a:rPr lang="en-US" altLang="zh-CN" sz="2400" baseline="-25000">
                <a:solidFill>
                  <a:srgbClr val="000066"/>
                </a:solidFill>
                <a:latin typeface="Times New Roman" panose="02020603050405020304" pitchFamily="18" charset="0"/>
                <a:ea typeface="宋体" panose="02010600030101010101" pitchFamily="2" charset="-122"/>
              </a:rPr>
              <a:t>S</a:t>
            </a:r>
            <a:r>
              <a:rPr lang="en-US" altLang="zh-CN" sz="2400">
                <a:solidFill>
                  <a:srgbClr val="000066"/>
                </a:solidFill>
                <a:latin typeface="Times New Roman" panose="02020603050405020304" pitchFamily="18" charset="0"/>
                <a:ea typeface="宋体" panose="02010600030101010101" pitchFamily="2" charset="-122"/>
              </a:rPr>
              <a:t>S</a:t>
            </a:r>
            <a:r>
              <a:rPr lang="en-US" altLang="zh-CN" sz="2400" baseline="-25000">
                <a:solidFill>
                  <a:srgbClr val="000066"/>
                </a:solidFill>
                <a:latin typeface="Times New Roman" panose="02020603050405020304" pitchFamily="18" charset="0"/>
                <a:ea typeface="宋体" panose="02010600030101010101" pitchFamily="2" charset="-122"/>
              </a:rPr>
              <a:t>B</a:t>
            </a:r>
            <a:r>
              <a:rPr lang="en-US" altLang="zh-CN" sz="2400">
                <a:solidFill>
                  <a:srgbClr val="000066"/>
                </a:solidFill>
                <a:latin typeface="Times New Roman" panose="02020603050405020304" pitchFamily="18" charset="0"/>
                <a:ea typeface="宋体" panose="02010600030101010101" pitchFamily="2" charset="-122"/>
              </a:rPr>
              <a:t>(T</a:t>
            </a:r>
            <a:r>
              <a:rPr lang="en-US" altLang="zh-CN" sz="2400" baseline="-25000">
                <a:solidFill>
                  <a:srgbClr val="000066"/>
                </a:solidFill>
                <a:latin typeface="Times New Roman" panose="02020603050405020304" pitchFamily="18" charset="0"/>
                <a:ea typeface="宋体" panose="02010600030101010101" pitchFamily="2" charset="-122"/>
              </a:rPr>
              <a:t>B</a:t>
            </a:r>
            <a:r>
              <a:rPr lang="en-US" altLang="zh-CN" sz="2400">
                <a:solidFill>
                  <a:srgbClr val="000066"/>
                </a:solidFill>
                <a:latin typeface="Times New Roman" panose="02020603050405020304" pitchFamily="18" charset="0"/>
                <a:ea typeface="宋体" panose="02010600030101010101" pitchFamily="2" charset="-122"/>
              </a:rPr>
              <a:t>||A||Text3)</a:t>
            </a:r>
          </a:p>
          <a:p>
            <a:pPr eaLnBrk="1" hangingPunct="1">
              <a:spcBef>
                <a:spcPct val="50000"/>
              </a:spcBef>
            </a:pPr>
            <a:r>
              <a:rPr lang="en-US" altLang="zh-CN" sz="2400">
                <a:solidFill>
                  <a:srgbClr val="000066"/>
                </a:solidFill>
                <a:latin typeface="Times New Roman" panose="02020603050405020304" pitchFamily="18" charset="0"/>
                <a:ea typeface="宋体" panose="02010600030101010101" pitchFamily="2" charset="-122"/>
              </a:rPr>
              <a:t>                             N</a:t>
            </a:r>
            <a:r>
              <a:rPr lang="en-US" altLang="zh-CN" sz="2400" baseline="-25000">
                <a:solidFill>
                  <a:srgbClr val="000066"/>
                </a:solidFill>
                <a:latin typeface="Times New Roman" panose="02020603050405020304" pitchFamily="18" charset="0"/>
                <a:ea typeface="宋体" panose="02010600030101010101" pitchFamily="2" charset="-122"/>
              </a:rPr>
              <a:t>B</a:t>
            </a:r>
            <a:r>
              <a:rPr lang="en-US" altLang="zh-CN" sz="2400">
                <a:solidFill>
                  <a:srgbClr val="000066"/>
                </a:solidFill>
                <a:latin typeface="Times New Roman" panose="02020603050405020304" pitchFamily="18" charset="0"/>
                <a:ea typeface="宋体" panose="02010600030101010101" pitchFamily="2" charset="-122"/>
              </a:rPr>
              <a:t>                         N</a:t>
            </a:r>
            <a:r>
              <a:rPr lang="en-US" altLang="zh-CN" sz="2400" baseline="-25000">
                <a:solidFill>
                  <a:srgbClr val="000066"/>
                </a:solidFill>
                <a:latin typeface="Times New Roman" panose="02020603050405020304" pitchFamily="18" charset="0"/>
                <a:ea typeface="宋体" panose="02010600030101010101" pitchFamily="2" charset="-122"/>
              </a:rPr>
              <a:t>B</a:t>
            </a:r>
            <a:r>
              <a:rPr lang="en-US" altLang="zh-CN" sz="2400">
                <a:solidFill>
                  <a:srgbClr val="000066"/>
                </a:solidFill>
                <a:latin typeface="Times New Roman" panose="02020603050405020304" pitchFamily="18" charset="0"/>
                <a:ea typeface="宋体" panose="02010600030101010101" pitchFamily="2" charset="-122"/>
              </a:rPr>
              <a:t>    </a:t>
            </a:r>
          </a:p>
        </p:txBody>
      </p:sp>
      <p:sp>
        <p:nvSpPr>
          <p:cNvPr id="115727" name="Text Box 17">
            <a:extLst>
              <a:ext uri="{FF2B5EF4-FFF2-40B4-BE49-F238E27FC236}">
                <a16:creationId xmlns:a16="http://schemas.microsoft.com/office/drawing/2014/main" id="{FCAFEFFE-A733-114B-8DDC-9EE66E02790D}"/>
              </a:ext>
            </a:extLst>
          </p:cNvPr>
          <p:cNvSpPr txBox="1">
            <a:spLocks noChangeArrowheads="1"/>
          </p:cNvSpPr>
          <p:nvPr/>
        </p:nvSpPr>
        <p:spPr bwMode="auto">
          <a:xfrm>
            <a:off x="762000" y="579120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4</a:t>
            </a:r>
            <a:r>
              <a:rPr lang="zh-CN" altLang="en-US" sz="2400">
                <a:solidFill>
                  <a:srgbClr val="000066"/>
                </a:solidFill>
                <a:latin typeface="Times New Roman" panose="02020603050405020304" pitchFamily="18" charset="0"/>
                <a:ea typeface="宋体" panose="02010600030101010101" pitchFamily="2" charset="-122"/>
              </a:rPr>
              <a:t>）</a:t>
            </a:r>
            <a:r>
              <a:rPr lang="en-US" altLang="zh-CN" sz="2400">
                <a:solidFill>
                  <a:srgbClr val="000066"/>
                </a:solidFill>
                <a:latin typeface="Times New Roman" panose="02020603050405020304" pitchFamily="18" charset="0"/>
                <a:ea typeface="宋体" panose="02010600030101010101" pitchFamily="2" charset="-122"/>
              </a:rPr>
              <a:t>A</a:t>
            </a:r>
            <a:r>
              <a:rPr lang="zh-CN" altLang="en-US" sz="2400">
                <a:solidFill>
                  <a:srgbClr val="000066"/>
                </a:solidFill>
                <a:latin typeface="Times New Roman" panose="02020603050405020304" pitchFamily="18" charset="0"/>
                <a:ea typeface="宋体" panose="02010600030101010101" pitchFamily="2" charset="-122"/>
              </a:rPr>
              <a:t>验证</a:t>
            </a:r>
            <a:r>
              <a:rPr lang="en-US" altLang="zh-CN" sz="2400">
                <a:solidFill>
                  <a:srgbClr val="000066"/>
                </a:solidFill>
                <a:latin typeface="Times New Roman" panose="02020603050405020304" pitchFamily="18" charset="0"/>
                <a:ea typeface="宋体" panose="02010600030101010101" pitchFamily="2" charset="-122"/>
              </a:rPr>
              <a:t>B</a:t>
            </a:r>
            <a:r>
              <a:rPr lang="zh-CN" altLang="en-US" sz="2400">
                <a:solidFill>
                  <a:srgbClr val="000066"/>
                </a:solidFill>
                <a:latin typeface="Times New Roman" panose="02020603050405020304" pitchFamily="18" charset="0"/>
                <a:ea typeface="宋体" panose="02010600030101010101" pitchFamily="2" charset="-122"/>
              </a:rPr>
              <a:t>的标识符号和时间标记</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2099" name="Rectangle 3">
            <a:extLst>
              <a:ext uri="{FF2B5EF4-FFF2-40B4-BE49-F238E27FC236}">
                <a16:creationId xmlns:a16="http://schemas.microsoft.com/office/drawing/2014/main" id="{5E149BAB-2276-A743-A493-60A39308E6E8}"/>
              </a:ext>
            </a:extLst>
          </p:cNvPr>
          <p:cNvSpPr>
            <a:spLocks noGrp="1" noChangeArrowheads="1"/>
          </p:cNvSpPr>
          <p:nvPr>
            <p:ph type="body" idx="1"/>
          </p:nvPr>
        </p:nvSpPr>
        <p:spPr bwMode="auto">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None/>
              <a:defRPr/>
            </a:pPr>
            <a:r>
              <a:rPr lang="zh-CN" altLang="en-US" dirty="0">
                <a:solidFill>
                  <a:srgbClr val="000000"/>
                </a:solidFill>
                <a:ea typeface="宋体" panose="02010600030101010101" pitchFamily="2" charset="-122"/>
              </a:rPr>
              <a:t> </a:t>
            </a:r>
          </a:p>
        </p:txBody>
      </p:sp>
      <p:sp>
        <p:nvSpPr>
          <p:cNvPr id="108547" name="Rectangle 4">
            <a:extLst>
              <a:ext uri="{FF2B5EF4-FFF2-40B4-BE49-F238E27FC236}">
                <a16:creationId xmlns:a16="http://schemas.microsoft.com/office/drawing/2014/main" id="{151642CA-87C2-054F-94B7-681C3AD5A148}"/>
              </a:ext>
            </a:extLst>
          </p:cNvPr>
          <p:cNvSpPr>
            <a:spLocks noChangeArrowheads="1"/>
          </p:cNvSpPr>
          <p:nvPr/>
        </p:nvSpPr>
        <p:spPr bwMode="auto">
          <a:xfrm>
            <a:off x="685800" y="533400"/>
            <a:ext cx="7772400" cy="1143000"/>
          </a:xfrm>
          <a:prstGeom prst="rect">
            <a:avLst/>
          </a:prstGeom>
          <a:noFill/>
          <a:ln>
            <a:noFill/>
          </a:ln>
        </p:spPr>
        <p:txBody>
          <a:bodyPr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defRPr/>
            </a:pP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采用密码校验函数的机制</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双向鉴别（</a:t>
            </a:r>
            <a:r>
              <a:rPr lang="en-US" altLang="zh-CN" sz="3200">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3200">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
        <p:nvSpPr>
          <p:cNvPr id="116739" name="Rectangle 5">
            <a:extLst>
              <a:ext uri="{FF2B5EF4-FFF2-40B4-BE49-F238E27FC236}">
                <a16:creationId xmlns:a16="http://schemas.microsoft.com/office/drawing/2014/main" id="{0F5063F3-3E20-F941-9A15-AF0BBCB9567F}"/>
              </a:ext>
            </a:extLst>
          </p:cNvPr>
          <p:cNvSpPr>
            <a:spLocks noChangeArrowheads="1"/>
          </p:cNvSpPr>
          <p:nvPr/>
        </p:nvSpPr>
        <p:spPr bwMode="auto">
          <a:xfrm>
            <a:off x="685800" y="16764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20000"/>
              </a:spcBef>
            </a:pPr>
            <a:r>
              <a:rPr lang="zh-CN" altLang="en-US" sz="3200">
                <a:solidFill>
                  <a:srgbClr val="000066"/>
                </a:solidFill>
                <a:latin typeface="Times New Roman" panose="02020603050405020304" pitchFamily="18" charset="0"/>
                <a:ea typeface="宋体" panose="02010600030101010101" pitchFamily="2" charset="-122"/>
              </a:rPr>
              <a:t> </a:t>
            </a:r>
          </a:p>
        </p:txBody>
      </p:sp>
      <p:sp>
        <p:nvSpPr>
          <p:cNvPr id="109573" name="Rectangle 6">
            <a:extLst>
              <a:ext uri="{FF2B5EF4-FFF2-40B4-BE49-F238E27FC236}">
                <a16:creationId xmlns:a16="http://schemas.microsoft.com/office/drawing/2014/main" id="{24C8A012-D680-C642-9446-E336E80AB85D}"/>
              </a:ext>
            </a:extLst>
          </p:cNvPr>
          <p:cNvSpPr>
            <a:spLocks noChangeArrowheads="1"/>
          </p:cNvSpPr>
          <p:nvPr/>
        </p:nvSpPr>
        <p:spPr bwMode="auto">
          <a:xfrm>
            <a:off x="685800" y="1676400"/>
            <a:ext cx="7772400" cy="533400"/>
          </a:xfrm>
          <a:prstGeom prst="rect">
            <a:avLst/>
          </a:prstGeom>
          <a:noFill/>
          <a:ln>
            <a:noFill/>
          </a:ln>
        </p:spPr>
        <p:txBody>
          <a:bodyPr/>
          <a:lstStyle>
            <a:lvl1pPr marL="571500" indent="-5715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SzPct val="75000"/>
              <a:buFont typeface="Wingdings" pitchFamily="2" charset="2"/>
              <a:buChar char="u"/>
              <a:defRPr/>
            </a:pPr>
            <a:r>
              <a:rPr lang="zh-CN" altLang="en-US" sz="28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三次传递机制</a:t>
            </a:r>
          </a:p>
        </p:txBody>
      </p:sp>
      <p:sp>
        <p:nvSpPr>
          <p:cNvPr id="116741" name="Text Box 7">
            <a:extLst>
              <a:ext uri="{FF2B5EF4-FFF2-40B4-BE49-F238E27FC236}">
                <a16:creationId xmlns:a16="http://schemas.microsoft.com/office/drawing/2014/main" id="{A83D6F4F-0DD7-DE46-BA71-C170BDA67B51}"/>
              </a:ext>
            </a:extLst>
          </p:cNvPr>
          <p:cNvSpPr txBox="1">
            <a:spLocks noChangeArrowheads="1"/>
          </p:cNvSpPr>
          <p:nvPr/>
        </p:nvSpPr>
        <p:spPr bwMode="auto">
          <a:xfrm>
            <a:off x="1676400" y="2590800"/>
            <a:ext cx="914400" cy="990600"/>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a:t>
            </a:r>
          </a:p>
        </p:txBody>
      </p:sp>
      <p:sp>
        <p:nvSpPr>
          <p:cNvPr id="116742" name="Text Box 8">
            <a:extLst>
              <a:ext uri="{FF2B5EF4-FFF2-40B4-BE49-F238E27FC236}">
                <a16:creationId xmlns:a16="http://schemas.microsoft.com/office/drawing/2014/main" id="{57479A1E-47F4-3242-A33E-87655F850411}"/>
              </a:ext>
            </a:extLst>
          </p:cNvPr>
          <p:cNvSpPr txBox="1">
            <a:spLocks noChangeArrowheads="1"/>
          </p:cNvSpPr>
          <p:nvPr/>
        </p:nvSpPr>
        <p:spPr bwMode="auto">
          <a:xfrm>
            <a:off x="5943600" y="2514600"/>
            <a:ext cx="914400" cy="1062038"/>
          </a:xfrm>
          <a:prstGeom prst="rect">
            <a:avLst/>
          </a:prstGeom>
          <a:solidFill>
            <a:srgbClr val="00FFFF"/>
          </a:solidFill>
          <a:ln w="9525">
            <a:solidFill>
              <a:schemeClr val="bg2"/>
            </a:solidFill>
            <a:miter lim="800000"/>
            <a:headEnd/>
            <a:tailEnd/>
          </a:ln>
        </p:spPr>
        <p:txBody>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B</a:t>
            </a:r>
          </a:p>
        </p:txBody>
      </p:sp>
      <p:sp>
        <p:nvSpPr>
          <p:cNvPr id="1412105" name="Line 9">
            <a:extLst>
              <a:ext uri="{FF2B5EF4-FFF2-40B4-BE49-F238E27FC236}">
                <a16:creationId xmlns:a16="http://schemas.microsoft.com/office/drawing/2014/main" id="{9DB4F79C-7689-FE45-92DC-B2D850373EEC}"/>
              </a:ext>
            </a:extLst>
          </p:cNvPr>
          <p:cNvSpPr>
            <a:spLocks noChangeShapeType="1"/>
          </p:cNvSpPr>
          <p:nvPr/>
        </p:nvSpPr>
        <p:spPr bwMode="auto">
          <a:xfrm>
            <a:off x="2590800" y="32004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6744" name="Text Box 10">
            <a:extLst>
              <a:ext uri="{FF2B5EF4-FFF2-40B4-BE49-F238E27FC236}">
                <a16:creationId xmlns:a16="http://schemas.microsoft.com/office/drawing/2014/main" id="{B94CB3FE-D89E-6041-8B95-E2AE684A31A6}"/>
              </a:ext>
            </a:extLst>
          </p:cNvPr>
          <p:cNvSpPr txBox="1">
            <a:spLocks noChangeArrowheads="1"/>
          </p:cNvSpPr>
          <p:nvPr/>
        </p:nvSpPr>
        <p:spPr bwMode="auto">
          <a:xfrm>
            <a:off x="3200400" y="22098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1</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RB||Text1</a:t>
            </a:r>
          </a:p>
        </p:txBody>
      </p:sp>
      <p:sp>
        <p:nvSpPr>
          <p:cNvPr id="116745" name="Text Box 11">
            <a:extLst>
              <a:ext uri="{FF2B5EF4-FFF2-40B4-BE49-F238E27FC236}">
                <a16:creationId xmlns:a16="http://schemas.microsoft.com/office/drawing/2014/main" id="{7B448256-313C-F543-A817-44E08DC13B23}"/>
              </a:ext>
            </a:extLst>
          </p:cNvPr>
          <p:cNvSpPr txBox="1">
            <a:spLocks noChangeArrowheads="1"/>
          </p:cNvSpPr>
          <p:nvPr/>
        </p:nvSpPr>
        <p:spPr bwMode="auto">
          <a:xfrm>
            <a:off x="7010400" y="28194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rgbClr val="000000"/>
                </a:solidFill>
                <a:latin typeface="Times New Roman" panose="02020603050405020304" pitchFamily="18" charset="0"/>
                <a:ea typeface="宋体" panose="02010600030101010101" pitchFamily="2" charset="-122"/>
              </a:rPr>
              <a:t>(3)</a:t>
            </a:r>
          </a:p>
        </p:txBody>
      </p:sp>
      <p:sp>
        <p:nvSpPr>
          <p:cNvPr id="116746" name="Text Box 12">
            <a:extLst>
              <a:ext uri="{FF2B5EF4-FFF2-40B4-BE49-F238E27FC236}">
                <a16:creationId xmlns:a16="http://schemas.microsoft.com/office/drawing/2014/main" id="{871B6AA0-DB07-C142-883A-83F59E50AD03}"/>
              </a:ext>
            </a:extLst>
          </p:cNvPr>
          <p:cNvSpPr txBox="1">
            <a:spLocks noChangeArrowheads="1"/>
          </p:cNvSpPr>
          <p:nvPr/>
        </p:nvSpPr>
        <p:spPr bwMode="auto">
          <a:xfrm>
            <a:off x="381000" y="4648200"/>
            <a:ext cx="67056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3</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验证</a:t>
            </a:r>
            <a:r>
              <a:rPr lang="en-US" altLang="zh-CN" sz="2400">
                <a:solidFill>
                  <a:schemeClr val="bg2"/>
                </a:solidFill>
                <a:latin typeface="Times New Roman" panose="02020603050405020304" pitchFamily="18" charset="0"/>
                <a:ea typeface="宋体" panose="02010600030101010101" pitchFamily="2" charset="-122"/>
              </a:rPr>
              <a:t>B</a:t>
            </a:r>
            <a:r>
              <a:rPr lang="zh-CN" altLang="en-US" sz="2400">
                <a:solidFill>
                  <a:schemeClr val="bg2"/>
                </a:solidFill>
                <a:latin typeface="Times New Roman" panose="02020603050405020304" pitchFamily="18" charset="0"/>
                <a:ea typeface="宋体" panose="02010600030101010101" pitchFamily="2" charset="-122"/>
              </a:rPr>
              <a:t>的标识符号和随机数</a:t>
            </a:r>
          </a:p>
          <a:p>
            <a:pPr eaLnBrk="1" hangingPunct="1">
              <a:spcBef>
                <a:spcPct val="50000"/>
              </a:spcBef>
            </a:pPr>
            <a:endParaRPr lang="zh-CN" altLang="en-US" sz="2400">
              <a:solidFill>
                <a:schemeClr val="bg2"/>
              </a:solidFill>
              <a:latin typeface="Times New Roman" panose="02020603050405020304" pitchFamily="18" charset="0"/>
              <a:ea typeface="宋体" panose="02010600030101010101" pitchFamily="2" charset="-122"/>
            </a:endParaRPr>
          </a:p>
        </p:txBody>
      </p:sp>
      <p:sp>
        <p:nvSpPr>
          <p:cNvPr id="1412109" name="Line 13">
            <a:extLst>
              <a:ext uri="{FF2B5EF4-FFF2-40B4-BE49-F238E27FC236}">
                <a16:creationId xmlns:a16="http://schemas.microsoft.com/office/drawing/2014/main" id="{16989A55-F431-A044-866D-1CA48B7C876E}"/>
              </a:ext>
            </a:extLst>
          </p:cNvPr>
          <p:cNvSpPr>
            <a:spLocks noChangeShapeType="1"/>
          </p:cNvSpPr>
          <p:nvPr/>
        </p:nvSpPr>
        <p:spPr bwMode="auto">
          <a:xfrm flipH="1">
            <a:off x="2590800" y="27432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6748" name="Text Box 14">
            <a:extLst>
              <a:ext uri="{FF2B5EF4-FFF2-40B4-BE49-F238E27FC236}">
                <a16:creationId xmlns:a16="http://schemas.microsoft.com/office/drawing/2014/main" id="{91F6C742-2607-8946-87F5-D6E89CE1571C}"/>
              </a:ext>
            </a:extLst>
          </p:cNvPr>
          <p:cNvSpPr txBox="1">
            <a:spLocks noChangeArrowheads="1"/>
          </p:cNvSpPr>
          <p:nvPr/>
        </p:nvSpPr>
        <p:spPr bwMode="auto">
          <a:xfrm>
            <a:off x="3124200" y="2743200"/>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a:t>
            </a:r>
          </a:p>
        </p:txBody>
      </p:sp>
      <p:sp>
        <p:nvSpPr>
          <p:cNvPr id="116749" name="Text Box 15">
            <a:extLst>
              <a:ext uri="{FF2B5EF4-FFF2-40B4-BE49-F238E27FC236}">
                <a16:creationId xmlns:a16="http://schemas.microsoft.com/office/drawing/2014/main" id="{CC91BEAB-D798-0247-8D71-55D78A23BE19}"/>
              </a:ext>
            </a:extLst>
          </p:cNvPr>
          <p:cNvSpPr txBox="1">
            <a:spLocks noChangeArrowheads="1"/>
          </p:cNvSpPr>
          <p:nvPr/>
        </p:nvSpPr>
        <p:spPr bwMode="auto">
          <a:xfrm>
            <a:off x="381000" y="41148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2</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TokenAB=R</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||Text3||fK</a:t>
            </a:r>
            <a:r>
              <a:rPr lang="en-US" altLang="zh-CN" sz="2400" baseline="-25000">
                <a:solidFill>
                  <a:schemeClr val="bg2"/>
                </a:solidFill>
                <a:latin typeface="Times New Roman" panose="02020603050405020304" pitchFamily="18" charset="0"/>
                <a:ea typeface="宋体" panose="02010600030101010101" pitchFamily="2" charset="-122"/>
              </a:rPr>
              <a:t>AB</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A</a:t>
            </a:r>
            <a:r>
              <a:rPr lang="en-US" altLang="zh-CN" sz="2400">
                <a:solidFill>
                  <a:schemeClr val="bg2"/>
                </a:solidFill>
                <a:latin typeface="Times New Roman" panose="02020603050405020304" pitchFamily="18" charset="0"/>
                <a:ea typeface="宋体" panose="02010600030101010101" pitchFamily="2" charset="-122"/>
              </a:rPr>
              <a:t>||R</a:t>
            </a:r>
            <a:r>
              <a:rPr lang="en-US" altLang="zh-CN" sz="2400" baseline="-25000">
                <a:solidFill>
                  <a:schemeClr val="bg2"/>
                </a:solidFill>
                <a:latin typeface="Times New Roman" panose="02020603050405020304" pitchFamily="18" charset="0"/>
                <a:ea typeface="宋体" panose="02010600030101010101" pitchFamily="2" charset="-122"/>
              </a:rPr>
              <a:t>B</a:t>
            </a:r>
            <a:r>
              <a:rPr lang="en-US" altLang="zh-CN" sz="2400">
                <a:solidFill>
                  <a:schemeClr val="bg2"/>
                </a:solidFill>
                <a:latin typeface="Times New Roman" panose="02020603050405020304" pitchFamily="18" charset="0"/>
                <a:ea typeface="宋体" panose="02010600030101010101" pitchFamily="2" charset="-122"/>
              </a:rPr>
              <a:t>||B||Text2) </a:t>
            </a:r>
          </a:p>
        </p:txBody>
      </p:sp>
      <p:sp>
        <p:nvSpPr>
          <p:cNvPr id="1412112" name="Line 16">
            <a:extLst>
              <a:ext uri="{FF2B5EF4-FFF2-40B4-BE49-F238E27FC236}">
                <a16:creationId xmlns:a16="http://schemas.microsoft.com/office/drawing/2014/main" id="{04E79741-19E1-5C4C-A3A1-1E8B96554A3E}"/>
              </a:ext>
            </a:extLst>
          </p:cNvPr>
          <p:cNvSpPr>
            <a:spLocks noChangeShapeType="1"/>
          </p:cNvSpPr>
          <p:nvPr/>
        </p:nvSpPr>
        <p:spPr bwMode="auto">
          <a:xfrm flipH="1">
            <a:off x="2590800" y="3505200"/>
            <a:ext cx="3352800" cy="0"/>
          </a:xfrm>
          <a:prstGeom prst="line">
            <a:avLst/>
          </a:prstGeom>
          <a:noFill/>
          <a:ln w="38100">
            <a:solidFill>
              <a:schemeClr val="bg2"/>
            </a:solidFill>
            <a:round/>
            <a:headEnd/>
            <a:tailEnd type="triangl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6751" name="Text Box 17">
            <a:extLst>
              <a:ext uri="{FF2B5EF4-FFF2-40B4-BE49-F238E27FC236}">
                <a16:creationId xmlns:a16="http://schemas.microsoft.com/office/drawing/2014/main" id="{54A9EE51-3216-AF41-BC96-26EDFAADC275}"/>
              </a:ext>
            </a:extLst>
          </p:cNvPr>
          <p:cNvSpPr txBox="1">
            <a:spLocks noChangeArrowheads="1"/>
          </p:cNvSpPr>
          <p:nvPr/>
        </p:nvSpPr>
        <p:spPr bwMode="auto">
          <a:xfrm>
            <a:off x="3124200" y="3581400"/>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4</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TokenBA</a:t>
            </a:r>
          </a:p>
        </p:txBody>
      </p:sp>
      <p:sp>
        <p:nvSpPr>
          <p:cNvPr id="116752" name="Text Box 18">
            <a:extLst>
              <a:ext uri="{FF2B5EF4-FFF2-40B4-BE49-F238E27FC236}">
                <a16:creationId xmlns:a16="http://schemas.microsoft.com/office/drawing/2014/main" id="{4A9669C8-2596-9548-A259-D512EE1DA732}"/>
              </a:ext>
            </a:extLst>
          </p:cNvPr>
          <p:cNvSpPr txBox="1">
            <a:spLocks noChangeArrowheads="1"/>
          </p:cNvSpPr>
          <p:nvPr/>
        </p:nvSpPr>
        <p:spPr bwMode="auto">
          <a:xfrm>
            <a:off x="381000" y="51054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4</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TokenBA=Text5|| fKAB(RB||RA||Text2) </a:t>
            </a:r>
          </a:p>
        </p:txBody>
      </p:sp>
      <p:sp>
        <p:nvSpPr>
          <p:cNvPr id="116753" name="Text Box 19">
            <a:extLst>
              <a:ext uri="{FF2B5EF4-FFF2-40B4-BE49-F238E27FC236}">
                <a16:creationId xmlns:a16="http://schemas.microsoft.com/office/drawing/2014/main" id="{AB6784A1-5B55-C04E-AE0F-F25B7754CC1D}"/>
              </a:ext>
            </a:extLst>
          </p:cNvPr>
          <p:cNvSpPr txBox="1">
            <a:spLocks noChangeArrowheads="1"/>
          </p:cNvSpPr>
          <p:nvPr/>
        </p:nvSpPr>
        <p:spPr bwMode="auto">
          <a:xfrm>
            <a:off x="381000" y="5638800"/>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5</a:t>
            </a:r>
            <a:r>
              <a:rPr lang="zh-CN" altLang="en-US" sz="2400">
                <a:solidFill>
                  <a:schemeClr val="bg2"/>
                </a:solidFill>
                <a:latin typeface="Times New Roman" panose="02020603050405020304" pitchFamily="18" charset="0"/>
                <a:ea typeface="宋体" panose="02010600030101010101" pitchFamily="2" charset="-122"/>
              </a:rPr>
              <a:t>）</a:t>
            </a:r>
            <a:r>
              <a:rPr lang="en-US" altLang="zh-CN" sz="24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验证</a:t>
            </a:r>
            <a:r>
              <a:rPr lang="en-US" altLang="zh-CN" sz="2400">
                <a:solidFill>
                  <a:schemeClr val="bg2"/>
                </a:solidFill>
                <a:latin typeface="Times New Roman" panose="02020603050405020304" pitchFamily="18" charset="0"/>
                <a:ea typeface="宋体" panose="02010600030101010101" pitchFamily="2" charset="-122"/>
              </a:rPr>
              <a:t>A</a:t>
            </a:r>
            <a:r>
              <a:rPr lang="zh-CN" altLang="en-US" sz="2400">
                <a:solidFill>
                  <a:schemeClr val="bg2"/>
                </a:solidFill>
                <a:latin typeface="Times New Roman" panose="02020603050405020304" pitchFamily="18" charset="0"/>
                <a:ea typeface="宋体" panose="02010600030101010101" pitchFamily="2" charset="-122"/>
              </a:rPr>
              <a:t>的标识符号和随机数</a:t>
            </a:r>
          </a:p>
        </p:txBody>
      </p:sp>
      <p:sp>
        <p:nvSpPr>
          <p:cNvPr id="116754" name="Text Box 20">
            <a:extLst>
              <a:ext uri="{FF2B5EF4-FFF2-40B4-BE49-F238E27FC236}">
                <a16:creationId xmlns:a16="http://schemas.microsoft.com/office/drawing/2014/main" id="{4C132F89-8569-E04A-9005-717D5C28B4BA}"/>
              </a:ext>
            </a:extLst>
          </p:cNvPr>
          <p:cNvSpPr txBox="1">
            <a:spLocks noChangeArrowheads="1"/>
          </p:cNvSpPr>
          <p:nvPr/>
        </p:nvSpPr>
        <p:spPr bwMode="auto">
          <a:xfrm>
            <a:off x="914400" y="28956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spcBef>
                <a:spcPct val="50000"/>
              </a:spcBef>
            </a:pPr>
            <a:r>
              <a:rPr lang="en-US" altLang="zh-CN" sz="2400">
                <a:solidFill>
                  <a:srgbClr val="000000"/>
                </a:solidFill>
                <a:latin typeface="Times New Roman" panose="02020603050405020304" pitchFamily="18" charset="0"/>
                <a:ea typeface="宋体" panose="02010600030101010101" pitchFamily="2" charset="-122"/>
              </a:rPr>
              <a:t>(5)</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4">
            <a:extLst>
              <a:ext uri="{FF2B5EF4-FFF2-40B4-BE49-F238E27FC236}">
                <a16:creationId xmlns:a16="http://schemas.microsoft.com/office/drawing/2014/main" id="{4F065487-4923-1A40-9A87-B3F2A150277F}"/>
              </a:ext>
            </a:extLst>
          </p:cNvPr>
          <p:cNvSpPr>
            <a:spLocks noChangeArrowheads="1"/>
          </p:cNvSpPr>
          <p:nvPr/>
        </p:nvSpPr>
        <p:spPr bwMode="auto">
          <a:xfrm>
            <a:off x="533400" y="1600200"/>
            <a:ext cx="3200400" cy="3352800"/>
          </a:xfrm>
          <a:prstGeom prst="rect">
            <a:avLst/>
          </a:prstGeom>
          <a:solidFill>
            <a:schemeClr val="hlink"/>
          </a:solidFill>
          <a:ln w="28575">
            <a:solidFill>
              <a:schemeClr val="bg2"/>
            </a:solidFill>
            <a:prstDash val="dash"/>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endParaRPr lang="zh-CN" altLang="en-US" sz="2400" b="0">
              <a:solidFill>
                <a:schemeClr val="bg2"/>
              </a:solidFill>
              <a:latin typeface="Times New Roman" panose="02020603050405020304" pitchFamily="18" charset="0"/>
              <a:ea typeface="宋体" panose="02010600030101010101" pitchFamily="2" charset="-122"/>
            </a:endParaRPr>
          </a:p>
        </p:txBody>
      </p:sp>
      <p:sp>
        <p:nvSpPr>
          <p:cNvPr id="117762" name="Rectangle 5">
            <a:extLst>
              <a:ext uri="{FF2B5EF4-FFF2-40B4-BE49-F238E27FC236}">
                <a16:creationId xmlns:a16="http://schemas.microsoft.com/office/drawing/2014/main" id="{DCA79F0D-B186-994B-B771-ADF29F178D32}"/>
              </a:ext>
            </a:extLst>
          </p:cNvPr>
          <p:cNvSpPr>
            <a:spLocks noChangeArrowheads="1"/>
          </p:cNvSpPr>
          <p:nvPr/>
        </p:nvSpPr>
        <p:spPr bwMode="auto">
          <a:xfrm>
            <a:off x="4191000" y="3810000"/>
            <a:ext cx="457200" cy="381000"/>
          </a:xfrm>
          <a:prstGeom prst="rect">
            <a:avLst/>
          </a:prstGeom>
          <a:solidFill>
            <a:schemeClr val="accent1"/>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chemeClr val="bg2"/>
                </a:solidFill>
                <a:latin typeface="Times New Roman" panose="02020603050405020304" pitchFamily="18" charset="0"/>
                <a:ea typeface="宋体" panose="02010600030101010101" pitchFamily="2" charset="-122"/>
              </a:rPr>
              <a:t>id</a:t>
            </a:r>
            <a:endParaRPr lang="en-US" altLang="zh-CN" sz="2400" b="0">
              <a:solidFill>
                <a:schemeClr val="bg2"/>
              </a:solidFill>
              <a:latin typeface="Times New Roman" panose="02020603050405020304" pitchFamily="18" charset="0"/>
              <a:ea typeface="宋体" panose="02010600030101010101" pitchFamily="2" charset="-122"/>
            </a:endParaRPr>
          </a:p>
        </p:txBody>
      </p:sp>
      <p:sp>
        <p:nvSpPr>
          <p:cNvPr id="117763" name="Rectangle 6">
            <a:extLst>
              <a:ext uri="{FF2B5EF4-FFF2-40B4-BE49-F238E27FC236}">
                <a16:creationId xmlns:a16="http://schemas.microsoft.com/office/drawing/2014/main" id="{D9630569-464F-B345-AF2D-A9157C5C6715}"/>
              </a:ext>
            </a:extLst>
          </p:cNvPr>
          <p:cNvSpPr>
            <a:spLocks noChangeArrowheads="1"/>
          </p:cNvSpPr>
          <p:nvPr/>
        </p:nvSpPr>
        <p:spPr bwMode="auto">
          <a:xfrm>
            <a:off x="4800600" y="3810000"/>
            <a:ext cx="457200" cy="381000"/>
          </a:xfrm>
          <a:prstGeom prst="rect">
            <a:avLst/>
          </a:prstGeom>
          <a:solidFill>
            <a:schemeClr val="accent1"/>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chemeClr val="bg2"/>
                </a:solidFill>
                <a:latin typeface="Times New Roman" panose="02020603050405020304" pitchFamily="18" charset="0"/>
                <a:ea typeface="宋体" panose="02010600030101010101" pitchFamily="2" charset="-122"/>
              </a:rPr>
              <a:t>id</a:t>
            </a:r>
          </a:p>
        </p:txBody>
      </p:sp>
      <p:sp>
        <p:nvSpPr>
          <p:cNvPr id="117764" name="Rectangle 7">
            <a:extLst>
              <a:ext uri="{FF2B5EF4-FFF2-40B4-BE49-F238E27FC236}">
                <a16:creationId xmlns:a16="http://schemas.microsoft.com/office/drawing/2014/main" id="{E8612A33-AD16-6546-B323-E55CE98D21F6}"/>
              </a:ext>
            </a:extLst>
          </p:cNvPr>
          <p:cNvSpPr>
            <a:spLocks noChangeArrowheads="1"/>
          </p:cNvSpPr>
          <p:nvPr/>
        </p:nvSpPr>
        <p:spPr bwMode="auto">
          <a:xfrm>
            <a:off x="5257800" y="3810000"/>
            <a:ext cx="533400" cy="381000"/>
          </a:xfrm>
          <a:prstGeom prst="rect">
            <a:avLst/>
          </a:prstGeom>
          <a:solidFill>
            <a:schemeClr val="accent1"/>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chemeClr val="bg2"/>
                </a:solidFill>
                <a:latin typeface="Times New Roman" panose="02020603050405020304" pitchFamily="18" charset="0"/>
                <a:ea typeface="宋体" panose="02010600030101010101" pitchFamily="2" charset="-122"/>
              </a:rPr>
              <a:t>nrv</a:t>
            </a:r>
            <a:endParaRPr lang="en-US" altLang="zh-CN" sz="2400" b="0">
              <a:solidFill>
                <a:schemeClr val="bg2"/>
              </a:solidFill>
              <a:latin typeface="Times New Roman" panose="02020603050405020304" pitchFamily="18" charset="0"/>
              <a:ea typeface="宋体" panose="02010600030101010101" pitchFamily="2" charset="-122"/>
            </a:endParaRPr>
          </a:p>
        </p:txBody>
      </p:sp>
      <p:sp>
        <p:nvSpPr>
          <p:cNvPr id="1413128" name="Rectangle 8">
            <a:extLst>
              <a:ext uri="{FF2B5EF4-FFF2-40B4-BE49-F238E27FC236}">
                <a16:creationId xmlns:a16="http://schemas.microsoft.com/office/drawing/2014/main" id="{A354582A-6472-1C43-A83B-0610E9BFEDF3}"/>
              </a:ext>
            </a:extLst>
          </p:cNvPr>
          <p:cNvSpPr>
            <a:spLocks noChangeArrowheads="1"/>
          </p:cNvSpPr>
          <p:nvPr/>
        </p:nvSpPr>
        <p:spPr bwMode="auto">
          <a:xfrm>
            <a:off x="6781800" y="1752600"/>
            <a:ext cx="1981200" cy="2971800"/>
          </a:xfrm>
          <a:prstGeom prst="rect">
            <a:avLst/>
          </a:prstGeom>
          <a:solidFill>
            <a:schemeClr val="hlink"/>
          </a:solidFill>
          <a:ln w="28575">
            <a:solidFill>
              <a:schemeClr val="bg2"/>
            </a:solidFill>
            <a:prstDash val="dash"/>
            <a:miter lim="800000"/>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7766" name="Text Box 9">
            <a:extLst>
              <a:ext uri="{FF2B5EF4-FFF2-40B4-BE49-F238E27FC236}">
                <a16:creationId xmlns:a16="http://schemas.microsoft.com/office/drawing/2014/main" id="{8C41C77C-331D-F94C-B16C-3955AA688B8D}"/>
              </a:ext>
            </a:extLst>
          </p:cNvPr>
          <p:cNvSpPr txBox="1">
            <a:spLocks noChangeArrowheads="1"/>
          </p:cNvSpPr>
          <p:nvPr/>
        </p:nvSpPr>
        <p:spPr bwMode="auto">
          <a:xfrm>
            <a:off x="1828800" y="914400"/>
            <a:ext cx="1112838"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chemeClr val="bg2"/>
                </a:solidFill>
                <a:latin typeface="Times New Roman" panose="02020603050405020304" pitchFamily="18" charset="0"/>
                <a:ea typeface="宋体" panose="02010600030101010101" pitchFamily="2" charset="-122"/>
              </a:rPr>
              <a:t>声称者</a:t>
            </a:r>
          </a:p>
        </p:txBody>
      </p:sp>
      <p:sp>
        <p:nvSpPr>
          <p:cNvPr id="117767" name="Text Box 10">
            <a:extLst>
              <a:ext uri="{FF2B5EF4-FFF2-40B4-BE49-F238E27FC236}">
                <a16:creationId xmlns:a16="http://schemas.microsoft.com/office/drawing/2014/main" id="{72DBBD0A-6DAB-7A42-BC06-FBE857C8B5C4}"/>
              </a:ext>
            </a:extLst>
          </p:cNvPr>
          <p:cNvSpPr txBox="1">
            <a:spLocks noChangeArrowheads="1"/>
          </p:cNvSpPr>
          <p:nvPr/>
        </p:nvSpPr>
        <p:spPr bwMode="auto">
          <a:xfrm>
            <a:off x="7162800" y="1066800"/>
            <a:ext cx="1112838"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chemeClr val="bg2"/>
                </a:solidFill>
                <a:latin typeface="Times New Roman" panose="02020603050405020304" pitchFamily="18" charset="0"/>
                <a:ea typeface="宋体" panose="02010600030101010101" pitchFamily="2" charset="-122"/>
              </a:rPr>
              <a:t>验证者</a:t>
            </a:r>
            <a:endParaRPr lang="zh-CN" altLang="en-US" sz="2400" b="0">
              <a:solidFill>
                <a:schemeClr val="bg2"/>
              </a:solidFill>
              <a:latin typeface="Times New Roman" panose="02020603050405020304" pitchFamily="18" charset="0"/>
              <a:ea typeface="宋体" panose="02010600030101010101" pitchFamily="2" charset="-122"/>
            </a:endParaRPr>
          </a:p>
        </p:txBody>
      </p:sp>
      <p:sp>
        <p:nvSpPr>
          <p:cNvPr id="117768" name="Rectangle 11">
            <a:extLst>
              <a:ext uri="{FF2B5EF4-FFF2-40B4-BE49-F238E27FC236}">
                <a16:creationId xmlns:a16="http://schemas.microsoft.com/office/drawing/2014/main" id="{4794A024-BFA6-EC4E-AA9B-F568AF59B695}"/>
              </a:ext>
            </a:extLst>
          </p:cNvPr>
          <p:cNvSpPr>
            <a:spLocks noChangeArrowheads="1"/>
          </p:cNvSpPr>
          <p:nvPr/>
        </p:nvSpPr>
        <p:spPr bwMode="auto">
          <a:xfrm>
            <a:off x="533400" y="2209800"/>
            <a:ext cx="1447800" cy="19050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zh-CN" altLang="en-US" sz="2400">
                <a:solidFill>
                  <a:schemeClr val="bg2"/>
                </a:solidFill>
                <a:latin typeface="Times New Roman" panose="02020603050405020304" pitchFamily="18" charset="0"/>
                <a:ea typeface="宋体" panose="02010600030101010101" pitchFamily="2" charset="-122"/>
              </a:rPr>
              <a:t>密钥和</a:t>
            </a:r>
            <a:r>
              <a:rPr lang="en-US" altLang="zh-CN" sz="2400">
                <a:solidFill>
                  <a:schemeClr val="bg2"/>
                </a:solidFill>
                <a:latin typeface="Times New Roman" panose="02020603050405020304" pitchFamily="18" charset="0"/>
                <a:ea typeface="宋体" panose="02010600030101010101" pitchFamily="2" charset="-122"/>
              </a:rPr>
              <a:t>id</a:t>
            </a:r>
          </a:p>
          <a:p>
            <a:pPr algn="ctr" eaLnBrk="1" hangingPunct="1"/>
            <a:r>
              <a:rPr lang="zh-CN" altLang="en-US" sz="2400">
                <a:solidFill>
                  <a:schemeClr val="bg2"/>
                </a:solidFill>
                <a:latin typeface="Times New Roman" panose="02020603050405020304" pitchFamily="18" charset="0"/>
                <a:ea typeface="宋体" panose="02010600030101010101" pitchFamily="2" charset="-122"/>
              </a:rPr>
              <a:t>来自物理</a:t>
            </a:r>
          </a:p>
          <a:p>
            <a:pPr algn="ctr" eaLnBrk="1" hangingPunct="1"/>
            <a:r>
              <a:rPr lang="zh-CN" altLang="en-US" sz="2400">
                <a:solidFill>
                  <a:schemeClr val="bg2"/>
                </a:solidFill>
                <a:latin typeface="Times New Roman" panose="02020603050405020304" pitchFamily="18" charset="0"/>
                <a:ea typeface="宋体" panose="02010600030101010101" pitchFamily="2" charset="-122"/>
              </a:rPr>
              <a:t>令牌或本</a:t>
            </a:r>
          </a:p>
          <a:p>
            <a:pPr algn="ctr" eaLnBrk="1" hangingPunct="1"/>
            <a:r>
              <a:rPr lang="zh-CN" altLang="en-US" sz="2400">
                <a:solidFill>
                  <a:schemeClr val="bg2"/>
                </a:solidFill>
                <a:latin typeface="Times New Roman" panose="02020603050405020304" pitchFamily="18" charset="0"/>
                <a:ea typeface="宋体" panose="02010600030101010101" pitchFamily="2" charset="-122"/>
              </a:rPr>
              <a:t>地存储器</a:t>
            </a:r>
            <a:endParaRPr lang="zh-CN" altLang="en-US" sz="2400" b="0">
              <a:solidFill>
                <a:schemeClr val="bg2"/>
              </a:solidFill>
              <a:latin typeface="Times New Roman" panose="02020603050405020304" pitchFamily="18" charset="0"/>
              <a:ea typeface="宋体" panose="02010600030101010101" pitchFamily="2" charset="-122"/>
            </a:endParaRPr>
          </a:p>
        </p:txBody>
      </p:sp>
      <p:sp>
        <p:nvSpPr>
          <p:cNvPr id="117769" name="Rectangle 12">
            <a:extLst>
              <a:ext uri="{FF2B5EF4-FFF2-40B4-BE49-F238E27FC236}">
                <a16:creationId xmlns:a16="http://schemas.microsoft.com/office/drawing/2014/main" id="{0D0CA851-F27F-3843-BB5B-AB74B20FF235}"/>
              </a:ext>
            </a:extLst>
          </p:cNvPr>
          <p:cNvSpPr>
            <a:spLocks noChangeArrowheads="1"/>
          </p:cNvSpPr>
          <p:nvPr/>
        </p:nvSpPr>
        <p:spPr bwMode="auto">
          <a:xfrm>
            <a:off x="2438400" y="2743200"/>
            <a:ext cx="1295400" cy="7620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zh-CN" altLang="en-US" sz="2400">
                <a:solidFill>
                  <a:schemeClr val="bg2"/>
                </a:solidFill>
                <a:latin typeface="Times New Roman" panose="02020603050405020304" pitchFamily="18" charset="0"/>
                <a:ea typeface="宋体" panose="02010600030101010101" pitchFamily="2" charset="-122"/>
              </a:rPr>
              <a:t>加密，封</a:t>
            </a:r>
          </a:p>
          <a:p>
            <a:pPr algn="ctr" eaLnBrk="1" hangingPunct="1"/>
            <a:r>
              <a:rPr lang="zh-CN" altLang="en-US" sz="2400">
                <a:solidFill>
                  <a:schemeClr val="bg2"/>
                </a:solidFill>
                <a:latin typeface="Times New Roman" panose="02020603050405020304" pitchFamily="18" charset="0"/>
                <a:ea typeface="宋体" panose="02010600030101010101" pitchFamily="2" charset="-122"/>
              </a:rPr>
              <a:t>装或签名</a:t>
            </a:r>
          </a:p>
        </p:txBody>
      </p:sp>
      <p:sp>
        <p:nvSpPr>
          <p:cNvPr id="117770" name="Rectangle 13">
            <a:extLst>
              <a:ext uri="{FF2B5EF4-FFF2-40B4-BE49-F238E27FC236}">
                <a16:creationId xmlns:a16="http://schemas.microsoft.com/office/drawing/2014/main" id="{DBC05D4B-0298-9E4F-B058-D4A8093CB43A}"/>
              </a:ext>
            </a:extLst>
          </p:cNvPr>
          <p:cNvSpPr>
            <a:spLocks noChangeArrowheads="1"/>
          </p:cNvSpPr>
          <p:nvPr/>
        </p:nvSpPr>
        <p:spPr bwMode="auto">
          <a:xfrm>
            <a:off x="7162800" y="2057400"/>
            <a:ext cx="685800" cy="3810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zh-CN" altLang="en-US" sz="2400">
                <a:solidFill>
                  <a:schemeClr val="bg2"/>
                </a:solidFill>
                <a:latin typeface="Times New Roman" panose="02020603050405020304" pitchFamily="18" charset="0"/>
                <a:ea typeface="宋体" panose="02010600030101010101" pitchFamily="2" charset="-122"/>
              </a:rPr>
              <a:t>密钥</a:t>
            </a:r>
          </a:p>
        </p:txBody>
      </p:sp>
      <p:sp>
        <p:nvSpPr>
          <p:cNvPr id="117771" name="Rectangle 14">
            <a:extLst>
              <a:ext uri="{FF2B5EF4-FFF2-40B4-BE49-F238E27FC236}">
                <a16:creationId xmlns:a16="http://schemas.microsoft.com/office/drawing/2014/main" id="{03E53B81-1464-214C-9B7C-593ADA329424}"/>
              </a:ext>
            </a:extLst>
          </p:cNvPr>
          <p:cNvSpPr>
            <a:spLocks noChangeArrowheads="1"/>
          </p:cNvSpPr>
          <p:nvPr/>
        </p:nvSpPr>
        <p:spPr bwMode="auto">
          <a:xfrm>
            <a:off x="7848600" y="2057400"/>
            <a:ext cx="457200" cy="381000"/>
          </a:xfrm>
          <a:prstGeom prst="rect">
            <a:avLst/>
          </a:prstGeom>
          <a:solidFill>
            <a:srgbClr val="99FF99"/>
          </a:solidFill>
          <a:ln w="9525">
            <a:solidFill>
              <a:schemeClr val="bg2"/>
            </a:solidFill>
            <a:miter lim="800000"/>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2400">
                <a:solidFill>
                  <a:schemeClr val="bg2"/>
                </a:solidFill>
                <a:latin typeface="Times New Roman" panose="02020603050405020304" pitchFamily="18" charset="0"/>
                <a:ea typeface="宋体" panose="02010600030101010101" pitchFamily="2" charset="-122"/>
              </a:rPr>
              <a:t>id</a:t>
            </a:r>
          </a:p>
        </p:txBody>
      </p:sp>
      <p:sp>
        <p:nvSpPr>
          <p:cNvPr id="117772" name="Oval 15">
            <a:extLst>
              <a:ext uri="{FF2B5EF4-FFF2-40B4-BE49-F238E27FC236}">
                <a16:creationId xmlns:a16="http://schemas.microsoft.com/office/drawing/2014/main" id="{0C657158-BBCA-3249-839F-D60EE18D04DB}"/>
              </a:ext>
            </a:extLst>
          </p:cNvPr>
          <p:cNvSpPr>
            <a:spLocks noChangeArrowheads="1"/>
          </p:cNvSpPr>
          <p:nvPr/>
        </p:nvSpPr>
        <p:spPr bwMode="auto">
          <a:xfrm>
            <a:off x="7010400" y="2819400"/>
            <a:ext cx="1600200" cy="914400"/>
          </a:xfrm>
          <a:prstGeom prst="ellipse">
            <a:avLst/>
          </a:prstGeom>
          <a:solidFill>
            <a:srgbClr val="99FF99"/>
          </a:solidFill>
          <a:ln w="9525">
            <a:solidFill>
              <a:schemeClr val="bg2"/>
            </a:solidFill>
            <a:round/>
            <a:headEnd/>
            <a:tailEnd/>
          </a:ln>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zh-CN" altLang="en-US" sz="2400">
                <a:solidFill>
                  <a:schemeClr val="bg2"/>
                </a:solidFill>
                <a:latin typeface="Times New Roman" panose="02020603050405020304" pitchFamily="18" charset="0"/>
                <a:ea typeface="宋体" panose="02010600030101010101" pitchFamily="2" charset="-122"/>
              </a:rPr>
              <a:t>解密或验证</a:t>
            </a:r>
          </a:p>
        </p:txBody>
      </p:sp>
      <p:sp>
        <p:nvSpPr>
          <p:cNvPr id="117773" name="Text Box 16">
            <a:extLst>
              <a:ext uri="{FF2B5EF4-FFF2-40B4-BE49-F238E27FC236}">
                <a16:creationId xmlns:a16="http://schemas.microsoft.com/office/drawing/2014/main" id="{E2CBEE82-E188-5740-9B90-1D4E78D6802E}"/>
              </a:ext>
            </a:extLst>
          </p:cNvPr>
          <p:cNvSpPr txBox="1">
            <a:spLocks noChangeArrowheads="1"/>
          </p:cNvSpPr>
          <p:nvPr/>
        </p:nvSpPr>
        <p:spPr bwMode="auto">
          <a:xfrm>
            <a:off x="7162800" y="4191000"/>
            <a:ext cx="1524000"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chemeClr val="bg2"/>
                </a:solidFill>
                <a:latin typeface="Times New Roman" panose="02020603050405020304" pitchFamily="18" charset="0"/>
                <a:ea typeface="宋体" panose="02010600030101010101" pitchFamily="2" charset="-122"/>
              </a:rPr>
              <a:t>是或不是</a:t>
            </a:r>
          </a:p>
        </p:txBody>
      </p:sp>
      <p:sp>
        <p:nvSpPr>
          <p:cNvPr id="1413137" name="Line 17">
            <a:extLst>
              <a:ext uri="{FF2B5EF4-FFF2-40B4-BE49-F238E27FC236}">
                <a16:creationId xmlns:a16="http://schemas.microsoft.com/office/drawing/2014/main" id="{61F95E9A-492D-414F-AB30-1B44C245CDE6}"/>
              </a:ext>
            </a:extLst>
          </p:cNvPr>
          <p:cNvSpPr>
            <a:spLocks noChangeShapeType="1"/>
          </p:cNvSpPr>
          <p:nvPr/>
        </p:nvSpPr>
        <p:spPr bwMode="auto">
          <a:xfrm>
            <a:off x="1981200" y="2362200"/>
            <a:ext cx="1143000" cy="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413138" name="Line 18">
            <a:extLst>
              <a:ext uri="{FF2B5EF4-FFF2-40B4-BE49-F238E27FC236}">
                <a16:creationId xmlns:a16="http://schemas.microsoft.com/office/drawing/2014/main" id="{C4FCBE63-3E99-8648-877E-33E1D54E4FFC}"/>
              </a:ext>
            </a:extLst>
          </p:cNvPr>
          <p:cNvSpPr>
            <a:spLocks noChangeShapeType="1"/>
          </p:cNvSpPr>
          <p:nvPr/>
        </p:nvSpPr>
        <p:spPr bwMode="auto">
          <a:xfrm>
            <a:off x="3124200" y="2362200"/>
            <a:ext cx="0" cy="3810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7776" name="Text Box 19">
            <a:extLst>
              <a:ext uri="{FF2B5EF4-FFF2-40B4-BE49-F238E27FC236}">
                <a16:creationId xmlns:a16="http://schemas.microsoft.com/office/drawing/2014/main" id="{8E13A4ED-BAA9-5F4F-9B90-383912F71D2B}"/>
              </a:ext>
            </a:extLst>
          </p:cNvPr>
          <p:cNvSpPr txBox="1">
            <a:spLocks noChangeArrowheads="1"/>
          </p:cNvSpPr>
          <p:nvPr/>
        </p:nvSpPr>
        <p:spPr bwMode="auto">
          <a:xfrm>
            <a:off x="2193925" y="1773238"/>
            <a:ext cx="806450"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chemeClr val="bg2"/>
                </a:solidFill>
                <a:latin typeface="Times New Roman" panose="02020603050405020304" pitchFamily="18" charset="0"/>
                <a:ea typeface="宋体" panose="02010600030101010101" pitchFamily="2" charset="-122"/>
              </a:rPr>
              <a:t>密钥</a:t>
            </a:r>
          </a:p>
        </p:txBody>
      </p:sp>
      <p:sp>
        <p:nvSpPr>
          <p:cNvPr id="1413140" name="Line 20">
            <a:extLst>
              <a:ext uri="{FF2B5EF4-FFF2-40B4-BE49-F238E27FC236}">
                <a16:creationId xmlns:a16="http://schemas.microsoft.com/office/drawing/2014/main" id="{80C87671-A267-7A4F-B9EF-8DA164925988}"/>
              </a:ext>
            </a:extLst>
          </p:cNvPr>
          <p:cNvSpPr>
            <a:spLocks noChangeShapeType="1"/>
          </p:cNvSpPr>
          <p:nvPr/>
        </p:nvSpPr>
        <p:spPr bwMode="auto">
          <a:xfrm>
            <a:off x="1981200" y="3962400"/>
            <a:ext cx="22098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413141" name="Line 21">
            <a:extLst>
              <a:ext uri="{FF2B5EF4-FFF2-40B4-BE49-F238E27FC236}">
                <a16:creationId xmlns:a16="http://schemas.microsoft.com/office/drawing/2014/main" id="{C177ADD0-12B6-1A4B-A112-7C90B11A4A0E}"/>
              </a:ext>
            </a:extLst>
          </p:cNvPr>
          <p:cNvSpPr>
            <a:spLocks noChangeShapeType="1"/>
          </p:cNvSpPr>
          <p:nvPr/>
        </p:nvSpPr>
        <p:spPr bwMode="auto">
          <a:xfrm flipV="1">
            <a:off x="2209800" y="3124200"/>
            <a:ext cx="0" cy="83820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413142" name="Line 22">
            <a:extLst>
              <a:ext uri="{FF2B5EF4-FFF2-40B4-BE49-F238E27FC236}">
                <a16:creationId xmlns:a16="http://schemas.microsoft.com/office/drawing/2014/main" id="{C2618312-7876-634C-A37B-3FD742E90F59}"/>
              </a:ext>
            </a:extLst>
          </p:cNvPr>
          <p:cNvSpPr>
            <a:spLocks noChangeShapeType="1"/>
          </p:cNvSpPr>
          <p:nvPr/>
        </p:nvSpPr>
        <p:spPr bwMode="auto">
          <a:xfrm>
            <a:off x="2209800" y="3124200"/>
            <a:ext cx="2286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413143" name="Line 23">
            <a:extLst>
              <a:ext uri="{FF2B5EF4-FFF2-40B4-BE49-F238E27FC236}">
                <a16:creationId xmlns:a16="http://schemas.microsoft.com/office/drawing/2014/main" id="{2AE2972F-5245-C44A-8216-6F16714F2477}"/>
              </a:ext>
            </a:extLst>
          </p:cNvPr>
          <p:cNvSpPr>
            <a:spLocks noChangeShapeType="1"/>
          </p:cNvSpPr>
          <p:nvPr/>
        </p:nvSpPr>
        <p:spPr bwMode="auto">
          <a:xfrm>
            <a:off x="3733800" y="3048000"/>
            <a:ext cx="1295400" cy="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413144" name="Line 24">
            <a:extLst>
              <a:ext uri="{FF2B5EF4-FFF2-40B4-BE49-F238E27FC236}">
                <a16:creationId xmlns:a16="http://schemas.microsoft.com/office/drawing/2014/main" id="{7C38CAFB-C220-404F-B759-F2A7BA74BB65}"/>
              </a:ext>
            </a:extLst>
          </p:cNvPr>
          <p:cNvSpPr>
            <a:spLocks noChangeShapeType="1"/>
          </p:cNvSpPr>
          <p:nvPr/>
        </p:nvSpPr>
        <p:spPr bwMode="auto">
          <a:xfrm>
            <a:off x="5029200" y="3048000"/>
            <a:ext cx="0" cy="7620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413145" name="Line 25">
            <a:extLst>
              <a:ext uri="{FF2B5EF4-FFF2-40B4-BE49-F238E27FC236}">
                <a16:creationId xmlns:a16="http://schemas.microsoft.com/office/drawing/2014/main" id="{72EB17F0-B592-B742-95D0-9C07A79B5CA7}"/>
              </a:ext>
            </a:extLst>
          </p:cNvPr>
          <p:cNvSpPr>
            <a:spLocks noChangeShapeType="1"/>
          </p:cNvSpPr>
          <p:nvPr/>
        </p:nvSpPr>
        <p:spPr bwMode="auto">
          <a:xfrm flipV="1">
            <a:off x="5486400" y="3276600"/>
            <a:ext cx="0" cy="533400"/>
          </a:xfrm>
          <a:prstGeom prst="line">
            <a:avLst/>
          </a:prstGeom>
          <a:noFill/>
          <a:ln w="38100">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413146" name="Line 26">
            <a:extLst>
              <a:ext uri="{FF2B5EF4-FFF2-40B4-BE49-F238E27FC236}">
                <a16:creationId xmlns:a16="http://schemas.microsoft.com/office/drawing/2014/main" id="{3C805D90-8268-9F4B-9090-65AB166719C3}"/>
              </a:ext>
            </a:extLst>
          </p:cNvPr>
          <p:cNvSpPr>
            <a:spLocks noChangeShapeType="1"/>
          </p:cNvSpPr>
          <p:nvPr/>
        </p:nvSpPr>
        <p:spPr bwMode="auto">
          <a:xfrm>
            <a:off x="5486400" y="3276600"/>
            <a:ext cx="1524000" cy="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413147" name="Line 27">
            <a:extLst>
              <a:ext uri="{FF2B5EF4-FFF2-40B4-BE49-F238E27FC236}">
                <a16:creationId xmlns:a16="http://schemas.microsoft.com/office/drawing/2014/main" id="{9F1B013B-138E-D54E-A587-1B8D9A0CC5D3}"/>
              </a:ext>
            </a:extLst>
          </p:cNvPr>
          <p:cNvSpPr>
            <a:spLocks noChangeShapeType="1"/>
          </p:cNvSpPr>
          <p:nvPr/>
        </p:nvSpPr>
        <p:spPr bwMode="auto">
          <a:xfrm>
            <a:off x="7848600" y="3733800"/>
            <a:ext cx="0" cy="4572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7785" name="Text Box 28">
            <a:extLst>
              <a:ext uri="{FF2B5EF4-FFF2-40B4-BE49-F238E27FC236}">
                <a16:creationId xmlns:a16="http://schemas.microsoft.com/office/drawing/2014/main" id="{4C9B2752-349A-C348-B24B-BC9DFADA2E27}"/>
              </a:ext>
            </a:extLst>
          </p:cNvPr>
          <p:cNvSpPr txBox="1">
            <a:spLocks noChangeArrowheads="1"/>
          </p:cNvSpPr>
          <p:nvPr/>
        </p:nvSpPr>
        <p:spPr bwMode="auto">
          <a:xfrm>
            <a:off x="1965325" y="3851275"/>
            <a:ext cx="447675"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chemeClr val="bg2"/>
                </a:solidFill>
                <a:latin typeface="Times New Roman" panose="02020603050405020304" pitchFamily="18" charset="0"/>
                <a:ea typeface="宋体" panose="02010600030101010101" pitchFamily="2" charset="-122"/>
              </a:rPr>
              <a:t>id</a:t>
            </a:r>
          </a:p>
        </p:txBody>
      </p:sp>
      <p:sp>
        <p:nvSpPr>
          <p:cNvPr id="1413149" name="Line 29">
            <a:extLst>
              <a:ext uri="{FF2B5EF4-FFF2-40B4-BE49-F238E27FC236}">
                <a16:creationId xmlns:a16="http://schemas.microsoft.com/office/drawing/2014/main" id="{CD35C5C6-C91E-1E4C-9B51-9B3DC57DDED1}"/>
              </a:ext>
            </a:extLst>
          </p:cNvPr>
          <p:cNvSpPr>
            <a:spLocks noChangeShapeType="1"/>
          </p:cNvSpPr>
          <p:nvPr/>
        </p:nvSpPr>
        <p:spPr bwMode="auto">
          <a:xfrm flipV="1">
            <a:off x="2819400" y="3505200"/>
            <a:ext cx="0" cy="304800"/>
          </a:xfrm>
          <a:prstGeom prst="line">
            <a:avLst/>
          </a:prstGeom>
          <a:noFill/>
          <a:ln w="38100">
            <a:solidFill>
              <a:schemeClr val="bg2"/>
            </a:solidFill>
            <a:round/>
            <a:headEnd/>
            <a:tailEnd type="triangle" w="med" len="me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17787" name="Text Box 30">
            <a:extLst>
              <a:ext uri="{FF2B5EF4-FFF2-40B4-BE49-F238E27FC236}">
                <a16:creationId xmlns:a16="http://schemas.microsoft.com/office/drawing/2014/main" id="{D216A2C1-B9A5-5044-9839-F118A06354D0}"/>
              </a:ext>
            </a:extLst>
          </p:cNvPr>
          <p:cNvSpPr txBox="1">
            <a:spLocks noChangeArrowheads="1"/>
          </p:cNvSpPr>
          <p:nvPr/>
        </p:nvSpPr>
        <p:spPr bwMode="auto">
          <a:xfrm>
            <a:off x="2895600" y="3571875"/>
            <a:ext cx="650875"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400">
                <a:solidFill>
                  <a:schemeClr val="bg2"/>
                </a:solidFill>
                <a:latin typeface="Times New Roman" panose="02020603050405020304" pitchFamily="18" charset="0"/>
                <a:ea typeface="宋体" panose="02010600030101010101" pitchFamily="2" charset="-122"/>
              </a:rPr>
              <a:t>nrv</a:t>
            </a:r>
          </a:p>
        </p:txBody>
      </p:sp>
      <p:sp>
        <p:nvSpPr>
          <p:cNvPr id="117788" name="Text Box 31">
            <a:extLst>
              <a:ext uri="{FF2B5EF4-FFF2-40B4-BE49-F238E27FC236}">
                <a16:creationId xmlns:a16="http://schemas.microsoft.com/office/drawing/2014/main" id="{0447E873-E66D-3241-B103-003CC759D5F3}"/>
              </a:ext>
            </a:extLst>
          </p:cNvPr>
          <p:cNvSpPr txBox="1">
            <a:spLocks noChangeArrowheads="1"/>
          </p:cNvSpPr>
          <p:nvPr/>
        </p:nvSpPr>
        <p:spPr bwMode="auto">
          <a:xfrm>
            <a:off x="4419600" y="2438400"/>
            <a:ext cx="806450"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chemeClr val="bg2"/>
                </a:solidFill>
                <a:latin typeface="Times New Roman" panose="02020603050405020304" pitchFamily="18" charset="0"/>
                <a:ea typeface="宋体" panose="02010600030101010101" pitchFamily="2" charset="-122"/>
              </a:rPr>
              <a:t>消息</a:t>
            </a:r>
          </a:p>
        </p:txBody>
      </p:sp>
      <p:sp>
        <p:nvSpPr>
          <p:cNvPr id="1413152" name="Line 32">
            <a:extLst>
              <a:ext uri="{FF2B5EF4-FFF2-40B4-BE49-F238E27FC236}">
                <a16:creationId xmlns:a16="http://schemas.microsoft.com/office/drawing/2014/main" id="{46D9C5A2-25BC-4843-B7CF-ED09A4591AFB}"/>
              </a:ext>
            </a:extLst>
          </p:cNvPr>
          <p:cNvSpPr>
            <a:spLocks noChangeShapeType="1"/>
          </p:cNvSpPr>
          <p:nvPr/>
        </p:nvSpPr>
        <p:spPr bwMode="auto">
          <a:xfrm>
            <a:off x="4648200" y="3810000"/>
            <a:ext cx="228600" cy="0"/>
          </a:xfrm>
          <a:prstGeom prst="line">
            <a:avLst/>
          </a:prstGeom>
          <a:noFill/>
          <a:ln w="9525">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1413153" name="Line 33">
            <a:extLst>
              <a:ext uri="{FF2B5EF4-FFF2-40B4-BE49-F238E27FC236}">
                <a16:creationId xmlns:a16="http://schemas.microsoft.com/office/drawing/2014/main" id="{60BCA56E-C951-8842-BB38-98A139E3C580}"/>
              </a:ext>
            </a:extLst>
          </p:cNvPr>
          <p:cNvSpPr>
            <a:spLocks noChangeShapeType="1"/>
          </p:cNvSpPr>
          <p:nvPr/>
        </p:nvSpPr>
        <p:spPr bwMode="auto">
          <a:xfrm>
            <a:off x="4648200" y="4191000"/>
            <a:ext cx="152400" cy="0"/>
          </a:xfrm>
          <a:prstGeom prst="line">
            <a:avLst/>
          </a:prstGeom>
          <a:noFill/>
          <a:ln w="9525">
            <a:solidFill>
              <a:schemeClr val="bg2"/>
            </a:solidFill>
            <a:round/>
            <a:headEnd/>
            <a:tailEnd/>
          </a:ln>
          <a:effectLst/>
        </p:spPr>
        <p:txBody>
          <a:bodyPr wrap="none" anchor="ctr"/>
          <a:lstStyle/>
          <a:p>
            <a:pPr eaLnBrk="1" hangingPunct="1">
              <a:lnSpc>
                <a:spcPct val="90000"/>
              </a:lnSpc>
              <a:defRPr/>
            </a:pPr>
            <a:endParaRPr lang="zh-CN" altLang="en-US">
              <a:effectLst>
                <a:outerShdw blurRad="38100" dist="38100" dir="2700000" algn="tl">
                  <a:srgbClr val="000000">
                    <a:alpha val="43137"/>
                  </a:srgbClr>
                </a:outerShdw>
              </a:effectLst>
            </a:endParaRPr>
          </a:p>
        </p:txBody>
      </p:sp>
      <p:graphicFrame>
        <p:nvGraphicFramePr>
          <p:cNvPr id="117791" name="Object 34">
            <a:extLst>
              <a:ext uri="{FF2B5EF4-FFF2-40B4-BE49-F238E27FC236}">
                <a16:creationId xmlns:a16="http://schemas.microsoft.com/office/drawing/2014/main" id="{4F53FE9B-60A4-B04D-A38C-BFF77DA8484E}"/>
              </a:ext>
            </a:extLst>
          </p:cNvPr>
          <p:cNvGraphicFramePr>
            <a:graphicFrameLocks noChangeAspect="1"/>
          </p:cNvGraphicFramePr>
          <p:nvPr/>
        </p:nvGraphicFramePr>
        <p:xfrm>
          <a:off x="4191000" y="3352800"/>
          <a:ext cx="1600200" cy="833438"/>
        </p:xfrm>
        <a:graphic>
          <a:graphicData uri="http://schemas.openxmlformats.org/presentationml/2006/ole">
            <mc:AlternateContent xmlns:mc="http://schemas.openxmlformats.org/markup-compatibility/2006">
              <mc:Choice xmlns:v="urn:schemas-microsoft-com:vml" Requires="v">
                <p:oleObj name="公式" r:id="rId2" imgW="16090900" imgH="8191500" progId="Equation.3">
                  <p:embed/>
                </p:oleObj>
              </mc:Choice>
              <mc:Fallback>
                <p:oleObj name="公式" r:id="rId2" imgW="16090900" imgH="8191500" progId="Equation.3">
                  <p:embed/>
                  <p:pic>
                    <p:nvPicPr>
                      <p:cNvPr id="0" name="Object 34"/>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4191000" y="3352800"/>
                        <a:ext cx="1600200" cy="833438"/>
                      </a:xfrm>
                      <a:prstGeom prst="rect">
                        <a:avLst/>
                      </a:prstGeom>
                      <a:noFill/>
                      <a:ln w="9525">
                        <a:solidFill>
                          <a:srgbClr val="FFFFFF"/>
                        </a:solidFill>
                        <a:miter lim="800000"/>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92" name="Object 35">
            <a:extLst>
              <a:ext uri="{FF2B5EF4-FFF2-40B4-BE49-F238E27FC236}">
                <a16:creationId xmlns:a16="http://schemas.microsoft.com/office/drawing/2014/main" id="{0CAC3B9C-9CA4-004C-8049-573D0840A4D2}"/>
              </a:ext>
            </a:extLst>
          </p:cNvPr>
          <p:cNvGraphicFramePr>
            <a:graphicFrameLocks noChangeAspect="1"/>
          </p:cNvGraphicFramePr>
          <p:nvPr/>
        </p:nvGraphicFramePr>
        <p:xfrm>
          <a:off x="4800600" y="4086225"/>
          <a:ext cx="990600" cy="409575"/>
        </p:xfrm>
        <a:graphic>
          <a:graphicData uri="http://schemas.openxmlformats.org/presentationml/2006/ole">
            <mc:AlternateContent xmlns:mc="http://schemas.openxmlformats.org/markup-compatibility/2006">
              <mc:Choice xmlns:v="urn:schemas-microsoft-com:vml" Requires="v">
                <p:oleObj name="公式" r:id="rId4" imgW="16967200" imgH="8483600" progId="Equation.3">
                  <p:embed/>
                </p:oleObj>
              </mc:Choice>
              <mc:Fallback>
                <p:oleObj name="公式" r:id="rId4" imgW="16967200" imgH="8483600" progId="Equation.3">
                  <p:embed/>
                  <p:pic>
                    <p:nvPicPr>
                      <p:cNvPr id="0" name="Object 35"/>
                      <p:cNvPicPr>
                        <a:picLocks noChangeAspect="1" noChangeArrowheads="1"/>
                      </p:cNvPicPr>
                      <p:nvPr/>
                    </p:nvPicPr>
                    <p:blipFill>
                      <a:blip r:embed="rId5">
                        <a:lum bright="70000" contrast="-70000"/>
                        <a:extLst>
                          <a:ext uri="{28A0092B-C50C-407E-A947-70E740481C1C}">
                            <a14:useLocalDpi xmlns:a14="http://schemas.microsoft.com/office/drawing/2010/main" val="0"/>
                          </a:ext>
                        </a:extLst>
                      </a:blip>
                      <a:srcRect/>
                      <a:stretch>
                        <a:fillRect/>
                      </a:stretch>
                    </p:blipFill>
                    <p:spPr bwMode="auto">
                      <a:xfrm>
                        <a:off x="4800600" y="4086225"/>
                        <a:ext cx="990600" cy="409575"/>
                      </a:xfrm>
                      <a:prstGeom prst="rect">
                        <a:avLst/>
                      </a:prstGeom>
                      <a:noFill/>
                      <a:ln w="9525">
                        <a:solidFill>
                          <a:srgbClr val="FF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93" name="Text Box 36">
            <a:extLst>
              <a:ext uri="{FF2B5EF4-FFF2-40B4-BE49-F238E27FC236}">
                <a16:creationId xmlns:a16="http://schemas.microsoft.com/office/drawing/2014/main" id="{F2B411EF-EEC3-B649-8B3F-7E7FFB725546}"/>
              </a:ext>
            </a:extLst>
          </p:cNvPr>
          <p:cNvSpPr txBox="1">
            <a:spLocks noChangeArrowheads="1"/>
          </p:cNvSpPr>
          <p:nvPr/>
        </p:nvSpPr>
        <p:spPr bwMode="auto">
          <a:xfrm>
            <a:off x="3886200" y="4419600"/>
            <a:ext cx="2644775" cy="4667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chemeClr val="bg2"/>
                </a:solidFill>
                <a:latin typeface="Times New Roman" panose="02020603050405020304" pitchFamily="18" charset="0"/>
                <a:ea typeface="宋体" panose="02010600030101010101" pitchFamily="2" charset="-122"/>
              </a:rPr>
              <a:t>加密，封装或签名</a:t>
            </a:r>
          </a:p>
        </p:txBody>
      </p:sp>
      <p:sp>
        <p:nvSpPr>
          <p:cNvPr id="117794" name="Text Box 38">
            <a:extLst>
              <a:ext uri="{FF2B5EF4-FFF2-40B4-BE49-F238E27FC236}">
                <a16:creationId xmlns:a16="http://schemas.microsoft.com/office/drawing/2014/main" id="{C28E7DE4-4FF3-AD4E-B6AF-B59D26001885}"/>
              </a:ext>
            </a:extLst>
          </p:cNvPr>
          <p:cNvSpPr txBox="1">
            <a:spLocks noChangeArrowheads="1"/>
          </p:cNvSpPr>
          <p:nvPr/>
        </p:nvSpPr>
        <p:spPr bwMode="auto">
          <a:xfrm>
            <a:off x="2209800" y="5334000"/>
            <a:ext cx="5194300" cy="528638"/>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kumimoji="0" lang="zh-CN" altLang="en-US" sz="2800">
                <a:latin typeface="Times New Roman" panose="02020603050405020304" pitchFamily="18" charset="0"/>
                <a:ea typeface="宋体" panose="02010600030101010101" pitchFamily="2" charset="-122"/>
              </a:rPr>
              <a:t>简化的基于密码技术的鉴别机制</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D94B158D-08EF-3844-BA72-AAC79C160D2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777875"/>
            <a:ext cx="3554413" cy="551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a16="http://schemas.microsoft.com/office/drawing/2014/main" id="{BE942385-CBD3-2340-8196-46A016D40133}"/>
              </a:ext>
            </a:extLst>
          </p:cNvPr>
          <p:cNvSpPr>
            <a:spLocks noGrp="1" noChangeArrowheads="1"/>
          </p:cNvSpPr>
          <p:nvPr>
            <p:ph type="title"/>
          </p:nvPr>
        </p:nvSpPr>
        <p:spPr bwMode="auto">
          <a:xfrm>
            <a:off x="838200" y="777875"/>
            <a:ext cx="5638800" cy="609600"/>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sz="3600" dirty="0">
                <a:solidFill>
                  <a:srgbClr val="0000F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5.6  Kerberos</a:t>
            </a:r>
            <a:r>
              <a:rPr lang="zh-CN" altLang="en-US" sz="3600" dirty="0">
                <a:solidFill>
                  <a:srgbClr val="0000F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鉴别协议</a:t>
            </a:r>
          </a:p>
        </p:txBody>
      </p:sp>
      <p:sp>
        <p:nvSpPr>
          <p:cNvPr id="5" name="内容占位符 2">
            <a:extLst>
              <a:ext uri="{FF2B5EF4-FFF2-40B4-BE49-F238E27FC236}">
                <a16:creationId xmlns:a16="http://schemas.microsoft.com/office/drawing/2014/main" id="{E3B3C53A-CE91-924D-A07A-FC5FB0B528BA}"/>
              </a:ext>
            </a:extLst>
          </p:cNvPr>
          <p:cNvSpPr>
            <a:spLocks noGrp="1"/>
          </p:cNvSpPr>
          <p:nvPr>
            <p:ph idx="1"/>
          </p:nvPr>
        </p:nvSpPr>
        <p:spPr>
          <a:xfrm>
            <a:off x="636588" y="4191000"/>
            <a:ext cx="8283575" cy="1524000"/>
          </a:xfrm>
        </p:spPr>
        <p:txBody>
          <a:bodyPr vert="horz" wrap="square" lIns="91440" tIns="45720" rIns="91440" bIns="45720" numCol="1" anchor="t" anchorCtr="0" compatLnSpc="1">
            <a:prstTxWarp prst="textNoShape">
              <a:avLst/>
            </a:prstTxWarp>
            <a:normAutofit/>
          </a:bodyPr>
          <a:lstStyle/>
          <a:p>
            <a:pPr lvl="1" eaLnBrk="1" hangingPunct="1">
              <a:buClr>
                <a:srgbClr val="FF0000"/>
              </a:buClr>
              <a:buFont typeface="Wingdings" pitchFamily="2" charset="2"/>
              <a:buChar char="u"/>
              <a:defRPr/>
            </a:pPr>
            <a:r>
              <a:rPr lang="zh-CN" altLang="en-US">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实现采用对称密钥加密技术</a:t>
            </a:r>
          </a:p>
          <a:p>
            <a:pPr lvl="1" eaLnBrk="1" hangingPunct="1">
              <a:buClr>
                <a:srgbClr val="FF0000"/>
              </a:buClr>
              <a:buFont typeface="Wingdings" pitchFamily="2" charset="2"/>
              <a:buChar char="u"/>
              <a:defRPr/>
            </a:pPr>
            <a:r>
              <a:rPr lang="zh-CN" altLang="en-US">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公开发布的</a:t>
            </a:r>
            <a:r>
              <a:rPr lang="en-US" altLang="zh-CN">
                <a:solidFill>
                  <a:srgbClr val="0000FF"/>
                </a:solidFill>
                <a:latin typeface="Times New Roman" panose="02020603050405020304" pitchFamily="18" charset="0"/>
                <a:ea typeface="黑体" panose="02010609060101010101" pitchFamily="49" charset="-122"/>
                <a:cs typeface="Times New Roman" panose="02020603050405020304" pitchFamily="18" charset="0"/>
              </a:rPr>
              <a:t>Kerberos</a:t>
            </a:r>
            <a:r>
              <a:rPr lang="zh-CN" altLang="en-US">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版本包括版本</a:t>
            </a:r>
            <a:r>
              <a:rPr lang="en-US" altLang="zh-CN">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a:t>
            </a:r>
            <a:r>
              <a:rPr lang="zh-CN" altLang="en-US">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和版本</a:t>
            </a:r>
            <a:r>
              <a:rPr lang="en-US" altLang="zh-CN">
                <a:solidFill>
                  <a:srgbClr val="0000FF"/>
                </a:solidFill>
                <a:latin typeface="Times New Roman" panose="02020603050405020304" pitchFamily="18" charset="0"/>
                <a:ea typeface="黑体" panose="02010609060101010101" pitchFamily="49" charset="-122"/>
                <a:cs typeface="Times New Roman" panose="02020603050405020304" pitchFamily="18" charset="0"/>
              </a:rPr>
              <a:t>5 </a:t>
            </a:r>
          </a:p>
          <a:p>
            <a:pPr lvl="1" eaLnBrk="1" hangingPunct="1">
              <a:buClr>
                <a:srgbClr val="FF0000"/>
              </a:buClr>
              <a:buFont typeface="Wingdings" pitchFamily="2" charset="2"/>
              <a:buChar char="u"/>
              <a:defRPr/>
            </a:pPr>
            <a:r>
              <a:rPr lang="zh-CN" altLang="en-US">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安全性、可靠性、可伸缩性、透明性</a:t>
            </a:r>
            <a:endParaRPr lang="en-US" altLang="zh-CN">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7D29F81C-AB64-2D4F-871C-DABFA8A94783}"/>
              </a:ext>
            </a:extLst>
          </p:cNvPr>
          <p:cNvSpPr>
            <a:spLocks noChangeArrowheads="1"/>
          </p:cNvSpPr>
          <p:nvPr/>
        </p:nvSpPr>
        <p:spPr bwMode="auto">
          <a:xfrm>
            <a:off x="739775" y="1552575"/>
            <a:ext cx="8077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美国麻省理工学院（</a:t>
            </a:r>
            <a:r>
              <a:rPr lang="en-US" altLang="zh-CN"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MIT</a:t>
            </a: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）为</a:t>
            </a:r>
            <a:r>
              <a:rPr lang="en-US" altLang="zh-CN" sz="2400">
                <a:latin typeface="Times New Roman" panose="02020603050405020304" pitchFamily="18" charset="0"/>
                <a:ea typeface="黑体" panose="02010609060101010101" pitchFamily="49" charset="-122"/>
                <a:cs typeface="Times New Roman" panose="02020603050405020304" pitchFamily="18" charset="0"/>
              </a:rPr>
              <a:t>Athena</a:t>
            </a: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项目开发的一种身份鉴别协议</a:t>
            </a:r>
          </a:p>
        </p:txBody>
      </p:sp>
      <p:sp>
        <p:nvSpPr>
          <p:cNvPr id="3" name="矩形 2">
            <a:extLst>
              <a:ext uri="{FF2B5EF4-FFF2-40B4-BE49-F238E27FC236}">
                <a16:creationId xmlns:a16="http://schemas.microsoft.com/office/drawing/2014/main" id="{38259FC9-D01C-A740-B69C-F77BAE0E86A1}"/>
              </a:ext>
            </a:extLst>
          </p:cNvPr>
          <p:cNvSpPr>
            <a:spLocks noChangeArrowheads="1"/>
          </p:cNvSpPr>
          <p:nvPr/>
        </p:nvSpPr>
        <p:spPr bwMode="auto">
          <a:xfrm>
            <a:off x="701675" y="2443163"/>
            <a:ext cx="815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Kerberos”</a:t>
            </a: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的本意是希腊神话中守护地狱之门的守护者 </a:t>
            </a:r>
          </a:p>
        </p:txBody>
      </p:sp>
      <p:sp>
        <p:nvSpPr>
          <p:cNvPr id="6" name="矩形 5">
            <a:extLst>
              <a:ext uri="{FF2B5EF4-FFF2-40B4-BE49-F238E27FC236}">
                <a16:creationId xmlns:a16="http://schemas.microsoft.com/office/drawing/2014/main" id="{49C3731A-FBB1-0349-84DB-7901FD227966}"/>
              </a:ext>
            </a:extLst>
          </p:cNvPr>
          <p:cNvSpPr>
            <a:spLocks noChangeArrowheads="1"/>
          </p:cNvSpPr>
          <p:nvPr/>
        </p:nvSpPr>
        <p:spPr bwMode="auto">
          <a:xfrm>
            <a:off x="800100" y="3141663"/>
            <a:ext cx="795655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Kerberos</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提供了一个网络环境下的身份鉴别框架结构</a:t>
            </a: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2" name="图片 11">
            <a:extLst>
              <a:ext uri="{FF2B5EF4-FFF2-40B4-BE49-F238E27FC236}">
                <a16:creationId xmlns:a16="http://schemas.microsoft.com/office/drawing/2014/main" id="{7FD21941-3BD3-4D46-B587-CF16B857487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22438" y="1581150"/>
            <a:ext cx="6527800"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13">
            <a:extLst>
              <a:ext uri="{FF2B5EF4-FFF2-40B4-BE49-F238E27FC236}">
                <a16:creationId xmlns:a16="http://schemas.microsoft.com/office/drawing/2014/main" id="{88FAFC73-2F9A-E44C-9822-AD60874926B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63600" y="1644650"/>
            <a:ext cx="7016750"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2">
            <a:extLst>
              <a:ext uri="{FF2B5EF4-FFF2-40B4-BE49-F238E27FC236}">
                <a16:creationId xmlns:a16="http://schemas.microsoft.com/office/drawing/2014/main" id="{84A062C7-B883-4340-9BEA-2C3CDB03FE1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65150" y="1511300"/>
            <a:ext cx="7054850" cy="470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14">
            <a:extLst>
              <a:ext uri="{FF2B5EF4-FFF2-40B4-BE49-F238E27FC236}">
                <a16:creationId xmlns:a16="http://schemas.microsoft.com/office/drawing/2014/main" id="{5BAA0C0E-9509-A941-9DC4-392A635B10A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601788" y="1752600"/>
            <a:ext cx="6557962" cy="437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3000" fill="hold"/>
                                        <p:tgtEl>
                                          <p:spTgt spid="12"/>
                                        </p:tgtEl>
                                        <p:attrNameLst>
                                          <p:attrName>ppt_w</p:attrName>
                                        </p:attrNameLst>
                                      </p:cBhvr>
                                      <p:tavLst>
                                        <p:tav tm="0">
                                          <p:val>
                                            <p:fltVal val="0"/>
                                          </p:val>
                                        </p:tav>
                                        <p:tav tm="100000">
                                          <p:val>
                                            <p:strVal val="#ppt_w"/>
                                          </p:val>
                                        </p:tav>
                                      </p:tavLst>
                                    </p:anim>
                                    <p:anim calcmode="lin" valueType="num">
                                      <p:cBhvr>
                                        <p:cTn id="22" dur="3000" fill="hold"/>
                                        <p:tgtEl>
                                          <p:spTgt spid="12"/>
                                        </p:tgtEl>
                                        <p:attrNameLst>
                                          <p:attrName>ppt_h</p:attrName>
                                        </p:attrNameLst>
                                      </p:cBhvr>
                                      <p:tavLst>
                                        <p:tav tm="0">
                                          <p:val>
                                            <p:fltVal val="0"/>
                                          </p:val>
                                        </p:tav>
                                        <p:tav tm="100000">
                                          <p:val>
                                            <p:strVal val="#ppt_h"/>
                                          </p:val>
                                        </p:tav>
                                      </p:tavLst>
                                    </p:anim>
                                    <p:animEffect transition="in" filter="fade">
                                      <p:cBhvr>
                                        <p:cTn id="23" dur="30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par>
                          <p:cTn id="24" fill="hold" nodeType="afterGroup">
                            <p:stCondLst>
                              <p:cond delay="3000"/>
                            </p:stCondLst>
                            <p:childTnLst>
                              <p:par>
                                <p:cTn id="25" presetID="53" presetClass="entr" presetSubtype="16"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3000" fill="hold"/>
                                        <p:tgtEl>
                                          <p:spTgt spid="14"/>
                                        </p:tgtEl>
                                        <p:attrNameLst>
                                          <p:attrName>ppt_w</p:attrName>
                                        </p:attrNameLst>
                                      </p:cBhvr>
                                      <p:tavLst>
                                        <p:tav tm="0">
                                          <p:val>
                                            <p:fltVal val="0"/>
                                          </p:val>
                                        </p:tav>
                                        <p:tav tm="100000">
                                          <p:val>
                                            <p:strVal val="#ppt_w"/>
                                          </p:val>
                                        </p:tav>
                                      </p:tavLst>
                                    </p:anim>
                                    <p:anim calcmode="lin" valueType="num">
                                      <p:cBhvr>
                                        <p:cTn id="28" dur="3000" fill="hold"/>
                                        <p:tgtEl>
                                          <p:spTgt spid="14"/>
                                        </p:tgtEl>
                                        <p:attrNameLst>
                                          <p:attrName>ppt_h</p:attrName>
                                        </p:attrNameLst>
                                      </p:cBhvr>
                                      <p:tavLst>
                                        <p:tav tm="0">
                                          <p:val>
                                            <p:fltVal val="0"/>
                                          </p:val>
                                        </p:tav>
                                        <p:tav tm="100000">
                                          <p:val>
                                            <p:strVal val="#ppt_h"/>
                                          </p:val>
                                        </p:tav>
                                      </p:tavLst>
                                    </p:anim>
                                    <p:animEffect transition="in" filter="fade">
                                      <p:cBhvr>
                                        <p:cTn id="29" dur="30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par>
                          <p:cTn id="30" fill="hold" nodeType="afterGroup">
                            <p:stCondLst>
                              <p:cond delay="6000"/>
                            </p:stCondLst>
                            <p:childTnLst>
                              <p:par>
                                <p:cTn id="31" presetID="53" presetClass="entr" presetSubtype="16" fill="hold" nodeType="after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3000" fill="hold"/>
                                        <p:tgtEl>
                                          <p:spTgt spid="13"/>
                                        </p:tgtEl>
                                        <p:attrNameLst>
                                          <p:attrName>ppt_w</p:attrName>
                                        </p:attrNameLst>
                                      </p:cBhvr>
                                      <p:tavLst>
                                        <p:tav tm="0">
                                          <p:val>
                                            <p:fltVal val="0"/>
                                          </p:val>
                                        </p:tav>
                                        <p:tav tm="100000">
                                          <p:val>
                                            <p:strVal val="#ppt_w"/>
                                          </p:val>
                                        </p:tav>
                                      </p:tavLst>
                                    </p:anim>
                                    <p:anim calcmode="lin" valueType="num">
                                      <p:cBhvr>
                                        <p:cTn id="34" dur="3000" fill="hold"/>
                                        <p:tgtEl>
                                          <p:spTgt spid="13"/>
                                        </p:tgtEl>
                                        <p:attrNameLst>
                                          <p:attrName>ppt_h</p:attrName>
                                        </p:attrNameLst>
                                      </p:cBhvr>
                                      <p:tavLst>
                                        <p:tav tm="0">
                                          <p:val>
                                            <p:fltVal val="0"/>
                                          </p:val>
                                        </p:tav>
                                        <p:tav tm="100000">
                                          <p:val>
                                            <p:strVal val="#ppt_h"/>
                                          </p:val>
                                        </p:tav>
                                      </p:tavLst>
                                    </p:anim>
                                    <p:animEffect transition="in" filter="fade">
                                      <p:cBhvr>
                                        <p:cTn id="35" dur="30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par>
                          <p:cTn id="36" fill="hold" nodeType="afterGroup">
                            <p:stCondLst>
                              <p:cond delay="9000"/>
                            </p:stCondLst>
                            <p:childTnLst>
                              <p:par>
                                <p:cTn id="37" presetID="53" presetClass="entr" presetSubtype="16"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p:cTn id="39" dur="2500" fill="hold"/>
                                        <p:tgtEl>
                                          <p:spTgt spid="15"/>
                                        </p:tgtEl>
                                        <p:attrNameLst>
                                          <p:attrName>ppt_w</p:attrName>
                                        </p:attrNameLst>
                                      </p:cBhvr>
                                      <p:tavLst>
                                        <p:tav tm="0">
                                          <p:val>
                                            <p:fltVal val="0"/>
                                          </p:val>
                                        </p:tav>
                                        <p:tav tm="100000">
                                          <p:val>
                                            <p:strVal val="#ppt_w"/>
                                          </p:val>
                                        </p:tav>
                                      </p:tavLst>
                                    </p:anim>
                                    <p:anim calcmode="lin" valueType="num">
                                      <p:cBhvr>
                                        <p:cTn id="40" dur="2500" fill="hold"/>
                                        <p:tgtEl>
                                          <p:spTgt spid="15"/>
                                        </p:tgtEl>
                                        <p:attrNameLst>
                                          <p:attrName>ppt_h</p:attrName>
                                        </p:attrNameLst>
                                      </p:cBhvr>
                                      <p:tavLst>
                                        <p:tav tm="0">
                                          <p:val>
                                            <p:fltVal val="0"/>
                                          </p:val>
                                        </p:tav>
                                        <p:tav tm="100000">
                                          <p:val>
                                            <p:strVal val="#ppt_h"/>
                                          </p:val>
                                        </p:tav>
                                      </p:tavLst>
                                    </p:anim>
                                    <p:animEffect transition="in" filter="fade">
                                      <p:cBhvr>
                                        <p:cTn id="41" dur="2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par>
                          <p:cTn id="42" fill="hold" nodeType="afterGroup">
                            <p:stCondLst>
                              <p:cond delay="11500"/>
                            </p:stCondLst>
                            <p:childTnLst>
                              <p:par>
                                <p:cTn id="43" presetID="2" presetClass="entr" presetSubtype="8" fill="hold" grpId="0" nodeType="afterEffect">
                                  <p:stCondLst>
                                    <p:cond delay="0"/>
                                  </p:stCondLst>
                                  <p:childTnLst>
                                    <p:set>
                                      <p:cBhvr>
                                        <p:cTn id="44" dur="1" fill="hold">
                                          <p:stCondLst>
                                            <p:cond delay="0"/>
                                          </p:stCondLst>
                                        </p:cTn>
                                        <p:tgtEl>
                                          <p:spTgt spid="3"/>
                                        </p:tgtEl>
                                        <p:attrNameLst>
                                          <p:attrName>style.visibility</p:attrName>
                                        </p:attrNameLst>
                                      </p:cBhvr>
                                      <p:to>
                                        <p:strVal val="visible"/>
                                      </p:to>
                                    </p:set>
                                    <p:anim calcmode="lin" valueType="num">
                                      <p:cBhvr additive="base">
                                        <p:cTn id="45" dur="500" fill="hold"/>
                                        <p:tgtEl>
                                          <p:spTgt spid="3"/>
                                        </p:tgtEl>
                                        <p:attrNameLst>
                                          <p:attrName>ppt_x</p:attrName>
                                        </p:attrNameLst>
                                      </p:cBhvr>
                                      <p:tavLst>
                                        <p:tav tm="0">
                                          <p:val>
                                            <p:strVal val="0-#ppt_w/2"/>
                                          </p:val>
                                        </p:tav>
                                        <p:tav tm="100000">
                                          <p:val>
                                            <p:strVal val="#ppt_x"/>
                                          </p:val>
                                        </p:tav>
                                      </p:tavLst>
                                    </p:anim>
                                    <p:anim calcmode="lin" valueType="num">
                                      <p:cBhvr additive="base">
                                        <p:cTn id="46" dur="500" fill="hold"/>
                                        <p:tgtEl>
                                          <p:spTgt spid="3"/>
                                        </p:tgtEl>
                                        <p:attrNameLst>
                                          <p:attrName>ppt_y</p:attrName>
                                        </p:attrNameLst>
                                      </p:cBhvr>
                                      <p:tavLst>
                                        <p:tav tm="0">
                                          <p:val>
                                            <p:strVal val="#ppt_y"/>
                                          </p:val>
                                        </p:tav>
                                        <p:tav tm="100000">
                                          <p:val>
                                            <p:strVal val="#ppt_y"/>
                                          </p:val>
                                        </p:tav>
                                      </p:tavLst>
                                    </p:anim>
                                  </p:childTnLst>
                                </p:cTn>
                              </p:par>
                            </p:childTnLst>
                          </p:cTn>
                        </p:par>
                        <p:par>
                          <p:cTn id="47" fill="hold" nodeType="afterGroup">
                            <p:stCondLst>
                              <p:cond delay="12000"/>
                            </p:stCondLst>
                            <p:childTnLst>
                              <p:par>
                                <p:cTn id="48" presetID="2" presetClass="entr" presetSubtype="8" fill="hold" grpId="0" nodeType="afterEffect">
                                  <p:stCondLst>
                                    <p:cond delay="0"/>
                                  </p:stCondLst>
                                  <p:childTnLst>
                                    <p:set>
                                      <p:cBhvr>
                                        <p:cTn id="49" dur="1" fill="hold">
                                          <p:stCondLst>
                                            <p:cond delay="0"/>
                                          </p:stCondLst>
                                        </p:cTn>
                                        <p:tgtEl>
                                          <p:spTgt spid="6"/>
                                        </p:tgtEl>
                                        <p:attrNameLst>
                                          <p:attrName>style.visibility</p:attrName>
                                        </p:attrNameLst>
                                      </p:cBhvr>
                                      <p:to>
                                        <p:strVal val="visible"/>
                                      </p:to>
                                    </p:set>
                                    <p:anim calcmode="lin" valueType="num">
                                      <p:cBhvr additive="base">
                                        <p:cTn id="50" dur="500" fill="hold"/>
                                        <p:tgtEl>
                                          <p:spTgt spid="6"/>
                                        </p:tgtEl>
                                        <p:attrNameLst>
                                          <p:attrName>ppt_x</p:attrName>
                                        </p:attrNameLst>
                                      </p:cBhvr>
                                      <p:tavLst>
                                        <p:tav tm="0">
                                          <p:val>
                                            <p:strVal val="0-#ppt_w/2"/>
                                          </p:val>
                                        </p:tav>
                                        <p:tav tm="100000">
                                          <p:val>
                                            <p:strVal val="#ppt_x"/>
                                          </p:val>
                                        </p:tav>
                                      </p:tavLst>
                                    </p:anim>
                                    <p:anim calcmode="lin" valueType="num">
                                      <p:cBhvr additive="base">
                                        <p:cTn id="51" dur="500" fill="hold"/>
                                        <p:tgtEl>
                                          <p:spTgt spid="6"/>
                                        </p:tgtEl>
                                        <p:attrNameLst>
                                          <p:attrName>ppt_y</p:attrName>
                                        </p:attrNameLst>
                                      </p:cBhvr>
                                      <p:tavLst>
                                        <p:tav tm="0">
                                          <p:val>
                                            <p:strVal val="#ppt_y"/>
                                          </p:val>
                                        </p:tav>
                                        <p:tav tm="100000">
                                          <p:val>
                                            <p:strVal val="#ppt_y"/>
                                          </p:val>
                                        </p:tav>
                                      </p:tavLst>
                                    </p:anim>
                                  </p:childTnLst>
                                </p:cTn>
                              </p:par>
                            </p:childTnLst>
                          </p:cTn>
                        </p:par>
                        <p:par>
                          <p:cTn id="52" fill="hold" nodeType="afterGroup">
                            <p:stCondLst>
                              <p:cond delay="12500"/>
                            </p:stCondLst>
                            <p:childTnLst>
                              <p:par>
                                <p:cTn id="53" presetID="53" presetClass="entr" presetSubtype="16" fill="hold" grpId="0" nodeType="afterEffect">
                                  <p:stCondLst>
                                    <p:cond delay="0"/>
                                  </p:stCondLst>
                                  <p:childTnLst>
                                    <p:set>
                                      <p:cBhvr>
                                        <p:cTn id="54" dur="1" fill="hold">
                                          <p:stCondLst>
                                            <p:cond delay="0"/>
                                          </p:stCondLst>
                                        </p:cTn>
                                        <p:tgtEl>
                                          <p:spTgt spid="5">
                                            <p:txEl>
                                              <p:pRg st="0" end="0"/>
                                            </p:txEl>
                                          </p:spTgt>
                                        </p:tgtEl>
                                        <p:attrNameLst>
                                          <p:attrName>style.visibility</p:attrName>
                                        </p:attrNameLst>
                                      </p:cBhvr>
                                      <p:to>
                                        <p:strVal val="visible"/>
                                      </p:to>
                                    </p:set>
                                    <p:anim calcmode="lin" valueType="num">
                                      <p:cBhvr>
                                        <p:cTn id="55"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56" dur="10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57" dur="1000"/>
                                        <p:tgtEl>
                                          <p:spTgt spid="5">
                                            <p:txEl>
                                              <p:pRg st="0" end="0"/>
                                            </p:txEl>
                                          </p:spTgt>
                                        </p:tgtEl>
                                      </p:cBhvr>
                                    </p:animEffect>
                                  </p:childTnLst>
                                </p:cTn>
                              </p:par>
                            </p:childTnLst>
                          </p:cTn>
                        </p:par>
                        <p:par>
                          <p:cTn id="58" fill="hold" nodeType="afterGroup">
                            <p:stCondLst>
                              <p:cond delay="13500"/>
                            </p:stCondLst>
                            <p:childTnLst>
                              <p:par>
                                <p:cTn id="59" presetID="53" presetClass="entr" presetSubtype="16" fill="hold" grpId="0" nodeType="afterEffect">
                                  <p:stCondLst>
                                    <p:cond delay="0"/>
                                  </p:stCondLst>
                                  <p:childTnLst>
                                    <p:set>
                                      <p:cBhvr>
                                        <p:cTn id="60" dur="1" fill="hold">
                                          <p:stCondLst>
                                            <p:cond delay="0"/>
                                          </p:stCondLst>
                                        </p:cTn>
                                        <p:tgtEl>
                                          <p:spTgt spid="5">
                                            <p:txEl>
                                              <p:pRg st="1" end="1"/>
                                            </p:txEl>
                                          </p:spTgt>
                                        </p:tgtEl>
                                        <p:attrNameLst>
                                          <p:attrName>style.visibility</p:attrName>
                                        </p:attrNameLst>
                                      </p:cBhvr>
                                      <p:to>
                                        <p:strVal val="visible"/>
                                      </p:to>
                                    </p:set>
                                    <p:anim calcmode="lin" valueType="num">
                                      <p:cBhvr>
                                        <p:cTn id="61" dur="1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62" dur="10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63" dur="1000"/>
                                        <p:tgtEl>
                                          <p:spTgt spid="5">
                                            <p:txEl>
                                              <p:pRg st="1" end="1"/>
                                            </p:txEl>
                                          </p:spTgt>
                                        </p:tgtEl>
                                      </p:cBhvr>
                                    </p:animEffect>
                                  </p:childTnLst>
                                </p:cTn>
                              </p:par>
                            </p:childTnLst>
                          </p:cTn>
                        </p:par>
                        <p:par>
                          <p:cTn id="64" fill="hold" nodeType="afterGroup">
                            <p:stCondLst>
                              <p:cond delay="14500"/>
                            </p:stCondLst>
                            <p:childTnLst>
                              <p:par>
                                <p:cTn id="65" presetID="53" presetClass="entr" presetSubtype="16" fill="hold" grpId="0" nodeType="afterEffect">
                                  <p:stCondLst>
                                    <p:cond delay="0"/>
                                  </p:stCondLst>
                                  <p:childTnLst>
                                    <p:set>
                                      <p:cBhvr>
                                        <p:cTn id="66" dur="1" fill="hold">
                                          <p:stCondLst>
                                            <p:cond delay="0"/>
                                          </p:stCondLst>
                                        </p:cTn>
                                        <p:tgtEl>
                                          <p:spTgt spid="5">
                                            <p:txEl>
                                              <p:pRg st="2" end="2"/>
                                            </p:txEl>
                                          </p:spTgt>
                                        </p:tgtEl>
                                        <p:attrNameLst>
                                          <p:attrName>style.visibility</p:attrName>
                                        </p:attrNameLst>
                                      </p:cBhvr>
                                      <p:to>
                                        <p:strVal val="visible"/>
                                      </p:to>
                                    </p:set>
                                    <p:anim calcmode="lin" valueType="num">
                                      <p:cBhvr>
                                        <p:cTn id="67" dur="1000" fill="hold"/>
                                        <p:tgtEl>
                                          <p:spTgt spid="5">
                                            <p:txEl>
                                              <p:pRg st="2" end="2"/>
                                            </p:txEl>
                                          </p:spTgt>
                                        </p:tgtEl>
                                        <p:attrNameLst>
                                          <p:attrName>ppt_w</p:attrName>
                                        </p:attrNameLst>
                                      </p:cBhvr>
                                      <p:tavLst>
                                        <p:tav tm="0">
                                          <p:val>
                                            <p:fltVal val="0"/>
                                          </p:val>
                                        </p:tav>
                                        <p:tav tm="100000">
                                          <p:val>
                                            <p:strVal val="#ppt_w"/>
                                          </p:val>
                                        </p:tav>
                                      </p:tavLst>
                                    </p:anim>
                                    <p:anim calcmode="lin" valueType="num">
                                      <p:cBhvr>
                                        <p:cTn id="68" dur="1000" fill="hold"/>
                                        <p:tgtEl>
                                          <p:spTgt spid="5">
                                            <p:txEl>
                                              <p:pRg st="2" end="2"/>
                                            </p:txEl>
                                          </p:spTgt>
                                        </p:tgtEl>
                                        <p:attrNameLst>
                                          <p:attrName>ppt_h</p:attrName>
                                        </p:attrNameLst>
                                      </p:cBhvr>
                                      <p:tavLst>
                                        <p:tav tm="0">
                                          <p:val>
                                            <p:fltVal val="0"/>
                                          </p:val>
                                        </p:tav>
                                        <p:tav tm="100000">
                                          <p:val>
                                            <p:strVal val="#ppt_h"/>
                                          </p:val>
                                        </p:tav>
                                      </p:tavLst>
                                    </p:anim>
                                    <p:animEffect transition="in" filter="fade">
                                      <p:cBhvr>
                                        <p:cTn id="69" dur="1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p:bldP spid="3" grpId="0"/>
      <p:bldP spid="6"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0BD5344A-C3DB-7C49-B589-19BAF7E2093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0213" y="1423988"/>
            <a:ext cx="3152775" cy="474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BA9D706E-59CD-464F-9AA2-7ECFDBEE7907}"/>
              </a:ext>
            </a:extLst>
          </p:cNvPr>
          <p:cNvSpPr>
            <a:spLocks noChangeArrowheads="1"/>
          </p:cNvSpPr>
          <p:nvPr/>
        </p:nvSpPr>
        <p:spPr bwMode="auto">
          <a:xfrm>
            <a:off x="323850" y="762000"/>
            <a:ext cx="836295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49263" indent="-449263">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20000"/>
              </a:spcBef>
              <a:buClr>
                <a:schemeClr val="tx1"/>
              </a:buClr>
              <a:buSzPct val="75000"/>
              <a:buFont typeface="Wingdings" pitchFamily="2" charset="2"/>
              <a:buNone/>
            </a:pPr>
            <a:endParaRPr lang="en-US" altLang="zh-CN" sz="2400" b="0"/>
          </a:p>
          <a:p>
            <a:pPr eaLnBrk="1" hangingPunct="1">
              <a:lnSpc>
                <a:spcPct val="90000"/>
              </a:lnSpc>
              <a:spcBef>
                <a:spcPct val="20000"/>
              </a:spcBef>
              <a:buClr>
                <a:schemeClr val="tx1"/>
              </a:buClr>
              <a:buSzPct val="75000"/>
              <a:buFont typeface="Wingdings" pitchFamily="2" charset="2"/>
              <a:buChar char="l"/>
            </a:pPr>
            <a:endParaRPr lang="en-US" altLang="zh-CN" sz="2800" b="0">
              <a:solidFill>
                <a:srgbClr val="0000CC"/>
              </a:solidFill>
            </a:endParaRPr>
          </a:p>
        </p:txBody>
      </p:sp>
      <p:sp>
        <p:nvSpPr>
          <p:cNvPr id="6" name="AutoShape 5">
            <a:extLst>
              <a:ext uri="{FF2B5EF4-FFF2-40B4-BE49-F238E27FC236}">
                <a16:creationId xmlns:a16="http://schemas.microsoft.com/office/drawing/2014/main" id="{D0D574A5-712F-9A48-A9E2-B7F27B58F41A}"/>
              </a:ext>
            </a:extLst>
          </p:cNvPr>
          <p:cNvSpPr>
            <a:spLocks/>
          </p:cNvSpPr>
          <p:nvPr/>
        </p:nvSpPr>
        <p:spPr bwMode="auto">
          <a:xfrm>
            <a:off x="4419600" y="1989138"/>
            <a:ext cx="3962400" cy="609600"/>
          </a:xfrm>
          <a:prstGeom prst="borderCallout2">
            <a:avLst>
              <a:gd name="adj1" fmla="val 18750"/>
              <a:gd name="adj2" fmla="val -1731"/>
              <a:gd name="adj3" fmla="val 18750"/>
              <a:gd name="adj4" fmla="val -24222"/>
              <a:gd name="adj5" fmla="val 300815"/>
              <a:gd name="adj6" fmla="val -91301"/>
            </a:avLst>
          </a:prstGeom>
          <a:solidFill>
            <a:schemeClr val="tx1"/>
          </a:solidFill>
          <a:ln w="38100" algn="ctr">
            <a:solidFill>
              <a:srgbClr val="99CCFF"/>
            </a:solidFill>
            <a:miter lim="800000"/>
            <a:headEnd/>
            <a:tailEnd/>
          </a:ln>
        </p:spPr>
        <p:txBody>
          <a:bodyPr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nSpc>
                <a:spcPct val="90000"/>
              </a:lnSpc>
            </a:pP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Authentication(</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鉴别</a:t>
            </a: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7" name="AutoShape 6">
            <a:extLst>
              <a:ext uri="{FF2B5EF4-FFF2-40B4-BE49-F238E27FC236}">
                <a16:creationId xmlns:a16="http://schemas.microsoft.com/office/drawing/2014/main" id="{258065A8-CD44-3244-9D78-B4AB26DFE3FB}"/>
              </a:ext>
            </a:extLst>
          </p:cNvPr>
          <p:cNvSpPr>
            <a:spLocks/>
          </p:cNvSpPr>
          <p:nvPr/>
        </p:nvSpPr>
        <p:spPr bwMode="auto">
          <a:xfrm>
            <a:off x="4419600" y="2928938"/>
            <a:ext cx="3962400" cy="609600"/>
          </a:xfrm>
          <a:prstGeom prst="borderCallout2">
            <a:avLst>
              <a:gd name="adj1" fmla="val 18750"/>
              <a:gd name="adj2" fmla="val -1731"/>
              <a:gd name="adj3" fmla="val 18750"/>
              <a:gd name="adj4" fmla="val -17329"/>
              <a:gd name="adj5" fmla="val 166245"/>
              <a:gd name="adj6" fmla="val -54731"/>
            </a:avLst>
          </a:prstGeom>
          <a:solidFill>
            <a:schemeClr val="tx1"/>
          </a:solidFill>
          <a:ln w="38100" algn="ctr">
            <a:solidFill>
              <a:srgbClr val="99CCFF"/>
            </a:solidFill>
            <a:miter lim="800000"/>
            <a:headEnd/>
            <a:tailEnd/>
          </a:ln>
        </p:spPr>
        <p:txBody>
          <a:bodyPr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nSpc>
                <a:spcPct val="90000"/>
              </a:lnSpc>
            </a:pP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Accounting(</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记账</a:t>
            </a: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8" name="AutoShape 7">
            <a:extLst>
              <a:ext uri="{FF2B5EF4-FFF2-40B4-BE49-F238E27FC236}">
                <a16:creationId xmlns:a16="http://schemas.microsoft.com/office/drawing/2014/main" id="{E715A404-2043-5D4A-9689-E26E09760BDB}"/>
              </a:ext>
            </a:extLst>
          </p:cNvPr>
          <p:cNvSpPr>
            <a:spLocks/>
          </p:cNvSpPr>
          <p:nvPr/>
        </p:nvSpPr>
        <p:spPr bwMode="auto">
          <a:xfrm>
            <a:off x="4419600" y="3876675"/>
            <a:ext cx="3962400" cy="609600"/>
          </a:xfrm>
          <a:prstGeom prst="borderCallout2">
            <a:avLst>
              <a:gd name="adj1" fmla="val 20102"/>
              <a:gd name="adj2" fmla="val -1106"/>
              <a:gd name="adj3" fmla="val 18750"/>
              <a:gd name="adj4" fmla="val -8481"/>
              <a:gd name="adj5" fmla="val 171843"/>
              <a:gd name="adj6" fmla="val -70069"/>
            </a:avLst>
          </a:prstGeom>
          <a:solidFill>
            <a:schemeClr val="tx1"/>
          </a:solidFill>
          <a:ln w="38100" algn="ctr">
            <a:solidFill>
              <a:srgbClr val="99CCFF"/>
            </a:solidFill>
            <a:miter lim="800000"/>
            <a:headEnd/>
            <a:tailEnd/>
          </a:ln>
        </p:spPr>
        <p:txBody>
          <a:bodyPr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nSpc>
                <a:spcPct val="90000"/>
              </a:lnSpc>
            </a:pP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Auditing(</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审计</a:t>
            </a: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9" name="Rectangle 2">
            <a:extLst>
              <a:ext uri="{FF2B5EF4-FFF2-40B4-BE49-F238E27FC236}">
                <a16:creationId xmlns:a16="http://schemas.microsoft.com/office/drawing/2014/main" id="{E5AA91C3-97C6-C040-A0E8-B01E2635D997}"/>
              </a:ext>
            </a:extLst>
          </p:cNvPr>
          <p:cNvSpPr>
            <a:spLocks noGrp="1" noChangeArrowheads="1"/>
          </p:cNvSpPr>
          <p:nvPr>
            <p:ph type="title"/>
          </p:nvPr>
        </p:nvSpPr>
        <p:spPr bwMode="auto">
          <a:xfrm>
            <a:off x="430213" y="719138"/>
            <a:ext cx="8229600" cy="655637"/>
          </a:xfr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sz="3600" dirty="0">
                <a:solidFill>
                  <a:srgbClr val="0000F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5.6 Kerberos</a:t>
            </a:r>
            <a:r>
              <a:rPr lang="zh-CN" altLang="en-US" sz="3600" dirty="0">
                <a:solidFill>
                  <a:srgbClr val="0000F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鉴别协议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nodePh="1">
                                  <p:stCondLst>
                                    <p:cond delay="0"/>
                                  </p:stCondLst>
                                  <p:endCondLst>
                                    <p:cond evt="begin" delay="0">
                                      <p:tn val="12"/>
                                    </p:cond>
                                  </p:endCondLst>
                                  <p:childTnLst>
                                    <p:set>
                                      <p:cBhvr>
                                        <p:cTn id="13"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6">
                                            <p:bg/>
                                          </p:spTgt>
                                        </p:tgtEl>
                                        <p:attrNameLst>
                                          <p:attrName>style.visibility</p:attrName>
                                        </p:attrNameLst>
                                      </p:cBhvr>
                                      <p:to>
                                        <p:strVal val="visible"/>
                                      </p:to>
                                    </p:set>
                                    <p:animEffect transition="in" filter="wipe(down)">
                                      <p:cBhvr>
                                        <p:cTn id="18" dur="500"/>
                                        <p:tgtEl>
                                          <p:spTgt spid="6">
                                            <p:bg/>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wipe(down)">
                                      <p:cBhvr>
                                        <p:cTn id="21" dur="500"/>
                                        <p:tgtEl>
                                          <p:spTgt spid="6">
                                            <p:txEl>
                                              <p:pRg st="0" end="0"/>
                                            </p:txEl>
                                          </p:spTgt>
                                        </p:tgtEl>
                                      </p:cBhvr>
                                    </p:animEffect>
                                  </p:childTnLst>
                                </p:cTn>
                              </p:par>
                            </p:childTnLst>
                          </p:cTn>
                        </p:par>
                        <p:par>
                          <p:cTn id="22" fill="hold" nodeType="afterGroup">
                            <p:stCondLst>
                              <p:cond delay="500"/>
                            </p:stCondLst>
                            <p:childTnLst>
                              <p:par>
                                <p:cTn id="23" presetID="22" presetClass="entr" presetSubtype="4" fill="hold" grpId="0" nodeType="afterEffect">
                                  <p:stCondLst>
                                    <p:cond delay="50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childTnLst>
                          </p:cTn>
                        </p:par>
                        <p:par>
                          <p:cTn id="26" fill="hold" nodeType="afterGroup">
                            <p:stCondLst>
                              <p:cond delay="1500"/>
                            </p:stCondLst>
                            <p:childTnLst>
                              <p:par>
                                <p:cTn id="27" presetID="22" presetClass="entr" presetSubtype="4" fill="hold" grpId="0" nodeType="afterEffect">
                                  <p:stCondLst>
                                    <p:cond delay="500"/>
                                  </p:stCondLst>
                                  <p:childTnLst>
                                    <p:set>
                                      <p:cBhvr>
                                        <p:cTn id="28" dur="1" fill="hold">
                                          <p:stCondLst>
                                            <p:cond delay="0"/>
                                          </p:stCondLst>
                                        </p:cTn>
                                        <p:tgtEl>
                                          <p:spTgt spid="8"/>
                                        </p:tgtEl>
                                        <p:attrNameLst>
                                          <p:attrName>style.visibility</p:attrName>
                                        </p:attrNameLst>
                                      </p:cBhvr>
                                      <p:to>
                                        <p:strVal val="visible"/>
                                      </p:to>
                                    </p:set>
                                    <p:animEffect transition="in" filter="wipe(down)">
                                      <p:cBhvr>
                                        <p:cTn id="29" dur="500"/>
                                        <p:tgtEl>
                                          <p:spTgt spid="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7" presetClass="emph" presetSubtype="0" fill="hold" nodeType="clickEffect">
                                  <p:stCondLst>
                                    <p:cond delay="0"/>
                                  </p:stCondLst>
                                  <p:childTnLst>
                                    <p:animClr clrSpc="rgb" dir="cw">
                                      <p:cBhvr override="childStyle">
                                        <p:cTn id="33" dur="500" autoRev="1" fill="hold"/>
                                        <p:tgtEl>
                                          <p:spTgt spid="6">
                                            <p:txEl>
                                              <p:pRg st="0" end="0"/>
                                            </p:txEl>
                                          </p:spTgt>
                                        </p:tgtEl>
                                        <p:attrNameLst>
                                          <p:attrName>style.color</p:attrName>
                                        </p:attrNameLst>
                                      </p:cBhvr>
                                      <p:to>
                                        <a:schemeClr val="bg1"/>
                                      </p:to>
                                    </p:animClr>
                                    <p:animClr clrSpc="rgb" dir="cw">
                                      <p:cBhvr>
                                        <p:cTn id="34" dur="500" autoRev="1" fill="hold"/>
                                        <p:tgtEl>
                                          <p:spTgt spid="6">
                                            <p:txEl>
                                              <p:pRg st="0" end="0"/>
                                            </p:txEl>
                                          </p:spTgt>
                                        </p:tgtEl>
                                        <p:attrNameLst>
                                          <p:attrName>fillcolor</p:attrName>
                                        </p:attrNameLst>
                                      </p:cBhvr>
                                      <p:to>
                                        <a:schemeClr val="bg1"/>
                                      </p:to>
                                    </p:animClr>
                                    <p:set>
                                      <p:cBhvr>
                                        <p:cTn id="35" dur="500" autoRev="1" fill="hold"/>
                                        <p:tgtEl>
                                          <p:spTgt spid="6">
                                            <p:txEl>
                                              <p:pRg st="0" end="0"/>
                                            </p:txEl>
                                          </p:spTgt>
                                        </p:tgtEl>
                                        <p:attrNameLst>
                                          <p:attrName>fill.type</p:attrName>
                                        </p:attrNameLst>
                                      </p:cBhvr>
                                      <p:to>
                                        <p:strVal val="solid"/>
                                      </p:to>
                                    </p:set>
                                    <p:set>
                                      <p:cBhvr>
                                        <p:cTn id="36" dur="500" autoRev="1" fill="hold"/>
                                        <p:tgtEl>
                                          <p:spTgt spid="6">
                                            <p:txEl>
                                              <p:pRg st="0" end="0"/>
                                            </p:txEl>
                                          </p:spTgt>
                                        </p:tgtEl>
                                        <p:attrNameLst>
                                          <p:attrName>fill.on</p:attrName>
                                        </p:attrNameLst>
                                      </p:cBhvr>
                                      <p:to>
                                        <p:strVal val="true"/>
                                      </p:to>
                                    </p:set>
                                  </p:childTnLst>
                                </p:cTn>
                              </p:par>
                              <p:par>
                                <p:cTn id="37" presetID="3" presetClass="emph" presetSubtype="2" fill="hold" nodeType="withEffect">
                                  <p:stCondLst>
                                    <p:cond delay="500"/>
                                  </p:stCondLst>
                                  <p:childTnLst>
                                    <p:animClr clrSpc="rgb" dir="cw">
                                      <p:cBhvr override="childStyle">
                                        <p:cTn id="38" dur="2000" fill="hold"/>
                                        <p:tgtEl>
                                          <p:spTgt spid="6">
                                            <p:txEl>
                                              <p:pRg st="0" end="0"/>
                                            </p:txEl>
                                          </p:spTgt>
                                        </p:tgtEl>
                                        <p:attrNameLst>
                                          <p:attrName>style.color</p:attrName>
                                        </p:attrNameLst>
                                      </p:cBhvr>
                                      <p:to>
                                        <a:srgbClr val="FF3399"/>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7" grpId="0" animBg="1"/>
      <p:bldP spid="8"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C86EB772-5010-4444-8570-2AFE8F1AEBC7}"/>
              </a:ext>
            </a:extLst>
          </p:cNvPr>
          <p:cNvSpPr>
            <a:spLocks noGrp="1"/>
          </p:cNvSpPr>
          <p:nvPr>
            <p:ph type="title"/>
          </p:nvPr>
        </p:nvSpPr>
        <p:spPr>
          <a:xfrm>
            <a:off x="533400" y="838200"/>
            <a:ext cx="6513513" cy="609600"/>
          </a:xfrm>
        </p:spPr>
        <p:txBody>
          <a:bodyPr vert="horz" wrap="square" lIns="91440" tIns="45720" rIns="91440" bIns="45720" numCol="1" anchor="t" anchorCtr="0" compatLnSpc="1">
            <a:prstTxWarp prst="textNoShape">
              <a:avLst/>
            </a:prstTxWarp>
          </a:bodyPr>
          <a:lstStyle/>
          <a:p>
            <a:pPr eaLnBrk="1" hangingPunct="1">
              <a:defRPr/>
            </a:pPr>
            <a:r>
              <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Kerberos</a:t>
            </a: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鉴别协议使用条件</a:t>
            </a:r>
          </a:p>
        </p:txBody>
      </p:sp>
      <p:sp>
        <p:nvSpPr>
          <p:cNvPr id="5" name="内容占位符 2">
            <a:extLst>
              <a:ext uri="{FF2B5EF4-FFF2-40B4-BE49-F238E27FC236}">
                <a16:creationId xmlns:a16="http://schemas.microsoft.com/office/drawing/2014/main" id="{3C0673D9-848B-854F-BFFB-3E015D373EBB}"/>
              </a:ext>
            </a:extLst>
          </p:cNvPr>
          <p:cNvSpPr>
            <a:spLocks noGrp="1"/>
          </p:cNvSpPr>
          <p:nvPr>
            <p:ph idx="1"/>
          </p:nvPr>
        </p:nvSpPr>
        <p:spPr>
          <a:xfrm>
            <a:off x="549275" y="1752600"/>
            <a:ext cx="8366125" cy="4114800"/>
          </a:xfrm>
        </p:spPr>
        <p:txBody>
          <a:bodyPr vert="horz" wrap="square" lIns="91440" tIns="45720" rIns="91440" bIns="45720" numCol="1" anchor="t" anchorCtr="0" compatLnSpc="1">
            <a:prstTxWarp prst="textNoShape">
              <a:avLst/>
            </a:prstTxWarp>
            <a:normAutofit/>
          </a:bodyPr>
          <a:lstStyle/>
          <a:p>
            <a:pPr eaLnBrk="1" hangingPunct="1">
              <a:buClr>
                <a:srgbClr val="0000FF"/>
              </a:buClr>
              <a:buFont typeface="Wingdings" pitchFamily="2" charset="2"/>
              <a:buChar char="p"/>
              <a:defRPr/>
            </a:pP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有一个时钟基本同步的环境</a:t>
            </a:r>
            <a:endParaRPr lang="en-US" altLang="zh-CN" sz="2400">
              <a:solidFill>
                <a:schemeClr val="bg2"/>
              </a:solidFill>
              <a:latin typeface="Times New Roman" panose="02020603050405020304" pitchFamily="18" charset="0"/>
              <a:ea typeface="黑体" panose="02010609060101010101" pitchFamily="49" charset="-122"/>
              <a:cs typeface="Times New Roman" panose="02020603050405020304" pitchFamily="18" charset="0"/>
            </a:endParaRPr>
          </a:p>
          <a:p>
            <a:pPr eaLnBrk="1" hangingPunct="1">
              <a:buClr>
                <a:srgbClr val="0000FF"/>
              </a:buClr>
              <a:buFont typeface="Wingdings" pitchFamily="2" charset="2"/>
              <a:buChar char="p"/>
              <a:defRPr/>
            </a:pP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客户机与</a:t>
            </a:r>
            <a:r>
              <a:rPr lang="en-US" altLang="zh-CN"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KDC</a:t>
            </a: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 Key Distribution Center </a:t>
            </a: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KDC</a:t>
            </a: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与服务器在协议工作前已经有了各自的共享密钥</a:t>
            </a:r>
            <a:endParaRPr lang="en-US" altLang="zh-CN" sz="2400">
              <a:solidFill>
                <a:schemeClr val="bg2"/>
              </a:solidFill>
              <a:latin typeface="Times New Roman" panose="02020603050405020304" pitchFamily="18" charset="0"/>
              <a:ea typeface="黑体" panose="02010609060101010101" pitchFamily="49" charset="-122"/>
              <a:cs typeface="Times New Roman" panose="02020603050405020304" pitchFamily="18" charset="0"/>
            </a:endParaRPr>
          </a:p>
          <a:p>
            <a:pPr eaLnBrk="1" hangingPunct="1">
              <a:buClr>
                <a:srgbClr val="0000FF"/>
              </a:buClr>
              <a:buFont typeface="Wingdings" pitchFamily="2" charset="2"/>
              <a:buChar char="p"/>
              <a:defRPr/>
            </a:pP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组成</a:t>
            </a:r>
            <a:endParaRPr lang="en-US" altLang="zh-CN" sz="2400">
              <a:solidFill>
                <a:schemeClr val="bg2"/>
              </a:solidFill>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buClr>
                <a:srgbClr val="FF0000"/>
              </a:buClr>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密钥分发中心（</a:t>
            </a:r>
            <a:r>
              <a:rPr lang="en-US" altLang="zh-CN"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KDC</a:t>
            </a:r>
            <a:r>
              <a:rPr lang="zh-CN" altLang="en-US" sz="24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）：由两个独立的逻辑部分组成</a:t>
            </a:r>
            <a:endParaRPr lang="en-US" altLang="zh-CN" sz="2400">
              <a:solidFill>
                <a:schemeClr val="bg2"/>
              </a:solidFill>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buClr>
                <a:srgbClr val="0000FF"/>
              </a:buClr>
              <a:buFont typeface="Wingdings" pitchFamily="2" charset="2"/>
              <a:buChar char="l"/>
              <a:defRPr/>
            </a:pPr>
            <a:r>
              <a:rPr lang="zh-CN" altLang="en-US">
                <a:solidFill>
                  <a:schemeClr val="bg2"/>
                </a:solidFill>
                <a:latin typeface="Times New Roman" panose="02020603050405020304" pitchFamily="18" charset="0"/>
                <a:ea typeface="黑体" panose="02010609060101010101" pitchFamily="49" charset="-122"/>
                <a:cs typeface="Times New Roman" panose="02020603050405020304" pitchFamily="18" charset="0"/>
              </a:rPr>
              <a:t>认证服务器</a:t>
            </a:r>
            <a:r>
              <a:rPr lang="en-US" altLang="zh-CN">
                <a:solidFill>
                  <a:schemeClr val="bg2"/>
                </a:solidFill>
                <a:latin typeface="Times New Roman" panose="02020603050405020304" pitchFamily="18" charset="0"/>
                <a:ea typeface="黑体" panose="02010609060101010101" pitchFamily="49" charset="-122"/>
                <a:cs typeface="Times New Roman" panose="02020603050405020304" pitchFamily="18" charset="0"/>
              </a:rPr>
              <a:t>AS</a:t>
            </a:r>
            <a:r>
              <a:rPr lang="zh-CN" altLang="en-US">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a:solidFill>
                  <a:schemeClr val="bg2"/>
                </a:solidFill>
                <a:latin typeface="Times New Roman" panose="02020603050405020304" pitchFamily="18" charset="0"/>
                <a:ea typeface="黑体" panose="02010609060101010101" pitchFamily="49" charset="-122"/>
                <a:cs typeface="Times New Roman" panose="02020603050405020304" pitchFamily="18" charset="0"/>
              </a:rPr>
              <a:t>Authentication Server</a:t>
            </a:r>
            <a:r>
              <a:rPr lang="zh-CN" altLang="en-US">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a:solidFill>
                <a:schemeClr val="bg2"/>
              </a:solidFill>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buClr>
                <a:srgbClr val="0000FF"/>
              </a:buClr>
              <a:buFont typeface="Wingdings" pitchFamily="2" charset="2"/>
              <a:buChar char="l"/>
              <a:defRPr/>
            </a:pPr>
            <a:r>
              <a:rPr lang="zh-CN" altLang="en-US">
                <a:solidFill>
                  <a:schemeClr val="bg2"/>
                </a:solidFill>
                <a:latin typeface="Times New Roman" panose="02020603050405020304" pitchFamily="18" charset="0"/>
                <a:ea typeface="黑体" panose="02010609060101010101" pitchFamily="49" charset="-122"/>
                <a:cs typeface="Times New Roman" panose="02020603050405020304" pitchFamily="18" charset="0"/>
              </a:rPr>
              <a:t>票据授权服务器</a:t>
            </a:r>
            <a:r>
              <a:rPr lang="en-US" altLang="zh-CN">
                <a:solidFill>
                  <a:schemeClr val="bg2"/>
                </a:solidFill>
                <a:latin typeface="Times New Roman" panose="02020603050405020304" pitchFamily="18" charset="0"/>
                <a:ea typeface="黑体" panose="02010609060101010101" pitchFamily="49" charset="-122"/>
                <a:cs typeface="Times New Roman" panose="02020603050405020304" pitchFamily="18" charset="0"/>
              </a:rPr>
              <a:t>TGS</a:t>
            </a:r>
            <a:r>
              <a:rPr lang="zh-CN" altLang="en-US">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a:solidFill>
                  <a:schemeClr val="bg2"/>
                </a:solidFill>
                <a:latin typeface="Times New Roman" panose="02020603050405020304" pitchFamily="18" charset="0"/>
                <a:ea typeface="黑体" panose="02010609060101010101" pitchFamily="49" charset="-122"/>
                <a:cs typeface="Times New Roman" panose="02020603050405020304" pitchFamily="18" charset="0"/>
              </a:rPr>
              <a:t>Ticket Granting Server</a:t>
            </a:r>
            <a:r>
              <a:rPr lang="zh-CN" altLang="en-US">
                <a:solidFill>
                  <a:schemeClr val="bg2"/>
                </a:solidFill>
                <a:latin typeface="黑体" panose="02010609060101010101" pitchFamily="49" charset="-122"/>
                <a:ea typeface="黑体" panose="02010609060101010101" pitchFamily="49" charset="-122"/>
              </a:rPr>
              <a:t>）</a:t>
            </a:r>
            <a:endParaRPr lang="en-US" altLang="zh-CN">
              <a:solidFill>
                <a:schemeClr val="bg2"/>
              </a:solidFill>
              <a:latin typeface="黑体" panose="02010609060101010101" pitchFamily="49" charset="-122"/>
              <a:ea typeface="黑体" panose="02010609060101010101" pitchFamily="49" charset="-122"/>
            </a:endParaRPr>
          </a:p>
          <a:p>
            <a:pPr lvl="1" eaLnBrk="1" hangingPunct="1">
              <a:buClr>
                <a:srgbClr val="FF0000"/>
              </a:buClr>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票据授权票据</a:t>
            </a:r>
            <a:r>
              <a:rPr lang="en-US" altLang="zh-CN" sz="2400">
                <a:solidFill>
                  <a:schemeClr val="bg2"/>
                </a:solidFill>
                <a:latin typeface="Times New Roman" panose="02020603050405020304" pitchFamily="18" charset="0"/>
                <a:ea typeface="黑体" panose="02010609060101010101" pitchFamily="49" charset="-122"/>
              </a:rPr>
              <a:t>TGT</a:t>
            </a:r>
          </a:p>
          <a:p>
            <a:pPr eaLnBrk="1" hangingPunct="1">
              <a:defRPr/>
            </a:pPr>
            <a:endParaRPr lang="en-US" altLang="zh-CN" sz="2400">
              <a:solidFill>
                <a:schemeClr val="bg2"/>
              </a:solidFill>
              <a:latin typeface="黑体" panose="02010609060101010101" pitchFamily="49" charset="-122"/>
              <a:ea typeface="黑体" panose="02010609060101010101" pitchFamily="49"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3">
            <a:extLst>
              <a:ext uri="{FF2B5EF4-FFF2-40B4-BE49-F238E27FC236}">
                <a16:creationId xmlns:a16="http://schemas.microsoft.com/office/drawing/2014/main" id="{C316CA45-AC73-1F4B-BB65-4338BF294642}"/>
              </a:ext>
            </a:extLst>
          </p:cNvPr>
          <p:cNvSpPr>
            <a:spLocks noChangeArrowheads="1"/>
          </p:cNvSpPr>
          <p:nvPr/>
        </p:nvSpPr>
        <p:spPr bwMode="auto">
          <a:xfrm>
            <a:off x="3305175" y="2209800"/>
            <a:ext cx="1401763" cy="1498600"/>
          </a:xfrm>
          <a:prstGeom prst="ellipse">
            <a:avLst/>
          </a:prstGeom>
          <a:solidFill>
            <a:srgbClr val="33CC33"/>
          </a:solidFill>
          <a:ln w="28575" cap="sq">
            <a:solidFill>
              <a:schemeClr val="bg2"/>
            </a:solidFill>
            <a:round/>
            <a:headEnd type="none" w="sm" len="sm"/>
            <a:tailEnd type="none" w="sm" len="sm"/>
          </a:ln>
          <a:effec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en-US" altLang="zh-CN" sz="20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rPr>
              <a:t>Kerberos</a:t>
            </a:r>
          </a:p>
          <a:p>
            <a:pPr eaLnBrk="1" hangingPunct="1">
              <a:lnSpc>
                <a:spcPct val="90000"/>
              </a:lnSpc>
              <a:defRPr/>
            </a:pPr>
            <a:r>
              <a:rPr lang="zh-CN" altLang="en-US" sz="20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rPr>
              <a:t>认证中心</a:t>
            </a:r>
          </a:p>
        </p:txBody>
      </p:sp>
      <p:sp>
        <p:nvSpPr>
          <p:cNvPr id="6" name="Oval 4">
            <a:extLst>
              <a:ext uri="{FF2B5EF4-FFF2-40B4-BE49-F238E27FC236}">
                <a16:creationId xmlns:a16="http://schemas.microsoft.com/office/drawing/2014/main" id="{D4541524-C964-8242-AC37-02877F17FED7}"/>
              </a:ext>
            </a:extLst>
          </p:cNvPr>
          <p:cNvSpPr>
            <a:spLocks noChangeArrowheads="1"/>
          </p:cNvSpPr>
          <p:nvPr/>
        </p:nvSpPr>
        <p:spPr bwMode="auto">
          <a:xfrm>
            <a:off x="5791200" y="2235200"/>
            <a:ext cx="1398588" cy="1498600"/>
          </a:xfrm>
          <a:prstGeom prst="ellipse">
            <a:avLst/>
          </a:prstGeom>
          <a:solidFill>
            <a:schemeClr val="bg1">
              <a:lumMod val="60000"/>
              <a:lumOff val="40000"/>
            </a:schemeClr>
          </a:solidFill>
          <a:ln w="28575" cap="sq">
            <a:solidFill>
              <a:schemeClr val="bg2"/>
            </a:solidFill>
            <a:round/>
            <a:headEnd type="none" w="sm" len="sm"/>
            <a:tailEnd type="none" w="sm" len="sm"/>
          </a:ln>
          <a:effectLst/>
        </p:spPr>
        <p:txBody>
          <a:bodyPr wrap="none" anchor="ctr"/>
          <a:lstStyle/>
          <a:p>
            <a:pPr eaLnBrk="1" hangingPunct="1">
              <a:lnSpc>
                <a:spcPct val="90000"/>
              </a:lnSpc>
              <a:defRPr/>
            </a:pPr>
            <a:r>
              <a:rPr lang="en-US" altLang="zh-CN" sz="2000" dirty="0">
                <a:solidFill>
                  <a:schemeClr val="bg2"/>
                </a:solidFill>
                <a:effectLst>
                  <a:outerShdw blurRad="38100" dist="38100" dir="2700000" algn="tl">
                    <a:srgbClr val="000000"/>
                  </a:outerShdw>
                </a:effectLst>
                <a:latin typeface="Times New Roman" panose="02020603050405020304" pitchFamily="18" charset="0"/>
                <a:ea typeface="黑体" panose="02010609060101010101" pitchFamily="49" charset="-122"/>
                <a:cs typeface="Times New Roman" panose="02020603050405020304" pitchFamily="18" charset="0"/>
              </a:rPr>
              <a:t>TGS</a:t>
            </a:r>
            <a:r>
              <a:rPr lang="zh-CN" altLang="en-US" sz="2000" dirty="0">
                <a:solidFill>
                  <a:schemeClr val="bg2"/>
                </a:solidFill>
                <a:effectLst>
                  <a:outerShdw blurRad="38100" dist="38100" dir="2700000" algn="tl">
                    <a:srgbClr val="000000"/>
                  </a:outerShdw>
                </a:effectLst>
                <a:latin typeface="Times New Roman" panose="02020603050405020304" pitchFamily="18" charset="0"/>
                <a:ea typeface="黑体" panose="02010609060101010101" pitchFamily="49" charset="-122"/>
                <a:cs typeface="Times New Roman" panose="02020603050405020304" pitchFamily="18" charset="0"/>
              </a:rPr>
              <a:t>票</a:t>
            </a:r>
          </a:p>
          <a:p>
            <a:pPr eaLnBrk="1" hangingPunct="1">
              <a:lnSpc>
                <a:spcPct val="90000"/>
              </a:lnSpc>
              <a:defRPr/>
            </a:pPr>
            <a:r>
              <a:rPr lang="zh-CN" altLang="en-US" sz="2000" dirty="0">
                <a:solidFill>
                  <a:schemeClr val="bg2"/>
                </a:solidFill>
                <a:effectLst>
                  <a:outerShdw blurRad="38100" dist="38100" dir="2700000" algn="tl">
                    <a:srgbClr val="000000"/>
                  </a:outerShdw>
                </a:effectLst>
                <a:latin typeface="Times New Roman" panose="02020603050405020304" pitchFamily="18" charset="0"/>
                <a:ea typeface="黑体" panose="02010609060101010101" pitchFamily="49" charset="-122"/>
                <a:cs typeface="Times New Roman" panose="02020603050405020304" pitchFamily="18" charset="0"/>
              </a:rPr>
              <a:t>据中心</a:t>
            </a:r>
          </a:p>
        </p:txBody>
      </p:sp>
      <p:sp>
        <p:nvSpPr>
          <p:cNvPr id="7" name="Oval 5">
            <a:extLst>
              <a:ext uri="{FF2B5EF4-FFF2-40B4-BE49-F238E27FC236}">
                <a16:creationId xmlns:a16="http://schemas.microsoft.com/office/drawing/2014/main" id="{391A459B-35B6-8E48-BDA4-2FDCF74D0193}"/>
              </a:ext>
            </a:extLst>
          </p:cNvPr>
          <p:cNvSpPr>
            <a:spLocks noChangeArrowheads="1"/>
          </p:cNvSpPr>
          <p:nvPr/>
        </p:nvSpPr>
        <p:spPr bwMode="auto">
          <a:xfrm>
            <a:off x="4616450" y="4292600"/>
            <a:ext cx="1117600" cy="1498600"/>
          </a:xfrm>
          <a:prstGeom prst="ellipse">
            <a:avLst/>
          </a:prstGeom>
          <a:solidFill>
            <a:schemeClr val="accent1"/>
          </a:solidFill>
          <a:ln w="28575" cap="sq">
            <a:solidFill>
              <a:schemeClr val="bg2"/>
            </a:solidFill>
            <a:round/>
            <a:headEnd type="none" w="sm" len="sm"/>
            <a:tailEnd type="none" w="sm" len="sm"/>
          </a:ln>
          <a:effec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a:solidFill>
                  <a:schemeClr val="bg2"/>
                </a:solidFill>
                <a:effectLst>
                  <a:outerShdw blurRad="38100" dist="38100" dir="2700000" algn="tl">
                    <a:srgbClr val="FFFFFF"/>
                  </a:outerShdw>
                </a:effectLst>
                <a:latin typeface="黑体" panose="02010609060101010101" pitchFamily="49" charset="-122"/>
                <a:ea typeface="黑体" panose="02010609060101010101" pitchFamily="49" charset="-122"/>
              </a:rPr>
              <a:t>客户机</a:t>
            </a:r>
          </a:p>
        </p:txBody>
      </p:sp>
      <p:sp>
        <p:nvSpPr>
          <p:cNvPr id="8" name="Oval 6">
            <a:extLst>
              <a:ext uri="{FF2B5EF4-FFF2-40B4-BE49-F238E27FC236}">
                <a16:creationId xmlns:a16="http://schemas.microsoft.com/office/drawing/2014/main" id="{C4DDB82E-6908-3A47-8B6C-804F693E8B68}"/>
              </a:ext>
            </a:extLst>
          </p:cNvPr>
          <p:cNvSpPr>
            <a:spLocks noChangeArrowheads="1"/>
          </p:cNvSpPr>
          <p:nvPr/>
        </p:nvSpPr>
        <p:spPr bwMode="auto">
          <a:xfrm>
            <a:off x="7796213" y="4292600"/>
            <a:ext cx="1195387" cy="1498600"/>
          </a:xfrm>
          <a:prstGeom prst="ellipse">
            <a:avLst/>
          </a:prstGeom>
          <a:solidFill>
            <a:srgbClr val="00B0F0"/>
          </a:solidFill>
          <a:ln w="28575" cap="sq">
            <a:solidFill>
              <a:schemeClr val="bg2"/>
            </a:solidFill>
            <a:round/>
            <a:headEnd type="none" w="sm" len="sm"/>
            <a:tailEnd type="none" w="sm" len="sm"/>
          </a:ln>
          <a:effec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a:solidFill>
                  <a:schemeClr val="bg2"/>
                </a:solidFill>
                <a:effectLst>
                  <a:outerShdw blurRad="38100" dist="38100" dir="2700000" algn="tl">
                    <a:srgbClr val="FFFFFF"/>
                  </a:outerShdw>
                </a:effectLst>
                <a:latin typeface="黑体" panose="02010609060101010101" pitchFamily="49" charset="-122"/>
                <a:ea typeface="黑体" panose="02010609060101010101" pitchFamily="49" charset="-122"/>
              </a:rPr>
              <a:t>服务器</a:t>
            </a:r>
          </a:p>
        </p:txBody>
      </p:sp>
      <p:sp>
        <p:nvSpPr>
          <p:cNvPr id="14" name="Rectangle 12">
            <a:extLst>
              <a:ext uri="{FF2B5EF4-FFF2-40B4-BE49-F238E27FC236}">
                <a16:creationId xmlns:a16="http://schemas.microsoft.com/office/drawing/2014/main" id="{04695909-D029-AA48-9A07-0EA49EB4F06F}"/>
              </a:ext>
            </a:extLst>
          </p:cNvPr>
          <p:cNvSpPr>
            <a:spLocks noChangeArrowheads="1"/>
          </p:cNvSpPr>
          <p:nvPr/>
        </p:nvSpPr>
        <p:spPr bwMode="auto">
          <a:xfrm>
            <a:off x="4092575" y="3959225"/>
            <a:ext cx="412750" cy="665163"/>
          </a:xfrm>
          <a:prstGeom prst="rect">
            <a:avLst/>
          </a:prstGeom>
          <a:noFill/>
          <a:ln>
            <a:solidFill>
              <a:schemeClr val="tx1"/>
            </a:solidFill>
          </a:ln>
          <a:effectLst/>
        </p:spPr>
        <p:txBody>
          <a:bodyPr wrap="none" anchor="ctr"/>
          <a:lstStyle>
            <a:lvl1pPr eaLnBrk="0" hangingPunct="0">
              <a:defRPr kumimoji="1" sz="4800" b="1">
                <a:solidFill>
                  <a:srgbClr val="FF0000"/>
                </a:solidFill>
                <a:latin typeface="隶书" panose="02010509060101010101" pitchFamily="49" charset="-122"/>
                <a:ea typeface="隶书" panose="02010509060101010101" pitchFamily="49" charset="-122"/>
              </a:defRPr>
            </a:lvl1pPr>
            <a:lvl2pPr marL="742950" indent="-285750" eaLnBrk="0" hangingPunct="0">
              <a:defRPr kumimoji="1" sz="4800" b="1">
                <a:solidFill>
                  <a:srgbClr val="FF0000"/>
                </a:solidFill>
                <a:latin typeface="隶书" panose="02010509060101010101" pitchFamily="49" charset="-122"/>
                <a:ea typeface="隶书" panose="02010509060101010101" pitchFamily="49" charset="-122"/>
              </a:defRPr>
            </a:lvl2pPr>
            <a:lvl3pPr marL="1143000" indent="-228600" eaLnBrk="0" hangingPunct="0">
              <a:defRPr kumimoji="1" sz="4800" b="1">
                <a:solidFill>
                  <a:srgbClr val="FF0000"/>
                </a:solidFill>
                <a:latin typeface="隶书" panose="02010509060101010101" pitchFamily="49" charset="-122"/>
                <a:ea typeface="隶书" panose="02010509060101010101" pitchFamily="49" charset="-122"/>
              </a:defRPr>
            </a:lvl3pPr>
            <a:lvl4pPr marL="1600200" indent="-228600" eaLnBrk="0" hangingPunct="0">
              <a:defRPr kumimoji="1" sz="4800" b="1">
                <a:solidFill>
                  <a:srgbClr val="FF0000"/>
                </a:solidFill>
                <a:latin typeface="隶书" panose="02010509060101010101" pitchFamily="49" charset="-122"/>
                <a:ea typeface="隶书" panose="02010509060101010101" pitchFamily="49" charset="-122"/>
              </a:defRPr>
            </a:lvl4pPr>
            <a:lvl5pPr marL="2057400" indent="-228600" eaLnBrk="0" hangingPunct="0">
              <a:defRPr kumimoji="1" sz="4800" b="1">
                <a:solidFill>
                  <a:srgbClr val="FF0000"/>
                </a:solidFill>
                <a:latin typeface="隶书" panose="02010509060101010101" pitchFamily="49" charset="-122"/>
                <a:ea typeface="隶书" panose="02010509060101010101" pitchFamily="49" charset="-122"/>
              </a:defRPr>
            </a:lvl5pPr>
            <a:lvl6pPr marL="25146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6pPr>
            <a:lvl7pPr marL="29718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7pPr>
            <a:lvl8pPr marL="34290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8pPr>
            <a:lvl9pPr marL="38862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9pPr>
          </a:lstStyle>
          <a:p>
            <a:pPr eaLnBrk="1" hangingPunct="1">
              <a:lnSpc>
                <a:spcPct val="90000"/>
              </a:lnSpc>
              <a:defRPr/>
            </a:pPr>
            <a:r>
              <a:rPr lang="en-US" altLang="zh-CN" sz="2000" b="0" dirty="0">
                <a:effectLst>
                  <a:outerShdw blurRad="38100" dist="38100" dir="2700000" algn="tl">
                    <a:srgbClr val="C0C0C0"/>
                  </a:outerShdw>
                </a:effectLst>
                <a:latin typeface="Times New Roman" panose="02020603050405020304" pitchFamily="18" charset="0"/>
              </a:rPr>
              <a:t>1</a:t>
            </a:r>
            <a:r>
              <a:rPr lang="zh-CN" altLang="en-US" sz="2000" b="0" dirty="0">
                <a:effectLst>
                  <a:outerShdw blurRad="38100" dist="38100" dir="2700000" algn="tl">
                    <a:srgbClr val="C0C0C0"/>
                  </a:outerShdw>
                </a:effectLst>
                <a:latin typeface="Times New Roman" panose="02020603050405020304" pitchFamily="18" charset="0"/>
              </a:rPr>
              <a:t>）</a:t>
            </a:r>
            <a:endParaRPr lang="en-US" altLang="zh-CN" sz="2000" b="0" dirty="0">
              <a:effectLst>
                <a:outerShdw blurRad="38100" dist="38100" dir="2700000" algn="tl">
                  <a:srgbClr val="C0C0C0"/>
                </a:outerShdw>
              </a:effectLst>
              <a:latin typeface="Times New Roman" panose="02020603050405020304" pitchFamily="18" charset="0"/>
            </a:endParaRPr>
          </a:p>
        </p:txBody>
      </p:sp>
      <p:sp>
        <p:nvSpPr>
          <p:cNvPr id="15" name="Rectangle 13">
            <a:extLst>
              <a:ext uri="{FF2B5EF4-FFF2-40B4-BE49-F238E27FC236}">
                <a16:creationId xmlns:a16="http://schemas.microsoft.com/office/drawing/2014/main" id="{D68F675F-E908-5342-AFB0-861A98C81D17}"/>
              </a:ext>
            </a:extLst>
          </p:cNvPr>
          <p:cNvSpPr>
            <a:spLocks noChangeArrowheads="1"/>
          </p:cNvSpPr>
          <p:nvPr/>
        </p:nvSpPr>
        <p:spPr bwMode="auto">
          <a:xfrm>
            <a:off x="4648200" y="3541713"/>
            <a:ext cx="412750" cy="666750"/>
          </a:xfrm>
          <a:prstGeom prst="rect">
            <a:avLst/>
          </a:prstGeom>
          <a:noFill/>
          <a:ln>
            <a:solidFill>
              <a:schemeClr val="tx1"/>
            </a:solidFill>
          </a:ln>
          <a:effectLst/>
        </p:spPr>
        <p:txBody>
          <a:bodyPr wrap="none" anchor="ctr"/>
          <a:lstStyle>
            <a:lvl1pPr eaLnBrk="0" hangingPunct="0">
              <a:defRPr kumimoji="1" sz="4800" b="1">
                <a:solidFill>
                  <a:srgbClr val="FF0000"/>
                </a:solidFill>
                <a:latin typeface="隶书" panose="02010509060101010101" pitchFamily="49" charset="-122"/>
                <a:ea typeface="隶书" panose="02010509060101010101" pitchFamily="49" charset="-122"/>
              </a:defRPr>
            </a:lvl1pPr>
            <a:lvl2pPr marL="742950" indent="-285750" eaLnBrk="0" hangingPunct="0">
              <a:defRPr kumimoji="1" sz="4800" b="1">
                <a:solidFill>
                  <a:srgbClr val="FF0000"/>
                </a:solidFill>
                <a:latin typeface="隶书" panose="02010509060101010101" pitchFamily="49" charset="-122"/>
                <a:ea typeface="隶书" panose="02010509060101010101" pitchFamily="49" charset="-122"/>
              </a:defRPr>
            </a:lvl2pPr>
            <a:lvl3pPr marL="1143000" indent="-228600" eaLnBrk="0" hangingPunct="0">
              <a:defRPr kumimoji="1" sz="4800" b="1">
                <a:solidFill>
                  <a:srgbClr val="FF0000"/>
                </a:solidFill>
                <a:latin typeface="隶书" panose="02010509060101010101" pitchFamily="49" charset="-122"/>
                <a:ea typeface="隶书" panose="02010509060101010101" pitchFamily="49" charset="-122"/>
              </a:defRPr>
            </a:lvl3pPr>
            <a:lvl4pPr marL="1600200" indent="-228600" eaLnBrk="0" hangingPunct="0">
              <a:defRPr kumimoji="1" sz="4800" b="1">
                <a:solidFill>
                  <a:srgbClr val="FF0000"/>
                </a:solidFill>
                <a:latin typeface="隶书" panose="02010509060101010101" pitchFamily="49" charset="-122"/>
                <a:ea typeface="隶书" panose="02010509060101010101" pitchFamily="49" charset="-122"/>
              </a:defRPr>
            </a:lvl4pPr>
            <a:lvl5pPr marL="2057400" indent="-228600" eaLnBrk="0" hangingPunct="0">
              <a:defRPr kumimoji="1" sz="4800" b="1">
                <a:solidFill>
                  <a:srgbClr val="FF0000"/>
                </a:solidFill>
                <a:latin typeface="隶书" panose="02010509060101010101" pitchFamily="49" charset="-122"/>
                <a:ea typeface="隶书" panose="02010509060101010101" pitchFamily="49" charset="-122"/>
              </a:defRPr>
            </a:lvl5pPr>
            <a:lvl6pPr marL="25146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6pPr>
            <a:lvl7pPr marL="29718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7pPr>
            <a:lvl8pPr marL="34290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8pPr>
            <a:lvl9pPr marL="38862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9pPr>
          </a:lstStyle>
          <a:p>
            <a:pPr eaLnBrk="1" hangingPunct="1">
              <a:lnSpc>
                <a:spcPct val="90000"/>
              </a:lnSpc>
              <a:defRPr/>
            </a:pPr>
            <a:r>
              <a:rPr lang="en-US" altLang="zh-CN" sz="2000" b="0" dirty="0">
                <a:effectLst>
                  <a:outerShdw blurRad="38100" dist="38100" dir="2700000" algn="tl">
                    <a:srgbClr val="C0C0C0"/>
                  </a:outerShdw>
                </a:effectLst>
                <a:latin typeface="Times New Roman" panose="02020603050405020304" pitchFamily="18" charset="0"/>
              </a:rPr>
              <a:t>2</a:t>
            </a:r>
            <a:r>
              <a:rPr lang="zh-CN" altLang="en-US" sz="2000" b="0" dirty="0">
                <a:effectLst>
                  <a:outerShdw blurRad="38100" dist="38100" dir="2700000" algn="tl">
                    <a:srgbClr val="C0C0C0"/>
                  </a:outerShdw>
                </a:effectLst>
                <a:latin typeface="Times New Roman" panose="02020603050405020304" pitchFamily="18" charset="0"/>
              </a:rPr>
              <a:t>）</a:t>
            </a:r>
            <a:endParaRPr lang="en-US" altLang="zh-CN" sz="2000" b="0" dirty="0">
              <a:effectLst>
                <a:outerShdw blurRad="38100" dist="38100" dir="2700000" algn="tl">
                  <a:srgbClr val="C0C0C0"/>
                </a:outerShdw>
              </a:effectLst>
              <a:latin typeface="Times New Roman" panose="02020603050405020304" pitchFamily="18" charset="0"/>
            </a:endParaRPr>
          </a:p>
        </p:txBody>
      </p:sp>
      <p:sp>
        <p:nvSpPr>
          <p:cNvPr id="16" name="Rectangle 14">
            <a:extLst>
              <a:ext uri="{FF2B5EF4-FFF2-40B4-BE49-F238E27FC236}">
                <a16:creationId xmlns:a16="http://schemas.microsoft.com/office/drawing/2014/main" id="{8BCB5030-395F-234A-83F0-F4655D52018E}"/>
              </a:ext>
            </a:extLst>
          </p:cNvPr>
          <p:cNvSpPr>
            <a:spLocks noChangeArrowheads="1"/>
          </p:cNvSpPr>
          <p:nvPr/>
        </p:nvSpPr>
        <p:spPr bwMode="auto">
          <a:xfrm>
            <a:off x="5381625" y="3541713"/>
            <a:ext cx="412750" cy="666750"/>
          </a:xfrm>
          <a:prstGeom prst="rect">
            <a:avLst/>
          </a:prstGeom>
          <a:noFill/>
          <a:ln>
            <a:solidFill>
              <a:schemeClr val="tx1"/>
            </a:solidFill>
          </a:ln>
          <a:effectLst/>
        </p:spPr>
        <p:txBody>
          <a:bodyPr wrap="none" anchor="ctr"/>
          <a:lstStyle>
            <a:lvl1pPr eaLnBrk="0" hangingPunct="0">
              <a:defRPr kumimoji="1" sz="4800" b="1">
                <a:solidFill>
                  <a:srgbClr val="FF0000"/>
                </a:solidFill>
                <a:latin typeface="隶书" panose="02010509060101010101" pitchFamily="49" charset="-122"/>
                <a:ea typeface="隶书" panose="02010509060101010101" pitchFamily="49" charset="-122"/>
              </a:defRPr>
            </a:lvl1pPr>
            <a:lvl2pPr marL="742950" indent="-285750" eaLnBrk="0" hangingPunct="0">
              <a:defRPr kumimoji="1" sz="4800" b="1">
                <a:solidFill>
                  <a:srgbClr val="FF0000"/>
                </a:solidFill>
                <a:latin typeface="隶书" panose="02010509060101010101" pitchFamily="49" charset="-122"/>
                <a:ea typeface="隶书" panose="02010509060101010101" pitchFamily="49" charset="-122"/>
              </a:defRPr>
            </a:lvl2pPr>
            <a:lvl3pPr marL="1143000" indent="-228600" eaLnBrk="0" hangingPunct="0">
              <a:defRPr kumimoji="1" sz="4800" b="1">
                <a:solidFill>
                  <a:srgbClr val="FF0000"/>
                </a:solidFill>
                <a:latin typeface="隶书" panose="02010509060101010101" pitchFamily="49" charset="-122"/>
                <a:ea typeface="隶书" panose="02010509060101010101" pitchFamily="49" charset="-122"/>
              </a:defRPr>
            </a:lvl3pPr>
            <a:lvl4pPr marL="1600200" indent="-228600" eaLnBrk="0" hangingPunct="0">
              <a:defRPr kumimoji="1" sz="4800" b="1">
                <a:solidFill>
                  <a:srgbClr val="FF0000"/>
                </a:solidFill>
                <a:latin typeface="隶书" panose="02010509060101010101" pitchFamily="49" charset="-122"/>
                <a:ea typeface="隶书" panose="02010509060101010101" pitchFamily="49" charset="-122"/>
              </a:defRPr>
            </a:lvl4pPr>
            <a:lvl5pPr marL="2057400" indent="-228600" eaLnBrk="0" hangingPunct="0">
              <a:defRPr kumimoji="1" sz="4800" b="1">
                <a:solidFill>
                  <a:srgbClr val="FF0000"/>
                </a:solidFill>
                <a:latin typeface="隶书" panose="02010509060101010101" pitchFamily="49" charset="-122"/>
                <a:ea typeface="隶书" panose="02010509060101010101" pitchFamily="49" charset="-122"/>
              </a:defRPr>
            </a:lvl5pPr>
            <a:lvl6pPr marL="25146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6pPr>
            <a:lvl7pPr marL="29718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7pPr>
            <a:lvl8pPr marL="34290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8pPr>
            <a:lvl9pPr marL="38862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9pPr>
          </a:lstStyle>
          <a:p>
            <a:pPr eaLnBrk="1" hangingPunct="1">
              <a:lnSpc>
                <a:spcPct val="90000"/>
              </a:lnSpc>
              <a:defRPr/>
            </a:pPr>
            <a:r>
              <a:rPr lang="en-US" altLang="zh-CN" sz="2000" b="0" dirty="0">
                <a:effectLst>
                  <a:outerShdw blurRad="38100" dist="38100" dir="2700000" algn="tl">
                    <a:srgbClr val="C0C0C0"/>
                  </a:outerShdw>
                </a:effectLst>
                <a:latin typeface="Times New Roman" panose="02020603050405020304" pitchFamily="18" charset="0"/>
              </a:rPr>
              <a:t>3</a:t>
            </a:r>
            <a:r>
              <a:rPr lang="zh-CN" altLang="en-US" sz="2000" b="0" dirty="0">
                <a:effectLst>
                  <a:outerShdw blurRad="38100" dist="38100" dir="2700000" algn="tl">
                    <a:srgbClr val="C0C0C0"/>
                  </a:outerShdw>
                </a:effectLst>
                <a:latin typeface="Times New Roman" panose="02020603050405020304" pitchFamily="18" charset="0"/>
              </a:rPr>
              <a:t>）</a:t>
            </a:r>
            <a:endParaRPr lang="en-US" altLang="zh-CN" sz="2000" b="0" dirty="0">
              <a:effectLst>
                <a:outerShdw blurRad="38100" dist="38100" dir="2700000" algn="tl">
                  <a:srgbClr val="C0C0C0"/>
                </a:outerShdw>
              </a:effectLst>
              <a:latin typeface="Times New Roman" panose="02020603050405020304" pitchFamily="18" charset="0"/>
            </a:endParaRPr>
          </a:p>
        </p:txBody>
      </p:sp>
      <p:sp>
        <p:nvSpPr>
          <p:cNvPr id="17" name="Rectangle 15">
            <a:extLst>
              <a:ext uri="{FF2B5EF4-FFF2-40B4-BE49-F238E27FC236}">
                <a16:creationId xmlns:a16="http://schemas.microsoft.com/office/drawing/2014/main" id="{65816652-9218-0640-A389-330705E7F3B4}"/>
              </a:ext>
            </a:extLst>
          </p:cNvPr>
          <p:cNvSpPr>
            <a:spLocks noChangeArrowheads="1"/>
          </p:cNvSpPr>
          <p:nvPr/>
        </p:nvSpPr>
        <p:spPr bwMode="auto">
          <a:xfrm>
            <a:off x="5943600" y="3959225"/>
            <a:ext cx="412750" cy="665163"/>
          </a:xfrm>
          <a:prstGeom prst="rect">
            <a:avLst/>
          </a:prstGeom>
          <a:noFill/>
          <a:ln>
            <a:solidFill>
              <a:schemeClr val="tx1"/>
            </a:solidFill>
          </a:ln>
          <a:effectLst/>
        </p:spPr>
        <p:txBody>
          <a:bodyPr wrap="none" anchor="ctr"/>
          <a:lstStyle>
            <a:lvl1pPr eaLnBrk="0" hangingPunct="0">
              <a:defRPr kumimoji="1" sz="4800" b="1">
                <a:solidFill>
                  <a:srgbClr val="FF0000"/>
                </a:solidFill>
                <a:latin typeface="隶书" panose="02010509060101010101" pitchFamily="49" charset="-122"/>
                <a:ea typeface="隶书" panose="02010509060101010101" pitchFamily="49" charset="-122"/>
              </a:defRPr>
            </a:lvl1pPr>
            <a:lvl2pPr marL="742950" indent="-285750" eaLnBrk="0" hangingPunct="0">
              <a:defRPr kumimoji="1" sz="4800" b="1">
                <a:solidFill>
                  <a:srgbClr val="FF0000"/>
                </a:solidFill>
                <a:latin typeface="隶书" panose="02010509060101010101" pitchFamily="49" charset="-122"/>
                <a:ea typeface="隶书" panose="02010509060101010101" pitchFamily="49" charset="-122"/>
              </a:defRPr>
            </a:lvl2pPr>
            <a:lvl3pPr marL="1143000" indent="-228600" eaLnBrk="0" hangingPunct="0">
              <a:defRPr kumimoji="1" sz="4800" b="1">
                <a:solidFill>
                  <a:srgbClr val="FF0000"/>
                </a:solidFill>
                <a:latin typeface="隶书" panose="02010509060101010101" pitchFamily="49" charset="-122"/>
                <a:ea typeface="隶书" panose="02010509060101010101" pitchFamily="49" charset="-122"/>
              </a:defRPr>
            </a:lvl3pPr>
            <a:lvl4pPr marL="1600200" indent="-228600" eaLnBrk="0" hangingPunct="0">
              <a:defRPr kumimoji="1" sz="4800" b="1">
                <a:solidFill>
                  <a:srgbClr val="FF0000"/>
                </a:solidFill>
                <a:latin typeface="隶书" panose="02010509060101010101" pitchFamily="49" charset="-122"/>
                <a:ea typeface="隶书" panose="02010509060101010101" pitchFamily="49" charset="-122"/>
              </a:defRPr>
            </a:lvl4pPr>
            <a:lvl5pPr marL="2057400" indent="-228600" eaLnBrk="0" hangingPunct="0">
              <a:defRPr kumimoji="1" sz="4800" b="1">
                <a:solidFill>
                  <a:srgbClr val="FF0000"/>
                </a:solidFill>
                <a:latin typeface="隶书" panose="02010509060101010101" pitchFamily="49" charset="-122"/>
                <a:ea typeface="隶书" panose="02010509060101010101" pitchFamily="49" charset="-122"/>
              </a:defRPr>
            </a:lvl5pPr>
            <a:lvl6pPr marL="25146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6pPr>
            <a:lvl7pPr marL="29718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7pPr>
            <a:lvl8pPr marL="34290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8pPr>
            <a:lvl9pPr marL="38862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9pPr>
          </a:lstStyle>
          <a:p>
            <a:pPr eaLnBrk="1" hangingPunct="1">
              <a:lnSpc>
                <a:spcPct val="90000"/>
              </a:lnSpc>
              <a:defRPr/>
            </a:pPr>
            <a:r>
              <a:rPr lang="en-US" altLang="zh-CN" sz="2000" b="0" dirty="0">
                <a:effectLst>
                  <a:outerShdw blurRad="38100" dist="38100" dir="2700000" algn="tl">
                    <a:srgbClr val="C0C0C0"/>
                  </a:outerShdw>
                </a:effectLst>
                <a:latin typeface="Times New Roman" panose="02020603050405020304" pitchFamily="18" charset="0"/>
              </a:rPr>
              <a:t>4</a:t>
            </a:r>
            <a:r>
              <a:rPr lang="zh-CN" altLang="en-US" sz="2000" b="0" dirty="0">
                <a:effectLst>
                  <a:outerShdw blurRad="38100" dist="38100" dir="2700000" algn="tl">
                    <a:srgbClr val="C0C0C0"/>
                  </a:outerShdw>
                </a:effectLst>
                <a:latin typeface="Times New Roman" panose="02020603050405020304" pitchFamily="18" charset="0"/>
              </a:rPr>
              <a:t>）</a:t>
            </a:r>
            <a:endParaRPr lang="en-US" altLang="zh-CN" sz="2000" b="0" dirty="0">
              <a:effectLst>
                <a:outerShdw blurRad="38100" dist="38100" dir="2700000" algn="tl">
                  <a:srgbClr val="C0C0C0"/>
                </a:outerShdw>
              </a:effectLst>
              <a:latin typeface="Times New Roman" panose="02020603050405020304" pitchFamily="18" charset="0"/>
            </a:endParaRPr>
          </a:p>
        </p:txBody>
      </p:sp>
      <p:sp>
        <p:nvSpPr>
          <p:cNvPr id="18" name="Rectangle 16">
            <a:extLst>
              <a:ext uri="{FF2B5EF4-FFF2-40B4-BE49-F238E27FC236}">
                <a16:creationId xmlns:a16="http://schemas.microsoft.com/office/drawing/2014/main" id="{378373B3-39F0-3C4F-BDE9-6492EF3634D5}"/>
              </a:ext>
            </a:extLst>
          </p:cNvPr>
          <p:cNvSpPr>
            <a:spLocks noChangeArrowheads="1"/>
          </p:cNvSpPr>
          <p:nvPr/>
        </p:nvSpPr>
        <p:spPr bwMode="auto">
          <a:xfrm>
            <a:off x="6559550" y="4667250"/>
            <a:ext cx="411163" cy="666750"/>
          </a:xfrm>
          <a:prstGeom prst="rect">
            <a:avLst/>
          </a:prstGeom>
          <a:noFill/>
          <a:ln>
            <a:solidFill>
              <a:schemeClr val="tx1"/>
            </a:solidFill>
          </a:ln>
          <a:effectLst/>
        </p:spPr>
        <p:txBody>
          <a:bodyPr wrap="none" anchor="ctr"/>
          <a:lstStyle>
            <a:lvl1pPr eaLnBrk="0" hangingPunct="0">
              <a:defRPr kumimoji="1" sz="4800" b="1">
                <a:solidFill>
                  <a:srgbClr val="FF0000"/>
                </a:solidFill>
                <a:latin typeface="隶书" panose="02010509060101010101" pitchFamily="49" charset="-122"/>
                <a:ea typeface="隶书" panose="02010509060101010101" pitchFamily="49" charset="-122"/>
              </a:defRPr>
            </a:lvl1pPr>
            <a:lvl2pPr marL="742950" indent="-285750" eaLnBrk="0" hangingPunct="0">
              <a:defRPr kumimoji="1" sz="4800" b="1">
                <a:solidFill>
                  <a:srgbClr val="FF0000"/>
                </a:solidFill>
                <a:latin typeface="隶书" panose="02010509060101010101" pitchFamily="49" charset="-122"/>
                <a:ea typeface="隶书" panose="02010509060101010101" pitchFamily="49" charset="-122"/>
              </a:defRPr>
            </a:lvl2pPr>
            <a:lvl3pPr marL="1143000" indent="-228600" eaLnBrk="0" hangingPunct="0">
              <a:defRPr kumimoji="1" sz="4800" b="1">
                <a:solidFill>
                  <a:srgbClr val="FF0000"/>
                </a:solidFill>
                <a:latin typeface="隶书" panose="02010509060101010101" pitchFamily="49" charset="-122"/>
                <a:ea typeface="隶书" panose="02010509060101010101" pitchFamily="49" charset="-122"/>
              </a:defRPr>
            </a:lvl3pPr>
            <a:lvl4pPr marL="1600200" indent="-228600" eaLnBrk="0" hangingPunct="0">
              <a:defRPr kumimoji="1" sz="4800" b="1">
                <a:solidFill>
                  <a:srgbClr val="FF0000"/>
                </a:solidFill>
                <a:latin typeface="隶书" panose="02010509060101010101" pitchFamily="49" charset="-122"/>
                <a:ea typeface="隶书" panose="02010509060101010101" pitchFamily="49" charset="-122"/>
              </a:defRPr>
            </a:lvl4pPr>
            <a:lvl5pPr marL="2057400" indent="-228600" eaLnBrk="0" hangingPunct="0">
              <a:defRPr kumimoji="1" sz="4800" b="1">
                <a:solidFill>
                  <a:srgbClr val="FF0000"/>
                </a:solidFill>
                <a:latin typeface="隶书" panose="02010509060101010101" pitchFamily="49" charset="-122"/>
                <a:ea typeface="隶书" panose="02010509060101010101" pitchFamily="49" charset="-122"/>
              </a:defRPr>
            </a:lvl5pPr>
            <a:lvl6pPr marL="25146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6pPr>
            <a:lvl7pPr marL="29718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7pPr>
            <a:lvl8pPr marL="34290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8pPr>
            <a:lvl9pPr marL="38862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9pPr>
          </a:lstStyle>
          <a:p>
            <a:pPr eaLnBrk="1" hangingPunct="1">
              <a:lnSpc>
                <a:spcPct val="90000"/>
              </a:lnSpc>
              <a:defRPr/>
            </a:pPr>
            <a:r>
              <a:rPr lang="en-US" altLang="zh-CN" sz="2000" b="0" dirty="0">
                <a:effectLst>
                  <a:outerShdw blurRad="38100" dist="38100" dir="2700000" algn="tl">
                    <a:srgbClr val="C0C0C0"/>
                  </a:outerShdw>
                </a:effectLst>
                <a:latin typeface="Times New Roman" panose="02020603050405020304" pitchFamily="18" charset="0"/>
              </a:rPr>
              <a:t>5</a:t>
            </a:r>
            <a:r>
              <a:rPr lang="zh-CN" altLang="en-US" sz="2000" b="0" dirty="0">
                <a:effectLst>
                  <a:outerShdw blurRad="38100" dist="38100" dir="2700000" algn="tl">
                    <a:srgbClr val="C0C0C0"/>
                  </a:outerShdw>
                </a:effectLst>
                <a:latin typeface="Times New Roman" panose="02020603050405020304" pitchFamily="18" charset="0"/>
              </a:rPr>
              <a:t>）</a:t>
            </a:r>
            <a:endParaRPr lang="en-US" altLang="zh-CN" sz="2000" b="0" dirty="0">
              <a:effectLst>
                <a:outerShdw blurRad="38100" dist="38100" dir="2700000" algn="tl">
                  <a:srgbClr val="C0C0C0"/>
                </a:outerShdw>
              </a:effectLst>
              <a:latin typeface="Times New Roman" panose="02020603050405020304" pitchFamily="18" charset="0"/>
            </a:endParaRPr>
          </a:p>
        </p:txBody>
      </p:sp>
      <p:sp>
        <p:nvSpPr>
          <p:cNvPr id="121866" name="Line 8">
            <a:extLst>
              <a:ext uri="{FF2B5EF4-FFF2-40B4-BE49-F238E27FC236}">
                <a16:creationId xmlns:a16="http://schemas.microsoft.com/office/drawing/2014/main" id="{7DC7AF33-00D8-4E43-A6C1-704DA01D9572}"/>
              </a:ext>
            </a:extLst>
          </p:cNvPr>
          <p:cNvSpPr>
            <a:spLocks noChangeShapeType="1"/>
          </p:cNvSpPr>
          <p:nvPr/>
        </p:nvSpPr>
        <p:spPr bwMode="auto">
          <a:xfrm>
            <a:off x="4203700" y="3625850"/>
            <a:ext cx="530225" cy="998538"/>
          </a:xfrm>
          <a:prstGeom prst="line">
            <a:avLst/>
          </a:prstGeom>
          <a:noFill/>
          <a:ln w="38100" cap="sq">
            <a:solidFill>
              <a:schemeClr val="bg2"/>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1867" name="Line 7">
            <a:extLst>
              <a:ext uri="{FF2B5EF4-FFF2-40B4-BE49-F238E27FC236}">
                <a16:creationId xmlns:a16="http://schemas.microsoft.com/office/drawing/2014/main" id="{4C17B3C4-EA64-5240-80A5-97728ED0A579}"/>
              </a:ext>
            </a:extLst>
          </p:cNvPr>
          <p:cNvSpPr>
            <a:spLocks noChangeShapeType="1"/>
          </p:cNvSpPr>
          <p:nvPr/>
        </p:nvSpPr>
        <p:spPr bwMode="auto">
          <a:xfrm>
            <a:off x="4438650" y="3541713"/>
            <a:ext cx="444500" cy="877887"/>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1868" name="Line 9">
            <a:extLst>
              <a:ext uri="{FF2B5EF4-FFF2-40B4-BE49-F238E27FC236}">
                <a16:creationId xmlns:a16="http://schemas.microsoft.com/office/drawing/2014/main" id="{7C01D1F2-42CA-BF42-8003-CAC275EBB9A1}"/>
              </a:ext>
            </a:extLst>
          </p:cNvPr>
          <p:cNvSpPr>
            <a:spLocks noChangeShapeType="1"/>
          </p:cNvSpPr>
          <p:nvPr/>
        </p:nvSpPr>
        <p:spPr bwMode="auto">
          <a:xfrm flipV="1">
            <a:off x="5557838" y="3541713"/>
            <a:ext cx="471487" cy="917575"/>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1869" name="Line 10">
            <a:extLst>
              <a:ext uri="{FF2B5EF4-FFF2-40B4-BE49-F238E27FC236}">
                <a16:creationId xmlns:a16="http://schemas.microsoft.com/office/drawing/2014/main" id="{976D2B1B-923E-1842-AA55-DB094B540231}"/>
              </a:ext>
            </a:extLst>
          </p:cNvPr>
          <p:cNvSpPr>
            <a:spLocks noChangeShapeType="1"/>
          </p:cNvSpPr>
          <p:nvPr/>
        </p:nvSpPr>
        <p:spPr bwMode="auto">
          <a:xfrm flipV="1">
            <a:off x="5675313" y="3708400"/>
            <a:ext cx="530225" cy="1000125"/>
          </a:xfrm>
          <a:prstGeom prst="line">
            <a:avLst/>
          </a:prstGeom>
          <a:noFill/>
          <a:ln w="38100" cap="sq">
            <a:solidFill>
              <a:schemeClr val="bg2"/>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1870" name="Line 11">
            <a:extLst>
              <a:ext uri="{FF2B5EF4-FFF2-40B4-BE49-F238E27FC236}">
                <a16:creationId xmlns:a16="http://schemas.microsoft.com/office/drawing/2014/main" id="{41A5303A-BAAD-1E4E-9941-10BD71BB3E37}"/>
              </a:ext>
            </a:extLst>
          </p:cNvPr>
          <p:cNvSpPr>
            <a:spLocks noChangeShapeType="1"/>
          </p:cNvSpPr>
          <p:nvPr/>
        </p:nvSpPr>
        <p:spPr bwMode="auto">
          <a:xfrm flipV="1">
            <a:off x="5734050" y="5208588"/>
            <a:ext cx="2062163" cy="0"/>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 name="Text Box 17">
            <a:extLst>
              <a:ext uri="{FF2B5EF4-FFF2-40B4-BE49-F238E27FC236}">
                <a16:creationId xmlns:a16="http://schemas.microsoft.com/office/drawing/2014/main" id="{5594AF57-8BA8-7A49-AE7B-C21B391D8109}"/>
              </a:ext>
            </a:extLst>
          </p:cNvPr>
          <p:cNvSpPr txBox="1">
            <a:spLocks noChangeArrowheads="1"/>
          </p:cNvSpPr>
          <p:nvPr/>
        </p:nvSpPr>
        <p:spPr bwMode="auto">
          <a:xfrm>
            <a:off x="201613" y="2003425"/>
            <a:ext cx="365125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en-US" altLang="zh-CN" sz="2400">
                <a:solidFill>
                  <a:srgbClr val="800000"/>
                </a:solidFill>
                <a:latin typeface="黑体" panose="02010609060101010101" pitchFamily="49" charset="-122"/>
                <a:ea typeface="黑体" panose="02010609060101010101" pitchFamily="49" charset="-122"/>
              </a:rPr>
              <a:t>1</a:t>
            </a:r>
            <a:r>
              <a:rPr lang="zh-CN" altLang="en-US" sz="2400">
                <a:solidFill>
                  <a:srgbClr val="800000"/>
                </a:solidFill>
                <a:latin typeface="黑体" panose="02010609060101010101" pitchFamily="49" charset="-122"/>
                <a:ea typeface="黑体" panose="02010609060101010101" pitchFamily="49" charset="-122"/>
              </a:rPr>
              <a:t>）请求票据许可票据</a:t>
            </a:r>
          </a:p>
          <a:p>
            <a:pPr eaLnBrk="1" hangingPunct="1">
              <a:lnSpc>
                <a:spcPct val="90000"/>
              </a:lnSpc>
              <a:spcBef>
                <a:spcPct val="50000"/>
              </a:spcBef>
            </a:pPr>
            <a:r>
              <a:rPr lang="en-US" altLang="zh-CN" sz="2400">
                <a:solidFill>
                  <a:srgbClr val="800000"/>
                </a:solidFill>
                <a:latin typeface="黑体" panose="02010609060101010101" pitchFamily="49" charset="-122"/>
                <a:ea typeface="黑体" panose="02010609060101010101" pitchFamily="49" charset="-122"/>
              </a:rPr>
              <a:t>2</a:t>
            </a:r>
            <a:r>
              <a:rPr lang="zh-CN" altLang="en-US" sz="2400">
                <a:solidFill>
                  <a:srgbClr val="800000"/>
                </a:solidFill>
                <a:latin typeface="黑体" panose="02010609060101010101" pitchFamily="49" charset="-122"/>
                <a:ea typeface="黑体" panose="02010609060101010101" pitchFamily="49" charset="-122"/>
              </a:rPr>
              <a:t>）票据许可票据</a:t>
            </a:r>
          </a:p>
          <a:p>
            <a:pPr eaLnBrk="1" hangingPunct="1">
              <a:lnSpc>
                <a:spcPct val="90000"/>
              </a:lnSpc>
              <a:spcBef>
                <a:spcPct val="50000"/>
              </a:spcBef>
            </a:pPr>
            <a:r>
              <a:rPr lang="en-US" altLang="zh-CN" sz="2400">
                <a:solidFill>
                  <a:srgbClr val="800000"/>
                </a:solidFill>
                <a:latin typeface="黑体" panose="02010609060101010101" pitchFamily="49" charset="-122"/>
                <a:ea typeface="黑体" panose="02010609060101010101" pitchFamily="49" charset="-122"/>
              </a:rPr>
              <a:t>3</a:t>
            </a:r>
            <a:r>
              <a:rPr lang="zh-CN" altLang="en-US" sz="2400">
                <a:solidFill>
                  <a:srgbClr val="800000"/>
                </a:solidFill>
                <a:latin typeface="黑体" panose="02010609060101010101" pitchFamily="49" charset="-122"/>
                <a:ea typeface="黑体" panose="02010609060101010101" pitchFamily="49" charset="-122"/>
              </a:rPr>
              <a:t>）请求服务器票据</a:t>
            </a:r>
          </a:p>
          <a:p>
            <a:pPr eaLnBrk="1" hangingPunct="1">
              <a:lnSpc>
                <a:spcPct val="90000"/>
              </a:lnSpc>
              <a:spcBef>
                <a:spcPct val="50000"/>
              </a:spcBef>
            </a:pPr>
            <a:r>
              <a:rPr lang="en-US" altLang="zh-CN" sz="2400">
                <a:solidFill>
                  <a:srgbClr val="800000"/>
                </a:solidFill>
                <a:latin typeface="黑体" panose="02010609060101010101" pitchFamily="49" charset="-122"/>
                <a:ea typeface="黑体" panose="02010609060101010101" pitchFamily="49" charset="-122"/>
              </a:rPr>
              <a:t>4</a:t>
            </a:r>
            <a:r>
              <a:rPr lang="zh-CN" altLang="en-US" sz="2400">
                <a:solidFill>
                  <a:srgbClr val="800000"/>
                </a:solidFill>
                <a:latin typeface="黑体" panose="02010609060101010101" pitchFamily="49" charset="-122"/>
                <a:ea typeface="黑体" panose="02010609060101010101" pitchFamily="49" charset="-122"/>
              </a:rPr>
              <a:t>）服务器票据</a:t>
            </a:r>
          </a:p>
          <a:p>
            <a:pPr eaLnBrk="1" hangingPunct="1">
              <a:lnSpc>
                <a:spcPct val="90000"/>
              </a:lnSpc>
              <a:spcBef>
                <a:spcPct val="50000"/>
              </a:spcBef>
            </a:pPr>
            <a:r>
              <a:rPr lang="en-US" altLang="zh-CN" sz="2400">
                <a:solidFill>
                  <a:srgbClr val="800000"/>
                </a:solidFill>
                <a:latin typeface="黑体" panose="02010609060101010101" pitchFamily="49" charset="-122"/>
                <a:ea typeface="黑体" panose="02010609060101010101" pitchFamily="49" charset="-122"/>
              </a:rPr>
              <a:t>5</a:t>
            </a:r>
            <a:r>
              <a:rPr lang="zh-CN" altLang="en-US" sz="2400">
                <a:solidFill>
                  <a:srgbClr val="800000"/>
                </a:solidFill>
                <a:latin typeface="黑体" panose="02010609060101010101" pitchFamily="49" charset="-122"/>
                <a:ea typeface="黑体" panose="02010609060101010101" pitchFamily="49" charset="-122"/>
              </a:rPr>
              <a:t>）请求服务</a:t>
            </a:r>
          </a:p>
        </p:txBody>
      </p:sp>
      <p:sp>
        <p:nvSpPr>
          <p:cNvPr id="20" name="标题 1">
            <a:extLst>
              <a:ext uri="{FF2B5EF4-FFF2-40B4-BE49-F238E27FC236}">
                <a16:creationId xmlns:a16="http://schemas.microsoft.com/office/drawing/2014/main" id="{6076DE13-30FD-B14C-8EBD-A09589B80009}"/>
              </a:ext>
            </a:extLst>
          </p:cNvPr>
          <p:cNvSpPr>
            <a:spLocks noGrp="1"/>
          </p:cNvSpPr>
          <p:nvPr>
            <p:ph type="title"/>
          </p:nvPr>
        </p:nvSpPr>
        <p:spPr>
          <a:xfrm>
            <a:off x="533400" y="838200"/>
            <a:ext cx="6513513" cy="609600"/>
          </a:xfrm>
        </p:spPr>
        <p:txBody>
          <a:bodyPr vert="horz" wrap="square" lIns="91440" tIns="45720" rIns="91440" bIns="45720" numCol="1" anchor="t" anchorCtr="0" compatLnSpc="1">
            <a:prstTxWarp prst="textNoShape">
              <a:avLst/>
            </a:prstTxWarp>
          </a:bodyPr>
          <a:lstStyle/>
          <a:p>
            <a:pPr eaLnBrk="1" hangingPunct="1">
              <a:defRPr/>
            </a:pPr>
            <a:r>
              <a:rPr lang="en-US" altLang="zh-CN" sz="36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Kerberos</a:t>
            </a:r>
            <a:r>
              <a:rPr lang="zh-CN" altLang="en-US" sz="36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鉴别协议流程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3">
            <a:extLst>
              <a:ext uri="{FF2B5EF4-FFF2-40B4-BE49-F238E27FC236}">
                <a16:creationId xmlns:a16="http://schemas.microsoft.com/office/drawing/2014/main" id="{2284DB7C-D93D-1440-801D-341C5B6B3E67}"/>
              </a:ext>
            </a:extLst>
          </p:cNvPr>
          <p:cNvSpPr>
            <a:spLocks noChangeArrowheads="1"/>
          </p:cNvSpPr>
          <p:nvPr/>
        </p:nvSpPr>
        <p:spPr bwMode="auto">
          <a:xfrm>
            <a:off x="3325813" y="2076450"/>
            <a:ext cx="1755775" cy="1106488"/>
          </a:xfrm>
          <a:prstGeom prst="ellipse">
            <a:avLst/>
          </a:prstGeom>
          <a:solidFill>
            <a:srgbClr val="33CC33"/>
          </a:solidFill>
          <a:ln w="28575" cap="sq">
            <a:solidFill>
              <a:schemeClr val="bg2"/>
            </a:solidFill>
            <a:round/>
            <a:headEnd type="none" w="sm" len="sm"/>
            <a:tailEnd type="none" w="sm" len="sm"/>
          </a:ln>
          <a:effec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en-US" altLang="zh-CN" sz="20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rPr>
              <a:t>AS</a:t>
            </a:r>
          </a:p>
          <a:p>
            <a:pPr eaLnBrk="1" hangingPunct="1">
              <a:lnSpc>
                <a:spcPct val="90000"/>
              </a:lnSpc>
              <a:defRPr/>
            </a:pPr>
            <a:r>
              <a:rPr lang="zh-CN" altLang="en-US" sz="20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rPr>
              <a:t>认证服务器</a:t>
            </a:r>
          </a:p>
        </p:txBody>
      </p:sp>
      <p:sp>
        <p:nvSpPr>
          <p:cNvPr id="6" name="Oval 4">
            <a:extLst>
              <a:ext uri="{FF2B5EF4-FFF2-40B4-BE49-F238E27FC236}">
                <a16:creationId xmlns:a16="http://schemas.microsoft.com/office/drawing/2014/main" id="{16C470A0-0ACA-5141-BDC8-735BEC8024E2}"/>
              </a:ext>
            </a:extLst>
          </p:cNvPr>
          <p:cNvSpPr>
            <a:spLocks noChangeArrowheads="1"/>
          </p:cNvSpPr>
          <p:nvPr/>
        </p:nvSpPr>
        <p:spPr bwMode="auto">
          <a:xfrm>
            <a:off x="5675313" y="2160588"/>
            <a:ext cx="2401887" cy="990600"/>
          </a:xfrm>
          <a:prstGeom prst="ellipse">
            <a:avLst/>
          </a:prstGeom>
          <a:solidFill>
            <a:srgbClr val="00B0F0"/>
          </a:solidFill>
          <a:ln w="28575" cap="sq">
            <a:solidFill>
              <a:schemeClr val="bg2"/>
            </a:solidFill>
            <a:round/>
            <a:headEnd type="none" w="sm" len="sm"/>
            <a:tailEnd type="none" w="sm" len="sm"/>
          </a:ln>
          <a:effectLst/>
        </p:spPr>
        <p:txBody>
          <a:bodyPr wrap="none" anchor="ctr"/>
          <a:lstStyle/>
          <a:p>
            <a:pPr eaLnBrk="1" hangingPunct="1">
              <a:lnSpc>
                <a:spcPct val="90000"/>
              </a:lnSpc>
              <a:defRPr/>
            </a:pPr>
            <a:r>
              <a:rPr lang="en-US" altLang="zh-CN" sz="2000" dirty="0">
                <a:solidFill>
                  <a:schemeClr val="bg2"/>
                </a:solidFill>
                <a:effectLst>
                  <a:outerShdw blurRad="38100" dist="38100" dir="2700000" algn="tl">
                    <a:srgbClr val="FFFFFF"/>
                  </a:outerShdw>
                </a:effectLst>
                <a:latin typeface="黑体" panose="02010609060101010101" pitchFamily="49" charset="-122"/>
                <a:ea typeface="黑体" panose="02010609060101010101" pitchFamily="49" charset="-122"/>
              </a:rPr>
              <a:t>TGS</a:t>
            </a:r>
          </a:p>
          <a:p>
            <a:pPr eaLnBrk="1" hangingPunct="1">
              <a:lnSpc>
                <a:spcPct val="90000"/>
              </a:lnSpc>
              <a:defRPr/>
            </a:pPr>
            <a:r>
              <a:rPr lang="zh-CN" altLang="en-US" sz="2000" dirty="0">
                <a:solidFill>
                  <a:schemeClr val="bg2"/>
                </a:solidFill>
                <a:effectLst>
                  <a:outerShdw blurRad="38100" dist="38100" dir="2700000" algn="tl">
                    <a:srgbClr val="FFFFFF"/>
                  </a:outerShdw>
                </a:effectLst>
                <a:latin typeface="黑体" panose="02010609060101010101" pitchFamily="49" charset="-122"/>
                <a:ea typeface="黑体" panose="02010609060101010101" pitchFamily="49" charset="-122"/>
              </a:rPr>
              <a:t>票据授权服务器</a:t>
            </a:r>
          </a:p>
        </p:txBody>
      </p:sp>
      <p:sp>
        <p:nvSpPr>
          <p:cNvPr id="7" name="Oval 5">
            <a:extLst>
              <a:ext uri="{FF2B5EF4-FFF2-40B4-BE49-F238E27FC236}">
                <a16:creationId xmlns:a16="http://schemas.microsoft.com/office/drawing/2014/main" id="{12616D4F-9094-9E4A-B78E-6396BB43A0D8}"/>
              </a:ext>
            </a:extLst>
          </p:cNvPr>
          <p:cNvSpPr>
            <a:spLocks noChangeArrowheads="1"/>
          </p:cNvSpPr>
          <p:nvPr/>
        </p:nvSpPr>
        <p:spPr bwMode="auto">
          <a:xfrm>
            <a:off x="4179888" y="4175125"/>
            <a:ext cx="1641475" cy="1022350"/>
          </a:xfrm>
          <a:prstGeom prst="ellipse">
            <a:avLst/>
          </a:prstGeom>
          <a:solidFill>
            <a:srgbClr val="33CC33"/>
          </a:solidFill>
          <a:ln w="28575" cap="sq">
            <a:solidFill>
              <a:schemeClr val="bg2"/>
            </a:solidFill>
            <a:round/>
            <a:headEnd type="none" w="sm" len="sm"/>
            <a:tailEnd type="none" w="sm" len="sm"/>
          </a:ln>
          <a:effec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rPr>
              <a:t>客户机</a:t>
            </a:r>
            <a:endParaRPr lang="en-US" altLang="zh-CN" sz="20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90000"/>
              </a:lnSpc>
              <a:defRPr/>
            </a:pPr>
            <a:r>
              <a:rPr lang="en-US" altLang="zh-CN" sz="20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rPr>
              <a:t>Client</a:t>
            </a:r>
            <a:endParaRPr lang="zh-CN" altLang="en-US" sz="20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Oval 6">
            <a:extLst>
              <a:ext uri="{FF2B5EF4-FFF2-40B4-BE49-F238E27FC236}">
                <a16:creationId xmlns:a16="http://schemas.microsoft.com/office/drawing/2014/main" id="{FCB7A8C6-607C-4C44-ABBC-562DB3B36030}"/>
              </a:ext>
            </a:extLst>
          </p:cNvPr>
          <p:cNvSpPr>
            <a:spLocks noChangeArrowheads="1"/>
          </p:cNvSpPr>
          <p:nvPr/>
        </p:nvSpPr>
        <p:spPr bwMode="auto">
          <a:xfrm>
            <a:off x="7337425" y="4071938"/>
            <a:ext cx="1423988" cy="1022350"/>
          </a:xfrm>
          <a:prstGeom prst="ellipse">
            <a:avLst/>
          </a:prstGeom>
          <a:solidFill>
            <a:srgbClr val="00B0F0"/>
          </a:solidFill>
          <a:ln w="28575" cap="sq">
            <a:solidFill>
              <a:schemeClr val="bg2"/>
            </a:solidFill>
            <a:round/>
            <a:headEnd type="none" w="sm" len="sm"/>
            <a:tailEnd type="none" w="sm" len="sm"/>
          </a:ln>
          <a:effec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dirty="0">
                <a:solidFill>
                  <a:schemeClr val="bg2"/>
                </a:solidFill>
                <a:effectLst>
                  <a:outerShdw blurRad="38100" dist="38100" dir="2700000" algn="tl">
                    <a:srgbClr val="FFFFFF"/>
                  </a:outerShdw>
                </a:effectLst>
                <a:latin typeface="黑体" panose="02010609060101010101" pitchFamily="49" charset="-122"/>
                <a:ea typeface="黑体" panose="02010609060101010101" pitchFamily="49" charset="-122"/>
              </a:rPr>
              <a:t>服务器</a:t>
            </a:r>
            <a:endParaRPr lang="en-US" altLang="zh-CN" sz="2000" dirty="0">
              <a:solidFill>
                <a:schemeClr val="bg2"/>
              </a:solidFill>
              <a:effectLst>
                <a:outerShdw blurRad="38100" dist="38100" dir="2700000" algn="tl">
                  <a:srgbClr val="FFFFFF"/>
                </a:outerShdw>
              </a:effectLst>
              <a:latin typeface="黑体" panose="02010609060101010101" pitchFamily="49" charset="-122"/>
              <a:ea typeface="黑体" panose="02010609060101010101" pitchFamily="49" charset="-122"/>
            </a:endParaRPr>
          </a:p>
          <a:p>
            <a:pPr eaLnBrk="1" hangingPunct="1">
              <a:lnSpc>
                <a:spcPct val="90000"/>
              </a:lnSpc>
              <a:defRPr/>
            </a:pPr>
            <a:r>
              <a:rPr lang="en-US" altLang="zh-CN" sz="2000" dirty="0">
                <a:solidFill>
                  <a:schemeClr val="bg2"/>
                </a:solidFill>
                <a:effectLst>
                  <a:outerShdw blurRad="38100" dist="38100" dir="2700000" algn="tl">
                    <a:srgbClr val="FFFFFF"/>
                  </a:outerShdw>
                </a:effectLst>
                <a:latin typeface="黑体" panose="02010609060101010101" pitchFamily="49" charset="-122"/>
                <a:ea typeface="黑体" panose="02010609060101010101" pitchFamily="49" charset="-122"/>
              </a:rPr>
              <a:t>Server</a:t>
            </a:r>
            <a:endParaRPr lang="zh-CN" altLang="en-US" sz="2000" dirty="0">
              <a:solidFill>
                <a:schemeClr val="bg2"/>
              </a:solidFill>
              <a:effectLst>
                <a:outerShdw blurRad="38100" dist="38100" dir="2700000" algn="tl">
                  <a:srgbClr val="FFFFFF"/>
                </a:outerShdw>
              </a:effectLst>
              <a:latin typeface="黑体" panose="02010609060101010101" pitchFamily="49" charset="-122"/>
              <a:ea typeface="黑体" panose="02010609060101010101" pitchFamily="49" charset="-122"/>
            </a:endParaRPr>
          </a:p>
        </p:txBody>
      </p:sp>
      <p:sp>
        <p:nvSpPr>
          <p:cNvPr id="14" name="Rectangle 12">
            <a:extLst>
              <a:ext uri="{FF2B5EF4-FFF2-40B4-BE49-F238E27FC236}">
                <a16:creationId xmlns:a16="http://schemas.microsoft.com/office/drawing/2014/main" id="{AC48BB55-66F0-9D45-9B63-AA7750A7B9BB}"/>
              </a:ext>
            </a:extLst>
          </p:cNvPr>
          <p:cNvSpPr>
            <a:spLocks noChangeArrowheads="1"/>
          </p:cNvSpPr>
          <p:nvPr/>
        </p:nvSpPr>
        <p:spPr bwMode="auto">
          <a:xfrm>
            <a:off x="3617913" y="3541713"/>
            <a:ext cx="412750" cy="666750"/>
          </a:xfrm>
          <a:prstGeom prst="rect">
            <a:avLst/>
          </a:prstGeom>
          <a:noFill/>
          <a:ln>
            <a:solidFill>
              <a:schemeClr val="tx1"/>
            </a:solidFill>
          </a:ln>
          <a:effectLst/>
        </p:spPr>
        <p:txBody>
          <a:bodyPr wrap="none" anchor="ctr"/>
          <a:lstStyle>
            <a:lvl1pPr eaLnBrk="0" hangingPunct="0">
              <a:defRPr kumimoji="1" sz="4800" b="1">
                <a:solidFill>
                  <a:srgbClr val="FF0000"/>
                </a:solidFill>
                <a:latin typeface="隶书" panose="02010509060101010101" pitchFamily="49" charset="-122"/>
                <a:ea typeface="隶书" panose="02010509060101010101" pitchFamily="49" charset="-122"/>
              </a:defRPr>
            </a:lvl1pPr>
            <a:lvl2pPr marL="742950" indent="-285750" eaLnBrk="0" hangingPunct="0">
              <a:defRPr kumimoji="1" sz="4800" b="1">
                <a:solidFill>
                  <a:srgbClr val="FF0000"/>
                </a:solidFill>
                <a:latin typeface="隶书" panose="02010509060101010101" pitchFamily="49" charset="-122"/>
                <a:ea typeface="隶书" panose="02010509060101010101" pitchFamily="49" charset="-122"/>
              </a:defRPr>
            </a:lvl2pPr>
            <a:lvl3pPr marL="1143000" indent="-228600" eaLnBrk="0" hangingPunct="0">
              <a:defRPr kumimoji="1" sz="4800" b="1">
                <a:solidFill>
                  <a:srgbClr val="FF0000"/>
                </a:solidFill>
                <a:latin typeface="隶书" panose="02010509060101010101" pitchFamily="49" charset="-122"/>
                <a:ea typeface="隶书" panose="02010509060101010101" pitchFamily="49" charset="-122"/>
              </a:defRPr>
            </a:lvl3pPr>
            <a:lvl4pPr marL="1600200" indent="-228600" eaLnBrk="0" hangingPunct="0">
              <a:defRPr kumimoji="1" sz="4800" b="1">
                <a:solidFill>
                  <a:srgbClr val="FF0000"/>
                </a:solidFill>
                <a:latin typeface="隶书" panose="02010509060101010101" pitchFamily="49" charset="-122"/>
                <a:ea typeface="隶书" panose="02010509060101010101" pitchFamily="49" charset="-122"/>
              </a:defRPr>
            </a:lvl4pPr>
            <a:lvl5pPr marL="2057400" indent="-228600" eaLnBrk="0" hangingPunct="0">
              <a:defRPr kumimoji="1" sz="4800" b="1">
                <a:solidFill>
                  <a:srgbClr val="FF0000"/>
                </a:solidFill>
                <a:latin typeface="隶书" panose="02010509060101010101" pitchFamily="49" charset="-122"/>
                <a:ea typeface="隶书" panose="02010509060101010101" pitchFamily="49" charset="-122"/>
              </a:defRPr>
            </a:lvl5pPr>
            <a:lvl6pPr marL="25146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6pPr>
            <a:lvl7pPr marL="29718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7pPr>
            <a:lvl8pPr marL="34290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8pPr>
            <a:lvl9pPr marL="38862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9pPr>
          </a:lstStyle>
          <a:p>
            <a:pPr eaLnBrk="1" hangingPunct="1">
              <a:lnSpc>
                <a:spcPct val="90000"/>
              </a:lnSpc>
              <a:defRPr/>
            </a:pPr>
            <a:r>
              <a:rPr lang="en-US" altLang="zh-CN" sz="2000" b="0" dirty="0">
                <a:effectLst>
                  <a:outerShdw blurRad="38100" dist="38100" dir="2700000" algn="tl">
                    <a:srgbClr val="C0C0C0"/>
                  </a:outerShdw>
                </a:effectLst>
                <a:latin typeface="Times New Roman" panose="02020603050405020304" pitchFamily="18" charset="0"/>
              </a:rPr>
              <a:t>1</a:t>
            </a:r>
            <a:r>
              <a:rPr lang="zh-CN" altLang="en-US" sz="2000" b="0" dirty="0">
                <a:effectLst>
                  <a:outerShdw blurRad="38100" dist="38100" dir="2700000" algn="tl">
                    <a:srgbClr val="C0C0C0"/>
                  </a:outerShdw>
                </a:effectLst>
                <a:latin typeface="Times New Roman" panose="02020603050405020304" pitchFamily="18" charset="0"/>
              </a:rPr>
              <a:t>）</a:t>
            </a:r>
            <a:endParaRPr lang="en-US" altLang="zh-CN" sz="2000" b="0" dirty="0">
              <a:effectLst>
                <a:outerShdw blurRad="38100" dist="38100" dir="2700000" algn="tl">
                  <a:srgbClr val="C0C0C0"/>
                </a:outerShdw>
              </a:effectLst>
              <a:latin typeface="Times New Roman" panose="02020603050405020304" pitchFamily="18" charset="0"/>
            </a:endParaRPr>
          </a:p>
        </p:txBody>
      </p:sp>
      <p:sp>
        <p:nvSpPr>
          <p:cNvPr id="15" name="Rectangle 13">
            <a:extLst>
              <a:ext uri="{FF2B5EF4-FFF2-40B4-BE49-F238E27FC236}">
                <a16:creationId xmlns:a16="http://schemas.microsoft.com/office/drawing/2014/main" id="{1BF39D5E-B979-D347-9E6F-301802058B85}"/>
              </a:ext>
            </a:extLst>
          </p:cNvPr>
          <p:cNvSpPr>
            <a:spLocks noChangeArrowheads="1"/>
          </p:cNvSpPr>
          <p:nvPr/>
        </p:nvSpPr>
        <p:spPr bwMode="auto">
          <a:xfrm>
            <a:off x="4500563" y="3405188"/>
            <a:ext cx="412750" cy="666750"/>
          </a:xfrm>
          <a:prstGeom prst="rect">
            <a:avLst/>
          </a:prstGeom>
          <a:noFill/>
          <a:ln>
            <a:solidFill>
              <a:schemeClr val="tx1"/>
            </a:solidFill>
          </a:ln>
          <a:effectLst/>
        </p:spPr>
        <p:txBody>
          <a:bodyPr wrap="none" anchor="ctr"/>
          <a:lstStyle>
            <a:lvl1pPr eaLnBrk="0" hangingPunct="0">
              <a:defRPr kumimoji="1" sz="4800" b="1">
                <a:solidFill>
                  <a:srgbClr val="FF0000"/>
                </a:solidFill>
                <a:latin typeface="隶书" panose="02010509060101010101" pitchFamily="49" charset="-122"/>
                <a:ea typeface="隶书" panose="02010509060101010101" pitchFamily="49" charset="-122"/>
              </a:defRPr>
            </a:lvl1pPr>
            <a:lvl2pPr marL="742950" indent="-285750" eaLnBrk="0" hangingPunct="0">
              <a:defRPr kumimoji="1" sz="4800" b="1">
                <a:solidFill>
                  <a:srgbClr val="FF0000"/>
                </a:solidFill>
                <a:latin typeface="隶书" panose="02010509060101010101" pitchFamily="49" charset="-122"/>
                <a:ea typeface="隶书" panose="02010509060101010101" pitchFamily="49" charset="-122"/>
              </a:defRPr>
            </a:lvl2pPr>
            <a:lvl3pPr marL="1143000" indent="-228600" eaLnBrk="0" hangingPunct="0">
              <a:defRPr kumimoji="1" sz="4800" b="1">
                <a:solidFill>
                  <a:srgbClr val="FF0000"/>
                </a:solidFill>
                <a:latin typeface="隶书" panose="02010509060101010101" pitchFamily="49" charset="-122"/>
                <a:ea typeface="隶书" panose="02010509060101010101" pitchFamily="49" charset="-122"/>
              </a:defRPr>
            </a:lvl3pPr>
            <a:lvl4pPr marL="1600200" indent="-228600" eaLnBrk="0" hangingPunct="0">
              <a:defRPr kumimoji="1" sz="4800" b="1">
                <a:solidFill>
                  <a:srgbClr val="FF0000"/>
                </a:solidFill>
                <a:latin typeface="隶书" panose="02010509060101010101" pitchFamily="49" charset="-122"/>
                <a:ea typeface="隶书" panose="02010509060101010101" pitchFamily="49" charset="-122"/>
              </a:defRPr>
            </a:lvl4pPr>
            <a:lvl5pPr marL="2057400" indent="-228600" eaLnBrk="0" hangingPunct="0">
              <a:defRPr kumimoji="1" sz="4800" b="1">
                <a:solidFill>
                  <a:srgbClr val="FF0000"/>
                </a:solidFill>
                <a:latin typeface="隶书" panose="02010509060101010101" pitchFamily="49" charset="-122"/>
                <a:ea typeface="隶书" panose="02010509060101010101" pitchFamily="49" charset="-122"/>
              </a:defRPr>
            </a:lvl5pPr>
            <a:lvl6pPr marL="25146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6pPr>
            <a:lvl7pPr marL="29718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7pPr>
            <a:lvl8pPr marL="34290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8pPr>
            <a:lvl9pPr marL="38862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9pPr>
          </a:lstStyle>
          <a:p>
            <a:pPr eaLnBrk="1" hangingPunct="1">
              <a:lnSpc>
                <a:spcPct val="90000"/>
              </a:lnSpc>
              <a:defRPr/>
            </a:pPr>
            <a:r>
              <a:rPr lang="en-US" altLang="zh-CN" sz="2000" b="0" dirty="0">
                <a:effectLst>
                  <a:outerShdw blurRad="38100" dist="38100" dir="2700000" algn="tl">
                    <a:srgbClr val="C0C0C0"/>
                  </a:outerShdw>
                </a:effectLst>
                <a:latin typeface="Times New Roman" panose="02020603050405020304" pitchFamily="18" charset="0"/>
              </a:rPr>
              <a:t>2</a:t>
            </a:r>
            <a:r>
              <a:rPr lang="zh-CN" altLang="en-US" sz="2000" b="0" dirty="0">
                <a:effectLst>
                  <a:outerShdw blurRad="38100" dist="38100" dir="2700000" algn="tl">
                    <a:srgbClr val="C0C0C0"/>
                  </a:outerShdw>
                </a:effectLst>
                <a:latin typeface="Times New Roman" panose="02020603050405020304" pitchFamily="18" charset="0"/>
              </a:rPr>
              <a:t>）</a:t>
            </a:r>
            <a:endParaRPr lang="en-US" altLang="zh-CN" sz="2000" b="0" dirty="0">
              <a:effectLst>
                <a:outerShdw blurRad="38100" dist="38100" dir="2700000" algn="tl">
                  <a:srgbClr val="C0C0C0"/>
                </a:outerShdw>
              </a:effectLst>
              <a:latin typeface="Times New Roman" panose="02020603050405020304" pitchFamily="18" charset="0"/>
            </a:endParaRPr>
          </a:p>
        </p:txBody>
      </p:sp>
      <p:sp>
        <p:nvSpPr>
          <p:cNvPr id="16" name="Rectangle 14">
            <a:extLst>
              <a:ext uri="{FF2B5EF4-FFF2-40B4-BE49-F238E27FC236}">
                <a16:creationId xmlns:a16="http://schemas.microsoft.com/office/drawing/2014/main" id="{A21C5CF1-229E-F24F-B04C-B29CFAED86CD}"/>
              </a:ext>
            </a:extLst>
          </p:cNvPr>
          <p:cNvSpPr>
            <a:spLocks noChangeArrowheads="1"/>
          </p:cNvSpPr>
          <p:nvPr/>
        </p:nvSpPr>
        <p:spPr bwMode="auto">
          <a:xfrm>
            <a:off x="5219700" y="3321050"/>
            <a:ext cx="412750" cy="666750"/>
          </a:xfrm>
          <a:prstGeom prst="rect">
            <a:avLst/>
          </a:prstGeom>
          <a:noFill/>
          <a:ln>
            <a:solidFill>
              <a:schemeClr val="tx1"/>
            </a:solidFill>
          </a:ln>
          <a:effectLst/>
        </p:spPr>
        <p:txBody>
          <a:bodyPr wrap="none" anchor="ctr"/>
          <a:lstStyle>
            <a:lvl1pPr eaLnBrk="0" hangingPunct="0">
              <a:defRPr kumimoji="1" sz="4800" b="1">
                <a:solidFill>
                  <a:srgbClr val="FF0000"/>
                </a:solidFill>
                <a:latin typeface="隶书" panose="02010509060101010101" pitchFamily="49" charset="-122"/>
                <a:ea typeface="隶书" panose="02010509060101010101" pitchFamily="49" charset="-122"/>
              </a:defRPr>
            </a:lvl1pPr>
            <a:lvl2pPr marL="742950" indent="-285750" eaLnBrk="0" hangingPunct="0">
              <a:defRPr kumimoji="1" sz="4800" b="1">
                <a:solidFill>
                  <a:srgbClr val="FF0000"/>
                </a:solidFill>
                <a:latin typeface="隶书" panose="02010509060101010101" pitchFamily="49" charset="-122"/>
                <a:ea typeface="隶书" panose="02010509060101010101" pitchFamily="49" charset="-122"/>
              </a:defRPr>
            </a:lvl2pPr>
            <a:lvl3pPr marL="1143000" indent="-228600" eaLnBrk="0" hangingPunct="0">
              <a:defRPr kumimoji="1" sz="4800" b="1">
                <a:solidFill>
                  <a:srgbClr val="FF0000"/>
                </a:solidFill>
                <a:latin typeface="隶书" panose="02010509060101010101" pitchFamily="49" charset="-122"/>
                <a:ea typeface="隶书" panose="02010509060101010101" pitchFamily="49" charset="-122"/>
              </a:defRPr>
            </a:lvl3pPr>
            <a:lvl4pPr marL="1600200" indent="-228600" eaLnBrk="0" hangingPunct="0">
              <a:defRPr kumimoji="1" sz="4800" b="1">
                <a:solidFill>
                  <a:srgbClr val="FF0000"/>
                </a:solidFill>
                <a:latin typeface="隶书" panose="02010509060101010101" pitchFamily="49" charset="-122"/>
                <a:ea typeface="隶书" panose="02010509060101010101" pitchFamily="49" charset="-122"/>
              </a:defRPr>
            </a:lvl4pPr>
            <a:lvl5pPr marL="2057400" indent="-228600" eaLnBrk="0" hangingPunct="0">
              <a:defRPr kumimoji="1" sz="4800" b="1">
                <a:solidFill>
                  <a:srgbClr val="FF0000"/>
                </a:solidFill>
                <a:latin typeface="隶书" panose="02010509060101010101" pitchFamily="49" charset="-122"/>
                <a:ea typeface="隶书" panose="02010509060101010101" pitchFamily="49" charset="-122"/>
              </a:defRPr>
            </a:lvl5pPr>
            <a:lvl6pPr marL="25146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6pPr>
            <a:lvl7pPr marL="29718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7pPr>
            <a:lvl8pPr marL="34290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8pPr>
            <a:lvl9pPr marL="38862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9pPr>
          </a:lstStyle>
          <a:p>
            <a:pPr eaLnBrk="1" hangingPunct="1">
              <a:lnSpc>
                <a:spcPct val="90000"/>
              </a:lnSpc>
              <a:defRPr/>
            </a:pPr>
            <a:r>
              <a:rPr lang="en-US" altLang="zh-CN" sz="2000" b="0" dirty="0">
                <a:effectLst>
                  <a:outerShdw blurRad="38100" dist="38100" dir="2700000" algn="tl">
                    <a:srgbClr val="C0C0C0"/>
                  </a:outerShdw>
                </a:effectLst>
                <a:latin typeface="Times New Roman" panose="02020603050405020304" pitchFamily="18" charset="0"/>
              </a:rPr>
              <a:t>3</a:t>
            </a:r>
            <a:r>
              <a:rPr lang="zh-CN" altLang="en-US" sz="2000" b="0" dirty="0">
                <a:effectLst>
                  <a:outerShdw blurRad="38100" dist="38100" dir="2700000" algn="tl">
                    <a:srgbClr val="C0C0C0"/>
                  </a:outerShdw>
                </a:effectLst>
                <a:latin typeface="Times New Roman" panose="02020603050405020304" pitchFamily="18" charset="0"/>
              </a:rPr>
              <a:t>）</a:t>
            </a:r>
            <a:endParaRPr lang="en-US" altLang="zh-CN" sz="2000" b="0" dirty="0">
              <a:effectLst>
                <a:outerShdw blurRad="38100" dist="38100" dir="2700000" algn="tl">
                  <a:srgbClr val="C0C0C0"/>
                </a:outerShdw>
              </a:effectLst>
              <a:latin typeface="Times New Roman" panose="02020603050405020304" pitchFamily="18" charset="0"/>
            </a:endParaRPr>
          </a:p>
        </p:txBody>
      </p:sp>
      <p:sp>
        <p:nvSpPr>
          <p:cNvPr id="17" name="Rectangle 15">
            <a:extLst>
              <a:ext uri="{FF2B5EF4-FFF2-40B4-BE49-F238E27FC236}">
                <a16:creationId xmlns:a16="http://schemas.microsoft.com/office/drawing/2014/main" id="{91F04B69-81DE-D04C-B2F0-E8843CF51ABD}"/>
              </a:ext>
            </a:extLst>
          </p:cNvPr>
          <p:cNvSpPr>
            <a:spLocks noChangeArrowheads="1"/>
          </p:cNvSpPr>
          <p:nvPr/>
        </p:nvSpPr>
        <p:spPr bwMode="auto">
          <a:xfrm>
            <a:off x="5932488" y="3519488"/>
            <a:ext cx="412750" cy="665162"/>
          </a:xfrm>
          <a:prstGeom prst="rect">
            <a:avLst/>
          </a:prstGeom>
          <a:noFill/>
          <a:ln>
            <a:solidFill>
              <a:schemeClr val="tx1"/>
            </a:solidFill>
          </a:ln>
          <a:effectLst/>
        </p:spPr>
        <p:txBody>
          <a:bodyPr wrap="none" anchor="ctr"/>
          <a:lstStyle>
            <a:lvl1pPr eaLnBrk="0" hangingPunct="0">
              <a:defRPr kumimoji="1" sz="4800" b="1">
                <a:solidFill>
                  <a:srgbClr val="FF0000"/>
                </a:solidFill>
                <a:latin typeface="隶书" panose="02010509060101010101" pitchFamily="49" charset="-122"/>
                <a:ea typeface="隶书" panose="02010509060101010101" pitchFamily="49" charset="-122"/>
              </a:defRPr>
            </a:lvl1pPr>
            <a:lvl2pPr marL="742950" indent="-285750" eaLnBrk="0" hangingPunct="0">
              <a:defRPr kumimoji="1" sz="4800" b="1">
                <a:solidFill>
                  <a:srgbClr val="FF0000"/>
                </a:solidFill>
                <a:latin typeface="隶书" panose="02010509060101010101" pitchFamily="49" charset="-122"/>
                <a:ea typeface="隶书" panose="02010509060101010101" pitchFamily="49" charset="-122"/>
              </a:defRPr>
            </a:lvl2pPr>
            <a:lvl3pPr marL="1143000" indent="-228600" eaLnBrk="0" hangingPunct="0">
              <a:defRPr kumimoji="1" sz="4800" b="1">
                <a:solidFill>
                  <a:srgbClr val="FF0000"/>
                </a:solidFill>
                <a:latin typeface="隶书" panose="02010509060101010101" pitchFamily="49" charset="-122"/>
                <a:ea typeface="隶书" panose="02010509060101010101" pitchFamily="49" charset="-122"/>
              </a:defRPr>
            </a:lvl3pPr>
            <a:lvl4pPr marL="1600200" indent="-228600" eaLnBrk="0" hangingPunct="0">
              <a:defRPr kumimoji="1" sz="4800" b="1">
                <a:solidFill>
                  <a:srgbClr val="FF0000"/>
                </a:solidFill>
                <a:latin typeface="隶书" panose="02010509060101010101" pitchFamily="49" charset="-122"/>
                <a:ea typeface="隶书" panose="02010509060101010101" pitchFamily="49" charset="-122"/>
              </a:defRPr>
            </a:lvl4pPr>
            <a:lvl5pPr marL="2057400" indent="-228600" eaLnBrk="0" hangingPunct="0">
              <a:defRPr kumimoji="1" sz="4800" b="1">
                <a:solidFill>
                  <a:srgbClr val="FF0000"/>
                </a:solidFill>
                <a:latin typeface="隶书" panose="02010509060101010101" pitchFamily="49" charset="-122"/>
                <a:ea typeface="隶书" panose="02010509060101010101" pitchFamily="49" charset="-122"/>
              </a:defRPr>
            </a:lvl5pPr>
            <a:lvl6pPr marL="25146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6pPr>
            <a:lvl7pPr marL="29718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7pPr>
            <a:lvl8pPr marL="34290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8pPr>
            <a:lvl9pPr marL="38862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9pPr>
          </a:lstStyle>
          <a:p>
            <a:pPr eaLnBrk="1" hangingPunct="1">
              <a:lnSpc>
                <a:spcPct val="90000"/>
              </a:lnSpc>
              <a:defRPr/>
            </a:pPr>
            <a:r>
              <a:rPr lang="en-US" altLang="zh-CN" sz="2000" b="0" dirty="0">
                <a:effectLst>
                  <a:outerShdw blurRad="38100" dist="38100" dir="2700000" algn="tl">
                    <a:srgbClr val="C0C0C0"/>
                  </a:outerShdw>
                </a:effectLst>
                <a:latin typeface="Times New Roman" panose="02020603050405020304" pitchFamily="18" charset="0"/>
              </a:rPr>
              <a:t>4</a:t>
            </a:r>
            <a:r>
              <a:rPr lang="zh-CN" altLang="en-US" sz="2000" b="0" dirty="0">
                <a:effectLst>
                  <a:outerShdw blurRad="38100" dist="38100" dir="2700000" algn="tl">
                    <a:srgbClr val="C0C0C0"/>
                  </a:outerShdw>
                </a:effectLst>
                <a:latin typeface="Times New Roman" panose="02020603050405020304" pitchFamily="18" charset="0"/>
              </a:rPr>
              <a:t>）</a:t>
            </a:r>
            <a:endParaRPr lang="en-US" altLang="zh-CN" sz="2000" b="0" dirty="0">
              <a:effectLst>
                <a:outerShdw blurRad="38100" dist="38100" dir="2700000" algn="tl">
                  <a:srgbClr val="C0C0C0"/>
                </a:outerShdw>
              </a:effectLst>
              <a:latin typeface="Times New Roman" panose="02020603050405020304" pitchFamily="18" charset="0"/>
            </a:endParaRPr>
          </a:p>
        </p:txBody>
      </p:sp>
      <p:sp>
        <p:nvSpPr>
          <p:cNvPr id="18" name="Rectangle 16">
            <a:extLst>
              <a:ext uri="{FF2B5EF4-FFF2-40B4-BE49-F238E27FC236}">
                <a16:creationId xmlns:a16="http://schemas.microsoft.com/office/drawing/2014/main" id="{FE2BD1DF-9535-D54D-8011-4C66003F3917}"/>
              </a:ext>
            </a:extLst>
          </p:cNvPr>
          <p:cNvSpPr>
            <a:spLocks noChangeArrowheads="1"/>
          </p:cNvSpPr>
          <p:nvPr/>
        </p:nvSpPr>
        <p:spPr bwMode="auto">
          <a:xfrm>
            <a:off x="6646863" y="4073525"/>
            <a:ext cx="411162" cy="666750"/>
          </a:xfrm>
          <a:prstGeom prst="rect">
            <a:avLst/>
          </a:prstGeom>
          <a:noFill/>
          <a:ln>
            <a:solidFill>
              <a:schemeClr val="tx1"/>
            </a:solidFill>
          </a:ln>
          <a:effectLst/>
        </p:spPr>
        <p:txBody>
          <a:bodyPr wrap="none" anchor="ctr"/>
          <a:lstStyle>
            <a:lvl1pPr eaLnBrk="0" hangingPunct="0">
              <a:defRPr kumimoji="1" sz="4800" b="1">
                <a:solidFill>
                  <a:srgbClr val="FF0000"/>
                </a:solidFill>
                <a:latin typeface="隶书" panose="02010509060101010101" pitchFamily="49" charset="-122"/>
                <a:ea typeface="隶书" panose="02010509060101010101" pitchFamily="49" charset="-122"/>
              </a:defRPr>
            </a:lvl1pPr>
            <a:lvl2pPr marL="742950" indent="-285750" eaLnBrk="0" hangingPunct="0">
              <a:defRPr kumimoji="1" sz="4800" b="1">
                <a:solidFill>
                  <a:srgbClr val="FF0000"/>
                </a:solidFill>
                <a:latin typeface="隶书" panose="02010509060101010101" pitchFamily="49" charset="-122"/>
                <a:ea typeface="隶书" panose="02010509060101010101" pitchFamily="49" charset="-122"/>
              </a:defRPr>
            </a:lvl2pPr>
            <a:lvl3pPr marL="1143000" indent="-228600" eaLnBrk="0" hangingPunct="0">
              <a:defRPr kumimoji="1" sz="4800" b="1">
                <a:solidFill>
                  <a:srgbClr val="FF0000"/>
                </a:solidFill>
                <a:latin typeface="隶书" panose="02010509060101010101" pitchFamily="49" charset="-122"/>
                <a:ea typeface="隶书" panose="02010509060101010101" pitchFamily="49" charset="-122"/>
              </a:defRPr>
            </a:lvl3pPr>
            <a:lvl4pPr marL="1600200" indent="-228600" eaLnBrk="0" hangingPunct="0">
              <a:defRPr kumimoji="1" sz="4800" b="1">
                <a:solidFill>
                  <a:srgbClr val="FF0000"/>
                </a:solidFill>
                <a:latin typeface="隶书" panose="02010509060101010101" pitchFamily="49" charset="-122"/>
                <a:ea typeface="隶书" panose="02010509060101010101" pitchFamily="49" charset="-122"/>
              </a:defRPr>
            </a:lvl4pPr>
            <a:lvl5pPr marL="2057400" indent="-228600" eaLnBrk="0" hangingPunct="0">
              <a:defRPr kumimoji="1" sz="4800" b="1">
                <a:solidFill>
                  <a:srgbClr val="FF0000"/>
                </a:solidFill>
                <a:latin typeface="隶书" panose="02010509060101010101" pitchFamily="49" charset="-122"/>
                <a:ea typeface="隶书" panose="02010509060101010101" pitchFamily="49" charset="-122"/>
              </a:defRPr>
            </a:lvl5pPr>
            <a:lvl6pPr marL="25146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6pPr>
            <a:lvl7pPr marL="29718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7pPr>
            <a:lvl8pPr marL="34290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8pPr>
            <a:lvl9pPr marL="38862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9pPr>
          </a:lstStyle>
          <a:p>
            <a:pPr eaLnBrk="1" hangingPunct="1">
              <a:lnSpc>
                <a:spcPct val="90000"/>
              </a:lnSpc>
              <a:defRPr/>
            </a:pPr>
            <a:r>
              <a:rPr lang="en-US" altLang="zh-CN" sz="2000" b="0" dirty="0">
                <a:effectLst>
                  <a:outerShdw blurRad="38100" dist="38100" dir="2700000" algn="tl">
                    <a:srgbClr val="C0C0C0"/>
                  </a:outerShdw>
                </a:effectLst>
                <a:latin typeface="Times New Roman" panose="02020603050405020304" pitchFamily="18" charset="0"/>
              </a:rPr>
              <a:t>5</a:t>
            </a:r>
            <a:r>
              <a:rPr lang="zh-CN" altLang="en-US" sz="2000" b="0" dirty="0">
                <a:effectLst>
                  <a:outerShdw blurRad="38100" dist="38100" dir="2700000" algn="tl">
                    <a:srgbClr val="C0C0C0"/>
                  </a:outerShdw>
                </a:effectLst>
                <a:latin typeface="Times New Roman" panose="02020603050405020304" pitchFamily="18" charset="0"/>
              </a:rPr>
              <a:t>）</a:t>
            </a:r>
            <a:endParaRPr lang="en-US" altLang="zh-CN" sz="2000" b="0" dirty="0">
              <a:effectLst>
                <a:outerShdw blurRad="38100" dist="38100" dir="2700000" algn="tl">
                  <a:srgbClr val="C0C0C0"/>
                </a:outerShdw>
              </a:effectLst>
              <a:latin typeface="Times New Roman" panose="02020603050405020304" pitchFamily="18" charset="0"/>
            </a:endParaRPr>
          </a:p>
        </p:txBody>
      </p:sp>
      <p:sp>
        <p:nvSpPr>
          <p:cNvPr id="122890" name="Line 8">
            <a:extLst>
              <a:ext uri="{FF2B5EF4-FFF2-40B4-BE49-F238E27FC236}">
                <a16:creationId xmlns:a16="http://schemas.microsoft.com/office/drawing/2014/main" id="{ED830385-6EC6-194B-AA5A-9ED137171DE0}"/>
              </a:ext>
            </a:extLst>
          </p:cNvPr>
          <p:cNvSpPr>
            <a:spLocks noChangeShapeType="1"/>
          </p:cNvSpPr>
          <p:nvPr/>
        </p:nvSpPr>
        <p:spPr bwMode="auto">
          <a:xfrm>
            <a:off x="4002088" y="3243263"/>
            <a:ext cx="203200" cy="871537"/>
          </a:xfrm>
          <a:prstGeom prst="line">
            <a:avLst/>
          </a:prstGeom>
          <a:noFill/>
          <a:ln w="38100" cap="sq">
            <a:solidFill>
              <a:schemeClr val="bg2"/>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891" name="Line 7">
            <a:extLst>
              <a:ext uri="{FF2B5EF4-FFF2-40B4-BE49-F238E27FC236}">
                <a16:creationId xmlns:a16="http://schemas.microsoft.com/office/drawing/2014/main" id="{579511E1-1FDB-8742-A974-2748E166AEA2}"/>
              </a:ext>
            </a:extLst>
          </p:cNvPr>
          <p:cNvSpPr>
            <a:spLocks noChangeShapeType="1"/>
          </p:cNvSpPr>
          <p:nvPr/>
        </p:nvSpPr>
        <p:spPr bwMode="auto">
          <a:xfrm>
            <a:off x="4319588" y="3268663"/>
            <a:ext cx="203200" cy="939800"/>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2892" name="Line 9">
            <a:extLst>
              <a:ext uri="{FF2B5EF4-FFF2-40B4-BE49-F238E27FC236}">
                <a16:creationId xmlns:a16="http://schemas.microsoft.com/office/drawing/2014/main" id="{CCD7C646-4FF9-4E42-9AAF-FE2C39C1038E}"/>
              </a:ext>
            </a:extLst>
          </p:cNvPr>
          <p:cNvSpPr>
            <a:spLocks noChangeShapeType="1"/>
          </p:cNvSpPr>
          <p:nvPr/>
        </p:nvSpPr>
        <p:spPr bwMode="auto">
          <a:xfrm flipV="1">
            <a:off x="5546725" y="3101975"/>
            <a:ext cx="471488" cy="917575"/>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2893" name="Line 10">
            <a:extLst>
              <a:ext uri="{FF2B5EF4-FFF2-40B4-BE49-F238E27FC236}">
                <a16:creationId xmlns:a16="http://schemas.microsoft.com/office/drawing/2014/main" id="{CA6856DC-9CB7-7D43-B058-870ADCAC3EB6}"/>
              </a:ext>
            </a:extLst>
          </p:cNvPr>
          <p:cNvSpPr>
            <a:spLocks noChangeShapeType="1"/>
          </p:cNvSpPr>
          <p:nvPr/>
        </p:nvSpPr>
        <p:spPr bwMode="auto">
          <a:xfrm flipV="1">
            <a:off x="5664200" y="3268663"/>
            <a:ext cx="530225" cy="1000125"/>
          </a:xfrm>
          <a:prstGeom prst="line">
            <a:avLst/>
          </a:prstGeom>
          <a:noFill/>
          <a:ln w="38100" cap="sq">
            <a:solidFill>
              <a:schemeClr val="bg2"/>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894" name="Line 11">
            <a:extLst>
              <a:ext uri="{FF2B5EF4-FFF2-40B4-BE49-F238E27FC236}">
                <a16:creationId xmlns:a16="http://schemas.microsoft.com/office/drawing/2014/main" id="{E9540439-118B-2141-BD3C-517E47554834}"/>
              </a:ext>
            </a:extLst>
          </p:cNvPr>
          <p:cNvSpPr>
            <a:spLocks noChangeShapeType="1"/>
          </p:cNvSpPr>
          <p:nvPr/>
        </p:nvSpPr>
        <p:spPr bwMode="auto">
          <a:xfrm>
            <a:off x="5821363" y="4614863"/>
            <a:ext cx="1516062" cy="47625"/>
          </a:xfrm>
          <a:prstGeom prst="line">
            <a:avLst/>
          </a:prstGeom>
          <a:noFill/>
          <a:ln w="38100" cap="sq">
            <a:solidFill>
              <a:schemeClr val="bg2"/>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 name="Text Box 17">
            <a:extLst>
              <a:ext uri="{FF2B5EF4-FFF2-40B4-BE49-F238E27FC236}">
                <a16:creationId xmlns:a16="http://schemas.microsoft.com/office/drawing/2014/main" id="{F0D52EF6-0E8B-CA4D-9785-F670F3F9422E}"/>
              </a:ext>
            </a:extLst>
          </p:cNvPr>
          <p:cNvSpPr txBox="1">
            <a:spLocks noChangeArrowheads="1"/>
          </p:cNvSpPr>
          <p:nvPr/>
        </p:nvSpPr>
        <p:spPr bwMode="auto">
          <a:xfrm>
            <a:off x="200025" y="1736725"/>
            <a:ext cx="3651250" cy="383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50000"/>
              </a:spcBef>
            </a:pPr>
            <a:r>
              <a:rPr lang="en-US" altLang="zh-CN" sz="1800">
                <a:solidFill>
                  <a:srgbClr val="800000"/>
                </a:solidFill>
                <a:latin typeface="黑体" panose="02010609060101010101" pitchFamily="49" charset="-122"/>
                <a:ea typeface="黑体" panose="02010609060101010101" pitchFamily="49" charset="-122"/>
              </a:rPr>
              <a:t>1</a:t>
            </a:r>
            <a:r>
              <a:rPr lang="zh-CN" altLang="en-US" sz="1800">
                <a:solidFill>
                  <a:srgbClr val="800000"/>
                </a:solidFill>
                <a:latin typeface="黑体" panose="02010609060101010101" pitchFamily="49" charset="-122"/>
                <a:ea typeface="黑体" panose="02010609060101010101" pitchFamily="49" charset="-122"/>
              </a:rPr>
              <a:t>）请求票据许可票据</a:t>
            </a:r>
          </a:p>
          <a:p>
            <a:pPr eaLnBrk="1" hangingPunct="1">
              <a:lnSpc>
                <a:spcPct val="90000"/>
              </a:lnSpc>
              <a:spcBef>
                <a:spcPct val="50000"/>
              </a:spcBef>
            </a:pPr>
            <a:r>
              <a:rPr lang="en-US" altLang="zh-CN" sz="1800">
                <a:solidFill>
                  <a:srgbClr val="800000"/>
                </a:solidFill>
                <a:latin typeface="黑体" panose="02010609060101010101" pitchFamily="49" charset="-122"/>
                <a:ea typeface="黑体" panose="02010609060101010101" pitchFamily="49" charset="-122"/>
              </a:rPr>
              <a:t>2</a:t>
            </a:r>
            <a:r>
              <a:rPr lang="zh-CN" altLang="en-US" sz="1800">
                <a:solidFill>
                  <a:srgbClr val="800000"/>
                </a:solidFill>
                <a:latin typeface="黑体" panose="02010609060101010101" pitchFamily="49" charset="-122"/>
                <a:ea typeface="黑体" panose="02010609060101010101" pitchFamily="49" charset="-122"/>
              </a:rPr>
              <a:t>）票据许可票据</a:t>
            </a:r>
            <a:endParaRPr lang="en-US" altLang="zh-CN" sz="1800">
              <a:solidFill>
                <a:srgbClr val="800000"/>
              </a:solidFill>
              <a:latin typeface="黑体" panose="02010609060101010101" pitchFamily="49" charset="-122"/>
              <a:ea typeface="黑体" panose="02010609060101010101" pitchFamily="49" charset="-122"/>
            </a:endParaRPr>
          </a:p>
          <a:p>
            <a:pPr eaLnBrk="1" hangingPunct="1">
              <a:lnSpc>
                <a:spcPct val="90000"/>
              </a:lnSpc>
              <a:spcBef>
                <a:spcPct val="50000"/>
              </a:spcBef>
            </a:pPr>
            <a:r>
              <a:rPr lang="zh-CN" altLang="en-US" sz="1800">
                <a:solidFill>
                  <a:srgbClr val="800000"/>
                </a:solidFill>
                <a:latin typeface="黑体" panose="02010609060101010101" pitchFamily="49" charset="-122"/>
                <a:ea typeface="黑体" panose="02010609060101010101" pitchFamily="49" charset="-122"/>
              </a:rPr>
              <a:t>身份验证，得到</a:t>
            </a:r>
            <a:r>
              <a:rPr lang="zh-CN" altLang="zh-CN" sz="1800">
                <a:solidFill>
                  <a:srgbClr val="800000"/>
                </a:solidFill>
                <a:latin typeface="黑体" panose="02010609060101010101" pitchFamily="49" charset="-122"/>
                <a:ea typeface="黑体" panose="02010609060101010101" pitchFamily="49" charset="-122"/>
              </a:rPr>
              <a:t>TGT</a:t>
            </a:r>
          </a:p>
          <a:p>
            <a:pPr eaLnBrk="1" hangingPunct="1">
              <a:lnSpc>
                <a:spcPct val="90000"/>
              </a:lnSpc>
              <a:spcBef>
                <a:spcPct val="50000"/>
              </a:spcBef>
            </a:pPr>
            <a:r>
              <a:rPr lang="zh-CN" altLang="zh-CN" sz="1800">
                <a:solidFill>
                  <a:srgbClr val="800000"/>
                </a:solidFill>
                <a:latin typeface="黑体" panose="02010609060101010101" pitchFamily="49" charset="-122"/>
                <a:ea typeface="黑体" panose="02010609060101010101" pitchFamily="49" charset="-122"/>
              </a:rPr>
              <a:t>(ticket-granting ticket)</a:t>
            </a:r>
            <a:endParaRPr lang="en-US" altLang="zh-CN" sz="1800">
              <a:solidFill>
                <a:srgbClr val="800000"/>
              </a:solidFill>
              <a:latin typeface="黑体" panose="02010609060101010101" pitchFamily="49" charset="-122"/>
              <a:ea typeface="黑体" panose="02010609060101010101" pitchFamily="49" charset="-122"/>
            </a:endParaRPr>
          </a:p>
          <a:p>
            <a:pPr eaLnBrk="1" hangingPunct="1">
              <a:lnSpc>
                <a:spcPct val="90000"/>
              </a:lnSpc>
              <a:spcBef>
                <a:spcPct val="50000"/>
              </a:spcBef>
            </a:pPr>
            <a:endParaRPr lang="zh-CN" altLang="en-US" sz="1800">
              <a:solidFill>
                <a:srgbClr val="800000"/>
              </a:solidFill>
              <a:latin typeface="黑体" panose="02010609060101010101" pitchFamily="49" charset="-122"/>
              <a:ea typeface="黑体" panose="02010609060101010101" pitchFamily="49" charset="-122"/>
            </a:endParaRPr>
          </a:p>
          <a:p>
            <a:pPr eaLnBrk="1" hangingPunct="1">
              <a:lnSpc>
                <a:spcPct val="90000"/>
              </a:lnSpc>
              <a:spcBef>
                <a:spcPct val="50000"/>
              </a:spcBef>
            </a:pPr>
            <a:r>
              <a:rPr lang="en-US" altLang="zh-CN" sz="1800">
                <a:solidFill>
                  <a:srgbClr val="800000"/>
                </a:solidFill>
                <a:latin typeface="黑体" panose="02010609060101010101" pitchFamily="49" charset="-122"/>
                <a:ea typeface="黑体" panose="02010609060101010101" pitchFamily="49" charset="-122"/>
              </a:rPr>
              <a:t>3</a:t>
            </a:r>
            <a:r>
              <a:rPr lang="zh-CN" altLang="en-US" sz="1800">
                <a:solidFill>
                  <a:srgbClr val="800000"/>
                </a:solidFill>
                <a:latin typeface="黑体" panose="02010609060101010101" pitchFamily="49" charset="-122"/>
                <a:ea typeface="黑体" panose="02010609060101010101" pitchFamily="49" charset="-122"/>
              </a:rPr>
              <a:t>）请求服务器票据</a:t>
            </a:r>
          </a:p>
          <a:p>
            <a:pPr eaLnBrk="1" hangingPunct="1">
              <a:lnSpc>
                <a:spcPct val="90000"/>
              </a:lnSpc>
              <a:spcBef>
                <a:spcPct val="50000"/>
              </a:spcBef>
            </a:pPr>
            <a:r>
              <a:rPr lang="en-US" altLang="zh-CN" sz="1800">
                <a:solidFill>
                  <a:srgbClr val="800000"/>
                </a:solidFill>
                <a:latin typeface="黑体" panose="02010609060101010101" pitchFamily="49" charset="-122"/>
                <a:ea typeface="黑体" panose="02010609060101010101" pitchFamily="49" charset="-122"/>
              </a:rPr>
              <a:t>4</a:t>
            </a:r>
            <a:r>
              <a:rPr lang="zh-CN" altLang="en-US" sz="1800">
                <a:solidFill>
                  <a:srgbClr val="800000"/>
                </a:solidFill>
                <a:latin typeface="黑体" panose="02010609060101010101" pitchFamily="49" charset="-122"/>
                <a:ea typeface="黑体" panose="02010609060101010101" pitchFamily="49" charset="-122"/>
              </a:rPr>
              <a:t>）服务器票据</a:t>
            </a:r>
            <a:endParaRPr lang="en-US" altLang="zh-CN" sz="1800">
              <a:solidFill>
                <a:srgbClr val="800000"/>
              </a:solidFill>
              <a:latin typeface="黑体" panose="02010609060101010101" pitchFamily="49" charset="-122"/>
              <a:ea typeface="黑体" panose="02010609060101010101" pitchFamily="49" charset="-122"/>
            </a:endParaRPr>
          </a:p>
          <a:p>
            <a:pPr eaLnBrk="1" hangingPunct="1">
              <a:lnSpc>
                <a:spcPct val="90000"/>
              </a:lnSpc>
              <a:spcBef>
                <a:spcPct val="50000"/>
              </a:spcBef>
            </a:pPr>
            <a:r>
              <a:rPr lang="zh-CN" altLang="en-US" sz="1800">
                <a:solidFill>
                  <a:srgbClr val="800000"/>
                </a:solidFill>
                <a:latin typeface="黑体" panose="02010609060101010101" pitchFamily="49" charset="-122"/>
                <a:ea typeface="黑体" panose="02010609060101010101" pitchFamily="49" charset="-122"/>
              </a:rPr>
              <a:t>申请验证，得到</a:t>
            </a:r>
            <a:r>
              <a:rPr lang="en-US" altLang="zh-CN" sz="1800">
                <a:solidFill>
                  <a:srgbClr val="800000"/>
                </a:solidFill>
                <a:latin typeface="黑体" panose="02010609060101010101" pitchFamily="49" charset="-122"/>
                <a:ea typeface="黑体" panose="02010609060101010101" pitchFamily="49" charset="-122"/>
              </a:rPr>
              <a:t>ticket</a:t>
            </a:r>
          </a:p>
          <a:p>
            <a:pPr eaLnBrk="1" hangingPunct="1">
              <a:lnSpc>
                <a:spcPct val="90000"/>
              </a:lnSpc>
              <a:spcBef>
                <a:spcPct val="50000"/>
              </a:spcBef>
            </a:pPr>
            <a:endParaRPr lang="zh-CN" altLang="en-US" sz="1800">
              <a:solidFill>
                <a:srgbClr val="800000"/>
              </a:solidFill>
              <a:latin typeface="黑体" panose="02010609060101010101" pitchFamily="49" charset="-122"/>
              <a:ea typeface="黑体" panose="02010609060101010101" pitchFamily="49" charset="-122"/>
            </a:endParaRPr>
          </a:p>
          <a:p>
            <a:pPr eaLnBrk="1" hangingPunct="1">
              <a:lnSpc>
                <a:spcPct val="90000"/>
              </a:lnSpc>
              <a:spcBef>
                <a:spcPct val="50000"/>
              </a:spcBef>
            </a:pPr>
            <a:r>
              <a:rPr lang="en-US" altLang="zh-CN" sz="1800">
                <a:solidFill>
                  <a:srgbClr val="800000"/>
                </a:solidFill>
                <a:latin typeface="黑体" panose="02010609060101010101" pitchFamily="49" charset="-122"/>
                <a:ea typeface="黑体" panose="02010609060101010101" pitchFamily="49" charset="-122"/>
              </a:rPr>
              <a:t>5</a:t>
            </a:r>
            <a:r>
              <a:rPr lang="zh-CN" altLang="en-US" sz="1800">
                <a:solidFill>
                  <a:srgbClr val="800000"/>
                </a:solidFill>
                <a:latin typeface="黑体" panose="02010609060101010101" pitchFamily="49" charset="-122"/>
                <a:ea typeface="黑体" panose="02010609060101010101" pitchFamily="49" charset="-122"/>
              </a:rPr>
              <a:t>）请求服务</a:t>
            </a:r>
          </a:p>
        </p:txBody>
      </p:sp>
      <p:sp>
        <p:nvSpPr>
          <p:cNvPr id="20" name="标题 1">
            <a:extLst>
              <a:ext uri="{FF2B5EF4-FFF2-40B4-BE49-F238E27FC236}">
                <a16:creationId xmlns:a16="http://schemas.microsoft.com/office/drawing/2014/main" id="{88C64859-4CC6-9D4C-8E07-A4880131C7AB}"/>
              </a:ext>
            </a:extLst>
          </p:cNvPr>
          <p:cNvSpPr>
            <a:spLocks noGrp="1"/>
          </p:cNvSpPr>
          <p:nvPr>
            <p:ph type="title"/>
          </p:nvPr>
        </p:nvSpPr>
        <p:spPr>
          <a:xfrm>
            <a:off x="533400" y="838200"/>
            <a:ext cx="6513513" cy="609600"/>
          </a:xfrm>
        </p:spPr>
        <p:txBody>
          <a:bodyPr vert="horz" wrap="square" lIns="91440" tIns="45720" rIns="91440" bIns="45720" numCol="1" anchor="t" anchorCtr="0" compatLnSpc="1">
            <a:prstTxWarp prst="textNoShape">
              <a:avLst/>
            </a:prstTxWarp>
          </a:bodyPr>
          <a:lstStyle/>
          <a:p>
            <a:pPr eaLnBrk="1" hangingPunct="1">
              <a:defRPr/>
            </a:pPr>
            <a:r>
              <a:rPr lang="en-US" altLang="zh-CN" sz="36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Kerberos</a:t>
            </a:r>
            <a:r>
              <a:rPr lang="zh-CN" altLang="en-US" sz="36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鉴别协议流程</a:t>
            </a:r>
          </a:p>
        </p:txBody>
      </p:sp>
      <p:sp>
        <p:nvSpPr>
          <p:cNvPr id="2" name="矩形 1">
            <a:extLst>
              <a:ext uri="{FF2B5EF4-FFF2-40B4-BE49-F238E27FC236}">
                <a16:creationId xmlns:a16="http://schemas.microsoft.com/office/drawing/2014/main" id="{52D01BE0-3A1B-A34A-9E1C-C7AEA8454BEB}"/>
              </a:ext>
            </a:extLst>
          </p:cNvPr>
          <p:cNvSpPr/>
          <p:nvPr/>
        </p:nvSpPr>
        <p:spPr bwMode="auto">
          <a:xfrm>
            <a:off x="3200400" y="1531938"/>
            <a:ext cx="5029200" cy="1897062"/>
          </a:xfrm>
          <a:prstGeom prst="rect">
            <a:avLst/>
          </a:prstGeom>
          <a:noFill/>
          <a:ln w="38100" cap="flat" cmpd="sng" algn="ctr">
            <a:solidFill>
              <a:srgbClr val="000000"/>
            </a:solidFill>
            <a:prstDash val="solid"/>
            <a:round/>
            <a:headEnd type="none" w="med" len="med"/>
            <a:tailEnd type="none" w="med" len="med"/>
          </a:ln>
          <a:effectLst/>
        </p:spPr>
        <p:txBody>
          <a:bodyPr/>
          <a:lstStyle/>
          <a:p>
            <a:pPr eaLnBrk="1" hangingPunct="1">
              <a:lnSpc>
                <a:spcPct val="90000"/>
              </a:lnSpc>
              <a:defRPr/>
            </a:pPr>
            <a:endParaRPr lang="zh-CN" altLang="en-US">
              <a:effectLst>
                <a:outerShdw blurRad="38100" dist="38100" dir="2700000" algn="tl">
                  <a:srgbClr val="000000">
                    <a:alpha val="43137"/>
                  </a:srgbClr>
                </a:outerShdw>
              </a:effectLst>
            </a:endParaRPr>
          </a:p>
        </p:txBody>
      </p:sp>
      <p:sp>
        <p:nvSpPr>
          <p:cNvPr id="21" name="文本框 20">
            <a:extLst>
              <a:ext uri="{FF2B5EF4-FFF2-40B4-BE49-F238E27FC236}">
                <a16:creationId xmlns:a16="http://schemas.microsoft.com/office/drawing/2014/main" id="{9C3F0172-78C5-C946-99E5-1746F7E3A7B6}"/>
              </a:ext>
            </a:extLst>
          </p:cNvPr>
          <p:cNvSpPr txBox="1"/>
          <p:nvPr/>
        </p:nvSpPr>
        <p:spPr>
          <a:xfrm>
            <a:off x="3867150" y="1600200"/>
            <a:ext cx="3736975" cy="425450"/>
          </a:xfrm>
          <a:prstGeom prst="rect">
            <a:avLst/>
          </a:prstGeom>
          <a:noFill/>
        </p:spPr>
        <p:txBody>
          <a:bodyPr>
            <a:spAutoFit/>
          </a:bodyPr>
          <a:lstStyle/>
          <a:p>
            <a:pPr eaLnBrk="1" hangingPunct="1">
              <a:lnSpc>
                <a:spcPct val="90000"/>
              </a:lnSpc>
              <a:defRPr/>
            </a:pPr>
            <a:r>
              <a:rPr lang="en-US" altLang="zh-CN" sz="24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rPr>
              <a:t>KDC</a:t>
            </a:r>
            <a:r>
              <a:rPr lang="zh-CN" altLang="en-US" sz="24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rPr>
              <a:t>Kerberos</a:t>
            </a:r>
            <a:r>
              <a:rPr lang="zh-CN" altLang="en-US" sz="24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rPr>
              <a:t>认证中心）</a:t>
            </a:r>
          </a:p>
        </p:txBody>
      </p:sp>
      <p:sp>
        <p:nvSpPr>
          <p:cNvPr id="22" name="Oval 6">
            <a:extLst>
              <a:ext uri="{FF2B5EF4-FFF2-40B4-BE49-F238E27FC236}">
                <a16:creationId xmlns:a16="http://schemas.microsoft.com/office/drawing/2014/main" id="{C3D27484-B434-D341-B026-3C9B125C0184}"/>
              </a:ext>
            </a:extLst>
          </p:cNvPr>
          <p:cNvSpPr>
            <a:spLocks noChangeArrowheads="1"/>
          </p:cNvSpPr>
          <p:nvPr/>
        </p:nvSpPr>
        <p:spPr bwMode="auto">
          <a:xfrm>
            <a:off x="7543800" y="5197475"/>
            <a:ext cx="1423988" cy="1022350"/>
          </a:xfrm>
          <a:prstGeom prst="ellipse">
            <a:avLst/>
          </a:prstGeom>
          <a:solidFill>
            <a:schemeClr val="accent1">
              <a:lumMod val="75000"/>
            </a:schemeClr>
          </a:solidFill>
          <a:ln w="28575" cap="sq">
            <a:solidFill>
              <a:schemeClr val="bg2"/>
            </a:solidFill>
            <a:round/>
            <a:headEnd type="none" w="sm" len="sm"/>
            <a:tailEnd type="none" w="sm" len="sm"/>
          </a:ln>
          <a:effectLst/>
        </p:spPr>
        <p:txBody>
          <a:bodyPr wrap="none"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dirty="0">
                <a:solidFill>
                  <a:schemeClr val="bg2"/>
                </a:solidFill>
                <a:effectLst>
                  <a:outerShdw blurRad="38100" dist="38100" dir="2700000" algn="tl">
                    <a:srgbClr val="FFFFFF"/>
                  </a:outerShdw>
                </a:effectLst>
                <a:latin typeface="黑体" panose="02010609060101010101" pitchFamily="49" charset="-122"/>
                <a:ea typeface="黑体" panose="02010609060101010101" pitchFamily="49" charset="-122"/>
              </a:rPr>
              <a:t>服务器</a:t>
            </a:r>
            <a:endParaRPr lang="en-US" altLang="zh-CN" sz="2000" dirty="0">
              <a:solidFill>
                <a:schemeClr val="bg2"/>
              </a:solidFill>
              <a:effectLst>
                <a:outerShdw blurRad="38100" dist="38100" dir="2700000" algn="tl">
                  <a:srgbClr val="FFFFFF"/>
                </a:outerShdw>
              </a:effectLst>
              <a:latin typeface="黑体" panose="02010609060101010101" pitchFamily="49" charset="-122"/>
              <a:ea typeface="黑体" panose="02010609060101010101" pitchFamily="49" charset="-122"/>
            </a:endParaRPr>
          </a:p>
          <a:p>
            <a:pPr eaLnBrk="1" hangingPunct="1">
              <a:lnSpc>
                <a:spcPct val="90000"/>
              </a:lnSpc>
              <a:defRPr/>
            </a:pPr>
            <a:r>
              <a:rPr lang="en-US" altLang="zh-CN" sz="2000" dirty="0">
                <a:solidFill>
                  <a:schemeClr val="bg2"/>
                </a:solidFill>
                <a:effectLst>
                  <a:outerShdw blurRad="38100" dist="38100" dir="2700000" algn="tl">
                    <a:srgbClr val="FFFFFF"/>
                  </a:outerShdw>
                </a:effectLst>
                <a:latin typeface="黑体" panose="02010609060101010101" pitchFamily="49" charset="-122"/>
                <a:ea typeface="黑体" panose="02010609060101010101" pitchFamily="49" charset="-122"/>
              </a:rPr>
              <a:t>Server</a:t>
            </a:r>
            <a:endParaRPr lang="zh-CN" altLang="en-US" sz="2000" dirty="0">
              <a:solidFill>
                <a:schemeClr val="bg2"/>
              </a:solidFill>
              <a:effectLst>
                <a:outerShdw blurRad="38100" dist="38100" dir="2700000" algn="tl">
                  <a:srgbClr val="FFFFFF"/>
                </a:outerShdw>
              </a:effectLst>
              <a:latin typeface="黑体" panose="02010609060101010101" pitchFamily="49" charset="-122"/>
              <a:ea typeface="黑体" panose="02010609060101010101" pitchFamily="49" charset="-122"/>
            </a:endParaRPr>
          </a:p>
        </p:txBody>
      </p:sp>
      <p:sp>
        <p:nvSpPr>
          <p:cNvPr id="23" name="文本框 22">
            <a:extLst>
              <a:ext uri="{FF2B5EF4-FFF2-40B4-BE49-F238E27FC236}">
                <a16:creationId xmlns:a16="http://schemas.microsoft.com/office/drawing/2014/main" id="{AE3B6D8E-20CA-0D49-9F65-EB45FB641063}"/>
              </a:ext>
            </a:extLst>
          </p:cNvPr>
          <p:cNvSpPr txBox="1"/>
          <p:nvPr/>
        </p:nvSpPr>
        <p:spPr>
          <a:xfrm>
            <a:off x="2814638" y="3698875"/>
            <a:ext cx="920750" cy="425450"/>
          </a:xfrm>
          <a:prstGeom prst="rect">
            <a:avLst/>
          </a:prstGeom>
          <a:noFill/>
        </p:spPr>
        <p:txBody>
          <a:bodyPr>
            <a:spAutoFit/>
          </a:bodyPr>
          <a:lstStyle/>
          <a:p>
            <a:pPr eaLnBrk="1" hangingPunct="1">
              <a:lnSpc>
                <a:spcPct val="90000"/>
              </a:lnSpc>
              <a:defRPr/>
            </a:pPr>
            <a:r>
              <a:rPr lang="en-US" altLang="zh-CN" sz="24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rPr>
              <a:t>TGT</a:t>
            </a:r>
            <a:endParaRPr lang="zh-CN" altLang="en-US" sz="24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文本框 23">
            <a:extLst>
              <a:ext uri="{FF2B5EF4-FFF2-40B4-BE49-F238E27FC236}">
                <a16:creationId xmlns:a16="http://schemas.microsoft.com/office/drawing/2014/main" id="{73CB55AF-D51E-2848-A0DB-884E858B9AEB}"/>
              </a:ext>
            </a:extLst>
          </p:cNvPr>
          <p:cNvSpPr txBox="1"/>
          <p:nvPr/>
        </p:nvSpPr>
        <p:spPr>
          <a:xfrm>
            <a:off x="6440488" y="3582988"/>
            <a:ext cx="1103312" cy="423862"/>
          </a:xfrm>
          <a:prstGeom prst="rect">
            <a:avLst/>
          </a:prstGeom>
          <a:noFill/>
        </p:spPr>
        <p:txBody>
          <a:bodyPr>
            <a:spAutoFit/>
          </a:bodyPr>
          <a:lstStyle/>
          <a:p>
            <a:pPr eaLnBrk="1" hangingPunct="1">
              <a:lnSpc>
                <a:spcPct val="90000"/>
              </a:lnSpc>
              <a:defRPr/>
            </a:pPr>
            <a:r>
              <a:rPr lang="en-US" altLang="zh-CN" sz="24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rPr>
              <a:t>Ticket</a:t>
            </a:r>
            <a:endParaRPr lang="zh-CN" altLang="en-US" sz="2400" dirty="0">
              <a:solidFill>
                <a:schemeClr val="bg2"/>
              </a:solidFill>
              <a:effectLst>
                <a:outerShdw blurRad="38100" dist="38100" dir="2700000" algn="tl">
                  <a:srgbClr val="FFFFFF"/>
                </a:outerShdw>
              </a:effectLst>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40E02D5C-D09D-F34B-9CCF-5068FF3278C2}"/>
              </a:ext>
            </a:extLst>
          </p:cNvPr>
          <p:cNvSpPr>
            <a:spLocks noGrp="1"/>
          </p:cNvSpPr>
          <p:nvPr>
            <p:ph idx="1"/>
          </p:nvPr>
        </p:nvSpPr>
        <p:spPr>
          <a:xfrm>
            <a:off x="152400" y="4267200"/>
            <a:ext cx="8382000" cy="1625600"/>
          </a:xfrm>
        </p:spPr>
        <p:txBody>
          <a:bodyPr vert="horz" wrap="square" lIns="91440" tIns="45720" rIns="91440" bIns="45720" numCol="1" anchor="t" anchorCtr="0" compatLnSpc="1">
            <a:prstTxWarp prst="textNoShape">
              <a:avLst/>
            </a:prstTxWarp>
            <a:normAutofit/>
          </a:bodyPr>
          <a:lstStyle/>
          <a:p>
            <a:pPr lvl="1" eaLnBrk="1" hangingPunct="1">
              <a:buClr>
                <a:srgbClr val="FF0000"/>
              </a:buClr>
              <a:buFont typeface="Wingdings" pitchFamily="2" charset="2"/>
              <a:buChar char="u"/>
              <a:defRPr/>
            </a:pPr>
            <a:r>
              <a:rPr lang="zh-CN" altLang="en-US" sz="2400" dirty="0">
                <a:solidFill>
                  <a:schemeClr val="bg2"/>
                </a:solidFill>
                <a:latin typeface="黑体" panose="02010609060101010101" pitchFamily="49" charset="-122"/>
                <a:ea typeface="黑体" panose="02010609060101010101" pitchFamily="49" charset="-122"/>
              </a:rPr>
              <a:t>用户登录客户机请求主机服务</a:t>
            </a:r>
            <a:endParaRPr lang="en-US" altLang="zh-CN" sz="2400" dirty="0">
              <a:solidFill>
                <a:schemeClr val="bg2"/>
              </a:solidFill>
              <a:latin typeface="黑体" panose="02010609060101010101" pitchFamily="49" charset="-122"/>
              <a:ea typeface="黑体" panose="02010609060101010101" pitchFamily="49" charset="-122"/>
            </a:endParaRPr>
          </a:p>
          <a:p>
            <a:pPr lvl="1" eaLnBrk="1" hangingPunct="1">
              <a:buClr>
                <a:srgbClr val="FF0000"/>
              </a:buClr>
              <a:buFont typeface="Wingdings" pitchFamily="2" charset="2"/>
              <a:buChar char="u"/>
              <a:defRPr/>
            </a:pPr>
            <a:r>
              <a:rPr lang="zh-CN" altLang="en-US" sz="2400" dirty="0">
                <a:solidFill>
                  <a:schemeClr val="bg2"/>
                </a:solidFill>
                <a:latin typeface="黑体" panose="02010609060101010101" pitchFamily="49" charset="-122"/>
                <a:ea typeface="黑体" panose="02010609060101010101" pitchFamily="49" charset="-122"/>
              </a:rPr>
              <a:t>认证服务器（</a:t>
            </a:r>
            <a:r>
              <a:rPr lang="en-US" altLang="zh-CN" sz="2400" dirty="0">
                <a:solidFill>
                  <a:schemeClr val="bg2"/>
                </a:solidFill>
                <a:latin typeface="黑体" panose="02010609060101010101" pitchFamily="49" charset="-122"/>
                <a:ea typeface="黑体" panose="02010609060101010101" pitchFamily="49" charset="-122"/>
              </a:rPr>
              <a:t>AS</a:t>
            </a:r>
            <a:r>
              <a:rPr lang="zh-CN" altLang="en-US" sz="2400" dirty="0">
                <a:solidFill>
                  <a:schemeClr val="bg2"/>
                </a:solidFill>
                <a:latin typeface="黑体" panose="02010609060101010101" pitchFamily="49" charset="-122"/>
                <a:ea typeface="黑体" panose="02010609060101010101" pitchFamily="49" charset="-122"/>
              </a:rPr>
              <a:t>）在数据库中验证用户的访问权限，生成票据许可票据和会话密钥，它们用由用户口令导出的密钥进行加密</a:t>
            </a:r>
            <a:endParaRPr lang="en-US" altLang="zh-CN" sz="2400" dirty="0">
              <a:solidFill>
                <a:schemeClr val="bg2"/>
              </a:solidFill>
              <a:latin typeface="黑体" panose="02010609060101010101" pitchFamily="49" charset="-122"/>
              <a:ea typeface="黑体" panose="02010609060101010101" pitchFamily="49" charset="-122"/>
            </a:endParaRPr>
          </a:p>
          <a:p>
            <a:pPr eaLnBrk="1" hangingPunct="1">
              <a:lnSpc>
                <a:spcPct val="60000"/>
              </a:lnSpc>
              <a:buFont typeface="Wingdings" pitchFamily="2" charset="2"/>
              <a:buNone/>
              <a:defRPr/>
            </a:pPr>
            <a:endParaRPr lang="zh-CN" altLang="en-US" sz="3000" dirty="0">
              <a:solidFill>
                <a:schemeClr val="bg2"/>
              </a:solidFill>
              <a:latin typeface="黑体" panose="02010609060101010101" pitchFamily="49" charset="-122"/>
              <a:ea typeface="黑体" panose="02010609060101010101" pitchFamily="49" charset="-122"/>
            </a:endParaRPr>
          </a:p>
        </p:txBody>
      </p:sp>
      <p:grpSp>
        <p:nvGrpSpPr>
          <p:cNvPr id="123906" name="组合 12">
            <a:extLst>
              <a:ext uri="{FF2B5EF4-FFF2-40B4-BE49-F238E27FC236}">
                <a16:creationId xmlns:a16="http://schemas.microsoft.com/office/drawing/2014/main" id="{BE241FA6-BCF4-1A49-B83F-5339A46BCFD5}"/>
              </a:ext>
            </a:extLst>
          </p:cNvPr>
          <p:cNvGrpSpPr>
            <a:grpSpLocks/>
          </p:cNvGrpSpPr>
          <p:nvPr/>
        </p:nvGrpSpPr>
        <p:grpSpPr bwMode="auto">
          <a:xfrm>
            <a:off x="1981200" y="2106613"/>
            <a:ext cx="5272088" cy="1647825"/>
            <a:chOff x="1600200" y="3429000"/>
            <a:chExt cx="5272088" cy="1648531"/>
          </a:xfrm>
        </p:grpSpPr>
        <p:pic>
          <p:nvPicPr>
            <p:cNvPr id="123908" name="Picture 2">
              <a:extLst>
                <a:ext uri="{FF2B5EF4-FFF2-40B4-BE49-F238E27FC236}">
                  <a16:creationId xmlns:a16="http://schemas.microsoft.com/office/drawing/2014/main" id="{0717785E-1669-4146-A997-3824A96BC2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4025" y="3538538"/>
              <a:ext cx="990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09" name="Picture 3">
              <a:extLst>
                <a:ext uri="{FF2B5EF4-FFF2-40B4-BE49-F238E27FC236}">
                  <a16:creationId xmlns:a16="http://schemas.microsoft.com/office/drawing/2014/main" id="{BB005D6C-315E-D140-B786-B741F131AF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5525" y="3465513"/>
              <a:ext cx="766763"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7">
              <a:extLst>
                <a:ext uri="{FF2B5EF4-FFF2-40B4-BE49-F238E27FC236}">
                  <a16:creationId xmlns:a16="http://schemas.microsoft.com/office/drawing/2014/main" id="{D923D0BE-1A74-5A48-9BF3-8E23DDE9CAD8}"/>
                </a:ext>
              </a:extLst>
            </p:cNvPr>
            <p:cNvSpPr txBox="1">
              <a:spLocks noChangeArrowheads="1"/>
            </p:cNvSpPr>
            <p:nvPr/>
          </p:nvSpPr>
          <p:spPr bwMode="auto">
            <a:xfrm>
              <a:off x="6288088" y="4561372"/>
              <a:ext cx="547687" cy="479630"/>
            </a:xfrm>
            <a:prstGeom prst="rect">
              <a:avLst/>
            </a:prstGeom>
            <a:noFill/>
            <a:ln w="9525">
              <a:noFill/>
              <a:miter lim="800000"/>
              <a:headEnd/>
              <a:tailEnd/>
            </a:ln>
          </p:spPr>
          <p:txBody>
            <a:bodyPr wrap="none">
              <a:spAutoFit/>
            </a:bodyPr>
            <a:lstStyle/>
            <a:p>
              <a:pPr eaLnBrk="1" hangingPunct="1">
                <a:lnSpc>
                  <a:spcPct val="90000"/>
                </a:lnSpc>
                <a:defRPr/>
              </a:pPr>
              <a:r>
                <a:rPr lang="en-US" altLang="zh-CN" sz="2800" dirty="0">
                  <a:solidFill>
                    <a:schemeClr val="bg2"/>
                  </a:solidFill>
                  <a:effectLst>
                    <a:outerShdw blurRad="38100" dist="38100" dir="2700000" algn="tl">
                      <a:srgbClr val="000000">
                        <a:alpha val="43137"/>
                      </a:srgbClr>
                    </a:outerShdw>
                  </a:effectLst>
                  <a:latin typeface="黑体" pitchFamily="2" charset="-122"/>
                  <a:ea typeface="黑体" pitchFamily="2" charset="-122"/>
                </a:rPr>
                <a:t>AS</a:t>
              </a:r>
              <a:endParaRPr lang="zh-CN" altLang="en-US" sz="2800" dirty="0">
                <a:solidFill>
                  <a:schemeClr val="bg2"/>
                </a:solidFill>
                <a:effectLst>
                  <a:outerShdw blurRad="38100" dist="38100" dir="2700000" algn="tl">
                    <a:srgbClr val="000000">
                      <a:alpha val="43137"/>
                    </a:srgbClr>
                  </a:outerShdw>
                </a:effectLst>
                <a:latin typeface="黑体" pitchFamily="2" charset="-122"/>
                <a:ea typeface="黑体" pitchFamily="2" charset="-122"/>
              </a:endParaRPr>
            </a:p>
          </p:txBody>
        </p:sp>
        <p:sp>
          <p:nvSpPr>
            <p:cNvPr id="8" name="TextBox 8">
              <a:extLst>
                <a:ext uri="{FF2B5EF4-FFF2-40B4-BE49-F238E27FC236}">
                  <a16:creationId xmlns:a16="http://schemas.microsoft.com/office/drawing/2014/main" id="{450DB396-7044-A942-8A91-F4BBED856607}"/>
                </a:ext>
              </a:extLst>
            </p:cNvPr>
            <p:cNvSpPr txBox="1">
              <a:spLocks noChangeArrowheads="1"/>
            </p:cNvSpPr>
            <p:nvPr/>
          </p:nvSpPr>
          <p:spPr bwMode="auto">
            <a:xfrm>
              <a:off x="1600200" y="4597901"/>
              <a:ext cx="1266825" cy="47963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客户机</a:t>
              </a:r>
            </a:p>
          </p:txBody>
        </p:sp>
        <p:cxnSp>
          <p:nvCxnSpPr>
            <p:cNvPr id="9" name="直接箭头连接符 8">
              <a:extLst>
                <a:ext uri="{FF2B5EF4-FFF2-40B4-BE49-F238E27FC236}">
                  <a16:creationId xmlns:a16="http://schemas.microsoft.com/office/drawing/2014/main" id="{483CEC74-5287-E743-997B-39EB56136C2B}"/>
                </a:ext>
              </a:extLst>
            </p:cNvPr>
            <p:cNvCxnSpPr/>
            <p:nvPr/>
          </p:nvCxnSpPr>
          <p:spPr>
            <a:xfrm>
              <a:off x="2928938" y="3794281"/>
              <a:ext cx="2774950" cy="1588"/>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10" name="TextBox 10">
              <a:extLst>
                <a:ext uri="{FF2B5EF4-FFF2-40B4-BE49-F238E27FC236}">
                  <a16:creationId xmlns:a16="http://schemas.microsoft.com/office/drawing/2014/main" id="{56A3FA5C-1AA7-934C-B533-6602F7F02F72}"/>
                </a:ext>
              </a:extLst>
            </p:cNvPr>
            <p:cNvSpPr txBox="1">
              <a:spLocks noChangeArrowheads="1"/>
            </p:cNvSpPr>
            <p:nvPr/>
          </p:nvSpPr>
          <p:spPr bwMode="auto">
            <a:xfrm>
              <a:off x="3200400" y="3429000"/>
              <a:ext cx="2616200" cy="370045"/>
            </a:xfrm>
            <a:prstGeom prst="rect">
              <a:avLst/>
            </a:prstGeom>
            <a:noFill/>
            <a:ln w="9525">
              <a:no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a:effectLst>
                    <a:outerShdw blurRad="38100" dist="38100" dir="2700000" algn="tl">
                      <a:srgbClr val="C0C0C0"/>
                    </a:outerShdw>
                  </a:effectLst>
                  <a:latin typeface="黑体" panose="02010609060101010101" pitchFamily="49" charset="-122"/>
                  <a:ea typeface="黑体" panose="02010609060101010101" pitchFamily="49" charset="-122"/>
                </a:rPr>
                <a:t>请求票据许可票据</a:t>
              </a:r>
            </a:p>
          </p:txBody>
        </p:sp>
        <p:cxnSp>
          <p:nvCxnSpPr>
            <p:cNvPr id="11" name="直接箭头连接符 10">
              <a:extLst>
                <a:ext uri="{FF2B5EF4-FFF2-40B4-BE49-F238E27FC236}">
                  <a16:creationId xmlns:a16="http://schemas.microsoft.com/office/drawing/2014/main" id="{C3DB2CDA-8873-174D-A3BC-2E18C4B2580C}"/>
                </a:ext>
              </a:extLst>
            </p:cNvPr>
            <p:cNvCxnSpPr/>
            <p:nvPr/>
          </p:nvCxnSpPr>
          <p:spPr>
            <a:xfrm>
              <a:off x="2965450" y="4232619"/>
              <a:ext cx="2774950" cy="1588"/>
            </a:xfrm>
            <a:prstGeom prst="straightConnector1">
              <a:avLst/>
            </a:prstGeom>
            <a:ln w="38100">
              <a:solidFill>
                <a:srgbClr val="0070C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12" name="TextBox 14">
              <a:extLst>
                <a:ext uri="{FF2B5EF4-FFF2-40B4-BE49-F238E27FC236}">
                  <a16:creationId xmlns:a16="http://schemas.microsoft.com/office/drawing/2014/main" id="{FB63F053-92D9-AB41-AFFA-AFB017757AC3}"/>
                </a:ext>
              </a:extLst>
            </p:cNvPr>
            <p:cNvSpPr txBox="1">
              <a:spLocks noChangeArrowheads="1"/>
            </p:cNvSpPr>
            <p:nvPr/>
          </p:nvSpPr>
          <p:spPr bwMode="auto">
            <a:xfrm>
              <a:off x="2973388" y="4431141"/>
              <a:ext cx="3000375" cy="370046"/>
            </a:xfrm>
            <a:prstGeom prst="rect">
              <a:avLst/>
            </a:prstGeom>
            <a:noFill/>
            <a:ln w="9525">
              <a:no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dirty="0">
                  <a:effectLst>
                    <a:outerShdw blurRad="38100" dist="38100" dir="2700000" algn="tl">
                      <a:srgbClr val="C0C0C0"/>
                    </a:outerShdw>
                  </a:effectLst>
                  <a:latin typeface="黑体" panose="02010609060101010101" pitchFamily="49" charset="-122"/>
                  <a:ea typeface="黑体" panose="02010609060101010101" pitchFamily="49" charset="-122"/>
                </a:rPr>
                <a:t>票据许可票据</a:t>
              </a:r>
              <a:r>
                <a:rPr lang="en-US" altLang="zh-CN" sz="2000" dirty="0">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000" dirty="0">
                  <a:effectLst>
                    <a:outerShdw blurRad="38100" dist="38100" dir="2700000" algn="tl">
                      <a:srgbClr val="C0C0C0"/>
                    </a:outerShdw>
                  </a:effectLst>
                  <a:latin typeface="黑体" panose="02010609060101010101" pitchFamily="49" charset="-122"/>
                  <a:ea typeface="黑体" panose="02010609060101010101" pitchFamily="49" charset="-122"/>
                </a:rPr>
                <a:t>会话密钥</a:t>
              </a:r>
            </a:p>
          </p:txBody>
        </p:sp>
      </p:grpSp>
      <p:sp>
        <p:nvSpPr>
          <p:cNvPr id="2" name="矩形 1">
            <a:extLst>
              <a:ext uri="{FF2B5EF4-FFF2-40B4-BE49-F238E27FC236}">
                <a16:creationId xmlns:a16="http://schemas.microsoft.com/office/drawing/2014/main" id="{EDC46FD7-FF23-DD47-9B9A-ABD786DF70C5}"/>
              </a:ext>
            </a:extLst>
          </p:cNvPr>
          <p:cNvSpPr/>
          <p:nvPr/>
        </p:nvSpPr>
        <p:spPr>
          <a:xfrm>
            <a:off x="430213" y="1066800"/>
            <a:ext cx="6162675" cy="436563"/>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70000"/>
              </a:lnSpc>
              <a:defRPr/>
            </a:pPr>
            <a:r>
              <a:rPr lang="zh-CN" altLang="en-US" sz="32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第一步：获得票据许可票据</a:t>
            </a:r>
            <a:endParaRPr lang="en-US" altLang="zh-CN" sz="32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10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8" dur="10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000"/>
                            </p:stCondLst>
                            <p:childTnLst>
                              <p:par>
                                <p:cTn id="10" presetID="2" presetClass="entr" presetSubtype="2" fill="hold" grpId="0" nodeType="after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additive="base">
                                        <p:cTn id="12" dur="1000" fill="hold"/>
                                        <p:tgtEl>
                                          <p:spTgt spid="4">
                                            <p:txEl>
                                              <p:pRg st="1" end="1"/>
                                            </p:txEl>
                                          </p:spTgt>
                                        </p:tgtEl>
                                        <p:attrNameLst>
                                          <p:attrName>ppt_x</p:attrName>
                                        </p:attrNameLst>
                                      </p:cBhvr>
                                      <p:tavLst>
                                        <p:tav tm="0">
                                          <p:val>
                                            <p:strVal val="1+#ppt_w/2"/>
                                          </p:val>
                                        </p:tav>
                                        <p:tav tm="100000">
                                          <p:val>
                                            <p:strVal val="#ppt_x"/>
                                          </p:val>
                                        </p:tav>
                                      </p:tavLst>
                                    </p:anim>
                                    <p:anim calcmode="lin" valueType="num">
                                      <p:cBhvr additive="base">
                                        <p:cTn id="13" dur="10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B12714AA-532E-8C43-AB1E-4D6FE9A39A73}"/>
              </a:ext>
            </a:extLst>
          </p:cNvPr>
          <p:cNvSpPr>
            <a:spLocks noGrp="1"/>
          </p:cNvSpPr>
          <p:nvPr>
            <p:ph idx="1"/>
          </p:nvPr>
        </p:nvSpPr>
        <p:spPr>
          <a:xfrm>
            <a:off x="1588" y="4095750"/>
            <a:ext cx="8280400" cy="2259013"/>
          </a:xfrm>
        </p:spPr>
        <p:txBody>
          <a:bodyPr vert="horz" wrap="square" lIns="91440" tIns="45720" rIns="91440" bIns="45720" numCol="1" anchor="t" anchorCtr="0" compatLnSpc="1">
            <a:prstTxWarp prst="textNoShape">
              <a:avLst/>
            </a:prstTxWarp>
            <a:noAutofit/>
          </a:bodyPr>
          <a:lstStyle/>
          <a:p>
            <a:pPr lvl="1" eaLnBrk="1" hangingPunct="1">
              <a:lnSpc>
                <a:spcPct val="100000"/>
              </a:lnSpc>
              <a:buClr>
                <a:srgbClr val="FF0000"/>
              </a:buClr>
              <a:buFont typeface="Wingdings" pitchFamily="2" charset="2"/>
              <a:buChar char="u"/>
              <a:defRPr/>
            </a:pPr>
            <a:r>
              <a:rPr lang="zh-CN" altLang="en-US" sz="2400" dirty="0">
                <a:solidFill>
                  <a:schemeClr val="bg2"/>
                </a:solidFill>
                <a:latin typeface="黑体" panose="02010609060101010101" pitchFamily="49" charset="-122"/>
                <a:ea typeface="黑体" panose="02010609060101010101" pitchFamily="49" charset="-122"/>
              </a:rPr>
              <a:t>客户机提示用户输入口令来对收到的报文进行解密，然后将票据许可票据以及包含用户名称、网络地址和时间的鉴别符发往票据授权服务器</a:t>
            </a:r>
            <a:r>
              <a:rPr lang="en-US" altLang="zh-CN" sz="2400" dirty="0">
                <a:solidFill>
                  <a:schemeClr val="bg2"/>
                </a:solidFill>
                <a:latin typeface="黑体" panose="02010609060101010101" pitchFamily="49" charset="-122"/>
                <a:ea typeface="黑体" panose="02010609060101010101" pitchFamily="49" charset="-122"/>
              </a:rPr>
              <a:t>TGS</a:t>
            </a:r>
          </a:p>
          <a:p>
            <a:pPr lvl="1" eaLnBrk="1" hangingPunct="1">
              <a:lnSpc>
                <a:spcPct val="100000"/>
              </a:lnSpc>
              <a:buClr>
                <a:srgbClr val="FF0000"/>
              </a:buClr>
              <a:buFont typeface="Wingdings" pitchFamily="2" charset="2"/>
              <a:buChar char="u"/>
              <a:defRPr/>
            </a:pPr>
            <a:r>
              <a:rPr lang="zh-CN" altLang="en-US" sz="2400" dirty="0">
                <a:solidFill>
                  <a:schemeClr val="bg2"/>
                </a:solidFill>
                <a:latin typeface="黑体" panose="02010609060101010101" pitchFamily="49" charset="-122"/>
                <a:ea typeface="黑体" panose="02010609060101010101" pitchFamily="49" charset="-122"/>
              </a:rPr>
              <a:t>票据授权服务器</a:t>
            </a:r>
            <a:r>
              <a:rPr lang="en-US" altLang="zh-CN" sz="2400" dirty="0">
                <a:solidFill>
                  <a:schemeClr val="bg2"/>
                </a:solidFill>
                <a:latin typeface="黑体" panose="02010609060101010101" pitchFamily="49" charset="-122"/>
                <a:ea typeface="黑体" panose="02010609060101010101" pitchFamily="49" charset="-122"/>
              </a:rPr>
              <a:t>TGS</a:t>
            </a:r>
            <a:r>
              <a:rPr lang="zh-CN" altLang="en-US" sz="2400" dirty="0">
                <a:solidFill>
                  <a:schemeClr val="bg2"/>
                </a:solidFill>
                <a:latin typeface="黑体" panose="02010609060101010101" pitchFamily="49" charset="-122"/>
                <a:ea typeface="黑体" panose="02010609060101010101" pitchFamily="49" charset="-122"/>
              </a:rPr>
              <a:t>对票据和鉴别符进行解密，验证请求，然后生成请求服务许可票据</a:t>
            </a:r>
            <a:endParaRPr lang="en-US" altLang="zh-CN" sz="2400" dirty="0">
              <a:solidFill>
                <a:schemeClr val="bg2"/>
              </a:solidFill>
              <a:latin typeface="黑体" panose="02010609060101010101" pitchFamily="49" charset="-122"/>
              <a:ea typeface="黑体" panose="02010609060101010101" pitchFamily="49" charset="-122"/>
            </a:endParaRPr>
          </a:p>
        </p:txBody>
      </p:sp>
      <p:grpSp>
        <p:nvGrpSpPr>
          <p:cNvPr id="124930" name="组合 3">
            <a:extLst>
              <a:ext uri="{FF2B5EF4-FFF2-40B4-BE49-F238E27FC236}">
                <a16:creationId xmlns:a16="http://schemas.microsoft.com/office/drawing/2014/main" id="{1B9E5738-1A6C-A140-8189-FB74636D93F0}"/>
              </a:ext>
            </a:extLst>
          </p:cNvPr>
          <p:cNvGrpSpPr>
            <a:grpSpLocks/>
          </p:cNvGrpSpPr>
          <p:nvPr/>
        </p:nvGrpSpPr>
        <p:grpSpPr bwMode="auto">
          <a:xfrm>
            <a:off x="685800" y="1981200"/>
            <a:ext cx="5183188" cy="1611313"/>
            <a:chOff x="1797050" y="3757613"/>
            <a:chExt cx="5183188" cy="1611312"/>
          </a:xfrm>
        </p:grpSpPr>
        <p:pic>
          <p:nvPicPr>
            <p:cNvPr id="124934" name="Picture 2">
              <a:extLst>
                <a:ext uri="{FF2B5EF4-FFF2-40B4-BE49-F238E27FC236}">
                  <a16:creationId xmlns:a16="http://schemas.microsoft.com/office/drawing/2014/main" id="{B1B370E4-428B-354D-BA50-4206E80D0D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3867150"/>
              <a:ext cx="990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0" name="TextBox 7">
              <a:extLst>
                <a:ext uri="{FF2B5EF4-FFF2-40B4-BE49-F238E27FC236}">
                  <a16:creationId xmlns:a16="http://schemas.microsoft.com/office/drawing/2014/main" id="{75BF577D-7FAE-F74C-93D0-F13F0462935F}"/>
                </a:ext>
              </a:extLst>
            </p:cNvPr>
            <p:cNvSpPr txBox="1">
              <a:spLocks noChangeArrowheads="1"/>
            </p:cNvSpPr>
            <p:nvPr/>
          </p:nvSpPr>
          <p:spPr bwMode="auto">
            <a:xfrm>
              <a:off x="6251575" y="4889500"/>
              <a:ext cx="728663" cy="479425"/>
            </a:xfrm>
            <a:prstGeom prst="rect">
              <a:avLst/>
            </a:prstGeom>
            <a:noFill/>
            <a:ln w="9525">
              <a:noFill/>
              <a:miter lim="800000"/>
              <a:headEnd/>
              <a:tailEnd/>
            </a:ln>
          </p:spPr>
          <p:txBody>
            <a:bodyPr wrap="none">
              <a:spAutoFit/>
            </a:bodyPr>
            <a:lstStyle/>
            <a:p>
              <a:pPr eaLnBrk="1" hangingPunct="1">
                <a:lnSpc>
                  <a:spcPct val="90000"/>
                </a:lnSpc>
                <a:defRPr/>
              </a:pPr>
              <a:r>
                <a:rPr lang="en-US" altLang="zh-CN" sz="2800" dirty="0">
                  <a:solidFill>
                    <a:srgbClr val="000000"/>
                  </a:solidFill>
                  <a:effectLst>
                    <a:outerShdw blurRad="38100" dist="38100" dir="2700000" algn="tl">
                      <a:srgbClr val="000000">
                        <a:alpha val="43137"/>
                      </a:srgbClr>
                    </a:outerShdw>
                  </a:effectLst>
                  <a:latin typeface="黑体" pitchFamily="2" charset="-122"/>
                  <a:ea typeface="黑体" pitchFamily="2" charset="-122"/>
                </a:rPr>
                <a:t>TGS</a:t>
              </a:r>
              <a:endParaRPr lang="zh-CN" altLang="en-US" sz="2800" dirty="0">
                <a:solidFill>
                  <a:srgbClr val="000000"/>
                </a:solidFill>
                <a:effectLst>
                  <a:outerShdw blurRad="38100" dist="38100" dir="2700000" algn="tl">
                    <a:srgbClr val="000000">
                      <a:alpha val="43137"/>
                    </a:srgbClr>
                  </a:outerShdw>
                </a:effectLst>
                <a:latin typeface="黑体" pitchFamily="2" charset="-122"/>
                <a:ea typeface="黑体" pitchFamily="2" charset="-122"/>
              </a:endParaRPr>
            </a:p>
          </p:txBody>
        </p:sp>
        <p:sp>
          <p:nvSpPr>
            <p:cNvPr id="82951" name="TextBox 8">
              <a:extLst>
                <a:ext uri="{FF2B5EF4-FFF2-40B4-BE49-F238E27FC236}">
                  <a16:creationId xmlns:a16="http://schemas.microsoft.com/office/drawing/2014/main" id="{94614D7F-AFA8-7D4B-9ED8-A26075586565}"/>
                </a:ext>
              </a:extLst>
            </p:cNvPr>
            <p:cNvSpPr txBox="1">
              <a:spLocks noChangeArrowheads="1"/>
            </p:cNvSpPr>
            <p:nvPr/>
          </p:nvSpPr>
          <p:spPr bwMode="auto">
            <a:xfrm>
              <a:off x="1870075" y="4926012"/>
              <a:ext cx="1112838" cy="4254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40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客户机</a:t>
              </a:r>
            </a:p>
          </p:txBody>
        </p:sp>
        <p:cxnSp>
          <p:nvCxnSpPr>
            <p:cNvPr id="10" name="直接箭头连接符 9">
              <a:extLst>
                <a:ext uri="{FF2B5EF4-FFF2-40B4-BE49-F238E27FC236}">
                  <a16:creationId xmlns:a16="http://schemas.microsoft.com/office/drawing/2014/main" id="{766E5E73-035B-964C-A4C7-79C79602135F}"/>
                </a:ext>
              </a:extLst>
            </p:cNvPr>
            <p:cNvCxnSpPr/>
            <p:nvPr/>
          </p:nvCxnSpPr>
          <p:spPr>
            <a:xfrm>
              <a:off x="3001963" y="4122738"/>
              <a:ext cx="2774950" cy="1588"/>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82953" name="TextBox 10">
              <a:extLst>
                <a:ext uri="{FF2B5EF4-FFF2-40B4-BE49-F238E27FC236}">
                  <a16:creationId xmlns:a16="http://schemas.microsoft.com/office/drawing/2014/main" id="{B410E62E-753A-404A-AD3C-D3CFDCBF3B4C}"/>
                </a:ext>
              </a:extLst>
            </p:cNvPr>
            <p:cNvSpPr txBox="1">
              <a:spLocks noChangeArrowheads="1"/>
            </p:cNvSpPr>
            <p:nvPr/>
          </p:nvSpPr>
          <p:spPr bwMode="auto">
            <a:xfrm>
              <a:off x="3276600" y="3757613"/>
              <a:ext cx="2238375" cy="369888"/>
            </a:xfrm>
            <a:prstGeom prst="rect">
              <a:avLst/>
            </a:prstGeom>
            <a:noFill/>
            <a:ln w="9525">
              <a:no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dirty="0">
                  <a:effectLst>
                    <a:outerShdw blurRad="38100" dist="38100" dir="2700000" algn="tl">
                      <a:srgbClr val="C0C0C0"/>
                    </a:outerShdw>
                  </a:effectLst>
                  <a:latin typeface="黑体" panose="02010609060101010101" pitchFamily="49" charset="-122"/>
                  <a:ea typeface="黑体" panose="02010609060101010101" pitchFamily="49" charset="-122"/>
                </a:rPr>
                <a:t>请求服务许可票据</a:t>
              </a:r>
            </a:p>
          </p:txBody>
        </p:sp>
        <p:cxnSp>
          <p:nvCxnSpPr>
            <p:cNvPr id="12" name="直接箭头连接符 11">
              <a:extLst>
                <a:ext uri="{FF2B5EF4-FFF2-40B4-BE49-F238E27FC236}">
                  <a16:creationId xmlns:a16="http://schemas.microsoft.com/office/drawing/2014/main" id="{980B41F7-205E-F045-BEAA-59A62776AAEB}"/>
                </a:ext>
              </a:extLst>
            </p:cNvPr>
            <p:cNvCxnSpPr/>
            <p:nvPr/>
          </p:nvCxnSpPr>
          <p:spPr>
            <a:xfrm>
              <a:off x="3038475" y="4560888"/>
              <a:ext cx="2774950" cy="1588"/>
            </a:xfrm>
            <a:prstGeom prst="straightConnector1">
              <a:avLst/>
            </a:prstGeom>
            <a:ln w="38100">
              <a:solidFill>
                <a:srgbClr val="0070C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82955" name="TextBox 12">
              <a:extLst>
                <a:ext uri="{FF2B5EF4-FFF2-40B4-BE49-F238E27FC236}">
                  <a16:creationId xmlns:a16="http://schemas.microsoft.com/office/drawing/2014/main" id="{F78F0F4B-6179-ED4D-B66E-A6DE43F0A770}"/>
                </a:ext>
              </a:extLst>
            </p:cNvPr>
            <p:cNvSpPr txBox="1">
              <a:spLocks noChangeArrowheads="1"/>
            </p:cNvSpPr>
            <p:nvPr/>
          </p:nvSpPr>
          <p:spPr bwMode="auto">
            <a:xfrm>
              <a:off x="3352800" y="4648200"/>
              <a:ext cx="2241550" cy="369887"/>
            </a:xfrm>
            <a:prstGeom prst="rect">
              <a:avLst/>
            </a:prstGeom>
            <a:noFill/>
            <a:ln w="9525">
              <a:no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a:effectLst>
                    <a:outerShdw blurRad="38100" dist="38100" dir="2700000" algn="tl">
                      <a:srgbClr val="C0C0C0"/>
                    </a:outerShdw>
                  </a:effectLst>
                  <a:latin typeface="黑体" panose="02010609060101010101" pitchFamily="49" charset="-122"/>
                  <a:ea typeface="黑体" panose="02010609060101010101" pitchFamily="49" charset="-122"/>
                </a:rPr>
                <a:t>票据</a:t>
              </a:r>
              <a:r>
                <a:rPr lang="en-US" altLang="zh-CN" sz="2000">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000">
                  <a:effectLst>
                    <a:outerShdw blurRad="38100" dist="38100" dir="2700000" algn="tl">
                      <a:srgbClr val="C0C0C0"/>
                    </a:outerShdw>
                  </a:effectLst>
                  <a:latin typeface="黑体" panose="02010609060101010101" pitchFamily="49" charset="-122"/>
                  <a:ea typeface="黑体" panose="02010609060101010101" pitchFamily="49" charset="-122"/>
                </a:rPr>
                <a:t>会话密钥</a:t>
              </a:r>
            </a:p>
          </p:txBody>
        </p:sp>
        <p:pic>
          <p:nvPicPr>
            <p:cNvPr id="124941" name="Picture 2">
              <a:extLst>
                <a:ext uri="{FF2B5EF4-FFF2-40B4-BE49-F238E27FC236}">
                  <a16:creationId xmlns:a16="http://schemas.microsoft.com/office/drawing/2014/main" id="{7AE127B0-5D8F-9C40-A0A8-B9C987BCE4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2038" y="3757613"/>
              <a:ext cx="7143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矩形 2">
            <a:extLst>
              <a:ext uri="{FF2B5EF4-FFF2-40B4-BE49-F238E27FC236}">
                <a16:creationId xmlns:a16="http://schemas.microsoft.com/office/drawing/2014/main" id="{476F1C02-1291-DE48-B19C-B0B42DCE57C4}"/>
              </a:ext>
            </a:extLst>
          </p:cNvPr>
          <p:cNvSpPr/>
          <p:nvPr/>
        </p:nvSpPr>
        <p:spPr>
          <a:xfrm>
            <a:off x="609600" y="1079500"/>
            <a:ext cx="6516688" cy="436563"/>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70000"/>
              </a:lnSpc>
              <a:defRPr/>
            </a:pPr>
            <a:r>
              <a:rPr lang="zh-CN" altLang="en-US" sz="32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第二步：获得服务许可票据</a:t>
            </a:r>
            <a:endParaRPr lang="en-US" altLang="zh-CN" sz="32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124932" name="文本框 13">
            <a:extLst>
              <a:ext uri="{FF2B5EF4-FFF2-40B4-BE49-F238E27FC236}">
                <a16:creationId xmlns:a16="http://schemas.microsoft.com/office/drawing/2014/main" id="{FC9C2D8C-4CCF-FA40-B526-817F68987879}"/>
              </a:ext>
            </a:extLst>
          </p:cNvPr>
          <p:cNvSpPr txBox="1">
            <a:spLocks noChangeArrowheads="1"/>
          </p:cNvSpPr>
          <p:nvPr/>
        </p:nvSpPr>
        <p:spPr bwMode="auto">
          <a:xfrm>
            <a:off x="6253163" y="1806575"/>
            <a:ext cx="2743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r>
              <a:rPr lang="zh-CN" altLang="zh-CN" sz="1800" b="0">
                <a:solidFill>
                  <a:schemeClr val="bg2"/>
                </a:solidFill>
                <a:latin typeface="-apple-system"/>
              </a:rPr>
              <a:t>Session Key</a:t>
            </a:r>
            <a:r>
              <a:rPr lang="zh-CN" altLang="en-US" sz="1800" b="0">
                <a:solidFill>
                  <a:schemeClr val="bg2"/>
                </a:solidFill>
                <a:latin typeface="-apple-system"/>
              </a:rPr>
              <a:t>用于</a:t>
            </a:r>
            <a:r>
              <a:rPr lang="zh-CN" altLang="zh-CN" sz="1800" b="0">
                <a:solidFill>
                  <a:schemeClr val="bg2"/>
                </a:solidFill>
                <a:latin typeface="-apple-system"/>
              </a:rPr>
              <a:t>Service</a:t>
            </a:r>
            <a:r>
              <a:rPr lang="zh-CN" altLang="en-US" sz="1800" b="0">
                <a:solidFill>
                  <a:schemeClr val="bg2"/>
                </a:solidFill>
                <a:latin typeface="-apple-system"/>
              </a:rPr>
              <a:t>对</a:t>
            </a:r>
            <a:r>
              <a:rPr lang="zh-CN" altLang="zh-CN" sz="1800" b="0">
                <a:solidFill>
                  <a:schemeClr val="bg2"/>
                </a:solidFill>
                <a:latin typeface="-apple-system"/>
              </a:rPr>
              <a:t>Client</a:t>
            </a:r>
            <a:r>
              <a:rPr lang="zh-CN" altLang="en-US" sz="1800" b="0">
                <a:solidFill>
                  <a:schemeClr val="bg2"/>
                </a:solidFill>
                <a:latin typeface="-apple-system"/>
              </a:rPr>
              <a:t>的身份鉴别</a:t>
            </a:r>
            <a:endParaRPr lang="zh-CN" altLang="en-US" sz="1800">
              <a:solidFill>
                <a:schemeClr val="bg2"/>
              </a:solidFill>
            </a:endParaRPr>
          </a:p>
        </p:txBody>
      </p:sp>
      <p:sp>
        <p:nvSpPr>
          <p:cNvPr id="124933" name="文本框 14">
            <a:extLst>
              <a:ext uri="{FF2B5EF4-FFF2-40B4-BE49-F238E27FC236}">
                <a16:creationId xmlns:a16="http://schemas.microsoft.com/office/drawing/2014/main" id="{841E9E40-7322-1746-99B2-B9E471448FA9}"/>
              </a:ext>
            </a:extLst>
          </p:cNvPr>
          <p:cNvSpPr txBox="1">
            <a:spLocks noChangeArrowheads="1"/>
          </p:cNvSpPr>
          <p:nvPr/>
        </p:nvSpPr>
        <p:spPr bwMode="auto">
          <a:xfrm>
            <a:off x="6272213" y="2860675"/>
            <a:ext cx="27432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r>
              <a:rPr lang="zh-CN" altLang="zh-CN" sz="1800" b="0">
                <a:solidFill>
                  <a:schemeClr val="bg2"/>
                </a:solidFill>
                <a:latin typeface="-apple-system"/>
              </a:rPr>
              <a:t>Ticket包括</a:t>
            </a:r>
            <a:r>
              <a:rPr lang="zh-CN" altLang="en-US" sz="1800" b="0">
                <a:solidFill>
                  <a:schemeClr val="bg2"/>
                </a:solidFill>
                <a:latin typeface="-apple-system"/>
              </a:rPr>
              <a:t>用户名，用户地址</a:t>
            </a:r>
            <a:r>
              <a:rPr lang="en-US" altLang="zh-CN" sz="1800" b="0">
                <a:solidFill>
                  <a:schemeClr val="bg2"/>
                </a:solidFill>
                <a:latin typeface="-apple-system"/>
              </a:rPr>
              <a:t>(</a:t>
            </a:r>
            <a:r>
              <a:rPr lang="zh-CN" altLang="zh-CN" sz="1800" b="0">
                <a:solidFill>
                  <a:schemeClr val="bg2"/>
                </a:solidFill>
                <a:latin typeface="-apple-system"/>
              </a:rPr>
              <a:t>IP)，</a:t>
            </a:r>
            <a:r>
              <a:rPr lang="zh-CN" altLang="en-US" sz="1800" b="0">
                <a:solidFill>
                  <a:schemeClr val="bg2"/>
                </a:solidFill>
                <a:latin typeface="-apple-system"/>
              </a:rPr>
              <a:t>服务名，有效期</a:t>
            </a:r>
            <a:r>
              <a:rPr lang="en-US" altLang="zh-CN" sz="1800" b="0">
                <a:solidFill>
                  <a:schemeClr val="bg2"/>
                </a:solidFill>
                <a:latin typeface="-apple-system"/>
              </a:rPr>
              <a:t>, </a:t>
            </a:r>
            <a:r>
              <a:rPr lang="zh-CN" altLang="en-US" sz="1800" b="0">
                <a:solidFill>
                  <a:schemeClr val="bg2"/>
                </a:solidFill>
                <a:latin typeface="-apple-system"/>
              </a:rPr>
              <a:t>时间戳等</a:t>
            </a:r>
            <a:endParaRPr lang="zh-CN" altLang="en-US" sz="1800">
              <a:solidFill>
                <a:schemeClr val="bg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10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8" dur="10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000"/>
                            </p:stCondLst>
                            <p:childTnLst>
                              <p:par>
                                <p:cTn id="10" presetID="2" presetClass="entr" presetSubtype="2" fill="hold" grpId="0" nodeType="after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 calcmode="lin" valueType="num">
                                      <p:cBhvr additive="base">
                                        <p:cTn id="12" dur="1000" fill="hold"/>
                                        <p:tgtEl>
                                          <p:spTgt spid="5">
                                            <p:txEl>
                                              <p:pRg st="1" end="1"/>
                                            </p:txEl>
                                          </p:spTgt>
                                        </p:tgtEl>
                                        <p:attrNameLst>
                                          <p:attrName>ppt_x</p:attrName>
                                        </p:attrNameLst>
                                      </p:cBhvr>
                                      <p:tavLst>
                                        <p:tav tm="0">
                                          <p:val>
                                            <p:strVal val="1+#ppt_w/2"/>
                                          </p:val>
                                        </p:tav>
                                        <p:tav tm="100000">
                                          <p:val>
                                            <p:strVal val="#ppt_x"/>
                                          </p:val>
                                        </p:tav>
                                      </p:tavLst>
                                    </p:anim>
                                    <p:anim calcmode="lin" valueType="num">
                                      <p:cBhvr additive="base">
                                        <p:cTn id="13" dur="10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4D9C379E-CE36-7943-8806-53C4EE5115C6}"/>
              </a:ext>
            </a:extLst>
          </p:cNvPr>
          <p:cNvSpPr>
            <a:spLocks noGrp="1"/>
          </p:cNvSpPr>
          <p:nvPr>
            <p:ph idx="1"/>
          </p:nvPr>
        </p:nvSpPr>
        <p:spPr>
          <a:xfrm>
            <a:off x="304800" y="4114800"/>
            <a:ext cx="8280400" cy="1825625"/>
          </a:xfrm>
        </p:spPr>
        <p:txBody>
          <a:bodyPr vert="horz" wrap="square" lIns="91440" tIns="45720" rIns="91440" bIns="45720" numCol="1" anchor="t" anchorCtr="0" compatLnSpc="1">
            <a:prstTxWarp prst="textNoShape">
              <a:avLst/>
            </a:prstTxWarp>
            <a:normAutofit/>
          </a:bodyPr>
          <a:lstStyle/>
          <a:p>
            <a:pPr lvl="1" eaLnBrk="1" hangingPunct="1">
              <a:lnSpc>
                <a:spcPct val="100000"/>
              </a:lnSpc>
              <a:buClr>
                <a:srgbClr val="FF0000"/>
              </a:buClr>
              <a:buFont typeface="Wingdings" pitchFamily="2" charset="2"/>
              <a:buChar char="u"/>
              <a:defRPr/>
            </a:pPr>
            <a:r>
              <a:rPr lang="zh-CN" altLang="en-US" sz="2400">
                <a:solidFill>
                  <a:schemeClr val="bg2"/>
                </a:solidFill>
                <a:latin typeface="黑体" panose="02010609060101010101" pitchFamily="49" charset="-122"/>
                <a:ea typeface="黑体" panose="02010609060101010101" pitchFamily="49" charset="-122"/>
              </a:rPr>
              <a:t>客户机将票据和鉴别符发给服务器</a:t>
            </a:r>
            <a:endParaRPr lang="en-US" altLang="zh-CN" sz="2400">
              <a:solidFill>
                <a:schemeClr val="bg2"/>
              </a:solidFill>
              <a:latin typeface="黑体" panose="02010609060101010101" pitchFamily="49" charset="-122"/>
              <a:ea typeface="黑体" panose="02010609060101010101" pitchFamily="49" charset="-122"/>
            </a:endParaRPr>
          </a:p>
          <a:p>
            <a:pPr lvl="1" eaLnBrk="1" hangingPunct="1">
              <a:lnSpc>
                <a:spcPct val="100000"/>
              </a:lnSpc>
              <a:buClr>
                <a:srgbClr val="FF0000"/>
              </a:buClr>
              <a:buFont typeface="Wingdings" pitchFamily="2" charset="2"/>
              <a:buChar char="u"/>
              <a:defRPr/>
            </a:pPr>
            <a:r>
              <a:rPr lang="zh-CN" altLang="en-US" sz="2400">
                <a:solidFill>
                  <a:schemeClr val="bg2"/>
                </a:solidFill>
                <a:latin typeface="黑体" panose="02010609060101010101" pitchFamily="49" charset="-122"/>
                <a:ea typeface="黑体" panose="02010609060101010101" pitchFamily="49" charset="-122"/>
              </a:rPr>
              <a:t>服务器验证票据和鉴别符中的匹配，然后许可访问服务。如果需要双向鉴别，服务器返回一个鉴别符</a:t>
            </a:r>
            <a:endParaRPr lang="en-US" altLang="zh-CN" sz="2400">
              <a:solidFill>
                <a:schemeClr val="bg2"/>
              </a:solidFill>
              <a:latin typeface="黑体" panose="02010609060101010101" pitchFamily="49" charset="-122"/>
              <a:ea typeface="黑体" panose="02010609060101010101" pitchFamily="49" charset="-122"/>
            </a:endParaRPr>
          </a:p>
        </p:txBody>
      </p:sp>
      <p:grpSp>
        <p:nvGrpSpPr>
          <p:cNvPr id="126978" name="组合 3">
            <a:extLst>
              <a:ext uri="{FF2B5EF4-FFF2-40B4-BE49-F238E27FC236}">
                <a16:creationId xmlns:a16="http://schemas.microsoft.com/office/drawing/2014/main" id="{08E8B9E9-9673-9E40-AE3E-A67C55582D8E}"/>
              </a:ext>
            </a:extLst>
          </p:cNvPr>
          <p:cNvGrpSpPr>
            <a:grpSpLocks/>
          </p:cNvGrpSpPr>
          <p:nvPr/>
        </p:nvGrpSpPr>
        <p:grpSpPr bwMode="auto">
          <a:xfrm>
            <a:off x="1689100" y="1905000"/>
            <a:ext cx="5384800" cy="1593850"/>
            <a:chOff x="1797050" y="3757613"/>
            <a:chExt cx="5384800" cy="1593850"/>
          </a:xfrm>
        </p:grpSpPr>
        <p:pic>
          <p:nvPicPr>
            <p:cNvPr id="126980" name="Picture 2">
              <a:extLst>
                <a:ext uri="{FF2B5EF4-FFF2-40B4-BE49-F238E27FC236}">
                  <a16:creationId xmlns:a16="http://schemas.microsoft.com/office/drawing/2014/main" id="{FFD3DE42-925A-A941-A7A5-57DD8C729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3867150"/>
              <a:ext cx="990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4" name="TextBox 6">
              <a:extLst>
                <a:ext uri="{FF2B5EF4-FFF2-40B4-BE49-F238E27FC236}">
                  <a16:creationId xmlns:a16="http://schemas.microsoft.com/office/drawing/2014/main" id="{974AD23C-6A77-5D47-8FEF-7FD011EFBF7A}"/>
                </a:ext>
              </a:extLst>
            </p:cNvPr>
            <p:cNvSpPr txBox="1">
              <a:spLocks noChangeArrowheads="1"/>
            </p:cNvSpPr>
            <p:nvPr/>
          </p:nvSpPr>
          <p:spPr bwMode="auto">
            <a:xfrm>
              <a:off x="6069013" y="4889501"/>
              <a:ext cx="1112837" cy="4254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服务器</a:t>
              </a:r>
            </a:p>
          </p:txBody>
        </p:sp>
        <p:sp>
          <p:nvSpPr>
            <p:cNvPr id="83975" name="TextBox 7">
              <a:extLst>
                <a:ext uri="{FF2B5EF4-FFF2-40B4-BE49-F238E27FC236}">
                  <a16:creationId xmlns:a16="http://schemas.microsoft.com/office/drawing/2014/main" id="{29103D22-88AB-984C-BAF0-4E4E55083FCA}"/>
                </a:ext>
              </a:extLst>
            </p:cNvPr>
            <p:cNvSpPr txBox="1">
              <a:spLocks noChangeArrowheads="1"/>
            </p:cNvSpPr>
            <p:nvPr/>
          </p:nvSpPr>
          <p:spPr bwMode="auto">
            <a:xfrm>
              <a:off x="1870075" y="4926013"/>
              <a:ext cx="1112838" cy="425450"/>
            </a:xfrm>
            <a:prstGeom prst="rect">
              <a:avLst/>
            </a:prstGeom>
            <a:noFill/>
            <a:ln w="9525">
              <a:noFill/>
              <a:miter lim="800000"/>
              <a:headEnd/>
              <a:tailEnd/>
            </a:ln>
          </p:spPr>
          <p:txBody>
            <a:bodyPr wrap="none">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客户机</a:t>
              </a:r>
            </a:p>
          </p:txBody>
        </p:sp>
        <p:cxnSp>
          <p:nvCxnSpPr>
            <p:cNvPr id="9" name="直接箭头连接符 8">
              <a:extLst>
                <a:ext uri="{FF2B5EF4-FFF2-40B4-BE49-F238E27FC236}">
                  <a16:creationId xmlns:a16="http://schemas.microsoft.com/office/drawing/2014/main" id="{ECF5B23C-8F26-4543-91EB-65D651284727}"/>
                </a:ext>
              </a:extLst>
            </p:cNvPr>
            <p:cNvCxnSpPr/>
            <p:nvPr/>
          </p:nvCxnSpPr>
          <p:spPr>
            <a:xfrm>
              <a:off x="3001963" y="4122738"/>
              <a:ext cx="2774950" cy="1588"/>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83977" name="TextBox 9">
              <a:extLst>
                <a:ext uri="{FF2B5EF4-FFF2-40B4-BE49-F238E27FC236}">
                  <a16:creationId xmlns:a16="http://schemas.microsoft.com/office/drawing/2014/main" id="{38A3CE95-D58C-DB42-AF3B-D063315D2280}"/>
                </a:ext>
              </a:extLst>
            </p:cNvPr>
            <p:cNvSpPr txBox="1">
              <a:spLocks noChangeArrowheads="1"/>
            </p:cNvSpPr>
            <p:nvPr/>
          </p:nvSpPr>
          <p:spPr bwMode="auto">
            <a:xfrm>
              <a:off x="3476625" y="3757613"/>
              <a:ext cx="1716088" cy="369888"/>
            </a:xfrm>
            <a:prstGeom prst="rect">
              <a:avLst/>
            </a:prstGeom>
            <a:noFill/>
            <a:ln w="9525">
              <a:no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lnSpc>
                  <a:spcPct val="90000"/>
                </a:lnSpc>
                <a:defRPr/>
              </a:pPr>
              <a:r>
                <a:rPr lang="zh-CN" altLang="en-US" sz="2000">
                  <a:effectLst>
                    <a:outerShdw blurRad="38100" dist="38100" dir="2700000" algn="tl">
                      <a:srgbClr val="C0C0C0"/>
                    </a:outerShdw>
                  </a:effectLst>
                  <a:latin typeface="黑体" panose="02010609060101010101" pitchFamily="49" charset="-122"/>
                  <a:ea typeface="黑体" panose="02010609060101010101" pitchFamily="49" charset="-122"/>
                </a:rPr>
                <a:t>请求服务</a:t>
              </a:r>
            </a:p>
          </p:txBody>
        </p:sp>
        <p:cxnSp>
          <p:nvCxnSpPr>
            <p:cNvPr id="11" name="直接箭头连接符 10">
              <a:extLst>
                <a:ext uri="{FF2B5EF4-FFF2-40B4-BE49-F238E27FC236}">
                  <a16:creationId xmlns:a16="http://schemas.microsoft.com/office/drawing/2014/main" id="{BD02063F-05FB-714C-9C4E-E3BAB75B6B32}"/>
                </a:ext>
              </a:extLst>
            </p:cNvPr>
            <p:cNvCxnSpPr/>
            <p:nvPr/>
          </p:nvCxnSpPr>
          <p:spPr>
            <a:xfrm>
              <a:off x="3038475" y="4560888"/>
              <a:ext cx="2774950" cy="1588"/>
            </a:xfrm>
            <a:prstGeom prst="straightConnector1">
              <a:avLst/>
            </a:prstGeom>
            <a:ln w="38100">
              <a:solidFill>
                <a:srgbClr val="0070C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83979" name="TextBox 11">
              <a:extLst>
                <a:ext uri="{FF2B5EF4-FFF2-40B4-BE49-F238E27FC236}">
                  <a16:creationId xmlns:a16="http://schemas.microsoft.com/office/drawing/2014/main" id="{769B8278-A273-AE40-BD0E-774A1979AC33}"/>
                </a:ext>
              </a:extLst>
            </p:cNvPr>
            <p:cNvSpPr txBox="1">
              <a:spLocks noChangeArrowheads="1"/>
            </p:cNvSpPr>
            <p:nvPr/>
          </p:nvSpPr>
          <p:spPr bwMode="auto">
            <a:xfrm>
              <a:off x="3276600" y="4670426"/>
              <a:ext cx="2241550" cy="369887"/>
            </a:xfrm>
            <a:prstGeom prst="rect">
              <a:avLst/>
            </a:prstGeom>
            <a:noFill/>
            <a:ln w="9525">
              <a:noFill/>
              <a:miter lim="800000"/>
              <a:headEnd/>
              <a:tailEnd/>
            </a:ln>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defRPr/>
              </a:pPr>
              <a:r>
                <a:rPr lang="zh-CN" altLang="en-US" sz="2000">
                  <a:effectLst>
                    <a:outerShdw blurRad="38100" dist="38100" dir="2700000" algn="tl">
                      <a:srgbClr val="C0C0C0"/>
                    </a:outerShdw>
                  </a:effectLst>
                  <a:latin typeface="黑体" panose="02010609060101010101" pitchFamily="49" charset="-122"/>
                  <a:ea typeface="黑体" panose="02010609060101010101" pitchFamily="49" charset="-122"/>
                </a:rPr>
                <a:t>提供服务器鉴别符</a:t>
              </a:r>
            </a:p>
          </p:txBody>
        </p:sp>
        <p:pic>
          <p:nvPicPr>
            <p:cNvPr id="126987" name="Picture 2">
              <a:extLst>
                <a:ext uri="{FF2B5EF4-FFF2-40B4-BE49-F238E27FC236}">
                  <a16:creationId xmlns:a16="http://schemas.microsoft.com/office/drawing/2014/main" id="{32DF30AC-1B5B-D24F-8D01-BA456FFB38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2038" y="3757613"/>
              <a:ext cx="7143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矩形 2">
            <a:extLst>
              <a:ext uri="{FF2B5EF4-FFF2-40B4-BE49-F238E27FC236}">
                <a16:creationId xmlns:a16="http://schemas.microsoft.com/office/drawing/2014/main" id="{BCB71C3E-218C-074C-8F27-C849BC4D49ED}"/>
              </a:ext>
            </a:extLst>
          </p:cNvPr>
          <p:cNvSpPr/>
          <p:nvPr/>
        </p:nvSpPr>
        <p:spPr>
          <a:xfrm>
            <a:off x="501650" y="1069975"/>
            <a:ext cx="4572000" cy="438150"/>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70000"/>
              </a:lnSpc>
              <a:defRPr/>
            </a:pPr>
            <a:r>
              <a:rPr lang="zh-CN" altLang="en-US" sz="32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第三步：获得服务</a:t>
            </a:r>
            <a:endParaRPr lang="en-US" altLang="zh-CN" sz="320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a:extLst>
              <a:ext uri="{FF2B5EF4-FFF2-40B4-BE49-F238E27FC236}">
                <a16:creationId xmlns:a16="http://schemas.microsoft.com/office/drawing/2014/main" id="{313ABC22-049D-6044-AA51-BD70CDC6463F}"/>
              </a:ext>
            </a:extLst>
          </p:cNvPr>
          <p:cNvSpPr>
            <a:spLocks noGrp="1"/>
          </p:cNvSpPr>
          <p:nvPr>
            <p:ph type="title"/>
          </p:nvPr>
        </p:nvSpPr>
        <p:spPr>
          <a:xfrm>
            <a:off x="419100" y="731838"/>
            <a:ext cx="8229600" cy="715962"/>
          </a:xfrm>
        </p:spPr>
        <p:txBody>
          <a:bodyPr vert="horz" wrap="square" lIns="91440" tIns="45720" rIns="91440" bIns="45720" numCol="1" anchor="t" anchorCtr="0" compatLnSpc="1">
            <a:prstTxWarp prst="textNoShape">
              <a:avLst/>
            </a:prstTxWarp>
          </a:bodyPr>
          <a:lstStyle/>
          <a:p>
            <a:pPr eaLnBrk="1" hangingPunct="1">
              <a:defRPr/>
            </a:pPr>
            <a:r>
              <a:rPr lang="en-US" altLang="zh-CN" sz="36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Kerberos</a:t>
            </a:r>
            <a:r>
              <a:rPr lang="zh-CN" altLang="en-US" sz="360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鉴别协议的特点</a:t>
            </a:r>
          </a:p>
        </p:txBody>
      </p:sp>
      <p:sp>
        <p:nvSpPr>
          <p:cNvPr id="4" name="内容占位符 2">
            <a:extLst>
              <a:ext uri="{FF2B5EF4-FFF2-40B4-BE49-F238E27FC236}">
                <a16:creationId xmlns:a16="http://schemas.microsoft.com/office/drawing/2014/main" id="{36013ED8-2267-8844-A454-BDEEC9A5DCBA}"/>
              </a:ext>
            </a:extLst>
          </p:cNvPr>
          <p:cNvSpPr>
            <a:spLocks noGrp="1"/>
          </p:cNvSpPr>
          <p:nvPr>
            <p:ph idx="1"/>
          </p:nvPr>
        </p:nvSpPr>
        <p:spPr>
          <a:xfrm>
            <a:off x="533400" y="1511300"/>
            <a:ext cx="8458200" cy="2311400"/>
          </a:xfrm>
        </p:spPr>
        <p:txBody>
          <a:bodyPr vert="horz" wrap="square" lIns="91440" tIns="45720" rIns="91440" bIns="45720" numCol="1" anchor="t" anchorCtr="0" compatLnSpc="1">
            <a:prstTxWarp prst="textNoShape">
              <a:avLst/>
            </a:prstTxWarp>
            <a:normAutofit/>
          </a:bodyPr>
          <a:lstStyle/>
          <a:p>
            <a:pPr marL="0" indent="0" eaLnBrk="1" hangingPunct="1">
              <a:lnSpc>
                <a:spcPct val="50000"/>
              </a:lnSpc>
              <a:buFont typeface="Wingdings" pitchFamily="2" charset="2"/>
              <a:buNone/>
              <a:defRPr/>
            </a:pPr>
            <a:r>
              <a:rPr lang="zh-CN" altLang="en-US" sz="2800" dirty="0">
                <a:solidFill>
                  <a:schemeClr val="bg2"/>
                </a:solidFill>
                <a:ea typeface="宋体" panose="02010600030101010101" pitchFamily="2" charset="-122"/>
              </a:rPr>
              <a:t>优点</a:t>
            </a:r>
            <a:endParaRPr lang="en-US" altLang="zh-CN" sz="2800" dirty="0">
              <a:solidFill>
                <a:schemeClr val="bg2"/>
              </a:solidFill>
              <a:ea typeface="宋体" panose="02010600030101010101" pitchFamily="2" charset="-122"/>
            </a:endParaRPr>
          </a:p>
          <a:p>
            <a:pPr lvl="1" eaLnBrk="1" hangingPunct="1">
              <a:lnSpc>
                <a:spcPct val="80000"/>
              </a:lnSpc>
              <a:buClr>
                <a:srgbClr val="FF0000"/>
              </a:buClr>
              <a:buFont typeface="Wingdings" pitchFamily="2" charset="2"/>
              <a:buChar char="u"/>
              <a:defRPr/>
            </a:pPr>
            <a:r>
              <a:rPr lang="zh-CN" altLang="en-US" sz="22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rPr>
              <a:t>单点登录，只要用户拿到了</a:t>
            </a:r>
            <a:r>
              <a:rPr lang="en-US" altLang="zh-CN" sz="22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rPr>
              <a:t>TGT</a:t>
            </a:r>
            <a:r>
              <a:rPr lang="zh-CN" altLang="en-US" sz="22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rPr>
              <a:t>并且该</a:t>
            </a:r>
            <a:r>
              <a:rPr lang="en-US" altLang="zh-CN" sz="22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rPr>
              <a:t>TGT</a:t>
            </a:r>
            <a:r>
              <a:rPr lang="zh-CN" altLang="en-US" sz="22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rPr>
              <a:t>没有过期，就可以使用该</a:t>
            </a:r>
            <a:r>
              <a:rPr lang="en-US" altLang="zh-CN" sz="22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rPr>
              <a:t>TGT</a:t>
            </a:r>
            <a:r>
              <a:rPr lang="zh-CN" altLang="en-US" sz="22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rPr>
              <a:t>通过</a:t>
            </a:r>
            <a:r>
              <a:rPr lang="en-US" altLang="zh-CN" sz="22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rPr>
              <a:t>TGS</a:t>
            </a:r>
            <a:r>
              <a:rPr lang="zh-CN" altLang="en-US" sz="22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rPr>
              <a:t>完成到任一个服务器的鉴别而不必重新输入口令 </a:t>
            </a:r>
            <a:endParaRPr lang="en-US" altLang="zh-CN" sz="22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80000"/>
              </a:lnSpc>
              <a:buClr>
                <a:srgbClr val="FF0000"/>
              </a:buClr>
              <a:buFont typeface="Wingdings" pitchFamily="2" charset="2"/>
              <a:buChar char="u"/>
              <a:defRPr/>
            </a:pPr>
            <a:r>
              <a:rPr lang="zh-CN" altLang="en-US" sz="22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rPr>
              <a:t>与授权机制相结合</a:t>
            </a:r>
          </a:p>
          <a:p>
            <a:pPr lvl="1" eaLnBrk="1" hangingPunct="1">
              <a:lnSpc>
                <a:spcPct val="80000"/>
              </a:lnSpc>
              <a:buClr>
                <a:srgbClr val="FF0000"/>
              </a:buClr>
              <a:buFont typeface="Wingdings" pitchFamily="2" charset="2"/>
              <a:buChar char="u"/>
              <a:defRPr/>
            </a:pPr>
            <a:r>
              <a:rPr lang="zh-CN" altLang="en-US" sz="22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rPr>
              <a:t>支持双向的身份鉴别通过交换“跨域密钥”实现分布式网络环境下的鉴别</a:t>
            </a:r>
            <a:endParaRPr lang="en-US" altLang="zh-CN" sz="2200" dirty="0">
              <a:solidFill>
                <a:schemeClr val="bg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848F78D6-0063-5341-B493-378536649890}"/>
              </a:ext>
            </a:extLst>
          </p:cNvPr>
          <p:cNvSpPr/>
          <p:nvPr/>
        </p:nvSpPr>
        <p:spPr>
          <a:xfrm>
            <a:off x="533400" y="3886200"/>
            <a:ext cx="7886700" cy="2179638"/>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1028700" indent="-455613">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50000"/>
              </a:lnSpc>
              <a:spcBef>
                <a:spcPct val="30000"/>
              </a:spcBef>
              <a:buClr>
                <a:schemeClr val="tx2"/>
              </a:buClr>
              <a:buSzPct val="75000"/>
              <a:defRPr/>
            </a:pPr>
            <a:r>
              <a:rPr lang="zh-CN" altLang="en-US" sz="28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缺点</a:t>
            </a:r>
            <a:endParaRPr lang="en-US" altLang="zh-CN" sz="28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endParaRPr>
          </a:p>
          <a:p>
            <a:pPr lvl="1" eaLnBrk="1" hangingPunct="1">
              <a:lnSpc>
                <a:spcPct val="90000"/>
              </a:lnSpc>
              <a:spcBef>
                <a:spcPct val="30000"/>
              </a:spcBef>
              <a:buClr>
                <a:srgbClr val="FF0000"/>
              </a:buClr>
              <a:buSzPct val="75000"/>
              <a:buFont typeface="Wingdings" pitchFamily="2" charset="2"/>
              <a:buChar char="u"/>
              <a:defRPr/>
            </a:pPr>
            <a:r>
              <a:rPr lang="en-US" altLang="zh-CN" sz="2200">
                <a:solidFill>
                  <a:schemeClr val="bg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AS</a:t>
            </a:r>
            <a:r>
              <a:rPr lang="zh-CN" altLang="en-US" sz="2200">
                <a:solidFill>
                  <a:schemeClr val="bg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200">
                <a:solidFill>
                  <a:schemeClr val="bg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TGS</a:t>
            </a:r>
            <a:r>
              <a:rPr lang="zh-CN" altLang="en-US" sz="2200">
                <a:solidFill>
                  <a:schemeClr val="bg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是集中式管理，容易形成瓶颈，系统的性能和安全也严重依赖于</a:t>
            </a:r>
            <a:r>
              <a:rPr lang="en-US" altLang="zh-CN" sz="2200">
                <a:solidFill>
                  <a:schemeClr val="bg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AS</a:t>
            </a:r>
            <a:r>
              <a:rPr lang="zh-CN" altLang="en-US" sz="2200">
                <a:solidFill>
                  <a:schemeClr val="bg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200">
                <a:solidFill>
                  <a:schemeClr val="bg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TGS</a:t>
            </a:r>
            <a:r>
              <a:rPr lang="zh-CN" altLang="en-US" sz="2200">
                <a:solidFill>
                  <a:schemeClr val="bg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的性能和安全</a:t>
            </a:r>
            <a:endParaRPr lang="en-US" altLang="zh-CN" sz="2200">
              <a:solidFill>
                <a:schemeClr val="bg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90000"/>
              </a:lnSpc>
              <a:spcBef>
                <a:spcPct val="30000"/>
              </a:spcBef>
              <a:buClr>
                <a:srgbClr val="FF0000"/>
              </a:buClr>
              <a:buSzPct val="75000"/>
              <a:buFont typeface="Wingdings" pitchFamily="2" charset="2"/>
              <a:buChar char="u"/>
              <a:defRPr/>
            </a:pPr>
            <a:r>
              <a:rPr lang="zh-CN" altLang="en-US" sz="2200">
                <a:solidFill>
                  <a:schemeClr val="bg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时钟同步问题</a:t>
            </a:r>
            <a:endParaRPr lang="en-US" altLang="zh-CN" sz="2200">
              <a:solidFill>
                <a:schemeClr val="bg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90000"/>
              </a:lnSpc>
              <a:spcBef>
                <a:spcPct val="30000"/>
              </a:spcBef>
              <a:buClr>
                <a:srgbClr val="FF0000"/>
              </a:buClr>
              <a:buSzPct val="75000"/>
              <a:buFont typeface="Wingdings" pitchFamily="2" charset="2"/>
              <a:buChar char="u"/>
              <a:defRPr/>
            </a:pPr>
            <a:r>
              <a:rPr lang="zh-CN" altLang="en-US" sz="2200">
                <a:solidFill>
                  <a:schemeClr val="bg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身份鉴别采用的是对称加密机制，随用户数量增加，密钥管理较复杂</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additive="base">
                                        <p:cTn id="12"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additive="base">
                                        <p:cTn id="22"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0-#ppt_w/2"/>
                                          </p:val>
                                        </p:tav>
                                        <p:tav tm="100000">
                                          <p:val>
                                            <p:strVal val="#ppt_x"/>
                                          </p:val>
                                        </p:tav>
                                      </p:tavLst>
                                    </p:anim>
                                    <p:anim calcmode="lin" valueType="num">
                                      <p:cBhvr additive="base">
                                        <p:cTn id="29"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矩形 3">
            <a:extLst>
              <a:ext uri="{FF2B5EF4-FFF2-40B4-BE49-F238E27FC236}">
                <a16:creationId xmlns:a16="http://schemas.microsoft.com/office/drawing/2014/main" id="{DF9BF79D-67F8-D343-827B-3EB89311298C}"/>
              </a:ext>
            </a:extLst>
          </p:cNvPr>
          <p:cNvSpPr>
            <a:spLocks noChangeArrowheads="1"/>
          </p:cNvSpPr>
          <p:nvPr/>
        </p:nvSpPr>
        <p:spPr bwMode="auto">
          <a:xfrm>
            <a:off x="762000" y="1905000"/>
            <a:ext cx="7467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假设通信</a:t>
            </a:r>
            <a:r>
              <a:rPr lang="zh-CN"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和</a:t>
            </a:r>
            <a:r>
              <a:rPr lang="zh-CN"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双方需要进行身份鉴别</a:t>
            </a:r>
            <a:r>
              <a:rPr lang="zh-CN"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设计一个</a:t>
            </a:r>
            <a:r>
              <a:rPr lang="zh-CN"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A、B</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双方可以对抗字典攻击的鉴别方案。</a:t>
            </a:r>
          </a:p>
        </p:txBody>
      </p:sp>
      <p:sp>
        <p:nvSpPr>
          <p:cNvPr id="3" name="矩形 2">
            <a:extLst>
              <a:ext uri="{FF2B5EF4-FFF2-40B4-BE49-F238E27FC236}">
                <a16:creationId xmlns:a16="http://schemas.microsoft.com/office/drawing/2014/main" id="{E4E7506F-2C25-1E42-846F-B016903633B0}"/>
              </a:ext>
            </a:extLst>
          </p:cNvPr>
          <p:cNvSpPr/>
          <p:nvPr/>
        </p:nvSpPr>
        <p:spPr>
          <a:xfrm>
            <a:off x="501650" y="1069975"/>
            <a:ext cx="4572000" cy="438150"/>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70000"/>
              </a:lnSpc>
              <a:defRPr/>
            </a:pPr>
            <a:r>
              <a:rPr lang="zh-CN" altLang="en-US" sz="3200" dirty="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课堂练习</a:t>
            </a:r>
            <a:endParaRPr lang="en-US" altLang="zh-CN" sz="3200" dirty="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矩形 3">
            <a:extLst>
              <a:ext uri="{FF2B5EF4-FFF2-40B4-BE49-F238E27FC236}">
                <a16:creationId xmlns:a16="http://schemas.microsoft.com/office/drawing/2014/main" id="{8E7D04FE-A961-6640-B5C6-AE0446E266A9}"/>
              </a:ext>
            </a:extLst>
          </p:cNvPr>
          <p:cNvSpPr>
            <a:spLocks noChangeArrowheads="1"/>
          </p:cNvSpPr>
          <p:nvPr/>
        </p:nvSpPr>
        <p:spPr bwMode="auto">
          <a:xfrm>
            <a:off x="762000" y="1905000"/>
            <a:ext cx="7467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以下</a:t>
            </a:r>
            <a:r>
              <a:rPr lang="zh-CN" altLang="en-US" sz="2800">
                <a:latin typeface="Times New Roman" panose="02020603050405020304" pitchFamily="18" charset="0"/>
                <a:ea typeface="黑体" panose="02010609060101010101" pitchFamily="49" charset="-122"/>
                <a:cs typeface="Times New Roman" panose="02020603050405020304" pitchFamily="18" charset="0"/>
              </a:rPr>
              <a:t>不属于</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身份鉴别协议的是</a:t>
            </a: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______</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3" name="矩形 2">
            <a:extLst>
              <a:ext uri="{FF2B5EF4-FFF2-40B4-BE49-F238E27FC236}">
                <a16:creationId xmlns:a16="http://schemas.microsoft.com/office/drawing/2014/main" id="{0E031058-05A1-1E45-980D-62E4D08493B1}"/>
              </a:ext>
            </a:extLst>
          </p:cNvPr>
          <p:cNvSpPr/>
          <p:nvPr/>
        </p:nvSpPr>
        <p:spPr>
          <a:xfrm>
            <a:off x="501650" y="1069975"/>
            <a:ext cx="4572000" cy="438150"/>
          </a:xfrm>
          <a:prstGeom prst="rect">
            <a:avLst/>
          </a:prstGeom>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70000"/>
              </a:lnSpc>
              <a:defRPr/>
            </a:pPr>
            <a:r>
              <a:rPr lang="zh-CN" altLang="en-US" sz="3200" dirty="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rPr>
              <a:t>课堂测试</a:t>
            </a:r>
            <a:endParaRPr lang="en-US" altLang="zh-CN" sz="3200" dirty="0">
              <a:solidFill>
                <a:srgbClr val="0000FF"/>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132099" name="矩形 1">
            <a:extLst>
              <a:ext uri="{FF2B5EF4-FFF2-40B4-BE49-F238E27FC236}">
                <a16:creationId xmlns:a16="http://schemas.microsoft.com/office/drawing/2014/main" id="{FC90EF39-2CE2-EA41-A6E3-F30CAEE24F12}"/>
              </a:ext>
            </a:extLst>
          </p:cNvPr>
          <p:cNvSpPr>
            <a:spLocks noChangeArrowheads="1"/>
          </p:cNvSpPr>
          <p:nvPr/>
        </p:nvSpPr>
        <p:spPr bwMode="auto">
          <a:xfrm>
            <a:off x="1447800" y="2514600"/>
            <a:ext cx="45720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S/Key</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协议</a:t>
            </a:r>
            <a:b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b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．口令鉴别</a:t>
            </a:r>
            <a:b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b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S/MIME</a:t>
            </a:r>
            <a:b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b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en-US"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chemeClr val="bg2"/>
                </a:solidFill>
                <a:latin typeface="Times New Roman" panose="02020603050405020304" pitchFamily="18" charset="0"/>
                <a:ea typeface="黑体" panose="02010609060101010101" pitchFamily="49" charset="-122"/>
                <a:cs typeface="Times New Roman" panose="02020603050405020304" pitchFamily="18" charset="0"/>
              </a:rPr>
              <a:t>Kerberos</a:t>
            </a:r>
            <a:endParaRPr lang="zh-CN" altLang="en-US" sz="2800">
              <a:ea typeface="黑体" panose="02010609060101010101" pitchFamily="49" charset="-122"/>
              <a:cs typeface="Times New Roman" panose="02020603050405020304" pitchFamily="18"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1B5AC7F-E3C6-F548-8820-90ED4FC8FAB9}"/>
              </a:ext>
            </a:extLst>
          </p:cNvPr>
          <p:cNvSpPr>
            <a:spLocks noGrp="1"/>
          </p:cNvSpPr>
          <p:nvPr>
            <p:ph type="title"/>
          </p:nvPr>
        </p:nvSpPr>
        <p:spPr>
          <a:xfrm>
            <a:off x="457200" y="838200"/>
            <a:ext cx="8229600" cy="685800"/>
          </a:xfrm>
        </p:spPr>
        <p:txBody>
          <a:bodyPr vert="horz" wrap="square" lIns="91440" tIns="45720" rIns="91440" bIns="45720" numCol="1" anchor="t" anchorCtr="0" compatLnSpc="1">
            <a:prstTxWarp prst="textNoShape">
              <a:avLst/>
            </a:prstTxWarp>
          </a:bodyPr>
          <a:lstStyle/>
          <a:p>
            <a:pPr eaLnBrk="1" hangingPunct="1">
              <a:defRPr/>
            </a:pPr>
            <a:r>
              <a:rPr lang="zh-CN" altLang="en-US" sz="3200">
                <a:solidFill>
                  <a:schemeClr val="bg2"/>
                </a:solidFill>
                <a:latin typeface="黑体" panose="02010609060101010101" pitchFamily="49" charset="-122"/>
                <a:ea typeface="黑体" panose="02010609060101010101" pitchFamily="49" charset="-122"/>
              </a:rPr>
              <a:t>本章总结</a:t>
            </a:r>
          </a:p>
        </p:txBody>
      </p:sp>
      <p:sp>
        <p:nvSpPr>
          <p:cNvPr id="5" name="内容占位符 2">
            <a:extLst>
              <a:ext uri="{FF2B5EF4-FFF2-40B4-BE49-F238E27FC236}">
                <a16:creationId xmlns:a16="http://schemas.microsoft.com/office/drawing/2014/main" id="{0248B4AB-8790-7A4E-AEEC-551DB06C1BA3}"/>
              </a:ext>
            </a:extLst>
          </p:cNvPr>
          <p:cNvSpPr>
            <a:spLocks noGrp="1"/>
          </p:cNvSpPr>
          <p:nvPr>
            <p:ph idx="1"/>
          </p:nvPr>
        </p:nvSpPr>
        <p:spPr>
          <a:xfrm>
            <a:off x="838200" y="1752600"/>
            <a:ext cx="6553200" cy="2438400"/>
          </a:xfrm>
        </p:spPr>
        <p:txBody>
          <a:bodyPr vert="horz" wrap="square" lIns="91440" tIns="45720" rIns="91440" bIns="45720" numCol="1" anchor="t" anchorCtr="0" compatLnSpc="1">
            <a:prstTxWarp prst="textNoShape">
              <a:avLst/>
            </a:prstTxWarp>
            <a:noAutofit/>
          </a:bodyPr>
          <a:lstStyle/>
          <a:p>
            <a:pPr lvl="1" eaLnBrk="1" hangingPunct="1">
              <a:lnSpc>
                <a:spcPct val="70000"/>
              </a:lnSpc>
              <a:buClr>
                <a:srgbClr val="A3651C"/>
              </a:buClr>
              <a:buFont typeface="Wingdings" pitchFamily="2" charset="2"/>
              <a:buNone/>
              <a:defRPr/>
            </a:pPr>
            <a:r>
              <a:rPr lang="zh-CN" altLang="en-US">
                <a:solidFill>
                  <a:schemeClr val="bg2"/>
                </a:solidFill>
                <a:ea typeface="宋体" panose="02010600030101010101" pitchFamily="2" charset="-122"/>
              </a:rPr>
              <a:t>（</a:t>
            </a:r>
            <a:r>
              <a:rPr lang="en-US" altLang="zh-CN">
                <a:solidFill>
                  <a:schemeClr val="bg2"/>
                </a:solidFill>
                <a:ea typeface="宋体" panose="02010600030101010101" pitchFamily="2" charset="-122"/>
              </a:rPr>
              <a:t>1</a:t>
            </a:r>
            <a:r>
              <a:rPr lang="zh-CN" altLang="en-US">
                <a:solidFill>
                  <a:schemeClr val="bg2"/>
                </a:solidFill>
                <a:ea typeface="宋体" panose="02010600030101010101" pitchFamily="2" charset="-122"/>
              </a:rPr>
              <a:t>）鉴别（认证）概念</a:t>
            </a:r>
            <a:endParaRPr lang="en-US" altLang="zh-CN">
              <a:solidFill>
                <a:schemeClr val="bg2"/>
              </a:solidFill>
              <a:ea typeface="宋体" panose="02010600030101010101" pitchFamily="2" charset="-122"/>
            </a:endParaRPr>
          </a:p>
          <a:p>
            <a:pPr lvl="1" eaLnBrk="1" hangingPunct="1">
              <a:lnSpc>
                <a:spcPct val="70000"/>
              </a:lnSpc>
              <a:buClr>
                <a:srgbClr val="A3651C"/>
              </a:buClr>
              <a:buFont typeface="Wingdings" pitchFamily="2" charset="2"/>
              <a:buNone/>
              <a:defRPr/>
            </a:pPr>
            <a:r>
              <a:rPr lang="zh-CN" altLang="en-US">
                <a:solidFill>
                  <a:schemeClr val="bg2"/>
                </a:solidFill>
                <a:ea typeface="宋体" panose="02010600030101010101" pitchFamily="2" charset="-122"/>
              </a:rPr>
              <a:t>（</a:t>
            </a:r>
            <a:r>
              <a:rPr lang="en-US" altLang="zh-CN">
                <a:solidFill>
                  <a:schemeClr val="bg2"/>
                </a:solidFill>
                <a:ea typeface="宋体" panose="02010600030101010101" pitchFamily="2" charset="-122"/>
              </a:rPr>
              <a:t>2</a:t>
            </a:r>
            <a:r>
              <a:rPr lang="zh-CN" altLang="en-US">
                <a:solidFill>
                  <a:schemeClr val="bg2"/>
                </a:solidFill>
                <a:ea typeface="宋体" panose="02010600030101010101" pitchFamily="2" charset="-122"/>
              </a:rPr>
              <a:t>）鉴别技术使用场合</a:t>
            </a:r>
            <a:endParaRPr lang="en-US" altLang="zh-CN">
              <a:solidFill>
                <a:schemeClr val="bg2"/>
              </a:solidFill>
              <a:ea typeface="宋体" panose="02010600030101010101" pitchFamily="2" charset="-122"/>
            </a:endParaRPr>
          </a:p>
          <a:p>
            <a:pPr lvl="1" eaLnBrk="1" hangingPunct="1">
              <a:lnSpc>
                <a:spcPct val="70000"/>
              </a:lnSpc>
              <a:buClr>
                <a:srgbClr val="A3651C"/>
              </a:buClr>
              <a:buFont typeface="Wingdings" pitchFamily="2" charset="2"/>
              <a:buNone/>
              <a:defRPr/>
            </a:pPr>
            <a:r>
              <a:rPr lang="zh-CN" altLang="en-US">
                <a:solidFill>
                  <a:schemeClr val="bg2"/>
                </a:solidFill>
                <a:ea typeface="宋体" panose="02010600030101010101" pitchFamily="2" charset="-122"/>
              </a:rPr>
              <a:t>（</a:t>
            </a:r>
            <a:r>
              <a:rPr lang="en-US" altLang="zh-CN">
                <a:solidFill>
                  <a:schemeClr val="bg2"/>
                </a:solidFill>
                <a:ea typeface="宋体" panose="02010600030101010101" pitchFamily="2" charset="-122"/>
              </a:rPr>
              <a:t>3</a:t>
            </a:r>
            <a:r>
              <a:rPr lang="zh-CN" altLang="en-US">
                <a:solidFill>
                  <a:schemeClr val="bg2"/>
                </a:solidFill>
                <a:ea typeface="宋体" panose="02010600030101010101" pitchFamily="2" charset="-122"/>
              </a:rPr>
              <a:t>）鉴别的主要原理</a:t>
            </a:r>
            <a:endParaRPr lang="en-US" altLang="zh-CN">
              <a:solidFill>
                <a:schemeClr val="bg2"/>
              </a:solidFill>
              <a:ea typeface="宋体" panose="02010600030101010101" pitchFamily="2" charset="-122"/>
            </a:endParaRPr>
          </a:p>
          <a:p>
            <a:pPr lvl="1" eaLnBrk="1" hangingPunct="1">
              <a:lnSpc>
                <a:spcPct val="70000"/>
              </a:lnSpc>
              <a:buClr>
                <a:srgbClr val="A3651C"/>
              </a:buClr>
              <a:buFont typeface="Wingdings" pitchFamily="2" charset="2"/>
              <a:buNone/>
              <a:defRPr/>
            </a:pPr>
            <a:r>
              <a:rPr lang="zh-CN" altLang="en-US">
                <a:solidFill>
                  <a:schemeClr val="bg2"/>
                </a:solidFill>
                <a:ea typeface="宋体" panose="02010600030101010101" pitchFamily="2" charset="-122"/>
              </a:rPr>
              <a:t>（</a:t>
            </a:r>
            <a:r>
              <a:rPr lang="en-US" altLang="zh-CN">
                <a:solidFill>
                  <a:schemeClr val="bg2"/>
                </a:solidFill>
                <a:ea typeface="宋体" panose="02010600030101010101" pitchFamily="2" charset="-122"/>
              </a:rPr>
              <a:t>4</a:t>
            </a:r>
            <a:r>
              <a:rPr lang="zh-CN" altLang="en-US">
                <a:solidFill>
                  <a:schemeClr val="bg2"/>
                </a:solidFill>
                <a:ea typeface="宋体" panose="02010600030101010101" pitchFamily="2" charset="-122"/>
              </a:rPr>
              <a:t>）鉴别主要技术</a:t>
            </a:r>
            <a:endParaRPr lang="en-US" altLang="zh-CN">
              <a:solidFill>
                <a:schemeClr val="bg2"/>
              </a:solidFill>
              <a:ea typeface="宋体" panose="02010600030101010101" pitchFamily="2" charset="-122"/>
            </a:endParaRPr>
          </a:p>
          <a:p>
            <a:pPr lvl="1" eaLnBrk="1" hangingPunct="1">
              <a:lnSpc>
                <a:spcPct val="70000"/>
              </a:lnSpc>
              <a:buClr>
                <a:srgbClr val="A3651C"/>
              </a:buClr>
              <a:buFont typeface="Wingdings" pitchFamily="2" charset="2"/>
              <a:buNone/>
              <a:defRPr/>
            </a:pPr>
            <a:r>
              <a:rPr lang="zh-CN" altLang="en-US">
                <a:solidFill>
                  <a:schemeClr val="bg2"/>
                </a:solidFill>
                <a:ea typeface="宋体" panose="02010600030101010101" pitchFamily="2" charset="-122"/>
              </a:rPr>
              <a:t>（</a:t>
            </a:r>
            <a:r>
              <a:rPr lang="en-US" altLang="zh-CN">
                <a:solidFill>
                  <a:schemeClr val="bg2"/>
                </a:solidFill>
                <a:ea typeface="宋体" panose="02010600030101010101" pitchFamily="2" charset="-122"/>
              </a:rPr>
              <a:t>5</a:t>
            </a:r>
            <a:r>
              <a:rPr lang="zh-CN" altLang="en-US">
                <a:solidFill>
                  <a:schemeClr val="bg2"/>
                </a:solidFill>
                <a:ea typeface="宋体" panose="02010600030101010101" pitchFamily="2" charset="-122"/>
              </a:rPr>
              <a:t>）鉴别技术主要实现方法</a:t>
            </a:r>
            <a:endParaRPr lang="en-US" altLang="zh-CN">
              <a:solidFill>
                <a:schemeClr val="bg2"/>
              </a:solidFill>
              <a:ea typeface="宋体" panose="02010600030101010101" pitchFamily="2" charset="-122"/>
            </a:endParaRPr>
          </a:p>
          <a:p>
            <a:pPr lvl="1" eaLnBrk="1" hangingPunct="1">
              <a:lnSpc>
                <a:spcPct val="70000"/>
              </a:lnSpc>
              <a:buClr>
                <a:srgbClr val="A3651C"/>
              </a:buClr>
              <a:buFont typeface="Wingdings" pitchFamily="2" charset="2"/>
              <a:buNone/>
              <a:defRPr/>
            </a:pPr>
            <a:r>
              <a:rPr lang="zh-CN" altLang="en-US">
                <a:solidFill>
                  <a:schemeClr val="bg2"/>
                </a:solidFill>
                <a:ea typeface="宋体" panose="02010600030101010101" pitchFamily="2" charset="-122"/>
              </a:rPr>
              <a:t>（</a:t>
            </a:r>
            <a:r>
              <a:rPr lang="en-US" altLang="zh-CN">
                <a:solidFill>
                  <a:schemeClr val="bg2"/>
                </a:solidFill>
                <a:ea typeface="宋体" panose="02010600030101010101" pitchFamily="2" charset="-122"/>
              </a:rPr>
              <a:t>6</a:t>
            </a:r>
            <a:r>
              <a:rPr lang="zh-CN" altLang="en-US">
                <a:solidFill>
                  <a:schemeClr val="bg2"/>
                </a:solidFill>
                <a:ea typeface="宋体" panose="02010600030101010101" pitchFamily="2" charset="-122"/>
              </a:rPr>
              <a:t>）主要的鉴别工具和系统</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C87758A3-B7F6-D04A-B41E-C6FF1074BC84}"/>
              </a:ext>
            </a:extLst>
          </p:cNvPr>
          <p:cNvSpPr>
            <a:spLocks noGrp="1"/>
          </p:cNvSpPr>
          <p:nvPr>
            <p:ph type="title"/>
          </p:nvPr>
        </p:nvSpPr>
        <p:spPr>
          <a:xfrm>
            <a:off x="457200" y="914400"/>
            <a:ext cx="8229600" cy="685800"/>
          </a:xfrm>
        </p:spPr>
        <p:txBody>
          <a:bodyPr vert="horz" wrap="square" lIns="91440" tIns="45720" rIns="91440" bIns="45720" numCol="1" anchor="t" anchorCtr="0" compatLnSpc="1">
            <a:prstTxWarp prst="textNoShape">
              <a:avLst/>
            </a:prstTxWarp>
          </a:bodyPr>
          <a:lstStyle/>
          <a:p>
            <a:pPr eaLnBrk="1" hangingPunct="1">
              <a:defRPr/>
            </a:pPr>
            <a:r>
              <a:rPr lang="zh-CN" altLang="en-US" sz="3200">
                <a:solidFill>
                  <a:schemeClr val="bg2"/>
                </a:solidFill>
                <a:latin typeface="黑体" panose="02010609060101010101" pitchFamily="49" charset="-122"/>
                <a:ea typeface="黑体" panose="02010609060101010101" pitchFamily="49" charset="-122"/>
              </a:rPr>
              <a:t>思考题</a:t>
            </a:r>
          </a:p>
        </p:txBody>
      </p:sp>
      <p:sp>
        <p:nvSpPr>
          <p:cNvPr id="123907" name="Rectangle 3">
            <a:extLst>
              <a:ext uri="{FF2B5EF4-FFF2-40B4-BE49-F238E27FC236}">
                <a16:creationId xmlns:a16="http://schemas.microsoft.com/office/drawing/2014/main" id="{784989C7-3A8D-6945-A106-F21820A7C732}"/>
              </a:ext>
            </a:extLst>
          </p:cNvPr>
          <p:cNvSpPr txBox="1">
            <a:spLocks noChangeArrowheads="1"/>
          </p:cNvSpPr>
          <p:nvPr/>
        </p:nvSpPr>
        <p:spPr bwMode="auto">
          <a:xfrm>
            <a:off x="685800" y="1752600"/>
            <a:ext cx="8229600" cy="1828800"/>
          </a:xfrm>
          <a:prstGeom prst="rect">
            <a:avLst/>
          </a:prstGeom>
          <a:solidFill>
            <a:srgbClr val="FFFFFF"/>
          </a:solidFill>
          <a:ln w="9525">
            <a:solidFill>
              <a:srgbClr val="FFFFFF"/>
            </a:solidFill>
            <a:miter lim="800000"/>
            <a:headEnd/>
            <a:tailEnd/>
          </a:ln>
        </p:spPr>
        <p:txBody>
          <a:bodyPr/>
          <a:lstStyle>
            <a:lvl1pPr marL="571500" indent="-571500">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90000"/>
              </a:lnSpc>
              <a:spcBef>
                <a:spcPct val="30000"/>
              </a:spcBef>
              <a:buClr>
                <a:schemeClr val="tx2"/>
              </a:buClr>
              <a:buSzPct val="75000"/>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）单点登录中多个系统中鉴别数据如何存储和使用的？</a:t>
            </a:r>
            <a:endPar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90000"/>
              </a:lnSpc>
              <a:spcBef>
                <a:spcPct val="30000"/>
              </a:spcBef>
              <a:buClr>
                <a:schemeClr val="tx2"/>
              </a:buClr>
              <a:buSzPct val="75000"/>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）查阅最新的</a:t>
            </a: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OTP</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改进技术</a:t>
            </a:r>
            <a:endPar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90000"/>
              </a:lnSpc>
              <a:spcBef>
                <a:spcPct val="30000"/>
              </a:spcBef>
              <a:buClr>
                <a:schemeClr val="tx2"/>
              </a:buClr>
              <a:buSzPct val="75000"/>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3</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）查阅零知识证明的最新技术</a:t>
            </a:r>
            <a:endPar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90000"/>
              </a:lnSpc>
              <a:spcBef>
                <a:spcPct val="30000"/>
              </a:spcBef>
              <a:buClr>
                <a:schemeClr val="tx2"/>
              </a:buClr>
              <a:buSzPct val="75000"/>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4</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）分析现有银行支付鉴别技术的风险</a:t>
            </a:r>
            <a:endPar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90000"/>
              </a:lnSpc>
              <a:spcBef>
                <a:spcPct val="30000"/>
              </a:spcBef>
              <a:buClr>
                <a:schemeClr val="tx2"/>
              </a:buClr>
              <a:buSzPct val="75000"/>
              <a:defRPr/>
            </a:pPr>
            <a:endPar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pic>
        <p:nvPicPr>
          <p:cNvPr id="134147" name="图片 3">
            <a:extLst>
              <a:ext uri="{FF2B5EF4-FFF2-40B4-BE49-F238E27FC236}">
                <a16:creationId xmlns:a16="http://schemas.microsoft.com/office/drawing/2014/main" id="{A60C7220-A275-2B43-8EEF-863060FDDE4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3581400"/>
            <a:ext cx="5176838"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标题 1">
            <a:extLst>
              <a:ext uri="{FF2B5EF4-FFF2-40B4-BE49-F238E27FC236}">
                <a16:creationId xmlns:a16="http://schemas.microsoft.com/office/drawing/2014/main" id="{0E728849-4D4D-B94E-9C20-4750C917B752}"/>
              </a:ext>
            </a:extLst>
          </p:cNvPr>
          <p:cNvSpPr txBox="1">
            <a:spLocks noChangeArrowheads="1"/>
          </p:cNvSpPr>
          <p:nvPr/>
        </p:nvSpPr>
        <p:spPr bwMode="auto">
          <a:xfrm>
            <a:off x="1008063" y="3429000"/>
            <a:ext cx="7127875"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algn="ctr" eaLnBrk="1" hangingPunct="1"/>
            <a:r>
              <a:rPr lang="en-US" altLang="zh-CN" sz="6000">
                <a:solidFill>
                  <a:srgbClr val="790004"/>
                </a:solidFill>
                <a:latin typeface="Microsoft YaHei" panose="020B0503020204020204" pitchFamily="34" charset="-122"/>
                <a:ea typeface="Microsoft YaHei" panose="020B0503020204020204" pitchFamily="34" charset="-122"/>
              </a:rPr>
              <a:t>Thanks</a:t>
            </a:r>
            <a:r>
              <a:rPr lang="zh-CN" altLang="en-US" sz="6000">
                <a:solidFill>
                  <a:srgbClr val="790004"/>
                </a:solidFill>
                <a:latin typeface="Microsoft YaHei" panose="020B0503020204020204" pitchFamily="34" charset="-122"/>
                <a:ea typeface="Microsoft YaHei" panose="020B0503020204020204" pitchFamily="34" charset="-122"/>
              </a:rPr>
              <a:t>！</a:t>
            </a:r>
            <a:endParaRPr lang="zh-CN" altLang="en-US" sz="6000">
              <a:solidFill>
                <a:srgbClr val="C00000"/>
              </a:solidFill>
              <a:latin typeface="Microsoft YaHei" panose="020B0503020204020204" pitchFamily="34" charset="-122"/>
              <a:ea typeface="Microsoft YaHei" panose="020B0503020204020204" pitchFamily="34" charset="-122"/>
            </a:endParaRPr>
          </a:p>
        </p:txBody>
      </p:sp>
      <p:sp>
        <p:nvSpPr>
          <p:cNvPr id="135170" name="Rectangle 2">
            <a:extLst>
              <a:ext uri="{FF2B5EF4-FFF2-40B4-BE49-F238E27FC236}">
                <a16:creationId xmlns:a16="http://schemas.microsoft.com/office/drawing/2014/main" id="{D03002CF-934D-8349-8A2B-94A3A488483A}"/>
              </a:ext>
            </a:extLst>
          </p:cNvPr>
          <p:cNvSpPr txBox="1">
            <a:spLocks noRot="1" noChangeArrowheads="1"/>
          </p:cNvSpPr>
          <p:nvPr/>
        </p:nvSpPr>
        <p:spPr bwMode="auto">
          <a:xfrm>
            <a:off x="1260475" y="990600"/>
            <a:ext cx="66230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4800" b="1">
                <a:solidFill>
                  <a:srgbClr val="FF0000"/>
                </a:solidFill>
                <a:latin typeface="隶书" pitchFamily="49" charset="-122"/>
                <a:ea typeface="隶书" pitchFamily="49" charset="-122"/>
              </a:defRPr>
            </a:lvl1pPr>
            <a:lvl2pPr marL="742950" indent="-285750">
              <a:defRPr kumimoji="1" sz="4800" b="1">
                <a:solidFill>
                  <a:srgbClr val="FF0000"/>
                </a:solidFill>
                <a:latin typeface="隶书" pitchFamily="49" charset="-122"/>
                <a:ea typeface="隶书" pitchFamily="49" charset="-122"/>
              </a:defRPr>
            </a:lvl2pPr>
            <a:lvl3pPr marL="1143000" indent="-228600">
              <a:defRPr kumimoji="1" sz="4800" b="1">
                <a:solidFill>
                  <a:srgbClr val="FF0000"/>
                </a:solidFill>
                <a:latin typeface="隶书" pitchFamily="49" charset="-122"/>
                <a:ea typeface="隶书" pitchFamily="49" charset="-122"/>
              </a:defRPr>
            </a:lvl3pPr>
            <a:lvl4pPr marL="1600200" indent="-228600">
              <a:defRPr kumimoji="1" sz="4800" b="1">
                <a:solidFill>
                  <a:srgbClr val="FF0000"/>
                </a:solidFill>
                <a:latin typeface="隶书" pitchFamily="49" charset="-122"/>
                <a:ea typeface="隶书" pitchFamily="49" charset="-122"/>
              </a:defRPr>
            </a:lvl4pPr>
            <a:lvl5pPr marL="2057400" indent="-228600">
              <a:defRPr kumimoji="1"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kumimoji="1" sz="4800" b="1">
                <a:solidFill>
                  <a:srgbClr val="FF0000"/>
                </a:solidFill>
                <a:latin typeface="隶书" pitchFamily="49" charset="-122"/>
                <a:ea typeface="隶书" pitchFamily="49" charset="-122"/>
              </a:defRPr>
            </a:lvl9pPr>
          </a:lstStyle>
          <a:p>
            <a:pPr eaLnBrk="1" hangingPunct="1"/>
            <a:r>
              <a:rPr lang="en-US" altLang="zh-CN" sz="4400">
                <a:solidFill>
                  <a:srgbClr val="790004"/>
                </a:solidFill>
                <a:latin typeface="Microsoft YaHei" panose="020B0503020204020204" pitchFamily="34" charset="-122"/>
                <a:ea typeface="Microsoft YaHei" panose="020B0503020204020204" pitchFamily="34" charset="-122"/>
              </a:rPr>
              <a:t>Questions</a:t>
            </a:r>
            <a:r>
              <a:rPr lang="zh-CN" altLang="en-US" sz="4400">
                <a:solidFill>
                  <a:srgbClr val="790004"/>
                </a:solidFill>
                <a:latin typeface="Microsoft YaHei" panose="020B0503020204020204" pitchFamily="34" charset="-122"/>
                <a:ea typeface="Microsoft YaHei" panose="020B0503020204020204" pitchFamily="34" charset="-122"/>
              </a:rPr>
              <a:t> </a:t>
            </a:r>
            <a:r>
              <a:rPr lang="en-US" altLang="zh-CN" sz="4400">
                <a:solidFill>
                  <a:srgbClr val="790004"/>
                </a:solidFill>
                <a:latin typeface="Microsoft YaHei" panose="020B0503020204020204" pitchFamily="34" charset="-122"/>
                <a:ea typeface="Microsoft YaHei" panose="020B0503020204020204" pitchFamily="34" charset="-122"/>
              </a:rPr>
              <a:t>&amp;</a:t>
            </a:r>
            <a:r>
              <a:rPr lang="zh-CN" altLang="en-US" sz="4400">
                <a:solidFill>
                  <a:srgbClr val="790004"/>
                </a:solidFill>
                <a:latin typeface="Microsoft YaHei" panose="020B0503020204020204" pitchFamily="34" charset="-122"/>
                <a:ea typeface="Microsoft YaHei" panose="020B0503020204020204" pitchFamily="34" charset="-122"/>
              </a:rPr>
              <a:t> </a:t>
            </a:r>
            <a:r>
              <a:rPr lang="en-US" altLang="zh-CN" sz="4400">
                <a:solidFill>
                  <a:srgbClr val="790004"/>
                </a:solidFill>
                <a:latin typeface="Microsoft YaHei" panose="020B0503020204020204" pitchFamily="34" charset="-122"/>
                <a:ea typeface="Microsoft YaHei" panose="020B0503020204020204" pitchFamily="34" charset="-122"/>
              </a:rPr>
              <a:t>Answers</a:t>
            </a:r>
          </a:p>
        </p:txBody>
      </p:sp>
    </p:spTree>
  </p:cSld>
  <p:clrMapOvr>
    <a:masterClrMapping/>
  </p:clrMapOvr>
</p:sld>
</file>

<file path=ppt/theme/theme1.xml><?xml version="1.0" encoding="utf-8"?>
<a:theme xmlns:a="http://schemas.openxmlformats.org/drawingml/2006/main" name="模版">
  <a:themeElements>
    <a:clrScheme name="">
      <a:dk1>
        <a:srgbClr val="000000"/>
      </a:dk1>
      <a:lt1>
        <a:srgbClr val="FFFFFF"/>
      </a:lt1>
      <a:dk2>
        <a:srgbClr val="339966"/>
      </a:dk2>
      <a:lt2>
        <a:srgbClr val="FFF15B"/>
      </a:lt2>
      <a:accent1>
        <a:srgbClr val="FCEB98"/>
      </a:accent1>
      <a:accent2>
        <a:srgbClr val="F0962A"/>
      </a:accent2>
      <a:accent3>
        <a:srgbClr val="ADCAB8"/>
      </a:accent3>
      <a:accent4>
        <a:srgbClr val="DADADA"/>
      </a:accent4>
      <a:accent5>
        <a:srgbClr val="FDF3CA"/>
      </a:accent5>
      <a:accent6>
        <a:srgbClr val="D98725"/>
      </a:accent6>
      <a:hlink>
        <a:srgbClr val="FFFFFF"/>
      </a:hlink>
      <a:folHlink>
        <a:srgbClr val="FFFFCC"/>
      </a:folHlink>
    </a:clrScheme>
    <a:fontScheme name="模版">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1" lang="en-US" sz="4800" b="1" i="0" u="none" strike="noStrike" cap="none" normalizeH="0" baseline="0" smtClean="0">
            <a:ln>
              <a:noFill/>
            </a:ln>
            <a:solidFill>
              <a:srgbClr val="FF0000"/>
            </a:solidFill>
            <a:effectLst>
              <a:outerShdw blurRad="38100" dist="38100" dir="2700000" algn="tl">
                <a:srgbClr val="000000">
                  <a:alpha val="43137"/>
                </a:srgbClr>
              </a:outerShdw>
            </a:effectLst>
            <a:latin typeface="隶书" pitchFamily="49" charset="-122"/>
            <a:ea typeface="隶书" pitchFamily="49" charset="-122"/>
            <a:cs typeface="Arial" charset="0"/>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1" lang="en-US" sz="4800" b="1" i="0" u="none" strike="noStrike" cap="none" normalizeH="0" baseline="0" smtClean="0">
            <a:ln>
              <a:noFill/>
            </a:ln>
            <a:solidFill>
              <a:srgbClr val="FF0000"/>
            </a:solidFill>
            <a:effectLst>
              <a:outerShdw blurRad="38100" dist="38100" dir="2700000" algn="tl">
                <a:srgbClr val="000000">
                  <a:alpha val="43137"/>
                </a:srgbClr>
              </a:outerShdw>
            </a:effectLst>
            <a:latin typeface="隶书" pitchFamily="49" charset="-122"/>
            <a:ea typeface="隶书" pitchFamily="49" charset="-122"/>
            <a:cs typeface="Arial" charset="0"/>
          </a:defRPr>
        </a:defPPr>
      </a:lstStyle>
    </a:lnDef>
  </a:objectDefaults>
  <a:extraClrSchemeLst>
    <a:extraClrScheme>
      <a:clrScheme name="模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模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模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模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模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模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模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模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模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模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模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模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模版 13">
        <a:dk1>
          <a:srgbClr val="000000"/>
        </a:dk1>
        <a:lt1>
          <a:srgbClr val="FFFFFF"/>
        </a:lt1>
        <a:dk2>
          <a:srgbClr val="339966"/>
        </a:dk2>
        <a:lt2>
          <a:srgbClr val="FFF15B"/>
        </a:lt2>
        <a:accent1>
          <a:srgbClr val="FCEB98"/>
        </a:accent1>
        <a:accent2>
          <a:srgbClr val="F0962A"/>
        </a:accent2>
        <a:accent3>
          <a:srgbClr val="ADCAB8"/>
        </a:accent3>
        <a:accent4>
          <a:srgbClr val="DADADA"/>
        </a:accent4>
        <a:accent5>
          <a:srgbClr val="FDF3CA"/>
        </a:accent5>
        <a:accent6>
          <a:srgbClr val="D98725"/>
        </a:accent6>
        <a:hlink>
          <a:srgbClr val="FFCC66"/>
        </a:hlink>
        <a:folHlink>
          <a:srgbClr val="B287D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I:\资料\模版.pot</Template>
  <TotalTime>14721</TotalTime>
  <Words>9261</Words>
  <Application>Microsoft Office PowerPoint</Application>
  <PresentationFormat>全屏显示(4:3)</PresentationFormat>
  <Paragraphs>1094</Paragraphs>
  <Slides>132</Slides>
  <Notes>7</Notes>
  <HiddenSlides>3</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5</vt:i4>
      </vt:variant>
      <vt:variant>
        <vt:lpstr>幻灯片标题</vt:lpstr>
      </vt:variant>
      <vt:variant>
        <vt:i4>132</vt:i4>
      </vt:variant>
    </vt:vector>
  </HeadingPairs>
  <TitlesOfParts>
    <vt:vector size="149" baseType="lpstr">
      <vt:lpstr>-apple-system</vt:lpstr>
      <vt:lpstr>黑体</vt:lpstr>
      <vt:lpstr>华文宋体</vt:lpstr>
      <vt:lpstr>华文中宋</vt:lpstr>
      <vt:lpstr>隶书</vt:lpstr>
      <vt:lpstr>宋体</vt:lpstr>
      <vt:lpstr>Arial</vt:lpstr>
      <vt:lpstr>Tahoma</vt:lpstr>
      <vt:lpstr>Times New Roman</vt:lpstr>
      <vt:lpstr>Wingdings</vt:lpstr>
      <vt:lpstr>微软雅黑</vt:lpstr>
      <vt:lpstr>模版</vt:lpstr>
      <vt:lpstr>剪辑</vt:lpstr>
      <vt:lpstr>Microsoft PowerPoint 97-2003 Presentation</vt:lpstr>
      <vt:lpstr>Equation</vt:lpstr>
      <vt:lpstr>位图图像</vt:lpstr>
      <vt:lpstr>公式</vt:lpstr>
      <vt:lpstr>PowerPoint 演示文稿</vt:lpstr>
      <vt:lpstr>鉴别机制与技术</vt:lpstr>
      <vt:lpstr>主要内容</vt:lpstr>
      <vt:lpstr>PowerPoint 演示文稿</vt:lpstr>
      <vt:lpstr>5.1 鉴别的需求和目的</vt:lpstr>
      <vt:lpstr>鉴别（Authentication）</vt:lpstr>
      <vt:lpstr>PowerPoint 演示文稿</vt:lpstr>
      <vt:lpstr>身份鉴别的协议基础</vt:lpstr>
      <vt:lpstr>5.2 实体鉴别系统的组成</vt:lpstr>
      <vt:lpstr>鉴别模型</vt:lpstr>
      <vt:lpstr>对身份鉴别系统的要求</vt:lpstr>
      <vt:lpstr>网络环境下对身份鉴别的需求</vt:lpstr>
      <vt:lpstr>PowerPoint 演示文稿</vt:lpstr>
      <vt:lpstr>知识扩展：两个基本概念</vt:lpstr>
      <vt:lpstr>实现身份鉴别的途径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4A)惟一数机制</vt:lpstr>
      <vt:lpstr>4B)质询机制</vt:lpstr>
      <vt:lpstr>4C)专用加密质询机制</vt:lpstr>
      <vt:lpstr>4D)计算响应机制</vt:lpstr>
      <vt:lpstr>5.4 鉴别技术分类：按机制的配置分类</vt:lpstr>
      <vt:lpstr>鉴别方案A</vt:lpstr>
      <vt:lpstr>鉴别方案B</vt:lpstr>
      <vt:lpstr>鉴别方案C</vt:lpstr>
      <vt:lpstr>鉴别方案D</vt:lpstr>
      <vt:lpstr>鉴别方案E</vt:lpstr>
      <vt:lpstr>鉴别方案F</vt:lpstr>
      <vt:lpstr>鉴别方案G</vt:lpstr>
      <vt:lpstr>鉴别方案H</vt:lpstr>
      <vt:lpstr>5.5 鉴别机制</vt:lpstr>
      <vt:lpstr>5.5.1 非密码的鉴别机制</vt:lpstr>
      <vt:lpstr>A．口令机制 </vt:lpstr>
      <vt:lpstr>回顾：口令机制举例 </vt:lpstr>
      <vt:lpstr>PowerPoint 演示文稿</vt:lpstr>
      <vt:lpstr>PowerPoint 演示文稿</vt:lpstr>
      <vt:lpstr>PowerPoint 演示文稿</vt:lpstr>
      <vt:lpstr>PowerPoint 演示文稿</vt:lpstr>
      <vt:lpstr>A．口令机制 </vt:lpstr>
      <vt:lpstr>对付外部泄露的措施</vt:lpstr>
      <vt:lpstr>对付口令猜测的措施</vt:lpstr>
      <vt:lpstr>PowerPoint 演示文稿</vt:lpstr>
      <vt:lpstr>对付线路窃听的措施</vt:lpstr>
      <vt:lpstr>PowerPoint 演示文稿</vt:lpstr>
      <vt:lpstr>PowerPoint 演示文稿</vt:lpstr>
      <vt:lpstr>基本的对付危及验证者的措施</vt:lpstr>
      <vt:lpstr>对付窃听及危及验证者的措施</vt:lpstr>
      <vt:lpstr>对付重放攻击的措施</vt:lpstr>
      <vt:lpstr>B．一次性口令机制（OPT）</vt:lpstr>
      <vt:lpstr>一次性口令鉴别机制</vt:lpstr>
      <vt:lpstr>OPT安全性分析</vt:lpstr>
      <vt:lpstr>PowerPoint 演示文稿</vt:lpstr>
      <vt:lpstr>PowerPoint 演示文稿</vt:lpstr>
      <vt:lpstr>PowerPoint 演示文稿</vt:lpstr>
      <vt:lpstr>PowerPoint 演示文稿</vt:lpstr>
      <vt:lpstr>小技巧：验证码</vt:lpstr>
      <vt:lpstr>PowerPoint 演示文稿</vt:lpstr>
      <vt:lpstr>PowerPoint 演示文稿</vt:lpstr>
      <vt:lpstr>PowerPoint 演示文稿</vt:lpstr>
      <vt:lpstr>C、基于地址的机制</vt:lpstr>
      <vt:lpstr>D．基于个人生理特征的机制</vt:lpstr>
      <vt:lpstr>PowerPoint 演示文稿</vt:lpstr>
      <vt:lpstr>指纹识别的实现原理</vt:lpstr>
      <vt:lpstr>E．个人鉴别令牌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5.5.3 采用对称密码的鉴别机制</vt:lpstr>
      <vt:lpstr>设计鉴别协议</vt:lpstr>
      <vt:lpstr>（1）重放</vt:lpstr>
      <vt:lpstr>（2）非重复值的使用</vt:lpstr>
      <vt:lpstr>时间戳</vt:lpstr>
      <vt:lpstr>质询/应答方式(Challenge/Response)</vt:lpstr>
      <vt:lpstr>PowerPoint 演示文稿</vt:lpstr>
      <vt:lpstr>（3）相互鉴别协议</vt:lpstr>
      <vt:lpstr>PowerPoint 演示文稿</vt:lpstr>
      <vt:lpstr>5.5.3 采用对称密码的鉴别机制</vt:lpstr>
      <vt:lpstr>本部分使用以下记法</vt:lpstr>
      <vt:lpstr>无可信第三方参与的机制单向鉴别</vt:lpstr>
      <vt:lpstr>PowerPoint 演示文稿</vt:lpstr>
      <vt:lpstr>PowerPoint 演示文稿</vt:lpstr>
      <vt:lpstr>PowerPoint 演示文稿</vt:lpstr>
      <vt:lpstr>涉及可信第三方的机制--双向鉴别</vt:lpstr>
      <vt:lpstr>PowerPoint 演示文稿</vt:lpstr>
      <vt:lpstr>5.5.4 采用公开密码算法的机制</vt:lpstr>
      <vt:lpstr>本部分使用以下记法</vt:lpstr>
      <vt:lpstr>采用公开密码算法的机制—单向鉴别</vt:lpstr>
      <vt:lpstr>采用公开密码算法的机制—单向鉴别</vt:lpstr>
      <vt:lpstr>采用公开密码算法的机制—双向鉴别（1）</vt:lpstr>
      <vt:lpstr>采用公开密码算法的机制—双向鉴别（2）</vt:lpstr>
      <vt:lpstr>采用公开密码算法的机制—双向鉴别（3）</vt:lpstr>
      <vt:lpstr>5.5.5 采用密码校验函数的机制</vt:lpstr>
      <vt:lpstr>采用密码校验函数的机制-单向鉴别</vt:lpstr>
      <vt:lpstr>采用密码校验函数的机制-单向鉴别</vt:lpstr>
      <vt:lpstr>PowerPoint 演示文稿</vt:lpstr>
      <vt:lpstr>PowerPoint 演示文稿</vt:lpstr>
      <vt:lpstr>PowerPoint 演示文稿</vt:lpstr>
      <vt:lpstr>5.6  Kerberos鉴别协议</vt:lpstr>
      <vt:lpstr>5.6 Kerberos鉴别协议</vt:lpstr>
      <vt:lpstr>Kerberos鉴别协议使用条件</vt:lpstr>
      <vt:lpstr>Kerberos鉴别协议流程</vt:lpstr>
      <vt:lpstr>Kerberos鉴别协议流程</vt:lpstr>
      <vt:lpstr>PowerPoint 演示文稿</vt:lpstr>
      <vt:lpstr>PowerPoint 演示文稿</vt:lpstr>
      <vt:lpstr>PowerPoint 演示文稿</vt:lpstr>
      <vt:lpstr>Kerberos鉴别协议的特点</vt:lpstr>
      <vt:lpstr>PowerPoint 演示文稿</vt:lpstr>
      <vt:lpstr>PowerPoint 演示文稿</vt:lpstr>
      <vt:lpstr>本章总结</vt:lpstr>
      <vt:lpstr>思考题</vt:lpstr>
      <vt:lpstr>PowerPoint 演示文稿</vt:lpstr>
    </vt:vector>
  </TitlesOfParts>
  <Company>nscu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zam</dc:creator>
  <cp:lastModifiedBy>丹阳 郑</cp:lastModifiedBy>
  <cp:revision>433</cp:revision>
  <dcterms:created xsi:type="dcterms:W3CDTF">2004-12-04T13:32:54Z</dcterms:created>
  <dcterms:modified xsi:type="dcterms:W3CDTF">2026-04-19T14:25:53Z</dcterms:modified>
</cp:coreProperties>
</file>