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6"/>
  </p:notesMasterIdLst>
  <p:sldIdLst>
    <p:sldId id="256" r:id="rId3"/>
    <p:sldId id="269" r:id="rId4"/>
    <p:sldId id="352" r:id="rId5"/>
    <p:sldId id="11089437" r:id="rId7"/>
    <p:sldId id="11089426" r:id="rId8"/>
    <p:sldId id="11089461" r:id="rId9"/>
    <p:sldId id="11089462" r:id="rId10"/>
    <p:sldId id="11089427" r:id="rId11"/>
    <p:sldId id="524" r:id="rId12"/>
    <p:sldId id="11089456" r:id="rId13"/>
    <p:sldId id="11089457" r:id="rId14"/>
    <p:sldId id="11089428" r:id="rId15"/>
    <p:sldId id="11089446" r:id="rId16"/>
    <p:sldId id="11089463" r:id="rId17"/>
    <p:sldId id="11089441" r:id="rId18"/>
    <p:sldId id="11089440" r:id="rId19"/>
    <p:sldId id="11089442" r:id="rId20"/>
  </p:sldIdLst>
  <p:sldSz cx="12192000" cy="6858000"/>
  <p:notesSz cx="6858000" cy="9144000"/>
  <p:custDataLst>
    <p:tags r:id="rId2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E6BC9"/>
    <a:srgbClr val="1D54B1"/>
    <a:srgbClr val="E0ECFE"/>
    <a:srgbClr val="1F2B97"/>
    <a:srgbClr val="E9F2FE"/>
    <a:srgbClr val="F9D5AE"/>
    <a:srgbClr val="FFF2DA"/>
    <a:srgbClr val="0D66DA"/>
    <a:srgbClr val="0F3D99"/>
    <a:srgbClr val="463D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6910"/>
    <p:restoredTop sz="96029"/>
  </p:normalViewPr>
  <p:slideViewPr>
    <p:cSldViewPr snapToGrid="0">
      <p:cViewPr>
        <p:scale>
          <a:sx n="70" d="100"/>
          <a:sy n="70" d="100"/>
        </p:scale>
        <p:origin x="896" y="10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gs" Target="tags/tag22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01C6032-BE26-DE4E-9BAA-F653CCBBDD01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  <a:p>
            <a:pPr lvl="1"/>
            <a:r>
              <a:rPr kumimoji="1" lang="zh-CN" altLang="en-US" dirty="0"/>
              <a:t>二级</a:t>
            </a:r>
            <a:endParaRPr kumimoji="1" lang="zh-CN" altLang="en-US" dirty="0"/>
          </a:p>
          <a:p>
            <a:pPr lvl="2"/>
            <a:r>
              <a:rPr kumimoji="1" lang="zh-CN" altLang="en-US" dirty="0"/>
              <a:t>三级</a:t>
            </a:r>
            <a:endParaRPr kumimoji="1" lang="zh-CN" altLang="en-US" dirty="0"/>
          </a:p>
          <a:p>
            <a:pPr lvl="3"/>
            <a:r>
              <a:rPr kumimoji="1" lang="zh-CN" altLang="en-US" dirty="0"/>
              <a:t>四级</a:t>
            </a:r>
            <a:endParaRPr kumimoji="1" lang="zh-CN" altLang="en-US" dirty="0"/>
          </a:p>
          <a:p>
            <a:pPr lvl="4"/>
            <a:r>
              <a:rPr kumimoji="1" lang="zh-CN" altLang="en-US" dirty="0"/>
              <a:t>五级</a:t>
            </a:r>
            <a:endParaRPr kumimoji="1"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DCC958E-0824-3148-94FA-0EF06A1E88E5}" type="slidenum">
              <a:rPr kumimoji="1" lang="zh-CN" altLang="en-US" smtClean="0"/>
            </a:fld>
            <a:endParaRPr kumimoji="1"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公众号：陈西设计之家。微信搜索即可。更多免费</a:t>
            </a:r>
            <a:r>
              <a:rPr lang="en-US" altLang="zh-CN" dirty="0"/>
              <a:t>PPT</a:t>
            </a:r>
            <a:r>
              <a:rPr lang="zh-CN" altLang="en-US" dirty="0"/>
              <a:t>模版教程等都可以在公众号内获取。</a:t>
            </a:r>
            <a:r>
              <a:rPr lang="en-US" altLang="zh-CN" dirty="0"/>
              <a:t>PPT</a:t>
            </a:r>
            <a:r>
              <a:rPr lang="zh-CN" altLang="en-US" dirty="0"/>
              <a:t>高端定制</a:t>
            </a:r>
            <a:r>
              <a:rPr lang="en-US" altLang="zh-CN" dirty="0"/>
              <a:t>/</a:t>
            </a:r>
            <a:r>
              <a:rPr lang="zh-CN" altLang="en-US" dirty="0"/>
              <a:t>发布会</a:t>
            </a:r>
            <a:r>
              <a:rPr lang="en-US" altLang="zh-CN" dirty="0"/>
              <a:t>PPT</a:t>
            </a:r>
            <a:r>
              <a:rPr lang="zh-CN" altLang="en-US" dirty="0"/>
              <a:t>设计微信：</a:t>
            </a:r>
            <a:r>
              <a:rPr lang="en-US" altLang="zh-CN" dirty="0"/>
              <a:t>2090298045【</a:t>
            </a:r>
            <a:r>
              <a:rPr lang="zh-CN" altLang="en-US" dirty="0"/>
              <a:t>陈西</a:t>
            </a:r>
            <a:r>
              <a:rPr lang="en-US" altLang="zh-CN" dirty="0"/>
              <a:t>】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8DC73D-7D82-4CC4-9352-9FD0125D91E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公众号：陈西设计之家。微信搜索即可。更多免费</a:t>
            </a:r>
            <a:r>
              <a:rPr lang="en-US" altLang="zh-CN" dirty="0"/>
              <a:t>PPT</a:t>
            </a:r>
            <a:r>
              <a:rPr lang="zh-CN" altLang="en-US" dirty="0"/>
              <a:t>模版教程等都可以在公众号内获取。</a:t>
            </a:r>
            <a:r>
              <a:rPr lang="en-US" altLang="zh-CN" dirty="0"/>
              <a:t>PPT</a:t>
            </a:r>
            <a:r>
              <a:rPr lang="zh-CN" altLang="en-US" dirty="0"/>
              <a:t>高端定制</a:t>
            </a:r>
            <a:r>
              <a:rPr lang="en-US" altLang="zh-CN" dirty="0"/>
              <a:t>/</a:t>
            </a:r>
            <a:r>
              <a:rPr lang="zh-CN" altLang="en-US" dirty="0"/>
              <a:t>发布会</a:t>
            </a:r>
            <a:r>
              <a:rPr lang="en-US" altLang="zh-CN" dirty="0"/>
              <a:t>PPT</a:t>
            </a:r>
            <a:r>
              <a:rPr lang="zh-CN" altLang="en-US" dirty="0"/>
              <a:t>设计微信：</a:t>
            </a:r>
            <a:r>
              <a:rPr lang="en-US" altLang="zh-CN" dirty="0"/>
              <a:t>2090298045【</a:t>
            </a:r>
            <a:r>
              <a:rPr lang="zh-CN" altLang="en-US" dirty="0"/>
              <a:t>陈西</a:t>
            </a:r>
            <a:r>
              <a:rPr lang="en-US" altLang="zh-CN" dirty="0"/>
              <a:t>】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8DC73D-7D82-4CC4-9352-9FD0125D91E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公众号：陈西设计之家。微信搜索即可。更多免费</a:t>
            </a:r>
            <a:r>
              <a:rPr lang="en-US" altLang="zh-CN" dirty="0"/>
              <a:t>PPT</a:t>
            </a:r>
            <a:r>
              <a:rPr lang="zh-CN" altLang="en-US" dirty="0"/>
              <a:t>模版教程等都可以在公众号内获取。</a:t>
            </a:r>
            <a:r>
              <a:rPr lang="en-US" altLang="zh-CN" dirty="0"/>
              <a:t>PPT</a:t>
            </a:r>
            <a:r>
              <a:rPr lang="zh-CN" altLang="en-US" dirty="0"/>
              <a:t>高端定制</a:t>
            </a:r>
            <a:r>
              <a:rPr lang="en-US" altLang="zh-CN" dirty="0"/>
              <a:t>/</a:t>
            </a:r>
            <a:r>
              <a:rPr lang="zh-CN" altLang="en-US" dirty="0"/>
              <a:t>发布会</a:t>
            </a:r>
            <a:r>
              <a:rPr lang="en-US" altLang="zh-CN" dirty="0"/>
              <a:t>PPT</a:t>
            </a:r>
            <a:r>
              <a:rPr lang="zh-CN" altLang="en-US" dirty="0"/>
              <a:t>设计微信：</a:t>
            </a:r>
            <a:r>
              <a:rPr lang="en-US" altLang="zh-CN" dirty="0"/>
              <a:t>2090298045【</a:t>
            </a:r>
            <a:r>
              <a:rPr lang="zh-CN" altLang="en-US" dirty="0"/>
              <a:t>陈西</a:t>
            </a:r>
            <a:r>
              <a:rPr lang="en-US" altLang="zh-CN" dirty="0"/>
              <a:t>】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8DC73D-7D82-4CC4-9352-9FD0125D91E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公众号：陈西设计之家。微信搜索即可。更多免费</a:t>
            </a:r>
            <a:r>
              <a:rPr lang="en-US" altLang="zh-CN" dirty="0"/>
              <a:t>PPT</a:t>
            </a:r>
            <a:r>
              <a:rPr lang="zh-CN" altLang="en-US" dirty="0"/>
              <a:t>模版教程等都可以在公众号内获取。</a:t>
            </a:r>
            <a:r>
              <a:rPr lang="en-US" altLang="zh-CN" dirty="0"/>
              <a:t>PPT</a:t>
            </a:r>
            <a:r>
              <a:rPr lang="zh-CN" altLang="en-US" dirty="0"/>
              <a:t>高端定制</a:t>
            </a:r>
            <a:r>
              <a:rPr lang="en-US" altLang="zh-CN" dirty="0"/>
              <a:t>/</a:t>
            </a:r>
            <a:r>
              <a:rPr lang="zh-CN" altLang="en-US" dirty="0"/>
              <a:t>发布会</a:t>
            </a:r>
            <a:r>
              <a:rPr lang="en-US" altLang="zh-CN" dirty="0"/>
              <a:t>PPT</a:t>
            </a:r>
            <a:r>
              <a:rPr lang="zh-CN" altLang="en-US" dirty="0"/>
              <a:t>设计微信：</a:t>
            </a:r>
            <a:r>
              <a:rPr lang="en-US" altLang="zh-CN" dirty="0"/>
              <a:t>2090298045【</a:t>
            </a:r>
            <a:r>
              <a:rPr lang="zh-CN" altLang="en-US" dirty="0"/>
              <a:t>陈西</a:t>
            </a:r>
            <a:r>
              <a:rPr lang="en-US" altLang="zh-CN" dirty="0"/>
              <a:t>】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8DC73D-7D82-4CC4-9352-9FD0125D91E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公众号：陈西设计之家。微信搜索即可。更多免费</a:t>
            </a:r>
            <a:r>
              <a:rPr lang="en-US" altLang="zh-CN" dirty="0"/>
              <a:t>PPT</a:t>
            </a:r>
            <a:r>
              <a:rPr lang="zh-CN" altLang="en-US" dirty="0"/>
              <a:t>模版教程等都可以在公众号内获取。</a:t>
            </a:r>
            <a:r>
              <a:rPr lang="en-US" altLang="zh-CN" dirty="0"/>
              <a:t>PPT</a:t>
            </a:r>
            <a:r>
              <a:rPr lang="zh-CN" altLang="en-US" dirty="0"/>
              <a:t>高端定制</a:t>
            </a:r>
            <a:r>
              <a:rPr lang="en-US" altLang="zh-CN" dirty="0"/>
              <a:t>/</a:t>
            </a:r>
            <a:r>
              <a:rPr lang="zh-CN" altLang="en-US" dirty="0"/>
              <a:t>发布会</a:t>
            </a:r>
            <a:r>
              <a:rPr lang="en-US" altLang="zh-CN" dirty="0"/>
              <a:t>PPT</a:t>
            </a:r>
            <a:r>
              <a:rPr lang="zh-CN" altLang="en-US" dirty="0"/>
              <a:t>设计微信：</a:t>
            </a:r>
            <a:r>
              <a:rPr lang="en-US" altLang="zh-CN" dirty="0"/>
              <a:t>2090298045【</a:t>
            </a:r>
            <a:r>
              <a:rPr lang="zh-CN" altLang="en-US" dirty="0"/>
              <a:t>陈西</a:t>
            </a:r>
            <a:r>
              <a:rPr lang="en-US" altLang="zh-CN" dirty="0"/>
              <a:t>】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8DC73D-7D82-4CC4-9352-9FD0125D91E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8D1CA-CFD4-4441-9941-76CB3DA5BB9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0DFCF-B22A-CE43-8FEE-53091E4C051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雪地里走&#10;&#10;描述已自动生成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0" y="1219"/>
            <a:ext cx="12192000" cy="6856781"/>
          </a:xfrm>
          <a:prstGeom prst="rect">
            <a:avLst/>
          </a:prstGeom>
          <a:gradFill>
            <a:gsLst>
              <a:gs pos="0">
                <a:srgbClr val="00A3FE"/>
              </a:gs>
              <a:gs pos="100000">
                <a:srgbClr val="0086CE"/>
              </a:gs>
            </a:gsLst>
            <a:lin ang="2700000" scaled="1"/>
          </a:gradFill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8D1CA-CFD4-4441-9941-76CB3DA5BB9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0DFCF-B22A-CE43-8FEE-53091E4C051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8D1CA-CFD4-4441-9941-76CB3DA5BB9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0DFCF-B22A-CE43-8FEE-53091E4C051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8D1CA-CFD4-4441-9941-76CB3DA5BB9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0DFCF-B22A-CE43-8FEE-53091E4C051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8D1CA-CFD4-4441-9941-76CB3DA5BB9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0DFCF-B22A-CE43-8FEE-53091E4C051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8D1CA-CFD4-4441-9941-76CB3DA5BB9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0DFCF-B22A-CE43-8FEE-53091E4C051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8D1CA-CFD4-4441-9941-76CB3DA5BB9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0DFCF-B22A-CE43-8FEE-53091E4C051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8D1CA-CFD4-4441-9941-76CB3DA5BB9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0DFCF-B22A-CE43-8FEE-53091E4C051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8D1CA-CFD4-4441-9941-76CB3DA5BB9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0DFCF-B22A-CE43-8FEE-53091E4C051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8D1CA-CFD4-4441-9941-76CB3DA5BB9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0DFCF-B22A-CE43-8FEE-53091E4C051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8D1CA-CFD4-4441-9941-76CB3DA5BB9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0DFCF-B22A-CE43-8FEE-53091E4C051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  <a:p>
            <a:pPr lvl="1"/>
            <a:r>
              <a:rPr kumimoji="1" lang="zh-CN" altLang="en-US" dirty="0"/>
              <a:t>二级</a:t>
            </a:r>
            <a:endParaRPr kumimoji="1" lang="zh-CN" altLang="en-US" dirty="0"/>
          </a:p>
          <a:p>
            <a:pPr lvl="2"/>
            <a:r>
              <a:rPr kumimoji="1" lang="zh-CN" altLang="en-US" dirty="0"/>
              <a:t>三级</a:t>
            </a:r>
            <a:endParaRPr kumimoji="1" lang="zh-CN" altLang="en-US" dirty="0"/>
          </a:p>
          <a:p>
            <a:pPr lvl="3"/>
            <a:r>
              <a:rPr kumimoji="1" lang="zh-CN" altLang="en-US" dirty="0"/>
              <a:t>四级</a:t>
            </a:r>
            <a:endParaRPr kumimoji="1" lang="zh-CN" altLang="en-US" dirty="0"/>
          </a:p>
          <a:p>
            <a:pPr lvl="4"/>
            <a:r>
              <a:rPr kumimoji="1" lang="zh-CN" altLang="en-US" dirty="0"/>
              <a:t>五级</a:t>
            </a:r>
            <a:endParaRPr kumimoji="1"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E938D1CA-CFD4-4441-9941-76CB3DA5BB93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19C0DFCF-B22A-CE43-8FEE-53091E4C0514}" type="slidenum">
              <a:rPr kumimoji="1" lang="zh-CN" altLang="en-US" smtClean="0"/>
            </a:fld>
            <a:endParaRPr kumimoji="1"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4.xml"/><Relationship Id="rId8" Type="http://schemas.openxmlformats.org/officeDocument/2006/relationships/tags" Target="../tags/tag3.xml"/><Relationship Id="rId7" Type="http://schemas.openxmlformats.org/officeDocument/2006/relationships/tags" Target="../tags/tag2.xml"/><Relationship Id="rId6" Type="http://schemas.openxmlformats.org/officeDocument/2006/relationships/tags" Target="../tags/tag1.xml"/><Relationship Id="rId5" Type="http://schemas.openxmlformats.org/officeDocument/2006/relationships/image" Target="../media/image9.png"/><Relationship Id="rId4" Type="http://schemas.microsoft.com/office/2007/relationships/hdphoto" Target="../media/image8.wdp"/><Relationship Id="rId3" Type="http://schemas.openxmlformats.org/officeDocument/2006/relationships/image" Target="../media/image7.png"/><Relationship Id="rId22" Type="http://schemas.openxmlformats.org/officeDocument/2006/relationships/slideLayout" Target="../slideLayouts/slideLayout7.xml"/><Relationship Id="rId21" Type="http://schemas.openxmlformats.org/officeDocument/2006/relationships/tags" Target="../tags/tag16.xml"/><Relationship Id="rId20" Type="http://schemas.openxmlformats.org/officeDocument/2006/relationships/tags" Target="../tags/tag15.xml"/><Relationship Id="rId2" Type="http://schemas.microsoft.com/office/2007/relationships/hdphoto" Target="../media/image6.wdp"/><Relationship Id="rId19" Type="http://schemas.openxmlformats.org/officeDocument/2006/relationships/tags" Target="../tags/tag14.xml"/><Relationship Id="rId18" Type="http://schemas.openxmlformats.org/officeDocument/2006/relationships/tags" Target="../tags/tag13.xml"/><Relationship Id="rId17" Type="http://schemas.openxmlformats.org/officeDocument/2006/relationships/tags" Target="../tags/tag12.xml"/><Relationship Id="rId16" Type="http://schemas.openxmlformats.org/officeDocument/2006/relationships/tags" Target="../tags/tag11.xml"/><Relationship Id="rId15" Type="http://schemas.openxmlformats.org/officeDocument/2006/relationships/tags" Target="../tags/tag10.xml"/><Relationship Id="rId14" Type="http://schemas.openxmlformats.org/officeDocument/2006/relationships/tags" Target="../tags/tag9.xml"/><Relationship Id="rId13" Type="http://schemas.openxmlformats.org/officeDocument/2006/relationships/tags" Target="../tags/tag8.xml"/><Relationship Id="rId12" Type="http://schemas.openxmlformats.org/officeDocument/2006/relationships/tags" Target="../tags/tag7.xml"/><Relationship Id="rId11" Type="http://schemas.openxmlformats.org/officeDocument/2006/relationships/tags" Target="../tags/tag6.xml"/><Relationship Id="rId10" Type="http://schemas.openxmlformats.org/officeDocument/2006/relationships/tags" Target="../tags/tag5.xml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17.xml"/><Relationship Id="rId4" Type="http://schemas.openxmlformats.org/officeDocument/2006/relationships/image" Target="../media/image9.png"/><Relationship Id="rId3" Type="http://schemas.openxmlformats.org/officeDocument/2006/relationships/image" Target="../media/image10.jpeg"/><Relationship Id="rId2" Type="http://schemas.microsoft.com/office/2007/relationships/hdphoto" Target="../media/image6.wdp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18.xml"/><Relationship Id="rId4" Type="http://schemas.openxmlformats.org/officeDocument/2006/relationships/image" Target="../media/image9.png"/><Relationship Id="rId3" Type="http://schemas.openxmlformats.org/officeDocument/2006/relationships/image" Target="../media/image13.jpeg"/><Relationship Id="rId2" Type="http://schemas.microsoft.com/office/2007/relationships/hdphoto" Target="../media/image6.wdp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7.xml"/><Relationship Id="rId6" Type="http://schemas.openxmlformats.org/officeDocument/2006/relationships/tags" Target="../tags/tag19.xml"/><Relationship Id="rId5" Type="http://schemas.openxmlformats.org/officeDocument/2006/relationships/image" Target="../media/image9.png"/><Relationship Id="rId4" Type="http://schemas.microsoft.com/office/2007/relationships/hdphoto" Target="../media/image17.wdp"/><Relationship Id="rId3" Type="http://schemas.openxmlformats.org/officeDocument/2006/relationships/image" Target="../media/image16.png"/><Relationship Id="rId2" Type="http://schemas.microsoft.com/office/2007/relationships/hdphoto" Target="../media/image6.wdp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20.xml"/><Relationship Id="rId4" Type="http://schemas.openxmlformats.org/officeDocument/2006/relationships/image" Target="../media/image9.png"/><Relationship Id="rId3" Type="http://schemas.openxmlformats.org/officeDocument/2006/relationships/image" Target="../media/image21.jpeg"/><Relationship Id="rId2" Type="http://schemas.microsoft.com/office/2007/relationships/hdphoto" Target="../media/image6.wdp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2.png"/><Relationship Id="rId3" Type="http://schemas.microsoft.com/office/2007/relationships/media" Target="../media/media1.mp4"/><Relationship Id="rId2" Type="http://schemas.openxmlformats.org/officeDocument/2006/relationships/video" Target="../media/media1.mp4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1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21.xml"/><Relationship Id="rId4" Type="http://schemas.openxmlformats.org/officeDocument/2006/relationships/image" Target="../media/image9.png"/><Relationship Id="rId3" Type="http://schemas.openxmlformats.org/officeDocument/2006/relationships/image" Target="../media/image21.jpeg"/><Relationship Id="rId2" Type="http://schemas.microsoft.com/office/2007/relationships/hdphoto" Target="../media/image6.wdp"/><Relationship Id="rId1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1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743200" y="6451005"/>
            <a:ext cx="6705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spc="300" dirty="0">
                <a:solidFill>
                  <a:srgbClr val="1D54B1">
                    <a:alpha val="50670"/>
                  </a:srgb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竢实扬华 自强不息 </a:t>
            </a:r>
            <a:endParaRPr lang="zh-CN" altLang="en-US" sz="1400" spc="300" dirty="0">
              <a:solidFill>
                <a:srgbClr val="1D54B1">
                  <a:alpha val="50670"/>
                </a:srgb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4447805" y="725880"/>
            <a:ext cx="3296388" cy="946061"/>
            <a:chOff x="4227156" y="597288"/>
            <a:chExt cx="3296388" cy="946061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 rotWithShape="1">
            <a:blip r:embed="rId2" cstate="screen">
              <a:biLevel thresh="25000"/>
            </a:blip>
            <a:srcRect/>
            <a:stretch>
              <a:fillRect/>
            </a:stretch>
          </p:blipFill>
          <p:spPr>
            <a:xfrm>
              <a:off x="5107515" y="597288"/>
              <a:ext cx="2416029" cy="946061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 cstate="screen"/>
            <a:stretch>
              <a:fillRect/>
            </a:stretch>
          </p:blipFill>
          <p:spPr>
            <a:xfrm>
              <a:off x="4227156" y="681280"/>
              <a:ext cx="733098" cy="818626"/>
            </a:xfrm>
            <a:prstGeom prst="rect">
              <a:avLst/>
            </a:prstGeom>
          </p:spPr>
        </p:pic>
      </p:grpSp>
      <p:sp>
        <p:nvSpPr>
          <p:cNvPr id="10" name="文本框 9"/>
          <p:cNvSpPr txBox="1"/>
          <p:nvPr/>
        </p:nvSpPr>
        <p:spPr>
          <a:xfrm>
            <a:off x="694267" y="2756057"/>
            <a:ext cx="10803464" cy="483221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5600" b="1" i="0" u="none" strike="noStrike" kern="100" cap="none" spc="0" normalizeH="0" baseline="0" noProof="0" dirty="0">
                <a:ln>
                  <a:noFill/>
                </a:ln>
                <a:gradFill>
                  <a:gsLst>
                    <a:gs pos="100000">
                      <a:srgbClr val="BCE0F9"/>
                    </a:gs>
                    <a:gs pos="9000">
                      <a:schemeClr val="bg1"/>
                    </a:gs>
                  </a:gsLst>
                  <a:lin ang="0" scaled="0"/>
                </a:gradFill>
                <a:effectLst>
                  <a:outerShdw blurRad="127000" dist="38100" dir="2700000" sx="101000" sy="101000" algn="tl" rotWithShape="0">
                    <a:prstClr val="black">
                      <a:alpha val="45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交大论坛</a:t>
            </a:r>
            <a:r>
              <a:rPr kumimoji="0" lang="zh-CN" altLang="en-US" sz="5600" b="1" i="0" u="none" strike="noStrike" kern="100" cap="none" spc="0" normalizeH="0" baseline="0" noProof="0" dirty="0">
                <a:ln>
                  <a:noFill/>
                </a:ln>
                <a:gradFill>
                  <a:gsLst>
                    <a:gs pos="100000">
                      <a:srgbClr val="BCE0F9"/>
                    </a:gs>
                    <a:gs pos="9000">
                      <a:schemeClr val="bg1"/>
                    </a:gs>
                  </a:gsLst>
                  <a:lin ang="0" scaled="0"/>
                </a:gradFill>
                <a:effectLst>
                  <a:outerShdw blurRad="127000" dist="38100" dir="2700000" sx="101000" sy="101000" algn="tl" rotWithShape="0">
                    <a:prstClr val="black">
                      <a:alpha val="45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软件系统汇报</a:t>
            </a:r>
            <a:endParaRPr kumimoji="0" lang="zh-CN" altLang="en-US" sz="5600" b="1" i="0" u="none" strike="noStrike" kern="100" cap="none" spc="0" normalizeH="0" baseline="0" noProof="0" dirty="0">
              <a:ln>
                <a:noFill/>
              </a:ln>
              <a:gradFill>
                <a:gsLst>
                  <a:gs pos="100000">
                    <a:srgbClr val="BCE0F9"/>
                  </a:gs>
                  <a:gs pos="9000">
                    <a:schemeClr val="bg1"/>
                  </a:gs>
                </a:gsLst>
                <a:lin ang="0" scaled="0"/>
              </a:gradFill>
              <a:effectLst>
                <a:outerShdw blurRad="127000" dist="38100" dir="2700000" sx="101000" sy="101000" algn="tl" rotWithShape="0">
                  <a:prstClr val="black">
                    <a:alpha val="45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039533" y="5221463"/>
            <a:ext cx="6112932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b="0" i="0" u="none" strike="noStrike" kern="120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2026</a:t>
            </a:r>
            <a:r>
              <a:rPr kumimoji="0" lang="zh-CN" altLang="zh-CN" b="0" i="0" u="none" strike="noStrike" kern="120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年</a:t>
            </a:r>
            <a:r>
              <a:rPr kumimoji="0" lang="en-US" altLang="zh-CN" b="0" i="0" u="none" strike="noStrike" kern="120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6</a:t>
            </a:r>
            <a:r>
              <a:rPr kumimoji="0" lang="zh-CN" altLang="zh-CN" b="0" i="0" u="none" strike="noStrike" kern="120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月</a:t>
            </a:r>
            <a:r>
              <a:rPr kumimoji="0" lang="zh-CN" altLang="zh-CN" b="0" i="0" u="none" strike="noStrike" kern="120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endParaRPr kumimoji="0" lang="zh-CN" altLang="en-US" b="0" i="0" u="none" strike="noStrike" kern="1200" cap="none" spc="30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039533" y="4202176"/>
            <a:ext cx="61129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汇报人：</a:t>
            </a: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程泽凯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056467" y="4804355"/>
            <a:ext cx="6112932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组员：程泽凯、赵祺、金井直、蒋</a:t>
            </a:r>
            <a:r>
              <a:rPr kumimoji="0" lang="zh-CN" altLang="en-US" sz="1600" b="0" i="0" u="none" strike="noStrike" kern="120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焰</a:t>
            </a:r>
            <a:endParaRPr kumimoji="0" lang="zh-CN" altLang="en-US" sz="1600" b="0" i="0" u="none" strike="noStrike" kern="1200" cap="none" spc="30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矩形 67"/>
          <p:cNvSpPr/>
          <p:nvPr/>
        </p:nvSpPr>
        <p:spPr>
          <a:xfrm>
            <a:off x="0" y="893"/>
            <a:ext cx="12191207" cy="6857107"/>
          </a:xfrm>
          <a:prstGeom prst="rect">
            <a:avLst/>
          </a:prstGeom>
          <a:gradFill flip="none" rotWithShape="1">
            <a:gsLst>
              <a:gs pos="51000">
                <a:srgbClr val="308FF0">
                  <a:lumMod val="10000"/>
                  <a:lumOff val="90000"/>
                  <a:alpha val="95091"/>
                </a:srgbClr>
              </a:gs>
              <a:gs pos="0">
                <a:srgbClr val="308FF0">
                  <a:lumMod val="20000"/>
                  <a:lumOff val="80000"/>
                  <a:alpha val="74000"/>
                </a:srgbClr>
              </a:gs>
              <a:gs pos="100000">
                <a:srgbClr val="E9ECFC"/>
              </a:gs>
            </a:gsLst>
            <a:lin ang="27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OPPOSans R" pitchFamily="18" charset="-122"/>
              <a:cs typeface="+mn-cs"/>
              <a:sym typeface="+mn-lt"/>
            </a:endParaRPr>
          </a:p>
        </p:txBody>
      </p:sp>
      <p:sp>
        <p:nvSpPr>
          <p:cNvPr id="24" name="矩形 23"/>
          <p:cNvSpPr/>
          <p:nvPr/>
        </p:nvSpPr>
        <p:spPr>
          <a:xfrm flipH="1">
            <a:off x="-2" y="5177971"/>
            <a:ext cx="12191683" cy="1679581"/>
          </a:xfrm>
          <a:prstGeom prst="rect">
            <a:avLst/>
          </a:prstGeom>
          <a:gradFill>
            <a:gsLst>
              <a:gs pos="100000">
                <a:srgbClr val="0070C0">
                  <a:alpha val="96000"/>
                </a:srgbClr>
              </a:gs>
              <a:gs pos="49000">
                <a:srgbClr val="3354B5">
                  <a:alpha val="90000"/>
                </a:srgbClr>
              </a:gs>
              <a:gs pos="0">
                <a:srgbClr val="361F97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OPPOSans R" pitchFamily="18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alphaModFix amt="95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 r="44004" b="49240"/>
          <a:stretch>
            <a:fillRect/>
          </a:stretch>
        </p:blipFill>
        <p:spPr>
          <a:xfrm flipV="1">
            <a:off x="1" y="-7"/>
            <a:ext cx="12191998" cy="3747395"/>
          </a:xfrm>
          <a:custGeom>
            <a:avLst/>
            <a:gdLst>
              <a:gd name="connsiteX0" fmla="*/ 0 w 12192000"/>
              <a:gd name="connsiteY0" fmla="*/ 2558508 h 2558508"/>
              <a:gd name="connsiteX1" fmla="*/ 12192000 w 12192000"/>
              <a:gd name="connsiteY1" fmla="*/ 2558508 h 2558508"/>
              <a:gd name="connsiteX2" fmla="*/ 12192000 w 12192000"/>
              <a:gd name="connsiteY2" fmla="*/ 0 h 2558508"/>
              <a:gd name="connsiteX3" fmla="*/ 0 w 12192000"/>
              <a:gd name="connsiteY3" fmla="*/ 0 h 2558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558508">
                <a:moveTo>
                  <a:pt x="0" y="2558508"/>
                </a:moveTo>
                <a:lnTo>
                  <a:pt x="12192000" y="2558508"/>
                </a:lnTo>
                <a:lnTo>
                  <a:pt x="12192000" y="0"/>
                </a:lnTo>
                <a:lnTo>
                  <a:pt x="0" y="0"/>
                </a:lnTo>
                <a:close/>
              </a:path>
            </a:pathLst>
          </a:custGeom>
        </p:spPr>
      </p:pic>
      <p:grpSp>
        <p:nvGrpSpPr>
          <p:cNvPr id="7" name="组合 6"/>
          <p:cNvGrpSpPr/>
          <p:nvPr/>
        </p:nvGrpSpPr>
        <p:grpSpPr>
          <a:xfrm>
            <a:off x="7173685" y="2287365"/>
            <a:ext cx="5017521" cy="4560428"/>
            <a:chOff x="7173685" y="2287365"/>
            <a:chExt cx="5017521" cy="4560428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5900"/>
                      </a14:imgEffect>
                      <a14:imgEffect>
                        <a14:sharpenSoften amount="2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817"/>
            <a:stretch>
              <a:fillRect/>
            </a:stretch>
          </p:blipFill>
          <p:spPr>
            <a:xfrm>
              <a:off x="7173685" y="2287365"/>
              <a:ext cx="5017521" cy="4560428"/>
            </a:xfrm>
            <a:prstGeom prst="rect">
              <a:avLst/>
            </a:prstGeom>
          </p:spPr>
        </p:pic>
        <p:sp>
          <p:nvSpPr>
            <p:cNvPr id="13" name="椭圆 12"/>
            <p:cNvSpPr/>
            <p:nvPr/>
          </p:nvSpPr>
          <p:spPr>
            <a:xfrm>
              <a:off x="9458326" y="2543175"/>
              <a:ext cx="1343025" cy="134302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70" name="组合 69"/>
          <p:cNvGrpSpPr/>
          <p:nvPr/>
        </p:nvGrpSpPr>
        <p:grpSpPr>
          <a:xfrm flipH="1">
            <a:off x="1439335" y="5603542"/>
            <a:ext cx="1443439" cy="671186"/>
            <a:chOff x="7979568" y="6473576"/>
            <a:chExt cx="1443627" cy="671273"/>
          </a:xfrm>
          <a:gradFill>
            <a:gsLst>
              <a:gs pos="0">
                <a:srgbClr val="308FF0"/>
              </a:gs>
              <a:gs pos="78000">
                <a:srgbClr val="308FF0">
                  <a:lumMod val="20000"/>
                  <a:lumOff val="80000"/>
                </a:srgbClr>
              </a:gs>
            </a:gsLst>
            <a:lin ang="0" scaled="0"/>
          </a:gradFill>
        </p:grpSpPr>
        <p:grpSp>
          <p:nvGrpSpPr>
            <p:cNvPr id="71" name="组合 70"/>
            <p:cNvGrpSpPr/>
            <p:nvPr/>
          </p:nvGrpSpPr>
          <p:grpSpPr>
            <a:xfrm>
              <a:off x="7979568" y="6473576"/>
              <a:ext cx="1443627" cy="66923"/>
              <a:chOff x="7979568" y="6473576"/>
              <a:chExt cx="1443627" cy="66923"/>
            </a:xfrm>
            <a:grpFill/>
          </p:grpSpPr>
          <p:sp>
            <p:nvSpPr>
              <p:cNvPr id="99" name="椭圆 98"/>
              <p:cNvSpPr/>
              <p:nvPr/>
            </p:nvSpPr>
            <p:spPr>
              <a:xfrm>
                <a:off x="7979568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100" name="椭圆 99"/>
              <p:cNvSpPr/>
              <p:nvPr/>
            </p:nvSpPr>
            <p:spPr>
              <a:xfrm>
                <a:off x="8176240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101" name="椭圆 100"/>
              <p:cNvSpPr/>
              <p:nvPr/>
            </p:nvSpPr>
            <p:spPr>
              <a:xfrm>
                <a:off x="8372912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102" name="椭圆 101"/>
              <p:cNvSpPr/>
              <p:nvPr/>
            </p:nvSpPr>
            <p:spPr>
              <a:xfrm>
                <a:off x="8569584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103" name="椭圆 102"/>
              <p:cNvSpPr/>
              <p:nvPr/>
            </p:nvSpPr>
            <p:spPr>
              <a:xfrm>
                <a:off x="8766256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104" name="椭圆 103"/>
              <p:cNvSpPr/>
              <p:nvPr/>
            </p:nvSpPr>
            <p:spPr>
              <a:xfrm>
                <a:off x="8962928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105" name="椭圆 104"/>
              <p:cNvSpPr/>
              <p:nvPr/>
            </p:nvSpPr>
            <p:spPr>
              <a:xfrm>
                <a:off x="9159600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106" name="椭圆 105"/>
              <p:cNvSpPr/>
              <p:nvPr/>
            </p:nvSpPr>
            <p:spPr>
              <a:xfrm>
                <a:off x="9356272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</p:grpSp>
        <p:grpSp>
          <p:nvGrpSpPr>
            <p:cNvPr id="72" name="组合 71"/>
            <p:cNvGrpSpPr/>
            <p:nvPr/>
          </p:nvGrpSpPr>
          <p:grpSpPr>
            <a:xfrm>
              <a:off x="7979568" y="6675026"/>
              <a:ext cx="1443627" cy="66923"/>
              <a:chOff x="7979568" y="6473576"/>
              <a:chExt cx="1443627" cy="66923"/>
            </a:xfrm>
            <a:grpFill/>
          </p:grpSpPr>
          <p:sp>
            <p:nvSpPr>
              <p:cNvPr id="91" name="椭圆 90"/>
              <p:cNvSpPr/>
              <p:nvPr/>
            </p:nvSpPr>
            <p:spPr>
              <a:xfrm>
                <a:off x="7979568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92" name="椭圆 91"/>
              <p:cNvSpPr/>
              <p:nvPr/>
            </p:nvSpPr>
            <p:spPr>
              <a:xfrm>
                <a:off x="8176240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93" name="椭圆 92"/>
              <p:cNvSpPr/>
              <p:nvPr/>
            </p:nvSpPr>
            <p:spPr>
              <a:xfrm>
                <a:off x="8372912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94" name="椭圆 93"/>
              <p:cNvSpPr/>
              <p:nvPr/>
            </p:nvSpPr>
            <p:spPr>
              <a:xfrm>
                <a:off x="8569584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95" name="椭圆 94"/>
              <p:cNvSpPr/>
              <p:nvPr/>
            </p:nvSpPr>
            <p:spPr>
              <a:xfrm>
                <a:off x="8766256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96" name="椭圆 95"/>
              <p:cNvSpPr/>
              <p:nvPr/>
            </p:nvSpPr>
            <p:spPr>
              <a:xfrm>
                <a:off x="8962928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97" name="椭圆 96"/>
              <p:cNvSpPr/>
              <p:nvPr/>
            </p:nvSpPr>
            <p:spPr>
              <a:xfrm>
                <a:off x="9159600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98" name="椭圆 97"/>
              <p:cNvSpPr/>
              <p:nvPr/>
            </p:nvSpPr>
            <p:spPr>
              <a:xfrm>
                <a:off x="9356272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</p:grpSp>
        <p:grpSp>
          <p:nvGrpSpPr>
            <p:cNvPr id="73" name="组合 72"/>
            <p:cNvGrpSpPr/>
            <p:nvPr/>
          </p:nvGrpSpPr>
          <p:grpSpPr>
            <a:xfrm>
              <a:off x="7979568" y="6876476"/>
              <a:ext cx="1443627" cy="66923"/>
              <a:chOff x="7979568" y="6473576"/>
              <a:chExt cx="1443627" cy="66923"/>
            </a:xfrm>
            <a:grpFill/>
          </p:grpSpPr>
          <p:sp>
            <p:nvSpPr>
              <p:cNvPr id="83" name="椭圆 82"/>
              <p:cNvSpPr/>
              <p:nvPr/>
            </p:nvSpPr>
            <p:spPr>
              <a:xfrm>
                <a:off x="7979568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84" name="椭圆 83"/>
              <p:cNvSpPr/>
              <p:nvPr/>
            </p:nvSpPr>
            <p:spPr>
              <a:xfrm>
                <a:off x="8176240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85" name="椭圆 84"/>
              <p:cNvSpPr/>
              <p:nvPr/>
            </p:nvSpPr>
            <p:spPr>
              <a:xfrm>
                <a:off x="8372912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86" name="椭圆 85"/>
              <p:cNvSpPr/>
              <p:nvPr/>
            </p:nvSpPr>
            <p:spPr>
              <a:xfrm>
                <a:off x="8569584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87" name="椭圆 86"/>
              <p:cNvSpPr/>
              <p:nvPr/>
            </p:nvSpPr>
            <p:spPr>
              <a:xfrm>
                <a:off x="8766256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88" name="椭圆 87"/>
              <p:cNvSpPr/>
              <p:nvPr/>
            </p:nvSpPr>
            <p:spPr>
              <a:xfrm>
                <a:off x="8962928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89" name="椭圆 88"/>
              <p:cNvSpPr/>
              <p:nvPr/>
            </p:nvSpPr>
            <p:spPr>
              <a:xfrm>
                <a:off x="9159600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90" name="椭圆 89"/>
              <p:cNvSpPr/>
              <p:nvPr/>
            </p:nvSpPr>
            <p:spPr>
              <a:xfrm>
                <a:off x="9356272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</p:grpSp>
        <p:grpSp>
          <p:nvGrpSpPr>
            <p:cNvPr id="74" name="组合 73"/>
            <p:cNvGrpSpPr/>
            <p:nvPr/>
          </p:nvGrpSpPr>
          <p:grpSpPr>
            <a:xfrm>
              <a:off x="7979568" y="7077926"/>
              <a:ext cx="1443627" cy="66923"/>
              <a:chOff x="7979568" y="6473576"/>
              <a:chExt cx="1443627" cy="66923"/>
            </a:xfrm>
            <a:grpFill/>
          </p:grpSpPr>
          <p:sp>
            <p:nvSpPr>
              <p:cNvPr id="75" name="椭圆 74"/>
              <p:cNvSpPr/>
              <p:nvPr/>
            </p:nvSpPr>
            <p:spPr>
              <a:xfrm>
                <a:off x="7979568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76" name="椭圆 75"/>
              <p:cNvSpPr/>
              <p:nvPr/>
            </p:nvSpPr>
            <p:spPr>
              <a:xfrm>
                <a:off x="8176240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77" name="椭圆 76"/>
              <p:cNvSpPr/>
              <p:nvPr/>
            </p:nvSpPr>
            <p:spPr>
              <a:xfrm>
                <a:off x="8372912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78" name="椭圆 77"/>
              <p:cNvSpPr/>
              <p:nvPr/>
            </p:nvSpPr>
            <p:spPr>
              <a:xfrm>
                <a:off x="8569584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79" name="椭圆 78"/>
              <p:cNvSpPr/>
              <p:nvPr/>
            </p:nvSpPr>
            <p:spPr>
              <a:xfrm>
                <a:off x="8766256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80" name="椭圆 79"/>
              <p:cNvSpPr/>
              <p:nvPr/>
            </p:nvSpPr>
            <p:spPr>
              <a:xfrm>
                <a:off x="8962928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81" name="椭圆 80"/>
              <p:cNvSpPr/>
              <p:nvPr/>
            </p:nvSpPr>
            <p:spPr>
              <a:xfrm>
                <a:off x="9159600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82" name="椭圆 81"/>
              <p:cNvSpPr/>
              <p:nvPr/>
            </p:nvSpPr>
            <p:spPr>
              <a:xfrm>
                <a:off x="9356272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</p:grpSp>
      </p:grpSp>
      <p:sp>
        <p:nvSpPr>
          <p:cNvPr id="9" name="išľïḋé"/>
          <p:cNvSpPr txBox="1"/>
          <p:nvPr/>
        </p:nvSpPr>
        <p:spPr>
          <a:xfrm>
            <a:off x="8185273" y="701727"/>
            <a:ext cx="2099270" cy="18243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32A1"/>
                </a:solidFill>
                <a:effectLst/>
                <a:uLnTx/>
                <a:uFillTx/>
                <a:latin typeface="Arial" panose="020B0604020202020204"/>
                <a:ea typeface="OPPOSans B" panose="00020600040101010101" pitchFamily="18" charset="-122"/>
                <a:cs typeface="+mn-ea"/>
                <a:sym typeface="+mn-lt"/>
              </a:rPr>
              <a:t>目录</a:t>
            </a: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srgbClr val="0032A1"/>
              </a:solidFill>
              <a:effectLst/>
              <a:uLnTx/>
              <a:uFillTx/>
              <a:latin typeface="Arial" panose="020B0604020202020204"/>
              <a:ea typeface="OPPOSans B" panose="00020600040101010101" pitchFamily="18" charset="-122"/>
              <a:cs typeface="+mn-ea"/>
              <a:sym typeface="+mn-lt"/>
            </a:endParaRPr>
          </a:p>
          <a:p>
            <a:pPr marL="0" marR="0" lvl="0" indent="0" algn="di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tr-TR" sz="2400" i="0" u="none" strike="noStrike" kern="1200" cap="none" spc="0" normalizeH="0" baseline="0" noProof="0" dirty="0">
                <a:ln>
                  <a:noFill/>
                </a:ln>
                <a:solidFill>
                  <a:srgbClr val="0032A1"/>
                </a:solidFill>
                <a:effectLst/>
                <a:uLnTx/>
                <a:uFillTx/>
                <a:latin typeface="Arial" panose="020B0604020202020204"/>
                <a:ea typeface="OPPOSans B" panose="00020600040101010101" pitchFamily="18" charset="-122"/>
                <a:cs typeface="+mn-ea"/>
                <a:sym typeface="+mn-lt"/>
              </a:rPr>
              <a:t>CONT</a:t>
            </a:r>
            <a:r>
              <a:rPr kumimoji="0" lang="tr-TR" sz="200" i="0" u="none" strike="noStrike" kern="1200" cap="none" spc="0" normalizeH="0" baseline="0" noProof="0" dirty="0">
                <a:ln>
                  <a:noFill/>
                </a:ln>
                <a:solidFill>
                  <a:srgbClr val="0032A1"/>
                </a:solidFill>
                <a:effectLst/>
                <a:uLnTx/>
                <a:uFillTx/>
                <a:latin typeface="Arial" panose="020B0604020202020204"/>
                <a:ea typeface="OPPOSans B" panose="00020600040101010101" pitchFamily="18" charset="-122"/>
                <a:cs typeface="+mn-ea"/>
                <a:sym typeface="+mn-lt"/>
              </a:rPr>
              <a:t> </a:t>
            </a:r>
            <a:r>
              <a:rPr kumimoji="0" lang="tr-TR" sz="2400" i="0" u="none" strike="noStrike" kern="1200" cap="none" spc="0" normalizeH="0" baseline="0" noProof="0" dirty="0">
                <a:ln>
                  <a:noFill/>
                </a:ln>
                <a:solidFill>
                  <a:srgbClr val="0032A1"/>
                </a:solidFill>
                <a:effectLst/>
                <a:uLnTx/>
                <a:uFillTx/>
                <a:latin typeface="Arial" panose="020B0604020202020204"/>
                <a:ea typeface="OPPOSans B" panose="00020600040101010101" pitchFamily="18" charset="-122"/>
                <a:cs typeface="+mn-ea"/>
                <a:sym typeface="+mn-lt"/>
              </a:rPr>
              <a:t>ENTS</a:t>
            </a:r>
            <a:endParaRPr kumimoji="0" lang="tr-TR" sz="2400" i="0" u="none" strike="noStrike" kern="1200" cap="none" spc="0" normalizeH="0" baseline="0" noProof="0" dirty="0">
              <a:ln>
                <a:noFill/>
              </a:ln>
              <a:solidFill>
                <a:srgbClr val="0032A1"/>
              </a:solidFill>
              <a:effectLst/>
              <a:uLnTx/>
              <a:uFillTx/>
              <a:latin typeface="Arial" panose="020B0604020202020204"/>
              <a:ea typeface="OPPOSans B" panose="00020600040101010101" pitchFamily="18" charset="-122"/>
              <a:cs typeface="+mn-ea"/>
              <a:sym typeface="+mn-lt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5" cstate="screen"/>
          <a:stretch>
            <a:fillRect/>
          </a:stretch>
        </p:blipFill>
        <p:spPr>
          <a:xfrm>
            <a:off x="11286756" y="298037"/>
            <a:ext cx="594505" cy="663864"/>
          </a:xfrm>
          <a:prstGeom prst="rect">
            <a:avLst/>
          </a:prstGeom>
        </p:spPr>
      </p:pic>
      <p:grpSp>
        <p:nvGrpSpPr>
          <p:cNvPr id="6" name="组合 5"/>
          <p:cNvGrpSpPr/>
          <p:nvPr>
            <p:custDataLst>
              <p:tags r:id="rId6"/>
            </p:custDataLst>
          </p:nvPr>
        </p:nvGrpSpPr>
        <p:grpSpPr>
          <a:xfrm>
            <a:off x="1344918" y="650970"/>
            <a:ext cx="5401731" cy="600650"/>
            <a:chOff x="1326910" y="1179226"/>
            <a:chExt cx="5401731" cy="600650"/>
          </a:xfrm>
        </p:grpSpPr>
        <p:sp>
          <p:nvSpPr>
            <p:cNvPr id="4" name="TextBox 6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2284572" y="1218411"/>
              <a:ext cx="4444069" cy="492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032A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lt"/>
                </a:rPr>
                <a:t>项目背景</a:t>
              </a: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032A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lt"/>
                </a:rPr>
                <a:t>介绍</a:t>
              </a:r>
              <a:endPara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32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5" name="矩形: 圆角 35"/>
            <p:cNvSpPr/>
            <p:nvPr>
              <p:custDataLst>
                <p:tags r:id="rId8"/>
              </p:custDataLst>
            </p:nvPr>
          </p:nvSpPr>
          <p:spPr>
            <a:xfrm>
              <a:off x="1326910" y="1179226"/>
              <a:ext cx="600650" cy="600650"/>
            </a:xfrm>
            <a:prstGeom prst="roundRect">
              <a:avLst>
                <a:gd name="adj" fmla="val 50000"/>
              </a:avLst>
            </a:prstGeom>
            <a:solidFill>
              <a:srgbClr val="0064D8">
                <a:alpha val="98000"/>
              </a:srgbClr>
            </a:solidFill>
            <a:ln>
              <a:noFill/>
            </a:ln>
            <a:effectLst>
              <a:outerShdw blurRad="342900" dist="254000" dir="2700000" algn="tl" rotWithShape="0">
                <a:srgbClr val="0064D8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思源宋体 CN Heavy" panose="02020900000000000000" pitchFamily="18" charset="-122"/>
                  <a:cs typeface="Times New Roman" panose="02020603050405020304" pitchFamily="18" charset="0"/>
                </a:rPr>
                <a:t>01</a:t>
              </a:r>
              <a:endParaRPr lang="zh-CN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" name="组合 17"/>
          <p:cNvGrpSpPr/>
          <p:nvPr>
            <p:custDataLst>
              <p:tags r:id="rId9"/>
            </p:custDataLst>
          </p:nvPr>
        </p:nvGrpSpPr>
        <p:grpSpPr>
          <a:xfrm>
            <a:off x="1355270" y="1459527"/>
            <a:ext cx="5387551" cy="600650"/>
            <a:chOff x="1341090" y="2175341"/>
            <a:chExt cx="5387551" cy="600650"/>
          </a:xfrm>
        </p:grpSpPr>
        <p:sp>
          <p:nvSpPr>
            <p:cNvPr id="14" name="矩形: 圆角 39"/>
            <p:cNvSpPr/>
            <p:nvPr>
              <p:custDataLst>
                <p:tags r:id="rId10"/>
              </p:custDataLst>
            </p:nvPr>
          </p:nvSpPr>
          <p:spPr>
            <a:xfrm>
              <a:off x="1341090" y="2175341"/>
              <a:ext cx="600650" cy="600650"/>
            </a:xfrm>
            <a:prstGeom prst="roundRect">
              <a:avLst>
                <a:gd name="adj" fmla="val 50000"/>
              </a:avLst>
            </a:prstGeom>
            <a:solidFill>
              <a:srgbClr val="0064D8">
                <a:alpha val="98000"/>
              </a:srgbClr>
            </a:solidFill>
            <a:ln>
              <a:noFill/>
            </a:ln>
            <a:effectLst>
              <a:outerShdw blurRad="342900" dist="254000" dir="2700000" algn="tl" rotWithShape="0">
                <a:srgbClr val="0064D8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02</a:t>
              </a:r>
              <a:endPara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TextBox 6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2284572" y="2218535"/>
              <a:ext cx="4444069" cy="492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zh-CN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032A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lt"/>
                </a:rPr>
                <a:t>软件需求</a:t>
              </a:r>
              <a:r>
                <a:rPr kumimoji="0" lang="zh-CN" altLang="zh-CN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032A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lt"/>
                </a:rPr>
                <a:t>分析</a:t>
              </a:r>
              <a:endParaRPr kumimoji="0" lang="zh-CN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32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</p:grpSp>
      <p:grpSp>
        <p:nvGrpSpPr>
          <p:cNvPr id="20" name="组合 19"/>
          <p:cNvGrpSpPr/>
          <p:nvPr>
            <p:custDataLst>
              <p:tags r:id="rId12"/>
            </p:custDataLst>
          </p:nvPr>
        </p:nvGrpSpPr>
        <p:grpSpPr>
          <a:xfrm>
            <a:off x="1341090" y="2312697"/>
            <a:ext cx="5387551" cy="600650"/>
            <a:chOff x="1341090" y="3171456"/>
            <a:chExt cx="5387551" cy="600650"/>
          </a:xfrm>
        </p:grpSpPr>
        <p:sp>
          <p:nvSpPr>
            <p:cNvPr id="16" name="矩形: 圆角 43"/>
            <p:cNvSpPr/>
            <p:nvPr>
              <p:custDataLst>
                <p:tags r:id="rId13"/>
              </p:custDataLst>
            </p:nvPr>
          </p:nvSpPr>
          <p:spPr>
            <a:xfrm>
              <a:off x="1341090" y="3171456"/>
              <a:ext cx="600650" cy="600650"/>
            </a:xfrm>
            <a:prstGeom prst="roundRect">
              <a:avLst>
                <a:gd name="adj" fmla="val 50000"/>
              </a:avLst>
            </a:prstGeom>
            <a:solidFill>
              <a:srgbClr val="0064D8">
                <a:alpha val="98000"/>
              </a:srgbClr>
            </a:solidFill>
            <a:ln>
              <a:noFill/>
            </a:ln>
            <a:effectLst>
              <a:outerShdw blurRad="342900" dist="254000" dir="2700000" algn="tl" rotWithShape="0">
                <a:srgbClr val="0064D8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03</a:t>
              </a:r>
              <a:endPara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TextBox 6"/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2284572" y="3218659"/>
              <a:ext cx="4444069" cy="492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032A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lt"/>
                </a:rPr>
                <a:t>系统总体</a:t>
              </a: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032A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lt"/>
                </a:rPr>
                <a:t>设计</a:t>
              </a:r>
              <a:endPara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32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</p:grpSp>
      <p:grpSp>
        <p:nvGrpSpPr>
          <p:cNvPr id="26" name="组合 25"/>
          <p:cNvGrpSpPr/>
          <p:nvPr>
            <p:custDataLst>
              <p:tags r:id="rId15"/>
            </p:custDataLst>
          </p:nvPr>
        </p:nvGrpSpPr>
        <p:grpSpPr>
          <a:xfrm>
            <a:off x="1355270" y="3166385"/>
            <a:ext cx="5387551" cy="600650"/>
            <a:chOff x="1341090" y="4167570"/>
            <a:chExt cx="5387551" cy="600650"/>
          </a:xfrm>
        </p:grpSpPr>
        <p:sp>
          <p:nvSpPr>
            <p:cNvPr id="27" name="矩形: 圆角 47"/>
            <p:cNvSpPr/>
            <p:nvPr>
              <p:custDataLst>
                <p:tags r:id="rId16"/>
              </p:custDataLst>
            </p:nvPr>
          </p:nvSpPr>
          <p:spPr>
            <a:xfrm>
              <a:off x="1341090" y="4167570"/>
              <a:ext cx="600650" cy="600650"/>
            </a:xfrm>
            <a:prstGeom prst="roundRect">
              <a:avLst>
                <a:gd name="adj" fmla="val 50000"/>
              </a:avLst>
            </a:prstGeom>
            <a:solidFill>
              <a:srgbClr val="0064D8">
                <a:alpha val="98000"/>
              </a:srgbClr>
            </a:solidFill>
            <a:ln>
              <a:noFill/>
            </a:ln>
            <a:effectLst>
              <a:outerShdw blurRad="342900" dist="254000" dir="2700000" algn="tl" rotWithShape="0">
                <a:srgbClr val="0064D8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04</a:t>
              </a:r>
              <a:endPara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TextBox 6"/>
            <p:cNvSpPr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2284572" y="4218783"/>
              <a:ext cx="4444069" cy="492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zh-CN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032A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lt"/>
                </a:rPr>
                <a:t>核心功能</a:t>
              </a:r>
              <a:r>
                <a:rPr kumimoji="0" lang="zh-CN" altLang="zh-CN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032A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lt"/>
                </a:rPr>
                <a:t>展示</a:t>
              </a:r>
              <a:endParaRPr kumimoji="0" lang="zh-CN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32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</p:grpSp>
      <p:grpSp>
        <p:nvGrpSpPr>
          <p:cNvPr id="29" name="组合 28"/>
          <p:cNvGrpSpPr/>
          <p:nvPr>
            <p:custDataLst>
              <p:tags r:id="rId18"/>
            </p:custDataLst>
          </p:nvPr>
        </p:nvGrpSpPr>
        <p:grpSpPr>
          <a:xfrm>
            <a:off x="1341090" y="4019555"/>
            <a:ext cx="3383280" cy="600650"/>
            <a:chOff x="1326910" y="1179226"/>
            <a:chExt cx="3383280" cy="600650"/>
          </a:xfrm>
        </p:grpSpPr>
        <p:sp>
          <p:nvSpPr>
            <p:cNvPr id="30" name="TextBox 6"/>
            <p:cNvSpPr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2284490" y="1218596"/>
              <a:ext cx="2425700" cy="492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032A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lt"/>
                </a:rPr>
                <a:t>总结与展望</a:t>
              </a:r>
              <a:endParaRPr kumimoji="0" lang="zh-CN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32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1" name="矩形: 圆角 35"/>
            <p:cNvSpPr/>
            <p:nvPr>
              <p:custDataLst>
                <p:tags r:id="rId20"/>
              </p:custDataLst>
            </p:nvPr>
          </p:nvSpPr>
          <p:spPr>
            <a:xfrm>
              <a:off x="1326910" y="1179226"/>
              <a:ext cx="600650" cy="600650"/>
            </a:xfrm>
            <a:prstGeom prst="roundRect">
              <a:avLst>
                <a:gd name="adj" fmla="val 50000"/>
              </a:avLst>
            </a:prstGeom>
            <a:solidFill>
              <a:srgbClr val="0064D8">
                <a:alpha val="98000"/>
              </a:srgbClr>
            </a:solidFill>
            <a:ln>
              <a:noFill/>
            </a:ln>
            <a:effectLst>
              <a:outerShdw blurRad="342900" dist="254000" dir="2700000" algn="tl" rotWithShape="0">
                <a:srgbClr val="0064D8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思源宋体 CN Heavy" panose="02020900000000000000" pitchFamily="18" charset="-122"/>
                  <a:cs typeface="Times New Roman" panose="02020603050405020304" pitchFamily="18" charset="0"/>
                </a:rPr>
                <a:t>05</a:t>
              </a:r>
              <a:endParaRPr lang="zh-CN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</a:endParaRPr>
            </a:p>
          </p:txBody>
        </p:sp>
      </p:grpSp>
    </p:spTree>
    <p:custDataLst>
      <p:tags r:id="rId21"/>
    </p:custData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alphaModFix amt="95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 r="44004" b="49240"/>
          <a:stretch>
            <a:fillRect/>
          </a:stretch>
        </p:blipFill>
        <p:spPr>
          <a:xfrm flipV="1">
            <a:off x="1" y="-7"/>
            <a:ext cx="12191998" cy="3747395"/>
          </a:xfrm>
          <a:custGeom>
            <a:avLst/>
            <a:gdLst>
              <a:gd name="connsiteX0" fmla="*/ 0 w 12192000"/>
              <a:gd name="connsiteY0" fmla="*/ 2558508 h 2558508"/>
              <a:gd name="connsiteX1" fmla="*/ 12192000 w 12192000"/>
              <a:gd name="connsiteY1" fmla="*/ 2558508 h 2558508"/>
              <a:gd name="connsiteX2" fmla="*/ 12192000 w 12192000"/>
              <a:gd name="connsiteY2" fmla="*/ 0 h 2558508"/>
              <a:gd name="connsiteX3" fmla="*/ 0 w 12192000"/>
              <a:gd name="connsiteY3" fmla="*/ 0 h 2558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558508">
                <a:moveTo>
                  <a:pt x="0" y="2558508"/>
                </a:moveTo>
                <a:lnTo>
                  <a:pt x="12192000" y="2558508"/>
                </a:lnTo>
                <a:lnTo>
                  <a:pt x="12192000" y="0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3" cstate="screen"/>
          <a:srcRect/>
          <a:stretch>
            <a:fillRect/>
          </a:stretch>
        </p:blipFill>
        <p:spPr>
          <a:xfrm>
            <a:off x="1" y="0"/>
            <a:ext cx="4763194" cy="68580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-7434" y="0"/>
            <a:ext cx="4763194" cy="6858000"/>
          </a:xfrm>
          <a:prstGeom prst="rect">
            <a:avLst/>
          </a:prstGeom>
          <a:gradFill>
            <a:gsLst>
              <a:gs pos="0">
                <a:srgbClr val="0070C0">
                  <a:alpha val="72135"/>
                </a:srgbClr>
              </a:gs>
              <a:gs pos="100000">
                <a:srgbClr val="3354B5">
                  <a:alpha val="80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任意多边形: 形状 18"/>
          <p:cNvSpPr/>
          <p:nvPr/>
        </p:nvSpPr>
        <p:spPr>
          <a:xfrm>
            <a:off x="2712949" y="1396538"/>
            <a:ext cx="8117345" cy="4064924"/>
          </a:xfrm>
          <a:custGeom>
            <a:avLst/>
            <a:gdLst>
              <a:gd name="connsiteX0" fmla="*/ 6890674 w 7586519"/>
              <a:gd name="connsiteY0" fmla="*/ 0 h 4064924"/>
              <a:gd name="connsiteX1" fmla="*/ 7446523 w 7586519"/>
              <a:gd name="connsiteY1" fmla="*/ 0 h 4064924"/>
              <a:gd name="connsiteX2" fmla="*/ 7586519 w 7586519"/>
              <a:gd name="connsiteY2" fmla="*/ 139996 h 4064924"/>
              <a:gd name="connsiteX3" fmla="*/ 7586519 w 7586519"/>
              <a:gd name="connsiteY3" fmla="*/ 705494 h 4064924"/>
              <a:gd name="connsiteX4" fmla="*/ 7484758 w 7586519"/>
              <a:gd name="connsiteY4" fmla="*/ 715752 h 4064924"/>
              <a:gd name="connsiteX5" fmla="*/ 6879532 w 7586519"/>
              <a:gd name="connsiteY5" fmla="*/ 110526 h 4064924"/>
              <a:gd name="connsiteX6" fmla="*/ 139996 w 7586519"/>
              <a:gd name="connsiteY6" fmla="*/ 0 h 4064924"/>
              <a:gd name="connsiteX7" fmla="*/ 6651650 w 7586519"/>
              <a:gd name="connsiteY7" fmla="*/ 0 h 4064924"/>
              <a:gd name="connsiteX8" fmla="*/ 6640508 w 7586519"/>
              <a:gd name="connsiteY8" fmla="*/ 110526 h 4064924"/>
              <a:gd name="connsiteX9" fmla="*/ 7484758 w 7586519"/>
              <a:gd name="connsiteY9" fmla="*/ 954776 h 4064924"/>
              <a:gd name="connsiteX10" fmla="*/ 7571078 w 7586519"/>
              <a:gd name="connsiteY10" fmla="*/ 950417 h 4064924"/>
              <a:gd name="connsiteX11" fmla="*/ 7586519 w 7586519"/>
              <a:gd name="connsiteY11" fmla="*/ 948061 h 4064924"/>
              <a:gd name="connsiteX12" fmla="*/ 7586519 w 7586519"/>
              <a:gd name="connsiteY12" fmla="*/ 3924928 h 4064924"/>
              <a:gd name="connsiteX13" fmla="*/ 7446523 w 7586519"/>
              <a:gd name="connsiteY13" fmla="*/ 4064924 h 4064924"/>
              <a:gd name="connsiteX14" fmla="*/ 139996 w 7586519"/>
              <a:gd name="connsiteY14" fmla="*/ 4064924 h 4064924"/>
              <a:gd name="connsiteX15" fmla="*/ 0 w 7586519"/>
              <a:gd name="connsiteY15" fmla="*/ 3924928 h 4064924"/>
              <a:gd name="connsiteX16" fmla="*/ 0 w 7586519"/>
              <a:gd name="connsiteY16" fmla="*/ 139996 h 4064924"/>
              <a:gd name="connsiteX17" fmla="*/ 139996 w 7586519"/>
              <a:gd name="connsiteY17" fmla="*/ 0 h 4064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7586519" h="4064924">
                <a:moveTo>
                  <a:pt x="6890674" y="0"/>
                </a:moveTo>
                <a:lnTo>
                  <a:pt x="7446523" y="0"/>
                </a:lnTo>
                <a:cubicBezTo>
                  <a:pt x="7523841" y="0"/>
                  <a:pt x="7586519" y="62678"/>
                  <a:pt x="7586519" y="139996"/>
                </a:cubicBezTo>
                <a:lnTo>
                  <a:pt x="7586519" y="705494"/>
                </a:lnTo>
                <a:lnTo>
                  <a:pt x="7484758" y="715752"/>
                </a:lnTo>
                <a:cubicBezTo>
                  <a:pt x="7150501" y="715752"/>
                  <a:pt x="6879532" y="444783"/>
                  <a:pt x="6879532" y="110526"/>
                </a:cubicBezTo>
                <a:close/>
                <a:moveTo>
                  <a:pt x="139996" y="0"/>
                </a:moveTo>
                <a:lnTo>
                  <a:pt x="6651650" y="0"/>
                </a:lnTo>
                <a:lnTo>
                  <a:pt x="6640508" y="110526"/>
                </a:lnTo>
                <a:cubicBezTo>
                  <a:pt x="6640508" y="576792"/>
                  <a:pt x="7018492" y="954776"/>
                  <a:pt x="7484758" y="954776"/>
                </a:cubicBezTo>
                <a:cubicBezTo>
                  <a:pt x="7513900" y="954776"/>
                  <a:pt x="7542696" y="953300"/>
                  <a:pt x="7571078" y="950417"/>
                </a:cubicBezTo>
                <a:lnTo>
                  <a:pt x="7586519" y="948061"/>
                </a:lnTo>
                <a:lnTo>
                  <a:pt x="7586519" y="3924928"/>
                </a:lnTo>
                <a:cubicBezTo>
                  <a:pt x="7586519" y="4002246"/>
                  <a:pt x="7523841" y="4064924"/>
                  <a:pt x="7446523" y="4064924"/>
                </a:cubicBezTo>
                <a:lnTo>
                  <a:pt x="139996" y="4064924"/>
                </a:lnTo>
                <a:cubicBezTo>
                  <a:pt x="62678" y="4064924"/>
                  <a:pt x="0" y="4002246"/>
                  <a:pt x="0" y="3924928"/>
                </a:cubicBezTo>
                <a:lnTo>
                  <a:pt x="0" y="139996"/>
                </a:lnTo>
                <a:cubicBezTo>
                  <a:pt x="0" y="62678"/>
                  <a:pt x="62678" y="0"/>
                  <a:pt x="13999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17500" dist="127000" dir="2700000" algn="tl" rotWithShape="0">
              <a:srgbClr val="0064D8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1204493" y="1396538"/>
            <a:ext cx="677108" cy="4064924"/>
            <a:chOff x="26301" y="1138131"/>
            <a:chExt cx="677108" cy="4064924"/>
          </a:xfrm>
        </p:grpSpPr>
        <p:sp>
          <p:nvSpPr>
            <p:cNvPr id="10" name="文本框 9"/>
            <p:cNvSpPr txBox="1"/>
            <p:nvPr/>
          </p:nvSpPr>
          <p:spPr>
            <a:xfrm>
              <a:off x="26301" y="1138131"/>
              <a:ext cx="677108" cy="287805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sz="1600" dirty="0">
                  <a:solidFill>
                    <a:srgbClr val="0E6BC9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SOUTHWEST JIAOTONG UNIVERSITY</a:t>
              </a:r>
              <a:endParaRPr lang="zh-CN" altLang="en-US" sz="1600" dirty="0">
                <a:solidFill>
                  <a:srgbClr val="0E6BC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482600" y="3845518"/>
              <a:ext cx="0" cy="1357537"/>
            </a:xfrm>
            <a:prstGeom prst="line">
              <a:avLst/>
            </a:prstGeom>
            <a:ln w="12700">
              <a:solidFill>
                <a:srgbClr val="316AE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组合 2"/>
          <p:cNvGrpSpPr/>
          <p:nvPr/>
        </p:nvGrpSpPr>
        <p:grpSpPr>
          <a:xfrm>
            <a:off x="3397184" y="1550560"/>
            <a:ext cx="4297680" cy="2345475"/>
            <a:chOff x="497375" y="1211712"/>
            <a:chExt cx="4297680" cy="2345475"/>
          </a:xfrm>
        </p:grpSpPr>
        <p:sp>
          <p:nvSpPr>
            <p:cNvPr id="6" name="文本框 5"/>
            <p:cNvSpPr txBox="1"/>
            <p:nvPr/>
          </p:nvSpPr>
          <p:spPr>
            <a:xfrm>
              <a:off x="497375" y="2635167"/>
              <a:ext cx="4297680" cy="9220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800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lang="zh-CN" altLang="en-US" sz="5400" b="1" noProof="0" dirty="0">
                  <a:ln>
                    <a:noFill/>
                  </a:ln>
                  <a:solidFill>
                    <a:srgbClr val="0E6BC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lt"/>
                </a:rPr>
                <a:t>项目背景介绍</a:t>
              </a:r>
              <a:endPara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E6BC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522775" y="1211712"/>
              <a:ext cx="1441420" cy="14465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800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22000">
                        <a:srgbClr val="0655D3"/>
                      </a:gs>
                      <a:gs pos="86000">
                        <a:srgbClr val="0655D3">
                          <a:alpha val="0"/>
                        </a:srgbClr>
                      </a:gs>
                    </a:gsLst>
                    <a:lin ang="5400000" scaled="1"/>
                  </a:gradFill>
                  <a:effectLst/>
                  <a:uLnTx/>
                  <a:uFillTx/>
                  <a:latin typeface="Arial" panose="020B0604020202020204" pitchFamily="34" charset="0"/>
                  <a:ea typeface="OPPOSans B"/>
                  <a:cs typeface="Arial" panose="020B0604020202020204" pitchFamily="34" charset="0"/>
                </a:rPr>
                <a:t>01</a:t>
              </a:r>
              <a:endParaRPr kumimoji="0" lang="zh-CN" altLang="en-US" sz="88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22000">
                      <a:srgbClr val="0655D3"/>
                    </a:gs>
                    <a:gs pos="86000">
                      <a:srgbClr val="0655D3">
                        <a:alpha val="0"/>
                      </a:srgbClr>
                    </a:gs>
                  </a:gsLst>
                  <a:lin ang="5400000" scaled="1"/>
                </a:gradFill>
                <a:effectLst/>
                <a:uLnTx/>
                <a:uFillTx/>
                <a:latin typeface="Arial" panose="020B0604020202020204" pitchFamily="34" charset="0"/>
                <a:ea typeface="OPPOSans B"/>
                <a:cs typeface="Arial" panose="020B0604020202020204" pitchFamily="34" charset="0"/>
              </a:endParaRPr>
            </a:p>
          </p:txBody>
        </p:sp>
      </p:grpSp>
      <p:cxnSp>
        <p:nvCxnSpPr>
          <p:cNvPr id="22" name="直线连接符 21"/>
          <p:cNvCxnSpPr/>
          <p:nvPr/>
        </p:nvCxnSpPr>
        <p:spPr>
          <a:xfrm>
            <a:off x="3508081" y="4676038"/>
            <a:ext cx="1251950" cy="6730"/>
          </a:xfrm>
          <a:prstGeom prst="line">
            <a:avLst/>
          </a:prstGeom>
          <a:ln w="28575">
            <a:solidFill>
              <a:srgbClr val="0E6BC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10509108" y="6325674"/>
            <a:ext cx="1323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4447096A-5CB9-A449-9521-AD82728A312D}" type="slidenum">
              <a:rPr kumimoji="1" lang="zh-CN" altLang="en-US" smtClean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fld>
            <a:endParaRPr kumimoji="1" lang="zh-CN" altLang="en-US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 cstate="screen"/>
          <a:stretch>
            <a:fillRect/>
          </a:stretch>
        </p:blipFill>
        <p:spPr>
          <a:xfrm>
            <a:off x="11286756" y="298037"/>
            <a:ext cx="594505" cy="663864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55571" y="429682"/>
            <a:ext cx="438284" cy="239186"/>
            <a:chOff x="450426" y="460569"/>
            <a:chExt cx="314885" cy="171843"/>
          </a:xfrm>
          <a:gradFill flip="none" rotWithShape="1">
            <a:gsLst>
              <a:gs pos="82000">
                <a:srgbClr val="0086CE">
                  <a:alpha val="0"/>
                </a:srgbClr>
              </a:gs>
              <a:gs pos="18000">
                <a:srgbClr val="006FAC"/>
              </a:gs>
            </a:gsLst>
            <a:lin ang="2700000" scaled="1"/>
            <a:tileRect/>
          </a:gradFill>
        </p:grpSpPr>
        <p:sp>
          <p:nvSpPr>
            <p:cNvPr id="3" name="椭圆 2"/>
            <p:cNvSpPr/>
            <p:nvPr/>
          </p:nvSpPr>
          <p:spPr>
            <a:xfrm>
              <a:off x="450426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4" name="椭圆 3"/>
            <p:cNvSpPr/>
            <p:nvPr/>
          </p:nvSpPr>
          <p:spPr>
            <a:xfrm>
              <a:off x="521947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593469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64990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450426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521947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593469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664990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450426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521947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593469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664990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5" name="椭圆 14"/>
            <p:cNvSpPr/>
            <p:nvPr/>
          </p:nvSpPr>
          <p:spPr>
            <a:xfrm>
              <a:off x="736511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736511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736511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</p:grpSp>
      <p:sp>
        <p:nvSpPr>
          <p:cNvPr id="18" name="平行四边形 17"/>
          <p:cNvSpPr/>
          <p:nvPr/>
        </p:nvSpPr>
        <p:spPr>
          <a:xfrm flipV="1">
            <a:off x="1555396" y="754055"/>
            <a:ext cx="2959100" cy="233776"/>
          </a:xfrm>
          <a:prstGeom prst="parallelogram">
            <a:avLst/>
          </a:prstGeom>
          <a:gradFill flip="none" rotWithShape="1">
            <a:gsLst>
              <a:gs pos="0">
                <a:srgbClr val="0086CE">
                  <a:alpha val="0"/>
                </a:srgbClr>
              </a:gs>
              <a:gs pos="100000">
                <a:srgbClr val="0086CE">
                  <a:alpha val="7400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54669" y="410108"/>
            <a:ext cx="3982026" cy="579755"/>
          </a:xfrm>
          <a:prstGeom prst="rect">
            <a:avLst/>
          </a:prstGeom>
          <a:noFill/>
          <a:effectLst/>
        </p:spPr>
        <p:txBody>
          <a:bodyPr wrap="square" lIns="0" tIns="43846" rIns="87691" bIns="43846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3200" b="1" noProof="0" dirty="0">
                <a:ln>
                  <a:noFill/>
                </a:ln>
                <a:solidFill>
                  <a:srgbClr val="0E6BC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项目背景介绍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F3D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  <a:sym typeface="+mn-lt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6756" y="298037"/>
            <a:ext cx="594505" cy="663864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 flipH="1">
            <a:off x="-5" y="6617367"/>
            <a:ext cx="12191683" cy="240185"/>
          </a:xfrm>
          <a:prstGeom prst="rect">
            <a:avLst/>
          </a:prstGeom>
          <a:gradFill>
            <a:gsLst>
              <a:gs pos="100000">
                <a:srgbClr val="0070C0">
                  <a:alpha val="96000"/>
                </a:srgbClr>
              </a:gs>
              <a:gs pos="40000">
                <a:srgbClr val="3354B5">
                  <a:alpha val="90000"/>
                </a:srgbClr>
              </a:gs>
              <a:gs pos="0">
                <a:srgbClr val="1F2B97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OPPOSans R" pitchFamily="18" charset="-122"/>
              <a:cs typeface="+mn-cs"/>
            </a:endParaRPr>
          </a:p>
        </p:txBody>
      </p:sp>
      <p:pic>
        <p:nvPicPr>
          <p:cNvPr id="21" name="图片 20" descr="slide_03"/>
          <p:cNvPicPr>
            <a:picLocks noChangeAspect="1"/>
          </p:cNvPicPr>
          <p:nvPr/>
        </p:nvPicPr>
        <p:blipFill>
          <a:blip r:embed="rId2"/>
          <a:srcRect t="27741" b="12398"/>
          <a:stretch>
            <a:fillRect/>
          </a:stretch>
        </p:blipFill>
        <p:spPr>
          <a:xfrm>
            <a:off x="6985" y="1750695"/>
            <a:ext cx="12185015" cy="410527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alphaModFix amt="95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 r="44004" b="49240"/>
          <a:stretch>
            <a:fillRect/>
          </a:stretch>
        </p:blipFill>
        <p:spPr>
          <a:xfrm flipV="1">
            <a:off x="1" y="-7"/>
            <a:ext cx="12191998" cy="3747395"/>
          </a:xfrm>
          <a:custGeom>
            <a:avLst/>
            <a:gdLst>
              <a:gd name="connsiteX0" fmla="*/ 0 w 12192000"/>
              <a:gd name="connsiteY0" fmla="*/ 2558508 h 2558508"/>
              <a:gd name="connsiteX1" fmla="*/ 12192000 w 12192000"/>
              <a:gd name="connsiteY1" fmla="*/ 2558508 h 2558508"/>
              <a:gd name="connsiteX2" fmla="*/ 12192000 w 12192000"/>
              <a:gd name="connsiteY2" fmla="*/ 0 h 2558508"/>
              <a:gd name="connsiteX3" fmla="*/ 0 w 12192000"/>
              <a:gd name="connsiteY3" fmla="*/ 0 h 2558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558508">
                <a:moveTo>
                  <a:pt x="0" y="2558508"/>
                </a:moveTo>
                <a:lnTo>
                  <a:pt x="12192000" y="2558508"/>
                </a:lnTo>
                <a:lnTo>
                  <a:pt x="12192000" y="0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 cstate="screen"/>
          <a:srcRect/>
          <a:stretch>
            <a:fillRect/>
          </a:stretch>
        </p:blipFill>
        <p:spPr>
          <a:xfrm>
            <a:off x="6221" y="0"/>
            <a:ext cx="4763194" cy="68580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6221" y="0"/>
            <a:ext cx="4763194" cy="6858000"/>
          </a:xfrm>
          <a:prstGeom prst="rect">
            <a:avLst/>
          </a:prstGeom>
          <a:gradFill>
            <a:gsLst>
              <a:gs pos="0">
                <a:srgbClr val="0070C0">
                  <a:alpha val="72135"/>
                </a:srgbClr>
              </a:gs>
              <a:gs pos="100000">
                <a:srgbClr val="3354B5">
                  <a:alpha val="80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任意多边形: 形状 18"/>
          <p:cNvSpPr/>
          <p:nvPr/>
        </p:nvSpPr>
        <p:spPr>
          <a:xfrm>
            <a:off x="2712949" y="1396538"/>
            <a:ext cx="8117345" cy="4064924"/>
          </a:xfrm>
          <a:custGeom>
            <a:avLst/>
            <a:gdLst>
              <a:gd name="connsiteX0" fmla="*/ 6890674 w 7586519"/>
              <a:gd name="connsiteY0" fmla="*/ 0 h 4064924"/>
              <a:gd name="connsiteX1" fmla="*/ 7446523 w 7586519"/>
              <a:gd name="connsiteY1" fmla="*/ 0 h 4064924"/>
              <a:gd name="connsiteX2" fmla="*/ 7586519 w 7586519"/>
              <a:gd name="connsiteY2" fmla="*/ 139996 h 4064924"/>
              <a:gd name="connsiteX3" fmla="*/ 7586519 w 7586519"/>
              <a:gd name="connsiteY3" fmla="*/ 705494 h 4064924"/>
              <a:gd name="connsiteX4" fmla="*/ 7484758 w 7586519"/>
              <a:gd name="connsiteY4" fmla="*/ 715752 h 4064924"/>
              <a:gd name="connsiteX5" fmla="*/ 6879532 w 7586519"/>
              <a:gd name="connsiteY5" fmla="*/ 110526 h 4064924"/>
              <a:gd name="connsiteX6" fmla="*/ 139996 w 7586519"/>
              <a:gd name="connsiteY6" fmla="*/ 0 h 4064924"/>
              <a:gd name="connsiteX7" fmla="*/ 6651650 w 7586519"/>
              <a:gd name="connsiteY7" fmla="*/ 0 h 4064924"/>
              <a:gd name="connsiteX8" fmla="*/ 6640508 w 7586519"/>
              <a:gd name="connsiteY8" fmla="*/ 110526 h 4064924"/>
              <a:gd name="connsiteX9" fmla="*/ 7484758 w 7586519"/>
              <a:gd name="connsiteY9" fmla="*/ 954776 h 4064924"/>
              <a:gd name="connsiteX10" fmla="*/ 7571078 w 7586519"/>
              <a:gd name="connsiteY10" fmla="*/ 950417 h 4064924"/>
              <a:gd name="connsiteX11" fmla="*/ 7586519 w 7586519"/>
              <a:gd name="connsiteY11" fmla="*/ 948061 h 4064924"/>
              <a:gd name="connsiteX12" fmla="*/ 7586519 w 7586519"/>
              <a:gd name="connsiteY12" fmla="*/ 3924928 h 4064924"/>
              <a:gd name="connsiteX13" fmla="*/ 7446523 w 7586519"/>
              <a:gd name="connsiteY13" fmla="*/ 4064924 h 4064924"/>
              <a:gd name="connsiteX14" fmla="*/ 139996 w 7586519"/>
              <a:gd name="connsiteY14" fmla="*/ 4064924 h 4064924"/>
              <a:gd name="connsiteX15" fmla="*/ 0 w 7586519"/>
              <a:gd name="connsiteY15" fmla="*/ 3924928 h 4064924"/>
              <a:gd name="connsiteX16" fmla="*/ 0 w 7586519"/>
              <a:gd name="connsiteY16" fmla="*/ 139996 h 4064924"/>
              <a:gd name="connsiteX17" fmla="*/ 139996 w 7586519"/>
              <a:gd name="connsiteY17" fmla="*/ 0 h 4064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7586519" h="4064924">
                <a:moveTo>
                  <a:pt x="6890674" y="0"/>
                </a:moveTo>
                <a:lnTo>
                  <a:pt x="7446523" y="0"/>
                </a:lnTo>
                <a:cubicBezTo>
                  <a:pt x="7523841" y="0"/>
                  <a:pt x="7586519" y="62678"/>
                  <a:pt x="7586519" y="139996"/>
                </a:cubicBezTo>
                <a:lnTo>
                  <a:pt x="7586519" y="705494"/>
                </a:lnTo>
                <a:lnTo>
                  <a:pt x="7484758" y="715752"/>
                </a:lnTo>
                <a:cubicBezTo>
                  <a:pt x="7150501" y="715752"/>
                  <a:pt x="6879532" y="444783"/>
                  <a:pt x="6879532" y="110526"/>
                </a:cubicBezTo>
                <a:close/>
                <a:moveTo>
                  <a:pt x="139996" y="0"/>
                </a:moveTo>
                <a:lnTo>
                  <a:pt x="6651650" y="0"/>
                </a:lnTo>
                <a:lnTo>
                  <a:pt x="6640508" y="110526"/>
                </a:lnTo>
                <a:cubicBezTo>
                  <a:pt x="6640508" y="576792"/>
                  <a:pt x="7018492" y="954776"/>
                  <a:pt x="7484758" y="954776"/>
                </a:cubicBezTo>
                <a:cubicBezTo>
                  <a:pt x="7513900" y="954776"/>
                  <a:pt x="7542696" y="953300"/>
                  <a:pt x="7571078" y="950417"/>
                </a:cubicBezTo>
                <a:lnTo>
                  <a:pt x="7586519" y="948061"/>
                </a:lnTo>
                <a:lnTo>
                  <a:pt x="7586519" y="3924928"/>
                </a:lnTo>
                <a:cubicBezTo>
                  <a:pt x="7586519" y="4002246"/>
                  <a:pt x="7523841" y="4064924"/>
                  <a:pt x="7446523" y="4064924"/>
                </a:cubicBezTo>
                <a:lnTo>
                  <a:pt x="139996" y="4064924"/>
                </a:lnTo>
                <a:cubicBezTo>
                  <a:pt x="62678" y="4064924"/>
                  <a:pt x="0" y="4002246"/>
                  <a:pt x="0" y="3924928"/>
                </a:cubicBezTo>
                <a:lnTo>
                  <a:pt x="0" y="139996"/>
                </a:lnTo>
                <a:cubicBezTo>
                  <a:pt x="0" y="62678"/>
                  <a:pt x="62678" y="0"/>
                  <a:pt x="13999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17500" dist="127000" dir="2700000" algn="tl" rotWithShape="0">
              <a:srgbClr val="0064D8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1204493" y="1396538"/>
            <a:ext cx="677108" cy="4064924"/>
            <a:chOff x="26301" y="1138131"/>
            <a:chExt cx="677108" cy="4064924"/>
          </a:xfrm>
        </p:grpSpPr>
        <p:sp>
          <p:nvSpPr>
            <p:cNvPr id="10" name="文本框 9"/>
            <p:cNvSpPr txBox="1"/>
            <p:nvPr/>
          </p:nvSpPr>
          <p:spPr>
            <a:xfrm>
              <a:off x="26301" y="1138131"/>
              <a:ext cx="677108" cy="287805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sz="1600" dirty="0">
                  <a:solidFill>
                    <a:srgbClr val="0E6BC9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SOUTHWEST JIAOTONG UNIVERSITY</a:t>
              </a:r>
              <a:endParaRPr lang="zh-CN" altLang="en-US" sz="1600" dirty="0">
                <a:solidFill>
                  <a:srgbClr val="0E6BC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482600" y="3845518"/>
              <a:ext cx="0" cy="1357537"/>
            </a:xfrm>
            <a:prstGeom prst="line">
              <a:avLst/>
            </a:prstGeom>
            <a:ln w="12700">
              <a:solidFill>
                <a:srgbClr val="316AE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组合 2"/>
          <p:cNvGrpSpPr/>
          <p:nvPr/>
        </p:nvGrpSpPr>
        <p:grpSpPr>
          <a:xfrm>
            <a:off x="3397184" y="1550560"/>
            <a:ext cx="4297680" cy="2345475"/>
            <a:chOff x="497375" y="1211712"/>
            <a:chExt cx="4297680" cy="2345475"/>
          </a:xfrm>
        </p:grpSpPr>
        <p:sp>
          <p:nvSpPr>
            <p:cNvPr id="6" name="文本框 5"/>
            <p:cNvSpPr txBox="1"/>
            <p:nvPr/>
          </p:nvSpPr>
          <p:spPr>
            <a:xfrm>
              <a:off x="497375" y="2635167"/>
              <a:ext cx="4297680" cy="9220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800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lang="zh-CN" altLang="zh-CN" sz="5400" b="1" noProof="0" dirty="0">
                  <a:ln>
                    <a:noFill/>
                  </a:ln>
                  <a:solidFill>
                    <a:srgbClr val="0E6BC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lt"/>
                </a:rPr>
                <a:t>软件需求分析</a:t>
              </a:r>
              <a:endParaRPr kumimoji="0" lang="zh-CN" altLang="zh-CN" sz="5400" b="1" i="0" u="none" strike="noStrike" kern="1200" cap="none" spc="0" normalizeH="0" baseline="0" noProof="0" dirty="0">
                <a:ln>
                  <a:noFill/>
                </a:ln>
                <a:solidFill>
                  <a:srgbClr val="0E6BC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522775" y="1211712"/>
              <a:ext cx="1441420" cy="14465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800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22000">
                        <a:srgbClr val="0655D3"/>
                      </a:gs>
                      <a:gs pos="86000">
                        <a:srgbClr val="0655D3">
                          <a:alpha val="0"/>
                        </a:srgbClr>
                      </a:gs>
                    </a:gsLst>
                    <a:lin ang="5400000" scaled="1"/>
                  </a:gradFill>
                  <a:effectLst/>
                  <a:uLnTx/>
                  <a:uFillTx/>
                  <a:latin typeface="Arial" panose="020B0604020202020204" pitchFamily="34" charset="0"/>
                  <a:ea typeface="OPPOSans B"/>
                  <a:cs typeface="Arial" panose="020B0604020202020204" pitchFamily="34" charset="0"/>
                </a:rPr>
                <a:t>02</a:t>
              </a:r>
              <a:endParaRPr kumimoji="0" lang="zh-CN" altLang="en-US" sz="88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22000">
                      <a:srgbClr val="0655D3"/>
                    </a:gs>
                    <a:gs pos="86000">
                      <a:srgbClr val="0655D3">
                        <a:alpha val="0"/>
                      </a:srgbClr>
                    </a:gs>
                  </a:gsLst>
                  <a:lin ang="5400000" scaled="1"/>
                </a:gradFill>
                <a:effectLst/>
                <a:uLnTx/>
                <a:uFillTx/>
                <a:latin typeface="Arial" panose="020B0604020202020204" pitchFamily="34" charset="0"/>
                <a:ea typeface="OPPOSans B"/>
                <a:cs typeface="Arial" panose="020B0604020202020204" pitchFamily="34" charset="0"/>
              </a:endParaRPr>
            </a:p>
          </p:txBody>
        </p:sp>
      </p:grpSp>
      <p:cxnSp>
        <p:nvCxnSpPr>
          <p:cNvPr id="22" name="直线连接符 21"/>
          <p:cNvCxnSpPr/>
          <p:nvPr/>
        </p:nvCxnSpPr>
        <p:spPr>
          <a:xfrm>
            <a:off x="3508081" y="4676038"/>
            <a:ext cx="1251950" cy="6730"/>
          </a:xfrm>
          <a:prstGeom prst="line">
            <a:avLst/>
          </a:prstGeom>
          <a:ln w="28575">
            <a:solidFill>
              <a:srgbClr val="0E6BC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10509108" y="6325674"/>
            <a:ext cx="1323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4447096A-5CB9-A449-9521-AD82728A312D}" type="slidenum">
              <a:rPr kumimoji="1" lang="zh-CN" altLang="en-US" smtClean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fld>
            <a:endParaRPr kumimoji="1" lang="zh-CN" altLang="en-US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 cstate="screen"/>
          <a:stretch>
            <a:fillRect/>
          </a:stretch>
        </p:blipFill>
        <p:spPr>
          <a:xfrm>
            <a:off x="11286756" y="298037"/>
            <a:ext cx="594505" cy="663864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55571" y="429682"/>
            <a:ext cx="438284" cy="239186"/>
            <a:chOff x="450426" y="460569"/>
            <a:chExt cx="314885" cy="171843"/>
          </a:xfrm>
          <a:gradFill flip="none" rotWithShape="1">
            <a:gsLst>
              <a:gs pos="82000">
                <a:srgbClr val="0086CE">
                  <a:alpha val="0"/>
                </a:srgbClr>
              </a:gs>
              <a:gs pos="18000">
                <a:srgbClr val="006FAC"/>
              </a:gs>
            </a:gsLst>
            <a:lin ang="2700000" scaled="1"/>
            <a:tileRect/>
          </a:gradFill>
        </p:grpSpPr>
        <p:sp>
          <p:nvSpPr>
            <p:cNvPr id="3" name="椭圆 2"/>
            <p:cNvSpPr/>
            <p:nvPr/>
          </p:nvSpPr>
          <p:spPr>
            <a:xfrm>
              <a:off x="450426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4" name="椭圆 3"/>
            <p:cNvSpPr/>
            <p:nvPr/>
          </p:nvSpPr>
          <p:spPr>
            <a:xfrm>
              <a:off x="521947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593469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64990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450426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521947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593469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664990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450426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521947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593469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664990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5" name="椭圆 14"/>
            <p:cNvSpPr/>
            <p:nvPr/>
          </p:nvSpPr>
          <p:spPr>
            <a:xfrm>
              <a:off x="736511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736511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736511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</p:grpSp>
      <p:sp>
        <p:nvSpPr>
          <p:cNvPr id="18" name="平行四边形 17"/>
          <p:cNvSpPr/>
          <p:nvPr/>
        </p:nvSpPr>
        <p:spPr>
          <a:xfrm flipV="1">
            <a:off x="1555396" y="754055"/>
            <a:ext cx="2959100" cy="233776"/>
          </a:xfrm>
          <a:prstGeom prst="parallelogram">
            <a:avLst/>
          </a:prstGeom>
          <a:gradFill flip="none" rotWithShape="1">
            <a:gsLst>
              <a:gs pos="0">
                <a:srgbClr val="0086CE">
                  <a:alpha val="0"/>
                </a:srgbClr>
              </a:gs>
              <a:gs pos="100000">
                <a:srgbClr val="0086CE">
                  <a:alpha val="7400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54669" y="410108"/>
            <a:ext cx="3982026" cy="579755"/>
          </a:xfrm>
          <a:prstGeom prst="rect">
            <a:avLst/>
          </a:prstGeom>
          <a:noFill/>
          <a:effectLst/>
        </p:spPr>
        <p:txBody>
          <a:bodyPr wrap="square" lIns="0" tIns="43846" rIns="87691" bIns="43846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zh-CN" sz="3200" b="1" noProof="0" dirty="0">
                <a:ln>
                  <a:noFill/>
                </a:ln>
                <a:solidFill>
                  <a:srgbClr val="0E6BC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功能性需求分析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F3D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  <a:sym typeface="+mn-lt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6756" y="298037"/>
            <a:ext cx="594505" cy="663864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 flipH="1">
            <a:off x="-635" y="5438140"/>
            <a:ext cx="12192000" cy="1419225"/>
          </a:xfrm>
          <a:prstGeom prst="rect">
            <a:avLst/>
          </a:prstGeom>
          <a:gradFill>
            <a:gsLst>
              <a:gs pos="100000">
                <a:srgbClr val="0070C0">
                  <a:alpha val="96000"/>
                </a:srgbClr>
              </a:gs>
              <a:gs pos="40000">
                <a:srgbClr val="3354B5">
                  <a:alpha val="90000"/>
                </a:srgbClr>
              </a:gs>
              <a:gs pos="0">
                <a:srgbClr val="1F2B97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OPPOSans R" pitchFamily="18" charset="-122"/>
              <a:cs typeface="+mn-cs"/>
            </a:endParaRPr>
          </a:p>
        </p:txBody>
      </p:sp>
      <p:pic>
        <p:nvPicPr>
          <p:cNvPr id="21" name="图片 20" descr="ChatGPT Image 2026年6月16日 20_35_48"/>
          <p:cNvPicPr>
            <a:picLocks noChangeAspect="1"/>
          </p:cNvPicPr>
          <p:nvPr/>
        </p:nvPicPr>
        <p:blipFill>
          <a:blip r:embed="rId2"/>
          <a:srcRect t="16907" b="19352"/>
          <a:stretch>
            <a:fillRect/>
          </a:stretch>
        </p:blipFill>
        <p:spPr>
          <a:xfrm>
            <a:off x="6985" y="1158875"/>
            <a:ext cx="12185015" cy="437134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55571" y="429682"/>
            <a:ext cx="438284" cy="239186"/>
            <a:chOff x="450426" y="460569"/>
            <a:chExt cx="314885" cy="171843"/>
          </a:xfrm>
          <a:gradFill flip="none" rotWithShape="1">
            <a:gsLst>
              <a:gs pos="82000">
                <a:srgbClr val="0086CE">
                  <a:alpha val="0"/>
                </a:srgbClr>
              </a:gs>
              <a:gs pos="18000">
                <a:srgbClr val="006FAC"/>
              </a:gs>
            </a:gsLst>
            <a:lin ang="2700000" scaled="1"/>
            <a:tileRect/>
          </a:gradFill>
        </p:grpSpPr>
        <p:sp>
          <p:nvSpPr>
            <p:cNvPr id="3" name="椭圆 2"/>
            <p:cNvSpPr/>
            <p:nvPr/>
          </p:nvSpPr>
          <p:spPr>
            <a:xfrm>
              <a:off x="450426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4" name="椭圆 3"/>
            <p:cNvSpPr/>
            <p:nvPr/>
          </p:nvSpPr>
          <p:spPr>
            <a:xfrm>
              <a:off x="521947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593469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64990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450426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521947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593469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664990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450426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521947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593469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664990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5" name="椭圆 14"/>
            <p:cNvSpPr/>
            <p:nvPr/>
          </p:nvSpPr>
          <p:spPr>
            <a:xfrm>
              <a:off x="736511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736511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736511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</p:grpSp>
      <p:sp>
        <p:nvSpPr>
          <p:cNvPr id="18" name="平行四边形 17"/>
          <p:cNvSpPr/>
          <p:nvPr/>
        </p:nvSpPr>
        <p:spPr>
          <a:xfrm flipV="1">
            <a:off x="1555396" y="754055"/>
            <a:ext cx="2959100" cy="233776"/>
          </a:xfrm>
          <a:prstGeom prst="parallelogram">
            <a:avLst/>
          </a:prstGeom>
          <a:gradFill flip="none" rotWithShape="1">
            <a:gsLst>
              <a:gs pos="0">
                <a:srgbClr val="0086CE">
                  <a:alpha val="0"/>
                </a:srgbClr>
              </a:gs>
              <a:gs pos="100000">
                <a:srgbClr val="0086CE">
                  <a:alpha val="7400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54669" y="410108"/>
            <a:ext cx="3982026" cy="579755"/>
          </a:xfrm>
          <a:prstGeom prst="rect">
            <a:avLst/>
          </a:prstGeom>
          <a:noFill/>
          <a:effectLst/>
        </p:spPr>
        <p:txBody>
          <a:bodyPr wrap="square" lIns="0" tIns="43846" rIns="87691" bIns="43846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zh-CN" sz="3200" b="1" noProof="0" dirty="0">
                <a:ln>
                  <a:noFill/>
                </a:ln>
                <a:solidFill>
                  <a:srgbClr val="0E6BC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非功能性需求分析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F3D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  <a:sym typeface="+mn-lt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6756" y="298037"/>
            <a:ext cx="594505" cy="663864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 flipH="1">
            <a:off x="-635" y="5438140"/>
            <a:ext cx="12192000" cy="1419225"/>
          </a:xfrm>
          <a:prstGeom prst="rect">
            <a:avLst/>
          </a:prstGeom>
          <a:gradFill>
            <a:gsLst>
              <a:gs pos="100000">
                <a:srgbClr val="0070C0">
                  <a:alpha val="96000"/>
                </a:srgbClr>
              </a:gs>
              <a:gs pos="40000">
                <a:srgbClr val="3354B5">
                  <a:alpha val="90000"/>
                </a:srgbClr>
              </a:gs>
              <a:gs pos="0">
                <a:srgbClr val="1F2B97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OPPOSans R" pitchFamily="18" charset="-122"/>
              <a:cs typeface="+mn-cs"/>
            </a:endParaRPr>
          </a:p>
        </p:txBody>
      </p:sp>
      <p:pic>
        <p:nvPicPr>
          <p:cNvPr id="21" name="图片 20" descr="ChatGPT Image 2026年6月16日 20_37_04"/>
          <p:cNvPicPr>
            <a:picLocks noChangeAspect="1"/>
          </p:cNvPicPr>
          <p:nvPr/>
        </p:nvPicPr>
        <p:blipFill>
          <a:blip r:embed="rId2"/>
          <a:srcRect t="19783" b="14045"/>
          <a:stretch>
            <a:fillRect/>
          </a:stretch>
        </p:blipFill>
        <p:spPr>
          <a:xfrm>
            <a:off x="0" y="1207135"/>
            <a:ext cx="12192000" cy="453263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alphaModFix amt="95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 r="44004" b="49240"/>
          <a:stretch>
            <a:fillRect/>
          </a:stretch>
        </p:blipFill>
        <p:spPr>
          <a:xfrm flipV="1">
            <a:off x="1" y="-7"/>
            <a:ext cx="12191998" cy="3747395"/>
          </a:xfrm>
          <a:custGeom>
            <a:avLst/>
            <a:gdLst>
              <a:gd name="connsiteX0" fmla="*/ 0 w 12192000"/>
              <a:gd name="connsiteY0" fmla="*/ 2558508 h 2558508"/>
              <a:gd name="connsiteX1" fmla="*/ 12192000 w 12192000"/>
              <a:gd name="connsiteY1" fmla="*/ 2558508 h 2558508"/>
              <a:gd name="connsiteX2" fmla="*/ 12192000 w 12192000"/>
              <a:gd name="connsiteY2" fmla="*/ 0 h 2558508"/>
              <a:gd name="connsiteX3" fmla="*/ 0 w 12192000"/>
              <a:gd name="connsiteY3" fmla="*/ 0 h 2558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558508">
                <a:moveTo>
                  <a:pt x="0" y="2558508"/>
                </a:moveTo>
                <a:lnTo>
                  <a:pt x="12192000" y="2558508"/>
                </a:lnTo>
                <a:lnTo>
                  <a:pt x="12192000" y="0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1" y="0"/>
            <a:ext cx="4760029" cy="68580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-3163" y="0"/>
            <a:ext cx="4763194" cy="6858000"/>
          </a:xfrm>
          <a:prstGeom prst="rect">
            <a:avLst/>
          </a:prstGeom>
          <a:gradFill>
            <a:gsLst>
              <a:gs pos="0">
                <a:srgbClr val="0070C0">
                  <a:alpha val="72135"/>
                </a:srgbClr>
              </a:gs>
              <a:gs pos="100000">
                <a:srgbClr val="3354B5">
                  <a:alpha val="80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任意多边形: 形状 18"/>
          <p:cNvSpPr/>
          <p:nvPr/>
        </p:nvSpPr>
        <p:spPr>
          <a:xfrm>
            <a:off x="2712949" y="1396538"/>
            <a:ext cx="8117345" cy="4064924"/>
          </a:xfrm>
          <a:custGeom>
            <a:avLst/>
            <a:gdLst>
              <a:gd name="connsiteX0" fmla="*/ 6890674 w 7586519"/>
              <a:gd name="connsiteY0" fmla="*/ 0 h 4064924"/>
              <a:gd name="connsiteX1" fmla="*/ 7446523 w 7586519"/>
              <a:gd name="connsiteY1" fmla="*/ 0 h 4064924"/>
              <a:gd name="connsiteX2" fmla="*/ 7586519 w 7586519"/>
              <a:gd name="connsiteY2" fmla="*/ 139996 h 4064924"/>
              <a:gd name="connsiteX3" fmla="*/ 7586519 w 7586519"/>
              <a:gd name="connsiteY3" fmla="*/ 705494 h 4064924"/>
              <a:gd name="connsiteX4" fmla="*/ 7484758 w 7586519"/>
              <a:gd name="connsiteY4" fmla="*/ 715752 h 4064924"/>
              <a:gd name="connsiteX5" fmla="*/ 6879532 w 7586519"/>
              <a:gd name="connsiteY5" fmla="*/ 110526 h 4064924"/>
              <a:gd name="connsiteX6" fmla="*/ 139996 w 7586519"/>
              <a:gd name="connsiteY6" fmla="*/ 0 h 4064924"/>
              <a:gd name="connsiteX7" fmla="*/ 6651650 w 7586519"/>
              <a:gd name="connsiteY7" fmla="*/ 0 h 4064924"/>
              <a:gd name="connsiteX8" fmla="*/ 6640508 w 7586519"/>
              <a:gd name="connsiteY8" fmla="*/ 110526 h 4064924"/>
              <a:gd name="connsiteX9" fmla="*/ 7484758 w 7586519"/>
              <a:gd name="connsiteY9" fmla="*/ 954776 h 4064924"/>
              <a:gd name="connsiteX10" fmla="*/ 7571078 w 7586519"/>
              <a:gd name="connsiteY10" fmla="*/ 950417 h 4064924"/>
              <a:gd name="connsiteX11" fmla="*/ 7586519 w 7586519"/>
              <a:gd name="connsiteY11" fmla="*/ 948061 h 4064924"/>
              <a:gd name="connsiteX12" fmla="*/ 7586519 w 7586519"/>
              <a:gd name="connsiteY12" fmla="*/ 3924928 h 4064924"/>
              <a:gd name="connsiteX13" fmla="*/ 7446523 w 7586519"/>
              <a:gd name="connsiteY13" fmla="*/ 4064924 h 4064924"/>
              <a:gd name="connsiteX14" fmla="*/ 139996 w 7586519"/>
              <a:gd name="connsiteY14" fmla="*/ 4064924 h 4064924"/>
              <a:gd name="connsiteX15" fmla="*/ 0 w 7586519"/>
              <a:gd name="connsiteY15" fmla="*/ 3924928 h 4064924"/>
              <a:gd name="connsiteX16" fmla="*/ 0 w 7586519"/>
              <a:gd name="connsiteY16" fmla="*/ 139996 h 4064924"/>
              <a:gd name="connsiteX17" fmla="*/ 139996 w 7586519"/>
              <a:gd name="connsiteY17" fmla="*/ 0 h 4064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7586519" h="4064924">
                <a:moveTo>
                  <a:pt x="6890674" y="0"/>
                </a:moveTo>
                <a:lnTo>
                  <a:pt x="7446523" y="0"/>
                </a:lnTo>
                <a:cubicBezTo>
                  <a:pt x="7523841" y="0"/>
                  <a:pt x="7586519" y="62678"/>
                  <a:pt x="7586519" y="139996"/>
                </a:cubicBezTo>
                <a:lnTo>
                  <a:pt x="7586519" y="705494"/>
                </a:lnTo>
                <a:lnTo>
                  <a:pt x="7484758" y="715752"/>
                </a:lnTo>
                <a:cubicBezTo>
                  <a:pt x="7150501" y="715752"/>
                  <a:pt x="6879532" y="444783"/>
                  <a:pt x="6879532" y="110526"/>
                </a:cubicBezTo>
                <a:close/>
                <a:moveTo>
                  <a:pt x="139996" y="0"/>
                </a:moveTo>
                <a:lnTo>
                  <a:pt x="6651650" y="0"/>
                </a:lnTo>
                <a:lnTo>
                  <a:pt x="6640508" y="110526"/>
                </a:lnTo>
                <a:cubicBezTo>
                  <a:pt x="6640508" y="576792"/>
                  <a:pt x="7018492" y="954776"/>
                  <a:pt x="7484758" y="954776"/>
                </a:cubicBezTo>
                <a:cubicBezTo>
                  <a:pt x="7513900" y="954776"/>
                  <a:pt x="7542696" y="953300"/>
                  <a:pt x="7571078" y="950417"/>
                </a:cubicBezTo>
                <a:lnTo>
                  <a:pt x="7586519" y="948061"/>
                </a:lnTo>
                <a:lnTo>
                  <a:pt x="7586519" y="3924928"/>
                </a:lnTo>
                <a:cubicBezTo>
                  <a:pt x="7586519" y="4002246"/>
                  <a:pt x="7523841" y="4064924"/>
                  <a:pt x="7446523" y="4064924"/>
                </a:cubicBezTo>
                <a:lnTo>
                  <a:pt x="139996" y="4064924"/>
                </a:lnTo>
                <a:cubicBezTo>
                  <a:pt x="62678" y="4064924"/>
                  <a:pt x="0" y="4002246"/>
                  <a:pt x="0" y="3924928"/>
                </a:cubicBezTo>
                <a:lnTo>
                  <a:pt x="0" y="139996"/>
                </a:lnTo>
                <a:cubicBezTo>
                  <a:pt x="0" y="62678"/>
                  <a:pt x="62678" y="0"/>
                  <a:pt x="13999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17500" dist="127000" dir="2700000" algn="tl" rotWithShape="0">
              <a:srgbClr val="0064D8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1204493" y="1396538"/>
            <a:ext cx="677108" cy="4064924"/>
            <a:chOff x="26301" y="1138131"/>
            <a:chExt cx="677108" cy="4064924"/>
          </a:xfrm>
        </p:grpSpPr>
        <p:sp>
          <p:nvSpPr>
            <p:cNvPr id="10" name="文本框 9"/>
            <p:cNvSpPr txBox="1"/>
            <p:nvPr/>
          </p:nvSpPr>
          <p:spPr>
            <a:xfrm>
              <a:off x="26301" y="1138131"/>
              <a:ext cx="677108" cy="287805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sz="1600" dirty="0">
                  <a:solidFill>
                    <a:srgbClr val="0E6BC9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SOUTHWEST JIAOTONG UNIVERSITY</a:t>
              </a:r>
              <a:endParaRPr lang="zh-CN" altLang="en-US" sz="1600" dirty="0">
                <a:solidFill>
                  <a:srgbClr val="0E6BC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482600" y="3845518"/>
              <a:ext cx="0" cy="1357537"/>
            </a:xfrm>
            <a:prstGeom prst="line">
              <a:avLst/>
            </a:prstGeom>
            <a:ln w="12700">
              <a:solidFill>
                <a:srgbClr val="316AE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组合 2"/>
          <p:cNvGrpSpPr/>
          <p:nvPr/>
        </p:nvGrpSpPr>
        <p:grpSpPr>
          <a:xfrm>
            <a:off x="3397184" y="1550560"/>
            <a:ext cx="4297680" cy="2345475"/>
            <a:chOff x="497375" y="1211712"/>
            <a:chExt cx="4297680" cy="2345475"/>
          </a:xfrm>
        </p:grpSpPr>
        <p:sp>
          <p:nvSpPr>
            <p:cNvPr id="6" name="文本框 5"/>
            <p:cNvSpPr txBox="1"/>
            <p:nvPr/>
          </p:nvSpPr>
          <p:spPr>
            <a:xfrm>
              <a:off x="497375" y="2635167"/>
              <a:ext cx="4297680" cy="9220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800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lang="zh-CN" altLang="en-US" sz="5400" b="1" noProof="0" dirty="0">
                  <a:ln>
                    <a:noFill/>
                  </a:ln>
                  <a:solidFill>
                    <a:srgbClr val="0E6BC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lt"/>
                </a:rPr>
                <a:t>系统总体设计</a:t>
              </a:r>
              <a:endPara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E6BC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522775" y="1211712"/>
              <a:ext cx="1441420" cy="14465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800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22000">
                        <a:srgbClr val="0655D3"/>
                      </a:gs>
                      <a:gs pos="86000">
                        <a:srgbClr val="0655D3">
                          <a:alpha val="0"/>
                        </a:srgbClr>
                      </a:gs>
                    </a:gsLst>
                    <a:lin ang="5400000" scaled="1"/>
                  </a:gradFill>
                  <a:effectLst/>
                  <a:uLnTx/>
                  <a:uFillTx/>
                  <a:latin typeface="Arial" panose="020B0604020202020204" pitchFamily="34" charset="0"/>
                  <a:ea typeface="OPPOSans B"/>
                  <a:cs typeface="Arial" panose="020B0604020202020204" pitchFamily="34" charset="0"/>
                </a:rPr>
                <a:t>03</a:t>
              </a:r>
              <a:endParaRPr kumimoji="0" lang="zh-CN" altLang="en-US" sz="88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22000">
                      <a:srgbClr val="0655D3"/>
                    </a:gs>
                    <a:gs pos="86000">
                      <a:srgbClr val="0655D3">
                        <a:alpha val="0"/>
                      </a:srgbClr>
                    </a:gs>
                  </a:gsLst>
                  <a:lin ang="5400000" scaled="1"/>
                </a:gradFill>
                <a:effectLst/>
                <a:uLnTx/>
                <a:uFillTx/>
                <a:latin typeface="Arial" panose="020B0604020202020204" pitchFamily="34" charset="0"/>
                <a:ea typeface="OPPOSans B"/>
                <a:cs typeface="Arial" panose="020B0604020202020204" pitchFamily="34" charset="0"/>
              </a:endParaRPr>
            </a:p>
          </p:txBody>
        </p:sp>
      </p:grpSp>
      <p:cxnSp>
        <p:nvCxnSpPr>
          <p:cNvPr id="22" name="直线连接符 21"/>
          <p:cNvCxnSpPr/>
          <p:nvPr/>
        </p:nvCxnSpPr>
        <p:spPr>
          <a:xfrm>
            <a:off x="3508081" y="4676038"/>
            <a:ext cx="1251950" cy="6730"/>
          </a:xfrm>
          <a:prstGeom prst="line">
            <a:avLst/>
          </a:prstGeom>
          <a:ln w="28575">
            <a:solidFill>
              <a:srgbClr val="0E6BC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10509108" y="6325674"/>
            <a:ext cx="1323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4447096A-5CB9-A449-9521-AD82728A312D}" type="slidenum">
              <a:rPr kumimoji="1" lang="zh-CN" altLang="en-US" smtClean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fld>
            <a:endParaRPr kumimoji="1" lang="zh-CN" altLang="en-US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5" cstate="screen"/>
          <a:stretch>
            <a:fillRect/>
          </a:stretch>
        </p:blipFill>
        <p:spPr>
          <a:xfrm>
            <a:off x="11286756" y="298037"/>
            <a:ext cx="594505" cy="663864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/>
          <p:cNvSpPr/>
          <p:nvPr/>
        </p:nvSpPr>
        <p:spPr>
          <a:xfrm flipH="1">
            <a:off x="-643" y="4057687"/>
            <a:ext cx="12191683" cy="2800501"/>
          </a:xfrm>
          <a:prstGeom prst="rect">
            <a:avLst/>
          </a:prstGeom>
          <a:gradFill>
            <a:gsLst>
              <a:gs pos="100000">
                <a:srgbClr val="0070C0">
                  <a:alpha val="96000"/>
                </a:srgbClr>
              </a:gs>
              <a:gs pos="40000">
                <a:srgbClr val="3354B5">
                  <a:alpha val="90000"/>
                </a:srgbClr>
              </a:gs>
              <a:gs pos="0">
                <a:srgbClr val="1F2B97">
                  <a:alpha val="89648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OPPOSans R" pitchFamily="18" charset="-122"/>
              <a:cs typeface="+mn-cs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655571" y="429682"/>
            <a:ext cx="438284" cy="239186"/>
            <a:chOff x="450426" y="460569"/>
            <a:chExt cx="314885" cy="171843"/>
          </a:xfrm>
          <a:gradFill flip="none" rotWithShape="1">
            <a:gsLst>
              <a:gs pos="82000">
                <a:srgbClr val="0086CE">
                  <a:alpha val="0"/>
                </a:srgbClr>
              </a:gs>
              <a:gs pos="18000">
                <a:srgbClr val="006FAC"/>
              </a:gs>
            </a:gsLst>
            <a:lin ang="2700000" scaled="1"/>
            <a:tileRect/>
          </a:gradFill>
        </p:grpSpPr>
        <p:sp>
          <p:nvSpPr>
            <p:cNvPr id="21" name="椭圆 20"/>
            <p:cNvSpPr/>
            <p:nvPr/>
          </p:nvSpPr>
          <p:spPr>
            <a:xfrm>
              <a:off x="450426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2" name="椭圆 21"/>
            <p:cNvSpPr/>
            <p:nvPr/>
          </p:nvSpPr>
          <p:spPr>
            <a:xfrm>
              <a:off x="521947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593469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4" name="椭圆 23"/>
            <p:cNvSpPr/>
            <p:nvPr/>
          </p:nvSpPr>
          <p:spPr>
            <a:xfrm>
              <a:off x="664990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5" name="椭圆 24"/>
            <p:cNvSpPr/>
            <p:nvPr/>
          </p:nvSpPr>
          <p:spPr>
            <a:xfrm>
              <a:off x="450426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6" name="椭圆 25"/>
            <p:cNvSpPr/>
            <p:nvPr/>
          </p:nvSpPr>
          <p:spPr>
            <a:xfrm>
              <a:off x="521947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0" name="椭圆 29"/>
            <p:cNvSpPr/>
            <p:nvPr/>
          </p:nvSpPr>
          <p:spPr>
            <a:xfrm>
              <a:off x="593469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1" name="椭圆 30"/>
            <p:cNvSpPr/>
            <p:nvPr/>
          </p:nvSpPr>
          <p:spPr>
            <a:xfrm>
              <a:off x="664990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2" name="椭圆 31"/>
            <p:cNvSpPr/>
            <p:nvPr/>
          </p:nvSpPr>
          <p:spPr>
            <a:xfrm>
              <a:off x="450426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3" name="椭圆 32"/>
            <p:cNvSpPr/>
            <p:nvPr/>
          </p:nvSpPr>
          <p:spPr>
            <a:xfrm>
              <a:off x="521947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4" name="椭圆 33"/>
            <p:cNvSpPr/>
            <p:nvPr/>
          </p:nvSpPr>
          <p:spPr>
            <a:xfrm>
              <a:off x="593469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5" name="椭圆 34"/>
            <p:cNvSpPr/>
            <p:nvPr/>
          </p:nvSpPr>
          <p:spPr>
            <a:xfrm>
              <a:off x="664990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6" name="椭圆 35"/>
            <p:cNvSpPr/>
            <p:nvPr/>
          </p:nvSpPr>
          <p:spPr>
            <a:xfrm>
              <a:off x="736511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9" name="椭圆 38"/>
            <p:cNvSpPr/>
            <p:nvPr/>
          </p:nvSpPr>
          <p:spPr>
            <a:xfrm>
              <a:off x="736511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42" name="椭圆 41"/>
            <p:cNvSpPr/>
            <p:nvPr/>
          </p:nvSpPr>
          <p:spPr>
            <a:xfrm>
              <a:off x="736511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</p:grpSp>
      <p:sp>
        <p:nvSpPr>
          <p:cNvPr id="47" name="文本框 46"/>
          <p:cNvSpPr txBox="1"/>
          <p:nvPr/>
        </p:nvSpPr>
        <p:spPr>
          <a:xfrm>
            <a:off x="854668" y="410108"/>
            <a:ext cx="4742705" cy="579755"/>
          </a:xfrm>
          <a:prstGeom prst="rect">
            <a:avLst/>
          </a:prstGeom>
          <a:noFill/>
          <a:effectLst/>
        </p:spPr>
        <p:txBody>
          <a:bodyPr wrap="square" lIns="0" tIns="43846" rIns="87691" bIns="43846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3200" b="1" noProof="0" dirty="0">
                <a:ln>
                  <a:noFill/>
                </a:ln>
                <a:solidFill>
                  <a:srgbClr val="0E6BC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系统总体设计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F3D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 cstate="screen"/>
          <a:stretch>
            <a:fillRect/>
          </a:stretch>
        </p:blipFill>
        <p:spPr>
          <a:xfrm>
            <a:off x="11286756" y="298037"/>
            <a:ext cx="594505" cy="663864"/>
          </a:xfrm>
          <a:prstGeom prst="rect">
            <a:avLst/>
          </a:prstGeom>
        </p:spPr>
      </p:pic>
      <p:pic>
        <p:nvPicPr>
          <p:cNvPr id="5" name="图片 4" descr="ChatGPT Image 2026年6月16日 20_59_05"/>
          <p:cNvPicPr>
            <a:picLocks noChangeAspect="1"/>
          </p:cNvPicPr>
          <p:nvPr/>
        </p:nvPicPr>
        <p:blipFill>
          <a:blip r:embed="rId2"/>
          <a:srcRect t="8027"/>
          <a:stretch>
            <a:fillRect/>
          </a:stretch>
        </p:blipFill>
        <p:spPr>
          <a:xfrm>
            <a:off x="854710" y="1051560"/>
            <a:ext cx="10436860" cy="540639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/>
          <p:cNvSpPr/>
          <p:nvPr/>
        </p:nvSpPr>
        <p:spPr>
          <a:xfrm flipH="1">
            <a:off x="-643" y="4057687"/>
            <a:ext cx="12191683" cy="2800501"/>
          </a:xfrm>
          <a:prstGeom prst="rect">
            <a:avLst/>
          </a:prstGeom>
          <a:gradFill>
            <a:gsLst>
              <a:gs pos="100000">
                <a:srgbClr val="0070C0">
                  <a:alpha val="96000"/>
                </a:srgbClr>
              </a:gs>
              <a:gs pos="40000">
                <a:srgbClr val="3354B5">
                  <a:alpha val="90000"/>
                </a:srgbClr>
              </a:gs>
              <a:gs pos="0">
                <a:srgbClr val="1F2B97">
                  <a:alpha val="89648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OPPOSans R" pitchFamily="18" charset="-122"/>
              <a:cs typeface="+mn-cs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655571" y="429682"/>
            <a:ext cx="438284" cy="239186"/>
            <a:chOff x="450426" y="460569"/>
            <a:chExt cx="314885" cy="171843"/>
          </a:xfrm>
          <a:gradFill flip="none" rotWithShape="1">
            <a:gsLst>
              <a:gs pos="82000">
                <a:srgbClr val="0086CE">
                  <a:alpha val="0"/>
                </a:srgbClr>
              </a:gs>
              <a:gs pos="18000">
                <a:srgbClr val="006FAC"/>
              </a:gs>
            </a:gsLst>
            <a:lin ang="2700000" scaled="1"/>
            <a:tileRect/>
          </a:gradFill>
        </p:grpSpPr>
        <p:sp>
          <p:nvSpPr>
            <p:cNvPr id="21" name="椭圆 20"/>
            <p:cNvSpPr/>
            <p:nvPr/>
          </p:nvSpPr>
          <p:spPr>
            <a:xfrm>
              <a:off x="450426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2" name="椭圆 21"/>
            <p:cNvSpPr/>
            <p:nvPr/>
          </p:nvSpPr>
          <p:spPr>
            <a:xfrm>
              <a:off x="521947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593469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4" name="椭圆 23"/>
            <p:cNvSpPr/>
            <p:nvPr/>
          </p:nvSpPr>
          <p:spPr>
            <a:xfrm>
              <a:off x="664990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5" name="椭圆 24"/>
            <p:cNvSpPr/>
            <p:nvPr/>
          </p:nvSpPr>
          <p:spPr>
            <a:xfrm>
              <a:off x="450426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6" name="椭圆 25"/>
            <p:cNvSpPr/>
            <p:nvPr/>
          </p:nvSpPr>
          <p:spPr>
            <a:xfrm>
              <a:off x="521947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0" name="椭圆 29"/>
            <p:cNvSpPr/>
            <p:nvPr/>
          </p:nvSpPr>
          <p:spPr>
            <a:xfrm>
              <a:off x="593469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1" name="椭圆 30"/>
            <p:cNvSpPr/>
            <p:nvPr/>
          </p:nvSpPr>
          <p:spPr>
            <a:xfrm>
              <a:off x="664990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2" name="椭圆 31"/>
            <p:cNvSpPr/>
            <p:nvPr/>
          </p:nvSpPr>
          <p:spPr>
            <a:xfrm>
              <a:off x="450426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3" name="椭圆 32"/>
            <p:cNvSpPr/>
            <p:nvPr/>
          </p:nvSpPr>
          <p:spPr>
            <a:xfrm>
              <a:off x="521947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4" name="椭圆 33"/>
            <p:cNvSpPr/>
            <p:nvPr/>
          </p:nvSpPr>
          <p:spPr>
            <a:xfrm>
              <a:off x="593469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5" name="椭圆 34"/>
            <p:cNvSpPr/>
            <p:nvPr/>
          </p:nvSpPr>
          <p:spPr>
            <a:xfrm>
              <a:off x="664990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6" name="椭圆 35"/>
            <p:cNvSpPr/>
            <p:nvPr/>
          </p:nvSpPr>
          <p:spPr>
            <a:xfrm>
              <a:off x="736511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9" name="椭圆 38"/>
            <p:cNvSpPr/>
            <p:nvPr/>
          </p:nvSpPr>
          <p:spPr>
            <a:xfrm>
              <a:off x="736511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42" name="椭圆 41"/>
            <p:cNvSpPr/>
            <p:nvPr/>
          </p:nvSpPr>
          <p:spPr>
            <a:xfrm>
              <a:off x="736511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</p:grpSp>
      <p:sp>
        <p:nvSpPr>
          <p:cNvPr id="47" name="文本框 46"/>
          <p:cNvSpPr txBox="1"/>
          <p:nvPr/>
        </p:nvSpPr>
        <p:spPr>
          <a:xfrm>
            <a:off x="854668" y="410108"/>
            <a:ext cx="4742705" cy="579755"/>
          </a:xfrm>
          <a:prstGeom prst="rect">
            <a:avLst/>
          </a:prstGeom>
          <a:noFill/>
          <a:effectLst/>
        </p:spPr>
        <p:txBody>
          <a:bodyPr wrap="square" lIns="0" tIns="43846" rIns="87691" bIns="43846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3200" b="1" noProof="0" dirty="0">
                <a:ln>
                  <a:noFill/>
                </a:ln>
                <a:solidFill>
                  <a:srgbClr val="0E6BC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系统总体设计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F3D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 cstate="screen"/>
          <a:stretch>
            <a:fillRect/>
          </a:stretch>
        </p:blipFill>
        <p:spPr>
          <a:xfrm>
            <a:off x="11286756" y="298037"/>
            <a:ext cx="594505" cy="663864"/>
          </a:xfrm>
          <a:prstGeom prst="rect">
            <a:avLst/>
          </a:prstGeom>
        </p:spPr>
      </p:pic>
      <p:pic>
        <p:nvPicPr>
          <p:cNvPr id="4" name="图片 3" descr="slide_05"/>
          <p:cNvPicPr>
            <a:picLocks noChangeAspect="1"/>
          </p:cNvPicPr>
          <p:nvPr/>
        </p:nvPicPr>
        <p:blipFill>
          <a:blip r:embed="rId2"/>
          <a:srcRect t="18944" b="13093"/>
          <a:stretch>
            <a:fillRect/>
          </a:stretch>
        </p:blipFill>
        <p:spPr>
          <a:xfrm>
            <a:off x="6985" y="1772285"/>
            <a:ext cx="12185015" cy="46609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54668" y="1130198"/>
            <a:ext cx="4742705" cy="456565"/>
          </a:xfrm>
          <a:prstGeom prst="rect">
            <a:avLst/>
          </a:prstGeom>
          <a:noFill/>
          <a:effectLst/>
        </p:spPr>
        <p:txBody>
          <a:bodyPr wrap="square" lIns="0" tIns="43846" rIns="87691" bIns="43846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  <a:sym typeface="+mn-lt"/>
              </a:rPr>
              <a:t>增量式开发模型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  <a:sym typeface="+mn-lt"/>
            </a:endParaRP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/>
          <p:cNvSpPr/>
          <p:nvPr/>
        </p:nvSpPr>
        <p:spPr>
          <a:xfrm flipH="1">
            <a:off x="-643" y="4057687"/>
            <a:ext cx="12191683" cy="2800501"/>
          </a:xfrm>
          <a:prstGeom prst="rect">
            <a:avLst/>
          </a:prstGeom>
          <a:gradFill>
            <a:gsLst>
              <a:gs pos="100000">
                <a:srgbClr val="0070C0">
                  <a:alpha val="96000"/>
                </a:srgbClr>
              </a:gs>
              <a:gs pos="40000">
                <a:srgbClr val="3354B5">
                  <a:alpha val="90000"/>
                </a:srgbClr>
              </a:gs>
              <a:gs pos="0">
                <a:srgbClr val="1F2B97">
                  <a:alpha val="89648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OPPOSans R" pitchFamily="18" charset="-122"/>
              <a:cs typeface="+mn-cs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655571" y="429682"/>
            <a:ext cx="438284" cy="239186"/>
            <a:chOff x="450426" y="460569"/>
            <a:chExt cx="314885" cy="171843"/>
          </a:xfrm>
          <a:gradFill flip="none" rotWithShape="1">
            <a:gsLst>
              <a:gs pos="82000">
                <a:srgbClr val="0086CE">
                  <a:alpha val="0"/>
                </a:srgbClr>
              </a:gs>
              <a:gs pos="18000">
                <a:srgbClr val="006FAC"/>
              </a:gs>
            </a:gsLst>
            <a:lin ang="2700000" scaled="1"/>
            <a:tileRect/>
          </a:gradFill>
        </p:grpSpPr>
        <p:sp>
          <p:nvSpPr>
            <p:cNvPr id="21" name="椭圆 20"/>
            <p:cNvSpPr/>
            <p:nvPr/>
          </p:nvSpPr>
          <p:spPr>
            <a:xfrm>
              <a:off x="450426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2" name="椭圆 21"/>
            <p:cNvSpPr/>
            <p:nvPr/>
          </p:nvSpPr>
          <p:spPr>
            <a:xfrm>
              <a:off x="521947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593469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4" name="椭圆 23"/>
            <p:cNvSpPr/>
            <p:nvPr/>
          </p:nvSpPr>
          <p:spPr>
            <a:xfrm>
              <a:off x="664990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5" name="椭圆 24"/>
            <p:cNvSpPr/>
            <p:nvPr/>
          </p:nvSpPr>
          <p:spPr>
            <a:xfrm>
              <a:off x="450426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6" name="椭圆 25"/>
            <p:cNvSpPr/>
            <p:nvPr/>
          </p:nvSpPr>
          <p:spPr>
            <a:xfrm>
              <a:off x="521947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0" name="椭圆 29"/>
            <p:cNvSpPr/>
            <p:nvPr/>
          </p:nvSpPr>
          <p:spPr>
            <a:xfrm>
              <a:off x="593469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1" name="椭圆 30"/>
            <p:cNvSpPr/>
            <p:nvPr/>
          </p:nvSpPr>
          <p:spPr>
            <a:xfrm>
              <a:off x="664990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2" name="椭圆 31"/>
            <p:cNvSpPr/>
            <p:nvPr/>
          </p:nvSpPr>
          <p:spPr>
            <a:xfrm>
              <a:off x="450426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3" name="椭圆 32"/>
            <p:cNvSpPr/>
            <p:nvPr/>
          </p:nvSpPr>
          <p:spPr>
            <a:xfrm>
              <a:off x="521947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4" name="椭圆 33"/>
            <p:cNvSpPr/>
            <p:nvPr/>
          </p:nvSpPr>
          <p:spPr>
            <a:xfrm>
              <a:off x="593469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5" name="椭圆 34"/>
            <p:cNvSpPr/>
            <p:nvPr/>
          </p:nvSpPr>
          <p:spPr>
            <a:xfrm>
              <a:off x="664990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6" name="椭圆 35"/>
            <p:cNvSpPr/>
            <p:nvPr/>
          </p:nvSpPr>
          <p:spPr>
            <a:xfrm>
              <a:off x="736511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9" name="椭圆 38"/>
            <p:cNvSpPr/>
            <p:nvPr/>
          </p:nvSpPr>
          <p:spPr>
            <a:xfrm>
              <a:off x="736511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42" name="椭圆 41"/>
            <p:cNvSpPr/>
            <p:nvPr/>
          </p:nvSpPr>
          <p:spPr>
            <a:xfrm>
              <a:off x="736511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</p:grpSp>
      <p:sp>
        <p:nvSpPr>
          <p:cNvPr id="47" name="文本框 46"/>
          <p:cNvSpPr txBox="1"/>
          <p:nvPr/>
        </p:nvSpPr>
        <p:spPr>
          <a:xfrm>
            <a:off x="854668" y="410108"/>
            <a:ext cx="4742705" cy="579755"/>
          </a:xfrm>
          <a:prstGeom prst="rect">
            <a:avLst/>
          </a:prstGeom>
          <a:noFill/>
          <a:effectLst/>
        </p:spPr>
        <p:txBody>
          <a:bodyPr wrap="square" lIns="0" tIns="43846" rIns="87691" bIns="43846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3200" b="1" noProof="0" dirty="0">
                <a:ln>
                  <a:noFill/>
                </a:ln>
                <a:solidFill>
                  <a:srgbClr val="0E6BC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系统总体设计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F3D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 cstate="screen"/>
          <a:stretch>
            <a:fillRect/>
          </a:stretch>
        </p:blipFill>
        <p:spPr>
          <a:xfrm>
            <a:off x="11286756" y="298037"/>
            <a:ext cx="594505" cy="663864"/>
          </a:xfrm>
          <a:prstGeom prst="rect">
            <a:avLst/>
          </a:prstGeom>
        </p:spPr>
      </p:pic>
      <p:pic>
        <p:nvPicPr>
          <p:cNvPr id="2" name="图片 1" descr="slide_11"/>
          <p:cNvPicPr>
            <a:picLocks noChangeAspect="1"/>
          </p:cNvPicPr>
          <p:nvPr/>
        </p:nvPicPr>
        <p:blipFill>
          <a:blip r:embed="rId2"/>
          <a:srcRect t="20435" b="14296"/>
          <a:stretch>
            <a:fillRect/>
          </a:stretch>
        </p:blipFill>
        <p:spPr>
          <a:xfrm>
            <a:off x="-635" y="1672590"/>
            <a:ext cx="12185015" cy="447611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54668" y="1043203"/>
            <a:ext cx="4742705" cy="456565"/>
          </a:xfrm>
          <a:prstGeom prst="rect">
            <a:avLst/>
          </a:prstGeom>
          <a:noFill/>
          <a:effectLst/>
        </p:spPr>
        <p:txBody>
          <a:bodyPr wrap="square" lIns="0" tIns="43846" rIns="87691" bIns="43846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  <a:sym typeface="+mn-lt"/>
              </a:rPr>
              <a:t>B/S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  <a:sym typeface="+mn-lt"/>
              </a:rPr>
              <a:t>分层体系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  <a:sym typeface="+mn-lt"/>
              </a:rPr>
              <a:t>结构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  <a:sym typeface="+mn-lt"/>
            </a:endParaRP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alphaModFix amt="95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 r="44004" b="49240"/>
          <a:stretch>
            <a:fillRect/>
          </a:stretch>
        </p:blipFill>
        <p:spPr>
          <a:xfrm flipV="1">
            <a:off x="1" y="-7"/>
            <a:ext cx="12191998" cy="3747395"/>
          </a:xfrm>
          <a:custGeom>
            <a:avLst/>
            <a:gdLst>
              <a:gd name="connsiteX0" fmla="*/ 0 w 12192000"/>
              <a:gd name="connsiteY0" fmla="*/ 2558508 h 2558508"/>
              <a:gd name="connsiteX1" fmla="*/ 12192000 w 12192000"/>
              <a:gd name="connsiteY1" fmla="*/ 2558508 h 2558508"/>
              <a:gd name="connsiteX2" fmla="*/ 12192000 w 12192000"/>
              <a:gd name="connsiteY2" fmla="*/ 0 h 2558508"/>
              <a:gd name="connsiteX3" fmla="*/ 0 w 12192000"/>
              <a:gd name="connsiteY3" fmla="*/ 0 h 2558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558508">
                <a:moveTo>
                  <a:pt x="0" y="2558508"/>
                </a:moveTo>
                <a:lnTo>
                  <a:pt x="12192000" y="2558508"/>
                </a:lnTo>
                <a:lnTo>
                  <a:pt x="12192000" y="0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3" cstate="screen"/>
          <a:srcRect/>
          <a:stretch>
            <a:fillRect/>
          </a:stretch>
        </p:blipFill>
        <p:spPr>
          <a:xfrm>
            <a:off x="0" y="0"/>
            <a:ext cx="4732986" cy="68580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-3163" y="0"/>
            <a:ext cx="4763194" cy="6858000"/>
          </a:xfrm>
          <a:prstGeom prst="rect">
            <a:avLst/>
          </a:prstGeom>
          <a:gradFill>
            <a:gsLst>
              <a:gs pos="0">
                <a:srgbClr val="0070C0">
                  <a:alpha val="72135"/>
                </a:srgbClr>
              </a:gs>
              <a:gs pos="100000">
                <a:srgbClr val="3354B5">
                  <a:alpha val="80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任意多边形: 形状 18"/>
          <p:cNvSpPr/>
          <p:nvPr/>
        </p:nvSpPr>
        <p:spPr>
          <a:xfrm>
            <a:off x="2712949" y="1396538"/>
            <a:ext cx="8117345" cy="4064924"/>
          </a:xfrm>
          <a:custGeom>
            <a:avLst/>
            <a:gdLst>
              <a:gd name="connsiteX0" fmla="*/ 6890674 w 7586519"/>
              <a:gd name="connsiteY0" fmla="*/ 0 h 4064924"/>
              <a:gd name="connsiteX1" fmla="*/ 7446523 w 7586519"/>
              <a:gd name="connsiteY1" fmla="*/ 0 h 4064924"/>
              <a:gd name="connsiteX2" fmla="*/ 7586519 w 7586519"/>
              <a:gd name="connsiteY2" fmla="*/ 139996 h 4064924"/>
              <a:gd name="connsiteX3" fmla="*/ 7586519 w 7586519"/>
              <a:gd name="connsiteY3" fmla="*/ 705494 h 4064924"/>
              <a:gd name="connsiteX4" fmla="*/ 7484758 w 7586519"/>
              <a:gd name="connsiteY4" fmla="*/ 715752 h 4064924"/>
              <a:gd name="connsiteX5" fmla="*/ 6879532 w 7586519"/>
              <a:gd name="connsiteY5" fmla="*/ 110526 h 4064924"/>
              <a:gd name="connsiteX6" fmla="*/ 139996 w 7586519"/>
              <a:gd name="connsiteY6" fmla="*/ 0 h 4064924"/>
              <a:gd name="connsiteX7" fmla="*/ 6651650 w 7586519"/>
              <a:gd name="connsiteY7" fmla="*/ 0 h 4064924"/>
              <a:gd name="connsiteX8" fmla="*/ 6640508 w 7586519"/>
              <a:gd name="connsiteY8" fmla="*/ 110526 h 4064924"/>
              <a:gd name="connsiteX9" fmla="*/ 7484758 w 7586519"/>
              <a:gd name="connsiteY9" fmla="*/ 954776 h 4064924"/>
              <a:gd name="connsiteX10" fmla="*/ 7571078 w 7586519"/>
              <a:gd name="connsiteY10" fmla="*/ 950417 h 4064924"/>
              <a:gd name="connsiteX11" fmla="*/ 7586519 w 7586519"/>
              <a:gd name="connsiteY11" fmla="*/ 948061 h 4064924"/>
              <a:gd name="connsiteX12" fmla="*/ 7586519 w 7586519"/>
              <a:gd name="connsiteY12" fmla="*/ 3924928 h 4064924"/>
              <a:gd name="connsiteX13" fmla="*/ 7446523 w 7586519"/>
              <a:gd name="connsiteY13" fmla="*/ 4064924 h 4064924"/>
              <a:gd name="connsiteX14" fmla="*/ 139996 w 7586519"/>
              <a:gd name="connsiteY14" fmla="*/ 4064924 h 4064924"/>
              <a:gd name="connsiteX15" fmla="*/ 0 w 7586519"/>
              <a:gd name="connsiteY15" fmla="*/ 3924928 h 4064924"/>
              <a:gd name="connsiteX16" fmla="*/ 0 w 7586519"/>
              <a:gd name="connsiteY16" fmla="*/ 139996 h 4064924"/>
              <a:gd name="connsiteX17" fmla="*/ 139996 w 7586519"/>
              <a:gd name="connsiteY17" fmla="*/ 0 h 4064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7586519" h="4064924">
                <a:moveTo>
                  <a:pt x="6890674" y="0"/>
                </a:moveTo>
                <a:lnTo>
                  <a:pt x="7446523" y="0"/>
                </a:lnTo>
                <a:cubicBezTo>
                  <a:pt x="7523841" y="0"/>
                  <a:pt x="7586519" y="62678"/>
                  <a:pt x="7586519" y="139996"/>
                </a:cubicBezTo>
                <a:lnTo>
                  <a:pt x="7586519" y="705494"/>
                </a:lnTo>
                <a:lnTo>
                  <a:pt x="7484758" y="715752"/>
                </a:lnTo>
                <a:cubicBezTo>
                  <a:pt x="7150501" y="715752"/>
                  <a:pt x="6879532" y="444783"/>
                  <a:pt x="6879532" y="110526"/>
                </a:cubicBezTo>
                <a:close/>
                <a:moveTo>
                  <a:pt x="139996" y="0"/>
                </a:moveTo>
                <a:lnTo>
                  <a:pt x="6651650" y="0"/>
                </a:lnTo>
                <a:lnTo>
                  <a:pt x="6640508" y="110526"/>
                </a:lnTo>
                <a:cubicBezTo>
                  <a:pt x="6640508" y="576792"/>
                  <a:pt x="7018492" y="954776"/>
                  <a:pt x="7484758" y="954776"/>
                </a:cubicBezTo>
                <a:cubicBezTo>
                  <a:pt x="7513900" y="954776"/>
                  <a:pt x="7542696" y="953300"/>
                  <a:pt x="7571078" y="950417"/>
                </a:cubicBezTo>
                <a:lnTo>
                  <a:pt x="7586519" y="948061"/>
                </a:lnTo>
                <a:lnTo>
                  <a:pt x="7586519" y="3924928"/>
                </a:lnTo>
                <a:cubicBezTo>
                  <a:pt x="7586519" y="4002246"/>
                  <a:pt x="7523841" y="4064924"/>
                  <a:pt x="7446523" y="4064924"/>
                </a:cubicBezTo>
                <a:lnTo>
                  <a:pt x="139996" y="4064924"/>
                </a:lnTo>
                <a:cubicBezTo>
                  <a:pt x="62678" y="4064924"/>
                  <a:pt x="0" y="4002246"/>
                  <a:pt x="0" y="3924928"/>
                </a:cubicBezTo>
                <a:lnTo>
                  <a:pt x="0" y="139996"/>
                </a:lnTo>
                <a:cubicBezTo>
                  <a:pt x="0" y="62678"/>
                  <a:pt x="62678" y="0"/>
                  <a:pt x="13999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17500" dist="127000" dir="2700000" algn="tl" rotWithShape="0">
              <a:srgbClr val="0064D8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1204493" y="1396538"/>
            <a:ext cx="677108" cy="4064924"/>
            <a:chOff x="26301" y="1138131"/>
            <a:chExt cx="677108" cy="4064924"/>
          </a:xfrm>
        </p:grpSpPr>
        <p:sp>
          <p:nvSpPr>
            <p:cNvPr id="10" name="文本框 9"/>
            <p:cNvSpPr txBox="1"/>
            <p:nvPr/>
          </p:nvSpPr>
          <p:spPr>
            <a:xfrm>
              <a:off x="26301" y="1138131"/>
              <a:ext cx="677108" cy="287805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sz="1600" dirty="0">
                  <a:solidFill>
                    <a:srgbClr val="0E6BC9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SOUTHWEST JIAOTONG UNIVERSITY</a:t>
              </a:r>
              <a:endParaRPr lang="zh-CN" altLang="en-US" sz="1600" dirty="0">
                <a:solidFill>
                  <a:srgbClr val="0E6BC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482600" y="3845518"/>
              <a:ext cx="0" cy="1357537"/>
            </a:xfrm>
            <a:prstGeom prst="line">
              <a:avLst/>
            </a:prstGeom>
            <a:ln w="12700">
              <a:solidFill>
                <a:srgbClr val="316AE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组合 2"/>
          <p:cNvGrpSpPr/>
          <p:nvPr/>
        </p:nvGrpSpPr>
        <p:grpSpPr>
          <a:xfrm>
            <a:off x="3397184" y="1550560"/>
            <a:ext cx="4297680" cy="2345475"/>
            <a:chOff x="497375" y="1211712"/>
            <a:chExt cx="4297680" cy="2345475"/>
          </a:xfrm>
        </p:grpSpPr>
        <p:sp>
          <p:nvSpPr>
            <p:cNvPr id="6" name="文本框 5"/>
            <p:cNvSpPr txBox="1"/>
            <p:nvPr/>
          </p:nvSpPr>
          <p:spPr>
            <a:xfrm>
              <a:off x="497375" y="2635167"/>
              <a:ext cx="4297680" cy="9220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800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lang="zh-CN" altLang="zh-CN" sz="5400" b="1" noProof="0" dirty="0">
                  <a:ln>
                    <a:noFill/>
                  </a:ln>
                  <a:solidFill>
                    <a:srgbClr val="0E6BC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lt"/>
                </a:rPr>
                <a:t>核心功能</a:t>
              </a:r>
              <a:r>
                <a:rPr lang="zh-CN" altLang="zh-CN" sz="5400" b="1" noProof="0" dirty="0">
                  <a:ln>
                    <a:noFill/>
                  </a:ln>
                  <a:solidFill>
                    <a:srgbClr val="0E6BC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lt"/>
                </a:rPr>
                <a:t>展示</a:t>
              </a:r>
              <a:endParaRPr lang="zh-CN" altLang="zh-CN" sz="5400" b="1" noProof="0" dirty="0">
                <a:ln>
                  <a:noFill/>
                </a:ln>
                <a:solidFill>
                  <a:srgbClr val="0E6BC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522775" y="1211712"/>
              <a:ext cx="1441420" cy="14465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800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22000">
                        <a:srgbClr val="0655D3"/>
                      </a:gs>
                      <a:gs pos="86000">
                        <a:srgbClr val="0655D3">
                          <a:alpha val="0"/>
                        </a:srgbClr>
                      </a:gs>
                    </a:gsLst>
                    <a:lin ang="5400000" scaled="1"/>
                  </a:gradFill>
                  <a:effectLst/>
                  <a:uLnTx/>
                  <a:uFillTx/>
                  <a:latin typeface="Arial" panose="020B0604020202020204" pitchFamily="34" charset="0"/>
                  <a:ea typeface="OPPOSans B"/>
                  <a:cs typeface="Arial" panose="020B0604020202020204" pitchFamily="34" charset="0"/>
                </a:rPr>
                <a:t>04</a:t>
              </a:r>
              <a:endParaRPr kumimoji="0" lang="zh-CN" altLang="en-US" sz="88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22000">
                      <a:srgbClr val="0655D3"/>
                    </a:gs>
                    <a:gs pos="86000">
                      <a:srgbClr val="0655D3">
                        <a:alpha val="0"/>
                      </a:srgbClr>
                    </a:gs>
                  </a:gsLst>
                  <a:lin ang="5400000" scaled="1"/>
                </a:gradFill>
                <a:effectLst/>
                <a:uLnTx/>
                <a:uFillTx/>
                <a:latin typeface="Arial" panose="020B0604020202020204" pitchFamily="34" charset="0"/>
                <a:ea typeface="OPPOSans B"/>
                <a:cs typeface="Arial" panose="020B0604020202020204" pitchFamily="34" charset="0"/>
              </a:endParaRPr>
            </a:p>
          </p:txBody>
        </p:sp>
      </p:grpSp>
      <p:cxnSp>
        <p:nvCxnSpPr>
          <p:cNvPr id="22" name="直线连接符 21"/>
          <p:cNvCxnSpPr/>
          <p:nvPr/>
        </p:nvCxnSpPr>
        <p:spPr>
          <a:xfrm>
            <a:off x="3508081" y="4676038"/>
            <a:ext cx="1251950" cy="6730"/>
          </a:xfrm>
          <a:prstGeom prst="line">
            <a:avLst/>
          </a:prstGeom>
          <a:ln w="28575">
            <a:solidFill>
              <a:srgbClr val="0E6BC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10509108" y="6325674"/>
            <a:ext cx="1323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4447096A-5CB9-A449-9521-AD82728A312D}" type="slidenum">
              <a:rPr kumimoji="1" lang="zh-CN" altLang="en-US" smtClean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fld>
            <a:endParaRPr kumimoji="1" lang="zh-CN" altLang="en-US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 cstate="screen"/>
          <a:stretch>
            <a:fillRect/>
          </a:stretch>
        </p:blipFill>
        <p:spPr>
          <a:xfrm>
            <a:off x="11286756" y="298037"/>
            <a:ext cx="594505" cy="663864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55571" y="429682"/>
            <a:ext cx="438284" cy="239186"/>
            <a:chOff x="450426" y="460569"/>
            <a:chExt cx="314885" cy="171843"/>
          </a:xfrm>
          <a:gradFill flip="none" rotWithShape="1">
            <a:gsLst>
              <a:gs pos="82000">
                <a:srgbClr val="0086CE">
                  <a:alpha val="0"/>
                </a:srgbClr>
              </a:gs>
              <a:gs pos="18000">
                <a:srgbClr val="006FAC"/>
              </a:gs>
            </a:gsLst>
            <a:lin ang="2700000" scaled="1"/>
            <a:tileRect/>
          </a:gradFill>
        </p:grpSpPr>
        <p:sp>
          <p:nvSpPr>
            <p:cNvPr id="3" name="椭圆 2"/>
            <p:cNvSpPr/>
            <p:nvPr/>
          </p:nvSpPr>
          <p:spPr>
            <a:xfrm>
              <a:off x="450426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4" name="椭圆 3"/>
            <p:cNvSpPr/>
            <p:nvPr/>
          </p:nvSpPr>
          <p:spPr>
            <a:xfrm>
              <a:off x="521947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593469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64990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450426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521947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593469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664990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450426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521947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593469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664990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5" name="椭圆 14"/>
            <p:cNvSpPr/>
            <p:nvPr/>
          </p:nvSpPr>
          <p:spPr>
            <a:xfrm>
              <a:off x="736511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736511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736511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</p:grpSp>
      <p:sp>
        <p:nvSpPr>
          <p:cNvPr id="18" name="平行四边形 17"/>
          <p:cNvSpPr/>
          <p:nvPr/>
        </p:nvSpPr>
        <p:spPr>
          <a:xfrm flipV="1">
            <a:off x="1555396" y="754055"/>
            <a:ext cx="2959100" cy="233776"/>
          </a:xfrm>
          <a:prstGeom prst="parallelogram">
            <a:avLst/>
          </a:prstGeom>
          <a:gradFill flip="none" rotWithShape="1">
            <a:gsLst>
              <a:gs pos="0">
                <a:srgbClr val="0086CE">
                  <a:alpha val="0"/>
                </a:srgbClr>
              </a:gs>
              <a:gs pos="100000">
                <a:srgbClr val="0086CE">
                  <a:alpha val="7400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54669" y="410108"/>
            <a:ext cx="3982026" cy="579755"/>
          </a:xfrm>
          <a:prstGeom prst="rect">
            <a:avLst/>
          </a:prstGeom>
          <a:noFill/>
          <a:effectLst/>
        </p:spPr>
        <p:txBody>
          <a:bodyPr wrap="square" lIns="0" tIns="43846" rIns="87691" bIns="43846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zh-CN" sz="3200" b="1" noProof="0" dirty="0">
                <a:ln>
                  <a:noFill/>
                </a:ln>
                <a:solidFill>
                  <a:srgbClr val="0E6BC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核心功能</a:t>
            </a:r>
            <a:r>
              <a:rPr lang="zh-CN" altLang="zh-CN" sz="3200" b="1" noProof="0" dirty="0">
                <a:ln>
                  <a:noFill/>
                </a:ln>
                <a:solidFill>
                  <a:srgbClr val="0E6BC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展示</a:t>
            </a:r>
            <a:endParaRPr lang="zh-CN" altLang="zh-CN" sz="3200" b="1" noProof="0" dirty="0">
              <a:ln>
                <a:noFill/>
              </a:ln>
              <a:solidFill>
                <a:srgbClr val="0E6BC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6756" y="298037"/>
            <a:ext cx="594505" cy="663864"/>
          </a:xfrm>
          <a:prstGeom prst="rect">
            <a:avLst/>
          </a:prstGeom>
        </p:spPr>
      </p:pic>
      <p:pic>
        <p:nvPicPr>
          <p:cNvPr id="21" name="jiaodaluntan-intro-video-beautified-voiceover-slow">
            <a:hlinkClick r:id="" action="ppaction://media"/>
          </p:cNvPr>
          <p:cNvPicPr/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12140" y="963930"/>
            <a:ext cx="10827385" cy="589407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6" dur="81766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 fullScrn="0">
              <p:cMediaNode vol="0" mute="1">
                <p:cTn id="7" fill="hold" display="1">
                  <p:stCondLst>
                    <p:cond delay="indefinite"/>
                  </p:stCondLst>
                </p:cTn>
                <p:tgtEl>
                  <p:spTgt spid="21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12" dur="1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/>
          <p:cNvSpPr/>
          <p:nvPr/>
        </p:nvSpPr>
        <p:spPr>
          <a:xfrm flipH="1">
            <a:off x="-643" y="4057687"/>
            <a:ext cx="12191683" cy="2800501"/>
          </a:xfrm>
          <a:prstGeom prst="rect">
            <a:avLst/>
          </a:prstGeom>
          <a:gradFill>
            <a:gsLst>
              <a:gs pos="100000">
                <a:srgbClr val="0070C0">
                  <a:alpha val="96000"/>
                </a:srgbClr>
              </a:gs>
              <a:gs pos="40000">
                <a:srgbClr val="3354B5">
                  <a:alpha val="90000"/>
                </a:srgbClr>
              </a:gs>
              <a:gs pos="0">
                <a:srgbClr val="1F2B97">
                  <a:alpha val="89648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OPPOSans R" pitchFamily="18" charset="-122"/>
              <a:cs typeface="+mn-cs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655571" y="429682"/>
            <a:ext cx="438284" cy="239186"/>
            <a:chOff x="450426" y="460569"/>
            <a:chExt cx="314885" cy="171843"/>
          </a:xfrm>
          <a:gradFill flip="none" rotWithShape="1">
            <a:gsLst>
              <a:gs pos="82000">
                <a:srgbClr val="0086CE">
                  <a:alpha val="0"/>
                </a:srgbClr>
              </a:gs>
              <a:gs pos="18000">
                <a:srgbClr val="006FAC"/>
              </a:gs>
            </a:gsLst>
            <a:lin ang="2700000" scaled="1"/>
            <a:tileRect/>
          </a:gradFill>
        </p:grpSpPr>
        <p:sp>
          <p:nvSpPr>
            <p:cNvPr id="21" name="椭圆 20"/>
            <p:cNvSpPr/>
            <p:nvPr/>
          </p:nvSpPr>
          <p:spPr>
            <a:xfrm>
              <a:off x="450426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2" name="椭圆 21"/>
            <p:cNvSpPr/>
            <p:nvPr/>
          </p:nvSpPr>
          <p:spPr>
            <a:xfrm>
              <a:off x="521947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593469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4" name="椭圆 23"/>
            <p:cNvSpPr/>
            <p:nvPr/>
          </p:nvSpPr>
          <p:spPr>
            <a:xfrm>
              <a:off x="664990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5" name="椭圆 24"/>
            <p:cNvSpPr/>
            <p:nvPr/>
          </p:nvSpPr>
          <p:spPr>
            <a:xfrm>
              <a:off x="450426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6" name="椭圆 25"/>
            <p:cNvSpPr/>
            <p:nvPr/>
          </p:nvSpPr>
          <p:spPr>
            <a:xfrm>
              <a:off x="521947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0" name="椭圆 29"/>
            <p:cNvSpPr/>
            <p:nvPr/>
          </p:nvSpPr>
          <p:spPr>
            <a:xfrm>
              <a:off x="593469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1" name="椭圆 30"/>
            <p:cNvSpPr/>
            <p:nvPr/>
          </p:nvSpPr>
          <p:spPr>
            <a:xfrm>
              <a:off x="664990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2" name="椭圆 31"/>
            <p:cNvSpPr/>
            <p:nvPr/>
          </p:nvSpPr>
          <p:spPr>
            <a:xfrm>
              <a:off x="450426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3" name="椭圆 32"/>
            <p:cNvSpPr/>
            <p:nvPr/>
          </p:nvSpPr>
          <p:spPr>
            <a:xfrm>
              <a:off x="521947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4" name="椭圆 33"/>
            <p:cNvSpPr/>
            <p:nvPr/>
          </p:nvSpPr>
          <p:spPr>
            <a:xfrm>
              <a:off x="593469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5" name="椭圆 34"/>
            <p:cNvSpPr/>
            <p:nvPr/>
          </p:nvSpPr>
          <p:spPr>
            <a:xfrm>
              <a:off x="664990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6" name="椭圆 35"/>
            <p:cNvSpPr/>
            <p:nvPr/>
          </p:nvSpPr>
          <p:spPr>
            <a:xfrm>
              <a:off x="736511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9" name="椭圆 38"/>
            <p:cNvSpPr/>
            <p:nvPr/>
          </p:nvSpPr>
          <p:spPr>
            <a:xfrm>
              <a:off x="736511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42" name="椭圆 41"/>
            <p:cNvSpPr/>
            <p:nvPr/>
          </p:nvSpPr>
          <p:spPr>
            <a:xfrm>
              <a:off x="736511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</p:grpSp>
      <p:sp>
        <p:nvSpPr>
          <p:cNvPr id="47" name="文本框 46"/>
          <p:cNvSpPr txBox="1"/>
          <p:nvPr/>
        </p:nvSpPr>
        <p:spPr>
          <a:xfrm>
            <a:off x="854668" y="410108"/>
            <a:ext cx="4742705" cy="579755"/>
          </a:xfrm>
          <a:prstGeom prst="rect">
            <a:avLst/>
          </a:prstGeom>
          <a:noFill/>
          <a:effectLst/>
        </p:spPr>
        <p:txBody>
          <a:bodyPr wrap="square" lIns="0" tIns="43846" rIns="87691" bIns="43846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3200" b="1" noProof="0" dirty="0">
                <a:ln>
                  <a:noFill/>
                </a:ln>
                <a:solidFill>
                  <a:srgbClr val="0E6BC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系统</a:t>
            </a:r>
            <a:r>
              <a:rPr lang="zh-CN" altLang="en-US" sz="3200" b="1" noProof="0" dirty="0">
                <a:ln>
                  <a:noFill/>
                </a:ln>
                <a:solidFill>
                  <a:srgbClr val="0E6BC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部署</a:t>
            </a:r>
            <a:endParaRPr lang="zh-CN" altLang="en-US" sz="3200" b="1" noProof="0" dirty="0">
              <a:ln>
                <a:noFill/>
              </a:ln>
              <a:solidFill>
                <a:srgbClr val="0E6BC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 cstate="screen"/>
          <a:stretch>
            <a:fillRect/>
          </a:stretch>
        </p:blipFill>
        <p:spPr>
          <a:xfrm>
            <a:off x="11286756" y="298037"/>
            <a:ext cx="594505" cy="663864"/>
          </a:xfrm>
          <a:prstGeom prst="rect">
            <a:avLst/>
          </a:prstGeom>
        </p:spPr>
      </p:pic>
      <p:pic>
        <p:nvPicPr>
          <p:cNvPr id="5" name="图片 4" descr="ChatGPT Image 2026年6月16日 21_41_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5" y="0"/>
            <a:ext cx="12185015" cy="6858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alphaModFix amt="95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 r="44004" b="49240"/>
          <a:stretch>
            <a:fillRect/>
          </a:stretch>
        </p:blipFill>
        <p:spPr>
          <a:xfrm flipV="1">
            <a:off x="1" y="-7"/>
            <a:ext cx="12191998" cy="3747395"/>
          </a:xfrm>
          <a:custGeom>
            <a:avLst/>
            <a:gdLst>
              <a:gd name="connsiteX0" fmla="*/ 0 w 12192000"/>
              <a:gd name="connsiteY0" fmla="*/ 2558508 h 2558508"/>
              <a:gd name="connsiteX1" fmla="*/ 12192000 w 12192000"/>
              <a:gd name="connsiteY1" fmla="*/ 2558508 h 2558508"/>
              <a:gd name="connsiteX2" fmla="*/ 12192000 w 12192000"/>
              <a:gd name="connsiteY2" fmla="*/ 0 h 2558508"/>
              <a:gd name="connsiteX3" fmla="*/ 0 w 12192000"/>
              <a:gd name="connsiteY3" fmla="*/ 0 h 2558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558508">
                <a:moveTo>
                  <a:pt x="0" y="2558508"/>
                </a:moveTo>
                <a:lnTo>
                  <a:pt x="12192000" y="2558508"/>
                </a:lnTo>
                <a:lnTo>
                  <a:pt x="12192000" y="0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3" cstate="screen"/>
          <a:srcRect/>
          <a:stretch>
            <a:fillRect/>
          </a:stretch>
        </p:blipFill>
        <p:spPr>
          <a:xfrm>
            <a:off x="0" y="0"/>
            <a:ext cx="4732986" cy="68580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-3163" y="0"/>
            <a:ext cx="4763194" cy="6858000"/>
          </a:xfrm>
          <a:prstGeom prst="rect">
            <a:avLst/>
          </a:prstGeom>
          <a:gradFill>
            <a:gsLst>
              <a:gs pos="0">
                <a:srgbClr val="0070C0">
                  <a:alpha val="72135"/>
                </a:srgbClr>
              </a:gs>
              <a:gs pos="100000">
                <a:srgbClr val="3354B5">
                  <a:alpha val="80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任意多边形: 形状 18"/>
          <p:cNvSpPr/>
          <p:nvPr/>
        </p:nvSpPr>
        <p:spPr>
          <a:xfrm>
            <a:off x="2712949" y="1396538"/>
            <a:ext cx="8117345" cy="4064924"/>
          </a:xfrm>
          <a:custGeom>
            <a:avLst/>
            <a:gdLst>
              <a:gd name="connsiteX0" fmla="*/ 6890674 w 7586519"/>
              <a:gd name="connsiteY0" fmla="*/ 0 h 4064924"/>
              <a:gd name="connsiteX1" fmla="*/ 7446523 w 7586519"/>
              <a:gd name="connsiteY1" fmla="*/ 0 h 4064924"/>
              <a:gd name="connsiteX2" fmla="*/ 7586519 w 7586519"/>
              <a:gd name="connsiteY2" fmla="*/ 139996 h 4064924"/>
              <a:gd name="connsiteX3" fmla="*/ 7586519 w 7586519"/>
              <a:gd name="connsiteY3" fmla="*/ 705494 h 4064924"/>
              <a:gd name="connsiteX4" fmla="*/ 7484758 w 7586519"/>
              <a:gd name="connsiteY4" fmla="*/ 715752 h 4064924"/>
              <a:gd name="connsiteX5" fmla="*/ 6879532 w 7586519"/>
              <a:gd name="connsiteY5" fmla="*/ 110526 h 4064924"/>
              <a:gd name="connsiteX6" fmla="*/ 139996 w 7586519"/>
              <a:gd name="connsiteY6" fmla="*/ 0 h 4064924"/>
              <a:gd name="connsiteX7" fmla="*/ 6651650 w 7586519"/>
              <a:gd name="connsiteY7" fmla="*/ 0 h 4064924"/>
              <a:gd name="connsiteX8" fmla="*/ 6640508 w 7586519"/>
              <a:gd name="connsiteY8" fmla="*/ 110526 h 4064924"/>
              <a:gd name="connsiteX9" fmla="*/ 7484758 w 7586519"/>
              <a:gd name="connsiteY9" fmla="*/ 954776 h 4064924"/>
              <a:gd name="connsiteX10" fmla="*/ 7571078 w 7586519"/>
              <a:gd name="connsiteY10" fmla="*/ 950417 h 4064924"/>
              <a:gd name="connsiteX11" fmla="*/ 7586519 w 7586519"/>
              <a:gd name="connsiteY11" fmla="*/ 948061 h 4064924"/>
              <a:gd name="connsiteX12" fmla="*/ 7586519 w 7586519"/>
              <a:gd name="connsiteY12" fmla="*/ 3924928 h 4064924"/>
              <a:gd name="connsiteX13" fmla="*/ 7446523 w 7586519"/>
              <a:gd name="connsiteY13" fmla="*/ 4064924 h 4064924"/>
              <a:gd name="connsiteX14" fmla="*/ 139996 w 7586519"/>
              <a:gd name="connsiteY14" fmla="*/ 4064924 h 4064924"/>
              <a:gd name="connsiteX15" fmla="*/ 0 w 7586519"/>
              <a:gd name="connsiteY15" fmla="*/ 3924928 h 4064924"/>
              <a:gd name="connsiteX16" fmla="*/ 0 w 7586519"/>
              <a:gd name="connsiteY16" fmla="*/ 139996 h 4064924"/>
              <a:gd name="connsiteX17" fmla="*/ 139996 w 7586519"/>
              <a:gd name="connsiteY17" fmla="*/ 0 h 4064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7586519" h="4064924">
                <a:moveTo>
                  <a:pt x="6890674" y="0"/>
                </a:moveTo>
                <a:lnTo>
                  <a:pt x="7446523" y="0"/>
                </a:lnTo>
                <a:cubicBezTo>
                  <a:pt x="7523841" y="0"/>
                  <a:pt x="7586519" y="62678"/>
                  <a:pt x="7586519" y="139996"/>
                </a:cubicBezTo>
                <a:lnTo>
                  <a:pt x="7586519" y="705494"/>
                </a:lnTo>
                <a:lnTo>
                  <a:pt x="7484758" y="715752"/>
                </a:lnTo>
                <a:cubicBezTo>
                  <a:pt x="7150501" y="715752"/>
                  <a:pt x="6879532" y="444783"/>
                  <a:pt x="6879532" y="110526"/>
                </a:cubicBezTo>
                <a:close/>
                <a:moveTo>
                  <a:pt x="139996" y="0"/>
                </a:moveTo>
                <a:lnTo>
                  <a:pt x="6651650" y="0"/>
                </a:lnTo>
                <a:lnTo>
                  <a:pt x="6640508" y="110526"/>
                </a:lnTo>
                <a:cubicBezTo>
                  <a:pt x="6640508" y="576792"/>
                  <a:pt x="7018492" y="954776"/>
                  <a:pt x="7484758" y="954776"/>
                </a:cubicBezTo>
                <a:cubicBezTo>
                  <a:pt x="7513900" y="954776"/>
                  <a:pt x="7542696" y="953300"/>
                  <a:pt x="7571078" y="950417"/>
                </a:cubicBezTo>
                <a:lnTo>
                  <a:pt x="7586519" y="948061"/>
                </a:lnTo>
                <a:lnTo>
                  <a:pt x="7586519" y="3924928"/>
                </a:lnTo>
                <a:cubicBezTo>
                  <a:pt x="7586519" y="4002246"/>
                  <a:pt x="7523841" y="4064924"/>
                  <a:pt x="7446523" y="4064924"/>
                </a:cubicBezTo>
                <a:lnTo>
                  <a:pt x="139996" y="4064924"/>
                </a:lnTo>
                <a:cubicBezTo>
                  <a:pt x="62678" y="4064924"/>
                  <a:pt x="0" y="4002246"/>
                  <a:pt x="0" y="3924928"/>
                </a:cubicBezTo>
                <a:lnTo>
                  <a:pt x="0" y="139996"/>
                </a:lnTo>
                <a:cubicBezTo>
                  <a:pt x="0" y="62678"/>
                  <a:pt x="62678" y="0"/>
                  <a:pt x="13999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17500" dist="127000" dir="2700000" algn="tl" rotWithShape="0">
              <a:srgbClr val="0064D8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1204493" y="1396538"/>
            <a:ext cx="677108" cy="4064924"/>
            <a:chOff x="26301" y="1138131"/>
            <a:chExt cx="677108" cy="4064924"/>
          </a:xfrm>
        </p:grpSpPr>
        <p:sp>
          <p:nvSpPr>
            <p:cNvPr id="10" name="文本框 9"/>
            <p:cNvSpPr txBox="1"/>
            <p:nvPr/>
          </p:nvSpPr>
          <p:spPr>
            <a:xfrm>
              <a:off x="26301" y="1138131"/>
              <a:ext cx="677108" cy="287805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sz="1600" dirty="0">
                  <a:solidFill>
                    <a:srgbClr val="0E6BC9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SOUTHWEST JIAOTONG UNIVERSITY</a:t>
              </a:r>
              <a:endParaRPr lang="zh-CN" altLang="en-US" sz="1600" dirty="0">
                <a:solidFill>
                  <a:srgbClr val="0E6BC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482600" y="3845518"/>
              <a:ext cx="0" cy="1357537"/>
            </a:xfrm>
            <a:prstGeom prst="line">
              <a:avLst/>
            </a:prstGeom>
            <a:ln w="12700">
              <a:solidFill>
                <a:srgbClr val="316AE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组合 2"/>
          <p:cNvGrpSpPr/>
          <p:nvPr/>
        </p:nvGrpSpPr>
        <p:grpSpPr>
          <a:xfrm>
            <a:off x="3397184" y="1550560"/>
            <a:ext cx="3611880" cy="2345475"/>
            <a:chOff x="497375" y="1211712"/>
            <a:chExt cx="3611880" cy="2345475"/>
          </a:xfrm>
        </p:grpSpPr>
        <p:sp>
          <p:nvSpPr>
            <p:cNvPr id="6" name="文本框 5"/>
            <p:cNvSpPr txBox="1"/>
            <p:nvPr/>
          </p:nvSpPr>
          <p:spPr>
            <a:xfrm>
              <a:off x="497375" y="2635167"/>
              <a:ext cx="3611880" cy="9220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800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lang="zh-CN" altLang="en-US" sz="5400" b="1" noProof="0" dirty="0">
                  <a:ln>
                    <a:noFill/>
                  </a:ln>
                  <a:solidFill>
                    <a:srgbClr val="0E6BC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lt"/>
                </a:rPr>
                <a:t>总结与展望</a:t>
              </a:r>
              <a:endPara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E6BC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522775" y="1211712"/>
              <a:ext cx="1426210" cy="14452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800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22000">
                        <a:srgbClr val="0655D3"/>
                      </a:gs>
                      <a:gs pos="86000">
                        <a:srgbClr val="0655D3">
                          <a:alpha val="0"/>
                        </a:srgbClr>
                      </a:gs>
                    </a:gsLst>
                    <a:lin ang="5400000" scaled="1"/>
                  </a:gradFill>
                  <a:effectLst/>
                  <a:uLnTx/>
                  <a:uFillTx/>
                  <a:latin typeface="Arial" panose="020B0604020202020204" pitchFamily="34" charset="0"/>
                  <a:ea typeface="OPPOSans B"/>
                  <a:cs typeface="Arial" panose="020B0604020202020204" pitchFamily="34" charset="0"/>
                </a:rPr>
                <a:t>05</a:t>
              </a:r>
              <a:endParaRPr kumimoji="0" lang="zh-CN" altLang="en-US" sz="88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22000">
                      <a:srgbClr val="0655D3"/>
                    </a:gs>
                    <a:gs pos="86000">
                      <a:srgbClr val="0655D3">
                        <a:alpha val="0"/>
                      </a:srgbClr>
                    </a:gs>
                  </a:gsLst>
                  <a:lin ang="5400000" scaled="1"/>
                </a:gradFill>
                <a:effectLst/>
                <a:uLnTx/>
                <a:uFillTx/>
                <a:latin typeface="Arial" panose="020B0604020202020204" pitchFamily="34" charset="0"/>
                <a:ea typeface="OPPOSans B"/>
                <a:cs typeface="Arial" panose="020B0604020202020204" pitchFamily="34" charset="0"/>
              </a:endParaRPr>
            </a:p>
          </p:txBody>
        </p:sp>
      </p:grpSp>
      <p:cxnSp>
        <p:nvCxnSpPr>
          <p:cNvPr id="22" name="直线连接符 21"/>
          <p:cNvCxnSpPr/>
          <p:nvPr/>
        </p:nvCxnSpPr>
        <p:spPr>
          <a:xfrm>
            <a:off x="3508081" y="4676038"/>
            <a:ext cx="1251950" cy="6730"/>
          </a:xfrm>
          <a:prstGeom prst="line">
            <a:avLst/>
          </a:prstGeom>
          <a:ln w="28575">
            <a:solidFill>
              <a:srgbClr val="0E6BC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10509108" y="6325674"/>
            <a:ext cx="1323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4447096A-5CB9-A449-9521-AD82728A312D}" type="slidenum">
              <a:rPr kumimoji="1" lang="zh-CN" altLang="en-US" smtClean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fld>
            <a:endParaRPr kumimoji="1" lang="zh-CN" altLang="en-US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 cstate="screen"/>
          <a:stretch>
            <a:fillRect/>
          </a:stretch>
        </p:blipFill>
        <p:spPr>
          <a:xfrm>
            <a:off x="11286756" y="298037"/>
            <a:ext cx="594505" cy="663864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55571" y="429682"/>
            <a:ext cx="438284" cy="239186"/>
            <a:chOff x="450426" y="460569"/>
            <a:chExt cx="314885" cy="171843"/>
          </a:xfrm>
          <a:gradFill flip="none" rotWithShape="1">
            <a:gsLst>
              <a:gs pos="82000">
                <a:srgbClr val="0086CE">
                  <a:alpha val="0"/>
                </a:srgbClr>
              </a:gs>
              <a:gs pos="18000">
                <a:srgbClr val="006FAC"/>
              </a:gs>
            </a:gsLst>
            <a:lin ang="2700000" scaled="1"/>
            <a:tileRect/>
          </a:gradFill>
        </p:grpSpPr>
        <p:sp>
          <p:nvSpPr>
            <p:cNvPr id="3" name="椭圆 2"/>
            <p:cNvSpPr/>
            <p:nvPr/>
          </p:nvSpPr>
          <p:spPr>
            <a:xfrm>
              <a:off x="450426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4" name="椭圆 3"/>
            <p:cNvSpPr/>
            <p:nvPr/>
          </p:nvSpPr>
          <p:spPr>
            <a:xfrm>
              <a:off x="521947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593469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64990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450426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521947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593469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664990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450426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521947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593469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664990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5" name="椭圆 14"/>
            <p:cNvSpPr/>
            <p:nvPr/>
          </p:nvSpPr>
          <p:spPr>
            <a:xfrm>
              <a:off x="736511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736511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736511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</p:grpSp>
      <p:sp>
        <p:nvSpPr>
          <p:cNvPr id="18" name="平行四边形 17"/>
          <p:cNvSpPr/>
          <p:nvPr/>
        </p:nvSpPr>
        <p:spPr>
          <a:xfrm flipV="1">
            <a:off x="1555396" y="754055"/>
            <a:ext cx="2959100" cy="233776"/>
          </a:xfrm>
          <a:prstGeom prst="parallelogram">
            <a:avLst/>
          </a:prstGeom>
          <a:gradFill flip="none" rotWithShape="1">
            <a:gsLst>
              <a:gs pos="0">
                <a:srgbClr val="0086CE">
                  <a:alpha val="0"/>
                </a:srgbClr>
              </a:gs>
              <a:gs pos="100000">
                <a:srgbClr val="0086CE">
                  <a:alpha val="7400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54669" y="410108"/>
            <a:ext cx="3982026" cy="579755"/>
          </a:xfrm>
          <a:prstGeom prst="rect">
            <a:avLst/>
          </a:prstGeom>
          <a:noFill/>
          <a:effectLst/>
        </p:spPr>
        <p:txBody>
          <a:bodyPr wrap="square" lIns="0" tIns="43846" rIns="87691" bIns="43846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3200" b="1" noProof="0" dirty="0">
                <a:ln>
                  <a:noFill/>
                </a:ln>
                <a:solidFill>
                  <a:srgbClr val="0E6BC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总结与展望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F3D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  <a:sym typeface="+mn-lt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6756" y="298037"/>
            <a:ext cx="594505" cy="663864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 flipH="1">
            <a:off x="-5" y="6617367"/>
            <a:ext cx="12191683" cy="240185"/>
          </a:xfrm>
          <a:prstGeom prst="rect">
            <a:avLst/>
          </a:prstGeom>
          <a:gradFill>
            <a:gsLst>
              <a:gs pos="100000">
                <a:srgbClr val="0070C0">
                  <a:alpha val="96000"/>
                </a:srgbClr>
              </a:gs>
              <a:gs pos="40000">
                <a:srgbClr val="3354B5">
                  <a:alpha val="90000"/>
                </a:srgbClr>
              </a:gs>
              <a:gs pos="0">
                <a:srgbClr val="1F2B97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OPPOSans R" pitchFamily="18" charset="-122"/>
              <a:cs typeface="+mn-cs"/>
            </a:endParaRPr>
          </a:p>
        </p:txBody>
      </p:sp>
      <p:pic>
        <p:nvPicPr>
          <p:cNvPr id="21" name="图片 20" descr="ChatGPT Image 2026年6月16日 20_44_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5015" cy="6858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4447805" y="725880"/>
            <a:ext cx="3296388" cy="946061"/>
            <a:chOff x="4227156" y="597288"/>
            <a:chExt cx="3296388" cy="946061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 rotWithShape="1">
            <a:blip r:embed="rId2" cstate="screen">
              <a:biLevel thresh="25000"/>
            </a:blip>
            <a:srcRect/>
            <a:stretch>
              <a:fillRect/>
            </a:stretch>
          </p:blipFill>
          <p:spPr>
            <a:xfrm>
              <a:off x="5107515" y="597288"/>
              <a:ext cx="2416029" cy="946061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3" cstate="screen"/>
            <a:stretch>
              <a:fillRect/>
            </a:stretch>
          </p:blipFill>
          <p:spPr>
            <a:xfrm>
              <a:off x="4227156" y="681280"/>
              <a:ext cx="733098" cy="818626"/>
            </a:xfrm>
            <a:prstGeom prst="rect">
              <a:avLst/>
            </a:prstGeom>
          </p:spPr>
        </p:pic>
      </p:grpSp>
      <p:sp>
        <p:nvSpPr>
          <p:cNvPr id="5" name="文本框 4"/>
          <p:cNvSpPr txBox="1"/>
          <p:nvPr/>
        </p:nvSpPr>
        <p:spPr>
          <a:xfrm>
            <a:off x="3056467" y="4856425"/>
            <a:ext cx="61129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300" normalizeH="0" baseline="0" noProof="0" dirty="0">
                <a:ln>
                  <a:noFill/>
                </a:ln>
                <a:solidFill>
                  <a:srgbClr val="FFC000">
                    <a:lumMod val="20000"/>
                    <a:lumOff val="8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组员：程泽凯、王晨羽、金井直</a:t>
            </a:r>
            <a:endParaRPr kumimoji="0" lang="zh-CN" altLang="en-US" sz="1600" b="0" i="0" u="none" strike="noStrike" kern="1200" cap="none" spc="300" normalizeH="0" baseline="0" noProof="0" dirty="0">
              <a:ln>
                <a:noFill/>
              </a:ln>
              <a:solidFill>
                <a:srgbClr val="FFC000">
                  <a:lumMod val="20000"/>
                  <a:lumOff val="80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11201" y="3354826"/>
            <a:ext cx="10803464" cy="483221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600" b="1" i="0" u="none" strike="noStrike" kern="100" cap="none" spc="600" normalizeH="0" baseline="0" noProof="0" dirty="0">
                <a:ln>
                  <a:noFill/>
                </a:ln>
                <a:gradFill>
                  <a:gsLst>
                    <a:gs pos="100000">
                      <a:schemeClr val="accent5">
                        <a:lumMod val="60000"/>
                        <a:lumOff val="40000"/>
                      </a:schemeClr>
                    </a:gs>
                    <a:gs pos="0">
                      <a:schemeClr val="bg1"/>
                    </a:gs>
                  </a:gsLst>
                  <a:lin ang="5400000" scaled="0"/>
                </a:gradFill>
                <a:effectLst>
                  <a:outerShdw blurRad="190500" dist="38100" dir="2700000" sx="101000" sy="101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感谢聆听</a:t>
            </a:r>
            <a:endParaRPr kumimoji="0" lang="zh-CN" altLang="zh-CN" sz="9600" b="1" i="0" u="none" strike="noStrike" kern="100" cap="none" spc="600" normalizeH="0" baseline="0" noProof="0" dirty="0">
              <a:ln>
                <a:noFill/>
              </a:ln>
              <a:gradFill>
                <a:gsLst>
                  <a:gs pos="100000">
                    <a:schemeClr val="accent5">
                      <a:lumMod val="60000"/>
                      <a:lumOff val="40000"/>
                    </a:schemeClr>
                  </a:gs>
                  <a:gs pos="0">
                    <a:schemeClr val="bg1"/>
                  </a:gs>
                </a:gsLst>
                <a:lin ang="5400000" scaled="0"/>
              </a:gradFill>
              <a:effectLst>
                <a:outerShdw blurRad="190500" dist="38100" dir="2700000" sx="101000" sy="101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743200" y="6462294"/>
            <a:ext cx="6705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spc="300" dirty="0">
                <a:solidFill>
                  <a:srgbClr val="1D54B1">
                    <a:alpha val="50670"/>
                  </a:srgb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竢实扬华 自强不息 </a:t>
            </a:r>
            <a:endParaRPr lang="zh-CN" altLang="en-US" sz="1400" spc="300" dirty="0">
              <a:solidFill>
                <a:srgbClr val="1D54B1">
                  <a:alpha val="50670"/>
                </a:srgb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</p:sld>
</file>

<file path=ppt/tags/tag1.xml><?xml version="1.0" encoding="utf-8"?>
<p:tagLst xmlns:p="http://schemas.openxmlformats.org/presentationml/2006/main">
  <p:tag name="KSO_WM_DIAGRAM_VIRTUALLY_FRAME" val="{&quot;height&quot;:312.53818897637797,&quot;left&quot;:105.59763779527557,&quot;top&quot;:51.25748031496063,&quot;width&quot;:425.6345669291339}"/>
</p:tagLst>
</file>

<file path=ppt/tags/tag2.xml><?xml version="1.0" encoding="utf-8"?>
<p:tagLst xmlns:p="http://schemas.openxmlformats.org/presentationml/2006/main">
  <p:tag name="KSO_WM_DIAGRAM_VIRTUALLY_FRAME" val="{&quot;height&quot;:312.53818897637797,&quot;left&quot;:105.59763779527557,&quot;top&quot;:51.25748031496063,&quot;width&quot;:425.6345669291339}"/>
</p:tagLst>
</file>

<file path=ppt/tags/tag3.xml><?xml version="1.0" encoding="utf-8"?>
<p:tagLst xmlns:p="http://schemas.openxmlformats.org/presentationml/2006/main">
  <p:tag name="KSO_WM_DIAGRAM_VIRTUALLY_FRAME" val="{&quot;height&quot;:312.53818897637797,&quot;left&quot;:105.59763779527557,&quot;top&quot;:51.25748031496063,&quot;width&quot;:425.6345669291339}"/>
</p:tagLst>
</file>

<file path=ppt/tags/tag4.xml><?xml version="1.0" encoding="utf-8"?>
<p:tagLst xmlns:p="http://schemas.openxmlformats.org/presentationml/2006/main">
  <p:tag name="KSO_WM_DIAGRAM_VIRTUALLY_FRAME" val="{&quot;height&quot;:312.53818897637797,&quot;left&quot;:105.59763779527557,&quot;top&quot;:51.25748031496063,&quot;width&quot;:425.6345669291339}"/>
</p:tagLst>
</file>

<file path=ppt/tags/tag5.xml><?xml version="1.0" encoding="utf-8"?>
<p:tagLst xmlns:p="http://schemas.openxmlformats.org/presentationml/2006/main">
  <p:tag name="KSO_WM_DIAGRAM_VIRTUALLY_FRAME" val="{&quot;height&quot;:312.53818897637797,&quot;left&quot;:105.59763779527557,&quot;top&quot;:51.25748031496063,&quot;width&quot;:425.6345669291339}"/>
</p:tagLst>
</file>

<file path=ppt/tags/tag6.xml><?xml version="1.0" encoding="utf-8"?>
<p:tagLst xmlns:p="http://schemas.openxmlformats.org/presentationml/2006/main">
  <p:tag name="KSO_WM_DIAGRAM_VIRTUALLY_FRAME" val="{&quot;height&quot;:312.53818897637797,&quot;left&quot;:105.59763779527557,&quot;top&quot;:51.25748031496063,&quot;width&quot;:425.6345669291339}"/>
</p:tagLst>
</file>

<file path=ppt/tags/tag7.xml><?xml version="1.0" encoding="utf-8"?>
<p:tagLst xmlns:p="http://schemas.openxmlformats.org/presentationml/2006/main">
  <p:tag name="KSO_WM_DIAGRAM_VIRTUALLY_FRAME" val="{&quot;height&quot;:312.53818897637797,&quot;left&quot;:105.59763779527557,&quot;top&quot;:51.25748031496063,&quot;width&quot;:425.6345669291339}"/>
</p:tagLst>
</file>

<file path=ppt/tags/tag8.xml><?xml version="1.0" encoding="utf-8"?>
<p:tagLst xmlns:p="http://schemas.openxmlformats.org/presentationml/2006/main">
  <p:tag name="KSO_WM_DIAGRAM_VIRTUALLY_FRAME" val="{&quot;height&quot;:312.53818897637797,&quot;left&quot;:105.59763779527557,&quot;top&quot;:51.25748031496063,&quot;width&quot;:425.6345669291339}"/>
</p:tagLst>
</file>

<file path=ppt/tags/tag9.xml><?xml version="1.0" encoding="utf-8"?>
<p:tagLst xmlns:p="http://schemas.openxmlformats.org/presentationml/2006/main">
  <p:tag name="KSO_WM_DIAGRAM_VIRTUALLY_FRAME" val="{&quot;height&quot;:312.53818897637797,&quot;left&quot;:105.59763779527557,&quot;top&quot;:51.25748031496063,&quot;width&quot;:425.6345669291339}"/>
</p:tagLst>
</file>

<file path=ppt/tags/tag10.xml><?xml version="1.0" encoding="utf-8"?>
<p:tagLst xmlns:p="http://schemas.openxmlformats.org/presentationml/2006/main">
  <p:tag name="KSO_WM_DIAGRAM_VIRTUALLY_FRAME" val="{&quot;height&quot;:312.53818897637797,&quot;left&quot;:105.59763779527557,&quot;top&quot;:51.25748031496063,&quot;width&quot;:425.6345669291339}"/>
</p:tagLst>
</file>

<file path=ppt/tags/tag11.xml><?xml version="1.0" encoding="utf-8"?>
<p:tagLst xmlns:p="http://schemas.openxmlformats.org/presentationml/2006/main">
  <p:tag name="KSO_WM_DIAGRAM_VIRTUALLY_FRAME" val="{&quot;height&quot;:312.53818897637797,&quot;left&quot;:105.59763779527557,&quot;top&quot;:51.25748031496063,&quot;width&quot;:425.6345669291339}"/>
</p:tagLst>
</file>

<file path=ppt/tags/tag12.xml><?xml version="1.0" encoding="utf-8"?>
<p:tagLst xmlns:p="http://schemas.openxmlformats.org/presentationml/2006/main">
  <p:tag name="KSO_WM_DIAGRAM_VIRTUALLY_FRAME" val="{&quot;height&quot;:312.53818897637797,&quot;left&quot;:105.59763779527557,&quot;top&quot;:51.25748031496063,&quot;width&quot;:425.6345669291339}"/>
</p:tagLst>
</file>

<file path=ppt/tags/tag13.xml><?xml version="1.0" encoding="utf-8"?>
<p:tagLst xmlns:p="http://schemas.openxmlformats.org/presentationml/2006/main">
  <p:tag name="KSO_WM_DIAGRAM_VIRTUALLY_FRAME" val="{&quot;height&quot;:312.53818897637797,&quot;left&quot;:105.59763779527557,&quot;top&quot;:51.25748031496063,&quot;width&quot;:425.6345669291339}"/>
</p:tagLst>
</file>

<file path=ppt/tags/tag14.xml><?xml version="1.0" encoding="utf-8"?>
<p:tagLst xmlns:p="http://schemas.openxmlformats.org/presentationml/2006/main">
  <p:tag name="KSO_WM_DIAGRAM_VIRTUALLY_FRAME" val="{&quot;height&quot;:312.53818897637797,&quot;left&quot;:105.59763779527557,&quot;top&quot;:51.25748031496063,&quot;width&quot;:425.6345669291339}"/>
</p:tagLst>
</file>

<file path=ppt/tags/tag15.xml><?xml version="1.0" encoding="utf-8"?>
<p:tagLst xmlns:p="http://schemas.openxmlformats.org/presentationml/2006/main">
  <p:tag name="KSO_WM_DIAGRAM_VIRTUALLY_FRAME" val="{&quot;height&quot;:312.53818897637797,&quot;left&quot;:105.59763779527557,&quot;top&quot;:51.25748031496063,&quot;width&quot;:425.6345669291339}"/>
</p:tagLst>
</file>

<file path=ppt/tags/tag16.xml><?xml version="1.0" encoding="utf-8"?>
<p:tagLst xmlns:p="http://schemas.openxmlformats.org/presentationml/2006/main">
  <p:tag name="ISLIDE.THEME" val="https://www.islide.cc;"/>
</p:tagLst>
</file>

<file path=ppt/tags/tag17.xml><?xml version="1.0" encoding="utf-8"?>
<p:tagLst xmlns:p="http://schemas.openxmlformats.org/presentationml/2006/main">
  <p:tag name="ISLIDE.ICON" val="#405306;#405306;#176655;#144938;#379819;#381359;#103426;#151908;#151912;#136267;#136272;#401141;#111092;#55630;#94932;#404551;#173460;#173335;#137850;#172936;#157394;#379667;#379671;#379602;#379598;#379609;#68757;#160662;#145078;"/>
</p:tagLst>
</file>

<file path=ppt/tags/tag18.xml><?xml version="1.0" encoding="utf-8"?>
<p:tagLst xmlns:p="http://schemas.openxmlformats.org/presentationml/2006/main">
  <p:tag name="ISLIDE.ICON" val="#405306;#405306;#176655;#144938;#379819;#381359;#103426;#151908;#151912;#136267;#136272;#401141;#111092;#55630;#94932;#404551;#173460;#173335;#137850;#172936;#157394;#379667;#379671;#379602;#379598;#379609;#68757;#160662;#145078;"/>
</p:tagLst>
</file>

<file path=ppt/tags/tag19.xml><?xml version="1.0" encoding="utf-8"?>
<p:tagLst xmlns:p="http://schemas.openxmlformats.org/presentationml/2006/main">
  <p:tag name="ISLIDE.ICON" val="#405306;#405306;#176655;#144938;#379819;#381359;#103426;#151908;#151912;#136267;#136272;#401141;#111092;#55630;#94932;#404551;#173460;#173335;#137850;#172936;#157394;#379667;#379671;#379602;#379598;#379609;#68757;#160662;#145078;"/>
</p:tagLst>
</file>

<file path=ppt/tags/tag20.xml><?xml version="1.0" encoding="utf-8"?>
<p:tagLst xmlns:p="http://schemas.openxmlformats.org/presentationml/2006/main">
  <p:tag name="ISLIDE.ICON" val="#405306;#405306;#176655;#144938;#379819;#381359;#103426;#151908;#151912;#136267;#136272;#401141;#111092;#55630;#94932;#404551;#173460;#173335;#137850;#172936;#157394;#379667;#379671;#379602;#379598;#379609;#68757;#160662;#145078;"/>
</p:tagLst>
</file>

<file path=ppt/tags/tag21.xml><?xml version="1.0" encoding="utf-8"?>
<p:tagLst xmlns:p="http://schemas.openxmlformats.org/presentationml/2006/main">
  <p:tag name="ISLIDE.ICON" val="#405306;#405306;#176655;#144938;#379819;#381359;#103426;#151908;#151912;#136267;#136272;#401141;#111092;#55630;#94932;#404551;#173460;#173335;#137850;#172936;#157394;#379667;#379671;#379602;#379598;#379609;#68757;#160662;#145078;"/>
</p:tagLst>
</file>

<file path=ppt/tags/tag22.xml><?xml version="1.0" encoding="utf-8"?>
<p:tagLst xmlns:p="http://schemas.openxmlformats.org/presentationml/2006/main">
  <p:tag name="COMMONDATA" val="eyJoZGlkIjoiN2M1ZDMzMzY5NDRlMDhlNTM3MDI1ODFiY2I1OWNiNzQifQ=="/>
</p:tagLst>
</file>

<file path=ppt/theme/theme1.xml><?xml version="1.0" encoding="utf-8"?>
<a:theme xmlns:a="http://schemas.openxmlformats.org/drawingml/2006/main" name="3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388</Words>
  <Application>WPS 演示</Application>
  <PresentationFormat>宽屏</PresentationFormat>
  <Paragraphs>101</Paragraphs>
  <Slides>17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3" baseType="lpstr">
      <vt:lpstr>Arial</vt:lpstr>
      <vt:lpstr>宋体</vt:lpstr>
      <vt:lpstr>Wingdings</vt:lpstr>
      <vt:lpstr>微软雅黑</vt:lpstr>
      <vt:lpstr>Times New Roman</vt:lpstr>
      <vt:lpstr>Arial</vt:lpstr>
      <vt:lpstr>OPPOSans R</vt:lpstr>
      <vt:lpstr>OPPOSans B</vt:lpstr>
      <vt:lpstr>思源宋体 CN Heavy</vt:lpstr>
      <vt:lpstr>OPPOSans H</vt:lpstr>
      <vt:lpstr>OPPOSans B</vt:lpstr>
      <vt:lpstr>FFont-Family</vt:lpstr>
      <vt:lpstr>Calibri</vt:lpstr>
      <vt:lpstr>Arial Unicode MS</vt:lpstr>
      <vt:lpstr>等线</vt:lpstr>
      <vt:lpstr>3_Office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WPS_1665891310</cp:lastModifiedBy>
  <cp:revision>100</cp:revision>
  <dcterms:created xsi:type="dcterms:W3CDTF">2023-05-24T16:02:00Z</dcterms:created>
  <dcterms:modified xsi:type="dcterms:W3CDTF">2026-06-17T03:40:27Z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2F8A77E7A92F4BF6BB73D66ED58E5C18_12</vt:lpwstr>
  </property>
  <property fmtid="{D5CDD505-2E9C-101B-9397-08002B2CF9AE}" pid="3" name="KSOProductBuildVer">
    <vt:lpwstr>2052-12.1.0.26375</vt:lpwstr>
  </property>
</Properties>
</file>